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6"/>
  </p:notesMasterIdLst>
  <p:sldIdLst>
    <p:sldId id="112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DS External Test Roadmap" id="{36A2C6BA-723E-4B72-942B-66DFAE9EB776}">
          <p14:sldIdLst>
            <p14:sldId id="11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4"/>
    <a:srgbClr val="00C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D828C8-EFAE-4EB4-9BD9-7759A755ED92}" v="2" dt="2025-10-23T08:55:00.916"/>
    <p1510:client id="{D97FB3B9-F552-446A-B55E-3FC0463B819F}" v="245" dt="2025-10-22T14:20:35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23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592D8-43EE-4DFF-9CF4-B087E4C67BCD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373FE-81EA-4C59-911A-2554D706C7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407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330A8-E36D-C10D-E133-2DF39F986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BE2D5-96E3-B878-63EB-C794E74FB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29AAB-7F8B-2F14-E7D4-305081D1A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ED26E-ABDA-071B-C48F-BFE614E27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373FE-81EA-4C59-911A-2554D706C73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725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5BA4-EC11-21AF-F33E-6E5FE3692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4D39-BD81-E2CB-60ED-5155CD243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01384-F71C-523E-A099-6B439107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11F94-9FB0-492F-9CE2-A2F861BAED2D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1832C-83FA-336F-7207-3649AB456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34EC9-D8CB-5CAE-709B-CC17F6C3D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69AEC-E511-480F-96AD-830862C7A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88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1DA49-585B-F4E6-83F6-FCE52EFD2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94DE5-D656-092E-6B45-ABF7A1052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C1219-D5D5-2D37-48F3-20118B341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11F94-9FB0-492F-9CE2-A2F861BAED2D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F5980-8A22-BA81-20AA-EFBEA1142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1AC93-7BB3-E721-4364-2A8CBB06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69AEC-E511-480F-96AD-830862C7A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15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30F2-A7E9-7933-6289-02A1A8B3F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E8127-9507-6452-A372-4B1EFDFAA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F2B76-D5E6-4A10-C0BF-1009CA7AC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11F94-9FB0-492F-9CE2-A2F861BAED2D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2A4AB-FEE1-86D0-D58C-04846C49F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45D75-115E-A0F2-25B0-C05C56F7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69AEC-E511-480F-96AD-830862C7A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309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9ABA-F245-8517-F27C-CE8270D13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74439-301E-267C-C9E0-50F1FD19B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CD5C5-153F-AD26-28B6-7D377B38D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07841-E4D4-80B8-294B-7B572861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11F94-9FB0-492F-9CE2-A2F861BAED2D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FC2BD-C184-2B22-1ED2-4D845F38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7E839-6428-D03A-E44A-2A377376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69AEC-E511-480F-96AD-830862C7A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59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2F01D-818B-AD3E-DD45-B497AAEC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985BD-33F7-9603-4F6C-FFAF7DF13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E732E-ADCA-5048-2D2B-DBEE1B2B9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C8A391-FEBA-0816-FBA6-95BEB91106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BFAA8-C3A0-9BF8-A394-2FF170F93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B4D4ED-AD4B-6027-BD6B-0FE67D7A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11F94-9FB0-492F-9CE2-A2F861BAED2D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516B3-9119-0F45-A2C3-6C801D7CE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F8EFB-D800-2139-6745-24F457BC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69AEC-E511-480F-96AD-830862C7A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61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7A52-2FAD-BE7C-12DF-DA8F9E48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5AE4A1-5ED4-48DD-EC28-76DA3FB3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11F94-9FB0-492F-9CE2-A2F861BAED2D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EA716-9B89-605D-CF89-B86BA54F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B076C-AA06-B5A5-B310-0424DF7B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69AEC-E511-480F-96AD-830862C7A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823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32F0F3-587E-91BF-F972-5DC392B5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11F94-9FB0-492F-9CE2-A2F861BAED2D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76E8F-EB04-FF15-397B-8C1B7F736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52BC9-5F9E-A635-3CB7-3FD4C845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69AEC-E511-480F-96AD-830862C7A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151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9443-513D-A776-FBC9-C6AF52C8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F8209-613F-E2D7-5EA3-4E8E1BA89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6E470-D9DF-90C4-28A9-CC316D256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20190-4F80-9B28-3D30-5CF6DD001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11F94-9FB0-492F-9CE2-A2F861BAED2D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1B268-580B-4B11-281E-D4C8E9044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0AAAD-2467-7DC9-CF44-3F8ED9BE8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69AEC-E511-480F-96AD-830862C7A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173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2F8C-B321-681D-2CBF-4FB91AB3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3000DD-0E1D-1480-B194-F44ED8ADF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E1451-38CC-4FE6-59F1-E4ABC9FB2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231C2-D58E-8F20-0405-E5E9E540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11F94-9FB0-492F-9CE2-A2F861BAED2D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3FBF0-7C32-0538-7706-74873AE84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9EAAB-B41C-24DD-8B61-29E83515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69AEC-E511-480F-96AD-830862C7A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597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0630B-528E-39A9-D11E-04758A0F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4E3B2-287D-AD3D-8EF0-A738A405F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9EB22-D062-C54E-B3EA-6EF499DC6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11F94-9FB0-492F-9CE2-A2F861BAED2D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3C3C6-B1A1-5F43-6280-8B8474F4C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AA001-62B2-4827-4154-2E8386DE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69AEC-E511-480F-96AD-830862C7A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24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61DB7C-7696-124E-410F-D4440A999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B8400-202C-E704-2898-AD0FF8B23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0E1AC-0BA5-72D9-D00E-542753CB4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11F94-9FB0-492F-9CE2-A2F861BAED2D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89896-5EE8-B7E8-2DB1-CC19BDA55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01E28-7F09-694C-43EF-4EA87E916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69AEC-E511-480F-96AD-830862C7A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33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65526B-CA5F-C9CE-1435-B03AB766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DB7EE-7052-97D9-AC34-06F5EE625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B3022-ED2C-57EF-E8BB-C71743DA3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11F94-9FB0-492F-9CE2-A2F861BAED2D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8DB36-877E-F7E6-C949-DA1285C49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7E734-86AA-BADC-AF86-5BD0161B9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69AEC-E511-480F-96AD-830862C7AE53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507D15-7CD5-7789-6241-F3BE0BBEFC7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5813" y="66421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75786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3DE22-B3CC-95B7-F145-ECA70F49B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11">
            <a:extLst>
              <a:ext uri="{FF2B5EF4-FFF2-40B4-BE49-F238E27FC236}">
                <a16:creationId xmlns:a16="http://schemas.microsoft.com/office/drawing/2014/main" id="{2203B7A6-C3F1-8DF7-4024-2FD6DAA946B5}"/>
              </a:ext>
            </a:extLst>
          </p:cNvPr>
          <p:cNvCxnSpPr/>
          <p:nvPr/>
        </p:nvCxnSpPr>
        <p:spPr>
          <a:xfrm>
            <a:off x="161177" y="70530"/>
            <a:ext cx="0" cy="36000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2">
            <a:extLst>
              <a:ext uri="{FF2B5EF4-FFF2-40B4-BE49-F238E27FC236}">
                <a16:creationId xmlns:a16="http://schemas.microsoft.com/office/drawing/2014/main" id="{397FC81D-EA7E-5982-CE05-F22CE1C3F8EF}"/>
              </a:ext>
            </a:extLst>
          </p:cNvPr>
          <p:cNvSpPr txBox="1"/>
          <p:nvPr/>
        </p:nvSpPr>
        <p:spPr>
          <a:xfrm>
            <a:off x="131213" y="99499"/>
            <a:ext cx="14677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Geneva" pitchFamily="124" charset="-128"/>
                <a:cs typeface="Calibri" panose="020F0502020204030204" pitchFamily="34" charset="0"/>
              </a:rPr>
              <a:t>2025/26 Scope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5F0526-97C2-FB13-5E09-F4CEE2994AFA}"/>
              </a:ext>
            </a:extLst>
          </p:cNvPr>
          <p:cNvSpPr/>
          <p:nvPr/>
        </p:nvSpPr>
        <p:spPr>
          <a:xfrm>
            <a:off x="9591180" y="439971"/>
            <a:ext cx="2552460" cy="25391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eneva"/>
                <a:cs typeface="Arial"/>
              </a:rPr>
              <a:t>Accurate as of 23/10</a:t>
            </a:r>
            <a:r>
              <a:rPr lang="en-GB" sz="1050" b="1" i="1" dirty="0">
                <a:solidFill>
                  <a:srgbClr val="000000"/>
                </a:solidFill>
                <a:latin typeface="Calibri" panose="020F0502020204030204"/>
                <a:ea typeface="Geneva"/>
                <a:cs typeface="Arial"/>
              </a:rPr>
              <a:t>/2025</a:t>
            </a:r>
            <a:endParaRPr kumimoji="0" lang="en-GB" sz="105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Geneva" pitchFamily="124" charset="-128"/>
              <a:cs typeface="+mn-cs"/>
            </a:endParaRPr>
          </a:p>
        </p:txBody>
      </p:sp>
      <p:pic>
        <p:nvPicPr>
          <p:cNvPr id="14" name="Picture 8" descr="100% HMRCppt logo">
            <a:extLst>
              <a:ext uri="{FF2B5EF4-FFF2-40B4-BE49-F238E27FC236}">
                <a16:creationId xmlns:a16="http://schemas.microsoft.com/office/drawing/2014/main" id="{541F3F7C-6FED-8496-9845-8791B943A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7870" y="93317"/>
            <a:ext cx="871600" cy="53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7323D98-3DB5-8E74-EB39-23660378E92F}"/>
              </a:ext>
            </a:extLst>
          </p:cNvPr>
          <p:cNvSpPr txBox="1">
            <a:spLocks/>
          </p:cNvSpPr>
          <p:nvPr/>
        </p:nvSpPr>
        <p:spPr bwMode="auto">
          <a:xfrm>
            <a:off x="204905" y="369806"/>
            <a:ext cx="10774862" cy="414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>
              <a:defRPr sz="24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CDS Roadmap FY25</a:t>
            </a:r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273B0ED-8175-BA86-06AB-98151233B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311153"/>
              </p:ext>
            </p:extLst>
          </p:nvPr>
        </p:nvGraphicFramePr>
        <p:xfrm>
          <a:off x="465305" y="886515"/>
          <a:ext cx="3404564" cy="4424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4564">
                  <a:extLst>
                    <a:ext uri="{9D8B030D-6E8A-4147-A177-3AD203B41FA5}">
                      <a16:colId xmlns:a16="http://schemas.microsoft.com/office/drawing/2014/main" val="2511539444"/>
                    </a:ext>
                  </a:extLst>
                </a:gridCol>
              </a:tblGrid>
              <a:tr h="287982">
                <a:tc>
                  <a:txBody>
                    <a:bodyPr/>
                    <a:lstStyle/>
                    <a:p>
                      <a:pPr marL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kern="1200" baseline="0">
                          <a:solidFill>
                            <a:schemeClr val="bg1"/>
                          </a:solidFill>
                          <a:effectLst/>
                        </a:rPr>
                        <a:t>CDS4.9.0</a:t>
                      </a:r>
                      <a:endParaRPr lang="en-GB" sz="1100" b="1" i="0" u="none" strike="noStrike" kern="1200" baseline="0" noProof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469425"/>
                  </a:ext>
                </a:extLst>
              </a:tr>
              <a:tr h="2936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Tech Specs: 11/08/2025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352726"/>
                  </a:ext>
                </a:extLst>
              </a:tr>
              <a:tr h="2936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TTM31.0.0:</a:t>
                      </a:r>
                      <a:r>
                        <a:rPr lang="en-GB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 18/09/2025</a:t>
                      </a:r>
                      <a:endParaRPr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277644"/>
                  </a:ext>
                </a:extLst>
              </a:tr>
              <a:tr h="2936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Production: 27/09/2025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365550"/>
                  </a:ext>
                </a:extLst>
              </a:tr>
              <a:tr h="2936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TDR 4.9.0: 30/09/2025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114315"/>
                  </a:ext>
                </a:extLst>
              </a:tr>
              <a:tr h="444419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Geneva"/>
                          <a:cs typeface="Calibri"/>
                        </a:rPr>
                        <a:t>Simplifying Customs Declaration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696238"/>
                  </a:ext>
                </a:extLst>
              </a:tr>
              <a:tr h="415213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Geneva"/>
                          <a:cs typeface="Calibri"/>
                        </a:rPr>
                        <a:t>Simplifying Customs Declarations – Making DE 1/9 Optional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201163"/>
                  </a:ext>
                </a:extLst>
              </a:tr>
              <a:tr h="432593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/>
                        </a:rPr>
                        <a:t>Single EU Member State Conversion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282473"/>
                  </a:ext>
                </a:extLst>
              </a:tr>
              <a:tr h="428563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Geneva"/>
                          <a:cs typeface="Calibri"/>
                        </a:rPr>
                        <a:t>UKIMS EIDR Additional Validation - DMS CR Changes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218891"/>
                  </a:ext>
                </a:extLst>
              </a:tr>
              <a:tr h="436388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Geneva"/>
                          <a:cs typeface="Calibri"/>
                        </a:rPr>
                        <a:t>Validation of </a:t>
                      </a:r>
                      <a:r>
                        <a:rPr kumimoji="0" lang="en-GB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Geneva"/>
                          <a:cs typeface="Calibri"/>
                        </a:rPr>
                        <a:t>AbD</a:t>
                      </a: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Geneva"/>
                          <a:cs typeface="Calibri"/>
                        </a:rPr>
                        <a:t> Identifiers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02453"/>
                  </a:ext>
                </a:extLst>
              </a:tr>
              <a:tr h="428189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Geneva"/>
                          <a:cs typeface="Calibri"/>
                        </a:rPr>
                        <a:t>Country of Destination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661924"/>
                  </a:ext>
                </a:extLst>
              </a:tr>
              <a:tr h="376288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Geneva"/>
                          <a:cs typeface="Calibri"/>
                        </a:rPr>
                        <a:t>Low-Value Goods Procedures: Item Value Validation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62914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0301CA2-9FF1-DEC3-639B-C81593C02853}"/>
              </a:ext>
            </a:extLst>
          </p:cNvPr>
          <p:cNvSpPr txBox="1"/>
          <p:nvPr/>
        </p:nvSpPr>
        <p:spPr>
          <a:xfrm>
            <a:off x="8249106" y="3080657"/>
            <a:ext cx="3404564" cy="2230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lIns="36000" tIns="36000" rIns="36000" bIns="0" rtlCol="0" anchor="ctr">
            <a:noAutofit/>
          </a:bodyPr>
          <a:lstStyle/>
          <a:p>
            <a:r>
              <a:rPr lang="en-GB" sz="1000" b="1" dirty="0"/>
              <a:t>Roadmap Overview</a:t>
            </a:r>
            <a:br>
              <a:rPr lang="en-GB" sz="1000" b="1" dirty="0"/>
            </a:br>
            <a:endParaRPr lang="en-GB" sz="1000" dirty="0"/>
          </a:p>
          <a:p>
            <a:r>
              <a:rPr lang="en-GB" sz="1000" dirty="0"/>
              <a:t>This roadmap outlines the planned deliveries into </a:t>
            </a:r>
            <a:r>
              <a:rPr lang="en-GB" sz="1000" b="1" dirty="0"/>
              <a:t>External Test (TT and TDR)</a:t>
            </a:r>
            <a:r>
              <a:rPr lang="en-GB" sz="1000" dirty="0"/>
              <a:t> and </a:t>
            </a:r>
            <a:r>
              <a:rPr lang="en-GB" sz="1000" b="1" dirty="0"/>
              <a:t>Production environments</a:t>
            </a:r>
            <a:r>
              <a:rPr lang="en-GB" sz="1000" dirty="0"/>
              <a:t>, including core customs processing dependencies. Items in the backlog will be considered for future iterations of the roadmap.</a:t>
            </a:r>
            <a:br>
              <a:rPr lang="en-GB" sz="1000" dirty="0"/>
            </a:br>
            <a:endParaRPr lang="en-GB" sz="1000" dirty="0"/>
          </a:p>
          <a:p>
            <a:r>
              <a:rPr lang="en-GB" sz="1000" dirty="0"/>
              <a:t>Please note:</a:t>
            </a:r>
          </a:p>
          <a:p>
            <a:r>
              <a:rPr lang="en-GB" sz="1000" b="1" dirty="0"/>
              <a:t>Release timelines/dates and scope are indicative and may be adjusted</a:t>
            </a:r>
            <a:r>
              <a:rPr lang="en-GB" sz="1000" dirty="0"/>
              <a:t> as testing progresses or where opportunities arise to accelerate delivery. </a:t>
            </a:r>
          </a:p>
          <a:p>
            <a:r>
              <a:rPr lang="en-GB" sz="1000" b="1" dirty="0"/>
              <a:t>Scope and outage timings will be confirmed</a:t>
            </a:r>
            <a:r>
              <a:rPr lang="en-GB" sz="1000" dirty="0"/>
              <a:t> with service users ahead of each release.</a:t>
            </a:r>
          </a:p>
          <a:p>
            <a:endParaRPr lang="en-GB" sz="1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713D9C-F419-A4BD-AA6D-F93ACF4F1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231294"/>
              </p:ext>
            </p:extLst>
          </p:nvPr>
        </p:nvGraphicFramePr>
        <p:xfrm>
          <a:off x="4354205" y="887898"/>
          <a:ext cx="3404564" cy="4422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4564">
                  <a:extLst>
                    <a:ext uri="{9D8B030D-6E8A-4147-A177-3AD203B41FA5}">
                      <a16:colId xmlns:a16="http://schemas.microsoft.com/office/drawing/2014/main" val="3291624202"/>
                    </a:ext>
                  </a:extLst>
                </a:gridCol>
              </a:tblGrid>
              <a:tr h="260173">
                <a:tc>
                  <a:txBody>
                    <a:bodyPr/>
                    <a:lstStyle/>
                    <a:p>
                      <a:pPr marL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kern="1200" baseline="0">
                          <a:solidFill>
                            <a:schemeClr val="bg1"/>
                          </a:solidFill>
                          <a:effectLst/>
                        </a:rPr>
                        <a:t>TTM31.0.1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008282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>
                          <a:solidFill>
                            <a:schemeClr val="bg1"/>
                          </a:solidFill>
                        </a:rPr>
                        <a:t>Tariff Data Maintenance 15/10/2025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750701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baseline="0">
                          <a:solidFill>
                            <a:schemeClr val="bg1"/>
                          </a:solidFill>
                          <a:effectLst/>
                        </a:rPr>
                        <a:t>TDR 4.9.0.0.1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402393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>
                          <a:solidFill>
                            <a:schemeClr val="bg1"/>
                          </a:solidFill>
                        </a:rPr>
                        <a:t>Tariff </a:t>
                      </a:r>
                      <a:r>
                        <a:rPr kumimoji="0" lang="en-US" sz="11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kumimoji="0" lang="en-US" sz="1100" b="1">
                          <a:solidFill>
                            <a:schemeClr val="bg1"/>
                          </a:solidFill>
                        </a:rPr>
                        <a:t> Party </a:t>
                      </a:r>
                      <a:r>
                        <a:rPr lang="en-US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kumimoji="0" lang="en-US" sz="1100" b="1">
                          <a:solidFill>
                            <a:schemeClr val="bg1"/>
                          </a:solidFill>
                        </a:rPr>
                        <a:t> Refresh 21/10/2025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370795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4.9.0.1 - Business Rules Change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796591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>
                          <a:solidFill>
                            <a:schemeClr val="bg1"/>
                          </a:solidFill>
                        </a:rPr>
                        <a:t>Production: 23/10/2025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265515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>
                          <a:solidFill>
                            <a:schemeClr val="bg1"/>
                          </a:solidFill>
                        </a:rPr>
                        <a:t>TTM31.0.1.1: 29/10/2025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091754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dirty="0">
                          <a:solidFill>
                            <a:schemeClr val="bg1"/>
                          </a:solidFill>
                        </a:rPr>
                        <a:t>TDR4.9.0.1: 29/10/2025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649016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baseline="0" dirty="0">
                          <a:solidFill>
                            <a:schemeClr val="bg1"/>
                          </a:solidFill>
                          <a:effectLst/>
                        </a:rPr>
                        <a:t>CDS 4.9.1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547164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baseline="0" dirty="0">
                          <a:solidFill>
                            <a:schemeClr val="bg1"/>
                          </a:solidFill>
                          <a:effectLst/>
                        </a:rPr>
                        <a:t>Production: November TBC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78600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baseline="0" dirty="0">
                          <a:solidFill>
                            <a:schemeClr val="bg1"/>
                          </a:solidFill>
                          <a:effectLst/>
                        </a:rPr>
                        <a:t>TDR: November TBC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206515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baseline="0" dirty="0">
                          <a:solidFill>
                            <a:schemeClr val="bg1"/>
                          </a:solidFill>
                          <a:effectLst/>
                        </a:rPr>
                        <a:t>TDR 4.9.1.0.1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039744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baseline="0" dirty="0">
                          <a:solidFill>
                            <a:schemeClr val="bg1"/>
                          </a:solidFill>
                          <a:effectLst/>
                        </a:rPr>
                        <a:t>Party Data Refresh: November TBC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982449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baseline="0" dirty="0">
                          <a:solidFill>
                            <a:schemeClr val="bg1"/>
                          </a:solidFill>
                          <a:effectLst/>
                        </a:rPr>
                        <a:t>TTM31.0.2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568328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baseline="0" dirty="0">
                          <a:solidFill>
                            <a:schemeClr val="bg1"/>
                          </a:solidFill>
                          <a:effectLst/>
                        </a:rPr>
                        <a:t>Tariff Data Maintenance: November TBC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70201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baseline="0" dirty="0">
                          <a:solidFill>
                            <a:schemeClr val="bg1"/>
                          </a:solidFill>
                          <a:effectLst/>
                        </a:rPr>
                        <a:t>TDR 4.9.1.0.2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808591"/>
                  </a:ext>
                </a:extLst>
              </a:tr>
              <a:tr h="260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baseline="0" dirty="0">
                          <a:solidFill>
                            <a:schemeClr val="bg1"/>
                          </a:solidFill>
                          <a:effectLst/>
                        </a:rPr>
                        <a:t>Tariff and Party Data Refresh: November TBC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4838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87D91C-BD9D-C602-84DF-92DEB87DA639}"/>
              </a:ext>
            </a:extLst>
          </p:cNvPr>
          <p:cNvSpPr txBox="1"/>
          <p:nvPr/>
        </p:nvSpPr>
        <p:spPr>
          <a:xfrm>
            <a:off x="413532" y="812498"/>
            <a:ext cx="6114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  <a:sym typeface="Wingdings" panose="05000000000000000000" pitchFamily="2" charset="2"/>
              </a:rPr>
              <a:t>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C51BE-9037-93CB-F19D-86BF336916D3}"/>
              </a:ext>
            </a:extLst>
          </p:cNvPr>
          <p:cNvSpPr txBox="1"/>
          <p:nvPr/>
        </p:nvSpPr>
        <p:spPr>
          <a:xfrm>
            <a:off x="4275240" y="808530"/>
            <a:ext cx="6114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  <a:sym typeface="Wingdings" panose="05000000000000000000" pitchFamily="2" charset="2"/>
              </a:rPr>
              <a:t>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5B0EB-AE25-43A8-B45E-AFAB09F46694}"/>
              </a:ext>
            </a:extLst>
          </p:cNvPr>
          <p:cNvSpPr txBox="1"/>
          <p:nvPr/>
        </p:nvSpPr>
        <p:spPr>
          <a:xfrm>
            <a:off x="4275239" y="1327266"/>
            <a:ext cx="6114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  <a:sym typeface="Wingdings" panose="05000000000000000000" pitchFamily="2" charset="2"/>
              </a:rPr>
              <a:t>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34A5FB-8CBD-38CF-E918-5B908646B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747050"/>
              </p:ext>
            </p:extLst>
          </p:nvPr>
        </p:nvGraphicFramePr>
        <p:xfrm>
          <a:off x="8255108" y="883123"/>
          <a:ext cx="3404564" cy="204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4564">
                  <a:extLst>
                    <a:ext uri="{9D8B030D-6E8A-4147-A177-3AD203B41FA5}">
                      <a16:colId xmlns:a16="http://schemas.microsoft.com/office/drawing/2014/main" val="3291624202"/>
                    </a:ext>
                  </a:extLst>
                </a:gridCol>
              </a:tblGrid>
              <a:tr h="29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>
                          <a:solidFill>
                            <a:schemeClr val="bg1"/>
                          </a:solidFill>
                        </a:rPr>
                        <a:t>CDS 5.0.0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379059"/>
                  </a:ext>
                </a:extLst>
              </a:tr>
              <a:tr h="29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>
                          <a:solidFill>
                            <a:schemeClr val="bg1"/>
                          </a:solidFill>
                        </a:rPr>
                        <a:t>Tech Specs: 23/10/2025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368110"/>
                  </a:ext>
                </a:extLst>
              </a:tr>
              <a:tr h="29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dirty="0">
                          <a:solidFill>
                            <a:schemeClr val="bg1"/>
                          </a:solidFill>
                        </a:rPr>
                        <a:t>TTM32.0.0: 04/12/2025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913008"/>
                  </a:ext>
                </a:extLst>
              </a:tr>
              <a:tr h="29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>
                          <a:solidFill>
                            <a:schemeClr val="bg1"/>
                          </a:solidFill>
                        </a:rPr>
                        <a:t>Production: 13/12/2025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468337"/>
                  </a:ext>
                </a:extLst>
              </a:tr>
              <a:tr h="29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>
                          <a:solidFill>
                            <a:schemeClr val="bg1"/>
                          </a:solidFill>
                        </a:rPr>
                        <a:t>TDR 5.0.0: 16/12/2025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6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585712"/>
                  </a:ext>
                </a:extLst>
              </a:tr>
              <a:tr h="29196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0" u="none" dirty="0">
                          <a:effectLst/>
                        </a:rPr>
                        <a:t>Mandating</a:t>
                      </a:r>
                      <a:r>
                        <a:rPr lang="fr-FR" sz="1000" b="0" u="none" dirty="0"/>
                        <a:t> NIDOM, NIIMP or NIEXP on NI Déclarations</a:t>
                      </a:r>
                      <a:endParaRPr lang="fr-FR" sz="1000" b="0" i="0" u="none" dirty="0">
                        <a:effectLst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005202"/>
                  </a:ext>
                </a:extLst>
              </a:tr>
              <a:tr h="29196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Geneva"/>
                          <a:cs typeface="Calibri"/>
                        </a:rPr>
                        <a:t>Further Windsor Framework Requirements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6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022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578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25C439D45257489CE2CD6F3B73DCDD" ma:contentTypeVersion="16" ma:contentTypeDescription="Create a new document." ma:contentTypeScope="" ma:versionID="7c3400d7a446af97ad07832a5e7ca40d">
  <xsd:schema xmlns:xsd="http://www.w3.org/2001/XMLSchema" xmlns:xs="http://www.w3.org/2001/XMLSchema" xmlns:p="http://schemas.microsoft.com/office/2006/metadata/properties" xmlns:ns2="535cbac5-1af9-4cd4-9513-0afcd68db736" xmlns:ns3="cee8eb0f-360c-4f1c-b563-d344757e98da" targetNamespace="http://schemas.microsoft.com/office/2006/metadata/properties" ma:root="true" ma:fieldsID="9f2a09b8a5fa6ff4b957d8440d993769" ns2:_="" ns3:_="">
    <xsd:import namespace="535cbac5-1af9-4cd4-9513-0afcd68db736"/>
    <xsd:import namespace="cee8eb0f-360c-4f1c-b563-d344757e98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5cbac5-1af9-4cd4-9513-0afcd68db7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a3ebb39f-d69b-4575-80f5-9912993956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e8eb0f-360c-4f1c-b563-d344757e98d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fc029272-d927-49c6-9535-27505dadd74a}" ma:internalName="TaxCatchAll" ma:showField="CatchAllData" ma:web="cee8eb0f-360c-4f1c-b563-d344757e98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35cbac5-1af9-4cd4-9513-0afcd68db736">
      <Terms xmlns="http://schemas.microsoft.com/office/infopath/2007/PartnerControls"/>
    </lcf76f155ced4ddcb4097134ff3c332f>
    <TaxCatchAll xmlns="cee8eb0f-360c-4f1c-b563-d344757e98d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762716-AB8C-469A-AD90-316BB93166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5cbac5-1af9-4cd4-9513-0afcd68db736"/>
    <ds:schemaRef ds:uri="cee8eb0f-360c-4f1c-b563-d344757e98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9B8BCCF-362D-46A9-821C-CAE2308C1C45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535cbac5-1af9-4cd4-9513-0afcd68db736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cee8eb0f-360c-4f1c-b563-d344757e98d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4396E5C-9063-4B68-A23D-F4E9A9C4AA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Widescreen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2025-10-22T14:20:35Z</dcterms:created>
  <dcterms:modified xsi:type="dcterms:W3CDTF">2025-10-23T08:55:00Z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9af038e-07b4-4369-a678-c835687cb272_Enabled">
    <vt:lpwstr>true</vt:lpwstr>
  </property>
  <property fmtid="{D5CDD505-2E9C-101B-9397-08002B2CF9AE}" pid="3" name="MSIP_Label_f9af038e-07b4-4369-a678-c835687cb272_SetDate">
    <vt:lpwstr>2025-10-22T14:20:37Z</vt:lpwstr>
  </property>
  <property fmtid="{D5CDD505-2E9C-101B-9397-08002B2CF9AE}" pid="4" name="MSIP_Label_f9af038e-07b4-4369-a678-c835687cb272_Method">
    <vt:lpwstr>Standard</vt:lpwstr>
  </property>
  <property fmtid="{D5CDD505-2E9C-101B-9397-08002B2CF9AE}" pid="5" name="MSIP_Label_f9af038e-07b4-4369-a678-c835687cb272_Name">
    <vt:lpwstr>OFFICIAL</vt:lpwstr>
  </property>
  <property fmtid="{D5CDD505-2E9C-101B-9397-08002B2CF9AE}" pid="6" name="MSIP_Label_f9af038e-07b4-4369-a678-c835687cb272_SiteId">
    <vt:lpwstr>ac52f73c-fd1a-4a9a-8e7a-4a248f3139e1</vt:lpwstr>
  </property>
  <property fmtid="{D5CDD505-2E9C-101B-9397-08002B2CF9AE}" pid="7" name="MSIP_Label_f9af038e-07b4-4369-a678-c835687cb272_ActionId">
    <vt:lpwstr>bba1c036-f80b-4030-b539-265434251400</vt:lpwstr>
  </property>
  <property fmtid="{D5CDD505-2E9C-101B-9397-08002B2CF9AE}" pid="8" name="MSIP_Label_f9af038e-07b4-4369-a678-c835687cb272_ContentBits">
    <vt:lpwstr>2</vt:lpwstr>
  </property>
  <property fmtid="{D5CDD505-2E9C-101B-9397-08002B2CF9AE}" pid="9" name="MSIP_Label_f9af038e-07b4-4369-a678-c835687cb272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OFFICIAL</vt:lpwstr>
  </property>
  <property fmtid="{D5CDD505-2E9C-101B-9397-08002B2CF9AE}" pid="12" name="MediaServiceImageTags">
    <vt:lpwstr/>
  </property>
  <property fmtid="{D5CDD505-2E9C-101B-9397-08002B2CF9AE}" pid="13" name="ContentTypeId">
    <vt:lpwstr>0x010100D425C439D45257489CE2CD6F3B73DCDD</vt:lpwstr>
  </property>
</Properties>
</file>