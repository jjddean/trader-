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5"/>
  </p:notesMasterIdLst>
  <p:sldIdLst>
    <p:sldId id="2145706864" r:id="rId5"/>
    <p:sldId id="2145706941" r:id="rId6"/>
    <p:sldId id="2145706942" r:id="rId7"/>
    <p:sldId id="2145706968" r:id="rId8"/>
    <p:sldId id="2145706969" r:id="rId9"/>
    <p:sldId id="2145706970" r:id="rId10"/>
    <p:sldId id="2145706976" r:id="rId11"/>
    <p:sldId id="2145706972" r:id="rId12"/>
    <p:sldId id="2145706973" r:id="rId13"/>
    <p:sldId id="21457069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TM32.0" id="{D16BE5F2-E143-4DF9-9983-340FEC0106E3}">
          <p14:sldIdLst>
            <p14:sldId id="2145706864"/>
            <p14:sldId id="2145706941"/>
            <p14:sldId id="2145706942"/>
            <p14:sldId id="2145706968"/>
            <p14:sldId id="2145706969"/>
            <p14:sldId id="2145706970"/>
            <p14:sldId id="2145706976"/>
            <p14:sldId id="2145706972"/>
            <p14:sldId id="2145706973"/>
            <p14:sldId id="21457069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E7EEEE"/>
    <a:srgbClr val="CBDCDB"/>
    <a:srgbClr val="0070C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1420" y="2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91B5DB-D467-4D63-91AD-12CECB37E325}" type="datetimeFigureOut">
              <a:rPr lang="en-GB" smtClean="0"/>
              <a:t>16/03/2026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C2E1D7-EBF8-4826-9DAB-D7707228F2E4}" type="slidenum">
              <a:rPr lang="en-GB" smtClean="0"/>
              <a:t>‹#›</a:t>
            </a:fld>
            <a:endParaRPr lang="en-GB" dirty="0"/>
          </a:p>
        </p:txBody>
      </p:sp>
    </p:spTree>
    <p:extLst>
      <p:ext uri="{BB962C8B-B14F-4D97-AF65-F5344CB8AC3E}">
        <p14:creationId xmlns:p14="http://schemas.microsoft.com/office/powerpoint/2010/main" val="1168528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7EA79-C1D8-48E2-9034-57E7354F7976}"/>
              </a:ext>
            </a:extLst>
          </p:cNvPr>
          <p:cNvSpPr>
            <a:spLocks noGrp="1" noRot="1" noChangeAspect="1"/>
          </p:cNvSpPr>
          <p:nvPr>
            <p:ph type="sldImg"/>
          </p:nvPr>
        </p:nvSpPr>
        <p:spPr>
          <a:xfrm>
            <a:off x="685800" y="1143000"/>
            <a:ext cx="5486400" cy="3086100"/>
          </a:xfrm>
        </p:spPr>
        <p:txBody>
          <a:bodyPr/>
          <a:lstStyle/>
          <a:p>
            <a:endParaRPr lang="en-GB" dirty="0"/>
          </a:p>
        </p:txBody>
      </p:sp>
      <p:sp>
        <p:nvSpPr>
          <p:cNvPr id="3" name="Notes Placeholder 2">
            <a:extLst>
              <a:ext uri="{FF2B5EF4-FFF2-40B4-BE49-F238E27FC236}">
                <a16:creationId xmlns:a16="http://schemas.microsoft.com/office/drawing/2014/main" id="{441C515F-2A1F-4903-9205-6CDB27E825B2}"/>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34273E11-37EC-411A-836F-0CE047A0D25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C1799A92-0C72-414D-A256-9032299C3E2D}" type="slidenum">
              <a:rPr kumimoji="0" sz="1800" b="0" i="0" u="none" strike="noStrike" kern="0" cap="none" spc="0" normalizeH="0" baseline="0" noProof="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2152063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E0C2E-30BC-C0A1-B85B-5A58BEF3E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C80C8-C7A0-4C68-766C-C4A488F0387C}"/>
              </a:ext>
            </a:extLst>
          </p:cNvPr>
          <p:cNvSpPr>
            <a:spLocks noGrp="1" noRot="1" noChangeAspect="1"/>
          </p:cNvSpPr>
          <p:nvPr>
            <p:ph type="sldImg"/>
          </p:nvPr>
        </p:nvSpPr>
        <p:spPr>
          <a:xfrm>
            <a:off x="685800" y="1143000"/>
            <a:ext cx="5486400" cy="3086100"/>
          </a:xfrm>
        </p:spPr>
        <p:txBody>
          <a:bodyPr/>
          <a:lstStyle/>
          <a:p>
            <a:endParaRPr lang="en-GB" dirty="0"/>
          </a:p>
        </p:txBody>
      </p:sp>
      <p:sp>
        <p:nvSpPr>
          <p:cNvPr id="3" name="Notes Placeholder 2">
            <a:extLst>
              <a:ext uri="{FF2B5EF4-FFF2-40B4-BE49-F238E27FC236}">
                <a16:creationId xmlns:a16="http://schemas.microsoft.com/office/drawing/2014/main" id="{36CA4CBB-5792-07FE-8B33-A1D67EB8FFE1}"/>
              </a:ext>
            </a:extLst>
          </p:cNvPr>
          <p:cNvSpPr txBox="1">
            <a:spLocks noGrp="1"/>
          </p:cNvSpPr>
          <p:nvPr>
            <p:ph type="body" sz="quarter" idx="1"/>
          </p:nvPr>
        </p:nvSpPr>
        <p:spPr/>
        <p:txBody>
          <a:bodyPr/>
          <a:lstStyle/>
          <a:p>
            <a:pPr>
              <a:lnSpc>
                <a:spcPct val="107000"/>
              </a:lnSpc>
              <a:spcAft>
                <a:spcPts val="800"/>
              </a:spcAft>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EDF5E6E-D411-18CA-E57E-50718467E85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85A8CC8A-B25D-411B-AA07-FAF5801562C4}" type="slidenum">
              <a:rPr kumimoji="0" sz="1800" b="0" i="0" u="none" strike="noStrike" kern="0" cap="none" spc="0" normalizeH="0" baseline="0" noProof="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2</a:t>
            </a:fld>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659532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4E63C-7EA4-39D1-8BDF-1AF9828A7D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F7EE5B7-445A-F21A-7BB7-AA0975D5B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AEFD0D9-5F5A-8DAC-8EF0-6A87FB38AB4B}"/>
              </a:ext>
            </a:extLst>
          </p:cNvPr>
          <p:cNvSpPr>
            <a:spLocks noGrp="1"/>
          </p:cNvSpPr>
          <p:nvPr>
            <p:ph type="dt" sz="half" idx="10"/>
          </p:nvPr>
        </p:nvSpPr>
        <p:spPr/>
        <p:txBody>
          <a:bodyPr/>
          <a:lstStyle/>
          <a:p>
            <a:fld id="{8FBF2965-8593-42BF-9FEA-EC2BC1D405CB}" type="datetime1">
              <a:rPr lang="en-GB" smtClean="0"/>
              <a:t>16/03/2026</a:t>
            </a:fld>
            <a:endParaRPr lang="en-GB" dirty="0"/>
          </a:p>
        </p:txBody>
      </p:sp>
      <p:sp>
        <p:nvSpPr>
          <p:cNvPr id="5" name="Footer Placeholder 4">
            <a:extLst>
              <a:ext uri="{FF2B5EF4-FFF2-40B4-BE49-F238E27FC236}">
                <a16:creationId xmlns:a16="http://schemas.microsoft.com/office/drawing/2014/main" id="{CEDF0964-8F04-F8FD-54E2-6780A8B03283}"/>
              </a:ext>
            </a:extLst>
          </p:cNvPr>
          <p:cNvSpPr>
            <a:spLocks noGrp="1"/>
          </p:cNvSpPr>
          <p:nvPr>
            <p:ph type="ftr" sz="quarter" idx="11"/>
          </p:nvPr>
        </p:nvSpPr>
        <p:spPr/>
        <p:txBody>
          <a:bodyPr/>
          <a:lstStyle/>
          <a:p>
            <a:r>
              <a:rPr lang="en-GB" dirty="0"/>
              <a:t>CDS External Release Scope Guidance Document</a:t>
            </a:r>
          </a:p>
        </p:txBody>
      </p:sp>
      <p:sp>
        <p:nvSpPr>
          <p:cNvPr id="6" name="Slide Number Placeholder 5">
            <a:extLst>
              <a:ext uri="{FF2B5EF4-FFF2-40B4-BE49-F238E27FC236}">
                <a16:creationId xmlns:a16="http://schemas.microsoft.com/office/drawing/2014/main" id="{3B773A0E-6844-81E7-85BF-79678CAF11C3}"/>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522790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F09CC-C505-8862-05CB-529A3645BB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9F11B49-1B28-B711-EE01-1581E6F786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C9AF47-657A-0EBE-E732-7661999BB66D}"/>
              </a:ext>
            </a:extLst>
          </p:cNvPr>
          <p:cNvSpPr>
            <a:spLocks noGrp="1"/>
          </p:cNvSpPr>
          <p:nvPr>
            <p:ph type="dt" sz="half" idx="10"/>
          </p:nvPr>
        </p:nvSpPr>
        <p:spPr/>
        <p:txBody>
          <a:bodyPr/>
          <a:lstStyle/>
          <a:p>
            <a:fld id="{759C0B37-3CD6-4916-8F2A-8E69684B995A}" type="datetime1">
              <a:rPr lang="en-GB" smtClean="0"/>
              <a:t>16/03/2026</a:t>
            </a:fld>
            <a:endParaRPr lang="en-GB" dirty="0"/>
          </a:p>
        </p:txBody>
      </p:sp>
      <p:sp>
        <p:nvSpPr>
          <p:cNvPr id="5" name="Footer Placeholder 4">
            <a:extLst>
              <a:ext uri="{FF2B5EF4-FFF2-40B4-BE49-F238E27FC236}">
                <a16:creationId xmlns:a16="http://schemas.microsoft.com/office/drawing/2014/main" id="{521C76D9-86E4-5CDC-5C2E-FF693EA8E6A7}"/>
              </a:ext>
            </a:extLst>
          </p:cNvPr>
          <p:cNvSpPr>
            <a:spLocks noGrp="1"/>
          </p:cNvSpPr>
          <p:nvPr>
            <p:ph type="ftr" sz="quarter" idx="11"/>
          </p:nvPr>
        </p:nvSpPr>
        <p:spPr/>
        <p:txBody>
          <a:bodyPr/>
          <a:lstStyle/>
          <a:p>
            <a:r>
              <a:rPr lang="en-GB" dirty="0"/>
              <a:t>CDS External Release Scope Guidance Document</a:t>
            </a:r>
          </a:p>
        </p:txBody>
      </p:sp>
      <p:sp>
        <p:nvSpPr>
          <p:cNvPr id="6" name="Slide Number Placeholder 5">
            <a:extLst>
              <a:ext uri="{FF2B5EF4-FFF2-40B4-BE49-F238E27FC236}">
                <a16:creationId xmlns:a16="http://schemas.microsoft.com/office/drawing/2014/main" id="{5FFAFC65-2E1E-89B4-3C91-37AF3A7117AF}"/>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771336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5FAE2-938C-BBF7-AC75-3741C32142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096557E-31C2-7EEC-EC57-BBF017A872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D4B276-7488-2936-E236-2DB67AA449EC}"/>
              </a:ext>
            </a:extLst>
          </p:cNvPr>
          <p:cNvSpPr>
            <a:spLocks noGrp="1"/>
          </p:cNvSpPr>
          <p:nvPr>
            <p:ph type="dt" sz="half" idx="10"/>
          </p:nvPr>
        </p:nvSpPr>
        <p:spPr/>
        <p:txBody>
          <a:bodyPr/>
          <a:lstStyle/>
          <a:p>
            <a:fld id="{3B95AE13-D9C9-486B-A4D9-112AC4B8C61F}" type="datetime1">
              <a:rPr lang="en-GB" smtClean="0"/>
              <a:t>16/03/2026</a:t>
            </a:fld>
            <a:endParaRPr lang="en-GB" dirty="0"/>
          </a:p>
        </p:txBody>
      </p:sp>
      <p:sp>
        <p:nvSpPr>
          <p:cNvPr id="5" name="Footer Placeholder 4">
            <a:extLst>
              <a:ext uri="{FF2B5EF4-FFF2-40B4-BE49-F238E27FC236}">
                <a16:creationId xmlns:a16="http://schemas.microsoft.com/office/drawing/2014/main" id="{769BC88C-2B25-F072-A6EB-BC0A1FF1EE11}"/>
              </a:ext>
            </a:extLst>
          </p:cNvPr>
          <p:cNvSpPr>
            <a:spLocks noGrp="1"/>
          </p:cNvSpPr>
          <p:nvPr>
            <p:ph type="ftr" sz="quarter" idx="11"/>
          </p:nvPr>
        </p:nvSpPr>
        <p:spPr/>
        <p:txBody>
          <a:bodyPr/>
          <a:lstStyle/>
          <a:p>
            <a:r>
              <a:rPr lang="en-GB" dirty="0"/>
              <a:t>CDS External Release Scope Guidance Document</a:t>
            </a:r>
          </a:p>
        </p:txBody>
      </p:sp>
      <p:sp>
        <p:nvSpPr>
          <p:cNvPr id="6" name="Slide Number Placeholder 5">
            <a:extLst>
              <a:ext uri="{FF2B5EF4-FFF2-40B4-BE49-F238E27FC236}">
                <a16:creationId xmlns:a16="http://schemas.microsoft.com/office/drawing/2014/main" id="{2374C642-4121-A63E-4AFB-BC583D15E23F}"/>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788687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2A9B7-94DF-3AF2-8DB7-57E8D6E07A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83B1458-7DB1-8C8D-5772-792CD0A7F8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C1EE2A1-5465-5D9F-5A7A-33C449206B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AA2E87-86BE-8BFD-8E1C-91F4291DE52E}"/>
              </a:ext>
            </a:extLst>
          </p:cNvPr>
          <p:cNvSpPr>
            <a:spLocks noGrp="1"/>
          </p:cNvSpPr>
          <p:nvPr>
            <p:ph type="dt" sz="half" idx="10"/>
          </p:nvPr>
        </p:nvSpPr>
        <p:spPr/>
        <p:txBody>
          <a:bodyPr/>
          <a:lstStyle/>
          <a:p>
            <a:fld id="{18B8AEFE-A5DB-46BB-AA58-B6431BECF4D4}" type="datetime1">
              <a:rPr lang="en-GB" smtClean="0"/>
              <a:t>16/03/2026</a:t>
            </a:fld>
            <a:endParaRPr lang="en-GB" dirty="0"/>
          </a:p>
        </p:txBody>
      </p:sp>
      <p:sp>
        <p:nvSpPr>
          <p:cNvPr id="6" name="Footer Placeholder 5">
            <a:extLst>
              <a:ext uri="{FF2B5EF4-FFF2-40B4-BE49-F238E27FC236}">
                <a16:creationId xmlns:a16="http://schemas.microsoft.com/office/drawing/2014/main" id="{F6355ACF-FBBA-BC1F-D05F-A52B6C3A70FF}"/>
              </a:ext>
            </a:extLst>
          </p:cNvPr>
          <p:cNvSpPr>
            <a:spLocks noGrp="1"/>
          </p:cNvSpPr>
          <p:nvPr>
            <p:ph type="ftr" sz="quarter" idx="11"/>
          </p:nvPr>
        </p:nvSpPr>
        <p:spPr/>
        <p:txBody>
          <a:bodyPr/>
          <a:lstStyle/>
          <a:p>
            <a:r>
              <a:rPr lang="en-GB" dirty="0"/>
              <a:t>CDS External Release Scope Guidance Document</a:t>
            </a:r>
          </a:p>
        </p:txBody>
      </p:sp>
      <p:sp>
        <p:nvSpPr>
          <p:cNvPr id="7" name="Slide Number Placeholder 6">
            <a:extLst>
              <a:ext uri="{FF2B5EF4-FFF2-40B4-BE49-F238E27FC236}">
                <a16:creationId xmlns:a16="http://schemas.microsoft.com/office/drawing/2014/main" id="{07C350C0-723A-D210-6984-FCCB005ED210}"/>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1753651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6C65E-C6E2-9286-3095-F28D01E864F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87FE80-E866-59D6-48BC-434DB0D9B1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15D05A-BAC1-05EE-6183-29DC46A4BE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CE4562C-92B7-B9C8-B844-CC8578B93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F812ED-AC46-2FBB-853E-BDA67EB0BF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8A4C98D-CAEC-908B-D9AE-0DDED9767F7C}"/>
              </a:ext>
            </a:extLst>
          </p:cNvPr>
          <p:cNvSpPr>
            <a:spLocks noGrp="1"/>
          </p:cNvSpPr>
          <p:nvPr>
            <p:ph type="dt" sz="half" idx="10"/>
          </p:nvPr>
        </p:nvSpPr>
        <p:spPr/>
        <p:txBody>
          <a:bodyPr/>
          <a:lstStyle/>
          <a:p>
            <a:fld id="{7516617A-3875-47DA-9409-1BC1C65C05E6}" type="datetime1">
              <a:rPr lang="en-GB" smtClean="0"/>
              <a:t>16/03/2026</a:t>
            </a:fld>
            <a:endParaRPr lang="en-GB" dirty="0"/>
          </a:p>
        </p:txBody>
      </p:sp>
      <p:sp>
        <p:nvSpPr>
          <p:cNvPr id="8" name="Footer Placeholder 7">
            <a:extLst>
              <a:ext uri="{FF2B5EF4-FFF2-40B4-BE49-F238E27FC236}">
                <a16:creationId xmlns:a16="http://schemas.microsoft.com/office/drawing/2014/main" id="{8E4F5FB5-60FB-3553-8F85-5C70CB68BC24}"/>
              </a:ext>
            </a:extLst>
          </p:cNvPr>
          <p:cNvSpPr>
            <a:spLocks noGrp="1"/>
          </p:cNvSpPr>
          <p:nvPr>
            <p:ph type="ftr" sz="quarter" idx="11"/>
          </p:nvPr>
        </p:nvSpPr>
        <p:spPr/>
        <p:txBody>
          <a:bodyPr/>
          <a:lstStyle/>
          <a:p>
            <a:r>
              <a:rPr lang="en-GB" dirty="0"/>
              <a:t>CDS External Release Scope Guidance Document</a:t>
            </a:r>
          </a:p>
        </p:txBody>
      </p:sp>
      <p:sp>
        <p:nvSpPr>
          <p:cNvPr id="9" name="Slide Number Placeholder 8">
            <a:extLst>
              <a:ext uri="{FF2B5EF4-FFF2-40B4-BE49-F238E27FC236}">
                <a16:creationId xmlns:a16="http://schemas.microsoft.com/office/drawing/2014/main" id="{419F5067-96AC-3690-0096-FC2FCDF4B07B}"/>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539340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42179-811A-CF1C-0FCB-5A9665E6E26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79B5144-FE22-5692-C8DB-7D6120B9EEE5}"/>
              </a:ext>
            </a:extLst>
          </p:cNvPr>
          <p:cNvSpPr>
            <a:spLocks noGrp="1"/>
          </p:cNvSpPr>
          <p:nvPr>
            <p:ph type="dt" sz="half" idx="10"/>
          </p:nvPr>
        </p:nvSpPr>
        <p:spPr/>
        <p:txBody>
          <a:bodyPr/>
          <a:lstStyle/>
          <a:p>
            <a:fld id="{28E596E6-738F-4997-9A73-67C2C74E284E}" type="datetime1">
              <a:rPr lang="en-GB" smtClean="0"/>
              <a:t>16/03/2026</a:t>
            </a:fld>
            <a:endParaRPr lang="en-GB" dirty="0"/>
          </a:p>
        </p:txBody>
      </p:sp>
      <p:sp>
        <p:nvSpPr>
          <p:cNvPr id="4" name="Footer Placeholder 3">
            <a:extLst>
              <a:ext uri="{FF2B5EF4-FFF2-40B4-BE49-F238E27FC236}">
                <a16:creationId xmlns:a16="http://schemas.microsoft.com/office/drawing/2014/main" id="{78F55B31-07D2-7A7D-54A5-B9311EF6D872}"/>
              </a:ext>
            </a:extLst>
          </p:cNvPr>
          <p:cNvSpPr>
            <a:spLocks noGrp="1"/>
          </p:cNvSpPr>
          <p:nvPr>
            <p:ph type="ftr" sz="quarter" idx="11"/>
          </p:nvPr>
        </p:nvSpPr>
        <p:spPr/>
        <p:txBody>
          <a:bodyPr/>
          <a:lstStyle/>
          <a:p>
            <a:r>
              <a:rPr lang="en-GB" dirty="0"/>
              <a:t>CDS External Release Scope Guidance Document</a:t>
            </a:r>
          </a:p>
        </p:txBody>
      </p:sp>
      <p:sp>
        <p:nvSpPr>
          <p:cNvPr id="5" name="Slide Number Placeholder 4">
            <a:extLst>
              <a:ext uri="{FF2B5EF4-FFF2-40B4-BE49-F238E27FC236}">
                <a16:creationId xmlns:a16="http://schemas.microsoft.com/office/drawing/2014/main" id="{11917983-85FD-E897-96B8-D72540A7237A}"/>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219377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7FB89A-E2E3-7205-B962-54E9B50DBA64}"/>
              </a:ext>
            </a:extLst>
          </p:cNvPr>
          <p:cNvSpPr>
            <a:spLocks noGrp="1"/>
          </p:cNvSpPr>
          <p:nvPr>
            <p:ph type="dt" sz="half" idx="10"/>
          </p:nvPr>
        </p:nvSpPr>
        <p:spPr/>
        <p:txBody>
          <a:bodyPr/>
          <a:lstStyle/>
          <a:p>
            <a:fld id="{3EFD7E6B-1D7D-481F-9BED-3E830E7689D8}" type="datetime1">
              <a:rPr lang="en-GB" smtClean="0"/>
              <a:t>16/03/2026</a:t>
            </a:fld>
            <a:endParaRPr lang="en-GB" dirty="0"/>
          </a:p>
        </p:txBody>
      </p:sp>
      <p:sp>
        <p:nvSpPr>
          <p:cNvPr id="3" name="Footer Placeholder 2">
            <a:extLst>
              <a:ext uri="{FF2B5EF4-FFF2-40B4-BE49-F238E27FC236}">
                <a16:creationId xmlns:a16="http://schemas.microsoft.com/office/drawing/2014/main" id="{1DE8853D-8FED-29E9-FD57-E7B9CA47BDD4}"/>
              </a:ext>
            </a:extLst>
          </p:cNvPr>
          <p:cNvSpPr>
            <a:spLocks noGrp="1"/>
          </p:cNvSpPr>
          <p:nvPr>
            <p:ph type="ftr" sz="quarter" idx="11"/>
          </p:nvPr>
        </p:nvSpPr>
        <p:spPr/>
        <p:txBody>
          <a:bodyPr/>
          <a:lstStyle/>
          <a:p>
            <a:r>
              <a:rPr lang="en-GB" dirty="0"/>
              <a:t>CDS External Release Scope Guidance Document</a:t>
            </a:r>
          </a:p>
        </p:txBody>
      </p:sp>
      <p:sp>
        <p:nvSpPr>
          <p:cNvPr id="4" name="Slide Number Placeholder 3">
            <a:extLst>
              <a:ext uri="{FF2B5EF4-FFF2-40B4-BE49-F238E27FC236}">
                <a16:creationId xmlns:a16="http://schemas.microsoft.com/office/drawing/2014/main" id="{B19D4EF7-337A-4771-3635-5CF9BE63C0C1}"/>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259798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46429-06C4-FD8C-4341-E683CF289E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171FC5A-4B6C-4B34-9236-EBFB8B21F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1E96B4-8CE3-DD5B-CE54-39195A6C2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365FC-5146-5986-78FF-22395AA683DB}"/>
              </a:ext>
            </a:extLst>
          </p:cNvPr>
          <p:cNvSpPr>
            <a:spLocks noGrp="1"/>
          </p:cNvSpPr>
          <p:nvPr>
            <p:ph type="dt" sz="half" idx="10"/>
          </p:nvPr>
        </p:nvSpPr>
        <p:spPr/>
        <p:txBody>
          <a:bodyPr/>
          <a:lstStyle/>
          <a:p>
            <a:fld id="{AC932A32-C4C7-4C53-8E83-5FAFAFF418D2}" type="datetime1">
              <a:rPr lang="en-GB" smtClean="0"/>
              <a:t>16/03/2026</a:t>
            </a:fld>
            <a:endParaRPr lang="en-GB" dirty="0"/>
          </a:p>
        </p:txBody>
      </p:sp>
      <p:sp>
        <p:nvSpPr>
          <p:cNvPr id="6" name="Footer Placeholder 5">
            <a:extLst>
              <a:ext uri="{FF2B5EF4-FFF2-40B4-BE49-F238E27FC236}">
                <a16:creationId xmlns:a16="http://schemas.microsoft.com/office/drawing/2014/main" id="{A65CFF2A-E9DC-ABA7-DFFF-DD51C0B8A161}"/>
              </a:ext>
            </a:extLst>
          </p:cNvPr>
          <p:cNvSpPr>
            <a:spLocks noGrp="1"/>
          </p:cNvSpPr>
          <p:nvPr>
            <p:ph type="ftr" sz="quarter" idx="11"/>
          </p:nvPr>
        </p:nvSpPr>
        <p:spPr/>
        <p:txBody>
          <a:bodyPr/>
          <a:lstStyle/>
          <a:p>
            <a:r>
              <a:rPr lang="en-GB" dirty="0"/>
              <a:t>CDS External Release Scope Guidance Document</a:t>
            </a:r>
          </a:p>
        </p:txBody>
      </p:sp>
      <p:sp>
        <p:nvSpPr>
          <p:cNvPr id="7" name="Slide Number Placeholder 6">
            <a:extLst>
              <a:ext uri="{FF2B5EF4-FFF2-40B4-BE49-F238E27FC236}">
                <a16:creationId xmlns:a16="http://schemas.microsoft.com/office/drawing/2014/main" id="{0FBEEB49-2B39-D08D-962E-419094323E76}"/>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2137524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2BC4-9381-DC05-41C9-B987D134B1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B565605-86F4-4E37-0E2E-3D1318D3E7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5905A58-49CE-04AF-D58A-A10C2E5F6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D69B66-046C-1E0B-734E-12CE5008EEC8}"/>
              </a:ext>
            </a:extLst>
          </p:cNvPr>
          <p:cNvSpPr>
            <a:spLocks noGrp="1"/>
          </p:cNvSpPr>
          <p:nvPr>
            <p:ph type="dt" sz="half" idx="10"/>
          </p:nvPr>
        </p:nvSpPr>
        <p:spPr/>
        <p:txBody>
          <a:bodyPr/>
          <a:lstStyle/>
          <a:p>
            <a:fld id="{CDA54896-0B1C-4513-B1AD-5262F4D59941}" type="datetime1">
              <a:rPr lang="en-GB" smtClean="0"/>
              <a:t>16/03/2026</a:t>
            </a:fld>
            <a:endParaRPr lang="en-GB" dirty="0"/>
          </a:p>
        </p:txBody>
      </p:sp>
      <p:sp>
        <p:nvSpPr>
          <p:cNvPr id="6" name="Footer Placeholder 5">
            <a:extLst>
              <a:ext uri="{FF2B5EF4-FFF2-40B4-BE49-F238E27FC236}">
                <a16:creationId xmlns:a16="http://schemas.microsoft.com/office/drawing/2014/main" id="{DD889DC2-48FA-A30B-7ACE-D03BE90722D8}"/>
              </a:ext>
            </a:extLst>
          </p:cNvPr>
          <p:cNvSpPr>
            <a:spLocks noGrp="1"/>
          </p:cNvSpPr>
          <p:nvPr>
            <p:ph type="ftr" sz="quarter" idx="11"/>
          </p:nvPr>
        </p:nvSpPr>
        <p:spPr/>
        <p:txBody>
          <a:bodyPr/>
          <a:lstStyle/>
          <a:p>
            <a:r>
              <a:rPr lang="en-GB" dirty="0"/>
              <a:t>CDS External Release Scope Guidance Document</a:t>
            </a:r>
          </a:p>
        </p:txBody>
      </p:sp>
      <p:sp>
        <p:nvSpPr>
          <p:cNvPr id="7" name="Slide Number Placeholder 6">
            <a:extLst>
              <a:ext uri="{FF2B5EF4-FFF2-40B4-BE49-F238E27FC236}">
                <a16:creationId xmlns:a16="http://schemas.microsoft.com/office/drawing/2014/main" id="{B434B57C-77FF-7DEA-AEB3-C7CA78EDBFF8}"/>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1692758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7BD8-0A73-5852-A432-C55CAC9DE90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D10289-90DF-82A8-ED83-BD91F8036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0D94BB-3B9F-91C2-D869-F7C3C3B2D9CB}"/>
              </a:ext>
            </a:extLst>
          </p:cNvPr>
          <p:cNvSpPr>
            <a:spLocks noGrp="1"/>
          </p:cNvSpPr>
          <p:nvPr>
            <p:ph type="dt" sz="half" idx="10"/>
          </p:nvPr>
        </p:nvSpPr>
        <p:spPr/>
        <p:txBody>
          <a:bodyPr/>
          <a:lstStyle/>
          <a:p>
            <a:fld id="{D00AA56F-3C6F-47D6-B448-69CD852E862E}" type="datetime1">
              <a:rPr lang="en-GB" smtClean="0"/>
              <a:t>16/03/2026</a:t>
            </a:fld>
            <a:endParaRPr lang="en-GB" dirty="0"/>
          </a:p>
        </p:txBody>
      </p:sp>
      <p:sp>
        <p:nvSpPr>
          <p:cNvPr id="5" name="Footer Placeholder 4">
            <a:extLst>
              <a:ext uri="{FF2B5EF4-FFF2-40B4-BE49-F238E27FC236}">
                <a16:creationId xmlns:a16="http://schemas.microsoft.com/office/drawing/2014/main" id="{D756FCFE-BA06-CBAA-501D-9C903B921A50}"/>
              </a:ext>
            </a:extLst>
          </p:cNvPr>
          <p:cNvSpPr>
            <a:spLocks noGrp="1"/>
          </p:cNvSpPr>
          <p:nvPr>
            <p:ph type="ftr" sz="quarter" idx="11"/>
          </p:nvPr>
        </p:nvSpPr>
        <p:spPr/>
        <p:txBody>
          <a:bodyPr/>
          <a:lstStyle/>
          <a:p>
            <a:r>
              <a:rPr lang="en-GB" dirty="0"/>
              <a:t>CDS External Release Scope Guidance Document</a:t>
            </a:r>
          </a:p>
        </p:txBody>
      </p:sp>
      <p:sp>
        <p:nvSpPr>
          <p:cNvPr id="6" name="Slide Number Placeholder 5">
            <a:extLst>
              <a:ext uri="{FF2B5EF4-FFF2-40B4-BE49-F238E27FC236}">
                <a16:creationId xmlns:a16="http://schemas.microsoft.com/office/drawing/2014/main" id="{2BFE81E0-2F6B-9CDB-700F-C8C25E64FD12}"/>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551982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C5B6AA-C13F-EF8D-B36A-1E8B9BB548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4E17C3-D772-490D-CCEA-3CBE7E43E5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1FE6B2-BAE8-A53D-4F10-58AD93A282CD}"/>
              </a:ext>
            </a:extLst>
          </p:cNvPr>
          <p:cNvSpPr>
            <a:spLocks noGrp="1"/>
          </p:cNvSpPr>
          <p:nvPr>
            <p:ph type="dt" sz="half" idx="10"/>
          </p:nvPr>
        </p:nvSpPr>
        <p:spPr/>
        <p:txBody>
          <a:bodyPr/>
          <a:lstStyle/>
          <a:p>
            <a:fld id="{D90D80E6-6F84-4A63-A935-072CE5DCB766}" type="datetime1">
              <a:rPr lang="en-GB" smtClean="0"/>
              <a:t>16/03/2026</a:t>
            </a:fld>
            <a:endParaRPr lang="en-GB" dirty="0"/>
          </a:p>
        </p:txBody>
      </p:sp>
      <p:sp>
        <p:nvSpPr>
          <p:cNvPr id="5" name="Footer Placeholder 4">
            <a:extLst>
              <a:ext uri="{FF2B5EF4-FFF2-40B4-BE49-F238E27FC236}">
                <a16:creationId xmlns:a16="http://schemas.microsoft.com/office/drawing/2014/main" id="{AE71EBB9-EF09-565B-DC38-94548DDF7AFE}"/>
              </a:ext>
            </a:extLst>
          </p:cNvPr>
          <p:cNvSpPr>
            <a:spLocks noGrp="1"/>
          </p:cNvSpPr>
          <p:nvPr>
            <p:ph type="ftr" sz="quarter" idx="11"/>
          </p:nvPr>
        </p:nvSpPr>
        <p:spPr/>
        <p:txBody>
          <a:bodyPr/>
          <a:lstStyle/>
          <a:p>
            <a:r>
              <a:rPr lang="en-GB" dirty="0"/>
              <a:t>CDS External Release Scope Guidance Document</a:t>
            </a:r>
          </a:p>
        </p:txBody>
      </p:sp>
      <p:sp>
        <p:nvSpPr>
          <p:cNvPr id="6" name="Slide Number Placeholder 5">
            <a:extLst>
              <a:ext uri="{FF2B5EF4-FFF2-40B4-BE49-F238E27FC236}">
                <a16:creationId xmlns:a16="http://schemas.microsoft.com/office/drawing/2014/main" id="{995FC04F-5F32-A7E8-4CC2-4C69DFC80930}"/>
              </a:ext>
            </a:extLst>
          </p:cNvPr>
          <p:cNvSpPr>
            <a:spLocks noGrp="1"/>
          </p:cNvSpPr>
          <p:nvPr>
            <p:ph type="sldNum" sz="quarter" idx="12"/>
          </p:nvPr>
        </p:nvSpPr>
        <p:spPr/>
        <p:txBody>
          <a:bodyPr/>
          <a:lstStyle/>
          <a:p>
            <a:fld id="{7E4B48B1-1197-4F9F-8D61-6ADBBBC3D0AA}" type="slidenum">
              <a:rPr lang="en-GB" smtClean="0"/>
              <a:t>‹#›</a:t>
            </a:fld>
            <a:endParaRPr lang="en-GB" dirty="0"/>
          </a:p>
        </p:txBody>
      </p:sp>
    </p:spTree>
    <p:extLst>
      <p:ext uri="{BB962C8B-B14F-4D97-AF65-F5344CB8AC3E}">
        <p14:creationId xmlns:p14="http://schemas.microsoft.com/office/powerpoint/2010/main" val="3213335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F0D936-6F81-D780-0E65-6832228E0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5F8DAEA-BC56-BF96-8220-9153DC0D66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310253-9906-4E12-0A12-32F60854D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8B758-689A-4962-9D19-A4D471C2C5DD}" type="datetime1">
              <a:rPr lang="en-GB" smtClean="0"/>
              <a:t>16/03/2026</a:t>
            </a:fld>
            <a:endParaRPr lang="en-GB" dirty="0"/>
          </a:p>
        </p:txBody>
      </p:sp>
      <p:sp>
        <p:nvSpPr>
          <p:cNvPr id="5" name="Footer Placeholder 4">
            <a:extLst>
              <a:ext uri="{FF2B5EF4-FFF2-40B4-BE49-F238E27FC236}">
                <a16:creationId xmlns:a16="http://schemas.microsoft.com/office/drawing/2014/main" id="{373FFE97-3486-D83F-6166-C63F046F28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dirty="0"/>
              <a:t>CDS External Release Scope Guidance Document</a:t>
            </a:r>
          </a:p>
        </p:txBody>
      </p:sp>
      <p:sp>
        <p:nvSpPr>
          <p:cNvPr id="6" name="Slide Number Placeholder 5">
            <a:extLst>
              <a:ext uri="{FF2B5EF4-FFF2-40B4-BE49-F238E27FC236}">
                <a16:creationId xmlns:a16="http://schemas.microsoft.com/office/drawing/2014/main" id="{50D00470-AB56-4B6A-C9F5-248C202265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B48B1-1197-4F9F-8D61-6ADBBBC3D0AA}" type="slidenum">
              <a:rPr lang="en-GB" smtClean="0"/>
              <a:t>‹#›</a:t>
            </a:fld>
            <a:endParaRPr lang="en-GB" dirty="0"/>
          </a:p>
        </p:txBody>
      </p:sp>
      <p:sp>
        <p:nvSpPr>
          <p:cNvPr id="8" name="TextBox 7">
            <a:extLst>
              <a:ext uri="{FF2B5EF4-FFF2-40B4-BE49-F238E27FC236}">
                <a16:creationId xmlns:a16="http://schemas.microsoft.com/office/drawing/2014/main" id="{E49FBB21-4782-C661-7394-86A61AE2B215}"/>
              </a:ext>
            </a:extLst>
          </p:cNvPr>
          <p:cNvSpPr txBox="1"/>
          <p:nvPr userDrawn="1">
            <p:extLst>
              <p:ext uri="{1162E1C5-73C7-4A58-AE30-91384D911F3F}">
                <p184:classification xmlns:p184="http://schemas.microsoft.com/office/powerpoint/2018/4/main" val="ftr"/>
              </p:ext>
            </p:extLst>
          </p:nvPr>
        </p:nvSpPr>
        <p:spPr>
          <a:xfrm>
            <a:off x="5865813" y="6642100"/>
            <a:ext cx="488950" cy="152400"/>
          </a:xfrm>
          <a:prstGeom prst="rect">
            <a:avLst/>
          </a:prstGeom>
        </p:spPr>
        <p:txBody>
          <a:bodyPr horzOverflow="overflow" lIns="0" tIns="0" rIns="0" bIns="0">
            <a:spAutoFit/>
          </a:bodyPr>
          <a:lstStyle/>
          <a:p>
            <a:pPr algn="l"/>
            <a:r>
              <a:rPr lang="en-GB" sz="1000" dirty="0">
                <a:solidFill>
                  <a:srgbClr val="00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24520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service.hmrc.gov.uk/guides/customs-declarations-end-to-end-service-guide/#technical-documentation" TargetMode="External"/><Relationship Id="rId7"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3.xml"/><Relationship Id="rId5" Type="http://schemas.openxmlformats.org/officeDocument/2006/relationships/slide" Target="slide6.xml"/><Relationship Id="rId4" Type="http://schemas.openxmlformats.org/officeDocument/2006/relationships/hyperlink" Target="mailto:SDST@hmrc.gov.u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55F38C2-150D-4307-88E7-13D0E51C60AF}"/>
              </a:ext>
            </a:extLst>
          </p:cNvPr>
          <p:cNvSpPr/>
          <p:nvPr/>
        </p:nvSpPr>
        <p:spPr>
          <a:xfrm>
            <a:off x="901250" y="2744727"/>
            <a:ext cx="7563285" cy="830997"/>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4800" b="1" i="0" u="none" strike="noStrike" kern="0" cap="none" spc="0" normalizeH="0" baseline="0" noProof="0" dirty="0">
              <a:ln>
                <a:noFill/>
              </a:ln>
              <a:solidFill>
                <a:srgbClr val="FFFFFF"/>
              </a:solidFill>
              <a:effectLst/>
              <a:uLnTx/>
              <a:uFillTx/>
              <a:latin typeface="Calibri"/>
              <a:ea typeface="+mn-ea"/>
              <a:cs typeface="+mn-cs"/>
            </a:endParaRPr>
          </a:p>
        </p:txBody>
      </p:sp>
      <p:sp>
        <p:nvSpPr>
          <p:cNvPr id="3" name="Rectangle 6">
            <a:extLst>
              <a:ext uri="{FF2B5EF4-FFF2-40B4-BE49-F238E27FC236}">
                <a16:creationId xmlns:a16="http://schemas.microsoft.com/office/drawing/2014/main" id="{D5304C76-4698-477E-8AAC-492742C3F032}"/>
              </a:ext>
            </a:extLst>
          </p:cNvPr>
          <p:cNvSpPr/>
          <p:nvPr/>
        </p:nvSpPr>
        <p:spPr>
          <a:xfrm>
            <a:off x="939289" y="2744727"/>
            <a:ext cx="6944530" cy="769441"/>
          </a:xfrm>
          <a:prstGeom prst="rect">
            <a:avLst/>
          </a:prstGeom>
          <a:noFill/>
          <a:ln cap="flat">
            <a:noFill/>
            <a:prstDash val="solid"/>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4400" b="1" i="0" u="none" strike="noStrike" kern="0" cap="none" spc="0" normalizeH="0" baseline="0" noProof="0" dirty="0">
                <a:ln>
                  <a:noFill/>
                </a:ln>
                <a:solidFill>
                  <a:srgbClr val="FFFFFF"/>
                </a:solidFill>
                <a:effectLst/>
                <a:uLnTx/>
                <a:uFillTx/>
                <a:latin typeface="Calibri"/>
                <a:ea typeface="+mn-ea"/>
                <a:cs typeface="+mn-cs"/>
              </a:rPr>
              <a:t>CDS Single Customs Platform</a:t>
            </a:r>
            <a:endParaRPr kumimoji="0" lang="en-GB" sz="4000" b="1" i="0" u="none" strike="noStrike" kern="0" cap="none" spc="0" normalizeH="0" baseline="0" noProof="0" dirty="0">
              <a:ln>
                <a:noFill/>
              </a:ln>
              <a:solidFill>
                <a:srgbClr val="FFFFFF"/>
              </a:solidFill>
              <a:effectLst/>
              <a:uLnTx/>
              <a:uFillTx/>
              <a:latin typeface="Calibri"/>
              <a:ea typeface="+mn-ea"/>
              <a:cs typeface="+mn-cs"/>
            </a:endParaRPr>
          </a:p>
        </p:txBody>
      </p:sp>
      <p:sp>
        <p:nvSpPr>
          <p:cNvPr id="4" name="Rectangle 8">
            <a:extLst>
              <a:ext uri="{FF2B5EF4-FFF2-40B4-BE49-F238E27FC236}">
                <a16:creationId xmlns:a16="http://schemas.microsoft.com/office/drawing/2014/main" id="{FD176D0C-B858-46B2-86E4-D54F98BE51FA}"/>
              </a:ext>
            </a:extLst>
          </p:cNvPr>
          <p:cNvSpPr/>
          <p:nvPr/>
        </p:nvSpPr>
        <p:spPr>
          <a:xfrm>
            <a:off x="5799364" y="5501667"/>
            <a:ext cx="6096003" cy="954103"/>
          </a:xfrm>
          <a:prstGeom prst="rect">
            <a:avLst/>
          </a:prstGeom>
          <a:noFill/>
          <a:ln cap="flat">
            <a:noFill/>
            <a:prstDash val="solid"/>
          </a:ln>
        </p:spPr>
        <p:txBody>
          <a:bodyPr vert="horz" wrap="square" lIns="91440" tIns="45720" rIns="91440" bIns="45720" anchor="t" anchorCtr="0" compatLnSpc="1">
            <a:sp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0" normalizeH="0" baseline="0" noProof="0" dirty="0">
                <a:ln>
                  <a:noFill/>
                </a:ln>
                <a:solidFill>
                  <a:srgbClr val="000000"/>
                </a:solidFill>
                <a:effectLst/>
                <a:uLnTx/>
                <a:uFillTx/>
                <a:latin typeface="Calibri"/>
                <a:ea typeface="Calibri" pitchFamily="34"/>
                <a:cs typeface="Calibri"/>
              </a:rPr>
              <a:t> Release: </a:t>
            </a:r>
            <a:r>
              <a:rPr kumimoji="0" lang="en-GB" sz="1400" b="0" i="0" u="none" strike="noStrike" kern="1200" cap="none" spc="0" normalizeH="0" baseline="0" noProof="0" dirty="0">
                <a:ln>
                  <a:noFill/>
                </a:ln>
                <a:solidFill>
                  <a:srgbClr val="000000"/>
                </a:solidFill>
                <a:effectLst/>
                <a:uLnTx/>
                <a:uFillTx/>
                <a:latin typeface="Calibri"/>
                <a:ea typeface="Calibri" pitchFamily="34"/>
                <a:cs typeface="Calibri"/>
              </a:rPr>
              <a:t>TTM33.0</a:t>
            </a:r>
          </a:p>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0" normalizeH="0" baseline="0" noProof="0" dirty="0">
                <a:ln>
                  <a:noFill/>
                </a:ln>
                <a:solidFill>
                  <a:srgbClr val="000000"/>
                </a:solidFill>
                <a:effectLst/>
                <a:uLnTx/>
                <a:uFillTx/>
                <a:latin typeface="Calibri"/>
                <a:ea typeface="Calibri" pitchFamily="34"/>
                <a:cs typeface="Calibri"/>
              </a:rPr>
              <a:t>Status</a:t>
            </a:r>
            <a:r>
              <a:rPr kumimoji="0" lang="en-GB" sz="1400" i="0" u="none" strike="noStrike" kern="1200" cap="none" spc="0" normalizeH="0" baseline="0" noProof="0" dirty="0">
                <a:ln>
                  <a:noFill/>
                </a:ln>
                <a:solidFill>
                  <a:srgbClr val="000000"/>
                </a:solidFill>
                <a:effectLst/>
                <a:uLnTx/>
                <a:uFillTx/>
                <a:latin typeface="Calibri"/>
                <a:ea typeface="Calibri" pitchFamily="34"/>
                <a:cs typeface="Calibri"/>
              </a:rPr>
              <a:t>: </a:t>
            </a:r>
            <a:r>
              <a:rPr lang="en-GB" sz="1400" dirty="0">
                <a:solidFill>
                  <a:srgbClr val="000000"/>
                </a:solidFill>
                <a:latin typeface="Calibri"/>
                <a:ea typeface="Calibri" pitchFamily="34"/>
                <a:cs typeface="Calibri"/>
              </a:rPr>
              <a:t>UPDATED</a:t>
            </a:r>
            <a:endParaRPr kumimoji="0" lang="en-GB" sz="1400" i="0" u="none" strike="noStrike" kern="1200" cap="none" spc="0" normalizeH="0" baseline="0" noProof="0" dirty="0">
              <a:ln>
                <a:noFill/>
              </a:ln>
              <a:solidFill>
                <a:srgbClr val="000000"/>
              </a:solidFill>
              <a:effectLst/>
              <a:uLnTx/>
              <a:uFillTx/>
              <a:latin typeface="Calibri"/>
              <a:ea typeface="Calibri" pitchFamily="34"/>
              <a:cs typeface="Calibri"/>
            </a:endParaRPr>
          </a:p>
          <a:p>
            <a:pPr algn="r">
              <a:defRPr sz="1800" b="0" i="0" u="none" strike="noStrike" kern="0" cap="none" spc="0" baseline="0">
                <a:solidFill>
                  <a:srgbClr val="000000"/>
                </a:solidFill>
                <a:uFillTx/>
              </a:defRPr>
            </a:pPr>
            <a:r>
              <a:rPr kumimoji="0" lang="en-GB" sz="1400" b="1" i="0" u="none" strike="noStrike" kern="0" cap="none" spc="0" normalizeH="0" baseline="0" noProof="0" dirty="0">
                <a:ln>
                  <a:noFill/>
                </a:ln>
                <a:solidFill>
                  <a:srgbClr val="000000"/>
                </a:solidFill>
                <a:effectLst/>
                <a:uLnTx/>
                <a:uFillTx/>
                <a:latin typeface="Calibri"/>
                <a:ea typeface="Calibri" pitchFamily="34"/>
                <a:cs typeface="Calibri"/>
              </a:rPr>
              <a:t>Date</a:t>
            </a:r>
            <a:r>
              <a:rPr lang="en-GB" sz="1400" b="1" kern="0" dirty="0">
                <a:solidFill>
                  <a:srgbClr val="000000"/>
                </a:solidFill>
                <a:latin typeface="Calibri"/>
                <a:ea typeface="Calibri" pitchFamily="34"/>
                <a:cs typeface="Calibri"/>
              </a:rPr>
              <a:t>: </a:t>
            </a:r>
            <a:r>
              <a:rPr lang="en-GB" sz="1400" kern="0" dirty="0">
                <a:solidFill>
                  <a:srgbClr val="000000"/>
                </a:solidFill>
                <a:latin typeface="Calibri"/>
                <a:ea typeface="Calibri" pitchFamily="34"/>
                <a:cs typeface="Calibri"/>
              </a:rPr>
              <a:t>20/03/2026  </a:t>
            </a:r>
            <a:endParaRPr lang="en-GB" sz="1400" i="0" u="none" strike="noStrike" kern="1200" cap="none" spc="0" normalizeH="0" baseline="0" noProof="0" dirty="0">
              <a:ln>
                <a:noFill/>
              </a:ln>
              <a:solidFill>
                <a:srgbClr val="000000"/>
              </a:solidFill>
              <a:effectLst/>
              <a:uLnTx/>
              <a:uFillTx/>
              <a:latin typeface="Calibri"/>
              <a:ea typeface="Calibri" pitchFamily="34"/>
              <a:cs typeface="Calibri"/>
            </a:endParaRPr>
          </a:p>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400" b="0" i="0" u="none" strike="noStrike" kern="1200" cap="none" spc="0" normalizeH="0" baseline="0" noProof="0" dirty="0">
              <a:ln>
                <a:noFill/>
              </a:ln>
              <a:solidFill>
                <a:srgbClr val="000000"/>
              </a:solidFill>
              <a:effectLst/>
              <a:uLnTx/>
              <a:uFillTx/>
              <a:latin typeface="Calibri" pitchFamily="34"/>
              <a:ea typeface="Calibri" pitchFamily="34"/>
              <a:cs typeface="+mn-cs"/>
            </a:endParaRPr>
          </a:p>
        </p:txBody>
      </p:sp>
      <p:pic>
        <p:nvPicPr>
          <p:cNvPr id="5" name="Picture 4" descr="A logo with a crown and text&#10;&#10;Description automatically generated">
            <a:extLst>
              <a:ext uri="{FF2B5EF4-FFF2-40B4-BE49-F238E27FC236}">
                <a16:creationId xmlns:a16="http://schemas.microsoft.com/office/drawing/2014/main" id="{2BB09480-1E0A-E492-23A8-2179533D1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250" y="521329"/>
            <a:ext cx="2108744" cy="1091825"/>
          </a:xfrm>
          <a:prstGeom prst="rect">
            <a:avLst/>
          </a:prstGeom>
        </p:spPr>
      </p:pic>
      <p:sp>
        <p:nvSpPr>
          <p:cNvPr id="10" name="Footer Placeholder 9">
            <a:extLst>
              <a:ext uri="{FF2B5EF4-FFF2-40B4-BE49-F238E27FC236}">
                <a16:creationId xmlns:a16="http://schemas.microsoft.com/office/drawing/2014/main" id="{30E090E5-4066-ED75-7363-AB01C4ECCA32}"/>
              </a:ext>
            </a:extLst>
          </p:cNvPr>
          <p:cNvSpPr>
            <a:spLocks noGrp="1"/>
          </p:cNvSpPr>
          <p:nvPr>
            <p:ph type="ftr" sz="quarter" idx="11"/>
          </p:nvPr>
        </p:nvSpPr>
        <p:spPr/>
        <p:txBody>
          <a:bodyPr/>
          <a:lstStyle/>
          <a:p>
            <a:r>
              <a:rPr lang="en-GB" dirty="0"/>
              <a:t>CDS External Release Scope Guidance Document</a:t>
            </a:r>
          </a:p>
        </p:txBody>
      </p:sp>
      <p:sp>
        <p:nvSpPr>
          <p:cNvPr id="11" name="Slide Number Placeholder 10">
            <a:extLst>
              <a:ext uri="{FF2B5EF4-FFF2-40B4-BE49-F238E27FC236}">
                <a16:creationId xmlns:a16="http://schemas.microsoft.com/office/drawing/2014/main" id="{B2E516D9-090E-E304-09D7-86C73AADAE25}"/>
              </a:ext>
            </a:extLst>
          </p:cNvPr>
          <p:cNvSpPr>
            <a:spLocks noGrp="1"/>
          </p:cNvSpPr>
          <p:nvPr>
            <p:ph type="sldNum" sz="quarter" idx="12"/>
          </p:nvPr>
        </p:nvSpPr>
        <p:spPr/>
        <p:txBody>
          <a:bodyPr/>
          <a:lstStyle/>
          <a:p>
            <a:fld id="{7E4B48B1-1197-4F9F-8D61-6ADBBBC3D0AA}" type="slidenum">
              <a:rPr lang="en-GB" smtClean="0"/>
              <a:t>1</a:t>
            </a:fld>
            <a:endParaRPr lang="en-GB" dirty="0"/>
          </a:p>
        </p:txBody>
      </p:sp>
    </p:spTree>
    <p:extLst>
      <p:ext uri="{BB962C8B-B14F-4D97-AF65-F5344CB8AC3E}">
        <p14:creationId xmlns:p14="http://schemas.microsoft.com/office/powerpoint/2010/main" val="2778103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3BFE0-3D93-18DA-4615-EA654CE282AA}"/>
            </a:ext>
          </a:extLst>
        </p:cNvPr>
        <p:cNvGrpSpPr/>
        <p:nvPr/>
      </p:nvGrpSpPr>
      <p:grpSpPr>
        <a:xfrm>
          <a:off x="0" y="0"/>
          <a:ext cx="0" cy="0"/>
          <a:chOff x="0" y="0"/>
          <a:chExt cx="0" cy="0"/>
        </a:xfrm>
      </p:grpSpPr>
      <p:sp>
        <p:nvSpPr>
          <p:cNvPr id="4" name="Rectangle 4">
            <a:extLst>
              <a:ext uri="{FF2B5EF4-FFF2-40B4-BE49-F238E27FC236}">
                <a16:creationId xmlns:a16="http://schemas.microsoft.com/office/drawing/2014/main" id="{5D50737C-4416-6E4E-B88E-37CA651A80AF}"/>
              </a:ext>
            </a:extLst>
          </p:cNvPr>
          <p:cNvSpPr/>
          <p:nvPr/>
        </p:nvSpPr>
        <p:spPr>
          <a:xfrm>
            <a:off x="406300" y="2289141"/>
            <a:ext cx="8396569" cy="40011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1200" cap="none" spc="0" normalizeH="0" baseline="0" noProof="0" dirty="0">
                <a:ln>
                  <a:noFill/>
                </a:ln>
                <a:solidFill>
                  <a:srgbClr val="000000"/>
                </a:solidFill>
                <a:effectLst/>
                <a:uLnTx/>
                <a:uFillTx/>
                <a:latin typeface="Calibri" pitchFamily="34"/>
                <a:ea typeface="Calibri" pitchFamily="34"/>
                <a:cs typeface="+mn-cs"/>
              </a:rPr>
              <a:t>Release Overview</a:t>
            </a:r>
          </a:p>
        </p:txBody>
      </p:sp>
      <p:graphicFrame>
        <p:nvGraphicFramePr>
          <p:cNvPr id="5" name="Table 163">
            <a:extLst>
              <a:ext uri="{FF2B5EF4-FFF2-40B4-BE49-F238E27FC236}">
                <a16:creationId xmlns:a16="http://schemas.microsoft.com/office/drawing/2014/main" id="{383CA231-0E54-07A5-D2E0-09969336E224}"/>
              </a:ext>
            </a:extLst>
          </p:cNvPr>
          <p:cNvGraphicFramePr>
            <a:graphicFrameLocks noGrp="1"/>
          </p:cNvGraphicFramePr>
          <p:nvPr>
            <p:extLst>
              <p:ext uri="{D42A27DB-BD31-4B8C-83A1-F6EECF244321}">
                <p14:modId xmlns:p14="http://schemas.microsoft.com/office/powerpoint/2010/main" val="3123009357"/>
              </p:ext>
            </p:extLst>
          </p:nvPr>
        </p:nvGraphicFramePr>
        <p:xfrm>
          <a:off x="469412" y="3023652"/>
          <a:ext cx="11433644" cy="585390"/>
        </p:xfrm>
        <a:graphic>
          <a:graphicData uri="http://schemas.openxmlformats.org/drawingml/2006/table">
            <a:tbl>
              <a:tblPr firstRow="1" bandRow="1">
                <a:effectLst/>
                <a:tableStyleId>{5C22544A-7EE6-4342-B048-85BDC9FD1C3A}</a:tableStyleId>
              </a:tblPr>
              <a:tblGrid>
                <a:gridCol w="11433644">
                  <a:extLst>
                    <a:ext uri="{9D8B030D-6E8A-4147-A177-3AD203B41FA5}">
                      <a16:colId xmlns:a16="http://schemas.microsoft.com/office/drawing/2014/main" val="3681585703"/>
                    </a:ext>
                  </a:extLst>
                </a:gridCol>
              </a:tblGrid>
              <a:tr h="271292">
                <a:tc>
                  <a:txBody>
                    <a:bodyPr/>
                    <a:lstStyle/>
                    <a:p>
                      <a:pPr lvl="0" algn="ctr"/>
                      <a:r>
                        <a:rPr lang="en-GB" sz="1200" dirty="0"/>
                        <a:t>TTM33.0 (CDS 5.1.0)</a:t>
                      </a:r>
                    </a:p>
                  </a:txBody>
                  <a:tcPr>
                    <a:solidFill>
                      <a:srgbClr val="595959"/>
                    </a:solidFill>
                  </a:tcPr>
                </a:tc>
                <a:extLst>
                  <a:ext uri="{0D108BD9-81ED-4DB2-BD59-A6C34878D82A}">
                    <a16:rowId xmlns:a16="http://schemas.microsoft.com/office/drawing/2014/main" val="3198895953"/>
                  </a:ext>
                </a:extLst>
              </a:tr>
              <a:tr h="311070">
                <a:tc>
                  <a:txBody>
                    <a:bodyPr/>
                    <a:lstStyle/>
                    <a:p>
                      <a:pPr lvl="0" algn="ctr"/>
                      <a:r>
                        <a:rPr lang="en-GB" sz="1200" b="1" dirty="0">
                          <a:solidFill>
                            <a:srgbClr val="000000"/>
                          </a:solidFill>
                        </a:rPr>
                        <a:t>TT: </a:t>
                      </a:r>
                      <a:r>
                        <a:rPr lang="en-GB" sz="1200" b="0" dirty="0">
                          <a:solidFill>
                            <a:srgbClr val="000000"/>
                          </a:solidFill>
                        </a:rPr>
                        <a:t>19/03/2026</a:t>
                      </a:r>
                      <a:r>
                        <a:rPr lang="en-GB" sz="1200" b="1" dirty="0">
                          <a:solidFill>
                            <a:srgbClr val="000000"/>
                          </a:solidFill>
                        </a:rPr>
                        <a:t>,</a:t>
                      </a:r>
                      <a:r>
                        <a:rPr lang="en-GB" sz="1200" b="0" dirty="0">
                          <a:solidFill>
                            <a:srgbClr val="000000"/>
                          </a:solidFill>
                        </a:rPr>
                        <a:t> </a:t>
                      </a:r>
                      <a:r>
                        <a:rPr lang="en-GB" sz="1200" b="1" dirty="0">
                          <a:solidFill>
                            <a:srgbClr val="000000"/>
                          </a:solidFill>
                        </a:rPr>
                        <a:t>TDR: </a:t>
                      </a:r>
                      <a:r>
                        <a:rPr lang="en-GB" sz="1200" b="0" dirty="0">
                          <a:solidFill>
                            <a:srgbClr val="000000"/>
                          </a:solidFill>
                        </a:rPr>
                        <a:t>31/03/2026</a:t>
                      </a:r>
                      <a:r>
                        <a:rPr lang="en-GB" sz="1200" b="1" dirty="0">
                          <a:solidFill>
                            <a:srgbClr val="000000"/>
                          </a:solidFill>
                        </a:rPr>
                        <a:t>,</a:t>
                      </a:r>
                      <a:r>
                        <a:rPr lang="en-GB" sz="1200" b="0" dirty="0">
                          <a:solidFill>
                            <a:srgbClr val="000000"/>
                          </a:solidFill>
                        </a:rPr>
                        <a:t> </a:t>
                      </a:r>
                      <a:r>
                        <a:rPr lang="en-GB" sz="1200" b="1" dirty="0">
                          <a:solidFill>
                            <a:srgbClr val="000000"/>
                          </a:solidFill>
                        </a:rPr>
                        <a:t>Live: </a:t>
                      </a:r>
                      <a:r>
                        <a:rPr lang="en-GB" sz="1200" b="0" dirty="0">
                          <a:solidFill>
                            <a:srgbClr val="000000"/>
                          </a:solidFill>
                        </a:rPr>
                        <a:t>28/03/2026</a:t>
                      </a:r>
                      <a:endParaRPr lang="en-GB" sz="1200" b="1" dirty="0">
                        <a:solidFill>
                          <a:srgbClr val="000000"/>
                        </a:solidFill>
                      </a:endParaRPr>
                    </a:p>
                  </a:txBody>
                  <a:tcPr>
                    <a:solidFill>
                      <a:srgbClr val="E7E6E6"/>
                    </a:solidFill>
                  </a:tcPr>
                </a:tc>
                <a:extLst>
                  <a:ext uri="{0D108BD9-81ED-4DB2-BD59-A6C34878D82A}">
                    <a16:rowId xmlns:a16="http://schemas.microsoft.com/office/drawing/2014/main" val="3786022636"/>
                  </a:ext>
                </a:extLst>
              </a:tr>
            </a:tbl>
          </a:graphicData>
        </a:graphic>
      </p:graphicFrame>
      <p:cxnSp>
        <p:nvCxnSpPr>
          <p:cNvPr id="6" name="Straight Connector 11">
            <a:extLst>
              <a:ext uri="{FF2B5EF4-FFF2-40B4-BE49-F238E27FC236}">
                <a16:creationId xmlns:a16="http://schemas.microsoft.com/office/drawing/2014/main" id="{C9A75F67-9713-BBCE-7268-A5245468D3DA}"/>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7" name="TextBox 12">
            <a:extLst>
              <a:ext uri="{FF2B5EF4-FFF2-40B4-BE49-F238E27FC236}">
                <a16:creationId xmlns:a16="http://schemas.microsoft.com/office/drawing/2014/main" id="{70D36570-4ED4-2D95-AC8C-56F6BEFE7727}"/>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graphicFrame>
        <p:nvGraphicFramePr>
          <p:cNvPr id="12" name="Table 21">
            <a:extLst>
              <a:ext uri="{FF2B5EF4-FFF2-40B4-BE49-F238E27FC236}">
                <a16:creationId xmlns:a16="http://schemas.microsoft.com/office/drawing/2014/main" id="{C6CEB481-9602-7A5A-ED27-594EB76B55E2}"/>
              </a:ext>
            </a:extLst>
          </p:cNvPr>
          <p:cNvGraphicFramePr>
            <a:graphicFrameLocks noGrp="1"/>
          </p:cNvGraphicFramePr>
          <p:nvPr>
            <p:extLst>
              <p:ext uri="{D42A27DB-BD31-4B8C-83A1-F6EECF244321}">
                <p14:modId xmlns:p14="http://schemas.microsoft.com/office/powerpoint/2010/main" val="1397139408"/>
              </p:ext>
            </p:extLst>
          </p:nvPr>
        </p:nvGraphicFramePr>
        <p:xfrm>
          <a:off x="469412" y="3600335"/>
          <a:ext cx="11433644" cy="693338"/>
        </p:xfrm>
        <a:graphic>
          <a:graphicData uri="http://schemas.openxmlformats.org/drawingml/2006/table">
            <a:tbl>
              <a:tblPr firstRow="1" bandRow="1">
                <a:effectLst/>
                <a:tableStyleId>{5C22544A-7EE6-4342-B048-85BDC9FD1C3A}</a:tableStyleId>
              </a:tblPr>
              <a:tblGrid>
                <a:gridCol w="2858411">
                  <a:extLst>
                    <a:ext uri="{9D8B030D-6E8A-4147-A177-3AD203B41FA5}">
                      <a16:colId xmlns:a16="http://schemas.microsoft.com/office/drawing/2014/main" val="2226360519"/>
                    </a:ext>
                  </a:extLst>
                </a:gridCol>
                <a:gridCol w="2858411">
                  <a:extLst>
                    <a:ext uri="{9D8B030D-6E8A-4147-A177-3AD203B41FA5}">
                      <a16:colId xmlns:a16="http://schemas.microsoft.com/office/drawing/2014/main" val="763822440"/>
                    </a:ext>
                  </a:extLst>
                </a:gridCol>
                <a:gridCol w="2858411">
                  <a:extLst>
                    <a:ext uri="{9D8B030D-6E8A-4147-A177-3AD203B41FA5}">
                      <a16:colId xmlns:a16="http://schemas.microsoft.com/office/drawing/2014/main" val="3390581973"/>
                    </a:ext>
                  </a:extLst>
                </a:gridCol>
                <a:gridCol w="2858411">
                  <a:extLst>
                    <a:ext uri="{9D8B030D-6E8A-4147-A177-3AD203B41FA5}">
                      <a16:colId xmlns:a16="http://schemas.microsoft.com/office/drawing/2014/main" val="2084145098"/>
                    </a:ext>
                  </a:extLst>
                </a:gridCol>
              </a:tblGrid>
              <a:tr h="693338">
                <a:tc>
                  <a:txBody>
                    <a:bodyPr/>
                    <a:lstStyle/>
                    <a:p>
                      <a:pPr marL="0" indent="0">
                        <a:buNone/>
                      </a:pPr>
                      <a:r>
                        <a:rPr lang="en-GB" sz="1200" b="0" i="0" u="none" strike="noStrike" noProof="0" dirty="0">
                          <a:solidFill>
                            <a:srgbClr val="000000"/>
                          </a:solidFill>
                          <a:effectLst/>
                          <a:latin typeface="Calibri"/>
                        </a:rPr>
                        <a:t>     </a:t>
                      </a: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0" indent="0" algn="l">
                        <a:buFont typeface="Arial" panose="020B0604020202020204" pitchFamily="34" charset="0"/>
                        <a:buNone/>
                      </a:pPr>
                      <a:r>
                        <a:rPr lang="en-GB" sz="1200" b="0" i="0" u="none" dirty="0">
                          <a:solidFill>
                            <a:schemeClr val="tx1"/>
                          </a:solidFill>
                          <a:effectLst/>
                        </a:rPr>
                        <a:t>      </a:t>
                      </a: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0" marR="0" lvl="0" indent="0" algn="l" rtl="0" eaLnBrk="1" fontAlgn="auto" latinLnBrk="0" hangingPunct="1">
                        <a:lnSpc>
                          <a:spcPct val="100000"/>
                        </a:lnSpc>
                        <a:spcBef>
                          <a:spcPts val="0"/>
                        </a:spcBef>
                        <a:spcAft>
                          <a:spcPts val="0"/>
                        </a:spcAft>
                        <a:buClrTx/>
                        <a:buSzTx/>
                        <a:buNone/>
                      </a:pPr>
                      <a:endParaRPr lang="en-GB" sz="1100" b="0" i="0" u="none" strike="noStrike" noProof="0" dirty="0">
                        <a:solidFill>
                          <a:srgbClr val="000000"/>
                        </a:solidFill>
                        <a:latin typeface="Calibri"/>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lang="en-GB" sz="1200" b="0" i="0" u="none" kern="1200" dirty="0">
                        <a:solidFill>
                          <a:schemeClr val="dk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lang="en-GB" sz="1200" b="0" u="none" dirty="0">
                        <a:solidFill>
                          <a:schemeClr val="tx1"/>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extLst>
                  <a:ext uri="{0D108BD9-81ED-4DB2-BD59-A6C34878D82A}">
                    <a16:rowId xmlns:a16="http://schemas.microsoft.com/office/drawing/2014/main" val="1332682949"/>
                  </a:ext>
                </a:extLst>
              </a:tr>
            </a:tbl>
          </a:graphicData>
        </a:graphic>
      </p:graphicFrame>
      <p:grpSp>
        <p:nvGrpSpPr>
          <p:cNvPr id="17" name="Group 7">
            <a:extLst>
              <a:ext uri="{FF2B5EF4-FFF2-40B4-BE49-F238E27FC236}">
                <a16:creationId xmlns:a16="http://schemas.microsoft.com/office/drawing/2014/main" id="{FA9E2B8B-7391-EDFC-D416-E50769FB71B4}"/>
              </a:ext>
            </a:extLst>
          </p:cNvPr>
          <p:cNvGrpSpPr/>
          <p:nvPr/>
        </p:nvGrpSpPr>
        <p:grpSpPr>
          <a:xfrm>
            <a:off x="6161416" y="1800986"/>
            <a:ext cx="4848834" cy="276999"/>
            <a:chOff x="5888461" y="3286179"/>
            <a:chExt cx="4848834" cy="276999"/>
          </a:xfrm>
        </p:grpSpPr>
        <p:sp>
          <p:nvSpPr>
            <p:cNvPr id="18" name="TextBox 7">
              <a:extLst>
                <a:ext uri="{FF2B5EF4-FFF2-40B4-BE49-F238E27FC236}">
                  <a16:creationId xmlns:a16="http://schemas.microsoft.com/office/drawing/2014/main" id="{0DBD7A65-E502-C349-4D18-DF88ADEDC498}"/>
                </a:ext>
              </a:extLst>
            </p:cNvPr>
            <p:cNvSpPr txBox="1"/>
            <p:nvPr/>
          </p:nvSpPr>
          <p:spPr>
            <a:xfrm>
              <a:off x="5888461" y="3286179"/>
              <a:ext cx="4848834" cy="276999"/>
            </a:xfrm>
            <a:prstGeom prst="rect">
              <a:avLst/>
            </a:prstGeom>
            <a:noFill/>
            <a:ln cap="flat">
              <a:noFill/>
            </a:ln>
          </p:spPr>
          <p:txBody>
            <a:bodyPr vert="horz" wrap="square" lIns="91440" tIns="45720" rIns="91440" bIns="45720" anchor="t" anchorCtr="0" compatLnSpc="1">
              <a:spAutoFit/>
            </a:bodyPr>
            <a:lstStyle/>
            <a:p>
              <a:pPr marL="171450" marR="0" lvl="0" indent="-171450" algn="l" defTabSz="914400" rtl="0" eaLnBrk="1" fontAlgn="auto" latinLnBrk="0" hangingPunct="1">
                <a:lnSpc>
                  <a:spcPct val="100000"/>
                </a:lnSpc>
                <a:spcBef>
                  <a:spcPts val="0"/>
                </a:spcBef>
                <a:spcAft>
                  <a:spcPts val="600"/>
                </a:spcAft>
                <a:buClrTx/>
                <a:buSzPct val="100000"/>
                <a:buFont typeface="Arial" pitchFamily="34"/>
                <a:buChar char="•"/>
                <a:tabLst/>
                <a:defRPr sz="1800" b="0" i="0" u="none" strike="noStrike" kern="0" cap="none" spc="0" baseline="0">
                  <a:solidFill>
                    <a:srgbClr val="000000"/>
                  </a:solidFill>
                  <a:uFillTx/>
                </a:defRPr>
              </a:pPr>
              <a:r>
                <a:rPr kumimoji="0" lang="en-GB" sz="1200" b="0" i="0" u="none" strike="noStrike" kern="1200" cap="none" spc="0" normalizeH="0" baseline="0" noProof="0" dirty="0">
                  <a:ln>
                    <a:noFill/>
                  </a:ln>
                  <a:solidFill>
                    <a:srgbClr val="000000"/>
                  </a:solidFill>
                  <a:effectLst/>
                  <a:uLnTx/>
                  <a:uFillTx/>
                  <a:latin typeface="Calibri"/>
                  <a:ea typeface="+mn-ea"/>
                  <a:cs typeface="+mn-cs"/>
                </a:rPr>
                <a:t>Available in </a:t>
              </a:r>
              <a:r>
                <a:rPr kumimoji="0" lang="en-GB" sz="1200" b="1" i="0" u="none" strike="noStrike" kern="1200" cap="none" spc="0" normalizeH="0" baseline="0" noProof="0" dirty="0">
                  <a:ln>
                    <a:noFill/>
                  </a:ln>
                  <a:solidFill>
                    <a:srgbClr val="000000"/>
                  </a:solidFill>
                  <a:effectLst/>
                  <a:uLnTx/>
                  <a:uFillTx/>
                  <a:latin typeface="Calibri"/>
                  <a:ea typeface="+mn-ea"/>
                  <a:cs typeface="+mn-cs"/>
                </a:rPr>
                <a:t>External Test only</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9" name="Oval 16">
              <a:extLst>
                <a:ext uri="{FF2B5EF4-FFF2-40B4-BE49-F238E27FC236}">
                  <a16:creationId xmlns:a16="http://schemas.microsoft.com/office/drawing/2014/main" id="{E5A9D6E7-2FE4-6DB9-A7B8-6106372ED31B}"/>
                </a:ext>
              </a:extLst>
            </p:cNvPr>
            <p:cNvSpPr/>
            <p:nvPr/>
          </p:nvSpPr>
          <p:spPr>
            <a:xfrm>
              <a:off x="5940820" y="3357621"/>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00000"/>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grpSp>
      <p:sp>
        <p:nvSpPr>
          <p:cNvPr id="23" name="Rectangle 27">
            <a:extLst>
              <a:ext uri="{FF2B5EF4-FFF2-40B4-BE49-F238E27FC236}">
                <a16:creationId xmlns:a16="http://schemas.microsoft.com/office/drawing/2014/main" id="{7AAAAF99-2EEF-195F-A03F-77C3EF3282CD}"/>
              </a:ext>
            </a:extLst>
          </p:cNvPr>
          <p:cNvSpPr/>
          <p:nvPr/>
        </p:nvSpPr>
        <p:spPr>
          <a:xfrm>
            <a:off x="368560" y="534151"/>
            <a:ext cx="7453539" cy="40011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1" i="0" u="none" strike="noStrike" kern="1200" cap="none" spc="0" normalizeH="0" baseline="0" noProof="0" dirty="0">
                <a:ln>
                  <a:noFill/>
                </a:ln>
                <a:solidFill>
                  <a:srgbClr val="000000"/>
                </a:solidFill>
                <a:effectLst/>
                <a:uLnTx/>
                <a:uFillTx/>
                <a:latin typeface="Calibri" pitchFamily="34"/>
                <a:ea typeface="Calibri" pitchFamily="34"/>
                <a:cs typeface="+mn-cs"/>
              </a:rPr>
              <a:t>Document Purpose</a:t>
            </a:r>
          </a:p>
        </p:txBody>
      </p:sp>
      <p:sp>
        <p:nvSpPr>
          <p:cNvPr id="24" name="TextBox 10">
            <a:extLst>
              <a:ext uri="{FF2B5EF4-FFF2-40B4-BE49-F238E27FC236}">
                <a16:creationId xmlns:a16="http://schemas.microsoft.com/office/drawing/2014/main" id="{3F70D6BA-A761-0393-C29D-4A01965824BC}"/>
              </a:ext>
            </a:extLst>
          </p:cNvPr>
          <p:cNvSpPr txBox="1"/>
          <p:nvPr/>
        </p:nvSpPr>
        <p:spPr>
          <a:xfrm>
            <a:off x="384436" y="841449"/>
            <a:ext cx="11280111" cy="1538883"/>
          </a:xfrm>
          <a:prstGeom prst="rect">
            <a:avLst/>
          </a:prstGeom>
          <a:solidFill>
            <a:srgbClr val="FFFFFF"/>
          </a:solidFill>
          <a:ln cap="flat">
            <a:noFill/>
          </a:ln>
        </p:spPr>
        <p:txBody>
          <a:bodyPr vert="horz" wrap="square" lIns="91440" tIns="45720" rIns="91440" bIns="45720" anchor="t" anchorCtr="0" compatLnSpc="1">
            <a:spAutoFit/>
          </a:bodyPr>
          <a:lstStyle/>
          <a:p>
            <a:pPr>
              <a:spcAft>
                <a:spcPts val="600"/>
              </a:spcAft>
              <a:defRPr sz="1800" b="0" i="0" u="none" strike="noStrike" kern="0" cap="none" spc="0" baseline="0">
                <a:solidFill>
                  <a:srgbClr val="000000"/>
                </a:solidFill>
                <a:uFillTx/>
              </a:defRPr>
            </a:pPr>
            <a:r>
              <a:rPr kumimoji="0" lang="en-GB" sz="1400" b="0" i="0" u="none" strike="noStrike" kern="1200" cap="none" spc="0" normalizeH="0" baseline="0" noProof="0" dirty="0">
                <a:ln>
                  <a:noFill/>
                </a:ln>
                <a:solidFill>
                  <a:srgbClr val="000000"/>
                </a:solidFill>
                <a:effectLst/>
                <a:uLnTx/>
                <a:uFillTx/>
                <a:latin typeface="Calibri"/>
                <a:ea typeface="Calibri"/>
                <a:cs typeface="Calibri"/>
              </a:rPr>
              <a:t>The purpose of this document is to provide </a:t>
            </a:r>
            <a:r>
              <a:rPr lang="en-GB" sz="1400" dirty="0">
                <a:solidFill>
                  <a:srgbClr val="000000"/>
                </a:solidFill>
                <a:latin typeface="Calibri"/>
                <a:ea typeface="Calibri"/>
                <a:cs typeface="Calibri"/>
              </a:rPr>
              <a:t>External Developers</a:t>
            </a:r>
            <a:r>
              <a:rPr kumimoji="0" lang="en-GB" sz="1400" b="0" i="0" u="none" strike="noStrike" kern="1200" cap="none" spc="0" normalizeH="0" baseline="0" noProof="0" dirty="0">
                <a:ln>
                  <a:noFill/>
                </a:ln>
                <a:solidFill>
                  <a:srgbClr val="000000"/>
                </a:solidFill>
                <a:effectLst/>
                <a:uLnTx/>
                <a:uFillTx/>
                <a:latin typeface="Calibri"/>
                <a:ea typeface="Calibri"/>
                <a:cs typeface="Calibri"/>
              </a:rPr>
              <a:t> with an overview of new functionality being deployed into Production and External Test environments to support testing and assurance activities. The last</a:t>
            </a:r>
            <a:r>
              <a:rPr kumimoji="0" lang="en-GB" sz="1400" b="0" i="0" u="none" strike="noStrike" kern="1200" cap="none" spc="0" normalizeH="0" baseline="0" noProof="0" dirty="0">
                <a:ln>
                  <a:noFill/>
                </a:ln>
                <a:solidFill>
                  <a:srgbClr val="000000"/>
                </a:solidFill>
                <a:effectLst/>
                <a:uLnTx/>
                <a:uFillTx/>
                <a:latin typeface="Calibri" panose="020F0502020204030204"/>
                <a:ea typeface="+mn-ea"/>
                <a:cs typeface="+mn-cs"/>
              </a:rPr>
              <a:t> issued CDS Scope Guidance can be found in the </a:t>
            </a:r>
            <a:r>
              <a:rPr kumimoji="0" lang="en-GB" sz="1400" b="0" i="0" u="none" strike="noStrike" kern="1200" cap="none" spc="0" normalizeH="0" baseline="0" noProof="0" dirty="0">
                <a:ln>
                  <a:noFill/>
                </a:ln>
                <a:solidFill>
                  <a:srgbClr val="000000"/>
                </a:solidFill>
                <a:effectLst/>
                <a:uLnTx/>
                <a:uFillTx/>
                <a:latin typeface="Calibri" panose="020F0502020204030204"/>
                <a:ea typeface="+mn-ea"/>
                <a:cs typeface="+mn-cs"/>
                <a:hlinkClick r:id="rId3"/>
              </a:rPr>
              <a:t>Technical Documentation</a:t>
            </a:r>
            <a:r>
              <a:rPr kumimoji="0" lang="en-GB" sz="1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252423"/>
                </a:solidFill>
                <a:effectLst/>
                <a:uLnTx/>
                <a:uFillTx/>
                <a:latin typeface="Calibri" panose="020F0502020204030204"/>
                <a:ea typeface="+mn-ea"/>
                <a:cs typeface="+mn-cs"/>
              </a:rPr>
              <a:t>section of the Customs Declaration Service end-to-end service guide within the HMRC Developer Hub</a:t>
            </a:r>
            <a:r>
              <a:rPr kumimoji="0" lang="en-GB" sz="1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lang="en-GB" sz="1400" dirty="0">
                <a:solidFill>
                  <a:srgbClr val="000000"/>
                </a:solidFill>
                <a:latin typeface="Calibri" panose="020F0502020204030204"/>
              </a:rPr>
              <a:t> </a:t>
            </a:r>
            <a:endParaRPr lang="en-GB" sz="1400" b="0" i="0" u="none" strike="noStrike" kern="1200" cap="none" spc="0" normalizeH="0" baseline="0" noProof="0" dirty="0">
              <a:ln>
                <a:noFill/>
              </a:ln>
              <a:solidFill>
                <a:srgbClr val="000000"/>
              </a:solidFill>
              <a:effectLst/>
              <a:uLnTx/>
              <a:uFillTx/>
              <a:latin typeface="Calibri" panose="020F0502020204030204"/>
              <a:cs typeface="Calibri"/>
            </a:endParaRPr>
          </a:p>
          <a:p>
            <a:pPr marL="0" marR="0" lvl="0" indent="0" algn="l" defTabSz="914400" rtl="0" eaLnBrk="1" fontAlgn="auto" latinLnBrk="0" hangingPunct="1">
              <a:lnSpc>
                <a:spcPct val="100000"/>
              </a:lnSpc>
              <a:spcBef>
                <a:spcPts val="0"/>
              </a:spcBef>
              <a:spcAft>
                <a:spcPts val="600"/>
              </a:spcAft>
              <a:buClrTx/>
              <a:buSzTx/>
              <a:buFontTx/>
              <a:buNone/>
              <a:tabLst/>
              <a:defRPr sz="1800" b="0" i="0" u="none" strike="noStrike" kern="0" cap="none" spc="0" baseline="0">
                <a:solidFill>
                  <a:srgbClr val="000000"/>
                </a:solidFill>
                <a:uFillTx/>
              </a:defRPr>
            </a:pPr>
            <a:r>
              <a:rPr kumimoji="0" lang="en-GB" sz="1400" b="0" i="0" u="none" strike="noStrike" kern="1200" cap="none" spc="0" normalizeH="0" baseline="0" noProof="0" dirty="0">
                <a:ln>
                  <a:noFill/>
                </a:ln>
                <a:solidFill>
                  <a:srgbClr val="000000"/>
                </a:solidFill>
                <a:effectLst/>
                <a:uLnTx/>
                <a:uFillTx/>
                <a:latin typeface="Calibri"/>
                <a:ea typeface="Calibri"/>
                <a:cs typeface="Calibri"/>
              </a:rPr>
              <a:t>Please note, functionality is being delivered incrementally on CDS as part of an ongoing agile delivery programme. This document captures the current behaviour of the CDS system and, as much as possible, planned changes. However, this document is therefore subject to change.</a:t>
            </a:r>
            <a:endParaRPr lang="en-GB" sz="1400" b="0" i="0" u="none" strike="noStrike" kern="1200" cap="none" spc="0" normalizeH="0" baseline="0" noProof="0" dirty="0">
              <a:ln>
                <a:noFill/>
              </a:ln>
              <a:solidFill>
                <a:srgbClr val="000000"/>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600"/>
              </a:spcAft>
              <a:buClrTx/>
              <a:buSzTx/>
              <a:buFontTx/>
              <a:buNone/>
              <a:tabLst/>
              <a:defRPr sz="1800" b="0" i="0" u="none" strike="noStrike" kern="0" cap="none" spc="0" baseline="0">
                <a:solidFill>
                  <a:srgbClr val="000000"/>
                </a:solidFill>
                <a:uFillTx/>
              </a:defRPr>
            </a:pPr>
            <a:r>
              <a:rPr kumimoji="0" lang="en-GB" sz="1400" b="0" i="0" u="none" strike="noStrike" kern="1200" cap="none" spc="0" normalizeH="0" baseline="0" noProof="0" dirty="0">
                <a:ln>
                  <a:noFill/>
                </a:ln>
                <a:solidFill>
                  <a:srgbClr val="000000"/>
                </a:solidFill>
                <a:effectLst/>
                <a:uLnTx/>
                <a:uFillTx/>
                <a:latin typeface="Calibri"/>
                <a:ea typeface="Calibri"/>
                <a:cs typeface="Calibri"/>
              </a:rPr>
              <a:t>If you have any questions regarding this release, please send your query to </a:t>
            </a:r>
            <a:r>
              <a:rPr kumimoji="0" lang="en-GB" sz="1400" b="0" i="0" u="none" strike="noStrike" kern="1200" cap="none" spc="0" normalizeH="0" baseline="0" noProof="0" dirty="0">
                <a:ln>
                  <a:noFill/>
                </a:ln>
                <a:solidFill>
                  <a:srgbClr val="000000"/>
                </a:solidFill>
                <a:effectLst/>
                <a:uLnTx/>
                <a:uFillTx/>
                <a:latin typeface="Calibri"/>
                <a:ea typeface="Calibri"/>
                <a:cs typeface="Calibri"/>
                <a:hlinkClick r:id="rId4"/>
              </a:rPr>
              <a:t>SDSTeam@hmrc.gov.uk</a:t>
            </a:r>
            <a:r>
              <a:rPr kumimoji="0" lang="en-GB" sz="1400" b="0" i="0" u="none" strike="noStrike" kern="1200" cap="none" spc="0" normalizeH="0" baseline="0" noProof="0" dirty="0">
                <a:ln>
                  <a:noFill/>
                </a:ln>
                <a:solidFill>
                  <a:srgbClr val="000000"/>
                </a:solidFill>
                <a:effectLst/>
                <a:uLnTx/>
                <a:uFillTx/>
                <a:latin typeface="Calibri"/>
                <a:ea typeface="Calibri"/>
                <a:cs typeface="Calibri"/>
              </a:rPr>
              <a:t>.</a:t>
            </a:r>
            <a:endParaRPr lang="en-GB" sz="1400" b="0" i="0" u="none" strike="noStrike" kern="1200" cap="none" spc="0" normalizeH="0" baseline="0" noProof="0" dirty="0">
              <a:ln>
                <a:noFill/>
              </a:ln>
              <a:solidFill>
                <a:srgbClr val="000000"/>
              </a:solidFill>
              <a:effectLst/>
              <a:uLnTx/>
              <a:uFillTx/>
              <a:latin typeface="Calibri"/>
              <a:ea typeface="Calibri"/>
              <a:cs typeface="Calibri"/>
            </a:endParaRPr>
          </a:p>
        </p:txBody>
      </p:sp>
      <p:grpSp>
        <p:nvGrpSpPr>
          <p:cNvPr id="2" name="Group 1">
            <a:extLst>
              <a:ext uri="{FF2B5EF4-FFF2-40B4-BE49-F238E27FC236}">
                <a16:creationId xmlns:a16="http://schemas.microsoft.com/office/drawing/2014/main" id="{93F0CBE6-3CF2-1DBB-EB30-AABED9379E09}"/>
              </a:ext>
            </a:extLst>
          </p:cNvPr>
          <p:cNvGrpSpPr/>
          <p:nvPr/>
        </p:nvGrpSpPr>
        <p:grpSpPr>
          <a:xfrm>
            <a:off x="469412" y="2678887"/>
            <a:ext cx="8527215" cy="331808"/>
            <a:chOff x="474672" y="3064839"/>
            <a:chExt cx="8527215" cy="331808"/>
          </a:xfrm>
        </p:grpSpPr>
        <p:sp>
          <p:nvSpPr>
            <p:cNvPr id="3" name="Rectangle 10">
              <a:extLst>
                <a:ext uri="{FF2B5EF4-FFF2-40B4-BE49-F238E27FC236}">
                  <a16:creationId xmlns:a16="http://schemas.microsoft.com/office/drawing/2014/main" id="{2B2BBB2C-60F6-B6CC-0638-05663A5538A8}"/>
                </a:ext>
              </a:extLst>
            </p:cNvPr>
            <p:cNvSpPr/>
            <p:nvPr/>
          </p:nvSpPr>
          <p:spPr>
            <a:xfrm>
              <a:off x="474672" y="3064839"/>
              <a:ext cx="8499612" cy="331808"/>
            </a:xfrm>
            <a:prstGeom prst="rect">
              <a:avLst/>
            </a:prstGeom>
            <a:solidFill>
              <a:srgbClr val="F2F2F2"/>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grpSp>
          <p:nvGrpSpPr>
            <p:cNvPr id="9" name="Group 1">
              <a:extLst>
                <a:ext uri="{FF2B5EF4-FFF2-40B4-BE49-F238E27FC236}">
                  <a16:creationId xmlns:a16="http://schemas.microsoft.com/office/drawing/2014/main" id="{C2EDB8D3-A1FA-0E50-9192-606A2FF10200}"/>
                </a:ext>
              </a:extLst>
            </p:cNvPr>
            <p:cNvGrpSpPr/>
            <p:nvPr/>
          </p:nvGrpSpPr>
          <p:grpSpPr>
            <a:xfrm>
              <a:off x="860989" y="3092244"/>
              <a:ext cx="2801739" cy="276999"/>
              <a:chOff x="879076" y="3279769"/>
              <a:chExt cx="2801739" cy="276999"/>
            </a:xfrm>
          </p:grpSpPr>
          <p:sp>
            <p:nvSpPr>
              <p:cNvPr id="10" name="TextBox 7">
                <a:extLst>
                  <a:ext uri="{FF2B5EF4-FFF2-40B4-BE49-F238E27FC236}">
                    <a16:creationId xmlns:a16="http://schemas.microsoft.com/office/drawing/2014/main" id="{C2A3D195-F603-4251-0F04-3B709ECAE947}"/>
                  </a:ext>
                </a:extLst>
              </p:cNvPr>
              <p:cNvSpPr txBox="1"/>
              <p:nvPr/>
            </p:nvSpPr>
            <p:spPr>
              <a:xfrm>
                <a:off x="879076" y="3279769"/>
                <a:ext cx="2801739" cy="276999"/>
              </a:xfrm>
              <a:prstGeom prst="rect">
                <a:avLst/>
              </a:prstGeom>
              <a:noFill/>
              <a:ln cap="flat">
                <a:noFill/>
              </a:ln>
            </p:spPr>
            <p:txBody>
              <a:bodyPr vert="horz" wrap="square" lIns="91440" tIns="45720" rIns="91440" bIns="45720" anchor="t" anchorCtr="0" compatLnSpc="1">
                <a:spAutoFit/>
              </a:bodyPr>
              <a:lstStyle/>
              <a:p>
                <a:pPr marL="171450" marR="0" lvl="0" indent="-171450" algn="l" defTabSz="914400" rtl="0" eaLnBrk="1" fontAlgn="auto" latinLnBrk="0" hangingPunct="1">
                  <a:lnSpc>
                    <a:spcPct val="100000"/>
                  </a:lnSpc>
                  <a:spcBef>
                    <a:spcPts val="0"/>
                  </a:spcBef>
                  <a:spcAft>
                    <a:spcPts val="600"/>
                  </a:spcAft>
                  <a:buClrTx/>
                  <a:buSzPct val="100000"/>
                  <a:buFont typeface="Arial" pitchFamily="34"/>
                  <a:buChar char="•"/>
                  <a:tabLst/>
                  <a:defRPr sz="1800" b="0" i="0" u="none" strike="noStrike" kern="0" cap="none" spc="0" baseline="0">
                    <a:solidFill>
                      <a:srgbClr val="000000"/>
                    </a:solidFill>
                    <a:uFillTx/>
                  </a:defRPr>
                </a:pPr>
                <a:r>
                  <a:rPr kumimoji="0" lang="en-GB" sz="1200" b="1" i="0" u="none" strike="noStrike" kern="1200" cap="none" spc="0" normalizeH="0" baseline="0" noProof="0" dirty="0">
                    <a:ln>
                      <a:noFill/>
                    </a:ln>
                    <a:solidFill>
                      <a:srgbClr val="000000"/>
                    </a:solidFill>
                    <a:effectLst/>
                    <a:uLnTx/>
                    <a:uFillTx/>
                    <a:latin typeface="Calibri"/>
                    <a:ea typeface="+mn-ea"/>
                    <a:cs typeface="+mn-cs"/>
                  </a:rPr>
                  <a:t>Production</a:t>
                </a:r>
                <a:r>
                  <a:rPr kumimoji="0" lang="en-GB" sz="1200" b="0" i="0" u="none" strike="noStrike" kern="1200" cap="none" spc="0" normalizeH="0" baseline="0" noProof="0" dirty="0">
                    <a:ln>
                      <a:noFill/>
                    </a:ln>
                    <a:solidFill>
                      <a:srgbClr val="000000"/>
                    </a:solidFill>
                    <a:effectLst/>
                    <a:uLnTx/>
                    <a:uFillTx/>
                    <a:latin typeface="Calibri"/>
                    <a:ea typeface="+mn-ea"/>
                    <a:cs typeface="+mn-cs"/>
                  </a:rPr>
                  <a:t> only</a:t>
                </a:r>
              </a:p>
            </p:txBody>
          </p:sp>
          <p:sp>
            <p:nvSpPr>
              <p:cNvPr id="11" name="Oval 16">
                <a:extLst>
                  <a:ext uri="{FF2B5EF4-FFF2-40B4-BE49-F238E27FC236}">
                    <a16:creationId xmlns:a16="http://schemas.microsoft.com/office/drawing/2014/main" id="{60A739DD-FB2C-02C2-43DF-3E67971597DA}"/>
                  </a:ext>
                </a:extLst>
              </p:cNvPr>
              <p:cNvSpPr/>
              <p:nvPr/>
            </p:nvSpPr>
            <p:spPr>
              <a:xfrm>
                <a:off x="926150" y="3344747"/>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D7D31"/>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grpSp>
        <p:grpSp>
          <p:nvGrpSpPr>
            <p:cNvPr id="13" name="Group 4">
              <a:extLst>
                <a:ext uri="{FF2B5EF4-FFF2-40B4-BE49-F238E27FC236}">
                  <a16:creationId xmlns:a16="http://schemas.microsoft.com/office/drawing/2014/main" id="{711EBC25-B56C-CC2A-7177-B3861A26B8FC}"/>
                </a:ext>
              </a:extLst>
            </p:cNvPr>
            <p:cNvGrpSpPr/>
            <p:nvPr/>
          </p:nvGrpSpPr>
          <p:grpSpPr>
            <a:xfrm>
              <a:off x="2685253" y="3092244"/>
              <a:ext cx="3258752" cy="276999"/>
              <a:chOff x="2663583" y="3286719"/>
              <a:chExt cx="3199302" cy="276999"/>
            </a:xfrm>
          </p:grpSpPr>
          <p:sp>
            <p:nvSpPr>
              <p:cNvPr id="14" name="TextBox 7">
                <a:extLst>
                  <a:ext uri="{FF2B5EF4-FFF2-40B4-BE49-F238E27FC236}">
                    <a16:creationId xmlns:a16="http://schemas.microsoft.com/office/drawing/2014/main" id="{5E8B145E-AB28-2084-E577-06B8C1E079A2}"/>
                  </a:ext>
                </a:extLst>
              </p:cNvPr>
              <p:cNvSpPr txBox="1"/>
              <p:nvPr/>
            </p:nvSpPr>
            <p:spPr>
              <a:xfrm>
                <a:off x="2663583" y="3286719"/>
                <a:ext cx="3199302" cy="276999"/>
              </a:xfrm>
              <a:prstGeom prst="rect">
                <a:avLst/>
              </a:prstGeom>
              <a:noFill/>
              <a:ln cap="flat">
                <a:noFill/>
              </a:ln>
            </p:spPr>
            <p:txBody>
              <a:bodyPr vert="horz" wrap="square" lIns="91440" tIns="45720" rIns="91440" bIns="45720" anchor="t" anchorCtr="0" compatLnSpc="1">
                <a:spAutoFit/>
              </a:bodyPr>
              <a:lstStyle/>
              <a:p>
                <a:pPr marL="171450" marR="0" lvl="0" indent="-171450" algn="l" defTabSz="914400" rtl="0" eaLnBrk="1" fontAlgn="auto" latinLnBrk="0" hangingPunct="1">
                  <a:lnSpc>
                    <a:spcPct val="100000"/>
                  </a:lnSpc>
                  <a:spcBef>
                    <a:spcPts val="0"/>
                  </a:spcBef>
                  <a:spcAft>
                    <a:spcPts val="600"/>
                  </a:spcAft>
                  <a:buClrTx/>
                  <a:buSzPct val="100000"/>
                  <a:buFont typeface="Arial" pitchFamily="34"/>
                  <a:buChar char="•"/>
                  <a:tabLst/>
                  <a:defRPr sz="1800" b="0" i="0" u="none" strike="noStrike" kern="0" cap="none" spc="0" baseline="0">
                    <a:solidFill>
                      <a:srgbClr val="000000"/>
                    </a:solidFill>
                    <a:uFillTx/>
                  </a:defRPr>
                </a:pPr>
                <a:r>
                  <a:rPr kumimoji="0" lang="en-GB" sz="1200" b="0" i="0" u="none" strike="noStrike" kern="1200" cap="none" spc="0" normalizeH="0" baseline="0" noProof="0" dirty="0">
                    <a:ln>
                      <a:noFill/>
                    </a:ln>
                    <a:solidFill>
                      <a:srgbClr val="000000"/>
                    </a:solidFill>
                    <a:effectLst/>
                    <a:uLnTx/>
                    <a:uFillTx/>
                    <a:latin typeface="Calibri"/>
                    <a:ea typeface="+mn-ea"/>
                    <a:cs typeface="+mn-cs"/>
                  </a:rPr>
                  <a:t>Available in </a:t>
                </a:r>
                <a:r>
                  <a:rPr kumimoji="0" lang="en-GB" sz="1200" b="1" i="0" u="none" strike="noStrike" kern="1200" cap="none" spc="0" normalizeH="0" baseline="0" noProof="0" dirty="0">
                    <a:ln>
                      <a:noFill/>
                    </a:ln>
                    <a:solidFill>
                      <a:srgbClr val="000000"/>
                    </a:solidFill>
                    <a:effectLst/>
                    <a:uLnTx/>
                    <a:uFillTx/>
                    <a:latin typeface="Calibri"/>
                    <a:ea typeface="+mn-ea"/>
                    <a:cs typeface="+mn-cs"/>
                  </a:rPr>
                  <a:t>Production</a:t>
                </a:r>
                <a:r>
                  <a:rPr kumimoji="0" lang="en-GB" sz="1200" b="0" i="0" u="none" strike="noStrike" kern="1200" cap="none" spc="0" normalizeH="0" baseline="0" noProof="0" dirty="0">
                    <a:ln>
                      <a:noFill/>
                    </a:ln>
                    <a:solidFill>
                      <a:srgbClr val="000000"/>
                    </a:solidFill>
                    <a:effectLst/>
                    <a:uLnTx/>
                    <a:uFillTx/>
                    <a:latin typeface="Calibri"/>
                    <a:ea typeface="+mn-ea"/>
                    <a:cs typeface="+mn-cs"/>
                  </a:rPr>
                  <a:t> and </a:t>
                </a:r>
                <a:r>
                  <a:rPr kumimoji="0" lang="en-GB" sz="1200" b="1" i="0" u="none" strike="noStrike" kern="1200" cap="none" spc="0" normalizeH="0" baseline="0" noProof="0" dirty="0">
                    <a:ln>
                      <a:noFill/>
                    </a:ln>
                    <a:solidFill>
                      <a:srgbClr val="000000"/>
                    </a:solidFill>
                    <a:effectLst/>
                    <a:uLnTx/>
                    <a:uFillTx/>
                    <a:latin typeface="Calibri"/>
                    <a:ea typeface="+mn-ea"/>
                    <a:cs typeface="+mn-cs"/>
                  </a:rPr>
                  <a:t>External Test</a:t>
                </a:r>
              </a:p>
            </p:txBody>
          </p:sp>
          <p:sp>
            <p:nvSpPr>
              <p:cNvPr id="15" name="Oval 16">
                <a:extLst>
                  <a:ext uri="{FF2B5EF4-FFF2-40B4-BE49-F238E27FC236}">
                    <a16:creationId xmlns:a16="http://schemas.microsoft.com/office/drawing/2014/main" id="{4E8F15A0-B68A-0C9F-D44A-80A49945D64F}"/>
                  </a:ext>
                </a:extLst>
              </p:cNvPr>
              <p:cNvSpPr/>
              <p:nvPr/>
            </p:nvSpPr>
            <p:spPr>
              <a:xfrm>
                <a:off x="2689158" y="3355079"/>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070C0"/>
              </a:solidFill>
              <a:ln w="12701" cap="flat">
                <a:solidFill>
                  <a:srgbClr val="0070C0"/>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grpSp>
        <p:sp>
          <p:nvSpPr>
            <p:cNvPr id="16" name="Rectangle 11">
              <a:extLst>
                <a:ext uri="{FF2B5EF4-FFF2-40B4-BE49-F238E27FC236}">
                  <a16:creationId xmlns:a16="http://schemas.microsoft.com/office/drawing/2014/main" id="{F1BD2972-549B-F033-C35B-AC15446EBB3E}"/>
                </a:ext>
              </a:extLst>
            </p:cNvPr>
            <p:cNvSpPr/>
            <p:nvPr/>
          </p:nvSpPr>
          <p:spPr>
            <a:xfrm>
              <a:off x="474672" y="3065425"/>
              <a:ext cx="492312" cy="307777"/>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sz="1800" b="0" i="0" u="none" strike="noStrike" kern="0" cap="none" spc="0" baseline="0">
                  <a:solidFill>
                    <a:srgbClr val="000000"/>
                  </a:solidFill>
                  <a:uFillTx/>
                </a:defRPr>
              </a:pPr>
              <a:r>
                <a:rPr kumimoji="0" lang="en-GB" sz="1400" b="1" i="0" u="none" strike="noStrike" kern="1200" cap="none" spc="0" normalizeH="0" baseline="0" noProof="0" dirty="0">
                  <a:ln>
                    <a:noFill/>
                  </a:ln>
                  <a:solidFill>
                    <a:srgbClr val="000000"/>
                  </a:solidFill>
                  <a:effectLst/>
                  <a:uLnTx/>
                  <a:uFillTx/>
                  <a:latin typeface="Calibri"/>
                  <a:ea typeface="+mn-ea"/>
                  <a:cs typeface="+mn-cs"/>
                </a:rPr>
                <a:t>Key</a:t>
              </a:r>
              <a:r>
                <a:rPr kumimoji="0" lang="en-GB" sz="1400" b="0" i="0" u="none" strike="noStrike" kern="1200" cap="none" spc="0" normalizeH="0" baseline="0" noProof="0" dirty="0">
                  <a:ln>
                    <a:noFill/>
                  </a:ln>
                  <a:solidFill>
                    <a:srgbClr val="000000"/>
                  </a:solidFill>
                  <a:effectLst/>
                  <a:uLnTx/>
                  <a:uFillTx/>
                  <a:latin typeface="Calibri"/>
                  <a:ea typeface="+mn-ea"/>
                  <a:cs typeface="+mn-cs"/>
                </a:rPr>
                <a:t> </a:t>
              </a:r>
            </a:p>
          </p:txBody>
        </p:sp>
        <p:sp>
          <p:nvSpPr>
            <p:cNvPr id="21" name="TextBox 7">
              <a:extLst>
                <a:ext uri="{FF2B5EF4-FFF2-40B4-BE49-F238E27FC236}">
                  <a16:creationId xmlns:a16="http://schemas.microsoft.com/office/drawing/2014/main" id="{6B4A4037-3C00-2989-F231-353688AA149D}"/>
                </a:ext>
              </a:extLst>
            </p:cNvPr>
            <p:cNvSpPr txBox="1"/>
            <p:nvPr/>
          </p:nvSpPr>
          <p:spPr>
            <a:xfrm>
              <a:off x="5743135" y="3092244"/>
              <a:ext cx="3258752" cy="276999"/>
            </a:xfrm>
            <a:prstGeom prst="rect">
              <a:avLst/>
            </a:prstGeom>
            <a:noFill/>
            <a:ln cap="flat">
              <a:noFill/>
            </a:ln>
          </p:spPr>
          <p:txBody>
            <a:bodyPr vert="horz" wrap="square" lIns="91440" tIns="45720" rIns="91440" bIns="45720" anchor="t" anchorCtr="0" compatLnSpc="1">
              <a:spAutoFit/>
            </a:bodyPr>
            <a:lstStyle/>
            <a:p>
              <a:pPr marL="171450" marR="0" lvl="0" indent="-171450" algn="l" defTabSz="914400" rtl="0" eaLnBrk="1" fontAlgn="auto" latinLnBrk="0" hangingPunct="1">
                <a:lnSpc>
                  <a:spcPct val="100000"/>
                </a:lnSpc>
                <a:spcBef>
                  <a:spcPts val="0"/>
                </a:spcBef>
                <a:spcAft>
                  <a:spcPts val="600"/>
                </a:spcAft>
                <a:buClrTx/>
                <a:buSzPct val="100000"/>
                <a:buFont typeface="Arial" pitchFamily="34"/>
                <a:buChar char="•"/>
                <a:tabLst/>
                <a:defRPr sz="1800" b="0" i="0" u="none" strike="noStrike" kern="0" cap="none" spc="0" baseline="0">
                  <a:solidFill>
                    <a:srgbClr val="000000"/>
                  </a:solidFill>
                  <a:uFillTx/>
                </a:defRPr>
              </a:pPr>
              <a:r>
                <a:rPr kumimoji="0" lang="en-GB" sz="1200" b="0" i="0" u="none" strike="noStrike" kern="1200" cap="none" spc="0" normalizeH="0" baseline="0" noProof="0" dirty="0">
                  <a:ln>
                    <a:noFill/>
                  </a:ln>
                  <a:solidFill>
                    <a:srgbClr val="000000"/>
                  </a:solidFill>
                  <a:effectLst/>
                  <a:uLnTx/>
                  <a:uFillTx/>
                  <a:latin typeface="Calibri"/>
                  <a:ea typeface="+mn-ea"/>
                  <a:cs typeface="+mn-cs"/>
                </a:rPr>
                <a:t>Available in </a:t>
              </a:r>
              <a:r>
                <a:rPr kumimoji="0" lang="en-GB" sz="1200" b="1" i="0" u="none" strike="noStrike" kern="1200" cap="none" spc="0" normalizeH="0" baseline="0" noProof="0" dirty="0">
                  <a:ln>
                    <a:noFill/>
                  </a:ln>
                  <a:solidFill>
                    <a:srgbClr val="000000"/>
                  </a:solidFill>
                  <a:effectLst/>
                  <a:uLnTx/>
                  <a:uFillTx/>
                  <a:latin typeface="Calibri"/>
                  <a:ea typeface="+mn-ea"/>
                  <a:cs typeface="+mn-cs"/>
                </a:rPr>
                <a:t>Production</a:t>
              </a:r>
              <a:r>
                <a:rPr kumimoji="0" lang="en-GB" sz="1200" b="0" i="0" u="none" strike="noStrike" kern="1200" cap="none" spc="0" normalizeH="0" baseline="0" noProof="0" dirty="0">
                  <a:ln>
                    <a:noFill/>
                  </a:ln>
                  <a:solidFill>
                    <a:srgbClr val="000000"/>
                  </a:solidFill>
                  <a:effectLst/>
                  <a:uLnTx/>
                  <a:uFillTx/>
                  <a:latin typeface="Calibri"/>
                  <a:ea typeface="+mn-ea"/>
                  <a:cs typeface="+mn-cs"/>
                </a:rPr>
                <a:t> and </a:t>
              </a:r>
              <a:r>
                <a:rPr kumimoji="0" lang="en-GB" sz="1200" b="1" i="0" u="none" strike="noStrike" kern="1200" cap="none" spc="0" normalizeH="0" baseline="0" noProof="0" dirty="0">
                  <a:ln>
                    <a:noFill/>
                  </a:ln>
                  <a:solidFill>
                    <a:srgbClr val="000000"/>
                  </a:solidFill>
                  <a:effectLst/>
                  <a:uLnTx/>
                  <a:uFillTx/>
                  <a:latin typeface="Calibri"/>
                  <a:ea typeface="+mn-ea"/>
                  <a:cs typeface="+mn-cs"/>
                </a:rPr>
                <a:t>TDR only</a:t>
              </a:r>
            </a:p>
          </p:txBody>
        </p:sp>
        <p:sp>
          <p:nvSpPr>
            <p:cNvPr id="22" name="Oval 16">
              <a:extLst>
                <a:ext uri="{FF2B5EF4-FFF2-40B4-BE49-F238E27FC236}">
                  <a16:creationId xmlns:a16="http://schemas.microsoft.com/office/drawing/2014/main" id="{2F5000AF-F525-B8D3-BBE4-AA963E63BBAC}"/>
                </a:ext>
              </a:extLst>
            </p:cNvPr>
            <p:cNvSpPr/>
            <p:nvPr/>
          </p:nvSpPr>
          <p:spPr>
            <a:xfrm>
              <a:off x="5743135" y="3160248"/>
              <a:ext cx="155598"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0B050"/>
            </a:solidFill>
            <a:ln w="12701" cap="flat">
              <a:solidFill>
                <a:srgbClr val="00B050"/>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grpSp>
      <p:sp>
        <p:nvSpPr>
          <p:cNvPr id="44" name="TextBox 43">
            <a:extLst>
              <a:ext uri="{FF2B5EF4-FFF2-40B4-BE49-F238E27FC236}">
                <a16:creationId xmlns:a16="http://schemas.microsoft.com/office/drawing/2014/main" id="{97EBF5BA-3C69-B327-4579-D785D2B13694}"/>
              </a:ext>
            </a:extLst>
          </p:cNvPr>
          <p:cNvSpPr txBox="1"/>
          <p:nvPr/>
        </p:nvSpPr>
        <p:spPr>
          <a:xfrm>
            <a:off x="3556819" y="3644848"/>
            <a:ext cx="2701634" cy="281231"/>
          </a:xfrm>
          <a:prstGeom prst="rect">
            <a:avLst/>
          </a:prstGeom>
          <a:noFill/>
        </p:spPr>
        <p:txBody>
          <a:bodyPr wrap="square" lIns="91440" tIns="45720" rIns="91440" bIns="45720" rtlCol="0" anchor="t">
            <a:spAutoFit/>
          </a:bodyPr>
          <a:lstStyle/>
          <a:p>
            <a:pPr>
              <a:lnSpc>
                <a:spcPct val="107000"/>
              </a:lnSpc>
              <a:spcAft>
                <a:spcPts val="800"/>
              </a:spcAft>
            </a:pPr>
            <a:r>
              <a:rPr lang="en-GB" sz="1200" u="sng" dirty="0">
                <a:hlinkClick r:id="rId5" action="ppaction://hlinksldjump"/>
              </a:rPr>
              <a:t>Country of Origin</a:t>
            </a:r>
            <a:endParaRPr lang="en-GB" sz="1200" dirty="0">
              <a:effectLst/>
              <a:latin typeface="Calibri"/>
              <a:ea typeface="Calibri" panose="020F0502020204030204" pitchFamily="34" charset="0"/>
              <a:cs typeface="Arial"/>
              <a:hlinkClick r:id="" action="ppaction://noaction"/>
            </a:endParaRPr>
          </a:p>
        </p:txBody>
      </p:sp>
      <p:sp>
        <p:nvSpPr>
          <p:cNvPr id="47" name="TextBox 46">
            <a:extLst>
              <a:ext uri="{FF2B5EF4-FFF2-40B4-BE49-F238E27FC236}">
                <a16:creationId xmlns:a16="http://schemas.microsoft.com/office/drawing/2014/main" id="{C3FF8C5B-EF33-64F1-FE01-BACCDAC58412}"/>
              </a:ext>
            </a:extLst>
          </p:cNvPr>
          <p:cNvSpPr txBox="1"/>
          <p:nvPr/>
        </p:nvSpPr>
        <p:spPr>
          <a:xfrm>
            <a:off x="767669" y="3638671"/>
            <a:ext cx="2681594" cy="676467"/>
          </a:xfrm>
          <a:prstGeom prst="rect">
            <a:avLst/>
          </a:prstGeom>
          <a:noFill/>
        </p:spPr>
        <p:txBody>
          <a:bodyPr wrap="square" lIns="91440" tIns="45720" rIns="91440" bIns="45720" rtlCol="0" anchor="t">
            <a:spAutoFit/>
          </a:bodyPr>
          <a:lstStyle/>
          <a:p>
            <a:pPr>
              <a:lnSpc>
                <a:spcPct val="107000"/>
              </a:lnSpc>
              <a:spcAft>
                <a:spcPts val="800"/>
              </a:spcAft>
            </a:pPr>
            <a:r>
              <a:rPr lang="fr-FR" sz="1200" dirty="0">
                <a:latin typeface="Calibri"/>
                <a:ea typeface="Calibri"/>
                <a:cs typeface="Calibri"/>
                <a:hlinkClick r:id="rId6" action="ppaction://hlinksldjump"/>
              </a:rPr>
              <a:t>Validating ASV and Excise Codes and Calculating Excise Duty on Cooking Alcohols </a:t>
            </a:r>
            <a:endParaRPr lang="fr-FR" sz="1200" dirty="0">
              <a:latin typeface="Calibri"/>
              <a:ea typeface="Calibri"/>
              <a:cs typeface="Calibri"/>
            </a:endParaRPr>
          </a:p>
        </p:txBody>
      </p:sp>
      <p:sp>
        <p:nvSpPr>
          <p:cNvPr id="48" name="Oval 16">
            <a:extLst>
              <a:ext uri="{FF2B5EF4-FFF2-40B4-BE49-F238E27FC236}">
                <a16:creationId xmlns:a16="http://schemas.microsoft.com/office/drawing/2014/main" id="{139DDF10-08F1-F2C2-64A4-D97FFCD36A1A}"/>
              </a:ext>
            </a:extLst>
          </p:cNvPr>
          <p:cNvSpPr/>
          <p:nvPr/>
        </p:nvSpPr>
        <p:spPr>
          <a:xfrm>
            <a:off x="598407" y="3727816"/>
            <a:ext cx="155598"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070C0"/>
          </a:solidFill>
          <a:ln w="12701" cap="flat">
            <a:solidFill>
              <a:srgbClr val="0070C0"/>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5" name="Footer Placeholder 54">
            <a:extLst>
              <a:ext uri="{FF2B5EF4-FFF2-40B4-BE49-F238E27FC236}">
                <a16:creationId xmlns:a16="http://schemas.microsoft.com/office/drawing/2014/main" id="{2A6598EC-55E5-92D9-9868-376A77242759}"/>
              </a:ext>
            </a:extLst>
          </p:cNvPr>
          <p:cNvSpPr>
            <a:spLocks noGrp="1"/>
          </p:cNvSpPr>
          <p:nvPr>
            <p:ph type="ftr" sz="quarter" idx="11"/>
          </p:nvPr>
        </p:nvSpPr>
        <p:spPr/>
        <p:txBody>
          <a:bodyPr/>
          <a:lstStyle/>
          <a:p>
            <a:r>
              <a:rPr lang="en-GB" dirty="0"/>
              <a:t>CDS External Release Scope Guidance Document</a:t>
            </a:r>
          </a:p>
        </p:txBody>
      </p:sp>
      <p:sp>
        <p:nvSpPr>
          <p:cNvPr id="57" name="Slide Number Placeholder 56">
            <a:extLst>
              <a:ext uri="{FF2B5EF4-FFF2-40B4-BE49-F238E27FC236}">
                <a16:creationId xmlns:a16="http://schemas.microsoft.com/office/drawing/2014/main" id="{4F407099-3A0A-4139-8695-98B434A2E3AF}"/>
              </a:ext>
            </a:extLst>
          </p:cNvPr>
          <p:cNvSpPr>
            <a:spLocks noGrp="1"/>
          </p:cNvSpPr>
          <p:nvPr>
            <p:ph type="sldNum" sz="quarter" idx="12"/>
          </p:nvPr>
        </p:nvSpPr>
        <p:spPr/>
        <p:txBody>
          <a:bodyPr/>
          <a:lstStyle/>
          <a:p>
            <a:fld id="{7E4B48B1-1197-4F9F-8D61-6ADBBBC3D0AA}" type="slidenum">
              <a:rPr lang="en-GB" smtClean="0"/>
              <a:t>2</a:t>
            </a:fld>
            <a:endParaRPr lang="en-GB" dirty="0"/>
          </a:p>
        </p:txBody>
      </p:sp>
      <p:sp>
        <p:nvSpPr>
          <p:cNvPr id="68" name="Oval 16">
            <a:extLst>
              <a:ext uri="{FF2B5EF4-FFF2-40B4-BE49-F238E27FC236}">
                <a16:creationId xmlns:a16="http://schemas.microsoft.com/office/drawing/2014/main" id="{9046262A-F225-CC00-EE23-0995C379BCE4}"/>
              </a:ext>
            </a:extLst>
          </p:cNvPr>
          <p:cNvSpPr/>
          <p:nvPr/>
        </p:nvSpPr>
        <p:spPr>
          <a:xfrm>
            <a:off x="3402903" y="3727815"/>
            <a:ext cx="155598"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070C0"/>
          </a:solidFill>
          <a:ln w="12701" cap="flat">
            <a:solidFill>
              <a:srgbClr val="0070C0"/>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Oval 16">
            <a:extLst>
              <a:ext uri="{FF2B5EF4-FFF2-40B4-BE49-F238E27FC236}">
                <a16:creationId xmlns:a16="http://schemas.microsoft.com/office/drawing/2014/main" id="{5E89289D-F1CA-F2AB-577F-63DDC435A344}"/>
              </a:ext>
            </a:extLst>
          </p:cNvPr>
          <p:cNvSpPr/>
          <p:nvPr/>
        </p:nvSpPr>
        <p:spPr>
          <a:xfrm>
            <a:off x="6304423" y="3727814"/>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D7D31"/>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5FD33122-3280-C356-B555-D3DBC3005AEE}"/>
              </a:ext>
            </a:extLst>
          </p:cNvPr>
          <p:cNvSpPr txBox="1"/>
          <p:nvPr/>
        </p:nvSpPr>
        <p:spPr>
          <a:xfrm>
            <a:off x="6478485" y="3629380"/>
            <a:ext cx="2701634" cy="779059"/>
          </a:xfrm>
          <a:prstGeom prst="rect">
            <a:avLst/>
          </a:prstGeom>
          <a:noFill/>
        </p:spPr>
        <p:txBody>
          <a:bodyPr wrap="square" lIns="91440" tIns="45720" rIns="91440" bIns="45720" rtlCol="0" anchor="t">
            <a:spAutoFit/>
          </a:bodyPr>
          <a:lstStyle/>
          <a:p>
            <a:pPr>
              <a:lnSpc>
                <a:spcPct val="107000"/>
              </a:lnSpc>
              <a:spcAft>
                <a:spcPts val="800"/>
              </a:spcAft>
            </a:pPr>
            <a:r>
              <a:rPr lang="en-GB" sz="1200" dirty="0">
                <a:hlinkClick r:id="rId7" action="ppaction://hlinksldjump"/>
              </a:rPr>
              <a:t>CERTEX 4.1 Import/Export - Live Issue - Incorrect License Format</a:t>
            </a:r>
            <a:endParaRPr lang="en-GB" sz="1200" dirty="0"/>
          </a:p>
          <a:p>
            <a:pPr>
              <a:lnSpc>
                <a:spcPct val="107000"/>
              </a:lnSpc>
              <a:spcAft>
                <a:spcPts val="800"/>
              </a:spcAft>
            </a:pPr>
            <a:r>
              <a:rPr lang="en-GB" sz="1200" u="sng" dirty="0"/>
              <a:t> </a:t>
            </a:r>
            <a:endParaRPr lang="en-GB" sz="1200" dirty="0">
              <a:effectLst/>
              <a:latin typeface="Calibri"/>
              <a:ea typeface="Calibri" panose="020F0502020204030204" pitchFamily="34" charset="0"/>
              <a:cs typeface="Arial"/>
              <a:hlinkClick r:id="" action="ppaction://noaction"/>
            </a:endParaRPr>
          </a:p>
        </p:txBody>
      </p:sp>
    </p:spTree>
    <p:extLst>
      <p:ext uri="{BB962C8B-B14F-4D97-AF65-F5344CB8AC3E}">
        <p14:creationId xmlns:p14="http://schemas.microsoft.com/office/powerpoint/2010/main" val="1958414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6814-5CCA-729C-8DBE-EBC803A39E35}"/>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D67DFF10-CDD4-73B9-B87D-021798DDA8DD}"/>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820B556A-AB1D-C539-5895-248BBE6D5F73}"/>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49F743B3-F606-FF02-DFB0-9142D0D36C45}"/>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92094CC2-FA7C-9650-9DEE-4497C113834C}"/>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F1231BEB-D927-AC23-DB43-8DFF443C06DA}"/>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A2023634-D69A-25C9-EBD5-4A11F05ED56E}"/>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33CEA278-9465-0AC3-D3BB-0F0B00648C83}"/>
              </a:ext>
            </a:extLst>
          </p:cNvPr>
          <p:cNvSpPr txBox="1"/>
          <p:nvPr/>
        </p:nvSpPr>
        <p:spPr>
          <a:xfrm>
            <a:off x="322838" y="914809"/>
            <a:ext cx="11377784" cy="5803961"/>
          </a:xfrm>
          <a:prstGeom prst="rect">
            <a:avLst/>
          </a:prstGeom>
          <a:noFill/>
        </p:spPr>
        <p:txBody>
          <a:bodyPr wrap="square">
            <a:spAutoFit/>
          </a:bodyPr>
          <a:lstStyle/>
          <a:p>
            <a:pPr>
              <a:lnSpc>
                <a:spcPct val="107000"/>
              </a:lnSpc>
              <a:spcAft>
                <a:spcPts val="800"/>
              </a:spcAft>
            </a:pPr>
            <a:r>
              <a:rPr lang="fr-FR" sz="1400" b="1" u="sng" dirty="0">
                <a:ea typeface="Calibri"/>
                <a:cs typeface="Calibri"/>
              </a:rPr>
              <a:t>Validating ASV and Excise Codes and Calculating Excise Duty on Cooking Alcohols </a:t>
            </a:r>
          </a:p>
          <a:p>
            <a:pPr>
              <a:lnSpc>
                <a:spcPct val="107000"/>
              </a:lnSpc>
              <a:spcAft>
                <a:spcPts val="800"/>
              </a:spcAft>
            </a:pPr>
            <a:r>
              <a:rPr lang="en-GB" sz="1200" dirty="0"/>
              <a:t>CDS will:</a:t>
            </a:r>
          </a:p>
          <a:p>
            <a:pPr marL="171450" indent="-171450">
              <a:buFont typeface="Arial" panose="020B0604020202020204" pitchFamily="34" charset="0"/>
              <a:buChar char="•"/>
            </a:pPr>
            <a:r>
              <a:rPr lang="en-GB" sz="1200" dirty="0"/>
              <a:t>Introduce the excise code X399.</a:t>
            </a:r>
          </a:p>
          <a:p>
            <a:pPr marL="171450" indent="-171450">
              <a:buFont typeface="Arial" panose="020B0604020202020204" pitchFamily="34" charset="0"/>
              <a:buChar char="•"/>
            </a:pPr>
            <a:r>
              <a:rPr lang="en-GB" sz="1200" dirty="0"/>
              <a:t>Introduce validation to ensure that where a trader declares an </a:t>
            </a:r>
            <a:r>
              <a:rPr lang="en-GB" sz="1200" b="1" dirty="0"/>
              <a:t>existing</a:t>
            </a:r>
            <a:r>
              <a:rPr lang="en-GB" sz="1200" dirty="0"/>
              <a:t> excise code with commodity code 2103909089, ASV is mandated.</a:t>
            </a:r>
          </a:p>
          <a:p>
            <a:pPr marL="171450" indent="-171450">
              <a:buFont typeface="Arial" panose="020B0604020202020204" pitchFamily="34" charset="0"/>
              <a:buChar char="•"/>
            </a:pPr>
            <a:r>
              <a:rPr lang="en-GB" sz="1200" dirty="0"/>
              <a:t>Calculate excise duties based on excise code/ASV declared.</a:t>
            </a:r>
          </a:p>
          <a:p>
            <a:pPr lvl="1"/>
            <a:r>
              <a:rPr lang="en-GB" sz="1200" dirty="0"/>
              <a:t>Note: This includes Small Producer Relief (SPR) reduction calculations, in line with existing processes.</a:t>
            </a:r>
          </a:p>
          <a:p>
            <a:pPr algn="l"/>
            <a:endParaRPr lang="fr-FR" sz="1400" b="1" u="sng" dirty="0"/>
          </a:p>
          <a:p>
            <a:r>
              <a:rPr lang="en-GB" sz="1200" dirty="0"/>
              <a:t>For all goods under</a:t>
            </a:r>
            <a:r>
              <a:rPr lang="en-GB" sz="1200" b="1" dirty="0"/>
              <a:t> commodity code 2103909089 </a:t>
            </a:r>
            <a:r>
              <a:rPr lang="en-GB" sz="1200" dirty="0"/>
              <a:t>with an ASV of 5% or less, the trader should declare excise code X399 and be charged no excise duty.</a:t>
            </a:r>
            <a:br>
              <a:rPr lang="en-GB" sz="1200" dirty="0"/>
            </a:br>
            <a:r>
              <a:rPr lang="en-GB" sz="1200" dirty="0"/>
              <a:t>For all goods under </a:t>
            </a:r>
            <a:r>
              <a:rPr lang="en-GB" sz="1200" b="1" dirty="0"/>
              <a:t>commodity code 2103909089 </a:t>
            </a:r>
            <a:r>
              <a:rPr lang="en-GB" sz="1200" dirty="0"/>
              <a:t>with an ASV of 5.1% and over, traders should declare an existing excise code (see slide 4) and be charged excise duty in line with existing processes/excise duty calculation.</a:t>
            </a:r>
          </a:p>
          <a:p>
            <a:endParaRPr lang="fr-FR" sz="1400" b="1" u="sng" dirty="0"/>
          </a:p>
          <a:p>
            <a:pPr algn="l"/>
            <a:endParaRPr lang="fr-FR" sz="1200" b="1" u="sng" dirty="0"/>
          </a:p>
          <a:p>
            <a:pPr algn="l"/>
            <a:r>
              <a:rPr lang="fr-FR" sz="1200" b="1" u="sng" dirty="0"/>
              <a:t>Introduction of new Excise Code</a:t>
            </a:r>
          </a:p>
          <a:p>
            <a:pPr algn="l"/>
            <a:endParaRPr lang="fr-FR" sz="1400" b="1" u="sng" dirty="0"/>
          </a:p>
          <a:p>
            <a:r>
              <a:rPr lang="en-GB" sz="1200" dirty="0"/>
              <a:t>CDS will allow traders to declare new excise code X399 and type code 399.</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r>
              <a:rPr lang="fr-FR" sz="1200" b="1" u="sng" dirty="0"/>
              <a:t>ASV validation with excise code X399:</a:t>
            </a:r>
          </a:p>
          <a:p>
            <a:endParaRPr lang="fr-FR" sz="1200" b="1" u="sng" dirty="0"/>
          </a:p>
          <a:p>
            <a:r>
              <a:rPr lang="en-GB" sz="1200" dirty="0"/>
              <a:t>This measure will not require any measurement in the duty expression. As a result, any measurement unit supplied in DE 4/4 will not be used. As no measurement unit will be supplied, no validation will be required. </a:t>
            </a:r>
          </a:p>
          <a:p>
            <a:r>
              <a:rPr lang="en-GB" sz="1200" dirty="0"/>
              <a:t>This diverts from the alcohol reform series. </a:t>
            </a:r>
          </a:p>
          <a:p>
            <a:pPr algn="l"/>
            <a:endParaRPr lang="fr-FR" sz="1200" b="1" dirty="0">
              <a:solidFill>
                <a:srgbClr val="172B4D"/>
              </a:solidFill>
            </a:endParaRPr>
          </a:p>
        </p:txBody>
      </p:sp>
      <p:graphicFrame>
        <p:nvGraphicFramePr>
          <p:cNvPr id="14" name="Table 13">
            <a:extLst>
              <a:ext uri="{FF2B5EF4-FFF2-40B4-BE49-F238E27FC236}">
                <a16:creationId xmlns:a16="http://schemas.microsoft.com/office/drawing/2014/main" id="{3EA70D79-0371-0CCD-C519-4768F6CE073C}"/>
              </a:ext>
            </a:extLst>
          </p:cNvPr>
          <p:cNvGraphicFramePr>
            <a:graphicFrameLocks noGrp="1"/>
          </p:cNvGraphicFramePr>
          <p:nvPr>
            <p:extLst>
              <p:ext uri="{D42A27DB-BD31-4B8C-83A1-F6EECF244321}">
                <p14:modId xmlns:p14="http://schemas.microsoft.com/office/powerpoint/2010/main" val="1457265911"/>
              </p:ext>
            </p:extLst>
          </p:nvPr>
        </p:nvGraphicFramePr>
        <p:xfrm>
          <a:off x="396721" y="4215501"/>
          <a:ext cx="4163834" cy="1097280"/>
        </p:xfrm>
        <a:graphic>
          <a:graphicData uri="http://schemas.openxmlformats.org/drawingml/2006/table">
            <a:tbl>
              <a:tblPr firstRow="1" bandRow="1">
                <a:tableStyleId>{5C22544A-7EE6-4342-B048-85BDC9FD1C3A}</a:tableStyleId>
              </a:tblPr>
              <a:tblGrid>
                <a:gridCol w="2036554">
                  <a:extLst>
                    <a:ext uri="{9D8B030D-6E8A-4147-A177-3AD203B41FA5}">
                      <a16:colId xmlns:a16="http://schemas.microsoft.com/office/drawing/2014/main" val="3510095676"/>
                    </a:ext>
                  </a:extLst>
                </a:gridCol>
                <a:gridCol w="2127280">
                  <a:extLst>
                    <a:ext uri="{9D8B030D-6E8A-4147-A177-3AD203B41FA5}">
                      <a16:colId xmlns:a16="http://schemas.microsoft.com/office/drawing/2014/main" val="2344416941"/>
                    </a:ext>
                  </a:extLst>
                </a:gridCol>
              </a:tblGrid>
              <a:tr h="213972">
                <a:tc>
                  <a:txBody>
                    <a:bodyPr/>
                    <a:lstStyle/>
                    <a:p>
                      <a:r>
                        <a:rPr lang="en-GB" sz="1200" dirty="0"/>
                        <a:t>Data Element</a:t>
                      </a:r>
                    </a:p>
                  </a:txBody>
                  <a:tcPr>
                    <a:solidFill>
                      <a:srgbClr val="009999"/>
                    </a:solidFill>
                  </a:tcPr>
                </a:tc>
                <a:tc>
                  <a:txBody>
                    <a:bodyPr/>
                    <a:lstStyle/>
                    <a:p>
                      <a:r>
                        <a:rPr lang="en-GB" sz="1200" dirty="0"/>
                        <a:t>New Values Allowed</a:t>
                      </a:r>
                    </a:p>
                  </a:txBody>
                  <a:tcPr>
                    <a:solidFill>
                      <a:srgbClr val="009999"/>
                    </a:solidFill>
                  </a:tcPr>
                </a:tc>
                <a:extLst>
                  <a:ext uri="{0D108BD9-81ED-4DB2-BD59-A6C34878D82A}">
                    <a16:rowId xmlns:a16="http://schemas.microsoft.com/office/drawing/2014/main" val="1265289430"/>
                  </a:ext>
                </a:extLst>
              </a:tr>
              <a:tr h="213972">
                <a:tc>
                  <a:txBody>
                    <a:bodyPr/>
                    <a:lstStyle/>
                    <a:p>
                      <a:r>
                        <a:rPr lang="en-GB" sz="1200" kern="1200" dirty="0">
                          <a:solidFill>
                            <a:schemeClr val="dk1"/>
                          </a:solidFill>
                          <a:latin typeface="+mn-lt"/>
                          <a:ea typeface="+mn-ea"/>
                          <a:cs typeface="+mn-cs"/>
                        </a:rPr>
                        <a:t>4/3</a:t>
                      </a:r>
                    </a:p>
                  </a:txBody>
                  <a:tcPr>
                    <a:solidFill>
                      <a:srgbClr val="CBDCDB"/>
                    </a:solidFill>
                  </a:tcPr>
                </a:tc>
                <a:tc>
                  <a:txBody>
                    <a:bodyPr/>
                    <a:lstStyle/>
                    <a:p>
                      <a:r>
                        <a:rPr lang="en-GB" sz="1200" kern="1200" dirty="0">
                          <a:solidFill>
                            <a:schemeClr val="dk1"/>
                          </a:solidFill>
                          <a:latin typeface="+mn-lt"/>
                          <a:ea typeface="+mn-ea"/>
                          <a:cs typeface="+mn-cs"/>
                        </a:rPr>
                        <a:t>399</a:t>
                      </a:r>
                    </a:p>
                  </a:txBody>
                  <a:tcPr>
                    <a:solidFill>
                      <a:srgbClr val="CBDCDB"/>
                    </a:solidFill>
                  </a:tcPr>
                </a:tc>
                <a:extLst>
                  <a:ext uri="{0D108BD9-81ED-4DB2-BD59-A6C34878D82A}">
                    <a16:rowId xmlns:a16="http://schemas.microsoft.com/office/drawing/2014/main" val="1796952593"/>
                  </a:ext>
                </a:extLst>
              </a:tr>
              <a:tr h="213972">
                <a:tc>
                  <a:txBody>
                    <a:bodyPr/>
                    <a:lstStyle/>
                    <a:p>
                      <a:r>
                        <a:rPr lang="en-GB" sz="1200" kern="1200" dirty="0">
                          <a:solidFill>
                            <a:schemeClr val="dk1"/>
                          </a:solidFill>
                          <a:latin typeface="+mn-lt"/>
                          <a:ea typeface="+mn-ea"/>
                          <a:cs typeface="+mn-cs"/>
                        </a:rPr>
                        <a:t>6/16</a:t>
                      </a:r>
                    </a:p>
                  </a:txBody>
                  <a:tcPr>
                    <a:solidFill>
                      <a:srgbClr val="CBDCDB"/>
                    </a:solidFill>
                  </a:tcPr>
                </a:tc>
                <a:tc>
                  <a:txBody>
                    <a:bodyPr/>
                    <a:lstStyle/>
                    <a:p>
                      <a:r>
                        <a:rPr lang="en-GB" sz="1200" kern="1200" dirty="0">
                          <a:solidFill>
                            <a:schemeClr val="dk1"/>
                          </a:solidFill>
                          <a:latin typeface="+mn-lt"/>
                          <a:ea typeface="+mn-ea"/>
                          <a:cs typeface="+mn-cs"/>
                        </a:rPr>
                        <a:t>X399</a:t>
                      </a:r>
                    </a:p>
                  </a:txBody>
                  <a:tcPr>
                    <a:solidFill>
                      <a:srgbClr val="CBDCDB"/>
                    </a:solidFill>
                  </a:tcPr>
                </a:tc>
                <a:extLst>
                  <a:ext uri="{0D108BD9-81ED-4DB2-BD59-A6C34878D82A}">
                    <a16:rowId xmlns:a16="http://schemas.microsoft.com/office/drawing/2014/main" val="3368624783"/>
                  </a:ext>
                </a:extLst>
              </a:tr>
              <a:tr h="213972">
                <a:tc>
                  <a:txBody>
                    <a:bodyPr/>
                    <a:lstStyle/>
                    <a:p>
                      <a:r>
                        <a:rPr lang="en-GB" sz="1200" kern="1200" dirty="0">
                          <a:solidFill>
                            <a:schemeClr val="dk1"/>
                          </a:solidFill>
                          <a:latin typeface="+mn-lt"/>
                          <a:ea typeface="+mn-ea"/>
                          <a:cs typeface="+mn-cs"/>
                        </a:rPr>
                        <a:t>6/17</a:t>
                      </a:r>
                    </a:p>
                  </a:txBody>
                  <a:tcPr>
                    <a:solidFill>
                      <a:srgbClr val="CBDC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latin typeface="+mn-lt"/>
                          <a:ea typeface="+mn-ea"/>
                          <a:cs typeface="+mn-cs"/>
                        </a:rPr>
                        <a:t>X399</a:t>
                      </a:r>
                    </a:p>
                  </a:txBody>
                  <a:tcPr>
                    <a:solidFill>
                      <a:srgbClr val="CBDCDB"/>
                    </a:solidFill>
                  </a:tcPr>
                </a:tc>
                <a:extLst>
                  <a:ext uri="{0D108BD9-81ED-4DB2-BD59-A6C34878D82A}">
                    <a16:rowId xmlns:a16="http://schemas.microsoft.com/office/drawing/2014/main" val="656800731"/>
                  </a:ext>
                </a:extLst>
              </a:tr>
            </a:tbl>
          </a:graphicData>
        </a:graphic>
      </p:graphicFrame>
      <p:sp>
        <p:nvSpPr>
          <p:cNvPr id="28" name="Footer Placeholder 27">
            <a:extLst>
              <a:ext uri="{FF2B5EF4-FFF2-40B4-BE49-F238E27FC236}">
                <a16:creationId xmlns:a16="http://schemas.microsoft.com/office/drawing/2014/main" id="{2848B7F6-E70F-126D-F9B9-56C8164CF414}"/>
              </a:ext>
            </a:extLst>
          </p:cNvPr>
          <p:cNvSpPr>
            <a:spLocks noGrp="1"/>
          </p:cNvSpPr>
          <p:nvPr>
            <p:ph type="ftr" sz="quarter" idx="11"/>
          </p:nvPr>
        </p:nvSpPr>
        <p:spPr/>
        <p:txBody>
          <a:bodyPr/>
          <a:lstStyle/>
          <a:p>
            <a:r>
              <a:rPr lang="en-GB" dirty="0"/>
              <a:t>CDS External Release Scope Guidance Document</a:t>
            </a:r>
          </a:p>
        </p:txBody>
      </p:sp>
      <p:sp>
        <p:nvSpPr>
          <p:cNvPr id="29" name="Slide Number Placeholder 28">
            <a:extLst>
              <a:ext uri="{FF2B5EF4-FFF2-40B4-BE49-F238E27FC236}">
                <a16:creationId xmlns:a16="http://schemas.microsoft.com/office/drawing/2014/main" id="{FE4E3410-5985-40AB-75E9-D5494ED327D1}"/>
              </a:ext>
            </a:extLst>
          </p:cNvPr>
          <p:cNvSpPr>
            <a:spLocks noGrp="1"/>
          </p:cNvSpPr>
          <p:nvPr>
            <p:ph type="sldNum" sz="quarter" idx="12"/>
          </p:nvPr>
        </p:nvSpPr>
        <p:spPr/>
        <p:txBody>
          <a:bodyPr/>
          <a:lstStyle/>
          <a:p>
            <a:fld id="{7E4B48B1-1197-4F9F-8D61-6ADBBBC3D0AA}" type="slidenum">
              <a:rPr lang="en-GB" smtClean="0"/>
              <a:t>3</a:t>
            </a:fld>
            <a:endParaRPr lang="en-GB" dirty="0"/>
          </a:p>
        </p:txBody>
      </p:sp>
    </p:spTree>
    <p:extLst>
      <p:ext uri="{BB962C8B-B14F-4D97-AF65-F5344CB8AC3E}">
        <p14:creationId xmlns:p14="http://schemas.microsoft.com/office/powerpoint/2010/main" val="273078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5114-7119-A9DC-5F73-5A966BC00DB8}"/>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627C7CE8-21EA-2DDE-7B9A-0507974832F7}"/>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1A7CD287-FB17-32BA-0128-0419A3C2D567}"/>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BC0DE344-FD93-521B-3335-69C7D3772815}"/>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A2AF6156-1DF4-5A04-D252-5244ECC8BD54}"/>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60D06D6E-5FB0-031D-4166-EB9613B10099}"/>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98234EBC-6179-3A2F-142F-0EFFF5A355AC}"/>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05971D47-E22E-0D58-E518-3ED38BC484D7}"/>
              </a:ext>
            </a:extLst>
          </p:cNvPr>
          <p:cNvSpPr txBox="1"/>
          <p:nvPr/>
        </p:nvSpPr>
        <p:spPr>
          <a:xfrm>
            <a:off x="322838" y="914809"/>
            <a:ext cx="11377784"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sng" strike="noStrike" kern="1200" cap="none" spc="0" normalizeH="0" baseline="0" noProof="0" dirty="0">
                <a:ln>
                  <a:noFill/>
                </a:ln>
                <a:effectLst/>
                <a:uLnTx/>
                <a:uFillTx/>
                <a:latin typeface="Calibri" panose="020F0502020204030204"/>
                <a:ea typeface="+mn-ea"/>
                <a:cs typeface="+mn-cs"/>
              </a:rPr>
              <a:t>ASV validation with existing excise codes: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u="sng" dirty="0">
              <a:latin typeface="Calibri" panose="020F0502020204030204"/>
            </a:endParaRPr>
          </a:p>
          <a:p>
            <a:r>
              <a:rPr lang="fr-FR" sz="1200" b="1" dirty="0"/>
              <a:t>Pre-requisite:</a:t>
            </a:r>
          </a:p>
          <a:p>
            <a:r>
              <a:rPr lang="fr-FR" sz="1200" dirty="0"/>
              <a:t>Commodity code for sauces and preparations </a:t>
            </a:r>
            <a:r>
              <a:rPr lang="en-GB" sz="1200" dirty="0"/>
              <a:t>(2103909089) has been declared.</a:t>
            </a:r>
            <a:endParaRPr lang="fr-FR" sz="1200" dirty="0"/>
          </a:p>
          <a:p>
            <a:endParaRPr lang="fr-FR" sz="1400" dirty="0"/>
          </a:p>
          <a:p>
            <a:r>
              <a:rPr lang="fr-FR" sz="1200" b="1" dirty="0"/>
              <a:t>CDS will validate on the conditions in the table below: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u="sng" dirty="0">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u="sng" dirty="0">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u="sng" dirty="0">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342900" indent="-342900" eaLnBrk="0" fontAlgn="base" hangingPunct="0">
              <a:spcBef>
                <a:spcPct val="0"/>
              </a:spcBef>
              <a:spcAft>
                <a:spcPct val="0"/>
              </a:spcAft>
              <a:buFontTx/>
              <a:buAutoNum type="arabicPeriod"/>
            </a:pPr>
            <a:r>
              <a:rPr lang="en-US" altLang="en-US" sz="1200" dirty="0">
                <a:latin typeface="-apple-system"/>
              </a:rPr>
              <a:t>Where a trader has declared an existing excise code in DE 6/16 or DE 6/17 as per column 1 in the table above, CDS will mandate ASV in DE 4/4. Where ASV has not been declared in DE 4/4, CDS will reject the declaration and a DMSREJ notification will be sent to the submitter. Please note: </a:t>
            </a:r>
            <a:r>
              <a:rPr lang="en-GB" sz="1200" dirty="0"/>
              <a:t>Only one valid excise measure can be triggered against an item for the corresponding declaration date. If multiple excise codes are supplied against an item and they are all associated against valid excise measures as per above table, the item will be rejected.</a:t>
            </a:r>
            <a:endParaRPr lang="en-US" altLang="en-US" sz="1200" dirty="0">
              <a:latin typeface="-apple-system"/>
            </a:endParaRPr>
          </a:p>
          <a:p>
            <a:pPr marL="342900" lvl="0" indent="-342900" eaLnBrk="0" fontAlgn="base" hangingPunct="0">
              <a:spcBef>
                <a:spcPct val="0"/>
              </a:spcBef>
              <a:spcAft>
                <a:spcPct val="0"/>
              </a:spcAft>
              <a:buAutoNum type="arabicPeriod"/>
            </a:pPr>
            <a:r>
              <a:rPr kumimoji="0" lang="en-US" altLang="en-US" sz="1200" b="0" i="0" u="none" strike="noStrike" kern="1200" cap="none" spc="0" normalizeH="0" baseline="0" noProof="0" dirty="0">
                <a:ln>
                  <a:noFill/>
                </a:ln>
                <a:effectLst/>
                <a:uLnTx/>
                <a:uFillTx/>
                <a:latin typeface="-apple-system"/>
                <a:ea typeface="+mn-ea"/>
                <a:cs typeface="+mn-cs"/>
              </a:rPr>
              <a:t>Where a trader has entered an existing excise code in DE 6/16 or DE 6/17 as per column 1 in the table above, CDS </a:t>
            </a:r>
            <a:r>
              <a:rPr lang="en-US" altLang="en-US" sz="1200" dirty="0">
                <a:latin typeface="-apple-system"/>
              </a:rPr>
              <a:t>will</a:t>
            </a:r>
            <a:r>
              <a:rPr kumimoji="0" lang="en-US" altLang="en-US" sz="1200" b="0" i="0" u="none" strike="noStrike" kern="1200" cap="none" spc="0" normalizeH="0" baseline="0" noProof="0" dirty="0">
                <a:ln>
                  <a:noFill/>
                </a:ln>
                <a:effectLst/>
                <a:uLnTx/>
                <a:uFillTx/>
                <a:latin typeface="-apple-system"/>
                <a:ea typeface="+mn-ea"/>
                <a:cs typeface="+mn-cs"/>
              </a:rPr>
              <a:t> mandate that the numerical value in DE 4/4 against the same goods item must follow logic defined </a:t>
            </a:r>
            <a:r>
              <a:rPr lang="en-US" altLang="en-US" sz="1200" dirty="0">
                <a:latin typeface="-apple-system"/>
              </a:rPr>
              <a:t>in</a:t>
            </a:r>
            <a:r>
              <a:rPr kumimoji="0" lang="en-US" altLang="en-US" sz="1200" b="0" i="0" u="none" strike="noStrike" kern="1200" cap="none" spc="0" normalizeH="0" baseline="0" noProof="0" dirty="0">
                <a:ln>
                  <a:noFill/>
                </a:ln>
                <a:effectLst/>
                <a:uLnTx/>
                <a:uFillTx/>
                <a:latin typeface="-apple-system"/>
                <a:ea typeface="+mn-ea"/>
                <a:cs typeface="+mn-cs"/>
              </a:rPr>
              <a:t> column 3 in the table above. Where the numerical value has not been declared in DE 4/4 or the value does not align with the logic defined above</a:t>
            </a:r>
            <a:r>
              <a:rPr lang="en-US" altLang="en-US" sz="1200" dirty="0">
                <a:latin typeface="-apple-system"/>
              </a:rPr>
              <a:t>,</a:t>
            </a:r>
            <a:r>
              <a:rPr kumimoji="0" lang="en-US" altLang="en-US" sz="1200" b="0" i="0" u="none" strike="noStrike" kern="1200" cap="none" spc="0" normalizeH="0" baseline="0" noProof="0" dirty="0">
                <a:ln>
                  <a:noFill/>
                </a:ln>
                <a:effectLst/>
                <a:uLnTx/>
                <a:uFillTx/>
                <a:latin typeface="-apple-system"/>
                <a:ea typeface="+mn-ea"/>
                <a:cs typeface="+mn-cs"/>
              </a:rPr>
              <a:t> CDS </a:t>
            </a:r>
            <a:r>
              <a:rPr lang="en-US" altLang="en-US" sz="1200" dirty="0">
                <a:latin typeface="-apple-system"/>
              </a:rPr>
              <a:t>will</a:t>
            </a:r>
            <a:r>
              <a:rPr kumimoji="0" lang="en-US" altLang="en-US" sz="1200" b="0" i="0" u="none" strike="noStrike" kern="1200" cap="none" spc="0" normalizeH="0" baseline="0" noProof="0" dirty="0">
                <a:ln>
                  <a:noFill/>
                </a:ln>
                <a:effectLst/>
                <a:uLnTx/>
                <a:uFillTx/>
                <a:latin typeface="-apple-system"/>
                <a:ea typeface="+mn-ea"/>
                <a:cs typeface="+mn-cs"/>
              </a:rPr>
              <a:t> reject the declaration</a:t>
            </a:r>
            <a:r>
              <a:rPr lang="en-US" altLang="en-US" sz="1200" dirty="0">
                <a:latin typeface="-apple-system"/>
              </a:rPr>
              <a:t> </a:t>
            </a:r>
            <a:r>
              <a:rPr kumimoji="0" lang="en-US" altLang="en-US" sz="1200" b="0" i="0" u="none" strike="noStrike" kern="1200" cap="none" spc="0" normalizeH="0" baseline="0" noProof="0" dirty="0">
                <a:ln>
                  <a:noFill/>
                </a:ln>
                <a:effectLst/>
                <a:uLnTx/>
                <a:uFillTx/>
                <a:latin typeface="-apple-system"/>
                <a:ea typeface="+mn-ea"/>
                <a:cs typeface="+mn-cs"/>
              </a:rPr>
              <a:t>and </a:t>
            </a:r>
            <a:r>
              <a:rPr lang="en-US" altLang="en-US" sz="1200" dirty="0">
                <a:latin typeface="-apple-system"/>
              </a:rPr>
              <a:t>a</a:t>
            </a:r>
            <a:r>
              <a:rPr kumimoji="0" lang="en-US" altLang="en-US" sz="1200" b="0" i="0" u="none" strike="noStrike" kern="1200" cap="none" spc="0" normalizeH="0" baseline="0" noProof="0" dirty="0">
                <a:ln>
                  <a:noFill/>
                </a:ln>
                <a:effectLst/>
                <a:uLnTx/>
                <a:uFillTx/>
                <a:latin typeface="-apple-system"/>
                <a:ea typeface="+mn-ea"/>
                <a:cs typeface="+mn-cs"/>
              </a:rPr>
              <a:t> DMSREJ notification will be sent to the submitter.</a:t>
            </a:r>
          </a:p>
          <a:p>
            <a:pPr marL="342900" lvl="0" indent="-342900" eaLnBrk="0" fontAlgn="base" hangingPunct="0">
              <a:spcBef>
                <a:spcPct val="0"/>
              </a:spcBef>
              <a:spcAft>
                <a:spcPct val="0"/>
              </a:spcAft>
              <a:buAutoNum type="arabicPeriod"/>
            </a:pPr>
            <a:r>
              <a:rPr kumimoji="0" lang="en-US" altLang="en-US" sz="1200" b="0" i="0" u="none" strike="noStrike" kern="1200" cap="none" spc="0" normalizeH="0" baseline="0" noProof="0" dirty="0">
                <a:ln>
                  <a:noFill/>
                </a:ln>
                <a:effectLst/>
                <a:uLnTx/>
                <a:uFillTx/>
                <a:latin typeface="-apple-system"/>
                <a:ea typeface="+mn-ea"/>
                <a:cs typeface="+mn-cs"/>
              </a:rPr>
              <a:t>If the validations </a:t>
            </a:r>
            <a:r>
              <a:rPr lang="en-US" altLang="en-US" sz="1200" dirty="0">
                <a:latin typeface="-apple-system"/>
              </a:rPr>
              <a:t>as specified in the table </a:t>
            </a:r>
            <a:r>
              <a:rPr kumimoji="0" lang="en-US" altLang="en-US" sz="1200" b="0" i="0" u="none" strike="noStrike" kern="1200" cap="none" spc="0" normalizeH="0" baseline="0" noProof="0" dirty="0">
                <a:ln>
                  <a:noFill/>
                </a:ln>
                <a:effectLst/>
                <a:uLnTx/>
                <a:uFillTx/>
                <a:latin typeface="-apple-system"/>
                <a:ea typeface="+mn-ea"/>
                <a:cs typeface="+mn-cs"/>
              </a:rPr>
              <a:t>are passed and no other existing validation rules have been violated, CDS </a:t>
            </a:r>
            <a:r>
              <a:rPr lang="en-US" altLang="en-US" sz="1200" dirty="0">
                <a:latin typeface="-apple-system"/>
              </a:rPr>
              <a:t>will</a:t>
            </a:r>
            <a:r>
              <a:rPr kumimoji="0" lang="en-US" altLang="en-US" sz="1200" b="0" i="0" u="none" strike="noStrike" kern="1200" cap="none" spc="0" normalizeH="0" baseline="0" noProof="0" dirty="0">
                <a:ln>
                  <a:noFill/>
                </a:ln>
                <a:effectLst/>
                <a:uLnTx/>
                <a:uFillTx/>
                <a:latin typeface="-apple-system"/>
                <a:ea typeface="+mn-ea"/>
                <a:cs typeface="+mn-cs"/>
              </a:rPr>
              <a:t> continue processing the declaration.</a:t>
            </a: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sng" strike="noStrike" kern="1200" cap="none" spc="0" normalizeH="0" baseline="0" noProof="0" dirty="0">
              <a:ln>
                <a:noFill/>
              </a:ln>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EA34B02E-EAC6-A213-E5FD-B0F5E7DF812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DA9AE51C-8BFB-51CB-F097-F70DF17AD9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3D0C2CCC-F1D7-E353-2BCE-7B64687D3AE6}"/>
              </a:ext>
            </a:extLst>
          </p:cNvPr>
          <p:cNvGraphicFramePr>
            <a:graphicFrameLocks noGrp="1"/>
          </p:cNvGraphicFramePr>
          <p:nvPr>
            <p:extLst>
              <p:ext uri="{D42A27DB-BD31-4B8C-83A1-F6EECF244321}">
                <p14:modId xmlns:p14="http://schemas.microsoft.com/office/powerpoint/2010/main" val="4180337760"/>
              </p:ext>
            </p:extLst>
          </p:nvPr>
        </p:nvGraphicFramePr>
        <p:xfrm>
          <a:off x="396721" y="2256595"/>
          <a:ext cx="9488758" cy="1066800"/>
        </p:xfrm>
        <a:graphic>
          <a:graphicData uri="http://schemas.openxmlformats.org/drawingml/2006/table">
            <a:tbl>
              <a:tblPr/>
              <a:tblGrid>
                <a:gridCol w="2628900">
                  <a:extLst>
                    <a:ext uri="{9D8B030D-6E8A-4147-A177-3AD203B41FA5}">
                      <a16:colId xmlns:a16="http://schemas.microsoft.com/office/drawing/2014/main" val="1520522431"/>
                    </a:ext>
                  </a:extLst>
                </a:gridCol>
                <a:gridCol w="1832992">
                  <a:extLst>
                    <a:ext uri="{9D8B030D-6E8A-4147-A177-3AD203B41FA5}">
                      <a16:colId xmlns:a16="http://schemas.microsoft.com/office/drawing/2014/main" val="3734747571"/>
                    </a:ext>
                  </a:extLst>
                </a:gridCol>
                <a:gridCol w="1728592">
                  <a:extLst>
                    <a:ext uri="{9D8B030D-6E8A-4147-A177-3AD203B41FA5}">
                      <a16:colId xmlns:a16="http://schemas.microsoft.com/office/drawing/2014/main" val="137098945"/>
                    </a:ext>
                  </a:extLst>
                </a:gridCol>
                <a:gridCol w="3298274">
                  <a:extLst>
                    <a:ext uri="{9D8B030D-6E8A-4147-A177-3AD203B41FA5}">
                      <a16:colId xmlns:a16="http://schemas.microsoft.com/office/drawing/2014/main" val="3849000135"/>
                    </a:ext>
                  </a:extLst>
                </a:gridCol>
              </a:tblGrid>
              <a:tr h="0">
                <a:tc>
                  <a:txBody>
                    <a:bodyPr/>
                    <a:lstStyle/>
                    <a:p>
                      <a:pPr>
                        <a:buNone/>
                      </a:pPr>
                      <a:r>
                        <a:rPr lang="en-GB" sz="1200" b="1" dirty="0">
                          <a:solidFill>
                            <a:schemeClr val="bg1"/>
                          </a:solidFill>
                          <a:effectLst/>
                        </a:rPr>
                        <a:t>DE 6/16 or 6/17</a:t>
                      </a:r>
                      <a:r>
                        <a:rPr lang="en-GB" sz="1200" dirty="0">
                          <a:solidFill>
                            <a:schemeClr val="bg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bg1"/>
                          </a:solidFill>
                          <a:effectLst/>
                        </a:rPr>
                        <a:t>DE 4/4 Measurement Unit</a:t>
                      </a:r>
                      <a:r>
                        <a:rPr lang="en-GB" sz="1200" dirty="0">
                          <a:solidFill>
                            <a:schemeClr val="bg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bg1"/>
                          </a:solidFill>
                          <a:effectLst/>
                        </a:rPr>
                        <a:t>DE 4/4 Numerical Value</a:t>
                      </a:r>
                      <a:r>
                        <a:rPr lang="en-GB" sz="1200" dirty="0">
                          <a:solidFill>
                            <a:schemeClr val="bg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bg1"/>
                          </a:solidFill>
                          <a:effectLst/>
                        </a:rPr>
                        <a:t>Error Message</a:t>
                      </a:r>
                      <a:endParaRPr lang="en-GB" sz="1200" dirty="0">
                        <a:solidFill>
                          <a:schemeClr val="bg1"/>
                        </a:solidFill>
                        <a:effectLst/>
                      </a:endParaRP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extLst>
                  <a:ext uri="{0D108BD9-81ED-4DB2-BD59-A6C34878D82A}">
                    <a16:rowId xmlns:a16="http://schemas.microsoft.com/office/drawing/2014/main" val="3073614977"/>
                  </a:ext>
                </a:extLst>
              </a:tr>
              <a:tr h="0">
                <a:tc>
                  <a:txBody>
                    <a:bodyPr/>
                    <a:lstStyle/>
                    <a:p>
                      <a:pPr>
                        <a:buNone/>
                      </a:pPr>
                      <a:r>
                        <a:rPr lang="en-GB" sz="1200" dirty="0">
                          <a:effectLst/>
                        </a:rPr>
                        <a:t>X321 X322 X323 X324 X325 X366 X367 X368 X369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ASV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&gt;=3.5 but &lt;8.5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Value must be between 3.5% but less than 8.5%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1306749187"/>
                  </a:ext>
                </a:extLst>
              </a:tr>
              <a:tr h="0">
                <a:tc>
                  <a:txBody>
                    <a:bodyPr/>
                    <a:lstStyle/>
                    <a:p>
                      <a:pPr>
                        <a:buNone/>
                      </a:pPr>
                      <a:r>
                        <a:rPr lang="en-GB" sz="1200" dirty="0">
                          <a:effectLst/>
                        </a:rPr>
                        <a:t>X331 X333 X334 X335</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ASV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&gt;=8.5 but &lt;=22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Value must be at least 8.5% but cannot exceed 22%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1501521860"/>
                  </a:ext>
                </a:extLst>
              </a:tr>
              <a:tr h="0">
                <a:tc>
                  <a:txBody>
                    <a:bodyPr/>
                    <a:lstStyle/>
                    <a:p>
                      <a:pPr>
                        <a:buNone/>
                      </a:pPr>
                      <a:r>
                        <a:rPr lang="en-GB" sz="1200" dirty="0">
                          <a:effectLst/>
                        </a:rPr>
                        <a:t>X341 X343 X344 X345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ASV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&gt;22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Value must exceed 22%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2005072391"/>
                  </a:ext>
                </a:extLst>
              </a:tr>
            </a:tbl>
          </a:graphicData>
        </a:graphic>
      </p:graphicFrame>
    </p:spTree>
    <p:extLst>
      <p:ext uri="{BB962C8B-B14F-4D97-AF65-F5344CB8AC3E}">
        <p14:creationId xmlns:p14="http://schemas.microsoft.com/office/powerpoint/2010/main" val="66145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D0C19-A315-0F90-5FDC-9E8CA52EF14F}"/>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EB0FA254-7584-7D66-53D9-0455C76D8408}"/>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3D07FD42-A7E3-D7D6-F7FD-BC6BC282DDF7}"/>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B6C98158-8CF1-9BEE-D4F5-09B539389AC4}"/>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44CDE2ED-14ED-9F99-FF7E-C7B1081A2656}"/>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126EBA1F-A940-6ABE-BAFD-9B63E9512A38}"/>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FB8ECC48-E8FD-A3B5-FC77-B19DEA95CD2D}"/>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989D9C98-E07B-CFBF-7978-0DEF4ACFD79E}"/>
              </a:ext>
            </a:extLst>
          </p:cNvPr>
          <p:cNvSpPr txBox="1"/>
          <p:nvPr/>
        </p:nvSpPr>
        <p:spPr>
          <a:xfrm>
            <a:off x="322838" y="914809"/>
            <a:ext cx="11377784" cy="38164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sng" strike="noStrike" kern="1200" cap="none" spc="0" normalizeH="0" baseline="0" noProof="0" dirty="0">
                <a:ln>
                  <a:noFill/>
                </a:ln>
                <a:solidFill>
                  <a:prstClr val="black"/>
                </a:solidFill>
                <a:effectLst/>
                <a:uLnTx/>
                <a:uFillTx/>
                <a:latin typeface="Calibri" panose="020F0502020204030204"/>
                <a:ea typeface="+mn-ea"/>
                <a:cs typeface="+mn-cs"/>
              </a:rPr>
              <a:t>Calculate excise duties based on excise code/ASV declared</a:t>
            </a:r>
            <a:r>
              <a:rPr kumimoji="0" lang="fr-FR" sz="1400" b="1" i="0" u="sng" strike="noStrike" kern="1200" cap="none" spc="0" normalizeH="0" baseline="0" noProof="0" dirty="0">
                <a:ln>
                  <a:noFill/>
                </a:ln>
                <a:solidFill>
                  <a:srgbClr val="172B4D"/>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Pre-requisite:</a:t>
            </a:r>
            <a:endParaRPr kumimoji="0" lang="fr-FR"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Validation has passed as per conditions set out in table above for existing excise codes.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CDS will calculate excise duty based on the table below: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CDS will calculate VAT/customs duties per existing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solidFill>
                <a:srgbClr val="172B4D"/>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sng" strike="noStrike" kern="1200" cap="none" spc="0" normalizeH="0" baseline="0" noProof="0" dirty="0">
              <a:ln>
                <a:noFill/>
              </a:ln>
              <a:solidFill>
                <a:srgbClr val="172B4D"/>
              </a:solidFill>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24E92F85-1C29-AEEA-9172-848873E373C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9734DD30-A1E7-0DA9-D56C-BDAFBBBDE6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3BCCDEFF-E9A2-F94A-F191-067B3A8C5403}"/>
              </a:ext>
            </a:extLst>
          </p:cNvPr>
          <p:cNvGraphicFramePr>
            <a:graphicFrameLocks noGrp="1"/>
          </p:cNvGraphicFramePr>
          <p:nvPr>
            <p:extLst>
              <p:ext uri="{D42A27DB-BD31-4B8C-83A1-F6EECF244321}">
                <p14:modId xmlns:p14="http://schemas.microsoft.com/office/powerpoint/2010/main" val="2792616802"/>
              </p:ext>
            </p:extLst>
          </p:nvPr>
        </p:nvGraphicFramePr>
        <p:xfrm>
          <a:off x="396721" y="2321528"/>
          <a:ext cx="7582358" cy="1249680"/>
        </p:xfrm>
        <a:graphic>
          <a:graphicData uri="http://schemas.openxmlformats.org/drawingml/2006/table">
            <a:tbl>
              <a:tblPr/>
              <a:tblGrid>
                <a:gridCol w="2103120">
                  <a:extLst>
                    <a:ext uri="{9D8B030D-6E8A-4147-A177-3AD203B41FA5}">
                      <a16:colId xmlns:a16="http://schemas.microsoft.com/office/drawing/2014/main" val="2558203692"/>
                    </a:ext>
                  </a:extLst>
                </a:gridCol>
                <a:gridCol w="1239242">
                  <a:extLst>
                    <a:ext uri="{9D8B030D-6E8A-4147-A177-3AD203B41FA5}">
                      <a16:colId xmlns:a16="http://schemas.microsoft.com/office/drawing/2014/main" val="3446713520"/>
                    </a:ext>
                  </a:extLst>
                </a:gridCol>
                <a:gridCol w="1039660">
                  <a:extLst>
                    <a:ext uri="{9D8B030D-6E8A-4147-A177-3AD203B41FA5}">
                      <a16:colId xmlns:a16="http://schemas.microsoft.com/office/drawing/2014/main" val="3717821207"/>
                    </a:ext>
                  </a:extLst>
                </a:gridCol>
                <a:gridCol w="2517731">
                  <a:extLst>
                    <a:ext uri="{9D8B030D-6E8A-4147-A177-3AD203B41FA5}">
                      <a16:colId xmlns:a16="http://schemas.microsoft.com/office/drawing/2014/main" val="3671468883"/>
                    </a:ext>
                  </a:extLst>
                </a:gridCol>
                <a:gridCol w="682605">
                  <a:extLst>
                    <a:ext uri="{9D8B030D-6E8A-4147-A177-3AD203B41FA5}">
                      <a16:colId xmlns:a16="http://schemas.microsoft.com/office/drawing/2014/main" val="639212812"/>
                    </a:ext>
                  </a:extLst>
                </a:gridCol>
              </a:tblGrid>
              <a:tr h="0">
                <a:tc>
                  <a:txBody>
                    <a:bodyPr/>
                    <a:lstStyle/>
                    <a:p>
                      <a:pPr>
                        <a:buNone/>
                      </a:pPr>
                      <a:r>
                        <a:rPr lang="en-GB" sz="1200" b="1" dirty="0">
                          <a:solidFill>
                            <a:schemeClr val="tx1"/>
                          </a:solidFill>
                          <a:effectLst/>
                        </a:rPr>
                        <a:t>DE 6/16 or 6/17</a:t>
                      </a:r>
                      <a:r>
                        <a:rPr lang="en-GB" sz="1200" dirty="0">
                          <a:solidFill>
                            <a:schemeClr val="tx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tx1"/>
                          </a:solidFill>
                          <a:effectLst/>
                        </a:rPr>
                        <a:t>DE 4/4 (s) (SPR)</a:t>
                      </a:r>
                      <a:r>
                        <a:rPr lang="en-GB" sz="1200" dirty="0">
                          <a:solidFill>
                            <a:schemeClr val="tx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tx1"/>
                          </a:solidFill>
                          <a:effectLst/>
                        </a:rPr>
                        <a:t>DE 4/4 (LPA)</a:t>
                      </a:r>
                      <a:r>
                        <a:rPr lang="en-GB" sz="1200" dirty="0">
                          <a:solidFill>
                            <a:schemeClr val="tx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tx1"/>
                          </a:solidFill>
                          <a:effectLst/>
                        </a:rPr>
                        <a:t>Excise Calculation</a:t>
                      </a:r>
                      <a:r>
                        <a:rPr lang="en-GB" sz="1200" dirty="0">
                          <a:solidFill>
                            <a:schemeClr val="tx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tx1"/>
                          </a:solidFill>
                          <a:effectLst/>
                        </a:rPr>
                        <a:t>SPR</a:t>
                      </a:r>
                      <a:r>
                        <a:rPr lang="en-GB" sz="1200" dirty="0">
                          <a:solidFill>
                            <a:schemeClr val="tx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extLst>
                  <a:ext uri="{0D108BD9-81ED-4DB2-BD59-A6C34878D82A}">
                    <a16:rowId xmlns:a16="http://schemas.microsoft.com/office/drawing/2014/main" val="1050505869"/>
                  </a:ext>
                </a:extLst>
              </a:tr>
              <a:tr h="0">
                <a:tc>
                  <a:txBody>
                    <a:bodyPr/>
                    <a:lstStyle/>
                    <a:p>
                      <a:pPr>
                        <a:buNone/>
                      </a:pPr>
                      <a:r>
                        <a:rPr lang="en-GB" sz="1200" dirty="0">
                          <a:solidFill>
                            <a:schemeClr val="tx1"/>
                          </a:solidFill>
                          <a:effectLst/>
                        </a:rPr>
                        <a:t>X321 X322 X323 X324 X325 X331 X333 X334 X335 X341 X343 X344 X345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N/A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Y</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LPA*Rate</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N/A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984090878"/>
                  </a:ext>
                </a:extLst>
              </a:tr>
              <a:tr h="0">
                <a:tc>
                  <a:txBody>
                    <a:bodyPr/>
                    <a:lstStyle/>
                    <a:p>
                      <a:pPr>
                        <a:buNone/>
                      </a:pPr>
                      <a:r>
                        <a:rPr lang="en-GB" sz="1200" dirty="0">
                          <a:solidFill>
                            <a:schemeClr val="tx1"/>
                          </a:solidFill>
                          <a:effectLst/>
                        </a:rPr>
                        <a:t>X366 X367 X368 X369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SPR and numeric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Y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LPA*Rate - SPR value</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SPR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623412778"/>
                  </a:ext>
                </a:extLst>
              </a:tr>
              <a:tr h="0">
                <a:tc>
                  <a:txBody>
                    <a:bodyPr/>
                    <a:lstStyle/>
                    <a:p>
                      <a:pPr>
                        <a:buNone/>
                      </a:pPr>
                      <a:r>
                        <a:rPr lang="en-GB" sz="1200" dirty="0">
                          <a:solidFill>
                            <a:schemeClr val="tx1"/>
                          </a:solidFill>
                          <a:effectLst/>
                        </a:rPr>
                        <a:t>X399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N/A</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N/A</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CDS will not </a:t>
                      </a:r>
                      <a:r>
                        <a:rPr lang="en-GB" sz="1200" strike="noStrike" dirty="0">
                          <a:solidFill>
                            <a:schemeClr val="tx1"/>
                          </a:solidFill>
                          <a:effectLst/>
                        </a:rPr>
                        <a:t>charge</a:t>
                      </a:r>
                      <a:r>
                        <a:rPr lang="en-GB" sz="1200" strike="sngStrike" dirty="0">
                          <a:solidFill>
                            <a:schemeClr val="tx1"/>
                          </a:solidFill>
                          <a:effectLst/>
                        </a:rPr>
                        <a:t> </a:t>
                      </a:r>
                      <a:r>
                        <a:rPr lang="en-GB" sz="1200" dirty="0">
                          <a:solidFill>
                            <a:schemeClr val="tx1"/>
                          </a:solidFill>
                          <a:effectLst/>
                        </a:rPr>
                        <a:t>excise duty</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solidFill>
                            <a:schemeClr val="tx1"/>
                          </a:solidFill>
                          <a:effectLst/>
                        </a:rPr>
                        <a:t>N/A</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1605262269"/>
                  </a:ext>
                </a:extLst>
              </a:tr>
            </a:tbl>
          </a:graphicData>
        </a:graphic>
      </p:graphicFrame>
    </p:spTree>
    <p:extLst>
      <p:ext uri="{BB962C8B-B14F-4D97-AF65-F5344CB8AC3E}">
        <p14:creationId xmlns:p14="http://schemas.microsoft.com/office/powerpoint/2010/main" val="3131414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8EE4-11FB-62AC-F3C5-A46154429475}"/>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BA90D4D3-FD6F-4FE4-E7BC-18376DA3C7FA}"/>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F3B0F904-38CA-542C-C9FF-1DC5B4ABCFE5}"/>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C21C2785-80D9-A443-F202-F855B8F15A56}"/>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6A939A40-00C7-0E4C-323C-EF95DBA637BC}"/>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0B573019-9AC9-82D9-68E4-9DD5DC79210E}"/>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183A0E94-FD3E-1549-35DD-B4F159C124B2}"/>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9EF0E40A-8B6F-6DA4-C0AA-6D7E696403C2}"/>
              </a:ext>
            </a:extLst>
          </p:cNvPr>
          <p:cNvSpPr txBox="1"/>
          <p:nvPr/>
        </p:nvSpPr>
        <p:spPr>
          <a:xfrm>
            <a:off x="322838" y="914809"/>
            <a:ext cx="11377784" cy="60631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u="sng" dirty="0">
                <a:latin typeface="Calibri" panose="020F0502020204030204"/>
              </a:rPr>
              <a:t>Country of Origin</a:t>
            </a:r>
            <a:endParaRPr kumimoji="0" lang="fr-FR" sz="14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u="sng" dirty="0">
              <a:latin typeface="Calibri" panose="020F0502020204030204"/>
            </a:endParaRPr>
          </a:p>
          <a:p>
            <a:pPr lvl="0">
              <a:defRPr/>
            </a:pPr>
            <a:r>
              <a:rPr lang="en-GB" sz="1200" b="1" u="sng" dirty="0"/>
              <a:t>Declaring country codes in the "country of origin" and "country of preferential origin" fields when claiming preferential treatment</a:t>
            </a:r>
          </a:p>
          <a:p>
            <a:pPr lvl="0">
              <a:defRPr/>
            </a:pPr>
            <a:endParaRPr lang="en-GB" sz="1200" b="1" dirty="0"/>
          </a:p>
          <a:p>
            <a:pPr lvl="0">
              <a:defRPr/>
            </a:pPr>
            <a:r>
              <a:rPr lang="fr-FR" sz="1200" b="1" dirty="0">
                <a:latin typeface="Calibri" panose="020F0502020204030204"/>
              </a:rPr>
              <a:t>Pre-requisites:</a:t>
            </a:r>
            <a:endParaRPr kumimoji="0" lang="fr-FR" sz="1200" b="1" i="0" strike="noStrike" kern="1200" cap="none" spc="0" normalizeH="0" baseline="0" noProof="0" dirty="0">
              <a:ln>
                <a:noFill/>
              </a:ln>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200" dirty="0"/>
              <a:t>A type A, C, F, D, Y, Z Import Declaration (Procedure Category H1, H2, H3, H4, H5 &amp; I1 C&amp;F) has been submitted, arrived or amended.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200" dirty="0"/>
              <a:t>Trader has declared a preference code </a:t>
            </a:r>
            <a:r>
              <a:rPr lang="en-US" altLang="en-US" sz="1200" b="1" dirty="0"/>
              <a:t>not</a:t>
            </a:r>
            <a:r>
              <a:rPr lang="en-US" altLang="en-US" sz="1200" dirty="0"/>
              <a:t> beginning with '1' in DE 4/17 at item level.</a:t>
            </a:r>
            <a:endParaRPr lang="en-GB" b="1" dirty="0"/>
          </a:p>
          <a:p>
            <a:endParaRPr lang="en-GB" sz="1200" b="1" dirty="0"/>
          </a:p>
          <a:p>
            <a:r>
              <a:rPr lang="en-GB" sz="1200" b="1" dirty="0"/>
              <a:t>CDS will validate and calculate as below:</a:t>
            </a:r>
          </a:p>
          <a:p>
            <a:pPr marL="228600" indent="-228600">
              <a:buFont typeface="+mj-lt"/>
              <a:buAutoNum type="arabicPeriod"/>
            </a:pPr>
            <a:r>
              <a:rPr lang="en-GB" sz="1200" dirty="0"/>
              <a:t>Where a trader declares a valid 2-character country code in DE 5/15 at item level, and a valid 2-character country code in DE 5/16 at item level, against the same goods item, CDS will process the declaration. </a:t>
            </a:r>
          </a:p>
          <a:p>
            <a:pPr marL="228600" indent="-228600">
              <a:buFont typeface="+mj-lt"/>
              <a:buAutoNum type="arabicPeriod"/>
            </a:pPr>
            <a:r>
              <a:rPr lang="en-GB" sz="1200" dirty="0"/>
              <a:t>Where a trader declares DE 5/16 at item level and does not declare a country code in DE 5/15 against the same goods item, CDS will reject the declaration and a DMSREJ notification will be sent to to the submitter.</a:t>
            </a:r>
          </a:p>
          <a:p>
            <a:pPr marL="228600" indent="-228600">
              <a:buFont typeface="+mj-lt"/>
              <a:buAutoNum type="arabicPeriod"/>
            </a:pPr>
            <a:r>
              <a:rPr lang="en-GB" sz="1200" dirty="0"/>
              <a:t>Where a trader declares a valid 2-character country code in DE 5/15 at item level and does not declare a 2-character country code in DE 5/16 against the same goods item, CDS will reject the declaration and a DMSREJ notification will be sent to the submitter.</a:t>
            </a:r>
          </a:p>
          <a:p>
            <a:endParaRPr lang="en-GB" sz="1200" b="1" dirty="0"/>
          </a:p>
          <a:p>
            <a:endParaRPr lang="en-GB" sz="1200" b="1" dirty="0"/>
          </a:p>
          <a:p>
            <a:endParaRPr lang="en-GB" sz="1200" b="1" dirty="0"/>
          </a:p>
          <a:p>
            <a:endParaRPr lang="en-GB" sz="1200" b="1" dirty="0"/>
          </a:p>
          <a:p>
            <a:endParaRPr lang="en-GB" sz="1200" b="1" dirty="0"/>
          </a:p>
          <a:p>
            <a:endParaRPr lang="en-GB" sz="1200" b="1" dirty="0"/>
          </a:p>
          <a:p>
            <a:endParaRPr lang="en-GB" sz="1200" dirty="0"/>
          </a:p>
          <a:p>
            <a:pPr marL="228600" indent="-228600">
              <a:buFont typeface="+mj-lt"/>
              <a:buAutoNum type="arabicPeriod" startAt="4"/>
            </a:pPr>
            <a:r>
              <a:rPr lang="en-GB" sz="1200" dirty="0"/>
              <a:t>All preferential measure types will be validated and calculated against the 2-digit country group code in DE 5/16 at item level.</a:t>
            </a:r>
          </a:p>
          <a:p>
            <a:pPr marL="228600" indent="-228600">
              <a:buFont typeface="+mj-lt"/>
              <a:buAutoNum type="arabicPeriod" startAt="4"/>
            </a:pPr>
            <a:r>
              <a:rPr lang="en-GB" sz="1200" dirty="0"/>
              <a:t>All other measures will be validated and calculated based on the 2-character country code in DE 5/15 at item level.</a:t>
            </a:r>
          </a:p>
          <a:p>
            <a:endParaRPr lang="en-GB" sz="1200" dirty="0"/>
          </a:p>
          <a:p>
            <a:r>
              <a:rPr lang="en-GB" sz="1200" dirty="0"/>
              <a:t>If measures cannot be validated or calculated, a DMSREJ notification will be returned to the submitter.</a:t>
            </a:r>
          </a:p>
          <a:p>
            <a:endParaRPr lang="en-GB" sz="1200" dirty="0"/>
          </a:p>
          <a:p>
            <a:pPr marL="342900" indent="-342900">
              <a:buFont typeface="+mj-lt"/>
              <a:buAutoNum type="arabicPeriod"/>
            </a:pPr>
            <a:endParaRPr lang="en-GB" sz="1200" dirty="0"/>
          </a:p>
          <a:p>
            <a:endParaRPr lang="en-GB" sz="1200" b="1" u="sng"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sng" strike="noStrike" kern="1200" cap="none" spc="0" normalizeH="0" baseline="0" noProof="0" dirty="0">
              <a:ln>
                <a:noFill/>
              </a:ln>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BC1AD153-3CBA-B680-CB60-390C5CF43E6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54037650-871D-C55C-E96D-E9BFFD5D0A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10" name="Table 9">
            <a:extLst>
              <a:ext uri="{FF2B5EF4-FFF2-40B4-BE49-F238E27FC236}">
                <a16:creationId xmlns:a16="http://schemas.microsoft.com/office/drawing/2014/main" id="{F5B3BA12-1762-E4E2-BFB9-640A2699091B}"/>
              </a:ext>
            </a:extLst>
          </p:cNvPr>
          <p:cNvGraphicFramePr>
            <a:graphicFrameLocks noGrp="1"/>
          </p:cNvGraphicFramePr>
          <p:nvPr>
            <p:extLst>
              <p:ext uri="{D42A27DB-BD31-4B8C-83A1-F6EECF244321}">
                <p14:modId xmlns:p14="http://schemas.microsoft.com/office/powerpoint/2010/main" val="1256250993"/>
              </p:ext>
            </p:extLst>
          </p:nvPr>
        </p:nvGraphicFramePr>
        <p:xfrm>
          <a:off x="396721" y="3900850"/>
          <a:ext cx="10742272" cy="915768"/>
        </p:xfrm>
        <a:graphic>
          <a:graphicData uri="http://schemas.openxmlformats.org/drawingml/2006/table">
            <a:tbl>
              <a:tblPr/>
              <a:tblGrid>
                <a:gridCol w="2685568">
                  <a:extLst>
                    <a:ext uri="{9D8B030D-6E8A-4147-A177-3AD203B41FA5}">
                      <a16:colId xmlns:a16="http://schemas.microsoft.com/office/drawing/2014/main" val="869291181"/>
                    </a:ext>
                  </a:extLst>
                </a:gridCol>
                <a:gridCol w="2685568">
                  <a:extLst>
                    <a:ext uri="{9D8B030D-6E8A-4147-A177-3AD203B41FA5}">
                      <a16:colId xmlns:a16="http://schemas.microsoft.com/office/drawing/2014/main" val="2685835706"/>
                    </a:ext>
                  </a:extLst>
                </a:gridCol>
                <a:gridCol w="2685568">
                  <a:extLst>
                    <a:ext uri="{9D8B030D-6E8A-4147-A177-3AD203B41FA5}">
                      <a16:colId xmlns:a16="http://schemas.microsoft.com/office/drawing/2014/main" val="2487901417"/>
                    </a:ext>
                  </a:extLst>
                </a:gridCol>
                <a:gridCol w="2685568">
                  <a:extLst>
                    <a:ext uri="{9D8B030D-6E8A-4147-A177-3AD203B41FA5}">
                      <a16:colId xmlns:a16="http://schemas.microsoft.com/office/drawing/2014/main" val="3110957925"/>
                    </a:ext>
                  </a:extLst>
                </a:gridCol>
              </a:tblGrid>
              <a:tr h="252828">
                <a:tc>
                  <a:txBody>
                    <a:bodyPr/>
                    <a:lstStyle/>
                    <a:p>
                      <a:pPr algn="l">
                        <a:buNone/>
                      </a:pPr>
                      <a:r>
                        <a:rPr lang="en-GB" sz="1200" b="1" dirty="0">
                          <a:solidFill>
                            <a:schemeClr val="bg1"/>
                          </a:solidFill>
                          <a:effectLst/>
                        </a:rPr>
                        <a:t>Preference Code declared in DE 4/17</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DE 5/15 (Valid 2-character country code)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DE 5/16</a:t>
                      </a:r>
                      <a:r>
                        <a:rPr lang="en-GB" sz="1200" dirty="0">
                          <a:solidFill>
                            <a:schemeClr val="bg1"/>
                          </a:solidFill>
                          <a:effectLst/>
                        </a:rPr>
                        <a:t> </a:t>
                      </a:r>
                      <a:r>
                        <a:rPr lang="en-GB" sz="1200" b="1" dirty="0">
                          <a:solidFill>
                            <a:schemeClr val="bg1"/>
                          </a:solidFill>
                          <a:effectLst/>
                        </a:rPr>
                        <a:t>(Valid 2-character country code)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Outcome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extLst>
                  <a:ext uri="{0D108BD9-81ED-4DB2-BD59-A6C34878D82A}">
                    <a16:rowId xmlns:a16="http://schemas.microsoft.com/office/drawing/2014/main" val="2089317140"/>
                  </a:ext>
                </a:extLst>
              </a:tr>
              <a:tr h="158714">
                <a:tc>
                  <a:txBody>
                    <a:bodyPr/>
                    <a:lstStyle/>
                    <a:p>
                      <a:pPr>
                        <a:buNone/>
                      </a:pPr>
                      <a:r>
                        <a:rPr lang="en-GB" sz="1200" dirty="0">
                          <a:effectLst/>
                        </a:rPr>
                        <a:t>Not 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Accept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602729958"/>
                  </a:ext>
                </a:extLst>
              </a:tr>
              <a:tr h="158714">
                <a:tc>
                  <a:txBody>
                    <a:bodyPr/>
                    <a:lstStyle/>
                    <a:p>
                      <a:pPr>
                        <a:buNone/>
                      </a:pPr>
                      <a:r>
                        <a:rPr lang="en-GB" sz="1200" dirty="0">
                          <a:effectLst/>
                        </a:rPr>
                        <a:t>Not 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 </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Reject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4243279370"/>
                  </a:ext>
                </a:extLst>
              </a:tr>
              <a:tr h="158714">
                <a:tc>
                  <a:txBody>
                    <a:bodyPr/>
                    <a:lstStyle/>
                    <a:p>
                      <a:pPr>
                        <a:buNone/>
                      </a:pPr>
                      <a:r>
                        <a:rPr lang="en-GB" sz="1200" dirty="0">
                          <a:effectLst/>
                        </a:rPr>
                        <a:t>Not 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Reject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1183557072"/>
                  </a:ext>
                </a:extLst>
              </a:tr>
            </a:tbl>
          </a:graphicData>
        </a:graphic>
      </p:graphicFrame>
    </p:spTree>
    <p:extLst>
      <p:ext uri="{BB962C8B-B14F-4D97-AF65-F5344CB8AC3E}">
        <p14:creationId xmlns:p14="http://schemas.microsoft.com/office/powerpoint/2010/main" val="367221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A25D-68E7-C411-E0E8-D9544F045093}"/>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0989E63D-D084-E424-38AD-9CA91B440D7C}"/>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1B39A04A-E6FF-AB7A-8E40-C48E9CC32718}"/>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A7246BDA-F756-2D37-22F4-5CBC14A9884F}"/>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99D98A84-25D3-BAE2-8A17-1D952393985E}"/>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ABBEEF75-7406-E5B2-FD23-B2D79F0346DC}"/>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37FB2276-6976-AFED-5944-DFB5594BD0DD}"/>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C738AAD3-27BE-5839-78A1-0C3A4EEB3BC6}"/>
              </a:ext>
            </a:extLst>
          </p:cNvPr>
          <p:cNvSpPr txBox="1"/>
          <p:nvPr/>
        </p:nvSpPr>
        <p:spPr>
          <a:xfrm>
            <a:off x="322838" y="914809"/>
            <a:ext cx="11377784" cy="5847755"/>
          </a:xfrm>
          <a:prstGeom prst="rect">
            <a:avLst/>
          </a:prstGeom>
          <a:noFill/>
        </p:spPr>
        <p:txBody>
          <a:bodyPr wrap="square">
            <a:spAutoFit/>
          </a:bodyPr>
          <a:lstStyle/>
          <a:p>
            <a:r>
              <a:rPr lang="en-GB" sz="1200" b="1" u="sng" dirty="0"/>
              <a:t>Declaring country codes in "country of origin" and "country of preferential origin " when declaring a preference code beginning with "1</a:t>
            </a:r>
          </a:p>
          <a:p>
            <a:r>
              <a:rPr lang="en-GB" sz="1200" i="1" dirty="0"/>
              <a:t>This is in line with existing processes.</a:t>
            </a:r>
          </a:p>
          <a:p>
            <a:endParaRPr lang="en-GB" sz="1200" b="1" u="sng" dirty="0"/>
          </a:p>
          <a:p>
            <a:r>
              <a:rPr lang="en-GB" sz="1200" b="1" dirty="0"/>
              <a:t>Pre-requisites:</a:t>
            </a:r>
          </a:p>
          <a:p>
            <a:pPr marL="342900" indent="-342900">
              <a:buFont typeface="+mj-lt"/>
              <a:buAutoNum type="arabicPeriod"/>
            </a:pPr>
            <a:r>
              <a:rPr lang="en-GB" sz="1200" dirty="0"/>
              <a:t>A type A, B, C, D, E, F, Y, Z Import Declaration (Procedure Category H1, H2, H3, H4, H5 I1 B&amp;E or I1 C&amp;F) has been submitted, arrived or amended.</a:t>
            </a:r>
          </a:p>
          <a:p>
            <a:pPr marL="342900" indent="-342900">
              <a:buFont typeface="+mj-lt"/>
              <a:buAutoNum type="arabicPeriod"/>
            </a:pPr>
            <a:r>
              <a:rPr lang="en-GB" sz="1200" dirty="0"/>
              <a:t>A trader declares a preference code beginning with '1' at item level in DE 4/17.</a:t>
            </a:r>
          </a:p>
          <a:p>
            <a:endParaRPr lang="en-GB" sz="1200" b="1" dirty="0"/>
          </a:p>
          <a:p>
            <a:r>
              <a:rPr lang="en-GB" sz="1200" b="1" dirty="0"/>
              <a:t>CDS will validate and calculate as below:</a:t>
            </a:r>
          </a:p>
          <a:p>
            <a:pPr marL="228600" indent="-228600">
              <a:buFont typeface="+mj-lt"/>
              <a:buAutoNum type="arabicPeriod"/>
            </a:pPr>
            <a:r>
              <a:rPr lang="en-GB" sz="1200" dirty="0"/>
              <a:t>Where a trader declares a 2-character country code in DE 5/15 at item level, CDS will ensure it is a valid country code.</a:t>
            </a:r>
          </a:p>
          <a:p>
            <a:pPr marL="228600" indent="-228600">
              <a:buFont typeface="+mj-lt"/>
              <a:buAutoNum type="arabicPeriod"/>
            </a:pPr>
            <a:r>
              <a:rPr lang="en-GB" sz="1200" dirty="0"/>
              <a:t>Where a trader declares a 2-character country code at item level in DE 5/15 and it is not a valid country code, CDS will reject the declaration and a DMSREJ notification will be sent to the submitter.</a:t>
            </a:r>
          </a:p>
          <a:p>
            <a:pPr marL="228600" indent="-228600">
              <a:buFont typeface="+mj-lt"/>
              <a:buAutoNum type="arabicPeriod"/>
            </a:pPr>
            <a:r>
              <a:rPr lang="en-GB" sz="1200" dirty="0"/>
              <a:t>Where a trader declares a 2-character country code in DE 5/16 at item level, CDS will ensure it is a valid country code.</a:t>
            </a:r>
          </a:p>
          <a:p>
            <a:pPr marL="228600" indent="-228600">
              <a:buFont typeface="+mj-lt"/>
              <a:buAutoNum type="arabicPeriod"/>
            </a:pPr>
            <a:r>
              <a:rPr lang="en-GB" sz="1200" dirty="0"/>
              <a:t>Where a trader declares a 2-character country code at item level in DE 5/16 and it is not a valid country code, CDS will reject the declaration and a DMSREJ notification will be sent to the submitter</a:t>
            </a:r>
          </a:p>
          <a:p>
            <a:endParaRPr lang="en-GB" sz="1200" b="1"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marL="228600" lvl="0" indent="-228600">
              <a:buFont typeface="+mj-lt"/>
              <a:buAutoNum type="arabicPeriod" startAt="5"/>
              <a:defRPr/>
            </a:pPr>
            <a:r>
              <a:rPr lang="en-GB" sz="1200" dirty="0">
                <a:solidFill>
                  <a:prstClr val="black"/>
                </a:solidFill>
              </a:rPr>
              <a:t>All preferential measure types will be validated and calculated on DE 5/16 at item level.</a:t>
            </a:r>
          </a:p>
          <a:p>
            <a:pPr marL="228600" lvl="0" indent="-228600">
              <a:buFont typeface="+mj-lt"/>
              <a:buAutoNum type="arabicPeriod" startAt="5"/>
              <a:defRPr/>
            </a:pPr>
            <a:r>
              <a:rPr lang="en-GB" sz="1200" dirty="0">
                <a:solidFill>
                  <a:prstClr val="black"/>
                </a:solidFill>
              </a:rPr>
              <a:t>All other measures will be validated and calculated based on data element DE 5/15 at item level.</a:t>
            </a:r>
          </a:p>
          <a:p>
            <a:pPr lvl="0">
              <a:defRPr/>
            </a:pPr>
            <a:endParaRPr lang="en-GB" sz="1200" dirty="0">
              <a:solidFill>
                <a:prstClr val="black"/>
              </a:solidFill>
            </a:endParaRPr>
          </a:p>
          <a:p>
            <a:pPr lvl="0">
              <a:defRPr/>
            </a:pPr>
            <a:r>
              <a:rPr lang="en-GB" sz="1200" dirty="0">
                <a:solidFill>
                  <a:prstClr val="black"/>
                </a:solidFill>
              </a:rPr>
              <a:t>If measures cannot be validated or calculated, a DMSREJ notification will be returned to the submitter.</a:t>
            </a:r>
          </a:p>
          <a:p>
            <a:pPr lvl="0">
              <a:defRPr/>
            </a:pPr>
            <a:endParaRPr lang="en-GB" sz="1200" dirty="0">
              <a:solidFill>
                <a:prstClr val="black"/>
              </a:solidFill>
            </a:endParaRPr>
          </a:p>
          <a:p>
            <a:pPr lvl="0">
              <a:defRPr/>
            </a:pPr>
            <a:r>
              <a:rPr lang="en-GB" sz="1200" dirty="0">
                <a:solidFill>
                  <a:prstClr val="black"/>
                </a:solidFill>
              </a:rPr>
              <a:t>Note: When a trader declares a EUPRF in DE 2/2 with a preference code starting with 2, 3 or 4 and declares a preference code starting with 1 in DE 4/17 then traders can declare both DE 5/15 and DE 5/16. Calculation of duties of the 1 series preference code will be processed with the value in DE 5/15 and the calculation of duties for the 2, 3 or 4 series codes will be processed with the value in DE 5/16. </a:t>
            </a:r>
            <a:endParaRPr kumimoji="0" lang="fr-FR" sz="1200" b="1" i="0" u="sng"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sng" strike="noStrike" kern="1200" cap="none" spc="0" normalizeH="0" baseline="0" noProof="0" dirty="0">
              <a:ln>
                <a:noFill/>
              </a:ln>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73331F24-56C9-F6BC-97F1-0C77B8D8419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5E22DA47-5C3C-9A1A-C58F-0F7807854F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13" name="Table 12">
            <a:extLst>
              <a:ext uri="{FF2B5EF4-FFF2-40B4-BE49-F238E27FC236}">
                <a16:creationId xmlns:a16="http://schemas.microsoft.com/office/drawing/2014/main" id="{53386137-C175-C541-966D-A35C4EE97A48}"/>
              </a:ext>
            </a:extLst>
          </p:cNvPr>
          <p:cNvGraphicFramePr>
            <a:graphicFrameLocks noGrp="1"/>
          </p:cNvGraphicFramePr>
          <p:nvPr>
            <p:extLst>
              <p:ext uri="{D42A27DB-BD31-4B8C-83A1-F6EECF244321}">
                <p14:modId xmlns:p14="http://schemas.microsoft.com/office/powerpoint/2010/main" val="1937891571"/>
              </p:ext>
            </p:extLst>
          </p:nvPr>
        </p:nvGraphicFramePr>
        <p:xfrm>
          <a:off x="396721" y="3630228"/>
          <a:ext cx="10742144" cy="1104900"/>
        </p:xfrm>
        <a:graphic>
          <a:graphicData uri="http://schemas.openxmlformats.org/drawingml/2006/table">
            <a:tbl>
              <a:tblPr/>
              <a:tblGrid>
                <a:gridCol w="2685536">
                  <a:extLst>
                    <a:ext uri="{9D8B030D-6E8A-4147-A177-3AD203B41FA5}">
                      <a16:colId xmlns:a16="http://schemas.microsoft.com/office/drawing/2014/main" val="3673362445"/>
                    </a:ext>
                  </a:extLst>
                </a:gridCol>
                <a:gridCol w="2685536">
                  <a:extLst>
                    <a:ext uri="{9D8B030D-6E8A-4147-A177-3AD203B41FA5}">
                      <a16:colId xmlns:a16="http://schemas.microsoft.com/office/drawing/2014/main" val="248947539"/>
                    </a:ext>
                  </a:extLst>
                </a:gridCol>
                <a:gridCol w="2685536">
                  <a:extLst>
                    <a:ext uri="{9D8B030D-6E8A-4147-A177-3AD203B41FA5}">
                      <a16:colId xmlns:a16="http://schemas.microsoft.com/office/drawing/2014/main" val="1763218888"/>
                    </a:ext>
                  </a:extLst>
                </a:gridCol>
                <a:gridCol w="2685536">
                  <a:extLst>
                    <a:ext uri="{9D8B030D-6E8A-4147-A177-3AD203B41FA5}">
                      <a16:colId xmlns:a16="http://schemas.microsoft.com/office/drawing/2014/main" val="2578843772"/>
                    </a:ext>
                  </a:extLst>
                </a:gridCol>
              </a:tblGrid>
              <a:tr h="183154">
                <a:tc>
                  <a:txBody>
                    <a:bodyPr/>
                    <a:lstStyle/>
                    <a:p>
                      <a:pPr algn="l">
                        <a:buNone/>
                      </a:pPr>
                      <a:r>
                        <a:rPr lang="en-GB" sz="1200" b="1" dirty="0">
                          <a:solidFill>
                            <a:schemeClr val="bg1"/>
                          </a:solidFill>
                          <a:effectLst/>
                        </a:rPr>
                        <a:t>Preference Code declared in DE 4/17</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DE 5/15 (Valid 2-character country code)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DE 5/16 (Valid 2-character country code)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tc>
                  <a:txBody>
                    <a:bodyPr/>
                    <a:lstStyle/>
                    <a:p>
                      <a:pPr algn="l">
                        <a:buNone/>
                      </a:pPr>
                      <a:r>
                        <a:rPr lang="en-GB" sz="1200" b="1" dirty="0">
                          <a:solidFill>
                            <a:schemeClr val="bg1"/>
                          </a:solidFill>
                          <a:effectLst/>
                        </a:rPr>
                        <a:t>Outcome</a:t>
                      </a:r>
                      <a:endParaRPr lang="en-GB" sz="1200" dirty="0">
                        <a:solidFill>
                          <a:schemeClr val="bg1"/>
                        </a:solidFill>
                        <a:effectLst/>
                      </a:endParaRPr>
                    </a:p>
                  </a:txBody>
                  <a:tcPr marL="25400" marR="25400" marT="19050" marB="19050" anchor="ctr">
                    <a:lnL>
                      <a:noFill/>
                    </a:lnL>
                    <a:lnR>
                      <a:noFill/>
                    </a:lnR>
                    <a:lnT>
                      <a:noFill/>
                    </a:lnT>
                    <a:lnB>
                      <a:noFill/>
                    </a:lnB>
                    <a:solidFill>
                      <a:srgbClr val="009999"/>
                    </a:solidFill>
                  </a:tcPr>
                </a:tc>
                <a:extLst>
                  <a:ext uri="{0D108BD9-81ED-4DB2-BD59-A6C34878D82A}">
                    <a16:rowId xmlns:a16="http://schemas.microsoft.com/office/drawing/2014/main" val="523398080"/>
                  </a:ext>
                </a:extLst>
              </a:tr>
              <a:tr h="183154">
                <a:tc>
                  <a:txBody>
                    <a:bodyPr/>
                    <a:lstStyle/>
                    <a:p>
                      <a:pPr>
                        <a:buNone/>
                      </a:pPr>
                      <a:r>
                        <a:rPr lang="en-GB" sz="1200" dirty="0">
                          <a:effectLst/>
                        </a:rPr>
                        <a:t>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Accept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3306328422"/>
                  </a:ext>
                </a:extLst>
              </a:tr>
              <a:tr h="183154">
                <a:tc>
                  <a:txBody>
                    <a:bodyPr/>
                    <a:lstStyle/>
                    <a:p>
                      <a:pPr>
                        <a:buNone/>
                      </a:pPr>
                      <a:r>
                        <a:rPr lang="en-GB" sz="1200" dirty="0">
                          <a:effectLst/>
                        </a:rPr>
                        <a:t>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Reject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2817075049"/>
                  </a:ext>
                </a:extLst>
              </a:tr>
              <a:tr h="183154">
                <a:tc>
                  <a:txBody>
                    <a:bodyPr/>
                    <a:lstStyle/>
                    <a:p>
                      <a:pPr>
                        <a:buNone/>
                      </a:pPr>
                      <a:r>
                        <a:rPr lang="en-GB" sz="1200" dirty="0">
                          <a:effectLst/>
                        </a:rPr>
                        <a:t>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Y</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Accept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1858662675"/>
                  </a:ext>
                </a:extLst>
              </a:tr>
              <a:tr h="183154">
                <a:tc>
                  <a:txBody>
                    <a:bodyPr/>
                    <a:lstStyle/>
                    <a:p>
                      <a:pPr>
                        <a:buNone/>
                      </a:pPr>
                      <a:r>
                        <a:rPr lang="en-GB" sz="1200" dirty="0">
                          <a:effectLst/>
                        </a:rPr>
                        <a:t>1XX Series</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N</a:t>
                      </a:r>
                    </a:p>
                  </a:txBody>
                  <a:tcPr marL="25400" marR="25400" marT="19050" marB="19050" anchor="ctr">
                    <a:lnL>
                      <a:noFill/>
                    </a:lnL>
                    <a:lnR>
                      <a:noFill/>
                    </a:lnR>
                    <a:lnT>
                      <a:noFill/>
                    </a:lnT>
                    <a:lnB>
                      <a:noFill/>
                    </a:lnB>
                    <a:solidFill>
                      <a:srgbClr val="CBDCDB"/>
                    </a:solidFill>
                  </a:tcPr>
                </a:tc>
                <a:tc>
                  <a:txBody>
                    <a:bodyPr/>
                    <a:lstStyle/>
                    <a:p>
                      <a:pPr>
                        <a:buNone/>
                      </a:pPr>
                      <a:r>
                        <a:rPr lang="en-GB" sz="1200" dirty="0">
                          <a:effectLst/>
                        </a:rPr>
                        <a:t>Reject</a:t>
                      </a:r>
                    </a:p>
                  </a:txBody>
                  <a:tcPr marL="25400" marR="25400" marT="19050" marB="19050" anchor="ctr">
                    <a:lnL>
                      <a:noFill/>
                    </a:lnL>
                    <a:lnR>
                      <a:noFill/>
                    </a:lnR>
                    <a:lnT>
                      <a:noFill/>
                    </a:lnT>
                    <a:lnB>
                      <a:noFill/>
                    </a:lnB>
                    <a:solidFill>
                      <a:srgbClr val="CBDCDB"/>
                    </a:solidFill>
                  </a:tcPr>
                </a:tc>
                <a:extLst>
                  <a:ext uri="{0D108BD9-81ED-4DB2-BD59-A6C34878D82A}">
                    <a16:rowId xmlns:a16="http://schemas.microsoft.com/office/drawing/2014/main" val="589056188"/>
                  </a:ext>
                </a:extLst>
              </a:tr>
            </a:tbl>
          </a:graphicData>
        </a:graphic>
      </p:graphicFrame>
    </p:spTree>
    <p:extLst>
      <p:ext uri="{BB962C8B-B14F-4D97-AF65-F5344CB8AC3E}">
        <p14:creationId xmlns:p14="http://schemas.microsoft.com/office/powerpoint/2010/main" val="2110375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76A06-6561-3E04-BB1F-A9D9CC09C053}"/>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B678EB8F-9867-1E80-1DB4-DEDCB62CCEC3}"/>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9D49DB8B-8F53-B9EB-1309-C58E227B9CD1}"/>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FD60BE8B-8DFA-B6E8-C89E-0C34486EB167}"/>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4E531107-0CA8-964E-10F7-9878E56609D3}"/>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19E2CC0F-BF21-9B7A-0753-61911D662C3E}"/>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C6EF9DEE-1B69-BB70-DC66-CAF5FC2C0850}"/>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89870D66-ABB5-ED1E-D176-0E1828CDC674}"/>
              </a:ext>
            </a:extLst>
          </p:cNvPr>
          <p:cNvSpPr txBox="1"/>
          <p:nvPr/>
        </p:nvSpPr>
        <p:spPr>
          <a:xfrm>
            <a:off x="219471" y="954650"/>
            <a:ext cx="11377784" cy="5847755"/>
          </a:xfrm>
          <a:prstGeom prst="rect">
            <a:avLst/>
          </a:prstGeom>
          <a:noFill/>
        </p:spPr>
        <p:txBody>
          <a:bodyPr wrap="square">
            <a:spAutoFit/>
          </a:bodyPr>
          <a:lstStyle/>
          <a:p>
            <a:pPr lvl="0"/>
            <a:r>
              <a:rPr lang="en-GB" sz="1400" b="1" u="sng" dirty="0"/>
              <a:t>CERTEX 4.1 Import/Export - Live Issue - Incorrect License Format</a:t>
            </a:r>
          </a:p>
          <a:p>
            <a:pPr lvl="0"/>
            <a:endParaRPr kumimoji="0" lang="en-GB" sz="1200" i="0" strike="noStrike" kern="1200" cap="none" spc="0" normalizeH="0" baseline="0" noProof="0" dirty="0">
              <a:ln>
                <a:noFill/>
              </a:ln>
              <a:solidFill>
                <a:prstClr val="black"/>
              </a:solidFill>
              <a:effectLst/>
              <a:uLnTx/>
              <a:uFillTx/>
              <a:latin typeface="Calibri" panose="020F0502020204030204"/>
              <a:ea typeface="+mn-ea"/>
              <a:cs typeface="+mn-cs"/>
            </a:endParaRPr>
          </a:p>
          <a:p>
            <a:pPr lvl="0"/>
            <a:r>
              <a:rPr lang="en-GB" sz="1200" dirty="0">
                <a:solidFill>
                  <a:prstClr val="black"/>
                </a:solidFill>
                <a:latin typeface="Calibri" panose="020F0502020204030204"/>
              </a:rPr>
              <a:t>CDS will </a:t>
            </a:r>
            <a:r>
              <a:rPr lang="en-GB" sz="1200" dirty="0"/>
              <a:t>introduce the functionality of enabling format pattern validation for several CERTEX licenses.</a:t>
            </a:r>
          </a:p>
          <a:p>
            <a:pPr lvl="0"/>
            <a:endParaRPr kumimoji="0" lang="en-GB" sz="1200" i="0" strike="noStrike" kern="1200" cap="none" spc="0" normalizeH="0" baseline="0" noProof="0" dirty="0">
              <a:ln>
                <a:noFill/>
              </a:ln>
              <a:solidFill>
                <a:prstClr val="black"/>
              </a:solidFill>
              <a:effectLst/>
              <a:uLnTx/>
              <a:uFillTx/>
              <a:latin typeface="Calibri" panose="020F0502020204030204"/>
              <a:ea typeface="+mn-ea"/>
              <a:cs typeface="+mn-cs"/>
            </a:endParaRPr>
          </a:p>
          <a:p>
            <a:pPr lvl="0"/>
            <a:r>
              <a:rPr lang="en-GB" sz="1200" b="1" u="sng" dirty="0">
                <a:solidFill>
                  <a:prstClr val="black"/>
                </a:solidFill>
                <a:latin typeface="Calibri" panose="020F0502020204030204"/>
              </a:rPr>
              <a:t>Validating CERTEX Document References</a:t>
            </a:r>
          </a:p>
          <a:p>
            <a:pPr lvl="0"/>
            <a:endParaRPr kumimoji="0" lang="en-GB" sz="1200" i="0" strike="noStrike" kern="1200" cap="none" spc="0" normalizeH="0" baseline="0" noProof="0" dirty="0">
              <a:ln>
                <a:noFill/>
              </a:ln>
              <a:solidFill>
                <a:prstClr val="black"/>
              </a:solidFill>
              <a:effectLst/>
              <a:uLnTx/>
              <a:uFillTx/>
              <a:latin typeface="Calibri" panose="020F0502020204030204"/>
              <a:ea typeface="+mn-ea"/>
              <a:cs typeface="+mn-cs"/>
            </a:endParaRPr>
          </a:p>
          <a:p>
            <a:pPr lvl="0"/>
            <a:r>
              <a:rPr lang="en-GB" sz="1200" b="1" dirty="0">
                <a:solidFill>
                  <a:prstClr val="black"/>
                </a:solidFill>
                <a:latin typeface="Calibri" panose="020F0502020204030204"/>
              </a:rPr>
              <a:t>Pre-requisites:</a:t>
            </a:r>
          </a:p>
          <a:p>
            <a:pPr marL="342900" indent="-342900">
              <a:buFont typeface="+mj-lt"/>
              <a:buAutoNum type="arabicPeriod"/>
            </a:pPr>
            <a:r>
              <a:rPr lang="en-GB" sz="1200" dirty="0"/>
              <a:t>A Northern Ireland declaration has been submitted, accepted and validated by CDS (identified when any of the codes NIIMP, NIDOM or NIEXP are declared in DE 2/2). </a:t>
            </a:r>
          </a:p>
          <a:p>
            <a:pPr marL="342900" indent="-342900">
              <a:buFont typeface="+mj-lt"/>
              <a:buAutoNum type="arabicPeriod"/>
            </a:pPr>
            <a:r>
              <a:rPr lang="en-GB" sz="1200" dirty="0"/>
              <a:t>The status code used against the document code is not ‘XX’ or ‘XW’.</a:t>
            </a:r>
          </a:p>
          <a:p>
            <a:pPr marL="342900" indent="-342900">
              <a:buFont typeface="+mj-lt"/>
              <a:buAutoNum type="arabicPeriod"/>
            </a:pPr>
            <a:r>
              <a:rPr lang="en-GB" sz="1200" dirty="0"/>
              <a:t>The declaration from Pre-Requisite 1 contains a PCA (OGD) document (see table below) which requires a CERTEX Check, defined by declaring any of the following document codes in DE 2/3:  </a:t>
            </a:r>
          </a:p>
          <a:p>
            <a:pPr marL="342900" indent="-342900">
              <a:buFont typeface="+mj-lt"/>
              <a:buAutoNum type="arabicPeriod"/>
            </a:pPr>
            <a:endParaRPr lang="en-GB" sz="1200" dirty="0"/>
          </a:p>
          <a:p>
            <a:pPr marL="342900" indent="-342900">
              <a:buFont typeface="+mj-lt"/>
              <a:buAutoNum type="arabicPeriod"/>
            </a:pPr>
            <a:endParaRPr lang="en-GB" sz="1200" dirty="0"/>
          </a:p>
          <a:p>
            <a:pPr marL="342900" indent="-342900">
              <a:buFont typeface="+mj-lt"/>
              <a:buAutoNum type="arabicPeriod"/>
            </a:pPr>
            <a:endParaRPr lang="en-GB" sz="1200" dirty="0"/>
          </a:p>
          <a:p>
            <a:pPr marL="342900" indent="-342900">
              <a:buFont typeface="+mj-lt"/>
              <a:buAutoNum type="arabicPeriod"/>
            </a:pPr>
            <a:endParaRPr lang="en-GB" sz="1200" dirty="0"/>
          </a:p>
          <a:p>
            <a:pPr marL="342900" indent="-342900">
              <a:buFont typeface="+mj-lt"/>
              <a:buAutoNum type="arabicPeriod"/>
            </a:pPr>
            <a:endParaRPr lang="en-GB" sz="1200" dirty="0"/>
          </a:p>
          <a:p>
            <a:pPr marL="342900" indent="-342900">
              <a:buFont typeface="+mj-lt"/>
              <a:buAutoNum type="arabicPeriod"/>
            </a:pPr>
            <a:endParaRPr lang="en-GB" sz="1200" dirty="0"/>
          </a:p>
          <a:p>
            <a:pPr marL="342900" indent="-342900">
              <a:buFont typeface="+mj-lt"/>
              <a:buAutoNum type="arabicPeriod"/>
            </a:pPr>
            <a:endParaRPr lang="en-GB" sz="1200" dirty="0"/>
          </a:p>
          <a:p>
            <a:endParaRPr lang="en-GB" sz="1200" dirty="0"/>
          </a:p>
          <a:p>
            <a:endParaRPr lang="en-GB" sz="1200" dirty="0"/>
          </a:p>
          <a:p>
            <a:r>
              <a:rPr lang="en-GB" sz="1200" b="1" dirty="0"/>
              <a:t>CDS will then validate on the below conditions: </a:t>
            </a:r>
          </a:p>
          <a:p>
            <a:pPr marL="228600" indent="-228600">
              <a:buAutoNum type="arabicPeriod"/>
            </a:pPr>
            <a:r>
              <a:rPr lang="en-GB" sz="1200" dirty="0"/>
              <a:t>When one of the relevant document codes is entered in DE 2/3, the format of the document reference will be validated as per the specific format schema for the relevant document code as per this format COI.XX.YYYY.nnnnnnn: </a:t>
            </a:r>
          </a:p>
          <a:p>
            <a:r>
              <a:rPr lang="en-GB" sz="1200" dirty="0"/>
              <a:t>	Where document code ‘C644’ is entered in DE 2/3 the format of the document reference must be as follows:</a:t>
            </a:r>
          </a:p>
          <a:p>
            <a:pPr marL="1085850" lvl="2" indent="-171450">
              <a:buFont typeface="Arial" panose="020B0604020202020204" pitchFamily="34" charset="0"/>
              <a:buChar char="•"/>
            </a:pPr>
            <a:r>
              <a:rPr lang="en-GB" sz="1200" dirty="0"/>
              <a:t>‘COI’ must be entered as the first three characters</a:t>
            </a:r>
          </a:p>
          <a:p>
            <a:pPr marL="1085850" lvl="2" indent="-171450">
              <a:buFont typeface="Arial" panose="020B0604020202020204" pitchFamily="34" charset="0"/>
              <a:buChar char="•"/>
            </a:pPr>
            <a:r>
              <a:rPr lang="en-GB" sz="1200" dirty="0"/>
              <a:t>The second two characters must be the country of exports code list in DE 2/3 </a:t>
            </a:r>
          </a:p>
          <a:p>
            <a:pPr marL="1085850" lvl="2" indent="-171450">
              <a:buFont typeface="Arial" panose="020B0604020202020204" pitchFamily="34" charset="0"/>
              <a:buChar char="•"/>
            </a:pPr>
            <a:r>
              <a:rPr lang="en-GB" sz="1200" dirty="0"/>
              <a:t>Year of issuing the license (4 numeric)</a:t>
            </a:r>
          </a:p>
          <a:p>
            <a:pPr marL="1085850" lvl="2" indent="-171450">
              <a:buFont typeface="Arial" panose="020B0604020202020204" pitchFamily="34" charset="0"/>
              <a:buChar char="•"/>
            </a:pPr>
            <a:r>
              <a:rPr lang="en-GB" sz="1200" dirty="0"/>
              <a:t>Generic system number (7 numeric) </a:t>
            </a:r>
          </a:p>
          <a:p>
            <a:pPr marL="1085850" lvl="2" indent="-171450">
              <a:buFont typeface="Arial" panose="020B0604020202020204" pitchFamily="34" charset="0"/>
              <a:buChar char="•"/>
            </a:pPr>
            <a:r>
              <a:rPr lang="en-GB" sz="1200" dirty="0"/>
              <a:t>In case of COI Extract Certificate (C644), The COI format will allow for '/mm' (numeric value), but it is not required. The format is therefore allowed to be ‘COI.XX.YYYY.nnnnnnn/mm’.</a:t>
            </a:r>
          </a:p>
        </p:txBody>
      </p:sp>
      <p:sp>
        <p:nvSpPr>
          <p:cNvPr id="28" name="Footer Placeholder 27">
            <a:extLst>
              <a:ext uri="{FF2B5EF4-FFF2-40B4-BE49-F238E27FC236}">
                <a16:creationId xmlns:a16="http://schemas.microsoft.com/office/drawing/2014/main" id="{CA6A0FC6-2FC0-9598-9DE9-6ACAB4CF9A7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0472E022-650A-8066-97BA-9B245CB377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12" name="Table 11">
            <a:extLst>
              <a:ext uri="{FF2B5EF4-FFF2-40B4-BE49-F238E27FC236}">
                <a16:creationId xmlns:a16="http://schemas.microsoft.com/office/drawing/2014/main" id="{F46E1E6E-1500-1865-19C5-1787EDD50970}"/>
              </a:ext>
            </a:extLst>
          </p:cNvPr>
          <p:cNvGraphicFramePr>
            <a:graphicFrameLocks noGrp="1"/>
          </p:cNvGraphicFramePr>
          <p:nvPr>
            <p:extLst>
              <p:ext uri="{D42A27DB-BD31-4B8C-83A1-F6EECF244321}">
                <p14:modId xmlns:p14="http://schemas.microsoft.com/office/powerpoint/2010/main" val="1386820719"/>
              </p:ext>
            </p:extLst>
          </p:nvPr>
        </p:nvGraphicFramePr>
        <p:xfrm>
          <a:off x="339635" y="3139071"/>
          <a:ext cx="7962359" cy="1325880"/>
        </p:xfrm>
        <a:graphic>
          <a:graphicData uri="http://schemas.openxmlformats.org/drawingml/2006/table">
            <a:tbl>
              <a:tblPr/>
              <a:tblGrid>
                <a:gridCol w="2219545">
                  <a:extLst>
                    <a:ext uri="{9D8B030D-6E8A-4147-A177-3AD203B41FA5}">
                      <a16:colId xmlns:a16="http://schemas.microsoft.com/office/drawing/2014/main" val="3010502606"/>
                    </a:ext>
                  </a:extLst>
                </a:gridCol>
                <a:gridCol w="5742814">
                  <a:extLst>
                    <a:ext uri="{9D8B030D-6E8A-4147-A177-3AD203B41FA5}">
                      <a16:colId xmlns:a16="http://schemas.microsoft.com/office/drawing/2014/main" val="890639438"/>
                    </a:ext>
                  </a:extLst>
                </a:gridCol>
              </a:tblGrid>
              <a:tr h="125100">
                <a:tc>
                  <a:txBody>
                    <a:bodyPr/>
                    <a:lstStyle/>
                    <a:p>
                      <a:pPr>
                        <a:buNone/>
                      </a:pPr>
                      <a:r>
                        <a:rPr lang="en-GB" sz="1200" b="1" dirty="0">
                          <a:solidFill>
                            <a:schemeClr val="bg1"/>
                          </a:solidFill>
                          <a:effectLst/>
                        </a:rPr>
                        <a:t>PCA (OGD) Document Type</a:t>
                      </a:r>
                      <a:r>
                        <a:rPr lang="en-GB" sz="1200" dirty="0">
                          <a:solidFill>
                            <a:schemeClr val="bg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tc>
                  <a:txBody>
                    <a:bodyPr/>
                    <a:lstStyle/>
                    <a:p>
                      <a:pPr>
                        <a:buNone/>
                      </a:pPr>
                      <a:r>
                        <a:rPr lang="en-GB" sz="1200" b="1" dirty="0">
                          <a:solidFill>
                            <a:schemeClr val="bg1"/>
                          </a:solidFill>
                          <a:effectLst/>
                        </a:rPr>
                        <a:t>Document Code (DE 2/3)</a:t>
                      </a:r>
                      <a:r>
                        <a:rPr lang="en-GB" sz="1200" dirty="0">
                          <a:solidFill>
                            <a:schemeClr val="bg1"/>
                          </a:solidFill>
                          <a:effectLst/>
                        </a:rPr>
                        <a:t>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009999"/>
                    </a:solidFill>
                  </a:tcPr>
                </a:tc>
                <a:extLst>
                  <a:ext uri="{0D108BD9-81ED-4DB2-BD59-A6C34878D82A}">
                    <a16:rowId xmlns:a16="http://schemas.microsoft.com/office/drawing/2014/main" val="173559342"/>
                  </a:ext>
                </a:extLst>
              </a:tr>
              <a:tr h="125100">
                <a:tc>
                  <a:txBody>
                    <a:bodyPr/>
                    <a:lstStyle/>
                    <a:p>
                      <a:pPr>
                        <a:buNone/>
                      </a:pPr>
                      <a:r>
                        <a:rPr lang="en-GB" sz="1200" dirty="0">
                          <a:effectLst/>
                        </a:rPr>
                        <a:t>ODS Imports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L100</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775448397"/>
                  </a:ext>
                </a:extLst>
              </a:tr>
              <a:tr h="125100">
                <a:tc>
                  <a:txBody>
                    <a:bodyPr/>
                    <a:lstStyle/>
                    <a:p>
                      <a:pPr>
                        <a:buNone/>
                      </a:pPr>
                      <a:r>
                        <a:rPr lang="en-GB" sz="1200" dirty="0">
                          <a:effectLst/>
                        </a:rPr>
                        <a:t>ODS Exports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E013</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3471766639"/>
                  </a:ext>
                </a:extLst>
              </a:tr>
              <a:tr h="125100">
                <a:tc>
                  <a:txBody>
                    <a:bodyPr/>
                    <a:lstStyle/>
                    <a:p>
                      <a:pPr>
                        <a:buNone/>
                      </a:pPr>
                      <a:r>
                        <a:rPr lang="en-GB" sz="1200" dirty="0">
                          <a:effectLst/>
                        </a:rPr>
                        <a:t>COI Imports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C644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3872034779"/>
                  </a:ext>
                </a:extLst>
              </a:tr>
              <a:tr h="125100">
                <a:tc>
                  <a:txBody>
                    <a:bodyPr/>
                    <a:lstStyle/>
                    <a:p>
                      <a:pPr>
                        <a:buNone/>
                      </a:pPr>
                      <a:r>
                        <a:rPr lang="en-GB" sz="1200" dirty="0">
                          <a:effectLst/>
                        </a:rPr>
                        <a:t>CHED Imports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C678, C640, N853, C085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2379797877"/>
                  </a:ext>
                </a:extLst>
              </a:tr>
              <a:tr h="125100">
                <a:tc>
                  <a:txBody>
                    <a:bodyPr/>
                    <a:lstStyle/>
                    <a:p>
                      <a:pPr>
                        <a:buNone/>
                      </a:pPr>
                      <a:r>
                        <a:rPr lang="en-GB" sz="1200" dirty="0">
                          <a:effectLst/>
                        </a:rPr>
                        <a:t>ICG Imports  </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tc>
                  <a:txBody>
                    <a:bodyPr/>
                    <a:lstStyle/>
                    <a:p>
                      <a:pPr>
                        <a:buNone/>
                      </a:pPr>
                      <a:r>
                        <a:rPr lang="en-GB" sz="1200" dirty="0">
                          <a:effectLst/>
                        </a:rPr>
                        <a:t>L049, L050, L065</a:t>
                      </a:r>
                    </a:p>
                  </a:txBody>
                  <a:tcPr marL="25400" marR="25400" marT="19050" marB="19050" anchor="ctr">
                    <a:lnL w="6350" cap="flat" cmpd="sng" algn="ctr">
                      <a:solidFill>
                        <a:srgbClr val="C1C7D0"/>
                      </a:solidFill>
                      <a:prstDash val="solid"/>
                      <a:round/>
                      <a:headEnd type="none" w="med" len="med"/>
                      <a:tailEnd type="none" w="med" len="med"/>
                    </a:lnL>
                    <a:lnR w="6350" cap="flat" cmpd="sng" algn="ctr">
                      <a:solidFill>
                        <a:srgbClr val="C1C7D0"/>
                      </a:solidFill>
                      <a:prstDash val="solid"/>
                      <a:round/>
                      <a:headEnd type="none" w="med" len="med"/>
                      <a:tailEnd type="none" w="med" len="med"/>
                    </a:lnR>
                    <a:lnT w="6350" cap="flat" cmpd="sng" algn="ctr">
                      <a:solidFill>
                        <a:srgbClr val="C1C7D0"/>
                      </a:solidFill>
                      <a:prstDash val="solid"/>
                      <a:round/>
                      <a:headEnd type="none" w="med" len="med"/>
                      <a:tailEnd type="none" w="med" len="med"/>
                    </a:lnT>
                    <a:lnB w="6350" cap="flat" cmpd="sng" algn="ctr">
                      <a:solidFill>
                        <a:srgbClr val="C1C7D0"/>
                      </a:solidFill>
                      <a:prstDash val="solid"/>
                      <a:round/>
                      <a:headEnd type="none" w="med" len="med"/>
                      <a:tailEnd type="none" w="med" len="med"/>
                    </a:lnB>
                    <a:solidFill>
                      <a:srgbClr val="CBDCDB"/>
                    </a:solidFill>
                  </a:tcPr>
                </a:tc>
                <a:extLst>
                  <a:ext uri="{0D108BD9-81ED-4DB2-BD59-A6C34878D82A}">
                    <a16:rowId xmlns:a16="http://schemas.microsoft.com/office/drawing/2014/main" val="492979305"/>
                  </a:ext>
                </a:extLst>
              </a:tr>
            </a:tbl>
          </a:graphicData>
        </a:graphic>
      </p:graphicFrame>
    </p:spTree>
    <p:extLst>
      <p:ext uri="{BB962C8B-B14F-4D97-AF65-F5344CB8AC3E}">
        <p14:creationId xmlns:p14="http://schemas.microsoft.com/office/powerpoint/2010/main" val="190099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4A43B-0C18-B5D5-4579-D7272377F1EA}"/>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6B3151FF-1E9B-FDC3-962A-DA337CFDA3E5}"/>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2D5BA460-AA49-EA67-AA74-6FC416292A97}"/>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1BD9E277-20C6-1F23-69B1-944E60278266}"/>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714F5AB5-2FFE-EFCD-6863-502844AA0DFB}"/>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FB9D5ED4-A067-E9E7-2EA6-E650AA6354F0}"/>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C8734253-3A88-E622-8263-D159D350579A}"/>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403C708F-1FD6-CF78-8E10-909FDBFC233E}"/>
              </a:ext>
            </a:extLst>
          </p:cNvPr>
          <p:cNvSpPr txBox="1"/>
          <p:nvPr/>
        </p:nvSpPr>
        <p:spPr>
          <a:xfrm>
            <a:off x="219471" y="954650"/>
            <a:ext cx="11377784" cy="6370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dirty="0">
                <a:ln>
                  <a:noFill/>
                </a:ln>
                <a:solidFill>
                  <a:prstClr val="black"/>
                </a:solidFill>
                <a:effectLst/>
                <a:uLnTx/>
                <a:uFillTx/>
                <a:latin typeface="Calibri" panose="020F0502020204030204"/>
                <a:ea typeface="+mn-ea"/>
                <a:cs typeface="+mn-cs"/>
              </a:rPr>
              <a:t>Validating CERTEX Document References (continued)</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2. Where document code 'L100' is entered in DE 2/3, the format of the document reference has the</a:t>
            </a:r>
            <a:r>
              <a:rPr lang="en-GB" sz="1200" dirty="0">
                <a:solidFill>
                  <a:prstClr val="black"/>
                </a:solidFill>
                <a:latin typeface="Calibri" panose="020F0502020204030204"/>
              </a:rPr>
              <a:t> below conditions (</a:t>
            </a:r>
            <a:r>
              <a:rPr lang="en-GB" sz="1200" dirty="0">
                <a:solidFill>
                  <a:prstClr val="black"/>
                </a:solidFill>
              </a:rPr>
              <a:t>see </a:t>
            </a:r>
            <a:r>
              <a:rPr lang="en-GB" sz="1200" dirty="0">
                <a:solidFill>
                  <a:prstClr val="black"/>
                </a:solidFill>
                <a:hlinkClick r:id="rId2" action="ppaction://hlinksldjump"/>
              </a:rPr>
              <a:t>note 1 </a:t>
            </a:r>
            <a:r>
              <a:rPr lang="en-GB" sz="1200" dirty="0">
                <a:solidFill>
                  <a:prstClr val="black"/>
                </a:solidFill>
              </a:rPr>
              <a:t>for example):</a:t>
            </a:r>
          </a:p>
          <a:p>
            <a:pPr marR="0" lvl="0" algn="l" defTabSz="9144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'IMP' must be entered as the first three characters</a:t>
            </a:r>
          </a:p>
          <a:p>
            <a:pPr marL="628650" lvl="1" indent="-171450">
              <a:buFont typeface="Arial" panose="020B0604020202020204" pitchFamily="34" charset="0"/>
              <a:buChar char="•"/>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second group of characters can have a length from 4-8 characters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third group of characters must refer to the type of Import license - 4 ALPHA [example: IPEA / ILAB]</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Year of issuing the license (4 digits numeric)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Generic system number (8 digits numeric)</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3. Where document code 'E013' is entered in DE 2/3, the format of the document reference has the </a:t>
            </a:r>
            <a:r>
              <a:rPr lang="en-GB" sz="1200" dirty="0">
                <a:solidFill>
                  <a:prstClr val="black"/>
                </a:solidFill>
              </a:rPr>
              <a:t>below conditions (see </a:t>
            </a:r>
            <a:r>
              <a:rPr lang="en-GB" sz="1200" dirty="0">
                <a:solidFill>
                  <a:prstClr val="black"/>
                </a:solidFill>
                <a:hlinkClick r:id="rId2" action="ppaction://hlinksldjump"/>
              </a:rPr>
              <a:t>note 2 </a:t>
            </a:r>
            <a:r>
              <a:rPr lang="en-GB" sz="1200" dirty="0">
                <a:solidFill>
                  <a:prstClr val="black"/>
                </a:solidFill>
              </a:rPr>
              <a:t>for 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'EXP' must be entered as the first three characters</a:t>
            </a:r>
          </a:p>
          <a:p>
            <a:pPr marL="628650" lvl="1" indent="-171450">
              <a:buFont typeface="Arial" panose="020B0604020202020204" pitchFamily="34" charset="0"/>
              <a:buChar char="•"/>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second group of characters can have a length from 4-8 characters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third group of characters must refer to the type of Export license - 4 ALPHA [example: ECHO / ECUH / ELAB]</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Year of issuing the license (4 digits numeric)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Generic system number (8 digits numeric)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4. Where document code ‘L049’, ‘L050’, 'L065' is entered in DE 2/3, the format of the document reference must be ICG_TYPE.XX.YYYY.nnnnnnn and it can end with R or V where: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ICG_TYPE is the type of Cultural Goods document: ICGL, ICGS or ICGD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XX is the country of issuance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YYYY is the year of issuing the license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Generic system number (7 digits numeric)</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5. Where document code 'C678’, ‘C640’, ‘N853’, ‘C085’ is entered in DE 2/3, the format of the document reference must be CHED_TYPE.XX.YYYY.nnnnnnn and it can end with R or V where: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CHED_TYPE is the type of certificate: CHEDPP / CHEDD / CHEDA / CHEDP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XX is the country of issuance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YYYY is the year of issuing the license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Generic system number (7 digits numeric)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94B8AF7A-808D-9937-55F0-E4AF806C1DE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63989902-D0B3-3803-E846-C34F7139A2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0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6C162-E3B4-7F84-3717-4CAC8520F8F2}"/>
            </a:ext>
          </a:extLst>
        </p:cNvPr>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B87C454D-B9DA-3D76-05FF-012953ACDB08}"/>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B06D1F0A-EBBE-24DC-9DBE-BDAD0DA014EB}"/>
              </a:ext>
            </a:extLst>
          </p:cNvPr>
          <p:cNvCxnSpPr/>
          <p:nvPr/>
        </p:nvCxnSpPr>
        <p:spPr>
          <a:xfrm>
            <a:off x="322838" y="-24121"/>
            <a:ext cx="0" cy="422049"/>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A230E0CF-E2F8-BA87-0C5F-C1A3CBC749F9}"/>
              </a:ext>
            </a:extLst>
          </p:cNvPr>
          <p:cNvSpPr txBox="1"/>
          <p:nvPr/>
        </p:nvSpPr>
        <p:spPr>
          <a:xfrm>
            <a:off x="339635" y="90150"/>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1" i="0" u="none" strike="noStrike" kern="1200" cap="none" spc="50" normalizeH="0" baseline="0" noProof="0" dirty="0">
                <a:ln>
                  <a:noFill/>
                </a:ln>
                <a:solidFill>
                  <a:srgbClr val="A6A6A6"/>
                </a:solidFill>
                <a:effectLst/>
                <a:uLnTx/>
                <a:uFillTx/>
                <a:latin typeface="Calibri"/>
                <a:ea typeface="+mn-ea"/>
                <a:cs typeface="+mn-cs"/>
              </a:rPr>
              <a:t>RELEASE SCOPE GUIDANCE</a:t>
            </a:r>
          </a:p>
        </p:txBody>
      </p:sp>
      <p:sp>
        <p:nvSpPr>
          <p:cNvPr id="5" name="Rectangle 7">
            <a:extLst>
              <a:ext uri="{FF2B5EF4-FFF2-40B4-BE49-F238E27FC236}">
                <a16:creationId xmlns:a16="http://schemas.microsoft.com/office/drawing/2014/main" id="{09B92EDB-3105-2CB3-5934-ECD9CC34771E}"/>
              </a:ext>
            </a:extLst>
          </p:cNvPr>
          <p:cNvSpPr/>
          <p:nvPr/>
        </p:nvSpPr>
        <p:spPr>
          <a:xfrm>
            <a:off x="339635" y="397928"/>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0" cap="none" spc="0" normalizeH="0" baseline="0" noProof="0" dirty="0">
                <a:ln>
                  <a:noFill/>
                </a:ln>
                <a:solidFill>
                  <a:srgbClr val="FFFFFF"/>
                </a:solidFill>
                <a:effectLst/>
                <a:uLnTx/>
                <a:uFillTx/>
                <a:latin typeface="Calibri"/>
                <a:ea typeface="+mn-ea"/>
                <a:cs typeface="+mn-cs"/>
              </a:rPr>
              <a:t>New Release Functionality</a:t>
            </a:r>
          </a:p>
        </p:txBody>
      </p:sp>
      <p:sp>
        <p:nvSpPr>
          <p:cNvPr id="6" name="Rectangle 3">
            <a:extLst>
              <a:ext uri="{FF2B5EF4-FFF2-40B4-BE49-F238E27FC236}">
                <a16:creationId xmlns:a16="http://schemas.microsoft.com/office/drawing/2014/main" id="{508149B1-EECB-BDDF-3403-5984BF2D13B1}"/>
              </a:ext>
            </a:extLst>
          </p:cNvPr>
          <p:cNvSpPr/>
          <p:nvPr/>
        </p:nvSpPr>
        <p:spPr>
          <a:xfrm>
            <a:off x="592183" y="4358734"/>
            <a:ext cx="64" cy="242352"/>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 name="Rectangle 2">
            <a:extLst>
              <a:ext uri="{FF2B5EF4-FFF2-40B4-BE49-F238E27FC236}">
                <a16:creationId xmlns:a16="http://schemas.microsoft.com/office/drawing/2014/main" id="{27BDE803-9086-D563-5426-A64E6E799046}"/>
              </a:ext>
            </a:extLst>
          </p:cNvPr>
          <p:cNvSpPr/>
          <p:nvPr/>
        </p:nvSpPr>
        <p:spPr>
          <a:xfrm>
            <a:off x="396721" y="2711708"/>
            <a:ext cx="64" cy="611687"/>
          </a:xfrm>
          <a:prstGeom prst="rect">
            <a:avLst/>
          </a:prstGeom>
          <a:solidFill>
            <a:srgbClr val="FFFFFF"/>
          </a:solidFill>
          <a:ln cap="flat">
            <a:noFill/>
            <a:prstDash val="solid"/>
          </a:ln>
        </p:spPr>
        <p:txBody>
          <a:bodyPr vert="horz" wrap="none" lIns="0" tIns="57131" rIns="0" bIns="0" anchor="ctr"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800" b="0" i="0" u="none" strike="noStrike" kern="1200" cap="none" spc="0" normalizeH="0" baseline="0" noProof="0" dirty="0">
              <a:ln>
                <a:noFill/>
              </a:ln>
              <a:solidFill>
                <a:srgbClr val="000000"/>
              </a:solidFill>
              <a:effectLst/>
              <a:uLnTx/>
              <a:uFillTx/>
              <a:latin typeface="Arial" pitchFamily="34"/>
              <a:ea typeface="+mn-ea"/>
              <a:cs typeface="+mn-cs"/>
            </a:endParaRPr>
          </a:p>
        </p:txBody>
      </p:sp>
      <p:sp>
        <p:nvSpPr>
          <p:cNvPr id="8" name="TextBox 7">
            <a:extLst>
              <a:ext uri="{FF2B5EF4-FFF2-40B4-BE49-F238E27FC236}">
                <a16:creationId xmlns:a16="http://schemas.microsoft.com/office/drawing/2014/main" id="{B354280C-6CC1-EE7D-5458-276BB6A5DFC4}"/>
              </a:ext>
            </a:extLst>
          </p:cNvPr>
          <p:cNvSpPr txBox="1"/>
          <p:nvPr/>
        </p:nvSpPr>
        <p:spPr>
          <a:xfrm>
            <a:off x="219471" y="954650"/>
            <a:ext cx="11377784"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dirty="0">
                <a:ln>
                  <a:noFill/>
                </a:ln>
                <a:solidFill>
                  <a:prstClr val="black"/>
                </a:solidFill>
                <a:effectLst/>
                <a:uLnTx/>
                <a:uFillTx/>
                <a:latin typeface="Calibri" panose="020F0502020204030204"/>
                <a:ea typeface="+mn-ea"/>
                <a:cs typeface="+mn-cs"/>
              </a:rPr>
              <a:t>Notifying the trader when an </a:t>
            </a:r>
            <a:r>
              <a:rPr lang="en-GB" sz="1200" b="1" u="sng" dirty="0">
                <a:solidFill>
                  <a:prstClr val="black"/>
                </a:solidFill>
                <a:latin typeface="Calibri" panose="020F0502020204030204"/>
              </a:rPr>
              <a:t>incorrect format reference is applied on a declaration</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r>
              <a:rPr lang="en-GB" sz="1200" dirty="0"/>
              <a:t>Where any of the validation under 1-5 is not met, the trader will be notified via a DMSQRY to indicate that there is an incorrect format pattern on their license code within the declaration. </a:t>
            </a:r>
          </a:p>
          <a:p>
            <a:pPr lvl="0"/>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r>
              <a:rPr lang="en-GB" sz="1200" dirty="0">
                <a:solidFill>
                  <a:prstClr val="black"/>
                </a:solidFill>
                <a:latin typeface="Calibri" panose="020F0502020204030204"/>
              </a:rPr>
              <a:t>DMSQRY will contain the below details to the trader: </a:t>
            </a:r>
          </a:p>
          <a:p>
            <a:pPr lvl="0"/>
            <a:endParaRPr lang="en-GB" sz="1200" dirty="0">
              <a:solidFill>
                <a:prstClr val="black"/>
              </a:solidFill>
              <a:latin typeface="Calibri" panose="020F0502020204030204"/>
            </a:endParaRPr>
          </a:p>
          <a:p>
            <a:pPr lvl="0"/>
            <a:endParaRPr lang="en-GB" sz="1200" dirty="0">
              <a:solidFill>
                <a:prstClr val="black"/>
              </a:solidFill>
              <a:latin typeface="Calibri" panose="020F0502020204030204"/>
            </a:endParaRPr>
          </a:p>
          <a:p>
            <a:pPr lvl="0"/>
            <a:endParaRPr lang="en-GB" sz="1200" dirty="0">
              <a:solidFill>
                <a:prstClr val="black"/>
              </a:solidFill>
              <a:latin typeface="Calibri" panose="020F0502020204030204"/>
            </a:endParaRPr>
          </a:p>
          <a:p>
            <a:pPr lvl="0"/>
            <a:endParaRPr lang="en-GB" sz="1200" dirty="0">
              <a:solidFill>
                <a:prstClr val="black"/>
              </a:solidFill>
              <a:latin typeface="Calibri" panose="020F0502020204030204"/>
            </a:endParaRPr>
          </a:p>
          <a:p>
            <a:pPr lvl="0"/>
            <a:endParaRPr lang="en-GB" sz="1200" dirty="0">
              <a:solidFill>
                <a:prstClr val="black"/>
              </a:solidFill>
              <a:latin typeface="Calibri" panose="020F0502020204030204"/>
            </a:endParaRPr>
          </a:p>
          <a:p>
            <a:pPr lvl="0"/>
            <a:endParaRPr lang="en-GB" sz="1200" dirty="0">
              <a:solidFill>
                <a:prstClr val="black"/>
              </a:solidFill>
              <a:latin typeface="Calibri" panose="020F0502020204030204"/>
            </a:endParaRPr>
          </a:p>
          <a:p>
            <a:r>
              <a:rPr lang="en-GB" sz="1200" dirty="0"/>
              <a:t>For pre-lodged declarations, if the trader does not action the incorrect format by sending an amendment to CDS, there is a dwell timer within DMS which will automatically cancel the declaration. </a:t>
            </a:r>
          </a:p>
          <a:p>
            <a:endParaRPr lang="en-GB" sz="1200" dirty="0"/>
          </a:p>
          <a:p>
            <a:r>
              <a:rPr lang="en-GB" sz="1200" dirty="0"/>
              <a:t>For an arrived declaration, if the trader does not action the incorrect format by sending an amendment to CDS, the declaration will remain uncleared.</a:t>
            </a:r>
          </a:p>
          <a:p>
            <a:pPr lvl="0"/>
            <a:endParaRPr lang="en-GB" sz="12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Notes</a:t>
            </a:r>
            <a:r>
              <a:rPr lang="fr-FR" sz="1200" dirty="0">
                <a:solidFill>
                  <a:prstClr val="black"/>
                </a:solidFill>
                <a:latin typeface="Calibri" panose="020F0502020204030204"/>
              </a:rPr>
              <a:t>:</a:t>
            </a:r>
          </a:p>
          <a:p>
            <a:pPr marL="228600" indent="-228600">
              <a:buFont typeface="+mj-lt"/>
              <a:buAutoNum type="arabicPeriod"/>
            </a:pPr>
            <a:r>
              <a:rPr lang="en-GB" sz="1200" dirty="0"/>
              <a:t>Examples of ODS Import licenses:</a:t>
            </a:r>
          </a:p>
          <a:p>
            <a:pPr lvl="1"/>
            <a:r>
              <a:rPr lang="en-GB" sz="1200" dirty="0"/>
              <a:t>IMP-HA84P-IPEA-2024-00061063</a:t>
            </a:r>
          </a:p>
          <a:p>
            <a:pPr lvl="1"/>
            <a:r>
              <a:rPr lang="en-GB" sz="1200" dirty="0"/>
              <a:t>IMP-HA84P-ILAB-2023-00061123</a:t>
            </a:r>
          </a:p>
          <a:p>
            <a:pPr lvl="1"/>
            <a:r>
              <a:rPr lang="en-GB" sz="1200" dirty="0"/>
              <a:t>IMP-HA84P-ILAB-2023-00061047</a:t>
            </a:r>
            <a:endParaRPr lang="fr-FR" sz="1200" dirty="0">
              <a:solidFill>
                <a:prstClr val="black"/>
              </a:solidFill>
              <a:latin typeface="Calibri" panose="020F0502020204030204"/>
            </a:endParaRPr>
          </a:p>
          <a:p>
            <a:pPr marL="228600" indent="-228600">
              <a:buFont typeface="+mj-lt"/>
              <a:buAutoNum type="arabicPeriod"/>
            </a:pPr>
            <a:r>
              <a:rPr lang="en-GB" sz="1200" dirty="0"/>
              <a:t>Examples of ODS Export licenses:</a:t>
            </a:r>
          </a:p>
          <a:p>
            <a:pPr lvl="1"/>
            <a:r>
              <a:rPr lang="en-GB" sz="1200" dirty="0"/>
              <a:t>EXP-HA84P-EHCO-2023-00061153</a:t>
            </a:r>
          </a:p>
          <a:p>
            <a:pPr lvl="1"/>
            <a:r>
              <a:rPr lang="en-GB" sz="1200" dirty="0"/>
              <a:t>EXP-HA84P-ECUH-2024-00061151</a:t>
            </a:r>
          </a:p>
          <a:p>
            <a:pPr lvl="1"/>
            <a:r>
              <a:rPr lang="en-GB" sz="1200" dirty="0"/>
              <a:t>EXP-HA84P-ELAB-2024-00061145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ooter Placeholder 27">
            <a:extLst>
              <a:ext uri="{FF2B5EF4-FFF2-40B4-BE49-F238E27FC236}">
                <a16:creationId xmlns:a16="http://schemas.microsoft.com/office/drawing/2014/main" id="{EDB28A77-20D9-CA80-83A7-C6613F2A84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CDS External Release Scope Guidance Document</a:t>
            </a:r>
          </a:p>
        </p:txBody>
      </p:sp>
      <p:sp>
        <p:nvSpPr>
          <p:cNvPr id="29" name="Slide Number Placeholder 28">
            <a:extLst>
              <a:ext uri="{FF2B5EF4-FFF2-40B4-BE49-F238E27FC236}">
                <a16:creationId xmlns:a16="http://schemas.microsoft.com/office/drawing/2014/main" id="{36AF2460-6195-883A-12D3-1C6F16FB1C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4B48B1-1197-4F9F-8D61-6ADBBBC3D0AA}"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9E117C79-0E29-5A0F-97FF-0F0EEC9CB90C}"/>
              </a:ext>
            </a:extLst>
          </p:cNvPr>
          <p:cNvSpPr txBox="1"/>
          <p:nvPr/>
        </p:nvSpPr>
        <p:spPr>
          <a:xfrm>
            <a:off x="2675054" y="2186554"/>
            <a:ext cx="6466618" cy="830997"/>
          </a:xfrm>
          <a:prstGeom prst="rect">
            <a:avLst/>
          </a:prstGeom>
          <a:solidFill>
            <a:schemeClr val="bg1">
              <a:lumMod val="95000"/>
            </a:schemeClr>
          </a:solidFill>
        </p:spPr>
        <p:txBody>
          <a:bodyPr wrap="square" rtlCol="0">
            <a:spAutoFit/>
          </a:bodyPr>
          <a:lstStyle/>
          <a:p>
            <a:pPr lvl="0"/>
            <a:r>
              <a:rPr lang="en-GB" sz="1200" i="1" dirty="0"/>
              <a:t>CERTEX Check: [Document Type / Document Reference Number]. The certificate or license has been entered in an incorrect format. Trader action required: Please review and correct the reference of your supporting certificate or license on the declaration to a valid, CERTEX compatible format (please refer to Appendix 5A).</a:t>
            </a:r>
            <a:endParaRPr lang="en-GB" sz="1200" dirty="0">
              <a:solidFill>
                <a:prstClr val="black"/>
              </a:solidFill>
            </a:endParaRPr>
          </a:p>
        </p:txBody>
      </p:sp>
    </p:spTree>
    <p:extLst>
      <p:ext uri="{BB962C8B-B14F-4D97-AF65-F5344CB8AC3E}">
        <p14:creationId xmlns:p14="http://schemas.microsoft.com/office/powerpoint/2010/main" val="2697690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ee8eb0f-360c-4f1c-b563-d344757e98da" xsi:nil="true"/>
    <lcf76f155ced4ddcb4097134ff3c332f xmlns="535cbac5-1af9-4cd4-9513-0afcd68db73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425C439D45257489CE2CD6F3B73DCDD" ma:contentTypeVersion="16" ma:contentTypeDescription="Create a new document." ma:contentTypeScope="" ma:versionID="d369105a1433f3c5a85ef4f4758ce1c8">
  <xsd:schema xmlns:xsd="http://www.w3.org/2001/XMLSchema" xmlns:xs="http://www.w3.org/2001/XMLSchema" xmlns:p="http://schemas.microsoft.com/office/2006/metadata/properties" xmlns:ns2="535cbac5-1af9-4cd4-9513-0afcd68db736" xmlns:ns3="cee8eb0f-360c-4f1c-b563-d344757e98da" targetNamespace="http://schemas.microsoft.com/office/2006/metadata/properties" ma:root="true" ma:fieldsID="b297335d2f3ed7b78dbd242c90910dfa" ns2:_="" ns3:_="">
    <xsd:import namespace="535cbac5-1af9-4cd4-9513-0afcd68db736"/>
    <xsd:import namespace="cee8eb0f-360c-4f1c-b563-d344757e98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5cbac5-1af9-4cd4-9513-0afcd68db7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a3ebb39f-d69b-4575-80f5-9912993956e5"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e8eb0f-360c-4f1c-b563-d344757e98d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fc029272-d927-49c6-9535-27505dadd74a}" ma:internalName="TaxCatchAll" ma:showField="CatchAllData" ma:web="cee8eb0f-360c-4f1c-b563-d344757e98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E96166-D916-4EA0-A76C-80472C7D34F1}">
  <ds:schemaRefs>
    <ds:schemaRef ds:uri="http://schemas.microsoft.com/sharepoint/v3/contenttype/forms"/>
  </ds:schemaRefs>
</ds:datastoreItem>
</file>

<file path=customXml/itemProps2.xml><?xml version="1.0" encoding="utf-8"?>
<ds:datastoreItem xmlns:ds="http://schemas.openxmlformats.org/officeDocument/2006/customXml" ds:itemID="{69ECF097-BDFC-4A7C-9A77-279E51979070}">
  <ds:schemaRefs>
    <ds:schemaRef ds:uri="http://www.w3.org/XML/1998/namespace"/>
    <ds:schemaRef ds:uri="http://purl.org/dc/elements/1.1/"/>
    <ds:schemaRef ds:uri="535cbac5-1af9-4cd4-9513-0afcd68db736"/>
    <ds:schemaRef ds:uri="cee8eb0f-360c-4f1c-b563-d344757e98da"/>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0C3F0652-5F71-4C06-97B2-BCE8E5B03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5cbac5-1af9-4cd4-9513-0afcd68db736"/>
    <ds:schemaRef ds:uri="cee8eb0f-360c-4f1c-b563-d344757e98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9af038e-07b4-4369-a678-c835687cb272}" enabled="1" method="Standard" siteId="{ac52f73c-fd1a-4a9a-8e7a-4a248f3139e1}" removed="0"/>
</clbl:labelList>
</file>

<file path=docProps/app.xml><?xml version="1.0" encoding="utf-8"?>
<Properties xmlns="http://schemas.openxmlformats.org/officeDocument/2006/extended-properties" xmlns:vt="http://schemas.openxmlformats.org/officeDocument/2006/docPropsVTypes">
  <TotalTime>0</TotalTime>
  <Words>2655</Words>
  <Application>Microsoft Office PowerPoint</Application>
  <PresentationFormat>Widescreen</PresentationFormat>
  <Paragraphs>350</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-apple-system</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2026-01-19T13:02:19Z</dcterms:created>
  <dcterms:modified xsi:type="dcterms:W3CDTF">2026-03-16T14:49:21Z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0x010100D425C439D45257489CE2CD6F3B73DCDD</vt:lpwstr>
  </property>
  <property fmtid="{D5CDD505-2E9C-101B-9397-08002B2CF9AE}" pid="3" name="MediaServiceImageTags">
    <vt:lpwstr/>
  </property>
</Properties>
</file>