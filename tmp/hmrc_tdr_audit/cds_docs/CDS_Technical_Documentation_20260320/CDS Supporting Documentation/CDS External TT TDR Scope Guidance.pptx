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pptx" ContentType="application/vnd.openxmlformats-officedocument.presentationml.presentation"/>
  <Default Extension="rels" ContentType="application/vnd.openxmlformats-package.relationships+xml"/>
  <Default Extension="svg" ContentType="image/svg+xml"/>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672" r:id="rId5"/>
    <p:sldMasterId id="2147483684" r:id="rId6"/>
    <p:sldMasterId id="2147483696" r:id="rId7"/>
    <p:sldMasterId id="2147483708" r:id="rId8"/>
    <p:sldMasterId id="2147483720" r:id="rId9"/>
    <p:sldMasterId id="2147483732" r:id="rId10"/>
  </p:sldMasterIdLst>
  <p:notesMasterIdLst>
    <p:notesMasterId r:id="rId463"/>
  </p:notesMasterIdLst>
  <p:handoutMasterIdLst>
    <p:handoutMasterId r:id="rId464"/>
  </p:handoutMasterIdLst>
  <p:sldIdLst>
    <p:sldId id="256" r:id="rId11"/>
    <p:sldId id="4554" r:id="rId12"/>
    <p:sldId id="439" r:id="rId13"/>
    <p:sldId id="4592" r:id="rId14"/>
    <p:sldId id="838840599" r:id="rId15"/>
    <p:sldId id="838840600" r:id="rId16"/>
    <p:sldId id="4727" r:id="rId17"/>
    <p:sldId id="4728" r:id="rId18"/>
    <p:sldId id="838840591" r:id="rId19"/>
    <p:sldId id="838840562" r:id="rId20"/>
    <p:sldId id="2145706643" r:id="rId21"/>
    <p:sldId id="838840552" r:id="rId22"/>
    <p:sldId id="838840595" r:id="rId23"/>
    <p:sldId id="838840532" r:id="rId24"/>
    <p:sldId id="838840531" r:id="rId25"/>
    <p:sldId id="365" r:id="rId26"/>
    <p:sldId id="838840585" r:id="rId27"/>
    <p:sldId id="4770" r:id="rId28"/>
    <p:sldId id="838840535" r:id="rId29"/>
    <p:sldId id="838840594" r:id="rId30"/>
    <p:sldId id="838840536" r:id="rId31"/>
    <p:sldId id="838840533" r:id="rId32"/>
    <p:sldId id="838840534" r:id="rId33"/>
    <p:sldId id="838840563" r:id="rId34"/>
    <p:sldId id="838840564" r:id="rId35"/>
    <p:sldId id="838840565" r:id="rId36"/>
    <p:sldId id="838840567" r:id="rId37"/>
    <p:sldId id="838840538" r:id="rId38"/>
    <p:sldId id="838840539" r:id="rId39"/>
    <p:sldId id="838840569" r:id="rId40"/>
    <p:sldId id="838840541" r:id="rId41"/>
    <p:sldId id="838840566" r:id="rId42"/>
    <p:sldId id="838840603" r:id="rId43"/>
    <p:sldId id="838840550" r:id="rId44"/>
    <p:sldId id="838840554" r:id="rId45"/>
    <p:sldId id="2145706640" r:id="rId46"/>
    <p:sldId id="838840555" r:id="rId47"/>
    <p:sldId id="838840616" r:id="rId48"/>
    <p:sldId id="838840556" r:id="rId49"/>
    <p:sldId id="838840557" r:id="rId50"/>
    <p:sldId id="838840648" r:id="rId51"/>
    <p:sldId id="2145706641" r:id="rId52"/>
    <p:sldId id="2145706642" r:id="rId53"/>
    <p:sldId id="838840558" r:id="rId54"/>
    <p:sldId id="838840559" r:id="rId55"/>
    <p:sldId id="838840581" r:id="rId56"/>
    <p:sldId id="4750" r:id="rId57"/>
    <p:sldId id="838840561" r:id="rId58"/>
    <p:sldId id="838840582" r:id="rId59"/>
    <p:sldId id="838840583" r:id="rId60"/>
    <p:sldId id="838840584" r:id="rId61"/>
    <p:sldId id="2145706941" r:id="rId62"/>
    <p:sldId id="2145706942" r:id="rId63"/>
    <p:sldId id="2145706968" r:id="rId64"/>
    <p:sldId id="2145706969" r:id="rId65"/>
    <p:sldId id="2145706964" r:id="rId66"/>
    <p:sldId id="2145706965" r:id="rId67"/>
    <p:sldId id="2145706966" r:id="rId68"/>
    <p:sldId id="2145706967" r:id="rId69"/>
    <p:sldId id="2145706903" r:id="rId70"/>
    <p:sldId id="2145706921" r:id="rId71"/>
    <p:sldId id="2145706901" r:id="rId72"/>
    <p:sldId id="2145706923" r:id="rId73"/>
    <p:sldId id="2145706924" r:id="rId74"/>
    <p:sldId id="2145706911" r:id="rId75"/>
    <p:sldId id="2145706912" r:id="rId76"/>
    <p:sldId id="2145706913" r:id="rId77"/>
    <p:sldId id="2145706925" r:id="rId78"/>
    <p:sldId id="2145706899" r:id="rId79"/>
    <p:sldId id="2145706915" r:id="rId80"/>
    <p:sldId id="2145706917" r:id="rId81"/>
    <p:sldId id="2145706922" r:id="rId82"/>
    <p:sldId id="2145706898" r:id="rId83"/>
    <p:sldId id="2145706889" r:id="rId84"/>
    <p:sldId id="2145706886" r:id="rId85"/>
    <p:sldId id="2145706887" r:id="rId86"/>
    <p:sldId id="2145706902" r:id="rId87"/>
    <p:sldId id="2145706874" r:id="rId88"/>
    <p:sldId id="2145706897" r:id="rId89"/>
    <p:sldId id="2145706894" r:id="rId90"/>
    <p:sldId id="2145706893" r:id="rId91"/>
    <p:sldId id="2145706883" r:id="rId92"/>
    <p:sldId id="2145706882" r:id="rId93"/>
    <p:sldId id="2145706871" r:id="rId94"/>
    <p:sldId id="2145706879" r:id="rId95"/>
    <p:sldId id="2145706884" r:id="rId96"/>
    <p:sldId id="2145706875" r:id="rId97"/>
    <p:sldId id="2145706876" r:id="rId98"/>
    <p:sldId id="2145706888" r:id="rId99"/>
    <p:sldId id="2145706863" r:id="rId100"/>
    <p:sldId id="2145706850" r:id="rId101"/>
    <p:sldId id="2145706851" r:id="rId102"/>
    <p:sldId id="2145706852" r:id="rId103"/>
    <p:sldId id="2145706853" r:id="rId104"/>
    <p:sldId id="2145706854" r:id="rId105"/>
    <p:sldId id="2145706848" r:id="rId106"/>
    <p:sldId id="2145706855" r:id="rId107"/>
    <p:sldId id="2145706843" r:id="rId108"/>
    <p:sldId id="2145706844" r:id="rId109"/>
    <p:sldId id="2145706845" r:id="rId110"/>
    <p:sldId id="2145706846" r:id="rId111"/>
    <p:sldId id="2145706847" r:id="rId112"/>
    <p:sldId id="2145706856" r:id="rId113"/>
    <p:sldId id="2145706858" r:id="rId114"/>
    <p:sldId id="2145706865" r:id="rId115"/>
    <p:sldId id="2145706862" r:id="rId116"/>
    <p:sldId id="2145706836" r:id="rId117"/>
    <p:sldId id="2145706772" r:id="rId118"/>
    <p:sldId id="2145706849" r:id="rId119"/>
    <p:sldId id="2145706734" r:id="rId120"/>
    <p:sldId id="2145706765" r:id="rId121"/>
    <p:sldId id="2145706764" r:id="rId122"/>
    <p:sldId id="2145706766" r:id="rId123"/>
    <p:sldId id="2145706800" r:id="rId124"/>
    <p:sldId id="2145706801" r:id="rId125"/>
    <p:sldId id="2145706761" r:id="rId126"/>
    <p:sldId id="2145706802" r:id="rId127"/>
    <p:sldId id="2145706738" r:id="rId128"/>
    <p:sldId id="2145706803" r:id="rId129"/>
    <p:sldId id="2145706773" r:id="rId130"/>
    <p:sldId id="2145706776" r:id="rId131"/>
    <p:sldId id="2145706777" r:id="rId132"/>
    <p:sldId id="2145706752" r:id="rId133"/>
    <p:sldId id="2145706778" r:id="rId134"/>
    <p:sldId id="2145706742" r:id="rId135"/>
    <p:sldId id="2145706739" r:id="rId136"/>
    <p:sldId id="2145706744" r:id="rId137"/>
    <p:sldId id="2145706746" r:id="rId138"/>
    <p:sldId id="2145706748" r:id="rId139"/>
    <p:sldId id="2145706779" r:id="rId140"/>
    <p:sldId id="2145706758" r:id="rId141"/>
    <p:sldId id="2145706757" r:id="rId142"/>
    <p:sldId id="2145706804" r:id="rId143"/>
    <p:sldId id="2145706745" r:id="rId144"/>
    <p:sldId id="2145706805" r:id="rId145"/>
    <p:sldId id="2145706806" r:id="rId146"/>
    <p:sldId id="2145706789" r:id="rId147"/>
    <p:sldId id="2145706780" r:id="rId148"/>
    <p:sldId id="2145706781" r:id="rId149"/>
    <p:sldId id="2145706782" r:id="rId150"/>
    <p:sldId id="2145706784" r:id="rId151"/>
    <p:sldId id="2145706785" r:id="rId152"/>
    <p:sldId id="2145706786" r:id="rId153"/>
    <p:sldId id="2145706787" r:id="rId154"/>
    <p:sldId id="2145706807" r:id="rId155"/>
    <p:sldId id="2145706788" r:id="rId156"/>
    <p:sldId id="2145706735" r:id="rId157"/>
    <p:sldId id="2145706791" r:id="rId158"/>
    <p:sldId id="2145706792" r:id="rId159"/>
    <p:sldId id="2145706793" r:id="rId160"/>
    <p:sldId id="2145706808" r:id="rId161"/>
    <p:sldId id="2145706794" r:id="rId162"/>
    <p:sldId id="2145706796" r:id="rId163"/>
    <p:sldId id="2145706809" r:id="rId164"/>
    <p:sldId id="2145706810" r:id="rId165"/>
    <p:sldId id="2145706811" r:id="rId166"/>
    <p:sldId id="2145706812" r:id="rId167"/>
    <p:sldId id="2145706797" r:id="rId168"/>
    <p:sldId id="2145706813" r:id="rId169"/>
    <p:sldId id="2145706814" r:id="rId170"/>
    <p:sldId id="2145706693" r:id="rId171"/>
    <p:sldId id="2145706694" r:id="rId172"/>
    <p:sldId id="2145706695" r:id="rId173"/>
    <p:sldId id="2145706719" r:id="rId174"/>
    <p:sldId id="2145706721" r:id="rId175"/>
    <p:sldId id="2145706701" r:id="rId176"/>
    <p:sldId id="2145706666" r:id="rId177"/>
    <p:sldId id="2145706667" r:id="rId178"/>
    <p:sldId id="2145706668" r:id="rId179"/>
    <p:sldId id="2145706722" r:id="rId180"/>
    <p:sldId id="2145706723" r:id="rId181"/>
    <p:sldId id="2145706724" r:id="rId182"/>
    <p:sldId id="2145706725" r:id="rId183"/>
    <p:sldId id="2145706726" r:id="rId184"/>
    <p:sldId id="2145706727" r:id="rId185"/>
    <p:sldId id="2145706706" r:id="rId186"/>
    <p:sldId id="2145706707" r:id="rId187"/>
    <p:sldId id="2145706728" r:id="rId188"/>
    <p:sldId id="2145706729" r:id="rId189"/>
    <p:sldId id="2145706730" r:id="rId190"/>
    <p:sldId id="2145706714" r:id="rId191"/>
    <p:sldId id="2145706715" r:id="rId192"/>
    <p:sldId id="2145706704" r:id="rId193"/>
    <p:sldId id="2145706716" r:id="rId194"/>
    <p:sldId id="2145706717" r:id="rId195"/>
    <p:sldId id="2145706718" r:id="rId196"/>
    <p:sldId id="2145706708" r:id="rId197"/>
    <p:sldId id="2145706709" r:id="rId198"/>
    <p:sldId id="2145706731" r:id="rId199"/>
    <p:sldId id="2145706700" r:id="rId200"/>
    <p:sldId id="2145706732" r:id="rId201"/>
    <p:sldId id="2145706664" r:id="rId202"/>
    <p:sldId id="2145706670" r:id="rId203"/>
    <p:sldId id="2145706671" r:id="rId204"/>
    <p:sldId id="2145706661" r:id="rId205"/>
    <p:sldId id="2145706655" r:id="rId206"/>
    <p:sldId id="2145706656" r:id="rId207"/>
    <p:sldId id="2145706672" r:id="rId208"/>
    <p:sldId id="2145706673" r:id="rId209"/>
    <p:sldId id="2145706674" r:id="rId210"/>
    <p:sldId id="2145706658" r:id="rId211"/>
    <p:sldId id="2145706675" r:id="rId212"/>
    <p:sldId id="2145706676" r:id="rId213"/>
    <p:sldId id="2145706657" r:id="rId214"/>
    <p:sldId id="2145706677" r:id="rId215"/>
    <p:sldId id="2145706648" r:id="rId216"/>
    <p:sldId id="2145706652" r:id="rId217"/>
    <p:sldId id="2145706654" r:id="rId218"/>
    <p:sldId id="2145706663" r:id="rId219"/>
    <p:sldId id="2145706678" r:id="rId220"/>
    <p:sldId id="2145706679" r:id="rId221"/>
    <p:sldId id="2145706680" r:id="rId222"/>
    <p:sldId id="2145706681" r:id="rId223"/>
    <p:sldId id="2145706682" r:id="rId224"/>
    <p:sldId id="2145706683" r:id="rId225"/>
    <p:sldId id="2145706684" r:id="rId226"/>
    <p:sldId id="2145706685" r:id="rId227"/>
    <p:sldId id="2145706686" r:id="rId228"/>
    <p:sldId id="2145706687" r:id="rId229"/>
    <p:sldId id="2145706688" r:id="rId230"/>
    <p:sldId id="2145706689" r:id="rId231"/>
    <p:sldId id="2145706659" r:id="rId232"/>
    <p:sldId id="2145706660" r:id="rId233"/>
    <p:sldId id="2145706662" r:id="rId234"/>
    <p:sldId id="2145706690" r:id="rId235"/>
    <p:sldId id="2145706691" r:id="rId236"/>
    <p:sldId id="2145706625" r:id="rId237"/>
    <p:sldId id="2145706626" r:id="rId238"/>
    <p:sldId id="2145706627" r:id="rId239"/>
    <p:sldId id="2145706628" r:id="rId240"/>
    <p:sldId id="2145706629" r:id="rId241"/>
    <p:sldId id="2145706630" r:id="rId242"/>
    <p:sldId id="2145706631" r:id="rId243"/>
    <p:sldId id="2145706632" r:id="rId244"/>
    <p:sldId id="2145706633" r:id="rId245"/>
    <p:sldId id="2145706634" r:id="rId246"/>
    <p:sldId id="2145706635" r:id="rId247"/>
    <p:sldId id="2145706636" r:id="rId248"/>
    <p:sldId id="2145706637" r:id="rId249"/>
    <p:sldId id="2145706638" r:id="rId250"/>
    <p:sldId id="2145706639" r:id="rId251"/>
    <p:sldId id="2145706619" r:id="rId252"/>
    <p:sldId id="2145706620" r:id="rId253"/>
    <p:sldId id="2145706621" r:id="rId254"/>
    <p:sldId id="2145706622" r:id="rId255"/>
    <p:sldId id="2145706623" r:id="rId256"/>
    <p:sldId id="2145706624" r:id="rId257"/>
    <p:sldId id="2145706593" r:id="rId258"/>
    <p:sldId id="2145706594" r:id="rId259"/>
    <p:sldId id="2145706595" r:id="rId260"/>
    <p:sldId id="2145706596" r:id="rId261"/>
    <p:sldId id="4957" r:id="rId262"/>
    <p:sldId id="2145706612" r:id="rId263"/>
    <p:sldId id="2145706613" r:id="rId264"/>
    <p:sldId id="2145706599" r:id="rId265"/>
    <p:sldId id="2145706600" r:id="rId266"/>
    <p:sldId id="2145706601" r:id="rId267"/>
    <p:sldId id="2145706602" r:id="rId268"/>
    <p:sldId id="2145706603" r:id="rId269"/>
    <p:sldId id="2145706604" r:id="rId270"/>
    <p:sldId id="2145706614" r:id="rId271"/>
    <p:sldId id="2145706598" r:id="rId272"/>
    <p:sldId id="2145706597" r:id="rId273"/>
    <p:sldId id="2145706605" r:id="rId274"/>
    <p:sldId id="2145706606" r:id="rId275"/>
    <p:sldId id="2145706607" r:id="rId276"/>
    <p:sldId id="2145706608" r:id="rId277"/>
    <p:sldId id="2145706609" r:id="rId278"/>
    <p:sldId id="2145706610" r:id="rId279"/>
    <p:sldId id="2145706611" r:id="rId280"/>
    <p:sldId id="2145706615" r:id="rId281"/>
    <p:sldId id="4950" r:id="rId282"/>
    <p:sldId id="4951" r:id="rId283"/>
    <p:sldId id="4934" r:id="rId284"/>
    <p:sldId id="2145706618" r:id="rId285"/>
    <p:sldId id="4937" r:id="rId286"/>
    <p:sldId id="4931" r:id="rId287"/>
    <p:sldId id="2145706616" r:id="rId288"/>
    <p:sldId id="2145706617" r:id="rId289"/>
    <p:sldId id="838840650" r:id="rId290"/>
    <p:sldId id="4920" r:id="rId291"/>
    <p:sldId id="4910" r:id="rId292"/>
    <p:sldId id="838840651" r:id="rId293"/>
    <p:sldId id="4921" r:id="rId294"/>
    <p:sldId id="838840652" r:id="rId295"/>
    <p:sldId id="838840653" r:id="rId296"/>
    <p:sldId id="838840654" r:id="rId297"/>
    <p:sldId id="838840655" r:id="rId298"/>
    <p:sldId id="838840656" r:id="rId299"/>
    <p:sldId id="4928" r:id="rId300"/>
    <p:sldId id="4927" r:id="rId301"/>
    <p:sldId id="4924" r:id="rId302"/>
    <p:sldId id="4925" r:id="rId303"/>
    <p:sldId id="4919" r:id="rId304"/>
    <p:sldId id="4903" r:id="rId305"/>
    <p:sldId id="4904" r:id="rId306"/>
    <p:sldId id="4905" r:id="rId307"/>
    <p:sldId id="838840649" r:id="rId308"/>
    <p:sldId id="4899" r:id="rId309"/>
    <p:sldId id="4912" r:id="rId310"/>
    <p:sldId id="4917" r:id="rId311"/>
    <p:sldId id="4916" r:id="rId312"/>
    <p:sldId id="4893" r:id="rId313"/>
    <p:sldId id="4898" r:id="rId314"/>
    <p:sldId id="4906" r:id="rId315"/>
    <p:sldId id="4923" r:id="rId316"/>
    <p:sldId id="4926" r:id="rId317"/>
    <p:sldId id="4907" r:id="rId318"/>
    <p:sldId id="4908" r:id="rId319"/>
    <p:sldId id="4909" r:id="rId320"/>
    <p:sldId id="4911" r:id="rId321"/>
    <p:sldId id="4891" r:id="rId322"/>
    <p:sldId id="4892" r:id="rId323"/>
    <p:sldId id="838840638" r:id="rId324"/>
    <p:sldId id="4860" r:id="rId325"/>
    <p:sldId id="838840639" r:id="rId326"/>
    <p:sldId id="4858" r:id="rId327"/>
    <p:sldId id="838840640" r:id="rId328"/>
    <p:sldId id="838840641" r:id="rId329"/>
    <p:sldId id="4861" r:id="rId330"/>
    <p:sldId id="838840642" r:id="rId331"/>
    <p:sldId id="838840643" r:id="rId332"/>
    <p:sldId id="838840644" r:id="rId333"/>
    <p:sldId id="4863" r:id="rId334"/>
    <p:sldId id="838840645" r:id="rId335"/>
    <p:sldId id="838840646" r:id="rId336"/>
    <p:sldId id="4850" r:id="rId337"/>
    <p:sldId id="4852" r:id="rId338"/>
    <p:sldId id="4882" r:id="rId339"/>
    <p:sldId id="4853" r:id="rId340"/>
    <p:sldId id="838840635" r:id="rId341"/>
    <p:sldId id="4854" r:id="rId342"/>
    <p:sldId id="4849" r:id="rId343"/>
    <p:sldId id="838840636" r:id="rId344"/>
    <p:sldId id="4857" r:id="rId345"/>
    <p:sldId id="4812" r:id="rId346"/>
    <p:sldId id="838840637" r:id="rId347"/>
    <p:sldId id="4864" r:id="rId348"/>
    <p:sldId id="4865" r:id="rId349"/>
    <p:sldId id="4866" r:id="rId350"/>
    <p:sldId id="4867" r:id="rId351"/>
    <p:sldId id="4868" r:id="rId352"/>
    <p:sldId id="4869" r:id="rId353"/>
    <p:sldId id="4871" r:id="rId354"/>
    <p:sldId id="4856" r:id="rId355"/>
    <p:sldId id="4851" r:id="rId356"/>
    <p:sldId id="4870" r:id="rId357"/>
    <p:sldId id="4859" r:id="rId358"/>
    <p:sldId id="4872" r:id="rId359"/>
    <p:sldId id="838840631" r:id="rId360"/>
    <p:sldId id="838840632" r:id="rId361"/>
    <p:sldId id="4813" r:id="rId362"/>
    <p:sldId id="838840633" r:id="rId363"/>
    <p:sldId id="4837" r:id="rId364"/>
    <p:sldId id="4839" r:id="rId365"/>
    <p:sldId id="4840" r:id="rId366"/>
    <p:sldId id="4841" r:id="rId367"/>
    <p:sldId id="4842" r:id="rId368"/>
    <p:sldId id="4844" r:id="rId369"/>
    <p:sldId id="4845" r:id="rId370"/>
    <p:sldId id="4848" r:id="rId371"/>
    <p:sldId id="4846" r:id="rId372"/>
    <p:sldId id="838840622" r:id="rId373"/>
    <p:sldId id="4811" r:id="rId374"/>
    <p:sldId id="4814" r:id="rId375"/>
    <p:sldId id="838840623" r:id="rId376"/>
    <p:sldId id="838840624" r:id="rId377"/>
    <p:sldId id="4806" r:id="rId378"/>
    <p:sldId id="4826" r:id="rId379"/>
    <p:sldId id="4827" r:id="rId380"/>
    <p:sldId id="4828" r:id="rId381"/>
    <p:sldId id="838840625" r:id="rId382"/>
    <p:sldId id="838840626" r:id="rId383"/>
    <p:sldId id="4815" r:id="rId384"/>
    <p:sldId id="4816" r:id="rId385"/>
    <p:sldId id="4817" r:id="rId386"/>
    <p:sldId id="4818" r:id="rId387"/>
    <p:sldId id="4819" r:id="rId388"/>
    <p:sldId id="4820" r:id="rId389"/>
    <p:sldId id="838840628" r:id="rId390"/>
    <p:sldId id="838840629" r:id="rId391"/>
    <p:sldId id="838840630" r:id="rId392"/>
    <p:sldId id="4823" r:id="rId393"/>
    <p:sldId id="444" r:id="rId394"/>
    <p:sldId id="838840619" r:id="rId395"/>
    <p:sldId id="4803" r:id="rId396"/>
    <p:sldId id="4804" r:id="rId397"/>
    <p:sldId id="838840620" r:id="rId398"/>
    <p:sldId id="838840621" r:id="rId399"/>
    <p:sldId id="838840617" r:id="rId400"/>
    <p:sldId id="4808" r:id="rId401"/>
    <p:sldId id="4810" r:id="rId402"/>
    <p:sldId id="838840614" r:id="rId403"/>
    <p:sldId id="838840615" r:id="rId404"/>
    <p:sldId id="4802" r:id="rId405"/>
    <p:sldId id="4801" r:id="rId406"/>
    <p:sldId id="4805" r:id="rId407"/>
    <p:sldId id="838840602" r:id="rId408"/>
    <p:sldId id="4790" r:id="rId409"/>
    <p:sldId id="4800" r:id="rId410"/>
    <p:sldId id="4791" r:id="rId411"/>
    <p:sldId id="4794" r:id="rId412"/>
    <p:sldId id="4798" r:id="rId413"/>
    <p:sldId id="4799" r:id="rId414"/>
    <p:sldId id="838840601" r:id="rId415"/>
    <p:sldId id="4789" r:id="rId416"/>
    <p:sldId id="4786" r:id="rId417"/>
    <p:sldId id="838840618" r:id="rId418"/>
    <p:sldId id="4777" r:id="rId419"/>
    <p:sldId id="4778" r:id="rId420"/>
    <p:sldId id="4785" r:id="rId421"/>
    <p:sldId id="838840606" r:id="rId422"/>
    <p:sldId id="838840604" r:id="rId423"/>
    <p:sldId id="838840605" r:id="rId424"/>
    <p:sldId id="4764" r:id="rId425"/>
    <p:sldId id="4773" r:id="rId426"/>
    <p:sldId id="4776" r:id="rId427"/>
    <p:sldId id="4774" r:id="rId428"/>
    <p:sldId id="4775" r:id="rId429"/>
    <p:sldId id="838840607" r:id="rId430"/>
    <p:sldId id="4769" r:id="rId431"/>
    <p:sldId id="838840608" r:id="rId432"/>
    <p:sldId id="838840609" r:id="rId433"/>
    <p:sldId id="838840610" r:id="rId434"/>
    <p:sldId id="4761" r:id="rId435"/>
    <p:sldId id="4759" r:id="rId436"/>
    <p:sldId id="4719" r:id="rId437"/>
    <p:sldId id="4754" r:id="rId438"/>
    <p:sldId id="4756" r:id="rId439"/>
    <p:sldId id="838840611" r:id="rId440"/>
    <p:sldId id="4681" r:id="rId441"/>
    <p:sldId id="4680" r:id="rId442"/>
    <p:sldId id="4684" r:id="rId443"/>
    <p:sldId id="838840612" r:id="rId444"/>
    <p:sldId id="838840613" r:id="rId445"/>
    <p:sldId id="4580" r:id="rId446"/>
    <p:sldId id="4568" r:id="rId447"/>
    <p:sldId id="838840596" r:id="rId448"/>
    <p:sldId id="257" r:id="rId449"/>
    <p:sldId id="259" r:id="rId450"/>
    <p:sldId id="838840542" r:id="rId451"/>
    <p:sldId id="838840543" r:id="rId452"/>
    <p:sldId id="838840544" r:id="rId453"/>
    <p:sldId id="838840546" r:id="rId454"/>
    <p:sldId id="4607" r:id="rId455"/>
    <p:sldId id="4608" r:id="rId456"/>
    <p:sldId id="4609" r:id="rId457"/>
    <p:sldId id="440" r:id="rId458"/>
    <p:sldId id="838840547" r:id="rId459"/>
    <p:sldId id="4645" r:id="rId460"/>
    <p:sldId id="838840548" r:id="rId461"/>
    <p:sldId id="838840549" r:id="rId46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DS External TT TDR Scope Guidance" id="{13470992-B4C8-483C-9B85-E0D1EFCD3645}">
          <p14:sldIdLst>
            <p14:sldId id="256"/>
            <p14:sldId id="4554"/>
          </p14:sldIdLst>
        </p14:section>
        <p14:section name="EU Exit Policy Guidance" id="{1BEB8E58-CC86-42F6-A022-46900D1E511C}">
          <p14:sldIdLst>
            <p14:sldId id="439"/>
            <p14:sldId id="4592"/>
            <p14:sldId id="838840599"/>
            <p14:sldId id="838840600"/>
            <p14:sldId id="4727"/>
            <p14:sldId id="4728"/>
          </p14:sldIdLst>
        </p14:section>
        <p14:section name="External Test Functional Capabilities" id="{977CFBB5-6632-493A-AA25-3DBCD75546EB}">
          <p14:sldIdLst>
            <p14:sldId id="838840591"/>
            <p14:sldId id="838840562"/>
            <p14:sldId id="2145706643"/>
            <p14:sldId id="838840552"/>
          </p14:sldIdLst>
        </p14:section>
        <p14:section name="External Test Capabilities: Dec Sub" id="{AD502D41-73C0-4806-9682-131BF02C5724}">
          <p14:sldIdLst>
            <p14:sldId id="838840595"/>
            <p14:sldId id="838840532"/>
            <p14:sldId id="838840531"/>
            <p14:sldId id="365"/>
            <p14:sldId id="838840585"/>
            <p14:sldId id="4770"/>
            <p14:sldId id="838840535"/>
            <p14:sldId id="838840594"/>
            <p14:sldId id="838840536"/>
            <p14:sldId id="838840533"/>
            <p14:sldId id="838840534"/>
            <p14:sldId id="838840563"/>
            <p14:sldId id="838840564"/>
            <p14:sldId id="838840565"/>
            <p14:sldId id="838840567"/>
            <p14:sldId id="838840538"/>
            <p14:sldId id="838840539"/>
            <p14:sldId id="838840569"/>
            <p14:sldId id="838840541"/>
            <p14:sldId id="838840566"/>
            <p14:sldId id="838840603"/>
          </p14:sldIdLst>
        </p14:section>
        <p14:section name="External Test Capabilities: Simulated Services" id="{403CDBD1-19C7-4FA8-98CB-5386F0C75F9F}">
          <p14:sldIdLst>
            <p14:sldId id="838840550"/>
            <p14:sldId id="838840554"/>
            <p14:sldId id="2145706640"/>
            <p14:sldId id="838840555"/>
            <p14:sldId id="838840616"/>
            <p14:sldId id="838840556"/>
            <p14:sldId id="838840557"/>
            <p14:sldId id="838840648"/>
            <p14:sldId id="2145706641"/>
            <p14:sldId id="2145706642"/>
            <p14:sldId id="838840558"/>
            <p14:sldId id="838840559"/>
            <p14:sldId id="838840581"/>
            <p14:sldId id="4750"/>
            <p14:sldId id="838840561"/>
            <p14:sldId id="838840582"/>
            <p14:sldId id="838840583"/>
            <p14:sldId id="838840584"/>
          </p14:sldIdLst>
        </p14:section>
        <p14:section name="TTM32.0" id="{147915F4-C845-4B7A-A103-58DF5C7D2D8C}">
          <p14:sldIdLst>
            <p14:sldId id="2145706941"/>
            <p14:sldId id="2145706942"/>
            <p14:sldId id="2145706968"/>
            <p14:sldId id="2145706969"/>
            <p14:sldId id="2145706964"/>
            <p14:sldId id="2145706965"/>
            <p14:sldId id="2145706966"/>
            <p14:sldId id="2145706967"/>
          </p14:sldIdLst>
        </p14:section>
        <p14:section name="TTM31.0" id="{F4B19CC3-5802-4847-B4C2-4511E38D29AA}">
          <p14:sldIdLst>
            <p14:sldId id="2145706903"/>
            <p14:sldId id="2145706921"/>
            <p14:sldId id="2145706901"/>
            <p14:sldId id="2145706923"/>
            <p14:sldId id="2145706924"/>
            <p14:sldId id="2145706911"/>
            <p14:sldId id="2145706912"/>
            <p14:sldId id="2145706913"/>
            <p14:sldId id="2145706925"/>
            <p14:sldId id="2145706899"/>
            <p14:sldId id="2145706915"/>
            <p14:sldId id="2145706917"/>
            <p14:sldId id="2145706922"/>
            <p14:sldId id="2145706898"/>
          </p14:sldIdLst>
        </p14:section>
        <p14:section name="TTM30.0" id="{D16BE5F2-E143-4DF9-9983-340FEC0106E3}">
          <p14:sldIdLst>
            <p14:sldId id="2145706889"/>
            <p14:sldId id="2145706886"/>
            <p14:sldId id="2145706887"/>
            <p14:sldId id="2145706902"/>
            <p14:sldId id="2145706874"/>
            <p14:sldId id="2145706897"/>
            <p14:sldId id="2145706894"/>
            <p14:sldId id="2145706893"/>
            <p14:sldId id="2145706883"/>
            <p14:sldId id="2145706882"/>
            <p14:sldId id="2145706871"/>
            <p14:sldId id="2145706879"/>
            <p14:sldId id="2145706884"/>
            <p14:sldId id="2145706875"/>
            <p14:sldId id="2145706876"/>
            <p14:sldId id="2145706888"/>
          </p14:sldIdLst>
        </p14:section>
        <p14:section name="TTM29.0" id="{1F4C2E81-4054-4EF1-A2A3-9DA07449FCF9}">
          <p14:sldIdLst>
            <p14:sldId id="2145706863"/>
            <p14:sldId id="2145706850"/>
            <p14:sldId id="2145706851"/>
            <p14:sldId id="2145706852"/>
            <p14:sldId id="2145706853"/>
            <p14:sldId id="2145706854"/>
            <p14:sldId id="2145706848"/>
            <p14:sldId id="2145706855"/>
            <p14:sldId id="2145706843"/>
            <p14:sldId id="2145706844"/>
            <p14:sldId id="2145706845"/>
            <p14:sldId id="2145706846"/>
            <p14:sldId id="2145706847"/>
            <p14:sldId id="2145706856"/>
            <p14:sldId id="2145706858"/>
            <p14:sldId id="2145706865"/>
            <p14:sldId id="2145706862"/>
            <p14:sldId id="2145706836"/>
            <p14:sldId id="2145706772"/>
            <p14:sldId id="2145706849"/>
          </p14:sldIdLst>
        </p14:section>
        <p14:section name="TTM28.0" id="{E6008CEF-40FC-494F-AC03-E9FEB57C64A8}">
          <p14:sldIdLst>
            <p14:sldId id="2145706734"/>
            <p14:sldId id="2145706765"/>
            <p14:sldId id="2145706764"/>
            <p14:sldId id="2145706766"/>
            <p14:sldId id="2145706800"/>
            <p14:sldId id="2145706801"/>
            <p14:sldId id="2145706761"/>
            <p14:sldId id="2145706802"/>
            <p14:sldId id="2145706738"/>
            <p14:sldId id="2145706803"/>
          </p14:sldIdLst>
        </p14:section>
        <p14:section name="WF" id="{D1AA7A14-0184-4F12-BED3-751EDA62CAD7}">
          <p14:sldIdLst>
            <p14:sldId id="2145706773"/>
            <p14:sldId id="2145706776"/>
            <p14:sldId id="2145706777"/>
            <p14:sldId id="2145706752"/>
            <p14:sldId id="2145706778"/>
            <p14:sldId id="2145706742"/>
            <p14:sldId id="2145706739"/>
            <p14:sldId id="2145706744"/>
            <p14:sldId id="2145706746"/>
            <p14:sldId id="2145706748"/>
            <p14:sldId id="2145706779"/>
            <p14:sldId id="2145706758"/>
            <p14:sldId id="2145706757"/>
            <p14:sldId id="2145706804"/>
            <p14:sldId id="2145706745"/>
            <p14:sldId id="2145706805"/>
            <p14:sldId id="2145706806"/>
            <p14:sldId id="2145706789"/>
            <p14:sldId id="2145706780"/>
            <p14:sldId id="2145706781"/>
            <p14:sldId id="2145706782"/>
            <p14:sldId id="2145706784"/>
            <p14:sldId id="2145706785"/>
            <p14:sldId id="2145706786"/>
            <p14:sldId id="2145706787"/>
            <p14:sldId id="2145706807"/>
            <p14:sldId id="2145706788"/>
            <p14:sldId id="2145706735"/>
            <p14:sldId id="2145706791"/>
            <p14:sldId id="2145706792"/>
            <p14:sldId id="2145706793"/>
            <p14:sldId id="2145706808"/>
            <p14:sldId id="2145706794"/>
            <p14:sldId id="2145706796"/>
            <p14:sldId id="2145706809"/>
            <p14:sldId id="2145706810"/>
            <p14:sldId id="2145706811"/>
            <p14:sldId id="2145706812"/>
            <p14:sldId id="2145706797"/>
            <p14:sldId id="2145706813"/>
            <p14:sldId id="2145706814"/>
          </p14:sldIdLst>
        </p14:section>
        <p14:section name="TTM27.0" id="{F1ECBB8C-17B5-4330-B89B-3D33DAE7ED00}">
          <p14:sldIdLst>
            <p14:sldId id="2145706693"/>
            <p14:sldId id="2145706694"/>
            <p14:sldId id="2145706695"/>
            <p14:sldId id="2145706719"/>
            <p14:sldId id="2145706721"/>
            <p14:sldId id="2145706701"/>
            <p14:sldId id="2145706666"/>
            <p14:sldId id="2145706667"/>
            <p14:sldId id="2145706668"/>
            <p14:sldId id="2145706722"/>
            <p14:sldId id="2145706723"/>
            <p14:sldId id="2145706724"/>
            <p14:sldId id="2145706725"/>
            <p14:sldId id="2145706726"/>
            <p14:sldId id="2145706727"/>
            <p14:sldId id="2145706706"/>
            <p14:sldId id="2145706707"/>
            <p14:sldId id="2145706728"/>
            <p14:sldId id="2145706729"/>
            <p14:sldId id="2145706730"/>
            <p14:sldId id="2145706714"/>
            <p14:sldId id="2145706715"/>
            <p14:sldId id="2145706704"/>
            <p14:sldId id="2145706716"/>
            <p14:sldId id="2145706717"/>
            <p14:sldId id="2145706718"/>
            <p14:sldId id="2145706708"/>
            <p14:sldId id="2145706709"/>
            <p14:sldId id="2145706731"/>
            <p14:sldId id="2145706700"/>
            <p14:sldId id="2145706732"/>
          </p14:sldIdLst>
        </p14:section>
        <p14:section name="TTM26.0" id="{BEE33C8A-971C-4DC2-AA2E-61B4F86B56D1}">
          <p14:sldIdLst>
            <p14:sldId id="2145706664"/>
            <p14:sldId id="2145706670"/>
            <p14:sldId id="2145706671"/>
            <p14:sldId id="2145706661"/>
            <p14:sldId id="2145706655"/>
            <p14:sldId id="2145706656"/>
            <p14:sldId id="2145706672"/>
            <p14:sldId id="2145706673"/>
            <p14:sldId id="2145706674"/>
            <p14:sldId id="2145706658"/>
            <p14:sldId id="2145706675"/>
            <p14:sldId id="2145706676"/>
            <p14:sldId id="2145706657"/>
            <p14:sldId id="2145706677"/>
            <p14:sldId id="2145706648"/>
            <p14:sldId id="2145706652"/>
            <p14:sldId id="2145706654"/>
            <p14:sldId id="2145706663"/>
            <p14:sldId id="2145706678"/>
            <p14:sldId id="2145706679"/>
            <p14:sldId id="2145706680"/>
            <p14:sldId id="2145706681"/>
            <p14:sldId id="2145706682"/>
            <p14:sldId id="2145706683"/>
            <p14:sldId id="2145706684"/>
            <p14:sldId id="2145706685"/>
            <p14:sldId id="2145706686"/>
            <p14:sldId id="2145706687"/>
            <p14:sldId id="2145706688"/>
            <p14:sldId id="2145706689"/>
            <p14:sldId id="2145706659"/>
            <p14:sldId id="2145706660"/>
            <p14:sldId id="2145706662"/>
            <p14:sldId id="2145706690"/>
            <p14:sldId id="2145706691"/>
          </p14:sldIdLst>
        </p14:section>
        <p14:section name="TTM25.0" id="{8DA04D45-3131-4724-A9A9-8673F549C4AF}">
          <p14:sldIdLst>
            <p14:sldId id="2145706625"/>
            <p14:sldId id="2145706626"/>
            <p14:sldId id="2145706627"/>
            <p14:sldId id="2145706628"/>
            <p14:sldId id="2145706629"/>
            <p14:sldId id="2145706630"/>
            <p14:sldId id="2145706631"/>
            <p14:sldId id="2145706632"/>
            <p14:sldId id="2145706633"/>
            <p14:sldId id="2145706634"/>
            <p14:sldId id="2145706635"/>
            <p14:sldId id="2145706636"/>
            <p14:sldId id="2145706637"/>
            <p14:sldId id="2145706638"/>
            <p14:sldId id="2145706639"/>
          </p14:sldIdLst>
        </p14:section>
        <p14:section name="TTM24.0" id="{E1E87618-BD80-4FD3-87ED-1CC29CF02DE7}">
          <p14:sldIdLst>
            <p14:sldId id="2145706619"/>
            <p14:sldId id="2145706620"/>
            <p14:sldId id="2145706621"/>
            <p14:sldId id="2145706622"/>
            <p14:sldId id="2145706623"/>
            <p14:sldId id="2145706624"/>
            <p14:sldId id="2145706593"/>
            <p14:sldId id="2145706594"/>
            <p14:sldId id="2145706595"/>
            <p14:sldId id="2145706596"/>
            <p14:sldId id="4957"/>
            <p14:sldId id="2145706612"/>
            <p14:sldId id="2145706613"/>
            <p14:sldId id="2145706599"/>
            <p14:sldId id="2145706600"/>
            <p14:sldId id="2145706601"/>
            <p14:sldId id="2145706602"/>
            <p14:sldId id="2145706603"/>
            <p14:sldId id="2145706604"/>
            <p14:sldId id="2145706614"/>
            <p14:sldId id="2145706598"/>
            <p14:sldId id="2145706597"/>
            <p14:sldId id="2145706605"/>
            <p14:sldId id="2145706606"/>
            <p14:sldId id="2145706607"/>
            <p14:sldId id="2145706608"/>
            <p14:sldId id="2145706609"/>
            <p14:sldId id="2145706610"/>
            <p14:sldId id="2145706611"/>
            <p14:sldId id="2145706615"/>
            <p14:sldId id="4950"/>
            <p14:sldId id="4951"/>
            <p14:sldId id="4934"/>
            <p14:sldId id="2145706618"/>
            <p14:sldId id="4937"/>
            <p14:sldId id="4931"/>
            <p14:sldId id="2145706616"/>
            <p14:sldId id="2145706617"/>
          </p14:sldIdLst>
        </p14:section>
        <p14:section name="TTM22.0" id="{2546C77B-9398-47F0-A755-8DCE7BF42539}">
          <p14:sldIdLst>
            <p14:sldId id="838840650"/>
            <p14:sldId id="4920"/>
            <p14:sldId id="4910"/>
            <p14:sldId id="838840651"/>
            <p14:sldId id="4921"/>
            <p14:sldId id="838840652"/>
            <p14:sldId id="838840653"/>
            <p14:sldId id="838840654"/>
            <p14:sldId id="838840655"/>
            <p14:sldId id="838840656"/>
            <p14:sldId id="4928"/>
          </p14:sldIdLst>
        </p14:section>
        <p14:section name="TTM21.1.0" id="{74938DD9-0F65-4125-A067-E9BCDFBC9C3B}">
          <p14:sldIdLst>
            <p14:sldId id="4927"/>
            <p14:sldId id="4924"/>
            <p14:sldId id="4925"/>
          </p14:sldIdLst>
        </p14:section>
        <p14:section name="TTM21.0" id="{BD9B08E9-8C5D-491F-A204-9BCAD61076BF}">
          <p14:sldIdLst>
            <p14:sldId id="4919"/>
            <p14:sldId id="4903"/>
            <p14:sldId id="4904"/>
            <p14:sldId id="4905"/>
            <p14:sldId id="838840649"/>
            <p14:sldId id="4899"/>
            <p14:sldId id="4912"/>
            <p14:sldId id="4917"/>
            <p14:sldId id="4916"/>
            <p14:sldId id="4893"/>
            <p14:sldId id="4898"/>
            <p14:sldId id="4906"/>
            <p14:sldId id="4923"/>
            <p14:sldId id="4926"/>
          </p14:sldIdLst>
        </p14:section>
        <p14:section name="TTM20.0.1" id="{F4EE0D51-7F1C-4929-B1DC-8901022DD110}">
          <p14:sldIdLst>
            <p14:sldId id="4907"/>
            <p14:sldId id="4908"/>
            <p14:sldId id="4909"/>
          </p14:sldIdLst>
        </p14:section>
        <p14:section name="TTM20.0.2" id="{EB5C2EDC-7FA9-4F33-A1BD-253845E0B44D}">
          <p14:sldIdLst>
            <p14:sldId id="4911"/>
            <p14:sldId id="4891"/>
            <p14:sldId id="4892"/>
          </p14:sldIdLst>
        </p14:section>
        <p14:section name="TTM20.0" id="{14174757-C122-478B-9CBC-94FED309E064}">
          <p14:sldIdLst>
            <p14:sldId id="838840638"/>
            <p14:sldId id="4860"/>
            <p14:sldId id="838840639"/>
            <p14:sldId id="4858"/>
            <p14:sldId id="838840640"/>
            <p14:sldId id="838840641"/>
            <p14:sldId id="4861"/>
            <p14:sldId id="838840642"/>
            <p14:sldId id="838840643"/>
            <p14:sldId id="838840644"/>
            <p14:sldId id="4863"/>
            <p14:sldId id="838840645"/>
            <p14:sldId id="838840646"/>
            <p14:sldId id="4850"/>
            <p14:sldId id="4852"/>
            <p14:sldId id="4882"/>
          </p14:sldIdLst>
        </p14:section>
        <p14:section name="TTM19.0" id="{871F25CB-CAE3-454D-9279-6398E4B18D3A}">
          <p14:sldIdLst>
            <p14:sldId id="4853"/>
            <p14:sldId id="838840635"/>
            <p14:sldId id="4854"/>
            <p14:sldId id="4849"/>
            <p14:sldId id="838840636"/>
            <p14:sldId id="4857"/>
            <p14:sldId id="4812"/>
            <p14:sldId id="838840637"/>
            <p14:sldId id="4864"/>
            <p14:sldId id="4865"/>
            <p14:sldId id="4866"/>
            <p14:sldId id="4867"/>
            <p14:sldId id="4868"/>
            <p14:sldId id="4869"/>
            <p14:sldId id="4871"/>
            <p14:sldId id="4856"/>
            <p14:sldId id="4851"/>
            <p14:sldId id="4870"/>
            <p14:sldId id="4859"/>
            <p14:sldId id="4872"/>
          </p14:sldIdLst>
        </p14:section>
        <p14:section name="TTM18.0" id="{0DB5B16E-CD48-4335-AC89-2BC238EAF852}">
          <p14:sldIdLst>
            <p14:sldId id="838840631"/>
            <p14:sldId id="838840632"/>
            <p14:sldId id="4813"/>
            <p14:sldId id="838840633"/>
            <p14:sldId id="4837"/>
            <p14:sldId id="4839"/>
            <p14:sldId id="4840"/>
            <p14:sldId id="4841"/>
            <p14:sldId id="4842"/>
            <p14:sldId id="4844"/>
            <p14:sldId id="4845"/>
            <p14:sldId id="4848"/>
            <p14:sldId id="4846"/>
          </p14:sldIdLst>
        </p14:section>
        <p14:section name="TTM17.0" id="{44A9D4E1-E154-417B-9557-C4DD4F85893B}">
          <p14:sldIdLst>
            <p14:sldId id="838840622"/>
            <p14:sldId id="4811"/>
            <p14:sldId id="4814"/>
            <p14:sldId id="838840623"/>
            <p14:sldId id="838840624"/>
            <p14:sldId id="4806"/>
            <p14:sldId id="4826"/>
            <p14:sldId id="4827"/>
            <p14:sldId id="4828"/>
            <p14:sldId id="838840625"/>
            <p14:sldId id="838840626"/>
            <p14:sldId id="4815"/>
            <p14:sldId id="4816"/>
            <p14:sldId id="4817"/>
            <p14:sldId id="4818"/>
            <p14:sldId id="4819"/>
            <p14:sldId id="4820"/>
            <p14:sldId id="838840628"/>
            <p14:sldId id="838840629"/>
            <p14:sldId id="838840630"/>
            <p14:sldId id="4823"/>
          </p14:sldIdLst>
        </p14:section>
        <p14:section name="TTM16.2" id="{326D4606-7F9D-4E3B-BC16-730947E49FD2}">
          <p14:sldIdLst>
            <p14:sldId id="444"/>
            <p14:sldId id="838840619"/>
            <p14:sldId id="4803"/>
            <p14:sldId id="4804"/>
            <p14:sldId id="838840620"/>
            <p14:sldId id="838840621"/>
          </p14:sldIdLst>
        </p14:section>
        <p14:section name="TTM16.1" id="{52417E80-5465-4655-A8B1-61C5FC59F63F}">
          <p14:sldIdLst>
            <p14:sldId id="838840617"/>
            <p14:sldId id="4808"/>
            <p14:sldId id="4810"/>
          </p14:sldIdLst>
        </p14:section>
        <p14:section name="TTM16.0" id="{9A041F0A-00FC-4B72-9FE7-577EC8FDDCC2}">
          <p14:sldIdLst>
            <p14:sldId id="838840614"/>
            <p14:sldId id="838840615"/>
            <p14:sldId id="4802"/>
            <p14:sldId id="4801"/>
            <p14:sldId id="4805"/>
          </p14:sldIdLst>
        </p14:section>
        <p14:section name="TTM15.1" id="{9F15AB78-FBB1-4E45-AAE6-BD3C0F4C1DA5}">
          <p14:sldIdLst>
            <p14:sldId id="838840602"/>
            <p14:sldId id="4790"/>
            <p14:sldId id="4800"/>
            <p14:sldId id="4791"/>
            <p14:sldId id="4794"/>
            <p14:sldId id="4798"/>
            <p14:sldId id="4799"/>
          </p14:sldIdLst>
        </p14:section>
        <p14:section name="TTM15.0" id="{8ED625D4-71FE-4F77-8BA9-9B91036956F3}">
          <p14:sldIdLst>
            <p14:sldId id="838840601"/>
            <p14:sldId id="4789"/>
            <p14:sldId id="4786"/>
          </p14:sldIdLst>
        </p14:section>
        <p14:section name="TTM14.2" id="{8BF0EF0A-FD32-4D8E-BF23-1F2552EF2799}">
          <p14:sldIdLst>
            <p14:sldId id="838840618"/>
            <p14:sldId id="4777"/>
            <p14:sldId id="4778"/>
            <p14:sldId id="4785"/>
          </p14:sldIdLst>
        </p14:section>
        <p14:section name="TTM14.1" id="{C2D4DE62-5F1C-4011-A441-17A5C5A4F8B6}">
          <p14:sldIdLst>
            <p14:sldId id="838840606"/>
            <p14:sldId id="838840604"/>
            <p14:sldId id="838840605"/>
            <p14:sldId id="4764"/>
            <p14:sldId id="4773"/>
            <p14:sldId id="4776"/>
            <p14:sldId id="4774"/>
            <p14:sldId id="4775"/>
          </p14:sldIdLst>
        </p14:section>
        <p14:section name="TTM14.0" id="{21D8FC69-355D-4685-9437-820E3FED6AED}">
          <p14:sldIdLst>
            <p14:sldId id="838840607"/>
            <p14:sldId id="4769"/>
            <p14:sldId id="838840608"/>
            <p14:sldId id="838840609"/>
          </p14:sldIdLst>
        </p14:section>
        <p14:section name="TTM12.3" id="{7E33E8C3-8AD2-4ABF-91F2-B289BC9C931A}">
          <p14:sldIdLst>
            <p14:sldId id="838840610"/>
            <p14:sldId id="4761"/>
            <p14:sldId id="4759"/>
            <p14:sldId id="4719"/>
            <p14:sldId id="4754"/>
            <p14:sldId id="4756"/>
          </p14:sldIdLst>
        </p14:section>
        <p14:section name="TTM12.2" id="{4502BBFA-8F40-4934-B7C3-4D81024F9665}">
          <p14:sldIdLst>
            <p14:sldId id="838840611"/>
            <p14:sldId id="4681"/>
            <p14:sldId id="4680"/>
            <p14:sldId id="4684"/>
          </p14:sldIdLst>
        </p14:section>
        <p14:section name="TTM12.1" id="{C2D7478E-537B-408A-9E9A-48840E6B242D}">
          <p14:sldIdLst>
            <p14:sldId id="838840612"/>
            <p14:sldId id="838840613"/>
            <p14:sldId id="4580"/>
            <p14:sldId id="4568"/>
          </p14:sldIdLst>
        </p14:section>
        <p14:section name="External Test Capabilities: Out of Scope Functionality" id="{CE967DD7-9631-417E-9F5E-280D384DC126}">
          <p14:sldIdLst>
            <p14:sldId id="838840596"/>
            <p14:sldId id="257"/>
            <p14:sldId id="259"/>
            <p14:sldId id="838840542"/>
            <p14:sldId id="838840543"/>
            <p14:sldId id="838840544"/>
          </p14:sldIdLst>
        </p14:section>
        <p14:section name="Appendix" id="{2FE5FF9B-DDA0-47CE-AADA-EE18F42A09C5}">
          <p14:sldIdLst>
            <p14:sldId id="838840546"/>
            <p14:sldId id="4607"/>
            <p14:sldId id="4608"/>
            <p14:sldId id="4609"/>
            <p14:sldId id="440"/>
            <p14:sldId id="838840547"/>
            <p14:sldId id="4645"/>
            <p14:sldId id="838840548"/>
            <p14:sldId id="838840549"/>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9999"/>
    <a:srgbClr val="B7FFDB"/>
    <a:srgbClr val="4472C4"/>
    <a:srgbClr val="CFD5EA"/>
    <a:srgbClr val="E9EBF5"/>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
    <a:wholeTbl>
      <a:tcTxStyle>
        <a:font>
          <a:latin typeface="+mn-lt"/>
          <a:ea typeface="+mn-ea"/>
          <a:cs typeface="+mn-cs"/>
        </a:font>
        <a:srgbClr val="000000"/>
      </a:tcTxStyle>
      <a:tcStyle>
        <a:tcBdr>
          <a:left>
            <a:ln w="12701" cap="flat" cmpd="sng" algn="ctr">
              <a:solidFill>
                <a:srgbClr val="FFFFFF"/>
              </a:solidFill>
              <a:prstDash val="solid"/>
              <a:round/>
              <a:headEnd type="none" w="med" len="med"/>
              <a:tailEnd type="none" w="med" len="med"/>
            </a:ln>
          </a:left>
          <a:right>
            <a:ln w="12701" cap="flat" cmpd="sng" algn="ctr">
              <a:solidFill>
                <a:srgbClr val="FFFFFF"/>
              </a:solidFill>
              <a:prstDash val="solid"/>
              <a:round/>
              <a:headEnd type="none" w="med" len="med"/>
              <a:tailEnd type="none" w="med" len="med"/>
            </a:ln>
          </a:right>
          <a:top>
            <a:ln w="12701" cap="flat" cmpd="sng" algn="ctr">
              <a:solidFill>
                <a:srgbClr val="FFFFFF"/>
              </a:solidFill>
              <a:prstDash val="solid"/>
              <a:round/>
              <a:headEnd type="none" w="med" len="med"/>
              <a:tailEnd type="none" w="med" len="med"/>
            </a:ln>
          </a:top>
          <a:bottom>
            <a:ln w="12701" cap="flat" cmpd="sng" algn="ctr">
              <a:solidFill>
                <a:srgbClr val="FFFFFF"/>
              </a:solidFill>
              <a:prstDash val="solid"/>
              <a:round/>
              <a:headEnd type="none" w="med" len="med"/>
              <a:tailEnd type="none" w="med" len="med"/>
            </a:ln>
          </a:bottom>
        </a:tcBdr>
        <a:fill>
          <a:solidFill>
            <a:srgbClr val="E9EBF5"/>
          </a:solidFill>
        </a:fill>
      </a:tcStyle>
    </a:wholeTbl>
    <a:band1H>
      <a:tcStyle>
        <a:tcBdr/>
        <a:fill>
          <a:solidFill>
            <a:srgbClr val="CFD5EA"/>
          </a:solidFill>
        </a:fill>
      </a:tcStyle>
    </a:band1H>
    <a:band2H>
      <a:tcStyle>
        <a:tcBdr/>
      </a:tcStyle>
    </a:band2H>
    <a:band1V>
      <a:tcStyle>
        <a:tcBdr/>
        <a:fill>
          <a:solidFill>
            <a:srgbClr val="CFD5EA"/>
          </a:solidFill>
        </a:fill>
      </a:tcStyle>
    </a:band1V>
    <a:band2V>
      <a:tcStyle>
        <a:tcBdr/>
      </a:tcStyle>
    </a:band2V>
    <a:lastCol>
      <a:tcTxStyle b="on">
        <a:font>
          <a:latin typeface="+mn-lt"/>
          <a:ea typeface="+mn-ea"/>
          <a:cs typeface="+mn-cs"/>
        </a:font>
        <a:srgbClr val="FFFFFF"/>
      </a:tcTxStyle>
      <a:tcStyle>
        <a:tcBdr/>
        <a:fill>
          <a:solidFill>
            <a:srgbClr val="4472C4"/>
          </a:solidFill>
        </a:fill>
      </a:tcStyle>
    </a:lastCol>
    <a:firstCol>
      <a:tcTxStyle b="on">
        <a:font>
          <a:latin typeface="+mn-lt"/>
          <a:ea typeface="+mn-ea"/>
          <a:cs typeface="+mn-cs"/>
        </a:font>
        <a:srgbClr val="FFFFFF"/>
      </a:tcTxStyle>
      <a:tcStyle>
        <a:tcBdr/>
        <a:fill>
          <a:solidFill>
            <a:srgbClr val="4472C4"/>
          </a:solidFill>
        </a:fill>
      </a:tcStyle>
    </a:firstCol>
    <a:lastRow>
      <a:tcTxStyle b="on">
        <a:font>
          <a:latin typeface="+mn-lt"/>
          <a:ea typeface="+mn-ea"/>
          <a:cs typeface="+mn-cs"/>
        </a:font>
        <a:srgbClr val="FFFFFF"/>
      </a:tcTxStyle>
      <a:tcStyle>
        <a:tcBdr>
          <a:top>
            <a:ln w="38103" cap="flat" cmpd="sng" algn="ctr">
              <a:solidFill>
                <a:srgbClr val="FFFFFF"/>
              </a:solidFill>
              <a:prstDash val="solid"/>
              <a:round/>
              <a:headEnd type="none" w="med" len="med"/>
              <a:tailEnd type="none" w="med" len="med"/>
            </a:ln>
          </a:top>
        </a:tcBdr>
        <a:fill>
          <a:solidFill>
            <a:srgbClr val="4472C4"/>
          </a:solidFill>
        </a:fill>
      </a:tcStyle>
    </a:lastRow>
    <a:firstRow>
      <a:tcTxStyle b="on">
        <a:font>
          <a:latin typeface="+mn-lt"/>
          <a:ea typeface="+mn-ea"/>
          <a:cs typeface="+mn-cs"/>
        </a:font>
        <a:srgbClr val="FFFFFF"/>
      </a:tcTxStyle>
      <a:tcStyle>
        <a:tcBdr>
          <a:bottom>
            <a:ln w="38103" cap="flat" cmpd="sng" algn="ctr">
              <a:solidFill>
                <a:srgbClr val="FFFFFF"/>
              </a:solidFill>
              <a:prstDash val="solid"/>
              <a:round/>
              <a:headEnd type="none" w="med" len="med"/>
              <a:tailEnd type="none" w="med" len="med"/>
            </a:ln>
          </a:bottom>
        </a:tcBdr>
        <a:fill>
          <a:solidFill>
            <a:srgbClr val="4472C4"/>
          </a:solidFill>
        </a:fill>
      </a:tcStyle>
    </a:firstRow>
  </a:tblStyle>
  <a:tblStyle styleId="{F5AB1C69-6EDB-4FF4-983F-18BD219EF322}" styleName="">
    <a:wholeTbl>
      <a:tcTxStyle>
        <a:font>
          <a:latin typeface="+mn-lt"/>
          <a:ea typeface="+mn-ea"/>
          <a:cs typeface="+mn-cs"/>
        </a:font>
        <a:srgbClr val="000000"/>
      </a:tcTxStyle>
      <a:tcStyle>
        <a:tcBdr>
          <a:left>
            <a:ln w="12701" cap="flat" cmpd="sng" algn="ctr">
              <a:solidFill>
                <a:srgbClr val="FFFFFF"/>
              </a:solidFill>
              <a:prstDash val="solid"/>
              <a:round/>
              <a:headEnd type="none" w="med" len="med"/>
              <a:tailEnd type="none" w="med" len="med"/>
            </a:ln>
          </a:left>
          <a:right>
            <a:ln w="12701" cap="flat" cmpd="sng" algn="ctr">
              <a:solidFill>
                <a:srgbClr val="FFFFFF"/>
              </a:solidFill>
              <a:prstDash val="solid"/>
              <a:round/>
              <a:headEnd type="none" w="med" len="med"/>
              <a:tailEnd type="none" w="med" len="med"/>
            </a:ln>
          </a:right>
          <a:top>
            <a:ln w="12701" cap="flat" cmpd="sng" algn="ctr">
              <a:solidFill>
                <a:srgbClr val="FFFFFF"/>
              </a:solidFill>
              <a:prstDash val="solid"/>
              <a:round/>
              <a:headEnd type="none" w="med" len="med"/>
              <a:tailEnd type="none" w="med" len="med"/>
            </a:ln>
          </a:top>
          <a:bottom>
            <a:ln w="12701" cap="flat" cmpd="sng" algn="ctr">
              <a:solidFill>
                <a:srgbClr val="FFFFFF"/>
              </a:solidFill>
              <a:prstDash val="solid"/>
              <a:round/>
              <a:headEnd type="none" w="med" len="med"/>
              <a:tailEnd type="none" w="med" len="med"/>
            </a:ln>
          </a:bottom>
        </a:tcBdr>
        <a:fill>
          <a:solidFill>
            <a:srgbClr val="F0F0F0"/>
          </a:solidFill>
        </a:fill>
      </a:tcStyle>
    </a:wholeTbl>
    <a:band1H>
      <a:tcStyle>
        <a:tcBdr/>
        <a:fill>
          <a:solidFill>
            <a:srgbClr val="E1E1E1"/>
          </a:solidFill>
        </a:fill>
      </a:tcStyle>
    </a:band1H>
    <a:band2H>
      <a:tcStyle>
        <a:tcBdr/>
      </a:tcStyle>
    </a:band2H>
    <a:band1V>
      <a:tcStyle>
        <a:tcBdr/>
        <a:fill>
          <a:solidFill>
            <a:srgbClr val="E1E1E1"/>
          </a:solidFill>
        </a:fill>
      </a:tcStyle>
    </a:band1V>
    <a:band2V>
      <a:tcStyle>
        <a:tcBdr/>
      </a:tcStyle>
    </a:band2V>
    <a:lastCol>
      <a:tcTxStyle b="on">
        <a:font>
          <a:latin typeface="+mn-lt"/>
          <a:ea typeface="+mn-ea"/>
          <a:cs typeface="+mn-cs"/>
        </a:font>
        <a:srgbClr val="FFFFFF"/>
      </a:tcTxStyle>
      <a:tcStyle>
        <a:tcBdr/>
        <a:fill>
          <a:solidFill>
            <a:srgbClr val="A5A5A5"/>
          </a:solidFill>
        </a:fill>
      </a:tcStyle>
    </a:lastCol>
    <a:firstCol>
      <a:tcTxStyle b="on">
        <a:font>
          <a:latin typeface="+mn-lt"/>
          <a:ea typeface="+mn-ea"/>
          <a:cs typeface="+mn-cs"/>
        </a:font>
        <a:srgbClr val="FFFFFF"/>
      </a:tcTxStyle>
      <a:tcStyle>
        <a:tcBdr/>
        <a:fill>
          <a:solidFill>
            <a:srgbClr val="A5A5A5"/>
          </a:solidFill>
        </a:fill>
      </a:tcStyle>
    </a:firstCol>
    <a:lastRow>
      <a:tcTxStyle b="on">
        <a:font>
          <a:latin typeface="+mn-lt"/>
          <a:ea typeface="+mn-ea"/>
          <a:cs typeface="+mn-cs"/>
        </a:font>
        <a:srgbClr val="FFFFFF"/>
      </a:tcTxStyle>
      <a:tcStyle>
        <a:tcBdr>
          <a:top>
            <a:ln w="38103" cap="flat" cmpd="sng" algn="ctr">
              <a:solidFill>
                <a:srgbClr val="FFFFFF"/>
              </a:solidFill>
              <a:prstDash val="solid"/>
              <a:round/>
              <a:headEnd type="none" w="med" len="med"/>
              <a:tailEnd type="none" w="med" len="med"/>
            </a:ln>
          </a:top>
        </a:tcBdr>
        <a:fill>
          <a:solidFill>
            <a:srgbClr val="A5A5A5"/>
          </a:solidFill>
        </a:fill>
      </a:tcStyle>
    </a:lastRow>
    <a:firstRow>
      <a:tcTxStyle b="on">
        <a:font>
          <a:latin typeface="+mn-lt"/>
          <a:ea typeface="+mn-ea"/>
          <a:cs typeface="+mn-cs"/>
        </a:font>
        <a:srgbClr val="FFFFFF"/>
      </a:tcTxStyle>
      <a:tcStyle>
        <a:tcBdr>
          <a:bottom>
            <a:ln w="38103" cap="flat" cmpd="sng" algn="ctr">
              <a:solidFill>
                <a:srgbClr val="FFFFFF"/>
              </a:solidFill>
              <a:prstDash val="solid"/>
              <a:round/>
              <a:headEnd type="none" w="med" len="med"/>
              <a:tailEnd type="none" w="med" len="med"/>
            </a:ln>
          </a:bottom>
        </a:tcBdr>
        <a:fill>
          <a:solidFill>
            <a:srgbClr val="A5A5A5"/>
          </a:solidFill>
        </a:fill>
      </a:tcStyle>
    </a:firstRow>
  </a:tblStyle>
  <a:tblStyle styleId="{5940675A-B579-460E-94D1-54222C63F5DA}" styleName="">
    <a:wholeTbl>
      <a:tcTxStyle>
        <a:font>
          <a:latin typeface="+mn-lt"/>
          <a:ea typeface="+mn-ea"/>
          <a:cs typeface="+mn-cs"/>
        </a:font>
        <a:srgbClr val="000000"/>
      </a:tcTxStyle>
      <a:tcStyle>
        <a:tcBdr>
          <a:left>
            <a:ln w="12701" cap="flat" cmpd="sng" algn="ctr">
              <a:solidFill>
                <a:srgbClr val="000000"/>
              </a:solidFill>
              <a:prstDash val="solid"/>
              <a:round/>
              <a:headEnd type="none" w="med" len="med"/>
              <a:tailEnd type="none" w="med" len="med"/>
            </a:ln>
          </a:left>
          <a:right>
            <a:ln w="12701" cap="flat" cmpd="sng" algn="ctr">
              <a:solidFill>
                <a:srgbClr val="000000"/>
              </a:solidFill>
              <a:prstDash val="solid"/>
              <a:round/>
              <a:headEnd type="none" w="med" len="med"/>
              <a:tailEnd type="none" w="med" len="med"/>
            </a:ln>
          </a:right>
          <a:top>
            <a:ln w="12701" cap="flat" cmpd="sng" algn="ctr">
              <a:solidFill>
                <a:srgbClr val="000000"/>
              </a:solidFill>
              <a:prstDash val="solid"/>
              <a:round/>
              <a:headEnd type="none" w="med" len="med"/>
              <a:tailEnd type="none" w="med" len="med"/>
            </a:ln>
          </a:top>
          <a:bottom>
            <a:ln w="12701" cap="flat" cmpd="sng" algn="ctr">
              <a:solidFill>
                <a:srgbClr val="000000"/>
              </a:solidFill>
              <a:prstDash val="solid"/>
              <a:round/>
              <a:headEnd type="none" w="med" len="med"/>
              <a:tailEnd type="none" w="med" len="med"/>
            </a:ln>
          </a:bottom>
        </a:tcBdr>
      </a:tcStyle>
    </a:wholeTbl>
  </a:tblStyle>
  <a:tblStyle styleId="{93296810-A885-4BE3-A3E7-6D5BEEA58F35}" styleName="">
    <a:wholeTbl>
      <a:tcTxStyle>
        <a:font>
          <a:latin typeface="+mn-lt"/>
          <a:ea typeface="+mn-ea"/>
          <a:cs typeface="+mn-cs"/>
        </a:font>
        <a:srgbClr val="000000"/>
      </a:tcTxStyle>
      <a:tcStyle>
        <a:tcBdr>
          <a:left>
            <a:ln w="12701" cap="flat" cmpd="sng" algn="ctr">
              <a:solidFill>
                <a:srgbClr val="FFFFFF"/>
              </a:solidFill>
              <a:prstDash val="solid"/>
              <a:round/>
              <a:headEnd type="none" w="med" len="med"/>
              <a:tailEnd type="none" w="med" len="med"/>
            </a:ln>
          </a:left>
          <a:right>
            <a:ln w="12701" cap="flat" cmpd="sng" algn="ctr">
              <a:solidFill>
                <a:srgbClr val="FFFFFF"/>
              </a:solidFill>
              <a:prstDash val="solid"/>
              <a:round/>
              <a:headEnd type="none" w="med" len="med"/>
              <a:tailEnd type="none" w="med" len="med"/>
            </a:ln>
          </a:right>
          <a:top>
            <a:ln w="12701" cap="flat" cmpd="sng" algn="ctr">
              <a:solidFill>
                <a:srgbClr val="FFFFFF"/>
              </a:solidFill>
              <a:prstDash val="solid"/>
              <a:round/>
              <a:headEnd type="none" w="med" len="med"/>
              <a:tailEnd type="none" w="med" len="med"/>
            </a:ln>
          </a:top>
          <a:bottom>
            <a:ln w="12701" cap="flat" cmpd="sng" algn="ctr">
              <a:solidFill>
                <a:srgbClr val="FFFFFF"/>
              </a:solidFill>
              <a:prstDash val="solid"/>
              <a:round/>
              <a:headEnd type="none" w="med" len="med"/>
              <a:tailEnd type="none" w="med" len="med"/>
            </a:ln>
          </a:bottom>
        </a:tcBdr>
        <a:fill>
          <a:solidFill>
            <a:srgbClr val="EBF1E9"/>
          </a:solidFill>
        </a:fill>
      </a:tcStyle>
    </a:wholeTbl>
    <a:band1H>
      <a:tcStyle>
        <a:tcBdr/>
        <a:fill>
          <a:solidFill>
            <a:srgbClr val="D5E3CF"/>
          </a:solidFill>
        </a:fill>
      </a:tcStyle>
    </a:band1H>
    <a:band2H>
      <a:tcStyle>
        <a:tcBdr/>
      </a:tcStyle>
    </a:band2H>
    <a:band1V>
      <a:tcStyle>
        <a:tcBdr/>
        <a:fill>
          <a:solidFill>
            <a:srgbClr val="D5E3CF"/>
          </a:solidFill>
        </a:fill>
      </a:tcStyle>
    </a:band1V>
    <a:band2V>
      <a:tcStyle>
        <a:tcBdr/>
      </a:tcStyle>
    </a:band2V>
    <a:lastCol>
      <a:tcTxStyle b="on">
        <a:font>
          <a:latin typeface="+mn-lt"/>
          <a:ea typeface="+mn-ea"/>
          <a:cs typeface="+mn-cs"/>
        </a:font>
        <a:srgbClr val="FFFFFF"/>
      </a:tcTxStyle>
      <a:tcStyle>
        <a:tcBdr/>
        <a:fill>
          <a:solidFill>
            <a:srgbClr val="70AD47"/>
          </a:solidFill>
        </a:fill>
      </a:tcStyle>
    </a:lastCol>
    <a:firstCol>
      <a:tcTxStyle b="on">
        <a:font>
          <a:latin typeface="+mn-lt"/>
          <a:ea typeface="+mn-ea"/>
          <a:cs typeface="+mn-cs"/>
        </a:font>
        <a:srgbClr val="FFFFFF"/>
      </a:tcTxStyle>
      <a:tcStyle>
        <a:tcBdr/>
        <a:fill>
          <a:solidFill>
            <a:srgbClr val="70AD47"/>
          </a:solidFill>
        </a:fill>
      </a:tcStyle>
    </a:firstCol>
    <a:lastRow>
      <a:tcTxStyle b="on">
        <a:font>
          <a:latin typeface="+mn-lt"/>
          <a:ea typeface="+mn-ea"/>
          <a:cs typeface="+mn-cs"/>
        </a:font>
        <a:srgbClr val="FFFFFF"/>
      </a:tcTxStyle>
      <a:tcStyle>
        <a:tcBdr>
          <a:top>
            <a:ln w="38103" cap="flat" cmpd="sng" algn="ctr">
              <a:solidFill>
                <a:srgbClr val="FFFFFF"/>
              </a:solidFill>
              <a:prstDash val="solid"/>
              <a:round/>
              <a:headEnd type="none" w="med" len="med"/>
              <a:tailEnd type="none" w="med" len="med"/>
            </a:ln>
          </a:top>
        </a:tcBdr>
        <a:fill>
          <a:solidFill>
            <a:srgbClr val="70AD47"/>
          </a:solidFill>
        </a:fill>
      </a:tcStyle>
    </a:lastRow>
    <a:firstRow>
      <a:tcTxStyle b="on">
        <a:font>
          <a:latin typeface="+mn-lt"/>
          <a:ea typeface="+mn-ea"/>
          <a:cs typeface="+mn-cs"/>
        </a:font>
        <a:srgbClr val="FFFFFF"/>
      </a:tcTxStyle>
      <a:tcStyle>
        <a:tcBdr>
          <a:bottom>
            <a:ln w="38103" cap="flat" cmpd="sng" algn="ctr">
              <a:solidFill>
                <a:srgbClr val="FFFFFF"/>
              </a:solidFill>
              <a:prstDash val="solid"/>
              <a:round/>
              <a:headEnd type="none" w="med" len="med"/>
              <a:tailEnd type="none" w="med" len="med"/>
            </a:ln>
          </a:bottom>
        </a:tcBdr>
        <a:fill>
          <a:solidFill>
            <a:srgbClr val="70AD47"/>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725" autoAdjust="0"/>
    <p:restoredTop sz="94660"/>
  </p:normalViewPr>
  <p:slideViewPr>
    <p:cSldViewPr snapToGrid="0">
      <p:cViewPr varScale="1">
        <p:scale>
          <a:sx n="42" d="100"/>
          <a:sy n="42" d="100"/>
        </p:scale>
        <p:origin x="1844" y="260"/>
      </p:cViewPr>
      <p:guideLst/>
    </p:cSldViewPr>
  </p:slideViewPr>
  <p:notesTextViewPr>
    <p:cViewPr>
      <p:scale>
        <a:sx n="1" d="1"/>
        <a:sy n="1" d="1"/>
      </p:scale>
      <p:origin x="0" y="0"/>
    </p:cViewPr>
  </p:notesTextViewPr>
  <p:notesViewPr>
    <p:cSldViewPr snapToGrid="0">
      <p:cViewPr varScale="1">
        <p:scale>
          <a:sx n="48" d="100"/>
          <a:sy n="48" d="100"/>
        </p:scale>
        <p:origin x="2752" y="24"/>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7.xml"/><Relationship Id="rId299" Type="http://schemas.openxmlformats.org/officeDocument/2006/relationships/slide" Target="slides/slide289.xml"/><Relationship Id="rId21" Type="http://schemas.openxmlformats.org/officeDocument/2006/relationships/slide" Target="slides/slide11.xml"/><Relationship Id="rId63" Type="http://schemas.openxmlformats.org/officeDocument/2006/relationships/slide" Target="slides/slide53.xml"/><Relationship Id="rId159" Type="http://schemas.openxmlformats.org/officeDocument/2006/relationships/slide" Target="slides/slide149.xml"/><Relationship Id="rId324" Type="http://schemas.openxmlformats.org/officeDocument/2006/relationships/slide" Target="slides/slide314.xml"/><Relationship Id="rId366" Type="http://schemas.openxmlformats.org/officeDocument/2006/relationships/slide" Target="slides/slide356.xml"/><Relationship Id="rId170" Type="http://schemas.openxmlformats.org/officeDocument/2006/relationships/slide" Target="slides/slide160.xml"/><Relationship Id="rId226" Type="http://schemas.openxmlformats.org/officeDocument/2006/relationships/slide" Target="slides/slide216.xml"/><Relationship Id="rId433" Type="http://schemas.openxmlformats.org/officeDocument/2006/relationships/slide" Target="slides/slide423.xml"/><Relationship Id="rId268" Type="http://schemas.openxmlformats.org/officeDocument/2006/relationships/slide" Target="slides/slide258.xml"/><Relationship Id="rId32" Type="http://schemas.openxmlformats.org/officeDocument/2006/relationships/slide" Target="slides/slide22.xml"/><Relationship Id="rId74" Type="http://schemas.openxmlformats.org/officeDocument/2006/relationships/slide" Target="slides/slide64.xml"/><Relationship Id="rId128" Type="http://schemas.openxmlformats.org/officeDocument/2006/relationships/slide" Target="slides/slide118.xml"/><Relationship Id="rId335" Type="http://schemas.openxmlformats.org/officeDocument/2006/relationships/slide" Target="slides/slide325.xml"/><Relationship Id="rId377" Type="http://schemas.openxmlformats.org/officeDocument/2006/relationships/slide" Target="slides/slide367.xml"/><Relationship Id="rId5" Type="http://schemas.openxmlformats.org/officeDocument/2006/relationships/slideMaster" Target="slideMasters/slideMaster2.xml"/><Relationship Id="rId181" Type="http://schemas.openxmlformats.org/officeDocument/2006/relationships/slide" Target="slides/slide171.xml"/><Relationship Id="rId237" Type="http://schemas.openxmlformats.org/officeDocument/2006/relationships/slide" Target="slides/slide227.xml"/><Relationship Id="rId402" Type="http://schemas.openxmlformats.org/officeDocument/2006/relationships/slide" Target="slides/slide392.xml"/><Relationship Id="rId279" Type="http://schemas.openxmlformats.org/officeDocument/2006/relationships/slide" Target="slides/slide269.xml"/><Relationship Id="rId444" Type="http://schemas.openxmlformats.org/officeDocument/2006/relationships/slide" Target="slides/slide434.xml"/><Relationship Id="rId43" Type="http://schemas.openxmlformats.org/officeDocument/2006/relationships/slide" Target="slides/slide33.xml"/><Relationship Id="rId139" Type="http://schemas.openxmlformats.org/officeDocument/2006/relationships/slide" Target="slides/slide129.xml"/><Relationship Id="rId290" Type="http://schemas.openxmlformats.org/officeDocument/2006/relationships/slide" Target="slides/slide280.xml"/><Relationship Id="rId304" Type="http://schemas.openxmlformats.org/officeDocument/2006/relationships/slide" Target="slides/slide294.xml"/><Relationship Id="rId346" Type="http://schemas.openxmlformats.org/officeDocument/2006/relationships/slide" Target="slides/slide336.xml"/><Relationship Id="rId388" Type="http://schemas.openxmlformats.org/officeDocument/2006/relationships/slide" Target="slides/slide378.xml"/><Relationship Id="rId85" Type="http://schemas.openxmlformats.org/officeDocument/2006/relationships/slide" Target="slides/slide75.xml"/><Relationship Id="rId150" Type="http://schemas.openxmlformats.org/officeDocument/2006/relationships/slide" Target="slides/slide140.xml"/><Relationship Id="rId192" Type="http://schemas.openxmlformats.org/officeDocument/2006/relationships/slide" Target="slides/slide182.xml"/><Relationship Id="rId206" Type="http://schemas.openxmlformats.org/officeDocument/2006/relationships/slide" Target="slides/slide196.xml"/><Relationship Id="rId413" Type="http://schemas.openxmlformats.org/officeDocument/2006/relationships/slide" Target="slides/slide403.xml"/><Relationship Id="rId248" Type="http://schemas.openxmlformats.org/officeDocument/2006/relationships/slide" Target="slides/slide238.xml"/><Relationship Id="rId455" Type="http://schemas.openxmlformats.org/officeDocument/2006/relationships/slide" Target="slides/slide445.xml"/><Relationship Id="rId12" Type="http://schemas.openxmlformats.org/officeDocument/2006/relationships/slide" Target="slides/slide2.xml"/><Relationship Id="rId108" Type="http://schemas.openxmlformats.org/officeDocument/2006/relationships/slide" Target="slides/slide98.xml"/><Relationship Id="rId315" Type="http://schemas.openxmlformats.org/officeDocument/2006/relationships/slide" Target="slides/slide305.xml"/><Relationship Id="rId357" Type="http://schemas.openxmlformats.org/officeDocument/2006/relationships/slide" Target="slides/slide347.xml"/><Relationship Id="rId54" Type="http://schemas.openxmlformats.org/officeDocument/2006/relationships/slide" Target="slides/slide44.xml"/><Relationship Id="rId96" Type="http://schemas.openxmlformats.org/officeDocument/2006/relationships/slide" Target="slides/slide86.xml"/><Relationship Id="rId161" Type="http://schemas.openxmlformats.org/officeDocument/2006/relationships/slide" Target="slides/slide151.xml"/><Relationship Id="rId217" Type="http://schemas.openxmlformats.org/officeDocument/2006/relationships/slide" Target="slides/slide207.xml"/><Relationship Id="rId399" Type="http://schemas.openxmlformats.org/officeDocument/2006/relationships/slide" Target="slides/slide389.xml"/><Relationship Id="rId259" Type="http://schemas.openxmlformats.org/officeDocument/2006/relationships/slide" Target="slides/slide249.xml"/><Relationship Id="rId424" Type="http://schemas.openxmlformats.org/officeDocument/2006/relationships/slide" Target="slides/slide414.xml"/><Relationship Id="rId466" Type="http://schemas.openxmlformats.org/officeDocument/2006/relationships/viewProps" Target="viewProps.xml"/><Relationship Id="rId23" Type="http://schemas.openxmlformats.org/officeDocument/2006/relationships/slide" Target="slides/slide13.xml"/><Relationship Id="rId119" Type="http://schemas.openxmlformats.org/officeDocument/2006/relationships/slide" Target="slides/slide109.xml"/><Relationship Id="rId270" Type="http://schemas.openxmlformats.org/officeDocument/2006/relationships/slide" Target="slides/slide260.xml"/><Relationship Id="rId326" Type="http://schemas.openxmlformats.org/officeDocument/2006/relationships/slide" Target="slides/slide316.xml"/><Relationship Id="rId65" Type="http://schemas.openxmlformats.org/officeDocument/2006/relationships/slide" Target="slides/slide55.xml"/><Relationship Id="rId130" Type="http://schemas.openxmlformats.org/officeDocument/2006/relationships/slide" Target="slides/slide120.xml"/><Relationship Id="rId368" Type="http://schemas.openxmlformats.org/officeDocument/2006/relationships/slide" Target="slides/slide358.xml"/><Relationship Id="rId172" Type="http://schemas.openxmlformats.org/officeDocument/2006/relationships/slide" Target="slides/slide162.xml"/><Relationship Id="rId193" Type="http://schemas.openxmlformats.org/officeDocument/2006/relationships/slide" Target="slides/slide183.xml"/><Relationship Id="rId207" Type="http://schemas.openxmlformats.org/officeDocument/2006/relationships/slide" Target="slides/slide197.xml"/><Relationship Id="rId228" Type="http://schemas.openxmlformats.org/officeDocument/2006/relationships/slide" Target="slides/slide218.xml"/><Relationship Id="rId249" Type="http://schemas.openxmlformats.org/officeDocument/2006/relationships/slide" Target="slides/slide239.xml"/><Relationship Id="rId414" Type="http://schemas.openxmlformats.org/officeDocument/2006/relationships/slide" Target="slides/slide404.xml"/><Relationship Id="rId435" Type="http://schemas.openxmlformats.org/officeDocument/2006/relationships/slide" Target="slides/slide425.xml"/><Relationship Id="rId456" Type="http://schemas.openxmlformats.org/officeDocument/2006/relationships/slide" Target="slides/slide446.xml"/><Relationship Id="rId13" Type="http://schemas.openxmlformats.org/officeDocument/2006/relationships/slide" Target="slides/slide3.xml"/><Relationship Id="rId109" Type="http://schemas.openxmlformats.org/officeDocument/2006/relationships/slide" Target="slides/slide99.xml"/><Relationship Id="rId260" Type="http://schemas.openxmlformats.org/officeDocument/2006/relationships/slide" Target="slides/slide250.xml"/><Relationship Id="rId281" Type="http://schemas.openxmlformats.org/officeDocument/2006/relationships/slide" Target="slides/slide271.xml"/><Relationship Id="rId316" Type="http://schemas.openxmlformats.org/officeDocument/2006/relationships/slide" Target="slides/slide306.xml"/><Relationship Id="rId337" Type="http://schemas.openxmlformats.org/officeDocument/2006/relationships/slide" Target="slides/slide327.xml"/><Relationship Id="rId34" Type="http://schemas.openxmlformats.org/officeDocument/2006/relationships/slide" Target="slides/slide24.xml"/><Relationship Id="rId55" Type="http://schemas.openxmlformats.org/officeDocument/2006/relationships/slide" Target="slides/slide45.xml"/><Relationship Id="rId76" Type="http://schemas.openxmlformats.org/officeDocument/2006/relationships/slide" Target="slides/slide66.xml"/><Relationship Id="rId97" Type="http://schemas.openxmlformats.org/officeDocument/2006/relationships/slide" Target="slides/slide87.xml"/><Relationship Id="rId120" Type="http://schemas.openxmlformats.org/officeDocument/2006/relationships/slide" Target="slides/slide110.xml"/><Relationship Id="rId141" Type="http://schemas.openxmlformats.org/officeDocument/2006/relationships/slide" Target="slides/slide131.xml"/><Relationship Id="rId358" Type="http://schemas.openxmlformats.org/officeDocument/2006/relationships/slide" Target="slides/slide348.xml"/><Relationship Id="rId379" Type="http://schemas.openxmlformats.org/officeDocument/2006/relationships/slide" Target="slides/slide369.xml"/><Relationship Id="rId7" Type="http://schemas.openxmlformats.org/officeDocument/2006/relationships/slideMaster" Target="slideMasters/slideMaster4.xml"/><Relationship Id="rId162" Type="http://schemas.openxmlformats.org/officeDocument/2006/relationships/slide" Target="slides/slide152.xml"/><Relationship Id="rId183" Type="http://schemas.openxmlformats.org/officeDocument/2006/relationships/slide" Target="slides/slide173.xml"/><Relationship Id="rId218" Type="http://schemas.openxmlformats.org/officeDocument/2006/relationships/slide" Target="slides/slide208.xml"/><Relationship Id="rId239" Type="http://schemas.openxmlformats.org/officeDocument/2006/relationships/slide" Target="slides/slide229.xml"/><Relationship Id="rId390" Type="http://schemas.openxmlformats.org/officeDocument/2006/relationships/slide" Target="slides/slide380.xml"/><Relationship Id="rId404" Type="http://schemas.openxmlformats.org/officeDocument/2006/relationships/slide" Target="slides/slide394.xml"/><Relationship Id="rId425" Type="http://schemas.openxmlformats.org/officeDocument/2006/relationships/slide" Target="slides/slide415.xml"/><Relationship Id="rId446" Type="http://schemas.openxmlformats.org/officeDocument/2006/relationships/slide" Target="slides/slide436.xml"/><Relationship Id="rId467" Type="http://schemas.openxmlformats.org/officeDocument/2006/relationships/theme" Target="theme/theme1.xml"/><Relationship Id="rId250" Type="http://schemas.openxmlformats.org/officeDocument/2006/relationships/slide" Target="slides/slide240.xml"/><Relationship Id="rId271" Type="http://schemas.openxmlformats.org/officeDocument/2006/relationships/slide" Target="slides/slide261.xml"/><Relationship Id="rId292" Type="http://schemas.openxmlformats.org/officeDocument/2006/relationships/slide" Target="slides/slide282.xml"/><Relationship Id="rId306" Type="http://schemas.openxmlformats.org/officeDocument/2006/relationships/slide" Target="slides/slide296.xml"/><Relationship Id="rId24" Type="http://schemas.openxmlformats.org/officeDocument/2006/relationships/slide" Target="slides/slide14.xml"/><Relationship Id="rId45" Type="http://schemas.openxmlformats.org/officeDocument/2006/relationships/slide" Target="slides/slide35.xml"/><Relationship Id="rId66" Type="http://schemas.openxmlformats.org/officeDocument/2006/relationships/slide" Target="slides/slide56.xml"/><Relationship Id="rId87" Type="http://schemas.openxmlformats.org/officeDocument/2006/relationships/slide" Target="slides/slide77.xml"/><Relationship Id="rId110" Type="http://schemas.openxmlformats.org/officeDocument/2006/relationships/slide" Target="slides/slide100.xml"/><Relationship Id="rId131" Type="http://schemas.openxmlformats.org/officeDocument/2006/relationships/slide" Target="slides/slide121.xml"/><Relationship Id="rId327" Type="http://schemas.openxmlformats.org/officeDocument/2006/relationships/slide" Target="slides/slide317.xml"/><Relationship Id="rId348" Type="http://schemas.openxmlformats.org/officeDocument/2006/relationships/slide" Target="slides/slide338.xml"/><Relationship Id="rId369" Type="http://schemas.openxmlformats.org/officeDocument/2006/relationships/slide" Target="slides/slide359.xml"/><Relationship Id="rId152" Type="http://schemas.openxmlformats.org/officeDocument/2006/relationships/slide" Target="slides/slide142.xml"/><Relationship Id="rId173" Type="http://schemas.openxmlformats.org/officeDocument/2006/relationships/slide" Target="slides/slide163.xml"/><Relationship Id="rId194" Type="http://schemas.openxmlformats.org/officeDocument/2006/relationships/slide" Target="slides/slide184.xml"/><Relationship Id="rId208" Type="http://schemas.openxmlformats.org/officeDocument/2006/relationships/slide" Target="slides/slide198.xml"/><Relationship Id="rId229" Type="http://schemas.openxmlformats.org/officeDocument/2006/relationships/slide" Target="slides/slide219.xml"/><Relationship Id="rId380" Type="http://schemas.openxmlformats.org/officeDocument/2006/relationships/slide" Target="slides/slide370.xml"/><Relationship Id="rId415" Type="http://schemas.openxmlformats.org/officeDocument/2006/relationships/slide" Target="slides/slide405.xml"/><Relationship Id="rId436" Type="http://schemas.openxmlformats.org/officeDocument/2006/relationships/slide" Target="slides/slide426.xml"/><Relationship Id="rId457" Type="http://schemas.openxmlformats.org/officeDocument/2006/relationships/slide" Target="slides/slide447.xml"/><Relationship Id="rId240" Type="http://schemas.openxmlformats.org/officeDocument/2006/relationships/slide" Target="slides/slide230.xml"/><Relationship Id="rId261" Type="http://schemas.openxmlformats.org/officeDocument/2006/relationships/slide" Target="slides/slide251.xml"/><Relationship Id="rId14" Type="http://schemas.openxmlformats.org/officeDocument/2006/relationships/slide" Target="slides/slide4.xml"/><Relationship Id="rId35" Type="http://schemas.openxmlformats.org/officeDocument/2006/relationships/slide" Target="slides/slide25.xml"/><Relationship Id="rId56" Type="http://schemas.openxmlformats.org/officeDocument/2006/relationships/slide" Target="slides/slide46.xml"/><Relationship Id="rId77" Type="http://schemas.openxmlformats.org/officeDocument/2006/relationships/slide" Target="slides/slide67.xml"/><Relationship Id="rId100" Type="http://schemas.openxmlformats.org/officeDocument/2006/relationships/slide" Target="slides/slide90.xml"/><Relationship Id="rId282" Type="http://schemas.openxmlformats.org/officeDocument/2006/relationships/slide" Target="slides/slide272.xml"/><Relationship Id="rId317" Type="http://schemas.openxmlformats.org/officeDocument/2006/relationships/slide" Target="slides/slide307.xml"/><Relationship Id="rId338" Type="http://schemas.openxmlformats.org/officeDocument/2006/relationships/slide" Target="slides/slide328.xml"/><Relationship Id="rId359" Type="http://schemas.openxmlformats.org/officeDocument/2006/relationships/slide" Target="slides/slide349.xml"/><Relationship Id="rId8" Type="http://schemas.openxmlformats.org/officeDocument/2006/relationships/slideMaster" Target="slideMasters/slideMaster5.xml"/><Relationship Id="rId98" Type="http://schemas.openxmlformats.org/officeDocument/2006/relationships/slide" Target="slides/slide88.xml"/><Relationship Id="rId121" Type="http://schemas.openxmlformats.org/officeDocument/2006/relationships/slide" Target="slides/slide111.xml"/><Relationship Id="rId142" Type="http://schemas.openxmlformats.org/officeDocument/2006/relationships/slide" Target="slides/slide132.xml"/><Relationship Id="rId163" Type="http://schemas.openxmlformats.org/officeDocument/2006/relationships/slide" Target="slides/slide153.xml"/><Relationship Id="rId184" Type="http://schemas.openxmlformats.org/officeDocument/2006/relationships/slide" Target="slides/slide174.xml"/><Relationship Id="rId219" Type="http://schemas.openxmlformats.org/officeDocument/2006/relationships/slide" Target="slides/slide209.xml"/><Relationship Id="rId370" Type="http://schemas.openxmlformats.org/officeDocument/2006/relationships/slide" Target="slides/slide360.xml"/><Relationship Id="rId391" Type="http://schemas.openxmlformats.org/officeDocument/2006/relationships/slide" Target="slides/slide381.xml"/><Relationship Id="rId405" Type="http://schemas.openxmlformats.org/officeDocument/2006/relationships/slide" Target="slides/slide395.xml"/><Relationship Id="rId426" Type="http://schemas.openxmlformats.org/officeDocument/2006/relationships/slide" Target="slides/slide416.xml"/><Relationship Id="rId447" Type="http://schemas.openxmlformats.org/officeDocument/2006/relationships/slide" Target="slides/slide437.xml"/><Relationship Id="rId230" Type="http://schemas.openxmlformats.org/officeDocument/2006/relationships/slide" Target="slides/slide220.xml"/><Relationship Id="rId251" Type="http://schemas.openxmlformats.org/officeDocument/2006/relationships/slide" Target="slides/slide241.xml"/><Relationship Id="rId468" Type="http://schemas.openxmlformats.org/officeDocument/2006/relationships/tableStyles" Target="tableStyles.xml"/><Relationship Id="rId25" Type="http://schemas.openxmlformats.org/officeDocument/2006/relationships/slide" Target="slides/slide15.xml"/><Relationship Id="rId46" Type="http://schemas.openxmlformats.org/officeDocument/2006/relationships/slide" Target="slides/slide36.xml"/><Relationship Id="rId67" Type="http://schemas.openxmlformats.org/officeDocument/2006/relationships/slide" Target="slides/slide57.xml"/><Relationship Id="rId272" Type="http://schemas.openxmlformats.org/officeDocument/2006/relationships/slide" Target="slides/slide262.xml"/><Relationship Id="rId293" Type="http://schemas.openxmlformats.org/officeDocument/2006/relationships/slide" Target="slides/slide283.xml"/><Relationship Id="rId307" Type="http://schemas.openxmlformats.org/officeDocument/2006/relationships/slide" Target="slides/slide297.xml"/><Relationship Id="rId328" Type="http://schemas.openxmlformats.org/officeDocument/2006/relationships/slide" Target="slides/slide318.xml"/><Relationship Id="rId349" Type="http://schemas.openxmlformats.org/officeDocument/2006/relationships/slide" Target="slides/slide339.xml"/><Relationship Id="rId88" Type="http://schemas.openxmlformats.org/officeDocument/2006/relationships/slide" Target="slides/slide78.xml"/><Relationship Id="rId111" Type="http://schemas.openxmlformats.org/officeDocument/2006/relationships/slide" Target="slides/slide101.xml"/><Relationship Id="rId132" Type="http://schemas.openxmlformats.org/officeDocument/2006/relationships/slide" Target="slides/slide122.xml"/><Relationship Id="rId153" Type="http://schemas.openxmlformats.org/officeDocument/2006/relationships/slide" Target="slides/slide143.xml"/><Relationship Id="rId174" Type="http://schemas.openxmlformats.org/officeDocument/2006/relationships/slide" Target="slides/slide164.xml"/><Relationship Id="rId195" Type="http://schemas.openxmlformats.org/officeDocument/2006/relationships/slide" Target="slides/slide185.xml"/><Relationship Id="rId209" Type="http://schemas.openxmlformats.org/officeDocument/2006/relationships/slide" Target="slides/slide199.xml"/><Relationship Id="rId360" Type="http://schemas.openxmlformats.org/officeDocument/2006/relationships/slide" Target="slides/slide350.xml"/><Relationship Id="rId381" Type="http://schemas.openxmlformats.org/officeDocument/2006/relationships/slide" Target="slides/slide371.xml"/><Relationship Id="rId416" Type="http://schemas.openxmlformats.org/officeDocument/2006/relationships/slide" Target="slides/slide406.xml"/><Relationship Id="rId220" Type="http://schemas.openxmlformats.org/officeDocument/2006/relationships/slide" Target="slides/slide210.xml"/><Relationship Id="rId241" Type="http://schemas.openxmlformats.org/officeDocument/2006/relationships/slide" Target="slides/slide231.xml"/><Relationship Id="rId437" Type="http://schemas.openxmlformats.org/officeDocument/2006/relationships/slide" Target="slides/slide427.xml"/><Relationship Id="rId458" Type="http://schemas.openxmlformats.org/officeDocument/2006/relationships/slide" Target="slides/slide448.xml"/><Relationship Id="rId15" Type="http://schemas.openxmlformats.org/officeDocument/2006/relationships/slide" Target="slides/slide5.xml"/><Relationship Id="rId36" Type="http://schemas.openxmlformats.org/officeDocument/2006/relationships/slide" Target="slides/slide26.xml"/><Relationship Id="rId57" Type="http://schemas.openxmlformats.org/officeDocument/2006/relationships/slide" Target="slides/slide47.xml"/><Relationship Id="rId262" Type="http://schemas.openxmlformats.org/officeDocument/2006/relationships/slide" Target="slides/slide252.xml"/><Relationship Id="rId283" Type="http://schemas.openxmlformats.org/officeDocument/2006/relationships/slide" Target="slides/slide273.xml"/><Relationship Id="rId318" Type="http://schemas.openxmlformats.org/officeDocument/2006/relationships/slide" Target="slides/slide308.xml"/><Relationship Id="rId339" Type="http://schemas.openxmlformats.org/officeDocument/2006/relationships/slide" Target="slides/slide329.xml"/><Relationship Id="rId78" Type="http://schemas.openxmlformats.org/officeDocument/2006/relationships/slide" Target="slides/slide68.xml"/><Relationship Id="rId99" Type="http://schemas.openxmlformats.org/officeDocument/2006/relationships/slide" Target="slides/slide89.xml"/><Relationship Id="rId101" Type="http://schemas.openxmlformats.org/officeDocument/2006/relationships/slide" Target="slides/slide91.xml"/><Relationship Id="rId122" Type="http://schemas.openxmlformats.org/officeDocument/2006/relationships/slide" Target="slides/slide112.xml"/><Relationship Id="rId143" Type="http://schemas.openxmlformats.org/officeDocument/2006/relationships/slide" Target="slides/slide133.xml"/><Relationship Id="rId164" Type="http://schemas.openxmlformats.org/officeDocument/2006/relationships/slide" Target="slides/slide154.xml"/><Relationship Id="rId185" Type="http://schemas.openxmlformats.org/officeDocument/2006/relationships/slide" Target="slides/slide175.xml"/><Relationship Id="rId350" Type="http://schemas.openxmlformats.org/officeDocument/2006/relationships/slide" Target="slides/slide340.xml"/><Relationship Id="rId371" Type="http://schemas.openxmlformats.org/officeDocument/2006/relationships/slide" Target="slides/slide361.xml"/><Relationship Id="rId406" Type="http://schemas.openxmlformats.org/officeDocument/2006/relationships/slide" Target="slides/slide396.xml"/><Relationship Id="rId9" Type="http://schemas.openxmlformats.org/officeDocument/2006/relationships/slideMaster" Target="slideMasters/slideMaster6.xml"/><Relationship Id="rId210" Type="http://schemas.openxmlformats.org/officeDocument/2006/relationships/slide" Target="slides/slide200.xml"/><Relationship Id="rId392" Type="http://schemas.openxmlformats.org/officeDocument/2006/relationships/slide" Target="slides/slide382.xml"/><Relationship Id="rId427" Type="http://schemas.openxmlformats.org/officeDocument/2006/relationships/slide" Target="slides/slide417.xml"/><Relationship Id="rId448" Type="http://schemas.openxmlformats.org/officeDocument/2006/relationships/slide" Target="slides/slide438.xml"/><Relationship Id="rId469" Type="http://schemas.microsoft.com/office/2016/11/relationships/changesInfo" Target="changesInfos/changesInfo1.xml"/><Relationship Id="rId26" Type="http://schemas.openxmlformats.org/officeDocument/2006/relationships/slide" Target="slides/slide16.xml"/><Relationship Id="rId231" Type="http://schemas.openxmlformats.org/officeDocument/2006/relationships/slide" Target="slides/slide221.xml"/><Relationship Id="rId252" Type="http://schemas.openxmlformats.org/officeDocument/2006/relationships/slide" Target="slides/slide242.xml"/><Relationship Id="rId273" Type="http://schemas.openxmlformats.org/officeDocument/2006/relationships/slide" Target="slides/slide263.xml"/><Relationship Id="rId294" Type="http://schemas.openxmlformats.org/officeDocument/2006/relationships/slide" Target="slides/slide284.xml"/><Relationship Id="rId308" Type="http://schemas.openxmlformats.org/officeDocument/2006/relationships/slide" Target="slides/slide298.xml"/><Relationship Id="rId329" Type="http://schemas.openxmlformats.org/officeDocument/2006/relationships/slide" Target="slides/slide319.xml"/><Relationship Id="rId47" Type="http://schemas.openxmlformats.org/officeDocument/2006/relationships/slide" Target="slides/slide37.xml"/><Relationship Id="rId68" Type="http://schemas.openxmlformats.org/officeDocument/2006/relationships/slide" Target="slides/slide58.xml"/><Relationship Id="rId89" Type="http://schemas.openxmlformats.org/officeDocument/2006/relationships/slide" Target="slides/slide79.xml"/><Relationship Id="rId112" Type="http://schemas.openxmlformats.org/officeDocument/2006/relationships/slide" Target="slides/slide102.xml"/><Relationship Id="rId133" Type="http://schemas.openxmlformats.org/officeDocument/2006/relationships/slide" Target="slides/slide123.xml"/><Relationship Id="rId154" Type="http://schemas.openxmlformats.org/officeDocument/2006/relationships/slide" Target="slides/slide144.xml"/><Relationship Id="rId175" Type="http://schemas.openxmlformats.org/officeDocument/2006/relationships/slide" Target="slides/slide165.xml"/><Relationship Id="rId340" Type="http://schemas.openxmlformats.org/officeDocument/2006/relationships/slide" Target="slides/slide330.xml"/><Relationship Id="rId361" Type="http://schemas.openxmlformats.org/officeDocument/2006/relationships/slide" Target="slides/slide351.xml"/><Relationship Id="rId196" Type="http://schemas.openxmlformats.org/officeDocument/2006/relationships/slide" Target="slides/slide186.xml"/><Relationship Id="rId200" Type="http://schemas.openxmlformats.org/officeDocument/2006/relationships/slide" Target="slides/slide190.xml"/><Relationship Id="rId382" Type="http://schemas.openxmlformats.org/officeDocument/2006/relationships/slide" Target="slides/slide372.xml"/><Relationship Id="rId417" Type="http://schemas.openxmlformats.org/officeDocument/2006/relationships/slide" Target="slides/slide407.xml"/><Relationship Id="rId438" Type="http://schemas.openxmlformats.org/officeDocument/2006/relationships/slide" Target="slides/slide428.xml"/><Relationship Id="rId459" Type="http://schemas.openxmlformats.org/officeDocument/2006/relationships/slide" Target="slides/slide449.xml"/><Relationship Id="rId16" Type="http://schemas.openxmlformats.org/officeDocument/2006/relationships/slide" Target="slides/slide6.xml"/><Relationship Id="rId221" Type="http://schemas.openxmlformats.org/officeDocument/2006/relationships/slide" Target="slides/slide211.xml"/><Relationship Id="rId242" Type="http://schemas.openxmlformats.org/officeDocument/2006/relationships/slide" Target="slides/slide232.xml"/><Relationship Id="rId263" Type="http://schemas.openxmlformats.org/officeDocument/2006/relationships/slide" Target="slides/slide253.xml"/><Relationship Id="rId284" Type="http://schemas.openxmlformats.org/officeDocument/2006/relationships/slide" Target="slides/slide274.xml"/><Relationship Id="rId319" Type="http://schemas.openxmlformats.org/officeDocument/2006/relationships/slide" Target="slides/slide309.xml"/><Relationship Id="rId470" Type="http://schemas.microsoft.com/office/2018/10/relationships/authors" Target="authors.xml"/><Relationship Id="rId37" Type="http://schemas.openxmlformats.org/officeDocument/2006/relationships/slide" Target="slides/slide27.xml"/><Relationship Id="rId58" Type="http://schemas.openxmlformats.org/officeDocument/2006/relationships/slide" Target="slides/slide48.xml"/><Relationship Id="rId79" Type="http://schemas.openxmlformats.org/officeDocument/2006/relationships/slide" Target="slides/slide69.xml"/><Relationship Id="rId102" Type="http://schemas.openxmlformats.org/officeDocument/2006/relationships/slide" Target="slides/slide92.xml"/><Relationship Id="rId123" Type="http://schemas.openxmlformats.org/officeDocument/2006/relationships/slide" Target="slides/slide113.xml"/><Relationship Id="rId144" Type="http://schemas.openxmlformats.org/officeDocument/2006/relationships/slide" Target="slides/slide134.xml"/><Relationship Id="rId330" Type="http://schemas.openxmlformats.org/officeDocument/2006/relationships/slide" Target="slides/slide320.xml"/><Relationship Id="rId90" Type="http://schemas.openxmlformats.org/officeDocument/2006/relationships/slide" Target="slides/slide80.xml"/><Relationship Id="rId165" Type="http://schemas.openxmlformats.org/officeDocument/2006/relationships/slide" Target="slides/slide155.xml"/><Relationship Id="rId186" Type="http://schemas.openxmlformats.org/officeDocument/2006/relationships/slide" Target="slides/slide176.xml"/><Relationship Id="rId351" Type="http://schemas.openxmlformats.org/officeDocument/2006/relationships/slide" Target="slides/slide341.xml"/><Relationship Id="rId372" Type="http://schemas.openxmlformats.org/officeDocument/2006/relationships/slide" Target="slides/slide362.xml"/><Relationship Id="rId393" Type="http://schemas.openxmlformats.org/officeDocument/2006/relationships/slide" Target="slides/slide383.xml"/><Relationship Id="rId407" Type="http://schemas.openxmlformats.org/officeDocument/2006/relationships/slide" Target="slides/slide397.xml"/><Relationship Id="rId428" Type="http://schemas.openxmlformats.org/officeDocument/2006/relationships/slide" Target="slides/slide418.xml"/><Relationship Id="rId449" Type="http://schemas.openxmlformats.org/officeDocument/2006/relationships/slide" Target="slides/slide439.xml"/><Relationship Id="rId211" Type="http://schemas.openxmlformats.org/officeDocument/2006/relationships/slide" Target="slides/slide201.xml"/><Relationship Id="rId232" Type="http://schemas.openxmlformats.org/officeDocument/2006/relationships/slide" Target="slides/slide222.xml"/><Relationship Id="rId253" Type="http://schemas.openxmlformats.org/officeDocument/2006/relationships/slide" Target="slides/slide243.xml"/><Relationship Id="rId274" Type="http://schemas.openxmlformats.org/officeDocument/2006/relationships/slide" Target="slides/slide264.xml"/><Relationship Id="rId295" Type="http://schemas.openxmlformats.org/officeDocument/2006/relationships/slide" Target="slides/slide285.xml"/><Relationship Id="rId309" Type="http://schemas.openxmlformats.org/officeDocument/2006/relationships/slide" Target="slides/slide299.xml"/><Relationship Id="rId460" Type="http://schemas.openxmlformats.org/officeDocument/2006/relationships/slide" Target="slides/slide450.xml"/><Relationship Id="rId27" Type="http://schemas.openxmlformats.org/officeDocument/2006/relationships/slide" Target="slides/slide17.xml"/><Relationship Id="rId48" Type="http://schemas.openxmlformats.org/officeDocument/2006/relationships/slide" Target="slides/slide38.xml"/><Relationship Id="rId69" Type="http://schemas.openxmlformats.org/officeDocument/2006/relationships/slide" Target="slides/slide59.xml"/><Relationship Id="rId113" Type="http://schemas.openxmlformats.org/officeDocument/2006/relationships/slide" Target="slides/slide103.xml"/><Relationship Id="rId134" Type="http://schemas.openxmlformats.org/officeDocument/2006/relationships/slide" Target="slides/slide124.xml"/><Relationship Id="rId320" Type="http://schemas.openxmlformats.org/officeDocument/2006/relationships/slide" Target="slides/slide310.xml"/><Relationship Id="rId80" Type="http://schemas.openxmlformats.org/officeDocument/2006/relationships/slide" Target="slides/slide70.xml"/><Relationship Id="rId155" Type="http://schemas.openxmlformats.org/officeDocument/2006/relationships/slide" Target="slides/slide145.xml"/><Relationship Id="rId176" Type="http://schemas.openxmlformats.org/officeDocument/2006/relationships/slide" Target="slides/slide166.xml"/><Relationship Id="rId197" Type="http://schemas.openxmlformats.org/officeDocument/2006/relationships/slide" Target="slides/slide187.xml"/><Relationship Id="rId341" Type="http://schemas.openxmlformats.org/officeDocument/2006/relationships/slide" Target="slides/slide331.xml"/><Relationship Id="rId362" Type="http://schemas.openxmlformats.org/officeDocument/2006/relationships/slide" Target="slides/slide352.xml"/><Relationship Id="rId383" Type="http://schemas.openxmlformats.org/officeDocument/2006/relationships/slide" Target="slides/slide373.xml"/><Relationship Id="rId418" Type="http://schemas.openxmlformats.org/officeDocument/2006/relationships/slide" Target="slides/slide408.xml"/><Relationship Id="rId439" Type="http://schemas.openxmlformats.org/officeDocument/2006/relationships/slide" Target="slides/slide429.xml"/><Relationship Id="rId201" Type="http://schemas.openxmlformats.org/officeDocument/2006/relationships/slide" Target="slides/slide191.xml"/><Relationship Id="rId222" Type="http://schemas.openxmlformats.org/officeDocument/2006/relationships/slide" Target="slides/slide212.xml"/><Relationship Id="rId243" Type="http://schemas.openxmlformats.org/officeDocument/2006/relationships/slide" Target="slides/slide233.xml"/><Relationship Id="rId264" Type="http://schemas.openxmlformats.org/officeDocument/2006/relationships/slide" Target="slides/slide254.xml"/><Relationship Id="rId285" Type="http://schemas.openxmlformats.org/officeDocument/2006/relationships/slide" Target="slides/slide275.xml"/><Relationship Id="rId450" Type="http://schemas.openxmlformats.org/officeDocument/2006/relationships/slide" Target="slides/slide440.xml"/><Relationship Id="rId17" Type="http://schemas.openxmlformats.org/officeDocument/2006/relationships/slide" Target="slides/slide7.xml"/><Relationship Id="rId38" Type="http://schemas.openxmlformats.org/officeDocument/2006/relationships/slide" Target="slides/slide28.xml"/><Relationship Id="rId59" Type="http://schemas.openxmlformats.org/officeDocument/2006/relationships/slide" Target="slides/slide49.xml"/><Relationship Id="rId103" Type="http://schemas.openxmlformats.org/officeDocument/2006/relationships/slide" Target="slides/slide93.xml"/><Relationship Id="rId124" Type="http://schemas.openxmlformats.org/officeDocument/2006/relationships/slide" Target="slides/slide114.xml"/><Relationship Id="rId310" Type="http://schemas.openxmlformats.org/officeDocument/2006/relationships/slide" Target="slides/slide300.xml"/><Relationship Id="rId70" Type="http://schemas.openxmlformats.org/officeDocument/2006/relationships/slide" Target="slides/slide60.xml"/><Relationship Id="rId91" Type="http://schemas.openxmlformats.org/officeDocument/2006/relationships/slide" Target="slides/slide81.xml"/><Relationship Id="rId145" Type="http://schemas.openxmlformats.org/officeDocument/2006/relationships/slide" Target="slides/slide135.xml"/><Relationship Id="rId166" Type="http://schemas.openxmlformats.org/officeDocument/2006/relationships/slide" Target="slides/slide156.xml"/><Relationship Id="rId187" Type="http://schemas.openxmlformats.org/officeDocument/2006/relationships/slide" Target="slides/slide177.xml"/><Relationship Id="rId331" Type="http://schemas.openxmlformats.org/officeDocument/2006/relationships/slide" Target="slides/slide321.xml"/><Relationship Id="rId352" Type="http://schemas.openxmlformats.org/officeDocument/2006/relationships/slide" Target="slides/slide342.xml"/><Relationship Id="rId373" Type="http://schemas.openxmlformats.org/officeDocument/2006/relationships/slide" Target="slides/slide363.xml"/><Relationship Id="rId394" Type="http://schemas.openxmlformats.org/officeDocument/2006/relationships/slide" Target="slides/slide384.xml"/><Relationship Id="rId408" Type="http://schemas.openxmlformats.org/officeDocument/2006/relationships/slide" Target="slides/slide398.xml"/><Relationship Id="rId429" Type="http://schemas.openxmlformats.org/officeDocument/2006/relationships/slide" Target="slides/slide419.xml"/><Relationship Id="rId1" Type="http://schemas.openxmlformats.org/officeDocument/2006/relationships/customXml" Target="../customXml/item1.xml"/><Relationship Id="rId212" Type="http://schemas.openxmlformats.org/officeDocument/2006/relationships/slide" Target="slides/slide202.xml"/><Relationship Id="rId233" Type="http://schemas.openxmlformats.org/officeDocument/2006/relationships/slide" Target="slides/slide223.xml"/><Relationship Id="rId254" Type="http://schemas.openxmlformats.org/officeDocument/2006/relationships/slide" Target="slides/slide244.xml"/><Relationship Id="rId440" Type="http://schemas.openxmlformats.org/officeDocument/2006/relationships/slide" Target="slides/slide430.xml"/><Relationship Id="rId28" Type="http://schemas.openxmlformats.org/officeDocument/2006/relationships/slide" Target="slides/slide18.xml"/><Relationship Id="rId49" Type="http://schemas.openxmlformats.org/officeDocument/2006/relationships/slide" Target="slides/slide39.xml"/><Relationship Id="rId114" Type="http://schemas.openxmlformats.org/officeDocument/2006/relationships/slide" Target="slides/slide104.xml"/><Relationship Id="rId275" Type="http://schemas.openxmlformats.org/officeDocument/2006/relationships/slide" Target="slides/slide265.xml"/><Relationship Id="rId296" Type="http://schemas.openxmlformats.org/officeDocument/2006/relationships/slide" Target="slides/slide286.xml"/><Relationship Id="rId300" Type="http://schemas.openxmlformats.org/officeDocument/2006/relationships/slide" Target="slides/slide290.xml"/><Relationship Id="rId461" Type="http://schemas.openxmlformats.org/officeDocument/2006/relationships/slide" Target="slides/slide451.xml"/><Relationship Id="rId60" Type="http://schemas.openxmlformats.org/officeDocument/2006/relationships/slide" Target="slides/slide50.xml"/><Relationship Id="rId81" Type="http://schemas.openxmlformats.org/officeDocument/2006/relationships/slide" Target="slides/slide71.xml"/><Relationship Id="rId135" Type="http://schemas.openxmlformats.org/officeDocument/2006/relationships/slide" Target="slides/slide125.xml"/><Relationship Id="rId156" Type="http://schemas.openxmlformats.org/officeDocument/2006/relationships/slide" Target="slides/slide146.xml"/><Relationship Id="rId177" Type="http://schemas.openxmlformats.org/officeDocument/2006/relationships/slide" Target="slides/slide167.xml"/><Relationship Id="rId198" Type="http://schemas.openxmlformats.org/officeDocument/2006/relationships/slide" Target="slides/slide188.xml"/><Relationship Id="rId321" Type="http://schemas.openxmlformats.org/officeDocument/2006/relationships/slide" Target="slides/slide311.xml"/><Relationship Id="rId342" Type="http://schemas.openxmlformats.org/officeDocument/2006/relationships/slide" Target="slides/slide332.xml"/><Relationship Id="rId363" Type="http://schemas.openxmlformats.org/officeDocument/2006/relationships/slide" Target="slides/slide353.xml"/><Relationship Id="rId384" Type="http://schemas.openxmlformats.org/officeDocument/2006/relationships/slide" Target="slides/slide374.xml"/><Relationship Id="rId419" Type="http://schemas.openxmlformats.org/officeDocument/2006/relationships/slide" Target="slides/slide409.xml"/><Relationship Id="rId202" Type="http://schemas.openxmlformats.org/officeDocument/2006/relationships/slide" Target="slides/slide192.xml"/><Relationship Id="rId223" Type="http://schemas.openxmlformats.org/officeDocument/2006/relationships/slide" Target="slides/slide213.xml"/><Relationship Id="rId244" Type="http://schemas.openxmlformats.org/officeDocument/2006/relationships/slide" Target="slides/slide234.xml"/><Relationship Id="rId430" Type="http://schemas.openxmlformats.org/officeDocument/2006/relationships/slide" Target="slides/slide420.xml"/><Relationship Id="rId18" Type="http://schemas.openxmlformats.org/officeDocument/2006/relationships/slide" Target="slides/slide8.xml"/><Relationship Id="rId39" Type="http://schemas.openxmlformats.org/officeDocument/2006/relationships/slide" Target="slides/slide29.xml"/><Relationship Id="rId265" Type="http://schemas.openxmlformats.org/officeDocument/2006/relationships/slide" Target="slides/slide255.xml"/><Relationship Id="rId286" Type="http://schemas.openxmlformats.org/officeDocument/2006/relationships/slide" Target="slides/slide276.xml"/><Relationship Id="rId451" Type="http://schemas.openxmlformats.org/officeDocument/2006/relationships/slide" Target="slides/slide441.xml"/><Relationship Id="rId50" Type="http://schemas.openxmlformats.org/officeDocument/2006/relationships/slide" Target="slides/slide40.xml"/><Relationship Id="rId104" Type="http://schemas.openxmlformats.org/officeDocument/2006/relationships/slide" Target="slides/slide94.xml"/><Relationship Id="rId125" Type="http://schemas.openxmlformats.org/officeDocument/2006/relationships/slide" Target="slides/slide115.xml"/><Relationship Id="rId146" Type="http://schemas.openxmlformats.org/officeDocument/2006/relationships/slide" Target="slides/slide136.xml"/><Relationship Id="rId167" Type="http://schemas.openxmlformats.org/officeDocument/2006/relationships/slide" Target="slides/slide157.xml"/><Relationship Id="rId188" Type="http://schemas.openxmlformats.org/officeDocument/2006/relationships/slide" Target="slides/slide178.xml"/><Relationship Id="rId311" Type="http://schemas.openxmlformats.org/officeDocument/2006/relationships/slide" Target="slides/slide301.xml"/><Relationship Id="rId332" Type="http://schemas.openxmlformats.org/officeDocument/2006/relationships/slide" Target="slides/slide322.xml"/><Relationship Id="rId353" Type="http://schemas.openxmlformats.org/officeDocument/2006/relationships/slide" Target="slides/slide343.xml"/><Relationship Id="rId374" Type="http://schemas.openxmlformats.org/officeDocument/2006/relationships/slide" Target="slides/slide364.xml"/><Relationship Id="rId395" Type="http://schemas.openxmlformats.org/officeDocument/2006/relationships/slide" Target="slides/slide385.xml"/><Relationship Id="rId409" Type="http://schemas.openxmlformats.org/officeDocument/2006/relationships/slide" Target="slides/slide399.xml"/><Relationship Id="rId71" Type="http://schemas.openxmlformats.org/officeDocument/2006/relationships/slide" Target="slides/slide61.xml"/><Relationship Id="rId92" Type="http://schemas.openxmlformats.org/officeDocument/2006/relationships/slide" Target="slides/slide82.xml"/><Relationship Id="rId213" Type="http://schemas.openxmlformats.org/officeDocument/2006/relationships/slide" Target="slides/slide203.xml"/><Relationship Id="rId234" Type="http://schemas.openxmlformats.org/officeDocument/2006/relationships/slide" Target="slides/slide224.xml"/><Relationship Id="rId420" Type="http://schemas.openxmlformats.org/officeDocument/2006/relationships/slide" Target="slides/slide410.xml"/><Relationship Id="rId2" Type="http://schemas.openxmlformats.org/officeDocument/2006/relationships/customXml" Target="../customXml/item2.xml"/><Relationship Id="rId29" Type="http://schemas.openxmlformats.org/officeDocument/2006/relationships/slide" Target="slides/slide19.xml"/><Relationship Id="rId255" Type="http://schemas.openxmlformats.org/officeDocument/2006/relationships/slide" Target="slides/slide245.xml"/><Relationship Id="rId276" Type="http://schemas.openxmlformats.org/officeDocument/2006/relationships/slide" Target="slides/slide266.xml"/><Relationship Id="rId297" Type="http://schemas.openxmlformats.org/officeDocument/2006/relationships/slide" Target="slides/slide287.xml"/><Relationship Id="rId441" Type="http://schemas.openxmlformats.org/officeDocument/2006/relationships/slide" Target="slides/slide431.xml"/><Relationship Id="rId462" Type="http://schemas.openxmlformats.org/officeDocument/2006/relationships/slide" Target="slides/slide452.xml"/><Relationship Id="rId40" Type="http://schemas.openxmlformats.org/officeDocument/2006/relationships/slide" Target="slides/slide30.xml"/><Relationship Id="rId115" Type="http://schemas.openxmlformats.org/officeDocument/2006/relationships/slide" Target="slides/slide105.xml"/><Relationship Id="rId136" Type="http://schemas.openxmlformats.org/officeDocument/2006/relationships/slide" Target="slides/slide126.xml"/><Relationship Id="rId157" Type="http://schemas.openxmlformats.org/officeDocument/2006/relationships/slide" Target="slides/slide147.xml"/><Relationship Id="rId178" Type="http://schemas.openxmlformats.org/officeDocument/2006/relationships/slide" Target="slides/slide168.xml"/><Relationship Id="rId301" Type="http://schemas.openxmlformats.org/officeDocument/2006/relationships/slide" Target="slides/slide291.xml"/><Relationship Id="rId322" Type="http://schemas.openxmlformats.org/officeDocument/2006/relationships/slide" Target="slides/slide312.xml"/><Relationship Id="rId343" Type="http://schemas.openxmlformats.org/officeDocument/2006/relationships/slide" Target="slides/slide333.xml"/><Relationship Id="rId364" Type="http://schemas.openxmlformats.org/officeDocument/2006/relationships/slide" Target="slides/slide354.xml"/><Relationship Id="rId61" Type="http://schemas.openxmlformats.org/officeDocument/2006/relationships/slide" Target="slides/slide51.xml"/><Relationship Id="rId82" Type="http://schemas.openxmlformats.org/officeDocument/2006/relationships/slide" Target="slides/slide72.xml"/><Relationship Id="rId199" Type="http://schemas.openxmlformats.org/officeDocument/2006/relationships/slide" Target="slides/slide189.xml"/><Relationship Id="rId203" Type="http://schemas.openxmlformats.org/officeDocument/2006/relationships/slide" Target="slides/slide193.xml"/><Relationship Id="rId385" Type="http://schemas.openxmlformats.org/officeDocument/2006/relationships/slide" Target="slides/slide375.xml"/><Relationship Id="rId19" Type="http://schemas.openxmlformats.org/officeDocument/2006/relationships/slide" Target="slides/slide9.xml"/><Relationship Id="rId224" Type="http://schemas.openxmlformats.org/officeDocument/2006/relationships/slide" Target="slides/slide214.xml"/><Relationship Id="rId245" Type="http://schemas.openxmlformats.org/officeDocument/2006/relationships/slide" Target="slides/slide235.xml"/><Relationship Id="rId266" Type="http://schemas.openxmlformats.org/officeDocument/2006/relationships/slide" Target="slides/slide256.xml"/><Relationship Id="rId287" Type="http://schemas.openxmlformats.org/officeDocument/2006/relationships/slide" Target="slides/slide277.xml"/><Relationship Id="rId410" Type="http://schemas.openxmlformats.org/officeDocument/2006/relationships/slide" Target="slides/slide400.xml"/><Relationship Id="rId431" Type="http://schemas.openxmlformats.org/officeDocument/2006/relationships/slide" Target="slides/slide421.xml"/><Relationship Id="rId452" Type="http://schemas.openxmlformats.org/officeDocument/2006/relationships/slide" Target="slides/slide442.xml"/><Relationship Id="rId30" Type="http://schemas.openxmlformats.org/officeDocument/2006/relationships/slide" Target="slides/slide20.xml"/><Relationship Id="rId105" Type="http://schemas.openxmlformats.org/officeDocument/2006/relationships/slide" Target="slides/slide95.xml"/><Relationship Id="rId126" Type="http://schemas.openxmlformats.org/officeDocument/2006/relationships/slide" Target="slides/slide116.xml"/><Relationship Id="rId147" Type="http://schemas.openxmlformats.org/officeDocument/2006/relationships/slide" Target="slides/slide137.xml"/><Relationship Id="rId168" Type="http://schemas.openxmlformats.org/officeDocument/2006/relationships/slide" Target="slides/slide158.xml"/><Relationship Id="rId312" Type="http://schemas.openxmlformats.org/officeDocument/2006/relationships/slide" Target="slides/slide302.xml"/><Relationship Id="rId333" Type="http://schemas.openxmlformats.org/officeDocument/2006/relationships/slide" Target="slides/slide323.xml"/><Relationship Id="rId354" Type="http://schemas.openxmlformats.org/officeDocument/2006/relationships/slide" Target="slides/slide344.xml"/><Relationship Id="rId51" Type="http://schemas.openxmlformats.org/officeDocument/2006/relationships/slide" Target="slides/slide41.xml"/><Relationship Id="rId72" Type="http://schemas.openxmlformats.org/officeDocument/2006/relationships/slide" Target="slides/slide62.xml"/><Relationship Id="rId93" Type="http://schemas.openxmlformats.org/officeDocument/2006/relationships/slide" Target="slides/slide83.xml"/><Relationship Id="rId189" Type="http://schemas.openxmlformats.org/officeDocument/2006/relationships/slide" Target="slides/slide179.xml"/><Relationship Id="rId375" Type="http://schemas.openxmlformats.org/officeDocument/2006/relationships/slide" Target="slides/slide365.xml"/><Relationship Id="rId396" Type="http://schemas.openxmlformats.org/officeDocument/2006/relationships/slide" Target="slides/slide386.xml"/><Relationship Id="rId3" Type="http://schemas.openxmlformats.org/officeDocument/2006/relationships/customXml" Target="../customXml/item3.xml"/><Relationship Id="rId214" Type="http://schemas.openxmlformats.org/officeDocument/2006/relationships/slide" Target="slides/slide204.xml"/><Relationship Id="rId235" Type="http://schemas.openxmlformats.org/officeDocument/2006/relationships/slide" Target="slides/slide225.xml"/><Relationship Id="rId256" Type="http://schemas.openxmlformats.org/officeDocument/2006/relationships/slide" Target="slides/slide246.xml"/><Relationship Id="rId277" Type="http://schemas.openxmlformats.org/officeDocument/2006/relationships/slide" Target="slides/slide267.xml"/><Relationship Id="rId298" Type="http://schemas.openxmlformats.org/officeDocument/2006/relationships/slide" Target="slides/slide288.xml"/><Relationship Id="rId400" Type="http://schemas.openxmlformats.org/officeDocument/2006/relationships/slide" Target="slides/slide390.xml"/><Relationship Id="rId421" Type="http://schemas.openxmlformats.org/officeDocument/2006/relationships/slide" Target="slides/slide411.xml"/><Relationship Id="rId442" Type="http://schemas.openxmlformats.org/officeDocument/2006/relationships/slide" Target="slides/slide432.xml"/><Relationship Id="rId463" Type="http://schemas.openxmlformats.org/officeDocument/2006/relationships/notesMaster" Target="notesMasters/notesMaster1.xml"/><Relationship Id="rId116" Type="http://schemas.openxmlformats.org/officeDocument/2006/relationships/slide" Target="slides/slide106.xml"/><Relationship Id="rId137" Type="http://schemas.openxmlformats.org/officeDocument/2006/relationships/slide" Target="slides/slide127.xml"/><Relationship Id="rId158" Type="http://schemas.openxmlformats.org/officeDocument/2006/relationships/slide" Target="slides/slide148.xml"/><Relationship Id="rId302" Type="http://schemas.openxmlformats.org/officeDocument/2006/relationships/slide" Target="slides/slide292.xml"/><Relationship Id="rId323" Type="http://schemas.openxmlformats.org/officeDocument/2006/relationships/slide" Target="slides/slide313.xml"/><Relationship Id="rId344" Type="http://schemas.openxmlformats.org/officeDocument/2006/relationships/slide" Target="slides/slide334.xml"/><Relationship Id="rId20" Type="http://schemas.openxmlformats.org/officeDocument/2006/relationships/slide" Target="slides/slide10.xml"/><Relationship Id="rId41" Type="http://schemas.openxmlformats.org/officeDocument/2006/relationships/slide" Target="slides/slide31.xml"/><Relationship Id="rId62" Type="http://schemas.openxmlformats.org/officeDocument/2006/relationships/slide" Target="slides/slide52.xml"/><Relationship Id="rId83" Type="http://schemas.openxmlformats.org/officeDocument/2006/relationships/slide" Target="slides/slide73.xml"/><Relationship Id="rId179" Type="http://schemas.openxmlformats.org/officeDocument/2006/relationships/slide" Target="slides/slide169.xml"/><Relationship Id="rId365" Type="http://schemas.openxmlformats.org/officeDocument/2006/relationships/slide" Target="slides/slide355.xml"/><Relationship Id="rId386" Type="http://schemas.openxmlformats.org/officeDocument/2006/relationships/slide" Target="slides/slide376.xml"/><Relationship Id="rId190" Type="http://schemas.openxmlformats.org/officeDocument/2006/relationships/slide" Target="slides/slide180.xml"/><Relationship Id="rId204" Type="http://schemas.openxmlformats.org/officeDocument/2006/relationships/slide" Target="slides/slide194.xml"/><Relationship Id="rId225" Type="http://schemas.openxmlformats.org/officeDocument/2006/relationships/slide" Target="slides/slide215.xml"/><Relationship Id="rId246" Type="http://schemas.openxmlformats.org/officeDocument/2006/relationships/slide" Target="slides/slide236.xml"/><Relationship Id="rId267" Type="http://schemas.openxmlformats.org/officeDocument/2006/relationships/slide" Target="slides/slide257.xml"/><Relationship Id="rId288" Type="http://schemas.openxmlformats.org/officeDocument/2006/relationships/slide" Target="slides/slide278.xml"/><Relationship Id="rId411" Type="http://schemas.openxmlformats.org/officeDocument/2006/relationships/slide" Target="slides/slide401.xml"/><Relationship Id="rId432" Type="http://schemas.openxmlformats.org/officeDocument/2006/relationships/slide" Target="slides/slide422.xml"/><Relationship Id="rId453" Type="http://schemas.openxmlformats.org/officeDocument/2006/relationships/slide" Target="slides/slide443.xml"/><Relationship Id="rId106" Type="http://schemas.openxmlformats.org/officeDocument/2006/relationships/slide" Target="slides/slide96.xml"/><Relationship Id="rId127" Type="http://schemas.openxmlformats.org/officeDocument/2006/relationships/slide" Target="slides/slide117.xml"/><Relationship Id="rId313" Type="http://schemas.openxmlformats.org/officeDocument/2006/relationships/slide" Target="slides/slide303.xml"/><Relationship Id="rId10" Type="http://schemas.openxmlformats.org/officeDocument/2006/relationships/slideMaster" Target="slideMasters/slideMaster7.xml"/><Relationship Id="rId31" Type="http://schemas.openxmlformats.org/officeDocument/2006/relationships/slide" Target="slides/slide21.xml"/><Relationship Id="rId52" Type="http://schemas.openxmlformats.org/officeDocument/2006/relationships/slide" Target="slides/slide42.xml"/><Relationship Id="rId73" Type="http://schemas.openxmlformats.org/officeDocument/2006/relationships/slide" Target="slides/slide63.xml"/><Relationship Id="rId94" Type="http://schemas.openxmlformats.org/officeDocument/2006/relationships/slide" Target="slides/slide84.xml"/><Relationship Id="rId148" Type="http://schemas.openxmlformats.org/officeDocument/2006/relationships/slide" Target="slides/slide138.xml"/><Relationship Id="rId169" Type="http://schemas.openxmlformats.org/officeDocument/2006/relationships/slide" Target="slides/slide159.xml"/><Relationship Id="rId334" Type="http://schemas.openxmlformats.org/officeDocument/2006/relationships/slide" Target="slides/slide324.xml"/><Relationship Id="rId355" Type="http://schemas.openxmlformats.org/officeDocument/2006/relationships/slide" Target="slides/slide345.xml"/><Relationship Id="rId376" Type="http://schemas.openxmlformats.org/officeDocument/2006/relationships/slide" Target="slides/slide366.xml"/><Relationship Id="rId397" Type="http://schemas.openxmlformats.org/officeDocument/2006/relationships/slide" Target="slides/slide387.xml"/><Relationship Id="rId4" Type="http://schemas.openxmlformats.org/officeDocument/2006/relationships/slideMaster" Target="slideMasters/slideMaster1.xml"/><Relationship Id="rId180" Type="http://schemas.openxmlformats.org/officeDocument/2006/relationships/slide" Target="slides/slide170.xml"/><Relationship Id="rId215" Type="http://schemas.openxmlformats.org/officeDocument/2006/relationships/slide" Target="slides/slide205.xml"/><Relationship Id="rId236" Type="http://schemas.openxmlformats.org/officeDocument/2006/relationships/slide" Target="slides/slide226.xml"/><Relationship Id="rId257" Type="http://schemas.openxmlformats.org/officeDocument/2006/relationships/slide" Target="slides/slide247.xml"/><Relationship Id="rId278" Type="http://schemas.openxmlformats.org/officeDocument/2006/relationships/slide" Target="slides/slide268.xml"/><Relationship Id="rId401" Type="http://schemas.openxmlformats.org/officeDocument/2006/relationships/slide" Target="slides/slide391.xml"/><Relationship Id="rId422" Type="http://schemas.openxmlformats.org/officeDocument/2006/relationships/slide" Target="slides/slide412.xml"/><Relationship Id="rId443" Type="http://schemas.openxmlformats.org/officeDocument/2006/relationships/slide" Target="slides/slide433.xml"/><Relationship Id="rId464" Type="http://schemas.openxmlformats.org/officeDocument/2006/relationships/handoutMaster" Target="handoutMasters/handoutMaster1.xml"/><Relationship Id="rId303" Type="http://schemas.openxmlformats.org/officeDocument/2006/relationships/slide" Target="slides/slide293.xml"/><Relationship Id="rId42" Type="http://schemas.openxmlformats.org/officeDocument/2006/relationships/slide" Target="slides/slide32.xml"/><Relationship Id="rId84" Type="http://schemas.openxmlformats.org/officeDocument/2006/relationships/slide" Target="slides/slide74.xml"/><Relationship Id="rId138" Type="http://schemas.openxmlformats.org/officeDocument/2006/relationships/slide" Target="slides/slide128.xml"/><Relationship Id="rId345" Type="http://schemas.openxmlformats.org/officeDocument/2006/relationships/slide" Target="slides/slide335.xml"/><Relationship Id="rId387" Type="http://schemas.openxmlformats.org/officeDocument/2006/relationships/slide" Target="slides/slide377.xml"/><Relationship Id="rId191" Type="http://schemas.openxmlformats.org/officeDocument/2006/relationships/slide" Target="slides/slide181.xml"/><Relationship Id="rId205" Type="http://schemas.openxmlformats.org/officeDocument/2006/relationships/slide" Target="slides/slide195.xml"/><Relationship Id="rId247" Type="http://schemas.openxmlformats.org/officeDocument/2006/relationships/slide" Target="slides/slide237.xml"/><Relationship Id="rId412" Type="http://schemas.openxmlformats.org/officeDocument/2006/relationships/slide" Target="slides/slide402.xml"/><Relationship Id="rId107" Type="http://schemas.openxmlformats.org/officeDocument/2006/relationships/slide" Target="slides/slide97.xml"/><Relationship Id="rId289" Type="http://schemas.openxmlformats.org/officeDocument/2006/relationships/slide" Target="slides/slide279.xml"/><Relationship Id="rId454" Type="http://schemas.openxmlformats.org/officeDocument/2006/relationships/slide" Target="slides/slide444.xml"/><Relationship Id="rId11" Type="http://schemas.openxmlformats.org/officeDocument/2006/relationships/slide" Target="slides/slide1.xml"/><Relationship Id="rId53" Type="http://schemas.openxmlformats.org/officeDocument/2006/relationships/slide" Target="slides/slide43.xml"/><Relationship Id="rId149" Type="http://schemas.openxmlformats.org/officeDocument/2006/relationships/slide" Target="slides/slide139.xml"/><Relationship Id="rId314" Type="http://schemas.openxmlformats.org/officeDocument/2006/relationships/slide" Target="slides/slide304.xml"/><Relationship Id="rId356" Type="http://schemas.openxmlformats.org/officeDocument/2006/relationships/slide" Target="slides/slide346.xml"/><Relationship Id="rId398" Type="http://schemas.openxmlformats.org/officeDocument/2006/relationships/slide" Target="slides/slide388.xml"/><Relationship Id="rId95" Type="http://schemas.openxmlformats.org/officeDocument/2006/relationships/slide" Target="slides/slide85.xml"/><Relationship Id="rId160" Type="http://schemas.openxmlformats.org/officeDocument/2006/relationships/slide" Target="slides/slide150.xml"/><Relationship Id="rId216" Type="http://schemas.openxmlformats.org/officeDocument/2006/relationships/slide" Target="slides/slide206.xml"/><Relationship Id="rId423" Type="http://schemas.openxmlformats.org/officeDocument/2006/relationships/slide" Target="slides/slide413.xml"/><Relationship Id="rId258" Type="http://schemas.openxmlformats.org/officeDocument/2006/relationships/slide" Target="slides/slide248.xml"/><Relationship Id="rId465" Type="http://schemas.openxmlformats.org/officeDocument/2006/relationships/presProps" Target="presProps.xml"/><Relationship Id="rId22" Type="http://schemas.openxmlformats.org/officeDocument/2006/relationships/slide" Target="slides/slide12.xml"/><Relationship Id="rId64" Type="http://schemas.openxmlformats.org/officeDocument/2006/relationships/slide" Target="slides/slide54.xml"/><Relationship Id="rId118" Type="http://schemas.openxmlformats.org/officeDocument/2006/relationships/slide" Target="slides/slide108.xml"/><Relationship Id="rId325" Type="http://schemas.openxmlformats.org/officeDocument/2006/relationships/slide" Target="slides/slide315.xml"/><Relationship Id="rId367" Type="http://schemas.openxmlformats.org/officeDocument/2006/relationships/slide" Target="slides/slide357.xml"/><Relationship Id="rId171" Type="http://schemas.openxmlformats.org/officeDocument/2006/relationships/slide" Target="slides/slide161.xml"/><Relationship Id="rId227" Type="http://schemas.openxmlformats.org/officeDocument/2006/relationships/slide" Target="slides/slide217.xml"/><Relationship Id="rId269" Type="http://schemas.openxmlformats.org/officeDocument/2006/relationships/slide" Target="slides/slide259.xml"/><Relationship Id="rId434" Type="http://schemas.openxmlformats.org/officeDocument/2006/relationships/slide" Target="slides/slide424.xml"/><Relationship Id="rId33" Type="http://schemas.openxmlformats.org/officeDocument/2006/relationships/slide" Target="slides/slide23.xml"/><Relationship Id="rId129" Type="http://schemas.openxmlformats.org/officeDocument/2006/relationships/slide" Target="slides/slide119.xml"/><Relationship Id="rId280" Type="http://schemas.openxmlformats.org/officeDocument/2006/relationships/slide" Target="slides/slide270.xml"/><Relationship Id="rId336" Type="http://schemas.openxmlformats.org/officeDocument/2006/relationships/slide" Target="slides/slide326.xml"/><Relationship Id="rId75" Type="http://schemas.openxmlformats.org/officeDocument/2006/relationships/slide" Target="slides/slide65.xml"/><Relationship Id="rId140" Type="http://schemas.openxmlformats.org/officeDocument/2006/relationships/slide" Target="slides/slide130.xml"/><Relationship Id="rId182" Type="http://schemas.openxmlformats.org/officeDocument/2006/relationships/slide" Target="slides/slide172.xml"/><Relationship Id="rId378" Type="http://schemas.openxmlformats.org/officeDocument/2006/relationships/slide" Target="slides/slide368.xml"/><Relationship Id="rId403" Type="http://schemas.openxmlformats.org/officeDocument/2006/relationships/slide" Target="slides/slide393.xml"/><Relationship Id="rId6" Type="http://schemas.openxmlformats.org/officeDocument/2006/relationships/slideMaster" Target="slideMasters/slideMaster3.xml"/><Relationship Id="rId238" Type="http://schemas.openxmlformats.org/officeDocument/2006/relationships/slide" Target="slides/slide228.xml"/><Relationship Id="rId445" Type="http://schemas.openxmlformats.org/officeDocument/2006/relationships/slide" Target="slides/slide435.xml"/><Relationship Id="rId291" Type="http://schemas.openxmlformats.org/officeDocument/2006/relationships/slide" Target="slides/slide281.xml"/><Relationship Id="rId305" Type="http://schemas.openxmlformats.org/officeDocument/2006/relationships/slide" Target="slides/slide295.xml"/><Relationship Id="rId347" Type="http://schemas.openxmlformats.org/officeDocument/2006/relationships/slide" Target="slides/slide337.xml"/><Relationship Id="rId44" Type="http://schemas.openxmlformats.org/officeDocument/2006/relationships/slide" Target="slides/slide34.xml"/><Relationship Id="rId86" Type="http://schemas.openxmlformats.org/officeDocument/2006/relationships/slide" Target="slides/slide76.xml"/><Relationship Id="rId151" Type="http://schemas.openxmlformats.org/officeDocument/2006/relationships/slide" Target="slides/slide141.xml"/><Relationship Id="rId389" Type="http://schemas.openxmlformats.org/officeDocument/2006/relationships/slide" Target="slides/slide37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Brimelow, Claire (CDIO Borders and Trade)" userId="7179fad4-f2f3-4c8c-9d83-f1dca7496d89" providerId="ADAL" clId="{76B77460-5D37-48F1-965D-802C1116C6C3}"/>
    <pc:docChg chg="mod">
      <pc:chgData name="Brimelow, Claire (CDIO Borders and Trade)" userId="7179fad4-f2f3-4c8c-9d83-f1dca7496d89" providerId="ADAL" clId="{76B77460-5D37-48F1-965D-802C1116C6C3}" dt="2025-12-02T09:19:17.940" v="0"/>
      <pc:docMkLst>
        <pc:docMk/>
      </pc:docMkLst>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F15E137-B6BF-4147-84FB-DBECC3B679A8}"/>
              </a:ext>
            </a:extLst>
          </p:cNvPr>
          <p:cNvSpPr txBox="1">
            <a:spLocks noGrp="1"/>
          </p:cNvSpPr>
          <p:nvPr>
            <p:ph type="hdr" sz="quarter"/>
          </p:nvPr>
        </p:nvSpPr>
        <p:spPr>
          <a:xfrm>
            <a:off x="0" y="0"/>
            <a:ext cx="2971800" cy="458791"/>
          </a:xfrm>
          <a:prstGeom prst="rect">
            <a:avLst/>
          </a:prstGeom>
          <a:noFill/>
          <a:ln>
            <a:noFill/>
          </a:ln>
        </p:spPr>
        <p:txBody>
          <a:bodyPr vert="horz" wrap="square" lIns="91440" tIns="45720" rIns="91440" bIns="45720" anchor="t"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3" name="Date Placeholder 2">
            <a:extLst>
              <a:ext uri="{FF2B5EF4-FFF2-40B4-BE49-F238E27FC236}">
                <a16:creationId xmlns:a16="http://schemas.microsoft.com/office/drawing/2014/main" id="{E327D9D8-324B-452B-8E04-4D912AFCB4A1}"/>
              </a:ext>
            </a:extLst>
          </p:cNvPr>
          <p:cNvSpPr txBox="1">
            <a:spLocks noGrp="1"/>
          </p:cNvSpPr>
          <p:nvPr>
            <p:ph type="dt" sz="quarter" idx="1"/>
          </p:nvPr>
        </p:nvSpPr>
        <p:spPr>
          <a:xfrm>
            <a:off x="3884608" y="0"/>
            <a:ext cx="2971800" cy="458791"/>
          </a:xfrm>
          <a:prstGeom prst="rect">
            <a:avLst/>
          </a:prstGeom>
          <a:noFill/>
          <a:ln>
            <a:noFill/>
          </a:ln>
        </p:spPr>
        <p:txBody>
          <a:bodyPr vert="horz" wrap="square" lIns="91440" tIns="45720" rIns="91440" bIns="45720" anchor="t"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8399234-FA7F-4ECE-AFF7-092E1B39E542}" type="datetime1">
              <a:rPr lang="en-GB" sz="1200" b="0" i="0" u="none" strike="noStrike" kern="1200" cap="none" spc="0" baseline="0">
                <a:solidFill>
                  <a:srgbClr val="000000"/>
                </a:solidFill>
                <a:uFillTx/>
                <a:latin typeface="Calibri"/>
              </a:rPr>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t>02/12/2025</a:t>
            </a:fld>
            <a:endParaRPr lang="en-GB" sz="1200" b="0" i="0" u="none" strike="noStrike" kern="1200" cap="none" spc="0" baseline="0">
              <a:solidFill>
                <a:srgbClr val="000000"/>
              </a:solidFill>
              <a:uFillTx/>
              <a:latin typeface="Calibri"/>
            </a:endParaRPr>
          </a:p>
        </p:txBody>
      </p:sp>
      <p:sp>
        <p:nvSpPr>
          <p:cNvPr id="4" name="Footer Placeholder 3">
            <a:extLst>
              <a:ext uri="{FF2B5EF4-FFF2-40B4-BE49-F238E27FC236}">
                <a16:creationId xmlns:a16="http://schemas.microsoft.com/office/drawing/2014/main" id="{B5D4FEEF-6612-44ED-A489-F40A54C48078}"/>
              </a:ext>
            </a:extLst>
          </p:cNvPr>
          <p:cNvSpPr txBox="1">
            <a:spLocks noGrp="1"/>
          </p:cNvSpPr>
          <p:nvPr>
            <p:ph type="ftr" sz="quarter" idx="2"/>
          </p:nvPr>
        </p:nvSpPr>
        <p:spPr>
          <a:xfrm>
            <a:off x="0" y="8685208"/>
            <a:ext cx="2971800" cy="458791"/>
          </a:xfrm>
          <a:prstGeom prst="rect">
            <a:avLst/>
          </a:prstGeom>
          <a:noFill/>
          <a:ln>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
        <p:nvSpPr>
          <p:cNvPr id="5" name="Slide Number Placeholder 4">
            <a:extLst>
              <a:ext uri="{FF2B5EF4-FFF2-40B4-BE49-F238E27FC236}">
                <a16:creationId xmlns:a16="http://schemas.microsoft.com/office/drawing/2014/main" id="{AC2AE5E0-0C07-4955-8D23-97C3398C606F}"/>
              </a:ext>
            </a:extLst>
          </p:cNvPr>
          <p:cNvSpPr txBox="1">
            <a:spLocks noGrp="1"/>
          </p:cNvSpPr>
          <p:nvPr>
            <p:ph type="sldNum" sz="quarter" idx="3"/>
          </p:nvPr>
        </p:nvSpPr>
        <p:spPr>
          <a:xfrm>
            <a:off x="3884608" y="8685208"/>
            <a:ext cx="2971800" cy="458791"/>
          </a:xfrm>
          <a:prstGeom prst="rect">
            <a:avLst/>
          </a:prstGeom>
          <a:noFill/>
          <a:ln>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D7A588D-DF8A-4BD0-838D-17BF16BFC549}" type="slidenum">
              <a:t>‹#›</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54396700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86719FB-553B-436D-96BE-DE0BB3981F78}"/>
              </a:ext>
            </a:extLst>
          </p:cNvPr>
          <p:cNvSpPr txBox="1">
            <a:spLocks noGrp="1"/>
          </p:cNvSpPr>
          <p:nvPr>
            <p:ph type="hdr" sz="quarter"/>
          </p:nvPr>
        </p:nvSpPr>
        <p:spPr>
          <a:xfrm>
            <a:off x="0" y="0"/>
            <a:ext cx="2971800" cy="458791"/>
          </a:xfrm>
          <a:prstGeom prst="rect">
            <a:avLst/>
          </a:prstGeom>
          <a:noFill/>
          <a:ln>
            <a:noFill/>
          </a:ln>
        </p:spPr>
        <p:txBody>
          <a:bodyPr vert="horz" wrap="square" lIns="91440" tIns="45720" rIns="91440" bIns="45720" anchor="t"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000000"/>
                </a:solidFill>
                <a:uFillTx/>
                <a:latin typeface="Calibri"/>
              </a:defRPr>
            </a:lvl1pPr>
          </a:lstStyle>
          <a:p>
            <a:pPr lvl="0"/>
            <a:endParaRPr lang="en-GB"/>
          </a:p>
        </p:txBody>
      </p:sp>
      <p:sp>
        <p:nvSpPr>
          <p:cNvPr id="3" name="Date Placeholder 2">
            <a:extLst>
              <a:ext uri="{FF2B5EF4-FFF2-40B4-BE49-F238E27FC236}">
                <a16:creationId xmlns:a16="http://schemas.microsoft.com/office/drawing/2014/main" id="{ABA09C34-D245-4AA6-B7E8-C2606D6518E9}"/>
              </a:ext>
            </a:extLst>
          </p:cNvPr>
          <p:cNvSpPr txBox="1">
            <a:spLocks noGrp="1"/>
          </p:cNvSpPr>
          <p:nvPr>
            <p:ph type="dt" idx="1"/>
          </p:nvPr>
        </p:nvSpPr>
        <p:spPr>
          <a:xfrm>
            <a:off x="3884608" y="0"/>
            <a:ext cx="2971800" cy="458791"/>
          </a:xfrm>
          <a:prstGeom prst="rect">
            <a:avLst/>
          </a:prstGeom>
          <a:noFill/>
          <a:ln>
            <a:noFill/>
          </a:ln>
        </p:spPr>
        <p:txBody>
          <a:bodyPr vert="horz" wrap="square" lIns="91440" tIns="45720" rIns="91440" bIns="45720" anchor="t"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000000"/>
                </a:solidFill>
                <a:uFillTx/>
                <a:latin typeface="Calibri"/>
              </a:defRPr>
            </a:lvl1pPr>
          </a:lstStyle>
          <a:p>
            <a:pPr lvl="0"/>
            <a:fld id="{B971B856-9D79-42E4-90DC-604235E981F9}" type="datetime1">
              <a:rPr lang="en-GB"/>
              <a:pPr lvl="0"/>
              <a:t>02/12/2025</a:t>
            </a:fld>
            <a:endParaRPr lang="en-GB"/>
          </a:p>
        </p:txBody>
      </p:sp>
      <p:sp>
        <p:nvSpPr>
          <p:cNvPr id="4" name="Slide Image Placeholder 3">
            <a:extLst>
              <a:ext uri="{FF2B5EF4-FFF2-40B4-BE49-F238E27FC236}">
                <a16:creationId xmlns:a16="http://schemas.microsoft.com/office/drawing/2014/main" id="{3150EC6D-1954-44AC-8727-DE598B4AA738}"/>
              </a:ext>
            </a:extLst>
          </p:cNvPr>
          <p:cNvSpPr>
            <a:spLocks noGrp="1" noRot="1" noChangeAspect="1"/>
          </p:cNvSpPr>
          <p:nvPr>
            <p:ph type="sldImg" idx="2"/>
          </p:nvPr>
        </p:nvSpPr>
        <p:spPr>
          <a:xfrm>
            <a:off x="685800" y="1143000"/>
            <a:ext cx="5486400" cy="3086099"/>
          </a:xfrm>
          <a:prstGeom prst="rect">
            <a:avLst/>
          </a:prstGeom>
          <a:noFill/>
          <a:ln w="12701">
            <a:solidFill>
              <a:srgbClr val="000000"/>
            </a:solidFill>
            <a:prstDash val="solid"/>
          </a:ln>
        </p:spPr>
      </p:sp>
      <p:sp>
        <p:nvSpPr>
          <p:cNvPr id="5" name="Notes Placeholder 4">
            <a:extLst>
              <a:ext uri="{FF2B5EF4-FFF2-40B4-BE49-F238E27FC236}">
                <a16:creationId xmlns:a16="http://schemas.microsoft.com/office/drawing/2014/main" id="{C71F4F99-4D5D-48DF-9F93-69F83B9707E6}"/>
              </a:ext>
            </a:extLst>
          </p:cNvPr>
          <p:cNvSpPr txBox="1">
            <a:spLocks noGrp="1"/>
          </p:cNvSpPr>
          <p:nvPr>
            <p:ph type="body" sz="quarter" idx="3"/>
          </p:nvPr>
        </p:nvSpPr>
        <p:spPr>
          <a:xfrm>
            <a:off x="685800" y="4400549"/>
            <a:ext cx="5486400" cy="3600450"/>
          </a:xfrm>
          <a:prstGeom prst="rect">
            <a:avLst/>
          </a:prstGeom>
          <a:noFill/>
          <a:ln>
            <a:noFill/>
          </a:ln>
        </p:spPr>
        <p:txBody>
          <a:bodyPr vert="horz" wrap="square" lIns="91440" tIns="45720" rIns="91440" bIns="45720"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a:extLst>
              <a:ext uri="{FF2B5EF4-FFF2-40B4-BE49-F238E27FC236}">
                <a16:creationId xmlns:a16="http://schemas.microsoft.com/office/drawing/2014/main" id="{8A1453B3-D7DD-4D18-8D50-D2E458A8FC12}"/>
              </a:ext>
            </a:extLst>
          </p:cNvPr>
          <p:cNvSpPr txBox="1">
            <a:spLocks noGrp="1"/>
          </p:cNvSpPr>
          <p:nvPr>
            <p:ph type="ftr" sz="quarter" idx="4"/>
          </p:nvPr>
        </p:nvSpPr>
        <p:spPr>
          <a:xfrm>
            <a:off x="0" y="8685208"/>
            <a:ext cx="2971800" cy="458791"/>
          </a:xfrm>
          <a:prstGeom prst="rect">
            <a:avLst/>
          </a:prstGeom>
          <a:noFill/>
          <a:ln>
            <a:noFill/>
          </a:ln>
        </p:spPr>
        <p:txBody>
          <a:bodyPr vert="horz" wrap="square" lIns="91440" tIns="45720" rIns="91440" bIns="45720" anchor="b"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000000"/>
                </a:solidFill>
                <a:uFillTx/>
                <a:latin typeface="Calibri"/>
              </a:defRPr>
            </a:lvl1pPr>
          </a:lstStyle>
          <a:p>
            <a:pPr lvl="0"/>
            <a:r>
              <a:rPr lang="en-GB" dirty="0"/>
              <a:t>OFFICIAL I CDS External TT TDR Release Scope Guidance</a:t>
            </a:r>
          </a:p>
        </p:txBody>
      </p:sp>
      <p:sp>
        <p:nvSpPr>
          <p:cNvPr id="7" name="Slide Number Placeholder 6">
            <a:extLst>
              <a:ext uri="{FF2B5EF4-FFF2-40B4-BE49-F238E27FC236}">
                <a16:creationId xmlns:a16="http://schemas.microsoft.com/office/drawing/2014/main" id="{1119603E-FEF4-4C72-BB79-EB7297E97A73}"/>
              </a:ext>
            </a:extLst>
          </p:cNvPr>
          <p:cNvSpPr txBox="1">
            <a:spLocks noGrp="1"/>
          </p:cNvSpPr>
          <p:nvPr>
            <p:ph type="sldNum" sz="quarter" idx="5"/>
          </p:nvPr>
        </p:nvSpPr>
        <p:spPr>
          <a:xfrm>
            <a:off x="3884608" y="8685208"/>
            <a:ext cx="2971800" cy="458791"/>
          </a:xfrm>
          <a:prstGeom prst="rect">
            <a:avLst/>
          </a:prstGeom>
          <a:noFill/>
          <a:ln>
            <a:noFill/>
          </a:ln>
        </p:spPr>
        <p:txBody>
          <a:bodyPr vert="horz" wrap="square" lIns="91440" tIns="45720" rIns="91440" bIns="45720" anchor="b"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000000"/>
                </a:solidFill>
                <a:uFillTx/>
                <a:latin typeface="Calibri"/>
              </a:defRPr>
            </a:lvl1pPr>
          </a:lstStyle>
          <a:p>
            <a:pPr lvl="0"/>
            <a:fld id="{098D2AB1-2F0E-43E7-A2E9-9061F8AC627F}" type="slidenum">
              <a:t>‹#›</a:t>
            </a:fld>
            <a:endParaRPr lang="en-GB" dirty="0"/>
          </a:p>
        </p:txBody>
      </p:sp>
    </p:spTree>
    <p:extLst>
      <p:ext uri="{BB962C8B-B14F-4D97-AF65-F5344CB8AC3E}">
        <p14:creationId xmlns:p14="http://schemas.microsoft.com/office/powerpoint/2010/main" val="337719461"/>
      </p:ext>
    </p:extLst>
  </p:cSld>
  <p:clrMap bg1="lt1" tx1="dk1" bg2="lt2" tx2="dk2" accent1="accent1" accent2="accent2" accent3="accent3" accent4="accent4" accent5="accent5" accent6="accent6" hlink="hlink" folHlink="folHlink"/>
  <p:notesStyle>
    <a:lvl1pPr marL="0" marR="0" lvl="0" indent="0" algn="l" defTabSz="914400" rtl="0" fontAlgn="auto" hangingPunct="1">
      <a:lnSpc>
        <a:spcPct val="100000"/>
      </a:lnSpc>
      <a:spcBef>
        <a:spcPts val="0"/>
      </a:spcBef>
      <a:spcAft>
        <a:spcPts val="0"/>
      </a:spcAft>
      <a:buNone/>
      <a:tabLst/>
      <a:defRPr lang="en-US" sz="1200" b="0" i="0" u="none" strike="noStrike" kern="1200" cap="none" spc="0" baseline="0">
        <a:solidFill>
          <a:srgbClr val="000000"/>
        </a:solidFill>
        <a:uFillTx/>
        <a:latin typeface="Calibri"/>
      </a:defRPr>
    </a:lvl1pPr>
    <a:lvl2pPr marL="457200" marR="0" lvl="1" indent="0" algn="l" defTabSz="914400" rtl="0" fontAlgn="auto" hangingPunct="1">
      <a:lnSpc>
        <a:spcPct val="100000"/>
      </a:lnSpc>
      <a:spcBef>
        <a:spcPts val="0"/>
      </a:spcBef>
      <a:spcAft>
        <a:spcPts val="0"/>
      </a:spcAft>
      <a:buNone/>
      <a:tabLst/>
      <a:defRPr lang="en-US" sz="1200" b="0" i="0" u="none" strike="noStrike" kern="1200" cap="none" spc="0" baseline="0">
        <a:solidFill>
          <a:srgbClr val="000000"/>
        </a:solidFill>
        <a:uFillTx/>
        <a:latin typeface="Calibri"/>
      </a:defRPr>
    </a:lvl2pPr>
    <a:lvl3pPr marL="914400" marR="0" lvl="2" indent="0" algn="l" defTabSz="914400" rtl="0" fontAlgn="auto" hangingPunct="1">
      <a:lnSpc>
        <a:spcPct val="100000"/>
      </a:lnSpc>
      <a:spcBef>
        <a:spcPts val="0"/>
      </a:spcBef>
      <a:spcAft>
        <a:spcPts val="0"/>
      </a:spcAft>
      <a:buNone/>
      <a:tabLst/>
      <a:defRPr lang="en-US" sz="1200" b="0" i="0" u="none" strike="noStrike" kern="1200" cap="none" spc="0" baseline="0">
        <a:solidFill>
          <a:srgbClr val="000000"/>
        </a:solidFill>
        <a:uFillTx/>
        <a:latin typeface="Calibri"/>
      </a:defRPr>
    </a:lvl3pPr>
    <a:lvl4pPr marL="1371600" marR="0" lvl="3" indent="0" algn="l" defTabSz="914400" rtl="0" fontAlgn="auto" hangingPunct="1">
      <a:lnSpc>
        <a:spcPct val="100000"/>
      </a:lnSpc>
      <a:spcBef>
        <a:spcPts val="0"/>
      </a:spcBef>
      <a:spcAft>
        <a:spcPts val="0"/>
      </a:spcAft>
      <a:buNone/>
      <a:tabLst/>
      <a:defRPr lang="en-US" sz="1200" b="0" i="0" u="none" strike="noStrike" kern="1200" cap="none" spc="0" baseline="0">
        <a:solidFill>
          <a:srgbClr val="000000"/>
        </a:solidFill>
        <a:uFillTx/>
        <a:latin typeface="Calibri"/>
      </a:defRPr>
    </a:lvl4pPr>
    <a:lvl5pPr marL="1828800" marR="0" lvl="4" indent="0" algn="l" defTabSz="914400" rtl="0" fontAlgn="auto" hangingPunct="1">
      <a:lnSpc>
        <a:spcPct val="100000"/>
      </a:lnSpc>
      <a:spcBef>
        <a:spcPts val="0"/>
      </a:spcBef>
      <a:spcAft>
        <a:spcPts val="0"/>
      </a:spcAft>
      <a:buNone/>
      <a:tabLst/>
      <a:defRPr lang="en-US" sz="1200" b="0" i="0" u="none" strike="noStrike" kern="1200" cap="none" spc="0" baseline="0">
        <a:solidFill>
          <a:srgbClr val="000000"/>
        </a:solidFill>
        <a:uFillTx/>
        <a:latin typeface="Calibri"/>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5EB3E2-4151-49F0-81AC-D17681F7CF2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4403022-7339-417B-91E8-B53ED3E08B1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718A18C-4E3C-4B60-92E7-C5C184CF0C4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84773FF-2213-496B-BA90-227446AE3D57}" type="slidenum">
              <a:t>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48F007B-0678-450C-9BC5-19A8A4EB5E8E}"/>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1D4B3AF-90E2-4D2C-AD6F-2D8CF35C694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CC2E2C6-DB1A-4C3A-8E6E-16A66D4FDF7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F94E63A-7F46-4326-9A92-8C3FD7FCBAA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7E68BD1-7B32-4686-89C5-D376053D4E13}" type="slidenum">
              <a:t>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252B10A7-D6E7-4950-AE55-D8B86DF87F74}"/>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484BECE-6634-43A3-981B-FFBE7A6A471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5C45BFE-1BB2-4979-B953-ABE2B235E4F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B2A8719-7419-4BCE-A43F-00F94C5E325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D260A0A-BA2D-459C-818F-C8F66EB44F67}" type="slidenum">
              <a:t>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A5CC9BD6-BCF7-4D86-AB68-02217441EA3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A04CA3-25C0-4187-A446-136FE9A5660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C9EF634-6928-4808-B640-EB5A9C14AE0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B57A898E-7864-49E8-A6DE-C08033FA71D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1DC52E4-4C36-417E-BA51-7CF766CCA46E}" type="slidenum">
              <a:t>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3F612AF-DCED-4CF1-BC05-9C5F6C00215E}"/>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46F7549-A7D4-4EC8-9395-CD32B004441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8B02BAC-C52A-4640-AE32-334FF1A5820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6153141-B08E-4891-9A3A-657A862BCB9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E409FE4-3810-44F5-9359-549AE67A6284}" type="slidenum">
              <a:t>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4250BA3-72A7-44A3-BBAC-282B1E50743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D0DBBF-251D-4E2F-BDB0-9A94AC808FD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5923124-B66E-4898-AF49-D130F4886CD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0A80826-41F3-48D1-9028-42B2960E006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6AFC533-2C61-48D3-BFB4-18CFFCF47522}" type="slidenum">
              <a:t>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E14A211D-363A-4254-9FEE-583395ECB9B9}"/>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833FAC-22F2-490A-8143-4BEE58AFD63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96006E0-17D1-4CBC-94B0-F8AB707F887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5C719BD-B706-4D47-B366-70D5C251822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DE56E92-FCCD-42FD-A824-C3F92F674987}" type="slidenum">
              <a:t>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7F21ACB9-84BE-4545-ABBA-78BAD3979EA1}"/>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ED25B1-B1C1-4AFD-995C-F2585D6BB8E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30AF95E-79C0-48C3-8AB8-AED4EC6E14A9}"/>
              </a:ext>
            </a:extLst>
          </p:cNvPr>
          <p:cNvSpPr txBox="1">
            <a:spLocks noGrp="1"/>
          </p:cNvSpPr>
          <p:nvPr>
            <p:ph type="body" sz="quarter" idx="1"/>
          </p:nvPr>
        </p:nvSpPr>
        <p:spPr/>
        <p:txBody>
          <a:bodyPr/>
          <a:lstStyle/>
          <a:p>
            <a:endParaRPr lang="en-GB" dirty="0"/>
          </a:p>
        </p:txBody>
      </p:sp>
      <p:sp>
        <p:nvSpPr>
          <p:cNvPr id="4" name="Slide Number Placeholder 3">
            <a:extLst>
              <a:ext uri="{FF2B5EF4-FFF2-40B4-BE49-F238E27FC236}">
                <a16:creationId xmlns:a16="http://schemas.microsoft.com/office/drawing/2014/main" id="{268686E3-DA19-4323-ADD5-1E9E565F880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C78296B-EF0C-4A2F-89B2-FAFEBC6235B1}" type="slidenum">
              <a:t>11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86E64AD-0433-41BE-9B02-05454BABF19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D3875F-0361-436F-B2DE-F4FA80A471E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83E27B6-CA3B-4A1E-BA51-71990D60985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08170CA-9986-455F-816A-05B5309A262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10FBD2A-4E79-40B0-959D-F1218C8CBE7B}" type="slidenum">
              <a:t>12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58C7BEA0-76BA-49AC-A713-393F560CF5A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8FDC140-8FFA-4F50-935D-68B76FC2FA1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8DD72E0-566D-46EE-A766-55BF29D7268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6B30490-BE83-4845-826A-AB7AC144A2C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8D404EB-B8F8-4C9F-BC77-13451FD8DE32}" type="slidenum">
              <a:t>14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17E2E801-03AC-4C0F-9D4F-BA347274A08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FDF4C4-B7D0-4781-AAAF-9164FB18930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7D64145B-395D-4E86-8FE7-AC2FAEA1719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54DBAA8-319C-44E4-A1A9-3FDA151B6FB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5840293-E01C-4650-A20C-D8CFADF45A93}" type="slidenum">
              <a:t>15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4BC9C53D-A2FE-4FF6-B3C7-EC4EF5DC5CA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8CA42A-9D06-4449-B6D3-7495B2B995C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F1F4843-32DE-4711-B1EA-D5D77FAE5D2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0FF20F9-4A80-4C25-8D83-BE00B87D790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CF1CAE2-1F7F-4ECC-9939-93E8D27A7B51}" type="slidenum">
              <a:t>16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6311D782-F3A3-444F-B6F1-6D78372D9AA2}"/>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FC75C3-4E3D-46A8-B8B9-176D86BD55F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1CFAADC-9F9E-4820-81FE-A525E911FBE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83DF7B0-5AA9-4A01-B5FD-FC552F32F44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6D69E29-8B64-4BFE-AC38-F19FC59255A8}" type="slidenum">
              <a:t>17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27B7284F-F692-4C46-A727-46D16825115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2B2788-F6DC-4F5B-93B0-66B245676CA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D6689A2-37F5-4F67-A9FE-97ABAB56C803}"/>
              </a:ext>
            </a:extLst>
          </p:cNvPr>
          <p:cNvSpPr txBox="1">
            <a:spLocks noGrp="1"/>
          </p:cNvSpPr>
          <p:nvPr>
            <p:ph type="body" sz="quarter" idx="1"/>
          </p:nvPr>
        </p:nvSpPr>
        <p:spPr/>
        <p:txBody>
          <a:bodyPr/>
          <a:lstStyle/>
          <a:p>
            <a:pPr lvl="0">
              <a:spcBef>
                <a:spcPts val="300"/>
              </a:spcBef>
              <a:tabLst>
                <a:tab pos="3678238" algn="l"/>
              </a:tabLst>
            </a:pPr>
            <a:r>
              <a:rPr lang="en-GB"/>
              <a:t>Please note, due to Department for International Trade delays with updating Tariff data, the country codes JE and GG (Jersey and Guernsey) are not currently recognised by CDS.  Until this is fixed, CDS users will not be able to submit import declarations from UK SFTs (Jersey or Guernsey) and </a:t>
            </a:r>
            <a:r>
              <a:rPr lang="en-GB" b="1"/>
              <a:t>the following scenario GB imports from UK Special Fiscal Territories (Jersey/Guernsey) cannot be successfully run in Trade Test:</a:t>
            </a:r>
          </a:p>
          <a:p>
            <a:pPr marL="171450" lvl="0" indent="-171450">
              <a:spcBef>
                <a:spcPts val="300"/>
              </a:spcBef>
              <a:buSzPct val="100000"/>
              <a:buFont typeface="Arial" pitchFamily="34"/>
              <a:buChar char="•"/>
              <a:tabLst>
                <a:tab pos="3678238" algn="l"/>
              </a:tabLst>
            </a:pPr>
            <a:r>
              <a:rPr lang="en-GB"/>
              <a:t>As per Tariff Volume 3 guidance, GB declarants submitting an import declaration from UK SFTs should declare the declaration type ‘CO’ in D.E. 1/1 and either the ‘GG’ country code for Guernsey or ‘JE’ country code for Jersey. Where applicable, declarants should also declare the SFT Additional Procedure Code ‘F15’ in D.E. 1/11.</a:t>
            </a:r>
          </a:p>
          <a:p>
            <a:pPr marL="171450" lvl="0" indent="-171450">
              <a:spcBef>
                <a:spcPts val="300"/>
              </a:spcBef>
              <a:buSzPct val="100000"/>
              <a:buFont typeface="Arial" pitchFamily="34"/>
              <a:buChar char="•"/>
              <a:tabLst>
                <a:tab pos="3678238" algn="l"/>
              </a:tabLst>
            </a:pPr>
            <a:r>
              <a:rPr lang="en-GB"/>
              <a:t>Please note, declarants may only declare preference code (dutyRegimeCode) 100 on declarations for GB imports for Guernsey and Jersey as customs duty is not applicable.</a:t>
            </a:r>
          </a:p>
          <a:p>
            <a:pPr marL="171450" lvl="0" indent="-171450">
              <a:spcBef>
                <a:spcPts val="300"/>
              </a:spcBef>
              <a:buSzPct val="100000"/>
              <a:buFont typeface="Arial" pitchFamily="34"/>
              <a:buChar char="•"/>
              <a:tabLst>
                <a:tab pos="3678238" algn="l"/>
              </a:tabLst>
            </a:pPr>
            <a:r>
              <a:rPr lang="en-GB"/>
              <a:t>CDS will validate the declaration against the UK tariff.  CDS will then calculate any liable VAT and Excise duties on the import, send a DMSTAX notification and collect duties against the declared method of payment.</a:t>
            </a:r>
          </a:p>
          <a:p>
            <a:pPr marL="171450" lvl="0" indent="-171450">
              <a:spcBef>
                <a:spcPts val="300"/>
              </a:spcBef>
              <a:buSzPct val="100000"/>
              <a:buFont typeface="Arial" pitchFamily="34"/>
              <a:buChar char="•"/>
              <a:tabLst>
                <a:tab pos="3678238" algn="l"/>
              </a:tabLst>
            </a:pPr>
            <a:r>
              <a:rPr lang="en-GB"/>
              <a:t>Please note, ‘CO’ can be used with all additional declaration types (Dec Type A/B/C/D/E/F/Y/Z) and ‘F15’ can be used for all additional declaration types except Type B or E.</a:t>
            </a:r>
          </a:p>
          <a:p>
            <a:pPr lvl="0"/>
            <a:endParaRPr lang="en-GB"/>
          </a:p>
        </p:txBody>
      </p:sp>
      <p:sp>
        <p:nvSpPr>
          <p:cNvPr id="4" name="Slide Number Placeholder 3">
            <a:extLst>
              <a:ext uri="{FF2B5EF4-FFF2-40B4-BE49-F238E27FC236}">
                <a16:creationId xmlns:a16="http://schemas.microsoft.com/office/drawing/2014/main" id="{76852BA9-EAC6-459A-B2E9-025E6508E1B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68E9236-7FFC-4969-90D6-778A1BCA6F1A}" type="slidenum">
              <a:t>18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C5DF239-EC85-4DE4-BEA2-FE35E09CB76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A947EC-BB0F-4247-8205-50FC45A0923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9CAFC3B-7C62-40D1-9F14-DD53E5274E4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68DDCA6-B6E8-4297-899E-9B4C5416BE7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18AEF45-4F8E-4C31-A0CF-CB07D7A08757}" type="slidenum">
              <a:t>19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D3BAA8F-A509-4EBF-91FC-1C37F4B3EFB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D3E9A0-B463-4B31-8E75-C769473A738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DFA021F-077E-4F64-B15C-03A2C34752F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3E7EBF8-0279-4CAC-BFD5-0DEABF6549D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DE06F6B-FA2E-44CE-A635-22A3D7020E23}" type="slidenum">
              <a:t>20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371B9EC8-25E1-42DD-80E9-F14F854724AC}"/>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EDBDB5-8434-4CFD-9DC1-69C68024854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EAAD2780-5CFB-4E90-92A7-267D7B28CF1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391CFF9-D035-4410-9170-E83EEDD400A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6E66961-F22B-4346-8267-84666B30E6BC}" type="slidenum">
              <a:t>21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56E5770B-1D1B-4497-83CF-751AC80B1B7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EC1C31-BF7C-4FB6-85E9-78043D38C43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F8A4F2A-9388-415A-A11F-2B26342DC58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D9C047E-E631-4325-94EC-2B6219E67B8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FD7C561-F243-43E2-B781-F141F13AC7F8}" type="slidenum">
              <a:t>22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A7F88FC-385C-4030-825E-D852DFA2F3BE}"/>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E8E33F-636B-4AAD-986A-EB50DA49A61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7DBFBD48-A15D-48D2-ADD6-1325804A9D8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77E015A-94DF-4969-873A-D2230DD19769}"/>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BD38D7B-A4BB-4B54-A4B1-25949A6A5E31}" type="slidenum">
              <a:t>23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3A231A00-2B51-468A-8840-394BE6C25C5B}"/>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60ED42-7211-4934-A203-075A07DD632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E51D1E7-D8FE-4ED2-A608-341644AC6EB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D45A15C-7E64-4BC5-9E8C-E58C48A95B9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BBB998E-1238-4ED1-83FD-274A19D0AC5F}" type="slidenum">
              <a:t>28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C9BB2A3B-C6E3-4D5E-826E-3CC2A06EB6EF}"/>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E81E91-AABB-42DD-9513-0B51D1227B8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68DB4D3-1FAE-49B3-8E61-AC99E612D09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A0639C7-1AA7-4E64-AE4F-8940AD6B932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7E52F50-507F-4015-B4DF-2918AE3D8B83}" type="slidenum">
              <a:t>29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16D09DB6-B7CF-4054-8E98-E44A77A92011}"/>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BED391-16FE-49F6-8194-01E67398A1D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FE5778E-3911-437B-9DA7-8CB1CA2E2A6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5FEADD1-7164-4766-AC78-AC968774E59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0FF25C5-428F-4B76-8DF9-7655712AADC8}" type="slidenum">
              <a:t>30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6D88807-7973-4CEE-8D1F-5288B16EA2F2}"/>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75E670-B947-4C28-8E43-0395B673F7E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3A2F7B3-DD29-43C5-8140-5889FF4CB4F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5169398-44E5-41F0-89A4-CC4D70B4A0C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6509245-CE7B-402D-B7A6-80EF9BEF79FA}" type="slidenum">
              <a:t>31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4B3A17AC-3AE8-482F-8341-AD3A008D650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4E0394-BAC6-4453-B552-6327A80D57E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5870A7E-8940-4AB0-9126-84DDD59D355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8F0BADB-74C7-4A36-A24B-A168B65ACEA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44A9203-BA31-4262-9BB9-BD7CD4C06BB3}" type="slidenum">
              <a:t>35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E4184D4-5954-46F8-94AD-9D9F6A50ADA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270B4-FAA6-4040-94B5-C2DD8546963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D662F8-7ED7-4F6F-8C11-46C0DA2CA8B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1E711E-B387-4255-A85C-2CCA3B57EC5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053F95F-9F96-4DD9-9DE3-548F94D25B3B}" type="slidenum">
              <a:t>36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CDDD6A8-EE97-4513-9FF8-A256B4DF289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503027-B838-4BC7-93B9-745DA9BD3C9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21D2B7F-F5D9-429F-8FF3-0758A9940B2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E77E15A-D096-4F83-B343-4B6B074C250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A0CF87D-B3A3-4F57-A1BC-C4A21F3D69F1}" type="slidenum">
              <a:t>37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AAFBC002-EB2B-4BB2-879C-3F6C15935514}"/>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F175C1-CC8E-4C30-9FF6-7267999AD8C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D3E7E4-53AA-4F90-8CF5-168C0A28DB7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035576E-2AE1-43CB-988F-1E52BB546CE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881E778-6488-4025-AF30-3996966F5F23}" type="slidenum">
              <a:t>38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DD26F25-1CC4-4A66-A938-5EE463CFF1F4}"/>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6BCD28-485B-4340-986A-FEA69CEEC50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F8EE0AF-3748-4457-B572-3B13A2B1BC0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A4CA67E-BFD8-41C3-9DC5-5410173F7801}"/>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193F95A-020E-4BAC-A2DE-2895D797C8C7}" type="slidenum">
              <a:t>40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94213EE-E48A-4C39-8432-5A9CCC122CCF}"/>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270B4-FAA6-4040-94B5-C2DD8546963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D662F8-7ED7-4F6F-8C11-46C0DA2CA8B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1E711E-B387-4255-A85C-2CCA3B57EC5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D053F95F-9F96-4DD9-9DE3-548F94D25B3B}"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9CDDD6A8-EE97-4513-9FF8-A256B4DF289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OFFICIAL I CDS External TT TDR Release Scope Guidance</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270B4-FAA6-4040-94B5-C2DD8546963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D662F8-7ED7-4F6F-8C11-46C0DA2CA8B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1E711E-B387-4255-A85C-2CCA3B57EC5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D053F95F-9F96-4DD9-9DE3-548F94D25B3B}"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9CDDD6A8-EE97-4513-9FF8-A256B4DF289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OFFICIAL I CDS External TT TDR Release Scope Guidance</a:t>
            </a:r>
          </a:p>
        </p:txBody>
      </p:sp>
    </p:spTree>
    <p:extLst>
      <p:ext uri="{BB962C8B-B14F-4D97-AF65-F5344CB8AC3E}">
        <p14:creationId xmlns:p14="http://schemas.microsoft.com/office/powerpoint/2010/main" val="389936083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270B4-FAA6-4040-94B5-C2DD8546963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D662F8-7ED7-4F6F-8C11-46C0DA2CA8B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1E711E-B387-4255-A85C-2CCA3B57EC5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D053F95F-9F96-4DD9-9DE3-548F94D25B3B}"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9CDDD6A8-EE97-4513-9FF8-A256B4DF289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OFFICIAL I CDS External TT TDR Release Scope Guidance</a:t>
            </a:r>
          </a:p>
        </p:txBody>
      </p:sp>
    </p:spTree>
    <p:extLst>
      <p:ext uri="{BB962C8B-B14F-4D97-AF65-F5344CB8AC3E}">
        <p14:creationId xmlns:p14="http://schemas.microsoft.com/office/powerpoint/2010/main" val="253356907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A2615C-B816-4157-B846-7C0EDFCFF30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8F97695-B15A-4D56-8AC4-A07B4F0056A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84C05EF-D594-49F8-8F57-A818D19F74E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784B3BE-14FA-47B3-9F3A-8C550D93C1DC}" type="slidenum">
              <a:t>44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B2BCA7D-C84E-4220-A33F-9FF9AB97EF1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B5E71E-D48E-4540-A45F-7E07426F0A9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8754D79-12E4-44BB-A988-A5C327E46F7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4649CE9-5BC4-47EC-8B9F-546E754C634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1A96F95-5D0B-477A-BD21-8A98B494B04D}" type="slidenum">
              <a:t>46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407B7F0C-0514-4F2D-9FD0-1CF73A8EE71F}"/>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C54236-11D3-4329-A577-C5EA94B6595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BDC48A0-298E-4A48-8AD6-0585376CE3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C9C0312-0540-474D-A38E-5E169B03ED8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644397C-8D93-43F5-9246-3AC0746E78C1}" type="slidenum">
              <a:t>47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1B0B496-1353-4819-A274-8949104AE96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5D77A5-F53C-4BA0-8A08-B4BE13CBD22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E3C7674-77EB-45CE-A2C6-865B3F75358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9B7AE5A-D278-48CD-A8AD-D4FE276D245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17F4342-ACD3-437B-8504-AFDCD1D6C77D}" type="slidenum">
              <a:t>49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47FC9D0D-313E-4B20-AE20-CCA6AC2D5DE1}"/>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AFEB840-EE49-4C71-9754-4D55B299EE3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CF8063B-1099-45B8-A59D-7D67A771527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6C58B3E-10DB-40F9-BEFA-6E9183AB57E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2C77E3D-47F1-4313-A6E4-128D79CBF3DD}" type="slidenum">
              <a:t>50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55F6272-5E6F-4B89-9B67-3B0BB6645B21}"/>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99C28F-C8C8-4B8D-A1EE-00145C99F63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C4B909C-7E4F-471C-B71A-A0D8E2B05BB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6F860B2-871C-4690-B920-25150188641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42332FB-4A2F-4D87-8B7B-A5A29B863A95}" type="slidenum">
              <a:t>51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8824DBE-0A58-4CF7-A197-E3D93FD49D7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3E0C2E-30BC-C0A1-B85B-5A58BEF3E9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1C80C8-C7A0-4C68-766C-C4A488F0387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6CA4CBB-5792-07FE-8B33-A1D67EB8FFE1}"/>
              </a:ext>
            </a:extLst>
          </p:cNvPr>
          <p:cNvSpPr txBox="1">
            <a:spLocks noGrp="1"/>
          </p:cNvSpPr>
          <p:nvPr>
            <p:ph type="body" sz="quarter" idx="1"/>
          </p:nvPr>
        </p:nvSpPr>
        <p:spPr/>
        <p:txBody>
          <a:bodyPr/>
          <a:lstStyle/>
          <a:p>
            <a:pPr>
              <a:lnSpc>
                <a:spcPct val="107000"/>
              </a:lnSpc>
              <a:spcAft>
                <a:spcPts val="800"/>
              </a:spcAft>
            </a:pPr>
            <a:endParaRPr lang="en-GB" sz="18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1EDF5E6E-D411-18CA-E57E-50718467E85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52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65953284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pPr>
              <a:lnSpc>
                <a:spcPct val="107000"/>
              </a:lnSpc>
              <a:spcAft>
                <a:spcPts val="800"/>
              </a:spcAft>
            </a:pPr>
            <a:endParaRPr lang="en-GB" sz="18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72957859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1319337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F337B-6773-FA8D-5D2A-46682ACED12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B0AE0E-F981-2AEF-9962-F3D3CE93E0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8226405-3DFC-3387-CF5C-6FB44AD240C8}"/>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984625FA-6D7D-86EE-B440-02612883534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5463365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381040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6704634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7450103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33826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3AD45E-B930-5D6F-FDD2-4AFBEE4EB9B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3D238B0-EA06-4495-EE64-F840F8CDE0B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0C0B881-A1B0-B495-7C4D-44B7FBDD2A0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D3AEA983-33D1-4B05-A08D-E4EF52409E20}"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39909525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E784E1-522A-FD31-E754-C89AD51F50F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D9CBAF6-3344-0177-F00D-7857D7CCBC1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065AF36-5B18-434A-6977-57E650D0DB5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78E35961-0473-45E9-B756-3C40DC7E0DBC}"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pPr>
              <a:lnSpc>
                <a:spcPct val="107000"/>
              </a:lnSpc>
              <a:spcAft>
                <a:spcPts val="800"/>
              </a:spcAft>
            </a:pPr>
            <a:endParaRPr lang="en-GB" sz="18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1085570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542947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84168218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15654858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4357041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0656377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8053599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35150400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01766680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0262682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328275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62780251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3831592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83936763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696798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pPr>
              <a:lnSpc>
                <a:spcPct val="107000"/>
              </a:lnSpc>
              <a:spcAft>
                <a:spcPts val="800"/>
              </a:spcAft>
            </a:pP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gn="l"/>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1444399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6208883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7781822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4832108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3607522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9813640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3538524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4650867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99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5401646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5105357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0546175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1804879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2001783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latin typeface="Calibri"/>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1431923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6930098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05342071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01694282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70137652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dirty="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24165820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4689723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sz="1200" b="0" i="0">
              <a:effectLst/>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2717297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446445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3820886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4210858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871738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0676100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b="0" i="0">
              <a:solidFill>
                <a:srgbClr val="000000"/>
              </a:solidFill>
              <a:effectLst/>
              <a:latin typeface="Calibri"/>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3820886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119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5233456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b="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9463156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1204501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3907075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984280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9392374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7082540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7082540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b="0" i="0">
              <a:solidFill>
                <a:srgbClr val="000000"/>
              </a:solidFill>
              <a:effectLst/>
              <a:latin typeface="Calibri"/>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5765352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b="0" i="0">
              <a:solidFill>
                <a:srgbClr val="000000"/>
              </a:solidFill>
              <a:effectLst/>
              <a:latin typeface="Calibri"/>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42730184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129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8191467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37210388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7976768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1546077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8979209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2099293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b="0">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11239439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3366903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6234822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34899713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139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57548945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0341194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89894763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8643721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056419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310266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2728350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4463193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3024466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4381933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149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9385839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4360613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7219710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1161826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1142116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6050602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2403997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0179206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ea typeface="Calibri"/>
              <a:cs typeface="Calibri"/>
            </a:endParaRPr>
          </a:p>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01393180"/>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ea typeface="Calibri"/>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460314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ea typeface="Calibri"/>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a:pPr>
            <a:endParaRPr lang="en-GB" b="1"/>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159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10015632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ea typeface="Calibri"/>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03937597"/>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3820886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24476449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9733168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9733168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743614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07095390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7022118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169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4082496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5663741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35917858"/>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8733429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1142116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2773355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60506023"/>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sz="18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43623246"/>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66323863"/>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236509149"/>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179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6153188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7219710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04020032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78700469"/>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2403997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01792065"/>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0139318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460314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10015632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03937597"/>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189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4468321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82142218"/>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68205993"/>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dirty="0"/>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77345186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394143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0314622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02692082"/>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4564006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7862793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199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9159958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43604606"/>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1724541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34532134"/>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64337715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1554956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9115762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6137047"/>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4863247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1605223"/>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209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9908055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7422962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92315586"/>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3820886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328833"/>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7699863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50549064"/>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1005922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75105686"/>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1904842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219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2882583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682942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8421024"/>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66012223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5982347"/>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07692547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3522316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89243123"/>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dirty="0"/>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38208868"/>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229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80726396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87575880"/>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01781734"/>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53907118"/>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548631477"/>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137620740"/>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8058003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45078658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413602719"/>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12876543"/>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239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9681464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90145192"/>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254690039"/>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11761363"/>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5438841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9277632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3956005"/>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612681054"/>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249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292130075"/>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45671394"/>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82760368"/>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6697597"/>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05045438"/>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76132633"/>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224611157"/>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256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08347012"/>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dirty="0"/>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822678408"/>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2807647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6528045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0741327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dirty="0"/>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719462466"/>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1837292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1090343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279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11761363"/>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85A8CC8A-B25D-411B-AA07-FAF5801562C4}"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82675913"/>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1090343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76790984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77181682"/>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1090343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085581575"/>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3900917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74969354"/>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65127645"/>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722616598"/>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1C009CC4-3AE3-4D6D-BF71-EABFD2CF8B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290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973167418"/>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dirty="0"/>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A8CC8A-B25D-411B-AA07-FAF5801562C4}" type="slidenum">
              <a:t>291</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2167455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pPr marL="742950" lvl="1" indent="-285750" algn="l">
              <a:buFont typeface="+mj-lt"/>
              <a:buAutoNum type="arabicPeriod"/>
            </a:pPr>
            <a:endParaRPr lang="en-GB" b="0" i="0">
              <a:solidFill>
                <a:srgbClr val="333333"/>
              </a:solidFill>
              <a:effectLst/>
              <a:latin typeface="Arial" panose="020B0604020202020204" pitchFamily="34" charset="0"/>
            </a:endParaRPr>
          </a:p>
          <a:p>
            <a:pPr algn="l">
              <a:buFont typeface="Arial" panose="020B0604020202020204" pitchFamily="34" charset="0"/>
              <a:buChar char="•"/>
            </a:pPr>
            <a:endParaRPr lang="en-GB" b="0" i="0">
              <a:solidFill>
                <a:srgbClr val="333333"/>
              </a:solidFill>
              <a:effectLst/>
              <a:latin typeface="Arial" panose="020B0604020202020204" pitchFamily="34" charset="0"/>
            </a:endParaRPr>
          </a:p>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292</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62503099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pPr marL="742950" lvl="1" indent="-285750" algn="l">
              <a:buFont typeface="+mj-lt"/>
              <a:buAutoNum type="arabicPeriod"/>
            </a:pPr>
            <a:endParaRPr lang="en-GB" b="0" i="0">
              <a:solidFill>
                <a:srgbClr val="333333"/>
              </a:solidFill>
              <a:effectLst/>
              <a:latin typeface="Arial" panose="020B0604020202020204" pitchFamily="34" charset="0"/>
            </a:endParaRPr>
          </a:p>
          <a:p>
            <a:pPr algn="l">
              <a:buFont typeface="Arial" panose="020B0604020202020204" pitchFamily="34" charset="0"/>
              <a:buChar char="•"/>
            </a:pPr>
            <a:endParaRPr lang="en-GB" b="0" i="0">
              <a:solidFill>
                <a:srgbClr val="333333"/>
              </a:solidFill>
              <a:effectLst/>
              <a:latin typeface="Arial" panose="020B0604020202020204" pitchFamily="34" charset="0"/>
            </a:endParaRPr>
          </a:p>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293</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64933810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A8CC8A-B25D-411B-AA07-FAF5801562C4}" type="slidenum">
              <a:t>294</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382675913"/>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C009CC4-3AE3-4D6D-BF71-EABFD2CF8B51}" type="slidenum">
              <a:t>295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903445-21D4-48D1-9624-0CAB6E64949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E6E7956-3AF6-43A3-9322-516522D3A56B}"/>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2A19D55-14D8-4824-BAAA-C56913BC32E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00909A-5844-4446-A060-B2C285C8686F}" type="slidenum">
              <a:t>296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903445-21D4-48D1-9624-0CAB6E64949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E6E7956-3AF6-43A3-9322-516522D3A56B}"/>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2A19D55-14D8-4824-BAAA-C56913BC32E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00909A-5844-4446-A060-B2C285C8686F}" type="slidenum">
              <a:t>297</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8112724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298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pPr>
              <a:lnSpc>
                <a:spcPct val="107000"/>
              </a:lnSpc>
              <a:spcBef>
                <a:spcPts val="750"/>
              </a:spcBef>
              <a:spcAft>
                <a:spcPts val="800"/>
              </a:spcAft>
            </a:pPr>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299</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4633560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300</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164595712"/>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301</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147991039"/>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302</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93910267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303</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304</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2750788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pPr marL="457200" lvl="1" indent="0" algn="l">
              <a:buFont typeface="+mj-lt"/>
              <a:buNone/>
            </a:pPr>
            <a:r>
              <a:rPr lang="en-GB" sz="1200" b="1" i="0" u="sng" strike="noStrike">
                <a:solidFill>
                  <a:srgbClr val="000000"/>
                </a:solidFill>
                <a:latin typeface="Calibri" pitchFamily="34"/>
              </a:rPr>
              <a:t>CDSNIP-468 CDSNIP-490</a:t>
            </a:r>
            <a:endParaRPr lang="en-GB" b="0" i="0">
              <a:solidFill>
                <a:srgbClr val="333333"/>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305</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576082304"/>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306</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53156801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pPr>
              <a:lnSpc>
                <a:spcPct val="107000"/>
              </a:lnSpc>
              <a:spcBef>
                <a:spcPts val="750"/>
              </a:spcBef>
              <a:spcAft>
                <a:spcPts val="800"/>
              </a:spcAft>
            </a:pPr>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0436CCAA-DC72-4E7C-B779-69A0CC760976}"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307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73028483"/>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A8CC8A-B25D-411B-AA07-FAF5801562C4}" type="slidenum">
              <a:t>308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C009CC4-3AE3-4D6D-BF71-EABFD2CF8B51}" type="slidenum">
              <a:t>309</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51090343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C009CC4-3AE3-4D6D-BF71-EABFD2CF8B51}" type="slidenum">
              <a:t>310</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832866747"/>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A8CC8A-B25D-411B-AA07-FAF5801562C4}" type="slidenum">
              <a:t>311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312</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456492072"/>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0436CCAA-DC72-4E7C-B779-69A0CC760976}"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313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197417967"/>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9DF4F-FD18-4E9A-96A0-69487B3627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6F4EE8-A3F5-421E-B0B4-DE79D1E123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C8B5363-5A06-4BBB-B40A-EF91ACA4BB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A8CC8A-B25D-411B-AA07-FAF5801562C4}" type="slidenum">
              <a:t>314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39FBBC-6B3E-4C74-98F5-91D162BFC2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67EBF6F-635A-4352-8BE4-33D0B00636D5}"/>
              </a:ext>
            </a:extLst>
          </p:cNvPr>
          <p:cNvSpPr txBox="1">
            <a:spLocks noGrp="1"/>
          </p:cNvSpPr>
          <p:nvPr>
            <p:ph type="body" sz="quarter" idx="1"/>
          </p:nvPr>
        </p:nvSpPr>
        <p:spPr/>
        <p:txBody>
          <a:bodyPr/>
          <a:lstStyle/>
          <a:p>
            <a:pPr>
              <a:lnSpc>
                <a:spcPct val="107000"/>
              </a:lnSpc>
              <a:spcAft>
                <a:spcPts val="800"/>
              </a:spcAft>
            </a:pPr>
            <a:endParaRPr lang="en-GB"/>
          </a:p>
        </p:txBody>
      </p:sp>
      <p:sp>
        <p:nvSpPr>
          <p:cNvPr id="4" name="Slide Number Placeholder 3">
            <a:extLst>
              <a:ext uri="{FF2B5EF4-FFF2-40B4-BE49-F238E27FC236}">
                <a16:creationId xmlns:a16="http://schemas.microsoft.com/office/drawing/2014/main" id="{B0DD8AFD-5766-4915-9DFC-B43DC951C6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C009CC4-3AE3-4D6D-BF71-EABFD2CF8B51}" type="slidenum">
              <a:t>315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903445-21D4-48D1-9624-0CAB6E64949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E6E7956-3AF6-43A3-9322-516522D3A56B}"/>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2A19D55-14D8-4824-BAAA-C56913BC32E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00909A-5844-4446-A060-B2C285C8686F}" type="slidenum">
              <a:t>316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DEAB38-F1D5-4BAB-A44D-A62210C88A0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9C81C4F-6B61-42C6-979E-DD1B57F7CA2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282868B-6658-4D09-B9EF-9D02E924398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BD73088-48CF-4395-A506-D5373CE4978E}" type="slidenum">
              <a:t>317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D50D63-CFE9-403A-812A-9BE65454C1B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5EAC6BD-262E-4788-91DD-BF074B4AA8A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4521F13-0825-49AF-B702-86DF34A1FD6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FA646B2-D189-489D-A105-659531E60BAF}" type="slidenum">
              <a:t>318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319</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320</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46335603"/>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321</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50573628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322</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273338922"/>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323</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126158146"/>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324</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483404067"/>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325</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802391735"/>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7DCADE-B9FE-4A83-8117-8C590AA2587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9001EC-8C0B-4A57-A86E-387C794C11C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69C20-A267-4F79-96EB-09F831B67CB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36CCAA-DC72-4E7C-B779-69A0CC760976}" type="slidenum">
              <a:t>326</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28281533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4CB9E6-F24F-43CF-AE59-89389D711F0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97A8325-9735-4288-976C-F7283B4626C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4624915-E8BA-43D8-B504-C51A7931E00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DE1711E-C46F-42DF-AB1D-04EE97A4888B}" type="slidenum">
              <a:t>327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67CD4B-75D2-46AC-BBBC-6AE5EEB42AC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B96C342-7C0D-448A-9A43-60CF951C0B7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3200B0A-A63F-4FE7-B0D5-CD084EFBFEF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29E7E02-6B9F-4F6E-B109-4BA4FEF51E32}" type="slidenum">
              <a:t>328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67CD4B-75D2-46AC-BBBC-6AE5EEB42AC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B96C342-7C0D-448A-9A43-60CF951C0B7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3200B0A-A63F-4FE7-B0D5-CD084EFBFEF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29E7E02-6B9F-4F6E-B109-4BA4FEF51E32}" type="slidenum">
              <a:t>329</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142257609"/>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D26F6E-A135-454F-9FC7-92E22FC66A9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E9421CFB-35C6-4AB4-893B-FC141CFA202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E377514-9DC2-488A-8E9D-F9AD6116E06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20058CF-C9C0-4127-B46B-78BAEB1F34D5}" type="slidenum">
              <a:t>330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331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DAE7D3-9A88-43DC-B5B0-2BAAAE321C8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FD203DDD-6CFE-4252-8CA0-3CF1727BA16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A732210-378C-4661-BDB6-76FBA468A6D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7405E65-A78A-46F4-B277-6D143C531B81}" type="slidenum">
              <a:t>334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896473-025A-40F0-A55D-99ECA1CEB96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92674F9-5D99-411F-A440-D0260FBA780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A842B3A-307D-4503-86A3-E52318B19F3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4C8A95E-E53A-41FC-B95F-94F4F9C357B6}" type="slidenum">
              <a:t>335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6DF089-64F0-430A-966B-3188249A252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B41D415-E5C2-49AA-A38D-23C42F14DAB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868CFFF-A90B-4943-9DD9-0DD36E19CBF8}"/>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FFD8044-CCE7-4BE0-BB34-D204C1F4EC5C}" type="slidenum">
              <a:t>336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43D619-18EE-4DE4-A25F-FFA60411AC7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3210F78-36FF-4F86-8F28-EBAA2E22822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CE49076-470C-4897-8E18-41B54E92E80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7B577D5-EEFF-4747-93AC-9D8041D8D6E2}" type="slidenum">
              <a:t>337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338</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441969456"/>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339</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4193504340"/>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340</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313013689"/>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341</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91432458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342</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920308836"/>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343</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59344665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344</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3817082105"/>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DD15D7-E69E-4FCC-B741-17EC0989C0A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24388F-54A9-4904-B527-1E2AC3AF06D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4226352-5665-4892-A7CB-3865C0A8F4D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82013CF-F7CD-4BC1-BEB5-94784691C267}" type="slidenum">
              <a:t>345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43D619-18EE-4DE4-A25F-FFA60411AC7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3210F78-36FF-4F86-8F28-EBAA2E22822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CE49076-470C-4897-8E18-41B54E92E80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7B577D5-EEFF-4747-93AC-9D8041D8D6E2}" type="slidenum">
              <a:t>346</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2063424477"/>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347</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396780476"/>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348</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197397088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1D7461-2599-4753-866F-52269458A7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6B3256-E94F-4C18-B52A-8B6D4650AB1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1C165A6-9323-4022-B36B-AA405A98F89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DF884B2-D4D7-44DE-B17D-1E8D9A4214FE}" type="slidenum">
              <a:t>349</a:t>
            </a:fld>
            <a:endParaRPr lang="en-GB" sz="1200" b="0" i="0" u="none" strike="noStrike" kern="1200" cap="none" spc="0" baseline="0">
              <a:solidFill>
                <a:srgbClr val="000000"/>
              </a:solidFill>
              <a:uFillTx/>
              <a:latin typeface="Calibri"/>
            </a:endParaRPr>
          </a:p>
        </p:txBody>
      </p:sp>
    </p:spTree>
    <p:extLst>
      <p:ext uri="{BB962C8B-B14F-4D97-AF65-F5344CB8AC3E}">
        <p14:creationId xmlns:p14="http://schemas.microsoft.com/office/powerpoint/2010/main" val="58640085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5BB7BB-016D-49CA-BE65-E03176722F6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E5E7C2B-9734-40B2-AEE3-56846AFB589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47D791B-9C39-436D-A8A2-1D555FA6EEA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2E35762-4E0B-4B9E-B40D-4B2426F1C8E1}" type="slidenum">
              <a:t>350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AE19C2-D773-4DED-9B26-3A300FC98BB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4240180-D3E2-480B-AEF3-D985BD82741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19665C9-032B-430D-B7F1-1B79C660875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00CD416-91F5-4B87-A3A6-1558F8EFF3D8}" type="slidenum">
              <a:t>351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19EE0D-C24B-4B91-B414-EDFCA608978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7DCAE714-2B18-41A8-9EEA-D5491FE10D2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36404D1-4076-4A37-BEB7-2AD564BBDA0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64F7BBC-E6AF-4E67-89D1-285C1405E63A}" type="slidenum">
              <a:t>352</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43A938-9B71-411D-AACD-FC5270687AF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357F20D-932D-42BD-966C-2A09BC45A68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DDD6F89-2250-4EAE-A771-9F94BAEAE99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72E5B6-5966-4985-90B1-37F44224761C}" type="slidenum">
              <a:t>353</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D8F349-A400-4FEF-B590-AC35806ADE4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42A6817-5F21-4DBE-8504-BCFFF303857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FB684E1-0A46-4768-BAD7-5E56499AD28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BEB6F6E-A9D7-406B-9452-291764CF4CCC}" type="slidenum">
              <a:t>354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B0B71C-FEB1-4E55-B9F7-54770717F0C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AE67684-2DB6-4985-9372-B38611D5038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B06DD1E-7DF6-4EB4-836D-AAF302F6D5A9}"/>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69793ED-A50C-4CA4-B570-087AFCC9F21C}" type="slidenum">
              <a:t>355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45D78D-73F3-4E87-8FA7-ECDFBC56BE4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01C0424-5A16-4140-8F74-833C229753F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04C2D94-D76D-45F6-A440-A0F98F408EA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F4951A2-E185-44CF-A044-AE502D678ED4}" type="slidenum">
              <a:t>356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37DEE7-536A-4BC3-9554-2001308E2BD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09EAC6E-E7FF-4312-AAE9-FF9D62E2658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6E0F665-AAD9-414E-B6F5-C896D64A0A6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9CF3B70-B49A-41BA-A748-8081789CDC69}" type="slidenum">
              <a:t>357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1092DA-CC94-451D-922A-5E3A86B8D6A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DA0C284-A8F1-4FDD-9351-8177900CE50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BEB4BBD-62B5-47B1-B582-365AF33F13B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8DDBA0A-7043-4969-BCA1-9A9CFC5334C4}" type="slidenum">
              <a:t>358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E2B5BD-D268-4F7F-A9EC-F8BB2B6DBA5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5CE007E-DE21-4E10-8F05-55524F07363B}"/>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120D87F-2FC5-4A84-AAF6-50EA021C297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103ED2E-A183-4524-AE28-AED8BCDFDD47}" type="slidenum">
              <a:t>359</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97C764-4A77-45DA-85B3-9AADD282B70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CFB40CD-0FB2-4B64-A575-2439C0467DE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1AB0BD6-090A-41A9-A169-0ABA97A80F5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A6D99D1-BE00-4B8D-8F04-6B935FD79B66}" type="slidenum">
              <a:t>360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8294E6-3AF7-425D-A79E-0A3A997D6AC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71CA04F-FFF6-4C4B-85C1-6FD544E17A3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340D843-8A33-42CC-9062-77D1409CADB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B95FFAE-7B9C-48E8-B058-FCDAA8A629C7}" type="slidenum">
              <a:t>361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1834FFE-4566-4317-A30E-C52F0401307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C673260-A665-4C96-9EA1-A79B58CBCE0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C1F1DFD-6C0C-4339-BA0E-A3F96F9355F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F57E1A7-41E6-4F8D-BAA6-B7658D891ECC}" type="slidenum">
              <a:t>362</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1B99D2-1011-41A3-8B9C-390A85EAA02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7BA9174-5DA4-4E63-A6E6-DF49E6A94A3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5E72B3D-1165-4DFF-8733-711A0C9671E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F9BB7B6-8A09-4239-ADD4-143F4BCB1085}" type="slidenum">
              <a:t>363</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52C1D8-4A04-4729-9E6E-96453837AC7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3F69E6A-687B-4874-9C0E-24B9D224B3B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C2CB8AD-72A0-4FE4-9E00-329C8631319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E219D2B-FAA2-4C52-AC3D-8A10AFB8136A}" type="slidenum">
              <a:t>364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A83D6A-3738-44AC-9D16-B3A438BE9B1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4F2917-8414-430B-A9F5-731290B3E41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1CFE3F9-10D9-4506-B21C-6974EA03C26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FF1B6EE-91A4-4CE1-8261-A619027714E4}" type="slidenum">
              <a:t>365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FAD517-0E8B-48A0-BF27-F60023206B0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4580D7D-98CE-42FB-BA87-128A1E87F6F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D13F8D3-9C90-4209-A5CA-B784222A1A6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D052575-F54F-415B-931C-AB161B753D02}" type="slidenum">
              <a:t>366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217AE6-CB6C-4506-A4E9-2520F63F0EF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30B5190-4652-43FE-B6B8-7EF8598AD0F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AF7150B-76CE-44B6-AB41-B10F2521372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FFEBCFE-7E96-442F-970C-D1CE5BA260F7}" type="slidenum">
              <a:t>367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72B61C-15E9-4928-903A-AC7E10989E8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1ACFD5D-B0F3-46DC-88D7-98D28ACAB4B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258806-6CDB-464A-B88A-B0F0349ADDE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81F1791-D49A-4889-BE41-8930C1028848}" type="slidenum">
              <a:t>368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C7FD64-7495-456D-8DAC-4489D1B4681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83BAA84-04DC-40A4-BAC2-00BCFA3F700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90AE2D8-40B5-4B7E-BA45-D143D328E8A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95D826F-A7FF-49FB-97A6-A2D5B8042D80}" type="slidenum">
              <a:t>369</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998CCD-7338-4EEB-B996-E934E926574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2554AF3-768E-4200-B443-C996FD782A8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5164278-077F-4DA9-9E3D-6EEBB120E41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96E3712-BEB6-4A6A-A495-9C89CB022856}" type="slidenum">
              <a:t>370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12AC8C-0893-49A7-A200-1B409BD833C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4A55D59-3E96-4BE2-92CA-594E6F7B83C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E91ECBC-5260-4C96-8B8B-41D5B73BAD6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0F4A1BD-3771-421F-8132-2BE52A15D33D}" type="slidenum">
              <a:t>371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1F587D-2B76-4930-A774-D7456640142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3DA42A0-9F20-4F1C-B797-972F5D319DE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CB2FDE2-01F4-4D4C-9362-8A8EED35FDC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E2A224D-A9AA-4274-93F1-7072604FA871}" type="slidenum">
              <a:t>372</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39911B-D46F-4CD1-AEF2-B49F513C2FA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BBA0DA8-F6E4-43BF-80FD-4610234606A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149D759-DFC1-4442-AC43-0DD8A366DD7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E169C8E-B4EC-4A80-BED7-7860E928930C}" type="slidenum">
              <a:t>373</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295144-0341-4864-814A-DED6F17BEEC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6BD3DDA-2F92-457D-B129-B81F952B252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2E5EDF1-D2A6-4F77-B719-AADE854080E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99833A4-BA78-415F-AE7D-83E80687E3B1}" type="slidenum">
              <a:t>374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E27C29-AC54-4B5D-9B39-31D835895C4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C1C20F9-A240-4F79-9B22-3B676CA5CD6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EE344F7-92DB-443D-988D-ED6BEE8817A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63419DC-80D7-4E23-9049-553B297C42FD}" type="slidenum">
              <a:t>375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E66011-48BC-435C-91BC-2F8B5B210E2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0B8F6E7-6B16-4E89-9762-2248769CDF3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9DFC633-8E6E-47D8-AD25-2F6E0280FEF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6CFF09E-8F8F-4245-88EE-083EBED6F546}" type="slidenum">
              <a:t>376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698427-F49B-4F5C-B482-927A8081B06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CD49132-19FD-4F39-B0D0-28461A62968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2AAA2C0-B721-4095-A1A2-A02ABCE901C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8FFC8C4-8706-4D37-9E7D-D0BAB46EE30D}" type="slidenum">
              <a:t>377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420B88-6C0E-4E84-93D6-2A768788ACF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43AF464-2F87-4D6E-88A9-62D254DA46D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597AAAC-BFBC-4460-B36E-31021AF7ED5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837135F-0C59-4E4B-AEC4-8EBB1994C8C8}" type="slidenum">
              <a:t>378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8CC4DF-05C5-4175-BB78-C504E9E7079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DAD871D-ABB1-40B2-AE6D-82B43BBCC21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CB1FCC8-802B-4DB0-95F6-248A5E3A11A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F8AA89D-BC81-4BA1-A966-C6C47F815AC9}" type="slidenum">
              <a:t>379</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B48FA3-9197-4AA5-A2AB-5B4ABB2C065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ABC68C5-86B2-4471-9AB6-619568B77D5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849CFD3-2B2C-46F2-8047-12E894FE4CC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689552A-9D78-43B1-B71C-1B76B26F9F3B}" type="slidenum">
              <a:t>380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C0F28C-E681-456B-9654-81A6437D9B5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297D09B-25C4-4205-94F9-15F91A68B59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7907174-DFB1-40EF-9195-53E24C8CF27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49F775B-2010-4D21-8EBD-DB43DA971AFC}" type="slidenum">
              <a:t>381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B8A925-6816-4F7C-8D09-67E7EEC6688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DD910F3-DB10-4026-8F2F-71515BBCCB7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D40086F-581D-43EF-A9CB-F3C47158232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818A0B8-D5BE-471E-9E92-F4F42EA7474F}" type="slidenum">
              <a:t>382</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8C9B63-2EA6-49F8-BFD6-EC48498C369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E01F6F2-B5E0-4591-9FD9-B70B1DC1994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097B198-5D5C-47F3-92E5-AA636821D22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2CB898-2326-4CEF-B990-C4964CFF855C}" type="slidenum">
              <a:t>383</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F729C8-EFF1-419C-9EDE-0829ECDCCD4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049ACE2-DAB9-4741-B076-EB7A3AA138E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2A5C8CA-604B-42FA-BB32-03FB06C2A32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34FD1A9-1410-4E5D-84B4-A4BB3189BCF2}" type="slidenum">
              <a:t>384</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51E98A-5FAB-4C72-AEE5-09B77130769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67A64FA-B66B-4CAB-8286-77BABC7652F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DC308DE-6970-464C-98F6-D3E491726B78}"/>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EAF96C3-672F-44B7-901D-6A867B17206D}" type="slidenum">
              <a:t>385</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7CD7DA-F830-4EDF-B1D3-4C55E99E512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54D2492-98F8-41E6-8E8D-6E336BFB6E6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78DDFC4-020F-48B4-826D-8F5A31A093A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8D8141-3C2B-45F5-91E2-FE9CB09A9DF2}" type="slidenum">
              <a:t>386</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9245A9-ED8D-48BF-8696-BB2A6CF515E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A455BB6-A25A-4D7C-B748-63AE9D168A5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0BEC292-50C2-4908-A456-B6B45672928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DA28B72-604A-4882-A245-39A800C8D99C}" type="slidenum">
              <a:t>387</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8C8E68-45B1-47A7-85CA-6AB4D47D846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7360CD75-34E0-4874-B547-F7577B30B08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B7E8F5C-AECF-4D60-AE1D-23FD7940C61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F2FEACC-FFF2-4178-B435-3F746D1938BD}" type="slidenum">
              <a:t>388</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AA1DD3-AA81-4FC7-B1E2-3C977B60191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4625F94-ECC2-4CB3-AE92-F2993258345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ACF005E-560D-4DC7-BDFC-CAC0767CADC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47E15F0-AA80-40F7-82AC-10BCF8AB3F10}" type="slidenum">
              <a:t>389</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E59632-AE36-4D1B-B403-1E701CFE107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9C68C21-A341-4F39-B919-7EFC928C70D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5C8FA41-FD05-45CC-88CA-09EAA3A68939}"/>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D7F8ECD-22ED-4734-9065-26AFC95753DD}" type="slidenum">
              <a:t>390</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1E3325-5542-4050-A931-3FD9C64BBF7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6822E3A-86FA-49AA-90D0-21391F27A50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20129DD-6950-4D65-8222-4F550F8B4A0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1BAFFCB-8C81-4F07-94D7-9998D8C0F020}" type="slidenum">
              <a:t>391</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671047-90CD-4E3D-A762-3B3C294B55EA}"/>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A415BD5-72D5-4963-9002-BD47A8E4DAF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6F4DF5F-704F-4157-ADD2-1CA29F42734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ED19B70-ECD6-48C5-82E0-6E63512CA71A}" type="slidenum">
              <a:t>392</a:t>
            </a:fld>
            <a:endParaRPr lang="en-GB" sz="1200" b="0" i="0" u="none" strike="noStrike" kern="1200" cap="none" spc="0" baseline="0">
              <a:solidFill>
                <a:srgbClr val="000000"/>
              </a:solidFill>
              <a:uFillTx/>
              <a:latin typeface="Calibri"/>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27DD578-C4CB-4CBE-BEED-C877454867A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E6A1F2B-E853-4F82-88AF-D35C2A3FB34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EABF5B3-8721-457C-8437-FEF26F6B07D0}"/>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80D34E8-6EDF-4D38-8910-7C18F8C59B14}" type="slidenum">
              <a:t>393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1E4658BC-7E1E-43D2-8C07-D4C355262D3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DF1E32-257D-46A1-B724-1FC2AF91C8B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5FF37CC-651D-4FCD-94CA-F6B9639B2C7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1EB50BA-2B3D-4324-AC1E-D0DDE694645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D54F1AA-367D-471A-B419-49FA5691B7DC}" type="slidenum">
              <a:t>394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A892963-20C3-43D4-A4C9-6D1D6FBC1A0C}"/>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462B5F-5DF2-4A91-AE65-98AC6A30A4D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195C6DB-A2DC-4620-A791-F19687CEC12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80AC645-3E3D-4FB3-A021-B26A739C177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1295BFF-5FA5-466D-B1C8-54C873E427CA}" type="slidenum">
              <a:t>395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6063DE2-797E-447B-9A27-847A1FAE0EC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CF5B67-565E-4713-AE4D-0A88775631B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7BA7BAEB-8B05-463D-95FD-AA8CA238C80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7DF6C2C6-910B-4655-BAB9-0F4ECE102B0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24BE76D-D450-4FE8-9F0F-93E8A0FC94EF}" type="slidenum">
              <a:t>396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372C724-3541-4793-A8C6-8BD638881C2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72AB6F-2A6D-42A3-92AF-0DB2A75BA8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D19B02A-91D7-4911-97A2-02C9A4C2F00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2C5E25D-1911-498C-A444-F2A0B5B6253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1AE1205-132C-455A-B3EE-8FF8D9CE5351}" type="slidenum">
              <a:t>397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23F0B72C-68F2-413A-972F-9A6391D19E3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FAFF30-94EF-4F4E-9E77-8A89EBEA488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A7DFA69-C18D-45BC-833E-67744E467D2C}"/>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C787277-39DA-4EB7-8E69-6F7BA8C2E99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92B30C8-3ABF-4D11-9BEB-B30BFCC85666}" type="slidenum">
              <a:t>398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CEB53A77-D921-461F-9253-5A6F328FA5AC}"/>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4C9E40-6E96-4E76-8E68-A8A95442770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6C199E7-5ACB-4774-B405-C696AC5A4E1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0BF92D5-DAAC-4450-AD87-05BF61E5DE58}"/>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55232A9-B823-4D78-9061-1FBB9D648424}" type="slidenum">
              <a:t>399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3003994-7F09-4E04-BAF7-152CC370735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7B58B3-11EA-4ADF-9A21-A4DF01FDECC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763FC02-5A9F-42E8-A1CD-0E6C198CAEB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78DCC29-D16A-4F05-A5AD-037B166DCFD1}"/>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71150CC-8011-47F0-AFA4-37E5615C0FD2}" type="slidenum">
              <a:t>400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93D3219-9A95-4A5A-A755-E7B0E17BB1C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16A3F56-E146-41B0-AB72-6A7619B6B47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6E124EB-A6AD-4056-97B3-B4BEA6CE197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C536F48-DB29-4D82-8ABA-5375E4C78C4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69876DD-93DF-4E8E-80FB-700A392C17A0}" type="slidenum">
              <a:t>401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C6DCE05-B797-46BD-8C23-EA914DDA151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3F098F-B2ED-4103-AE7B-FDD48A1CA8C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CA1CFCC-A2AA-4B94-B3D6-550567E4F10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4E820BC-EFDE-468F-A3A6-C70938A583B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7746C69-41B5-42CE-9753-D2BF7B588B68}" type="slidenum">
              <a:t>402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A48A6F3A-1ED0-433A-B055-B9447319093B}"/>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78505C-D352-4D48-A1C8-950D91B1374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F752386-27C0-432F-AA97-260384A160A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D802E2E-10EF-47D6-8B57-7EEE3425B7F1}"/>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32A9CDF-685E-4A2C-B9B7-CCDBE6F31AA1}" type="slidenum">
              <a:t>403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EF0A73A-2EF9-4E70-AB7D-384D6C8007A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5C90A4-4314-4B74-8757-B3ED5FE04F6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8213E8C-41C4-404F-A5D3-0AA46FD95C3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F5F7D7E-8D65-4765-8C7F-7D621872947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FF09F3B-75E5-4DAA-846C-DD14E89A9D06}" type="slidenum">
              <a:t>404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78508923-97D1-446D-BF0D-46DAED5C44E9}"/>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12A52A-F8F2-4E47-A91A-6500B8BDFC3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E07CB603-AB0E-42FB-888C-681FEF9DB7B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37F4030-CE83-4993-9177-0C017FDCFF7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2056764-82B2-441E-8D2B-CFF6CA610D0C}" type="slidenum">
              <a:t>405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5F5DEC8C-250C-4259-8490-AEEB3888C511}"/>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C0BC65-16FF-480A-8B21-FA7174DF641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3A2745F-1630-41AF-9B6F-9522EFF7210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93C7C8A-C1CE-4B80-BF11-109517B3A80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F7A0204-99BD-491F-A8CB-49C98DE0475A}" type="slidenum">
              <a:t>406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A01A15B9-6617-49DF-BAF8-209E9D7599EF}"/>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AC5F57-3F74-49FC-80B8-E243E3089B3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852AB25-9EA6-4460-B425-F75F10F1015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9A9D975-159B-455E-B9E2-BD3E4DADA78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9BA6E61-7ABD-4377-A2CE-F60BA9DE97CF}" type="slidenum">
              <a:t>407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0D199B7-1366-44D5-B24C-7340D639FB0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6CDA1B1-2BA5-49FA-8476-036EEA5812B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DE4F0A58-CD37-4748-A788-2FC6E3A5694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828DAD3-BE21-4DAF-B786-95155803384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0BEE18A-32D3-40EE-9048-A1075DC8D75A}" type="slidenum">
              <a:t>408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5F456F8-2E45-45D7-8B81-3EBFAC82782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97D239-C2CA-4503-8DE6-9D7752DCA31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9B4ACA2-E9BB-423C-AAD1-0F04A380911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1FAC386-379E-444C-BCF8-B1319E1CD7B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C1C658C-6863-4B59-A429-122BBC2A2C5C}" type="slidenum">
              <a:t>409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71A63274-EBEE-4B09-A3BD-F398DAF7180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DFFEF2-BA9B-4A4C-97B6-AC4250F7783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94BB69F-136A-41D5-AD7A-1161278FB0A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93EDEED-A73D-490F-89E1-65888DCE52C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4F2154A-3CC4-47D3-8D83-F3BFC9167104}" type="slidenum">
              <a:t>410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B71775B-AC2C-428D-8997-34D5745FF20B}"/>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854628-B3C9-463D-82DC-3D32434DFA6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31519564-D888-472B-919C-8A34CB84495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8FD42FA-03A1-406D-968C-067B57AEF0F6}"/>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785E98B-A43E-4D46-984B-96791E6BBCF1}" type="slidenum">
              <a:t>411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218DBC11-04A9-447F-A5A1-F0BB19E8032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DDC6A57-DABD-42AC-9A7C-C11DDA541A5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80D29AA-7B46-46F7-817D-4892779C476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264D285-A58B-4450-B959-E37C41930F0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40699E6-6B1B-4FCF-8E03-1A32A55BB3E9}" type="slidenum">
              <a:t>412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B02179E4-728C-447C-BD3D-1B19186876D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E445AC-5EDE-4BE8-95EE-855FF5957FB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D37EF3E-887A-4D1A-A253-E00AD945DB6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B1884C6-3670-43AD-88D1-6FCE37E62D3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97F6659-7846-4AD1-8784-235837BD2490}" type="slidenum">
              <a:t>413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90AECC9-80A5-4604-AD3A-B2DE36D2D2FC}"/>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53F72D-976E-49D7-8B23-C97DEF337E4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203401F-0CCE-4319-A985-34ED1869497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500F974-85A9-4115-9584-193639F3B8D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E56F820-345B-4C1E-988E-C3B1387CE82C}" type="slidenum">
              <a:t>414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64CC9D5-80F2-4A99-B5DE-8688A6ADB5A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D9BB42-F5BF-4138-828C-18E0B142AD9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B81927A-D9C6-499E-A5A1-0F91F18C1D7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772D7B3-5F1B-42E8-A326-EE3235B24E6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2700C49-930F-467B-813B-5FCBAE01E44C}" type="slidenum">
              <a:t>415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367A0B3-3182-4B02-8A65-E01B26B16AA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DB8127-3750-4F3A-92F7-6FA403BD240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E4A3D78F-13C4-4E26-B086-43A3F9FACCD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A2C9208-8C9A-4C0C-A826-D6328C3856C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C899C5C-D073-46B1-9904-2D899E81CAAA}" type="slidenum">
              <a:t>416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E644F488-E7A1-4D68-8784-07153E5E5E27}"/>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79FE18-F070-4CBA-B3FF-D967CA18238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CBD08BF1-B7D9-4423-A9EA-4F14998B2A9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B46DE91-1CAF-4D39-9DEC-627BDF40780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60A4FE8-9841-49EA-A4C9-950781F605F3}" type="slidenum">
              <a:t>417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3040DD87-ED8D-480E-A3C0-0F5ACD83FF9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D354BD-2B71-4AC6-BE75-F676E2E095C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051DB02-2D22-4581-8E95-8DE8B81F4FF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95C9A09C-10E8-49A3-88C4-6A22030FFE4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D9A03AE-670C-46D7-8F49-476066F63538}" type="slidenum">
              <a:t>418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4F39416E-8658-4B38-B557-577CF95BB12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636B27-7946-402E-9457-43D570A01BA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E59B4BE-33CE-41CE-B5AA-9F6EC19ECD3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E4AB7113-C843-4026-9F67-8D305AF379E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38C1599-70B6-4B29-9613-56692764A78F}" type="slidenum">
              <a:t>419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F222179-F999-4D8C-8E74-56575341990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217EA0-53F4-4470-BC96-4DE0476837A7}"/>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F721C23-FE01-440D-AA62-DF61CD149495}"/>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C98E247-D9CA-4144-9DDC-1C40DC4160B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579CF3E-0130-4840-A806-1968142216E7}" type="slidenum">
              <a:t>420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1BFB0F68-7754-45F7-B5E3-9FB6179E970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2B5015A-30E4-481D-9F4B-A4E686A16D0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53E4681-FD83-4101-9A1A-8203D2813EF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4BBAD693-3EF7-4AB2-81E4-3D87F71322C2}"/>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A554C80-141C-453D-9FA0-B28137776D4B}" type="slidenum">
              <a:t>421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CA1DF34A-B587-47D9-81A2-4EA5C977B794}"/>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OFFICIAL I CDS External TT TDR Release Scope Guidance</a:t>
            </a:r>
          </a:p>
        </p:txBody>
      </p:sp>
    </p:spTree>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131039-76B3-40E9-ACEF-A3FC0390391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C04C901-4162-4B30-9DB8-80E04949A48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3B674777-208E-4A10-8F7A-040F81CDE679}"/>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9432BEE-92F8-4275-B783-2CE2AF00ECE5}" type="slidenum">
              <a:t>422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6D57065B-FEA5-4B1D-BAB2-6FABE7C7968A}"/>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75B315-31D3-43D2-A503-6AFD73FF00F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4349C93-7045-43DB-868B-69EE0440B51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B6C6CEA8-F1A7-4013-8E60-B3BF8C4B18B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232091D-200D-4064-90F7-A9CFB127A324}" type="slidenum">
              <a:t>423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C95E3858-EB95-4DB6-A438-011A1B52B732}"/>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CC6480-208B-4E08-B5AD-79843A68467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F9D41B0-9152-4C7F-9069-5170E27DDD5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FD77BA7-DA5F-4627-B6BA-3136966282B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25C6575-ABB7-4671-8A83-8BE20A83F03B}" type="slidenum">
              <a:t>424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E0E07BE-5B14-4E8B-ADF4-C4FBF32DF1B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48CAA2-2037-4340-AF82-14E52454CCE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CC20D90-740B-4F9C-ABAC-37ACD30887B1}"/>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85AE6FD-8A8A-4ECF-9F11-740B20A33E14}"/>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073BBC1-1929-4497-971B-6B7583056DFA}" type="slidenum">
              <a:t>425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FA207421-0048-44A8-AB7C-AED7C3425F3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467B0A-5AD1-4DC3-BF6C-D56E6E1F3BB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13B4F49-A4E1-4EB0-A5C1-9F9ED2AE8BDE}"/>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E008479-C99D-4EB9-B562-8330E984504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7628121-6B58-4B2A-849D-C56AF3C3A4A3}" type="slidenum">
              <a:t>426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C2C1DAD-CBD8-48ED-9D74-88D08F3C4DE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1267A5-6F6B-477B-9B9C-E458D8951D2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04AA829-BCB4-4B8B-9B37-E7E420972B0F}"/>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1AE3D6B9-3120-43EE-B9B4-6ECF1AE44A47}"/>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F024D8C-C6B2-4E42-827F-1E9F681DAF38}" type="slidenum">
              <a:t>427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3049F2E0-99F5-4817-AA78-86F056D2E1F6}"/>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26E8A30-C1B4-49C2-80FE-13E5B842F15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A0FCBDBD-3FD9-4B60-9DAD-1DCE675C256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15609D1-73F9-47A7-8C95-4A357C8C9AF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DCAB8E4-4AB6-4514-8A1C-D42EC9CD157F}" type="slidenum">
              <a:t>428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76556EAC-0EAD-4FC0-B844-2CCB0E3E8A3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3B1C56-7B63-4043-95E4-6D8F91C83FA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F7BC23B-C3CA-41C1-833A-2CC05712FC4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D27E67D-9650-41E3-B875-330EA1BDD34A}"/>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ED3F429-77EA-44B8-BAC9-31910467C7D9}" type="slidenum">
              <a:t>429</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C40E82B8-0E0E-49DC-950B-D1A969209DB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0E5352-09C4-4369-99CC-8D77DFFF33A2}"/>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BB1CD8C5-1EDF-4540-95DC-5FF57C9E4EB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899D2AC-19D8-4A00-963B-F22B4F05CE11}"/>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C3656E1-1170-4F84-8264-E046E361BA8B}" type="slidenum">
              <a:t>430</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BE65C193-C9C8-4148-9CCA-20841E83619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E1DF98-5135-4730-98DD-0FFD6AE4054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6447542-3890-41B1-87ED-DA66C7B3D750}"/>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A5A8A93-3D1E-4382-9CC4-9F47518ED42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B61211D-55AA-416F-8E7E-A40BB0E25913}" type="slidenum">
              <a:t>431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F32A71E0-3D47-4586-85DD-BA29B2B0AE13}"/>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F4F45F-C38C-484B-99DD-62D3A2F894DD}"/>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3C9BDEE-F4F5-432C-B9FA-93DD475E2184}"/>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93F5587-E8E2-4B73-8794-66A1B8256E58}"/>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F1B21FE-D746-4CE1-A5B5-43DA58B8C3AF}" type="slidenum">
              <a:t>432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B53E653-288D-40D1-A194-292D97022008}"/>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8DF2D9-E0DD-4839-A963-DDEFA058F60F}"/>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1CB8DCE9-51B4-407E-9344-8E5F1D93F086}"/>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AAFF782-6733-4624-81E9-CED7F3D07C99}"/>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3ED75D2-2BA4-4B3F-9B4B-4210CD9DEE5F}" type="slidenum">
              <a:t>433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9462AD16-E3DB-4B65-9D14-05B58A0EA0B9}"/>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B36222E-1D7B-4939-A2FA-F59EA2EA046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649474EF-FAE9-46BA-8D97-468A83AD33E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A36CED87-3388-42BA-9065-0C823355572D}"/>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C2F3234-C5A0-40C7-B54E-A47C3B97C1EF}" type="slidenum">
              <a:t>434</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661B5354-B24F-46BA-AB52-959A01AC3FF5}"/>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F8A363-85FE-4EDD-96AB-56728E8AE6A8}"/>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F26C5448-CAF8-4B4F-A8B1-9B157B73A87A}"/>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000498B3-2CEE-4B71-90C9-38E35B64419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78ADB81-C5D8-4500-9EED-94A9398FC63D}" type="slidenum">
              <a:t>435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399125E3-22B5-44C8-AF0A-9778831C3E5C}"/>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2FC6FB-1746-48F7-8126-6C633E77F2C1}"/>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02E20099-3FD5-49A0-8128-D63802553279}"/>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2E19A0BE-48C3-47C9-AC48-D981A7A6301E}"/>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390C44D-FA79-485B-8E29-64EE66B57E1A}" type="slidenum">
              <a:t>436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9710540-4599-4390-87F5-977ACFB18FAB}"/>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9536E2-1CB8-4B72-94FB-E3AC4733C3D5}"/>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A762B9C-831A-40D2-95A4-B4CD3E3042B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68BA97D-8C44-4B1D-BCF2-0660D924125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944F5D8-F434-440A-A55F-C546EB35105B}" type="slidenum">
              <a:t>437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69301F12-ADEC-4FB4-904F-D2347152FF7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7F63EF-60AC-4951-BBD5-6DF0E6128ABE}" type="slidenum">
              <a:rPr lang="en-GB" smtClean="0"/>
              <a:t>439</a:t>
            </a:fld>
            <a:endParaRPr lang="en-GB"/>
          </a:p>
        </p:txBody>
      </p:sp>
    </p:spTree>
    <p:extLst>
      <p:ext uri="{BB962C8B-B14F-4D97-AF65-F5344CB8AC3E}">
        <p14:creationId xmlns:p14="http://schemas.microsoft.com/office/powerpoint/2010/main" val="2742414473"/>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2601CC-6C18-4112-91BB-0683C24F13CB}"/>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76E8424-AED9-4F3E-A5CC-037989C1BADD}"/>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A245BCE-6CF2-424E-833E-23489FF7BEE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EACA5A4-E0D3-4EE6-B433-5A3D9077AC46}" type="slidenum">
              <a:t>441</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F67A7A85-788E-4611-8DAC-721A5652891B}"/>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A19FC0-D181-4D35-B04A-225ED89D1C9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47806C7-17CA-4E5F-BC19-6F958E8D0DE8}"/>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541997CA-5A1A-4DC7-A01B-80E69247E20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FDE7BC0-1EE9-4157-BC5C-7C1DC0F0B448}" type="slidenum">
              <a:t>442</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4BC6018-BAB9-46BE-95E9-741D7746E504}"/>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2DA9D2-8761-4DEA-8761-6B8F110B4D46}"/>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F5044E81-D182-4446-82A6-5E7B8839B99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87E2F10A-A118-4D59-8F42-3FC0BA65875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DCBC8F6-2373-419A-8E98-F62D65C4ED6E}" type="slidenum">
              <a:t>443</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02A0E4F4-95FE-4096-8F9D-AA2527D239E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8CF5FB-8379-4AF2-B4D5-1C602EB74AC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BB4AB37-2ACA-4892-8583-F5AFFC85A7C2}"/>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63322552-1113-4F35-93FC-CDCA4DBD1225}"/>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69282B2-02E8-437F-BC6C-C3E15CE0F41D}" type="slidenum">
              <a:t>445</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7FDC5202-AF23-440F-B642-22A993AA449D}"/>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1B58A3-FAEE-4175-AB64-7931ABE517E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951DB32-0000-41AD-8C0A-BBAE20BE4B2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DF6556FE-7962-4D7D-B9E9-7E8866BF4F0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5A25162-AF64-4A6A-86A3-997E2982D8A7}" type="slidenum">
              <a:t>446</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86D1494E-43C6-49C0-8CC5-1EAC3084B8EE}"/>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C3B627-5B49-43EE-9EE8-15700ADBA13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E34BA49A-2E89-4554-AD55-91B60361E2A3}"/>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FF46C4A1-3B0A-4353-B809-4F86BD4A934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C93BFDF-D459-4E80-BDA9-4227077BE517}" type="slidenum">
              <a:t>447</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D67D6CDE-171F-492C-910F-E77730013A10}"/>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DF0B45-387E-40FC-A82A-696E162E7719}"/>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26A0C7A2-A8B2-4DC7-BE83-7ADFF2E48537}"/>
              </a:ext>
            </a:extLst>
          </p:cNvPr>
          <p:cNvSpPr txBox="1">
            <a:spLocks noGrp="1"/>
          </p:cNvSpPr>
          <p:nvPr>
            <p:ph type="body" sz="quarter" idx="1"/>
          </p:nvPr>
        </p:nvSpPr>
        <p:spPr/>
        <p:txBody>
          <a:bodyPr/>
          <a:lstStyle/>
          <a:p>
            <a:endParaRPr lang="en-GB"/>
          </a:p>
        </p:txBody>
      </p:sp>
      <p:sp>
        <p:nvSpPr>
          <p:cNvPr id="4" name="Slide Number Placeholder 3">
            <a:extLst>
              <a:ext uri="{FF2B5EF4-FFF2-40B4-BE49-F238E27FC236}">
                <a16:creationId xmlns:a16="http://schemas.microsoft.com/office/drawing/2014/main" id="{CC7B6146-82CF-4450-AC03-6CE8857FC183}"/>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FEEE1CC-FA46-4669-86AA-CADC17202079}" type="slidenum">
              <a:t>448</a:t>
            </a:fld>
            <a:endParaRPr lang="en-GB" sz="1200" b="0" i="0" u="none" strike="noStrike" kern="1200" cap="none" spc="0" baseline="0">
              <a:solidFill>
                <a:srgbClr val="000000"/>
              </a:solidFill>
              <a:uFillTx/>
              <a:latin typeface="Calibri"/>
            </a:endParaRPr>
          </a:p>
        </p:txBody>
      </p:sp>
      <p:sp>
        <p:nvSpPr>
          <p:cNvPr id="5" name="Footer Placeholder 4">
            <a:extLst>
              <a:ext uri="{FF2B5EF4-FFF2-40B4-BE49-F238E27FC236}">
                <a16:creationId xmlns:a16="http://schemas.microsoft.com/office/drawing/2014/main" id="{2CEA18C6-6B4D-4BA5-BFC5-F982BB212A69}"/>
              </a:ext>
            </a:extLst>
          </p:cNvPr>
          <p:cNvSpPr txBox="1"/>
          <p:nvPr/>
        </p:nvSpPr>
        <p:spPr>
          <a:xfrm>
            <a:off x="0"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OFFICIAL I CDS External TT TDR Release Scope Guidance</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D3A978-6CC2-43A3-B024-6426762C66C7}"/>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3FECD983-0533-4105-9917-5EE69C539DF1}"/>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5">
            <a:extLst>
              <a:ext uri="{FF2B5EF4-FFF2-40B4-BE49-F238E27FC236}">
                <a16:creationId xmlns:a16="http://schemas.microsoft.com/office/drawing/2014/main" id="{026AFEEA-DE4F-40B0-B04B-D90A82C2634F}"/>
              </a:ext>
            </a:extLst>
          </p:cNvPr>
          <p:cNvSpPr txBox="1">
            <a:spLocks noGrp="1"/>
          </p:cNvSpPr>
          <p:nvPr>
            <p:ph type="sldNum" sz="quarter" idx="8"/>
          </p:nvPr>
        </p:nvSpPr>
        <p:spPr/>
        <p:txBody>
          <a:bodyPr/>
          <a:lstStyle>
            <a:lvl1pPr>
              <a:defRPr/>
            </a:lvl1pPr>
          </a:lstStyle>
          <a:p>
            <a:pPr lvl="0"/>
            <a:fld id="{2CB05394-4B2B-4FE9-89BF-7068D98D39A6}" type="slidenum">
              <a:t>‹#›</a:t>
            </a:fld>
            <a:endParaRPr lang="en-GB"/>
          </a:p>
        </p:txBody>
      </p:sp>
    </p:spTree>
    <p:extLst>
      <p:ext uri="{BB962C8B-B14F-4D97-AF65-F5344CB8AC3E}">
        <p14:creationId xmlns:p14="http://schemas.microsoft.com/office/powerpoint/2010/main" val="778751481"/>
      </p:ext>
    </p:extLst>
  </p:cSld>
  <p:clrMapOvr>
    <a:masterClrMapping/>
  </p:clrMapOvr>
  <p:hf sldNum="0"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B315D0-F2B7-4C70-BD41-61BAB80D0FF0}"/>
              </a:ext>
            </a:extLst>
          </p:cNvPr>
          <p:cNvSpPr txBox="1">
            <a:spLocks noGrp="1"/>
          </p:cNvSpPr>
          <p:nvPr>
            <p:ph type="ctrTitle"/>
          </p:nvPr>
        </p:nvSpPr>
        <p:spPr>
          <a:xfrm>
            <a:off x="1524003" y="1122361"/>
            <a:ext cx="9144000" cy="2387598"/>
          </a:xfrm>
        </p:spPr>
        <p:txBody>
          <a:bodyPr anchor="b" anchorCtr="1"/>
          <a:lstStyle>
            <a:lvl1pPr algn="ctr">
              <a:defRPr sz="6000"/>
            </a:lvl1pPr>
          </a:lstStyle>
          <a:p>
            <a:pPr lvl="0"/>
            <a:r>
              <a:rPr lang="en-US"/>
              <a:t>Click to edit Master title style</a:t>
            </a:r>
            <a:endParaRPr lang="en-GB"/>
          </a:p>
        </p:txBody>
      </p:sp>
      <p:sp>
        <p:nvSpPr>
          <p:cNvPr id="3" name="Subtitle 2">
            <a:extLst>
              <a:ext uri="{FF2B5EF4-FFF2-40B4-BE49-F238E27FC236}">
                <a16:creationId xmlns:a16="http://schemas.microsoft.com/office/drawing/2014/main" id="{579D5FCA-1CBC-4E2A-A35C-D40AFF66B422}"/>
              </a:ext>
            </a:extLst>
          </p:cNvPr>
          <p:cNvSpPr txBox="1">
            <a:spLocks noGrp="1"/>
          </p:cNvSpPr>
          <p:nvPr>
            <p:ph type="subTitle" idx="1"/>
          </p:nvPr>
        </p:nvSpPr>
        <p:spPr>
          <a:xfrm>
            <a:off x="1524003" y="3602041"/>
            <a:ext cx="9144000" cy="1655758"/>
          </a:xfrm>
        </p:spPr>
        <p:txBody>
          <a:bodyPr anchorCtr="1"/>
          <a:lstStyle>
            <a:lvl1pPr marL="0" indent="0" algn="ctr">
              <a:buNone/>
              <a:defRPr sz="2400"/>
            </a:lvl1pPr>
          </a:lstStyle>
          <a:p>
            <a:pPr lvl="0"/>
            <a:r>
              <a:rPr lang="en-US"/>
              <a:t>Click to edit Master subtitle style</a:t>
            </a:r>
            <a:endParaRPr lang="en-GB"/>
          </a:p>
        </p:txBody>
      </p:sp>
      <p:pic>
        <p:nvPicPr>
          <p:cNvPr id="4" name="Picture 6">
            <a:extLst>
              <a:ext uri="{FF2B5EF4-FFF2-40B4-BE49-F238E27FC236}">
                <a16:creationId xmlns:a16="http://schemas.microsoft.com/office/drawing/2014/main" id="{5EFDF457-46DF-4DFB-AE5E-5D59CFEFE2AA}"/>
              </a:ext>
            </a:extLst>
          </p:cNvPr>
          <p:cNvPicPr>
            <a:picLocks noChangeAspect="1"/>
          </p:cNvPicPr>
          <p:nvPr/>
        </p:nvPicPr>
        <p:blipFill>
          <a:blip r:embed="rId2"/>
          <a:stretch>
            <a:fillRect/>
          </a:stretch>
        </p:blipFill>
        <p:spPr>
          <a:xfrm>
            <a:off x="10789343" y="337706"/>
            <a:ext cx="1062304" cy="633843"/>
          </a:xfrm>
          <a:prstGeom prst="rect">
            <a:avLst/>
          </a:prstGeom>
          <a:noFill/>
          <a:ln cap="flat">
            <a:noFill/>
          </a:ln>
        </p:spPr>
      </p:pic>
      <p:sp>
        <p:nvSpPr>
          <p:cNvPr id="5" name="Slide Number Placeholder 5">
            <a:extLst>
              <a:ext uri="{FF2B5EF4-FFF2-40B4-BE49-F238E27FC236}">
                <a16:creationId xmlns:a16="http://schemas.microsoft.com/office/drawing/2014/main" id="{53229855-BEE7-4010-9A60-ECB029C3D055}"/>
              </a:ext>
            </a:extLst>
          </p:cNvPr>
          <p:cNvSpPr txBox="1">
            <a:spLocks noGrp="1"/>
          </p:cNvSpPr>
          <p:nvPr>
            <p:ph type="sldNum" sz="quarter" idx="8"/>
          </p:nvPr>
        </p:nvSpPr>
        <p:spPr/>
        <p:txBody>
          <a:bodyPr/>
          <a:lstStyle>
            <a:lvl1pPr>
              <a:defRPr/>
            </a:lvl1pPr>
          </a:lstStyle>
          <a:p>
            <a:pPr lvl="0"/>
            <a:fld id="{98DAFA04-156E-45B0-A3CC-39A708E0288B}" type="slidenum">
              <a:t>‹#›</a:t>
            </a:fld>
            <a:endParaRPr lang="en-GB"/>
          </a:p>
        </p:txBody>
      </p:sp>
    </p:spTree>
    <p:extLst>
      <p:ext uri="{BB962C8B-B14F-4D97-AF65-F5344CB8AC3E}">
        <p14:creationId xmlns:p14="http://schemas.microsoft.com/office/powerpoint/2010/main" val="252905896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91A03E-9FA5-4AC6-AB04-429D1C8AC57A}"/>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20D25CE1-49FD-4BBB-8E9E-FF78EF38B2F4}"/>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Slide Number Placeholder 5">
            <a:extLst>
              <a:ext uri="{FF2B5EF4-FFF2-40B4-BE49-F238E27FC236}">
                <a16:creationId xmlns:a16="http://schemas.microsoft.com/office/drawing/2014/main" id="{792F012B-D6D3-4394-81B9-1E09BFF3A33E}"/>
              </a:ext>
            </a:extLst>
          </p:cNvPr>
          <p:cNvSpPr txBox="1">
            <a:spLocks noGrp="1"/>
          </p:cNvSpPr>
          <p:nvPr>
            <p:ph type="sldNum" sz="quarter" idx="8"/>
          </p:nvPr>
        </p:nvSpPr>
        <p:spPr/>
        <p:txBody>
          <a:bodyPr/>
          <a:lstStyle>
            <a:lvl1pPr>
              <a:defRPr/>
            </a:lvl1pPr>
          </a:lstStyle>
          <a:p>
            <a:pPr lvl="0"/>
            <a:fld id="{629A37EC-E8DE-4EF4-8482-42D9B4B186E4}" type="slidenum">
              <a:t>‹#›</a:t>
            </a:fld>
            <a:endParaRPr lang="en-GB"/>
          </a:p>
        </p:txBody>
      </p:sp>
    </p:spTree>
    <p:extLst>
      <p:ext uri="{BB962C8B-B14F-4D97-AF65-F5344CB8AC3E}">
        <p14:creationId xmlns:p14="http://schemas.microsoft.com/office/powerpoint/2010/main" val="33908343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803647-717D-4365-9D44-6430872E8BA4}"/>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BDD16884-C2FF-4045-91CC-EA36A9807BAA}"/>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87693F6B-0BC6-41B4-A3E0-6CF40344E238}"/>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5">
            <a:extLst>
              <a:ext uri="{FF2B5EF4-FFF2-40B4-BE49-F238E27FC236}">
                <a16:creationId xmlns:a16="http://schemas.microsoft.com/office/drawing/2014/main" id="{8F7FCB99-4634-4D80-8297-F6F04EE0FFDB}"/>
              </a:ext>
            </a:extLst>
          </p:cNvPr>
          <p:cNvSpPr txBox="1">
            <a:spLocks noGrp="1"/>
          </p:cNvSpPr>
          <p:nvPr>
            <p:ph type="sldNum" sz="quarter" idx="8"/>
          </p:nvPr>
        </p:nvSpPr>
        <p:spPr/>
        <p:txBody>
          <a:bodyPr/>
          <a:lstStyle>
            <a:lvl1pPr>
              <a:defRPr/>
            </a:lvl1pPr>
          </a:lstStyle>
          <a:p>
            <a:pPr lvl="0"/>
            <a:fld id="{CD063D02-FE62-4713-9E1A-CDAC5F6ABB55}" type="slidenum">
              <a:t>‹#›</a:t>
            </a:fld>
            <a:endParaRPr lang="en-GB"/>
          </a:p>
        </p:txBody>
      </p:sp>
    </p:spTree>
    <p:extLst>
      <p:ext uri="{BB962C8B-B14F-4D97-AF65-F5344CB8AC3E}">
        <p14:creationId xmlns:p14="http://schemas.microsoft.com/office/powerpoint/2010/main" val="135983970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D3D2B5-AF2D-4FCD-B20C-F556851CC749}"/>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3F37BC72-DA16-43AE-AF1D-24D708F17414}"/>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172E1946-37B6-4217-A35E-DC931FFB4193}"/>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ACBD46B2-A0A7-4495-B136-3D611894676C}"/>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B26D2F09-88D5-410F-B214-A1811B26E7C5}"/>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5">
            <a:extLst>
              <a:ext uri="{FF2B5EF4-FFF2-40B4-BE49-F238E27FC236}">
                <a16:creationId xmlns:a16="http://schemas.microsoft.com/office/drawing/2014/main" id="{0DA5ED7F-EE67-4395-97EF-EC11997CB086}"/>
              </a:ext>
            </a:extLst>
          </p:cNvPr>
          <p:cNvSpPr txBox="1">
            <a:spLocks noGrp="1"/>
          </p:cNvSpPr>
          <p:nvPr>
            <p:ph type="sldNum" sz="quarter" idx="8"/>
          </p:nvPr>
        </p:nvSpPr>
        <p:spPr/>
        <p:txBody>
          <a:bodyPr/>
          <a:lstStyle>
            <a:lvl1pPr>
              <a:defRPr/>
            </a:lvl1pPr>
          </a:lstStyle>
          <a:p>
            <a:pPr lvl="0"/>
            <a:fld id="{D6E9E21D-5803-4E04-9A09-BD674FC353F2}" type="slidenum">
              <a:t>‹#›</a:t>
            </a:fld>
            <a:endParaRPr lang="en-GB"/>
          </a:p>
        </p:txBody>
      </p:sp>
    </p:spTree>
    <p:extLst>
      <p:ext uri="{BB962C8B-B14F-4D97-AF65-F5344CB8AC3E}">
        <p14:creationId xmlns:p14="http://schemas.microsoft.com/office/powerpoint/2010/main" val="110131281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38C129-5C8C-4AC8-82C6-A18968F85A99}"/>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Slide Number Placeholder 5">
            <a:extLst>
              <a:ext uri="{FF2B5EF4-FFF2-40B4-BE49-F238E27FC236}">
                <a16:creationId xmlns:a16="http://schemas.microsoft.com/office/drawing/2014/main" id="{1FD8F1F1-7F54-4DA9-8869-5E9763232D95}"/>
              </a:ext>
            </a:extLst>
          </p:cNvPr>
          <p:cNvSpPr txBox="1">
            <a:spLocks noGrp="1"/>
          </p:cNvSpPr>
          <p:nvPr>
            <p:ph type="sldNum" sz="quarter" idx="8"/>
          </p:nvPr>
        </p:nvSpPr>
        <p:spPr/>
        <p:txBody>
          <a:bodyPr/>
          <a:lstStyle>
            <a:lvl1pPr>
              <a:defRPr/>
            </a:lvl1pPr>
          </a:lstStyle>
          <a:p>
            <a:pPr lvl="0"/>
            <a:fld id="{3646D177-8D5F-4E9F-8583-6BAC2EA55003}" type="slidenum">
              <a:t>‹#›</a:t>
            </a:fld>
            <a:endParaRPr lang="en-GB"/>
          </a:p>
        </p:txBody>
      </p:sp>
    </p:spTree>
    <p:extLst>
      <p:ext uri="{BB962C8B-B14F-4D97-AF65-F5344CB8AC3E}">
        <p14:creationId xmlns:p14="http://schemas.microsoft.com/office/powerpoint/2010/main" val="19497250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9CA82E4A-203E-4DA2-998E-05818A9C714C}"/>
              </a:ext>
            </a:extLst>
          </p:cNvPr>
          <p:cNvSpPr txBox="1">
            <a:spLocks noGrp="1"/>
          </p:cNvSpPr>
          <p:nvPr>
            <p:ph type="sldNum" sz="quarter" idx="8"/>
          </p:nvPr>
        </p:nvSpPr>
        <p:spPr/>
        <p:txBody>
          <a:bodyPr/>
          <a:lstStyle>
            <a:lvl1pPr>
              <a:defRPr/>
            </a:lvl1pPr>
          </a:lstStyle>
          <a:p>
            <a:pPr lvl="0"/>
            <a:fld id="{1BA15A82-72B2-4CBE-9B3D-7E7A96F8ECF4}" type="slidenum">
              <a:t>‹#›</a:t>
            </a:fld>
            <a:endParaRPr lang="en-GB"/>
          </a:p>
        </p:txBody>
      </p:sp>
    </p:spTree>
    <p:extLst>
      <p:ext uri="{BB962C8B-B14F-4D97-AF65-F5344CB8AC3E}">
        <p14:creationId xmlns:p14="http://schemas.microsoft.com/office/powerpoint/2010/main" val="919549445"/>
      </p:ext>
    </p:extLst>
  </p:cSld>
  <p:clrMapOvr>
    <a:masterClrMapping/>
  </p:clrMapOvr>
  <p:hf sldNum="0" hdr="0" ftr="0" dt="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BC718E-93DC-4646-B725-D30AED2DF877}"/>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4C3BE3CB-97E4-420A-A84E-B60D9B169602}"/>
              </a:ext>
            </a:extLst>
          </p:cNvPr>
          <p:cNvSpPr txBox="1">
            <a:spLocks noGrp="1"/>
          </p:cNvSpPr>
          <p:nvPr>
            <p:ph idx="1"/>
          </p:nvPr>
        </p:nvSpPr>
        <p:spPr>
          <a:xfrm>
            <a:off x="5183184" y="987423"/>
            <a:ext cx="6172200" cy="4873623"/>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6D699E63-DE56-41F1-A57F-56EA03004D39}"/>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Slide Number Placeholder 5">
            <a:extLst>
              <a:ext uri="{FF2B5EF4-FFF2-40B4-BE49-F238E27FC236}">
                <a16:creationId xmlns:a16="http://schemas.microsoft.com/office/drawing/2014/main" id="{5A490330-D06D-4C85-81D4-D293045288C1}"/>
              </a:ext>
            </a:extLst>
          </p:cNvPr>
          <p:cNvSpPr txBox="1">
            <a:spLocks noGrp="1"/>
          </p:cNvSpPr>
          <p:nvPr>
            <p:ph type="sldNum" sz="quarter" idx="8"/>
          </p:nvPr>
        </p:nvSpPr>
        <p:spPr/>
        <p:txBody>
          <a:bodyPr/>
          <a:lstStyle>
            <a:lvl1pPr>
              <a:defRPr/>
            </a:lvl1pPr>
          </a:lstStyle>
          <a:p>
            <a:pPr lvl="0"/>
            <a:fld id="{15FD82D1-97A2-49F3-831A-B5799810CB7B}" type="slidenum">
              <a:t>‹#›</a:t>
            </a:fld>
            <a:endParaRPr lang="en-GB"/>
          </a:p>
        </p:txBody>
      </p:sp>
    </p:spTree>
    <p:extLst>
      <p:ext uri="{BB962C8B-B14F-4D97-AF65-F5344CB8AC3E}">
        <p14:creationId xmlns:p14="http://schemas.microsoft.com/office/powerpoint/2010/main" val="292533509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28B264-20CE-41DB-9D46-75D8AD391DD6}"/>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68B7D1C7-A22D-4603-9C30-F0529F23D22A}"/>
              </a:ext>
            </a:extLst>
          </p:cNvPr>
          <p:cNvSpPr txBox="1">
            <a:spLocks noGrp="1"/>
          </p:cNvSpPr>
          <p:nvPr>
            <p:ph type="pic" idx="1"/>
          </p:nvPr>
        </p:nvSpPr>
        <p:spPr>
          <a:xfrm>
            <a:off x="5183184" y="987423"/>
            <a:ext cx="6172200" cy="4873623"/>
          </a:xfrm>
        </p:spPr>
        <p:txBody>
          <a:bodyPr/>
          <a:lstStyle>
            <a:lvl1pPr marL="0" indent="0">
              <a:buNone/>
              <a:defRPr sz="3200"/>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20397C65-D5DE-4258-85BA-B3FF2B34A314}"/>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Slide Number Placeholder 5">
            <a:extLst>
              <a:ext uri="{FF2B5EF4-FFF2-40B4-BE49-F238E27FC236}">
                <a16:creationId xmlns:a16="http://schemas.microsoft.com/office/drawing/2014/main" id="{8218E2ED-955A-42E4-B39C-60B39FDCF78E}"/>
              </a:ext>
            </a:extLst>
          </p:cNvPr>
          <p:cNvSpPr txBox="1">
            <a:spLocks noGrp="1"/>
          </p:cNvSpPr>
          <p:nvPr>
            <p:ph type="sldNum" sz="quarter" idx="8"/>
          </p:nvPr>
        </p:nvSpPr>
        <p:spPr/>
        <p:txBody>
          <a:bodyPr/>
          <a:lstStyle>
            <a:lvl1pPr>
              <a:defRPr/>
            </a:lvl1pPr>
          </a:lstStyle>
          <a:p>
            <a:pPr lvl="0"/>
            <a:fld id="{B45E80BD-4B61-45CC-AC76-B46F1691CA53}" type="slidenum">
              <a:t>‹#›</a:t>
            </a:fld>
            <a:endParaRPr lang="en-GB"/>
          </a:p>
        </p:txBody>
      </p:sp>
    </p:spTree>
    <p:extLst>
      <p:ext uri="{BB962C8B-B14F-4D97-AF65-F5344CB8AC3E}">
        <p14:creationId xmlns:p14="http://schemas.microsoft.com/office/powerpoint/2010/main" val="13769391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5D7399-54D7-4A91-8F11-387F7B371F9D}"/>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1E3706E4-B7EE-46B9-8A99-0CA33DEFCBC0}"/>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5">
            <a:extLst>
              <a:ext uri="{FF2B5EF4-FFF2-40B4-BE49-F238E27FC236}">
                <a16:creationId xmlns:a16="http://schemas.microsoft.com/office/drawing/2014/main" id="{24131330-EB04-4A86-B89E-F827AF588B92}"/>
              </a:ext>
            </a:extLst>
          </p:cNvPr>
          <p:cNvSpPr txBox="1">
            <a:spLocks noGrp="1"/>
          </p:cNvSpPr>
          <p:nvPr>
            <p:ph type="sldNum" sz="quarter" idx="8"/>
          </p:nvPr>
        </p:nvSpPr>
        <p:spPr/>
        <p:txBody>
          <a:bodyPr/>
          <a:lstStyle>
            <a:lvl1pPr>
              <a:defRPr/>
            </a:lvl1pPr>
          </a:lstStyle>
          <a:p>
            <a:pPr lvl="0"/>
            <a:fld id="{43A1870E-50D7-44A0-AF79-9CAC9ED21E68}" type="slidenum">
              <a:t>‹#›</a:t>
            </a:fld>
            <a:endParaRPr lang="en-GB"/>
          </a:p>
        </p:txBody>
      </p:sp>
    </p:spTree>
    <p:extLst>
      <p:ext uri="{BB962C8B-B14F-4D97-AF65-F5344CB8AC3E}">
        <p14:creationId xmlns:p14="http://schemas.microsoft.com/office/powerpoint/2010/main" val="95588085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4078BD2-AB01-41DF-9EBF-85AE4F99CFFD}"/>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C96AEC9B-71A1-4E09-8A15-CE6E3749CE88}"/>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5">
            <a:extLst>
              <a:ext uri="{FF2B5EF4-FFF2-40B4-BE49-F238E27FC236}">
                <a16:creationId xmlns:a16="http://schemas.microsoft.com/office/drawing/2014/main" id="{21F36FD4-A969-4BB2-964C-1D8FDD84A1BE}"/>
              </a:ext>
            </a:extLst>
          </p:cNvPr>
          <p:cNvSpPr txBox="1">
            <a:spLocks noGrp="1"/>
          </p:cNvSpPr>
          <p:nvPr>
            <p:ph type="sldNum" sz="quarter" idx="8"/>
          </p:nvPr>
        </p:nvSpPr>
        <p:spPr/>
        <p:txBody>
          <a:bodyPr/>
          <a:lstStyle>
            <a:lvl1pPr>
              <a:defRPr/>
            </a:lvl1pPr>
          </a:lstStyle>
          <a:p>
            <a:pPr lvl="0"/>
            <a:fld id="{79F346DA-D28C-4AB0-AC88-D132563527F8}" type="slidenum">
              <a:t>‹#›</a:t>
            </a:fld>
            <a:endParaRPr lang="en-GB"/>
          </a:p>
        </p:txBody>
      </p:sp>
    </p:spTree>
    <p:extLst>
      <p:ext uri="{BB962C8B-B14F-4D97-AF65-F5344CB8AC3E}">
        <p14:creationId xmlns:p14="http://schemas.microsoft.com/office/powerpoint/2010/main" val="36583353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0C3EF-E1F8-40A2-AFE1-8CAEECEF353C}"/>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30BBE0F7-3ABA-4BA2-B29B-954631106A97}"/>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462122855"/>
      </p:ext>
    </p:extLst>
  </p:cSld>
  <p:clrMapOvr>
    <a:masterClrMapping/>
  </p:clrMapOvr>
  <p:hf sldNum="0"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48463C-0872-42DF-9299-54ADE08C84E4}"/>
              </a:ext>
            </a:extLst>
          </p:cNvPr>
          <p:cNvSpPr txBox="1">
            <a:spLocks noGrp="1"/>
          </p:cNvSpPr>
          <p:nvPr>
            <p:ph type="ctrTitle"/>
          </p:nvPr>
        </p:nvSpPr>
        <p:spPr>
          <a:xfrm>
            <a:off x="1524003" y="1122361"/>
            <a:ext cx="9144000" cy="2387598"/>
          </a:xfrm>
        </p:spPr>
        <p:txBody>
          <a:bodyPr anchor="b" anchorCtr="1"/>
          <a:lstStyle>
            <a:lvl1pPr algn="ctr">
              <a:defRPr sz="6000"/>
            </a:lvl1pPr>
          </a:lstStyle>
          <a:p>
            <a:pPr lvl="0"/>
            <a:r>
              <a:rPr lang="en-US"/>
              <a:t>Click to edit Master title style</a:t>
            </a:r>
            <a:endParaRPr lang="en-GB"/>
          </a:p>
        </p:txBody>
      </p:sp>
      <p:sp>
        <p:nvSpPr>
          <p:cNvPr id="3" name="Subtitle 2">
            <a:extLst>
              <a:ext uri="{FF2B5EF4-FFF2-40B4-BE49-F238E27FC236}">
                <a16:creationId xmlns:a16="http://schemas.microsoft.com/office/drawing/2014/main" id="{3C2608E7-A672-41FB-8450-D81F4B5CAA4E}"/>
              </a:ext>
            </a:extLst>
          </p:cNvPr>
          <p:cNvSpPr txBox="1">
            <a:spLocks noGrp="1"/>
          </p:cNvSpPr>
          <p:nvPr>
            <p:ph type="subTitle" idx="1"/>
          </p:nvPr>
        </p:nvSpPr>
        <p:spPr>
          <a:xfrm>
            <a:off x="1524003" y="3602041"/>
            <a:ext cx="9144000" cy="1655758"/>
          </a:xfrm>
        </p:spPr>
        <p:txBody>
          <a:bodyPr anchorCtr="1"/>
          <a:lstStyle>
            <a:lvl1pPr marL="0" indent="0" algn="ctr">
              <a:buNone/>
              <a:defRPr sz="2400"/>
            </a:lvl1pPr>
          </a:lstStyle>
          <a:p>
            <a:pPr lvl="0"/>
            <a:r>
              <a:rPr lang="en-US"/>
              <a:t>Click to edit Master subtitle style</a:t>
            </a:r>
            <a:endParaRPr lang="en-GB"/>
          </a:p>
        </p:txBody>
      </p:sp>
    </p:spTree>
    <p:extLst>
      <p:ext uri="{BB962C8B-B14F-4D97-AF65-F5344CB8AC3E}">
        <p14:creationId xmlns:p14="http://schemas.microsoft.com/office/powerpoint/2010/main" val="245098020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E3E2EA-6D2B-46C5-9B3A-8C4BF7E48749}"/>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596981F9-8E5D-43D5-973F-94E7875A0BAD}"/>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Tree>
    <p:extLst>
      <p:ext uri="{BB962C8B-B14F-4D97-AF65-F5344CB8AC3E}">
        <p14:creationId xmlns:p14="http://schemas.microsoft.com/office/powerpoint/2010/main" val="287490135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F5FF01-02C3-4DC6-A392-BEA5150EEB4E}"/>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E0881CC7-6B99-48A9-8C46-B99A45B1FB22}"/>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31633278-349D-4131-876F-8E87A1FC3B64}"/>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58610156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F4053F-8C67-4B56-8648-39FAED61AA0C}"/>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A3D52CBB-1597-4095-8C9A-41A822F15571}"/>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AE348AD1-DA48-4D1C-9549-87B37037F11E}"/>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7C96DAE5-8C93-4849-BAE1-054010311826}"/>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B3636C53-E2F9-4624-87B8-DE37345386CE}"/>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37440717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A560CD-03A5-4BBE-9270-9E63B187A3D8}"/>
              </a:ext>
            </a:extLst>
          </p:cNvPr>
          <p:cNvSpPr txBox="1">
            <a:spLocks noGrp="1"/>
          </p:cNvSpPr>
          <p:nvPr>
            <p:ph type="title"/>
          </p:nvPr>
        </p:nvSpPr>
        <p:spPr/>
        <p:txBody>
          <a:bodyPr/>
          <a:lstStyle>
            <a:lvl1pPr>
              <a:defRPr/>
            </a:lvl1pPr>
          </a:lstStyle>
          <a:p>
            <a:pPr lvl="0"/>
            <a:r>
              <a:rPr lang="en-US"/>
              <a:t>Click to edit Master title style</a:t>
            </a:r>
            <a:endParaRPr lang="en-GB"/>
          </a:p>
        </p:txBody>
      </p:sp>
    </p:spTree>
    <p:extLst>
      <p:ext uri="{BB962C8B-B14F-4D97-AF65-F5344CB8AC3E}">
        <p14:creationId xmlns:p14="http://schemas.microsoft.com/office/powerpoint/2010/main" val="325894419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67478165"/>
      </p:ext>
    </p:extLst>
  </p:cSld>
  <p:clrMapOvr>
    <a:masterClrMapping/>
  </p:clrMapOvr>
  <p:hf sldNum="0" hdr="0" ftr="0" dt="0"/>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FD3278-9BBC-48FF-BBD4-3ABD504B1C2F}"/>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4E7DA1AB-AFE3-43C3-823E-5768C84B0C99}"/>
              </a:ext>
            </a:extLst>
          </p:cNvPr>
          <p:cNvSpPr txBox="1">
            <a:spLocks noGrp="1"/>
          </p:cNvSpPr>
          <p:nvPr>
            <p:ph idx="1"/>
          </p:nvPr>
        </p:nvSpPr>
        <p:spPr>
          <a:xfrm>
            <a:off x="5183184" y="987423"/>
            <a:ext cx="6172200" cy="4873623"/>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5D1698F6-D4C0-4196-A80C-815042622C9C}"/>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Tree>
    <p:extLst>
      <p:ext uri="{BB962C8B-B14F-4D97-AF65-F5344CB8AC3E}">
        <p14:creationId xmlns:p14="http://schemas.microsoft.com/office/powerpoint/2010/main" val="314545863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86E62B-8495-4812-9313-21169ED3DE05}"/>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B029536C-F05F-46D1-81E4-75809B4BD3C3}"/>
              </a:ext>
            </a:extLst>
          </p:cNvPr>
          <p:cNvSpPr txBox="1">
            <a:spLocks noGrp="1"/>
          </p:cNvSpPr>
          <p:nvPr>
            <p:ph type="pic" idx="1"/>
          </p:nvPr>
        </p:nvSpPr>
        <p:spPr>
          <a:xfrm>
            <a:off x="5183184" y="987423"/>
            <a:ext cx="6172200" cy="4873623"/>
          </a:xfrm>
        </p:spPr>
        <p:txBody>
          <a:bodyPr/>
          <a:lstStyle>
            <a:lvl1pPr marL="0" indent="0">
              <a:buNone/>
              <a:defRPr sz="3200"/>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14C093A1-93EA-4CA3-B965-D87287ECCAB0}"/>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Tree>
    <p:extLst>
      <p:ext uri="{BB962C8B-B14F-4D97-AF65-F5344CB8AC3E}">
        <p14:creationId xmlns:p14="http://schemas.microsoft.com/office/powerpoint/2010/main" val="121396622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097733-E0F2-4306-A82E-3DC8B621EE68}"/>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3A9353AF-FBD8-4757-BFB7-D568D132E7AC}"/>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67823365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BD387CC-3C70-4F4D-83FD-EED9A519C8BA}"/>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F14C79D4-89DC-42C2-BECF-76DFB4AF51EF}"/>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38058257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F4C283-86DB-4B97-B8CC-B6C995456A9B}"/>
              </a:ext>
            </a:extLst>
          </p:cNvPr>
          <p:cNvSpPr txBox="1">
            <a:spLocks noGrp="1"/>
          </p:cNvSpPr>
          <p:nvPr>
            <p:ph type="ctrTitle"/>
          </p:nvPr>
        </p:nvSpPr>
        <p:spPr>
          <a:xfrm>
            <a:off x="1524003" y="1122361"/>
            <a:ext cx="9144000" cy="2387598"/>
          </a:xfrm>
        </p:spPr>
        <p:txBody>
          <a:bodyPr anchor="b" anchorCtr="1"/>
          <a:lstStyle>
            <a:lvl1pPr algn="ctr">
              <a:defRPr sz="6000"/>
            </a:lvl1pPr>
          </a:lstStyle>
          <a:p>
            <a:pPr lvl="0"/>
            <a:r>
              <a:rPr lang="en-US"/>
              <a:t>Click to edit Master title style</a:t>
            </a:r>
            <a:endParaRPr lang="en-GB"/>
          </a:p>
        </p:txBody>
      </p:sp>
      <p:sp>
        <p:nvSpPr>
          <p:cNvPr id="3" name="Subtitle 2">
            <a:extLst>
              <a:ext uri="{FF2B5EF4-FFF2-40B4-BE49-F238E27FC236}">
                <a16:creationId xmlns:a16="http://schemas.microsoft.com/office/drawing/2014/main" id="{3365184F-E20F-4F39-9CBF-E4F39327ACC1}"/>
              </a:ext>
            </a:extLst>
          </p:cNvPr>
          <p:cNvSpPr txBox="1">
            <a:spLocks noGrp="1"/>
          </p:cNvSpPr>
          <p:nvPr>
            <p:ph type="subTitle" idx="1"/>
          </p:nvPr>
        </p:nvSpPr>
        <p:spPr>
          <a:xfrm>
            <a:off x="1524003" y="3602041"/>
            <a:ext cx="9144000" cy="1655758"/>
          </a:xfrm>
        </p:spPr>
        <p:txBody>
          <a:bodyPr anchorCtr="1"/>
          <a:lstStyle>
            <a:lvl1pPr marL="0" indent="0" algn="ctr">
              <a:buNone/>
              <a:defRPr sz="2400"/>
            </a:lvl1pPr>
          </a:lstStyle>
          <a:p>
            <a:pPr lvl="0"/>
            <a:r>
              <a:rPr lang="en-US"/>
              <a:t>Click to edit Master subtitle style</a:t>
            </a:r>
            <a:endParaRPr lang="en-GB"/>
          </a:p>
        </p:txBody>
      </p:sp>
      <p:sp>
        <p:nvSpPr>
          <p:cNvPr id="4" name="Date Placeholder 3">
            <a:extLst>
              <a:ext uri="{FF2B5EF4-FFF2-40B4-BE49-F238E27FC236}">
                <a16:creationId xmlns:a16="http://schemas.microsoft.com/office/drawing/2014/main" id="{43EBB892-2BCC-4574-AF24-35D889D9BDC7}"/>
              </a:ext>
            </a:extLst>
          </p:cNvPr>
          <p:cNvSpPr txBox="1">
            <a:spLocks noGrp="1"/>
          </p:cNvSpPr>
          <p:nvPr>
            <p:ph type="dt" sz="half" idx="7"/>
          </p:nvPr>
        </p:nvSpPr>
        <p:spPr/>
        <p:txBody>
          <a:bodyPr/>
          <a:lstStyle>
            <a:lvl1pPr>
              <a:defRPr/>
            </a:lvl1pPr>
          </a:lstStyle>
          <a:p>
            <a:pPr lvl="0"/>
            <a:endParaRPr lang="en-GB"/>
          </a:p>
        </p:txBody>
      </p:sp>
      <p:sp>
        <p:nvSpPr>
          <p:cNvPr id="5" name="Footer Placeholder 4">
            <a:extLst>
              <a:ext uri="{FF2B5EF4-FFF2-40B4-BE49-F238E27FC236}">
                <a16:creationId xmlns:a16="http://schemas.microsoft.com/office/drawing/2014/main" id="{4C9A7F94-3A45-4D5C-A5CD-4028DA48DC24}"/>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96D34CA1-AEDF-4BC2-9D72-B0BF75E3615A}"/>
              </a:ext>
            </a:extLst>
          </p:cNvPr>
          <p:cNvSpPr txBox="1">
            <a:spLocks noGrp="1"/>
          </p:cNvSpPr>
          <p:nvPr>
            <p:ph type="sldNum" sz="quarter" idx="8"/>
          </p:nvPr>
        </p:nvSpPr>
        <p:spPr/>
        <p:txBody>
          <a:bodyPr/>
          <a:lstStyle>
            <a:lvl1pPr>
              <a:defRPr/>
            </a:lvl1pPr>
          </a:lstStyle>
          <a:p>
            <a:pPr lvl="0"/>
            <a:fld id="{9FE96965-66EE-402E-9C7C-CCB7B0781FE7}" type="slidenum">
              <a:t>‹#›</a:t>
            </a:fld>
            <a:endParaRPr lang="en-GB"/>
          </a:p>
        </p:txBody>
      </p:sp>
    </p:spTree>
    <p:extLst>
      <p:ext uri="{BB962C8B-B14F-4D97-AF65-F5344CB8AC3E}">
        <p14:creationId xmlns:p14="http://schemas.microsoft.com/office/powerpoint/2010/main" val="225979223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3DF181-B16C-40AD-A0DD-821E41FDC144}"/>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8AAAC215-08BF-4E51-9664-BC191B0BDE18}"/>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27127EA5-0805-4235-BAA2-40DAB4ECC1FA}"/>
              </a:ext>
            </a:extLst>
          </p:cNvPr>
          <p:cNvSpPr txBox="1">
            <a:spLocks noGrp="1"/>
          </p:cNvSpPr>
          <p:nvPr>
            <p:ph type="dt" sz="half" idx="7"/>
          </p:nvPr>
        </p:nvSpPr>
        <p:spPr/>
        <p:txBody>
          <a:bodyPr/>
          <a:lstStyle>
            <a:lvl1pPr>
              <a:defRPr/>
            </a:lvl1pPr>
          </a:lstStyle>
          <a:p>
            <a:pPr lvl="0"/>
            <a:endParaRPr lang="en-GB"/>
          </a:p>
        </p:txBody>
      </p:sp>
      <p:sp>
        <p:nvSpPr>
          <p:cNvPr id="5" name="Footer Placeholder 4">
            <a:extLst>
              <a:ext uri="{FF2B5EF4-FFF2-40B4-BE49-F238E27FC236}">
                <a16:creationId xmlns:a16="http://schemas.microsoft.com/office/drawing/2014/main" id="{93DD9374-E749-4DB0-8EC6-B643BCEBB8CD}"/>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96BB5397-D801-491A-BF6E-9B8A81F4119F}"/>
              </a:ext>
            </a:extLst>
          </p:cNvPr>
          <p:cNvSpPr txBox="1">
            <a:spLocks noGrp="1"/>
          </p:cNvSpPr>
          <p:nvPr>
            <p:ph type="sldNum" sz="quarter" idx="8"/>
          </p:nvPr>
        </p:nvSpPr>
        <p:spPr/>
        <p:txBody>
          <a:bodyPr/>
          <a:lstStyle>
            <a:lvl1pPr>
              <a:defRPr/>
            </a:lvl1pPr>
          </a:lstStyle>
          <a:p>
            <a:pPr lvl="0"/>
            <a:fld id="{4B76BC7B-EDDC-4B76-A4B4-8F846B93E743}" type="slidenum">
              <a:t>‹#›</a:t>
            </a:fld>
            <a:endParaRPr lang="en-GB"/>
          </a:p>
        </p:txBody>
      </p:sp>
    </p:spTree>
    <p:extLst>
      <p:ext uri="{BB962C8B-B14F-4D97-AF65-F5344CB8AC3E}">
        <p14:creationId xmlns:p14="http://schemas.microsoft.com/office/powerpoint/2010/main" val="2584618525"/>
      </p:ext>
    </p:extLst>
  </p:cSld>
  <p:clrMapOvr>
    <a:masterClrMapping/>
  </p:clrMapOvr>
  <p:hf sldNum="0" hdr="0" ftr="0" dt="0"/>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7A7E95-443F-4DEB-AD05-D31E992F58A0}"/>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A516D9EA-E50B-413A-B4E7-A89663DE4E60}"/>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Date Placeholder 3">
            <a:extLst>
              <a:ext uri="{FF2B5EF4-FFF2-40B4-BE49-F238E27FC236}">
                <a16:creationId xmlns:a16="http://schemas.microsoft.com/office/drawing/2014/main" id="{53882BCB-FDAB-427C-9AAF-1BA6EDF989A7}"/>
              </a:ext>
            </a:extLst>
          </p:cNvPr>
          <p:cNvSpPr txBox="1">
            <a:spLocks noGrp="1"/>
          </p:cNvSpPr>
          <p:nvPr>
            <p:ph type="dt" sz="half" idx="7"/>
          </p:nvPr>
        </p:nvSpPr>
        <p:spPr/>
        <p:txBody>
          <a:bodyPr/>
          <a:lstStyle>
            <a:lvl1pPr>
              <a:defRPr/>
            </a:lvl1pPr>
          </a:lstStyle>
          <a:p>
            <a:pPr lvl="0"/>
            <a:endParaRPr lang="en-GB"/>
          </a:p>
        </p:txBody>
      </p:sp>
      <p:sp>
        <p:nvSpPr>
          <p:cNvPr id="5" name="Footer Placeholder 4">
            <a:extLst>
              <a:ext uri="{FF2B5EF4-FFF2-40B4-BE49-F238E27FC236}">
                <a16:creationId xmlns:a16="http://schemas.microsoft.com/office/drawing/2014/main" id="{A2E2A19E-07C8-4A2A-8C73-8FDAA765CF4D}"/>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E534AE09-A320-4FE3-AE83-71E6EE84BF8F}"/>
              </a:ext>
            </a:extLst>
          </p:cNvPr>
          <p:cNvSpPr txBox="1">
            <a:spLocks noGrp="1"/>
          </p:cNvSpPr>
          <p:nvPr>
            <p:ph type="sldNum" sz="quarter" idx="8"/>
          </p:nvPr>
        </p:nvSpPr>
        <p:spPr/>
        <p:txBody>
          <a:bodyPr/>
          <a:lstStyle>
            <a:lvl1pPr>
              <a:defRPr/>
            </a:lvl1pPr>
          </a:lstStyle>
          <a:p>
            <a:pPr lvl="0"/>
            <a:fld id="{B89E8254-4D0D-452B-8E56-F6200706EB4E}" type="slidenum">
              <a:t>‹#›</a:t>
            </a:fld>
            <a:endParaRPr lang="en-GB"/>
          </a:p>
        </p:txBody>
      </p:sp>
    </p:spTree>
    <p:extLst>
      <p:ext uri="{BB962C8B-B14F-4D97-AF65-F5344CB8AC3E}">
        <p14:creationId xmlns:p14="http://schemas.microsoft.com/office/powerpoint/2010/main" val="195092110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4CD78C-7670-448A-A511-745ACD2D477C}"/>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6EA18776-3928-4FA6-AE93-319AF496BE0A}"/>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6467F9E3-B45B-4D2D-B3D1-EECB7755F23E}"/>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A387A04-4587-45C8-B61D-A5F4C172A891}"/>
              </a:ext>
            </a:extLst>
          </p:cNvPr>
          <p:cNvSpPr txBox="1">
            <a:spLocks noGrp="1"/>
          </p:cNvSpPr>
          <p:nvPr>
            <p:ph type="dt" sz="half" idx="7"/>
          </p:nvPr>
        </p:nvSpPr>
        <p:spPr/>
        <p:txBody>
          <a:bodyPr/>
          <a:lstStyle>
            <a:lvl1pPr>
              <a:defRPr/>
            </a:lvl1pPr>
          </a:lstStyle>
          <a:p>
            <a:pPr lvl="0"/>
            <a:endParaRPr lang="en-GB"/>
          </a:p>
        </p:txBody>
      </p:sp>
      <p:sp>
        <p:nvSpPr>
          <p:cNvPr id="6" name="Footer Placeholder 5">
            <a:extLst>
              <a:ext uri="{FF2B5EF4-FFF2-40B4-BE49-F238E27FC236}">
                <a16:creationId xmlns:a16="http://schemas.microsoft.com/office/drawing/2014/main" id="{B422933D-B758-4664-B134-3D1A3B935E36}"/>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3C7638AA-2EED-4758-BF3F-87E49CD91AFE}"/>
              </a:ext>
            </a:extLst>
          </p:cNvPr>
          <p:cNvSpPr txBox="1">
            <a:spLocks noGrp="1"/>
          </p:cNvSpPr>
          <p:nvPr>
            <p:ph type="sldNum" sz="quarter" idx="8"/>
          </p:nvPr>
        </p:nvSpPr>
        <p:spPr/>
        <p:txBody>
          <a:bodyPr/>
          <a:lstStyle>
            <a:lvl1pPr>
              <a:defRPr/>
            </a:lvl1pPr>
          </a:lstStyle>
          <a:p>
            <a:pPr lvl="0"/>
            <a:fld id="{C4F035BA-0F86-4269-89E3-2872005ECA4C}" type="slidenum">
              <a:t>‹#›</a:t>
            </a:fld>
            <a:endParaRPr lang="en-GB"/>
          </a:p>
        </p:txBody>
      </p:sp>
    </p:spTree>
    <p:extLst>
      <p:ext uri="{BB962C8B-B14F-4D97-AF65-F5344CB8AC3E}">
        <p14:creationId xmlns:p14="http://schemas.microsoft.com/office/powerpoint/2010/main" val="172205698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020D1E-7303-4DFF-8740-7F0660839937}"/>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6D13B2BE-B12E-4A90-AD9D-9BA8FF30AD29}"/>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CDAD5CB6-37A4-43B4-8DF0-48D3A8711D67}"/>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CA62269A-37B9-4B7D-A473-878A9F039EE6}"/>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195CD860-5269-409E-97A9-9CA2A1E57930}"/>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868A0975-0726-436A-9EE8-95D6AA4CF19D}"/>
              </a:ext>
            </a:extLst>
          </p:cNvPr>
          <p:cNvSpPr txBox="1">
            <a:spLocks noGrp="1"/>
          </p:cNvSpPr>
          <p:nvPr>
            <p:ph type="dt" sz="half" idx="7"/>
          </p:nvPr>
        </p:nvSpPr>
        <p:spPr/>
        <p:txBody>
          <a:bodyPr/>
          <a:lstStyle>
            <a:lvl1pPr>
              <a:defRPr/>
            </a:lvl1pPr>
          </a:lstStyle>
          <a:p>
            <a:pPr lvl="0"/>
            <a:endParaRPr lang="en-GB"/>
          </a:p>
        </p:txBody>
      </p:sp>
      <p:sp>
        <p:nvSpPr>
          <p:cNvPr id="8" name="Footer Placeholder 7">
            <a:extLst>
              <a:ext uri="{FF2B5EF4-FFF2-40B4-BE49-F238E27FC236}">
                <a16:creationId xmlns:a16="http://schemas.microsoft.com/office/drawing/2014/main" id="{B4B2C917-5EB1-4E13-A9B9-F3B0B3D731AF}"/>
              </a:ext>
            </a:extLst>
          </p:cNvPr>
          <p:cNvSpPr txBox="1">
            <a:spLocks noGrp="1"/>
          </p:cNvSpPr>
          <p:nvPr>
            <p:ph type="ftr" sz="quarter" idx="9"/>
          </p:nvPr>
        </p:nvSpPr>
        <p:spPr/>
        <p:txBody>
          <a:bodyPr/>
          <a:lstStyle>
            <a:lvl1pPr>
              <a:defRPr/>
            </a:lvl1pPr>
          </a:lstStyle>
          <a:p>
            <a:pPr lvl="0"/>
            <a:endParaRPr lang="en-GB"/>
          </a:p>
        </p:txBody>
      </p:sp>
      <p:sp>
        <p:nvSpPr>
          <p:cNvPr id="9" name="Slide Number Placeholder 8">
            <a:extLst>
              <a:ext uri="{FF2B5EF4-FFF2-40B4-BE49-F238E27FC236}">
                <a16:creationId xmlns:a16="http://schemas.microsoft.com/office/drawing/2014/main" id="{C770C9DC-CE16-4B0A-BCF0-48BAC01AD098}"/>
              </a:ext>
            </a:extLst>
          </p:cNvPr>
          <p:cNvSpPr txBox="1">
            <a:spLocks noGrp="1"/>
          </p:cNvSpPr>
          <p:nvPr>
            <p:ph type="sldNum" sz="quarter" idx="8"/>
          </p:nvPr>
        </p:nvSpPr>
        <p:spPr/>
        <p:txBody>
          <a:bodyPr/>
          <a:lstStyle>
            <a:lvl1pPr>
              <a:defRPr/>
            </a:lvl1pPr>
          </a:lstStyle>
          <a:p>
            <a:pPr lvl="0"/>
            <a:fld id="{195F863E-84B1-4E89-8E72-895E57AC09AD}" type="slidenum">
              <a:t>‹#›</a:t>
            </a:fld>
            <a:endParaRPr lang="en-GB"/>
          </a:p>
        </p:txBody>
      </p:sp>
    </p:spTree>
    <p:extLst>
      <p:ext uri="{BB962C8B-B14F-4D97-AF65-F5344CB8AC3E}">
        <p14:creationId xmlns:p14="http://schemas.microsoft.com/office/powerpoint/2010/main" val="368329354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259150-5031-498D-9484-4194BF2EDCA4}"/>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Date Placeholder 2">
            <a:extLst>
              <a:ext uri="{FF2B5EF4-FFF2-40B4-BE49-F238E27FC236}">
                <a16:creationId xmlns:a16="http://schemas.microsoft.com/office/drawing/2014/main" id="{811F4CE7-19D2-4ACC-B73F-CD23F0F65169}"/>
              </a:ext>
            </a:extLst>
          </p:cNvPr>
          <p:cNvSpPr txBox="1">
            <a:spLocks noGrp="1"/>
          </p:cNvSpPr>
          <p:nvPr>
            <p:ph type="dt" sz="half" idx="7"/>
          </p:nvPr>
        </p:nvSpPr>
        <p:spPr/>
        <p:txBody>
          <a:bodyPr/>
          <a:lstStyle>
            <a:lvl1pPr>
              <a:defRPr/>
            </a:lvl1pPr>
          </a:lstStyle>
          <a:p>
            <a:pPr lvl="0"/>
            <a:endParaRPr lang="en-GB"/>
          </a:p>
        </p:txBody>
      </p:sp>
      <p:sp>
        <p:nvSpPr>
          <p:cNvPr id="4" name="Footer Placeholder 3">
            <a:extLst>
              <a:ext uri="{FF2B5EF4-FFF2-40B4-BE49-F238E27FC236}">
                <a16:creationId xmlns:a16="http://schemas.microsoft.com/office/drawing/2014/main" id="{0A71908C-4100-40B5-A29D-4892EA8D5C7E}"/>
              </a:ext>
            </a:extLst>
          </p:cNvPr>
          <p:cNvSpPr txBox="1">
            <a:spLocks noGrp="1"/>
          </p:cNvSpPr>
          <p:nvPr>
            <p:ph type="ftr" sz="quarter" idx="9"/>
          </p:nvPr>
        </p:nvSpPr>
        <p:spPr/>
        <p:txBody>
          <a:bodyPr/>
          <a:lstStyle>
            <a:lvl1pPr>
              <a:defRPr/>
            </a:lvl1pPr>
          </a:lstStyle>
          <a:p>
            <a:pPr lvl="0"/>
            <a:endParaRPr lang="en-GB"/>
          </a:p>
        </p:txBody>
      </p:sp>
      <p:sp>
        <p:nvSpPr>
          <p:cNvPr id="5" name="Slide Number Placeholder 4">
            <a:extLst>
              <a:ext uri="{FF2B5EF4-FFF2-40B4-BE49-F238E27FC236}">
                <a16:creationId xmlns:a16="http://schemas.microsoft.com/office/drawing/2014/main" id="{A63346EE-ECC3-45D0-903F-A5EBC4DF2158}"/>
              </a:ext>
            </a:extLst>
          </p:cNvPr>
          <p:cNvSpPr txBox="1">
            <a:spLocks noGrp="1"/>
          </p:cNvSpPr>
          <p:nvPr>
            <p:ph type="sldNum" sz="quarter" idx="8"/>
          </p:nvPr>
        </p:nvSpPr>
        <p:spPr/>
        <p:txBody>
          <a:bodyPr/>
          <a:lstStyle>
            <a:lvl1pPr>
              <a:defRPr/>
            </a:lvl1pPr>
          </a:lstStyle>
          <a:p>
            <a:pPr lvl="0"/>
            <a:fld id="{B0ECA260-9067-4542-85EA-606A2577134A}" type="slidenum">
              <a:t>‹#›</a:t>
            </a:fld>
            <a:endParaRPr lang="en-GB"/>
          </a:p>
        </p:txBody>
      </p:sp>
    </p:spTree>
    <p:extLst>
      <p:ext uri="{BB962C8B-B14F-4D97-AF65-F5344CB8AC3E}">
        <p14:creationId xmlns:p14="http://schemas.microsoft.com/office/powerpoint/2010/main" val="265278639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BB25E2E-2AEC-4312-8544-3BDA86F70D6C}"/>
              </a:ext>
            </a:extLst>
          </p:cNvPr>
          <p:cNvSpPr txBox="1">
            <a:spLocks noGrp="1"/>
          </p:cNvSpPr>
          <p:nvPr>
            <p:ph type="dt" sz="half" idx="7"/>
          </p:nvPr>
        </p:nvSpPr>
        <p:spPr/>
        <p:txBody>
          <a:bodyPr/>
          <a:lstStyle>
            <a:lvl1pPr>
              <a:defRPr/>
            </a:lvl1pPr>
          </a:lstStyle>
          <a:p>
            <a:pPr lvl="0"/>
            <a:endParaRPr lang="en-GB"/>
          </a:p>
        </p:txBody>
      </p:sp>
      <p:sp>
        <p:nvSpPr>
          <p:cNvPr id="3" name="Footer Placeholder 2">
            <a:extLst>
              <a:ext uri="{FF2B5EF4-FFF2-40B4-BE49-F238E27FC236}">
                <a16:creationId xmlns:a16="http://schemas.microsoft.com/office/drawing/2014/main" id="{D2BF7D46-11A0-41CF-B5D6-D3F4737F72FE}"/>
              </a:ext>
            </a:extLst>
          </p:cNvPr>
          <p:cNvSpPr txBox="1">
            <a:spLocks noGrp="1"/>
          </p:cNvSpPr>
          <p:nvPr>
            <p:ph type="ftr" sz="quarter" idx="9"/>
          </p:nvPr>
        </p:nvSpPr>
        <p:spPr/>
        <p:txBody>
          <a:bodyPr/>
          <a:lstStyle>
            <a:lvl1pPr>
              <a:defRPr/>
            </a:lvl1pPr>
          </a:lstStyle>
          <a:p>
            <a:pPr lvl="0"/>
            <a:endParaRPr lang="en-GB"/>
          </a:p>
        </p:txBody>
      </p:sp>
      <p:sp>
        <p:nvSpPr>
          <p:cNvPr id="4" name="Slide Number Placeholder 3">
            <a:extLst>
              <a:ext uri="{FF2B5EF4-FFF2-40B4-BE49-F238E27FC236}">
                <a16:creationId xmlns:a16="http://schemas.microsoft.com/office/drawing/2014/main" id="{E0201E58-CB64-490A-87CD-425AFA8E599F}"/>
              </a:ext>
            </a:extLst>
          </p:cNvPr>
          <p:cNvSpPr txBox="1">
            <a:spLocks noGrp="1"/>
          </p:cNvSpPr>
          <p:nvPr>
            <p:ph type="sldNum" sz="quarter" idx="8"/>
          </p:nvPr>
        </p:nvSpPr>
        <p:spPr/>
        <p:txBody>
          <a:bodyPr/>
          <a:lstStyle>
            <a:lvl1pPr>
              <a:defRPr/>
            </a:lvl1pPr>
          </a:lstStyle>
          <a:p>
            <a:pPr lvl="0"/>
            <a:fld id="{53FDC660-B1DD-4D92-8A81-D953B9D7925A}" type="slidenum">
              <a:t>‹#›</a:t>
            </a:fld>
            <a:endParaRPr lang="en-GB"/>
          </a:p>
        </p:txBody>
      </p:sp>
    </p:spTree>
    <p:extLst>
      <p:ext uri="{BB962C8B-B14F-4D97-AF65-F5344CB8AC3E}">
        <p14:creationId xmlns:p14="http://schemas.microsoft.com/office/powerpoint/2010/main" val="160826847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F2344-A523-44E7-8776-57288C26BBFB}"/>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9735C7F1-5730-4D4C-ADD1-E877D1000894}"/>
              </a:ext>
            </a:extLst>
          </p:cNvPr>
          <p:cNvSpPr txBox="1">
            <a:spLocks noGrp="1"/>
          </p:cNvSpPr>
          <p:nvPr>
            <p:ph idx="1"/>
          </p:nvPr>
        </p:nvSpPr>
        <p:spPr>
          <a:xfrm>
            <a:off x="5183184" y="987423"/>
            <a:ext cx="6172200" cy="4873623"/>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04E48A8-21E9-4284-B9EC-DC1387B9DBD7}"/>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68A5B06F-DFB5-4E55-AB3F-2E7638ED6C6F}"/>
              </a:ext>
            </a:extLst>
          </p:cNvPr>
          <p:cNvSpPr txBox="1">
            <a:spLocks noGrp="1"/>
          </p:cNvSpPr>
          <p:nvPr>
            <p:ph type="dt" sz="half" idx="7"/>
          </p:nvPr>
        </p:nvSpPr>
        <p:spPr/>
        <p:txBody>
          <a:bodyPr/>
          <a:lstStyle>
            <a:lvl1pPr>
              <a:defRPr/>
            </a:lvl1pPr>
          </a:lstStyle>
          <a:p>
            <a:pPr lvl="0"/>
            <a:endParaRPr lang="en-GB"/>
          </a:p>
        </p:txBody>
      </p:sp>
      <p:sp>
        <p:nvSpPr>
          <p:cNvPr id="6" name="Footer Placeholder 5">
            <a:extLst>
              <a:ext uri="{FF2B5EF4-FFF2-40B4-BE49-F238E27FC236}">
                <a16:creationId xmlns:a16="http://schemas.microsoft.com/office/drawing/2014/main" id="{031D86C8-156F-442A-94EA-800ADC20A035}"/>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22F3A25B-8F8B-4547-856F-BFD5D6152A4D}"/>
              </a:ext>
            </a:extLst>
          </p:cNvPr>
          <p:cNvSpPr txBox="1">
            <a:spLocks noGrp="1"/>
          </p:cNvSpPr>
          <p:nvPr>
            <p:ph type="sldNum" sz="quarter" idx="8"/>
          </p:nvPr>
        </p:nvSpPr>
        <p:spPr/>
        <p:txBody>
          <a:bodyPr/>
          <a:lstStyle>
            <a:lvl1pPr>
              <a:defRPr/>
            </a:lvl1pPr>
          </a:lstStyle>
          <a:p>
            <a:pPr lvl="0"/>
            <a:fld id="{DCC67967-F08E-4C56-A503-2EE6AC29C9B0}" type="slidenum">
              <a:t>‹#›</a:t>
            </a:fld>
            <a:endParaRPr lang="en-GB"/>
          </a:p>
        </p:txBody>
      </p:sp>
    </p:spTree>
    <p:extLst>
      <p:ext uri="{BB962C8B-B14F-4D97-AF65-F5344CB8AC3E}">
        <p14:creationId xmlns:p14="http://schemas.microsoft.com/office/powerpoint/2010/main" val="143688444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01BD03-5718-4E7C-8CFA-6FCDA0038AB9}"/>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BAA42BEF-65B9-4F3D-A1E1-3F5D2201B2ED}"/>
              </a:ext>
            </a:extLst>
          </p:cNvPr>
          <p:cNvSpPr txBox="1">
            <a:spLocks noGrp="1"/>
          </p:cNvSpPr>
          <p:nvPr>
            <p:ph type="pic" idx="1"/>
          </p:nvPr>
        </p:nvSpPr>
        <p:spPr>
          <a:xfrm>
            <a:off x="5183184" y="987423"/>
            <a:ext cx="6172200" cy="4873623"/>
          </a:xfrm>
        </p:spPr>
        <p:txBody>
          <a:bodyPr/>
          <a:lstStyle>
            <a:lvl1pPr marL="0" indent="0">
              <a:buNone/>
              <a:defRPr lang="en-GB" sz="3200"/>
            </a:lvl1pPr>
          </a:lstStyle>
          <a:p>
            <a:pPr lvl="0"/>
            <a:endParaRPr lang="en-GB"/>
          </a:p>
        </p:txBody>
      </p:sp>
      <p:sp>
        <p:nvSpPr>
          <p:cNvPr id="4" name="Text Placeholder 3">
            <a:extLst>
              <a:ext uri="{FF2B5EF4-FFF2-40B4-BE49-F238E27FC236}">
                <a16:creationId xmlns:a16="http://schemas.microsoft.com/office/drawing/2014/main" id="{EBA02CEA-9228-4A2D-8CB3-469FA86A2E72}"/>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37445634-B4DC-4A5C-919B-7A2FF9712E1A}"/>
              </a:ext>
            </a:extLst>
          </p:cNvPr>
          <p:cNvSpPr txBox="1">
            <a:spLocks noGrp="1"/>
          </p:cNvSpPr>
          <p:nvPr>
            <p:ph type="dt" sz="half" idx="7"/>
          </p:nvPr>
        </p:nvSpPr>
        <p:spPr/>
        <p:txBody>
          <a:bodyPr/>
          <a:lstStyle>
            <a:lvl1pPr>
              <a:defRPr/>
            </a:lvl1pPr>
          </a:lstStyle>
          <a:p>
            <a:pPr lvl="0"/>
            <a:endParaRPr lang="en-GB"/>
          </a:p>
        </p:txBody>
      </p:sp>
      <p:sp>
        <p:nvSpPr>
          <p:cNvPr id="6" name="Footer Placeholder 5">
            <a:extLst>
              <a:ext uri="{FF2B5EF4-FFF2-40B4-BE49-F238E27FC236}">
                <a16:creationId xmlns:a16="http://schemas.microsoft.com/office/drawing/2014/main" id="{AEBC9E49-0616-4D15-8604-E95AC07654D3}"/>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D67581DB-431C-4238-8742-5995BB7A38AF}"/>
              </a:ext>
            </a:extLst>
          </p:cNvPr>
          <p:cNvSpPr txBox="1">
            <a:spLocks noGrp="1"/>
          </p:cNvSpPr>
          <p:nvPr>
            <p:ph type="sldNum" sz="quarter" idx="8"/>
          </p:nvPr>
        </p:nvSpPr>
        <p:spPr/>
        <p:txBody>
          <a:bodyPr/>
          <a:lstStyle>
            <a:lvl1pPr>
              <a:defRPr/>
            </a:lvl1pPr>
          </a:lstStyle>
          <a:p>
            <a:pPr lvl="0"/>
            <a:fld id="{A40A9B14-CA1F-41F3-ADAE-BD002C95D1A0}" type="slidenum">
              <a:t>‹#›</a:t>
            </a:fld>
            <a:endParaRPr lang="en-GB"/>
          </a:p>
        </p:txBody>
      </p:sp>
    </p:spTree>
    <p:extLst>
      <p:ext uri="{BB962C8B-B14F-4D97-AF65-F5344CB8AC3E}">
        <p14:creationId xmlns:p14="http://schemas.microsoft.com/office/powerpoint/2010/main" val="41395626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17BBB3-E61F-482E-AC7E-4DE5C1C40F6F}"/>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A2A70142-4057-47B1-B8D7-862FB7DE83E4}"/>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9BC500E-0222-4F2F-8EA2-70B5EFEFFE3A}"/>
              </a:ext>
            </a:extLst>
          </p:cNvPr>
          <p:cNvSpPr txBox="1">
            <a:spLocks noGrp="1"/>
          </p:cNvSpPr>
          <p:nvPr>
            <p:ph type="dt" sz="half" idx="7"/>
          </p:nvPr>
        </p:nvSpPr>
        <p:spPr/>
        <p:txBody>
          <a:bodyPr/>
          <a:lstStyle>
            <a:lvl1pPr>
              <a:defRPr/>
            </a:lvl1pPr>
          </a:lstStyle>
          <a:p>
            <a:pPr lvl="0"/>
            <a:endParaRPr lang="en-GB"/>
          </a:p>
        </p:txBody>
      </p:sp>
      <p:sp>
        <p:nvSpPr>
          <p:cNvPr id="5" name="Footer Placeholder 4">
            <a:extLst>
              <a:ext uri="{FF2B5EF4-FFF2-40B4-BE49-F238E27FC236}">
                <a16:creationId xmlns:a16="http://schemas.microsoft.com/office/drawing/2014/main" id="{C494B9C5-3772-4C37-BE88-64C9F627714B}"/>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CDFB7389-2DA4-4117-B6D2-4D23871153B7}"/>
              </a:ext>
            </a:extLst>
          </p:cNvPr>
          <p:cNvSpPr txBox="1">
            <a:spLocks noGrp="1"/>
          </p:cNvSpPr>
          <p:nvPr>
            <p:ph type="sldNum" sz="quarter" idx="8"/>
          </p:nvPr>
        </p:nvSpPr>
        <p:spPr/>
        <p:txBody>
          <a:bodyPr/>
          <a:lstStyle>
            <a:lvl1pPr>
              <a:defRPr/>
            </a:lvl1pPr>
          </a:lstStyle>
          <a:p>
            <a:pPr lvl="0"/>
            <a:fld id="{EAEB0D46-DFC2-458A-A732-88330799213D}" type="slidenum">
              <a:t>‹#›</a:t>
            </a:fld>
            <a:endParaRPr lang="en-GB"/>
          </a:p>
        </p:txBody>
      </p:sp>
    </p:spTree>
    <p:extLst>
      <p:ext uri="{BB962C8B-B14F-4D97-AF65-F5344CB8AC3E}">
        <p14:creationId xmlns:p14="http://schemas.microsoft.com/office/powerpoint/2010/main" val="183004768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76B46D4C-E43C-4D7F-8AF3-B2606B414AF1}"/>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EF370DD5-1C21-4F76-B81E-62E5EA350FB9}"/>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E5FD295-8836-4323-9CAA-9535B954F947}"/>
              </a:ext>
            </a:extLst>
          </p:cNvPr>
          <p:cNvSpPr txBox="1">
            <a:spLocks noGrp="1"/>
          </p:cNvSpPr>
          <p:nvPr>
            <p:ph type="dt" sz="half" idx="7"/>
          </p:nvPr>
        </p:nvSpPr>
        <p:spPr/>
        <p:txBody>
          <a:bodyPr/>
          <a:lstStyle>
            <a:lvl1pPr>
              <a:defRPr/>
            </a:lvl1pPr>
          </a:lstStyle>
          <a:p>
            <a:pPr lvl="0"/>
            <a:endParaRPr lang="en-GB"/>
          </a:p>
        </p:txBody>
      </p:sp>
      <p:sp>
        <p:nvSpPr>
          <p:cNvPr id="5" name="Footer Placeholder 4">
            <a:extLst>
              <a:ext uri="{FF2B5EF4-FFF2-40B4-BE49-F238E27FC236}">
                <a16:creationId xmlns:a16="http://schemas.microsoft.com/office/drawing/2014/main" id="{FE3D84DA-0C7F-492D-81B9-EC5A6F85DAD1}"/>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9A52798E-85DF-48D3-BE3D-1D158DFA02E7}"/>
              </a:ext>
            </a:extLst>
          </p:cNvPr>
          <p:cNvSpPr txBox="1">
            <a:spLocks noGrp="1"/>
          </p:cNvSpPr>
          <p:nvPr>
            <p:ph type="sldNum" sz="quarter" idx="8"/>
          </p:nvPr>
        </p:nvSpPr>
        <p:spPr/>
        <p:txBody>
          <a:bodyPr/>
          <a:lstStyle>
            <a:lvl1pPr>
              <a:defRPr/>
            </a:lvl1pPr>
          </a:lstStyle>
          <a:p>
            <a:pPr lvl="0"/>
            <a:fld id="{5775CB50-6D2C-4C76-B743-37D8007D31DA}" type="slidenum">
              <a:t>‹#›</a:t>
            </a:fld>
            <a:endParaRPr lang="en-GB"/>
          </a:p>
        </p:txBody>
      </p:sp>
    </p:spTree>
    <p:extLst>
      <p:ext uri="{BB962C8B-B14F-4D97-AF65-F5344CB8AC3E}">
        <p14:creationId xmlns:p14="http://schemas.microsoft.com/office/powerpoint/2010/main" val="426020504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DF001E-491E-45D6-B3ED-B3E20826E191}"/>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99B7FA77-D203-48B3-98C8-F0C3A65E8BF3}"/>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53981505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C4C98D-D168-4541-86F0-2C66F417509F}"/>
              </a:ext>
            </a:extLst>
          </p:cNvPr>
          <p:cNvSpPr txBox="1">
            <a:spLocks noGrp="1"/>
          </p:cNvSpPr>
          <p:nvPr>
            <p:ph type="ctrTitle"/>
          </p:nvPr>
        </p:nvSpPr>
        <p:spPr>
          <a:xfrm>
            <a:off x="1524003" y="1122361"/>
            <a:ext cx="9144000" cy="2387598"/>
          </a:xfrm>
        </p:spPr>
        <p:txBody>
          <a:bodyPr anchor="b" anchorCtr="1"/>
          <a:lstStyle>
            <a:lvl1pPr algn="ctr">
              <a:defRPr sz="6000"/>
            </a:lvl1pPr>
          </a:lstStyle>
          <a:p>
            <a:pPr lvl="0"/>
            <a:r>
              <a:rPr lang="en-US"/>
              <a:t>Click to edit Master title style</a:t>
            </a:r>
            <a:endParaRPr lang="en-GB"/>
          </a:p>
        </p:txBody>
      </p:sp>
      <p:sp>
        <p:nvSpPr>
          <p:cNvPr id="3" name="Subtitle 2">
            <a:extLst>
              <a:ext uri="{FF2B5EF4-FFF2-40B4-BE49-F238E27FC236}">
                <a16:creationId xmlns:a16="http://schemas.microsoft.com/office/drawing/2014/main" id="{E3452210-1A1E-4C69-9A41-584677B43125}"/>
              </a:ext>
            </a:extLst>
          </p:cNvPr>
          <p:cNvSpPr txBox="1">
            <a:spLocks noGrp="1"/>
          </p:cNvSpPr>
          <p:nvPr>
            <p:ph type="subTitle" idx="1"/>
          </p:nvPr>
        </p:nvSpPr>
        <p:spPr>
          <a:xfrm>
            <a:off x="1524003" y="3602041"/>
            <a:ext cx="9144000" cy="1655758"/>
          </a:xfrm>
        </p:spPr>
        <p:txBody>
          <a:bodyPr anchorCtr="1"/>
          <a:lstStyle>
            <a:lvl1pPr marL="0" indent="0" algn="ctr">
              <a:buNone/>
              <a:defRPr sz="2400"/>
            </a:lvl1pPr>
          </a:lstStyle>
          <a:p>
            <a:pPr lvl="0"/>
            <a:r>
              <a:rPr lang="en-US"/>
              <a:t>Click to edit Master subtitle style</a:t>
            </a:r>
            <a:endParaRPr lang="en-GB"/>
          </a:p>
        </p:txBody>
      </p:sp>
    </p:spTree>
    <p:extLst>
      <p:ext uri="{BB962C8B-B14F-4D97-AF65-F5344CB8AC3E}">
        <p14:creationId xmlns:p14="http://schemas.microsoft.com/office/powerpoint/2010/main" val="131517243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D38DCB-FF92-47CC-BD57-58BFB76FFE6D}"/>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A304E339-5C12-4CE6-A6C8-8A4342B3F44F}"/>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Tree>
    <p:extLst>
      <p:ext uri="{BB962C8B-B14F-4D97-AF65-F5344CB8AC3E}">
        <p14:creationId xmlns:p14="http://schemas.microsoft.com/office/powerpoint/2010/main" val="364668646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B9182E-A6D5-48E7-9F34-31967C025873}"/>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3253F4B5-2F11-4AE1-BA01-DE259CF8EFCD}"/>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59F654F-245C-4772-9613-A44747F61A40}"/>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23404709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FF369F-67E8-4B5F-814F-6E1E07C9C603}"/>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82833E7D-8CF6-452D-B0D4-06A60219CC16}"/>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F3DCF6FF-EE41-4FA4-96F9-725E84E519C5}"/>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5121D640-7BD2-45D1-B103-0D6726EF1466}"/>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63473CB8-B726-4E40-96DA-E1F0713237F0}"/>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58805962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ACC4A5-F1D7-480F-9BF9-D58E68BB9BA3}"/>
              </a:ext>
            </a:extLst>
          </p:cNvPr>
          <p:cNvSpPr txBox="1">
            <a:spLocks noGrp="1"/>
          </p:cNvSpPr>
          <p:nvPr>
            <p:ph type="title"/>
          </p:nvPr>
        </p:nvSpPr>
        <p:spPr/>
        <p:txBody>
          <a:bodyPr/>
          <a:lstStyle>
            <a:lvl1pPr>
              <a:defRPr/>
            </a:lvl1pPr>
          </a:lstStyle>
          <a:p>
            <a:pPr lvl="0"/>
            <a:r>
              <a:rPr lang="en-US"/>
              <a:t>Click to edit Master title style</a:t>
            </a:r>
            <a:endParaRPr lang="en-GB"/>
          </a:p>
        </p:txBody>
      </p:sp>
    </p:spTree>
    <p:extLst>
      <p:ext uri="{BB962C8B-B14F-4D97-AF65-F5344CB8AC3E}">
        <p14:creationId xmlns:p14="http://schemas.microsoft.com/office/powerpoint/2010/main" val="64562372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011449254"/>
      </p:ext>
    </p:extLst>
  </p:cSld>
  <p:clrMapOvr>
    <a:masterClrMapping/>
  </p:clrMapOvr>
  <p:hf sldNum="0" hdr="0" ftr="0" dt="0"/>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1DE59E-B070-4B7B-B8E3-F7FBEFC81D52}"/>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9FF60680-80E4-40EF-BF69-1E8F39B0D601}"/>
              </a:ext>
            </a:extLst>
          </p:cNvPr>
          <p:cNvSpPr txBox="1">
            <a:spLocks noGrp="1"/>
          </p:cNvSpPr>
          <p:nvPr>
            <p:ph idx="1"/>
          </p:nvPr>
        </p:nvSpPr>
        <p:spPr>
          <a:xfrm>
            <a:off x="5183184" y="987423"/>
            <a:ext cx="6172200" cy="4873623"/>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5131DB4F-FBE4-4E02-8EEC-C9AA0E9DF62B}"/>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Tree>
    <p:extLst>
      <p:ext uri="{BB962C8B-B14F-4D97-AF65-F5344CB8AC3E}">
        <p14:creationId xmlns:p14="http://schemas.microsoft.com/office/powerpoint/2010/main" val="350563636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2228FD-A158-4782-9D00-07C9B6A7553F}"/>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E714A9C0-6F4A-4395-ADF8-5C94751A9E65}"/>
              </a:ext>
            </a:extLst>
          </p:cNvPr>
          <p:cNvSpPr txBox="1">
            <a:spLocks noGrp="1"/>
          </p:cNvSpPr>
          <p:nvPr>
            <p:ph type="pic" idx="1"/>
          </p:nvPr>
        </p:nvSpPr>
        <p:spPr>
          <a:xfrm>
            <a:off x="5183184" y="987423"/>
            <a:ext cx="6172200" cy="4873623"/>
          </a:xfrm>
        </p:spPr>
        <p:txBody>
          <a:bodyPr/>
          <a:lstStyle>
            <a:lvl1pPr marL="0" indent="0">
              <a:buNone/>
              <a:defRPr sz="3200"/>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C477856D-D45C-4DC2-B299-C94ADB659A38}"/>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Tree>
    <p:extLst>
      <p:ext uri="{BB962C8B-B14F-4D97-AF65-F5344CB8AC3E}">
        <p14:creationId xmlns:p14="http://schemas.microsoft.com/office/powerpoint/2010/main" val="353820679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ABF320-860F-4322-B626-D5B9D67D549D}"/>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60E39148-8492-425E-93E7-55987E295E00}"/>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86616985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60778A6-6E10-4B38-B026-F8E5C6EAB893}"/>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B83280CB-400E-472A-A986-DFF4D09D7E18}"/>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61020739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09E4AE-2481-DC4C-D50A-0D43C8C98BB6}"/>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21824035-E266-C511-73E5-7BE6AEBD087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D023CDC5-232A-AD2D-2094-43226AB60745}"/>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39CF4414-52A4-BCB7-D6CF-02063B56676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CA3CC83-50F8-D853-934A-9A38869848DF}"/>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413503577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3D962A-0112-CF76-E341-5403F35AE801}"/>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4425DDAA-5E59-039D-60B7-C7CF2566EC5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52C8A6E2-2D6F-9316-600A-A8B1828F40EA}"/>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183A1A3F-205C-6FAE-8ED7-1006252C826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6DA75AF-48F3-D7B3-218C-8424AD08F5E6}"/>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98329510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8E0E8-96B1-927E-207C-94557361D8E6}"/>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CDAC9D9A-B41A-9241-9AC9-A3A2D52363C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EE945F4-BD5D-206E-865A-6C9C5F828D22}"/>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78326392-42B5-DCF6-A30D-929F1168EDCE}"/>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238F1B07-E23D-CA15-E8C0-9E35F4667CE2}"/>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129027628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361068-DBE5-11E5-B8B4-D758E6A64571}"/>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9AE2728F-69E6-5346-6413-BB8D6216FF6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F8DB1936-C08E-C0DD-F4FC-1E2083C5468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F0E7DB54-D8A4-A277-953E-9F0F376E8702}"/>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6" name="Footer Placeholder 5">
            <a:extLst>
              <a:ext uri="{FF2B5EF4-FFF2-40B4-BE49-F238E27FC236}">
                <a16:creationId xmlns:a16="http://schemas.microsoft.com/office/drawing/2014/main" id="{F03728A9-E7CC-AD41-C172-541A231FD416}"/>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9D468A28-AAF7-87E8-B706-6EA398EC9EB5}"/>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413702875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0DBA59-EC0D-28F0-51BF-D1F796AB1DE9}"/>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BCB3EFE5-DF32-4ED3-81EB-3099EAE96B3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EBD05B6-594E-820B-56FD-D5458F78479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520152B8-A3CA-FCB2-9888-42F3CB93A03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F0C314AD-5B3F-7AD4-A60E-B8D6C001F71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225D2AB1-0DE9-891C-5FD3-7E70E9FAC9B2}"/>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8" name="Footer Placeholder 7">
            <a:extLst>
              <a:ext uri="{FF2B5EF4-FFF2-40B4-BE49-F238E27FC236}">
                <a16:creationId xmlns:a16="http://schemas.microsoft.com/office/drawing/2014/main" id="{879D4B09-8255-99DB-1277-5E2E9A38543B}"/>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896FED96-1B60-77D8-2E04-B037369137F5}"/>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32686492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7DD9FA-ED07-172C-1B94-B95EEAEBFE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1BC5EAD9-1767-3357-0A52-54650AFC8276}"/>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4" name="Footer Placeholder 3">
            <a:extLst>
              <a:ext uri="{FF2B5EF4-FFF2-40B4-BE49-F238E27FC236}">
                <a16:creationId xmlns:a16="http://schemas.microsoft.com/office/drawing/2014/main" id="{203A0C49-8BAE-65ED-47A9-B0255C60B683}"/>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FC21B25D-FD70-5FEB-2DB8-6919C6AE459E}"/>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193911963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58AD711-8B82-3DCA-BAB8-7768EADA311B}"/>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3" name="Footer Placeholder 2">
            <a:extLst>
              <a:ext uri="{FF2B5EF4-FFF2-40B4-BE49-F238E27FC236}">
                <a16:creationId xmlns:a16="http://schemas.microsoft.com/office/drawing/2014/main" id="{7521B78F-336C-AE13-4A11-3B1DFF48C3B3}"/>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151BE58F-D1A5-9AEB-8764-36FEE9E294D6}"/>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166135399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27BC89-D687-3FD6-2BAE-4B961CF6604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2FB026AC-F2EC-9F31-0EAF-FB5349F46C7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6DCCCD31-974C-6AF4-EAF9-EB4408225BD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A46D230-4110-56F9-7598-2E09CBBEBECE}"/>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6" name="Footer Placeholder 5">
            <a:extLst>
              <a:ext uri="{FF2B5EF4-FFF2-40B4-BE49-F238E27FC236}">
                <a16:creationId xmlns:a16="http://schemas.microsoft.com/office/drawing/2014/main" id="{7C2855F2-842A-8EDD-9C02-E187C892D2E6}"/>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38F80FB-F733-12CB-629A-C37B01E217E4}"/>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211542577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337172-1BBC-E6AE-6481-ED29C88F090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C87CFEE8-9BB5-3036-4723-606B56E725A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0F8F27E3-9393-4C48-7481-44AF5B79BBE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CAB593B-E7D5-B4CC-CCF7-3AABB21C49C9}"/>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6" name="Footer Placeholder 5">
            <a:extLst>
              <a:ext uri="{FF2B5EF4-FFF2-40B4-BE49-F238E27FC236}">
                <a16:creationId xmlns:a16="http://schemas.microsoft.com/office/drawing/2014/main" id="{507A1ECF-E0FD-F8B2-74E9-0B8008FB3103}"/>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4F429AB8-FB4A-7281-5034-845F66F7AB92}"/>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405988899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814011-CD18-EA7F-F7BA-1F86B102B441}"/>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402AF3F-B957-242C-3E0A-EC0A58B128B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D8A07AC-C78B-1492-5B69-BC42A44891D3}"/>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BF7686BC-79F7-F0E3-C9E0-8AF9E0B2B71C}"/>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E15115DF-44E8-25E8-F407-003476EAEF84}"/>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74914491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1061740-2B10-AFC7-8FDF-932ECC82F845}"/>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17CC41E4-2B11-8B0B-4ACC-BEBD1104FEB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D026A42-AF90-9DF2-4437-0EFF00CDED7C}"/>
              </a:ext>
            </a:extLst>
          </p:cNvPr>
          <p:cNvSpPr>
            <a:spLocks noGrp="1"/>
          </p:cNvSpPr>
          <p:nvPr>
            <p:ph type="dt" sz="half" idx="10"/>
          </p:nvPr>
        </p:nvSpPr>
        <p:spPr/>
        <p:txBody>
          <a:body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2F9F6D03-1648-BE6A-5AED-C1795761905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72CBDDC7-9261-4C24-2BE3-174244342C5B}"/>
              </a:ext>
            </a:extLst>
          </p:cNvPr>
          <p:cNvSpPr>
            <a:spLocks noGrp="1"/>
          </p:cNvSpPr>
          <p:nvPr>
            <p:ph type="sldNum" sz="quarter" idx="12"/>
          </p:nvPr>
        </p:nvSpPr>
        <p:spPr/>
        <p:txBody>
          <a:bodyPr/>
          <a:lstStyle/>
          <a:p>
            <a:fld id="{BBF442C6-1EDD-4398-817B-3A59B0A82130}" type="slidenum">
              <a:rPr lang="en-GB" smtClean="0"/>
              <a:t>‹#›</a:t>
            </a:fld>
            <a:endParaRPr lang="en-GB"/>
          </a:p>
        </p:txBody>
      </p:sp>
    </p:spTree>
    <p:extLst>
      <p:ext uri="{BB962C8B-B14F-4D97-AF65-F5344CB8AC3E}">
        <p14:creationId xmlns:p14="http://schemas.microsoft.com/office/powerpoint/2010/main" val="286721683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D4E63C-7EA4-39D1-8BDF-1AF9828A7D2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3F7EE5B7-445A-F21A-7BB7-AA0975D5B90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0AEFD0D9-5F5A-8DAC-8EF0-6A87FB38AB4B}"/>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CEDF0964-8F04-F8FD-54E2-6780A8B0328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3B773A0E-6844-81E7-85BF-79678CAF11C3}"/>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81951028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BF09CC-C505-8862-05CB-529A3645BBDD}"/>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9F11B49-1B28-B711-EE01-1581E6F786E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4C9AF47-657A-0EBE-E732-7661999BB66D}"/>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521C76D9-86E4-5CDC-5C2E-FF693EA8E6A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FFAFC65-2E1E-89B4-3C91-37AF3A7117AF}"/>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81690403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E5FAE2-938C-BBF7-AC75-3741C321424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B096557E-31C2-7EEC-EC57-BBF017A872B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BD4B276-7488-2936-E236-2DB67AA449EC}"/>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769BC88C-2B25-F072-A6EB-BC0A1FF1EE1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2374C642-4121-A63E-4AFB-BC583D15E23F}"/>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74276800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D2A9B7-94DF-3AF2-8DB7-57E8D6E07A8F}"/>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B83B1458-7DB1-8C8D-5772-792CD0A7F84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EC1EE2A1-5465-5D9F-5A7A-33C449206B1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BDAA2E87-86BE-8BFD-8E1C-91F4291DE52E}"/>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6" name="Footer Placeholder 5">
            <a:extLst>
              <a:ext uri="{FF2B5EF4-FFF2-40B4-BE49-F238E27FC236}">
                <a16:creationId xmlns:a16="http://schemas.microsoft.com/office/drawing/2014/main" id="{F6355ACF-FBBA-BC1F-D05F-A52B6C3A70FF}"/>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7C350C0-723A-D210-6984-FCCB005ED210}"/>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75647967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26C65E-C6E2-9286-3095-F28D01E864FA}"/>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DD87FE80-E866-59D6-48BC-434DB0D9B19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215D05A-BAC1-05EE-6183-29DC46A4BE4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8CE4562C-92B7-B9C8-B844-CC8578B93BD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BF812ED-AC46-2FBB-853E-BDA67EB0BFE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88A4C98D-CAEC-908B-D9AE-0DDED9767F7C}"/>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8" name="Footer Placeholder 7">
            <a:extLst>
              <a:ext uri="{FF2B5EF4-FFF2-40B4-BE49-F238E27FC236}">
                <a16:creationId xmlns:a16="http://schemas.microsoft.com/office/drawing/2014/main" id="{8E4F5FB5-60FB-3553-8F85-5C70CB68BC24}"/>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419F5067-96AC-3690-0096-FC2FCDF4B07B}"/>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415479008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842179-811A-CF1C-0FCB-5A9665E6E264}"/>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579B5144-FE22-5692-C8DB-7D6120B9EEE5}"/>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4" name="Footer Placeholder 3">
            <a:extLst>
              <a:ext uri="{FF2B5EF4-FFF2-40B4-BE49-F238E27FC236}">
                <a16:creationId xmlns:a16="http://schemas.microsoft.com/office/drawing/2014/main" id="{78F55B31-07D2-7A7D-54A5-B9311EF6D872}"/>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11917983-85FD-E897-96B8-D72540A7237A}"/>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381012675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A7FB89A-E2E3-7205-B962-54E9B50DBA64}"/>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3" name="Footer Placeholder 2">
            <a:extLst>
              <a:ext uri="{FF2B5EF4-FFF2-40B4-BE49-F238E27FC236}">
                <a16:creationId xmlns:a16="http://schemas.microsoft.com/office/drawing/2014/main" id="{1DE8853D-8FED-29E9-FD57-E7B9CA47BDD4}"/>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B19D4EF7-337A-4771-3635-5CF9BE63C0C1}"/>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426849411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F46429-06C4-FD8C-4341-E683CF289E2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7171FC5A-4B6C-4B34-9236-EBFB8B21F8A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241E96B4-8CE3-DD5B-CE54-39195A6C2AF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79365FC-5146-5986-78FF-22395AA683DB}"/>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6" name="Footer Placeholder 5">
            <a:extLst>
              <a:ext uri="{FF2B5EF4-FFF2-40B4-BE49-F238E27FC236}">
                <a16:creationId xmlns:a16="http://schemas.microsoft.com/office/drawing/2014/main" id="{A65CFF2A-E9DC-ABA7-DFFF-DD51C0B8A161}"/>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FBEEB49-2B39-D08D-962E-419094323E76}"/>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73090238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BF2BC4-9381-DC05-41C9-B987D134B1F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BB565605-86F4-4E37-0E2E-3D1318D3E77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F5905A58-49CE-04AF-D58A-A10C2E5F602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3D69B66-046C-1E0B-734E-12CE5008EEC8}"/>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6" name="Footer Placeholder 5">
            <a:extLst>
              <a:ext uri="{FF2B5EF4-FFF2-40B4-BE49-F238E27FC236}">
                <a16:creationId xmlns:a16="http://schemas.microsoft.com/office/drawing/2014/main" id="{DD889DC2-48FA-A30B-7ACE-D03BE90722D8}"/>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B434B57C-77FF-7DEA-AEB3-C7CA78EDBFF8}"/>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177422477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357BD8-0A73-5852-A432-C55CAC9DE90C}"/>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5D10289-90DF-82A8-ED83-BD91F803616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60D94BB-3B9F-91C2-D869-F7C3C3B2D9CB}"/>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D756FCFE-BA06-CBAA-501D-9C903B921A5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2BFE81E0-2F6B-9CDB-700F-C8C25E64FD12}"/>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304304629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FC5B6AA-C13F-EF8D-B36A-1E8B9BB548CA}"/>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24E17C3-D772-490D-CCEA-3CBE7E43E55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21FE6B2-BAE8-A53D-4F10-58AD93A282CD}"/>
              </a:ext>
            </a:extLst>
          </p:cNvPr>
          <p:cNvSpPr>
            <a:spLocks noGrp="1"/>
          </p:cNvSpPr>
          <p:nvPr>
            <p:ph type="dt" sz="half" idx="10"/>
          </p:nvPr>
        </p:nvSpPr>
        <p:spPr/>
        <p:txBody>
          <a:body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AE71EBB9-EF09-565B-DC38-94548DDF7AFE}"/>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95FC04F-5F32-A7E8-4CC2-4C69DFC80930}"/>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371798635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D4E63C-7EA4-39D1-8BDF-1AF9828A7D2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3F7EE5B7-445A-F21A-7BB7-AA0975D5B90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0AEFD0D9-5F5A-8DAC-8EF0-6A87FB38AB4B}"/>
              </a:ext>
            </a:extLst>
          </p:cNvPr>
          <p:cNvSpPr>
            <a:spLocks noGrp="1"/>
          </p:cNvSpPr>
          <p:nvPr>
            <p:ph type="dt" sz="half" idx="10"/>
          </p:nvPr>
        </p:nvSpPr>
        <p:spPr/>
        <p:txBody>
          <a:bodyPr/>
          <a:lstStyle/>
          <a:p>
            <a:fld id="{8FBF2965-8593-42BF-9FEA-EC2BC1D405CB}" type="datetime1">
              <a:rPr lang="en-GB" smtClean="0"/>
              <a:t>02/12/2025</a:t>
            </a:fld>
            <a:endParaRPr lang="en-GB"/>
          </a:p>
        </p:txBody>
      </p:sp>
      <p:sp>
        <p:nvSpPr>
          <p:cNvPr id="5" name="Footer Placeholder 4">
            <a:extLst>
              <a:ext uri="{FF2B5EF4-FFF2-40B4-BE49-F238E27FC236}">
                <a16:creationId xmlns:a16="http://schemas.microsoft.com/office/drawing/2014/main" id="{CEDF0964-8F04-F8FD-54E2-6780A8B03283}"/>
              </a:ext>
            </a:extLst>
          </p:cNvPr>
          <p:cNvSpPr>
            <a:spLocks noGrp="1"/>
          </p:cNvSpPr>
          <p:nvPr>
            <p:ph type="ftr" sz="quarter" idx="11"/>
          </p:nvPr>
        </p:nvSpPr>
        <p:spPr/>
        <p:txBody>
          <a:bodyPr/>
          <a:lstStyle/>
          <a:p>
            <a:r>
              <a:rPr lang="en-GB"/>
              <a:t>CDS External Release Scope Guidance Document</a:t>
            </a:r>
          </a:p>
        </p:txBody>
      </p:sp>
      <p:sp>
        <p:nvSpPr>
          <p:cNvPr id="6" name="Slide Number Placeholder 5">
            <a:extLst>
              <a:ext uri="{FF2B5EF4-FFF2-40B4-BE49-F238E27FC236}">
                <a16:creationId xmlns:a16="http://schemas.microsoft.com/office/drawing/2014/main" id="{3B773A0E-6844-81E7-85BF-79678CAF11C3}"/>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56553774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BF09CC-C505-8862-05CB-529A3645BBDD}"/>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9F11B49-1B28-B711-EE01-1581E6F786E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4C9AF47-657A-0EBE-E732-7661999BB66D}"/>
              </a:ext>
            </a:extLst>
          </p:cNvPr>
          <p:cNvSpPr>
            <a:spLocks noGrp="1"/>
          </p:cNvSpPr>
          <p:nvPr>
            <p:ph type="dt" sz="half" idx="10"/>
          </p:nvPr>
        </p:nvSpPr>
        <p:spPr/>
        <p:txBody>
          <a:bodyPr/>
          <a:lstStyle/>
          <a:p>
            <a:fld id="{759C0B37-3CD6-4916-8F2A-8E69684B995A}" type="datetime1">
              <a:rPr lang="en-GB" smtClean="0"/>
              <a:t>02/12/2025</a:t>
            </a:fld>
            <a:endParaRPr lang="en-GB"/>
          </a:p>
        </p:txBody>
      </p:sp>
      <p:sp>
        <p:nvSpPr>
          <p:cNvPr id="5" name="Footer Placeholder 4">
            <a:extLst>
              <a:ext uri="{FF2B5EF4-FFF2-40B4-BE49-F238E27FC236}">
                <a16:creationId xmlns:a16="http://schemas.microsoft.com/office/drawing/2014/main" id="{521C76D9-86E4-5CDC-5C2E-FF693EA8E6A7}"/>
              </a:ext>
            </a:extLst>
          </p:cNvPr>
          <p:cNvSpPr>
            <a:spLocks noGrp="1"/>
          </p:cNvSpPr>
          <p:nvPr>
            <p:ph type="ftr" sz="quarter" idx="11"/>
          </p:nvPr>
        </p:nvSpPr>
        <p:spPr/>
        <p:txBody>
          <a:bodyPr/>
          <a:lstStyle/>
          <a:p>
            <a:r>
              <a:rPr lang="en-GB"/>
              <a:t>CDS External Release Scope Guidance Document</a:t>
            </a:r>
          </a:p>
        </p:txBody>
      </p:sp>
      <p:sp>
        <p:nvSpPr>
          <p:cNvPr id="6" name="Slide Number Placeholder 5">
            <a:extLst>
              <a:ext uri="{FF2B5EF4-FFF2-40B4-BE49-F238E27FC236}">
                <a16:creationId xmlns:a16="http://schemas.microsoft.com/office/drawing/2014/main" id="{5FFAFC65-2E1E-89B4-3C91-37AF3A7117AF}"/>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95114100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E5FAE2-938C-BBF7-AC75-3741C321424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B096557E-31C2-7EEC-EC57-BBF017A872B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BD4B276-7488-2936-E236-2DB67AA449EC}"/>
              </a:ext>
            </a:extLst>
          </p:cNvPr>
          <p:cNvSpPr>
            <a:spLocks noGrp="1"/>
          </p:cNvSpPr>
          <p:nvPr>
            <p:ph type="dt" sz="half" idx="10"/>
          </p:nvPr>
        </p:nvSpPr>
        <p:spPr/>
        <p:txBody>
          <a:bodyPr/>
          <a:lstStyle/>
          <a:p>
            <a:fld id="{3B95AE13-D9C9-486B-A4D9-112AC4B8C61F}" type="datetime1">
              <a:rPr lang="en-GB" smtClean="0"/>
              <a:t>02/12/2025</a:t>
            </a:fld>
            <a:endParaRPr lang="en-GB"/>
          </a:p>
        </p:txBody>
      </p:sp>
      <p:sp>
        <p:nvSpPr>
          <p:cNvPr id="5" name="Footer Placeholder 4">
            <a:extLst>
              <a:ext uri="{FF2B5EF4-FFF2-40B4-BE49-F238E27FC236}">
                <a16:creationId xmlns:a16="http://schemas.microsoft.com/office/drawing/2014/main" id="{769BC88C-2B25-F072-A6EB-BC0A1FF1EE11}"/>
              </a:ext>
            </a:extLst>
          </p:cNvPr>
          <p:cNvSpPr>
            <a:spLocks noGrp="1"/>
          </p:cNvSpPr>
          <p:nvPr>
            <p:ph type="ftr" sz="quarter" idx="11"/>
          </p:nvPr>
        </p:nvSpPr>
        <p:spPr/>
        <p:txBody>
          <a:bodyPr/>
          <a:lstStyle/>
          <a:p>
            <a:r>
              <a:rPr lang="en-GB"/>
              <a:t>CDS External Release Scope Guidance Document</a:t>
            </a:r>
          </a:p>
        </p:txBody>
      </p:sp>
      <p:sp>
        <p:nvSpPr>
          <p:cNvPr id="6" name="Slide Number Placeholder 5">
            <a:extLst>
              <a:ext uri="{FF2B5EF4-FFF2-40B4-BE49-F238E27FC236}">
                <a16:creationId xmlns:a16="http://schemas.microsoft.com/office/drawing/2014/main" id="{2374C642-4121-A63E-4AFB-BC583D15E23F}"/>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17454295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D2A9B7-94DF-3AF2-8DB7-57E8D6E07A8F}"/>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B83B1458-7DB1-8C8D-5772-792CD0A7F84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EC1EE2A1-5465-5D9F-5A7A-33C449206B1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BDAA2E87-86BE-8BFD-8E1C-91F4291DE52E}"/>
              </a:ext>
            </a:extLst>
          </p:cNvPr>
          <p:cNvSpPr>
            <a:spLocks noGrp="1"/>
          </p:cNvSpPr>
          <p:nvPr>
            <p:ph type="dt" sz="half" idx="10"/>
          </p:nvPr>
        </p:nvSpPr>
        <p:spPr/>
        <p:txBody>
          <a:bodyPr/>
          <a:lstStyle/>
          <a:p>
            <a:fld id="{18B8AEFE-A5DB-46BB-AA58-B6431BECF4D4}" type="datetime1">
              <a:rPr lang="en-GB" smtClean="0"/>
              <a:t>02/12/2025</a:t>
            </a:fld>
            <a:endParaRPr lang="en-GB"/>
          </a:p>
        </p:txBody>
      </p:sp>
      <p:sp>
        <p:nvSpPr>
          <p:cNvPr id="6" name="Footer Placeholder 5">
            <a:extLst>
              <a:ext uri="{FF2B5EF4-FFF2-40B4-BE49-F238E27FC236}">
                <a16:creationId xmlns:a16="http://schemas.microsoft.com/office/drawing/2014/main" id="{F6355ACF-FBBA-BC1F-D05F-A52B6C3A70FF}"/>
              </a:ext>
            </a:extLst>
          </p:cNvPr>
          <p:cNvSpPr>
            <a:spLocks noGrp="1"/>
          </p:cNvSpPr>
          <p:nvPr>
            <p:ph type="ftr" sz="quarter" idx="11"/>
          </p:nvPr>
        </p:nvSpPr>
        <p:spPr/>
        <p:txBody>
          <a:bodyPr/>
          <a:lstStyle/>
          <a:p>
            <a:r>
              <a:rPr lang="en-GB"/>
              <a:t>CDS External Release Scope Guidance Document</a:t>
            </a:r>
          </a:p>
        </p:txBody>
      </p:sp>
      <p:sp>
        <p:nvSpPr>
          <p:cNvPr id="7" name="Slide Number Placeholder 6">
            <a:extLst>
              <a:ext uri="{FF2B5EF4-FFF2-40B4-BE49-F238E27FC236}">
                <a16:creationId xmlns:a16="http://schemas.microsoft.com/office/drawing/2014/main" id="{07C350C0-723A-D210-6984-FCCB005ED210}"/>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77521808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26C65E-C6E2-9286-3095-F28D01E864FA}"/>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DD87FE80-E866-59D6-48BC-434DB0D9B19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215D05A-BAC1-05EE-6183-29DC46A4BE4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8CE4562C-92B7-B9C8-B844-CC8578B93BD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BF812ED-AC46-2FBB-853E-BDA67EB0BFE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88A4C98D-CAEC-908B-D9AE-0DDED9767F7C}"/>
              </a:ext>
            </a:extLst>
          </p:cNvPr>
          <p:cNvSpPr>
            <a:spLocks noGrp="1"/>
          </p:cNvSpPr>
          <p:nvPr>
            <p:ph type="dt" sz="half" idx="10"/>
          </p:nvPr>
        </p:nvSpPr>
        <p:spPr/>
        <p:txBody>
          <a:bodyPr/>
          <a:lstStyle/>
          <a:p>
            <a:fld id="{7516617A-3875-47DA-9409-1BC1C65C05E6}" type="datetime1">
              <a:rPr lang="en-GB" smtClean="0"/>
              <a:t>02/12/2025</a:t>
            </a:fld>
            <a:endParaRPr lang="en-GB"/>
          </a:p>
        </p:txBody>
      </p:sp>
      <p:sp>
        <p:nvSpPr>
          <p:cNvPr id="8" name="Footer Placeholder 7">
            <a:extLst>
              <a:ext uri="{FF2B5EF4-FFF2-40B4-BE49-F238E27FC236}">
                <a16:creationId xmlns:a16="http://schemas.microsoft.com/office/drawing/2014/main" id="{8E4F5FB5-60FB-3553-8F85-5C70CB68BC24}"/>
              </a:ext>
            </a:extLst>
          </p:cNvPr>
          <p:cNvSpPr>
            <a:spLocks noGrp="1"/>
          </p:cNvSpPr>
          <p:nvPr>
            <p:ph type="ftr" sz="quarter" idx="11"/>
          </p:nvPr>
        </p:nvSpPr>
        <p:spPr/>
        <p:txBody>
          <a:bodyPr/>
          <a:lstStyle/>
          <a:p>
            <a:r>
              <a:rPr lang="en-GB"/>
              <a:t>CDS External Release Scope Guidance Document</a:t>
            </a:r>
          </a:p>
        </p:txBody>
      </p:sp>
      <p:sp>
        <p:nvSpPr>
          <p:cNvPr id="9" name="Slide Number Placeholder 8">
            <a:extLst>
              <a:ext uri="{FF2B5EF4-FFF2-40B4-BE49-F238E27FC236}">
                <a16:creationId xmlns:a16="http://schemas.microsoft.com/office/drawing/2014/main" id="{419F5067-96AC-3690-0096-FC2FCDF4B07B}"/>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315831439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842179-811A-CF1C-0FCB-5A9665E6E264}"/>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579B5144-FE22-5692-C8DB-7D6120B9EEE5}"/>
              </a:ext>
            </a:extLst>
          </p:cNvPr>
          <p:cNvSpPr>
            <a:spLocks noGrp="1"/>
          </p:cNvSpPr>
          <p:nvPr>
            <p:ph type="dt" sz="half" idx="10"/>
          </p:nvPr>
        </p:nvSpPr>
        <p:spPr/>
        <p:txBody>
          <a:bodyPr/>
          <a:lstStyle/>
          <a:p>
            <a:fld id="{28E596E6-738F-4997-9A73-67C2C74E284E}" type="datetime1">
              <a:rPr lang="en-GB" smtClean="0"/>
              <a:t>02/12/2025</a:t>
            </a:fld>
            <a:endParaRPr lang="en-GB"/>
          </a:p>
        </p:txBody>
      </p:sp>
      <p:sp>
        <p:nvSpPr>
          <p:cNvPr id="4" name="Footer Placeholder 3">
            <a:extLst>
              <a:ext uri="{FF2B5EF4-FFF2-40B4-BE49-F238E27FC236}">
                <a16:creationId xmlns:a16="http://schemas.microsoft.com/office/drawing/2014/main" id="{78F55B31-07D2-7A7D-54A5-B9311EF6D872}"/>
              </a:ext>
            </a:extLst>
          </p:cNvPr>
          <p:cNvSpPr>
            <a:spLocks noGrp="1"/>
          </p:cNvSpPr>
          <p:nvPr>
            <p:ph type="ftr" sz="quarter" idx="11"/>
          </p:nvPr>
        </p:nvSpPr>
        <p:spPr/>
        <p:txBody>
          <a:bodyPr/>
          <a:lstStyle/>
          <a:p>
            <a:r>
              <a:rPr lang="en-GB"/>
              <a:t>CDS External Release Scope Guidance Document</a:t>
            </a:r>
          </a:p>
        </p:txBody>
      </p:sp>
      <p:sp>
        <p:nvSpPr>
          <p:cNvPr id="5" name="Slide Number Placeholder 4">
            <a:extLst>
              <a:ext uri="{FF2B5EF4-FFF2-40B4-BE49-F238E27FC236}">
                <a16:creationId xmlns:a16="http://schemas.microsoft.com/office/drawing/2014/main" id="{11917983-85FD-E897-96B8-D72540A7237A}"/>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146695006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A7FB89A-E2E3-7205-B962-54E9B50DBA64}"/>
              </a:ext>
            </a:extLst>
          </p:cNvPr>
          <p:cNvSpPr>
            <a:spLocks noGrp="1"/>
          </p:cNvSpPr>
          <p:nvPr>
            <p:ph type="dt" sz="half" idx="10"/>
          </p:nvPr>
        </p:nvSpPr>
        <p:spPr/>
        <p:txBody>
          <a:bodyPr/>
          <a:lstStyle/>
          <a:p>
            <a:fld id="{3EFD7E6B-1D7D-481F-9BED-3E830E7689D8}" type="datetime1">
              <a:rPr lang="en-GB" smtClean="0"/>
              <a:t>02/12/2025</a:t>
            </a:fld>
            <a:endParaRPr lang="en-GB"/>
          </a:p>
        </p:txBody>
      </p:sp>
      <p:sp>
        <p:nvSpPr>
          <p:cNvPr id="3" name="Footer Placeholder 2">
            <a:extLst>
              <a:ext uri="{FF2B5EF4-FFF2-40B4-BE49-F238E27FC236}">
                <a16:creationId xmlns:a16="http://schemas.microsoft.com/office/drawing/2014/main" id="{1DE8853D-8FED-29E9-FD57-E7B9CA47BDD4}"/>
              </a:ext>
            </a:extLst>
          </p:cNvPr>
          <p:cNvSpPr>
            <a:spLocks noGrp="1"/>
          </p:cNvSpPr>
          <p:nvPr>
            <p:ph type="ftr" sz="quarter" idx="11"/>
          </p:nvPr>
        </p:nvSpPr>
        <p:spPr/>
        <p:txBody>
          <a:bodyPr/>
          <a:lstStyle/>
          <a:p>
            <a:r>
              <a:rPr lang="en-GB"/>
              <a:t>CDS External Release Scope Guidance Document</a:t>
            </a:r>
          </a:p>
        </p:txBody>
      </p:sp>
      <p:sp>
        <p:nvSpPr>
          <p:cNvPr id="4" name="Slide Number Placeholder 3">
            <a:extLst>
              <a:ext uri="{FF2B5EF4-FFF2-40B4-BE49-F238E27FC236}">
                <a16:creationId xmlns:a16="http://schemas.microsoft.com/office/drawing/2014/main" id="{B19D4EF7-337A-4771-3635-5CF9BE63C0C1}"/>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163707666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F46429-06C4-FD8C-4341-E683CF289E2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7171FC5A-4B6C-4B34-9236-EBFB8B21F8A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241E96B4-8CE3-DD5B-CE54-39195A6C2AF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79365FC-5146-5986-78FF-22395AA683DB}"/>
              </a:ext>
            </a:extLst>
          </p:cNvPr>
          <p:cNvSpPr>
            <a:spLocks noGrp="1"/>
          </p:cNvSpPr>
          <p:nvPr>
            <p:ph type="dt" sz="half" idx="10"/>
          </p:nvPr>
        </p:nvSpPr>
        <p:spPr/>
        <p:txBody>
          <a:bodyPr/>
          <a:lstStyle/>
          <a:p>
            <a:fld id="{AC932A32-C4C7-4C53-8E83-5FAFAFF418D2}" type="datetime1">
              <a:rPr lang="en-GB" smtClean="0"/>
              <a:t>02/12/2025</a:t>
            </a:fld>
            <a:endParaRPr lang="en-GB"/>
          </a:p>
        </p:txBody>
      </p:sp>
      <p:sp>
        <p:nvSpPr>
          <p:cNvPr id="6" name="Footer Placeholder 5">
            <a:extLst>
              <a:ext uri="{FF2B5EF4-FFF2-40B4-BE49-F238E27FC236}">
                <a16:creationId xmlns:a16="http://schemas.microsoft.com/office/drawing/2014/main" id="{A65CFF2A-E9DC-ABA7-DFFF-DD51C0B8A161}"/>
              </a:ext>
            </a:extLst>
          </p:cNvPr>
          <p:cNvSpPr>
            <a:spLocks noGrp="1"/>
          </p:cNvSpPr>
          <p:nvPr>
            <p:ph type="ftr" sz="quarter" idx="11"/>
          </p:nvPr>
        </p:nvSpPr>
        <p:spPr/>
        <p:txBody>
          <a:bodyPr/>
          <a:lstStyle/>
          <a:p>
            <a:r>
              <a:rPr lang="en-GB"/>
              <a:t>CDS External Release Scope Guidance Document</a:t>
            </a:r>
          </a:p>
        </p:txBody>
      </p:sp>
      <p:sp>
        <p:nvSpPr>
          <p:cNvPr id="7" name="Slide Number Placeholder 6">
            <a:extLst>
              <a:ext uri="{FF2B5EF4-FFF2-40B4-BE49-F238E27FC236}">
                <a16:creationId xmlns:a16="http://schemas.microsoft.com/office/drawing/2014/main" id="{0FBEEB49-2B39-D08D-962E-419094323E76}"/>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377611948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BF2BC4-9381-DC05-41C9-B987D134B1F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BB565605-86F4-4E37-0E2E-3D1318D3E77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F5905A58-49CE-04AF-D58A-A10C2E5F602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3D69B66-046C-1E0B-734E-12CE5008EEC8}"/>
              </a:ext>
            </a:extLst>
          </p:cNvPr>
          <p:cNvSpPr>
            <a:spLocks noGrp="1"/>
          </p:cNvSpPr>
          <p:nvPr>
            <p:ph type="dt" sz="half" idx="10"/>
          </p:nvPr>
        </p:nvSpPr>
        <p:spPr/>
        <p:txBody>
          <a:bodyPr/>
          <a:lstStyle/>
          <a:p>
            <a:fld id="{CDA54896-0B1C-4513-B1AD-5262F4D59941}" type="datetime1">
              <a:rPr lang="en-GB" smtClean="0"/>
              <a:t>02/12/2025</a:t>
            </a:fld>
            <a:endParaRPr lang="en-GB"/>
          </a:p>
        </p:txBody>
      </p:sp>
      <p:sp>
        <p:nvSpPr>
          <p:cNvPr id="6" name="Footer Placeholder 5">
            <a:extLst>
              <a:ext uri="{FF2B5EF4-FFF2-40B4-BE49-F238E27FC236}">
                <a16:creationId xmlns:a16="http://schemas.microsoft.com/office/drawing/2014/main" id="{DD889DC2-48FA-A30B-7ACE-D03BE90722D8}"/>
              </a:ext>
            </a:extLst>
          </p:cNvPr>
          <p:cNvSpPr>
            <a:spLocks noGrp="1"/>
          </p:cNvSpPr>
          <p:nvPr>
            <p:ph type="ftr" sz="quarter" idx="11"/>
          </p:nvPr>
        </p:nvSpPr>
        <p:spPr/>
        <p:txBody>
          <a:bodyPr/>
          <a:lstStyle/>
          <a:p>
            <a:r>
              <a:rPr lang="en-GB"/>
              <a:t>CDS External Release Scope Guidance Document</a:t>
            </a:r>
          </a:p>
        </p:txBody>
      </p:sp>
      <p:sp>
        <p:nvSpPr>
          <p:cNvPr id="7" name="Slide Number Placeholder 6">
            <a:extLst>
              <a:ext uri="{FF2B5EF4-FFF2-40B4-BE49-F238E27FC236}">
                <a16:creationId xmlns:a16="http://schemas.microsoft.com/office/drawing/2014/main" id="{B434B57C-77FF-7DEA-AEB3-C7CA78EDBFF8}"/>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96030250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357BD8-0A73-5852-A432-C55CAC9DE90C}"/>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5D10289-90DF-82A8-ED83-BD91F803616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60D94BB-3B9F-91C2-D869-F7C3C3B2D9CB}"/>
              </a:ext>
            </a:extLst>
          </p:cNvPr>
          <p:cNvSpPr>
            <a:spLocks noGrp="1"/>
          </p:cNvSpPr>
          <p:nvPr>
            <p:ph type="dt" sz="half" idx="10"/>
          </p:nvPr>
        </p:nvSpPr>
        <p:spPr/>
        <p:txBody>
          <a:bodyPr/>
          <a:lstStyle/>
          <a:p>
            <a:fld id="{D00AA56F-3C6F-47D6-B448-69CD852E862E}" type="datetime1">
              <a:rPr lang="en-GB" smtClean="0"/>
              <a:t>02/12/2025</a:t>
            </a:fld>
            <a:endParaRPr lang="en-GB"/>
          </a:p>
        </p:txBody>
      </p:sp>
      <p:sp>
        <p:nvSpPr>
          <p:cNvPr id="5" name="Footer Placeholder 4">
            <a:extLst>
              <a:ext uri="{FF2B5EF4-FFF2-40B4-BE49-F238E27FC236}">
                <a16:creationId xmlns:a16="http://schemas.microsoft.com/office/drawing/2014/main" id="{D756FCFE-BA06-CBAA-501D-9C903B921A50}"/>
              </a:ext>
            </a:extLst>
          </p:cNvPr>
          <p:cNvSpPr>
            <a:spLocks noGrp="1"/>
          </p:cNvSpPr>
          <p:nvPr>
            <p:ph type="ftr" sz="quarter" idx="11"/>
          </p:nvPr>
        </p:nvSpPr>
        <p:spPr/>
        <p:txBody>
          <a:bodyPr/>
          <a:lstStyle/>
          <a:p>
            <a:r>
              <a:rPr lang="en-GB"/>
              <a:t>CDS External Release Scope Guidance Document</a:t>
            </a:r>
          </a:p>
        </p:txBody>
      </p:sp>
      <p:sp>
        <p:nvSpPr>
          <p:cNvPr id="6" name="Slide Number Placeholder 5">
            <a:extLst>
              <a:ext uri="{FF2B5EF4-FFF2-40B4-BE49-F238E27FC236}">
                <a16:creationId xmlns:a16="http://schemas.microsoft.com/office/drawing/2014/main" id="{2BFE81E0-2F6B-9CDB-700F-C8C25E64FD12}"/>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31902907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FC5B6AA-C13F-EF8D-B36A-1E8B9BB548CA}"/>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24E17C3-D772-490D-CCEA-3CBE7E43E55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21FE6B2-BAE8-A53D-4F10-58AD93A282CD}"/>
              </a:ext>
            </a:extLst>
          </p:cNvPr>
          <p:cNvSpPr>
            <a:spLocks noGrp="1"/>
          </p:cNvSpPr>
          <p:nvPr>
            <p:ph type="dt" sz="half" idx="10"/>
          </p:nvPr>
        </p:nvSpPr>
        <p:spPr/>
        <p:txBody>
          <a:bodyPr/>
          <a:lstStyle/>
          <a:p>
            <a:fld id="{D90D80E6-6F84-4A63-A935-072CE5DCB766}" type="datetime1">
              <a:rPr lang="en-GB" smtClean="0"/>
              <a:t>02/12/2025</a:t>
            </a:fld>
            <a:endParaRPr lang="en-GB"/>
          </a:p>
        </p:txBody>
      </p:sp>
      <p:sp>
        <p:nvSpPr>
          <p:cNvPr id="5" name="Footer Placeholder 4">
            <a:extLst>
              <a:ext uri="{FF2B5EF4-FFF2-40B4-BE49-F238E27FC236}">
                <a16:creationId xmlns:a16="http://schemas.microsoft.com/office/drawing/2014/main" id="{AE71EBB9-EF09-565B-DC38-94548DDF7AFE}"/>
              </a:ext>
            </a:extLst>
          </p:cNvPr>
          <p:cNvSpPr>
            <a:spLocks noGrp="1"/>
          </p:cNvSpPr>
          <p:nvPr>
            <p:ph type="ftr" sz="quarter" idx="11"/>
          </p:nvPr>
        </p:nvSpPr>
        <p:spPr/>
        <p:txBody>
          <a:bodyPr/>
          <a:lstStyle/>
          <a:p>
            <a:r>
              <a:rPr lang="en-GB"/>
              <a:t>CDS External Release Scope Guidance Document</a:t>
            </a:r>
          </a:p>
        </p:txBody>
      </p:sp>
      <p:sp>
        <p:nvSpPr>
          <p:cNvPr id="6" name="Slide Number Placeholder 5">
            <a:extLst>
              <a:ext uri="{FF2B5EF4-FFF2-40B4-BE49-F238E27FC236}">
                <a16:creationId xmlns:a16="http://schemas.microsoft.com/office/drawing/2014/main" id="{995FC04F-5F32-A7E8-4CC2-4C69DFC80930}"/>
              </a:ext>
            </a:extLst>
          </p:cNvPr>
          <p:cNvSpPr>
            <a:spLocks noGrp="1"/>
          </p:cNvSpPr>
          <p:nvPr>
            <p:ph type="sldNum" sz="quarter" idx="12"/>
          </p:nvPr>
        </p:nvSpPr>
        <p:spPr/>
        <p:txBody>
          <a:bodyPr/>
          <a:lstStyle/>
          <a:p>
            <a:fld id="{7E4B48B1-1197-4F9F-8D61-6ADBBBC3D0AA}" type="slidenum">
              <a:rPr lang="en-GB" smtClean="0"/>
              <a:t>‹#›</a:t>
            </a:fld>
            <a:endParaRPr lang="en-GB"/>
          </a:p>
        </p:txBody>
      </p:sp>
    </p:spTree>
    <p:extLst>
      <p:ext uri="{BB962C8B-B14F-4D97-AF65-F5344CB8AC3E}">
        <p14:creationId xmlns:p14="http://schemas.microsoft.com/office/powerpoint/2010/main" val="208288149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jpe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jpe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jpe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jpe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3470D8B-CC86-4814-9FD8-5C7D90FA535F}"/>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E29495D7-13DB-4C50-BA05-0F9DACA87980}"/>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5">
            <a:extLst>
              <a:ext uri="{FF2B5EF4-FFF2-40B4-BE49-F238E27FC236}">
                <a16:creationId xmlns:a16="http://schemas.microsoft.com/office/drawing/2014/main" id="{A21CCDC7-B42B-47B0-A903-BEFE735A5E78}"/>
              </a:ext>
            </a:extLst>
          </p:cNvPr>
          <p:cNvSpPr txBox="1">
            <a:spLocks noGrp="1"/>
          </p:cNvSpPr>
          <p:nvPr>
            <p:ph type="sldNum" sz="quarter" idx="4"/>
          </p:nvPr>
        </p:nvSpPr>
        <p:spPr>
          <a:xfrm>
            <a:off x="11526231" y="6387897"/>
            <a:ext cx="443849"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900" b="0" i="0" u="none" strike="noStrike" kern="1200" cap="none" spc="0" baseline="0">
                <a:solidFill>
                  <a:srgbClr val="000000"/>
                </a:solidFill>
                <a:uFillTx/>
                <a:latin typeface="Calibri"/>
              </a:defRPr>
            </a:lvl1pPr>
          </a:lstStyle>
          <a:p>
            <a:pPr lvl="0"/>
            <a:fld id="{A52220FC-9A5E-4974-809F-3D29581AC44C}" type="slidenum">
              <a:t>‹#›</a:t>
            </a:fld>
            <a:endParaRPr lang="en-GB"/>
          </a:p>
        </p:txBody>
      </p:sp>
      <p:sp>
        <p:nvSpPr>
          <p:cNvPr id="5" name="Footer Placeholder 1">
            <a:extLst>
              <a:ext uri="{FF2B5EF4-FFF2-40B4-BE49-F238E27FC236}">
                <a16:creationId xmlns:a16="http://schemas.microsoft.com/office/drawing/2014/main" id="{501C3F45-B1D0-4F79-8D1F-AE24BFE73E60}"/>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a:t>
            </a:r>
          </a:p>
        </p:txBody>
      </p:sp>
      <p:sp>
        <p:nvSpPr>
          <p:cNvPr id="6" name="TextBox 5">
            <a:extLst>
              <a:ext uri="{FF2B5EF4-FFF2-40B4-BE49-F238E27FC236}">
                <a16:creationId xmlns:a16="http://schemas.microsoft.com/office/drawing/2014/main" id="{6F41D49F-CACD-40C9-8953-420A246EEE71}"/>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pic>
        <p:nvPicPr>
          <p:cNvPr id="7" name="Picture 106" descr="57% HMRCppt logo">
            <a:extLst>
              <a:ext uri="{FF2B5EF4-FFF2-40B4-BE49-F238E27FC236}">
                <a16:creationId xmlns:a16="http://schemas.microsoft.com/office/drawing/2014/main" id="{0BD71FFB-A113-3A58-7EDE-DF76DE17A4FA}"/>
              </a:ext>
            </a:extLst>
          </p:cNvPr>
          <p:cNvPicPr>
            <a:picLocks noChangeAspect="1"/>
          </p:cNvPicPr>
          <p:nvPr userDrawn="1"/>
        </p:nvPicPr>
        <p:blipFill>
          <a:blip r:embed="rId13"/>
          <a:srcRect/>
          <a:stretch>
            <a:fillRect/>
          </a:stretch>
        </p:blipFill>
        <p:spPr>
          <a:xfrm>
            <a:off x="208287" y="6259936"/>
            <a:ext cx="813834" cy="500826"/>
          </a:xfrm>
          <a:prstGeom prst="rect">
            <a:avLst/>
          </a:prstGeom>
          <a:noFill/>
          <a:ln cap="flat">
            <a:noFill/>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marL="0" marR="0" lvl="0" indent="0" algn="l" defTabSz="914400" rtl="0" fontAlgn="auto" hangingPunct="1">
        <a:lnSpc>
          <a:spcPct val="90000"/>
        </a:lnSpc>
        <a:spcBef>
          <a:spcPts val="0"/>
        </a:spcBef>
        <a:spcAft>
          <a:spcPts val="0"/>
        </a:spcAft>
        <a:buNone/>
        <a:tabLst/>
        <a:defRPr lang="en-US" sz="4400" b="0" i="0" u="none" strike="noStrike" kern="1200" cap="none" spc="0" baseline="0">
          <a:solidFill>
            <a:srgbClr val="000000"/>
          </a:solidFill>
          <a:uFillTx/>
          <a:latin typeface="Calibri Light"/>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2800" b="0" i="0" u="none" strike="noStrike" kern="1200" cap="none" spc="0" baseline="0">
          <a:solidFill>
            <a:srgbClr val="000000"/>
          </a:solidFill>
          <a:uFillTx/>
          <a:latin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D3FCA42-C1C0-4279-BA33-608FCB1372C1}"/>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3B52B84F-20E8-4E31-ABBF-62FDE3C2B9D8}"/>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Footer Placeholder 1">
            <a:extLst>
              <a:ext uri="{FF2B5EF4-FFF2-40B4-BE49-F238E27FC236}">
                <a16:creationId xmlns:a16="http://schemas.microsoft.com/office/drawing/2014/main" id="{A953687C-7E77-4153-B2BB-9AEDD8FE1B23}"/>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endParaRPr lang="en-GB" sz="900" b="0" i="0" u="none" strike="noStrike" kern="1200" cap="none" spc="0" baseline="0" dirty="0">
              <a:solidFill>
                <a:srgbClr val="3B3A3D"/>
              </a:solidFill>
              <a:uFillTx/>
              <a:latin typeface="Calibri"/>
              <a:ea typeface="Geneva"/>
              <a:cs typeface="Arial"/>
            </a:endParaRPr>
          </a:p>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a:t>
            </a:r>
          </a:p>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endParaRPr lang="en-GB" sz="900" b="1" i="0" u="none" strike="noStrike" kern="1200" cap="none" spc="0" baseline="0" dirty="0">
              <a:solidFill>
                <a:srgbClr val="008D8E"/>
              </a:solidFill>
              <a:uFillTx/>
              <a:latin typeface="Calibri"/>
              <a:ea typeface="Geneva"/>
              <a:cs typeface="Arial"/>
            </a:endParaRPr>
          </a:p>
        </p:txBody>
      </p:sp>
      <p:sp>
        <p:nvSpPr>
          <p:cNvPr id="5" name="TextBox 4">
            <a:extLst>
              <a:ext uri="{FF2B5EF4-FFF2-40B4-BE49-F238E27FC236}">
                <a16:creationId xmlns:a16="http://schemas.microsoft.com/office/drawing/2014/main" id="{2FE1F886-5F1B-40F5-A518-368217B959E8}"/>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pic>
        <p:nvPicPr>
          <p:cNvPr id="6" name="Picture 106" descr="57% HMRCppt logo">
            <a:extLst>
              <a:ext uri="{FF2B5EF4-FFF2-40B4-BE49-F238E27FC236}">
                <a16:creationId xmlns:a16="http://schemas.microsoft.com/office/drawing/2014/main" id="{DC4786BB-FB02-0196-B503-D0A1E1F4D3BF}"/>
              </a:ext>
            </a:extLst>
          </p:cNvPr>
          <p:cNvPicPr>
            <a:picLocks noChangeAspect="1"/>
          </p:cNvPicPr>
          <p:nvPr userDrawn="1"/>
        </p:nvPicPr>
        <p:blipFill>
          <a:blip r:embed="rId13"/>
          <a:srcRect/>
          <a:stretch>
            <a:fillRect/>
          </a:stretch>
        </p:blipFill>
        <p:spPr>
          <a:xfrm>
            <a:off x="208287" y="6259936"/>
            <a:ext cx="813834" cy="500826"/>
          </a:xfrm>
          <a:prstGeom prst="rect">
            <a:avLst/>
          </a:prstGeom>
          <a:noFill/>
          <a:ln cap="flat">
            <a:noFill/>
          </a:ln>
        </p:spPr>
      </p:pic>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marL="0" marR="0" lvl="0" indent="0" algn="l" defTabSz="914400" rtl="0" fontAlgn="auto" hangingPunct="1">
        <a:lnSpc>
          <a:spcPct val="90000"/>
        </a:lnSpc>
        <a:spcBef>
          <a:spcPts val="0"/>
        </a:spcBef>
        <a:spcAft>
          <a:spcPts val="0"/>
        </a:spcAft>
        <a:buNone/>
        <a:tabLst/>
        <a:defRPr lang="en-US" sz="4400" b="0" i="0" u="none" strike="noStrike" kern="1200" cap="none" spc="0" baseline="0">
          <a:solidFill>
            <a:srgbClr val="000000"/>
          </a:solidFill>
          <a:uFillTx/>
          <a:latin typeface="Calibri Light"/>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2800" b="0" i="0" u="none" strike="noStrike" kern="1200" cap="none" spc="0" baseline="0">
          <a:solidFill>
            <a:srgbClr val="000000"/>
          </a:solidFill>
          <a:uFillTx/>
          <a:latin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1B30967-D911-4C24-8E6F-EE989C76C5B1}"/>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04CFF8C8-6F77-4D33-AEA6-479D54A568BA}"/>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9308C15-9AFF-4CCD-B5F2-0E3C155C9858}"/>
              </a:ext>
            </a:extLst>
          </p:cNvPr>
          <p:cNvSpPr txBox="1">
            <a:spLocks noGrp="1"/>
          </p:cNvSpPr>
          <p:nvPr>
            <p:ph type="dt" sz="half" idx="2"/>
          </p:nvPr>
        </p:nvSpPr>
        <p:spPr>
          <a:xfrm>
            <a:off x="838203" y="6356351"/>
            <a:ext cx="2743200" cy="365129"/>
          </a:xfrm>
          <a:prstGeom prst="rect">
            <a:avLst/>
          </a:prstGeom>
          <a:noFill/>
          <a:ln>
            <a:noFill/>
          </a:ln>
        </p:spPr>
        <p:txBody>
          <a:bodyPr vert="horz" wrap="square" lIns="91440" tIns="45720" rIns="91440" bIns="45720" anchor="ctr"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Calibri"/>
              </a:defRPr>
            </a:lvl1pPr>
          </a:lstStyle>
          <a:p>
            <a:pPr lvl="0"/>
            <a:endParaRPr lang="en-GB" dirty="0"/>
          </a:p>
        </p:txBody>
      </p:sp>
      <p:sp>
        <p:nvSpPr>
          <p:cNvPr id="5" name="Footer Placeholder 4">
            <a:extLst>
              <a:ext uri="{FF2B5EF4-FFF2-40B4-BE49-F238E27FC236}">
                <a16:creationId xmlns:a16="http://schemas.microsoft.com/office/drawing/2014/main" id="{83767BA8-F43C-45D6-8028-00B51F81025B}"/>
              </a:ext>
            </a:extLst>
          </p:cNvPr>
          <p:cNvSpPr txBox="1">
            <a:spLocks noGrp="1"/>
          </p:cNvSpPr>
          <p:nvPr>
            <p:ph type="ftr" sz="quarter" idx="3"/>
          </p:nvPr>
        </p:nvSpPr>
        <p:spPr>
          <a:xfrm>
            <a:off x="4038603" y="6356351"/>
            <a:ext cx="4114800" cy="365129"/>
          </a:xfrm>
          <a:prstGeom prst="rect">
            <a:avLst/>
          </a:prstGeom>
          <a:noFill/>
          <a:ln>
            <a:noFill/>
          </a:ln>
        </p:spPr>
        <p:txBody>
          <a:bodyPr vert="horz" wrap="square" lIns="91440" tIns="45720" rIns="91440" bIns="45720" anchor="ctr" anchorCtr="1" compatLnSpc="1">
            <a:noAutofit/>
          </a:bodyPr>
          <a:lstStyle>
            <a:lvl1pPr marL="0" marR="0" lvl="0" indent="0" algn="ct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Calibri"/>
              </a:defRPr>
            </a:lvl1pPr>
          </a:lstStyle>
          <a:p>
            <a:pPr lvl="0"/>
            <a:endParaRPr lang="en-GB"/>
          </a:p>
        </p:txBody>
      </p:sp>
      <p:sp>
        <p:nvSpPr>
          <p:cNvPr id="6" name="Slide Number Placeholder 5">
            <a:extLst>
              <a:ext uri="{FF2B5EF4-FFF2-40B4-BE49-F238E27FC236}">
                <a16:creationId xmlns:a16="http://schemas.microsoft.com/office/drawing/2014/main" id="{B10A85BD-9A4B-4A0E-8CBB-44352D66F6B3}"/>
              </a:ext>
            </a:extLst>
          </p:cNvPr>
          <p:cNvSpPr txBox="1">
            <a:spLocks noGrp="1"/>
          </p:cNvSpPr>
          <p:nvPr>
            <p:ph type="sldNum" sz="quarter" idx="4"/>
          </p:nvPr>
        </p:nvSpPr>
        <p:spPr>
          <a:xfrm>
            <a:off x="8610603" y="6356351"/>
            <a:ext cx="2743200"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Calibri"/>
              </a:defRPr>
            </a:lvl1pPr>
          </a:lstStyle>
          <a:p>
            <a:pPr lvl="0"/>
            <a:fld id="{0FB69590-4E0F-4AE5-8F13-5C16706321F3}" type="slidenum">
              <a:t>‹#›</a:t>
            </a:fld>
            <a:endParaRPr lang="en-GB"/>
          </a:p>
        </p:txBody>
      </p:sp>
      <p:sp>
        <p:nvSpPr>
          <p:cNvPr id="7" name="TextBox 6">
            <a:extLst>
              <a:ext uri="{FF2B5EF4-FFF2-40B4-BE49-F238E27FC236}">
                <a16:creationId xmlns:a16="http://schemas.microsoft.com/office/drawing/2014/main" id="{341A3101-0CEE-4ED4-BD14-2CED8BA038CB}"/>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pic>
        <p:nvPicPr>
          <p:cNvPr id="8" name="Picture 106" descr="57% HMRCppt logo">
            <a:extLst>
              <a:ext uri="{FF2B5EF4-FFF2-40B4-BE49-F238E27FC236}">
                <a16:creationId xmlns:a16="http://schemas.microsoft.com/office/drawing/2014/main" id="{CD11109E-025D-3699-CF1B-3910A46FFD85}"/>
              </a:ext>
            </a:extLst>
          </p:cNvPr>
          <p:cNvPicPr>
            <a:picLocks noChangeAspect="1"/>
          </p:cNvPicPr>
          <p:nvPr userDrawn="1"/>
        </p:nvPicPr>
        <p:blipFill>
          <a:blip r:embed="rId13"/>
          <a:srcRect/>
          <a:stretch>
            <a:fillRect/>
          </a:stretch>
        </p:blipFill>
        <p:spPr>
          <a:xfrm>
            <a:off x="208287" y="6259936"/>
            <a:ext cx="813834" cy="500826"/>
          </a:xfrm>
          <a:prstGeom prst="rect">
            <a:avLst/>
          </a:prstGeom>
          <a:noFill/>
          <a:ln cap="flat">
            <a:noFill/>
          </a:ln>
        </p:spPr>
      </p:pic>
    </p:spTree>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marL="0" marR="0" lvl="0" indent="0" algn="l" defTabSz="914400" rtl="0" fontAlgn="auto" hangingPunct="1">
        <a:lnSpc>
          <a:spcPct val="90000"/>
        </a:lnSpc>
        <a:spcBef>
          <a:spcPts val="0"/>
        </a:spcBef>
        <a:spcAft>
          <a:spcPts val="0"/>
        </a:spcAft>
        <a:buNone/>
        <a:tabLst/>
        <a:defRPr lang="en-US" sz="4400" b="0" i="0" u="none" strike="noStrike" kern="1200" cap="none" spc="0" baseline="0">
          <a:solidFill>
            <a:srgbClr val="000000"/>
          </a:solidFill>
          <a:uFillTx/>
          <a:latin typeface="Calibri Light"/>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2800" b="0" i="0" u="none" strike="noStrike" kern="1200" cap="none" spc="0" baseline="0">
          <a:solidFill>
            <a:srgbClr val="000000"/>
          </a:solidFill>
          <a:uFillTx/>
          <a:latin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ADF7F50-E289-4639-A4FC-AE940E3F6282}"/>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1FE8AE17-27CD-4B3C-92CC-7FC16645BF6A}"/>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Box 3">
            <a:extLst>
              <a:ext uri="{FF2B5EF4-FFF2-40B4-BE49-F238E27FC236}">
                <a16:creationId xmlns:a16="http://schemas.microsoft.com/office/drawing/2014/main" id="{3F7BE136-79A7-486C-A8EB-DAE52FE08AA8}"/>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pic>
        <p:nvPicPr>
          <p:cNvPr id="5" name="Picture 106" descr="57% HMRCppt logo">
            <a:extLst>
              <a:ext uri="{FF2B5EF4-FFF2-40B4-BE49-F238E27FC236}">
                <a16:creationId xmlns:a16="http://schemas.microsoft.com/office/drawing/2014/main" id="{31B57E67-1BDC-4624-93C0-52FD8BD782C1}"/>
              </a:ext>
            </a:extLst>
          </p:cNvPr>
          <p:cNvPicPr>
            <a:picLocks noChangeAspect="1"/>
          </p:cNvPicPr>
          <p:nvPr userDrawn="1"/>
        </p:nvPicPr>
        <p:blipFill>
          <a:blip r:embed="rId13"/>
          <a:srcRect/>
          <a:stretch>
            <a:fillRect/>
          </a:stretch>
        </p:blipFill>
        <p:spPr>
          <a:xfrm>
            <a:off x="208287" y="6259936"/>
            <a:ext cx="813834" cy="500826"/>
          </a:xfrm>
          <a:prstGeom prst="rect">
            <a:avLst/>
          </a:prstGeom>
          <a:noFill/>
          <a:ln cap="flat">
            <a:noFill/>
          </a:ln>
        </p:spPr>
      </p:pic>
    </p:spTree>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xStyles>
    <p:titleStyle>
      <a:lvl1pPr marL="0" marR="0" lvl="0" indent="0" algn="l" defTabSz="914400" rtl="0" fontAlgn="auto" hangingPunct="1">
        <a:lnSpc>
          <a:spcPct val="90000"/>
        </a:lnSpc>
        <a:spcBef>
          <a:spcPts val="0"/>
        </a:spcBef>
        <a:spcAft>
          <a:spcPts val="0"/>
        </a:spcAft>
        <a:buNone/>
        <a:tabLst/>
        <a:defRPr lang="en-US" sz="4400" b="0" i="0" u="none" strike="noStrike" kern="1200" cap="none" spc="0" baseline="0">
          <a:solidFill>
            <a:srgbClr val="000000"/>
          </a:solidFill>
          <a:uFillTx/>
          <a:latin typeface="Calibri Light"/>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2800" b="0" i="0" u="none" strike="noStrike" kern="1200" cap="none" spc="0" baseline="0">
          <a:solidFill>
            <a:srgbClr val="000000"/>
          </a:solidFill>
          <a:uFillTx/>
          <a:latin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888D6A3-8E8D-D8E1-7733-9D12A01104F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2473CFB1-4A4C-D1F7-85EA-35AC148D992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CE232B4-A948-849F-194D-E2793003FC7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815109-01DE-4561-8272-B7CE8BDF1404}" type="datetimeFigureOut">
              <a:rPr lang="en-GB" smtClean="0"/>
              <a:t>02/12/2025</a:t>
            </a:fld>
            <a:endParaRPr lang="en-GB"/>
          </a:p>
        </p:txBody>
      </p:sp>
      <p:sp>
        <p:nvSpPr>
          <p:cNvPr id="5" name="Footer Placeholder 4">
            <a:extLst>
              <a:ext uri="{FF2B5EF4-FFF2-40B4-BE49-F238E27FC236}">
                <a16:creationId xmlns:a16="http://schemas.microsoft.com/office/drawing/2014/main" id="{1B72D3C2-54E1-AB0A-ABF2-1D6C950D989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24460261-3182-E446-8075-2E54F5F4A201}"/>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BF442C6-1EDD-4398-817B-3A59B0A82130}" type="slidenum">
              <a:rPr lang="en-GB" smtClean="0"/>
              <a:t>‹#›</a:t>
            </a:fld>
            <a:endParaRPr lang="en-GB"/>
          </a:p>
        </p:txBody>
      </p:sp>
      <p:sp>
        <p:nvSpPr>
          <p:cNvPr id="7" name="TextBox 6">
            <a:extLst>
              <a:ext uri="{FF2B5EF4-FFF2-40B4-BE49-F238E27FC236}">
                <a16:creationId xmlns:a16="http://schemas.microsoft.com/office/drawing/2014/main" id="{D0CE3833-D0CD-38A3-881D-A53F99BAD8F2}"/>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pic>
        <p:nvPicPr>
          <p:cNvPr id="8" name="Picture 106" descr="57% HMRCppt logo">
            <a:extLst>
              <a:ext uri="{FF2B5EF4-FFF2-40B4-BE49-F238E27FC236}">
                <a16:creationId xmlns:a16="http://schemas.microsoft.com/office/drawing/2014/main" id="{BDE109DF-179C-125D-AF9B-7F7E1A23AC86}"/>
              </a:ext>
            </a:extLst>
          </p:cNvPr>
          <p:cNvPicPr>
            <a:picLocks noChangeAspect="1"/>
          </p:cNvPicPr>
          <p:nvPr userDrawn="1"/>
        </p:nvPicPr>
        <p:blipFill>
          <a:blip r:embed="rId13"/>
          <a:srcRect/>
          <a:stretch>
            <a:fillRect/>
          </a:stretch>
        </p:blipFill>
        <p:spPr>
          <a:xfrm>
            <a:off x="208287" y="6259936"/>
            <a:ext cx="813834" cy="500826"/>
          </a:xfrm>
          <a:prstGeom prst="rect">
            <a:avLst/>
          </a:prstGeom>
          <a:noFill/>
          <a:ln cap="flat">
            <a:noFill/>
          </a:ln>
        </p:spPr>
      </p:pic>
    </p:spTree>
    <p:extLst>
      <p:ext uri="{BB962C8B-B14F-4D97-AF65-F5344CB8AC3E}">
        <p14:creationId xmlns:p14="http://schemas.microsoft.com/office/powerpoint/2010/main" val="4176868127"/>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1F0D936-6F81-D780-0E65-6832228E042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D5F8DAEA-BC56-BF96-8220-9153DC0D667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0310253-9906-4E12-0A12-32F60854DE5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F19F5D-D96C-40E7-AE8F-4BEB7D53E98C}" type="datetimeFigureOut">
              <a:rPr lang="en-GB" smtClean="0"/>
              <a:t>02/12/2025</a:t>
            </a:fld>
            <a:endParaRPr lang="en-GB"/>
          </a:p>
        </p:txBody>
      </p:sp>
      <p:sp>
        <p:nvSpPr>
          <p:cNvPr id="5" name="Footer Placeholder 4">
            <a:extLst>
              <a:ext uri="{FF2B5EF4-FFF2-40B4-BE49-F238E27FC236}">
                <a16:creationId xmlns:a16="http://schemas.microsoft.com/office/drawing/2014/main" id="{373FFE97-3486-D83F-6166-C63F046F284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50D00470-AB56-4B6A-C9F5-248C2022653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E4B48B1-1197-4F9F-8D61-6ADBBBC3D0AA}" type="slidenum">
              <a:rPr lang="en-GB" smtClean="0"/>
              <a:t>‹#›</a:t>
            </a:fld>
            <a:endParaRPr lang="en-GB"/>
          </a:p>
        </p:txBody>
      </p:sp>
      <p:sp>
        <p:nvSpPr>
          <p:cNvPr id="8" name="TextBox 7">
            <a:extLst>
              <a:ext uri="{FF2B5EF4-FFF2-40B4-BE49-F238E27FC236}">
                <a16:creationId xmlns:a16="http://schemas.microsoft.com/office/drawing/2014/main" id="{E49FBB21-4782-C661-7394-86A61AE2B215}"/>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spTree>
    <p:extLst>
      <p:ext uri="{BB962C8B-B14F-4D97-AF65-F5344CB8AC3E}">
        <p14:creationId xmlns:p14="http://schemas.microsoft.com/office/powerpoint/2010/main" val="574378525"/>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1F0D936-6F81-D780-0E65-6832228E042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D5F8DAEA-BC56-BF96-8220-9153DC0D667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0310253-9906-4E12-0A12-32F60854DE5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618B758-689A-4962-9D19-A4D471C2C5DD}" type="datetime1">
              <a:rPr lang="en-GB" smtClean="0"/>
              <a:t>02/12/2025</a:t>
            </a:fld>
            <a:endParaRPr lang="en-GB"/>
          </a:p>
        </p:txBody>
      </p:sp>
      <p:sp>
        <p:nvSpPr>
          <p:cNvPr id="5" name="Footer Placeholder 4">
            <a:extLst>
              <a:ext uri="{FF2B5EF4-FFF2-40B4-BE49-F238E27FC236}">
                <a16:creationId xmlns:a16="http://schemas.microsoft.com/office/drawing/2014/main" id="{373FFE97-3486-D83F-6166-C63F046F284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GB"/>
              <a:t>CDS External Release Scope Guidance Document</a:t>
            </a:r>
          </a:p>
        </p:txBody>
      </p:sp>
      <p:sp>
        <p:nvSpPr>
          <p:cNvPr id="6" name="Slide Number Placeholder 5">
            <a:extLst>
              <a:ext uri="{FF2B5EF4-FFF2-40B4-BE49-F238E27FC236}">
                <a16:creationId xmlns:a16="http://schemas.microsoft.com/office/drawing/2014/main" id="{50D00470-AB56-4B6A-C9F5-248C2022653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E4B48B1-1197-4F9F-8D61-6ADBBBC3D0AA}" type="slidenum">
              <a:rPr lang="en-GB" smtClean="0"/>
              <a:t>‹#›</a:t>
            </a:fld>
            <a:endParaRPr lang="en-GB"/>
          </a:p>
        </p:txBody>
      </p:sp>
      <p:sp>
        <p:nvSpPr>
          <p:cNvPr id="8" name="TextBox 7">
            <a:extLst>
              <a:ext uri="{FF2B5EF4-FFF2-40B4-BE49-F238E27FC236}">
                <a16:creationId xmlns:a16="http://schemas.microsoft.com/office/drawing/2014/main" id="{E49FBB21-4782-C661-7394-86A61AE2B215}"/>
              </a:ext>
            </a:extLst>
          </p:cNvPr>
          <p:cNvSpPr txBox="1"/>
          <p:nvPr>
            <p:extLst>
              <p:ext uri="{1162E1C5-73C7-4A58-AE30-91384D911F3F}">
                <p184:classification xmlns:p184="http://schemas.microsoft.com/office/powerpoint/2018/4/main" val="ftr"/>
              </p:ext>
            </p:extLst>
          </p:nvPr>
        </p:nvSpPr>
        <p:spPr>
          <a:xfrm>
            <a:off x="5865813" y="6642100"/>
            <a:ext cx="488950" cy="152400"/>
          </a:xfrm>
          <a:prstGeom prst="rect">
            <a:avLst/>
          </a:prstGeom>
        </p:spPr>
        <p:txBody>
          <a:bodyPr horzOverflow="overflow" lIns="0" tIns="0" rIns="0" bIns="0">
            <a:spAutoFit/>
          </a:bodyPr>
          <a:lstStyle/>
          <a:p>
            <a:pPr algn="l"/>
            <a:r>
              <a:rPr lang="en-GB" sz="1000">
                <a:solidFill>
                  <a:srgbClr val="000000">
                    <a:alpha val="50000"/>
                  </a:srgbClr>
                </a:solidFill>
                <a:latin typeface="Calibri" panose="020F0502020204030204" pitchFamily="34" charset="0"/>
                <a:ea typeface="Calibri" panose="020F0502020204030204" pitchFamily="34" charset="0"/>
                <a:cs typeface="Calibri" panose="020F0502020204030204" pitchFamily="34" charset="0"/>
              </a:rPr>
              <a:t>OFFICIAL</a:t>
            </a:r>
          </a:p>
        </p:txBody>
      </p:sp>
    </p:spTree>
    <p:extLst>
      <p:ext uri="{BB962C8B-B14F-4D97-AF65-F5344CB8AC3E}">
        <p14:creationId xmlns:p14="http://schemas.microsoft.com/office/powerpoint/2010/main" val="185411425"/>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3" Type="http://schemas.openxmlformats.org/officeDocument/2006/relationships/hyperlink" Target="mailto:SDST@hmrc.gov.uk" TargetMode="External"/><Relationship Id="rId2" Type="http://schemas.openxmlformats.org/officeDocument/2006/relationships/notesSlide" Target="../notesSlides/notesSlide2.xml"/><Relationship Id="rId1" Type="http://schemas.openxmlformats.org/officeDocument/2006/relationships/slideLayout" Target="../slideLayouts/slideLayout18.xml"/><Relationship Id="rId5" Type="http://schemas.openxmlformats.org/officeDocument/2006/relationships/slide" Target="slide3.xml"/><Relationship Id="rId4" Type="http://schemas.openxmlformats.org/officeDocument/2006/relationships/slide" Target="slide9.xml"/></Relationships>
</file>

<file path=ppt/slides/_rels/slide3.xml.rels><?xml version="1.0" encoding="UTF-8" standalone="yes"?>
<Relationships xmlns="http://schemas.openxmlformats.org/package/2006/relationships"><Relationship Id="rId3" Type="http://schemas.openxmlformats.org/officeDocument/2006/relationships/slide" Target="slide7.xml"/><Relationship Id="rId7" Type="http://schemas.openxmlformats.org/officeDocument/2006/relationships/image" Target="../media/image3.jpeg"/><Relationship Id="rId2" Type="http://schemas.openxmlformats.org/officeDocument/2006/relationships/slide" Target="slide3.xml"/><Relationship Id="rId1" Type="http://schemas.openxmlformats.org/officeDocument/2006/relationships/slideLayout" Target="../slideLayouts/slideLayout7.xml"/><Relationship Id="rId6" Type="http://schemas.openxmlformats.org/officeDocument/2006/relationships/image" Target="../media/image4.emf"/><Relationship Id="rId5" Type="http://schemas.openxmlformats.org/officeDocument/2006/relationships/slide" Target="slide17.xml"/><Relationship Id="rId4" Type="http://schemas.openxmlformats.org/officeDocument/2006/relationships/slide" Target="slide4.xml"/></Relationships>
</file>

<file path=ppt/slides/_rels/slide4.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5.png"/><Relationship Id="rId7" Type="http://schemas.openxmlformats.org/officeDocument/2006/relationships/slide" Target="slide7.xml"/><Relationship Id="rId2" Type="http://schemas.openxmlformats.org/officeDocument/2006/relationships/notesSlide" Target="../notesSlides/notesSlide3.xml"/><Relationship Id="rId1" Type="http://schemas.openxmlformats.org/officeDocument/2006/relationships/slideLayout" Target="../slideLayouts/slideLayout1.xml"/><Relationship Id="rId6" Type="http://schemas.openxmlformats.org/officeDocument/2006/relationships/slide" Target="slide3.xml"/><Relationship Id="rId5" Type="http://schemas.openxmlformats.org/officeDocument/2006/relationships/slide" Target="slide5.xml"/><Relationship Id="rId10" Type="http://schemas.openxmlformats.org/officeDocument/2006/relationships/image" Target="../media/image4.emf"/><Relationship Id="rId4" Type="http://schemas.openxmlformats.org/officeDocument/2006/relationships/image" Target="../media/image6.svg"/><Relationship Id="rId9" Type="http://schemas.openxmlformats.org/officeDocument/2006/relationships/slide" Target="slide17.xml"/></Relationships>
</file>

<file path=ppt/slides/_rels/slide5.xml.rels><?xml version="1.0" encoding="UTF-8" standalone="yes"?>
<Relationships xmlns="http://schemas.openxmlformats.org/package/2006/relationships"><Relationship Id="rId3" Type="http://schemas.openxmlformats.org/officeDocument/2006/relationships/slide" Target="slide8.xml"/><Relationship Id="rId2" Type="http://schemas.openxmlformats.org/officeDocument/2006/relationships/notesSlide" Target="../notesSlides/notesSlide4.xml"/><Relationship Id="rId1" Type="http://schemas.openxmlformats.org/officeDocument/2006/relationships/slideLayout" Target="../slideLayouts/slideLayout24.xml"/><Relationship Id="rId5" Type="http://schemas.openxmlformats.org/officeDocument/2006/relationships/image" Target="../media/image4.emf"/><Relationship Id="rId4" Type="http://schemas.openxmlformats.org/officeDocument/2006/relationships/slide" Target="slide7.xml"/></Relationships>
</file>

<file path=ppt/slides/_rels/slide6.xml.rels><?xml version="1.0" encoding="UTF-8" standalone="yes"?>
<Relationships xmlns="http://schemas.openxmlformats.org/package/2006/relationships"><Relationship Id="rId3" Type="http://schemas.openxmlformats.org/officeDocument/2006/relationships/slide" Target="slide8.xml"/><Relationship Id="rId2" Type="http://schemas.openxmlformats.org/officeDocument/2006/relationships/notesSlide" Target="../notesSlides/notesSlide5.xml"/><Relationship Id="rId1" Type="http://schemas.openxmlformats.org/officeDocument/2006/relationships/slideLayout" Target="../slideLayouts/slideLayout24.xml"/><Relationship Id="rId5" Type="http://schemas.openxmlformats.org/officeDocument/2006/relationships/image" Target="../media/image4.emf"/><Relationship Id="rId4" Type="http://schemas.openxmlformats.org/officeDocument/2006/relationships/slide" Target="slide7.xml"/></Relationships>
</file>

<file path=ppt/slides/_rels/slide7.xml.rels><?xml version="1.0" encoding="UTF-8" standalone="yes"?>
<Relationships xmlns="http://schemas.openxmlformats.org/package/2006/relationships"><Relationship Id="rId8" Type="http://schemas.openxmlformats.org/officeDocument/2006/relationships/slide" Target="slide17.xml"/><Relationship Id="rId3" Type="http://schemas.openxmlformats.org/officeDocument/2006/relationships/hyperlink" Target="https://assets.publishing.service.gov.uk/government/uploads/system/uploads/attachment_data/file/931635/Tax_Types_for_Data_Element_4-3_of_the_Customs_Declaration_Service_-_v2.csv/preview" TargetMode="External"/><Relationship Id="rId7" Type="http://schemas.openxmlformats.org/officeDocument/2006/relationships/slide" Target="slide9.xml"/><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slide" Target="slide4.xml"/><Relationship Id="rId5" Type="http://schemas.openxmlformats.org/officeDocument/2006/relationships/slide" Target="slide7.xml"/><Relationship Id="rId4" Type="http://schemas.openxmlformats.org/officeDocument/2006/relationships/slide" Target="slide3.xml"/><Relationship Id="rId9" Type="http://schemas.openxmlformats.org/officeDocument/2006/relationships/image" Target="../media/image4.emf"/></Relationships>
</file>

<file path=ppt/slides/_rels/slide8.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3.xml"/><Relationship Id="rId7" Type="http://schemas.openxmlformats.org/officeDocument/2006/relationships/slide" Target="slide17.xml"/><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slide" Target="slide9.xml"/><Relationship Id="rId5" Type="http://schemas.openxmlformats.org/officeDocument/2006/relationships/slide" Target="slide4.xml"/><Relationship Id="rId4" Type="http://schemas.openxmlformats.org/officeDocument/2006/relationships/slide" Target="slide7.xml"/></Relationships>
</file>

<file path=ppt/slides/_rels/slide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7.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0.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17.xml"/><Relationship Id="rId4" Type="http://schemas.openxmlformats.org/officeDocument/2006/relationships/slide" Target="slide4.xml"/></Relationships>
</file>

<file path=ppt/slides/_rels/slide1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8" Type="http://schemas.openxmlformats.org/officeDocument/2006/relationships/slide" Target="slide13.xml"/><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slide" Target="slide17.xml"/><Relationship Id="rId11" Type="http://schemas.openxmlformats.org/officeDocument/2006/relationships/slide" Target="slide438.xml"/><Relationship Id="rId5" Type="http://schemas.openxmlformats.org/officeDocument/2006/relationships/slide" Target="slide4.xml"/><Relationship Id="rId10" Type="http://schemas.openxmlformats.org/officeDocument/2006/relationships/slide" Target="slide33.xml"/><Relationship Id="rId4" Type="http://schemas.openxmlformats.org/officeDocument/2006/relationships/slide" Target="slide7.xml"/><Relationship Id="rId9" Type="http://schemas.openxmlformats.org/officeDocument/2006/relationships/slide" Target="slide34.xml"/></Relationships>
</file>

<file path=ppt/slides/_rels/slide1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0.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5.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1.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7.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3.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8.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4.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19.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5.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20.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6.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21.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7.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22.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18.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23.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hyperlink" Target="https://developer.service.hmrc.gov.uk/guides/customs-declarations-end-to-end-service-guide/#end-to-end-user-journeys" TargetMode="External"/><Relationship Id="rId7" Type="http://schemas.openxmlformats.org/officeDocument/2006/relationships/slide" Target="slide17.xml"/><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7.xml"/><Relationship Id="rId4" Type="http://schemas.openxmlformats.org/officeDocument/2006/relationships/slide" Target="slide3.xml"/><Relationship Id="rId9" Type="http://schemas.openxmlformats.org/officeDocument/2006/relationships/image" Target="../media/image1.jpeg"/></Relationships>
</file>

<file path=ppt/slides/_rels/slide24.xml.rels><?xml version="1.0" encoding="UTF-8" standalone="yes"?>
<Relationships xmlns="http://schemas.openxmlformats.org/package/2006/relationships"><Relationship Id="rId3" Type="http://schemas.openxmlformats.org/officeDocument/2006/relationships/slide" Target="slide16.xml"/><Relationship Id="rId7" Type="http://schemas.openxmlformats.org/officeDocument/2006/relationships/image" Target="../media/image1.jpeg"/><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2.xml"/><Relationship Id="rId4" Type="http://schemas.openxmlformats.org/officeDocument/2006/relationships/slide" Target="slide4.xml"/></Relationships>
</file>

<file path=ppt/slides/_rels/slide25.xml.rels><?xml version="1.0" encoding="UTF-8" standalone="yes"?>
<Relationships xmlns="http://schemas.openxmlformats.org/package/2006/relationships"><Relationship Id="rId3" Type="http://schemas.openxmlformats.org/officeDocument/2006/relationships/slide" Target="slide7.xml"/><Relationship Id="rId7" Type="http://schemas.openxmlformats.org/officeDocument/2006/relationships/image" Target="../media/image1.jpeg"/><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17.xml"/><Relationship Id="rId4" Type="http://schemas.openxmlformats.org/officeDocument/2006/relationships/slide" Target="slide4.xml"/></Relationships>
</file>

<file path=ppt/slides/_rels/slide26.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image" Target="../media/image7.wmf"/><Relationship Id="rId7" Type="http://schemas.openxmlformats.org/officeDocument/2006/relationships/slide" Target="slide17.xml"/><Relationship Id="rId2" Type="http://schemas.openxmlformats.org/officeDocument/2006/relationships/oleObject" Target="../embeddings/oleObject1.bin"/><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7.xml"/><Relationship Id="rId4" Type="http://schemas.openxmlformats.org/officeDocument/2006/relationships/slide" Target="slide3.xml"/><Relationship Id="rId9" Type="http://schemas.openxmlformats.org/officeDocument/2006/relationships/image" Target="../media/image1.jpeg"/></Relationships>
</file>

<file path=ppt/slides/_rels/slide27.xml.rels><?xml version="1.0" encoding="UTF-8" standalone="yes"?>
<Relationships xmlns="http://schemas.openxmlformats.org/package/2006/relationships"><Relationship Id="rId3" Type="http://schemas.openxmlformats.org/officeDocument/2006/relationships/slide" Target="slide7.xml"/><Relationship Id="rId7" Type="http://schemas.openxmlformats.org/officeDocument/2006/relationships/image" Target="../media/image1.jpeg"/><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17.xml"/><Relationship Id="rId4" Type="http://schemas.openxmlformats.org/officeDocument/2006/relationships/slide" Target="slide4.xml"/></Relationships>
</file>

<file path=ppt/slides/_rels/slide28.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0.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29.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1.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30.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2.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31.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3.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32.xml.rels><?xml version="1.0" encoding="UTF-8" standalone="yes"?>
<Relationships xmlns="http://schemas.openxmlformats.org/package/2006/relationships"><Relationship Id="rId3" Type="http://schemas.openxmlformats.org/officeDocument/2006/relationships/slide" Target="slide7.xml"/><Relationship Id="rId7" Type="http://schemas.openxmlformats.org/officeDocument/2006/relationships/image" Target="../media/image1.jpeg"/><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17.xml"/><Relationship Id="rId4" Type="http://schemas.openxmlformats.org/officeDocument/2006/relationships/slide" Target="slide4.xml"/></Relationships>
</file>

<file path=ppt/slides/_rels/slide3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3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35.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4.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25.xml"/><Relationship Id="rId1" Type="http://schemas.openxmlformats.org/officeDocument/2006/relationships/slideLayout" Target="../slideLayouts/slideLayout18.xml"/><Relationship Id="rId5" Type="http://schemas.openxmlformats.org/officeDocument/2006/relationships/image" Target="../media/image8.wmf"/><Relationship Id="rId4" Type="http://schemas.openxmlformats.org/officeDocument/2006/relationships/package" Target="../embeddings/Microsoft_PowerPoint_Presentation.pptx"/></Relationships>
</file>

<file path=ppt/slides/_rels/slide3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6.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38.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27.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3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1.jpeg"/><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0.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hyperlink" Target="mailto:SDSTeam@hmrc.gov.uk" TargetMode="External"/><Relationship Id="rId7" Type="http://schemas.openxmlformats.org/officeDocument/2006/relationships/slide" Target="slide442.xml"/><Relationship Id="rId2" Type="http://schemas.openxmlformats.org/officeDocument/2006/relationships/notesSlide" Target="../notesSlides/notesSlide28.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16.xml"/><Relationship Id="rId4" Type="http://schemas.openxmlformats.org/officeDocument/2006/relationships/slide" Target="slide3.xml"/></Relationships>
</file>

<file path=ppt/slides/_rels/slide41.xml.rels><?xml version="1.0" encoding="UTF-8" standalone="yes"?>
<Relationships xmlns="http://schemas.openxmlformats.org/package/2006/relationships"><Relationship Id="rId3" Type="http://schemas.openxmlformats.org/officeDocument/2006/relationships/slide" Target="slide43.xml"/><Relationship Id="rId2" Type="http://schemas.openxmlformats.org/officeDocument/2006/relationships/notesSlide" Target="../notesSlides/notesSlide29.xml"/><Relationship Id="rId1" Type="http://schemas.openxmlformats.org/officeDocument/2006/relationships/slideLayout" Target="../slideLayouts/slideLayout18.xml"/><Relationship Id="rId4" Type="http://schemas.openxmlformats.org/officeDocument/2006/relationships/image" Target="../media/image4.emf"/></Relationships>
</file>

<file path=ppt/slides/_rels/slide42.xml.rels><?xml version="1.0" encoding="UTF-8" standalone="yes"?>
<Relationships xmlns="http://schemas.openxmlformats.org/package/2006/relationships"><Relationship Id="rId3" Type="http://schemas.openxmlformats.org/officeDocument/2006/relationships/slide" Target="slide43.xml"/><Relationship Id="rId2" Type="http://schemas.openxmlformats.org/officeDocument/2006/relationships/notesSlide" Target="../notesSlides/notesSlide30.xml"/><Relationship Id="rId1" Type="http://schemas.openxmlformats.org/officeDocument/2006/relationships/slideLayout" Target="../slideLayouts/slideLayout18.xml"/><Relationship Id="rId4" Type="http://schemas.openxmlformats.org/officeDocument/2006/relationships/image" Target="../media/image4.emf"/></Relationships>
</file>

<file path=ppt/slides/_rels/slide43.xml.rels><?xml version="1.0" encoding="UTF-8" standalone="yes"?>
<Relationships xmlns="http://schemas.openxmlformats.org/package/2006/relationships"><Relationship Id="rId3" Type="http://schemas.openxmlformats.org/officeDocument/2006/relationships/slide" Target="slide42.xml"/><Relationship Id="rId2" Type="http://schemas.openxmlformats.org/officeDocument/2006/relationships/notesSlide" Target="../notesSlides/notesSlide31.xml"/><Relationship Id="rId1" Type="http://schemas.openxmlformats.org/officeDocument/2006/relationships/slideLayout" Target="../slideLayouts/slideLayout18.xml"/><Relationship Id="rId5" Type="http://schemas.openxmlformats.org/officeDocument/2006/relationships/image" Target="../media/image4.emf"/><Relationship Id="rId4" Type="http://schemas.openxmlformats.org/officeDocument/2006/relationships/slide" Target="slide43.xml"/></Relationships>
</file>

<file path=ppt/slides/_rels/slide4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2.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5.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2.xml"/><Relationship Id="rId4" Type="http://schemas.openxmlformats.org/officeDocument/2006/relationships/slide" Target="slide4.xml"/></Relationships>
</file>

<file path=ppt/slides/_rels/slide4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3.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7.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image" Target="../media/image1.jpeg"/><Relationship Id="rId7" Type="http://schemas.openxmlformats.org/officeDocument/2006/relationships/slide" Target="slide449.xml"/><Relationship Id="rId2" Type="http://schemas.openxmlformats.org/officeDocument/2006/relationships/notesSlide" Target="../notesSlides/notesSlide34.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13.xml"/><Relationship Id="rId4" Type="http://schemas.openxmlformats.org/officeDocument/2006/relationships/slide" Target="slide3.xml"/></Relationships>
</file>

<file path=ppt/slides/_rels/slide48.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2.xml"/><Relationship Id="rId4" Type="http://schemas.openxmlformats.org/officeDocument/2006/relationships/slide" Target="slide4.xml"/></Relationships>
</file>

<file path=ppt/slides/_rels/slide4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5.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50.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5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7.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52.xml.rels><?xml version="1.0" encoding="UTF-8" standalone="yes"?>
<Relationships xmlns="http://schemas.openxmlformats.org/package/2006/relationships"><Relationship Id="rId3" Type="http://schemas.openxmlformats.org/officeDocument/2006/relationships/hyperlink" Target="https://developer.service.hmrc.gov.uk/guides/customs-declarations-end-to-end-service-guide/#technical-documentation" TargetMode="External"/><Relationship Id="rId2" Type="http://schemas.openxmlformats.org/officeDocument/2006/relationships/notesSlide" Target="../notesSlides/notesSlide38.xml"/><Relationship Id="rId1" Type="http://schemas.openxmlformats.org/officeDocument/2006/relationships/slideLayout" Target="../slideLayouts/slideLayout73.xml"/><Relationship Id="rId6" Type="http://schemas.openxmlformats.org/officeDocument/2006/relationships/slide" Target="slide53.xml"/><Relationship Id="rId5" Type="http://schemas.openxmlformats.org/officeDocument/2006/relationships/slide" Target="slide56.xml"/><Relationship Id="rId4" Type="http://schemas.openxmlformats.org/officeDocument/2006/relationships/hyperlink" Target="mailto:SDST@hmrc.gov.uk" TargetMode="External"/></Relationships>
</file>

<file path=ppt/slides/_rels/slide53.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openxmlformats.org/officeDocument/2006/relationships/slide" Target="slide54.xml"/><Relationship Id="rId1" Type="http://schemas.openxmlformats.org/officeDocument/2006/relationships/slideLayout" Target="../slideLayouts/slideLayout73.xml"/><Relationship Id="rId4" Type="http://schemas.openxmlformats.org/officeDocument/2006/relationships/image" Target="../media/image9.emf"/></Relationships>
</file>

<file path=ppt/slides/_rels/slide54.xml.rels><?xml version="1.0" encoding="UTF-8" standalone="yes"?>
<Relationships xmlns="http://schemas.openxmlformats.org/package/2006/relationships"><Relationship Id="rId2" Type="http://schemas.openxmlformats.org/officeDocument/2006/relationships/hyperlink" Target="https://www.gov.uk/government/collections/goods-location-codes-for-data-element-523-of-the-customs-declaration-service" TargetMode="External"/><Relationship Id="rId1" Type="http://schemas.openxmlformats.org/officeDocument/2006/relationships/slideLayout" Target="../slideLayouts/slideLayout73.xml"/></Relationships>
</file>

<file path=ppt/slides/_rels/slide55.xml.rels><?xml version="1.0" encoding="UTF-8" standalone="yes"?>
<Relationships xmlns="http://schemas.openxmlformats.org/package/2006/relationships"><Relationship Id="rId2" Type="http://schemas.openxmlformats.org/officeDocument/2006/relationships/hyperlink" Target="https://www.gov.uk/government/collections/goods-location-codes-for-data-element-523-of-the-customs-declaration-service" TargetMode="External"/><Relationship Id="rId1" Type="http://schemas.openxmlformats.org/officeDocument/2006/relationships/slideLayout" Target="../slideLayouts/slideLayout7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60.xml.rels><?xml version="1.0" encoding="UTF-8" standalone="yes"?>
<Relationships xmlns="http://schemas.openxmlformats.org/package/2006/relationships"><Relationship Id="rId3" Type="http://schemas.openxmlformats.org/officeDocument/2006/relationships/hyperlink" Target="https://developer.service.hmrc.gov.uk/guides/customs-declarations-end-to-end-service-guide/#technical-documentation" TargetMode="External"/><Relationship Id="rId2" Type="http://schemas.openxmlformats.org/officeDocument/2006/relationships/notesSlide" Target="../notesSlides/notesSlide39.xml"/><Relationship Id="rId1" Type="http://schemas.openxmlformats.org/officeDocument/2006/relationships/slideLayout" Target="../slideLayouts/slideLayout62.xml"/><Relationship Id="rId4" Type="http://schemas.openxmlformats.org/officeDocument/2006/relationships/hyperlink" Target="mailto:SDST@hmrc.gov.uk" TargetMode="Externa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6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6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6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6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4.xml.rels><?xml version="1.0" encoding="UTF-8" standalone="yes"?>
<Relationships xmlns="http://schemas.openxmlformats.org/package/2006/relationships"><Relationship Id="rId3" Type="http://schemas.openxmlformats.org/officeDocument/2006/relationships/hyperlink" Target="https://developer.service.hmrc.gov.uk/guides/customs-declarations-end-to-end-service-guide/#technical-documentation" TargetMode="External"/><Relationship Id="rId2" Type="http://schemas.openxmlformats.org/officeDocument/2006/relationships/notesSlide" Target="../notesSlides/notesSlide50.xml"/><Relationship Id="rId1" Type="http://schemas.openxmlformats.org/officeDocument/2006/relationships/slideLayout" Target="../slideLayouts/slideLayout51.xml"/><Relationship Id="rId5" Type="http://schemas.openxmlformats.org/officeDocument/2006/relationships/image" Target="../media/image1.jpeg"/><Relationship Id="rId4" Type="http://schemas.openxmlformats.org/officeDocument/2006/relationships/hyperlink" Target="mailto:SDST@hmrc.gov.uk" TargetMode="External"/></Relationships>
</file>

<file path=ppt/slides/_rels/slide7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51.xml"/><Relationship Id="rId1" Type="http://schemas.openxmlformats.org/officeDocument/2006/relationships/slideLayout" Target="../slideLayouts/slideLayout51.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5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5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1.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1.xml"/></Relationships>
</file>

<file path=ppt/slides/_rels/slide90.xml.rels><?xml version="1.0" encoding="UTF-8" standalone="yes"?>
<Relationships xmlns="http://schemas.openxmlformats.org/package/2006/relationships"><Relationship Id="rId3"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2" Type="http://schemas.openxmlformats.org/officeDocument/2006/relationships/notesSlide" Target="../notesSlides/notesSlide66.xml"/><Relationship Id="rId1" Type="http://schemas.openxmlformats.org/officeDocument/2006/relationships/slideLayout" Target="../slideLayouts/slideLayout51.xml"/><Relationship Id="rId4" Type="http://schemas.openxmlformats.org/officeDocument/2006/relationships/hyperlink" Target="mailto:SDST@hmrc.gov.uk" TargetMode="Externa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1.xml"/></Relationships>
</file>

<file path=ppt/slides/_rels/slide97.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openxmlformats.org/officeDocument/2006/relationships/notesSlide" Target="../notesSlides/notesSlide73.xml"/><Relationship Id="rId1" Type="http://schemas.openxmlformats.org/officeDocument/2006/relationships/slideLayout" Target="../slideLayouts/slideLayout51.xml"/><Relationship Id="rId4" Type="http://schemas.openxmlformats.org/officeDocument/2006/relationships/image" Target="../media/image10.emf"/></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5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51.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51.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5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5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5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5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5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51.xml"/></Relationships>
</file>

<file path=ppt/slides/_rels/slide110.xml.rels><?xml version="1.0" encoding="UTF-8" standalone="yes"?>
<Relationships xmlns="http://schemas.openxmlformats.org/package/2006/relationships"><Relationship Id="rId3" Type="http://schemas.openxmlformats.org/officeDocument/2006/relationships/slide" Target="slide111.xml"/><Relationship Id="rId7" Type="http://schemas.openxmlformats.org/officeDocument/2006/relationships/hyperlink" Target="mailto:SDST@hmrc.gov.uk" TargetMode="External"/><Relationship Id="rId2" Type="http://schemas.openxmlformats.org/officeDocument/2006/relationships/notesSlide" Target="../notesSlides/notesSlide86.xml"/><Relationship Id="rId1" Type="http://schemas.openxmlformats.org/officeDocument/2006/relationships/slideLayout" Target="../slideLayouts/slideLayout51.xml"/><Relationship Id="rId6"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113.xml"/><Relationship Id="rId4" Type="http://schemas.openxmlformats.org/officeDocument/2006/relationships/slide" Target="slide112.xml"/></Relationships>
</file>

<file path=ppt/slides/_rels/slide1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7.xml"/><Relationship Id="rId1" Type="http://schemas.openxmlformats.org/officeDocument/2006/relationships/slideLayout" Target="../slideLayouts/slideLayout51.xml"/><Relationship Id="rId5" Type="http://schemas.openxmlformats.org/officeDocument/2006/relationships/image" Target="../media/image12.emf"/><Relationship Id="rId4" Type="http://schemas.openxmlformats.org/officeDocument/2006/relationships/package" Target="../embeddings/Microsoft_Excel_Worksheet2.xlsx"/></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5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5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5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5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5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5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5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51.xml"/></Relationships>
</file>

<file path=ppt/slides/_rels/slide120.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openxmlformats.org/officeDocument/2006/relationships/notesSlide" Target="../notesSlides/notesSlide96.xml"/><Relationship Id="rId1" Type="http://schemas.openxmlformats.org/officeDocument/2006/relationships/slideLayout" Target="../slideLayouts/slideLayout51.xml"/><Relationship Id="rId4" Type="http://schemas.openxmlformats.org/officeDocument/2006/relationships/image" Target="../media/image13.emf"/></Relationships>
</file>

<file path=ppt/slides/_rels/slide121.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openxmlformats.org/officeDocument/2006/relationships/notesSlide" Target="../notesSlides/notesSlide97.xml"/><Relationship Id="rId1" Type="http://schemas.openxmlformats.org/officeDocument/2006/relationships/slideLayout" Target="../slideLayouts/slideLayout51.xml"/><Relationship Id="rId4" Type="http://schemas.openxmlformats.org/officeDocument/2006/relationships/image" Target="../media/image13.emf"/></Relationships>
</file>

<file path=ppt/slides/_rels/slide122.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openxmlformats.org/officeDocument/2006/relationships/notesSlide" Target="../notesSlides/notesSlide98.xml"/><Relationship Id="rId1" Type="http://schemas.openxmlformats.org/officeDocument/2006/relationships/slideLayout" Target="../slideLayouts/slideLayout51.xml"/><Relationship Id="rId4" Type="http://schemas.openxmlformats.org/officeDocument/2006/relationships/image" Target="../media/image13.emf"/></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5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5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5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5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5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1.xml"/></Relationships>
</file>

<file path=ppt/slides/_rels/slide131.xml.rels><?xml version="1.0" encoding="UTF-8" standalone="yes"?>
<Relationships xmlns="http://schemas.openxmlformats.org/package/2006/relationships"><Relationship Id="rId3" Type="http://schemas.openxmlformats.org/officeDocument/2006/relationships/hyperlink" Target="https://www.gov.uk/government/collections/vat-import-one-stop-shop-scheme" TargetMode="External"/><Relationship Id="rId2" Type="http://schemas.openxmlformats.org/officeDocument/2006/relationships/notesSlide" Target="../notesSlides/notesSlide107.xml"/><Relationship Id="rId1" Type="http://schemas.openxmlformats.org/officeDocument/2006/relationships/slideLayout" Target="../slideLayouts/slideLayout5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51.xml"/></Relationships>
</file>

<file path=ppt/slides/_rels/slide133.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09.xml"/><Relationship Id="rId1" Type="http://schemas.openxmlformats.org/officeDocument/2006/relationships/slideLayout" Target="../slideLayouts/slideLayout51.xml"/><Relationship Id="rId5" Type="http://schemas.openxmlformats.org/officeDocument/2006/relationships/image" Target="../media/image15.png"/><Relationship Id="rId4" Type="http://schemas.openxmlformats.org/officeDocument/2006/relationships/image" Target="../media/image14.gif"/></Relationships>
</file>

<file path=ppt/slides/_rels/slide134.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0.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35.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1.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36.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2.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37.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13.xml"/><Relationship Id="rId1" Type="http://schemas.openxmlformats.org/officeDocument/2006/relationships/slideLayout" Target="../slideLayouts/slideLayout51.xml"/><Relationship Id="rId5" Type="http://schemas.openxmlformats.org/officeDocument/2006/relationships/image" Target="../media/image14.gif"/><Relationship Id="rId4" Type="http://schemas.openxmlformats.org/officeDocument/2006/relationships/hyperlink" Target="https://cds-jira.t.cit.corp.hmrc.gov.uk/secure/attachment/271531/271531_Northern+Ireland+GLC+COL+V2.xlsx" TargetMode="External"/></Relationships>
</file>

<file path=ppt/slides/_rels/slide138.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4.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39.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hyperlink" Target="https://cds-jira.t.cit.corp.hmrc.gov.uk/secure/attachment/271531/271531_Northern+Ireland+GLC+COL+V2.xlsx" TargetMode="External"/><Relationship Id="rId7" Type="http://schemas.openxmlformats.org/officeDocument/2006/relationships/package" Target="../embeddings/Microsoft_Excel_Worksheet6.xlsx"/><Relationship Id="rId2" Type="http://schemas.openxmlformats.org/officeDocument/2006/relationships/notesSlide" Target="../notesSlides/notesSlide115.xml"/><Relationship Id="rId1" Type="http://schemas.openxmlformats.org/officeDocument/2006/relationships/slideLayout" Target="../slideLayouts/slideLayout51.xml"/><Relationship Id="rId6" Type="http://schemas.openxmlformats.org/officeDocument/2006/relationships/image" Target="../media/image17.emf"/><Relationship Id="rId5" Type="http://schemas.openxmlformats.org/officeDocument/2006/relationships/package" Target="../embeddings/Microsoft_Excel_Worksheet5.xlsx"/><Relationship Id="rId4" Type="http://schemas.openxmlformats.org/officeDocument/2006/relationships/image" Target="../media/image14.gif"/></Relationships>
</file>

<file path=ppt/slides/_rels/slide140.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6.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1.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7.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2.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8.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3.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19.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4.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0.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51.xml"/></Relationships>
</file>

<file path=ppt/slides/_rels/slide146.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2.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7.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3.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8.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4.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49.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5.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50.xml.rels><?xml version="1.0" encoding="UTF-8" standalone="yes"?>
<Relationships xmlns="http://schemas.openxmlformats.org/package/2006/relationships"><Relationship Id="rId3" Type="http://schemas.openxmlformats.org/officeDocument/2006/relationships/hyperlink" Target="https://cds-jira.t.cit.corp.hmrc.gov.uk/secure/attachment/271531/271531_Northern+Ireland+GLC+COL+V2.xlsx" TargetMode="External"/><Relationship Id="rId2" Type="http://schemas.openxmlformats.org/officeDocument/2006/relationships/notesSlide" Target="../notesSlides/notesSlide126.xml"/><Relationship Id="rId1" Type="http://schemas.openxmlformats.org/officeDocument/2006/relationships/slideLayout" Target="../slideLayouts/slideLayout51.xml"/><Relationship Id="rId4" Type="http://schemas.openxmlformats.org/officeDocument/2006/relationships/image" Target="../media/image14.gif"/></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51.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51.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1.xml"/></Relationships>
</file>

<file path=ppt/slides/_rels/slide154.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openxmlformats.org/officeDocument/2006/relationships/notesSlide" Target="../notesSlides/notesSlide130.xml"/><Relationship Id="rId1" Type="http://schemas.openxmlformats.org/officeDocument/2006/relationships/slideLayout" Target="../slideLayouts/slideLayout51.xml"/><Relationship Id="rId6" Type="http://schemas.openxmlformats.org/officeDocument/2006/relationships/image" Target="../media/image20.emf"/><Relationship Id="rId5" Type="http://schemas.openxmlformats.org/officeDocument/2006/relationships/package" Target="../embeddings/Microsoft_Excel_Worksheet8.xlsx"/><Relationship Id="rId4" Type="http://schemas.openxmlformats.org/officeDocument/2006/relationships/image" Target="../media/image19.emf"/></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51.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5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51.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5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51.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51.xml"/></Relationships>
</file>

<file path=ppt/slides/_rels/slide161.xml.rels><?xml version="1.0" encoding="UTF-8" standalone="yes"?>
<Relationships xmlns="http://schemas.openxmlformats.org/package/2006/relationships"><Relationship Id="rId3" Type="http://schemas.openxmlformats.org/officeDocument/2006/relationships/slide" Target="slide162.xml"/><Relationship Id="rId7" Type="http://schemas.openxmlformats.org/officeDocument/2006/relationships/hyperlink" Target="mailto:SDST@hmrc.gov.uk" TargetMode="External"/><Relationship Id="rId2" Type="http://schemas.openxmlformats.org/officeDocument/2006/relationships/notesSlide" Target="../notesSlides/notesSlide137.xml"/><Relationship Id="rId1" Type="http://schemas.openxmlformats.org/officeDocument/2006/relationships/slideLayout" Target="../slideLayouts/slideLayout51.xml"/><Relationship Id="rId6"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165.xml"/><Relationship Id="rId4" Type="http://schemas.openxmlformats.org/officeDocument/2006/relationships/slide" Target="slide164.xml"/></Relationships>
</file>

<file path=ppt/slides/_rels/slide162.xml.rels><?xml version="1.0" encoding="UTF-8" standalone="yes"?>
<Relationships xmlns="http://schemas.openxmlformats.org/package/2006/relationships"><Relationship Id="rId3" Type="http://schemas.openxmlformats.org/officeDocument/2006/relationships/hyperlink" Target="https://www.gov.uk/government/publications/excise-notice-473-production-distribution-and-use-of-denatured-alcohol/excise-notice-473-production-distribution-and-use-of-denatured-alcohol" TargetMode="External"/><Relationship Id="rId2" Type="http://schemas.openxmlformats.org/officeDocument/2006/relationships/notesSlide" Target="../notesSlides/notesSlide138.xml"/><Relationship Id="rId1" Type="http://schemas.openxmlformats.org/officeDocument/2006/relationships/slideLayout" Target="../slideLayouts/slideLayout51.xml"/><Relationship Id="rId4" Type="http://schemas.openxmlformats.org/officeDocument/2006/relationships/hyperlink" Target="https://www.gov.uk/government/publications/excise-notice-64-spirits-in-imported-goods-remission-of-excise-duty/excise-notice-64-spirits-in-imported-goods-remission-of-excise-duty" TargetMode="External"/></Relationships>
</file>

<file path=ppt/slides/_rels/slide163.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openxmlformats.org/officeDocument/2006/relationships/notesSlide" Target="../notesSlides/notesSlide139.xml"/><Relationship Id="rId1" Type="http://schemas.openxmlformats.org/officeDocument/2006/relationships/slideLayout" Target="../slideLayouts/slideLayout51.xml"/><Relationship Id="rId4" Type="http://schemas.openxmlformats.org/officeDocument/2006/relationships/image" Target="../media/image21.emf"/></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51.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51.xml"/></Relationships>
</file>

<file path=ppt/slides/_rels/slide166.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openxmlformats.org/officeDocument/2006/relationships/notesSlide" Target="../notesSlides/notesSlide142.xml"/><Relationship Id="rId1" Type="http://schemas.openxmlformats.org/officeDocument/2006/relationships/slideLayout" Target="../slideLayouts/slideLayout51.xml"/><Relationship Id="rId4" Type="http://schemas.openxmlformats.org/officeDocument/2006/relationships/image" Target="../media/image22.emf"/></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5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51.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51.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51.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51.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51.xml"/></Relationships>
</file>

<file path=ppt/slides/_rels/slide173.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openxmlformats.org/officeDocument/2006/relationships/notesSlide" Target="../notesSlides/notesSlide149.xml"/><Relationship Id="rId1" Type="http://schemas.openxmlformats.org/officeDocument/2006/relationships/slideLayout" Target="../slideLayouts/slideLayout51.xml"/><Relationship Id="rId4" Type="http://schemas.openxmlformats.org/officeDocument/2006/relationships/image" Target="../media/image22.emf"/></Relationships>
</file>

<file path=ppt/slides/_rels/slide174.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openxmlformats.org/officeDocument/2006/relationships/notesSlide" Target="../notesSlides/notesSlide150.xml"/><Relationship Id="rId1" Type="http://schemas.openxmlformats.org/officeDocument/2006/relationships/slideLayout" Target="../slideLayouts/slideLayout51.xml"/><Relationship Id="rId4" Type="http://schemas.openxmlformats.org/officeDocument/2006/relationships/image" Target="../media/image22.emf"/></Relationships>
</file>

<file path=ppt/slides/_rels/slide175.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openxmlformats.org/officeDocument/2006/relationships/notesSlide" Target="../notesSlides/notesSlide151.xml"/><Relationship Id="rId1" Type="http://schemas.openxmlformats.org/officeDocument/2006/relationships/slideLayout" Target="../slideLayouts/slideLayout51.xml"/><Relationship Id="rId6" Type="http://schemas.openxmlformats.org/officeDocument/2006/relationships/image" Target="../media/image20.emf"/><Relationship Id="rId5" Type="http://schemas.openxmlformats.org/officeDocument/2006/relationships/package" Target="../embeddings/Microsoft_Excel_Worksheet8.xlsx"/><Relationship Id="rId4" Type="http://schemas.openxmlformats.org/officeDocument/2006/relationships/image" Target="../media/image19.emf"/></Relationships>
</file>

<file path=ppt/slides/_rels/slide176.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openxmlformats.org/officeDocument/2006/relationships/notesSlide" Target="../notesSlides/notesSlide152.xml"/><Relationship Id="rId1" Type="http://schemas.openxmlformats.org/officeDocument/2006/relationships/slideLayout" Target="../slideLayouts/slideLayout51.xml"/><Relationship Id="rId4" Type="http://schemas.openxmlformats.org/officeDocument/2006/relationships/image" Target="../media/image23.emf"/></Relationships>
</file>

<file path=ppt/slides/_rels/slide177.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openxmlformats.org/officeDocument/2006/relationships/notesSlide" Target="../notesSlides/notesSlide153.xml"/><Relationship Id="rId1" Type="http://schemas.openxmlformats.org/officeDocument/2006/relationships/slideLayout" Target="../slideLayouts/slideLayout51.xml"/><Relationship Id="rId4" Type="http://schemas.openxmlformats.org/officeDocument/2006/relationships/image" Target="../media/image23.emf"/></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51.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51.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51.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51.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51.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51.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51.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5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5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51.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51.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51.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51.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51.xml"/></Relationships>
</file>

<file path=ppt/slides/_rels/slide192.xml.rels><?xml version="1.0" encoding="UTF-8" standalone="yes"?>
<Relationships xmlns="http://schemas.openxmlformats.org/package/2006/relationships"><Relationship Id="rId8" Type="http://schemas.openxmlformats.org/officeDocument/2006/relationships/slide" Target="slide224.xml"/><Relationship Id="rId3" Type="http://schemas.openxmlformats.org/officeDocument/2006/relationships/slide" Target="slide193.xml"/><Relationship Id="rId7" Type="http://schemas.openxmlformats.org/officeDocument/2006/relationships/slide" Target="slide220.xml"/><Relationship Id="rId12" Type="http://schemas.openxmlformats.org/officeDocument/2006/relationships/hyperlink" Target="mailto:SDST@hmrc.gov.uk" TargetMode="External"/><Relationship Id="rId2" Type="http://schemas.openxmlformats.org/officeDocument/2006/relationships/notesSlide" Target="../notesSlides/notesSlide168.xml"/><Relationship Id="rId1" Type="http://schemas.openxmlformats.org/officeDocument/2006/relationships/slideLayout" Target="../slideLayouts/slideLayout18.xml"/><Relationship Id="rId6" Type="http://schemas.openxmlformats.org/officeDocument/2006/relationships/slide" Target="slide211.xml"/><Relationship Id="rId11"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210.xml"/><Relationship Id="rId10" Type="http://schemas.openxmlformats.org/officeDocument/2006/relationships/slide" Target="slide226.xml"/><Relationship Id="rId4" Type="http://schemas.openxmlformats.org/officeDocument/2006/relationships/slide" Target="slide209.xml"/><Relationship Id="rId9" Type="http://schemas.openxmlformats.org/officeDocument/2006/relationships/slide" Target="slide225.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8.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18.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18.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8.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8.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8.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8.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18.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8.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8.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8.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18.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8.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8.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8.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8.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8.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8.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8.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8.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8.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8.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8.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8.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18.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18.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8.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8.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8.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8.xml"/></Relationships>
</file>

<file path=ppt/slides/_rels/slide224.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openxmlformats.org/officeDocument/2006/relationships/notesSlide" Target="../notesSlides/notesSlide200.xml"/><Relationship Id="rId1" Type="http://schemas.openxmlformats.org/officeDocument/2006/relationships/slideLayout" Target="../slideLayouts/slideLayout18.xml"/><Relationship Id="rId4" Type="http://schemas.openxmlformats.org/officeDocument/2006/relationships/image" Target="../media/image24.emf"/></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8.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8.xml"/></Relationships>
</file>

<file path=ppt/slides/_rels/slide227.xml.rels><?xml version="1.0" encoding="UTF-8" standalone="yes"?>
<Relationships xmlns="http://schemas.openxmlformats.org/package/2006/relationships"><Relationship Id="rId3" Type="http://schemas.openxmlformats.org/officeDocument/2006/relationships/slide" Target="slide228.xml"/><Relationship Id="rId7" Type="http://schemas.openxmlformats.org/officeDocument/2006/relationships/hyperlink" Target="mailto:SDST@hmrc.gov.uk" TargetMode="External"/><Relationship Id="rId2" Type="http://schemas.openxmlformats.org/officeDocument/2006/relationships/notesSlide" Target="../notesSlides/notesSlide203.xml"/><Relationship Id="rId1" Type="http://schemas.openxmlformats.org/officeDocument/2006/relationships/slideLayout" Target="../slideLayouts/slideLayout18.xml"/><Relationship Id="rId6"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232.xml"/><Relationship Id="rId4" Type="http://schemas.openxmlformats.org/officeDocument/2006/relationships/slide" Target="slide229.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8.xml"/></Relationships>
</file>

<file path=ppt/slides/_rels/slide229.xml.rels><?xml version="1.0" encoding="UTF-8" standalone="yes"?>
<Relationships xmlns="http://schemas.openxmlformats.org/package/2006/relationships"><Relationship Id="rId3" Type="http://schemas.openxmlformats.org/officeDocument/2006/relationships/hyperlink" Target="https://www.gov.uk/eori/apply-for-eori#:~:text=Apply%20for%20an%20EORI%20number%20that%20starts%20with%20XI&amp;text=You%20must%20have%20applied%20for,number%20(if%20you%20have%20one)" TargetMode="External"/><Relationship Id="rId2" Type="http://schemas.openxmlformats.org/officeDocument/2006/relationships/notesSlide" Target="../notesSlides/notesSlide205.xml"/><Relationship Id="rId1" Type="http://schemas.openxmlformats.org/officeDocument/2006/relationships/slideLayout" Target="../slideLayouts/slideLayout18.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8.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8.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8.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8.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18.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8.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8.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18.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18.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8.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18.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18.xml"/></Relationships>
</file>

<file path=ppt/slides/_rels/slide242.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218.xml"/><Relationship Id="rId1" Type="http://schemas.openxmlformats.org/officeDocument/2006/relationships/slideLayout" Target="../slideLayouts/slideLayout18.xml"/><Relationship Id="rId6" Type="http://schemas.openxmlformats.org/officeDocument/2006/relationships/hyperlink" Target="mailto:SDST@hmrc.gov.uk" TargetMode="External"/><Relationship Id="rId5"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4" Type="http://schemas.openxmlformats.org/officeDocument/2006/relationships/slide" Target="slide245.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18.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8.xml"/></Relationships>
</file>

<file path=ppt/slides/_rels/slide245.xml.rels><?xml version="1.0" encoding="UTF-8" standalone="yes"?>
<Relationships xmlns="http://schemas.openxmlformats.org/package/2006/relationships"><Relationship Id="rId3" Type="http://schemas.openxmlformats.org/officeDocument/2006/relationships/hyperlink" Target="https://www.gov.uk/additional-commodity-code" TargetMode="External"/><Relationship Id="rId2" Type="http://schemas.openxmlformats.org/officeDocument/2006/relationships/notesSlide" Target="../notesSlides/notesSlide221.xml"/><Relationship Id="rId1" Type="http://schemas.openxmlformats.org/officeDocument/2006/relationships/slideLayout" Target="../slideLayouts/slideLayout18.xml"/></Relationships>
</file>

<file path=ppt/slides/_rels/slide24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openxmlformats.org/officeDocument/2006/relationships/notesSlide" Target="../notesSlides/notesSlide222.xml"/><Relationship Id="rId1" Type="http://schemas.openxmlformats.org/officeDocument/2006/relationships/slideLayout" Target="../slideLayouts/slideLayout18.xml"/><Relationship Id="rId4" Type="http://schemas.openxmlformats.org/officeDocument/2006/relationships/image" Target="../media/image25.emf"/></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18.xml"/></Relationships>
</file>

<file path=ppt/slides/_rels/slide248.xml.rels><?xml version="1.0" encoding="UTF-8" standalone="yes"?>
<Relationships xmlns="http://schemas.openxmlformats.org/package/2006/relationships"><Relationship Id="rId3" Type="http://schemas.openxmlformats.org/officeDocument/2006/relationships/slide" Target="slide249.xml"/><Relationship Id="rId2" Type="http://schemas.openxmlformats.org/officeDocument/2006/relationships/notesSlide" Target="../notesSlides/notesSlide224.xml"/><Relationship Id="rId1" Type="http://schemas.openxmlformats.org/officeDocument/2006/relationships/slideLayout" Target="../slideLayouts/slideLayout18.xml"/><Relationship Id="rId5" Type="http://schemas.openxmlformats.org/officeDocument/2006/relationships/hyperlink" Target="mailto:SDST@hmrc.gov.uk" TargetMode="External"/><Relationship Id="rId4"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18.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8.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8.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8.xml"/></Relationships>
</file>

<file path=ppt/slides/_rels/slide253.xml.rels><?xml version="1.0" encoding="UTF-8" standalone="yes"?>
<Relationships xmlns="http://schemas.openxmlformats.org/package/2006/relationships"><Relationship Id="rId3" Type="http://schemas.openxmlformats.org/officeDocument/2006/relationships/hyperlink" Target="https://www.gov.uk/guidance/how-to-work-out-your-alcohol-duty-rates-if-youre-eligible-for-small-producer-relief" TargetMode="External"/><Relationship Id="rId2" Type="http://schemas.openxmlformats.org/officeDocument/2006/relationships/notesSlide" Target="../notesSlides/notesSlide229.xml"/><Relationship Id="rId1" Type="http://schemas.openxmlformats.org/officeDocument/2006/relationships/slideLayout" Target="../slideLayouts/slideLayout18.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18.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8.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18.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0.xml.rels><?xml version="1.0" encoding="UTF-8" standalone="yes"?>
<Relationships xmlns="http://schemas.openxmlformats.org/package/2006/relationships"><Relationship Id="rId2" Type="http://schemas.openxmlformats.org/officeDocument/2006/relationships/hyperlink" Target="https://www.gov.uk/guidance/how-to-work-out-your-alcohol-duty-rates-if-youre-eligible-for-small-producer-relief" TargetMode="External"/><Relationship Id="rId1" Type="http://schemas.openxmlformats.org/officeDocument/2006/relationships/slideLayout" Target="../slideLayouts/slideLayout1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7.xml.rels><?xml version="1.0" encoding="UTF-8" standalone="yes"?>
<Relationships xmlns="http://schemas.openxmlformats.org/package/2006/relationships"><Relationship Id="rId2" Type="http://schemas.openxmlformats.org/officeDocument/2006/relationships/hyperlink" Target="https://www.gov.uk/guidance/how-to-work-out-your-alcohol-duty-rates-if-youre-eligible-for-small-producer-relief" TargetMode="External"/><Relationship Id="rId1" Type="http://schemas.openxmlformats.org/officeDocument/2006/relationships/slideLayout" Target="../slideLayouts/slideLayout1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1.xml.rels><?xml version="1.0" encoding="UTF-8" standalone="yes"?>
<Relationships xmlns="http://schemas.openxmlformats.org/package/2006/relationships"><Relationship Id="rId8" Type="http://schemas.openxmlformats.org/officeDocument/2006/relationships/hyperlink" Target="mailto:SDST@hmrc.gov.uk" TargetMode="External"/><Relationship Id="rId3" Type="http://schemas.openxmlformats.org/officeDocument/2006/relationships/slide" Target="slide272.xml"/><Relationship Id="rId7"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2" Type="http://schemas.openxmlformats.org/officeDocument/2006/relationships/notesSlide" Target="../notesSlides/notesSlide233.xml"/><Relationship Id="rId1" Type="http://schemas.openxmlformats.org/officeDocument/2006/relationships/slideLayout" Target="../slideLayouts/slideLayout18.xml"/><Relationship Id="rId6" Type="http://schemas.openxmlformats.org/officeDocument/2006/relationships/slide" Target="slide278.xml"/><Relationship Id="rId5" Type="http://schemas.openxmlformats.org/officeDocument/2006/relationships/slide" Target="slide276.xml"/><Relationship Id="rId4" Type="http://schemas.openxmlformats.org/officeDocument/2006/relationships/slide" Target="slide275.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8.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8.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18.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8.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8.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8.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8.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18.xml"/></Relationships>
</file>

<file path=ppt/slides/_rels/slide280.xml.rels><?xml version="1.0" encoding="UTF-8" standalone="yes"?>
<Relationships xmlns="http://schemas.openxmlformats.org/package/2006/relationships"><Relationship Id="rId3" Type="http://schemas.openxmlformats.org/officeDocument/2006/relationships/slide" Target="slide281.xml"/><Relationship Id="rId7" Type="http://schemas.openxmlformats.org/officeDocument/2006/relationships/hyperlink" Target="mailto:SDST@hmrc.gov.uk" TargetMode="External"/><Relationship Id="rId2" Type="http://schemas.openxmlformats.org/officeDocument/2006/relationships/notesSlide" Target="../notesSlides/notesSlide242.xml"/><Relationship Id="rId1" Type="http://schemas.openxmlformats.org/officeDocument/2006/relationships/slideLayout" Target="../slideLayouts/slideLayout18.xml"/><Relationship Id="rId6"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286.xml"/><Relationship Id="rId4" Type="http://schemas.openxmlformats.org/officeDocument/2006/relationships/slide" Target="slide284.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18.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18.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18.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18.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18.xml"/></Relationships>
</file>

<file path=ppt/slides/_rels/slide286.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openxmlformats.org/officeDocument/2006/relationships/notesSlide" Target="../notesSlides/notesSlide248.xml"/><Relationship Id="rId1" Type="http://schemas.openxmlformats.org/officeDocument/2006/relationships/slideLayout" Target="../slideLayouts/slideLayout18.xml"/><Relationship Id="rId4" Type="http://schemas.openxmlformats.org/officeDocument/2006/relationships/image" Target="../media/image26.emf"/></Relationships>
</file>

<file path=ppt/slides/_rels/slide287.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openxmlformats.org/officeDocument/2006/relationships/notesSlide" Target="../notesSlides/notesSlide249.xml"/><Relationship Id="rId1" Type="http://schemas.openxmlformats.org/officeDocument/2006/relationships/slideLayout" Target="../slideLayouts/slideLayout18.xml"/><Relationship Id="rId4" Type="http://schemas.openxmlformats.org/officeDocument/2006/relationships/image" Target="../media/image27.emf"/></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18.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18.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18.xml"/></Relationships>
</file>

<file path=ppt/slides/_rels/slide291.xml.rels><?xml version="1.0" encoding="UTF-8" standalone="yes"?>
<Relationships xmlns="http://schemas.openxmlformats.org/package/2006/relationships"><Relationship Id="rId3" Type="http://schemas.openxmlformats.org/officeDocument/2006/relationships/slide" Target="slide292.xml"/><Relationship Id="rId2" Type="http://schemas.openxmlformats.org/officeDocument/2006/relationships/notesSlide" Target="../notesSlides/notesSlide253.xml"/><Relationship Id="rId1" Type="http://schemas.openxmlformats.org/officeDocument/2006/relationships/slideLayout" Target="../slideLayouts/slideLayout18.xml"/><Relationship Id="rId5" Type="http://schemas.openxmlformats.org/officeDocument/2006/relationships/hyperlink" Target="mailto:SDST@hmrc.gov.uk" TargetMode="External"/><Relationship Id="rId4"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8.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8.xml"/></Relationships>
</file>

<file path=ppt/slides/_rels/slide294.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slide" Target="slide295.xml"/><Relationship Id="rId7" Type="http://schemas.openxmlformats.org/officeDocument/2006/relationships/slide" Target="slide303.xml"/><Relationship Id="rId2" Type="http://schemas.openxmlformats.org/officeDocument/2006/relationships/notesSlide" Target="../notesSlides/notesSlide256.xml"/><Relationship Id="rId1" Type="http://schemas.openxmlformats.org/officeDocument/2006/relationships/slideLayout" Target="../slideLayouts/slideLayout18.xml"/><Relationship Id="rId6" Type="http://schemas.openxmlformats.org/officeDocument/2006/relationships/slide" Target="slide300.xml"/><Relationship Id="rId5" Type="http://schemas.openxmlformats.org/officeDocument/2006/relationships/slide" Target="slide299.xml"/><Relationship Id="rId10" Type="http://schemas.openxmlformats.org/officeDocument/2006/relationships/hyperlink" Target="mailto:SDST@hmrc.gov.uk" TargetMode="External"/><Relationship Id="rId4" Type="http://schemas.openxmlformats.org/officeDocument/2006/relationships/slide" Target="slide298.xml"/><Relationship Id="rId9"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8.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8.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8.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8.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8.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8.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8.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8.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8.xml"/></Relationships>
</file>

<file path=ppt/slides/_rels/slide304.xml.rels><?xml version="1.0" encoding="UTF-8" standalone="yes"?>
<Relationships xmlns="http://schemas.openxmlformats.org/package/2006/relationships"><Relationship Id="rId3" Type="http://schemas.openxmlformats.org/officeDocument/2006/relationships/hyperlink" Target="https://www.gov.uk/government/publications/notice-252-valuation-of-imported-goods-for-customs-purposes-vat-and-trade-statistics/notice-252-valuation-of-imported-goods-for-customs-purposes-vat-and-trade-statistics#method-4" TargetMode="External"/><Relationship Id="rId2" Type="http://schemas.openxmlformats.org/officeDocument/2006/relationships/notesSlide" Target="../notesSlides/notesSlide266.xml"/><Relationship Id="rId1" Type="http://schemas.openxmlformats.org/officeDocument/2006/relationships/slideLayout" Target="../slideLayouts/slideLayout18.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8.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8.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8.xml"/></Relationships>
</file>

<file path=ppt/slides/_rels/slide308.xml.rels><?xml version="1.0" encoding="UTF-8" standalone="yes"?>
<Relationships xmlns="http://schemas.openxmlformats.org/package/2006/relationships"><Relationship Id="rId3" Type="http://schemas.openxmlformats.org/officeDocument/2006/relationships/slide" Target="slide309.xml"/><Relationship Id="rId2" Type="http://schemas.openxmlformats.org/officeDocument/2006/relationships/notesSlide" Target="../notesSlides/notesSlide270.xml"/><Relationship Id="rId1" Type="http://schemas.openxmlformats.org/officeDocument/2006/relationships/slideLayout" Target="../slideLayouts/slideLayout18.xml"/><Relationship Id="rId5" Type="http://schemas.openxmlformats.org/officeDocument/2006/relationships/hyperlink" Target="mailto:SDST@hmrc.gov.uk" TargetMode="External"/><Relationship Id="rId4"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18.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8.xml"/></Relationships>
</file>

<file path=ppt/slides/_rels/slide311.xml.rels><?xml version="1.0" encoding="UTF-8" standalone="yes"?>
<Relationships xmlns="http://schemas.openxmlformats.org/package/2006/relationships"><Relationship Id="rId3" Type="http://schemas.openxmlformats.org/officeDocument/2006/relationships/slide" Target="slide312.xml"/><Relationship Id="rId2" Type="http://schemas.openxmlformats.org/officeDocument/2006/relationships/notesSlide" Target="../notesSlides/notesSlide273.xml"/><Relationship Id="rId1" Type="http://schemas.openxmlformats.org/officeDocument/2006/relationships/slideLayout" Target="../slideLayouts/slideLayout18.xml"/><Relationship Id="rId5" Type="http://schemas.openxmlformats.org/officeDocument/2006/relationships/hyperlink" Target="mailto:SDST@hmrc.gov.uk" TargetMode="External"/><Relationship Id="rId4"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8.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8.xml"/></Relationships>
</file>

<file path=ppt/slides/_rels/slide314.xml.rels><?xml version="1.0" encoding="UTF-8" standalone="yes"?>
<Relationships xmlns="http://schemas.openxmlformats.org/package/2006/relationships"><Relationship Id="rId8" Type="http://schemas.openxmlformats.org/officeDocument/2006/relationships/hyperlink" Target="mailto:SDST@hmrc.gov.uk" TargetMode="External"/><Relationship Id="rId3" Type="http://schemas.openxmlformats.org/officeDocument/2006/relationships/slide" Target="slide315.xml"/><Relationship Id="rId7"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2" Type="http://schemas.openxmlformats.org/officeDocument/2006/relationships/notesSlide" Target="../notesSlides/notesSlide276.xml"/><Relationship Id="rId1" Type="http://schemas.openxmlformats.org/officeDocument/2006/relationships/slideLayout" Target="../slideLayouts/slideLayout18.xml"/><Relationship Id="rId6" Type="http://schemas.openxmlformats.org/officeDocument/2006/relationships/slide" Target="slide329.xml"/><Relationship Id="rId5" Type="http://schemas.openxmlformats.org/officeDocument/2006/relationships/slide" Target="slide328.xml"/><Relationship Id="rId4" Type="http://schemas.openxmlformats.org/officeDocument/2006/relationships/slide" Target="slide319.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8.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8.xml"/></Relationships>
</file>

<file path=ppt/slides/_rels/slide31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79.xml"/><Relationship Id="rId1" Type="http://schemas.openxmlformats.org/officeDocument/2006/relationships/slideLayout" Target="../slideLayouts/slideLayout18.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8.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18.xml"/></Relationships>
</file>

<file path=ppt/slides/_rels/slide320.xml.rels><?xml version="1.0" encoding="UTF-8" standalone="yes"?>
<Relationships xmlns="http://schemas.openxmlformats.org/package/2006/relationships"><Relationship Id="rId3" Type="http://schemas.openxmlformats.org/officeDocument/2006/relationships/hyperlink" Target="https://www.gov.uk/government/publications/notice-252-valuation-of-imported-goods-for-customs-purposes-vat-and-trade-statistics/notice-252-valuation-of-imported-goods-for-customs-purposes-vat-and-trade-statistics#method-4" TargetMode="External"/><Relationship Id="rId2" Type="http://schemas.openxmlformats.org/officeDocument/2006/relationships/notesSlide" Target="../notesSlides/notesSlide282.xml"/><Relationship Id="rId1" Type="http://schemas.openxmlformats.org/officeDocument/2006/relationships/slideLayout" Target="../slideLayouts/slideLayout18.xml"/></Relationships>
</file>

<file path=ppt/slides/_rels/slide321.xml.rels><?xml version="1.0" encoding="UTF-8" standalone="yes"?>
<Relationships xmlns="http://schemas.openxmlformats.org/package/2006/relationships"><Relationship Id="rId3" Type="http://schemas.openxmlformats.org/officeDocument/2006/relationships/slide" Target="slide320.xml"/><Relationship Id="rId2" Type="http://schemas.openxmlformats.org/officeDocument/2006/relationships/notesSlide" Target="../notesSlides/notesSlide283.xml"/><Relationship Id="rId1" Type="http://schemas.openxmlformats.org/officeDocument/2006/relationships/slideLayout" Target="../slideLayouts/slideLayout18.xml"/></Relationships>
</file>

<file path=ppt/slides/_rels/slide322.xml.rels><?xml version="1.0" encoding="UTF-8" standalone="yes"?>
<Relationships xmlns="http://schemas.openxmlformats.org/package/2006/relationships"><Relationship Id="rId3" Type="http://schemas.openxmlformats.org/officeDocument/2006/relationships/slide" Target="slide320.xml"/><Relationship Id="rId2" Type="http://schemas.openxmlformats.org/officeDocument/2006/relationships/notesSlide" Target="../notesSlides/notesSlide284.xml"/><Relationship Id="rId1" Type="http://schemas.openxmlformats.org/officeDocument/2006/relationships/slideLayout" Target="../slideLayouts/slideLayout18.xml"/><Relationship Id="rId4" Type="http://schemas.openxmlformats.org/officeDocument/2006/relationships/image" Target="../media/image28.png"/></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18.xml"/></Relationships>
</file>

<file path=ppt/slides/_rels/slide32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86.xml"/><Relationship Id="rId1" Type="http://schemas.openxmlformats.org/officeDocument/2006/relationships/slideLayout" Target="../slideLayouts/slideLayout18.xml"/></Relationships>
</file>

<file path=ppt/slides/_rels/slide325.xml.rels><?xml version="1.0" encoding="UTF-8" standalone="yes"?>
<Relationships xmlns="http://schemas.openxmlformats.org/package/2006/relationships"><Relationship Id="rId3" Type="http://schemas.openxmlformats.org/officeDocument/2006/relationships/hyperlink" Target="https://www.gov.uk/government/publications/notice-252-valuation-of-imported-goods-for-customs-purposes-vat-and-trade-statistics/notice-252-valuation-of-imported-goods-for-customs-purposes-vat-and-trade-statistics#method-4" TargetMode="External"/><Relationship Id="rId2" Type="http://schemas.openxmlformats.org/officeDocument/2006/relationships/notesSlide" Target="../notesSlides/notesSlide287.xml"/><Relationship Id="rId1" Type="http://schemas.openxmlformats.org/officeDocument/2006/relationships/slideLayout" Target="../slideLayouts/slideLayout18.xml"/><Relationship Id="rId4" Type="http://schemas.openxmlformats.org/officeDocument/2006/relationships/slide" Target="slide321.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18.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18.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18.xml"/></Relationships>
</file>

<file path=ppt/slides/_rels/slide329.xml.rels><?xml version="1.0" encoding="UTF-8" standalone="yes"?>
<Relationships xmlns="http://schemas.openxmlformats.org/package/2006/relationships"><Relationship Id="rId3" Type="http://schemas.openxmlformats.org/officeDocument/2006/relationships/hyperlink" Target="https://www.gov.uk/guidance/apply-to-import-multiple-low-value-parcels-on-one-declaration--2" TargetMode="External"/><Relationship Id="rId2" Type="http://schemas.openxmlformats.org/officeDocument/2006/relationships/notesSlide" Target="../notesSlides/notesSlide291.xml"/><Relationship Id="rId1" Type="http://schemas.openxmlformats.org/officeDocument/2006/relationships/slideLayout" Target="../slideLayouts/slideLayout18.xml"/></Relationships>
</file>

<file path=ppt/slides/_rels/slide330.xml.rels><?xml version="1.0" encoding="UTF-8" standalone="yes"?>
<Relationships xmlns="http://schemas.openxmlformats.org/package/2006/relationships"><Relationship Id="rId8" Type="http://schemas.openxmlformats.org/officeDocument/2006/relationships/slide" Target="slide346.xml"/><Relationship Id="rId13" Type="http://schemas.openxmlformats.org/officeDocument/2006/relationships/hyperlink" Target="mailto:SDST@hmrc.gov.uk" TargetMode="External"/><Relationship Id="rId3" Type="http://schemas.openxmlformats.org/officeDocument/2006/relationships/slide" Target="slide331.xml"/><Relationship Id="rId7" Type="http://schemas.openxmlformats.org/officeDocument/2006/relationships/slide" Target="slide345.xml"/><Relationship Id="rId12"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2" Type="http://schemas.openxmlformats.org/officeDocument/2006/relationships/notesSlide" Target="../notesSlides/notesSlide292.xml"/><Relationship Id="rId1" Type="http://schemas.openxmlformats.org/officeDocument/2006/relationships/slideLayout" Target="../slideLayouts/slideLayout18.xml"/><Relationship Id="rId6" Type="http://schemas.openxmlformats.org/officeDocument/2006/relationships/slide" Target="slide344.xml"/><Relationship Id="rId11" Type="http://schemas.openxmlformats.org/officeDocument/2006/relationships/slide" Target="slide349.xml"/><Relationship Id="rId5" Type="http://schemas.openxmlformats.org/officeDocument/2006/relationships/slide" Target="slide338.xml"/><Relationship Id="rId10" Type="http://schemas.openxmlformats.org/officeDocument/2006/relationships/slide" Target="slide348.xml"/><Relationship Id="rId4" Type="http://schemas.openxmlformats.org/officeDocument/2006/relationships/slide" Target="slide335.xml"/><Relationship Id="rId9" Type="http://schemas.openxmlformats.org/officeDocument/2006/relationships/slide" Target="slide347.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18.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18.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18.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18.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18.xml"/></Relationships>
</file>

<file path=ppt/slides/_rels/slide336.xml.rels><?xml version="1.0" encoding="UTF-8" standalone="yes"?>
<Relationships xmlns="http://schemas.openxmlformats.org/package/2006/relationships"><Relationship Id="rId3" Type="http://schemas.openxmlformats.org/officeDocument/2006/relationships/hyperlink" Target="https://www.gov.uk/government/publications/appendix-2-c21i-de-111-additional-procedure-codes/additional-procedure-code-1-series-other-codes-applicable-to-more-than-one-procedure-code#c-continental-shelf" TargetMode="External"/><Relationship Id="rId2" Type="http://schemas.openxmlformats.org/officeDocument/2006/relationships/notesSlide" Target="../notesSlides/notesSlide298.xml"/><Relationship Id="rId1" Type="http://schemas.openxmlformats.org/officeDocument/2006/relationships/slideLayout" Target="../slideLayouts/slideLayout18.xml"/><Relationship Id="rId4" Type="http://schemas.openxmlformats.org/officeDocument/2006/relationships/hyperlink" Target="https://www.gov.uk/government/publications/appendix-1-inventory-imports-de-110-requested-and-previous-procedure-codes/requested-procedure-000x-customs-clearance-request-for-imports-appendix-1a" TargetMode="External"/></Relationships>
</file>

<file path=ppt/slides/_rels/slide33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99.xml"/><Relationship Id="rId1" Type="http://schemas.openxmlformats.org/officeDocument/2006/relationships/slideLayout" Target="../slideLayouts/slideLayout18.xml"/></Relationships>
</file>

<file path=ppt/slides/_rels/slide338.xml.rels><?xml version="1.0" encoding="UTF-8" standalone="yes"?>
<Relationships xmlns="http://schemas.openxmlformats.org/package/2006/relationships"><Relationship Id="rId3" Type="http://schemas.openxmlformats.org/officeDocument/2006/relationships/hyperlink" Target="https://www.gov.uk/government/publications/uk-trade-tariff-excise-duties-reliefs-drawbacks-and-allowances/uk-trade-tariff-excise-duties-reliefs-drawbacks-and-allowances" TargetMode="External"/><Relationship Id="rId2" Type="http://schemas.openxmlformats.org/officeDocument/2006/relationships/notesSlide" Target="../notesSlides/notesSlide300.xml"/><Relationship Id="rId1" Type="http://schemas.openxmlformats.org/officeDocument/2006/relationships/slideLayout" Target="../slideLayouts/slideLayout18.xml"/></Relationships>
</file>

<file path=ppt/slides/_rels/slide339.xml.rels><?xml version="1.0" encoding="UTF-8" standalone="yes"?>
<Relationships xmlns="http://schemas.openxmlformats.org/package/2006/relationships"><Relationship Id="rId3" Type="http://schemas.openxmlformats.org/officeDocument/2006/relationships/hyperlink" Target="https://www.gov.uk/trade-tariff" TargetMode="External"/><Relationship Id="rId2" Type="http://schemas.openxmlformats.org/officeDocument/2006/relationships/notesSlide" Target="../notesSlides/notesSlide301.xml"/><Relationship Id="rId1" Type="http://schemas.openxmlformats.org/officeDocument/2006/relationships/slideLayout" Target="../slideLayouts/slideLayout18.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18.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18.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18.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18.xml"/></Relationships>
</file>

<file path=ppt/slides/_rels/slide344.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openxmlformats.org/officeDocument/2006/relationships/notesSlide" Target="../notesSlides/notesSlide306.xml"/><Relationship Id="rId1" Type="http://schemas.openxmlformats.org/officeDocument/2006/relationships/slideLayout" Target="../slideLayouts/slideLayout18.xml"/><Relationship Id="rId4" Type="http://schemas.openxmlformats.org/officeDocument/2006/relationships/image" Target="../media/image29.emf"/></Relationships>
</file>

<file path=ppt/slides/_rels/slide345.xml.rels><?xml version="1.0" encoding="UTF-8" standalone="yes"?>
<Relationships xmlns="http://schemas.openxmlformats.org/package/2006/relationships"><Relationship Id="rId3" Type="http://schemas.openxmlformats.org/officeDocument/2006/relationships/hyperlink" Target="https://www.gov.uk/government/collections/uk-trade-tariff-volume-3-for-cds--2" TargetMode="External"/><Relationship Id="rId2" Type="http://schemas.openxmlformats.org/officeDocument/2006/relationships/notesSlide" Target="../notesSlides/notesSlide307.xml"/><Relationship Id="rId1" Type="http://schemas.openxmlformats.org/officeDocument/2006/relationships/slideLayout" Target="../slideLayouts/slideLayout18.xml"/><Relationship Id="rId4" Type="http://schemas.openxmlformats.org/officeDocument/2006/relationships/hyperlink" Target="https://developer.service.hmrc.gov.uk/guides/customs-declarations-end-to-end-service-guide/#end-to-end-user-journeys" TargetMode="Externa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18.xml"/></Relationships>
</file>

<file path=ppt/slides/_rels/slide347.xml.rels><?xml version="1.0" encoding="UTF-8" standalone="yes"?>
<Relationships xmlns="http://schemas.openxmlformats.org/package/2006/relationships"><Relationship Id="rId3" Type="http://schemas.openxmlformats.org/officeDocument/2006/relationships/hyperlink" Target="https://www.gov.uk/government/publications/appendix-2-de-111-additional-procedure-codes-of-the-customs-declaration-service-cds/additional-procedure-code-f-series-appendix-2a#f45-exemption-from-value-added-tax-on-the-final-importation-of-certain-goods-council-directive-2009132ec-" TargetMode="External"/><Relationship Id="rId2" Type="http://schemas.openxmlformats.org/officeDocument/2006/relationships/notesSlide" Target="../notesSlides/notesSlide309.xml"/><Relationship Id="rId1" Type="http://schemas.openxmlformats.org/officeDocument/2006/relationships/slideLayout" Target="../slideLayouts/slideLayout18.xml"/><Relationship Id="rId5" Type="http://schemas.openxmlformats.org/officeDocument/2006/relationships/hyperlink" Target="https://www.gov.uk/government/publications/uk-trade-tariff-cds-volume-3-export-declaration-completion-guide/group-7-transport-information-modes-means-and-equipment" TargetMode="External"/><Relationship Id="rId4" Type="http://schemas.openxmlformats.org/officeDocument/2006/relationships/hyperlink" Target="https://www.gov.uk/government/publications/cds-uk-trade-tariff-volume-3-import-declaration-completion-guide/group-7-transport-information-modes-means-and-equipment#data-element-7-5" TargetMode="Externa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18.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18.xml"/></Relationships>
</file>

<file path=ppt/slides/_rels/slide350.xml.rels><?xml version="1.0" encoding="UTF-8" standalone="yes"?>
<Relationships xmlns="http://schemas.openxmlformats.org/package/2006/relationships"><Relationship Id="rId3" Type="http://schemas.openxmlformats.org/officeDocument/2006/relationships/slide" Target="slide351.xml"/><Relationship Id="rId7" Type="http://schemas.openxmlformats.org/officeDocument/2006/relationships/hyperlink" Target="mailto:SDST@hmrc.gov.uk" TargetMode="External"/><Relationship Id="rId2" Type="http://schemas.openxmlformats.org/officeDocument/2006/relationships/notesSlide" Target="../notesSlides/notesSlide312.xml"/><Relationship Id="rId1" Type="http://schemas.openxmlformats.org/officeDocument/2006/relationships/slideLayout" Target="../slideLayouts/slideLayout18.xml"/><Relationship Id="rId6"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5" Type="http://schemas.openxmlformats.org/officeDocument/2006/relationships/slide" Target="slide361.xml"/><Relationship Id="rId4" Type="http://schemas.openxmlformats.org/officeDocument/2006/relationships/slide" Target="slide354.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8.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18.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18.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18.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18.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18.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18.xml"/></Relationships>
</file>

<file path=ppt/slides/_rels/slide35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20.xml"/><Relationship Id="rId1" Type="http://schemas.openxmlformats.org/officeDocument/2006/relationships/slideLayout" Target="../slideLayouts/slideLayout18.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8.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18.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18.xml"/></Relationships>
</file>

<file path=ppt/slides/_rels/slide362.xml.rels><?xml version="1.0" encoding="UTF-8" standalone="yes"?>
<Relationships xmlns="http://schemas.openxmlformats.org/package/2006/relationships"><Relationship Id="rId3" Type="http://schemas.openxmlformats.org/officeDocument/2006/relationships/hyperlink" Target="https://www.gov.uk/government/collections/uk-trade-tariff-volume-3-for-cds--2" TargetMode="External"/><Relationship Id="rId2" Type="http://schemas.openxmlformats.org/officeDocument/2006/relationships/notesSlide" Target="../notesSlides/notesSlide324.xml"/><Relationship Id="rId1" Type="http://schemas.openxmlformats.org/officeDocument/2006/relationships/slideLayout" Target="../slideLayouts/slideLayout18.xml"/><Relationship Id="rId4" Type="http://schemas.openxmlformats.org/officeDocument/2006/relationships/hyperlink" Target="https://developer.service.hmrc.gov.uk/guides/customs-declarations-end-to-end-service-guide/#technical-documentation" TargetMode="External"/></Relationships>
</file>

<file path=ppt/slides/_rels/slide363.xml.rels><?xml version="1.0" encoding="UTF-8" standalone="yes"?>
<Relationships xmlns="http://schemas.openxmlformats.org/package/2006/relationships"><Relationship Id="rId8" Type="http://schemas.openxmlformats.org/officeDocument/2006/relationships/slide" Target="slide375.xml"/><Relationship Id="rId3" Type="http://schemas.openxmlformats.org/officeDocument/2006/relationships/slide" Target="slide364.xml"/><Relationship Id="rId7" Type="http://schemas.openxmlformats.org/officeDocument/2006/relationships/slide" Target="slide366.xml"/><Relationship Id="rId2" Type="http://schemas.openxmlformats.org/officeDocument/2006/relationships/notesSlide" Target="../notesSlides/notesSlide325.xml"/><Relationship Id="rId1" Type="http://schemas.openxmlformats.org/officeDocument/2006/relationships/slideLayout" Target="../slideLayouts/slideLayout18.xml"/><Relationship Id="rId6" Type="http://schemas.openxmlformats.org/officeDocument/2006/relationships/slide" Target="slide383.xml"/><Relationship Id="rId11" Type="http://schemas.openxmlformats.org/officeDocument/2006/relationships/hyperlink" Target="mailto:SDST@hmrc.gov.uk" TargetMode="External"/><Relationship Id="rId5" Type="http://schemas.openxmlformats.org/officeDocument/2006/relationships/slide" Target="slide378.xml"/><Relationship Id="rId10" Type="http://schemas.openxmlformats.org/officeDocument/2006/relationships/hyperlink" Target="https://eur03.safelinks.protection.outlook.com/?url=https%3A%2F%2Fdeveloper.service.hmrc.gov.uk%2Fguides%2Fcustoms-declarations-end-to-end-service-guide%2F%23technical-documentation&amp;data=04|01|sarah.aron%40hmrc.gov.uk|ecef0b5e19524c32fce508d9d77c66c8|ac52f73cfd1a4a9a8e7a4a248f3139e1|0|0|637777751557096537|Unknown|TWFpbGZsb3d8eyJWIjoiMC4wLjAwMDAiLCJQIjoiV2luMzIiLCJBTiI6Ik1haWwiLCJXVCI6Mn0%3D|3000&amp;sdata=OkwBp1BJlAXfdB5ZAW83oE694MpmaVWyrlFd%2F%2FnAADk%3D&amp;reserved=0" TargetMode="External"/><Relationship Id="rId4" Type="http://schemas.openxmlformats.org/officeDocument/2006/relationships/slide" Target="slide372.xml"/><Relationship Id="rId9" Type="http://schemas.openxmlformats.org/officeDocument/2006/relationships/slide" Target="slide381.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18.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18.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18.xml"/></Relationships>
</file>

<file path=ppt/slides/_rels/slide367.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18.xml"/></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18.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18.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18.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18.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18.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18.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18.xml"/></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18.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18.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18.xml"/></Relationships>
</file>

<file path=ppt/slides/_rels/slide378.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18.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18.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18.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18.xml"/></Relationships>
</file>

<file path=ppt/slides/_rels/slide38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44.xml"/><Relationship Id="rId1" Type="http://schemas.openxmlformats.org/officeDocument/2006/relationships/slideLayout" Target="../slideLayouts/slideLayout18.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18.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18.xml"/></Relationships>
</file>

<file path=ppt/slides/_rels/slide385.xml.rels><?xml version="1.0" encoding="UTF-8" standalone="yes"?>
<Relationships xmlns="http://schemas.openxmlformats.org/package/2006/relationships"><Relationship Id="rId3" Type="http://schemas.openxmlformats.org/officeDocument/2006/relationships/hyperlink" Target="https://www.gov.uk/guidance/apply-to-import-multiple-low-value-parcels-on-one-declaration--2" TargetMode="External"/><Relationship Id="rId2" Type="http://schemas.openxmlformats.org/officeDocument/2006/relationships/notesSlide" Target="../notesSlides/notesSlide347.xml"/><Relationship Id="rId1" Type="http://schemas.openxmlformats.org/officeDocument/2006/relationships/slideLayout" Target="../slideLayouts/slideLayout18.xml"/></Relationships>
</file>

<file path=ppt/slides/_rels/slide38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48.xml"/><Relationship Id="rId1" Type="http://schemas.openxmlformats.org/officeDocument/2006/relationships/slideLayout" Target="../slideLayouts/slideLayout18.xml"/></Relationships>
</file>

<file path=ppt/slides/_rels/slide38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49.xml"/><Relationship Id="rId1" Type="http://schemas.openxmlformats.org/officeDocument/2006/relationships/slideLayout" Target="../slideLayouts/slideLayout18.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18.xml"/></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18.xml"/></Relationships>
</file>

<file path=ppt/slides/_rels/slide390.xml.rels><?xml version="1.0" encoding="UTF-8" standalone="yes"?>
<Relationships xmlns="http://schemas.openxmlformats.org/package/2006/relationships"><Relationship Id="rId3" Type="http://schemas.openxmlformats.org/officeDocument/2006/relationships/slide" Target="slide391.xml"/><Relationship Id="rId2" Type="http://schemas.openxmlformats.org/officeDocument/2006/relationships/notesSlide" Target="../notesSlides/notesSlide352.xml"/><Relationship Id="rId1" Type="http://schemas.openxmlformats.org/officeDocument/2006/relationships/slideLayout" Target="../slideLayouts/slideLayout18.xml"/><Relationship Id="rId4" Type="http://schemas.openxmlformats.org/officeDocument/2006/relationships/slide" Target="slide392.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18.xml"/></Relationships>
</file>

<file path=ppt/slides/_rels/slide392.xml.rels><?xml version="1.0" encoding="UTF-8" standalone="yes"?>
<Relationships xmlns="http://schemas.openxmlformats.org/package/2006/relationships"><Relationship Id="rId3" Type="http://schemas.openxmlformats.org/officeDocument/2006/relationships/hyperlink" Target="https://eur03.safelinks.protection.outlook.com/?url=http%3A%2F%2Fgov.uk%2F&amp;data=04|01|suman.sachdev%40hmrc.gov.uk|42363fd3a050414ca71708d8da7cc53f|ac52f73cfd1a4a9a8e7a4a248f3139e1|0|0|637499576708521736|Unknown|TWFpbGZsb3d8eyJWIjoiMC4wLjAwMDAiLCJQIjoiV2luMzIiLCJBTiI6Ik1haWwiLCJXVCI6Mn0%3D|1000&amp;sdata=jU209%2F2ELFuNxLH2HSANAfc6TkFUYOptFov5QvjS1bU%3D&amp;reserved=0" TargetMode="External"/><Relationship Id="rId2" Type="http://schemas.openxmlformats.org/officeDocument/2006/relationships/notesSlide" Target="../notesSlides/notesSlide354.xml"/><Relationship Id="rId1" Type="http://schemas.openxmlformats.org/officeDocument/2006/relationships/slideLayout" Target="../slideLayouts/slideLayout18.xml"/></Relationships>
</file>

<file path=ppt/slides/_rels/slide393.xml.rels><?xml version="1.0" encoding="UTF-8" standalone="yes"?>
<Relationships xmlns="http://schemas.openxmlformats.org/package/2006/relationships"><Relationship Id="rId3" Type="http://schemas.openxmlformats.org/officeDocument/2006/relationships/slide" Target="slide399.xml"/><Relationship Id="rId2" Type="http://schemas.openxmlformats.org/officeDocument/2006/relationships/notesSlide" Target="../notesSlides/notesSlide355.xml"/><Relationship Id="rId1" Type="http://schemas.openxmlformats.org/officeDocument/2006/relationships/slideLayout" Target="../slideLayouts/slideLayout18.xml"/><Relationship Id="rId4" Type="http://schemas.openxmlformats.org/officeDocument/2006/relationships/slide" Target="slide397.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8.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8.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18.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18.xml"/></Relationships>
</file>

<file path=ppt/slides/_rels/slide39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399.xml"/><Relationship Id="rId7" Type="http://schemas.openxmlformats.org/officeDocument/2006/relationships/slide" Target="slide3.xml"/><Relationship Id="rId2" Type="http://schemas.openxmlformats.org/officeDocument/2006/relationships/notesSlide" Target="../notesSlides/notesSlide360.xml"/><Relationship Id="rId1" Type="http://schemas.openxmlformats.org/officeDocument/2006/relationships/slideLayout" Target="../slideLayouts/slideLayout18.xml"/><Relationship Id="rId6" Type="http://schemas.openxmlformats.org/officeDocument/2006/relationships/slide" Target="slide402.xml"/><Relationship Id="rId11" Type="http://schemas.openxmlformats.org/officeDocument/2006/relationships/image" Target="../media/image4.emf"/><Relationship Id="rId5" Type="http://schemas.openxmlformats.org/officeDocument/2006/relationships/slide" Target="slide403.xml"/><Relationship Id="rId10" Type="http://schemas.openxmlformats.org/officeDocument/2006/relationships/slide" Target="slide17.xml"/><Relationship Id="rId4" Type="http://schemas.openxmlformats.org/officeDocument/2006/relationships/slide" Target="slide401.xml"/><Relationship Id="rId9" Type="http://schemas.openxmlformats.org/officeDocument/2006/relationships/slide" Target="slide4.xml"/></Relationships>
</file>

<file path=ppt/slides/_rels/slide39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1.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0.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2.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3.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2.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4.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5.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6.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5.xml.rels><?xml version="1.0" encoding="UTF-8" standalone="yes"?>
<Relationships xmlns="http://schemas.openxmlformats.org/package/2006/relationships"><Relationship Id="rId8" Type="http://schemas.openxmlformats.org/officeDocument/2006/relationships/slide" Target="slide17.xml"/><Relationship Id="rId3" Type="http://schemas.openxmlformats.org/officeDocument/2006/relationships/slide" Target="slide406.xml"/><Relationship Id="rId7" Type="http://schemas.openxmlformats.org/officeDocument/2006/relationships/slide" Target="slide4.xml"/><Relationship Id="rId2" Type="http://schemas.openxmlformats.org/officeDocument/2006/relationships/notesSlide" Target="../notesSlides/notesSlide367.xml"/><Relationship Id="rId1" Type="http://schemas.openxmlformats.org/officeDocument/2006/relationships/slideLayout" Target="../slideLayouts/slideLayout18.xml"/><Relationship Id="rId6" Type="http://schemas.openxmlformats.org/officeDocument/2006/relationships/slide" Target="slide7.xml"/><Relationship Id="rId5" Type="http://schemas.openxmlformats.org/officeDocument/2006/relationships/slide" Target="slide3.xml"/><Relationship Id="rId4" Type="http://schemas.openxmlformats.org/officeDocument/2006/relationships/slide" Target="slide407.xml"/><Relationship Id="rId9" Type="http://schemas.openxmlformats.org/officeDocument/2006/relationships/image" Target="../media/image4.emf"/></Relationships>
</file>

<file path=ppt/slides/_rels/slide40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8.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69.xml"/><Relationship Id="rId1" Type="http://schemas.openxmlformats.org/officeDocument/2006/relationships/slideLayout" Target="../slideLayouts/slideLayout18.xml"/><Relationship Id="rId6" Type="http://schemas.openxmlformats.org/officeDocument/2006/relationships/slide" Target="slide17.xml"/><Relationship Id="rId5" Type="http://schemas.openxmlformats.org/officeDocument/2006/relationships/slide" Target="slide4.xml"/><Relationship Id="rId4" Type="http://schemas.openxmlformats.org/officeDocument/2006/relationships/slide" Target="slide7.xml"/></Relationships>
</file>

<file path=ppt/slides/_rels/slide40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09.xml"/><Relationship Id="rId7" Type="http://schemas.openxmlformats.org/officeDocument/2006/relationships/slide" Target="slide3.xml"/><Relationship Id="rId2" Type="http://schemas.openxmlformats.org/officeDocument/2006/relationships/notesSlide" Target="../notesSlides/notesSlide370.xml"/><Relationship Id="rId1" Type="http://schemas.openxmlformats.org/officeDocument/2006/relationships/slideLayout" Target="../slideLayouts/slideLayout18.xml"/><Relationship Id="rId6" Type="http://schemas.openxmlformats.org/officeDocument/2006/relationships/slide" Target="slide20.xml"/><Relationship Id="rId11" Type="http://schemas.openxmlformats.org/officeDocument/2006/relationships/image" Target="../media/image4.emf"/><Relationship Id="rId5" Type="http://schemas.openxmlformats.org/officeDocument/2006/relationships/slide" Target="slide412.xml"/><Relationship Id="rId10" Type="http://schemas.openxmlformats.org/officeDocument/2006/relationships/slide" Target="slide17.xml"/><Relationship Id="rId4" Type="http://schemas.openxmlformats.org/officeDocument/2006/relationships/slide" Target="slide410.xml"/><Relationship Id="rId9" Type="http://schemas.openxmlformats.org/officeDocument/2006/relationships/slide" Target="slide4.xml"/></Relationships>
</file>

<file path=ppt/slides/_rels/slide40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71.xml"/><Relationship Id="rId1" Type="http://schemas.openxmlformats.org/officeDocument/2006/relationships/slideLayout" Target="../slideLayouts/slideLayout18.xml"/></Relationships>
</file>

<file path=ppt/slides/_rels/slide41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72.xml"/><Relationship Id="rId1" Type="http://schemas.openxmlformats.org/officeDocument/2006/relationships/slideLayout" Target="../slideLayouts/slideLayout18.xml"/><Relationship Id="rId5" Type="http://schemas.openxmlformats.org/officeDocument/2006/relationships/image" Target="../media/image30.wmf"/><Relationship Id="rId4" Type="http://schemas.openxmlformats.org/officeDocument/2006/relationships/oleObject" Target="../embeddings/oleObject2.bin"/></Relationships>
</file>

<file path=ppt/slides/_rels/slide41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73.xml"/><Relationship Id="rId1" Type="http://schemas.openxmlformats.org/officeDocument/2006/relationships/slideLayout" Target="../slideLayouts/slideLayout18.xml"/></Relationships>
</file>

<file path=ppt/slides/_rels/slide412.xml.rels><?xml version="1.0" encoding="UTF-8" standalone="yes"?>
<Relationships xmlns="http://schemas.openxmlformats.org/package/2006/relationships"><Relationship Id="rId8" Type="http://schemas.openxmlformats.org/officeDocument/2006/relationships/slide" Target="slide418.xml"/><Relationship Id="rId13" Type="http://schemas.openxmlformats.org/officeDocument/2006/relationships/image" Target="../media/image4.emf"/><Relationship Id="rId3" Type="http://schemas.openxmlformats.org/officeDocument/2006/relationships/slide" Target="slide409.xml"/><Relationship Id="rId7" Type="http://schemas.openxmlformats.org/officeDocument/2006/relationships/slide" Target="slide419.xml"/><Relationship Id="rId12" Type="http://schemas.openxmlformats.org/officeDocument/2006/relationships/slide" Target="slide433.xml"/><Relationship Id="rId2" Type="http://schemas.openxmlformats.org/officeDocument/2006/relationships/notesSlide" Target="../notesSlides/notesSlide374.xml"/><Relationship Id="rId1" Type="http://schemas.openxmlformats.org/officeDocument/2006/relationships/slideLayout" Target="../slideLayouts/slideLayout18.xml"/><Relationship Id="rId6" Type="http://schemas.openxmlformats.org/officeDocument/2006/relationships/slide" Target="slide416.xml"/><Relationship Id="rId11" Type="http://schemas.openxmlformats.org/officeDocument/2006/relationships/slide" Target="slide4.xml"/><Relationship Id="rId5" Type="http://schemas.openxmlformats.org/officeDocument/2006/relationships/slide" Target="slide417.xml"/><Relationship Id="rId10" Type="http://schemas.openxmlformats.org/officeDocument/2006/relationships/slide" Target="slide13.xml"/><Relationship Id="rId4" Type="http://schemas.openxmlformats.org/officeDocument/2006/relationships/slide" Target="slide415.xml"/><Relationship Id="rId9" Type="http://schemas.openxmlformats.org/officeDocument/2006/relationships/slide" Target="slide3.xml"/></Relationships>
</file>

<file path=ppt/slides/_rels/slide413.xml.rels><?xml version="1.0" encoding="UTF-8" standalone="yes"?>
<Relationships xmlns="http://schemas.openxmlformats.org/package/2006/relationships"><Relationship Id="rId3" Type="http://schemas.openxmlformats.org/officeDocument/2006/relationships/hyperlink" Target="https://www.gov.uk/guidance/uk-trade-agreements-with-non-eu-countries" TargetMode="External"/><Relationship Id="rId2" Type="http://schemas.openxmlformats.org/officeDocument/2006/relationships/notesSlide" Target="../notesSlides/notesSlide375.xml"/><Relationship Id="rId1" Type="http://schemas.openxmlformats.org/officeDocument/2006/relationships/slideLayout" Target="../slideLayouts/slideLayout18.xml"/><Relationship Id="rId4" Type="http://schemas.openxmlformats.org/officeDocument/2006/relationships/image" Target="../media/image4.emf"/></Relationships>
</file>

<file path=ppt/slides/_rels/slide41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76.xml"/><Relationship Id="rId1" Type="http://schemas.openxmlformats.org/officeDocument/2006/relationships/slideLayout" Target="../slideLayouts/slideLayout18.xml"/></Relationships>
</file>

<file path=ppt/slides/_rels/slide415.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77.xml"/><Relationship Id="rId1" Type="http://schemas.openxmlformats.org/officeDocument/2006/relationships/slideLayout" Target="../slideLayouts/slideLayout18.xml"/><Relationship Id="rId6" Type="http://schemas.openxmlformats.org/officeDocument/2006/relationships/slide" Target="slide433.xml"/><Relationship Id="rId5" Type="http://schemas.openxmlformats.org/officeDocument/2006/relationships/slide" Target="slide4.xml"/><Relationship Id="rId4" Type="http://schemas.openxmlformats.org/officeDocument/2006/relationships/slide" Target="slide13.xml"/></Relationships>
</file>

<file path=ppt/slides/_rels/slide41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78.xml"/><Relationship Id="rId1" Type="http://schemas.openxmlformats.org/officeDocument/2006/relationships/slideLayout" Target="../slideLayouts/slideLayout18.xml"/><Relationship Id="rId6" Type="http://schemas.openxmlformats.org/officeDocument/2006/relationships/slide" Target="slide433.xml"/><Relationship Id="rId5" Type="http://schemas.openxmlformats.org/officeDocument/2006/relationships/slide" Target="slide4.xml"/><Relationship Id="rId4" Type="http://schemas.openxmlformats.org/officeDocument/2006/relationships/slide" Target="slide13.xml"/></Relationships>
</file>

<file path=ppt/slides/_rels/slide41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79.xml"/><Relationship Id="rId1" Type="http://schemas.openxmlformats.org/officeDocument/2006/relationships/slideLayout" Target="../slideLayouts/slideLayout18.xml"/><Relationship Id="rId6" Type="http://schemas.openxmlformats.org/officeDocument/2006/relationships/slide" Target="slide433.xml"/><Relationship Id="rId5" Type="http://schemas.openxmlformats.org/officeDocument/2006/relationships/slide" Target="slide4.xml"/><Relationship Id="rId4" Type="http://schemas.openxmlformats.org/officeDocument/2006/relationships/slide" Target="slide13.xml"/></Relationships>
</file>

<file path=ppt/slides/_rels/slide418.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411.xml"/><Relationship Id="rId7" Type="http://schemas.openxmlformats.org/officeDocument/2006/relationships/slide" Target="slide433.xml"/><Relationship Id="rId2" Type="http://schemas.openxmlformats.org/officeDocument/2006/relationships/notesSlide" Target="../notesSlides/notesSlide380.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13.xml"/><Relationship Id="rId4" Type="http://schemas.openxmlformats.org/officeDocument/2006/relationships/slide" Target="slide3.xml"/></Relationships>
</file>

<file path=ppt/slides/_rels/slide419.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411.xml"/><Relationship Id="rId7" Type="http://schemas.openxmlformats.org/officeDocument/2006/relationships/slide" Target="slide433.xml"/><Relationship Id="rId2" Type="http://schemas.openxmlformats.org/officeDocument/2006/relationships/notesSlide" Target="../notesSlides/notesSlide381.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13.xml"/><Relationship Id="rId4" Type="http://schemas.openxmlformats.org/officeDocument/2006/relationships/slide" Target="slide3.xml"/></Relationships>
</file>

<file path=ppt/slides/_rels/slide420.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82.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83.xml"/><Relationship Id="rId1" Type="http://schemas.openxmlformats.org/officeDocument/2006/relationships/slideLayout" Target="../slideLayouts/slideLayout40.xml"/></Relationships>
</file>

<file path=ppt/slides/_rels/slide42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84.xml"/><Relationship Id="rId1" Type="http://schemas.openxmlformats.org/officeDocument/2006/relationships/slideLayout" Target="../slideLayouts/slideLayout40.xml"/></Relationships>
</file>

<file path=ppt/slides/_rels/slide42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85.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24.xml.rels><?xml version="1.0" encoding="UTF-8" standalone="yes"?>
<Relationships xmlns="http://schemas.openxmlformats.org/package/2006/relationships"><Relationship Id="rId8" Type="http://schemas.openxmlformats.org/officeDocument/2006/relationships/slide" Target="slide434.xml"/><Relationship Id="rId3" Type="http://schemas.openxmlformats.org/officeDocument/2006/relationships/slide" Target="slide425.xml"/><Relationship Id="rId7" Type="http://schemas.openxmlformats.org/officeDocument/2006/relationships/slide" Target="slide4.xml"/><Relationship Id="rId12" Type="http://schemas.openxmlformats.org/officeDocument/2006/relationships/slide" Target="slide429.xml"/><Relationship Id="rId2" Type="http://schemas.openxmlformats.org/officeDocument/2006/relationships/notesSlide" Target="../notesSlides/notesSlide386.xml"/><Relationship Id="rId1" Type="http://schemas.openxmlformats.org/officeDocument/2006/relationships/slideLayout" Target="../slideLayouts/slideLayout40.xml"/><Relationship Id="rId6" Type="http://schemas.openxmlformats.org/officeDocument/2006/relationships/slide" Target="slide14.xml"/><Relationship Id="rId11" Type="http://schemas.openxmlformats.org/officeDocument/2006/relationships/slide" Target="slide428.xml"/><Relationship Id="rId5" Type="http://schemas.openxmlformats.org/officeDocument/2006/relationships/slide" Target="slide3.xml"/><Relationship Id="rId10" Type="http://schemas.openxmlformats.org/officeDocument/2006/relationships/slide" Target="slide427.xml"/><Relationship Id="rId4" Type="http://schemas.openxmlformats.org/officeDocument/2006/relationships/slide" Target="slide426.xml"/><Relationship Id="rId9" Type="http://schemas.openxmlformats.org/officeDocument/2006/relationships/image" Target="../media/image4.emf"/></Relationships>
</file>

<file path=ppt/slides/_rels/slide425.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87.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2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88.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27.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23.xml"/><Relationship Id="rId7" Type="http://schemas.openxmlformats.org/officeDocument/2006/relationships/slide" Target="slide434.xml"/><Relationship Id="rId2" Type="http://schemas.openxmlformats.org/officeDocument/2006/relationships/notesSlide" Target="../notesSlides/notesSlide389.xml"/><Relationship Id="rId1" Type="http://schemas.openxmlformats.org/officeDocument/2006/relationships/slideLayout" Target="../slideLayouts/slideLayout40.xml"/><Relationship Id="rId6" Type="http://schemas.openxmlformats.org/officeDocument/2006/relationships/slide" Target="slide4.xml"/><Relationship Id="rId5" Type="http://schemas.openxmlformats.org/officeDocument/2006/relationships/slide" Target="slide14.xml"/><Relationship Id="rId4" Type="http://schemas.openxmlformats.org/officeDocument/2006/relationships/slide" Target="slide3.xml"/></Relationships>
</file>

<file path=ppt/slides/_rels/slide428.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90.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2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91.xml"/><Relationship Id="rId1" Type="http://schemas.openxmlformats.org/officeDocument/2006/relationships/slideLayout" Target="../slideLayouts/slideLayout40.xml"/><Relationship Id="rId6" Type="http://schemas.openxmlformats.org/officeDocument/2006/relationships/slide" Target="slide434.xml"/><Relationship Id="rId5" Type="http://schemas.openxmlformats.org/officeDocument/2006/relationships/slide" Target="slide4.xml"/><Relationship Id="rId4" Type="http://schemas.openxmlformats.org/officeDocument/2006/relationships/slide" Target="slide14.xml"/></Relationships>
</file>

<file path=ppt/slides/_rels/slide430.xml.rels><?xml version="1.0" encoding="UTF-8" standalone="yes"?>
<Relationships xmlns="http://schemas.openxmlformats.org/package/2006/relationships"><Relationship Id="rId8" Type="http://schemas.openxmlformats.org/officeDocument/2006/relationships/slide" Target="slide13.xml"/><Relationship Id="rId3" Type="http://schemas.openxmlformats.org/officeDocument/2006/relationships/image" Target="../media/image1.jpeg"/><Relationship Id="rId7" Type="http://schemas.openxmlformats.org/officeDocument/2006/relationships/slide" Target="slide3.xml"/><Relationship Id="rId2" Type="http://schemas.openxmlformats.org/officeDocument/2006/relationships/notesSlide" Target="../notesSlides/notesSlide392.xml"/><Relationship Id="rId1" Type="http://schemas.openxmlformats.org/officeDocument/2006/relationships/slideLayout" Target="../slideLayouts/slideLayout40.xml"/><Relationship Id="rId6" Type="http://schemas.openxmlformats.org/officeDocument/2006/relationships/slide" Target="slide433.xml"/><Relationship Id="rId11" Type="http://schemas.openxmlformats.org/officeDocument/2006/relationships/image" Target="../media/image4.emf"/><Relationship Id="rId5" Type="http://schemas.openxmlformats.org/officeDocument/2006/relationships/slide" Target="slide432.xml"/><Relationship Id="rId10" Type="http://schemas.openxmlformats.org/officeDocument/2006/relationships/slide" Target="slide427.xml"/><Relationship Id="rId4" Type="http://schemas.openxmlformats.org/officeDocument/2006/relationships/slide" Target="slide431.xml"/><Relationship Id="rId9" Type="http://schemas.openxmlformats.org/officeDocument/2006/relationships/slide" Target="slide4.xml"/></Relationships>
</file>

<file path=ppt/slides/_rels/slide43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93.xml"/><Relationship Id="rId1" Type="http://schemas.openxmlformats.org/officeDocument/2006/relationships/slideLayout" Target="../slideLayouts/slideLayout40.xml"/></Relationships>
</file>

<file path=ppt/slides/_rels/slide43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94.xml"/><Relationship Id="rId1" Type="http://schemas.openxmlformats.org/officeDocument/2006/relationships/slideLayout" Target="../slideLayouts/slideLayout40.xml"/></Relationships>
</file>

<file path=ppt/slides/_rels/slide43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95.xml"/><Relationship Id="rId1" Type="http://schemas.openxmlformats.org/officeDocument/2006/relationships/slideLayout" Target="../slideLayouts/slideLayout40.xml"/></Relationships>
</file>

<file path=ppt/slides/_rels/slide434.xml.rels><?xml version="1.0" encoding="UTF-8" standalone="yes"?>
<Relationships xmlns="http://schemas.openxmlformats.org/package/2006/relationships"><Relationship Id="rId8" Type="http://schemas.openxmlformats.org/officeDocument/2006/relationships/slide" Target="slide16.xml"/><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396.xml"/><Relationship Id="rId1" Type="http://schemas.openxmlformats.org/officeDocument/2006/relationships/slideLayout" Target="../slideLayouts/slideLayout40.xml"/><Relationship Id="rId6" Type="http://schemas.openxmlformats.org/officeDocument/2006/relationships/slide" Target="slide406.xml"/><Relationship Id="rId5" Type="http://schemas.openxmlformats.org/officeDocument/2006/relationships/slide" Target="slide4.xml"/><Relationship Id="rId10" Type="http://schemas.openxmlformats.org/officeDocument/2006/relationships/slide" Target="slide450.xml"/><Relationship Id="rId4" Type="http://schemas.openxmlformats.org/officeDocument/2006/relationships/slide" Target="slide13.xml"/><Relationship Id="rId9" Type="http://schemas.openxmlformats.org/officeDocument/2006/relationships/slide" Target="slide397.xml"/></Relationships>
</file>

<file path=ppt/slides/_rels/slide435.xml.rels><?xml version="1.0" encoding="UTF-8" standalone="yes"?>
<Relationships xmlns="http://schemas.openxmlformats.org/package/2006/relationships"><Relationship Id="rId8" Type="http://schemas.openxmlformats.org/officeDocument/2006/relationships/slide" Target="slide401.xml"/><Relationship Id="rId13" Type="http://schemas.openxmlformats.org/officeDocument/2006/relationships/slide" Target="slide405.xml"/><Relationship Id="rId3" Type="http://schemas.openxmlformats.org/officeDocument/2006/relationships/slide" Target="slide396.xml"/><Relationship Id="rId7" Type="http://schemas.openxmlformats.org/officeDocument/2006/relationships/slide" Target="slide402.xml"/><Relationship Id="rId12" Type="http://schemas.openxmlformats.org/officeDocument/2006/relationships/slide" Target="slide23.xml"/><Relationship Id="rId2" Type="http://schemas.openxmlformats.org/officeDocument/2006/relationships/notesSlide" Target="../notesSlides/notesSlide397.xml"/><Relationship Id="rId1" Type="http://schemas.openxmlformats.org/officeDocument/2006/relationships/slideLayout" Target="../slideLayouts/slideLayout40.xml"/><Relationship Id="rId6" Type="http://schemas.openxmlformats.org/officeDocument/2006/relationships/slide" Target="slide398.xml"/><Relationship Id="rId11" Type="http://schemas.openxmlformats.org/officeDocument/2006/relationships/slide" Target="slide4.xml"/><Relationship Id="rId5" Type="http://schemas.openxmlformats.org/officeDocument/2006/relationships/slide" Target="slide400.xml"/><Relationship Id="rId15" Type="http://schemas.openxmlformats.org/officeDocument/2006/relationships/slide" Target="slide397.xml"/><Relationship Id="rId10" Type="http://schemas.openxmlformats.org/officeDocument/2006/relationships/slide" Target="slide12.xml"/><Relationship Id="rId4" Type="http://schemas.openxmlformats.org/officeDocument/2006/relationships/slide" Target="slide399.xml"/><Relationship Id="rId9" Type="http://schemas.openxmlformats.org/officeDocument/2006/relationships/slide" Target="slide3.xml"/><Relationship Id="rId14" Type="http://schemas.openxmlformats.org/officeDocument/2006/relationships/image" Target="../media/image4.emf"/></Relationships>
</file>

<file path=ppt/slides/_rels/slide436.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3.xml"/><Relationship Id="rId7" Type="http://schemas.openxmlformats.org/officeDocument/2006/relationships/slide" Target="slide405.xml"/><Relationship Id="rId2" Type="http://schemas.openxmlformats.org/officeDocument/2006/relationships/notesSlide" Target="../notesSlides/notesSlide398.xml"/><Relationship Id="rId1" Type="http://schemas.openxmlformats.org/officeDocument/2006/relationships/slideLayout" Target="../slideLayouts/slideLayout40.xml"/><Relationship Id="rId6" Type="http://schemas.openxmlformats.org/officeDocument/2006/relationships/slide" Target="slide23.xml"/><Relationship Id="rId5" Type="http://schemas.openxmlformats.org/officeDocument/2006/relationships/slide" Target="slide4.xml"/><Relationship Id="rId4" Type="http://schemas.openxmlformats.org/officeDocument/2006/relationships/slide" Target="slide12.xml"/></Relationships>
</file>

<file path=ppt/slides/_rels/slide437.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slide" Target="slide3.xml"/><Relationship Id="rId7" Type="http://schemas.openxmlformats.org/officeDocument/2006/relationships/slide" Target="slide405.xml"/><Relationship Id="rId2" Type="http://schemas.openxmlformats.org/officeDocument/2006/relationships/notesSlide" Target="../notesSlides/notesSlide399.xml"/><Relationship Id="rId1" Type="http://schemas.openxmlformats.org/officeDocument/2006/relationships/slideLayout" Target="../slideLayouts/slideLayout40.xml"/><Relationship Id="rId6" Type="http://schemas.openxmlformats.org/officeDocument/2006/relationships/slide" Target="slide23.xml"/><Relationship Id="rId5" Type="http://schemas.openxmlformats.org/officeDocument/2006/relationships/slide" Target="slide4.xml"/><Relationship Id="rId4" Type="http://schemas.openxmlformats.org/officeDocument/2006/relationships/slide" Target="slide12.xml"/></Relationships>
</file>

<file path=ppt/slides/_rels/slide438.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0.xml"/><Relationship Id="rId1" Type="http://schemas.openxmlformats.org/officeDocument/2006/relationships/slideLayout" Target="../slideLayouts/slideLayout13.xml"/><Relationship Id="rId5" Type="http://schemas.openxmlformats.org/officeDocument/2006/relationships/image" Target="../media/image4.emf"/><Relationship Id="rId4" Type="http://schemas.openxmlformats.org/officeDocument/2006/relationships/slide" Target="slide440.xml"/></Relationships>
</file>

<file path=ppt/slides/_rels/slide440.xml.rels><?xml version="1.0" encoding="UTF-8" standalone="yes"?>
<Relationships xmlns="http://schemas.openxmlformats.org/package/2006/relationships"><Relationship Id="rId3" Type="http://schemas.openxmlformats.org/officeDocument/2006/relationships/slide" Target="slide440.xml"/><Relationship Id="rId2" Type="http://schemas.openxmlformats.org/officeDocument/2006/relationships/slide" Target="slide3.xml"/><Relationship Id="rId1" Type="http://schemas.openxmlformats.org/officeDocument/2006/relationships/slideLayout" Target="../slideLayouts/slideLayout12.xml"/><Relationship Id="rId4" Type="http://schemas.openxmlformats.org/officeDocument/2006/relationships/image" Target="../media/image4.emf"/></Relationships>
</file>

<file path=ppt/slides/_rels/slide44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401.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2.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402.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403.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5.xml.rels><?xml version="1.0" encoding="UTF-8" standalone="yes"?>
<Relationships xmlns="http://schemas.openxmlformats.org/package/2006/relationships"><Relationship Id="rId8" Type="http://schemas.openxmlformats.org/officeDocument/2006/relationships/slide" Target="slide442.xml"/><Relationship Id="rId3" Type="http://schemas.openxmlformats.org/officeDocument/2006/relationships/oleObject" Target="../embeddings/oleObject3.bin"/><Relationship Id="rId7" Type="http://schemas.openxmlformats.org/officeDocument/2006/relationships/slide" Target="slide4.xml"/><Relationship Id="rId2" Type="http://schemas.openxmlformats.org/officeDocument/2006/relationships/notesSlide" Target="../notesSlides/notesSlide404.xml"/><Relationship Id="rId1" Type="http://schemas.openxmlformats.org/officeDocument/2006/relationships/slideLayout" Target="../slideLayouts/slideLayout18.xml"/><Relationship Id="rId6" Type="http://schemas.openxmlformats.org/officeDocument/2006/relationships/slide" Target="slide16.xml"/><Relationship Id="rId5" Type="http://schemas.openxmlformats.org/officeDocument/2006/relationships/slide" Target="slide3.xml"/><Relationship Id="rId4" Type="http://schemas.openxmlformats.org/officeDocument/2006/relationships/image" Target="../media/image31.wmf"/><Relationship Id="rId9" Type="http://schemas.openxmlformats.org/officeDocument/2006/relationships/image" Target="../media/image4.emf"/></Relationships>
</file>

<file path=ppt/slides/_rels/slide44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405.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emf"/><Relationship Id="rId2" Type="http://schemas.openxmlformats.org/officeDocument/2006/relationships/notesSlide" Target="../notesSlides/notesSlide406.xml"/><Relationship Id="rId1" Type="http://schemas.openxmlformats.org/officeDocument/2006/relationships/slideLayout" Target="../slideLayouts/slideLayout18.xml"/><Relationship Id="rId6" Type="http://schemas.openxmlformats.org/officeDocument/2006/relationships/slide" Target="slide442.xml"/><Relationship Id="rId5" Type="http://schemas.openxmlformats.org/officeDocument/2006/relationships/slide" Target="slide4.xml"/><Relationship Id="rId4" Type="http://schemas.openxmlformats.org/officeDocument/2006/relationships/slide" Target="slide16.xml"/></Relationships>
</file>

<file path=ppt/slides/_rels/slide448.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hyperlink" Target="https://developer.service.hmrc.gov.uk/guides/customs-declarations-end-to-end-service-guide/#end-to-end-user-journeys" TargetMode="External"/><Relationship Id="rId7" Type="http://schemas.openxmlformats.org/officeDocument/2006/relationships/slide" Target="slide442.xml"/><Relationship Id="rId2" Type="http://schemas.openxmlformats.org/officeDocument/2006/relationships/notesSlide" Target="../notesSlides/notesSlide407.xml"/><Relationship Id="rId1" Type="http://schemas.openxmlformats.org/officeDocument/2006/relationships/slideLayout" Target="../slideLayouts/slideLayout18.xml"/><Relationship Id="rId6" Type="http://schemas.openxmlformats.org/officeDocument/2006/relationships/slide" Target="slide4.xml"/><Relationship Id="rId5" Type="http://schemas.openxmlformats.org/officeDocument/2006/relationships/slide" Target="slide16.xml"/><Relationship Id="rId4" Type="http://schemas.openxmlformats.org/officeDocument/2006/relationships/slide" Target="slide3.xml"/></Relationships>
</file>

<file path=ppt/slides/_rels/slide449.xml.rels><?xml version="1.0" encoding="UTF-8" standalone="yes"?>
<Relationships xmlns="http://schemas.openxmlformats.org/package/2006/relationships"><Relationship Id="rId8" Type="http://schemas.openxmlformats.org/officeDocument/2006/relationships/image" Target="../media/image34.wmf"/><Relationship Id="rId13" Type="http://schemas.openxmlformats.org/officeDocument/2006/relationships/slide" Target="slide4.xml"/><Relationship Id="rId3" Type="http://schemas.openxmlformats.org/officeDocument/2006/relationships/oleObject" Target="../embeddings/oleObject4.bin"/><Relationship Id="rId7" Type="http://schemas.openxmlformats.org/officeDocument/2006/relationships/oleObject" Target="../embeddings/oleObject6.bin"/><Relationship Id="rId12" Type="http://schemas.openxmlformats.org/officeDocument/2006/relationships/slide" Target="slide16.xml"/><Relationship Id="rId2" Type="http://schemas.openxmlformats.org/officeDocument/2006/relationships/hyperlink" Target="https://developer.service.hmrc.gov.uk/guides/customs-declarations-end-to-end-service-guide/#end-to-end-user-journeys" TargetMode="External"/><Relationship Id="rId1" Type="http://schemas.openxmlformats.org/officeDocument/2006/relationships/slideLayout" Target="../slideLayouts/slideLayout18.xml"/><Relationship Id="rId6" Type="http://schemas.openxmlformats.org/officeDocument/2006/relationships/image" Target="../media/image33.wmf"/><Relationship Id="rId11" Type="http://schemas.openxmlformats.org/officeDocument/2006/relationships/slide" Target="slide3.xml"/><Relationship Id="rId5" Type="http://schemas.openxmlformats.org/officeDocument/2006/relationships/oleObject" Target="../embeddings/oleObject5.bin"/><Relationship Id="rId15" Type="http://schemas.openxmlformats.org/officeDocument/2006/relationships/image" Target="../media/image4.emf"/><Relationship Id="rId10" Type="http://schemas.openxmlformats.org/officeDocument/2006/relationships/image" Target="../media/image35.wmf"/><Relationship Id="rId4" Type="http://schemas.openxmlformats.org/officeDocument/2006/relationships/image" Target="../media/image32.wmf"/><Relationship Id="rId9" Type="http://schemas.openxmlformats.org/officeDocument/2006/relationships/oleObject" Target="../embeddings/oleObject7.bin"/><Relationship Id="rId14" Type="http://schemas.openxmlformats.org/officeDocument/2006/relationships/slide" Target="slide442.xml"/></Relationships>
</file>

<file path=ppt/slides/_rels/slide450.xml.rels><?xml version="1.0" encoding="UTF-8" standalone="yes"?>
<Relationships xmlns="http://schemas.openxmlformats.org/package/2006/relationships"><Relationship Id="rId8" Type="http://schemas.openxmlformats.org/officeDocument/2006/relationships/oleObject" Target="../embeddings/oleObject8.bin"/><Relationship Id="rId3" Type="http://schemas.openxmlformats.org/officeDocument/2006/relationships/slide" Target="slide13.xml"/><Relationship Id="rId7" Type="http://schemas.openxmlformats.org/officeDocument/2006/relationships/image" Target="../media/image36.png"/><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8.xml"/><Relationship Id="rId4" Type="http://schemas.openxmlformats.org/officeDocument/2006/relationships/slide" Target="slide4.xml"/><Relationship Id="rId9" Type="http://schemas.openxmlformats.org/officeDocument/2006/relationships/image" Target="../media/image37.wmf"/></Relationships>
</file>

<file path=ppt/slides/_rels/slide451.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2.xml"/><Relationship Id="rId4" Type="http://schemas.openxmlformats.org/officeDocument/2006/relationships/slide" Target="slide4.xml"/></Relationships>
</file>

<file path=ppt/slides/_rels/slide452.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image" Target="../media/image4.emf"/><Relationship Id="rId5" Type="http://schemas.openxmlformats.org/officeDocument/2006/relationships/slide" Target="slide442.xml"/><Relationship Id="rId4" Type="http://schemas.openxmlformats.org/officeDocument/2006/relationships/slide" Target="slide4.xml"/></Relationships>
</file>

<file path=ppt/slides/slide1.xml><?xml version="1.0" encoding="utf-8"?>
<p:sld xmlns:a="http://schemas.openxmlformats.org/drawingml/2006/main" xmlns:r="http://schemas.openxmlformats.org/officeDocument/2006/relationships" xmlns:p="http://schemas.openxmlformats.org/presentationml/2006/main">
  <p:cSld name="Slide1">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50E4563B-012A-488D-8805-E07342D83BD3}"/>
              </a:ext>
            </a:extLst>
          </p:cNvPr>
          <p:cNvSpPr/>
          <p:nvPr/>
        </p:nvSpPr>
        <p:spPr>
          <a:xfrm>
            <a:off x="939289" y="3704170"/>
            <a:ext cx="10133993" cy="70788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1200" cap="none" spc="0" baseline="0">
                <a:solidFill>
                  <a:srgbClr val="000000"/>
                </a:solidFill>
                <a:uFillTx/>
                <a:latin typeface="Calibri" pitchFamily="34"/>
                <a:ea typeface="Calibri" pitchFamily="34"/>
              </a:rPr>
              <a:t>CDS External TT TDR Scope Guidance</a:t>
            </a:r>
            <a:endParaRPr lang="en-GB" sz="3600" b="1" i="0" u="none" strike="noStrike" kern="1200" cap="none" spc="0" baseline="0">
              <a:solidFill>
                <a:srgbClr val="000000"/>
              </a:solidFill>
              <a:uFillTx/>
              <a:latin typeface="Calibri" pitchFamily="34"/>
              <a:ea typeface="Calibri" pitchFamily="34"/>
            </a:endParaRPr>
          </a:p>
        </p:txBody>
      </p:sp>
      <p:sp>
        <p:nvSpPr>
          <p:cNvPr id="3" name="Rectangle 6">
            <a:extLst>
              <a:ext uri="{FF2B5EF4-FFF2-40B4-BE49-F238E27FC236}">
                <a16:creationId xmlns:a16="http://schemas.microsoft.com/office/drawing/2014/main" id="{36B5E2CB-6FEF-41C2-98CC-763632B25BCB}"/>
              </a:ext>
            </a:extLst>
          </p:cNvPr>
          <p:cNvSpPr/>
          <p:nvPr/>
        </p:nvSpPr>
        <p:spPr>
          <a:xfrm>
            <a:off x="901250" y="2598002"/>
            <a:ext cx="9145453" cy="830997"/>
          </a:xfrm>
          <a:prstGeom prst="rect">
            <a:avLst/>
          </a:prstGeom>
          <a:solidFill>
            <a:srgbClr val="009999"/>
          </a:solid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800" b="1" i="0" u="none" strike="noStrike" kern="0" cap="none" spc="0" baseline="0">
                <a:solidFill>
                  <a:srgbClr val="FFFFFF"/>
                </a:solidFill>
                <a:uFillTx/>
                <a:latin typeface="Calibri"/>
              </a:rPr>
              <a:t>CDS Single Customs Platform (SCP)</a:t>
            </a:r>
            <a:endParaRPr lang="en-GB" sz="4400" b="1" i="0" u="none" strike="noStrike" kern="0" cap="none" spc="0" baseline="0">
              <a:solidFill>
                <a:srgbClr val="FFFFFF"/>
              </a:solidFill>
              <a:uFillTx/>
              <a:latin typeface="Calibri"/>
            </a:endParaRPr>
          </a:p>
        </p:txBody>
      </p:sp>
      <p:sp>
        <p:nvSpPr>
          <p:cNvPr id="4" name="Rectangle 8">
            <a:extLst>
              <a:ext uri="{FF2B5EF4-FFF2-40B4-BE49-F238E27FC236}">
                <a16:creationId xmlns:a16="http://schemas.microsoft.com/office/drawing/2014/main" id="{F22E5497-D6DE-45D2-A5F2-787779DF421E}"/>
              </a:ext>
            </a:extLst>
          </p:cNvPr>
          <p:cNvSpPr/>
          <p:nvPr/>
        </p:nvSpPr>
        <p:spPr>
          <a:xfrm>
            <a:off x="5673659" y="6208419"/>
            <a:ext cx="60960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dirty="0">
                <a:solidFill>
                  <a:srgbClr val="000000"/>
                </a:solidFill>
                <a:uFillTx/>
                <a:latin typeface="Calibri" pitchFamily="34"/>
                <a:ea typeface="Calibri" pitchFamily="34"/>
              </a:rPr>
              <a:t>Last updated: </a:t>
            </a:r>
            <a:r>
              <a:rPr lang="en-GB" sz="1400" b="1" dirty="0">
                <a:solidFill>
                  <a:srgbClr val="000000"/>
                </a:solidFill>
                <a:latin typeface="Calibri" pitchFamily="34"/>
                <a:ea typeface="Calibri" pitchFamily="34"/>
              </a:rPr>
              <a:t>04/12/2025</a:t>
            </a:r>
            <a:endParaRPr lang="en-GB" sz="1400" b="1" i="0" u="none" strike="noStrike" kern="1200" cap="none" spc="0" baseline="0" dirty="0">
              <a:solidFill>
                <a:srgbClr val="000000"/>
              </a:solidFill>
              <a:uFillTx/>
              <a:latin typeface="Calibri" pitchFamily="34"/>
              <a:ea typeface="Calibri" pitchFamily="34"/>
            </a:endParaRPr>
          </a:p>
        </p:txBody>
      </p:sp>
      <p:pic>
        <p:nvPicPr>
          <p:cNvPr id="5" name="Picture 8" descr="100% HMRCppt logo">
            <a:extLst>
              <a:ext uri="{FF2B5EF4-FFF2-40B4-BE49-F238E27FC236}">
                <a16:creationId xmlns:a16="http://schemas.microsoft.com/office/drawing/2014/main" id="{6C84599C-7E93-4038-83AD-6B501636EC3D}"/>
              </a:ext>
            </a:extLst>
          </p:cNvPr>
          <p:cNvPicPr>
            <a:picLocks noChangeAspect="1"/>
          </p:cNvPicPr>
          <p:nvPr/>
        </p:nvPicPr>
        <p:blipFill>
          <a:blip r:embed="rId3"/>
          <a:srcRect/>
          <a:stretch>
            <a:fillRect/>
          </a:stretch>
        </p:blipFill>
        <p:spPr>
          <a:xfrm>
            <a:off x="901250" y="765316"/>
            <a:ext cx="1810512" cy="1115568"/>
          </a:xfrm>
          <a:prstGeom prst="rect">
            <a:avLst/>
          </a:prstGeom>
          <a:noFill/>
          <a:ln cap="flat">
            <a:noFill/>
          </a:ln>
        </p:spPr>
      </p:pic>
      <p:sp>
        <p:nvSpPr>
          <p:cNvPr id="6" name="Footer Placeholder 1">
            <a:extLst>
              <a:ext uri="{FF2B5EF4-FFF2-40B4-BE49-F238E27FC236}">
                <a16:creationId xmlns:a16="http://schemas.microsoft.com/office/drawing/2014/main" id="{C57387D3-9BF3-4B37-AE00-06C114893BA5}"/>
              </a:ext>
            </a:extLst>
          </p:cNvPr>
          <p:cNvSpPr txBox="1"/>
          <p:nvPr/>
        </p:nvSpPr>
        <p:spPr>
          <a:xfrm>
            <a:off x="2589077" y="6422370"/>
            <a:ext cx="9331781" cy="307777"/>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3B3A3D"/>
                </a:solidFill>
                <a:uFillTx/>
                <a:latin typeface="Calibri"/>
                <a:ea typeface="Geneva"/>
                <a:cs typeface="Arial"/>
              </a:rPr>
              <a:t>1</a:t>
            </a:r>
            <a:endParaRPr lang="en-GB" sz="1200" b="1" i="0" u="none" strike="noStrike" kern="1200" cap="none" spc="0" baseline="0" dirty="0">
              <a:solidFill>
                <a:srgbClr val="008D8E"/>
              </a:solidFill>
              <a:uFillTx/>
              <a:latin typeface="Calibri"/>
              <a:ea typeface="Geneva"/>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4299">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C5F7CD53-2703-47CD-8D9D-92DC65F8971D}"/>
              </a:ext>
            </a:extLst>
          </p:cNvPr>
          <p:cNvSpPr/>
          <p:nvPr/>
        </p:nvSpPr>
        <p:spPr>
          <a:xfrm>
            <a:off x="419362" y="507318"/>
            <a:ext cx="7453539"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Document Introduction and Purpose</a:t>
            </a:r>
          </a:p>
        </p:txBody>
      </p:sp>
      <p:sp>
        <p:nvSpPr>
          <p:cNvPr id="3" name="TextBox 10">
            <a:extLst>
              <a:ext uri="{FF2B5EF4-FFF2-40B4-BE49-F238E27FC236}">
                <a16:creationId xmlns:a16="http://schemas.microsoft.com/office/drawing/2014/main" id="{80B4D1E1-C3FE-44C4-BD8E-2D3FF730482C}"/>
              </a:ext>
            </a:extLst>
          </p:cNvPr>
          <p:cNvSpPr txBox="1"/>
          <p:nvPr/>
        </p:nvSpPr>
        <p:spPr>
          <a:xfrm>
            <a:off x="419362" y="1007613"/>
            <a:ext cx="11280111" cy="2262161"/>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This document describes CDS External Test release scope functionalities and specifically highlights instances where testing and experience in the Trade Test and Trader Dress Rehearsal environments may differ from CDS. Key workarounds and testing considerations are called out to support developer and trader testing and assurance activities. This document also includes an overview of CDS scope for External Test environments with key functional capabilities relating to declaration completion in both CDS live and external test.</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This document supplements the CDS External TT TDR Scope Guidance YYYYMMDD document that describes the functionality available in the latest Trade Test and Trader Dress Rehearsal release and is issued with the Trade Test release notes.</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 If you have any questions regarding this release, please send your query to </a:t>
            </a:r>
            <a:r>
              <a:rPr lang="en-GB" sz="1400" b="0" i="0" u="none" strike="noStrike" kern="1200" cap="none" spc="0" baseline="0">
                <a:solidFill>
                  <a:srgbClr val="000000"/>
                </a:solidFill>
                <a:uFillTx/>
                <a:latin typeface="Calibri"/>
                <a:ea typeface="Calibri" pitchFamily="34"/>
                <a:cs typeface="Calibri"/>
                <a:hlinkClick r:id="rId3"/>
              </a:rPr>
              <a:t>SDSTeam@hmrc.gov.uk</a:t>
            </a:r>
            <a:r>
              <a:rPr lang="en-GB" sz="1400" b="0" i="0" u="none" strike="noStrike" kern="1200" cap="none" spc="0" baseline="0">
                <a:solidFill>
                  <a:srgbClr val="000000"/>
                </a:solidFill>
                <a:uFillTx/>
                <a:latin typeface="Calibri"/>
                <a:ea typeface="Calibri" pitchFamily="34"/>
                <a:cs typeface="Calibri"/>
              </a:rPr>
              <a:t>.</a:t>
            </a:r>
          </a:p>
        </p:txBody>
      </p:sp>
      <p:sp>
        <p:nvSpPr>
          <p:cNvPr id="4" name="Rectangle 5">
            <a:extLst>
              <a:ext uri="{FF2B5EF4-FFF2-40B4-BE49-F238E27FC236}">
                <a16:creationId xmlns:a16="http://schemas.microsoft.com/office/drawing/2014/main" id="{1F12863B-9D6E-4ED0-B6CF-7FFA4E313AF0}"/>
              </a:ext>
            </a:extLst>
          </p:cNvPr>
          <p:cNvSpPr/>
          <p:nvPr/>
        </p:nvSpPr>
        <p:spPr>
          <a:xfrm>
            <a:off x="341126" y="3229660"/>
            <a:ext cx="7453539"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Document Contents</a:t>
            </a:r>
          </a:p>
        </p:txBody>
      </p:sp>
      <p:sp>
        <p:nvSpPr>
          <p:cNvPr id="5" name="Rectangle 6">
            <a:extLst>
              <a:ext uri="{FF2B5EF4-FFF2-40B4-BE49-F238E27FC236}">
                <a16:creationId xmlns:a16="http://schemas.microsoft.com/office/drawing/2014/main" id="{59288915-87BC-4A3A-BEF4-E0061F1C4DA6}"/>
              </a:ext>
            </a:extLst>
          </p:cNvPr>
          <p:cNvSpPr/>
          <p:nvPr/>
        </p:nvSpPr>
        <p:spPr>
          <a:xfrm>
            <a:off x="6338099" y="3691323"/>
            <a:ext cx="2084676" cy="2312353"/>
          </a:xfrm>
          <a:prstGeom prst="rect">
            <a:avLst/>
          </a:prstGeom>
          <a:solidFill>
            <a:srgbClr val="E7E6E6">
              <a:alpha val="70000"/>
            </a:srgbClr>
          </a:solidFill>
          <a:ln cap="flat">
            <a:noFill/>
            <a:prstDash val="solid"/>
          </a:ln>
        </p:spPr>
        <p:txBody>
          <a:bodyPr vert="horz" wrap="square" lIns="71999" tIns="45720" rIns="35999" bIns="45720" anchor="t" anchorCtr="0" compatLnSpc="1">
            <a:noAutofit/>
          </a:bodyPr>
          <a:lstStyle/>
          <a:p>
            <a:pPr marL="0" marR="0" lvl="0" indent="0" algn="l" defTabSz="914400" rtl="0" fontAlgn="auto" hangingPunct="1">
              <a:lnSpc>
                <a:spcPct val="100000"/>
              </a:lnSpc>
              <a:spcBef>
                <a:spcPts val="0"/>
              </a:spcBef>
              <a:spcAft>
                <a:spcPts val="1800"/>
              </a:spcAft>
              <a:buNone/>
              <a:tabLst/>
              <a:defRPr sz="1800" b="0" i="0" u="none" strike="noStrike" kern="0" cap="none" spc="0" baseline="0">
                <a:solidFill>
                  <a:srgbClr val="000000"/>
                </a:solidFill>
                <a:uFillTx/>
              </a:defRPr>
            </a:pPr>
            <a:r>
              <a:rPr lang="en-GB" sz="1200" b="1" i="0" u="none" strike="noStrike" kern="1200" cap="none" spc="0" baseline="0" dirty="0">
                <a:solidFill>
                  <a:srgbClr val="000000"/>
                </a:solidFill>
                <a:uFillTx/>
                <a:latin typeface="Calibri"/>
              </a:rPr>
              <a:t>3. </a:t>
            </a:r>
            <a:r>
              <a:rPr lang="en-GB" sz="1200" b="1" i="0" u="none" strike="noStrike" kern="1200" cap="none" spc="0" baseline="0" dirty="0">
                <a:solidFill>
                  <a:srgbClr val="000000"/>
                </a:solidFill>
                <a:uFillTx/>
                <a:latin typeface="Calibri"/>
                <a:hlinkClick r:id="rId4" action="ppaction://hlinksldjump"/>
              </a:rPr>
              <a:t>External Test Functional Capabilities</a:t>
            </a:r>
            <a:endParaRPr lang="en-GB" sz="1200" b="1"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200" b="0" i="1" u="none" strike="noStrike" kern="1200" cap="none" spc="0" baseline="0" dirty="0">
                <a:solidFill>
                  <a:srgbClr val="000000"/>
                </a:solidFill>
                <a:uFillTx/>
                <a:latin typeface="Calibri"/>
              </a:rPr>
              <a:t>Read this section for:</a:t>
            </a:r>
          </a:p>
          <a:p>
            <a:pPr marL="177795" marR="0" lvl="0" indent="-177795" algn="l" defTabSz="914400" rtl="0" fontAlgn="auto" hangingPunct="1">
              <a:lnSpc>
                <a:spcPct val="100000"/>
              </a:lnSpc>
              <a:spcBef>
                <a:spcPts val="0"/>
              </a:spcBef>
              <a:spcAft>
                <a:spcPts val="600"/>
              </a:spcAft>
              <a:buSzPct val="100000"/>
              <a:buFont typeface="Wingdings" pitchFamily="2"/>
              <a:buChar char="§"/>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Key functional highlights that apply to both production and external test, including Declaration Submission and Simulated services in TT and TDR, in addition to External test release scope</a:t>
            </a:r>
          </a:p>
        </p:txBody>
      </p:sp>
      <p:cxnSp>
        <p:nvCxnSpPr>
          <p:cNvPr id="6" name="Straight Connector 9">
            <a:extLst>
              <a:ext uri="{FF2B5EF4-FFF2-40B4-BE49-F238E27FC236}">
                <a16:creationId xmlns:a16="http://schemas.microsoft.com/office/drawing/2014/main" id="{F91004AB-B847-4C09-A898-10F5CD5C2DF8}"/>
              </a:ext>
            </a:extLst>
          </p:cNvPr>
          <p:cNvCxnSpPr/>
          <p:nvPr/>
        </p:nvCxnSpPr>
        <p:spPr>
          <a:xfrm>
            <a:off x="6498595" y="4142926"/>
            <a:ext cx="1868165" cy="0"/>
          </a:xfrm>
          <a:prstGeom prst="straightConnector1">
            <a:avLst/>
          </a:prstGeom>
          <a:noFill/>
          <a:ln w="19046" cap="flat">
            <a:solidFill>
              <a:srgbClr val="44546A"/>
            </a:solidFill>
            <a:prstDash val="solid"/>
            <a:miter/>
          </a:ln>
        </p:spPr>
      </p:cxnSp>
      <p:sp>
        <p:nvSpPr>
          <p:cNvPr id="7" name="Rectangle 11">
            <a:extLst>
              <a:ext uri="{FF2B5EF4-FFF2-40B4-BE49-F238E27FC236}">
                <a16:creationId xmlns:a16="http://schemas.microsoft.com/office/drawing/2014/main" id="{4EAC845C-5757-4F01-B8D3-DEB789910535}"/>
              </a:ext>
            </a:extLst>
          </p:cNvPr>
          <p:cNvSpPr/>
          <p:nvPr/>
        </p:nvSpPr>
        <p:spPr>
          <a:xfrm>
            <a:off x="4095460" y="3691323"/>
            <a:ext cx="2000533" cy="2312353"/>
          </a:xfrm>
          <a:prstGeom prst="rect">
            <a:avLst/>
          </a:prstGeom>
          <a:solidFill>
            <a:srgbClr val="F8F8F8">
              <a:alpha val="70000"/>
            </a:srgbClr>
          </a:solidFill>
          <a:ln cap="flat">
            <a:noFill/>
            <a:prstDash val="solid"/>
          </a:ln>
        </p:spPr>
        <p:txBody>
          <a:bodyPr vert="horz" wrap="square" lIns="71999" tIns="45720" rIns="35999" bIns="45720" anchor="t" anchorCtr="0" compatLnSpc="1">
            <a:noAutofit/>
          </a:bodyPr>
          <a:lstStyle/>
          <a:p>
            <a:pPr marL="0" marR="0" lvl="0" indent="0" algn="l" defTabSz="914400" rtl="0" fontAlgn="auto" hangingPunct="1">
              <a:lnSpc>
                <a:spcPct val="100000"/>
              </a:lnSpc>
              <a:spcBef>
                <a:spcPts val="0"/>
              </a:spcBef>
              <a:spcAft>
                <a:spcPts val="180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2. </a:t>
            </a:r>
            <a:r>
              <a:rPr lang="en-GB" sz="1200" b="1" i="0" u="none" strike="noStrike" kern="1200" cap="none" spc="0" baseline="0">
                <a:solidFill>
                  <a:srgbClr val="000000"/>
                </a:solidFill>
                <a:uFillTx/>
                <a:latin typeface="Calibri"/>
                <a:hlinkClick r:id="rId5" action="ppaction://hlinksldjump"/>
              </a:rPr>
              <a:t>EU Exit Policy Guidance</a:t>
            </a: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endParaRPr lang="en-GB" sz="1200" b="0" i="1"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Read this section for:</a:t>
            </a:r>
          </a:p>
          <a:p>
            <a:pPr marL="171450" marR="0" lvl="0" indent="-171450" algn="l" defTabSz="914400" rtl="0" fontAlgn="auto" hangingPunct="1">
              <a:lnSpc>
                <a:spcPct val="100000"/>
              </a:lnSpc>
              <a:spcBef>
                <a:spcPts val="0"/>
              </a:spcBef>
              <a:spcAft>
                <a:spcPts val="600"/>
              </a:spcAft>
              <a:buSzPct val="100000"/>
              <a:buFont typeface="Wingdings" pitchFamily="2"/>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 overview of EU Exit Policy Guidance that facilitate Northern Ireland trade with GB and RoW</a:t>
            </a:r>
          </a:p>
        </p:txBody>
      </p:sp>
      <p:cxnSp>
        <p:nvCxnSpPr>
          <p:cNvPr id="8" name="Straight Connector 12">
            <a:extLst>
              <a:ext uri="{FF2B5EF4-FFF2-40B4-BE49-F238E27FC236}">
                <a16:creationId xmlns:a16="http://schemas.microsoft.com/office/drawing/2014/main" id="{8AE4774A-486C-47D1-84CF-9CBB96CBCA49}"/>
              </a:ext>
            </a:extLst>
          </p:cNvPr>
          <p:cNvCxnSpPr/>
          <p:nvPr/>
        </p:nvCxnSpPr>
        <p:spPr>
          <a:xfrm>
            <a:off x="4209522" y="4142926"/>
            <a:ext cx="1868174" cy="0"/>
          </a:xfrm>
          <a:prstGeom prst="straightConnector1">
            <a:avLst/>
          </a:prstGeom>
          <a:noFill/>
          <a:ln w="19046" cap="flat">
            <a:solidFill>
              <a:srgbClr val="7F7F7F"/>
            </a:solidFill>
            <a:prstDash val="solid"/>
            <a:miter/>
          </a:ln>
        </p:spPr>
      </p:cxnSp>
      <p:sp>
        <p:nvSpPr>
          <p:cNvPr id="9" name="Rectangle 13">
            <a:extLst>
              <a:ext uri="{FF2B5EF4-FFF2-40B4-BE49-F238E27FC236}">
                <a16:creationId xmlns:a16="http://schemas.microsoft.com/office/drawing/2014/main" id="{1E45CB16-E011-44C8-9F52-4149ABDAACBA}"/>
              </a:ext>
            </a:extLst>
          </p:cNvPr>
          <p:cNvSpPr/>
          <p:nvPr/>
        </p:nvSpPr>
        <p:spPr>
          <a:xfrm>
            <a:off x="1852821" y="3691323"/>
            <a:ext cx="2000533" cy="2312353"/>
          </a:xfrm>
          <a:prstGeom prst="rect">
            <a:avLst/>
          </a:prstGeom>
          <a:solidFill>
            <a:srgbClr val="E7E6E6">
              <a:alpha val="70000"/>
            </a:srgbClr>
          </a:solidFill>
          <a:ln cap="flat">
            <a:noFill/>
            <a:prstDash val="solid"/>
          </a:ln>
        </p:spPr>
        <p:txBody>
          <a:bodyPr vert="horz" wrap="square" lIns="71999" tIns="45720" rIns="35999" bIns="45720" anchor="t" anchorCtr="0" compatLnSpc="1">
            <a:noAutofit/>
          </a:bodyPr>
          <a:lstStyle/>
          <a:p>
            <a:pPr marL="0" marR="0" lvl="0" indent="0" algn="l" defTabSz="914400" rtl="0" fontAlgn="auto" hangingPunct="1">
              <a:lnSpc>
                <a:spcPct val="100000"/>
              </a:lnSpc>
              <a:spcBef>
                <a:spcPts val="0"/>
              </a:spcBef>
              <a:spcAft>
                <a:spcPts val="180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1. </a:t>
            </a:r>
            <a:r>
              <a:rPr lang="en-GB" sz="1200" b="1" i="0" u="none" strike="noStrike" kern="1200" cap="none" spc="0" baseline="0">
                <a:solidFill>
                  <a:srgbClr val="000000"/>
                </a:solidFill>
                <a:uFillTx/>
                <a:latin typeface="Calibri"/>
                <a:hlinkClick r:id="rId5" action="ppaction://hlinksldjump"/>
              </a:rPr>
              <a:t>CDS Scope Overview</a:t>
            </a: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endParaRPr lang="en-GB" sz="1200" b="0" i="1"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Read this section for:</a:t>
            </a:r>
          </a:p>
          <a:p>
            <a:pPr marL="177795" marR="0" lvl="0" indent="-177795" algn="l" defTabSz="914400" rtl="0" fontAlgn="auto" hangingPunct="1">
              <a:lnSpc>
                <a:spcPct val="100000"/>
              </a:lnSpc>
              <a:spcBef>
                <a:spcPts val="0"/>
              </a:spcBef>
              <a:spcAft>
                <a:spcPts val="600"/>
              </a:spcAft>
              <a:buSzPct val="100000"/>
              <a:buFont typeface="Wingdings" pitchFamily="2"/>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 overview of the core functionality and declaration processing capabilities delivered under CDS MVP and current CDS Programme scope.</a:t>
            </a:r>
          </a:p>
        </p:txBody>
      </p:sp>
      <p:cxnSp>
        <p:nvCxnSpPr>
          <p:cNvPr id="10" name="Straight Connector 14">
            <a:extLst>
              <a:ext uri="{FF2B5EF4-FFF2-40B4-BE49-F238E27FC236}">
                <a16:creationId xmlns:a16="http://schemas.microsoft.com/office/drawing/2014/main" id="{5348FB58-E852-4387-9F36-956C770DF635}"/>
              </a:ext>
            </a:extLst>
          </p:cNvPr>
          <p:cNvCxnSpPr/>
          <p:nvPr/>
        </p:nvCxnSpPr>
        <p:spPr>
          <a:xfrm>
            <a:off x="1920459" y="4135867"/>
            <a:ext cx="1868165" cy="0"/>
          </a:xfrm>
          <a:prstGeom prst="straightConnector1">
            <a:avLst/>
          </a:prstGeom>
          <a:noFill/>
          <a:ln w="19046" cap="flat">
            <a:solidFill>
              <a:srgbClr val="44546A"/>
            </a:solidFill>
            <a:prstDash val="solid"/>
            <a:miter/>
          </a:ln>
        </p:spPr>
      </p:cxnSp>
      <p:sp>
        <p:nvSpPr>
          <p:cNvPr id="12" name="Slide Number Placeholder 5">
            <a:extLst>
              <a:ext uri="{FF2B5EF4-FFF2-40B4-BE49-F238E27FC236}">
                <a16:creationId xmlns:a16="http://schemas.microsoft.com/office/drawing/2014/main" id="{703561DD-59FB-4766-B819-A988E16FD611}"/>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7BB8EE2-28EF-4A7D-B034-2967F09ED9EE}" type="slidenum">
              <a:rPr sz="1200"/>
              <a:t>2</a:t>
            </a:fld>
            <a:endParaRPr lang="en-GB" sz="1200" b="0" i="0" u="none" strike="noStrike" kern="1200" cap="none" spc="0" baseline="0" dirty="0">
              <a:solidFill>
                <a:srgbClr val="000000"/>
              </a:solidFill>
              <a:uFillTx/>
              <a:latin typeface="Calibri"/>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184">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EB433DA2-2562-47FC-A54E-C08C23610F9B}"/>
              </a:ext>
            </a:extLst>
          </p:cNvPr>
          <p:cNvSpPr/>
          <p:nvPr/>
        </p:nvSpPr>
        <p:spPr>
          <a:xfrm>
            <a:off x="901250" y="2715319"/>
            <a:ext cx="5194752"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1200" cap="none" spc="0" baseline="0">
                <a:solidFill>
                  <a:srgbClr val="FFFFFF"/>
                </a:solidFill>
                <a:uFillTx/>
                <a:latin typeface="Calibri"/>
              </a:rPr>
              <a:t>EU Exit Policy Guidance</a:t>
            </a:r>
          </a:p>
        </p:txBody>
      </p:sp>
      <p:sp>
        <p:nvSpPr>
          <p:cNvPr id="3" name="Slide Number Placeholder 5">
            <a:extLst>
              <a:ext uri="{FF2B5EF4-FFF2-40B4-BE49-F238E27FC236}">
                <a16:creationId xmlns:a16="http://schemas.microsoft.com/office/drawing/2014/main" id="{9146A8FD-7EF8-4806-B7EA-D1C970262FD3}"/>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0D57F8F-7EB4-4166-B123-01FA663EA4AA}" type="slidenum">
              <a:rPr sz="1200"/>
              <a:t>3</a:t>
            </a:fld>
            <a:endParaRPr lang="en-GB" sz="1200" b="0" i="0" u="none" strike="noStrike" kern="1200" cap="none" spc="0" baseline="0" dirty="0">
              <a:solidFill>
                <a:srgbClr val="000000"/>
              </a:solidFill>
              <a:uFillTx/>
              <a:latin typeface="Calibri"/>
            </a:endParaRPr>
          </a:p>
        </p:txBody>
      </p:sp>
      <p:sp>
        <p:nvSpPr>
          <p:cNvPr id="4" name="Oval 17">
            <a:hlinkClick r:id="rId2" action="ppaction://hlinksldjump"/>
            <a:extLst>
              <a:ext uri="{FF2B5EF4-FFF2-40B4-BE49-F238E27FC236}">
                <a16:creationId xmlns:a16="http://schemas.microsoft.com/office/drawing/2014/main" id="{2706FE24-A81F-4BB4-A0C2-F4B9CE55204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 name="Oval 18">
            <a:hlinkClick r:id="rId2" action="ppaction://hlinksldjump"/>
            <a:extLst>
              <a:ext uri="{FF2B5EF4-FFF2-40B4-BE49-F238E27FC236}">
                <a16:creationId xmlns:a16="http://schemas.microsoft.com/office/drawing/2014/main" id="{26149DD2-261F-48B3-B236-5F691085CF9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19">
            <a:hlinkClick r:id="rId3" action="ppaction://hlinksldjump"/>
            <a:extLst>
              <a:ext uri="{FF2B5EF4-FFF2-40B4-BE49-F238E27FC236}">
                <a16:creationId xmlns:a16="http://schemas.microsoft.com/office/drawing/2014/main" id="{65E085BB-5B4C-4AAF-BE74-85D53845BAC9}"/>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0">
            <a:hlinkClick r:id="rId4" action="ppaction://hlinksldjump"/>
            <a:extLst>
              <a:ext uri="{FF2B5EF4-FFF2-40B4-BE49-F238E27FC236}">
                <a16:creationId xmlns:a16="http://schemas.microsoft.com/office/drawing/2014/main" id="{EE8AD11B-2D6E-4391-9782-7E5D3BFD8827}"/>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TextBox 21">
            <a:hlinkClick r:id="rId2" action="ppaction://hlinksldjump"/>
            <a:extLst>
              <a:ext uri="{FF2B5EF4-FFF2-40B4-BE49-F238E27FC236}">
                <a16:creationId xmlns:a16="http://schemas.microsoft.com/office/drawing/2014/main" id="{E0F77821-1F4B-43B7-8C29-5D6AF0E010DA}"/>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9" name="TextBox 22">
            <a:hlinkClick r:id="rId2" action="ppaction://hlinksldjump"/>
            <a:extLst>
              <a:ext uri="{FF2B5EF4-FFF2-40B4-BE49-F238E27FC236}">
                <a16:creationId xmlns:a16="http://schemas.microsoft.com/office/drawing/2014/main" id="{882ED2D2-5B11-4EBF-A9D1-3FFA3E1BFA1C}"/>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10" name="TextBox 23">
            <a:hlinkClick r:id="rId3" action="ppaction://hlinksldjump"/>
            <a:extLst>
              <a:ext uri="{FF2B5EF4-FFF2-40B4-BE49-F238E27FC236}">
                <a16:creationId xmlns:a16="http://schemas.microsoft.com/office/drawing/2014/main" id="{76127011-415D-4E4D-B23D-C3C9853639C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1" name="TextBox 24">
            <a:hlinkClick r:id="rId3" action="ppaction://hlinksldjump"/>
            <a:extLst>
              <a:ext uri="{FF2B5EF4-FFF2-40B4-BE49-F238E27FC236}">
                <a16:creationId xmlns:a16="http://schemas.microsoft.com/office/drawing/2014/main" id="{80CC9C6E-D74A-42D3-B805-1892F9B56E32}"/>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2" name="Oval 25">
            <a:extLst>
              <a:ext uri="{FF2B5EF4-FFF2-40B4-BE49-F238E27FC236}">
                <a16:creationId xmlns:a16="http://schemas.microsoft.com/office/drawing/2014/main" id="{42CA618F-7E95-4B30-B089-D3F115F1545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26">
            <a:hlinkClick r:id="rId5" action="ppaction://hlinksldjump"/>
            <a:extLst>
              <a:ext uri="{FF2B5EF4-FFF2-40B4-BE49-F238E27FC236}">
                <a16:creationId xmlns:a16="http://schemas.microsoft.com/office/drawing/2014/main" id="{A3CB01EC-3180-4E13-83AB-DFE9E0AF0FBA}"/>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4" name="Picture 40">
            <a:hlinkClick r:id="rId2" action="ppaction://hlinksldjump"/>
            <a:extLst>
              <a:ext uri="{FF2B5EF4-FFF2-40B4-BE49-F238E27FC236}">
                <a16:creationId xmlns:a16="http://schemas.microsoft.com/office/drawing/2014/main" id="{98F942E0-9302-4467-8E6D-8F2EAD7C1193}"/>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15" name="Oval 28">
            <a:hlinkClick r:id="rId2" action="ppaction://hlinksldjump"/>
            <a:extLst>
              <a:ext uri="{FF2B5EF4-FFF2-40B4-BE49-F238E27FC236}">
                <a16:creationId xmlns:a16="http://schemas.microsoft.com/office/drawing/2014/main" id="{91E3DEA6-F31D-4828-A9FB-23DFD58FBA8A}"/>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16" name="Picture 8" descr="100% HMRCppt logo">
            <a:extLst>
              <a:ext uri="{FF2B5EF4-FFF2-40B4-BE49-F238E27FC236}">
                <a16:creationId xmlns:a16="http://schemas.microsoft.com/office/drawing/2014/main" id="{7FD62784-82AC-4521-8818-1844C2621F3E}"/>
              </a:ext>
            </a:extLst>
          </p:cNvPr>
          <p:cNvPicPr>
            <a:picLocks noChangeAspect="1"/>
          </p:cNvPicPr>
          <p:nvPr/>
        </p:nvPicPr>
        <p:blipFill>
          <a:blip r:embed="rId7"/>
          <a:srcRect/>
          <a:stretch>
            <a:fillRect/>
          </a:stretch>
        </p:blipFill>
        <p:spPr>
          <a:xfrm>
            <a:off x="901250" y="765316"/>
            <a:ext cx="1810512" cy="1115568"/>
          </a:xfrm>
          <a:prstGeom prst="rect">
            <a:avLst/>
          </a:prstGeom>
          <a:noFill/>
          <a:ln cap="flat">
            <a:noFill/>
          </a:ln>
        </p:spPr>
      </p:pic>
      <p:sp>
        <p:nvSpPr>
          <p:cNvPr id="17" name="TextBox 32">
            <a:extLst>
              <a:ext uri="{FF2B5EF4-FFF2-40B4-BE49-F238E27FC236}">
                <a16:creationId xmlns:a16="http://schemas.microsoft.com/office/drawing/2014/main" id="{C75BF189-784D-4649-9EF5-A9164964E26F}"/>
              </a:ext>
            </a:extLst>
          </p:cNvPr>
          <p:cNvSpPr txBox="1"/>
          <p:nvPr/>
        </p:nvSpPr>
        <p:spPr>
          <a:xfrm>
            <a:off x="896642" y="3509384"/>
            <a:ext cx="10848304" cy="46166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section provides an overview of </a:t>
            </a:r>
            <a:r>
              <a:rPr lang="en-GB" sz="1200" b="1" i="0" u="none" strike="noStrike" kern="1200" cap="none" spc="0" baseline="0">
                <a:solidFill>
                  <a:srgbClr val="000000"/>
                </a:solidFill>
                <a:uFillTx/>
                <a:latin typeface="Calibri"/>
              </a:rPr>
              <a:t>EU Exit Policy Guidance</a:t>
            </a:r>
            <a:r>
              <a:rPr lang="en-GB" sz="1200" b="0" i="0" u="none" strike="noStrike" kern="1200" cap="none" spc="0" baseline="0">
                <a:solidFill>
                  <a:srgbClr val="000000"/>
                </a:solidFill>
                <a:uFillTx/>
                <a:latin typeface="Calibri"/>
              </a:rPr>
              <a:t> facilitates Northern Ireland trade with GB and RoW to ensure that there is no physical border between Northern Ireland and Republic of Ireland.</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4337">
    <p:spTree>
      <p:nvGrpSpPr>
        <p:cNvPr id="1" name=""/>
        <p:cNvGrpSpPr/>
        <p:nvPr/>
      </p:nvGrpSpPr>
      <p:grpSpPr>
        <a:xfrm>
          <a:off x="0" y="0"/>
          <a:ext cx="0" cy="0"/>
          <a:chOff x="0" y="0"/>
          <a:chExt cx="0" cy="0"/>
        </a:xfrm>
      </p:grpSpPr>
      <p:sp>
        <p:nvSpPr>
          <p:cNvPr id="2" name="Rectangle 81">
            <a:extLst>
              <a:ext uri="{FF2B5EF4-FFF2-40B4-BE49-F238E27FC236}">
                <a16:creationId xmlns:a16="http://schemas.microsoft.com/office/drawing/2014/main" id="{C168B423-CA9B-49BE-9E49-155810261328}"/>
              </a:ext>
            </a:extLst>
          </p:cNvPr>
          <p:cNvSpPr/>
          <p:nvPr/>
        </p:nvSpPr>
        <p:spPr>
          <a:xfrm>
            <a:off x="7031004" y="2008095"/>
            <a:ext cx="4732449" cy="4513633"/>
          </a:xfrm>
          <a:prstGeom prst="rect">
            <a:avLst/>
          </a:prstGeom>
          <a:solidFill>
            <a:srgbClr val="009999">
              <a:alpha val="4000"/>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43" b="0" i="0" u="none" strike="noStrike" kern="1200" cap="none" spc="0" baseline="0">
              <a:solidFill>
                <a:srgbClr val="FFFFFF"/>
              </a:solidFill>
              <a:uFillTx/>
              <a:latin typeface="Calibri"/>
            </a:endParaRPr>
          </a:p>
        </p:txBody>
      </p:sp>
      <p:grpSp>
        <p:nvGrpSpPr>
          <p:cNvPr id="3" name="Group 1">
            <a:extLst>
              <a:ext uri="{FF2B5EF4-FFF2-40B4-BE49-F238E27FC236}">
                <a16:creationId xmlns:a16="http://schemas.microsoft.com/office/drawing/2014/main" id="{4880165D-E91C-485B-A0D5-3E096BF3BDD5}"/>
              </a:ext>
            </a:extLst>
          </p:cNvPr>
          <p:cNvGrpSpPr/>
          <p:nvPr/>
        </p:nvGrpSpPr>
        <p:grpSpPr>
          <a:xfrm>
            <a:off x="3840315" y="2008095"/>
            <a:ext cx="3697211" cy="4513295"/>
            <a:chOff x="3840315" y="2008095"/>
            <a:chExt cx="3697211" cy="4513295"/>
          </a:xfrm>
        </p:grpSpPr>
        <p:sp>
          <p:nvSpPr>
            <p:cNvPr id="4" name="Rectangle 2">
              <a:extLst>
                <a:ext uri="{FF2B5EF4-FFF2-40B4-BE49-F238E27FC236}">
                  <a16:creationId xmlns:a16="http://schemas.microsoft.com/office/drawing/2014/main" id="{32E18744-977E-486C-A59F-76DA03378AA6}"/>
                </a:ext>
              </a:extLst>
            </p:cNvPr>
            <p:cNvSpPr/>
            <p:nvPr/>
          </p:nvSpPr>
          <p:spPr>
            <a:xfrm>
              <a:off x="3840315" y="2008095"/>
              <a:ext cx="3265221" cy="4513295"/>
            </a:xfrm>
            <a:prstGeom prst="rect">
              <a:avLst/>
            </a:pr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43" b="0" i="0" u="none" strike="noStrike" kern="1200" cap="none" spc="0" baseline="0">
                <a:solidFill>
                  <a:srgbClr val="FFFFFF"/>
                </a:solidFill>
                <a:uFillTx/>
                <a:latin typeface="Calibri"/>
              </a:endParaRPr>
            </a:p>
          </p:txBody>
        </p:sp>
        <p:sp>
          <p:nvSpPr>
            <p:cNvPr id="5" name="Arrow: Right 82">
              <a:extLst>
                <a:ext uri="{FF2B5EF4-FFF2-40B4-BE49-F238E27FC236}">
                  <a16:creationId xmlns:a16="http://schemas.microsoft.com/office/drawing/2014/main" id="{60D0FA25-F999-40F3-8A39-0A454B825B5C}"/>
                </a:ext>
              </a:extLst>
            </p:cNvPr>
            <p:cNvSpPr/>
            <p:nvPr/>
          </p:nvSpPr>
          <p:spPr>
            <a:xfrm>
              <a:off x="7110593" y="2026356"/>
              <a:ext cx="426933" cy="4477652"/>
            </a:xfrm>
            <a:custGeom>
              <a:avLst>
                <a:gd name="f0" fmla="val 0"/>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0 f12 1"/>
                <a:gd name="f24" fmla="*/ 0 f13 1"/>
                <a:gd name="f25" fmla="*/ f16 1 f4"/>
                <a:gd name="f26" fmla="*/ 21600 f13 1"/>
                <a:gd name="f27" fmla="*/ f17 1 f4"/>
                <a:gd name="f28" fmla="+- 21600 0 f19"/>
                <a:gd name="f29" fmla="*/ f20 f13 1"/>
                <a:gd name="f30" fmla="*/ f18 f13 1"/>
                <a:gd name="f31" fmla="*/ f19 f12 1"/>
                <a:gd name="f32" fmla="+- f25 0 f3"/>
                <a:gd name="f33" fmla="+- f27 0 f3"/>
                <a:gd name="f34" fmla="*/ f28 f18 1"/>
                <a:gd name="f35" fmla="*/ f34 1 10800"/>
                <a:gd name="f36" fmla="+- f19 f35 0"/>
                <a:gd name="f37" fmla="*/ f36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23" t="f30" r="f37" b="f29"/>
              <a:pathLst>
                <a:path w="21600" h="21600">
                  <a:moveTo>
                    <a:pt x="f7" y="f18"/>
                  </a:moveTo>
                  <a:lnTo>
                    <a:pt x="f19" y="f18"/>
                  </a:lnTo>
                  <a:lnTo>
                    <a:pt x="f19" y="f7"/>
                  </a:lnTo>
                  <a:lnTo>
                    <a:pt x="f8" y="f9"/>
                  </a:lnTo>
                  <a:lnTo>
                    <a:pt x="f19" y="f8"/>
                  </a:lnTo>
                  <a:lnTo>
                    <a:pt x="f19" y="f20"/>
                  </a:lnTo>
                  <a:lnTo>
                    <a:pt x="f7" y="f20"/>
                  </a:lnTo>
                  <a:close/>
                </a:path>
              </a:pathLst>
            </a:cu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6" name="Rectangle 10">
            <a:extLst>
              <a:ext uri="{FF2B5EF4-FFF2-40B4-BE49-F238E27FC236}">
                <a16:creationId xmlns:a16="http://schemas.microsoft.com/office/drawing/2014/main" id="{69C0A661-D555-4365-AED9-8E3A8F9D39FA}"/>
              </a:ext>
            </a:extLst>
          </p:cNvPr>
          <p:cNvSpPr/>
          <p:nvPr/>
        </p:nvSpPr>
        <p:spPr>
          <a:xfrm>
            <a:off x="7651360" y="2078294"/>
            <a:ext cx="1643588"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From January 2021:</a:t>
            </a:r>
          </a:p>
        </p:txBody>
      </p:sp>
      <p:pic>
        <p:nvPicPr>
          <p:cNvPr id="7" name="Graphic 6">
            <a:extLst>
              <a:ext uri="{FF2B5EF4-FFF2-40B4-BE49-F238E27FC236}">
                <a16:creationId xmlns:a16="http://schemas.microsoft.com/office/drawing/2014/main" id="{1AE45B0D-E7D9-42FB-A4FB-3BA383D7FFB0}"/>
              </a:ext>
            </a:extLst>
          </p:cNvPr>
          <p:cNvPicPr>
            <a:picLocks noChangeAspect="1"/>
          </p:cNvPicPr>
          <p:nvPr/>
        </p:nvPicPr>
        <p:blipFill>
          <a:blip r:embed="rId3">
            <a:extLst>
              <a:ext uri="{96DAC541-7B7A-43D3-8B79-37D633B846F1}">
                <asvg:svgBlip xmlns:asvg="http://schemas.microsoft.com/office/drawing/2016/SVG/main" r:embed="rId4"/>
              </a:ext>
            </a:extLst>
          </a:blip>
          <a:srcRect l="-1022" t="5599" r="-2865" b="-509"/>
          <a:stretch>
            <a:fillRect/>
          </a:stretch>
        </p:blipFill>
        <p:spPr>
          <a:xfrm>
            <a:off x="4609298" y="2252075"/>
            <a:ext cx="2205130" cy="2282945"/>
          </a:xfrm>
          <a:prstGeom prst="rect">
            <a:avLst/>
          </a:prstGeom>
          <a:noFill/>
          <a:ln cap="flat">
            <a:noFill/>
          </a:ln>
        </p:spPr>
      </p:pic>
      <p:sp>
        <p:nvSpPr>
          <p:cNvPr id="8" name="TextBox 15">
            <a:extLst>
              <a:ext uri="{FF2B5EF4-FFF2-40B4-BE49-F238E27FC236}">
                <a16:creationId xmlns:a16="http://schemas.microsoft.com/office/drawing/2014/main" id="{46D07BE2-B4EE-44D3-939C-586CA4369F2B}"/>
              </a:ext>
            </a:extLst>
          </p:cNvPr>
          <p:cNvSpPr txBox="1"/>
          <p:nvPr/>
        </p:nvSpPr>
        <p:spPr>
          <a:xfrm>
            <a:off x="6168816" y="3782031"/>
            <a:ext cx="427353"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GB</a:t>
            </a:r>
          </a:p>
        </p:txBody>
      </p:sp>
      <p:sp>
        <p:nvSpPr>
          <p:cNvPr id="9" name="TextBox 16">
            <a:extLst>
              <a:ext uri="{FF2B5EF4-FFF2-40B4-BE49-F238E27FC236}">
                <a16:creationId xmlns:a16="http://schemas.microsoft.com/office/drawing/2014/main" id="{13EF0D7C-90FB-43B0-9211-821A171528C4}"/>
              </a:ext>
            </a:extLst>
          </p:cNvPr>
          <p:cNvSpPr txBox="1"/>
          <p:nvPr/>
        </p:nvSpPr>
        <p:spPr>
          <a:xfrm>
            <a:off x="5152104" y="3223744"/>
            <a:ext cx="347938"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NI</a:t>
            </a:r>
          </a:p>
        </p:txBody>
      </p:sp>
      <p:sp>
        <p:nvSpPr>
          <p:cNvPr id="10" name="TextBox 17">
            <a:extLst>
              <a:ext uri="{FF2B5EF4-FFF2-40B4-BE49-F238E27FC236}">
                <a16:creationId xmlns:a16="http://schemas.microsoft.com/office/drawing/2014/main" id="{1180275E-08F2-4A9F-9B9A-C6F61F2E18F9}"/>
              </a:ext>
            </a:extLst>
          </p:cNvPr>
          <p:cNvSpPr txBox="1"/>
          <p:nvPr/>
        </p:nvSpPr>
        <p:spPr>
          <a:xfrm>
            <a:off x="4941253" y="3606036"/>
            <a:ext cx="62700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RoI</a:t>
            </a:r>
          </a:p>
        </p:txBody>
      </p:sp>
      <p:sp>
        <p:nvSpPr>
          <p:cNvPr id="11" name="Right Arrow 31">
            <a:extLst>
              <a:ext uri="{FF2B5EF4-FFF2-40B4-BE49-F238E27FC236}">
                <a16:creationId xmlns:a16="http://schemas.microsoft.com/office/drawing/2014/main" id="{99204A69-769E-4569-A32A-978F97AB878E}"/>
              </a:ext>
            </a:extLst>
          </p:cNvPr>
          <p:cNvSpPr/>
          <p:nvPr/>
        </p:nvSpPr>
        <p:spPr>
          <a:xfrm rot="1250102">
            <a:off x="4544167" y="3194411"/>
            <a:ext cx="649242" cy="287112"/>
          </a:xfrm>
          <a:custGeom>
            <a:avLst>
              <a:gd name="f0" fmla="val 16824"/>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0 f12 1"/>
              <a:gd name="f24" fmla="*/ 0 f13 1"/>
              <a:gd name="f25" fmla="*/ f16 1 f4"/>
              <a:gd name="f26" fmla="*/ 21600 f13 1"/>
              <a:gd name="f27" fmla="*/ f17 1 f4"/>
              <a:gd name="f28" fmla="+- 21600 0 f19"/>
              <a:gd name="f29" fmla="*/ f20 f13 1"/>
              <a:gd name="f30" fmla="*/ f18 f13 1"/>
              <a:gd name="f31" fmla="*/ f19 f12 1"/>
              <a:gd name="f32" fmla="+- f25 0 f3"/>
              <a:gd name="f33" fmla="+- f27 0 f3"/>
              <a:gd name="f34" fmla="*/ f28 f18 1"/>
              <a:gd name="f35" fmla="*/ f34 1 10800"/>
              <a:gd name="f36" fmla="+- f19 f35 0"/>
              <a:gd name="f37" fmla="*/ f36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23" t="f30" r="f37" b="f29"/>
            <a:pathLst>
              <a:path w="21600" h="21600">
                <a:moveTo>
                  <a:pt x="f7" y="f18"/>
                </a:moveTo>
                <a:lnTo>
                  <a:pt x="f19" y="f18"/>
                </a:lnTo>
                <a:lnTo>
                  <a:pt x="f19" y="f7"/>
                </a:lnTo>
                <a:lnTo>
                  <a:pt x="f8" y="f9"/>
                </a:lnTo>
                <a:lnTo>
                  <a:pt x="f19" y="f8"/>
                </a:lnTo>
                <a:lnTo>
                  <a:pt x="f19" y="f20"/>
                </a:lnTo>
                <a:lnTo>
                  <a:pt x="f7" y="f20"/>
                </a:lnTo>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1</a:t>
            </a:r>
          </a:p>
        </p:txBody>
      </p:sp>
      <p:sp>
        <p:nvSpPr>
          <p:cNvPr id="12" name="TextBox 31">
            <a:extLst>
              <a:ext uri="{FF2B5EF4-FFF2-40B4-BE49-F238E27FC236}">
                <a16:creationId xmlns:a16="http://schemas.microsoft.com/office/drawing/2014/main" id="{B05EC283-02B3-4810-B180-E85E794E7094}"/>
              </a:ext>
            </a:extLst>
          </p:cNvPr>
          <p:cNvSpPr txBox="1"/>
          <p:nvPr/>
        </p:nvSpPr>
        <p:spPr>
          <a:xfrm>
            <a:off x="4261076" y="2774472"/>
            <a:ext cx="62700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RoW</a:t>
            </a:r>
          </a:p>
        </p:txBody>
      </p:sp>
      <p:sp>
        <p:nvSpPr>
          <p:cNvPr id="13" name="Oval 32">
            <a:extLst>
              <a:ext uri="{FF2B5EF4-FFF2-40B4-BE49-F238E27FC236}">
                <a16:creationId xmlns:a16="http://schemas.microsoft.com/office/drawing/2014/main" id="{F90F4558-1E57-4210-AA90-23098FC4DD79}"/>
              </a:ext>
            </a:extLst>
          </p:cNvPr>
          <p:cNvSpPr/>
          <p:nvPr/>
        </p:nvSpPr>
        <p:spPr>
          <a:xfrm>
            <a:off x="3988256" y="4658465"/>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1</a:t>
            </a:r>
          </a:p>
        </p:txBody>
      </p:sp>
      <p:sp>
        <p:nvSpPr>
          <p:cNvPr id="14" name="Rectangle 33">
            <a:extLst>
              <a:ext uri="{FF2B5EF4-FFF2-40B4-BE49-F238E27FC236}">
                <a16:creationId xmlns:a16="http://schemas.microsoft.com/office/drawing/2014/main" id="{795B08FD-C06D-4E40-ADE1-E56D6E3721D5}"/>
              </a:ext>
            </a:extLst>
          </p:cNvPr>
          <p:cNvSpPr/>
          <p:nvPr/>
        </p:nvSpPr>
        <p:spPr>
          <a:xfrm>
            <a:off x="4241791" y="4632039"/>
            <a:ext cx="2795366"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 declaration </a:t>
            </a:r>
            <a:r>
              <a:rPr lang="en-GB" sz="1200" b="0" i="0" u="none" strike="noStrike" kern="1200" cap="none" spc="0" baseline="0">
                <a:solidFill>
                  <a:srgbClr val="000000"/>
                </a:solidFill>
                <a:uFillTx/>
                <a:latin typeface="Calibri"/>
              </a:rPr>
              <a:t>for goods moving into NI from RoW </a:t>
            </a:r>
            <a:endParaRPr lang="en-GB" sz="1200" b="1" i="0" u="none" strike="noStrike" kern="1200" cap="none" spc="0" baseline="0">
              <a:solidFill>
                <a:srgbClr val="000000"/>
              </a:solidFill>
              <a:uFillTx/>
              <a:latin typeface="Calibri"/>
            </a:endParaRPr>
          </a:p>
        </p:txBody>
      </p:sp>
      <p:sp>
        <p:nvSpPr>
          <p:cNvPr id="15" name="Left Arrow 38">
            <a:extLst>
              <a:ext uri="{FF2B5EF4-FFF2-40B4-BE49-F238E27FC236}">
                <a16:creationId xmlns:a16="http://schemas.microsoft.com/office/drawing/2014/main" id="{8BF289B4-0894-4A6C-B2C3-E9C388F51D1E}"/>
              </a:ext>
            </a:extLst>
          </p:cNvPr>
          <p:cNvSpPr/>
          <p:nvPr/>
        </p:nvSpPr>
        <p:spPr>
          <a:xfrm rot="2507492">
            <a:off x="4727854" y="2957289"/>
            <a:ext cx="600559" cy="270561"/>
          </a:xfrm>
          <a:custGeom>
            <a:avLst>
              <a:gd name="f0" fmla="val 4866"/>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21600 f12 1"/>
              <a:gd name="f24" fmla="*/ 0 f13 1"/>
              <a:gd name="f25" fmla="*/ f16 1 f4"/>
              <a:gd name="f26" fmla="*/ 21600 f13 1"/>
              <a:gd name="f27" fmla="*/ f17 1 f4"/>
              <a:gd name="f28" fmla="*/ f19 f18 1"/>
              <a:gd name="f29" fmla="*/ f20 f13 1"/>
              <a:gd name="f30" fmla="*/ f18 f13 1"/>
              <a:gd name="f31" fmla="*/ f19 f12 1"/>
              <a:gd name="f32" fmla="+- f25 0 f3"/>
              <a:gd name="f33" fmla="+- f27 0 f3"/>
              <a:gd name="f34" fmla="*/ f28 1 10800"/>
              <a:gd name="f35" fmla="+- f19 0 f34"/>
              <a:gd name="f36" fmla="*/ f35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36" t="f30" r="f23" b="f29"/>
            <a:pathLst>
              <a:path w="21600" h="21600">
                <a:moveTo>
                  <a:pt x="f8" y="f18"/>
                </a:moveTo>
                <a:lnTo>
                  <a:pt x="f19" y="f18"/>
                </a:lnTo>
                <a:lnTo>
                  <a:pt x="f19" y="f7"/>
                </a:lnTo>
                <a:lnTo>
                  <a:pt x="f7" y="f9"/>
                </a:lnTo>
                <a:lnTo>
                  <a:pt x="f19" y="f8"/>
                </a:lnTo>
                <a:lnTo>
                  <a:pt x="f19" y="f20"/>
                </a:lnTo>
                <a:lnTo>
                  <a:pt x="f8" y="f20"/>
                </a:lnTo>
                <a:close/>
              </a:path>
            </a:pathLst>
          </a:custGeom>
          <a:solidFill>
            <a:srgbClr val="00B0F0"/>
          </a:solidFill>
          <a:ln w="12701" cap="flat">
            <a:solidFill>
              <a:srgbClr val="00B0F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2</a:t>
            </a:r>
          </a:p>
        </p:txBody>
      </p:sp>
      <p:sp>
        <p:nvSpPr>
          <p:cNvPr id="16" name="Rectangle 44">
            <a:extLst>
              <a:ext uri="{FF2B5EF4-FFF2-40B4-BE49-F238E27FC236}">
                <a16:creationId xmlns:a16="http://schemas.microsoft.com/office/drawing/2014/main" id="{32D5AB97-4B41-4CF5-B4C6-6A51B34F02B3}"/>
              </a:ext>
            </a:extLst>
          </p:cNvPr>
          <p:cNvSpPr/>
          <p:nvPr/>
        </p:nvSpPr>
        <p:spPr>
          <a:xfrm>
            <a:off x="3920297" y="5550499"/>
            <a:ext cx="3164756"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No customs declaration </a:t>
            </a:r>
            <a:r>
              <a:rPr lang="en-GB" sz="1200" b="0" i="0" u="none" strike="noStrike" kern="1200" cap="none" spc="0" baseline="0">
                <a:solidFill>
                  <a:srgbClr val="000000"/>
                </a:solidFill>
                <a:uFillTx/>
                <a:latin typeface="Calibri"/>
              </a:rPr>
              <a:t>is required for movements between GB or EU due to the current transition period agreement.</a:t>
            </a:r>
          </a:p>
        </p:txBody>
      </p:sp>
      <p:sp>
        <p:nvSpPr>
          <p:cNvPr id="17" name="Oval 46">
            <a:extLst>
              <a:ext uri="{FF2B5EF4-FFF2-40B4-BE49-F238E27FC236}">
                <a16:creationId xmlns:a16="http://schemas.microsoft.com/office/drawing/2014/main" id="{001DC091-9242-4004-B871-6E252C971871}"/>
              </a:ext>
            </a:extLst>
          </p:cNvPr>
          <p:cNvSpPr/>
          <p:nvPr/>
        </p:nvSpPr>
        <p:spPr>
          <a:xfrm>
            <a:off x="3988256" y="5119506"/>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B0F0"/>
          </a:solidFill>
          <a:ln w="12701" cap="flat">
            <a:solidFill>
              <a:srgbClr val="00B0F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2</a:t>
            </a:r>
          </a:p>
        </p:txBody>
      </p:sp>
      <p:sp>
        <p:nvSpPr>
          <p:cNvPr id="18" name="Rectangle 47">
            <a:extLst>
              <a:ext uri="{FF2B5EF4-FFF2-40B4-BE49-F238E27FC236}">
                <a16:creationId xmlns:a16="http://schemas.microsoft.com/office/drawing/2014/main" id="{35AE3F35-6AB6-42B6-9654-ACA803101378}"/>
              </a:ext>
            </a:extLst>
          </p:cNvPr>
          <p:cNvSpPr/>
          <p:nvPr/>
        </p:nvSpPr>
        <p:spPr>
          <a:xfrm>
            <a:off x="4234321" y="5098977"/>
            <a:ext cx="2937153"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Export declaration </a:t>
            </a:r>
            <a:r>
              <a:rPr lang="en-GB" sz="1200" b="0" i="0" u="none" strike="noStrike" kern="1200" cap="none" spc="0" baseline="0">
                <a:solidFill>
                  <a:srgbClr val="000000"/>
                </a:solidFill>
                <a:uFillTx/>
                <a:latin typeface="Calibri"/>
              </a:rPr>
              <a:t>for goods moving from NI into RoW </a:t>
            </a:r>
            <a:endParaRPr lang="en-GB" sz="1200" b="1" i="0" u="none" strike="noStrike" kern="1200" cap="none" spc="0" baseline="0">
              <a:solidFill>
                <a:srgbClr val="000000"/>
              </a:solidFill>
              <a:uFillTx/>
              <a:latin typeface="Calibri"/>
            </a:endParaRPr>
          </a:p>
        </p:txBody>
      </p:sp>
      <p:pic>
        <p:nvPicPr>
          <p:cNvPr id="19" name="Graphic 6">
            <a:extLst>
              <a:ext uri="{FF2B5EF4-FFF2-40B4-BE49-F238E27FC236}">
                <a16:creationId xmlns:a16="http://schemas.microsoft.com/office/drawing/2014/main" id="{9767B3D8-92AA-4F36-9546-25F6898CAFBB}"/>
              </a:ext>
            </a:extLst>
          </p:cNvPr>
          <p:cNvPicPr>
            <a:picLocks noChangeAspect="1"/>
          </p:cNvPicPr>
          <p:nvPr/>
        </p:nvPicPr>
        <p:blipFill>
          <a:blip r:embed="rId3">
            <a:extLst>
              <a:ext uri="{96DAC541-7B7A-43D3-8B79-37D633B846F1}">
                <asvg:svgBlip xmlns:asvg="http://schemas.microsoft.com/office/drawing/2016/SVG/main" r:embed="rId4"/>
              </a:ext>
            </a:extLst>
          </a:blip>
          <a:srcRect l="-1022" t="5599" r="-2865" b="-509"/>
          <a:stretch>
            <a:fillRect/>
          </a:stretch>
        </p:blipFill>
        <p:spPr>
          <a:xfrm>
            <a:off x="8293159" y="2335834"/>
            <a:ext cx="2132481" cy="2207727"/>
          </a:xfrm>
          <a:prstGeom prst="rect">
            <a:avLst/>
          </a:prstGeom>
          <a:noFill/>
          <a:ln cap="flat">
            <a:noFill/>
          </a:ln>
        </p:spPr>
      </p:pic>
      <p:sp>
        <p:nvSpPr>
          <p:cNvPr id="20" name="TextBox 49">
            <a:extLst>
              <a:ext uri="{FF2B5EF4-FFF2-40B4-BE49-F238E27FC236}">
                <a16:creationId xmlns:a16="http://schemas.microsoft.com/office/drawing/2014/main" id="{750F4BD5-CF55-4D5C-B44A-4C4173B3D8DE}"/>
              </a:ext>
            </a:extLst>
          </p:cNvPr>
          <p:cNvSpPr txBox="1"/>
          <p:nvPr/>
        </p:nvSpPr>
        <p:spPr>
          <a:xfrm>
            <a:off x="9724836" y="3838559"/>
            <a:ext cx="427353"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GB</a:t>
            </a:r>
          </a:p>
        </p:txBody>
      </p:sp>
      <p:sp>
        <p:nvSpPr>
          <p:cNvPr id="21" name="TextBox 50">
            <a:extLst>
              <a:ext uri="{FF2B5EF4-FFF2-40B4-BE49-F238E27FC236}">
                <a16:creationId xmlns:a16="http://schemas.microsoft.com/office/drawing/2014/main" id="{54CA5B8E-D33B-4E83-A953-D1950264CCCD}"/>
              </a:ext>
            </a:extLst>
          </p:cNvPr>
          <p:cNvSpPr txBox="1"/>
          <p:nvPr/>
        </p:nvSpPr>
        <p:spPr>
          <a:xfrm>
            <a:off x="8820082" y="3260649"/>
            <a:ext cx="347938"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NI</a:t>
            </a:r>
          </a:p>
        </p:txBody>
      </p:sp>
      <p:sp>
        <p:nvSpPr>
          <p:cNvPr id="22" name="TextBox 51">
            <a:extLst>
              <a:ext uri="{FF2B5EF4-FFF2-40B4-BE49-F238E27FC236}">
                <a16:creationId xmlns:a16="http://schemas.microsoft.com/office/drawing/2014/main" id="{CD95FDBF-2CB4-4B49-916E-B9A6C29E42E6}"/>
              </a:ext>
            </a:extLst>
          </p:cNvPr>
          <p:cNvSpPr txBox="1"/>
          <p:nvPr/>
        </p:nvSpPr>
        <p:spPr>
          <a:xfrm>
            <a:off x="8598615" y="3628558"/>
            <a:ext cx="62700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RoI</a:t>
            </a:r>
          </a:p>
        </p:txBody>
      </p:sp>
      <p:sp>
        <p:nvSpPr>
          <p:cNvPr id="23" name="Right Arrow 31">
            <a:extLst>
              <a:ext uri="{FF2B5EF4-FFF2-40B4-BE49-F238E27FC236}">
                <a16:creationId xmlns:a16="http://schemas.microsoft.com/office/drawing/2014/main" id="{17629741-D867-401D-851F-BFCF297DE5ED}"/>
              </a:ext>
            </a:extLst>
          </p:cNvPr>
          <p:cNvSpPr/>
          <p:nvPr/>
        </p:nvSpPr>
        <p:spPr>
          <a:xfrm rot="1250102">
            <a:off x="8196830" y="3168405"/>
            <a:ext cx="649242" cy="287112"/>
          </a:xfrm>
          <a:custGeom>
            <a:avLst>
              <a:gd name="f0" fmla="val 16824"/>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0 f12 1"/>
              <a:gd name="f24" fmla="*/ 0 f13 1"/>
              <a:gd name="f25" fmla="*/ f16 1 f4"/>
              <a:gd name="f26" fmla="*/ 21600 f13 1"/>
              <a:gd name="f27" fmla="*/ f17 1 f4"/>
              <a:gd name="f28" fmla="+- 21600 0 f19"/>
              <a:gd name="f29" fmla="*/ f20 f13 1"/>
              <a:gd name="f30" fmla="*/ f18 f13 1"/>
              <a:gd name="f31" fmla="*/ f19 f12 1"/>
              <a:gd name="f32" fmla="+- f25 0 f3"/>
              <a:gd name="f33" fmla="+- f27 0 f3"/>
              <a:gd name="f34" fmla="*/ f28 f18 1"/>
              <a:gd name="f35" fmla="*/ f34 1 10800"/>
              <a:gd name="f36" fmla="+- f19 f35 0"/>
              <a:gd name="f37" fmla="*/ f36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23" t="f30" r="f37" b="f29"/>
            <a:pathLst>
              <a:path w="21600" h="21600">
                <a:moveTo>
                  <a:pt x="f7" y="f18"/>
                </a:moveTo>
                <a:lnTo>
                  <a:pt x="f19" y="f18"/>
                </a:lnTo>
                <a:lnTo>
                  <a:pt x="f19" y="f7"/>
                </a:lnTo>
                <a:lnTo>
                  <a:pt x="f8" y="f9"/>
                </a:lnTo>
                <a:lnTo>
                  <a:pt x="f19" y="f8"/>
                </a:lnTo>
                <a:lnTo>
                  <a:pt x="f19" y="f20"/>
                </a:lnTo>
                <a:lnTo>
                  <a:pt x="f7" y="f20"/>
                </a:lnTo>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1</a:t>
            </a:r>
          </a:p>
        </p:txBody>
      </p:sp>
      <p:sp>
        <p:nvSpPr>
          <p:cNvPr id="24" name="TextBox 55">
            <a:extLst>
              <a:ext uri="{FF2B5EF4-FFF2-40B4-BE49-F238E27FC236}">
                <a16:creationId xmlns:a16="http://schemas.microsoft.com/office/drawing/2014/main" id="{05DA30CC-819D-40F5-8B31-9C9AEA6DE896}"/>
              </a:ext>
            </a:extLst>
          </p:cNvPr>
          <p:cNvSpPr txBox="1"/>
          <p:nvPr/>
        </p:nvSpPr>
        <p:spPr>
          <a:xfrm>
            <a:off x="7960647" y="2859959"/>
            <a:ext cx="62700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A6A6A6"/>
                </a:solidFill>
                <a:uFillTx/>
                <a:latin typeface="Calibri"/>
              </a:rPr>
              <a:t>RoW</a:t>
            </a:r>
          </a:p>
        </p:txBody>
      </p:sp>
      <p:sp>
        <p:nvSpPr>
          <p:cNvPr id="25" name="Oval 56">
            <a:extLst>
              <a:ext uri="{FF2B5EF4-FFF2-40B4-BE49-F238E27FC236}">
                <a16:creationId xmlns:a16="http://schemas.microsoft.com/office/drawing/2014/main" id="{FDF3C682-FCAD-4246-BA36-8B8D1A90B70E}"/>
              </a:ext>
            </a:extLst>
          </p:cNvPr>
          <p:cNvSpPr/>
          <p:nvPr/>
        </p:nvSpPr>
        <p:spPr>
          <a:xfrm>
            <a:off x="7668780" y="4619192"/>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1</a:t>
            </a:r>
          </a:p>
        </p:txBody>
      </p:sp>
      <p:sp>
        <p:nvSpPr>
          <p:cNvPr id="26" name="Rectangle 57">
            <a:extLst>
              <a:ext uri="{FF2B5EF4-FFF2-40B4-BE49-F238E27FC236}">
                <a16:creationId xmlns:a16="http://schemas.microsoft.com/office/drawing/2014/main" id="{5CDD2D65-E11A-4381-B810-5A00F7C302C6}"/>
              </a:ext>
            </a:extLst>
          </p:cNvPr>
          <p:cNvSpPr/>
          <p:nvPr/>
        </p:nvSpPr>
        <p:spPr>
          <a:xfrm>
            <a:off x="7924483" y="4625986"/>
            <a:ext cx="5435019"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 declaration </a:t>
            </a:r>
            <a:r>
              <a:rPr lang="en-GB" sz="1200" b="0" i="0" u="none" strike="noStrike" kern="1200" cap="none" spc="0" baseline="0">
                <a:solidFill>
                  <a:srgbClr val="000000"/>
                </a:solidFill>
                <a:uFillTx/>
                <a:latin typeface="Calibri"/>
              </a:rPr>
              <a:t>for goods moving into NI from RoW</a:t>
            </a:r>
          </a:p>
        </p:txBody>
      </p:sp>
      <p:sp>
        <p:nvSpPr>
          <p:cNvPr id="27" name="Left Arrow 38">
            <a:extLst>
              <a:ext uri="{FF2B5EF4-FFF2-40B4-BE49-F238E27FC236}">
                <a16:creationId xmlns:a16="http://schemas.microsoft.com/office/drawing/2014/main" id="{16881431-A02C-43E7-A5BE-E2E63FED64AD}"/>
              </a:ext>
            </a:extLst>
          </p:cNvPr>
          <p:cNvSpPr/>
          <p:nvPr/>
        </p:nvSpPr>
        <p:spPr>
          <a:xfrm rot="2507492">
            <a:off x="8403486" y="2965409"/>
            <a:ext cx="600559" cy="270561"/>
          </a:xfrm>
          <a:custGeom>
            <a:avLst>
              <a:gd name="f0" fmla="val 4866"/>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21600 f12 1"/>
              <a:gd name="f24" fmla="*/ 0 f13 1"/>
              <a:gd name="f25" fmla="*/ f16 1 f4"/>
              <a:gd name="f26" fmla="*/ 21600 f13 1"/>
              <a:gd name="f27" fmla="*/ f17 1 f4"/>
              <a:gd name="f28" fmla="*/ f19 f18 1"/>
              <a:gd name="f29" fmla="*/ f20 f13 1"/>
              <a:gd name="f30" fmla="*/ f18 f13 1"/>
              <a:gd name="f31" fmla="*/ f19 f12 1"/>
              <a:gd name="f32" fmla="+- f25 0 f3"/>
              <a:gd name="f33" fmla="+- f27 0 f3"/>
              <a:gd name="f34" fmla="*/ f28 1 10800"/>
              <a:gd name="f35" fmla="+- f19 0 f34"/>
              <a:gd name="f36" fmla="*/ f35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36" t="f30" r="f23" b="f29"/>
            <a:pathLst>
              <a:path w="21600" h="21600">
                <a:moveTo>
                  <a:pt x="f8" y="f18"/>
                </a:moveTo>
                <a:lnTo>
                  <a:pt x="f19" y="f18"/>
                </a:lnTo>
                <a:lnTo>
                  <a:pt x="f19" y="f7"/>
                </a:lnTo>
                <a:lnTo>
                  <a:pt x="f7" y="f9"/>
                </a:lnTo>
                <a:lnTo>
                  <a:pt x="f19" y="f8"/>
                </a:lnTo>
                <a:lnTo>
                  <a:pt x="f19" y="f20"/>
                </a:lnTo>
                <a:lnTo>
                  <a:pt x="f8" y="f20"/>
                </a:lnTo>
                <a:close/>
              </a:path>
            </a:pathLst>
          </a:custGeom>
          <a:solidFill>
            <a:srgbClr val="00B0F0"/>
          </a:solidFill>
          <a:ln w="12701" cap="flat">
            <a:solidFill>
              <a:srgbClr val="00B0F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2</a:t>
            </a:r>
          </a:p>
        </p:txBody>
      </p:sp>
      <p:sp>
        <p:nvSpPr>
          <p:cNvPr id="28" name="Oval 60">
            <a:extLst>
              <a:ext uri="{FF2B5EF4-FFF2-40B4-BE49-F238E27FC236}">
                <a16:creationId xmlns:a16="http://schemas.microsoft.com/office/drawing/2014/main" id="{104A37F1-9BC3-414B-AC8D-418D18361CD2}"/>
              </a:ext>
            </a:extLst>
          </p:cNvPr>
          <p:cNvSpPr/>
          <p:nvPr/>
        </p:nvSpPr>
        <p:spPr>
          <a:xfrm>
            <a:off x="7668780" y="4918310"/>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B0F0"/>
          </a:solidFill>
          <a:ln w="12701" cap="flat">
            <a:solidFill>
              <a:srgbClr val="00B0F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2</a:t>
            </a:r>
          </a:p>
        </p:txBody>
      </p:sp>
      <p:sp>
        <p:nvSpPr>
          <p:cNvPr id="29" name="Rectangle 61">
            <a:extLst>
              <a:ext uri="{FF2B5EF4-FFF2-40B4-BE49-F238E27FC236}">
                <a16:creationId xmlns:a16="http://schemas.microsoft.com/office/drawing/2014/main" id="{908753B7-849A-44BB-9924-B5925C96315B}"/>
              </a:ext>
            </a:extLst>
          </p:cNvPr>
          <p:cNvSpPr/>
          <p:nvPr/>
        </p:nvSpPr>
        <p:spPr>
          <a:xfrm>
            <a:off x="7932941" y="4911644"/>
            <a:ext cx="5544683"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Export declaration </a:t>
            </a:r>
            <a:r>
              <a:rPr lang="en-GB" sz="1200" b="0" i="0" u="none" strike="noStrike" kern="1200" cap="none" spc="0" baseline="0">
                <a:solidFill>
                  <a:srgbClr val="000000"/>
                </a:solidFill>
                <a:uFillTx/>
                <a:latin typeface="Calibri"/>
              </a:rPr>
              <a:t>for goods moving from NI into RoW</a:t>
            </a:r>
          </a:p>
        </p:txBody>
      </p:sp>
      <p:sp>
        <p:nvSpPr>
          <p:cNvPr id="30" name="Right Arrow 31">
            <a:extLst>
              <a:ext uri="{FF2B5EF4-FFF2-40B4-BE49-F238E27FC236}">
                <a16:creationId xmlns:a16="http://schemas.microsoft.com/office/drawing/2014/main" id="{585A1A37-3727-4DE6-942F-C3718ED20F0F}"/>
              </a:ext>
            </a:extLst>
          </p:cNvPr>
          <p:cNvSpPr/>
          <p:nvPr/>
        </p:nvSpPr>
        <p:spPr>
          <a:xfrm rot="1115239">
            <a:off x="9122585" y="3279267"/>
            <a:ext cx="649242" cy="287112"/>
          </a:xfrm>
          <a:custGeom>
            <a:avLst>
              <a:gd name="f0" fmla="val 16824"/>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0 f12 1"/>
              <a:gd name="f24" fmla="*/ 0 f13 1"/>
              <a:gd name="f25" fmla="*/ f16 1 f4"/>
              <a:gd name="f26" fmla="*/ 21600 f13 1"/>
              <a:gd name="f27" fmla="*/ f17 1 f4"/>
              <a:gd name="f28" fmla="+- 21600 0 f19"/>
              <a:gd name="f29" fmla="*/ f20 f13 1"/>
              <a:gd name="f30" fmla="*/ f18 f13 1"/>
              <a:gd name="f31" fmla="*/ f19 f12 1"/>
              <a:gd name="f32" fmla="+- f25 0 f3"/>
              <a:gd name="f33" fmla="+- f27 0 f3"/>
              <a:gd name="f34" fmla="*/ f28 f18 1"/>
              <a:gd name="f35" fmla="*/ f34 1 10800"/>
              <a:gd name="f36" fmla="+- f19 f35 0"/>
              <a:gd name="f37" fmla="*/ f36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23" t="f30" r="f37" b="f29"/>
            <a:pathLst>
              <a:path w="21600" h="21600">
                <a:moveTo>
                  <a:pt x="f7" y="f18"/>
                </a:moveTo>
                <a:lnTo>
                  <a:pt x="f19" y="f18"/>
                </a:lnTo>
                <a:lnTo>
                  <a:pt x="f19" y="f7"/>
                </a:lnTo>
                <a:lnTo>
                  <a:pt x="f8" y="f9"/>
                </a:lnTo>
                <a:lnTo>
                  <a:pt x="f19" y="f8"/>
                </a:lnTo>
                <a:lnTo>
                  <a:pt x="f19" y="f20"/>
                </a:lnTo>
                <a:lnTo>
                  <a:pt x="f7" y="f20"/>
                </a:lnTo>
                <a:close/>
              </a:path>
            </a:pathLst>
          </a:custGeom>
          <a:solidFill>
            <a:srgbClr val="FFC000"/>
          </a:solid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4</a:t>
            </a:r>
          </a:p>
        </p:txBody>
      </p:sp>
      <p:sp>
        <p:nvSpPr>
          <p:cNvPr id="31" name="Left Arrow 38">
            <a:extLst>
              <a:ext uri="{FF2B5EF4-FFF2-40B4-BE49-F238E27FC236}">
                <a16:creationId xmlns:a16="http://schemas.microsoft.com/office/drawing/2014/main" id="{CC1DB54D-BBCB-4CD6-8CD1-DB6EE9954CC8}"/>
              </a:ext>
            </a:extLst>
          </p:cNvPr>
          <p:cNvSpPr/>
          <p:nvPr/>
        </p:nvSpPr>
        <p:spPr>
          <a:xfrm rot="2507492">
            <a:off x="9014396" y="3584312"/>
            <a:ext cx="600559" cy="270561"/>
          </a:xfrm>
          <a:custGeom>
            <a:avLst>
              <a:gd name="f0" fmla="val 4866"/>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21600 f12 1"/>
              <a:gd name="f24" fmla="*/ 0 f13 1"/>
              <a:gd name="f25" fmla="*/ f16 1 f4"/>
              <a:gd name="f26" fmla="*/ 21600 f13 1"/>
              <a:gd name="f27" fmla="*/ f17 1 f4"/>
              <a:gd name="f28" fmla="*/ f19 f18 1"/>
              <a:gd name="f29" fmla="*/ f20 f13 1"/>
              <a:gd name="f30" fmla="*/ f18 f13 1"/>
              <a:gd name="f31" fmla="*/ f19 f12 1"/>
              <a:gd name="f32" fmla="+- f25 0 f3"/>
              <a:gd name="f33" fmla="+- f27 0 f3"/>
              <a:gd name="f34" fmla="*/ f28 1 10800"/>
              <a:gd name="f35" fmla="+- f19 0 f34"/>
              <a:gd name="f36" fmla="*/ f35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36" t="f30" r="f23" b="f29"/>
            <a:pathLst>
              <a:path w="21600" h="21600">
                <a:moveTo>
                  <a:pt x="f8" y="f18"/>
                </a:moveTo>
                <a:lnTo>
                  <a:pt x="f19" y="f18"/>
                </a:lnTo>
                <a:lnTo>
                  <a:pt x="f19" y="f7"/>
                </a:lnTo>
                <a:lnTo>
                  <a:pt x="f7" y="f9"/>
                </a:lnTo>
                <a:lnTo>
                  <a:pt x="f19" y="f8"/>
                </a:lnTo>
                <a:lnTo>
                  <a:pt x="f19" y="f20"/>
                </a:lnTo>
                <a:lnTo>
                  <a:pt x="f8" y="f20"/>
                </a:lnTo>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3</a:t>
            </a:r>
          </a:p>
        </p:txBody>
      </p:sp>
      <p:sp>
        <p:nvSpPr>
          <p:cNvPr id="32" name="Oval 68">
            <a:extLst>
              <a:ext uri="{FF2B5EF4-FFF2-40B4-BE49-F238E27FC236}">
                <a16:creationId xmlns:a16="http://schemas.microsoft.com/office/drawing/2014/main" id="{061427FA-36D6-4566-ACDB-5D027D7F2F6B}"/>
              </a:ext>
            </a:extLst>
          </p:cNvPr>
          <p:cNvSpPr/>
          <p:nvPr/>
        </p:nvSpPr>
        <p:spPr>
          <a:xfrm>
            <a:off x="7668780" y="5227121"/>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3</a:t>
            </a:r>
          </a:p>
        </p:txBody>
      </p:sp>
      <p:sp>
        <p:nvSpPr>
          <p:cNvPr id="33" name="Rectangle 69">
            <a:extLst>
              <a:ext uri="{FF2B5EF4-FFF2-40B4-BE49-F238E27FC236}">
                <a16:creationId xmlns:a16="http://schemas.microsoft.com/office/drawing/2014/main" id="{AC33677C-A537-4969-9DC1-8CBCCA60D7B7}"/>
              </a:ext>
            </a:extLst>
          </p:cNvPr>
          <p:cNvSpPr/>
          <p:nvPr/>
        </p:nvSpPr>
        <p:spPr>
          <a:xfrm>
            <a:off x="7924483" y="5227579"/>
            <a:ext cx="5435019"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 declaration </a:t>
            </a:r>
            <a:r>
              <a:rPr lang="en-GB" sz="1200" b="0" i="0" u="none" strike="noStrike" kern="1200" cap="none" spc="0" baseline="0">
                <a:solidFill>
                  <a:srgbClr val="000000"/>
                </a:solidFill>
                <a:uFillTx/>
                <a:latin typeface="Calibri"/>
              </a:rPr>
              <a:t>for goods moving into NI from GB</a:t>
            </a:r>
            <a:endParaRPr lang="en-GB" sz="1200" b="1" i="0" u="none" strike="noStrike" kern="1200" cap="none" spc="0" baseline="0">
              <a:solidFill>
                <a:srgbClr val="000000"/>
              </a:solidFill>
              <a:uFillTx/>
              <a:latin typeface="Calibri"/>
            </a:endParaRPr>
          </a:p>
        </p:txBody>
      </p:sp>
      <p:sp>
        <p:nvSpPr>
          <p:cNvPr id="34" name="Oval 70">
            <a:extLst>
              <a:ext uri="{FF2B5EF4-FFF2-40B4-BE49-F238E27FC236}">
                <a16:creationId xmlns:a16="http://schemas.microsoft.com/office/drawing/2014/main" id="{0CFF401A-ECBB-44AF-84FC-F990B9CB43A1}"/>
              </a:ext>
            </a:extLst>
          </p:cNvPr>
          <p:cNvSpPr/>
          <p:nvPr/>
        </p:nvSpPr>
        <p:spPr>
          <a:xfrm>
            <a:off x="7668780" y="5544656"/>
            <a:ext cx="265066" cy="24367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C000"/>
          </a:solid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4</a:t>
            </a:r>
          </a:p>
        </p:txBody>
      </p:sp>
      <p:sp>
        <p:nvSpPr>
          <p:cNvPr id="35" name="Rectangle 71">
            <a:extLst>
              <a:ext uri="{FF2B5EF4-FFF2-40B4-BE49-F238E27FC236}">
                <a16:creationId xmlns:a16="http://schemas.microsoft.com/office/drawing/2014/main" id="{635B3C18-2255-44EC-A739-97AA156BB836}"/>
              </a:ext>
            </a:extLst>
          </p:cNvPr>
          <p:cNvSpPr/>
          <p:nvPr/>
        </p:nvSpPr>
        <p:spPr>
          <a:xfrm>
            <a:off x="7919142" y="5495187"/>
            <a:ext cx="3714731"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Export declaration </a:t>
            </a:r>
            <a:r>
              <a:rPr lang="en-GB" sz="1200" b="0" i="0" u="none" strike="noStrike" kern="1200" cap="none" spc="0" baseline="0">
                <a:solidFill>
                  <a:srgbClr val="000000"/>
                </a:solidFill>
                <a:uFillTx/>
                <a:latin typeface="Calibri"/>
              </a:rPr>
              <a:t>for </a:t>
            </a:r>
            <a:r>
              <a:rPr lang="en-GB" sz="1200" b="1" i="1" u="none" strike="noStrike" kern="1200" cap="none" spc="0" baseline="0">
                <a:solidFill>
                  <a:srgbClr val="000000"/>
                </a:solidFill>
                <a:uFillTx/>
                <a:latin typeface="Calibri"/>
              </a:rPr>
              <a:t>some limited </a:t>
            </a:r>
            <a:r>
              <a:rPr lang="en-GB" sz="1200" b="0" i="0" u="none" strike="noStrike" kern="1200" cap="none" spc="0" baseline="0">
                <a:solidFill>
                  <a:srgbClr val="000000"/>
                </a:solidFill>
                <a:uFillTx/>
                <a:latin typeface="Calibri"/>
              </a:rPr>
              <a:t>goods/procedures moving from NI into GB (e.g. special procedures)</a:t>
            </a:r>
            <a:endParaRPr lang="en-GB" sz="1200" b="1" i="0" u="none" strike="noStrike" kern="1200" cap="none" spc="0" baseline="0">
              <a:solidFill>
                <a:srgbClr val="000000"/>
              </a:solidFill>
              <a:uFillTx/>
              <a:latin typeface="Calibri"/>
            </a:endParaRPr>
          </a:p>
        </p:txBody>
      </p:sp>
      <p:sp>
        <p:nvSpPr>
          <p:cNvPr id="36" name="Rectangle 73">
            <a:extLst>
              <a:ext uri="{FF2B5EF4-FFF2-40B4-BE49-F238E27FC236}">
                <a16:creationId xmlns:a16="http://schemas.microsoft.com/office/drawing/2014/main" id="{269AA188-2333-410A-AA23-089645559F72}"/>
              </a:ext>
            </a:extLst>
          </p:cNvPr>
          <p:cNvSpPr/>
          <p:nvPr/>
        </p:nvSpPr>
        <p:spPr>
          <a:xfrm>
            <a:off x="7563075" y="5966944"/>
            <a:ext cx="4368445"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No customs declaration </a:t>
            </a:r>
            <a:r>
              <a:rPr lang="en-GB" sz="1200" b="0" i="0" u="none" strike="noStrike" kern="1200" cap="none" spc="0" baseline="0">
                <a:solidFill>
                  <a:srgbClr val="000000"/>
                </a:solidFill>
                <a:uFillTx/>
                <a:latin typeface="Calibri"/>
              </a:rPr>
              <a:t>will be required for movements of NI goods between ROI or the EU.</a:t>
            </a:r>
          </a:p>
        </p:txBody>
      </p:sp>
      <p:sp>
        <p:nvSpPr>
          <p:cNvPr id="37" name="Rectangle 80">
            <a:extLst>
              <a:ext uri="{FF2B5EF4-FFF2-40B4-BE49-F238E27FC236}">
                <a16:creationId xmlns:a16="http://schemas.microsoft.com/office/drawing/2014/main" id="{51615612-4425-4FFF-9469-A21CA765DD52}"/>
              </a:ext>
            </a:extLst>
          </p:cNvPr>
          <p:cNvSpPr/>
          <p:nvPr/>
        </p:nvSpPr>
        <p:spPr>
          <a:xfrm>
            <a:off x="3920297" y="2072350"/>
            <a:ext cx="669221"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Today:</a:t>
            </a:r>
            <a:endParaRPr lang="en-GB" sz="1400" b="0" i="0" u="none" strike="noStrike" kern="1200" cap="none" spc="0" baseline="0">
              <a:solidFill>
                <a:srgbClr val="000000"/>
              </a:solidFill>
              <a:uFillTx/>
              <a:latin typeface="Calibri"/>
            </a:endParaRPr>
          </a:p>
        </p:txBody>
      </p:sp>
      <p:sp>
        <p:nvSpPr>
          <p:cNvPr id="38" name="Rectangle 4">
            <a:extLst>
              <a:ext uri="{FF2B5EF4-FFF2-40B4-BE49-F238E27FC236}">
                <a16:creationId xmlns:a16="http://schemas.microsoft.com/office/drawing/2014/main" id="{BFF8C8C2-9DE4-4215-AE49-D60A3124DC2E}"/>
              </a:ext>
            </a:extLst>
          </p:cNvPr>
          <p:cNvSpPr/>
          <p:nvPr/>
        </p:nvSpPr>
        <p:spPr>
          <a:xfrm>
            <a:off x="363967" y="704389"/>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EU Exit Scope Introduction: The Northern Ireland Protocol</a:t>
            </a:r>
          </a:p>
        </p:txBody>
      </p:sp>
      <p:sp>
        <p:nvSpPr>
          <p:cNvPr id="39" name="Rectangle 59">
            <a:extLst>
              <a:ext uri="{FF2B5EF4-FFF2-40B4-BE49-F238E27FC236}">
                <a16:creationId xmlns:a16="http://schemas.microsoft.com/office/drawing/2014/main" id="{3D22FBBE-A6E9-4E97-9DB0-B41F31E376F4}"/>
              </a:ext>
            </a:extLst>
          </p:cNvPr>
          <p:cNvSpPr/>
          <p:nvPr/>
        </p:nvSpPr>
        <p:spPr>
          <a:xfrm>
            <a:off x="363967" y="2008095"/>
            <a:ext cx="3360986" cy="375487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following key principles underpin the NI Protocol:</a:t>
            </a:r>
          </a:p>
          <a:p>
            <a:pPr marL="228600" marR="0" lvl="0" indent="-228600" algn="l" defTabSz="914400" rtl="0" fontAlgn="auto" hangingPunct="1">
              <a:lnSpc>
                <a:spcPct val="100000"/>
              </a:lnSpc>
              <a:spcBef>
                <a:spcPts val="0"/>
              </a:spcBef>
              <a:spcAft>
                <a:spcPts val="30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NI will leave the EU along with the rest of the UK. NI will remain part of the </a:t>
            </a:r>
            <a:r>
              <a:rPr lang="en-GB" sz="1200" b="1" i="0" u="none" strike="noStrike" kern="1200" cap="none" spc="0" baseline="0">
                <a:solidFill>
                  <a:srgbClr val="000000"/>
                </a:solidFill>
                <a:uFillTx/>
                <a:latin typeface="Calibri"/>
              </a:rPr>
              <a:t>UK’s single customs territory </a:t>
            </a:r>
            <a:r>
              <a:rPr lang="en-GB" sz="1200" b="0" i="0" u="none" strike="noStrike" kern="1200" cap="none" spc="0" baseline="0">
                <a:solidFill>
                  <a:srgbClr val="000000"/>
                </a:solidFill>
                <a:uFillTx/>
                <a:latin typeface="Calibri"/>
              </a:rPr>
              <a:t>and will be included in UK trade policy and Free Trade Agreements.</a:t>
            </a:r>
          </a:p>
          <a:p>
            <a:pPr marL="228600" marR="0" lvl="0" indent="-228600" algn="l" defTabSz="914400" rtl="0" fontAlgn="auto" hangingPunct="1">
              <a:lnSpc>
                <a:spcPct val="100000"/>
              </a:lnSpc>
              <a:spcBef>
                <a:spcPts val="0"/>
              </a:spcBef>
              <a:spcAft>
                <a:spcPts val="30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NI must </a:t>
            </a:r>
            <a:r>
              <a:rPr lang="en-GB" sz="1200" b="1" i="0" u="none" strike="noStrike" kern="1200" cap="none" spc="0" baseline="0">
                <a:solidFill>
                  <a:srgbClr val="000000"/>
                </a:solidFill>
                <a:uFillTx/>
                <a:latin typeface="Calibri"/>
              </a:rPr>
              <a:t>remain</a:t>
            </a:r>
            <a:r>
              <a:rPr lang="en-GB" sz="1200" b="0" i="0" u="none" strike="noStrike" kern="1200" cap="none" spc="0" baseline="0">
                <a:solidFill>
                  <a:srgbClr val="000000"/>
                </a:solidFill>
                <a:uFillTx/>
                <a:latin typeface="Calibri"/>
              </a:rPr>
              <a:t> </a:t>
            </a:r>
            <a:r>
              <a:rPr lang="en-GB" sz="1200" b="1" i="0" u="none" strike="noStrike" kern="1200" cap="none" spc="0" baseline="0">
                <a:solidFill>
                  <a:srgbClr val="000000"/>
                </a:solidFill>
                <a:uFillTx/>
                <a:latin typeface="Calibri"/>
              </a:rPr>
              <a:t>aligned </a:t>
            </a:r>
            <a:r>
              <a:rPr lang="en-GB" sz="1200" b="0" i="0" u="none" strike="noStrike" kern="1200" cap="none" spc="0" baseline="0">
                <a:solidFill>
                  <a:srgbClr val="000000"/>
                </a:solidFill>
                <a:uFillTx/>
                <a:latin typeface="Calibri"/>
              </a:rPr>
              <a:t>to the EU’s goods regulations, UCC, EU VAT and Excise rules to ensure there are no new checks or controls at land border between NI and Ireland. </a:t>
            </a:r>
          </a:p>
          <a:p>
            <a:pPr marL="228600" marR="0" lvl="0" indent="-228600" algn="l" defTabSz="914400" rtl="0" fontAlgn="auto" hangingPunct="1">
              <a:lnSpc>
                <a:spcPct val="100000"/>
              </a:lnSpc>
              <a:spcBef>
                <a:spcPts val="0"/>
              </a:spcBef>
              <a:spcAft>
                <a:spcPts val="30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All goods imported into NI will be deemed ‘at risk’ or ‘not at risk’, depending upon a criteria agreed during negotiations with the EU and with the JC. If the imported GB or RoW goods are considered ‘at risk’, the full EU tariff must be applied.</a:t>
            </a:r>
            <a:r>
              <a:rPr lang="en-GB" sz="1200" b="0" i="0" u="none" strike="noStrike" kern="1200" cap="none" spc="0" baseline="0">
                <a:solidFill>
                  <a:srgbClr val="000000"/>
                </a:solidFill>
                <a:uFillTx/>
                <a:latin typeface="Calibri" pitchFamily="34"/>
                <a:ea typeface="Calibri" pitchFamily="34"/>
                <a:cs typeface="Times New Roman" pitchFamily="18"/>
              </a:rPr>
              <a:t> </a:t>
            </a:r>
          </a:p>
          <a:p>
            <a:pPr marL="228600" marR="0" lvl="0" indent="-228600" algn="l" defTabSz="914400" rtl="0" fontAlgn="auto" hangingPunct="1">
              <a:lnSpc>
                <a:spcPct val="100000"/>
              </a:lnSpc>
              <a:spcBef>
                <a:spcPts val="0"/>
              </a:spcBef>
              <a:spcAft>
                <a:spcPts val="30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a:t>
            </a:r>
            <a:r>
              <a:rPr lang="en-GB" sz="1200" b="1" i="0" u="none" strike="noStrike" kern="1200" cap="none" spc="0" baseline="0">
                <a:solidFill>
                  <a:srgbClr val="000000"/>
                </a:solidFill>
                <a:uFillTx/>
                <a:latin typeface="Calibri"/>
                <a:hlinkClick r:id="rId5" action="ppaction://hlinksldjump"/>
              </a:rPr>
              <a:t>dual EU and UK tariff system </a:t>
            </a:r>
            <a:r>
              <a:rPr lang="en-GB" sz="1200" b="0" i="0" u="none" strike="noStrike" kern="1200" cap="none" spc="0" baseline="0">
                <a:solidFill>
                  <a:srgbClr val="000000"/>
                </a:solidFill>
                <a:uFillTx/>
                <a:latin typeface="Calibri"/>
              </a:rPr>
              <a:t>must therefore be introduced for NI import and export declaration processing.</a:t>
            </a:r>
          </a:p>
        </p:txBody>
      </p:sp>
      <p:cxnSp>
        <p:nvCxnSpPr>
          <p:cNvPr id="40" name="Straight Connector 11">
            <a:extLst>
              <a:ext uri="{FF2B5EF4-FFF2-40B4-BE49-F238E27FC236}">
                <a16:creationId xmlns:a16="http://schemas.microsoft.com/office/drawing/2014/main" id="{BF7017FA-A946-4A90-A50A-ED7A60DE112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1" name="TextBox 12">
            <a:extLst>
              <a:ext uri="{FF2B5EF4-FFF2-40B4-BE49-F238E27FC236}">
                <a16:creationId xmlns:a16="http://schemas.microsoft.com/office/drawing/2014/main" id="{CF1A3AEE-7A34-49DE-BDA9-1DBAAB1A01EE}"/>
              </a:ext>
            </a:extLst>
          </p:cNvPr>
          <p:cNvSpPr txBox="1"/>
          <p:nvPr/>
        </p:nvSpPr>
        <p:spPr>
          <a:xfrm>
            <a:off x="363967" y="248844"/>
            <a:ext cx="1814919"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endParaRPr lang="en-US" sz="1800" b="0" i="0" u="none" strike="noStrike" kern="1200" cap="none" spc="0" baseline="0">
              <a:solidFill>
                <a:srgbClr val="A6A6A6"/>
              </a:solidFill>
              <a:uFillTx/>
              <a:latin typeface="Calibri"/>
            </a:endParaRPr>
          </a:p>
        </p:txBody>
      </p:sp>
      <p:sp>
        <p:nvSpPr>
          <p:cNvPr id="42" name="Rectangle 1">
            <a:extLst>
              <a:ext uri="{FF2B5EF4-FFF2-40B4-BE49-F238E27FC236}">
                <a16:creationId xmlns:a16="http://schemas.microsoft.com/office/drawing/2014/main" id="{CC7EAF44-07BF-451A-8F82-39A672C87FDA}"/>
              </a:ext>
            </a:extLst>
          </p:cNvPr>
          <p:cNvSpPr/>
          <p:nvPr/>
        </p:nvSpPr>
        <p:spPr>
          <a:xfrm>
            <a:off x="369317" y="1150818"/>
            <a:ext cx="11538795"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In October 2019, the </a:t>
            </a:r>
            <a:r>
              <a:rPr lang="en-GB" sz="1200" b="1" i="0" u="none" strike="noStrike" kern="1200" cap="none" spc="0" baseline="0">
                <a:solidFill>
                  <a:srgbClr val="000000"/>
                </a:solidFill>
                <a:uFillTx/>
                <a:latin typeface="Calibri"/>
              </a:rPr>
              <a:t>Withdrawal Agreement </a:t>
            </a:r>
            <a:r>
              <a:rPr lang="en-GB" sz="1200" b="0" i="0" u="none" strike="noStrike" kern="1200" cap="none" spc="0" baseline="0">
                <a:solidFill>
                  <a:srgbClr val="000000"/>
                </a:solidFill>
                <a:uFillTx/>
                <a:latin typeface="Calibri"/>
              </a:rPr>
              <a:t>was agreed to facilitate the UK’s departure from the EU. This agreement introduced the </a:t>
            </a:r>
            <a:r>
              <a:rPr lang="en-GB" sz="1200" b="1" i="0" u="none" strike="noStrike" kern="1200" cap="none" spc="0" baseline="0">
                <a:solidFill>
                  <a:srgbClr val="000000"/>
                </a:solidFill>
                <a:uFillTx/>
                <a:latin typeface="Calibri"/>
              </a:rPr>
              <a:t>Northern Ireland Protocol </a:t>
            </a:r>
            <a:r>
              <a:rPr lang="en-GB" sz="1200" b="0" i="0" u="none" strike="noStrike" kern="1200" cap="none" spc="0" baseline="0">
                <a:solidFill>
                  <a:srgbClr val="000000"/>
                </a:solidFill>
                <a:uFillTx/>
                <a:latin typeface="Calibri"/>
              </a:rPr>
              <a:t>which will require new arrangements to facilitate NI’s trade with GB and RoW whilst ensuring there is no physical border between NI and Republic of Ireland. The NI Protocol was implemented at the end of the transition period on December 31</a:t>
            </a:r>
            <a:r>
              <a:rPr lang="en-GB" sz="1200" b="0" i="0" u="none" strike="noStrike" kern="1200" cap="none" spc="0" baseline="30000">
                <a:solidFill>
                  <a:srgbClr val="000000"/>
                </a:solidFill>
                <a:uFillTx/>
                <a:latin typeface="Calibri"/>
              </a:rPr>
              <a:t>st</a:t>
            </a:r>
            <a:r>
              <a:rPr lang="en-GB" sz="1200" b="0" i="0" u="none" strike="noStrike" kern="1200" cap="none" spc="0" baseline="0">
                <a:solidFill>
                  <a:srgbClr val="000000"/>
                </a:solidFill>
                <a:uFillTx/>
                <a:latin typeface="Calibri"/>
              </a:rPr>
              <a:t> 2020.</a:t>
            </a:r>
          </a:p>
        </p:txBody>
      </p:sp>
      <p:sp>
        <p:nvSpPr>
          <p:cNvPr id="43" name="Right Arrow 31">
            <a:extLst>
              <a:ext uri="{FF2B5EF4-FFF2-40B4-BE49-F238E27FC236}">
                <a16:creationId xmlns:a16="http://schemas.microsoft.com/office/drawing/2014/main" id="{0A2D04F4-35B0-40EE-836E-2282D39495A5}"/>
              </a:ext>
            </a:extLst>
          </p:cNvPr>
          <p:cNvSpPr/>
          <p:nvPr/>
        </p:nvSpPr>
        <p:spPr>
          <a:xfrm rot="17312665">
            <a:off x="8994818" y="3000785"/>
            <a:ext cx="555287" cy="287112"/>
          </a:xfrm>
          <a:custGeom>
            <a:avLst>
              <a:gd name="f0" fmla="val 16016"/>
              <a:gd name="f1" fmla="val 5400"/>
            </a:avLst>
            <a:gdLst>
              <a:gd name="f2" fmla="val 10800000"/>
              <a:gd name="f3" fmla="val 5400000"/>
              <a:gd name="f4" fmla="val 180"/>
              <a:gd name="f5" fmla="val w"/>
              <a:gd name="f6" fmla="val h"/>
              <a:gd name="f7" fmla="val 0"/>
              <a:gd name="f8" fmla="val 21600"/>
              <a:gd name="f9" fmla="val 10800"/>
              <a:gd name="f10" fmla="+- 0 0 0"/>
              <a:gd name="f11" fmla="+- 0 0 180"/>
              <a:gd name="f12" fmla="*/ f5 1 21600"/>
              <a:gd name="f13" fmla="*/ f6 1 21600"/>
              <a:gd name="f14" fmla="pin 0 f0 21600"/>
              <a:gd name="f15" fmla="pin 0 f1 10800"/>
              <a:gd name="f16" fmla="*/ f10 f2 1"/>
              <a:gd name="f17" fmla="*/ f11 f2 1"/>
              <a:gd name="f18" fmla="val f15"/>
              <a:gd name="f19" fmla="val f14"/>
              <a:gd name="f20" fmla="+- 21600 0 f15"/>
              <a:gd name="f21" fmla="*/ f14 f12 1"/>
              <a:gd name="f22" fmla="*/ f15 f13 1"/>
              <a:gd name="f23" fmla="*/ 0 f12 1"/>
              <a:gd name="f24" fmla="*/ 0 f13 1"/>
              <a:gd name="f25" fmla="*/ f16 1 f4"/>
              <a:gd name="f26" fmla="*/ 21600 f13 1"/>
              <a:gd name="f27" fmla="*/ f17 1 f4"/>
              <a:gd name="f28" fmla="+- 21600 0 f19"/>
              <a:gd name="f29" fmla="*/ f20 f13 1"/>
              <a:gd name="f30" fmla="*/ f18 f13 1"/>
              <a:gd name="f31" fmla="*/ f19 f12 1"/>
              <a:gd name="f32" fmla="+- f25 0 f3"/>
              <a:gd name="f33" fmla="+- f27 0 f3"/>
              <a:gd name="f34" fmla="*/ f28 f18 1"/>
              <a:gd name="f35" fmla="*/ f34 1 10800"/>
              <a:gd name="f36" fmla="+- f19 f35 0"/>
              <a:gd name="f37" fmla="*/ f36 f12 1"/>
            </a:gdLst>
            <a:ahLst>
              <a:ahXY gdRefX="f0" minX="f7" maxX="f8" gdRefY="f1" minY="f7" maxY="f9">
                <a:pos x="f21" y="f22"/>
              </a:ahXY>
            </a:ahLst>
            <a:cxnLst>
              <a:cxn ang="3cd4">
                <a:pos x="hc" y="t"/>
              </a:cxn>
              <a:cxn ang="0">
                <a:pos x="r" y="vc"/>
              </a:cxn>
              <a:cxn ang="cd4">
                <a:pos x="hc" y="b"/>
              </a:cxn>
              <a:cxn ang="cd2">
                <a:pos x="l" y="vc"/>
              </a:cxn>
              <a:cxn ang="f32">
                <a:pos x="f31" y="f24"/>
              </a:cxn>
              <a:cxn ang="f33">
                <a:pos x="f31" y="f26"/>
              </a:cxn>
            </a:cxnLst>
            <a:rect l="f23" t="f30" r="f37" b="f29"/>
            <a:pathLst>
              <a:path w="21600" h="21600">
                <a:moveTo>
                  <a:pt x="f7" y="f18"/>
                </a:moveTo>
                <a:lnTo>
                  <a:pt x="f19" y="f18"/>
                </a:lnTo>
                <a:lnTo>
                  <a:pt x="f19" y="f7"/>
                </a:lnTo>
                <a:lnTo>
                  <a:pt x="f8" y="f9"/>
                </a:lnTo>
                <a:lnTo>
                  <a:pt x="f19" y="f8"/>
                </a:lnTo>
                <a:lnTo>
                  <a:pt x="f19" y="f20"/>
                </a:lnTo>
                <a:lnTo>
                  <a:pt x="f7" y="f20"/>
                </a:lnTo>
                <a:close/>
              </a:path>
            </a:pathLst>
          </a:custGeom>
          <a:solidFill>
            <a:srgbClr val="FFC000"/>
          </a:solid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4</a:t>
            </a:r>
          </a:p>
        </p:txBody>
      </p:sp>
      <p:sp>
        <p:nvSpPr>
          <p:cNvPr id="45" name="Slide Number Placeholder 5">
            <a:extLst>
              <a:ext uri="{FF2B5EF4-FFF2-40B4-BE49-F238E27FC236}">
                <a16:creationId xmlns:a16="http://schemas.microsoft.com/office/drawing/2014/main" id="{8D9AA0F6-A1EC-4DDD-BFA7-3922F768C14B}"/>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9B93F98-379E-4AF7-977C-34E5C6E96913}" type="slidenum">
              <a:rPr sz="1200"/>
              <a:t>4</a:t>
            </a:fld>
            <a:endParaRPr lang="en-GB" sz="1200" b="0" i="0" u="none" strike="noStrike" kern="1200" cap="none" spc="0" baseline="0" dirty="0">
              <a:solidFill>
                <a:srgbClr val="000000"/>
              </a:solidFill>
              <a:uFillTx/>
              <a:latin typeface="Calibri"/>
            </a:endParaRPr>
          </a:p>
        </p:txBody>
      </p:sp>
      <p:sp>
        <p:nvSpPr>
          <p:cNvPr id="46" name="Oval 100">
            <a:hlinkClick r:id="rId6" action="ppaction://hlinksldjump"/>
            <a:extLst>
              <a:ext uri="{FF2B5EF4-FFF2-40B4-BE49-F238E27FC236}">
                <a16:creationId xmlns:a16="http://schemas.microsoft.com/office/drawing/2014/main" id="{7CBEDEF5-4A0D-429B-8398-F0C9C47D8F6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7" name="Oval 103">
            <a:hlinkClick r:id="rId6" action="ppaction://hlinksldjump"/>
            <a:extLst>
              <a:ext uri="{FF2B5EF4-FFF2-40B4-BE49-F238E27FC236}">
                <a16:creationId xmlns:a16="http://schemas.microsoft.com/office/drawing/2014/main" id="{F2E337D5-9B81-404B-A7C8-814EAF80A2A2}"/>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8" name="Oval 104">
            <a:hlinkClick r:id="rId7" action="ppaction://hlinksldjump"/>
            <a:extLst>
              <a:ext uri="{FF2B5EF4-FFF2-40B4-BE49-F238E27FC236}">
                <a16:creationId xmlns:a16="http://schemas.microsoft.com/office/drawing/2014/main" id="{5A1A402A-E24B-4EE7-8DF1-9A34DD5709DB}"/>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9" name="Oval 105">
            <a:hlinkClick r:id="rId8" action="ppaction://hlinksldjump"/>
            <a:extLst>
              <a:ext uri="{FF2B5EF4-FFF2-40B4-BE49-F238E27FC236}">
                <a16:creationId xmlns:a16="http://schemas.microsoft.com/office/drawing/2014/main" id="{91B3CD48-74D8-402F-93E4-F5022FF80AAD}"/>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0" name="TextBox 106">
            <a:hlinkClick r:id="rId6" action="ppaction://hlinksldjump"/>
            <a:extLst>
              <a:ext uri="{FF2B5EF4-FFF2-40B4-BE49-F238E27FC236}">
                <a16:creationId xmlns:a16="http://schemas.microsoft.com/office/drawing/2014/main" id="{8448349D-B4AF-435E-A43C-E430CF12A126}"/>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51" name="TextBox 107">
            <a:hlinkClick r:id="rId6" action="ppaction://hlinksldjump"/>
            <a:extLst>
              <a:ext uri="{FF2B5EF4-FFF2-40B4-BE49-F238E27FC236}">
                <a16:creationId xmlns:a16="http://schemas.microsoft.com/office/drawing/2014/main" id="{025AAAE7-EFC7-4EE8-B1E8-DACF603D4136}"/>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52" name="TextBox 108">
            <a:hlinkClick r:id="rId7" action="ppaction://hlinksldjump"/>
            <a:extLst>
              <a:ext uri="{FF2B5EF4-FFF2-40B4-BE49-F238E27FC236}">
                <a16:creationId xmlns:a16="http://schemas.microsoft.com/office/drawing/2014/main" id="{34B9CB49-B8EC-4C89-9406-7305E1546FD9}"/>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53" name="TextBox 109">
            <a:hlinkClick r:id="rId7" action="ppaction://hlinksldjump"/>
            <a:extLst>
              <a:ext uri="{FF2B5EF4-FFF2-40B4-BE49-F238E27FC236}">
                <a16:creationId xmlns:a16="http://schemas.microsoft.com/office/drawing/2014/main" id="{E5A1F4BF-6931-495C-9C8D-D1EBDE62A52A}"/>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54" name="Oval 110">
            <a:extLst>
              <a:ext uri="{FF2B5EF4-FFF2-40B4-BE49-F238E27FC236}">
                <a16:creationId xmlns:a16="http://schemas.microsoft.com/office/drawing/2014/main" id="{2939EE76-C9D9-4165-AFDC-B95EBCC0B771}"/>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5" name="TextBox 111">
            <a:hlinkClick r:id="rId9" action="ppaction://hlinksldjump"/>
            <a:extLst>
              <a:ext uri="{FF2B5EF4-FFF2-40B4-BE49-F238E27FC236}">
                <a16:creationId xmlns:a16="http://schemas.microsoft.com/office/drawing/2014/main" id="{7387AB60-00CF-46C9-BDE3-BC81FB0BB31F}"/>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56" name="Picture 40">
            <a:hlinkClick r:id="rId6" action="ppaction://hlinksldjump"/>
            <a:extLst>
              <a:ext uri="{FF2B5EF4-FFF2-40B4-BE49-F238E27FC236}">
                <a16:creationId xmlns:a16="http://schemas.microsoft.com/office/drawing/2014/main" id="{7636E5F5-75C9-4896-97B9-F24E26B19D40}"/>
              </a:ext>
            </a:extLst>
          </p:cNvPr>
          <p:cNvPicPr>
            <a:picLocks noChangeAspect="1"/>
          </p:cNvPicPr>
          <p:nvPr/>
        </p:nvPicPr>
        <p:blipFill>
          <a:blip r:embed="rId10">
            <a:alphaModFix amt="35000"/>
          </a:blip>
          <a:srcRect l="20606" t="21077" r="21527" b="31021"/>
          <a:stretch>
            <a:fillRect/>
          </a:stretch>
        </p:blipFill>
        <p:spPr>
          <a:xfrm>
            <a:off x="10028188" y="272070"/>
            <a:ext cx="256918" cy="210595"/>
          </a:xfrm>
          <a:prstGeom prst="rect">
            <a:avLst/>
          </a:prstGeom>
          <a:noFill/>
          <a:ln cap="flat">
            <a:noFill/>
          </a:ln>
        </p:spPr>
      </p:pic>
      <p:sp>
        <p:nvSpPr>
          <p:cNvPr id="57" name="Oval 113">
            <a:hlinkClick r:id="rId6" action="ppaction://hlinksldjump"/>
            <a:extLst>
              <a:ext uri="{FF2B5EF4-FFF2-40B4-BE49-F238E27FC236}">
                <a16:creationId xmlns:a16="http://schemas.microsoft.com/office/drawing/2014/main" id="{BC5CC33F-17D9-4168-BAAA-EB5FCC854DC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838840344">
    <p:spTree>
      <p:nvGrpSpPr>
        <p:cNvPr id="1" name=""/>
        <p:cNvGrpSpPr/>
        <p:nvPr/>
      </p:nvGrpSpPr>
      <p:grpSpPr>
        <a:xfrm>
          <a:off x="0" y="0"/>
          <a:ext cx="0" cy="0"/>
          <a:chOff x="0" y="0"/>
          <a:chExt cx="0" cy="0"/>
        </a:xfrm>
      </p:grpSpPr>
      <p:grpSp>
        <p:nvGrpSpPr>
          <p:cNvPr id="3" name="Group 1">
            <a:extLst>
              <a:ext uri="{FF2B5EF4-FFF2-40B4-BE49-F238E27FC236}">
                <a16:creationId xmlns:a16="http://schemas.microsoft.com/office/drawing/2014/main" id="{7DE97904-7BCD-42E7-9DE3-9655624013C0}"/>
              </a:ext>
            </a:extLst>
          </p:cNvPr>
          <p:cNvGrpSpPr/>
          <p:nvPr/>
        </p:nvGrpSpPr>
        <p:grpSpPr>
          <a:xfrm>
            <a:off x="469955" y="1609307"/>
            <a:ext cx="11375520" cy="3222482"/>
            <a:chOff x="469955" y="1609307"/>
            <a:chExt cx="11375520" cy="3222482"/>
          </a:xfrm>
        </p:grpSpPr>
        <p:sp>
          <p:nvSpPr>
            <p:cNvPr id="4" name="Rectangle 2">
              <a:extLst>
                <a:ext uri="{FF2B5EF4-FFF2-40B4-BE49-F238E27FC236}">
                  <a16:creationId xmlns:a16="http://schemas.microsoft.com/office/drawing/2014/main" id="{B5F0DF0D-95F2-4EEE-B4A3-FA3015285A1F}"/>
                </a:ext>
              </a:extLst>
            </p:cNvPr>
            <p:cNvSpPr/>
            <p:nvPr/>
          </p:nvSpPr>
          <p:spPr>
            <a:xfrm>
              <a:off x="469955" y="1609307"/>
              <a:ext cx="10046366" cy="3222482"/>
            </a:xfrm>
            <a:prstGeom prst="rect">
              <a:avLst/>
            </a:pr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43" b="0" i="0" u="none" strike="noStrike" kern="1200" cap="none" spc="0" baseline="0">
                <a:solidFill>
                  <a:srgbClr val="FFFFFF"/>
                </a:solidFill>
                <a:uFillTx/>
                <a:latin typeface="Calibri"/>
              </a:endParaRPr>
            </a:p>
          </p:txBody>
        </p:sp>
        <p:sp>
          <p:nvSpPr>
            <p:cNvPr id="5" name="Arrow: Right 122">
              <a:extLst>
                <a:ext uri="{FF2B5EF4-FFF2-40B4-BE49-F238E27FC236}">
                  <a16:creationId xmlns:a16="http://schemas.microsoft.com/office/drawing/2014/main" id="{8EF8C58F-A88F-461B-9914-C46723006983}"/>
                </a:ext>
              </a:extLst>
            </p:cNvPr>
            <p:cNvSpPr/>
            <p:nvPr/>
          </p:nvSpPr>
          <p:spPr>
            <a:xfrm>
              <a:off x="10531885" y="1622346"/>
              <a:ext cx="1313590" cy="3197025"/>
            </a:xfrm>
            <a:prstGeom prst="rect">
              <a:avLst/>
            </a:pr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6" name="Rectangle 35">
            <a:extLst>
              <a:ext uri="{FF2B5EF4-FFF2-40B4-BE49-F238E27FC236}">
                <a16:creationId xmlns:a16="http://schemas.microsoft.com/office/drawing/2014/main" id="{36ED57FE-8D7A-4C5B-9D97-6B4684AD5B3C}"/>
              </a:ext>
            </a:extLst>
          </p:cNvPr>
          <p:cNvSpPr/>
          <p:nvPr/>
        </p:nvSpPr>
        <p:spPr>
          <a:xfrm>
            <a:off x="393292" y="689256"/>
            <a:ext cx="2973893"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a:cs typeface="Calibri"/>
              </a:rPr>
              <a:t>NI Declaration Submission</a:t>
            </a:r>
            <a:endParaRPr lang="en-GB" sz="2000" b="1" i="0" u="none" strike="noStrike" kern="1200" cap="none" spc="0" baseline="0">
              <a:solidFill>
                <a:srgbClr val="000000"/>
              </a:solidFill>
              <a:uFillTx/>
              <a:latin typeface="Calibri"/>
            </a:endParaRPr>
          </a:p>
        </p:txBody>
      </p:sp>
      <p:sp>
        <p:nvSpPr>
          <p:cNvPr id="7" name="Rectangle 36">
            <a:extLst>
              <a:ext uri="{FF2B5EF4-FFF2-40B4-BE49-F238E27FC236}">
                <a16:creationId xmlns:a16="http://schemas.microsoft.com/office/drawing/2014/main" id="{366A7BDB-4818-4EBD-B999-ABE5806C9E6B}"/>
              </a:ext>
            </a:extLst>
          </p:cNvPr>
          <p:cNvSpPr/>
          <p:nvPr/>
        </p:nvSpPr>
        <p:spPr>
          <a:xfrm>
            <a:off x="393292" y="1077967"/>
            <a:ext cx="11452183" cy="47885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In order to facilitate the NI Protocol</a:t>
            </a:r>
            <a:r>
              <a:rPr lang="en-GB" sz="1200" b="0" i="0" u="none" strike="noStrike" kern="1200" cap="none" spc="0" baseline="0">
                <a:solidFill>
                  <a:srgbClr val="000000"/>
                </a:solidFill>
                <a:uFillTx/>
                <a:latin typeface="Calibri" pitchFamily="34"/>
                <a:ea typeface="Calibri" pitchFamily="34"/>
                <a:cs typeface="Times New Roman" pitchFamily="18"/>
              </a:rPr>
              <a:t>, CDS must have the ability to both validate and calculate any applicable duties against the EU or UK tariff depending upon the risk status of the commodity code and goods movement. </a:t>
            </a:r>
            <a:r>
              <a:rPr lang="en-GB" sz="1200" b="0" i="0" u="none" strike="noStrike" kern="1200" cap="none" spc="0" baseline="0">
                <a:solidFill>
                  <a:srgbClr val="333333"/>
                </a:solidFill>
                <a:uFillTx/>
                <a:latin typeface="Calibri"/>
              </a:rPr>
              <a:t>CDS will ensure both tariffs are effectively established, maintained and deployed for NI declaration processing.</a:t>
            </a:r>
            <a:r>
              <a:rPr lang="en-GB" sz="1200" b="0" i="0" u="none" strike="noStrike" kern="1200" cap="none" spc="0" baseline="0">
                <a:solidFill>
                  <a:srgbClr val="000000"/>
                </a:solidFill>
                <a:uFillTx/>
                <a:latin typeface="Calibri" pitchFamily="34"/>
                <a:ea typeface="Calibri" pitchFamily="34"/>
                <a:cs typeface="Times New Roman" pitchFamily="18"/>
              </a:rPr>
              <a:t> </a:t>
            </a:r>
          </a:p>
        </p:txBody>
      </p:sp>
      <p:graphicFrame>
        <p:nvGraphicFramePr>
          <p:cNvPr id="8" name="Table 38">
            <a:extLst>
              <a:ext uri="{FF2B5EF4-FFF2-40B4-BE49-F238E27FC236}">
                <a16:creationId xmlns:a16="http://schemas.microsoft.com/office/drawing/2014/main" id="{3451FF47-2DCC-4A29-A6A1-C6E45D09245A}"/>
              </a:ext>
            </a:extLst>
          </p:cNvPr>
          <p:cNvGraphicFramePr>
            <a:graphicFrameLocks noGrp="1"/>
          </p:cNvGraphicFramePr>
          <p:nvPr/>
        </p:nvGraphicFramePr>
        <p:xfrm>
          <a:off x="599818" y="2223802"/>
          <a:ext cx="8051408" cy="2503791"/>
        </p:xfrm>
        <a:graphic>
          <a:graphicData uri="http://schemas.openxmlformats.org/drawingml/2006/table">
            <a:tbl>
              <a:tblPr firstRow="1" bandRow="1">
                <a:effectLst/>
                <a:tableStyleId>{5C22544A-7EE6-4342-B048-85BDC9FD1C3A}</a:tableStyleId>
              </a:tblPr>
              <a:tblGrid>
                <a:gridCol w="3074176">
                  <a:extLst>
                    <a:ext uri="{9D8B030D-6E8A-4147-A177-3AD203B41FA5}">
                      <a16:colId xmlns:a16="http://schemas.microsoft.com/office/drawing/2014/main" val="4260495885"/>
                    </a:ext>
                  </a:extLst>
                </a:gridCol>
                <a:gridCol w="728740">
                  <a:extLst>
                    <a:ext uri="{9D8B030D-6E8A-4147-A177-3AD203B41FA5}">
                      <a16:colId xmlns:a16="http://schemas.microsoft.com/office/drawing/2014/main" val="3481155132"/>
                    </a:ext>
                  </a:extLst>
                </a:gridCol>
                <a:gridCol w="972455">
                  <a:extLst>
                    <a:ext uri="{9D8B030D-6E8A-4147-A177-3AD203B41FA5}">
                      <a16:colId xmlns:a16="http://schemas.microsoft.com/office/drawing/2014/main" val="961221245"/>
                    </a:ext>
                  </a:extLst>
                </a:gridCol>
                <a:gridCol w="674918">
                  <a:extLst>
                    <a:ext uri="{9D8B030D-6E8A-4147-A177-3AD203B41FA5}">
                      <a16:colId xmlns:a16="http://schemas.microsoft.com/office/drawing/2014/main" val="1564229814"/>
                    </a:ext>
                  </a:extLst>
                </a:gridCol>
                <a:gridCol w="936171">
                  <a:extLst>
                    <a:ext uri="{9D8B030D-6E8A-4147-A177-3AD203B41FA5}">
                      <a16:colId xmlns:a16="http://schemas.microsoft.com/office/drawing/2014/main" val="4081171986"/>
                    </a:ext>
                  </a:extLst>
                </a:gridCol>
                <a:gridCol w="1664948">
                  <a:extLst>
                    <a:ext uri="{9D8B030D-6E8A-4147-A177-3AD203B41FA5}">
                      <a16:colId xmlns:a16="http://schemas.microsoft.com/office/drawing/2014/main" val="3333995082"/>
                    </a:ext>
                  </a:extLst>
                </a:gridCol>
              </a:tblGrid>
              <a:tr h="234433">
                <a:tc>
                  <a:txBody>
                    <a:bodyPr/>
                    <a:lstStyle/>
                    <a:p>
                      <a:pPr lvl="0"/>
                      <a:endParaRPr lang="en-GB" sz="1100"/>
                    </a:p>
                  </a:txBody>
                  <a:tcPr anchor="ctr">
                    <a:lnL w="38103" cap="flat" cmpd="sng" algn="ctr">
                      <a:solidFill>
                        <a:srgbClr val="F2F2F2"/>
                      </a:solidFill>
                      <a:prstDash val="solid"/>
                      <a:round/>
                      <a:headEnd type="none" w="med" len="med"/>
                      <a:tailEnd type="none" w="med" len="med"/>
                    </a:lnL>
                    <a:lnR w="28575" cap="flat" cmpd="sng" algn="ctr">
                      <a:solidFill>
                        <a:srgbClr val="FFFFFF"/>
                      </a:solidFill>
                      <a:prstDash val="solid"/>
                      <a:round/>
                      <a:headEnd type="none" w="med" len="med"/>
                      <a:tailEnd type="none" w="med" len="med"/>
                    </a:lnR>
                    <a:lnT w="38103" cap="flat" cmpd="sng" algn="ctr">
                      <a:solidFill>
                        <a:srgbClr val="F2F2F2"/>
                      </a:solidFill>
                      <a:prstDash val="solid"/>
                      <a:round/>
                      <a:headEnd type="none" w="med" len="med"/>
                      <a:tailEnd type="none" w="med" len="med"/>
                    </a:lnT>
                    <a:lnB w="12701" cap="flat" cmpd="sng" algn="ctr">
                      <a:solidFill>
                        <a:srgbClr val="F2F2F2"/>
                      </a:solidFill>
                      <a:prstDash val="solid"/>
                      <a:round/>
                      <a:headEnd type="none" w="med" len="med"/>
                      <a:tailEnd type="none" w="med" len="med"/>
                    </a:lnB>
                  </a:tcPr>
                </a:tc>
                <a:tc gridSpan="2">
                  <a:txBody>
                    <a:bodyPr/>
                    <a:lstStyle/>
                    <a:p>
                      <a:pPr lvl="0" algn="l"/>
                      <a:r>
                        <a:rPr lang="en-GB" sz="1200"/>
                        <a:t>RoW</a:t>
                      </a:r>
                      <a:r>
                        <a:rPr lang="en-GB" sz="1200" baseline="0"/>
                        <a:t> to </a:t>
                      </a:r>
                      <a:r>
                        <a:rPr lang="en-GB" sz="1200"/>
                        <a:t>NI Imports</a:t>
                      </a:r>
                    </a:p>
                  </a:txBody>
                  <a:tcPr>
                    <a:lnL w="28575"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7030A0"/>
                    </a:solidFill>
                  </a:tcPr>
                </a:tc>
                <a:tc hMerge="1">
                  <a:txBody>
                    <a:bodyPr/>
                    <a:lstStyle/>
                    <a:p>
                      <a:endParaRPr lang="en-GB"/>
                    </a:p>
                  </a:txBody>
                  <a:tcPr/>
                </a:tc>
                <a:tc gridSpan="2">
                  <a:txBody>
                    <a:bodyPr/>
                    <a:lstStyle/>
                    <a:p>
                      <a:pPr lvl="0" algn="l"/>
                      <a:r>
                        <a:rPr lang="en-GB" sz="1200"/>
                        <a:t>GB</a:t>
                      </a:r>
                      <a:r>
                        <a:rPr lang="en-GB" sz="1200" baseline="0"/>
                        <a:t> to </a:t>
                      </a:r>
                      <a:r>
                        <a:rPr lang="en-GB" sz="1200"/>
                        <a:t>NI Imports</a:t>
                      </a:r>
                    </a:p>
                  </a:txBody>
                  <a:tcP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7030A0"/>
                    </a:solidFill>
                  </a:tcPr>
                </a:tc>
                <a:tc hMerge="1">
                  <a:txBody>
                    <a:bodyPr/>
                    <a:lstStyle/>
                    <a:p>
                      <a:endParaRPr lang="en-GB"/>
                    </a:p>
                  </a:txBody>
                  <a:tcPr/>
                </a:tc>
                <a:tc>
                  <a:txBody>
                    <a:bodyPr/>
                    <a:lstStyle/>
                    <a:p>
                      <a:pPr lvl="0" algn="l"/>
                      <a:r>
                        <a:rPr lang="en-GB" sz="1200"/>
                        <a:t>NI to GB/RoW Exports</a:t>
                      </a:r>
                    </a:p>
                  </a:txBody>
                  <a:tcPr>
                    <a:lnL w="38103"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38103"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7030A0"/>
                    </a:solidFill>
                  </a:tcPr>
                </a:tc>
                <a:extLst>
                  <a:ext uri="{0D108BD9-81ED-4DB2-BD59-A6C34878D82A}">
                    <a16:rowId xmlns:a16="http://schemas.microsoft.com/office/drawing/2014/main" val="1269236521"/>
                  </a:ext>
                </a:extLst>
              </a:tr>
              <a:tr h="262414">
                <a:tc>
                  <a:txBody>
                    <a:bodyPr/>
                    <a:lstStyle/>
                    <a:p>
                      <a:pPr lvl="0"/>
                      <a:r>
                        <a:rPr lang="en-GB" sz="1200" b="1"/>
                        <a:t>AI code declared in D.E. 2/2 against all items:</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tc gridSpan="2">
                  <a:txBody>
                    <a:bodyPr/>
                    <a:lstStyle/>
                    <a:p>
                      <a:pPr lvl="0" algn="ctr"/>
                      <a:r>
                        <a:rPr lang="en-GB" sz="1200" b="1"/>
                        <a:t>NIIMP</a:t>
                      </a:r>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hMerge="1">
                  <a:txBody>
                    <a:bodyPr/>
                    <a:lstStyle/>
                    <a:p>
                      <a:endParaRPr lang="en-GB"/>
                    </a:p>
                  </a:txBody>
                  <a:tcPr/>
                </a:tc>
                <a:tc gridSpan="2">
                  <a:txBody>
                    <a:bodyPr/>
                    <a:lstStyle/>
                    <a:p>
                      <a:pPr lvl="0" algn="ctr"/>
                      <a:r>
                        <a:rPr lang="en-GB" sz="1200" b="1"/>
                        <a:t>NIDOM</a:t>
                      </a:r>
                    </a:p>
                  </a:txBody>
                  <a:tcP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hMerge="1">
                  <a:txBody>
                    <a:bodyPr/>
                    <a:lstStyle/>
                    <a:p>
                      <a:endParaRPr lang="en-GB"/>
                    </a:p>
                  </a:txBody>
                  <a:tcPr/>
                </a:tc>
                <a:tc>
                  <a:txBody>
                    <a:bodyPr/>
                    <a:lstStyle/>
                    <a:p>
                      <a:pPr lvl="0" algn="ctr"/>
                      <a:r>
                        <a:rPr lang="en-GB" sz="1200" b="1"/>
                        <a:t>NIEXP</a:t>
                      </a:r>
                    </a:p>
                  </a:txBody>
                  <a:tcPr>
                    <a:lnL w="38103"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extLst>
                  <a:ext uri="{0D108BD9-81ED-4DB2-BD59-A6C34878D82A}">
                    <a16:rowId xmlns:a16="http://schemas.microsoft.com/office/drawing/2014/main" val="709823865"/>
                  </a:ext>
                </a:extLst>
              </a:tr>
              <a:tr h="262414">
                <a:tc>
                  <a:txBody>
                    <a:bodyPr/>
                    <a:lstStyle/>
                    <a:p>
                      <a:pPr lvl="0"/>
                      <a:r>
                        <a:rPr lang="en-GB" sz="1200" b="1"/>
                        <a:t>Commodity code risk status:</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lgn="ctr"/>
                      <a:r>
                        <a:rPr lang="en-GB" sz="1200" b="1"/>
                        <a:t>At Risk</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a:txBody>
                    <a:bodyPr/>
                    <a:lstStyle/>
                    <a:p>
                      <a:pPr marL="0" marR="0" lvl="0" indent="0" algn="ctr" defTabSz="914400" rtl="0" fontAlgn="auto" hangingPunct="1">
                        <a:lnSpc>
                          <a:spcPct val="100000"/>
                        </a:lnSpc>
                        <a:spcBef>
                          <a:spcPts val="0"/>
                        </a:spcBef>
                        <a:spcAft>
                          <a:spcPts val="0"/>
                        </a:spcAft>
                        <a:buNone/>
                        <a:tabLst/>
                      </a:pPr>
                      <a:r>
                        <a:rPr lang="en-GB" sz="1200" b="1"/>
                        <a:t>Not at Risk</a:t>
                      </a:r>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a:txBody>
                    <a:bodyPr/>
                    <a:lstStyle/>
                    <a:p>
                      <a:pPr lvl="0" algn="ctr"/>
                      <a:r>
                        <a:rPr lang="en-GB" sz="1200" b="1"/>
                        <a:t>At</a:t>
                      </a:r>
                      <a:r>
                        <a:rPr lang="en-GB" sz="1200" b="1" baseline="0"/>
                        <a:t> Risk</a:t>
                      </a:r>
                      <a:endParaRPr lang="en-GB" sz="1200" b="1"/>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a:txBody>
                    <a:bodyPr/>
                    <a:lstStyle/>
                    <a:p>
                      <a:pPr lvl="0" algn="ctr"/>
                      <a:r>
                        <a:rPr lang="en-GB" sz="1200" b="1"/>
                        <a:t>Not at Risk</a:t>
                      </a:r>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tc>
                  <a:txBody>
                    <a:bodyPr/>
                    <a:lstStyle/>
                    <a:p>
                      <a:pPr lvl="0" algn="ctr"/>
                      <a:r>
                        <a:rPr lang="en-GB" sz="1200" b="1"/>
                        <a:t>Not Applicable</a:t>
                      </a:r>
                    </a:p>
                  </a:txBody>
                  <a:tcPr>
                    <a:lnL w="38103"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BC79FF"/>
                    </a:solidFill>
                  </a:tcPr>
                </a:tc>
                <a:extLst>
                  <a:ext uri="{0D108BD9-81ED-4DB2-BD59-A6C34878D82A}">
                    <a16:rowId xmlns:a16="http://schemas.microsoft.com/office/drawing/2014/main" val="433630272"/>
                  </a:ext>
                </a:extLst>
              </a:tr>
              <a:tr h="242901">
                <a:tc>
                  <a:txBody>
                    <a:bodyPr/>
                    <a:lstStyle/>
                    <a:p>
                      <a:pPr lvl="0" algn="l"/>
                      <a:r>
                        <a:rPr lang="en-GB" sz="1200" b="1"/>
                        <a:t>EU tariff validation:</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buNone/>
                      </a:pPr>
                      <a:endParaRPr lang="en-GB" sz="1200" b="1" baseline="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136331926"/>
                  </a:ext>
                </a:extLst>
              </a:tr>
              <a:tr h="187671">
                <a:tc>
                  <a:txBody>
                    <a:bodyPr/>
                    <a:lstStyle/>
                    <a:p>
                      <a:pPr lvl="0" algn="l"/>
                      <a:r>
                        <a:rPr lang="en-GB" sz="1200" b="1"/>
                        <a:t>UK tariff validation:</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buNone/>
                      </a:pPr>
                      <a:endParaRPr lang="en-GB" sz="1200" b="1" baseline="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1081892961"/>
                  </a:ext>
                </a:extLst>
              </a:tr>
              <a:tr h="187671">
                <a:tc>
                  <a:txBody>
                    <a:bodyPr/>
                    <a:lstStyle/>
                    <a:p>
                      <a:pPr lvl="0" algn="l"/>
                      <a:r>
                        <a:rPr lang="en-GB" sz="1200" b="1"/>
                        <a:t>EU</a:t>
                      </a:r>
                      <a:r>
                        <a:rPr lang="en-GB" sz="1200" b="1" baseline="0"/>
                        <a:t> tariff calculation:</a:t>
                      </a:r>
                      <a:endParaRPr lang="en-GB" sz="1200" b="1"/>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buNone/>
                      </a:pPr>
                      <a:endParaRPr lang="en-GB" sz="1200" b="1" baseline="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lgn="l">
                        <a:buNone/>
                      </a:pPr>
                      <a:endParaRPr lang="en-GB" sz="1200" b="0" baseline="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1289300166"/>
                  </a:ext>
                </a:extLst>
              </a:tr>
              <a:tr h="250143">
                <a:tc>
                  <a:txBody>
                    <a:bodyPr/>
                    <a:lstStyle/>
                    <a:p>
                      <a:pPr lvl="0" algn="l"/>
                      <a:r>
                        <a:rPr lang="en-GB" sz="1200" b="1"/>
                        <a:t>UK tariff calculation:</a:t>
                      </a:r>
                      <a:endParaRPr lang="en-GB" sz="1200" b="1" baseline="0"/>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1958517118"/>
                  </a:ext>
                </a:extLst>
              </a:tr>
              <a:tr h="250143">
                <a:tc>
                  <a:txBody>
                    <a:bodyPr/>
                    <a:lstStyle/>
                    <a:p>
                      <a:pPr lvl="0" algn="l"/>
                      <a:r>
                        <a:rPr lang="en-GB" sz="1200" b="1" baseline="0"/>
                        <a:t>Subsidy permitted:</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2224582399"/>
                  </a:ext>
                </a:extLst>
              </a:tr>
              <a:tr h="309231">
                <a:tc>
                  <a:txBody>
                    <a:bodyPr/>
                    <a:lstStyle/>
                    <a:p>
                      <a:pPr lvl="0" algn="l"/>
                      <a:r>
                        <a:rPr lang="en-GB" sz="1200" b="1" baseline="0"/>
                        <a:t>Trader able to declare goods are ‘not at risk’</a:t>
                      </a:r>
                    </a:p>
                  </a:txBody>
                  <a:tcPr anchor="ctr">
                    <a:lnL w="38103" cap="flat" cmpd="sng" algn="ctr">
                      <a:solidFill>
                        <a:srgbClr val="F2F2F2"/>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2F2F2"/>
                      </a:solidFill>
                      <a:prstDash val="solid"/>
                      <a:round/>
                      <a:headEnd type="none" w="med" len="med"/>
                      <a:tailEnd type="none" w="med" len="med"/>
                    </a:lnB>
                    <a:solidFill>
                      <a:srgbClr val="E6D5F3"/>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sng"/>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2F2F2"/>
                      </a:solidFill>
                      <a:prstDash val="solid"/>
                      <a:round/>
                      <a:headEnd type="none" w="med" len="med"/>
                      <a:tailEnd type="none" w="med" len="med"/>
                    </a:lnB>
                    <a:solidFill>
                      <a:srgbClr val="E6D5F3"/>
                    </a:solidFill>
                  </a:tcPr>
                </a:tc>
                <a:tc>
                  <a:txBody>
                    <a:bodyPr/>
                    <a:lstStyle/>
                    <a:p>
                      <a:pPr lvl="0"/>
                      <a:endParaRPr lang="en-GB" sz="1200"/>
                    </a:p>
                  </a:txBody>
                  <a:tcPr>
                    <a:lnL w="38103"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2F2F2"/>
                      </a:solidFill>
                      <a:prstDash val="solid"/>
                      <a:round/>
                      <a:headEnd type="none" w="med" len="med"/>
                      <a:tailEnd type="none" w="med" len="med"/>
                    </a:lnB>
                    <a:solidFill>
                      <a:srgbClr val="E6D5F3"/>
                    </a:solidFill>
                  </a:tcPr>
                </a:tc>
                <a:tc>
                  <a:txBody>
                    <a:bodyPr/>
                    <a:lstStyle/>
                    <a:p>
                      <a:pPr lvl="0"/>
                      <a:endParaRPr lang="en-GB" sz="1200"/>
                    </a:p>
                  </a:txBody>
                  <a:tcPr>
                    <a:lnL w="12701"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2F2F2"/>
                      </a:solidFill>
                      <a:prstDash val="solid"/>
                      <a:round/>
                      <a:headEnd type="none" w="med" len="med"/>
                      <a:tailEnd type="none" w="med" len="med"/>
                    </a:lnB>
                    <a:solidFill>
                      <a:srgbClr val="E6D5F3"/>
                    </a:solidFill>
                  </a:tcPr>
                </a:tc>
                <a:tc>
                  <a:txBody>
                    <a:bodyPr/>
                    <a:lstStyle/>
                    <a:p>
                      <a:pPr lvl="0"/>
                      <a:endParaRPr lang="en-GB" sz="1200" dirty="0"/>
                    </a:p>
                  </a:txBody>
                  <a:tcPr>
                    <a:lnL w="38103" cap="flat" cmpd="sng" algn="ctr">
                      <a:solidFill>
                        <a:srgbClr val="FFFFFF"/>
                      </a:solidFill>
                      <a:prstDash val="solid"/>
                      <a:round/>
                      <a:headEnd type="none" w="med" len="med"/>
                      <a:tailEnd type="none" w="med" len="med"/>
                    </a:lnL>
                    <a:lnR w="28575" cap="flat" cmpd="sng" algn="ctr">
                      <a:solidFill>
                        <a:srgbClr val="F2F2F2"/>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2F2F2"/>
                      </a:solidFill>
                      <a:prstDash val="solid"/>
                      <a:round/>
                      <a:headEnd type="none" w="med" len="med"/>
                      <a:tailEnd type="none" w="med" len="med"/>
                    </a:lnB>
                    <a:solidFill>
                      <a:srgbClr val="E6D5F3"/>
                    </a:solidFill>
                  </a:tcPr>
                </a:tc>
                <a:extLst>
                  <a:ext uri="{0D108BD9-81ED-4DB2-BD59-A6C34878D82A}">
                    <a16:rowId xmlns:a16="http://schemas.microsoft.com/office/drawing/2014/main" val="906431185"/>
                  </a:ext>
                </a:extLst>
              </a:tr>
            </a:tbl>
          </a:graphicData>
        </a:graphic>
      </p:graphicFrame>
      <p:grpSp>
        <p:nvGrpSpPr>
          <p:cNvPr id="9" name="Group 103">
            <a:extLst>
              <a:ext uri="{FF2B5EF4-FFF2-40B4-BE49-F238E27FC236}">
                <a16:creationId xmlns:a16="http://schemas.microsoft.com/office/drawing/2014/main" id="{CBCF64C0-0DEE-4F88-8649-B426971F7905}"/>
              </a:ext>
            </a:extLst>
          </p:cNvPr>
          <p:cNvGrpSpPr/>
          <p:nvPr/>
        </p:nvGrpSpPr>
        <p:grpSpPr>
          <a:xfrm>
            <a:off x="3946413" y="3107515"/>
            <a:ext cx="204386" cy="164967"/>
            <a:chOff x="3946413" y="3107515"/>
            <a:chExt cx="204386" cy="164967"/>
          </a:xfrm>
        </p:grpSpPr>
        <p:cxnSp>
          <p:nvCxnSpPr>
            <p:cNvPr id="10" name="Straight Connector 104">
              <a:extLst>
                <a:ext uri="{FF2B5EF4-FFF2-40B4-BE49-F238E27FC236}">
                  <a16:creationId xmlns:a16="http://schemas.microsoft.com/office/drawing/2014/main" id="{C5886DB2-750A-4183-9FEC-92B2CF2A05E8}"/>
                </a:ext>
              </a:extLst>
            </p:cNvPr>
            <p:cNvCxnSpPr/>
            <p:nvPr/>
          </p:nvCxnSpPr>
          <p:spPr>
            <a:xfrm>
              <a:off x="3946413" y="3204679"/>
              <a:ext cx="68278" cy="67803"/>
            </a:xfrm>
            <a:prstGeom prst="straightConnector1">
              <a:avLst/>
            </a:prstGeom>
            <a:noFill/>
            <a:ln w="57150" cap="flat">
              <a:solidFill>
                <a:srgbClr val="00B050"/>
              </a:solidFill>
              <a:prstDash val="solid"/>
              <a:miter/>
            </a:ln>
          </p:spPr>
        </p:cxnSp>
        <p:cxnSp>
          <p:nvCxnSpPr>
            <p:cNvPr id="11" name="Straight Connector 128">
              <a:extLst>
                <a:ext uri="{FF2B5EF4-FFF2-40B4-BE49-F238E27FC236}">
                  <a16:creationId xmlns:a16="http://schemas.microsoft.com/office/drawing/2014/main" id="{64370FD8-DC11-45E0-8BCD-56F3764BA310}"/>
                </a:ext>
              </a:extLst>
            </p:cNvPr>
            <p:cNvCxnSpPr/>
            <p:nvPr/>
          </p:nvCxnSpPr>
          <p:spPr>
            <a:xfrm flipV="1">
              <a:off x="3992151" y="3107515"/>
              <a:ext cx="158648" cy="157542"/>
            </a:xfrm>
            <a:prstGeom prst="straightConnector1">
              <a:avLst/>
            </a:prstGeom>
            <a:noFill/>
            <a:ln w="57150" cap="flat">
              <a:solidFill>
                <a:srgbClr val="00B050"/>
              </a:solidFill>
              <a:prstDash val="solid"/>
              <a:miter/>
            </a:ln>
          </p:spPr>
        </p:cxnSp>
      </p:grpSp>
      <p:sp>
        <p:nvSpPr>
          <p:cNvPr id="12" name="Rectangle 5">
            <a:extLst>
              <a:ext uri="{FF2B5EF4-FFF2-40B4-BE49-F238E27FC236}">
                <a16:creationId xmlns:a16="http://schemas.microsoft.com/office/drawing/2014/main" id="{F6D83E94-91F1-4A0D-808D-90BA328CC672}"/>
              </a:ext>
            </a:extLst>
          </p:cNvPr>
          <p:cNvSpPr/>
          <p:nvPr/>
        </p:nvSpPr>
        <p:spPr>
          <a:xfrm>
            <a:off x="796597" y="1633383"/>
            <a:ext cx="10925443" cy="71558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pitchFamily="34"/>
                <a:ea typeface="Calibri" pitchFamily="34"/>
                <a:cs typeface="Times New Roman" pitchFamily="18"/>
              </a:rPr>
              <a:t>EU/UK Tariff Matrix</a:t>
            </a:r>
          </a:p>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The table below displays the subsequent EU/UK Tariff validation and calculation that will occur on CDS depending on the Additional Information code declared and ‘at risk’ status of the commodity code:</a:t>
            </a:r>
          </a:p>
        </p:txBody>
      </p:sp>
      <p:sp>
        <p:nvSpPr>
          <p:cNvPr id="13" name="Rectangle 154">
            <a:extLst>
              <a:ext uri="{FF2B5EF4-FFF2-40B4-BE49-F238E27FC236}">
                <a16:creationId xmlns:a16="http://schemas.microsoft.com/office/drawing/2014/main" id="{D248F8A5-7AEE-4D40-8B5E-EB7E3C0F353D}"/>
              </a:ext>
            </a:extLst>
          </p:cNvPr>
          <p:cNvSpPr/>
          <p:nvPr/>
        </p:nvSpPr>
        <p:spPr>
          <a:xfrm>
            <a:off x="8774664" y="2234610"/>
            <a:ext cx="2776273" cy="242373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Calibri" pitchFamily="34"/>
                <a:cs typeface="Times New Roman" pitchFamily="18"/>
              </a:rPr>
              <a:t>Please note:</a:t>
            </a: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All NIP AI codes for NI declarations must be entered at item level only and may be declared on any declaration type.</a:t>
            </a: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To declare a commodity code is ‘not at risk’, traders must declare the AI code ‘NIREM’ in D.E. 2/2 at item level.</a:t>
            </a: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To claim subsidy against an ‘at risk’ commodity code on a GB-NI import declaration, AI code ‘NIAID’ must be declared in D.E. 2/2 at item level.</a:t>
            </a:r>
          </a:p>
        </p:txBody>
      </p:sp>
      <p:grpSp>
        <p:nvGrpSpPr>
          <p:cNvPr id="14" name="Group 155">
            <a:extLst>
              <a:ext uri="{FF2B5EF4-FFF2-40B4-BE49-F238E27FC236}">
                <a16:creationId xmlns:a16="http://schemas.microsoft.com/office/drawing/2014/main" id="{19D7F579-F916-4A8C-9DFF-9DB7E0EE0FB7}"/>
              </a:ext>
            </a:extLst>
          </p:cNvPr>
          <p:cNvGrpSpPr/>
          <p:nvPr/>
        </p:nvGrpSpPr>
        <p:grpSpPr>
          <a:xfrm>
            <a:off x="4783592" y="3098179"/>
            <a:ext cx="204386" cy="164976"/>
            <a:chOff x="4783592" y="3098179"/>
            <a:chExt cx="204386" cy="164976"/>
          </a:xfrm>
        </p:grpSpPr>
        <p:cxnSp>
          <p:nvCxnSpPr>
            <p:cNvPr id="15" name="Straight Connector 156">
              <a:extLst>
                <a:ext uri="{FF2B5EF4-FFF2-40B4-BE49-F238E27FC236}">
                  <a16:creationId xmlns:a16="http://schemas.microsoft.com/office/drawing/2014/main" id="{8B28D00C-FF85-430B-AFD5-97C94C81E18E}"/>
                </a:ext>
              </a:extLst>
            </p:cNvPr>
            <p:cNvCxnSpPr/>
            <p:nvPr/>
          </p:nvCxnSpPr>
          <p:spPr>
            <a:xfrm>
              <a:off x="4783592" y="3195343"/>
              <a:ext cx="68278" cy="67812"/>
            </a:xfrm>
            <a:prstGeom prst="straightConnector1">
              <a:avLst/>
            </a:prstGeom>
            <a:noFill/>
            <a:ln w="57150" cap="flat">
              <a:solidFill>
                <a:srgbClr val="00B050"/>
              </a:solidFill>
              <a:prstDash val="solid"/>
              <a:miter/>
            </a:ln>
          </p:spPr>
        </p:cxnSp>
        <p:cxnSp>
          <p:nvCxnSpPr>
            <p:cNvPr id="16" name="Straight Connector 157">
              <a:extLst>
                <a:ext uri="{FF2B5EF4-FFF2-40B4-BE49-F238E27FC236}">
                  <a16:creationId xmlns:a16="http://schemas.microsoft.com/office/drawing/2014/main" id="{FC886117-0D11-4B08-9B1D-548BA464D2FF}"/>
                </a:ext>
              </a:extLst>
            </p:cNvPr>
            <p:cNvCxnSpPr/>
            <p:nvPr/>
          </p:nvCxnSpPr>
          <p:spPr>
            <a:xfrm flipV="1">
              <a:off x="4829330" y="3098179"/>
              <a:ext cx="158648" cy="157551"/>
            </a:xfrm>
            <a:prstGeom prst="straightConnector1">
              <a:avLst/>
            </a:prstGeom>
            <a:noFill/>
            <a:ln w="57150" cap="flat">
              <a:solidFill>
                <a:srgbClr val="00B050"/>
              </a:solidFill>
              <a:prstDash val="solid"/>
              <a:miter/>
            </a:ln>
          </p:spPr>
        </p:cxnSp>
      </p:grpSp>
      <p:grpSp>
        <p:nvGrpSpPr>
          <p:cNvPr id="17" name="Group 158">
            <a:extLst>
              <a:ext uri="{FF2B5EF4-FFF2-40B4-BE49-F238E27FC236}">
                <a16:creationId xmlns:a16="http://schemas.microsoft.com/office/drawing/2014/main" id="{4582E4FD-3096-4A01-A170-79B49AE783B9}"/>
              </a:ext>
            </a:extLst>
          </p:cNvPr>
          <p:cNvGrpSpPr/>
          <p:nvPr/>
        </p:nvGrpSpPr>
        <p:grpSpPr>
          <a:xfrm>
            <a:off x="5628762" y="3101215"/>
            <a:ext cx="204387" cy="164976"/>
            <a:chOff x="5628762" y="3101215"/>
            <a:chExt cx="204387" cy="164976"/>
          </a:xfrm>
        </p:grpSpPr>
        <p:cxnSp>
          <p:nvCxnSpPr>
            <p:cNvPr id="18" name="Straight Connector 159">
              <a:extLst>
                <a:ext uri="{FF2B5EF4-FFF2-40B4-BE49-F238E27FC236}">
                  <a16:creationId xmlns:a16="http://schemas.microsoft.com/office/drawing/2014/main" id="{84205B31-1D02-470E-8A76-A759BCE75F76}"/>
                </a:ext>
              </a:extLst>
            </p:cNvPr>
            <p:cNvCxnSpPr/>
            <p:nvPr/>
          </p:nvCxnSpPr>
          <p:spPr>
            <a:xfrm>
              <a:off x="5628762" y="3198379"/>
              <a:ext cx="68279" cy="67812"/>
            </a:xfrm>
            <a:prstGeom prst="straightConnector1">
              <a:avLst/>
            </a:prstGeom>
            <a:noFill/>
            <a:ln w="57150" cap="flat">
              <a:solidFill>
                <a:srgbClr val="00B050"/>
              </a:solidFill>
              <a:prstDash val="solid"/>
              <a:miter/>
            </a:ln>
          </p:spPr>
        </p:cxnSp>
        <p:cxnSp>
          <p:nvCxnSpPr>
            <p:cNvPr id="19" name="Straight Connector 160">
              <a:extLst>
                <a:ext uri="{FF2B5EF4-FFF2-40B4-BE49-F238E27FC236}">
                  <a16:creationId xmlns:a16="http://schemas.microsoft.com/office/drawing/2014/main" id="{F63CCE69-2E94-4FF2-A4BA-2C8B9B2B3887}"/>
                </a:ext>
              </a:extLst>
            </p:cNvPr>
            <p:cNvCxnSpPr/>
            <p:nvPr/>
          </p:nvCxnSpPr>
          <p:spPr>
            <a:xfrm flipV="1">
              <a:off x="5674492" y="3101215"/>
              <a:ext cx="158657" cy="157551"/>
            </a:xfrm>
            <a:prstGeom prst="straightConnector1">
              <a:avLst/>
            </a:prstGeom>
            <a:noFill/>
            <a:ln w="57150" cap="flat">
              <a:solidFill>
                <a:srgbClr val="00B050"/>
              </a:solidFill>
              <a:prstDash val="solid"/>
              <a:miter/>
            </a:ln>
          </p:spPr>
        </p:cxnSp>
      </p:grpSp>
      <p:grpSp>
        <p:nvGrpSpPr>
          <p:cNvPr id="20" name="Group 161">
            <a:extLst>
              <a:ext uri="{FF2B5EF4-FFF2-40B4-BE49-F238E27FC236}">
                <a16:creationId xmlns:a16="http://schemas.microsoft.com/office/drawing/2014/main" id="{93C4C680-4F28-4D83-BB6E-1243BAD62869}"/>
              </a:ext>
            </a:extLst>
          </p:cNvPr>
          <p:cNvGrpSpPr/>
          <p:nvPr/>
        </p:nvGrpSpPr>
        <p:grpSpPr>
          <a:xfrm>
            <a:off x="6399611" y="3098828"/>
            <a:ext cx="204396" cy="164967"/>
            <a:chOff x="6399611" y="3098828"/>
            <a:chExt cx="204396" cy="164967"/>
          </a:xfrm>
        </p:grpSpPr>
        <p:cxnSp>
          <p:nvCxnSpPr>
            <p:cNvPr id="21" name="Straight Connector 162">
              <a:extLst>
                <a:ext uri="{FF2B5EF4-FFF2-40B4-BE49-F238E27FC236}">
                  <a16:creationId xmlns:a16="http://schemas.microsoft.com/office/drawing/2014/main" id="{C5FE2B24-4B33-48C4-B982-5070F8F61CDC}"/>
                </a:ext>
              </a:extLst>
            </p:cNvPr>
            <p:cNvCxnSpPr/>
            <p:nvPr/>
          </p:nvCxnSpPr>
          <p:spPr>
            <a:xfrm>
              <a:off x="6399611" y="3195992"/>
              <a:ext cx="68287" cy="67803"/>
            </a:xfrm>
            <a:prstGeom prst="straightConnector1">
              <a:avLst/>
            </a:prstGeom>
            <a:noFill/>
            <a:ln w="57150" cap="flat">
              <a:solidFill>
                <a:srgbClr val="00B050"/>
              </a:solidFill>
              <a:prstDash val="solid"/>
              <a:miter/>
            </a:ln>
          </p:spPr>
        </p:cxnSp>
        <p:cxnSp>
          <p:nvCxnSpPr>
            <p:cNvPr id="22" name="Straight Connector 163">
              <a:extLst>
                <a:ext uri="{FF2B5EF4-FFF2-40B4-BE49-F238E27FC236}">
                  <a16:creationId xmlns:a16="http://schemas.microsoft.com/office/drawing/2014/main" id="{01378979-2057-4011-B82D-1872D4E5E73D}"/>
                </a:ext>
              </a:extLst>
            </p:cNvPr>
            <p:cNvCxnSpPr/>
            <p:nvPr/>
          </p:nvCxnSpPr>
          <p:spPr>
            <a:xfrm flipV="1">
              <a:off x="6445349" y="3098828"/>
              <a:ext cx="158658" cy="157551"/>
            </a:xfrm>
            <a:prstGeom prst="straightConnector1">
              <a:avLst/>
            </a:prstGeom>
            <a:noFill/>
            <a:ln w="57150" cap="flat">
              <a:solidFill>
                <a:srgbClr val="00B050"/>
              </a:solidFill>
              <a:prstDash val="solid"/>
              <a:miter/>
            </a:ln>
          </p:spPr>
        </p:cxnSp>
      </p:grpSp>
      <p:grpSp>
        <p:nvGrpSpPr>
          <p:cNvPr id="23" name="Group 164">
            <a:extLst>
              <a:ext uri="{FF2B5EF4-FFF2-40B4-BE49-F238E27FC236}">
                <a16:creationId xmlns:a16="http://schemas.microsoft.com/office/drawing/2014/main" id="{03A646CC-BA09-4DD9-AB5C-58A15AB731D4}"/>
              </a:ext>
            </a:extLst>
          </p:cNvPr>
          <p:cNvGrpSpPr/>
          <p:nvPr/>
        </p:nvGrpSpPr>
        <p:grpSpPr>
          <a:xfrm>
            <a:off x="7716338" y="3097850"/>
            <a:ext cx="204386" cy="164966"/>
            <a:chOff x="7716338" y="3097850"/>
            <a:chExt cx="204386" cy="164966"/>
          </a:xfrm>
        </p:grpSpPr>
        <p:cxnSp>
          <p:nvCxnSpPr>
            <p:cNvPr id="24" name="Straight Connector 165">
              <a:extLst>
                <a:ext uri="{FF2B5EF4-FFF2-40B4-BE49-F238E27FC236}">
                  <a16:creationId xmlns:a16="http://schemas.microsoft.com/office/drawing/2014/main" id="{514C0ADE-BC4A-43F7-88A3-F5A78554D34B}"/>
                </a:ext>
              </a:extLst>
            </p:cNvPr>
            <p:cNvCxnSpPr/>
            <p:nvPr/>
          </p:nvCxnSpPr>
          <p:spPr>
            <a:xfrm>
              <a:off x="7716338" y="3195014"/>
              <a:ext cx="68287" cy="67802"/>
            </a:xfrm>
            <a:prstGeom prst="straightConnector1">
              <a:avLst/>
            </a:prstGeom>
            <a:noFill/>
            <a:ln w="57150" cap="flat">
              <a:solidFill>
                <a:srgbClr val="00B050"/>
              </a:solidFill>
              <a:prstDash val="solid"/>
              <a:miter/>
            </a:ln>
          </p:spPr>
        </p:cxnSp>
        <p:cxnSp>
          <p:nvCxnSpPr>
            <p:cNvPr id="25" name="Straight Connector 166">
              <a:extLst>
                <a:ext uri="{FF2B5EF4-FFF2-40B4-BE49-F238E27FC236}">
                  <a16:creationId xmlns:a16="http://schemas.microsoft.com/office/drawing/2014/main" id="{AD67717B-DBA9-48B1-BCE4-FF4658D5B726}"/>
                </a:ext>
              </a:extLst>
            </p:cNvPr>
            <p:cNvCxnSpPr/>
            <p:nvPr/>
          </p:nvCxnSpPr>
          <p:spPr>
            <a:xfrm flipV="1">
              <a:off x="7762076" y="3097850"/>
              <a:ext cx="158648" cy="157542"/>
            </a:xfrm>
            <a:prstGeom prst="straightConnector1">
              <a:avLst/>
            </a:prstGeom>
            <a:noFill/>
            <a:ln w="57150" cap="flat">
              <a:solidFill>
                <a:srgbClr val="00B050"/>
              </a:solidFill>
              <a:prstDash val="solid"/>
              <a:miter/>
            </a:ln>
          </p:spPr>
        </p:cxnSp>
      </p:grpSp>
      <p:grpSp>
        <p:nvGrpSpPr>
          <p:cNvPr id="26" name="Group 167">
            <a:extLst>
              <a:ext uri="{FF2B5EF4-FFF2-40B4-BE49-F238E27FC236}">
                <a16:creationId xmlns:a16="http://schemas.microsoft.com/office/drawing/2014/main" id="{9F614B94-439B-40A0-A4DE-927C28B559D5}"/>
              </a:ext>
            </a:extLst>
          </p:cNvPr>
          <p:cNvGrpSpPr/>
          <p:nvPr/>
        </p:nvGrpSpPr>
        <p:grpSpPr>
          <a:xfrm>
            <a:off x="4783592" y="3377336"/>
            <a:ext cx="204386" cy="164967"/>
            <a:chOff x="4783592" y="3377336"/>
            <a:chExt cx="204386" cy="164967"/>
          </a:xfrm>
        </p:grpSpPr>
        <p:cxnSp>
          <p:nvCxnSpPr>
            <p:cNvPr id="27" name="Straight Connector 168">
              <a:extLst>
                <a:ext uri="{FF2B5EF4-FFF2-40B4-BE49-F238E27FC236}">
                  <a16:creationId xmlns:a16="http://schemas.microsoft.com/office/drawing/2014/main" id="{F85D2AEB-D619-43BC-81CC-D4C5C4E6F4BA}"/>
                </a:ext>
              </a:extLst>
            </p:cNvPr>
            <p:cNvCxnSpPr/>
            <p:nvPr/>
          </p:nvCxnSpPr>
          <p:spPr>
            <a:xfrm>
              <a:off x="4783592" y="3474500"/>
              <a:ext cx="68278" cy="67803"/>
            </a:xfrm>
            <a:prstGeom prst="straightConnector1">
              <a:avLst/>
            </a:prstGeom>
            <a:noFill/>
            <a:ln w="57150" cap="flat">
              <a:solidFill>
                <a:srgbClr val="00B050"/>
              </a:solidFill>
              <a:prstDash val="solid"/>
              <a:miter/>
            </a:ln>
          </p:spPr>
        </p:cxnSp>
        <p:cxnSp>
          <p:nvCxnSpPr>
            <p:cNvPr id="28" name="Straight Connector 169">
              <a:extLst>
                <a:ext uri="{FF2B5EF4-FFF2-40B4-BE49-F238E27FC236}">
                  <a16:creationId xmlns:a16="http://schemas.microsoft.com/office/drawing/2014/main" id="{32ED88E6-5308-4EC9-B8BC-2FCD422BACC4}"/>
                </a:ext>
              </a:extLst>
            </p:cNvPr>
            <p:cNvCxnSpPr/>
            <p:nvPr/>
          </p:nvCxnSpPr>
          <p:spPr>
            <a:xfrm flipV="1">
              <a:off x="4829330" y="3377336"/>
              <a:ext cx="158648" cy="157551"/>
            </a:xfrm>
            <a:prstGeom prst="straightConnector1">
              <a:avLst/>
            </a:prstGeom>
            <a:noFill/>
            <a:ln w="57150" cap="flat">
              <a:solidFill>
                <a:srgbClr val="00B050"/>
              </a:solidFill>
              <a:prstDash val="solid"/>
              <a:miter/>
            </a:ln>
          </p:spPr>
        </p:cxnSp>
      </p:grpSp>
      <p:grpSp>
        <p:nvGrpSpPr>
          <p:cNvPr id="29" name="Group 170">
            <a:extLst>
              <a:ext uri="{FF2B5EF4-FFF2-40B4-BE49-F238E27FC236}">
                <a16:creationId xmlns:a16="http://schemas.microsoft.com/office/drawing/2014/main" id="{058E8537-F786-4731-8D7F-BCF2195048A6}"/>
              </a:ext>
            </a:extLst>
          </p:cNvPr>
          <p:cNvGrpSpPr/>
          <p:nvPr/>
        </p:nvGrpSpPr>
        <p:grpSpPr>
          <a:xfrm>
            <a:off x="3946413" y="3639284"/>
            <a:ext cx="204386" cy="164976"/>
            <a:chOff x="3946413" y="3639284"/>
            <a:chExt cx="204386" cy="164976"/>
          </a:xfrm>
        </p:grpSpPr>
        <p:cxnSp>
          <p:nvCxnSpPr>
            <p:cNvPr id="30" name="Straight Connector 171">
              <a:extLst>
                <a:ext uri="{FF2B5EF4-FFF2-40B4-BE49-F238E27FC236}">
                  <a16:creationId xmlns:a16="http://schemas.microsoft.com/office/drawing/2014/main" id="{46083367-D3F1-43D1-9575-DBD44C759898}"/>
                </a:ext>
              </a:extLst>
            </p:cNvPr>
            <p:cNvCxnSpPr/>
            <p:nvPr/>
          </p:nvCxnSpPr>
          <p:spPr>
            <a:xfrm>
              <a:off x="3946413" y="3736457"/>
              <a:ext cx="68278" cy="67803"/>
            </a:xfrm>
            <a:prstGeom prst="straightConnector1">
              <a:avLst/>
            </a:prstGeom>
            <a:noFill/>
            <a:ln w="57150" cap="flat">
              <a:solidFill>
                <a:srgbClr val="00B050"/>
              </a:solidFill>
              <a:prstDash val="solid"/>
              <a:miter/>
            </a:ln>
          </p:spPr>
        </p:cxnSp>
        <p:cxnSp>
          <p:nvCxnSpPr>
            <p:cNvPr id="31" name="Straight Connector 172">
              <a:extLst>
                <a:ext uri="{FF2B5EF4-FFF2-40B4-BE49-F238E27FC236}">
                  <a16:creationId xmlns:a16="http://schemas.microsoft.com/office/drawing/2014/main" id="{51F0C984-EC07-46BB-92E0-9517321E7DC9}"/>
                </a:ext>
              </a:extLst>
            </p:cNvPr>
            <p:cNvCxnSpPr/>
            <p:nvPr/>
          </p:nvCxnSpPr>
          <p:spPr>
            <a:xfrm flipV="1">
              <a:off x="3992151" y="3639284"/>
              <a:ext cx="158648" cy="157551"/>
            </a:xfrm>
            <a:prstGeom prst="straightConnector1">
              <a:avLst/>
            </a:prstGeom>
            <a:noFill/>
            <a:ln w="57150" cap="flat">
              <a:solidFill>
                <a:srgbClr val="00B050"/>
              </a:solidFill>
              <a:prstDash val="solid"/>
              <a:miter/>
            </a:ln>
          </p:spPr>
        </p:cxnSp>
      </p:grpSp>
      <p:grpSp>
        <p:nvGrpSpPr>
          <p:cNvPr id="32" name="Group 173">
            <a:extLst>
              <a:ext uri="{FF2B5EF4-FFF2-40B4-BE49-F238E27FC236}">
                <a16:creationId xmlns:a16="http://schemas.microsoft.com/office/drawing/2014/main" id="{970E384E-08FE-44E6-9968-E4F68717E628}"/>
              </a:ext>
            </a:extLst>
          </p:cNvPr>
          <p:cNvGrpSpPr/>
          <p:nvPr/>
        </p:nvGrpSpPr>
        <p:grpSpPr>
          <a:xfrm>
            <a:off x="5604375" y="3643152"/>
            <a:ext cx="204396" cy="164976"/>
            <a:chOff x="5604375" y="3643152"/>
            <a:chExt cx="204396" cy="164976"/>
          </a:xfrm>
        </p:grpSpPr>
        <p:cxnSp>
          <p:nvCxnSpPr>
            <p:cNvPr id="33" name="Straight Connector 174">
              <a:extLst>
                <a:ext uri="{FF2B5EF4-FFF2-40B4-BE49-F238E27FC236}">
                  <a16:creationId xmlns:a16="http://schemas.microsoft.com/office/drawing/2014/main" id="{BE2F95E9-7F47-4220-800F-6BFF8566B6D5}"/>
                </a:ext>
              </a:extLst>
            </p:cNvPr>
            <p:cNvCxnSpPr/>
            <p:nvPr/>
          </p:nvCxnSpPr>
          <p:spPr>
            <a:xfrm>
              <a:off x="5604375" y="3740316"/>
              <a:ext cx="68288" cy="67812"/>
            </a:xfrm>
            <a:prstGeom prst="straightConnector1">
              <a:avLst/>
            </a:prstGeom>
            <a:noFill/>
            <a:ln w="57150" cap="flat">
              <a:solidFill>
                <a:srgbClr val="00B050"/>
              </a:solidFill>
              <a:prstDash val="solid"/>
              <a:miter/>
            </a:ln>
          </p:spPr>
        </p:cxnSp>
        <p:cxnSp>
          <p:nvCxnSpPr>
            <p:cNvPr id="34" name="Straight Connector 175">
              <a:extLst>
                <a:ext uri="{FF2B5EF4-FFF2-40B4-BE49-F238E27FC236}">
                  <a16:creationId xmlns:a16="http://schemas.microsoft.com/office/drawing/2014/main" id="{3DDB7E4F-6DB0-49EF-9BCA-DA22E6A9EF0E}"/>
                </a:ext>
              </a:extLst>
            </p:cNvPr>
            <p:cNvCxnSpPr/>
            <p:nvPr/>
          </p:nvCxnSpPr>
          <p:spPr>
            <a:xfrm flipV="1">
              <a:off x="5650114" y="3643152"/>
              <a:ext cx="158657" cy="157551"/>
            </a:xfrm>
            <a:prstGeom prst="straightConnector1">
              <a:avLst/>
            </a:prstGeom>
            <a:noFill/>
            <a:ln w="57150" cap="flat">
              <a:solidFill>
                <a:srgbClr val="00B050"/>
              </a:solidFill>
              <a:prstDash val="solid"/>
              <a:miter/>
            </a:ln>
          </p:spPr>
        </p:cxnSp>
      </p:grpSp>
      <p:grpSp>
        <p:nvGrpSpPr>
          <p:cNvPr id="35" name="Group 176">
            <a:extLst>
              <a:ext uri="{FF2B5EF4-FFF2-40B4-BE49-F238E27FC236}">
                <a16:creationId xmlns:a16="http://schemas.microsoft.com/office/drawing/2014/main" id="{8D4C5079-4870-4107-83FE-B0477F9C42E2}"/>
              </a:ext>
            </a:extLst>
          </p:cNvPr>
          <p:cNvGrpSpPr/>
          <p:nvPr/>
        </p:nvGrpSpPr>
        <p:grpSpPr>
          <a:xfrm>
            <a:off x="4763932" y="3916128"/>
            <a:ext cx="204387" cy="164976"/>
            <a:chOff x="4763932" y="3916128"/>
            <a:chExt cx="204387" cy="164976"/>
          </a:xfrm>
        </p:grpSpPr>
        <p:cxnSp>
          <p:nvCxnSpPr>
            <p:cNvPr id="36" name="Straight Connector 177">
              <a:extLst>
                <a:ext uri="{FF2B5EF4-FFF2-40B4-BE49-F238E27FC236}">
                  <a16:creationId xmlns:a16="http://schemas.microsoft.com/office/drawing/2014/main" id="{DA59690F-640A-4867-BF48-54CAB36FF479}"/>
                </a:ext>
              </a:extLst>
            </p:cNvPr>
            <p:cNvCxnSpPr/>
            <p:nvPr/>
          </p:nvCxnSpPr>
          <p:spPr>
            <a:xfrm>
              <a:off x="4763932" y="4013292"/>
              <a:ext cx="68278" cy="67812"/>
            </a:xfrm>
            <a:prstGeom prst="straightConnector1">
              <a:avLst/>
            </a:prstGeom>
            <a:noFill/>
            <a:ln w="57150" cap="flat">
              <a:solidFill>
                <a:srgbClr val="00B050"/>
              </a:solidFill>
              <a:prstDash val="solid"/>
              <a:miter/>
            </a:ln>
          </p:spPr>
        </p:cxnSp>
        <p:cxnSp>
          <p:nvCxnSpPr>
            <p:cNvPr id="37" name="Straight Connector 178">
              <a:extLst>
                <a:ext uri="{FF2B5EF4-FFF2-40B4-BE49-F238E27FC236}">
                  <a16:creationId xmlns:a16="http://schemas.microsoft.com/office/drawing/2014/main" id="{FDEA7AC3-5B5A-41AA-AFC8-E711AEFB4643}"/>
                </a:ext>
              </a:extLst>
            </p:cNvPr>
            <p:cNvCxnSpPr/>
            <p:nvPr/>
          </p:nvCxnSpPr>
          <p:spPr>
            <a:xfrm flipV="1">
              <a:off x="4809661" y="3916128"/>
              <a:ext cx="158658" cy="157551"/>
            </a:xfrm>
            <a:prstGeom prst="straightConnector1">
              <a:avLst/>
            </a:prstGeom>
            <a:noFill/>
            <a:ln w="57150" cap="flat">
              <a:solidFill>
                <a:srgbClr val="00B050"/>
              </a:solidFill>
              <a:prstDash val="solid"/>
              <a:miter/>
            </a:ln>
          </p:spPr>
        </p:cxnSp>
      </p:grpSp>
      <p:grpSp>
        <p:nvGrpSpPr>
          <p:cNvPr id="38" name="Group 179">
            <a:extLst>
              <a:ext uri="{FF2B5EF4-FFF2-40B4-BE49-F238E27FC236}">
                <a16:creationId xmlns:a16="http://schemas.microsoft.com/office/drawing/2014/main" id="{8ED29EC2-98B3-48C5-8CD9-0BCD5CB7D3DB}"/>
              </a:ext>
            </a:extLst>
          </p:cNvPr>
          <p:cNvGrpSpPr/>
          <p:nvPr/>
        </p:nvGrpSpPr>
        <p:grpSpPr>
          <a:xfrm>
            <a:off x="5600974" y="4443865"/>
            <a:ext cx="204387" cy="164967"/>
            <a:chOff x="5600974" y="4443865"/>
            <a:chExt cx="204387" cy="164967"/>
          </a:xfrm>
        </p:grpSpPr>
        <p:cxnSp>
          <p:nvCxnSpPr>
            <p:cNvPr id="39" name="Straight Connector 180">
              <a:extLst>
                <a:ext uri="{FF2B5EF4-FFF2-40B4-BE49-F238E27FC236}">
                  <a16:creationId xmlns:a16="http://schemas.microsoft.com/office/drawing/2014/main" id="{78C815E2-D497-40CE-B678-A64DAA2B79D0}"/>
                </a:ext>
              </a:extLst>
            </p:cNvPr>
            <p:cNvCxnSpPr/>
            <p:nvPr/>
          </p:nvCxnSpPr>
          <p:spPr>
            <a:xfrm>
              <a:off x="5600974" y="4541029"/>
              <a:ext cx="68287" cy="67803"/>
            </a:xfrm>
            <a:prstGeom prst="straightConnector1">
              <a:avLst/>
            </a:prstGeom>
            <a:noFill/>
            <a:ln w="57150" cap="flat">
              <a:solidFill>
                <a:srgbClr val="00B050"/>
              </a:solidFill>
              <a:prstDash val="solid"/>
              <a:miter/>
            </a:ln>
          </p:spPr>
        </p:cxnSp>
        <p:cxnSp>
          <p:nvCxnSpPr>
            <p:cNvPr id="40" name="Straight Connector 181">
              <a:extLst>
                <a:ext uri="{FF2B5EF4-FFF2-40B4-BE49-F238E27FC236}">
                  <a16:creationId xmlns:a16="http://schemas.microsoft.com/office/drawing/2014/main" id="{98D6A2C2-689E-4FBB-B12C-1DF41814FE9E}"/>
                </a:ext>
              </a:extLst>
            </p:cNvPr>
            <p:cNvCxnSpPr/>
            <p:nvPr/>
          </p:nvCxnSpPr>
          <p:spPr>
            <a:xfrm flipV="1">
              <a:off x="5646712" y="4443865"/>
              <a:ext cx="158649" cy="157551"/>
            </a:xfrm>
            <a:prstGeom prst="straightConnector1">
              <a:avLst/>
            </a:prstGeom>
            <a:noFill/>
            <a:ln w="57150" cap="flat">
              <a:solidFill>
                <a:srgbClr val="00B050"/>
              </a:solidFill>
              <a:prstDash val="solid"/>
              <a:miter/>
            </a:ln>
          </p:spPr>
        </p:cxnSp>
      </p:grpSp>
      <p:grpSp>
        <p:nvGrpSpPr>
          <p:cNvPr id="41" name="Group 182">
            <a:extLst>
              <a:ext uri="{FF2B5EF4-FFF2-40B4-BE49-F238E27FC236}">
                <a16:creationId xmlns:a16="http://schemas.microsoft.com/office/drawing/2014/main" id="{003C7523-AAF4-4578-B218-2767937B5FED}"/>
              </a:ext>
            </a:extLst>
          </p:cNvPr>
          <p:cNvGrpSpPr/>
          <p:nvPr/>
        </p:nvGrpSpPr>
        <p:grpSpPr>
          <a:xfrm>
            <a:off x="5604375" y="4158901"/>
            <a:ext cx="204396" cy="164967"/>
            <a:chOff x="5604375" y="4158901"/>
            <a:chExt cx="204396" cy="164967"/>
          </a:xfrm>
        </p:grpSpPr>
        <p:cxnSp>
          <p:nvCxnSpPr>
            <p:cNvPr id="42" name="Straight Connector 183">
              <a:extLst>
                <a:ext uri="{FF2B5EF4-FFF2-40B4-BE49-F238E27FC236}">
                  <a16:creationId xmlns:a16="http://schemas.microsoft.com/office/drawing/2014/main" id="{303E1A21-0DB9-4060-8EEF-01A4C54312BA}"/>
                </a:ext>
              </a:extLst>
            </p:cNvPr>
            <p:cNvCxnSpPr/>
            <p:nvPr/>
          </p:nvCxnSpPr>
          <p:spPr>
            <a:xfrm>
              <a:off x="5604375" y="4256065"/>
              <a:ext cx="68288" cy="67803"/>
            </a:xfrm>
            <a:prstGeom prst="straightConnector1">
              <a:avLst/>
            </a:prstGeom>
            <a:noFill/>
            <a:ln w="57150" cap="flat">
              <a:solidFill>
                <a:srgbClr val="00B050"/>
              </a:solidFill>
              <a:prstDash val="solid"/>
              <a:miter/>
            </a:ln>
          </p:spPr>
        </p:cxnSp>
        <p:cxnSp>
          <p:nvCxnSpPr>
            <p:cNvPr id="43" name="Straight Connector 184">
              <a:extLst>
                <a:ext uri="{FF2B5EF4-FFF2-40B4-BE49-F238E27FC236}">
                  <a16:creationId xmlns:a16="http://schemas.microsoft.com/office/drawing/2014/main" id="{AE014487-1E42-4A68-B23C-2D06E551B48C}"/>
                </a:ext>
              </a:extLst>
            </p:cNvPr>
            <p:cNvCxnSpPr/>
            <p:nvPr/>
          </p:nvCxnSpPr>
          <p:spPr>
            <a:xfrm flipV="1">
              <a:off x="5650114" y="4158901"/>
              <a:ext cx="158657" cy="157542"/>
            </a:xfrm>
            <a:prstGeom prst="straightConnector1">
              <a:avLst/>
            </a:prstGeom>
            <a:noFill/>
            <a:ln w="57150" cap="flat">
              <a:solidFill>
                <a:srgbClr val="00B050"/>
              </a:solidFill>
              <a:prstDash val="solid"/>
              <a:miter/>
            </a:ln>
          </p:spPr>
        </p:cxnSp>
      </p:grpSp>
      <p:grpSp>
        <p:nvGrpSpPr>
          <p:cNvPr id="44" name="Group 185">
            <a:extLst>
              <a:ext uri="{FF2B5EF4-FFF2-40B4-BE49-F238E27FC236}">
                <a16:creationId xmlns:a16="http://schemas.microsoft.com/office/drawing/2014/main" id="{8DC0518E-A662-460B-A0CD-9B56065970A7}"/>
              </a:ext>
            </a:extLst>
          </p:cNvPr>
          <p:cNvGrpSpPr/>
          <p:nvPr/>
        </p:nvGrpSpPr>
        <p:grpSpPr>
          <a:xfrm>
            <a:off x="7697181" y="3357877"/>
            <a:ext cx="174879" cy="165022"/>
            <a:chOff x="7697181" y="3357877"/>
            <a:chExt cx="174879" cy="165022"/>
          </a:xfrm>
        </p:grpSpPr>
        <p:cxnSp>
          <p:nvCxnSpPr>
            <p:cNvPr id="45" name="Straight Connector 186">
              <a:extLst>
                <a:ext uri="{FF2B5EF4-FFF2-40B4-BE49-F238E27FC236}">
                  <a16:creationId xmlns:a16="http://schemas.microsoft.com/office/drawing/2014/main" id="{25C28E40-C2A0-465B-98BE-B5E16FABBABD}"/>
                </a:ext>
              </a:extLst>
            </p:cNvPr>
            <p:cNvCxnSpPr/>
            <p:nvPr/>
          </p:nvCxnSpPr>
          <p:spPr>
            <a:xfrm flipV="1">
              <a:off x="7709114" y="3357887"/>
              <a:ext cx="162946" cy="165012"/>
            </a:xfrm>
            <a:prstGeom prst="straightConnector1">
              <a:avLst/>
            </a:prstGeom>
            <a:noFill/>
            <a:ln w="57150" cap="flat">
              <a:solidFill>
                <a:srgbClr val="A50021"/>
              </a:solidFill>
              <a:prstDash val="solid"/>
              <a:miter/>
            </a:ln>
          </p:spPr>
        </p:cxnSp>
        <p:cxnSp>
          <p:nvCxnSpPr>
            <p:cNvPr id="46" name="Straight Connector 187">
              <a:extLst>
                <a:ext uri="{FF2B5EF4-FFF2-40B4-BE49-F238E27FC236}">
                  <a16:creationId xmlns:a16="http://schemas.microsoft.com/office/drawing/2014/main" id="{008FFD46-E8EC-4104-9FA9-AA268A1DBB54}"/>
                </a:ext>
              </a:extLst>
            </p:cNvPr>
            <p:cNvCxnSpPr/>
            <p:nvPr/>
          </p:nvCxnSpPr>
          <p:spPr>
            <a:xfrm>
              <a:off x="7697181" y="3357877"/>
              <a:ext cx="174879" cy="164062"/>
            </a:xfrm>
            <a:prstGeom prst="straightConnector1">
              <a:avLst/>
            </a:prstGeom>
            <a:noFill/>
            <a:ln w="57150" cap="flat">
              <a:solidFill>
                <a:srgbClr val="A50021"/>
              </a:solidFill>
              <a:prstDash val="solid"/>
              <a:miter/>
            </a:ln>
          </p:spPr>
        </p:cxnSp>
      </p:grpSp>
      <p:grpSp>
        <p:nvGrpSpPr>
          <p:cNvPr id="47" name="Group 188">
            <a:extLst>
              <a:ext uri="{FF2B5EF4-FFF2-40B4-BE49-F238E27FC236}">
                <a16:creationId xmlns:a16="http://schemas.microsoft.com/office/drawing/2014/main" id="{40BF05A9-AE89-46AF-BC08-B5ADCFD51DCE}"/>
              </a:ext>
            </a:extLst>
          </p:cNvPr>
          <p:cNvGrpSpPr/>
          <p:nvPr/>
        </p:nvGrpSpPr>
        <p:grpSpPr>
          <a:xfrm>
            <a:off x="7707248" y="3894246"/>
            <a:ext cx="174879" cy="165022"/>
            <a:chOff x="7707248" y="3894246"/>
            <a:chExt cx="174879" cy="165022"/>
          </a:xfrm>
        </p:grpSpPr>
        <p:cxnSp>
          <p:nvCxnSpPr>
            <p:cNvPr id="48" name="Straight Connector 189">
              <a:extLst>
                <a:ext uri="{FF2B5EF4-FFF2-40B4-BE49-F238E27FC236}">
                  <a16:creationId xmlns:a16="http://schemas.microsoft.com/office/drawing/2014/main" id="{B7D7ADAC-D290-4807-91F2-476CA191E3E6}"/>
                </a:ext>
              </a:extLst>
            </p:cNvPr>
            <p:cNvCxnSpPr/>
            <p:nvPr/>
          </p:nvCxnSpPr>
          <p:spPr>
            <a:xfrm flipV="1">
              <a:off x="7719181" y="3894246"/>
              <a:ext cx="162946" cy="165022"/>
            </a:xfrm>
            <a:prstGeom prst="straightConnector1">
              <a:avLst/>
            </a:prstGeom>
            <a:noFill/>
            <a:ln w="57150" cap="flat">
              <a:solidFill>
                <a:srgbClr val="A50021"/>
              </a:solidFill>
              <a:prstDash val="solid"/>
              <a:miter/>
            </a:ln>
          </p:spPr>
        </p:cxnSp>
        <p:cxnSp>
          <p:nvCxnSpPr>
            <p:cNvPr id="49" name="Straight Connector 190">
              <a:extLst>
                <a:ext uri="{FF2B5EF4-FFF2-40B4-BE49-F238E27FC236}">
                  <a16:creationId xmlns:a16="http://schemas.microsoft.com/office/drawing/2014/main" id="{46E2CDF9-0C3D-4AF4-8E34-F545ADEC803B}"/>
                </a:ext>
              </a:extLst>
            </p:cNvPr>
            <p:cNvCxnSpPr/>
            <p:nvPr/>
          </p:nvCxnSpPr>
          <p:spPr>
            <a:xfrm>
              <a:off x="7707248" y="3894246"/>
              <a:ext cx="174879" cy="164062"/>
            </a:xfrm>
            <a:prstGeom prst="straightConnector1">
              <a:avLst/>
            </a:prstGeom>
            <a:noFill/>
            <a:ln w="57150" cap="flat">
              <a:solidFill>
                <a:srgbClr val="A50021"/>
              </a:solidFill>
              <a:prstDash val="solid"/>
              <a:miter/>
            </a:ln>
          </p:spPr>
        </p:cxnSp>
      </p:grpSp>
      <p:grpSp>
        <p:nvGrpSpPr>
          <p:cNvPr id="50" name="Group 191">
            <a:extLst>
              <a:ext uri="{FF2B5EF4-FFF2-40B4-BE49-F238E27FC236}">
                <a16:creationId xmlns:a16="http://schemas.microsoft.com/office/drawing/2014/main" id="{504571A5-C757-41E4-821F-18E25A6CC6E9}"/>
              </a:ext>
            </a:extLst>
          </p:cNvPr>
          <p:cNvGrpSpPr/>
          <p:nvPr/>
        </p:nvGrpSpPr>
        <p:grpSpPr>
          <a:xfrm>
            <a:off x="7697181" y="4178542"/>
            <a:ext cx="174879" cy="165022"/>
            <a:chOff x="7697181" y="4178542"/>
            <a:chExt cx="174879" cy="165022"/>
          </a:xfrm>
        </p:grpSpPr>
        <p:cxnSp>
          <p:nvCxnSpPr>
            <p:cNvPr id="51" name="Straight Connector 192">
              <a:extLst>
                <a:ext uri="{FF2B5EF4-FFF2-40B4-BE49-F238E27FC236}">
                  <a16:creationId xmlns:a16="http://schemas.microsoft.com/office/drawing/2014/main" id="{318C44F2-3B1B-4C56-A910-AF4446828B31}"/>
                </a:ext>
              </a:extLst>
            </p:cNvPr>
            <p:cNvCxnSpPr/>
            <p:nvPr/>
          </p:nvCxnSpPr>
          <p:spPr>
            <a:xfrm flipV="1">
              <a:off x="7709114" y="4178551"/>
              <a:ext cx="162946" cy="165013"/>
            </a:xfrm>
            <a:prstGeom prst="straightConnector1">
              <a:avLst/>
            </a:prstGeom>
            <a:noFill/>
            <a:ln w="57150" cap="flat">
              <a:solidFill>
                <a:srgbClr val="A50021"/>
              </a:solidFill>
              <a:prstDash val="solid"/>
              <a:miter/>
            </a:ln>
          </p:spPr>
        </p:cxnSp>
        <p:cxnSp>
          <p:nvCxnSpPr>
            <p:cNvPr id="52" name="Straight Connector 193">
              <a:extLst>
                <a:ext uri="{FF2B5EF4-FFF2-40B4-BE49-F238E27FC236}">
                  <a16:creationId xmlns:a16="http://schemas.microsoft.com/office/drawing/2014/main" id="{43F40AC0-AAD0-4804-97A9-D26FC30C28C6}"/>
                </a:ext>
              </a:extLst>
            </p:cNvPr>
            <p:cNvCxnSpPr/>
            <p:nvPr/>
          </p:nvCxnSpPr>
          <p:spPr>
            <a:xfrm>
              <a:off x="7697181" y="4178542"/>
              <a:ext cx="174879" cy="164062"/>
            </a:xfrm>
            <a:prstGeom prst="straightConnector1">
              <a:avLst/>
            </a:prstGeom>
            <a:noFill/>
            <a:ln w="57150" cap="flat">
              <a:solidFill>
                <a:srgbClr val="A50021"/>
              </a:solidFill>
              <a:prstDash val="solid"/>
              <a:miter/>
            </a:ln>
          </p:spPr>
        </p:cxnSp>
      </p:grpSp>
      <p:grpSp>
        <p:nvGrpSpPr>
          <p:cNvPr id="53" name="Group 194">
            <a:extLst>
              <a:ext uri="{FF2B5EF4-FFF2-40B4-BE49-F238E27FC236}">
                <a16:creationId xmlns:a16="http://schemas.microsoft.com/office/drawing/2014/main" id="{FD7E5AD1-9944-4628-90E6-E843D1FB869C}"/>
              </a:ext>
            </a:extLst>
          </p:cNvPr>
          <p:cNvGrpSpPr/>
          <p:nvPr/>
        </p:nvGrpSpPr>
        <p:grpSpPr>
          <a:xfrm>
            <a:off x="7697181" y="4475037"/>
            <a:ext cx="174879" cy="165012"/>
            <a:chOff x="7697181" y="4475037"/>
            <a:chExt cx="174879" cy="165012"/>
          </a:xfrm>
        </p:grpSpPr>
        <p:cxnSp>
          <p:nvCxnSpPr>
            <p:cNvPr id="54" name="Straight Connector 195">
              <a:extLst>
                <a:ext uri="{FF2B5EF4-FFF2-40B4-BE49-F238E27FC236}">
                  <a16:creationId xmlns:a16="http://schemas.microsoft.com/office/drawing/2014/main" id="{EE3AAADD-66E9-4EAF-BD69-0A7D0CD2A83B}"/>
                </a:ext>
              </a:extLst>
            </p:cNvPr>
            <p:cNvCxnSpPr/>
            <p:nvPr/>
          </p:nvCxnSpPr>
          <p:spPr>
            <a:xfrm flipV="1">
              <a:off x="7709114" y="4475037"/>
              <a:ext cx="162946" cy="165012"/>
            </a:xfrm>
            <a:prstGeom prst="straightConnector1">
              <a:avLst/>
            </a:prstGeom>
            <a:noFill/>
            <a:ln w="57150" cap="flat">
              <a:solidFill>
                <a:srgbClr val="A50021"/>
              </a:solidFill>
              <a:prstDash val="solid"/>
              <a:miter/>
            </a:ln>
          </p:spPr>
        </p:cxnSp>
        <p:cxnSp>
          <p:nvCxnSpPr>
            <p:cNvPr id="55" name="Straight Connector 196">
              <a:extLst>
                <a:ext uri="{FF2B5EF4-FFF2-40B4-BE49-F238E27FC236}">
                  <a16:creationId xmlns:a16="http://schemas.microsoft.com/office/drawing/2014/main" id="{53AF8980-AA87-4526-9954-4C45F7E76E08}"/>
                </a:ext>
              </a:extLst>
            </p:cNvPr>
            <p:cNvCxnSpPr/>
            <p:nvPr/>
          </p:nvCxnSpPr>
          <p:spPr>
            <a:xfrm>
              <a:off x="7697181" y="4475037"/>
              <a:ext cx="174879" cy="164061"/>
            </a:xfrm>
            <a:prstGeom prst="straightConnector1">
              <a:avLst/>
            </a:prstGeom>
            <a:noFill/>
            <a:ln w="57150" cap="flat">
              <a:solidFill>
                <a:srgbClr val="A50021"/>
              </a:solidFill>
              <a:prstDash val="solid"/>
              <a:miter/>
            </a:ln>
          </p:spPr>
        </p:cxnSp>
      </p:grpSp>
      <p:grpSp>
        <p:nvGrpSpPr>
          <p:cNvPr id="56" name="Group 197">
            <a:extLst>
              <a:ext uri="{FF2B5EF4-FFF2-40B4-BE49-F238E27FC236}">
                <a16:creationId xmlns:a16="http://schemas.microsoft.com/office/drawing/2014/main" id="{51E66F0D-0BD1-4610-8D65-8F72D68BBC56}"/>
              </a:ext>
            </a:extLst>
          </p:cNvPr>
          <p:cNvGrpSpPr/>
          <p:nvPr/>
        </p:nvGrpSpPr>
        <p:grpSpPr>
          <a:xfrm>
            <a:off x="6380994" y="3356113"/>
            <a:ext cx="174879" cy="165012"/>
            <a:chOff x="6380994" y="3356113"/>
            <a:chExt cx="174879" cy="165012"/>
          </a:xfrm>
        </p:grpSpPr>
        <p:cxnSp>
          <p:nvCxnSpPr>
            <p:cNvPr id="57" name="Straight Connector 198">
              <a:extLst>
                <a:ext uri="{FF2B5EF4-FFF2-40B4-BE49-F238E27FC236}">
                  <a16:creationId xmlns:a16="http://schemas.microsoft.com/office/drawing/2014/main" id="{96AE4175-37DA-444E-9C09-7AF0AABDDC43}"/>
                </a:ext>
              </a:extLst>
            </p:cNvPr>
            <p:cNvCxnSpPr/>
            <p:nvPr/>
          </p:nvCxnSpPr>
          <p:spPr>
            <a:xfrm flipV="1">
              <a:off x="6392927" y="3356113"/>
              <a:ext cx="162946" cy="165012"/>
            </a:xfrm>
            <a:prstGeom prst="straightConnector1">
              <a:avLst/>
            </a:prstGeom>
            <a:noFill/>
            <a:ln w="57150" cap="flat">
              <a:solidFill>
                <a:srgbClr val="A50021"/>
              </a:solidFill>
              <a:prstDash val="solid"/>
              <a:miter/>
            </a:ln>
          </p:spPr>
        </p:cxnSp>
        <p:cxnSp>
          <p:nvCxnSpPr>
            <p:cNvPr id="58" name="Straight Connector 199">
              <a:extLst>
                <a:ext uri="{FF2B5EF4-FFF2-40B4-BE49-F238E27FC236}">
                  <a16:creationId xmlns:a16="http://schemas.microsoft.com/office/drawing/2014/main" id="{4843B762-5B88-4DD8-A88D-FB6EE485FA26}"/>
                </a:ext>
              </a:extLst>
            </p:cNvPr>
            <p:cNvCxnSpPr/>
            <p:nvPr/>
          </p:nvCxnSpPr>
          <p:spPr>
            <a:xfrm>
              <a:off x="6380994" y="3356113"/>
              <a:ext cx="174879" cy="164061"/>
            </a:xfrm>
            <a:prstGeom prst="straightConnector1">
              <a:avLst/>
            </a:prstGeom>
            <a:noFill/>
            <a:ln w="57150" cap="flat">
              <a:solidFill>
                <a:srgbClr val="A50021"/>
              </a:solidFill>
              <a:prstDash val="solid"/>
              <a:miter/>
            </a:ln>
          </p:spPr>
        </p:cxnSp>
      </p:grpSp>
      <p:grpSp>
        <p:nvGrpSpPr>
          <p:cNvPr id="59" name="Group 200">
            <a:extLst>
              <a:ext uri="{FF2B5EF4-FFF2-40B4-BE49-F238E27FC236}">
                <a16:creationId xmlns:a16="http://schemas.microsoft.com/office/drawing/2014/main" id="{B9BF6455-344C-468B-BD48-C547341E4579}"/>
              </a:ext>
            </a:extLst>
          </p:cNvPr>
          <p:cNvGrpSpPr/>
          <p:nvPr/>
        </p:nvGrpSpPr>
        <p:grpSpPr>
          <a:xfrm>
            <a:off x="5608993" y="3371548"/>
            <a:ext cx="174879" cy="165012"/>
            <a:chOff x="5608993" y="3371548"/>
            <a:chExt cx="174879" cy="165012"/>
          </a:xfrm>
        </p:grpSpPr>
        <p:cxnSp>
          <p:nvCxnSpPr>
            <p:cNvPr id="60" name="Straight Connector 201">
              <a:extLst>
                <a:ext uri="{FF2B5EF4-FFF2-40B4-BE49-F238E27FC236}">
                  <a16:creationId xmlns:a16="http://schemas.microsoft.com/office/drawing/2014/main" id="{9F281160-EE3F-4053-81A3-28313BBCFA91}"/>
                </a:ext>
              </a:extLst>
            </p:cNvPr>
            <p:cNvCxnSpPr/>
            <p:nvPr/>
          </p:nvCxnSpPr>
          <p:spPr>
            <a:xfrm flipV="1">
              <a:off x="5620926" y="3371548"/>
              <a:ext cx="162946" cy="165012"/>
            </a:xfrm>
            <a:prstGeom prst="straightConnector1">
              <a:avLst/>
            </a:prstGeom>
            <a:noFill/>
            <a:ln w="57150" cap="flat">
              <a:solidFill>
                <a:srgbClr val="A50021"/>
              </a:solidFill>
              <a:prstDash val="solid"/>
              <a:miter/>
            </a:ln>
          </p:spPr>
        </p:cxnSp>
        <p:cxnSp>
          <p:nvCxnSpPr>
            <p:cNvPr id="61" name="Straight Connector 202">
              <a:extLst>
                <a:ext uri="{FF2B5EF4-FFF2-40B4-BE49-F238E27FC236}">
                  <a16:creationId xmlns:a16="http://schemas.microsoft.com/office/drawing/2014/main" id="{09953423-B3A6-490A-B34E-670C8D0F610E}"/>
                </a:ext>
              </a:extLst>
            </p:cNvPr>
            <p:cNvCxnSpPr/>
            <p:nvPr/>
          </p:nvCxnSpPr>
          <p:spPr>
            <a:xfrm>
              <a:off x="5608993" y="3371548"/>
              <a:ext cx="174879" cy="164061"/>
            </a:xfrm>
            <a:prstGeom prst="straightConnector1">
              <a:avLst/>
            </a:prstGeom>
            <a:noFill/>
            <a:ln w="57150" cap="flat">
              <a:solidFill>
                <a:srgbClr val="A50021"/>
              </a:solidFill>
              <a:prstDash val="solid"/>
              <a:miter/>
            </a:ln>
          </p:spPr>
        </p:cxnSp>
      </p:grpSp>
      <p:grpSp>
        <p:nvGrpSpPr>
          <p:cNvPr id="62" name="Group 215">
            <a:extLst>
              <a:ext uri="{FF2B5EF4-FFF2-40B4-BE49-F238E27FC236}">
                <a16:creationId xmlns:a16="http://schemas.microsoft.com/office/drawing/2014/main" id="{FDE88AAF-3458-4B10-8363-ADBFA1C9485D}"/>
              </a:ext>
            </a:extLst>
          </p:cNvPr>
          <p:cNvGrpSpPr/>
          <p:nvPr/>
        </p:nvGrpSpPr>
        <p:grpSpPr>
          <a:xfrm>
            <a:off x="3946413" y="4475037"/>
            <a:ext cx="204386" cy="164966"/>
            <a:chOff x="3946413" y="4475037"/>
            <a:chExt cx="204386" cy="164966"/>
          </a:xfrm>
        </p:grpSpPr>
        <p:cxnSp>
          <p:nvCxnSpPr>
            <p:cNvPr id="63" name="Straight Connector 216">
              <a:extLst>
                <a:ext uri="{FF2B5EF4-FFF2-40B4-BE49-F238E27FC236}">
                  <a16:creationId xmlns:a16="http://schemas.microsoft.com/office/drawing/2014/main" id="{32C7701C-D4B8-425E-A85D-ADFD03B2B08D}"/>
                </a:ext>
              </a:extLst>
            </p:cNvPr>
            <p:cNvCxnSpPr/>
            <p:nvPr/>
          </p:nvCxnSpPr>
          <p:spPr>
            <a:xfrm>
              <a:off x="3946413" y="4572201"/>
              <a:ext cx="68278" cy="67802"/>
            </a:xfrm>
            <a:prstGeom prst="straightConnector1">
              <a:avLst/>
            </a:prstGeom>
            <a:noFill/>
            <a:ln w="57150" cap="flat">
              <a:solidFill>
                <a:srgbClr val="00B050"/>
              </a:solidFill>
              <a:prstDash val="solid"/>
              <a:miter/>
            </a:ln>
          </p:spPr>
        </p:cxnSp>
        <p:cxnSp>
          <p:nvCxnSpPr>
            <p:cNvPr id="64" name="Straight Connector 217">
              <a:extLst>
                <a:ext uri="{FF2B5EF4-FFF2-40B4-BE49-F238E27FC236}">
                  <a16:creationId xmlns:a16="http://schemas.microsoft.com/office/drawing/2014/main" id="{59213103-D3B0-450E-A600-2184F1FFFF16}"/>
                </a:ext>
              </a:extLst>
            </p:cNvPr>
            <p:cNvCxnSpPr/>
            <p:nvPr/>
          </p:nvCxnSpPr>
          <p:spPr>
            <a:xfrm flipV="1">
              <a:off x="3992151" y="4475037"/>
              <a:ext cx="158648" cy="157542"/>
            </a:xfrm>
            <a:prstGeom prst="straightConnector1">
              <a:avLst/>
            </a:prstGeom>
            <a:noFill/>
            <a:ln w="57150" cap="flat">
              <a:solidFill>
                <a:srgbClr val="00B050"/>
              </a:solidFill>
              <a:prstDash val="solid"/>
              <a:miter/>
            </a:ln>
          </p:spPr>
        </p:cxnSp>
      </p:grpSp>
      <p:grpSp>
        <p:nvGrpSpPr>
          <p:cNvPr id="65" name="Group 221">
            <a:extLst>
              <a:ext uri="{FF2B5EF4-FFF2-40B4-BE49-F238E27FC236}">
                <a16:creationId xmlns:a16="http://schemas.microsoft.com/office/drawing/2014/main" id="{5A2BAF1C-6C9C-4710-B41D-0F6824D0116B}"/>
              </a:ext>
            </a:extLst>
          </p:cNvPr>
          <p:cNvGrpSpPr/>
          <p:nvPr/>
        </p:nvGrpSpPr>
        <p:grpSpPr>
          <a:xfrm>
            <a:off x="4760311" y="4475229"/>
            <a:ext cx="174879" cy="165021"/>
            <a:chOff x="4760311" y="4475229"/>
            <a:chExt cx="174879" cy="165021"/>
          </a:xfrm>
        </p:grpSpPr>
        <p:cxnSp>
          <p:nvCxnSpPr>
            <p:cNvPr id="66" name="Straight Connector 222">
              <a:extLst>
                <a:ext uri="{FF2B5EF4-FFF2-40B4-BE49-F238E27FC236}">
                  <a16:creationId xmlns:a16="http://schemas.microsoft.com/office/drawing/2014/main" id="{8C6A5606-D575-49C7-A036-884E13630AED}"/>
                </a:ext>
              </a:extLst>
            </p:cNvPr>
            <p:cNvCxnSpPr/>
            <p:nvPr/>
          </p:nvCxnSpPr>
          <p:spPr>
            <a:xfrm flipV="1">
              <a:off x="4772244" y="4475229"/>
              <a:ext cx="162946" cy="165021"/>
            </a:xfrm>
            <a:prstGeom prst="straightConnector1">
              <a:avLst/>
            </a:prstGeom>
            <a:noFill/>
            <a:ln w="57150" cap="flat">
              <a:solidFill>
                <a:srgbClr val="A50021"/>
              </a:solidFill>
              <a:prstDash val="solid"/>
              <a:miter/>
            </a:ln>
          </p:spPr>
        </p:cxnSp>
        <p:cxnSp>
          <p:nvCxnSpPr>
            <p:cNvPr id="67" name="Straight Connector 223">
              <a:extLst>
                <a:ext uri="{FF2B5EF4-FFF2-40B4-BE49-F238E27FC236}">
                  <a16:creationId xmlns:a16="http://schemas.microsoft.com/office/drawing/2014/main" id="{2A0264CA-4AE2-414E-81EE-C5DD3DD294D7}"/>
                </a:ext>
              </a:extLst>
            </p:cNvPr>
            <p:cNvCxnSpPr/>
            <p:nvPr/>
          </p:nvCxnSpPr>
          <p:spPr>
            <a:xfrm>
              <a:off x="4760311" y="4475229"/>
              <a:ext cx="174879" cy="164061"/>
            </a:xfrm>
            <a:prstGeom prst="straightConnector1">
              <a:avLst/>
            </a:prstGeom>
            <a:noFill/>
            <a:ln w="57150" cap="flat">
              <a:solidFill>
                <a:srgbClr val="A50021"/>
              </a:solidFill>
              <a:prstDash val="solid"/>
              <a:miter/>
            </a:ln>
          </p:spPr>
        </p:cxnSp>
      </p:grpSp>
      <p:grpSp>
        <p:nvGrpSpPr>
          <p:cNvPr id="68" name="Group 224">
            <a:extLst>
              <a:ext uri="{FF2B5EF4-FFF2-40B4-BE49-F238E27FC236}">
                <a16:creationId xmlns:a16="http://schemas.microsoft.com/office/drawing/2014/main" id="{596786CE-5D7D-46A5-AE03-90021323ACCD}"/>
              </a:ext>
            </a:extLst>
          </p:cNvPr>
          <p:cNvGrpSpPr/>
          <p:nvPr/>
        </p:nvGrpSpPr>
        <p:grpSpPr>
          <a:xfrm>
            <a:off x="5600974" y="3908182"/>
            <a:ext cx="174879" cy="165021"/>
            <a:chOff x="5600974" y="3908182"/>
            <a:chExt cx="174879" cy="165021"/>
          </a:xfrm>
        </p:grpSpPr>
        <p:cxnSp>
          <p:nvCxnSpPr>
            <p:cNvPr id="69" name="Straight Connector 225">
              <a:extLst>
                <a:ext uri="{FF2B5EF4-FFF2-40B4-BE49-F238E27FC236}">
                  <a16:creationId xmlns:a16="http://schemas.microsoft.com/office/drawing/2014/main" id="{F4282EA6-A2E7-40F9-BF6F-CA7AB9AB782A}"/>
                </a:ext>
              </a:extLst>
            </p:cNvPr>
            <p:cNvCxnSpPr/>
            <p:nvPr/>
          </p:nvCxnSpPr>
          <p:spPr>
            <a:xfrm flipV="1">
              <a:off x="5612907" y="3908182"/>
              <a:ext cx="162946" cy="165021"/>
            </a:xfrm>
            <a:prstGeom prst="straightConnector1">
              <a:avLst/>
            </a:prstGeom>
            <a:noFill/>
            <a:ln w="57150" cap="flat">
              <a:solidFill>
                <a:srgbClr val="A50021"/>
              </a:solidFill>
              <a:prstDash val="solid"/>
              <a:miter/>
            </a:ln>
          </p:spPr>
        </p:cxnSp>
        <p:cxnSp>
          <p:nvCxnSpPr>
            <p:cNvPr id="70" name="Straight Connector 226">
              <a:extLst>
                <a:ext uri="{FF2B5EF4-FFF2-40B4-BE49-F238E27FC236}">
                  <a16:creationId xmlns:a16="http://schemas.microsoft.com/office/drawing/2014/main" id="{2DC88836-4EB7-4C05-929F-2344CAAD199E}"/>
                </a:ext>
              </a:extLst>
            </p:cNvPr>
            <p:cNvCxnSpPr/>
            <p:nvPr/>
          </p:nvCxnSpPr>
          <p:spPr>
            <a:xfrm>
              <a:off x="5600974" y="3908182"/>
              <a:ext cx="174879" cy="164061"/>
            </a:xfrm>
            <a:prstGeom prst="straightConnector1">
              <a:avLst/>
            </a:prstGeom>
            <a:noFill/>
            <a:ln w="57150" cap="flat">
              <a:solidFill>
                <a:srgbClr val="A50021"/>
              </a:solidFill>
              <a:prstDash val="solid"/>
              <a:miter/>
            </a:ln>
          </p:spPr>
        </p:cxnSp>
      </p:grpSp>
      <p:grpSp>
        <p:nvGrpSpPr>
          <p:cNvPr id="71" name="Group 230">
            <a:extLst>
              <a:ext uri="{FF2B5EF4-FFF2-40B4-BE49-F238E27FC236}">
                <a16:creationId xmlns:a16="http://schemas.microsoft.com/office/drawing/2014/main" id="{D28ABDA9-9FFE-4B50-B328-BE3525C927AC}"/>
              </a:ext>
            </a:extLst>
          </p:cNvPr>
          <p:cNvGrpSpPr/>
          <p:nvPr/>
        </p:nvGrpSpPr>
        <p:grpSpPr>
          <a:xfrm>
            <a:off x="6386955" y="3901315"/>
            <a:ext cx="174879" cy="165012"/>
            <a:chOff x="6386955" y="3901315"/>
            <a:chExt cx="174879" cy="165012"/>
          </a:xfrm>
        </p:grpSpPr>
        <p:cxnSp>
          <p:nvCxnSpPr>
            <p:cNvPr id="72" name="Straight Connector 231">
              <a:extLst>
                <a:ext uri="{FF2B5EF4-FFF2-40B4-BE49-F238E27FC236}">
                  <a16:creationId xmlns:a16="http://schemas.microsoft.com/office/drawing/2014/main" id="{B425A745-27F5-440B-9215-0B59F4A641DF}"/>
                </a:ext>
              </a:extLst>
            </p:cNvPr>
            <p:cNvCxnSpPr/>
            <p:nvPr/>
          </p:nvCxnSpPr>
          <p:spPr>
            <a:xfrm flipV="1">
              <a:off x="6398898" y="3901315"/>
              <a:ext cx="162936" cy="165012"/>
            </a:xfrm>
            <a:prstGeom prst="straightConnector1">
              <a:avLst/>
            </a:prstGeom>
            <a:noFill/>
            <a:ln w="57150" cap="flat">
              <a:solidFill>
                <a:srgbClr val="A50021"/>
              </a:solidFill>
              <a:prstDash val="solid"/>
              <a:miter/>
            </a:ln>
          </p:spPr>
        </p:cxnSp>
        <p:cxnSp>
          <p:nvCxnSpPr>
            <p:cNvPr id="73" name="Straight Connector 232">
              <a:extLst>
                <a:ext uri="{FF2B5EF4-FFF2-40B4-BE49-F238E27FC236}">
                  <a16:creationId xmlns:a16="http://schemas.microsoft.com/office/drawing/2014/main" id="{40E58CB8-09D6-445C-BF4D-A3E52D4857E0}"/>
                </a:ext>
              </a:extLst>
            </p:cNvPr>
            <p:cNvCxnSpPr/>
            <p:nvPr/>
          </p:nvCxnSpPr>
          <p:spPr>
            <a:xfrm>
              <a:off x="6386955" y="3901315"/>
              <a:ext cx="174879" cy="164061"/>
            </a:xfrm>
            <a:prstGeom prst="straightConnector1">
              <a:avLst/>
            </a:prstGeom>
            <a:noFill/>
            <a:ln w="57150" cap="flat">
              <a:solidFill>
                <a:srgbClr val="A50021"/>
              </a:solidFill>
              <a:prstDash val="solid"/>
              <a:miter/>
            </a:ln>
          </p:spPr>
        </p:cxnSp>
      </p:grpSp>
      <p:grpSp>
        <p:nvGrpSpPr>
          <p:cNvPr id="74" name="Group 233">
            <a:extLst>
              <a:ext uri="{FF2B5EF4-FFF2-40B4-BE49-F238E27FC236}">
                <a16:creationId xmlns:a16="http://schemas.microsoft.com/office/drawing/2014/main" id="{EB8648D5-2637-463B-A813-B9C4613817F1}"/>
              </a:ext>
            </a:extLst>
          </p:cNvPr>
          <p:cNvGrpSpPr/>
          <p:nvPr/>
        </p:nvGrpSpPr>
        <p:grpSpPr>
          <a:xfrm>
            <a:off x="6393521" y="4206130"/>
            <a:ext cx="174879" cy="165012"/>
            <a:chOff x="6393521" y="4206130"/>
            <a:chExt cx="174879" cy="165012"/>
          </a:xfrm>
        </p:grpSpPr>
        <p:cxnSp>
          <p:nvCxnSpPr>
            <p:cNvPr id="75" name="Straight Connector 234">
              <a:extLst>
                <a:ext uri="{FF2B5EF4-FFF2-40B4-BE49-F238E27FC236}">
                  <a16:creationId xmlns:a16="http://schemas.microsoft.com/office/drawing/2014/main" id="{3FA6B407-3633-4D9E-8B88-8CC53D17D17A}"/>
                </a:ext>
              </a:extLst>
            </p:cNvPr>
            <p:cNvCxnSpPr/>
            <p:nvPr/>
          </p:nvCxnSpPr>
          <p:spPr>
            <a:xfrm flipV="1">
              <a:off x="6405463" y="4206130"/>
              <a:ext cx="162937" cy="165012"/>
            </a:xfrm>
            <a:prstGeom prst="straightConnector1">
              <a:avLst/>
            </a:prstGeom>
            <a:noFill/>
            <a:ln w="57150" cap="flat">
              <a:solidFill>
                <a:srgbClr val="A50021"/>
              </a:solidFill>
              <a:prstDash val="solid"/>
              <a:miter/>
            </a:ln>
          </p:spPr>
        </p:cxnSp>
        <p:cxnSp>
          <p:nvCxnSpPr>
            <p:cNvPr id="76" name="Straight Connector 235">
              <a:extLst>
                <a:ext uri="{FF2B5EF4-FFF2-40B4-BE49-F238E27FC236}">
                  <a16:creationId xmlns:a16="http://schemas.microsoft.com/office/drawing/2014/main" id="{790DD75F-5223-4ADB-BA12-C1635B87ADBC}"/>
                </a:ext>
              </a:extLst>
            </p:cNvPr>
            <p:cNvCxnSpPr/>
            <p:nvPr/>
          </p:nvCxnSpPr>
          <p:spPr>
            <a:xfrm>
              <a:off x="6393521" y="4206130"/>
              <a:ext cx="174879" cy="164061"/>
            </a:xfrm>
            <a:prstGeom prst="straightConnector1">
              <a:avLst/>
            </a:prstGeom>
            <a:noFill/>
            <a:ln w="57150" cap="flat">
              <a:solidFill>
                <a:srgbClr val="A50021"/>
              </a:solidFill>
              <a:prstDash val="solid"/>
              <a:miter/>
            </a:ln>
          </p:spPr>
        </p:cxnSp>
      </p:grpSp>
      <p:grpSp>
        <p:nvGrpSpPr>
          <p:cNvPr id="77" name="Group 236">
            <a:extLst>
              <a:ext uri="{FF2B5EF4-FFF2-40B4-BE49-F238E27FC236}">
                <a16:creationId xmlns:a16="http://schemas.microsoft.com/office/drawing/2014/main" id="{F753B19A-2C36-4C61-9DD3-2F26A49FB4C3}"/>
              </a:ext>
            </a:extLst>
          </p:cNvPr>
          <p:cNvGrpSpPr/>
          <p:nvPr/>
        </p:nvGrpSpPr>
        <p:grpSpPr>
          <a:xfrm>
            <a:off x="6393521" y="4491459"/>
            <a:ext cx="174879" cy="165022"/>
            <a:chOff x="6393521" y="4491459"/>
            <a:chExt cx="174879" cy="165022"/>
          </a:xfrm>
        </p:grpSpPr>
        <p:cxnSp>
          <p:nvCxnSpPr>
            <p:cNvPr id="78" name="Straight Connector 237">
              <a:extLst>
                <a:ext uri="{FF2B5EF4-FFF2-40B4-BE49-F238E27FC236}">
                  <a16:creationId xmlns:a16="http://schemas.microsoft.com/office/drawing/2014/main" id="{D8777F30-C1C0-47ED-92A5-3F7C7EE14F11}"/>
                </a:ext>
              </a:extLst>
            </p:cNvPr>
            <p:cNvCxnSpPr/>
            <p:nvPr/>
          </p:nvCxnSpPr>
          <p:spPr>
            <a:xfrm flipV="1">
              <a:off x="6405454" y="4491459"/>
              <a:ext cx="162946" cy="165022"/>
            </a:xfrm>
            <a:prstGeom prst="straightConnector1">
              <a:avLst/>
            </a:prstGeom>
            <a:noFill/>
            <a:ln w="57150" cap="flat">
              <a:solidFill>
                <a:srgbClr val="A50021"/>
              </a:solidFill>
              <a:prstDash val="solid"/>
              <a:miter/>
            </a:ln>
          </p:spPr>
        </p:cxnSp>
        <p:cxnSp>
          <p:nvCxnSpPr>
            <p:cNvPr id="79" name="Straight Connector 238">
              <a:extLst>
                <a:ext uri="{FF2B5EF4-FFF2-40B4-BE49-F238E27FC236}">
                  <a16:creationId xmlns:a16="http://schemas.microsoft.com/office/drawing/2014/main" id="{0188EDB2-92E5-4D7B-87EF-D7B421BA99F8}"/>
                </a:ext>
              </a:extLst>
            </p:cNvPr>
            <p:cNvCxnSpPr/>
            <p:nvPr/>
          </p:nvCxnSpPr>
          <p:spPr>
            <a:xfrm>
              <a:off x="6393521" y="4491459"/>
              <a:ext cx="174879" cy="164062"/>
            </a:xfrm>
            <a:prstGeom prst="straightConnector1">
              <a:avLst/>
            </a:prstGeom>
            <a:noFill/>
            <a:ln w="57150" cap="flat">
              <a:solidFill>
                <a:srgbClr val="A50021"/>
              </a:solidFill>
              <a:prstDash val="solid"/>
              <a:miter/>
            </a:ln>
          </p:spPr>
        </p:cxnSp>
      </p:grpSp>
      <p:grpSp>
        <p:nvGrpSpPr>
          <p:cNvPr id="80" name="Group 239">
            <a:extLst>
              <a:ext uri="{FF2B5EF4-FFF2-40B4-BE49-F238E27FC236}">
                <a16:creationId xmlns:a16="http://schemas.microsoft.com/office/drawing/2014/main" id="{77AF9C94-0C18-4482-969B-4D08D4AE025F}"/>
              </a:ext>
            </a:extLst>
          </p:cNvPr>
          <p:cNvGrpSpPr/>
          <p:nvPr/>
        </p:nvGrpSpPr>
        <p:grpSpPr>
          <a:xfrm>
            <a:off x="7701826" y="3636587"/>
            <a:ext cx="174870" cy="165021"/>
            <a:chOff x="7701826" y="3636587"/>
            <a:chExt cx="174870" cy="165021"/>
          </a:xfrm>
        </p:grpSpPr>
        <p:cxnSp>
          <p:nvCxnSpPr>
            <p:cNvPr id="81" name="Straight Connector 240">
              <a:extLst>
                <a:ext uri="{FF2B5EF4-FFF2-40B4-BE49-F238E27FC236}">
                  <a16:creationId xmlns:a16="http://schemas.microsoft.com/office/drawing/2014/main" id="{9D914CAA-5645-404C-942A-E2D10B705703}"/>
                </a:ext>
              </a:extLst>
            </p:cNvPr>
            <p:cNvCxnSpPr/>
            <p:nvPr/>
          </p:nvCxnSpPr>
          <p:spPr>
            <a:xfrm flipV="1">
              <a:off x="7713759" y="3636587"/>
              <a:ext cx="162937" cy="165021"/>
            </a:xfrm>
            <a:prstGeom prst="straightConnector1">
              <a:avLst/>
            </a:prstGeom>
            <a:noFill/>
            <a:ln w="57150" cap="flat">
              <a:solidFill>
                <a:srgbClr val="A50021"/>
              </a:solidFill>
              <a:prstDash val="solid"/>
              <a:miter/>
            </a:ln>
          </p:spPr>
        </p:cxnSp>
        <p:cxnSp>
          <p:nvCxnSpPr>
            <p:cNvPr id="82" name="Straight Connector 241">
              <a:extLst>
                <a:ext uri="{FF2B5EF4-FFF2-40B4-BE49-F238E27FC236}">
                  <a16:creationId xmlns:a16="http://schemas.microsoft.com/office/drawing/2014/main" id="{5D60A80E-3E6A-4884-A1CA-954CDCBE669F}"/>
                </a:ext>
              </a:extLst>
            </p:cNvPr>
            <p:cNvCxnSpPr/>
            <p:nvPr/>
          </p:nvCxnSpPr>
          <p:spPr>
            <a:xfrm>
              <a:off x="7701826" y="3636587"/>
              <a:ext cx="174870" cy="164061"/>
            </a:xfrm>
            <a:prstGeom prst="straightConnector1">
              <a:avLst/>
            </a:prstGeom>
            <a:noFill/>
            <a:ln w="57150" cap="flat">
              <a:solidFill>
                <a:srgbClr val="A50021"/>
              </a:solidFill>
              <a:prstDash val="solid"/>
              <a:miter/>
            </a:ln>
          </p:spPr>
        </p:cxnSp>
      </p:grpSp>
      <p:sp>
        <p:nvSpPr>
          <p:cNvPr id="83" name="Oval 17">
            <a:extLst>
              <a:ext uri="{FF2B5EF4-FFF2-40B4-BE49-F238E27FC236}">
                <a16:creationId xmlns:a16="http://schemas.microsoft.com/office/drawing/2014/main" id="{595D3ACB-A2B2-4E1D-862D-7A4660790E3E}"/>
              </a:ext>
            </a:extLst>
          </p:cNvPr>
          <p:cNvSpPr/>
          <p:nvPr/>
        </p:nvSpPr>
        <p:spPr>
          <a:xfrm>
            <a:off x="568500" y="1689107"/>
            <a:ext cx="224969" cy="204907"/>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1</a:t>
            </a:r>
          </a:p>
        </p:txBody>
      </p:sp>
      <p:cxnSp>
        <p:nvCxnSpPr>
          <p:cNvPr id="84" name="Straight Connector 11">
            <a:extLst>
              <a:ext uri="{FF2B5EF4-FFF2-40B4-BE49-F238E27FC236}">
                <a16:creationId xmlns:a16="http://schemas.microsoft.com/office/drawing/2014/main" id="{A23D3DED-0E82-4AE6-B70B-FB46BFEFEC3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85" name="TextBox 12">
            <a:extLst>
              <a:ext uri="{FF2B5EF4-FFF2-40B4-BE49-F238E27FC236}">
                <a16:creationId xmlns:a16="http://schemas.microsoft.com/office/drawing/2014/main" id="{938D39C5-E340-4F61-8ACD-A79D110B27EE}"/>
              </a:ext>
            </a:extLst>
          </p:cNvPr>
          <p:cNvSpPr txBox="1"/>
          <p:nvPr/>
        </p:nvSpPr>
        <p:spPr>
          <a:xfrm>
            <a:off x="363967" y="248844"/>
            <a:ext cx="1814919"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6" name="Slide Number Placeholder 5">
            <a:extLst>
              <a:ext uri="{FF2B5EF4-FFF2-40B4-BE49-F238E27FC236}">
                <a16:creationId xmlns:a16="http://schemas.microsoft.com/office/drawing/2014/main" id="{779B3ED1-5BCF-4955-9875-70149561B180}"/>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CCCAAB6-49E1-4D72-9EC6-AAE709E67AE7}" type="slidenum">
              <a:rPr sz="1200"/>
              <a:t>5</a:t>
            </a:fld>
            <a:endParaRPr lang="en-GB" sz="1200" b="0" i="0" u="none" strike="noStrike" kern="1200" cap="none" spc="0" baseline="0" dirty="0">
              <a:solidFill>
                <a:srgbClr val="000000"/>
              </a:solidFill>
              <a:uFillTx/>
              <a:latin typeface="Calibri"/>
            </a:endParaRPr>
          </a:p>
        </p:txBody>
      </p:sp>
      <p:sp>
        <p:nvSpPr>
          <p:cNvPr id="87" name="Oval 140">
            <a:hlinkClick r:id="rId3" action="ppaction://hlinksldjump"/>
            <a:extLst>
              <a:ext uri="{FF2B5EF4-FFF2-40B4-BE49-F238E27FC236}">
                <a16:creationId xmlns:a16="http://schemas.microsoft.com/office/drawing/2014/main" id="{5310BB8F-599A-4852-B4F4-0560912422E7}"/>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8" name="Oval 141">
            <a:extLst>
              <a:ext uri="{FF2B5EF4-FFF2-40B4-BE49-F238E27FC236}">
                <a16:creationId xmlns:a16="http://schemas.microsoft.com/office/drawing/2014/main" id="{5EC63B0E-9E49-4BE4-8D5A-FF18BFA8CB11}"/>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9" name="Oval 142">
            <a:hlinkClick r:id="rId4" action="ppaction://hlinksldjump"/>
            <a:extLst>
              <a:ext uri="{FF2B5EF4-FFF2-40B4-BE49-F238E27FC236}">
                <a16:creationId xmlns:a16="http://schemas.microsoft.com/office/drawing/2014/main" id="{5DD1658B-239B-43A7-AB3D-1637E276B31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0" name="Oval 143">
            <a:extLst>
              <a:ext uri="{FF2B5EF4-FFF2-40B4-BE49-F238E27FC236}">
                <a16:creationId xmlns:a16="http://schemas.microsoft.com/office/drawing/2014/main" id="{B69FE261-2537-4D30-BC31-F0A0141BDCB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1" name="TextBox 144">
            <a:hlinkClick r:id="rId3" action="ppaction://hlinksldjump"/>
            <a:extLst>
              <a:ext uri="{FF2B5EF4-FFF2-40B4-BE49-F238E27FC236}">
                <a16:creationId xmlns:a16="http://schemas.microsoft.com/office/drawing/2014/main" id="{D6051B71-4B0F-48F7-9409-E95CC6C418AD}"/>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92" name="TextBox 145">
            <a:extLst>
              <a:ext uri="{FF2B5EF4-FFF2-40B4-BE49-F238E27FC236}">
                <a16:creationId xmlns:a16="http://schemas.microsoft.com/office/drawing/2014/main" id="{B179DA46-5C18-4936-BEEE-45FC44B66A7F}"/>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93" name="TextBox 146">
            <a:hlinkClick r:id="rId4" action="ppaction://hlinksldjump"/>
            <a:extLst>
              <a:ext uri="{FF2B5EF4-FFF2-40B4-BE49-F238E27FC236}">
                <a16:creationId xmlns:a16="http://schemas.microsoft.com/office/drawing/2014/main" id="{7F13D194-F29C-4E7B-9BD2-BD3D7E393FF6}"/>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94" name="TextBox 147">
            <a:extLst>
              <a:ext uri="{FF2B5EF4-FFF2-40B4-BE49-F238E27FC236}">
                <a16:creationId xmlns:a16="http://schemas.microsoft.com/office/drawing/2014/main" id="{F576B191-B8FF-4B08-944C-1ECFB192672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95" name="Oval 148">
            <a:extLst>
              <a:ext uri="{FF2B5EF4-FFF2-40B4-BE49-F238E27FC236}">
                <a16:creationId xmlns:a16="http://schemas.microsoft.com/office/drawing/2014/main" id="{E2854F47-416C-4326-A156-EC016CD5B28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6" name="TextBox 149">
            <a:extLst>
              <a:ext uri="{FF2B5EF4-FFF2-40B4-BE49-F238E27FC236}">
                <a16:creationId xmlns:a16="http://schemas.microsoft.com/office/drawing/2014/main" id="{8AA97A76-75A0-432D-BA3B-84EEF80C18D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97" name="Picture 40">
            <a:hlinkClick r:id="rId3" action="ppaction://hlinksldjump"/>
            <a:extLst>
              <a:ext uri="{FF2B5EF4-FFF2-40B4-BE49-F238E27FC236}">
                <a16:creationId xmlns:a16="http://schemas.microsoft.com/office/drawing/2014/main" id="{A724D65D-FBFA-49B0-B588-51507F0C0D17}"/>
              </a:ext>
            </a:extLst>
          </p:cNvPr>
          <p:cNvPicPr>
            <a:picLocks noChangeAspect="1"/>
          </p:cNvPicPr>
          <p:nvPr/>
        </p:nvPicPr>
        <p:blipFill>
          <a:blip r:embed="rId5">
            <a:alphaModFix amt="35000"/>
          </a:blip>
          <a:srcRect l="20606" t="21077" r="21527" b="31021"/>
          <a:stretch>
            <a:fillRect/>
          </a:stretch>
        </p:blipFill>
        <p:spPr>
          <a:xfrm>
            <a:off x="10028188" y="272070"/>
            <a:ext cx="256918" cy="210595"/>
          </a:xfrm>
          <a:prstGeom prst="rect">
            <a:avLst/>
          </a:prstGeom>
          <a:noFill/>
          <a:ln cap="flat">
            <a:noFill/>
          </a:ln>
        </p:spPr>
      </p:pic>
      <p:sp>
        <p:nvSpPr>
          <p:cNvPr id="98" name="Oval 151">
            <a:hlinkClick r:id="rId3" action="ppaction://hlinksldjump"/>
            <a:extLst>
              <a:ext uri="{FF2B5EF4-FFF2-40B4-BE49-F238E27FC236}">
                <a16:creationId xmlns:a16="http://schemas.microsoft.com/office/drawing/2014/main" id="{7F85319B-A7F5-43FF-A8E0-C45717C6CB5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9" name="Rectangle 118">
            <a:extLst>
              <a:ext uri="{FF2B5EF4-FFF2-40B4-BE49-F238E27FC236}">
                <a16:creationId xmlns:a16="http://schemas.microsoft.com/office/drawing/2014/main" id="{EC2B3457-947A-4864-A075-CDE255DF741E}"/>
              </a:ext>
            </a:extLst>
          </p:cNvPr>
          <p:cNvSpPr/>
          <p:nvPr/>
        </p:nvSpPr>
        <p:spPr>
          <a:xfrm>
            <a:off x="393292" y="4838511"/>
            <a:ext cx="11452183" cy="135421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30000">
                <a:solidFill>
                  <a:srgbClr val="000000"/>
                </a:solidFill>
                <a:uFillTx/>
                <a:latin typeface="Calibri"/>
              </a:rPr>
              <a:t>1</a:t>
            </a:r>
            <a:r>
              <a:rPr lang="en-GB" sz="1200" b="0" i="0" u="none" strike="noStrike" kern="1200" cap="none" spc="0" baseline="0">
                <a:solidFill>
                  <a:srgbClr val="000000"/>
                </a:solidFill>
                <a:uFillTx/>
                <a:latin typeface="Calibri"/>
              </a:rPr>
              <a:t> For Excise imports, Excise duty will be calculated and charged via Manual Override functionality.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30000">
                <a:solidFill>
                  <a:srgbClr val="000000"/>
                </a:solidFill>
                <a:uFillTx/>
                <a:latin typeface="Calibri"/>
              </a:rPr>
              <a:t>2</a:t>
            </a:r>
            <a:r>
              <a:rPr lang="en-GB" sz="1200" b="0" i="0" u="none" strike="noStrike" kern="1200" cap="none" spc="0" baseline="0">
                <a:solidFill>
                  <a:srgbClr val="000000"/>
                </a:solidFill>
                <a:uFillTx/>
                <a:latin typeface="Calibri"/>
              </a:rPr>
              <a:t> Tariff validation consists of checks against Prohibition &amp; Restriction measures and Licensing and documents codes. For the UK Tariff, also includes UK Trade Stat/FEC checks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30000">
                <a:solidFill>
                  <a:srgbClr val="000000"/>
                </a:solidFill>
                <a:uFillTx/>
                <a:latin typeface="Calibri"/>
              </a:rPr>
              <a:t>3  </a:t>
            </a:r>
            <a:r>
              <a:rPr lang="en-GB" sz="1100" b="1" i="0" u="none" strike="noStrike" kern="1200" cap="none" spc="0" baseline="0">
                <a:solidFill>
                  <a:srgbClr val="000000"/>
                </a:solidFill>
                <a:uFillTx/>
                <a:latin typeface="Calibri" pitchFamily="34"/>
                <a:ea typeface="Times New Roman" pitchFamily="18"/>
                <a:cs typeface="Times New Roman" pitchFamily="18"/>
              </a:rPr>
              <a:t>If AI code ‘NIDOM’ is declared in D.E. 2/2, traders must declare a country code in D.E. 5/14 at item level (Country of Dispatch). Traders may enter ‘GB’ as the country code in D.E. 5/14. If a country code is not declared in D.E. 5/14 at item level, CDS will reject the declaration.</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30000">
                <a:solidFill>
                  <a:srgbClr val="000000"/>
                </a:solidFill>
                <a:uFillTx/>
                <a:latin typeface="Calibri"/>
              </a:rPr>
              <a:t>3  </a:t>
            </a:r>
            <a:r>
              <a:rPr lang="en-GB" sz="1200" b="0" i="0" u="none" strike="noStrike" kern="1200" cap="none" spc="0" baseline="0">
                <a:solidFill>
                  <a:srgbClr val="000000"/>
                </a:solidFill>
                <a:uFillTx/>
                <a:latin typeface="Calibri"/>
              </a:rPr>
              <a:t>Please note, although GB-NI not at risk journeys will not be liable for EU Tariff charges, current CDS behaviour is that, where duties are suspended or reduced to zero, they are represented as 0.00 amounts in order to aid transparency to the traders (rather than not be present). To achieve this the goods item will still be sent to EU Tariff even if it has been de-risked by the trader (tariff.UK is not involved in GB-NI declarations). The Tariff response is then updated to indicate that the tax types due are all 0.00 amounts. </a:t>
            </a:r>
          </a:p>
        </p:txBody>
      </p:sp>
      <p:sp>
        <p:nvSpPr>
          <p:cNvPr id="100" name="Rectangle 119">
            <a:extLst>
              <a:ext uri="{FF2B5EF4-FFF2-40B4-BE49-F238E27FC236}">
                <a16:creationId xmlns:a16="http://schemas.microsoft.com/office/drawing/2014/main" id="{3F3FA7A2-9D2C-4DF9-9F29-B04AC9525E07}"/>
              </a:ext>
            </a:extLst>
          </p:cNvPr>
          <p:cNvSpPr/>
          <p:nvPr/>
        </p:nvSpPr>
        <p:spPr>
          <a:xfrm>
            <a:off x="5740219" y="3825145"/>
            <a:ext cx="242370" cy="230831"/>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00" b="1" i="0" u="none" strike="noStrike" kern="1200" cap="none" spc="0" baseline="0">
                <a:solidFill>
                  <a:srgbClr val="000000"/>
                </a:solidFill>
                <a:uFillTx/>
                <a:latin typeface="Calibri"/>
              </a:rPr>
              <a:t>1</a:t>
            </a:r>
            <a:endParaRPr lang="en-GB" sz="900" b="0" i="0" u="none" strike="noStrike" kern="1200" cap="none" spc="0" baseline="0">
              <a:solidFill>
                <a:srgbClr val="000000"/>
              </a:solidFill>
              <a:uFillTx/>
              <a:latin typeface="Calibri"/>
            </a:endParaRPr>
          </a:p>
        </p:txBody>
      </p:sp>
      <p:sp>
        <p:nvSpPr>
          <p:cNvPr id="101" name="Rectangle 123">
            <a:extLst>
              <a:ext uri="{FF2B5EF4-FFF2-40B4-BE49-F238E27FC236}">
                <a16:creationId xmlns:a16="http://schemas.microsoft.com/office/drawing/2014/main" id="{CD305D43-8291-4D30-B790-04B678F41E6F}"/>
              </a:ext>
            </a:extLst>
          </p:cNvPr>
          <p:cNvSpPr/>
          <p:nvPr/>
        </p:nvSpPr>
        <p:spPr>
          <a:xfrm>
            <a:off x="6506541" y="3824532"/>
            <a:ext cx="242370" cy="230831"/>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00" b="1" i="0" u="none" strike="noStrike" kern="1200" cap="none" spc="0" baseline="0">
                <a:solidFill>
                  <a:srgbClr val="000000"/>
                </a:solidFill>
                <a:uFillTx/>
                <a:latin typeface="Calibri"/>
              </a:rPr>
              <a:t>1</a:t>
            </a:r>
            <a:endParaRPr lang="en-GB" sz="900" b="0" i="0" u="none" strike="noStrike" kern="1200" cap="none" spc="0" baseline="0">
              <a:solidFill>
                <a:srgbClr val="000000"/>
              </a:solidFill>
              <a:uFillTx/>
              <a:latin typeface="Calibri"/>
            </a:endParaRPr>
          </a:p>
        </p:txBody>
      </p:sp>
      <p:sp>
        <p:nvSpPr>
          <p:cNvPr id="102" name="Rectangle 127">
            <a:extLst>
              <a:ext uri="{FF2B5EF4-FFF2-40B4-BE49-F238E27FC236}">
                <a16:creationId xmlns:a16="http://schemas.microsoft.com/office/drawing/2014/main" id="{CE3685F7-9F1E-42C0-A693-0EA6024B7E18}"/>
              </a:ext>
            </a:extLst>
          </p:cNvPr>
          <p:cNvSpPr/>
          <p:nvPr/>
        </p:nvSpPr>
        <p:spPr>
          <a:xfrm>
            <a:off x="6258309" y="3573612"/>
            <a:ext cx="920416"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800" b="0" i="0" u="none" strike="noStrike" kern="1200" cap="none" spc="0" baseline="0">
                <a:solidFill>
                  <a:srgbClr val="000000"/>
                </a:solidFill>
                <a:uFillTx/>
                <a:latin typeface="Calibri" pitchFamily="34"/>
                <a:ea typeface="Calibri" pitchFamily="34"/>
                <a:cs typeface="Times New Roman" pitchFamily="18"/>
              </a:rPr>
              <a:t>(Duties reduced to 0.00)</a:t>
            </a:r>
            <a:endParaRPr lang="en-GB" sz="400" b="0" i="0" u="none" strike="noStrike" kern="1200" cap="none" spc="0" baseline="0">
              <a:solidFill>
                <a:srgbClr val="000000"/>
              </a:solidFill>
              <a:uFillTx/>
              <a:latin typeface="Calibri"/>
            </a:endParaRPr>
          </a:p>
        </p:txBody>
      </p:sp>
      <p:grpSp>
        <p:nvGrpSpPr>
          <p:cNvPr id="103" name="Group 129">
            <a:extLst>
              <a:ext uri="{FF2B5EF4-FFF2-40B4-BE49-F238E27FC236}">
                <a16:creationId xmlns:a16="http://schemas.microsoft.com/office/drawing/2014/main" id="{B48FF938-1FEB-48F5-8D34-BECED06AD216}"/>
              </a:ext>
            </a:extLst>
          </p:cNvPr>
          <p:cNvGrpSpPr/>
          <p:nvPr/>
        </p:nvGrpSpPr>
        <p:grpSpPr>
          <a:xfrm>
            <a:off x="6112498" y="3651903"/>
            <a:ext cx="204387" cy="164976"/>
            <a:chOff x="6112498" y="3651903"/>
            <a:chExt cx="204387" cy="164976"/>
          </a:xfrm>
        </p:grpSpPr>
        <p:cxnSp>
          <p:nvCxnSpPr>
            <p:cNvPr id="104" name="Straight Connector 130">
              <a:extLst>
                <a:ext uri="{FF2B5EF4-FFF2-40B4-BE49-F238E27FC236}">
                  <a16:creationId xmlns:a16="http://schemas.microsoft.com/office/drawing/2014/main" id="{C94481B5-7F37-4852-B16D-DAC8476DD696}"/>
                </a:ext>
              </a:extLst>
            </p:cNvPr>
            <p:cNvCxnSpPr/>
            <p:nvPr/>
          </p:nvCxnSpPr>
          <p:spPr>
            <a:xfrm>
              <a:off x="6112498" y="3749076"/>
              <a:ext cx="68279" cy="67803"/>
            </a:xfrm>
            <a:prstGeom prst="straightConnector1">
              <a:avLst/>
            </a:prstGeom>
            <a:noFill/>
            <a:ln w="57150" cap="flat">
              <a:solidFill>
                <a:srgbClr val="00B050"/>
              </a:solidFill>
              <a:prstDash val="solid"/>
              <a:miter/>
            </a:ln>
          </p:spPr>
        </p:cxnSp>
        <p:cxnSp>
          <p:nvCxnSpPr>
            <p:cNvPr id="105" name="Straight Connector 131">
              <a:extLst>
                <a:ext uri="{FF2B5EF4-FFF2-40B4-BE49-F238E27FC236}">
                  <a16:creationId xmlns:a16="http://schemas.microsoft.com/office/drawing/2014/main" id="{98E46455-ECC2-4A55-8FDE-BA3A28C45A20}"/>
                </a:ext>
              </a:extLst>
            </p:cNvPr>
            <p:cNvCxnSpPr/>
            <p:nvPr/>
          </p:nvCxnSpPr>
          <p:spPr>
            <a:xfrm flipV="1">
              <a:off x="6158227" y="3651903"/>
              <a:ext cx="158658" cy="157551"/>
            </a:xfrm>
            <a:prstGeom prst="straightConnector1">
              <a:avLst/>
            </a:prstGeom>
            <a:noFill/>
            <a:ln w="57150" cap="flat">
              <a:solidFill>
                <a:srgbClr val="00B050"/>
              </a:solidFill>
              <a:prstDash val="solid"/>
              <a:miter/>
            </a:ln>
          </p:spPr>
        </p:cxnSp>
      </p:grpSp>
      <p:sp>
        <p:nvSpPr>
          <p:cNvPr id="106" name="Rectangle 132">
            <a:extLst>
              <a:ext uri="{FF2B5EF4-FFF2-40B4-BE49-F238E27FC236}">
                <a16:creationId xmlns:a16="http://schemas.microsoft.com/office/drawing/2014/main" id="{CE1F295A-2268-45A3-8567-9103EFBC40F9}"/>
              </a:ext>
            </a:extLst>
          </p:cNvPr>
          <p:cNvSpPr/>
          <p:nvPr/>
        </p:nvSpPr>
        <p:spPr>
          <a:xfrm>
            <a:off x="6592604" y="3663415"/>
            <a:ext cx="242370" cy="230831"/>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00" b="1" i="0" u="none" strike="noStrike" kern="1200" cap="none" spc="0" baseline="0">
                <a:solidFill>
                  <a:srgbClr val="000000"/>
                </a:solidFill>
                <a:uFillTx/>
                <a:latin typeface="Calibri"/>
              </a:rPr>
              <a:t>3</a:t>
            </a:r>
            <a:endParaRPr lang="en-GB" sz="1800" b="0" i="0" u="none" strike="noStrike" kern="1200" cap="none" spc="0" baseline="0">
              <a:solidFill>
                <a:srgbClr val="000000"/>
              </a:solidFill>
              <a:uFillTx/>
              <a:latin typeface="Calibri"/>
            </a:endParaRPr>
          </a:p>
        </p:txBody>
      </p:sp>
      <p:sp>
        <p:nvSpPr>
          <p:cNvPr id="107" name="Rectangle 133">
            <a:extLst>
              <a:ext uri="{FF2B5EF4-FFF2-40B4-BE49-F238E27FC236}">
                <a16:creationId xmlns:a16="http://schemas.microsoft.com/office/drawing/2014/main" id="{591A18B2-6062-4C5B-8DAB-E2A56E91D3A6}"/>
              </a:ext>
            </a:extLst>
          </p:cNvPr>
          <p:cNvSpPr/>
          <p:nvPr/>
        </p:nvSpPr>
        <p:spPr>
          <a:xfrm>
            <a:off x="1862111" y="3021269"/>
            <a:ext cx="235960" cy="27699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30000">
                <a:solidFill>
                  <a:srgbClr val="000000"/>
                </a:solidFill>
                <a:uFillTx/>
                <a:latin typeface="Calibri"/>
              </a:rPr>
              <a:t>2</a:t>
            </a:r>
            <a:endParaRPr lang="en-GB" sz="1800" b="0" i="0" u="none" strike="noStrike" kern="1200" cap="none" spc="0" baseline="0">
              <a:solidFill>
                <a:srgbClr val="000000"/>
              </a:solidFill>
              <a:uFillTx/>
              <a:latin typeface="Calibri"/>
            </a:endParaRPr>
          </a:p>
        </p:txBody>
      </p:sp>
      <p:sp>
        <p:nvSpPr>
          <p:cNvPr id="108" name="Rectangle 134">
            <a:extLst>
              <a:ext uri="{FF2B5EF4-FFF2-40B4-BE49-F238E27FC236}">
                <a16:creationId xmlns:a16="http://schemas.microsoft.com/office/drawing/2014/main" id="{AECC1FAD-C171-41EC-B208-CA698D619300}"/>
              </a:ext>
            </a:extLst>
          </p:cNvPr>
          <p:cNvSpPr/>
          <p:nvPr/>
        </p:nvSpPr>
        <p:spPr>
          <a:xfrm>
            <a:off x="1875992" y="3302200"/>
            <a:ext cx="235960" cy="27699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30000">
                <a:solidFill>
                  <a:srgbClr val="000000"/>
                </a:solidFill>
                <a:uFillTx/>
                <a:latin typeface="Calibri"/>
              </a:rPr>
              <a:t>2</a:t>
            </a:r>
            <a:endParaRPr lang="en-GB" sz="1800" b="0" i="0" u="none" strike="noStrike" kern="1200" cap="none" spc="0" baseline="0">
              <a:solidFill>
                <a:srgbClr val="000000"/>
              </a:solidFill>
              <a:uFillTx/>
              <a:latin typeface="Calibri"/>
            </a:endParaRPr>
          </a:p>
        </p:txBody>
      </p:sp>
      <p:grpSp>
        <p:nvGrpSpPr>
          <p:cNvPr id="109" name="Group 229">
            <a:extLst>
              <a:ext uri="{FF2B5EF4-FFF2-40B4-BE49-F238E27FC236}">
                <a16:creationId xmlns:a16="http://schemas.microsoft.com/office/drawing/2014/main" id="{6B888738-F338-4FE5-8E39-0CCC1B81015B}"/>
              </a:ext>
            </a:extLst>
          </p:cNvPr>
          <p:cNvGrpSpPr/>
          <p:nvPr/>
        </p:nvGrpSpPr>
        <p:grpSpPr>
          <a:xfrm>
            <a:off x="3946413" y="3385812"/>
            <a:ext cx="204386" cy="164967"/>
            <a:chOff x="3946413" y="3385812"/>
            <a:chExt cx="204386" cy="164967"/>
          </a:xfrm>
        </p:grpSpPr>
        <p:cxnSp>
          <p:nvCxnSpPr>
            <p:cNvPr id="110" name="Straight Connector 242">
              <a:extLst>
                <a:ext uri="{FF2B5EF4-FFF2-40B4-BE49-F238E27FC236}">
                  <a16:creationId xmlns:a16="http://schemas.microsoft.com/office/drawing/2014/main" id="{FE68BCE5-0C0D-4F22-BFE7-5C107AB7172A}"/>
                </a:ext>
              </a:extLst>
            </p:cNvPr>
            <p:cNvCxnSpPr/>
            <p:nvPr/>
          </p:nvCxnSpPr>
          <p:spPr>
            <a:xfrm>
              <a:off x="3946413" y="3482977"/>
              <a:ext cx="68278" cy="67802"/>
            </a:xfrm>
            <a:prstGeom prst="straightConnector1">
              <a:avLst/>
            </a:prstGeom>
            <a:noFill/>
            <a:ln w="57150" cap="flat">
              <a:solidFill>
                <a:srgbClr val="00B050"/>
              </a:solidFill>
              <a:prstDash val="solid"/>
              <a:miter/>
            </a:ln>
          </p:spPr>
        </p:cxnSp>
        <p:cxnSp>
          <p:nvCxnSpPr>
            <p:cNvPr id="111" name="Straight Connector 243">
              <a:extLst>
                <a:ext uri="{FF2B5EF4-FFF2-40B4-BE49-F238E27FC236}">
                  <a16:creationId xmlns:a16="http://schemas.microsoft.com/office/drawing/2014/main" id="{9D9498EE-CAAE-4763-9BF8-2285F687AFE7}"/>
                </a:ext>
              </a:extLst>
            </p:cNvPr>
            <p:cNvCxnSpPr/>
            <p:nvPr/>
          </p:nvCxnSpPr>
          <p:spPr>
            <a:xfrm flipV="1">
              <a:off x="3992151" y="3385812"/>
              <a:ext cx="158648" cy="157542"/>
            </a:xfrm>
            <a:prstGeom prst="straightConnector1">
              <a:avLst/>
            </a:prstGeom>
            <a:noFill/>
            <a:ln w="57150" cap="flat">
              <a:solidFill>
                <a:srgbClr val="00B050"/>
              </a:solidFill>
              <a:prstDash val="solid"/>
              <a:miter/>
            </a:ln>
          </p:spPr>
        </p:cxnSp>
      </p:grpSp>
      <p:grpSp>
        <p:nvGrpSpPr>
          <p:cNvPr id="112" name="Group 247">
            <a:extLst>
              <a:ext uri="{FF2B5EF4-FFF2-40B4-BE49-F238E27FC236}">
                <a16:creationId xmlns:a16="http://schemas.microsoft.com/office/drawing/2014/main" id="{A9553366-C4DA-4F94-9F4B-665EB093B35E}"/>
              </a:ext>
            </a:extLst>
          </p:cNvPr>
          <p:cNvGrpSpPr/>
          <p:nvPr/>
        </p:nvGrpSpPr>
        <p:grpSpPr>
          <a:xfrm>
            <a:off x="3946413" y="4215036"/>
            <a:ext cx="204386" cy="164976"/>
            <a:chOff x="3946413" y="4215036"/>
            <a:chExt cx="204386" cy="164976"/>
          </a:xfrm>
        </p:grpSpPr>
        <p:cxnSp>
          <p:nvCxnSpPr>
            <p:cNvPr id="113" name="Straight Connector 248">
              <a:extLst>
                <a:ext uri="{FF2B5EF4-FFF2-40B4-BE49-F238E27FC236}">
                  <a16:creationId xmlns:a16="http://schemas.microsoft.com/office/drawing/2014/main" id="{7209F20B-198D-4847-8801-01CE50E0011C}"/>
                </a:ext>
              </a:extLst>
            </p:cNvPr>
            <p:cNvCxnSpPr/>
            <p:nvPr/>
          </p:nvCxnSpPr>
          <p:spPr>
            <a:xfrm>
              <a:off x="3946413" y="4312209"/>
              <a:ext cx="68278" cy="67803"/>
            </a:xfrm>
            <a:prstGeom prst="straightConnector1">
              <a:avLst/>
            </a:prstGeom>
            <a:noFill/>
            <a:ln w="57150" cap="flat">
              <a:solidFill>
                <a:srgbClr val="00B050"/>
              </a:solidFill>
              <a:prstDash val="solid"/>
              <a:miter/>
            </a:ln>
          </p:spPr>
        </p:cxnSp>
        <p:cxnSp>
          <p:nvCxnSpPr>
            <p:cNvPr id="114" name="Straight Connector 249">
              <a:extLst>
                <a:ext uri="{FF2B5EF4-FFF2-40B4-BE49-F238E27FC236}">
                  <a16:creationId xmlns:a16="http://schemas.microsoft.com/office/drawing/2014/main" id="{250128F4-2318-4A7B-8678-329A1A69F29B}"/>
                </a:ext>
              </a:extLst>
            </p:cNvPr>
            <p:cNvCxnSpPr/>
            <p:nvPr/>
          </p:nvCxnSpPr>
          <p:spPr>
            <a:xfrm flipV="1">
              <a:off x="3992151" y="4215036"/>
              <a:ext cx="158648" cy="157551"/>
            </a:xfrm>
            <a:prstGeom prst="straightConnector1">
              <a:avLst/>
            </a:prstGeom>
            <a:noFill/>
            <a:ln w="57150" cap="flat">
              <a:solidFill>
                <a:srgbClr val="00B050"/>
              </a:solidFill>
              <a:prstDash val="solid"/>
              <a:miter/>
            </a:ln>
          </p:spPr>
        </p:cxnSp>
      </p:grpSp>
      <p:grpSp>
        <p:nvGrpSpPr>
          <p:cNvPr id="115" name="Group 135">
            <a:extLst>
              <a:ext uri="{FF2B5EF4-FFF2-40B4-BE49-F238E27FC236}">
                <a16:creationId xmlns:a16="http://schemas.microsoft.com/office/drawing/2014/main" id="{07AF2876-8848-4F68-8C11-A05A8F4E40B3}"/>
              </a:ext>
            </a:extLst>
          </p:cNvPr>
          <p:cNvGrpSpPr/>
          <p:nvPr/>
        </p:nvGrpSpPr>
        <p:grpSpPr>
          <a:xfrm>
            <a:off x="3946413" y="3924842"/>
            <a:ext cx="204386" cy="164967"/>
            <a:chOff x="3946413" y="3924842"/>
            <a:chExt cx="204386" cy="164967"/>
          </a:xfrm>
        </p:grpSpPr>
        <p:cxnSp>
          <p:nvCxnSpPr>
            <p:cNvPr id="116" name="Straight Connector 136">
              <a:extLst>
                <a:ext uri="{FF2B5EF4-FFF2-40B4-BE49-F238E27FC236}">
                  <a16:creationId xmlns:a16="http://schemas.microsoft.com/office/drawing/2014/main" id="{BBCADF78-F254-41AF-A7A4-BC514E406DA2}"/>
                </a:ext>
              </a:extLst>
            </p:cNvPr>
            <p:cNvCxnSpPr/>
            <p:nvPr/>
          </p:nvCxnSpPr>
          <p:spPr>
            <a:xfrm>
              <a:off x="3946413" y="4022006"/>
              <a:ext cx="68278" cy="67803"/>
            </a:xfrm>
            <a:prstGeom prst="straightConnector1">
              <a:avLst/>
            </a:prstGeom>
            <a:noFill/>
            <a:ln w="57150" cap="flat">
              <a:solidFill>
                <a:srgbClr val="00B050"/>
              </a:solidFill>
              <a:prstDash val="solid"/>
              <a:miter/>
            </a:ln>
          </p:spPr>
        </p:cxnSp>
        <p:cxnSp>
          <p:nvCxnSpPr>
            <p:cNvPr id="117" name="Straight Connector 137">
              <a:extLst>
                <a:ext uri="{FF2B5EF4-FFF2-40B4-BE49-F238E27FC236}">
                  <a16:creationId xmlns:a16="http://schemas.microsoft.com/office/drawing/2014/main" id="{44231CDA-5EAA-452C-A0BC-8EFFBB45D1DB}"/>
                </a:ext>
              </a:extLst>
            </p:cNvPr>
            <p:cNvCxnSpPr/>
            <p:nvPr/>
          </p:nvCxnSpPr>
          <p:spPr>
            <a:xfrm flipV="1">
              <a:off x="3992151" y="3924842"/>
              <a:ext cx="158648" cy="157551"/>
            </a:xfrm>
            <a:prstGeom prst="straightConnector1">
              <a:avLst/>
            </a:prstGeom>
            <a:noFill/>
            <a:ln w="57150" cap="flat">
              <a:solidFill>
                <a:srgbClr val="00B050"/>
              </a:solidFill>
              <a:prstDash val="solid"/>
              <a:miter/>
            </a:ln>
          </p:spPr>
        </p:cxnSp>
      </p:grpSp>
      <p:grpSp>
        <p:nvGrpSpPr>
          <p:cNvPr id="118" name="Group 138">
            <a:extLst>
              <a:ext uri="{FF2B5EF4-FFF2-40B4-BE49-F238E27FC236}">
                <a16:creationId xmlns:a16="http://schemas.microsoft.com/office/drawing/2014/main" id="{EFB559E1-CC20-4F73-BB06-1A9ACFA0CD1D}"/>
              </a:ext>
            </a:extLst>
          </p:cNvPr>
          <p:cNvGrpSpPr/>
          <p:nvPr/>
        </p:nvGrpSpPr>
        <p:grpSpPr>
          <a:xfrm>
            <a:off x="4776761" y="3665820"/>
            <a:ext cx="204387" cy="164976"/>
            <a:chOff x="4776761" y="3665820"/>
            <a:chExt cx="204387" cy="164976"/>
          </a:xfrm>
        </p:grpSpPr>
        <p:cxnSp>
          <p:nvCxnSpPr>
            <p:cNvPr id="119" name="Straight Connector 139">
              <a:extLst>
                <a:ext uri="{FF2B5EF4-FFF2-40B4-BE49-F238E27FC236}">
                  <a16:creationId xmlns:a16="http://schemas.microsoft.com/office/drawing/2014/main" id="{2A62D54D-1E42-47DF-9735-25301D61E7D9}"/>
                </a:ext>
              </a:extLst>
            </p:cNvPr>
            <p:cNvCxnSpPr/>
            <p:nvPr/>
          </p:nvCxnSpPr>
          <p:spPr>
            <a:xfrm>
              <a:off x="4776761" y="3762993"/>
              <a:ext cx="68278" cy="67803"/>
            </a:xfrm>
            <a:prstGeom prst="straightConnector1">
              <a:avLst/>
            </a:prstGeom>
            <a:noFill/>
            <a:ln w="57150" cap="flat">
              <a:solidFill>
                <a:srgbClr val="00B050"/>
              </a:solidFill>
              <a:prstDash val="solid"/>
              <a:miter/>
            </a:ln>
          </p:spPr>
        </p:cxnSp>
        <p:cxnSp>
          <p:nvCxnSpPr>
            <p:cNvPr id="120" name="Straight Connector 152">
              <a:extLst>
                <a:ext uri="{FF2B5EF4-FFF2-40B4-BE49-F238E27FC236}">
                  <a16:creationId xmlns:a16="http://schemas.microsoft.com/office/drawing/2014/main" id="{9D0607B2-B67A-49F9-B25E-6DD42BA9B248}"/>
                </a:ext>
              </a:extLst>
            </p:cNvPr>
            <p:cNvCxnSpPr/>
            <p:nvPr/>
          </p:nvCxnSpPr>
          <p:spPr>
            <a:xfrm flipV="1">
              <a:off x="4822499" y="3665820"/>
              <a:ext cx="158649" cy="157551"/>
            </a:xfrm>
            <a:prstGeom prst="straightConnector1">
              <a:avLst/>
            </a:prstGeom>
            <a:noFill/>
            <a:ln w="57150" cap="flat">
              <a:solidFill>
                <a:srgbClr val="00B050"/>
              </a:solidFill>
              <a:prstDash val="solid"/>
              <a:miter/>
            </a:ln>
          </p:spPr>
        </p:cxnSp>
      </p:grpSp>
      <p:grpSp>
        <p:nvGrpSpPr>
          <p:cNvPr id="121" name="Group 153">
            <a:extLst>
              <a:ext uri="{FF2B5EF4-FFF2-40B4-BE49-F238E27FC236}">
                <a16:creationId xmlns:a16="http://schemas.microsoft.com/office/drawing/2014/main" id="{C28DBD7E-5764-47EF-A009-970622163C4B}"/>
              </a:ext>
            </a:extLst>
          </p:cNvPr>
          <p:cNvGrpSpPr/>
          <p:nvPr/>
        </p:nvGrpSpPr>
        <p:grpSpPr>
          <a:xfrm>
            <a:off x="4744775" y="4171328"/>
            <a:ext cx="174870" cy="165012"/>
            <a:chOff x="4744775" y="4171328"/>
            <a:chExt cx="174870" cy="165012"/>
          </a:xfrm>
        </p:grpSpPr>
        <p:cxnSp>
          <p:nvCxnSpPr>
            <p:cNvPr id="122" name="Straight Connector 203">
              <a:extLst>
                <a:ext uri="{FF2B5EF4-FFF2-40B4-BE49-F238E27FC236}">
                  <a16:creationId xmlns:a16="http://schemas.microsoft.com/office/drawing/2014/main" id="{932C6D41-7C1E-4017-BE0A-B5B314B69B2A}"/>
                </a:ext>
              </a:extLst>
            </p:cNvPr>
            <p:cNvCxnSpPr/>
            <p:nvPr/>
          </p:nvCxnSpPr>
          <p:spPr>
            <a:xfrm flipV="1">
              <a:off x="4756708" y="4171328"/>
              <a:ext cx="162937" cy="165012"/>
            </a:xfrm>
            <a:prstGeom prst="straightConnector1">
              <a:avLst/>
            </a:prstGeom>
            <a:noFill/>
            <a:ln w="57150" cap="flat">
              <a:solidFill>
                <a:srgbClr val="A50021"/>
              </a:solidFill>
              <a:prstDash val="solid"/>
              <a:miter/>
            </a:ln>
          </p:spPr>
        </p:cxnSp>
        <p:cxnSp>
          <p:nvCxnSpPr>
            <p:cNvPr id="123" name="Straight Connector 204">
              <a:extLst>
                <a:ext uri="{FF2B5EF4-FFF2-40B4-BE49-F238E27FC236}">
                  <a16:creationId xmlns:a16="http://schemas.microsoft.com/office/drawing/2014/main" id="{524E26ED-07B8-4E31-8406-73A482D7D078}"/>
                </a:ext>
              </a:extLst>
            </p:cNvPr>
            <p:cNvCxnSpPr/>
            <p:nvPr/>
          </p:nvCxnSpPr>
          <p:spPr>
            <a:xfrm>
              <a:off x="4744775" y="4171328"/>
              <a:ext cx="174870" cy="164061"/>
            </a:xfrm>
            <a:prstGeom prst="straightConnector1">
              <a:avLst/>
            </a:prstGeom>
            <a:noFill/>
            <a:ln w="57150" cap="flat">
              <a:solidFill>
                <a:srgbClr val="A50021"/>
              </a:solidFill>
              <a:prstDash val="solid"/>
              <a:miter/>
            </a:ln>
          </p:spPr>
        </p:cxnSp>
      </p:grpSp>
      <p:sp>
        <p:nvSpPr>
          <p:cNvPr id="124" name="Footer Placeholder 1">
            <a:extLst>
              <a:ext uri="{FF2B5EF4-FFF2-40B4-BE49-F238E27FC236}">
                <a16:creationId xmlns:a16="http://schemas.microsoft.com/office/drawing/2014/main" id="{E82AB307-14A6-4BF0-9681-0D16FAB0B4CB}"/>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a:t>
            </a:r>
            <a:r>
              <a:rPr lang="en-GB" sz="900" dirty="0">
                <a:solidFill>
                  <a:srgbClr val="3B3A3D"/>
                </a:solidFill>
                <a:latin typeface="Calibri"/>
                <a:ea typeface="Geneva"/>
                <a:cs typeface="Arial"/>
              </a:rPr>
              <a:t>Release </a:t>
            </a:r>
            <a:r>
              <a:rPr lang="en-GB" sz="900" b="0" i="0" u="none" strike="noStrike" kern="1200" cap="none" spc="0" baseline="0" dirty="0">
                <a:solidFill>
                  <a:srgbClr val="3B3A3D"/>
                </a:solidFill>
                <a:uFillTx/>
                <a:latin typeface="Calibri"/>
                <a:ea typeface="Geneva"/>
                <a:cs typeface="Arial"/>
              </a:rPr>
              <a:t>Scope Guidance  </a:t>
            </a:r>
            <a:endParaRPr lang="en-GB" sz="900" b="1" i="0" u="none" strike="noStrike" kern="1200" cap="none" spc="0" baseline="0" dirty="0">
              <a:solidFill>
                <a:srgbClr val="008D8E"/>
              </a:solidFill>
              <a:uFillTx/>
              <a:latin typeface="Calibri"/>
              <a:ea typeface="Geneva"/>
              <a:cs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838840345">
    <p:spTree>
      <p:nvGrpSpPr>
        <p:cNvPr id="1" name=""/>
        <p:cNvGrpSpPr/>
        <p:nvPr/>
      </p:nvGrpSpPr>
      <p:grpSpPr>
        <a:xfrm>
          <a:off x="0" y="0"/>
          <a:ext cx="0" cy="0"/>
          <a:chOff x="0" y="0"/>
          <a:chExt cx="0" cy="0"/>
        </a:xfrm>
      </p:grpSpPr>
      <p:grpSp>
        <p:nvGrpSpPr>
          <p:cNvPr id="3" name="Group 1">
            <a:extLst>
              <a:ext uri="{FF2B5EF4-FFF2-40B4-BE49-F238E27FC236}">
                <a16:creationId xmlns:a16="http://schemas.microsoft.com/office/drawing/2014/main" id="{7723E098-5720-462C-98EA-786D5C0588B0}"/>
              </a:ext>
            </a:extLst>
          </p:cNvPr>
          <p:cNvGrpSpPr/>
          <p:nvPr/>
        </p:nvGrpSpPr>
        <p:grpSpPr>
          <a:xfrm>
            <a:off x="393292" y="1222004"/>
            <a:ext cx="11375529" cy="3750960"/>
            <a:chOff x="393292" y="1222004"/>
            <a:chExt cx="11375529" cy="3750960"/>
          </a:xfrm>
        </p:grpSpPr>
        <p:sp>
          <p:nvSpPr>
            <p:cNvPr id="4" name="Rectangle 2">
              <a:extLst>
                <a:ext uri="{FF2B5EF4-FFF2-40B4-BE49-F238E27FC236}">
                  <a16:creationId xmlns:a16="http://schemas.microsoft.com/office/drawing/2014/main" id="{4C5196AD-359C-4CBF-9E48-6345C5A96847}"/>
                </a:ext>
              </a:extLst>
            </p:cNvPr>
            <p:cNvSpPr/>
            <p:nvPr/>
          </p:nvSpPr>
          <p:spPr>
            <a:xfrm>
              <a:off x="393292" y="1222004"/>
              <a:ext cx="10046366" cy="3750960"/>
            </a:xfrm>
            <a:prstGeom prst="rect">
              <a:avLst/>
            </a:pr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43" b="0" i="0" u="none" strike="noStrike" kern="1200" cap="none" spc="0" baseline="0">
                <a:solidFill>
                  <a:srgbClr val="FFFFFF"/>
                </a:solidFill>
                <a:uFillTx/>
                <a:latin typeface="Calibri"/>
              </a:endParaRPr>
            </a:p>
          </p:txBody>
        </p:sp>
        <p:sp>
          <p:nvSpPr>
            <p:cNvPr id="5" name="Arrow: Right 122">
              <a:extLst>
                <a:ext uri="{FF2B5EF4-FFF2-40B4-BE49-F238E27FC236}">
                  <a16:creationId xmlns:a16="http://schemas.microsoft.com/office/drawing/2014/main" id="{7DB85BC6-400F-4D6A-BBC0-17613491C798}"/>
                </a:ext>
              </a:extLst>
            </p:cNvPr>
            <p:cNvSpPr/>
            <p:nvPr/>
          </p:nvSpPr>
          <p:spPr>
            <a:xfrm>
              <a:off x="10455231" y="1237183"/>
              <a:ext cx="1313590" cy="3721342"/>
            </a:xfrm>
            <a:prstGeom prst="rect">
              <a:avLst/>
            </a:prstGeom>
            <a:solidFill>
              <a:srgbClr val="F2F2F2">
                <a:alpha val="89804"/>
              </a:srgbClr>
            </a:solidFill>
            <a:ln w="12701" cap="flat">
              <a:solidFill>
                <a:srgbClr val="F5F5F5"/>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6" name="Rectangle 35">
            <a:extLst>
              <a:ext uri="{FF2B5EF4-FFF2-40B4-BE49-F238E27FC236}">
                <a16:creationId xmlns:a16="http://schemas.microsoft.com/office/drawing/2014/main" id="{16380697-A38D-46D7-821A-910CB04DFD7C}"/>
              </a:ext>
            </a:extLst>
          </p:cNvPr>
          <p:cNvSpPr/>
          <p:nvPr/>
        </p:nvSpPr>
        <p:spPr>
          <a:xfrm>
            <a:off x="393292" y="689256"/>
            <a:ext cx="2973893"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a:cs typeface="Calibri"/>
              </a:rPr>
              <a:t>NI Declaration Submission</a:t>
            </a:r>
            <a:endParaRPr lang="en-GB" sz="2000" b="1" i="0" u="none" strike="noStrike" kern="1200" cap="none" spc="0" baseline="0">
              <a:solidFill>
                <a:srgbClr val="000000"/>
              </a:solidFill>
              <a:uFillTx/>
              <a:latin typeface="Calibri"/>
            </a:endParaRPr>
          </a:p>
        </p:txBody>
      </p:sp>
      <p:sp>
        <p:nvSpPr>
          <p:cNvPr id="7" name="Rectangle 5">
            <a:extLst>
              <a:ext uri="{FF2B5EF4-FFF2-40B4-BE49-F238E27FC236}">
                <a16:creationId xmlns:a16="http://schemas.microsoft.com/office/drawing/2014/main" id="{5E1A6762-C5AF-404E-A6A0-C13862F978F1}"/>
              </a:ext>
            </a:extLst>
          </p:cNvPr>
          <p:cNvSpPr/>
          <p:nvPr/>
        </p:nvSpPr>
        <p:spPr>
          <a:xfrm>
            <a:off x="719934" y="1245805"/>
            <a:ext cx="5697333" cy="384720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RoW-NI Subsidy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now allow a subsidy to account for the difference between the EU and UK Customs Duties calculated when;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‘At Risk’ goods are imported from RoW to NI with AI Statement ‘NIIMP’ entered;</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declaration includes the AI statement ‘NIAID’;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All the individual EU customs duty tax types are greater or equal in amount to their UK equivalent, and;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total EU Customs Duty is greater than the UK Customs Duty.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these conditions are met, subsidy will account for the calculated difference between the total EU Customs Duty due and the total UK Customs Duty due. The outstanding liability due on the declaration will be equivalent to the UK Customs Duty. The VAT due on the Customs Duty will also be recalculated following the calculation of subsidy on Customs Duty.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the above conditions are not met, the full EU Customs Duty for the goods will be charged at the EU Tariff rate and CDS will not allow subsidy to account for any difference from the UK to EU Customs Duty amount.</a:t>
            </a:r>
          </a:p>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pitchFamily="34"/>
              <a:ea typeface="Calibri" pitchFamily="34"/>
              <a:cs typeface="Times New Roman" pitchFamily="18"/>
            </a:endParaRPr>
          </a:p>
        </p:txBody>
      </p:sp>
      <p:sp>
        <p:nvSpPr>
          <p:cNvPr id="8" name="Oval 17">
            <a:extLst>
              <a:ext uri="{FF2B5EF4-FFF2-40B4-BE49-F238E27FC236}">
                <a16:creationId xmlns:a16="http://schemas.microsoft.com/office/drawing/2014/main" id="{1CC700FF-E9DC-49FE-86B5-9EB360E1B9FD}"/>
              </a:ext>
            </a:extLst>
          </p:cNvPr>
          <p:cNvSpPr/>
          <p:nvPr/>
        </p:nvSpPr>
        <p:spPr>
          <a:xfrm>
            <a:off x="491837" y="1301529"/>
            <a:ext cx="224969" cy="204907"/>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2</a:t>
            </a:r>
          </a:p>
        </p:txBody>
      </p:sp>
      <p:cxnSp>
        <p:nvCxnSpPr>
          <p:cNvPr id="9" name="Straight Connector 11">
            <a:extLst>
              <a:ext uri="{FF2B5EF4-FFF2-40B4-BE49-F238E27FC236}">
                <a16:creationId xmlns:a16="http://schemas.microsoft.com/office/drawing/2014/main" id="{CD710D66-BE5D-4DB4-BB02-DD41008CE16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10" name="TextBox 12">
            <a:extLst>
              <a:ext uri="{FF2B5EF4-FFF2-40B4-BE49-F238E27FC236}">
                <a16:creationId xmlns:a16="http://schemas.microsoft.com/office/drawing/2014/main" id="{D614CBB6-F71A-4A3E-8E4E-D3AE94F10022}"/>
              </a:ext>
            </a:extLst>
          </p:cNvPr>
          <p:cNvSpPr txBox="1"/>
          <p:nvPr/>
        </p:nvSpPr>
        <p:spPr>
          <a:xfrm>
            <a:off x="363967" y="248844"/>
            <a:ext cx="1814919"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11" name="Slide Number Placeholder 5">
            <a:extLst>
              <a:ext uri="{FF2B5EF4-FFF2-40B4-BE49-F238E27FC236}">
                <a16:creationId xmlns:a16="http://schemas.microsoft.com/office/drawing/2014/main" id="{DAD90D2A-4D3F-4DB0-B88A-6F4B49DDA2BA}"/>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13F62EE-CFF3-48F4-B12B-7962BE35C52D}" type="slidenum">
              <a:rPr sz="1200"/>
              <a:t>6</a:t>
            </a:fld>
            <a:endParaRPr lang="en-GB" sz="1200" b="0" i="0" u="none" strike="noStrike" kern="1200" cap="none" spc="0" baseline="0" dirty="0">
              <a:solidFill>
                <a:srgbClr val="000000"/>
              </a:solidFill>
              <a:uFillTx/>
              <a:latin typeface="Calibri"/>
            </a:endParaRPr>
          </a:p>
        </p:txBody>
      </p:sp>
      <p:sp>
        <p:nvSpPr>
          <p:cNvPr id="12" name="Oval 140">
            <a:hlinkClick r:id="rId3" action="ppaction://hlinksldjump"/>
            <a:extLst>
              <a:ext uri="{FF2B5EF4-FFF2-40B4-BE49-F238E27FC236}">
                <a16:creationId xmlns:a16="http://schemas.microsoft.com/office/drawing/2014/main" id="{A4F75EA2-D9C7-45CA-870F-3281F887917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41">
            <a:extLst>
              <a:ext uri="{FF2B5EF4-FFF2-40B4-BE49-F238E27FC236}">
                <a16:creationId xmlns:a16="http://schemas.microsoft.com/office/drawing/2014/main" id="{CF61F518-A816-4DFF-BB3B-3144B2309165}"/>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142">
            <a:hlinkClick r:id="rId4" action="ppaction://hlinksldjump"/>
            <a:extLst>
              <a:ext uri="{FF2B5EF4-FFF2-40B4-BE49-F238E27FC236}">
                <a16:creationId xmlns:a16="http://schemas.microsoft.com/office/drawing/2014/main" id="{2D318715-CF78-4C81-B20B-59406083708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143">
            <a:extLst>
              <a:ext uri="{FF2B5EF4-FFF2-40B4-BE49-F238E27FC236}">
                <a16:creationId xmlns:a16="http://schemas.microsoft.com/office/drawing/2014/main" id="{44587C32-5794-4532-AAAE-C9101E1A459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144">
            <a:hlinkClick r:id="rId3" action="ppaction://hlinksldjump"/>
            <a:extLst>
              <a:ext uri="{FF2B5EF4-FFF2-40B4-BE49-F238E27FC236}">
                <a16:creationId xmlns:a16="http://schemas.microsoft.com/office/drawing/2014/main" id="{1AAA83BC-61F4-4A01-BEB0-2B5CC431E4F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145">
            <a:extLst>
              <a:ext uri="{FF2B5EF4-FFF2-40B4-BE49-F238E27FC236}">
                <a16:creationId xmlns:a16="http://schemas.microsoft.com/office/drawing/2014/main" id="{8D26856C-1C2B-4845-B837-9BDBB0205D31}"/>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18" name="TextBox 146">
            <a:hlinkClick r:id="rId4" action="ppaction://hlinksldjump"/>
            <a:extLst>
              <a:ext uri="{FF2B5EF4-FFF2-40B4-BE49-F238E27FC236}">
                <a16:creationId xmlns:a16="http://schemas.microsoft.com/office/drawing/2014/main" id="{19B57BC9-7999-4801-83F4-86FEB19EC63C}"/>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9" name="TextBox 147">
            <a:extLst>
              <a:ext uri="{FF2B5EF4-FFF2-40B4-BE49-F238E27FC236}">
                <a16:creationId xmlns:a16="http://schemas.microsoft.com/office/drawing/2014/main" id="{447BAA4F-2BCC-418F-9852-32049D5535B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148">
            <a:extLst>
              <a:ext uri="{FF2B5EF4-FFF2-40B4-BE49-F238E27FC236}">
                <a16:creationId xmlns:a16="http://schemas.microsoft.com/office/drawing/2014/main" id="{D8F4F68C-2B87-49EC-B7DF-FFE1B44997A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149">
            <a:extLst>
              <a:ext uri="{FF2B5EF4-FFF2-40B4-BE49-F238E27FC236}">
                <a16:creationId xmlns:a16="http://schemas.microsoft.com/office/drawing/2014/main" id="{D3CEDD30-3E69-416E-BBBC-FAE5DAF1CEC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3" action="ppaction://hlinksldjump"/>
            <a:extLst>
              <a:ext uri="{FF2B5EF4-FFF2-40B4-BE49-F238E27FC236}">
                <a16:creationId xmlns:a16="http://schemas.microsoft.com/office/drawing/2014/main" id="{DD6CCB89-1BAC-4A07-A4AD-12BDC69D7333}"/>
              </a:ext>
            </a:extLst>
          </p:cNvPr>
          <p:cNvPicPr>
            <a:picLocks noChangeAspect="1"/>
          </p:cNvPicPr>
          <p:nvPr/>
        </p:nvPicPr>
        <p:blipFill>
          <a:blip r:embed="rId5">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151">
            <a:hlinkClick r:id="rId3" action="ppaction://hlinksldjump"/>
            <a:extLst>
              <a:ext uri="{FF2B5EF4-FFF2-40B4-BE49-F238E27FC236}">
                <a16:creationId xmlns:a16="http://schemas.microsoft.com/office/drawing/2014/main" id="{6C5CF914-5CBE-463E-9CB5-3E39E026275C}"/>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136">
            <a:extLst>
              <a:ext uri="{FF2B5EF4-FFF2-40B4-BE49-F238E27FC236}">
                <a16:creationId xmlns:a16="http://schemas.microsoft.com/office/drawing/2014/main" id="{B69F661D-DD64-4EC5-81AF-E3C132A5D755}"/>
              </a:ext>
            </a:extLst>
          </p:cNvPr>
          <p:cNvSpPr/>
          <p:nvPr/>
        </p:nvSpPr>
        <p:spPr>
          <a:xfrm>
            <a:off x="6828227" y="1713082"/>
            <a:ext cx="4698004" cy="2554540"/>
          </a:xfrm>
          <a:prstGeom prst="rect">
            <a:avLst/>
          </a:prstGeom>
          <a:solidFill>
            <a:srgbClr val="E7E6E6"/>
          </a:solidFill>
          <a:ln cap="flat">
            <a:noFill/>
            <a:prstDash val="solid"/>
          </a:ln>
        </p:spPr>
        <p:txBody>
          <a:bodyPr vert="horz" wrap="squar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Tariff Differential Calculation Example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Calculating the differential amount between both the UK and EU Customs Duties.</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Tariff Differential amount = Total EU Customs Duty (£100) - Total UK Customs Duty (£65) = £35.</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Subsidy will account for the differential amount = £35</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remainder of the Custom Duties liable against the method of payment entered: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	Total amount charged to the trader’s declared MOP = EU Customs Duty (£100) - Tariff differential amount (£35) = £65.</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VAT due on customs duties (assuming 20% VAT rate) = </a:t>
            </a:r>
            <a:r>
              <a:rPr lang="en-GB" sz="1200" b="1" i="0" u="none" strike="noStrike" kern="1200" cap="none" spc="0" baseline="0">
                <a:solidFill>
                  <a:srgbClr val="000000"/>
                </a:solidFill>
                <a:uFillTx/>
                <a:latin typeface="Calibri"/>
              </a:rPr>
              <a:t>£13</a:t>
            </a:r>
            <a:endParaRPr lang="en-GB" sz="1200" b="0" i="0" u="none" strike="noStrike" kern="1200" cap="none" spc="0" baseline="0">
              <a:solidFill>
                <a:srgbClr val="000000"/>
              </a:solidFill>
              <a:uFillTx/>
              <a:latin typeface="Calibri"/>
            </a:endParaRPr>
          </a:p>
        </p:txBody>
      </p:sp>
      <p:sp>
        <p:nvSpPr>
          <p:cNvPr id="25" name="Footer Placeholder 1">
            <a:extLst>
              <a:ext uri="{FF2B5EF4-FFF2-40B4-BE49-F238E27FC236}">
                <a16:creationId xmlns:a16="http://schemas.microsoft.com/office/drawing/2014/main" id="{E206BC59-E327-4C0A-A363-2F4315437ABE}"/>
              </a:ext>
            </a:extLst>
          </p:cNvPr>
          <p:cNvSpPr txBox="1"/>
          <p:nvPr/>
        </p:nvSpPr>
        <p:spPr>
          <a:xfrm>
            <a:off x="2932516" y="6498230"/>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a:t>
            </a:r>
            <a:endParaRPr lang="en-GB" sz="900" b="1" i="0" u="none" strike="noStrike" kern="1200" cap="none" spc="0" baseline="0" dirty="0">
              <a:solidFill>
                <a:srgbClr val="008D8E"/>
              </a:solidFill>
              <a:uFillTx/>
              <a:latin typeface="Calibri"/>
              <a:ea typeface="Geneva"/>
              <a:cs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4472">
    <p:spTree>
      <p:nvGrpSpPr>
        <p:cNvPr id="1" name=""/>
        <p:cNvGrpSpPr/>
        <p:nvPr/>
      </p:nvGrpSpPr>
      <p:grpSpPr>
        <a:xfrm>
          <a:off x="0" y="0"/>
          <a:ext cx="0" cy="0"/>
          <a:chOff x="0" y="0"/>
          <a:chExt cx="0" cy="0"/>
        </a:xfrm>
      </p:grpSpPr>
      <p:sp>
        <p:nvSpPr>
          <p:cNvPr id="3" name="Slide Number Placeholder 5">
            <a:extLst>
              <a:ext uri="{FF2B5EF4-FFF2-40B4-BE49-F238E27FC236}">
                <a16:creationId xmlns:a16="http://schemas.microsoft.com/office/drawing/2014/main" id="{F76A7B6E-3DB1-4A2A-AC16-37FB4A8F4037}"/>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B3E393C-B121-4842-9605-FE308D078461}" type="slidenum">
              <a:rPr sz="1200"/>
              <a:t>7</a:t>
            </a:fld>
            <a:endParaRPr lang="en-GB" sz="1200" b="0" i="0" u="none" strike="noStrike" kern="1200" cap="none" spc="0" baseline="0" dirty="0">
              <a:solidFill>
                <a:srgbClr val="000000"/>
              </a:solidFill>
              <a:uFillTx/>
              <a:latin typeface="Calibri"/>
            </a:endParaRPr>
          </a:p>
        </p:txBody>
      </p:sp>
      <p:graphicFrame>
        <p:nvGraphicFramePr>
          <p:cNvPr id="4" name="Table 146">
            <a:extLst>
              <a:ext uri="{FF2B5EF4-FFF2-40B4-BE49-F238E27FC236}">
                <a16:creationId xmlns:a16="http://schemas.microsoft.com/office/drawing/2014/main" id="{43434840-93FE-4A1F-816E-1A11ABBA2FCA}"/>
              </a:ext>
            </a:extLst>
          </p:cNvPr>
          <p:cNvGraphicFramePr>
            <a:graphicFrameLocks noGrp="1"/>
          </p:cNvGraphicFramePr>
          <p:nvPr/>
        </p:nvGraphicFramePr>
        <p:xfrm>
          <a:off x="5906374" y="1642491"/>
          <a:ext cx="5904445" cy="1569792"/>
        </p:xfrm>
        <a:graphic>
          <a:graphicData uri="http://schemas.openxmlformats.org/drawingml/2006/table">
            <a:tbl>
              <a:tblPr>
                <a:effectLst/>
              </a:tblPr>
              <a:tblGrid>
                <a:gridCol w="761128">
                  <a:extLst>
                    <a:ext uri="{9D8B030D-6E8A-4147-A177-3AD203B41FA5}">
                      <a16:colId xmlns:a16="http://schemas.microsoft.com/office/drawing/2014/main" val="1683353387"/>
                    </a:ext>
                  </a:extLst>
                </a:gridCol>
                <a:gridCol w="5143317">
                  <a:extLst>
                    <a:ext uri="{9D8B030D-6E8A-4147-A177-3AD203B41FA5}">
                      <a16:colId xmlns:a16="http://schemas.microsoft.com/office/drawing/2014/main" val="2348116945"/>
                    </a:ext>
                  </a:extLst>
                </a:gridCol>
              </a:tblGrid>
              <a:tr h="84380">
                <a:tc>
                  <a:txBody>
                    <a:bodyPr/>
                    <a:lstStyle/>
                    <a:p>
                      <a:pPr lvl="0" algn="ctr"/>
                      <a:r>
                        <a:rPr lang="en-GB" sz="1100" b="1"/>
                        <a:t>Tax Code</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5F5F5"/>
                    </a:solidFill>
                  </a:tcPr>
                </a:tc>
                <a:tc>
                  <a:txBody>
                    <a:bodyPr/>
                    <a:lstStyle/>
                    <a:p>
                      <a:pPr lvl="0" algn="ctr"/>
                      <a:r>
                        <a:rPr lang="en-GB" sz="1100" b="1"/>
                        <a:t>EU Tax Type (New)</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5F5F5"/>
                    </a:solidFill>
                  </a:tcPr>
                </a:tc>
                <a:extLst>
                  <a:ext uri="{0D108BD9-81ED-4DB2-BD59-A6C34878D82A}">
                    <a16:rowId xmlns:a16="http://schemas.microsoft.com/office/drawing/2014/main" val="1487385398"/>
                  </a:ext>
                </a:extLst>
              </a:tr>
              <a:tr h="0">
                <a:tc>
                  <a:txBody>
                    <a:bodyPr/>
                    <a:lstStyle/>
                    <a:p>
                      <a:pPr lvl="0" algn="ctr"/>
                      <a:r>
                        <a:rPr lang="en-GB" sz="1100" b="0">
                          <a:solidFill>
                            <a:srgbClr val="000000"/>
                          </a:solidFill>
                        </a:rPr>
                        <a:t>A50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b="0">
                          <a:solidFill>
                            <a:srgbClr val="000000"/>
                          </a:solidFill>
                        </a:rPr>
                        <a:t>Customs Duty</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2333046005"/>
                  </a:ext>
                </a:extLst>
              </a:tr>
              <a:tr h="0">
                <a:tc>
                  <a:txBody>
                    <a:bodyPr/>
                    <a:lstStyle/>
                    <a:p>
                      <a:pPr lvl="0" algn="ctr"/>
                      <a:r>
                        <a:rPr lang="en-GB" sz="1100"/>
                        <a:t>A70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Additional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434619949"/>
                  </a:ext>
                </a:extLst>
              </a:tr>
              <a:tr h="0">
                <a:tc>
                  <a:txBody>
                    <a:bodyPr/>
                    <a:lstStyle/>
                    <a:p>
                      <a:pPr lvl="0" algn="ctr"/>
                      <a:r>
                        <a:rPr lang="en-GB" sz="1100"/>
                        <a:t>A80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Definitive anti-dumping duties (ADD)</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985746546"/>
                  </a:ext>
                </a:extLst>
              </a:tr>
              <a:tr h="0">
                <a:tc>
                  <a:txBody>
                    <a:bodyPr/>
                    <a:lstStyle/>
                    <a:p>
                      <a:pPr lvl="0" algn="ctr"/>
                      <a:r>
                        <a:rPr lang="en-GB" sz="1100"/>
                        <a:t>A85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Provisional anti-dumping duties (ADD)</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242016027"/>
                  </a:ext>
                </a:extLst>
              </a:tr>
              <a:tr h="0">
                <a:tc>
                  <a:txBody>
                    <a:bodyPr/>
                    <a:lstStyle/>
                    <a:p>
                      <a:pPr lvl="0" algn="ctr"/>
                      <a:r>
                        <a:rPr lang="en-GB" sz="1100"/>
                        <a:t>A90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Definitive countervailing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084493189"/>
                  </a:ext>
                </a:extLst>
              </a:tr>
              <a:tr h="0">
                <a:tc>
                  <a:txBody>
                    <a:bodyPr/>
                    <a:lstStyle/>
                    <a:p>
                      <a:pPr lvl="0" algn="ctr"/>
                      <a:r>
                        <a:rPr lang="en-GB" sz="1100"/>
                        <a:t>A95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Provisional countervailing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527936043"/>
                  </a:ext>
                </a:extLst>
              </a:tr>
              <a:tr h="0">
                <a:tc>
                  <a:txBody>
                    <a:bodyPr/>
                    <a:lstStyle/>
                    <a:p>
                      <a:pPr lvl="0" algn="ctr"/>
                      <a:r>
                        <a:rPr lang="en-GB" sz="1100"/>
                        <a:t>B05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dirty="0"/>
                        <a:t>VAT on EU liabilities </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4115328994"/>
                  </a:ext>
                </a:extLst>
              </a:tr>
            </a:tbl>
          </a:graphicData>
        </a:graphic>
      </p:graphicFrame>
      <p:graphicFrame>
        <p:nvGraphicFramePr>
          <p:cNvPr id="5" name="Table 147">
            <a:extLst>
              <a:ext uri="{FF2B5EF4-FFF2-40B4-BE49-F238E27FC236}">
                <a16:creationId xmlns:a16="http://schemas.microsoft.com/office/drawing/2014/main" id="{BC82FBB2-C7A9-4C1A-BF2A-5CA408B8A072}"/>
              </a:ext>
            </a:extLst>
          </p:cNvPr>
          <p:cNvGraphicFramePr>
            <a:graphicFrameLocks noGrp="1"/>
          </p:cNvGraphicFramePr>
          <p:nvPr/>
        </p:nvGraphicFramePr>
        <p:xfrm>
          <a:off x="477307" y="1642491"/>
          <a:ext cx="5332944" cy="1569792"/>
        </p:xfrm>
        <a:graphic>
          <a:graphicData uri="http://schemas.openxmlformats.org/drawingml/2006/table">
            <a:tbl>
              <a:tblPr>
                <a:effectLst/>
              </a:tblPr>
              <a:tblGrid>
                <a:gridCol w="897062">
                  <a:extLst>
                    <a:ext uri="{9D8B030D-6E8A-4147-A177-3AD203B41FA5}">
                      <a16:colId xmlns:a16="http://schemas.microsoft.com/office/drawing/2014/main" val="3419137665"/>
                    </a:ext>
                  </a:extLst>
                </a:gridCol>
                <a:gridCol w="4435882">
                  <a:extLst>
                    <a:ext uri="{9D8B030D-6E8A-4147-A177-3AD203B41FA5}">
                      <a16:colId xmlns:a16="http://schemas.microsoft.com/office/drawing/2014/main" val="2069775359"/>
                    </a:ext>
                  </a:extLst>
                </a:gridCol>
              </a:tblGrid>
              <a:tr h="0">
                <a:tc>
                  <a:txBody>
                    <a:bodyPr/>
                    <a:lstStyle/>
                    <a:p>
                      <a:pPr lvl="0" algn="ctr"/>
                      <a:r>
                        <a:rPr lang="en-GB" sz="1100" b="1"/>
                        <a:t>Tax Code</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5F5F5"/>
                    </a:solidFill>
                  </a:tcPr>
                </a:tc>
                <a:tc>
                  <a:txBody>
                    <a:bodyPr/>
                    <a:lstStyle/>
                    <a:p>
                      <a:pPr lvl="0" algn="ctr"/>
                      <a:r>
                        <a:rPr lang="en-GB" sz="1100" b="1"/>
                        <a:t>UK Tax Type</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5F5F5"/>
                    </a:solidFill>
                  </a:tcPr>
                </a:tc>
                <a:extLst>
                  <a:ext uri="{0D108BD9-81ED-4DB2-BD59-A6C34878D82A}">
                    <a16:rowId xmlns:a16="http://schemas.microsoft.com/office/drawing/2014/main" val="1303816592"/>
                  </a:ext>
                </a:extLst>
              </a:tr>
              <a:tr h="0">
                <a:tc>
                  <a:txBody>
                    <a:bodyPr/>
                    <a:lstStyle/>
                    <a:p>
                      <a:pPr lvl="0" algn="ctr"/>
                      <a:r>
                        <a:rPr lang="en-GB" sz="1100" b="0">
                          <a:solidFill>
                            <a:srgbClr val="000000"/>
                          </a:solidFill>
                        </a:rPr>
                        <a:t>A00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b="0">
                          <a:solidFill>
                            <a:srgbClr val="000000"/>
                          </a:solidFill>
                        </a:rPr>
                        <a:t>Customs Duty</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584992084"/>
                  </a:ext>
                </a:extLst>
              </a:tr>
              <a:tr h="0">
                <a:tc>
                  <a:txBody>
                    <a:bodyPr/>
                    <a:lstStyle/>
                    <a:p>
                      <a:pPr lvl="0" algn="ctr"/>
                      <a:r>
                        <a:rPr lang="en-GB" sz="1100" b="0">
                          <a:solidFill>
                            <a:srgbClr val="000000"/>
                          </a:solidFill>
                        </a:rPr>
                        <a:t>A20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b="0">
                          <a:solidFill>
                            <a:srgbClr val="000000"/>
                          </a:solidFill>
                        </a:rPr>
                        <a:t>Additional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215192538"/>
                  </a:ext>
                </a:extLst>
              </a:tr>
              <a:tr h="0">
                <a:tc>
                  <a:txBody>
                    <a:bodyPr/>
                    <a:lstStyle/>
                    <a:p>
                      <a:pPr lvl="0" algn="ctr"/>
                      <a:r>
                        <a:rPr lang="en-GB" sz="1100"/>
                        <a:t>A30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Definitive anti-dumping duties (ADD)</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142940852"/>
                  </a:ext>
                </a:extLst>
              </a:tr>
              <a:tr h="0">
                <a:tc>
                  <a:txBody>
                    <a:bodyPr/>
                    <a:lstStyle/>
                    <a:p>
                      <a:pPr lvl="0" algn="ctr"/>
                      <a:r>
                        <a:rPr lang="en-GB" sz="1100"/>
                        <a:t>A35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Provisional anti-dumping duties (ADD)</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100707047"/>
                  </a:ext>
                </a:extLst>
              </a:tr>
              <a:tr h="0">
                <a:tc>
                  <a:txBody>
                    <a:bodyPr/>
                    <a:lstStyle/>
                    <a:p>
                      <a:pPr lvl="0" algn="ctr"/>
                      <a:r>
                        <a:rPr lang="en-GB" sz="1100"/>
                        <a:t>A40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Definitive countervailing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2327683040"/>
                  </a:ext>
                </a:extLst>
              </a:tr>
              <a:tr h="0">
                <a:tc>
                  <a:txBody>
                    <a:bodyPr/>
                    <a:lstStyle/>
                    <a:p>
                      <a:pPr lvl="0" algn="ctr"/>
                      <a:r>
                        <a:rPr lang="en-GB" sz="1100"/>
                        <a:t>A45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Provisional countervailing duties</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715972014"/>
                  </a:ext>
                </a:extLst>
              </a:tr>
              <a:tr h="0">
                <a:tc>
                  <a:txBody>
                    <a:bodyPr/>
                    <a:lstStyle/>
                    <a:p>
                      <a:pPr lvl="0" algn="ctr"/>
                      <a:r>
                        <a:rPr lang="en-GB" sz="1100"/>
                        <a:t>B00</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dirty="0"/>
                        <a:t>UK Import VAT</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4153508951"/>
                  </a:ext>
                </a:extLst>
              </a:tr>
            </a:tbl>
          </a:graphicData>
        </a:graphic>
      </p:graphicFrame>
      <p:sp>
        <p:nvSpPr>
          <p:cNvPr id="6" name="Rectangle 162">
            <a:extLst>
              <a:ext uri="{FF2B5EF4-FFF2-40B4-BE49-F238E27FC236}">
                <a16:creationId xmlns:a16="http://schemas.microsoft.com/office/drawing/2014/main" id="{906B8C6E-FF51-41F0-A0E2-23D432BDD05A}"/>
              </a:ext>
            </a:extLst>
          </p:cNvPr>
          <p:cNvSpPr/>
          <p:nvPr/>
        </p:nvSpPr>
        <p:spPr>
          <a:xfrm>
            <a:off x="398733" y="1163811"/>
            <a:ext cx="11495919"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In order to facilitate the NI Protocol, a dual EU/UK tariff must be implemented on CDS. As a result, new EU Tax Types have been created to differentiate between EU and UK charges and there will be a new VAT calculation process for NI imports. The table below outlines the key UK/EU tax types on CDS. A full list of UK tax types can be found on </a:t>
            </a:r>
            <a:r>
              <a:rPr lang="en-GB" sz="1200" b="0" i="0" u="none" strike="noStrike" kern="1200" cap="none" spc="0" baseline="0">
                <a:solidFill>
                  <a:srgbClr val="000000"/>
                </a:solidFill>
                <a:uFillTx/>
                <a:latin typeface="Calibri" pitchFamily="34"/>
                <a:ea typeface="Calibri" pitchFamily="34"/>
                <a:cs typeface="Times New Roman" pitchFamily="18"/>
                <a:hlinkClick r:id="rId3"/>
              </a:rPr>
              <a:t>GOV.UK</a:t>
            </a:r>
            <a:r>
              <a:rPr lang="en-GB" sz="1200" b="0" i="0" u="none" strike="noStrike" kern="1200" cap="none" spc="0" baseline="0">
                <a:solidFill>
                  <a:srgbClr val="000000"/>
                </a:solidFill>
                <a:uFillTx/>
                <a:latin typeface="Calibri" pitchFamily="34"/>
                <a:ea typeface="Calibri" pitchFamily="34"/>
                <a:cs typeface="Times New Roman" pitchFamily="18"/>
              </a:rPr>
              <a:t>.</a:t>
            </a:r>
            <a:endParaRPr lang="en-GB" sz="1200" b="0" i="0" u="none" strike="noStrike" kern="1200" cap="none" spc="0" baseline="0">
              <a:solidFill>
                <a:srgbClr val="000000"/>
              </a:solidFill>
              <a:uFillTx/>
              <a:latin typeface="Calibri"/>
            </a:endParaRPr>
          </a:p>
        </p:txBody>
      </p:sp>
      <p:graphicFrame>
        <p:nvGraphicFramePr>
          <p:cNvPr id="7" name="Table 6">
            <a:extLst>
              <a:ext uri="{FF2B5EF4-FFF2-40B4-BE49-F238E27FC236}">
                <a16:creationId xmlns:a16="http://schemas.microsoft.com/office/drawing/2014/main" id="{952B6D2C-E361-48D0-9C51-369AFCEA805B}"/>
              </a:ext>
            </a:extLst>
          </p:cNvPr>
          <p:cNvGraphicFramePr>
            <a:graphicFrameLocks noGrp="1"/>
          </p:cNvGraphicFramePr>
          <p:nvPr/>
        </p:nvGraphicFramePr>
        <p:xfrm>
          <a:off x="477307" y="3261052"/>
          <a:ext cx="11417352" cy="2811780"/>
        </p:xfrm>
        <a:graphic>
          <a:graphicData uri="http://schemas.openxmlformats.org/drawingml/2006/table">
            <a:tbl>
              <a:tblPr firstRow="1" bandRow="1">
                <a:effectLst/>
                <a:tableStyleId>{5C22544A-7EE6-4342-B048-85BDC9FD1C3A}</a:tableStyleId>
              </a:tblPr>
              <a:tblGrid>
                <a:gridCol w="1147864">
                  <a:extLst>
                    <a:ext uri="{9D8B030D-6E8A-4147-A177-3AD203B41FA5}">
                      <a16:colId xmlns:a16="http://schemas.microsoft.com/office/drawing/2014/main" val="1465170555"/>
                    </a:ext>
                  </a:extLst>
                </a:gridCol>
                <a:gridCol w="798975">
                  <a:extLst>
                    <a:ext uri="{9D8B030D-6E8A-4147-A177-3AD203B41FA5}">
                      <a16:colId xmlns:a16="http://schemas.microsoft.com/office/drawing/2014/main" val="805458350"/>
                    </a:ext>
                  </a:extLst>
                </a:gridCol>
                <a:gridCol w="9470513">
                  <a:extLst>
                    <a:ext uri="{9D8B030D-6E8A-4147-A177-3AD203B41FA5}">
                      <a16:colId xmlns:a16="http://schemas.microsoft.com/office/drawing/2014/main" val="839425273"/>
                    </a:ext>
                  </a:extLst>
                </a:gridCol>
              </a:tblGrid>
              <a:tr h="0">
                <a:tc>
                  <a:txBody>
                    <a:bodyPr/>
                    <a:lstStyle/>
                    <a:p>
                      <a:pPr lvl="0"/>
                      <a:r>
                        <a:rPr lang="en-GB" sz="1100"/>
                        <a:t>Tax Type</a:t>
                      </a:r>
                    </a:p>
                  </a:txBody>
                  <a:tcPr>
                    <a:solidFill>
                      <a:srgbClr val="7F7F7F"/>
                    </a:solidFill>
                  </a:tcPr>
                </a:tc>
                <a:tc>
                  <a:txBody>
                    <a:bodyPr/>
                    <a:lstStyle/>
                    <a:p>
                      <a:pPr lvl="0"/>
                      <a:r>
                        <a:rPr lang="en-GB" sz="1100"/>
                        <a:t>Tax Code</a:t>
                      </a:r>
                    </a:p>
                  </a:txBody>
                  <a:tcPr>
                    <a:solidFill>
                      <a:srgbClr val="7F7F7F"/>
                    </a:solidFill>
                  </a:tcPr>
                </a:tc>
                <a:tc>
                  <a:txBody>
                    <a:bodyPr/>
                    <a:lstStyle/>
                    <a:p>
                      <a:pPr lvl="0"/>
                      <a:r>
                        <a:rPr lang="en-GB" sz="1100"/>
                        <a:t>Guidance</a:t>
                      </a:r>
                    </a:p>
                  </a:txBody>
                  <a:tcPr>
                    <a:solidFill>
                      <a:srgbClr val="7F7F7F"/>
                    </a:solidFill>
                  </a:tcPr>
                </a:tc>
                <a:extLst>
                  <a:ext uri="{0D108BD9-81ED-4DB2-BD59-A6C34878D82A}">
                    <a16:rowId xmlns:a16="http://schemas.microsoft.com/office/drawing/2014/main" val="618954173"/>
                  </a:ext>
                </a:extLst>
              </a:tr>
              <a:tr h="370844">
                <a:tc>
                  <a:txBody>
                    <a:bodyPr/>
                    <a:lstStyle/>
                    <a:p>
                      <a:pPr lvl="0"/>
                      <a:r>
                        <a:rPr lang="en-GB" sz="1100" b="1">
                          <a:solidFill>
                            <a:srgbClr val="000000"/>
                          </a:solidFill>
                        </a:rPr>
                        <a:t>Customs Duty </a:t>
                      </a:r>
                      <a:endParaRPr lang="en-GB" sz="1100"/>
                    </a:p>
                  </a:txBody>
                  <a:tcPr>
                    <a:solidFill>
                      <a:srgbClr val="F2F2F2"/>
                    </a:solidFill>
                  </a:tcPr>
                </a:tc>
                <a:tc>
                  <a:txBody>
                    <a:bodyPr/>
                    <a:lstStyle/>
                    <a:p>
                      <a:pPr lvl="0"/>
                      <a:r>
                        <a:rPr lang="en-GB" sz="1100" b="1">
                          <a:solidFill>
                            <a:srgbClr val="000000"/>
                          </a:solidFill>
                        </a:rPr>
                        <a:t>A00/A50 </a:t>
                      </a:r>
                      <a:endParaRPr lang="en-GB" sz="1100"/>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solidFill>
                            <a:srgbClr val="000000"/>
                          </a:solidFill>
                        </a:rPr>
                        <a:t>Customs Value X Duty Rate</a:t>
                      </a:r>
                    </a:p>
                    <a:p>
                      <a:pPr lvl="0"/>
                      <a:endParaRPr lang="en-GB" sz="1100"/>
                    </a:p>
                  </a:txBody>
                  <a:tcPr>
                    <a:solidFill>
                      <a:srgbClr val="F2F2F2"/>
                    </a:solidFill>
                  </a:tcPr>
                </a:tc>
                <a:extLst>
                  <a:ext uri="{0D108BD9-81ED-4DB2-BD59-A6C34878D82A}">
                    <a16:rowId xmlns:a16="http://schemas.microsoft.com/office/drawing/2014/main" val="704750747"/>
                  </a:ext>
                </a:extLst>
              </a:tr>
              <a:tr h="370844">
                <a:tc>
                  <a:txBody>
                    <a:bodyPr/>
                    <a:lstStyle/>
                    <a:p>
                      <a:pPr lvl="0"/>
                      <a:r>
                        <a:rPr lang="en-GB" sz="1100" b="1"/>
                        <a:t>VAT </a:t>
                      </a:r>
                    </a:p>
                  </a:txBody>
                  <a:tcPr>
                    <a:solidFill>
                      <a:srgbClr val="E7E6E6"/>
                    </a:solidFill>
                  </a:tcPr>
                </a:tc>
                <a:tc>
                  <a:txBody>
                    <a:bodyPr/>
                    <a:lstStyle/>
                    <a:p>
                      <a:pPr lvl="0"/>
                      <a:r>
                        <a:rPr lang="en-GB" sz="1100" b="1">
                          <a:solidFill>
                            <a:srgbClr val="000000"/>
                          </a:solidFill>
                        </a:rPr>
                        <a:t>B00/B05</a:t>
                      </a:r>
                      <a:endParaRPr lang="en-GB" sz="1100"/>
                    </a:p>
                  </a:txBody>
                  <a:tcPr>
                    <a:solidFill>
                      <a:srgbClr val="E7E6E6"/>
                    </a:solidFill>
                  </a:tcPr>
                </a:tc>
                <a:tc>
                  <a:txBody>
                    <a:bodyPr/>
                    <a:lstStyle/>
                    <a:p>
                      <a:pPr marL="0" marR="0" lvl="0" indent="0" algn="l" defTabSz="914400" rtl="0" fontAlgn="auto" hangingPunct="1">
                        <a:lnSpc>
                          <a:spcPct val="100000"/>
                        </a:lnSpc>
                        <a:spcBef>
                          <a:spcPts val="300"/>
                        </a:spcBef>
                        <a:spcAft>
                          <a:spcPts val="0"/>
                        </a:spcAft>
                        <a:buNone/>
                        <a:tabLst/>
                      </a:pPr>
                      <a:r>
                        <a:rPr lang="en-GB" sz="1100">
                          <a:solidFill>
                            <a:srgbClr val="333333"/>
                          </a:solidFill>
                        </a:rPr>
                        <a:t>From 1st January 2021, VAT on customs declarations will be made up of two parts, VAT on the good itself and VAT charged on the customs duty. This will be reflected as </a:t>
                      </a:r>
                      <a:r>
                        <a:rPr lang="en-GB" sz="1100"/>
                        <a:t>(Customs Value X VAT Rate) + (Duty Due X VAT Rate). </a:t>
                      </a:r>
                    </a:p>
                    <a:p>
                      <a:pPr marL="0" marR="0" lvl="0" indent="0" algn="l" defTabSz="914400" rtl="0" fontAlgn="auto" hangingPunct="1">
                        <a:lnSpc>
                          <a:spcPct val="100000"/>
                        </a:lnSpc>
                        <a:spcBef>
                          <a:spcPts val="300"/>
                        </a:spcBef>
                        <a:spcAft>
                          <a:spcPts val="0"/>
                        </a:spcAft>
                        <a:buNone/>
                        <a:tabLst/>
                      </a:pPr>
                      <a:r>
                        <a:rPr lang="en-GB" sz="1100">
                          <a:solidFill>
                            <a:srgbClr val="333333"/>
                          </a:solidFill>
                        </a:rPr>
                        <a:t>For example, on a RoW-NI import of an ‘at risk’ good, the following tax types will be displayed in the DMSTAX notification -</a:t>
                      </a:r>
                    </a:p>
                    <a:p>
                      <a:pPr marL="171450" lvl="0" indent="-171450">
                        <a:spcBef>
                          <a:spcPts val="300"/>
                        </a:spcBef>
                        <a:buSzPct val="100000"/>
                        <a:buFont typeface="Arial" pitchFamily="34"/>
                        <a:buChar char="•"/>
                      </a:pPr>
                      <a:r>
                        <a:rPr lang="en-GB" sz="1100">
                          <a:solidFill>
                            <a:srgbClr val="333333"/>
                          </a:solidFill>
                        </a:rPr>
                        <a:t>B00 is UK VAT (e.g. 20%) + any VAT on UK liabilities (A00,A20,A30,A35,A40,A45, Excise duty)</a:t>
                      </a:r>
                    </a:p>
                    <a:p>
                      <a:pPr marL="171450" lvl="0" indent="-171450">
                        <a:spcBef>
                          <a:spcPts val="300"/>
                        </a:spcBef>
                        <a:buSzPct val="100000"/>
                        <a:buFont typeface="Arial" pitchFamily="34"/>
                        <a:buChar char="•"/>
                      </a:pPr>
                      <a:r>
                        <a:rPr lang="en-GB" sz="1100">
                          <a:solidFill>
                            <a:srgbClr val="333333"/>
                          </a:solidFill>
                        </a:rPr>
                        <a:t>B05 is used for VAT arising from EU charges (A50, A70, A80, A85, A90, A95)</a:t>
                      </a:r>
                    </a:p>
                    <a:p>
                      <a:pPr lvl="0">
                        <a:spcBef>
                          <a:spcPts val="300"/>
                        </a:spcBef>
                      </a:pPr>
                      <a:r>
                        <a:rPr lang="en-GB" sz="1100">
                          <a:solidFill>
                            <a:srgbClr val="333333"/>
                          </a:solidFill>
                        </a:rPr>
                        <a:t>Previously, B00 VAT would consist of both of these VAT charges, however, CDS must now specifically identify the amount of EU VAT on a declaration.</a:t>
                      </a:r>
                    </a:p>
                  </a:txBody>
                  <a:tcPr>
                    <a:solidFill>
                      <a:srgbClr val="E7E6E6"/>
                    </a:solidFill>
                  </a:tcPr>
                </a:tc>
                <a:extLst>
                  <a:ext uri="{0D108BD9-81ED-4DB2-BD59-A6C34878D82A}">
                    <a16:rowId xmlns:a16="http://schemas.microsoft.com/office/drawing/2014/main" val="3922876850"/>
                  </a:ext>
                </a:extLst>
              </a:tr>
              <a:tr h="370844">
                <a:tc>
                  <a:txBody>
                    <a:bodyPr/>
                    <a:lstStyle/>
                    <a:p>
                      <a:pPr lvl="0"/>
                      <a:r>
                        <a:rPr lang="en-GB" sz="1100" b="1" dirty="0"/>
                        <a:t>Additional Duties</a:t>
                      </a:r>
                      <a:endParaRPr lang="en-GB" sz="1100" dirty="0"/>
                    </a:p>
                  </a:txBody>
                  <a:tcPr>
                    <a:solidFill>
                      <a:srgbClr val="F2F2F2"/>
                    </a:solidFill>
                  </a:tcPr>
                </a:tc>
                <a:tc>
                  <a:txBody>
                    <a:bodyPr/>
                    <a:lstStyle/>
                    <a:p>
                      <a:pPr lvl="0"/>
                      <a:r>
                        <a:rPr lang="en-GB" sz="1100" b="1"/>
                        <a:t>A20/A70 </a:t>
                      </a:r>
                      <a:endParaRPr lang="en-GB" sz="1100"/>
                    </a:p>
                  </a:txBody>
                  <a:tcPr>
                    <a:solidFill>
                      <a:srgbClr val="F2F2F2"/>
                    </a:solidFill>
                  </a:tcPr>
                </a:tc>
                <a:tc>
                  <a:txBody>
                    <a:bodyPr/>
                    <a:lstStyle/>
                    <a:p>
                      <a:pPr lvl="0">
                        <a:spcBef>
                          <a:spcPts val="300"/>
                        </a:spcBef>
                      </a:pPr>
                      <a:r>
                        <a:rPr lang="en-GB" sz="1100" dirty="0"/>
                        <a:t>These duties cover charges such as –</a:t>
                      </a:r>
                    </a:p>
                    <a:p>
                      <a:pPr marL="171450" lvl="0" indent="-171450">
                        <a:spcBef>
                          <a:spcPts val="300"/>
                        </a:spcBef>
                        <a:buSzPct val="100000"/>
                        <a:buFont typeface="Arial" pitchFamily="34"/>
                        <a:buChar char="•"/>
                      </a:pPr>
                      <a:r>
                        <a:rPr lang="en-GB" sz="1100" b="1" dirty="0"/>
                        <a:t>CAP (Common Agricultural Products) Charges </a:t>
                      </a:r>
                      <a:r>
                        <a:rPr lang="en-GB" sz="1100" dirty="0"/>
                        <a:t>which are taxes that apply specifically to Agricultural products e.g. safeguarding, ad valorem CAP charge.</a:t>
                      </a:r>
                    </a:p>
                    <a:p>
                      <a:pPr marL="171450" lvl="0" indent="-171450">
                        <a:spcBef>
                          <a:spcPts val="300"/>
                        </a:spcBef>
                        <a:buSzPct val="100000"/>
                        <a:buFont typeface="Arial" pitchFamily="34"/>
                        <a:buChar char="•"/>
                      </a:pPr>
                      <a:r>
                        <a:rPr lang="en-GB" sz="1100" b="1" dirty="0"/>
                        <a:t>Steel Safeguards </a:t>
                      </a:r>
                      <a:r>
                        <a:rPr lang="en-GB" sz="1100" dirty="0"/>
                        <a:t>- Steel Safeguarding charges are additional duties collected against certain steel commodities imported from certain countries.</a:t>
                      </a:r>
                    </a:p>
                    <a:p>
                      <a:pPr marL="171450" lvl="0" indent="-171450">
                        <a:spcBef>
                          <a:spcPts val="300"/>
                        </a:spcBef>
                        <a:buSzPct val="100000"/>
                        <a:buFont typeface="Arial" pitchFamily="34"/>
                        <a:buChar char="•"/>
                      </a:pPr>
                      <a:r>
                        <a:rPr lang="en-GB" sz="1100" b="1" dirty="0"/>
                        <a:t>Retaliatory Duties </a:t>
                      </a:r>
                      <a:r>
                        <a:rPr lang="en-GB" sz="1100" dirty="0"/>
                        <a:t>- duties collected against certain commodities imported from the United States (U.S). </a:t>
                      </a:r>
                      <a:endParaRPr lang="en-GB" sz="1100" dirty="0">
                        <a:solidFill>
                          <a:srgbClr val="000000"/>
                        </a:solidFill>
                      </a:endParaRPr>
                    </a:p>
                  </a:txBody>
                  <a:tcPr>
                    <a:solidFill>
                      <a:srgbClr val="F2F2F2"/>
                    </a:solidFill>
                  </a:tcPr>
                </a:tc>
                <a:extLst>
                  <a:ext uri="{0D108BD9-81ED-4DB2-BD59-A6C34878D82A}">
                    <a16:rowId xmlns:a16="http://schemas.microsoft.com/office/drawing/2014/main" val="2056132419"/>
                  </a:ext>
                </a:extLst>
              </a:tr>
            </a:tbl>
          </a:graphicData>
        </a:graphic>
      </p:graphicFrame>
      <p:sp>
        <p:nvSpPr>
          <p:cNvPr id="8" name="Rectangle 8">
            <a:extLst>
              <a:ext uri="{FF2B5EF4-FFF2-40B4-BE49-F238E27FC236}">
                <a16:creationId xmlns:a16="http://schemas.microsoft.com/office/drawing/2014/main" id="{50AB17F7-2FF6-445E-A7F0-F8E097B4541B}"/>
              </a:ext>
            </a:extLst>
          </p:cNvPr>
          <p:cNvSpPr/>
          <p:nvPr/>
        </p:nvSpPr>
        <p:spPr>
          <a:xfrm>
            <a:off x="4816931" y="6312404"/>
            <a:ext cx="2558134"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1" u="none" strike="noStrike" kern="1200" cap="none" spc="0" baseline="0">
                <a:solidFill>
                  <a:srgbClr val="000000"/>
                </a:solidFill>
                <a:uFillTx/>
                <a:latin typeface="Calibri"/>
              </a:rPr>
              <a:t>Continues on the following slide</a:t>
            </a:r>
            <a:endParaRPr lang="en-GB" sz="1400" b="0" i="1" u="none" strike="noStrike" kern="1200" cap="none" spc="0" baseline="0">
              <a:solidFill>
                <a:srgbClr val="000000"/>
              </a:solidFill>
              <a:uFillTx/>
              <a:latin typeface="Calibri"/>
            </a:endParaRPr>
          </a:p>
        </p:txBody>
      </p:sp>
      <p:cxnSp>
        <p:nvCxnSpPr>
          <p:cNvPr id="9" name="Straight Connector 43">
            <a:extLst>
              <a:ext uri="{FF2B5EF4-FFF2-40B4-BE49-F238E27FC236}">
                <a16:creationId xmlns:a16="http://schemas.microsoft.com/office/drawing/2014/main" id="{71397E98-F37B-43FE-A978-D505DA0F93FB}"/>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10" name="TextBox 44">
            <a:extLst>
              <a:ext uri="{FF2B5EF4-FFF2-40B4-BE49-F238E27FC236}">
                <a16:creationId xmlns:a16="http://schemas.microsoft.com/office/drawing/2014/main" id="{EBECD214-3BC5-4CAB-8FD3-6CB2D9CEE13B}"/>
              </a:ext>
            </a:extLst>
          </p:cNvPr>
          <p:cNvSpPr txBox="1"/>
          <p:nvPr/>
        </p:nvSpPr>
        <p:spPr>
          <a:xfrm>
            <a:off x="391280" y="261225"/>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11" name="Rectangle 25">
            <a:extLst>
              <a:ext uri="{FF2B5EF4-FFF2-40B4-BE49-F238E27FC236}">
                <a16:creationId xmlns:a16="http://schemas.microsoft.com/office/drawing/2014/main" id="{3705C51F-4B3A-45A8-8B71-084BA52F5FD9}"/>
              </a:ext>
            </a:extLst>
          </p:cNvPr>
          <p:cNvSpPr/>
          <p:nvPr/>
        </p:nvSpPr>
        <p:spPr>
          <a:xfrm>
            <a:off x="391280" y="763697"/>
            <a:ext cx="2230934"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a:cs typeface="Calibri"/>
              </a:rPr>
              <a:t>NI Duty Calculation</a:t>
            </a:r>
            <a:endParaRPr lang="en-GB" sz="2000" b="1" i="0" u="none" strike="noStrike" kern="1200" cap="none" spc="0" baseline="0">
              <a:solidFill>
                <a:srgbClr val="000000"/>
              </a:solidFill>
              <a:uFillTx/>
              <a:latin typeface="Calibri"/>
            </a:endParaRPr>
          </a:p>
        </p:txBody>
      </p:sp>
      <p:sp>
        <p:nvSpPr>
          <p:cNvPr id="12" name="Oval 22">
            <a:hlinkClick r:id="rId4" action="ppaction://hlinksldjump"/>
            <a:extLst>
              <a:ext uri="{FF2B5EF4-FFF2-40B4-BE49-F238E27FC236}">
                <a16:creationId xmlns:a16="http://schemas.microsoft.com/office/drawing/2014/main" id="{D856E6CE-951E-46F7-9702-A9261D8405F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23">
            <a:hlinkClick r:id="rId4" action="ppaction://hlinksldjump"/>
            <a:extLst>
              <a:ext uri="{FF2B5EF4-FFF2-40B4-BE49-F238E27FC236}">
                <a16:creationId xmlns:a16="http://schemas.microsoft.com/office/drawing/2014/main" id="{A6EA5E5F-FBA2-46FE-BA39-D816ED9F63B4}"/>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24">
            <a:hlinkClick r:id="rId5" action="ppaction://hlinksldjump"/>
            <a:extLst>
              <a:ext uri="{FF2B5EF4-FFF2-40B4-BE49-F238E27FC236}">
                <a16:creationId xmlns:a16="http://schemas.microsoft.com/office/drawing/2014/main" id="{00D40CB3-B5AC-45F7-A8F8-93EF981C0609}"/>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26">
            <a:hlinkClick r:id="rId6" action="ppaction://hlinksldjump"/>
            <a:extLst>
              <a:ext uri="{FF2B5EF4-FFF2-40B4-BE49-F238E27FC236}">
                <a16:creationId xmlns:a16="http://schemas.microsoft.com/office/drawing/2014/main" id="{E420BE03-5B9E-4328-9289-54712852595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27">
            <a:hlinkClick r:id="rId4" action="ppaction://hlinksldjump"/>
            <a:extLst>
              <a:ext uri="{FF2B5EF4-FFF2-40B4-BE49-F238E27FC236}">
                <a16:creationId xmlns:a16="http://schemas.microsoft.com/office/drawing/2014/main" id="{AFCEDBDC-DCFE-4033-BF6F-81978338A5F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29">
            <a:hlinkClick r:id="rId4" action="ppaction://hlinksldjump"/>
            <a:extLst>
              <a:ext uri="{FF2B5EF4-FFF2-40B4-BE49-F238E27FC236}">
                <a16:creationId xmlns:a16="http://schemas.microsoft.com/office/drawing/2014/main" id="{95CB8642-DEF4-4897-9364-75063389BA26}"/>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18" name="TextBox 30">
            <a:hlinkClick r:id="rId5" action="ppaction://hlinksldjump"/>
            <a:extLst>
              <a:ext uri="{FF2B5EF4-FFF2-40B4-BE49-F238E27FC236}">
                <a16:creationId xmlns:a16="http://schemas.microsoft.com/office/drawing/2014/main" id="{B123CBEA-F019-464E-A6DB-786D6F02203D}"/>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9" name="TextBox 45">
            <a:hlinkClick r:id="rId7" action="ppaction://hlinksldjump"/>
            <a:extLst>
              <a:ext uri="{FF2B5EF4-FFF2-40B4-BE49-F238E27FC236}">
                <a16:creationId xmlns:a16="http://schemas.microsoft.com/office/drawing/2014/main" id="{B1C32C3A-9D71-4A2A-87C1-BA33FFF362A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46">
            <a:extLst>
              <a:ext uri="{FF2B5EF4-FFF2-40B4-BE49-F238E27FC236}">
                <a16:creationId xmlns:a16="http://schemas.microsoft.com/office/drawing/2014/main" id="{3B5BF82C-F808-424B-BA0B-EF9FA1FAACCD}"/>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47">
            <a:hlinkClick r:id="rId8" action="ppaction://hlinksldjump"/>
            <a:extLst>
              <a:ext uri="{FF2B5EF4-FFF2-40B4-BE49-F238E27FC236}">
                <a16:creationId xmlns:a16="http://schemas.microsoft.com/office/drawing/2014/main" id="{06CDB841-6E57-4064-96B1-95E3F7CA35BF}"/>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4" action="ppaction://hlinksldjump"/>
            <a:extLst>
              <a:ext uri="{FF2B5EF4-FFF2-40B4-BE49-F238E27FC236}">
                <a16:creationId xmlns:a16="http://schemas.microsoft.com/office/drawing/2014/main" id="{A6BDCA02-E494-415C-B680-73809E644A47}"/>
              </a:ext>
            </a:extLst>
          </p:cNvPr>
          <p:cNvPicPr>
            <a:picLocks noChangeAspect="1"/>
          </p:cNvPicPr>
          <p:nvPr/>
        </p:nvPicPr>
        <p:blipFill>
          <a:blip r:embed="rId9">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49">
            <a:hlinkClick r:id="rId4" action="ppaction://hlinksldjump"/>
            <a:extLst>
              <a:ext uri="{FF2B5EF4-FFF2-40B4-BE49-F238E27FC236}">
                <a16:creationId xmlns:a16="http://schemas.microsoft.com/office/drawing/2014/main" id="{612445A5-72F9-4D8A-B914-6C642EC36812}"/>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4473">
    <p:spTree>
      <p:nvGrpSpPr>
        <p:cNvPr id="1" name=""/>
        <p:cNvGrpSpPr/>
        <p:nvPr/>
      </p:nvGrpSpPr>
      <p:grpSpPr>
        <a:xfrm>
          <a:off x="0" y="0"/>
          <a:ext cx="0" cy="0"/>
          <a:chOff x="0" y="0"/>
          <a:chExt cx="0" cy="0"/>
        </a:xfrm>
      </p:grpSpPr>
      <p:sp>
        <p:nvSpPr>
          <p:cNvPr id="3" name="Slide Number Placeholder 5">
            <a:extLst>
              <a:ext uri="{FF2B5EF4-FFF2-40B4-BE49-F238E27FC236}">
                <a16:creationId xmlns:a16="http://schemas.microsoft.com/office/drawing/2014/main" id="{76DB0D50-4B96-46D8-AE84-83D1DEB4ABA5}"/>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5DC8E7C-66E0-4DEF-AE6A-583C7A09016A}" type="slidenum">
              <a:rPr sz="1200"/>
              <a:t>8</a:t>
            </a:fld>
            <a:endParaRPr lang="en-GB" sz="1200" b="0" i="0" u="none" strike="noStrike" kern="1200" cap="none" spc="0" baseline="0" dirty="0">
              <a:solidFill>
                <a:srgbClr val="000000"/>
              </a:solidFill>
              <a:uFillTx/>
              <a:latin typeface="Calibri"/>
            </a:endParaRPr>
          </a:p>
        </p:txBody>
      </p:sp>
      <p:graphicFrame>
        <p:nvGraphicFramePr>
          <p:cNvPr id="4" name="Table 6">
            <a:extLst>
              <a:ext uri="{FF2B5EF4-FFF2-40B4-BE49-F238E27FC236}">
                <a16:creationId xmlns:a16="http://schemas.microsoft.com/office/drawing/2014/main" id="{6F3D0033-9319-4A0A-A484-E0978BD0FB7D}"/>
              </a:ext>
            </a:extLst>
          </p:cNvPr>
          <p:cNvGraphicFramePr>
            <a:graphicFrameLocks noGrp="1"/>
          </p:cNvGraphicFramePr>
          <p:nvPr/>
        </p:nvGraphicFramePr>
        <p:xfrm>
          <a:off x="507299" y="855210"/>
          <a:ext cx="11406041" cy="3535680"/>
        </p:xfrm>
        <a:graphic>
          <a:graphicData uri="http://schemas.openxmlformats.org/drawingml/2006/table">
            <a:tbl>
              <a:tblPr firstRow="1" bandRow="1">
                <a:effectLst/>
                <a:tableStyleId>{5C22544A-7EE6-4342-B048-85BDC9FD1C3A}</a:tableStyleId>
              </a:tblPr>
              <a:tblGrid>
                <a:gridCol w="1123020">
                  <a:extLst>
                    <a:ext uri="{9D8B030D-6E8A-4147-A177-3AD203B41FA5}">
                      <a16:colId xmlns:a16="http://schemas.microsoft.com/office/drawing/2014/main" val="1475620860"/>
                    </a:ext>
                  </a:extLst>
                </a:gridCol>
                <a:gridCol w="1199107">
                  <a:extLst>
                    <a:ext uri="{9D8B030D-6E8A-4147-A177-3AD203B41FA5}">
                      <a16:colId xmlns:a16="http://schemas.microsoft.com/office/drawing/2014/main" val="3677515841"/>
                    </a:ext>
                  </a:extLst>
                </a:gridCol>
                <a:gridCol w="9083914">
                  <a:extLst>
                    <a:ext uri="{9D8B030D-6E8A-4147-A177-3AD203B41FA5}">
                      <a16:colId xmlns:a16="http://schemas.microsoft.com/office/drawing/2014/main" val="2922041683"/>
                    </a:ext>
                  </a:extLst>
                </a:gridCol>
              </a:tblGrid>
              <a:tr h="0">
                <a:tc>
                  <a:txBody>
                    <a:bodyPr/>
                    <a:lstStyle/>
                    <a:p>
                      <a:pPr lvl="0"/>
                      <a:r>
                        <a:rPr lang="en-GB" sz="1100"/>
                        <a:t>Tax Type</a:t>
                      </a:r>
                    </a:p>
                  </a:txBody>
                  <a:tcPr>
                    <a:solidFill>
                      <a:srgbClr val="7F7F7F"/>
                    </a:solidFill>
                  </a:tcPr>
                </a:tc>
                <a:tc>
                  <a:txBody>
                    <a:bodyPr/>
                    <a:lstStyle/>
                    <a:p>
                      <a:pPr lvl="0"/>
                      <a:r>
                        <a:rPr lang="en-GB" sz="1100"/>
                        <a:t>Tax Code</a:t>
                      </a:r>
                    </a:p>
                  </a:txBody>
                  <a:tcPr>
                    <a:solidFill>
                      <a:srgbClr val="7F7F7F"/>
                    </a:solidFill>
                  </a:tcPr>
                </a:tc>
                <a:tc>
                  <a:txBody>
                    <a:bodyPr/>
                    <a:lstStyle/>
                    <a:p>
                      <a:pPr lvl="0"/>
                      <a:r>
                        <a:rPr lang="en-GB" sz="1100"/>
                        <a:t>Guidance</a:t>
                      </a:r>
                    </a:p>
                  </a:txBody>
                  <a:tcPr>
                    <a:solidFill>
                      <a:srgbClr val="7F7F7F"/>
                    </a:solidFill>
                  </a:tcPr>
                </a:tc>
                <a:extLst>
                  <a:ext uri="{0D108BD9-81ED-4DB2-BD59-A6C34878D82A}">
                    <a16:rowId xmlns:a16="http://schemas.microsoft.com/office/drawing/2014/main" val="1953197280"/>
                  </a:ext>
                </a:extLst>
              </a:tr>
              <a:tr h="289828">
                <a:tc>
                  <a:txBody>
                    <a:bodyPr/>
                    <a:lstStyle/>
                    <a:p>
                      <a:pPr lvl="0"/>
                      <a:r>
                        <a:rPr lang="en-GB" sz="1100" b="1">
                          <a:solidFill>
                            <a:srgbClr val="000000"/>
                          </a:solidFill>
                        </a:rPr>
                        <a:t>Anti-Dumping Duties </a:t>
                      </a:r>
                      <a:endParaRPr lang="en-GB" sz="1100"/>
                    </a:p>
                  </a:txBody>
                  <a:tcPr>
                    <a:solidFill>
                      <a:srgbClr val="F2F2F2"/>
                    </a:solidFill>
                  </a:tcPr>
                </a:tc>
                <a:tc>
                  <a:txBody>
                    <a:bodyPr/>
                    <a:lstStyle/>
                    <a:p>
                      <a:pPr lvl="0"/>
                      <a:r>
                        <a:rPr lang="en-GB" sz="1100" b="1"/>
                        <a:t>Provisional - A35/A85 </a:t>
                      </a:r>
                    </a:p>
                    <a:p>
                      <a:pPr lvl="0"/>
                      <a:endParaRPr lang="en-GB" sz="1100" b="1"/>
                    </a:p>
                    <a:p>
                      <a:pPr lvl="0"/>
                      <a:r>
                        <a:rPr lang="en-GB" sz="1100" b="1"/>
                        <a:t>Definitive - A30/A80 </a:t>
                      </a:r>
                      <a:endParaRPr lang="en-GB" sz="1100"/>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These are a defensive tax type that is introduced to protect a market against manipulation. It specifically provides protection to industry against the dumping of goods from 3rd countries at prices that are substantially lower than the normal commercial value. This covers</a:t>
                      </a:r>
                    </a:p>
                    <a:p>
                      <a:pPr marL="171450" lvl="0" indent="-171450">
                        <a:buSzPct val="100000"/>
                        <a:buFont typeface="Arial" pitchFamily="34"/>
                        <a:buChar char="•"/>
                      </a:pPr>
                      <a:r>
                        <a:rPr lang="en-GB" sz="1100" b="1"/>
                        <a:t>Provisional </a:t>
                      </a:r>
                      <a:r>
                        <a:rPr lang="en-GB" sz="1100"/>
                        <a:t>- imposed when preliminary investigations indicate that dumping has occurred. </a:t>
                      </a:r>
                    </a:p>
                    <a:p>
                      <a:pPr marL="171450" lvl="0" indent="-171450">
                        <a:buSzPct val="100000"/>
                        <a:buFont typeface="Arial" pitchFamily="34"/>
                        <a:buChar char="•"/>
                      </a:pPr>
                      <a:r>
                        <a:rPr lang="en-GB" sz="1100" b="1"/>
                        <a:t>Definitive </a:t>
                      </a:r>
                      <a:r>
                        <a:rPr lang="en-GB" sz="1100"/>
                        <a:t>– imposed if a full investigation of the facts confirms earlier findings of dumping</a:t>
                      </a:r>
                    </a:p>
                  </a:txBody>
                  <a:tcPr>
                    <a:solidFill>
                      <a:srgbClr val="F2F2F2"/>
                    </a:solidFill>
                  </a:tcPr>
                </a:tc>
                <a:extLst>
                  <a:ext uri="{0D108BD9-81ED-4DB2-BD59-A6C34878D82A}">
                    <a16:rowId xmlns:a16="http://schemas.microsoft.com/office/drawing/2014/main" val="3019748936"/>
                  </a:ext>
                </a:extLst>
              </a:tr>
              <a:tr h="515749">
                <a:tc>
                  <a:txBody>
                    <a:bodyPr/>
                    <a:lstStyle/>
                    <a:p>
                      <a:pPr marL="0" marR="0" lvl="0" indent="0" algn="l" defTabSz="914400" rtl="0" fontAlgn="auto" hangingPunct="1">
                        <a:lnSpc>
                          <a:spcPct val="100000"/>
                        </a:lnSpc>
                        <a:spcBef>
                          <a:spcPts val="0"/>
                        </a:spcBef>
                        <a:spcAft>
                          <a:spcPts val="0"/>
                        </a:spcAft>
                        <a:buNone/>
                        <a:tabLst/>
                      </a:pPr>
                      <a:r>
                        <a:rPr lang="en-GB" sz="1100" b="1">
                          <a:solidFill>
                            <a:srgbClr val="000000"/>
                          </a:solidFill>
                        </a:rPr>
                        <a:t>Countervailing Duties </a:t>
                      </a:r>
                      <a:endParaRPr lang="en-GB" sz="1100" b="1"/>
                    </a:p>
                  </a:txBody>
                  <a:tcPr>
                    <a:solidFill>
                      <a:srgbClr val="E7E6E6"/>
                    </a:solidFill>
                  </a:tcPr>
                </a:tc>
                <a:tc>
                  <a:txBody>
                    <a:bodyPr/>
                    <a:lstStyle/>
                    <a:p>
                      <a:pPr lvl="0"/>
                      <a:r>
                        <a:rPr lang="en-GB" sz="1100" b="1"/>
                        <a:t>Provisional - A45/A95 </a:t>
                      </a:r>
                    </a:p>
                    <a:p>
                      <a:pPr lvl="0"/>
                      <a:endParaRPr lang="en-GB" sz="1100" b="1"/>
                    </a:p>
                    <a:p>
                      <a:pPr lvl="0"/>
                      <a:r>
                        <a:rPr lang="en-GB" sz="1100" b="1"/>
                        <a:t>Definitive -A40/A90 </a:t>
                      </a:r>
                      <a:endParaRPr lang="en-GB" sz="1100"/>
                    </a:p>
                  </a:txBody>
                  <a:tcPr>
                    <a:solidFill>
                      <a:srgbClr val="E7E6E6"/>
                    </a:solidFill>
                  </a:tcPr>
                </a:tc>
                <a:tc>
                  <a:txBody>
                    <a:bodyPr/>
                    <a:lstStyle/>
                    <a:p>
                      <a:pPr lvl="0"/>
                      <a:r>
                        <a:rPr lang="en-GB" sz="1100"/>
                        <a:t>These are levied when Government subsidies are deemed to have resulted in goods being imported at prices substantially lower than the normal commercial value. This covers</a:t>
                      </a:r>
                    </a:p>
                    <a:p>
                      <a:pPr marL="171450" lvl="0" indent="-171450">
                        <a:buSzPct val="100000"/>
                        <a:buFont typeface="Arial" pitchFamily="34"/>
                        <a:buChar char="•"/>
                      </a:pPr>
                      <a:r>
                        <a:rPr lang="en-GB" sz="1100" b="1"/>
                        <a:t>Provisional </a:t>
                      </a:r>
                      <a:r>
                        <a:rPr lang="en-GB" sz="1100"/>
                        <a:t>- imposed when preliminary investigations indicate that this many have occurred. </a:t>
                      </a:r>
                    </a:p>
                    <a:p>
                      <a:pPr marL="171450" lvl="0" indent="-171450">
                        <a:buSzPct val="100000"/>
                        <a:buFont typeface="Arial" pitchFamily="34"/>
                        <a:buChar char="•"/>
                      </a:pPr>
                      <a:r>
                        <a:rPr lang="en-GB" sz="1100" b="1"/>
                        <a:t>Definitive </a:t>
                      </a:r>
                      <a:r>
                        <a:rPr lang="en-GB" sz="1100"/>
                        <a:t>– imposed if a full investigation of the facts confirms earlier findings.</a:t>
                      </a:r>
                    </a:p>
                  </a:txBody>
                  <a:tcPr>
                    <a:solidFill>
                      <a:srgbClr val="E7E6E6"/>
                    </a:solidFill>
                  </a:tcPr>
                </a:tc>
                <a:extLst>
                  <a:ext uri="{0D108BD9-81ED-4DB2-BD59-A6C34878D82A}">
                    <a16:rowId xmlns:a16="http://schemas.microsoft.com/office/drawing/2014/main" val="3932016114"/>
                  </a:ext>
                </a:extLst>
              </a:tr>
              <a:tr h="560207">
                <a:tc>
                  <a:txBody>
                    <a:bodyPr/>
                    <a:lstStyle/>
                    <a:p>
                      <a:pPr marL="0" marR="0" lvl="0" indent="0" algn="l" defTabSz="914400" rtl="0" fontAlgn="auto" hangingPunct="1">
                        <a:lnSpc>
                          <a:spcPct val="100000"/>
                        </a:lnSpc>
                        <a:spcBef>
                          <a:spcPts val="0"/>
                        </a:spcBef>
                        <a:spcAft>
                          <a:spcPts val="0"/>
                        </a:spcAft>
                        <a:buNone/>
                        <a:tabLst/>
                      </a:pPr>
                      <a:r>
                        <a:rPr lang="en-GB" sz="1100" b="1"/>
                        <a:t>Complex Valuations</a:t>
                      </a:r>
                    </a:p>
                  </a:txBody>
                  <a:tcPr>
                    <a:solidFill>
                      <a:srgbClr val="F2F2F2"/>
                    </a:solidFill>
                  </a:tcPr>
                </a:tc>
                <a:tc>
                  <a:txBody>
                    <a:bodyPr/>
                    <a:lstStyle/>
                    <a:p>
                      <a:pPr lvl="0"/>
                      <a:endParaRPr lang="en-GB" sz="1100"/>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050" b="0" dirty="0"/>
                        <a:t>This covers charges such as -</a:t>
                      </a:r>
                    </a:p>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050" b="1" dirty="0"/>
                        <a:t>SIV/SPV Valuations - </a:t>
                      </a:r>
                      <a:r>
                        <a:rPr lang="en-GB" sz="1050" dirty="0"/>
                        <a:t>In the case of certain seasonal fruit and vegetables, their value may be subject to fluctuations from week to week depending on weather conditions and specific short term peaks in demand.  Simplified procedure values (SPVs) Standard Import Values (SIVs) </a:t>
                      </a:r>
                      <a:r>
                        <a:rPr lang="en-GB" sz="1100" dirty="0"/>
                        <a:t>are customs values derived from prices realised on sales in specified marketing centres within the EU. SIVs may only apply to products at certain times of the year. At other times SPVs might be applicable instead.</a:t>
                      </a:r>
                    </a:p>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1" dirty="0"/>
                        <a:t>Minimum Import Price - </a:t>
                      </a:r>
                      <a:r>
                        <a:rPr lang="en-GB" sz="1100" dirty="0"/>
                        <a:t>Under MIP, customs duty is calculated based on Minimum Import Price (MIP) in relation to the entry price. The entry price system is a measure put in place by the EU to prevent market saturation by imported goods undercutting market value, therefore imported goods must meet a MIP based on the entry price determined for that good.</a:t>
                      </a:r>
                    </a:p>
                  </a:txBody>
                  <a:tcPr>
                    <a:solidFill>
                      <a:srgbClr val="F2F2F2"/>
                    </a:solidFill>
                  </a:tcPr>
                </a:tc>
                <a:extLst>
                  <a:ext uri="{0D108BD9-81ED-4DB2-BD59-A6C34878D82A}">
                    <a16:rowId xmlns:a16="http://schemas.microsoft.com/office/drawing/2014/main" val="275695758"/>
                  </a:ext>
                </a:extLst>
              </a:tr>
            </a:tbl>
          </a:graphicData>
        </a:graphic>
      </p:graphicFrame>
      <p:cxnSp>
        <p:nvCxnSpPr>
          <p:cNvPr id="5" name="Straight Connector 43">
            <a:extLst>
              <a:ext uri="{FF2B5EF4-FFF2-40B4-BE49-F238E27FC236}">
                <a16:creationId xmlns:a16="http://schemas.microsoft.com/office/drawing/2014/main" id="{046F94FF-FA09-4A5E-92ED-4C9B35509E41}"/>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6" name="TextBox 44">
            <a:extLst>
              <a:ext uri="{FF2B5EF4-FFF2-40B4-BE49-F238E27FC236}">
                <a16:creationId xmlns:a16="http://schemas.microsoft.com/office/drawing/2014/main" id="{3E6468C6-E5CC-4C07-AF58-180ABF109AC0}"/>
              </a:ext>
            </a:extLst>
          </p:cNvPr>
          <p:cNvSpPr txBox="1"/>
          <p:nvPr/>
        </p:nvSpPr>
        <p:spPr>
          <a:xfrm>
            <a:off x="391280" y="261225"/>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7" name="Oval 18">
            <a:hlinkClick r:id="rId3" action="ppaction://hlinksldjump"/>
            <a:extLst>
              <a:ext uri="{FF2B5EF4-FFF2-40B4-BE49-F238E27FC236}">
                <a16:creationId xmlns:a16="http://schemas.microsoft.com/office/drawing/2014/main" id="{C17781FF-E963-42B5-BB6C-BECA2E2B080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19">
            <a:hlinkClick r:id="rId3" action="ppaction://hlinksldjump"/>
            <a:extLst>
              <a:ext uri="{FF2B5EF4-FFF2-40B4-BE49-F238E27FC236}">
                <a16:creationId xmlns:a16="http://schemas.microsoft.com/office/drawing/2014/main" id="{254F4E04-E112-44D4-AE1A-918D8354B435}"/>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20">
            <a:hlinkClick r:id="rId4" action="ppaction://hlinksldjump"/>
            <a:extLst>
              <a:ext uri="{FF2B5EF4-FFF2-40B4-BE49-F238E27FC236}">
                <a16:creationId xmlns:a16="http://schemas.microsoft.com/office/drawing/2014/main" id="{5451EDAD-65E1-42EA-9DE5-15857F584D5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21">
            <a:hlinkClick r:id="rId5" action="ppaction://hlinksldjump"/>
            <a:extLst>
              <a:ext uri="{FF2B5EF4-FFF2-40B4-BE49-F238E27FC236}">
                <a16:creationId xmlns:a16="http://schemas.microsoft.com/office/drawing/2014/main" id="{D9933D72-94FE-463B-9B8D-17532F9986D0}"/>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TextBox 22">
            <a:hlinkClick r:id="rId3" action="ppaction://hlinksldjump"/>
            <a:extLst>
              <a:ext uri="{FF2B5EF4-FFF2-40B4-BE49-F238E27FC236}">
                <a16:creationId xmlns:a16="http://schemas.microsoft.com/office/drawing/2014/main" id="{BFB781DB-4C4C-4C21-8DF0-1AF55F0649EF}"/>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2" name="TextBox 23">
            <a:hlinkClick r:id="rId3" action="ppaction://hlinksldjump"/>
            <a:extLst>
              <a:ext uri="{FF2B5EF4-FFF2-40B4-BE49-F238E27FC236}">
                <a16:creationId xmlns:a16="http://schemas.microsoft.com/office/drawing/2014/main" id="{D5DF39F9-E496-4678-94F9-5ACA3ED61F21}"/>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13" name="TextBox 24">
            <a:hlinkClick r:id="rId4" action="ppaction://hlinksldjump"/>
            <a:extLst>
              <a:ext uri="{FF2B5EF4-FFF2-40B4-BE49-F238E27FC236}">
                <a16:creationId xmlns:a16="http://schemas.microsoft.com/office/drawing/2014/main" id="{3E7B677E-4DBD-4C6C-B6AA-70537CE4718B}"/>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4" name="TextBox 25">
            <a:hlinkClick r:id="rId6" action="ppaction://hlinksldjump"/>
            <a:extLst>
              <a:ext uri="{FF2B5EF4-FFF2-40B4-BE49-F238E27FC236}">
                <a16:creationId xmlns:a16="http://schemas.microsoft.com/office/drawing/2014/main" id="{39E3F00A-5702-42F3-8AA8-425753FDD0BA}"/>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5" name="Oval 26">
            <a:extLst>
              <a:ext uri="{FF2B5EF4-FFF2-40B4-BE49-F238E27FC236}">
                <a16:creationId xmlns:a16="http://schemas.microsoft.com/office/drawing/2014/main" id="{27FF4D68-4346-4E41-A55A-F52F5EE92AA6}"/>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27">
            <a:hlinkClick r:id="rId7" action="ppaction://hlinksldjump"/>
            <a:extLst>
              <a:ext uri="{FF2B5EF4-FFF2-40B4-BE49-F238E27FC236}">
                <a16:creationId xmlns:a16="http://schemas.microsoft.com/office/drawing/2014/main" id="{E346C0B4-7DD9-4F0F-892E-84E55866DF90}"/>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7" name="Picture 40">
            <a:hlinkClick r:id="rId3" action="ppaction://hlinksldjump"/>
            <a:extLst>
              <a:ext uri="{FF2B5EF4-FFF2-40B4-BE49-F238E27FC236}">
                <a16:creationId xmlns:a16="http://schemas.microsoft.com/office/drawing/2014/main" id="{34E38D72-B640-44FD-AE94-B9E06784E4D7}"/>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18" name="Oval 30">
            <a:hlinkClick r:id="rId3" action="ppaction://hlinksldjump"/>
            <a:extLst>
              <a:ext uri="{FF2B5EF4-FFF2-40B4-BE49-F238E27FC236}">
                <a16:creationId xmlns:a16="http://schemas.microsoft.com/office/drawing/2014/main" id="{A97576EB-FD5D-4DA3-A780-FACD544D8474}"/>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838840336">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FBB35709-B825-4B85-9B1B-9AD8A9CA765C}"/>
              </a:ext>
            </a:extLst>
          </p:cNvPr>
          <p:cNvSpPr txBox="1"/>
          <p:nvPr/>
        </p:nvSpPr>
        <p:spPr>
          <a:xfrm>
            <a:off x="115262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8EDD230-C36D-4D34-BF1D-6F9682E8342D}" type="slidenum">
              <a:rPr sz="1200"/>
              <a:t>9</a:t>
            </a:fld>
            <a:endParaRPr lang="en-GB" sz="1200" b="0" i="0" u="none" strike="noStrike" kern="1200" cap="none" spc="0" baseline="0" dirty="0">
              <a:solidFill>
                <a:srgbClr val="000000"/>
              </a:solidFill>
              <a:uFillTx/>
              <a:latin typeface="Calibri"/>
            </a:endParaRPr>
          </a:p>
        </p:txBody>
      </p:sp>
      <p:pic>
        <p:nvPicPr>
          <p:cNvPr id="3" name="Picture 8" descr="100% HMRCppt logo">
            <a:extLst>
              <a:ext uri="{FF2B5EF4-FFF2-40B4-BE49-F238E27FC236}">
                <a16:creationId xmlns:a16="http://schemas.microsoft.com/office/drawing/2014/main" id="{673155A4-3F62-4CED-B647-86B08E1E2340}"/>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4" name="TextBox 30">
            <a:extLst>
              <a:ext uri="{FF2B5EF4-FFF2-40B4-BE49-F238E27FC236}">
                <a16:creationId xmlns:a16="http://schemas.microsoft.com/office/drawing/2014/main" id="{FC8D1316-62B7-44C7-A796-8EE09F5CC5ED}"/>
              </a:ext>
            </a:extLst>
          </p:cNvPr>
          <p:cNvSpPr txBox="1"/>
          <p:nvPr/>
        </p:nvSpPr>
        <p:spPr>
          <a:xfrm>
            <a:off x="825529" y="3539660"/>
            <a:ext cx="10848304" cy="156965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This section provides a detailed overview of external test capabilities in Trade Test and Trader Dress Rehearsal, including specific behaviour to expect when testing in the External Test environments (TT and TDR). As TT and TDR are test environments, emulators have been developed to enable users to simulate certain scenarios that would occur in live, such as controls, quota allocation and immediate payment. </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As per CDS live, TT and TDR are able to support processing of all declaration types for Imports and Exports using all procedure codes and additional procedures outlined in the UK Trade Tariff for CDS: Volume 3. However, due to the incremental delivery and migration approach adopted by the CDS programme, some aspects of this guidance have not yet been fully implemented. </a:t>
            </a:r>
            <a:endParaRPr lang="en-GB" sz="3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dirty="0">
              <a:solidFill>
                <a:srgbClr val="000000"/>
              </a:solidFill>
              <a:uFillTx/>
              <a:latin typeface="Calibri"/>
            </a:endParaRPr>
          </a:p>
        </p:txBody>
      </p:sp>
      <p:sp>
        <p:nvSpPr>
          <p:cNvPr id="5" name="Rectangle 32">
            <a:extLst>
              <a:ext uri="{FF2B5EF4-FFF2-40B4-BE49-F238E27FC236}">
                <a16:creationId xmlns:a16="http://schemas.microsoft.com/office/drawing/2014/main" id="{AE432473-8A25-4BCA-BDFB-9515B5CD9F31}"/>
              </a:ext>
            </a:extLst>
          </p:cNvPr>
          <p:cNvSpPr/>
          <p:nvPr/>
        </p:nvSpPr>
        <p:spPr>
          <a:xfrm>
            <a:off x="901250" y="2715319"/>
            <a:ext cx="7921200"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1200" cap="none" spc="0" baseline="0">
                <a:solidFill>
                  <a:srgbClr val="FFFFFF"/>
                </a:solidFill>
                <a:uFillTx/>
                <a:latin typeface="Calibri"/>
              </a:rPr>
              <a:t>External Test Functional Capabilities</a:t>
            </a:r>
          </a:p>
        </p:txBody>
      </p:sp>
      <p:sp>
        <p:nvSpPr>
          <p:cNvPr id="6" name="Oval 5">
            <a:hlinkClick r:id="rId3" action="ppaction://hlinksldjump"/>
            <a:extLst>
              <a:ext uri="{FF2B5EF4-FFF2-40B4-BE49-F238E27FC236}">
                <a16:creationId xmlns:a16="http://schemas.microsoft.com/office/drawing/2014/main" id="{1617A734-A701-4965-A5AD-24DD08682B7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6">
            <a:hlinkClick r:id="rId3" action="ppaction://hlinksldjump"/>
            <a:extLst>
              <a:ext uri="{FF2B5EF4-FFF2-40B4-BE49-F238E27FC236}">
                <a16:creationId xmlns:a16="http://schemas.microsoft.com/office/drawing/2014/main" id="{8B7B7D01-8149-4009-A13C-4E8639295BB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7">
            <a:hlinkClick r:id="rId4" action="ppaction://hlinksldjump"/>
            <a:extLst>
              <a:ext uri="{FF2B5EF4-FFF2-40B4-BE49-F238E27FC236}">
                <a16:creationId xmlns:a16="http://schemas.microsoft.com/office/drawing/2014/main" id="{71B45349-7D49-4BE4-9C5A-361A4214E2DB}"/>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8">
            <a:hlinkClick r:id="rId5" action="ppaction://hlinksldjump"/>
            <a:extLst>
              <a:ext uri="{FF2B5EF4-FFF2-40B4-BE49-F238E27FC236}">
                <a16:creationId xmlns:a16="http://schemas.microsoft.com/office/drawing/2014/main" id="{5F655EEF-7D41-4F21-8244-B0D589EEC1D8}"/>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9">
            <a:hlinkClick r:id="rId3" action="ppaction://hlinksldjump"/>
            <a:extLst>
              <a:ext uri="{FF2B5EF4-FFF2-40B4-BE49-F238E27FC236}">
                <a16:creationId xmlns:a16="http://schemas.microsoft.com/office/drawing/2014/main" id="{D560597F-C8F7-44D6-A548-2071A7CD8A2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1" name="TextBox 10">
            <a:hlinkClick r:id="rId3" action="ppaction://hlinksldjump"/>
            <a:extLst>
              <a:ext uri="{FF2B5EF4-FFF2-40B4-BE49-F238E27FC236}">
                <a16:creationId xmlns:a16="http://schemas.microsoft.com/office/drawing/2014/main" id="{1C94AC95-EEFE-49F0-B10E-8E59BE7E9FA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2" name="TextBox 11">
            <a:hlinkClick r:id="rId4" action="ppaction://hlinksldjump"/>
            <a:extLst>
              <a:ext uri="{FF2B5EF4-FFF2-40B4-BE49-F238E27FC236}">
                <a16:creationId xmlns:a16="http://schemas.microsoft.com/office/drawing/2014/main" id="{5C49A66B-6047-4B8E-93EC-BDA3DAFADA77}"/>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3" name="TextBox 12">
            <a:hlinkClick r:id="rId4" action="ppaction://hlinksldjump"/>
            <a:extLst>
              <a:ext uri="{FF2B5EF4-FFF2-40B4-BE49-F238E27FC236}">
                <a16:creationId xmlns:a16="http://schemas.microsoft.com/office/drawing/2014/main" id="{4B103D22-A568-4BF5-A565-8E8D26432EB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4" name="Oval 13">
            <a:extLst>
              <a:ext uri="{FF2B5EF4-FFF2-40B4-BE49-F238E27FC236}">
                <a16:creationId xmlns:a16="http://schemas.microsoft.com/office/drawing/2014/main" id="{A199D484-25FB-4175-BAD7-04B75CC6951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14">
            <a:hlinkClick r:id="rId6" action="ppaction://hlinksldjump"/>
            <a:extLst>
              <a:ext uri="{FF2B5EF4-FFF2-40B4-BE49-F238E27FC236}">
                <a16:creationId xmlns:a16="http://schemas.microsoft.com/office/drawing/2014/main" id="{F29E9510-C0CF-4A5A-9137-72736391E3A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6" name="Picture 40">
            <a:hlinkClick r:id="rId3" action="ppaction://hlinksldjump"/>
            <a:extLst>
              <a:ext uri="{FF2B5EF4-FFF2-40B4-BE49-F238E27FC236}">
                <a16:creationId xmlns:a16="http://schemas.microsoft.com/office/drawing/2014/main" id="{022C5066-4979-4811-87C9-EA703DAEE197}"/>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7" name="Oval 17">
            <a:hlinkClick r:id="rId3" action="ppaction://hlinksldjump"/>
            <a:extLst>
              <a:ext uri="{FF2B5EF4-FFF2-40B4-BE49-F238E27FC236}">
                <a16:creationId xmlns:a16="http://schemas.microsoft.com/office/drawing/2014/main" id="{7D062AB5-824F-436B-BD9F-DC05F12A700F}"/>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838840307">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F14CFD6E-5301-4768-ADB5-A59745D3560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BD68EE1-B74F-415D-B86B-D208D452491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7920433-779A-4A5C-BE82-F8021843022D}"/>
              </a:ext>
            </a:extLst>
          </p:cNvPr>
          <p:cNvSpPr txBox="1"/>
          <p:nvPr/>
        </p:nvSpPr>
        <p:spPr>
          <a:xfrm>
            <a:off x="363967" y="248844"/>
            <a:ext cx="257820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a:t>
            </a:r>
          </a:p>
        </p:txBody>
      </p:sp>
      <p:sp>
        <p:nvSpPr>
          <p:cNvPr id="5" name="Rectangle 13">
            <a:extLst>
              <a:ext uri="{FF2B5EF4-FFF2-40B4-BE49-F238E27FC236}">
                <a16:creationId xmlns:a16="http://schemas.microsoft.com/office/drawing/2014/main" id="{41AC4A68-034A-4AC2-B1CB-05ABCD495297}"/>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FDB43D02-A88C-4A86-BD1A-971CFB77B557}"/>
              </a:ext>
            </a:extLst>
          </p:cNvPr>
          <p:cNvSpPr/>
          <p:nvPr/>
        </p:nvSpPr>
        <p:spPr>
          <a:xfrm>
            <a:off x="354997" y="758412"/>
            <a:ext cx="6969703"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0" cap="none" spc="0" baseline="0">
                <a:solidFill>
                  <a:srgbClr val="000000"/>
                </a:solidFill>
                <a:uFillTx/>
                <a:latin typeface="Calibri"/>
              </a:rPr>
              <a:t>TT/TDR Functional Scope Summary</a:t>
            </a:r>
          </a:p>
        </p:txBody>
      </p:sp>
      <p:sp>
        <p:nvSpPr>
          <p:cNvPr id="8" name="Slide Number Placeholder 5">
            <a:extLst>
              <a:ext uri="{FF2B5EF4-FFF2-40B4-BE49-F238E27FC236}">
                <a16:creationId xmlns:a16="http://schemas.microsoft.com/office/drawing/2014/main" id="{E5FCC94A-8161-481D-A874-FD651A831DDC}"/>
              </a:ext>
            </a:extLst>
          </p:cNvPr>
          <p:cNvSpPr txBox="1"/>
          <p:nvPr/>
        </p:nvSpPr>
        <p:spPr>
          <a:xfrm>
            <a:off x="1164319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44EC2DA-7A3C-41ED-AF52-8DAA093D9D55}" type="slidenum">
              <a:rPr sz="1200"/>
              <a:t>10</a:t>
            </a:fld>
            <a:endParaRPr lang="en-GB" sz="1200" b="0" i="0" u="none" strike="noStrike" kern="1200" cap="none" spc="0" baseline="0" dirty="0">
              <a:solidFill>
                <a:srgbClr val="000000"/>
              </a:solidFill>
              <a:uFillTx/>
              <a:latin typeface="Calibri"/>
            </a:endParaRPr>
          </a:p>
        </p:txBody>
      </p:sp>
      <p:sp>
        <p:nvSpPr>
          <p:cNvPr id="9" name="TextBox 28">
            <a:extLst>
              <a:ext uri="{FF2B5EF4-FFF2-40B4-BE49-F238E27FC236}">
                <a16:creationId xmlns:a16="http://schemas.microsoft.com/office/drawing/2014/main" id="{495A2EFE-A7F0-484D-96DF-C54B924E2803}"/>
              </a:ext>
            </a:extLst>
          </p:cNvPr>
          <p:cNvSpPr txBox="1"/>
          <p:nvPr/>
        </p:nvSpPr>
        <p:spPr>
          <a:xfrm>
            <a:off x="325937" y="1173412"/>
            <a:ext cx="11551158" cy="3262432"/>
          </a:xfrm>
          <a:prstGeom prst="rect">
            <a:avLst/>
          </a:prstGeom>
          <a:noFill/>
          <a:ln cap="flat">
            <a:noFill/>
          </a:ln>
        </p:spPr>
        <p:txBody>
          <a:bodyPr vert="horz" wrap="square" lIns="91440" tIns="45720" rIns="91440" bIns="45720" anchor="t" anchorCtr="0" compatLnSpc="1">
            <a:spAutoFit/>
          </a:bodyPr>
          <a:lstStyle/>
          <a:p>
            <a:pPr marL="0" marR="0" lvl="0" indent="0" algn="just"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The CDS Programme is implementing a more iterative Trade Test and Trader Dress Rehearsal release process where smaller batches of functionality are dropped into TT and TDR when they are ready.  Functional areas across Imports and Exports have been prioritised for TT and TDR based on the high-level delivery and migration strategy of the CDS Programme, which is delivering Imports Supplementary declarations, followed by Imports Frontier declarations and Exports. </a:t>
            </a:r>
          </a:p>
          <a:p>
            <a:pPr marL="0" marR="0" lvl="0" indent="0" algn="just"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In terms of Imports supplementary declarations (Type Y and Z), CDS TT and TDR support a range of Relief and Suspensions scenarios and procedure codes. This includes the submission of an aggregated supplementary declaration for multiple removals where the Header and Item level data on the declaration are the same. CDS TT and TDR further supports both inventory linked and non-inventory linked Imports frontier and pre-lodged declaration types A, B, C, D, E, and F, including the ability to arrive or cancel a pre-lodged declaration. It also supports Type J and K Customs Clearance Request declarations.  Complex functional Imports scenarios that are not dependent on declaration type are also in scope, such as those involving currency conversion, value build-up, cancellations, the use of locally held Department for International Trade (DIT) and Rural Payments Agency (RPA) licenses that do not require any controls, and authorisation validation. </a:t>
            </a:r>
          </a:p>
          <a:p>
            <a:pPr marL="0" marR="0" lvl="0" indent="0" algn="just"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Finally, Exports procedure codes for supplementary declarations, frontier movements, authorisation validation, and DIT licensing are also in scope. </a:t>
            </a:r>
            <a:endParaRPr lang="en-GB" sz="1200" b="0" i="0" u="none" strike="noStrike" kern="1200" cap="none" spc="0" baseline="0">
              <a:solidFill>
                <a:srgbClr val="000000"/>
              </a:solidFill>
              <a:uFillTx/>
              <a:latin typeface="Calibri"/>
            </a:endParaRPr>
          </a:p>
        </p:txBody>
      </p:sp>
      <p:sp>
        <p:nvSpPr>
          <p:cNvPr id="10" name="Oval 39">
            <a:hlinkClick r:id="rId2" action="ppaction://hlinksldjump"/>
            <a:extLst>
              <a:ext uri="{FF2B5EF4-FFF2-40B4-BE49-F238E27FC236}">
                <a16:creationId xmlns:a16="http://schemas.microsoft.com/office/drawing/2014/main" id="{698F47EC-2FE8-42CF-95F9-28F1E51B978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0">
            <a:hlinkClick r:id="rId2" action="ppaction://hlinksldjump"/>
            <a:extLst>
              <a:ext uri="{FF2B5EF4-FFF2-40B4-BE49-F238E27FC236}">
                <a16:creationId xmlns:a16="http://schemas.microsoft.com/office/drawing/2014/main" id="{3FAE7343-7886-467A-9152-63253A390C0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1">
            <a:hlinkClick r:id="rId3" action="ppaction://hlinksldjump"/>
            <a:extLst>
              <a:ext uri="{FF2B5EF4-FFF2-40B4-BE49-F238E27FC236}">
                <a16:creationId xmlns:a16="http://schemas.microsoft.com/office/drawing/2014/main" id="{44EC97D4-BA87-4E8C-8588-A1C410CEEC8D}"/>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2">
            <a:hlinkClick r:id="rId4" action="ppaction://hlinksldjump"/>
            <a:extLst>
              <a:ext uri="{FF2B5EF4-FFF2-40B4-BE49-F238E27FC236}">
                <a16:creationId xmlns:a16="http://schemas.microsoft.com/office/drawing/2014/main" id="{3890FD76-D815-464F-B413-503DA030376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3">
            <a:hlinkClick r:id="rId2" action="ppaction://hlinksldjump"/>
            <a:extLst>
              <a:ext uri="{FF2B5EF4-FFF2-40B4-BE49-F238E27FC236}">
                <a16:creationId xmlns:a16="http://schemas.microsoft.com/office/drawing/2014/main" id="{C21E5B68-8CDC-4314-828E-D4AAAF38D74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4">
            <a:hlinkClick r:id="rId2" action="ppaction://hlinksldjump"/>
            <a:extLst>
              <a:ext uri="{FF2B5EF4-FFF2-40B4-BE49-F238E27FC236}">
                <a16:creationId xmlns:a16="http://schemas.microsoft.com/office/drawing/2014/main" id="{03854277-6C50-4494-8765-2131E85CFDC2}"/>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45">
            <a:hlinkClick r:id="rId3" action="ppaction://hlinksldjump"/>
            <a:extLst>
              <a:ext uri="{FF2B5EF4-FFF2-40B4-BE49-F238E27FC236}">
                <a16:creationId xmlns:a16="http://schemas.microsoft.com/office/drawing/2014/main" id="{F9049752-0595-4AD6-BCE6-149EE590DD52}"/>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46">
            <a:hlinkClick r:id="rId3" action="ppaction://hlinksldjump"/>
            <a:extLst>
              <a:ext uri="{FF2B5EF4-FFF2-40B4-BE49-F238E27FC236}">
                <a16:creationId xmlns:a16="http://schemas.microsoft.com/office/drawing/2014/main" id="{CFAC7939-A7AC-4065-8AD0-EA2028D2569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47">
            <a:extLst>
              <a:ext uri="{FF2B5EF4-FFF2-40B4-BE49-F238E27FC236}">
                <a16:creationId xmlns:a16="http://schemas.microsoft.com/office/drawing/2014/main" id="{13804668-C9CF-4C5E-A6C7-5BCFAC033547}"/>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48">
            <a:hlinkClick r:id="rId5" action="ppaction://hlinksldjump"/>
            <a:extLst>
              <a:ext uri="{FF2B5EF4-FFF2-40B4-BE49-F238E27FC236}">
                <a16:creationId xmlns:a16="http://schemas.microsoft.com/office/drawing/2014/main" id="{298EB156-F11B-4D5B-A7F9-AD494C36B64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2" action="ppaction://hlinksldjump"/>
            <a:extLst>
              <a:ext uri="{FF2B5EF4-FFF2-40B4-BE49-F238E27FC236}">
                <a16:creationId xmlns:a16="http://schemas.microsoft.com/office/drawing/2014/main" id="{4853E04C-84A6-434B-B842-825695BEA70B}"/>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62">
            <a:hlinkClick r:id="rId2" action="ppaction://hlinksldjump"/>
            <a:extLst>
              <a:ext uri="{FF2B5EF4-FFF2-40B4-BE49-F238E27FC236}">
                <a16:creationId xmlns:a16="http://schemas.microsoft.com/office/drawing/2014/main" id="{F548A235-2895-48AC-A778-F1A431699E00}"/>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4">
            <a:extLst>
              <a:ext uri="{FF2B5EF4-FFF2-40B4-BE49-F238E27FC236}">
                <a16:creationId xmlns:a16="http://schemas.microsoft.com/office/drawing/2014/main" id="{A9EDDF8C-82C6-41DF-958C-9B528A4CD007}"/>
              </a:ext>
            </a:extLst>
          </p:cNvPr>
          <p:cNvSpPr txBox="1"/>
          <p:nvPr/>
        </p:nvSpPr>
        <p:spPr>
          <a:xfrm>
            <a:off x="363967" y="1120789"/>
            <a:ext cx="11385340" cy="723272"/>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To support readiness for CDS, HMRC’s External Test service has been developed to provide users with a CDS environment against which their software can be tested prior to migration to the CDS Live system. </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CDS External Test offering has two core services: </a:t>
            </a:r>
            <a:r>
              <a:rPr lang="en-GB" sz="1200" b="1" i="0" u="none" strike="noStrike" kern="1200" cap="none" spc="0" baseline="0">
                <a:solidFill>
                  <a:srgbClr val="000000"/>
                </a:solidFill>
                <a:uFillTx/>
                <a:latin typeface="Calibri"/>
              </a:rPr>
              <a:t>Trade Test (TT) </a:t>
            </a:r>
            <a:r>
              <a:rPr lang="en-GB" sz="1200" b="0" i="0" u="none" strike="noStrike" kern="1200" cap="none" spc="0" baseline="0">
                <a:solidFill>
                  <a:srgbClr val="000000"/>
                </a:solidFill>
                <a:uFillTx/>
                <a:latin typeface="Calibri"/>
              </a:rPr>
              <a:t>and </a:t>
            </a:r>
            <a:r>
              <a:rPr lang="en-GB" sz="1200" b="1" i="0" u="none" strike="noStrike" kern="1200" cap="none" spc="0" baseline="0">
                <a:solidFill>
                  <a:srgbClr val="000000"/>
                </a:solidFill>
                <a:uFillTx/>
                <a:latin typeface="Calibri"/>
              </a:rPr>
              <a:t>Trader Dress Rehearsal (TDR)</a:t>
            </a:r>
            <a:r>
              <a:rPr lang="en-GB" sz="1200" b="0" i="0" u="none" strike="noStrike" kern="1200" cap="none" spc="0" baseline="0">
                <a:solidFill>
                  <a:srgbClr val="000000"/>
                </a:solidFill>
                <a:uFillTx/>
                <a:latin typeface="Calibri"/>
              </a:rPr>
              <a:t>, which are outlined below.</a:t>
            </a:r>
          </a:p>
        </p:txBody>
      </p:sp>
      <p:cxnSp>
        <p:nvCxnSpPr>
          <p:cNvPr id="4" name="Straight Connector 11">
            <a:extLst>
              <a:ext uri="{FF2B5EF4-FFF2-40B4-BE49-F238E27FC236}">
                <a16:creationId xmlns:a16="http://schemas.microsoft.com/office/drawing/2014/main" id="{38AFB4D6-3CBE-4828-A8E3-A1F1E08904D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7935DF8D-5015-41B5-AFCE-35E04D58082A}"/>
              </a:ext>
            </a:extLst>
          </p:cNvPr>
          <p:cNvSpPr txBox="1"/>
          <p:nvPr/>
        </p:nvSpPr>
        <p:spPr>
          <a:xfrm>
            <a:off x="363967" y="248844"/>
            <a:ext cx="252209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a:t>
            </a:r>
          </a:p>
        </p:txBody>
      </p:sp>
      <p:sp>
        <p:nvSpPr>
          <p:cNvPr id="6" name="Rectangle 4">
            <a:extLst>
              <a:ext uri="{FF2B5EF4-FFF2-40B4-BE49-F238E27FC236}">
                <a16:creationId xmlns:a16="http://schemas.microsoft.com/office/drawing/2014/main" id="{7A74AC9C-5588-4354-ABD1-712893DACF2E}"/>
              </a:ext>
            </a:extLst>
          </p:cNvPr>
          <p:cNvSpPr/>
          <p:nvPr/>
        </p:nvSpPr>
        <p:spPr>
          <a:xfrm>
            <a:off x="363967" y="671827"/>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Service Overview</a:t>
            </a:r>
          </a:p>
        </p:txBody>
      </p:sp>
      <p:graphicFrame>
        <p:nvGraphicFramePr>
          <p:cNvPr id="7" name="Table 5">
            <a:extLst>
              <a:ext uri="{FF2B5EF4-FFF2-40B4-BE49-F238E27FC236}">
                <a16:creationId xmlns:a16="http://schemas.microsoft.com/office/drawing/2014/main" id="{16E22A3A-0A97-450F-818E-15ACE4B48190}"/>
              </a:ext>
            </a:extLst>
          </p:cNvPr>
          <p:cNvGraphicFramePr>
            <a:graphicFrameLocks noGrp="1"/>
          </p:cNvGraphicFramePr>
          <p:nvPr/>
        </p:nvGraphicFramePr>
        <p:xfrm>
          <a:off x="442487" y="1882740"/>
          <a:ext cx="6806866" cy="4000500"/>
        </p:xfrm>
        <a:graphic>
          <a:graphicData uri="http://schemas.openxmlformats.org/drawingml/2006/table">
            <a:tbl>
              <a:tblPr firstRow="1" bandRow="1">
                <a:effectLst/>
                <a:tableStyleId>{F5AB1C69-6EDB-4FF4-983F-18BD219EF322}</a:tableStyleId>
              </a:tblPr>
              <a:tblGrid>
                <a:gridCol w="551426">
                  <a:extLst>
                    <a:ext uri="{9D8B030D-6E8A-4147-A177-3AD203B41FA5}">
                      <a16:colId xmlns:a16="http://schemas.microsoft.com/office/drawing/2014/main" val="3824822892"/>
                    </a:ext>
                  </a:extLst>
                </a:gridCol>
                <a:gridCol w="2619868">
                  <a:extLst>
                    <a:ext uri="{9D8B030D-6E8A-4147-A177-3AD203B41FA5}">
                      <a16:colId xmlns:a16="http://schemas.microsoft.com/office/drawing/2014/main" val="3691368873"/>
                    </a:ext>
                  </a:extLst>
                </a:gridCol>
                <a:gridCol w="3635572">
                  <a:extLst>
                    <a:ext uri="{9D8B030D-6E8A-4147-A177-3AD203B41FA5}">
                      <a16:colId xmlns:a16="http://schemas.microsoft.com/office/drawing/2014/main" val="2128899052"/>
                    </a:ext>
                  </a:extLst>
                </a:gridCol>
              </a:tblGrid>
              <a:tr h="0">
                <a:tc>
                  <a:txBody>
                    <a:bodyPr/>
                    <a:lstStyle/>
                    <a:p>
                      <a:pPr lvl="0"/>
                      <a:endParaRPr lang="en-GB" sz="1100"/>
                    </a:p>
                  </a:txBody>
                  <a:tcPr>
                    <a:lnL w="12701"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tcPr>
                </a:tc>
                <a:tc>
                  <a:txBody>
                    <a:bodyPr/>
                    <a:lstStyle/>
                    <a:p>
                      <a:pPr lvl="0" algn="ctr"/>
                      <a:r>
                        <a:rPr lang="en-GB" sz="1200"/>
                        <a:t>Trade Test</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4472C4"/>
                    </a:solidFill>
                  </a:tcPr>
                </a:tc>
                <a:tc>
                  <a:txBody>
                    <a:bodyPr/>
                    <a:lstStyle/>
                    <a:p>
                      <a:pPr lvl="0" algn="ctr"/>
                      <a:r>
                        <a:rPr lang="en-GB" sz="1200"/>
                        <a:t>Trader Dress Rehearsal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FC000"/>
                    </a:solidFill>
                  </a:tcPr>
                </a:tc>
                <a:extLst>
                  <a:ext uri="{0D108BD9-81ED-4DB2-BD59-A6C34878D82A}">
                    <a16:rowId xmlns:a16="http://schemas.microsoft.com/office/drawing/2014/main" val="1065057735"/>
                  </a:ext>
                </a:extLst>
              </a:tr>
              <a:tr h="388080">
                <a:tc>
                  <a:txBody>
                    <a:bodyPr/>
                    <a:lstStyle/>
                    <a:p>
                      <a:pPr lvl="0" algn="ctr"/>
                      <a:r>
                        <a:rPr lang="en-GB" sz="1050" b="1"/>
                        <a:t>Audience &amp;</a:t>
                      </a:r>
                      <a:r>
                        <a:rPr lang="en-GB" sz="1050" b="1" baseline="0"/>
                        <a:t> Availability</a:t>
                      </a:r>
                      <a:endParaRPr lang="en-GB" sz="1050" b="1">
                        <a:latin typeface="Calibri"/>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tc>
                  <a:txBody>
                    <a:bodyPr/>
                    <a:lstStyle/>
                    <a:p>
                      <a:pPr marL="172803" lvl="0" indent="-172803" algn="l">
                        <a:spcBef>
                          <a:spcPts val="0"/>
                        </a:spcBef>
                        <a:spcAft>
                          <a:spcPts val="0"/>
                        </a:spcAft>
                        <a:buClr>
                          <a:srgbClr val="00B050"/>
                        </a:buClr>
                        <a:buSzPct val="100000"/>
                        <a:buFont typeface="Wingdings" pitchFamily="2"/>
                        <a:buChar char="ü"/>
                      </a:pPr>
                      <a:r>
                        <a:rPr lang="en-GB" sz="1050"/>
                        <a:t>SWHs, CSPs, FPOs/Eos and Traders with in-house capabilities</a:t>
                      </a:r>
                    </a:p>
                    <a:p>
                      <a:pPr marL="172803" lvl="0" indent="-172803" algn="l">
                        <a:spcBef>
                          <a:spcPts val="0"/>
                        </a:spcBef>
                        <a:spcAft>
                          <a:spcPts val="0"/>
                        </a:spcAft>
                        <a:buClr>
                          <a:srgbClr val="00B050"/>
                        </a:buClr>
                        <a:buSzPct val="100000"/>
                        <a:buFont typeface="Wingdings" pitchFamily="2"/>
                        <a:buChar char="ü"/>
                      </a:pPr>
                      <a:r>
                        <a:rPr lang="en-GB" sz="1050"/>
                        <a:t>Available 24/7 to HMRC allow listing users and supported via SDST 9am – 5pm Monday to Friday, excluding UK bank holidays</a:t>
                      </a:r>
                      <a:endParaRPr lang="en-GB" sz="1050">
                        <a:latin typeface="Calibri"/>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tc>
                  <a:txBody>
                    <a:bodyPr/>
                    <a:lstStyle/>
                    <a:p>
                      <a:pPr marL="171450" lvl="0" indent="-171450" algn="l">
                        <a:spcBef>
                          <a:spcPts val="0"/>
                        </a:spcBef>
                        <a:spcAft>
                          <a:spcPts val="0"/>
                        </a:spcAft>
                        <a:buClr>
                          <a:srgbClr val="00B050"/>
                        </a:buClr>
                        <a:buSzPct val="100000"/>
                        <a:buFont typeface="Wingdings" pitchFamily="2"/>
                        <a:buChar char="ü"/>
                      </a:pPr>
                      <a:r>
                        <a:rPr lang="en-GB" sz="1050"/>
                        <a:t>Open to all legitimate declarants intending to migrate / onboard to CDS</a:t>
                      </a:r>
                    </a:p>
                    <a:p>
                      <a:pPr marL="171450" lvl="0" indent="-171450" algn="l">
                        <a:spcBef>
                          <a:spcPts val="0"/>
                        </a:spcBef>
                        <a:spcAft>
                          <a:spcPts val="0"/>
                        </a:spcAft>
                        <a:buClr>
                          <a:srgbClr val="00B050"/>
                        </a:buClr>
                        <a:buSzPct val="100000"/>
                        <a:buFont typeface="Wingdings" pitchFamily="2"/>
                        <a:buChar char="ü"/>
                      </a:pPr>
                      <a:r>
                        <a:rPr lang="en-GB" sz="1050"/>
                        <a:t>Available 24/7 to all subscribed declarants supported via TDR Support 9am – 5pm Monday to Friday, excluding UK bank holidays</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793694324"/>
                  </a:ext>
                </a:extLst>
              </a:tr>
              <a:tr h="607006">
                <a:tc>
                  <a:txBody>
                    <a:bodyPr/>
                    <a:lstStyle/>
                    <a:p>
                      <a:pPr lvl="0" algn="ctr"/>
                      <a:r>
                        <a:rPr lang="en-GB" sz="1100" b="1">
                          <a:latin typeface="Calibri"/>
                        </a:rPr>
                        <a:t>Access</a:t>
                      </a: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a:t>Open and continual access to the service will be available to validated developers that have been whitelisted to the Trade Test APIs.</a:t>
                      </a:r>
                      <a:endParaRPr lang="en-GB" sz="1050">
                        <a:latin typeface="Calibri"/>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TDR access has now moved to open and continual access for declarants including post migration / onboarding to CDS</a:t>
                      </a:r>
                    </a:p>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Developers should complete integration testing for all core customer processes in Trade Test before proceeding to TDR or migration to CDS.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444494222"/>
                  </a:ext>
                </a:extLst>
              </a:tr>
              <a:tr h="388080">
                <a:tc>
                  <a:txBody>
                    <a:bodyPr/>
                    <a:lstStyle/>
                    <a:p>
                      <a:pPr lvl="0" algn="ctr"/>
                      <a:r>
                        <a:rPr lang="en-GB" sz="1050" b="1"/>
                        <a:t>Scope</a:t>
                      </a:r>
                      <a:endParaRPr lang="en-GB" sz="1050" b="1">
                        <a:latin typeface="Calibri"/>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tc>
                  <a:txBody>
                    <a:bodyPr/>
                    <a:lstStyle/>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Simulated controls, quota, immediate payments services</a:t>
                      </a:r>
                    </a:p>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Exports inventory linking, including dual running arrivals via CHIEF (HMUT)</a:t>
                      </a:r>
                    </a:p>
                    <a:p>
                      <a:pPr marL="171450" marR="0" lvl="0" indent="-171450" algn="l" defTabSz="914400" rtl="0" fontAlgn="auto" hangingPunct="1">
                        <a:lnSpc>
                          <a:spcPct val="100000"/>
                        </a:lnSpc>
                        <a:spcBef>
                          <a:spcPts val="0"/>
                        </a:spcBef>
                        <a:spcAft>
                          <a:spcPts val="0"/>
                        </a:spcAft>
                        <a:buClr>
                          <a:srgbClr val="FF0000"/>
                        </a:buClr>
                        <a:buSzPct val="100000"/>
                        <a:buFont typeface="Calibri" pitchFamily="34"/>
                        <a:buChar char="×"/>
                        <a:tabLst/>
                      </a:pPr>
                      <a:r>
                        <a:rPr lang="en-GB" sz="1050" dirty="0">
                          <a:solidFill>
                            <a:srgbClr val="000000"/>
                          </a:solidFill>
                        </a:rPr>
                        <a:t>Arrival and departure via GVMS not enabled in this environment</a:t>
                      </a:r>
                      <a:r>
                        <a:rPr lang="en-GB" sz="1050" baseline="0" dirty="0">
                          <a:solidFill>
                            <a:srgbClr val="000000"/>
                          </a:solidFill>
                        </a:rPr>
                        <a:t> </a:t>
                      </a:r>
                      <a:endParaRPr lang="en-GB" sz="1050" dirty="0">
                        <a:solidFill>
                          <a:srgbClr val="000000"/>
                        </a:solidFill>
                        <a:latin typeface="Calibri"/>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tc>
                  <a:txBody>
                    <a:bodyPr/>
                    <a:lstStyle/>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Simulated controls, quota, immediate payments services</a:t>
                      </a:r>
                    </a:p>
                    <a:p>
                      <a:pPr marL="171450" marR="0" lvl="0" indent="-171450" algn="l" defTabSz="914400" rtl="0" fontAlgn="auto" hangingPunct="1">
                        <a:lnSpc>
                          <a:spcPct val="100000"/>
                        </a:lnSpc>
                        <a:spcBef>
                          <a:spcPts val="0"/>
                        </a:spcBef>
                        <a:spcAft>
                          <a:spcPts val="0"/>
                        </a:spcAft>
                        <a:buClr>
                          <a:srgbClr val="00B050"/>
                        </a:buClr>
                        <a:buSzPct val="100000"/>
                        <a:buFont typeface="Wingdings" pitchFamily="2"/>
                        <a:buChar char="ü"/>
                        <a:tabLst/>
                      </a:pPr>
                      <a:r>
                        <a:rPr lang="en-GB" sz="1050" dirty="0"/>
                        <a:t>Testing Exit of Goods Scenarios*</a:t>
                      </a:r>
                    </a:p>
                    <a:p>
                      <a:pPr marL="171450" marR="0" lvl="0" indent="-171450" algn="l" defTabSz="914400" rtl="0" fontAlgn="auto" hangingPunct="1">
                        <a:lnSpc>
                          <a:spcPct val="100000"/>
                        </a:lnSpc>
                        <a:spcBef>
                          <a:spcPts val="0"/>
                        </a:spcBef>
                        <a:spcAft>
                          <a:spcPts val="0"/>
                        </a:spcAft>
                        <a:buClr>
                          <a:srgbClr val="FF0000"/>
                        </a:buClr>
                        <a:buSzPct val="100000"/>
                        <a:buFont typeface="Calibri" pitchFamily="34"/>
                        <a:buChar char="×"/>
                        <a:tabLst/>
                      </a:pPr>
                      <a:r>
                        <a:rPr lang="en-GB" sz="1050" dirty="0">
                          <a:solidFill>
                            <a:srgbClr val="000000"/>
                          </a:solidFill>
                        </a:rPr>
                        <a:t>Arrival and departure via GVMS not enabled in this environment</a:t>
                      </a:r>
                      <a:r>
                        <a:rPr lang="en-GB" sz="1050" baseline="0" dirty="0">
                          <a:solidFill>
                            <a:srgbClr val="000000"/>
                          </a:solidFill>
                        </a:rPr>
                        <a:t> </a:t>
                      </a:r>
                    </a:p>
                    <a:p>
                      <a:pPr marL="171450" marR="0" lvl="0" indent="-171450" algn="l" defTabSz="914400" rtl="0" fontAlgn="auto" hangingPunct="1">
                        <a:lnSpc>
                          <a:spcPct val="100000"/>
                        </a:lnSpc>
                        <a:spcBef>
                          <a:spcPts val="0"/>
                        </a:spcBef>
                        <a:spcAft>
                          <a:spcPts val="0"/>
                        </a:spcAft>
                        <a:buClr>
                          <a:srgbClr val="FF0000"/>
                        </a:buClr>
                        <a:buSzPct val="100000"/>
                        <a:buFont typeface="Calibri" pitchFamily="34"/>
                        <a:buChar char="×"/>
                        <a:tabLst/>
                      </a:pPr>
                      <a:r>
                        <a:rPr lang="en-GB" sz="1050" dirty="0">
                          <a:solidFill>
                            <a:srgbClr val="000000"/>
                          </a:solidFill>
                          <a:latin typeface="Calibri"/>
                        </a:rPr>
                        <a:t>Exports inventory linking, including dual running arrivals via CHIEF (HMUT) is not available in this environment</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2493336598"/>
                  </a:ext>
                </a:extLst>
              </a:tr>
              <a:tr h="388080">
                <a:tc>
                  <a:txBody>
                    <a:bodyPr/>
                    <a:lstStyle/>
                    <a:p>
                      <a:pPr lvl="0" algn="ctr"/>
                      <a:r>
                        <a:rPr lang="en-GB" sz="1050" b="1"/>
                        <a:t>Data</a:t>
                      </a:r>
                      <a:endParaRPr lang="en-GB" sz="1050" b="1">
                        <a:latin typeface="Calibri"/>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Clr>
                          <a:srgbClr val="FF0000"/>
                        </a:buClr>
                        <a:buSzPct val="100000"/>
                        <a:buFont typeface="Calibri" pitchFamily="34"/>
                        <a:buChar char="ꭗ"/>
                        <a:tabLst/>
                      </a:pPr>
                      <a:r>
                        <a:rPr lang="en-GB" sz="1050"/>
                        <a:t>No live party or deferment account data should be used in Trade Test.</a:t>
                      </a:r>
                    </a:p>
                    <a:p>
                      <a:pPr lvl="0" algn="l">
                        <a:spcBef>
                          <a:spcPts val="0"/>
                        </a:spcBef>
                        <a:spcAft>
                          <a:spcPts val="0"/>
                        </a:spcAft>
                      </a:pPr>
                      <a:endParaRPr lang="en-GB" sz="1050">
                        <a:latin typeface="Calibri"/>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tc>
                  <a:txBody>
                    <a:bodyPr/>
                    <a:lstStyle/>
                    <a:p>
                      <a:pPr marL="171450" lvl="0" indent="-171450" algn="l">
                        <a:spcBef>
                          <a:spcPts val="0"/>
                        </a:spcBef>
                        <a:spcAft>
                          <a:spcPts val="0"/>
                        </a:spcAft>
                        <a:buClr>
                          <a:srgbClr val="00B050"/>
                        </a:buClr>
                        <a:buSzPct val="100000"/>
                        <a:buFont typeface="Wingdings" pitchFamily="2"/>
                        <a:buChar char="ü"/>
                      </a:pPr>
                      <a:r>
                        <a:rPr lang="en-GB" sz="1050" dirty="0"/>
                        <a:t>Real party and deferment account data will be used to allow declarants to “dress rehearse” using their own information. Data will be handled using the same access security controls as Production to ensure confidentiality of data</a:t>
                      </a:r>
                      <a:endParaRPr lang="en-GB" sz="1050" dirty="0">
                        <a:latin typeface="Calibri"/>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4018833008"/>
                  </a:ext>
                </a:extLst>
              </a:tr>
            </a:tbl>
          </a:graphicData>
        </a:graphic>
      </p:graphicFrame>
      <p:sp>
        <p:nvSpPr>
          <p:cNvPr id="8" name="Rectangle 19">
            <a:extLst>
              <a:ext uri="{FF2B5EF4-FFF2-40B4-BE49-F238E27FC236}">
                <a16:creationId xmlns:a16="http://schemas.microsoft.com/office/drawing/2014/main" id="{BB8C33FA-BAF8-48D7-B239-7EE3E5B25699}"/>
              </a:ext>
            </a:extLst>
          </p:cNvPr>
          <p:cNvSpPr/>
          <p:nvPr/>
        </p:nvSpPr>
        <p:spPr>
          <a:xfrm>
            <a:off x="7351263" y="1889095"/>
            <a:ext cx="4651132" cy="4480560"/>
          </a:xfrm>
          <a:prstGeom prst="rect">
            <a:avLst/>
          </a:prstGeom>
          <a:solidFill>
            <a:srgbClr val="F2F2F2"/>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Rectangle 20">
            <a:extLst>
              <a:ext uri="{FF2B5EF4-FFF2-40B4-BE49-F238E27FC236}">
                <a16:creationId xmlns:a16="http://schemas.microsoft.com/office/drawing/2014/main" id="{D169423A-377A-4420-8BF9-CAE86DC7081B}"/>
              </a:ext>
            </a:extLst>
          </p:cNvPr>
          <p:cNvSpPr/>
          <p:nvPr/>
        </p:nvSpPr>
        <p:spPr>
          <a:xfrm>
            <a:off x="7435845" y="1906203"/>
            <a:ext cx="4434904" cy="438581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Full Business Volume Testing</a:t>
            </a: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Full performance and throughput analysis should not be conducted in either Trade Test or Trader Dress Rehearsal (e.g. to break point). </a:t>
            </a:r>
            <a:r>
              <a:rPr lang="en-GB" sz="1100" b="1" i="0" u="none" strike="noStrike" kern="1200" cap="none" spc="0" baseline="0">
                <a:solidFill>
                  <a:srgbClr val="000000"/>
                </a:solidFill>
                <a:uFillTx/>
                <a:latin typeface="Calibri"/>
              </a:rPr>
              <a:t>These environments are not performance testing facilities </a:t>
            </a:r>
            <a:r>
              <a:rPr lang="en-GB" sz="1100" b="0" i="0" u="none" strike="noStrike" kern="1200" cap="none" spc="0" baseline="0">
                <a:solidFill>
                  <a:srgbClr val="000000"/>
                </a:solidFill>
                <a:uFillTx/>
                <a:latin typeface="Calibri"/>
              </a:rPr>
              <a:t>and have not been configured to the same standard as a Production environment. Users of External Test are strongly advised against conducting performance testing as this may impact the stability of the environment for all users. </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Optimisation</a:t>
            </a: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The speed at which the External Test environments process declarations is currently being controlled in line with the </a:t>
            </a:r>
            <a:r>
              <a:rPr lang="en-GB" sz="1100" b="1" i="0" u="none" strike="noStrike" kern="1200" cap="none" spc="0" baseline="0">
                <a:solidFill>
                  <a:srgbClr val="000000"/>
                </a:solidFill>
                <a:uFillTx/>
                <a:latin typeface="Calibri"/>
              </a:rPr>
              <a:t>CDS declaration optimisation strategy.  </a:t>
            </a:r>
            <a:r>
              <a:rPr lang="en-GB" sz="1100" b="0" i="0" u="none" strike="noStrike" kern="1200" cap="none" spc="0" baseline="0">
                <a:solidFill>
                  <a:srgbClr val="000000"/>
                </a:solidFill>
                <a:uFillTx/>
                <a:latin typeface="Calibri"/>
              </a:rPr>
              <a:t>During peak usage, please be aware that delays may be experienced between the receipt of the initial 202 from Digital and the receipt of the first CDS notification (e.g. DMSACC). </a:t>
            </a:r>
            <a:r>
              <a:rPr lang="en-GB" sz="1100" b="1" i="0" u="none" strike="noStrike" kern="1200" cap="none" spc="0" baseline="0">
                <a:solidFill>
                  <a:srgbClr val="000000"/>
                </a:solidFill>
                <a:uFillTx/>
                <a:latin typeface="Calibri"/>
              </a:rPr>
              <a:t>This is expected system behaviour and an incident should not be raised.</a:t>
            </a: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API Rate Limiting</a:t>
            </a:r>
            <a:endParaRPr lang="en-GB" sz="7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API rate limiting remains in place (the </a:t>
            </a:r>
            <a:r>
              <a:rPr lang="en-GB" sz="1100" b="1" i="0" u="none" strike="noStrike" kern="1200" cap="none" spc="0" baseline="0">
                <a:solidFill>
                  <a:srgbClr val="000000"/>
                </a:solidFill>
                <a:uFillTx/>
                <a:latin typeface="Calibri"/>
              </a:rPr>
              <a:t>number of API calls made by a single application to the CDS APIs </a:t>
            </a:r>
            <a:r>
              <a:rPr lang="en-GB" sz="1100" b="0" i="0" u="none" strike="noStrike" kern="1200" cap="none" spc="0" baseline="0">
                <a:solidFill>
                  <a:srgbClr val="000000"/>
                </a:solidFill>
                <a:uFillTx/>
                <a:latin typeface="Calibri"/>
              </a:rPr>
              <a:t>within a minute). API rate limiting does not impact the ability to conduct automated testing or submit larger numbers of declarations or arrivals, as long as the speed of submission does not exceed the number of API calls a particular application is allowed to make per minute. To discuss your rate limit or request an increase to 500 requests per minute, please contact SDST.</a:t>
            </a:r>
            <a:endParaRPr lang="en-GB" sz="1200" b="0" i="0" u="none" strike="noStrike" kern="1200" cap="none" spc="0" baseline="0">
              <a:solidFill>
                <a:srgbClr val="000000"/>
              </a:solidFill>
              <a:uFillTx/>
              <a:latin typeface="Calibri"/>
            </a:endParaRPr>
          </a:p>
        </p:txBody>
      </p:sp>
      <p:grpSp>
        <p:nvGrpSpPr>
          <p:cNvPr id="10" name="Group 125">
            <a:extLst>
              <a:ext uri="{FF2B5EF4-FFF2-40B4-BE49-F238E27FC236}">
                <a16:creationId xmlns:a16="http://schemas.microsoft.com/office/drawing/2014/main" id="{C3B18CD7-1906-4FFF-B3DB-EF4BD75DF0EF}"/>
              </a:ext>
            </a:extLst>
          </p:cNvPr>
          <p:cNvGrpSpPr/>
          <p:nvPr/>
        </p:nvGrpSpPr>
        <p:grpSpPr>
          <a:xfrm>
            <a:off x="7468160" y="3482016"/>
            <a:ext cx="140525" cy="276999"/>
            <a:chOff x="7468160" y="3482016"/>
            <a:chExt cx="140525" cy="276999"/>
          </a:xfrm>
        </p:grpSpPr>
        <p:sp>
          <p:nvSpPr>
            <p:cNvPr id="11" name="Isosceles Triangle 126">
              <a:extLst>
                <a:ext uri="{FF2B5EF4-FFF2-40B4-BE49-F238E27FC236}">
                  <a16:creationId xmlns:a16="http://schemas.microsoft.com/office/drawing/2014/main" id="{A5BF017F-A20C-468F-85CD-798847C4352A}"/>
                </a:ext>
              </a:extLst>
            </p:cNvPr>
            <p:cNvSpPr/>
            <p:nvPr/>
          </p:nvSpPr>
          <p:spPr>
            <a:xfrm>
              <a:off x="7487555" y="3537649"/>
              <a:ext cx="121130" cy="135386"/>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 0 0 -90"/>
                <a:gd name="f13" fmla="abs f4"/>
                <a:gd name="f14" fmla="abs f5"/>
                <a:gd name="f15" fmla="abs f6"/>
                <a:gd name="f16" fmla="val f7"/>
                <a:gd name="f17" fmla="val f8"/>
                <a:gd name="f18" fmla="*/ f9 f1 1"/>
                <a:gd name="f19" fmla="*/ f10 f1 1"/>
                <a:gd name="f20" fmla="*/ f11 f1 1"/>
                <a:gd name="f21" fmla="*/ f12 f1 1"/>
                <a:gd name="f22" fmla="?: f13 f4 1"/>
                <a:gd name="f23" fmla="?: f14 f5 1"/>
                <a:gd name="f24" fmla="?: f15 f6 1"/>
                <a:gd name="f25" fmla="*/ f18 1 f3"/>
                <a:gd name="f26" fmla="*/ f19 1 f3"/>
                <a:gd name="f27" fmla="*/ f20 1 f3"/>
                <a:gd name="f28" fmla="*/ f21 1 f3"/>
                <a:gd name="f29" fmla="*/ f22 1 21600"/>
                <a:gd name="f30" fmla="*/ f23 1 21600"/>
                <a:gd name="f31" fmla="*/ 21600 f22 1"/>
                <a:gd name="f32" fmla="*/ 21600 f23 1"/>
                <a:gd name="f33" fmla="+- f25 0 f2"/>
                <a:gd name="f34" fmla="+- f26 0 f2"/>
                <a:gd name="f35" fmla="+- f27 0 f2"/>
                <a:gd name="f36" fmla="+- f28 0 f2"/>
                <a:gd name="f37" fmla="min f30 f29"/>
                <a:gd name="f38" fmla="*/ f31 1 f24"/>
                <a:gd name="f39" fmla="*/ f32 1 f24"/>
                <a:gd name="f40" fmla="val f38"/>
                <a:gd name="f41" fmla="val f39"/>
                <a:gd name="f42" fmla="*/ f16 f37 1"/>
                <a:gd name="f43" fmla="+- f41 0 f16"/>
                <a:gd name="f44" fmla="+- f40 0 f16"/>
                <a:gd name="f45" fmla="*/ f41 f37 1"/>
                <a:gd name="f46" fmla="*/ f40 f37 1"/>
                <a:gd name="f47" fmla="*/ f43 1 2"/>
                <a:gd name="f48" fmla="*/ f44 1 2"/>
                <a:gd name="f49" fmla="*/ f44 f17 1"/>
                <a:gd name="f50" fmla="+- f16 f47 0"/>
                <a:gd name="f51" fmla="*/ f49 1 200000"/>
                <a:gd name="f52" fmla="*/ f49 1 100000"/>
                <a:gd name="f53" fmla="+- f51 f48 0"/>
                <a:gd name="f54" fmla="*/ f51 f37 1"/>
                <a:gd name="f55" fmla="*/ f50 f37 1"/>
                <a:gd name="f56" fmla="*/ f52 f37 1"/>
                <a:gd name="f57" fmla="*/ f53 f37 1"/>
              </a:gdLst>
              <a:ahLst/>
              <a:cxnLst>
                <a:cxn ang="3cd4">
                  <a:pos x="hc" y="t"/>
                </a:cxn>
                <a:cxn ang="0">
                  <a:pos x="r" y="vc"/>
                </a:cxn>
                <a:cxn ang="cd4">
                  <a:pos x="hc" y="b"/>
                </a:cxn>
                <a:cxn ang="cd2">
                  <a:pos x="l" y="vc"/>
                </a:cxn>
                <a:cxn ang="f33">
                  <a:pos x="f56" y="f42"/>
                </a:cxn>
                <a:cxn ang="f34">
                  <a:pos x="f54" y="f55"/>
                </a:cxn>
                <a:cxn ang="f35">
                  <a:pos x="f42" y="f45"/>
                </a:cxn>
                <a:cxn ang="f35">
                  <a:pos x="f56" y="f45"/>
                </a:cxn>
                <a:cxn ang="f35">
                  <a:pos x="f46" y="f45"/>
                </a:cxn>
                <a:cxn ang="f36">
                  <a:pos x="f57" y="f55"/>
                </a:cxn>
              </a:cxnLst>
              <a:rect l="f54" t="f55" r="f57" b="f45"/>
              <a:pathLst>
                <a:path>
                  <a:moveTo>
                    <a:pt x="f42" y="f45"/>
                  </a:moveTo>
                  <a:lnTo>
                    <a:pt x="f56" y="f42"/>
                  </a:lnTo>
                  <a:lnTo>
                    <a:pt x="f46" y="f45"/>
                  </a:lnTo>
                  <a:close/>
                </a:path>
              </a:pathLst>
            </a:custGeom>
            <a:solidFill>
              <a:srgbClr val="ED7D31"/>
            </a:solidFill>
            <a:ln w="38103"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Rectangle 127">
              <a:extLst>
                <a:ext uri="{FF2B5EF4-FFF2-40B4-BE49-F238E27FC236}">
                  <a16:creationId xmlns:a16="http://schemas.microsoft.com/office/drawing/2014/main" id="{CF8978E9-4807-4B54-AE15-C9CD75CD53D1}"/>
                </a:ext>
              </a:extLst>
            </p:cNvPr>
            <p:cNvSpPr/>
            <p:nvPr/>
          </p:nvSpPr>
          <p:spPr>
            <a:xfrm>
              <a:off x="7468160" y="3482016"/>
              <a:ext cx="118369"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ea typeface="Calibri" pitchFamily="34"/>
                  <a:cs typeface="Calibri"/>
                </a:rPr>
                <a:t>!</a:t>
              </a:r>
              <a:endParaRPr lang="en-GB" sz="1200" b="1" i="0" u="none" strike="noStrike" kern="1200" cap="none" spc="0" baseline="0">
                <a:solidFill>
                  <a:srgbClr val="FFFFFF"/>
                </a:solidFill>
                <a:uFillTx/>
                <a:latin typeface="Calibri"/>
              </a:endParaRPr>
            </a:p>
          </p:txBody>
        </p:sp>
      </p:grpSp>
      <p:grpSp>
        <p:nvGrpSpPr>
          <p:cNvPr id="13" name="Group 125">
            <a:extLst>
              <a:ext uri="{FF2B5EF4-FFF2-40B4-BE49-F238E27FC236}">
                <a16:creationId xmlns:a16="http://schemas.microsoft.com/office/drawing/2014/main" id="{1EB9FF66-27A2-4F05-939C-D88FC302BB97}"/>
              </a:ext>
            </a:extLst>
          </p:cNvPr>
          <p:cNvGrpSpPr/>
          <p:nvPr/>
        </p:nvGrpSpPr>
        <p:grpSpPr>
          <a:xfrm>
            <a:off x="7479389" y="5033808"/>
            <a:ext cx="140515" cy="276999"/>
            <a:chOff x="7479389" y="5033808"/>
            <a:chExt cx="140515" cy="276999"/>
          </a:xfrm>
        </p:grpSpPr>
        <p:sp>
          <p:nvSpPr>
            <p:cNvPr id="14" name="Isosceles Triangle 126">
              <a:extLst>
                <a:ext uri="{FF2B5EF4-FFF2-40B4-BE49-F238E27FC236}">
                  <a16:creationId xmlns:a16="http://schemas.microsoft.com/office/drawing/2014/main" id="{4FD6729E-8C0B-47A5-9B1E-F493B4CD8D01}"/>
                </a:ext>
              </a:extLst>
            </p:cNvPr>
            <p:cNvSpPr/>
            <p:nvPr/>
          </p:nvSpPr>
          <p:spPr>
            <a:xfrm>
              <a:off x="7498774" y="5089440"/>
              <a:ext cx="121130" cy="135386"/>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 0 0 -90"/>
                <a:gd name="f13" fmla="abs f4"/>
                <a:gd name="f14" fmla="abs f5"/>
                <a:gd name="f15" fmla="abs f6"/>
                <a:gd name="f16" fmla="val f7"/>
                <a:gd name="f17" fmla="val f8"/>
                <a:gd name="f18" fmla="*/ f9 f1 1"/>
                <a:gd name="f19" fmla="*/ f10 f1 1"/>
                <a:gd name="f20" fmla="*/ f11 f1 1"/>
                <a:gd name="f21" fmla="*/ f12 f1 1"/>
                <a:gd name="f22" fmla="?: f13 f4 1"/>
                <a:gd name="f23" fmla="?: f14 f5 1"/>
                <a:gd name="f24" fmla="?: f15 f6 1"/>
                <a:gd name="f25" fmla="*/ f18 1 f3"/>
                <a:gd name="f26" fmla="*/ f19 1 f3"/>
                <a:gd name="f27" fmla="*/ f20 1 f3"/>
                <a:gd name="f28" fmla="*/ f21 1 f3"/>
                <a:gd name="f29" fmla="*/ f22 1 21600"/>
                <a:gd name="f30" fmla="*/ f23 1 21600"/>
                <a:gd name="f31" fmla="*/ 21600 f22 1"/>
                <a:gd name="f32" fmla="*/ 21600 f23 1"/>
                <a:gd name="f33" fmla="+- f25 0 f2"/>
                <a:gd name="f34" fmla="+- f26 0 f2"/>
                <a:gd name="f35" fmla="+- f27 0 f2"/>
                <a:gd name="f36" fmla="+- f28 0 f2"/>
                <a:gd name="f37" fmla="min f30 f29"/>
                <a:gd name="f38" fmla="*/ f31 1 f24"/>
                <a:gd name="f39" fmla="*/ f32 1 f24"/>
                <a:gd name="f40" fmla="val f38"/>
                <a:gd name="f41" fmla="val f39"/>
                <a:gd name="f42" fmla="*/ f16 f37 1"/>
                <a:gd name="f43" fmla="+- f41 0 f16"/>
                <a:gd name="f44" fmla="+- f40 0 f16"/>
                <a:gd name="f45" fmla="*/ f41 f37 1"/>
                <a:gd name="f46" fmla="*/ f40 f37 1"/>
                <a:gd name="f47" fmla="*/ f43 1 2"/>
                <a:gd name="f48" fmla="*/ f44 1 2"/>
                <a:gd name="f49" fmla="*/ f44 f17 1"/>
                <a:gd name="f50" fmla="+- f16 f47 0"/>
                <a:gd name="f51" fmla="*/ f49 1 200000"/>
                <a:gd name="f52" fmla="*/ f49 1 100000"/>
                <a:gd name="f53" fmla="+- f51 f48 0"/>
                <a:gd name="f54" fmla="*/ f51 f37 1"/>
                <a:gd name="f55" fmla="*/ f50 f37 1"/>
                <a:gd name="f56" fmla="*/ f52 f37 1"/>
                <a:gd name="f57" fmla="*/ f53 f37 1"/>
              </a:gdLst>
              <a:ahLst/>
              <a:cxnLst>
                <a:cxn ang="3cd4">
                  <a:pos x="hc" y="t"/>
                </a:cxn>
                <a:cxn ang="0">
                  <a:pos x="r" y="vc"/>
                </a:cxn>
                <a:cxn ang="cd4">
                  <a:pos x="hc" y="b"/>
                </a:cxn>
                <a:cxn ang="cd2">
                  <a:pos x="l" y="vc"/>
                </a:cxn>
                <a:cxn ang="f33">
                  <a:pos x="f56" y="f42"/>
                </a:cxn>
                <a:cxn ang="f34">
                  <a:pos x="f54" y="f55"/>
                </a:cxn>
                <a:cxn ang="f35">
                  <a:pos x="f42" y="f45"/>
                </a:cxn>
                <a:cxn ang="f35">
                  <a:pos x="f56" y="f45"/>
                </a:cxn>
                <a:cxn ang="f35">
                  <a:pos x="f46" y="f45"/>
                </a:cxn>
                <a:cxn ang="f36">
                  <a:pos x="f57" y="f55"/>
                </a:cxn>
              </a:cxnLst>
              <a:rect l="f54" t="f55" r="f57" b="f45"/>
              <a:pathLst>
                <a:path>
                  <a:moveTo>
                    <a:pt x="f42" y="f45"/>
                  </a:moveTo>
                  <a:lnTo>
                    <a:pt x="f56" y="f42"/>
                  </a:lnTo>
                  <a:lnTo>
                    <a:pt x="f46" y="f45"/>
                  </a:lnTo>
                  <a:close/>
                </a:path>
              </a:pathLst>
            </a:custGeom>
            <a:solidFill>
              <a:srgbClr val="ED7D31"/>
            </a:solidFill>
            <a:ln w="38103"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Rectangle 127">
              <a:extLst>
                <a:ext uri="{FF2B5EF4-FFF2-40B4-BE49-F238E27FC236}">
                  <a16:creationId xmlns:a16="http://schemas.microsoft.com/office/drawing/2014/main" id="{7EC9D6D2-40A0-47BE-AAFE-76CD7ACFD8AD}"/>
                </a:ext>
              </a:extLst>
            </p:cNvPr>
            <p:cNvSpPr/>
            <p:nvPr/>
          </p:nvSpPr>
          <p:spPr>
            <a:xfrm>
              <a:off x="7479389" y="5033808"/>
              <a:ext cx="118369"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ea typeface="Calibri" pitchFamily="34"/>
                  <a:cs typeface="Calibri"/>
                </a:rPr>
                <a:t>!</a:t>
              </a:r>
              <a:endParaRPr lang="en-GB" sz="1200" b="1" i="0" u="none" strike="noStrike" kern="1200" cap="none" spc="0" baseline="0">
                <a:solidFill>
                  <a:srgbClr val="FFFFFF"/>
                </a:solidFill>
                <a:uFillTx/>
                <a:latin typeface="Calibri"/>
              </a:endParaRPr>
            </a:p>
          </p:txBody>
        </p:sp>
      </p:grpSp>
      <p:grpSp>
        <p:nvGrpSpPr>
          <p:cNvPr id="16" name="Group 125">
            <a:extLst>
              <a:ext uri="{FF2B5EF4-FFF2-40B4-BE49-F238E27FC236}">
                <a16:creationId xmlns:a16="http://schemas.microsoft.com/office/drawing/2014/main" id="{BE906B94-47BC-4D58-B28B-3B949C75D98C}"/>
              </a:ext>
            </a:extLst>
          </p:cNvPr>
          <p:cNvGrpSpPr/>
          <p:nvPr/>
        </p:nvGrpSpPr>
        <p:grpSpPr>
          <a:xfrm>
            <a:off x="7467603" y="2127653"/>
            <a:ext cx="140515" cy="276999"/>
            <a:chOff x="7467603" y="2127653"/>
            <a:chExt cx="140515" cy="276999"/>
          </a:xfrm>
        </p:grpSpPr>
        <p:sp>
          <p:nvSpPr>
            <p:cNvPr id="17" name="Isosceles Triangle 126">
              <a:extLst>
                <a:ext uri="{FF2B5EF4-FFF2-40B4-BE49-F238E27FC236}">
                  <a16:creationId xmlns:a16="http://schemas.microsoft.com/office/drawing/2014/main" id="{F7AC584B-71F2-49C8-A87D-D4C5C17B58CB}"/>
                </a:ext>
              </a:extLst>
            </p:cNvPr>
            <p:cNvSpPr/>
            <p:nvPr/>
          </p:nvSpPr>
          <p:spPr>
            <a:xfrm>
              <a:off x="7486988" y="2183285"/>
              <a:ext cx="121130" cy="135386"/>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 0 0 -90"/>
                <a:gd name="f13" fmla="abs f4"/>
                <a:gd name="f14" fmla="abs f5"/>
                <a:gd name="f15" fmla="abs f6"/>
                <a:gd name="f16" fmla="val f7"/>
                <a:gd name="f17" fmla="val f8"/>
                <a:gd name="f18" fmla="*/ f9 f1 1"/>
                <a:gd name="f19" fmla="*/ f10 f1 1"/>
                <a:gd name="f20" fmla="*/ f11 f1 1"/>
                <a:gd name="f21" fmla="*/ f12 f1 1"/>
                <a:gd name="f22" fmla="?: f13 f4 1"/>
                <a:gd name="f23" fmla="?: f14 f5 1"/>
                <a:gd name="f24" fmla="?: f15 f6 1"/>
                <a:gd name="f25" fmla="*/ f18 1 f3"/>
                <a:gd name="f26" fmla="*/ f19 1 f3"/>
                <a:gd name="f27" fmla="*/ f20 1 f3"/>
                <a:gd name="f28" fmla="*/ f21 1 f3"/>
                <a:gd name="f29" fmla="*/ f22 1 21600"/>
                <a:gd name="f30" fmla="*/ f23 1 21600"/>
                <a:gd name="f31" fmla="*/ 21600 f22 1"/>
                <a:gd name="f32" fmla="*/ 21600 f23 1"/>
                <a:gd name="f33" fmla="+- f25 0 f2"/>
                <a:gd name="f34" fmla="+- f26 0 f2"/>
                <a:gd name="f35" fmla="+- f27 0 f2"/>
                <a:gd name="f36" fmla="+- f28 0 f2"/>
                <a:gd name="f37" fmla="min f30 f29"/>
                <a:gd name="f38" fmla="*/ f31 1 f24"/>
                <a:gd name="f39" fmla="*/ f32 1 f24"/>
                <a:gd name="f40" fmla="val f38"/>
                <a:gd name="f41" fmla="val f39"/>
                <a:gd name="f42" fmla="*/ f16 f37 1"/>
                <a:gd name="f43" fmla="+- f41 0 f16"/>
                <a:gd name="f44" fmla="+- f40 0 f16"/>
                <a:gd name="f45" fmla="*/ f41 f37 1"/>
                <a:gd name="f46" fmla="*/ f40 f37 1"/>
                <a:gd name="f47" fmla="*/ f43 1 2"/>
                <a:gd name="f48" fmla="*/ f44 1 2"/>
                <a:gd name="f49" fmla="*/ f44 f17 1"/>
                <a:gd name="f50" fmla="+- f16 f47 0"/>
                <a:gd name="f51" fmla="*/ f49 1 200000"/>
                <a:gd name="f52" fmla="*/ f49 1 100000"/>
                <a:gd name="f53" fmla="+- f51 f48 0"/>
                <a:gd name="f54" fmla="*/ f51 f37 1"/>
                <a:gd name="f55" fmla="*/ f50 f37 1"/>
                <a:gd name="f56" fmla="*/ f52 f37 1"/>
                <a:gd name="f57" fmla="*/ f53 f37 1"/>
              </a:gdLst>
              <a:ahLst/>
              <a:cxnLst>
                <a:cxn ang="3cd4">
                  <a:pos x="hc" y="t"/>
                </a:cxn>
                <a:cxn ang="0">
                  <a:pos x="r" y="vc"/>
                </a:cxn>
                <a:cxn ang="cd4">
                  <a:pos x="hc" y="b"/>
                </a:cxn>
                <a:cxn ang="cd2">
                  <a:pos x="l" y="vc"/>
                </a:cxn>
                <a:cxn ang="f33">
                  <a:pos x="f56" y="f42"/>
                </a:cxn>
                <a:cxn ang="f34">
                  <a:pos x="f54" y="f55"/>
                </a:cxn>
                <a:cxn ang="f35">
                  <a:pos x="f42" y="f45"/>
                </a:cxn>
                <a:cxn ang="f35">
                  <a:pos x="f56" y="f45"/>
                </a:cxn>
                <a:cxn ang="f35">
                  <a:pos x="f46" y="f45"/>
                </a:cxn>
                <a:cxn ang="f36">
                  <a:pos x="f57" y="f55"/>
                </a:cxn>
              </a:cxnLst>
              <a:rect l="f54" t="f55" r="f57" b="f45"/>
              <a:pathLst>
                <a:path>
                  <a:moveTo>
                    <a:pt x="f42" y="f45"/>
                  </a:moveTo>
                  <a:lnTo>
                    <a:pt x="f56" y="f42"/>
                  </a:lnTo>
                  <a:lnTo>
                    <a:pt x="f46" y="f45"/>
                  </a:lnTo>
                  <a:close/>
                </a:path>
              </a:pathLst>
            </a:custGeom>
            <a:solidFill>
              <a:srgbClr val="ED7D31"/>
            </a:solidFill>
            <a:ln w="38103"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Rectangle 127">
              <a:extLst>
                <a:ext uri="{FF2B5EF4-FFF2-40B4-BE49-F238E27FC236}">
                  <a16:creationId xmlns:a16="http://schemas.microsoft.com/office/drawing/2014/main" id="{2827FB63-0AE9-4212-ACC2-4A6A6EC4CF6F}"/>
                </a:ext>
              </a:extLst>
            </p:cNvPr>
            <p:cNvSpPr/>
            <p:nvPr/>
          </p:nvSpPr>
          <p:spPr>
            <a:xfrm>
              <a:off x="7467603" y="2127653"/>
              <a:ext cx="118369"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ea typeface="Calibri" pitchFamily="34"/>
                  <a:cs typeface="Calibri"/>
                </a:rPr>
                <a:t>!</a:t>
              </a:r>
              <a:endParaRPr lang="en-GB" sz="1200" b="1" i="0" u="none" strike="noStrike" kern="1200" cap="none" spc="0" baseline="0">
                <a:solidFill>
                  <a:srgbClr val="FFFFFF"/>
                </a:solidFill>
                <a:uFillTx/>
                <a:latin typeface="Calibri"/>
              </a:endParaRPr>
            </a:p>
          </p:txBody>
        </p:sp>
      </p:grpSp>
      <p:sp>
        <p:nvSpPr>
          <p:cNvPr id="19" name="Slide Number Placeholder 5">
            <a:extLst>
              <a:ext uri="{FF2B5EF4-FFF2-40B4-BE49-F238E27FC236}">
                <a16:creationId xmlns:a16="http://schemas.microsoft.com/office/drawing/2014/main" id="{9EB1FA4A-8A39-4E22-AECE-4BFFC89DD6F2}"/>
              </a:ext>
            </a:extLst>
          </p:cNvPr>
          <p:cNvSpPr txBox="1"/>
          <p:nvPr/>
        </p:nvSpPr>
        <p:spPr>
          <a:xfrm>
            <a:off x="1166445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6FD6E94-0F44-4FE0-A4CA-9B3CD1D21331}" type="slidenum">
              <a:rPr sz="1200"/>
              <a:t>11</a:t>
            </a:fld>
            <a:endParaRPr lang="en-GB" sz="1200" b="0" i="0" u="none" strike="noStrike" kern="1200" cap="none" spc="0" baseline="0" dirty="0">
              <a:solidFill>
                <a:srgbClr val="000000"/>
              </a:solidFill>
              <a:uFillTx/>
              <a:latin typeface="Calibri"/>
            </a:endParaRPr>
          </a:p>
        </p:txBody>
      </p:sp>
      <p:sp>
        <p:nvSpPr>
          <p:cNvPr id="20" name="Oval 33">
            <a:hlinkClick r:id="" action="ppaction://noaction"/>
            <a:extLst>
              <a:ext uri="{FF2B5EF4-FFF2-40B4-BE49-F238E27FC236}">
                <a16:creationId xmlns:a16="http://schemas.microsoft.com/office/drawing/2014/main" id="{BEE7C813-CBA4-497A-9D0D-C7B47683E80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Oval 34">
            <a:hlinkClick r:id="" action="ppaction://noaction"/>
            <a:extLst>
              <a:ext uri="{FF2B5EF4-FFF2-40B4-BE49-F238E27FC236}">
                <a16:creationId xmlns:a16="http://schemas.microsoft.com/office/drawing/2014/main" id="{AFCF8CBB-4DFB-43CE-A75A-C03BE96A418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Oval 35">
            <a:hlinkClick r:id="" action="ppaction://noaction"/>
            <a:extLst>
              <a:ext uri="{FF2B5EF4-FFF2-40B4-BE49-F238E27FC236}">
                <a16:creationId xmlns:a16="http://schemas.microsoft.com/office/drawing/2014/main" id="{B877204A-1750-4CBB-A9FB-CCF4435A37B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Oval 36">
            <a:hlinkClick r:id="" action="ppaction://noaction"/>
            <a:extLst>
              <a:ext uri="{FF2B5EF4-FFF2-40B4-BE49-F238E27FC236}">
                <a16:creationId xmlns:a16="http://schemas.microsoft.com/office/drawing/2014/main" id="{83B5097A-B520-4427-A932-C38BF5C34CAF}"/>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TextBox 37">
            <a:hlinkClick r:id="" action="ppaction://noaction"/>
            <a:extLst>
              <a:ext uri="{FF2B5EF4-FFF2-40B4-BE49-F238E27FC236}">
                <a16:creationId xmlns:a16="http://schemas.microsoft.com/office/drawing/2014/main" id="{81355D34-8241-4CEB-8861-4D696564E10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5" name="TextBox 38">
            <a:hlinkClick r:id="" action="ppaction://noaction"/>
            <a:extLst>
              <a:ext uri="{FF2B5EF4-FFF2-40B4-BE49-F238E27FC236}">
                <a16:creationId xmlns:a16="http://schemas.microsoft.com/office/drawing/2014/main" id="{29702217-D306-4D6C-9C78-372820758FE7}"/>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6" name="TextBox 39">
            <a:hlinkClick r:id="" action="ppaction://noaction"/>
            <a:extLst>
              <a:ext uri="{FF2B5EF4-FFF2-40B4-BE49-F238E27FC236}">
                <a16:creationId xmlns:a16="http://schemas.microsoft.com/office/drawing/2014/main" id="{6939E73E-A150-438D-B8B3-F18626F3796C}"/>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7" name="TextBox 40">
            <a:hlinkClick r:id="" action="ppaction://noaction"/>
            <a:extLst>
              <a:ext uri="{FF2B5EF4-FFF2-40B4-BE49-F238E27FC236}">
                <a16:creationId xmlns:a16="http://schemas.microsoft.com/office/drawing/2014/main" id="{D560CC3A-4856-434B-812C-8778F5D367E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8" name="Oval 41">
            <a:extLst>
              <a:ext uri="{FF2B5EF4-FFF2-40B4-BE49-F238E27FC236}">
                <a16:creationId xmlns:a16="http://schemas.microsoft.com/office/drawing/2014/main" id="{71033EEF-E565-409A-AAB8-299E8E825ADF}"/>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TextBox 45">
            <a:hlinkClick r:id="" action="ppaction://noaction"/>
            <a:extLst>
              <a:ext uri="{FF2B5EF4-FFF2-40B4-BE49-F238E27FC236}">
                <a16:creationId xmlns:a16="http://schemas.microsoft.com/office/drawing/2014/main" id="{F3D6C5A1-48E4-4F8C-8B4A-2AC03B2D0DD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0" name="Picture 40">
            <a:hlinkClick r:id="" action="ppaction://noaction"/>
            <a:extLst>
              <a:ext uri="{FF2B5EF4-FFF2-40B4-BE49-F238E27FC236}">
                <a16:creationId xmlns:a16="http://schemas.microsoft.com/office/drawing/2014/main" id="{C1BED62C-6FA2-42BC-A656-9634E3B40DB3}"/>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31" name="Oval 47">
            <a:hlinkClick r:id="" action="ppaction://noaction"/>
            <a:extLst>
              <a:ext uri="{FF2B5EF4-FFF2-40B4-BE49-F238E27FC236}">
                <a16:creationId xmlns:a16="http://schemas.microsoft.com/office/drawing/2014/main" id="{1DDC8A03-6712-4AB8-8BA7-76146965429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4" name="TextBox 33">
            <a:extLst>
              <a:ext uri="{FF2B5EF4-FFF2-40B4-BE49-F238E27FC236}">
                <a16:creationId xmlns:a16="http://schemas.microsoft.com/office/drawing/2014/main" id="{99FC16BC-168C-9ABF-F924-FE47D36FB3C1}"/>
              </a:ext>
            </a:extLst>
          </p:cNvPr>
          <p:cNvSpPr txBox="1"/>
          <p:nvPr/>
        </p:nvSpPr>
        <p:spPr>
          <a:xfrm>
            <a:off x="757303" y="5873027"/>
            <a:ext cx="6462314" cy="253916"/>
          </a:xfrm>
          <a:prstGeom prst="rect">
            <a:avLst/>
          </a:prstGeom>
          <a:noFill/>
        </p:spPr>
        <p:txBody>
          <a:bodyPr wrap="square">
            <a:spAutoFit/>
          </a:bodyPr>
          <a:lstStyle/>
          <a:p>
            <a:r>
              <a:rPr lang="en-GB" sz="1050" dirty="0"/>
              <a:t>*Contact the TDR mailbox </a:t>
            </a:r>
            <a:r>
              <a:rPr lang="fr-FR" sz="1050" dirty="0"/>
              <a:t>&lt;tdrcommunications@hmrc.gov.uk&gt;</a:t>
            </a:r>
            <a:r>
              <a:rPr lang="en-GB" sz="1050" dirty="0"/>
              <a:t> to request that a departure message is generated.</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838840297">
    <p:spTree>
      <p:nvGrpSpPr>
        <p:cNvPr id="1" name=""/>
        <p:cNvGrpSpPr/>
        <p:nvPr/>
      </p:nvGrpSpPr>
      <p:grpSpPr>
        <a:xfrm>
          <a:off x="0" y="0"/>
          <a:ext cx="0" cy="0"/>
          <a:chOff x="0" y="0"/>
          <a:chExt cx="0" cy="0"/>
        </a:xfrm>
      </p:grpSpPr>
      <p:sp>
        <p:nvSpPr>
          <p:cNvPr id="2" name="TextBox 4">
            <a:extLst>
              <a:ext uri="{FF2B5EF4-FFF2-40B4-BE49-F238E27FC236}">
                <a16:creationId xmlns:a16="http://schemas.microsoft.com/office/drawing/2014/main" id="{9AE24843-922A-4BF9-8721-26D3AE2F0C07}"/>
              </a:ext>
            </a:extLst>
          </p:cNvPr>
          <p:cNvSpPr txBox="1"/>
          <p:nvPr/>
        </p:nvSpPr>
        <p:spPr>
          <a:xfrm>
            <a:off x="363967" y="1172288"/>
            <a:ext cx="11664004" cy="101566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Both Trade Test and Trader Dress Rehearsal environments use Production-equivalent applications as much as possible for both Imports and Exports processing including simulated services such as Quota and Controls. However, some components may be stubbed or particular scenarios may be limited for business or technical reasons.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In the following section, the specific capabilities and expected behaviour within TT and TDR environments will be outlined. Relevant XML samples for testing the specific functionality will also be referenced in orange boxes to support testing. This section will cover:</a:t>
            </a:r>
          </a:p>
        </p:txBody>
      </p:sp>
      <p:cxnSp>
        <p:nvCxnSpPr>
          <p:cNvPr id="3" name="Straight Connector 11">
            <a:extLst>
              <a:ext uri="{FF2B5EF4-FFF2-40B4-BE49-F238E27FC236}">
                <a16:creationId xmlns:a16="http://schemas.microsoft.com/office/drawing/2014/main" id="{C796C8B9-EC45-4349-B5B6-A8BD646B056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E4A3CB4-F3F8-4955-8B9F-E7F1BB399246}"/>
              </a:ext>
            </a:extLst>
          </p:cNvPr>
          <p:cNvSpPr txBox="1"/>
          <p:nvPr/>
        </p:nvSpPr>
        <p:spPr>
          <a:xfrm>
            <a:off x="363967" y="248844"/>
            <a:ext cx="252209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a:t>
            </a:r>
          </a:p>
        </p:txBody>
      </p:sp>
      <p:sp>
        <p:nvSpPr>
          <p:cNvPr id="5" name="Rectangle 4">
            <a:extLst>
              <a:ext uri="{FF2B5EF4-FFF2-40B4-BE49-F238E27FC236}">
                <a16:creationId xmlns:a16="http://schemas.microsoft.com/office/drawing/2014/main" id="{9F10AC0B-BDC2-44A4-9B33-647184108236}"/>
              </a:ext>
            </a:extLst>
          </p:cNvPr>
          <p:cNvSpPr/>
          <p:nvPr/>
        </p:nvSpPr>
        <p:spPr>
          <a:xfrm>
            <a:off x="363967" y="710625"/>
            <a:ext cx="5496558"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External Test Functional Capabilities</a:t>
            </a:r>
          </a:p>
        </p:txBody>
      </p:sp>
      <p:sp>
        <p:nvSpPr>
          <p:cNvPr id="7" name="Slide Number Placeholder 5">
            <a:extLst>
              <a:ext uri="{FF2B5EF4-FFF2-40B4-BE49-F238E27FC236}">
                <a16:creationId xmlns:a16="http://schemas.microsoft.com/office/drawing/2014/main" id="{EFC5BBF2-D824-4D8B-87A5-EEE53CF1E835}"/>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810A551-9811-4428-BEB1-264F4C2D47E3}" type="slidenum">
              <a:rPr sz="1200"/>
              <a:t>12</a:t>
            </a:fld>
            <a:endParaRPr lang="en-GB" sz="1200" b="0" i="0" u="none" strike="noStrike" kern="1200" cap="none" spc="0" baseline="0" dirty="0">
              <a:solidFill>
                <a:srgbClr val="000000"/>
              </a:solidFill>
              <a:uFillTx/>
              <a:latin typeface="Calibri"/>
            </a:endParaRPr>
          </a:p>
        </p:txBody>
      </p:sp>
      <p:sp>
        <p:nvSpPr>
          <p:cNvPr id="8" name="Oval 21">
            <a:hlinkClick r:id="rId3" action="ppaction://hlinksldjump"/>
            <a:extLst>
              <a:ext uri="{FF2B5EF4-FFF2-40B4-BE49-F238E27FC236}">
                <a16:creationId xmlns:a16="http://schemas.microsoft.com/office/drawing/2014/main" id="{73DB1097-2516-4D96-965A-EBA341F16DB2}"/>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22">
            <a:hlinkClick r:id="rId3" action="ppaction://hlinksldjump"/>
            <a:extLst>
              <a:ext uri="{FF2B5EF4-FFF2-40B4-BE49-F238E27FC236}">
                <a16:creationId xmlns:a16="http://schemas.microsoft.com/office/drawing/2014/main" id="{433A38FD-0B9A-482A-8923-DDFEAD537E8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23">
            <a:hlinkClick r:id="rId4" action="ppaction://hlinksldjump"/>
            <a:extLst>
              <a:ext uri="{FF2B5EF4-FFF2-40B4-BE49-F238E27FC236}">
                <a16:creationId xmlns:a16="http://schemas.microsoft.com/office/drawing/2014/main" id="{E9681442-EAB0-4BCD-82B4-DC43888E158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24">
            <a:hlinkClick r:id="rId5" action="ppaction://hlinksldjump"/>
            <a:extLst>
              <a:ext uri="{FF2B5EF4-FFF2-40B4-BE49-F238E27FC236}">
                <a16:creationId xmlns:a16="http://schemas.microsoft.com/office/drawing/2014/main" id="{14DCBB80-25CF-42EE-A452-B07C73DB89A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25">
            <a:hlinkClick r:id="rId3" action="ppaction://hlinksldjump"/>
            <a:extLst>
              <a:ext uri="{FF2B5EF4-FFF2-40B4-BE49-F238E27FC236}">
                <a16:creationId xmlns:a16="http://schemas.microsoft.com/office/drawing/2014/main" id="{2E46AA88-1CE8-433E-91D1-B089F978F64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27">
            <a:hlinkClick r:id="rId3" action="ppaction://hlinksldjump"/>
            <a:extLst>
              <a:ext uri="{FF2B5EF4-FFF2-40B4-BE49-F238E27FC236}">
                <a16:creationId xmlns:a16="http://schemas.microsoft.com/office/drawing/2014/main" id="{95D1E0A5-FFF5-4B2F-BACA-71DFA4F8C18F}"/>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4" name="TextBox 28">
            <a:hlinkClick r:id="rId4" action="ppaction://hlinksldjump"/>
            <a:extLst>
              <a:ext uri="{FF2B5EF4-FFF2-40B4-BE49-F238E27FC236}">
                <a16:creationId xmlns:a16="http://schemas.microsoft.com/office/drawing/2014/main" id="{2647E47A-3A26-4C05-BD7D-930F4EFE0810}"/>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29">
            <a:hlinkClick r:id="rId4" action="ppaction://hlinksldjump"/>
            <a:extLst>
              <a:ext uri="{FF2B5EF4-FFF2-40B4-BE49-F238E27FC236}">
                <a16:creationId xmlns:a16="http://schemas.microsoft.com/office/drawing/2014/main" id="{39044675-8866-41EA-952D-C048B7744CF4}"/>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30">
            <a:extLst>
              <a:ext uri="{FF2B5EF4-FFF2-40B4-BE49-F238E27FC236}">
                <a16:creationId xmlns:a16="http://schemas.microsoft.com/office/drawing/2014/main" id="{3C925CED-0BB6-4926-B41E-7A8CE439297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31">
            <a:hlinkClick r:id="rId6" action="ppaction://hlinksldjump"/>
            <a:extLst>
              <a:ext uri="{FF2B5EF4-FFF2-40B4-BE49-F238E27FC236}">
                <a16:creationId xmlns:a16="http://schemas.microsoft.com/office/drawing/2014/main" id="{E71E5129-4E67-4DE1-A432-3E6964D95A28}"/>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C0B75967-80CB-4846-AF38-F44A41CAED1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33">
            <a:hlinkClick r:id="rId3" action="ppaction://hlinksldjump"/>
            <a:extLst>
              <a:ext uri="{FF2B5EF4-FFF2-40B4-BE49-F238E27FC236}">
                <a16:creationId xmlns:a16="http://schemas.microsoft.com/office/drawing/2014/main" id="{C461E771-06C0-4754-BB1A-8773032BA49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1">
            <a:extLst>
              <a:ext uri="{FF2B5EF4-FFF2-40B4-BE49-F238E27FC236}">
                <a16:creationId xmlns:a16="http://schemas.microsoft.com/office/drawing/2014/main" id="{35A9889A-2650-4ED3-82E7-F75B0C3EEB21}"/>
              </a:ext>
            </a:extLst>
          </p:cNvPr>
          <p:cNvSpPr/>
          <p:nvPr/>
        </p:nvSpPr>
        <p:spPr>
          <a:xfrm>
            <a:off x="202823" y="2423050"/>
            <a:ext cx="5776877" cy="2862318"/>
          </a:xfrm>
          <a:prstGeom prst="rect">
            <a:avLst/>
          </a:prstGeom>
          <a:noFill/>
          <a:ln cap="flat">
            <a:noFill/>
            <a:prstDash val="solid"/>
          </a:ln>
        </p:spPr>
        <p:txBody>
          <a:bodyPr vert="horz" wrap="square" lIns="91440" tIns="45720" rIns="91440" bIns="45720" anchor="t" anchorCtr="0" compatLnSpc="1">
            <a:spAutoFit/>
          </a:bodyPr>
          <a:lstStyle/>
          <a:p>
            <a:pPr marL="685800" marR="0" lvl="1" indent="-228600" algn="l" defTabSz="914400" rtl="0" fontAlgn="auto" hangingPunct="1">
              <a:lnSpc>
                <a:spcPct val="100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hlinkClick r:id="rId8" action="ppaction://hlinksldjump"/>
              </a:rPr>
              <a:t>Declaration Submission</a:t>
            </a:r>
            <a:endParaRPr lang="en-GB" sz="1200" b="1" i="0" u="none" strike="noStrike" kern="1200" cap="none" spc="0" baseline="0">
              <a:solidFill>
                <a:srgbClr val="000000"/>
              </a:solidFill>
              <a:uFillTx/>
              <a:latin typeface="Calibri"/>
            </a:endParaRP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Submission</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Timers</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EU Exit: RoRo</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Imports from EU Special Fiscal Territories and Countries with which the EU has a Customs Union (GB Imports)</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Document Status Codes</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License Waivers</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Authorisations</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Inventory Linking </a:t>
            </a:r>
          </a:p>
          <a:p>
            <a:pPr marL="1600200" marR="0" lvl="3"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Imports Inventory Linking</a:t>
            </a:r>
          </a:p>
          <a:p>
            <a:pPr marL="1600200" marR="0" lvl="3"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Export Inventory Linking</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Duty Calculation</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Payment Processing</a:t>
            </a:r>
          </a:p>
          <a:p>
            <a:pPr marL="1143000" marR="0" lvl="2"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Cancellation</a:t>
            </a:r>
          </a:p>
        </p:txBody>
      </p:sp>
      <p:sp>
        <p:nvSpPr>
          <p:cNvPr id="21" name="Rectangle 26">
            <a:extLst>
              <a:ext uri="{FF2B5EF4-FFF2-40B4-BE49-F238E27FC236}">
                <a16:creationId xmlns:a16="http://schemas.microsoft.com/office/drawing/2014/main" id="{E5EE2FFF-BC84-4DF6-9311-0839B41E1FEF}"/>
              </a:ext>
            </a:extLst>
          </p:cNvPr>
          <p:cNvSpPr/>
          <p:nvPr/>
        </p:nvSpPr>
        <p:spPr>
          <a:xfrm>
            <a:off x="5860526" y="2439939"/>
            <a:ext cx="5851209" cy="1754322"/>
          </a:xfrm>
          <a:prstGeom prst="rect">
            <a:avLst/>
          </a:prstGeom>
          <a:noFill/>
          <a:ln cap="flat">
            <a:noFill/>
            <a:prstDash val="solid"/>
          </a:ln>
        </p:spPr>
        <p:txBody>
          <a:bodyPr vert="horz" wrap="square" lIns="91440" tIns="45720" rIns="91440" bIns="45720" anchor="t" anchorCtr="0" compatLnSpc="1">
            <a:spAutoFit/>
          </a:bodyPr>
          <a:lstStyle/>
          <a:p>
            <a:pPr marL="685800" marR="0" lvl="1" indent="-228600" algn="l" defTabSz="914400" rtl="0" fontAlgn="auto" hangingPunct="1">
              <a:lnSpc>
                <a:spcPct val="100000"/>
              </a:lnSpc>
              <a:spcBef>
                <a:spcPts val="0"/>
              </a:spcBef>
              <a:spcAft>
                <a:spcPts val="0"/>
              </a:spcAft>
              <a:buSzPct val="100000"/>
              <a:buFont typeface="Calibri Light"/>
              <a:buAutoNum type="arabicPeriod" startAt="2"/>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hlinkClick r:id="rId9" action="ppaction://hlinksldjump"/>
              </a:rPr>
              <a:t>External Test Capabilities:  Simulated Services:</a:t>
            </a:r>
            <a:endParaRPr lang="en-GB" sz="1200" b="1" i="0" u="none" strike="noStrike" kern="1200" cap="none" spc="0" baseline="0">
              <a:solidFill>
                <a:srgbClr val="000000"/>
              </a:solidFill>
              <a:uFillTx/>
              <a:latin typeface="Calibri"/>
            </a:endParaRPr>
          </a:p>
          <a:p>
            <a:pPr marL="1085850" marR="0" lvl="2"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Control Tasks</a:t>
            </a:r>
          </a:p>
          <a:p>
            <a:pPr marL="1543050" marR="0" lvl="3"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Receiving a Query on a Control Task</a:t>
            </a:r>
          </a:p>
          <a:p>
            <a:pPr marL="1085850" marR="0" lvl="2"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Quota</a:t>
            </a:r>
          </a:p>
          <a:p>
            <a:pPr marL="1085850" marR="0" lvl="2"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Immediate Payment</a:t>
            </a:r>
          </a:p>
          <a:p>
            <a:pPr marL="1085850" marR="0" lvl="2"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EU Exit: UK Tariff</a:t>
            </a:r>
          </a:p>
          <a:p>
            <a:pPr marL="685800" marR="0" lvl="1" indent="-228600" algn="l" defTabSz="914400" rtl="0" fontAlgn="auto" hangingPunct="1">
              <a:lnSpc>
                <a:spcPct val="100000"/>
              </a:lnSpc>
              <a:spcBef>
                <a:spcPts val="0"/>
              </a:spcBef>
              <a:spcAft>
                <a:spcPts val="0"/>
              </a:spcAft>
              <a:buSzPct val="100000"/>
              <a:buFont typeface="Calibri Light"/>
              <a:buAutoNum type="arabicPeriod" startAt="2"/>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hlinkClick r:id="rId10" action="ppaction://hlinksldjump"/>
              </a:rPr>
              <a:t>Trade Test Release Scope</a:t>
            </a:r>
            <a:endParaRPr lang="en-GB" sz="1200" b="1" i="0" u="none" strike="noStrike" kern="1200" cap="none" spc="0" baseline="0">
              <a:solidFill>
                <a:srgbClr val="000000"/>
              </a:solidFill>
              <a:uFillTx/>
              <a:latin typeface="Calibri"/>
            </a:endParaRPr>
          </a:p>
          <a:p>
            <a:pPr marL="1085850" marR="0" lvl="2"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685800" marR="0" lvl="1" indent="-228600" algn="l" defTabSz="914400" rtl="0" fontAlgn="auto" hangingPunct="1">
              <a:lnSpc>
                <a:spcPct val="100000"/>
              </a:lnSpc>
              <a:spcBef>
                <a:spcPts val="0"/>
              </a:spcBef>
              <a:spcAft>
                <a:spcPts val="0"/>
              </a:spcAft>
              <a:buSzPct val="100000"/>
              <a:buFont typeface="Calibri Light"/>
              <a:buAutoNum type="arabicPeriod" startAt="2"/>
              <a:tabLst/>
              <a:defRPr sz="1800" b="0" i="0" u="none" strike="noStrike" kern="0" cap="none" spc="0" baseline="0">
                <a:solidFill>
                  <a:srgbClr val="000000"/>
                </a:solidFill>
                <a:uFillTx/>
              </a:defRPr>
            </a:pPr>
            <a:r>
              <a:rPr lang="en-GB" sz="1200" b="1" i="0" u="none" strike="noStrike" kern="0" cap="none" spc="0" baseline="0">
                <a:solidFill>
                  <a:srgbClr val="000000"/>
                </a:solidFill>
                <a:uFillTx/>
                <a:latin typeface="Calibri"/>
                <a:hlinkClick r:id="rId11" action="ppaction://hlinksldjump"/>
              </a:rPr>
              <a:t>Out of Scope Functionality</a:t>
            </a:r>
            <a:r>
              <a:rPr lang="en-GB" sz="1200" b="1" i="0" u="none" strike="noStrike" kern="0" cap="none" spc="0" baseline="0">
                <a:solidFill>
                  <a:srgbClr val="000000"/>
                </a:solidFill>
                <a:uFillTx/>
                <a:latin typeface="Calibri"/>
              </a:rPr>
              <a:t> </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838840340">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B166C1C4-CDB1-4C4E-BF4C-7FA139BE1881}"/>
              </a:ext>
            </a:extLst>
          </p:cNvPr>
          <p:cNvSpPr/>
          <p:nvPr/>
        </p:nvSpPr>
        <p:spPr>
          <a:xfrm>
            <a:off x="901250" y="2715319"/>
            <a:ext cx="10711528"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1200" cap="none" spc="0" baseline="0">
                <a:solidFill>
                  <a:srgbClr val="FFFFFF"/>
                </a:solidFill>
                <a:uFillTx/>
                <a:latin typeface="Calibri"/>
              </a:rPr>
              <a:t>External Test Capabilities: Declaration Submission</a:t>
            </a:r>
          </a:p>
        </p:txBody>
      </p:sp>
      <p:sp>
        <p:nvSpPr>
          <p:cNvPr id="3" name="Slide Number Placeholder 5">
            <a:extLst>
              <a:ext uri="{FF2B5EF4-FFF2-40B4-BE49-F238E27FC236}">
                <a16:creationId xmlns:a16="http://schemas.microsoft.com/office/drawing/2014/main" id="{7CEF8F32-CEDE-4831-B9D0-E8334A82FC53}"/>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CD288EB-F98B-4A1E-9B24-5A6B2478485B}" type="slidenum">
              <a:rPr sz="1200"/>
              <a:t>13</a:t>
            </a:fld>
            <a:endParaRPr lang="en-GB" sz="1200" b="0" i="0" u="none" strike="noStrike" kern="1200" cap="none" spc="0" baseline="0" dirty="0">
              <a:solidFill>
                <a:srgbClr val="000000"/>
              </a:solidFill>
              <a:uFillTx/>
              <a:latin typeface="Calibri"/>
            </a:endParaRPr>
          </a:p>
        </p:txBody>
      </p:sp>
      <p:pic>
        <p:nvPicPr>
          <p:cNvPr id="4" name="Picture 8" descr="100% HMRCppt logo">
            <a:extLst>
              <a:ext uri="{FF2B5EF4-FFF2-40B4-BE49-F238E27FC236}">
                <a16:creationId xmlns:a16="http://schemas.microsoft.com/office/drawing/2014/main" id="{0199A15C-B85E-4B30-9AA7-5BFEE1D9EC47}"/>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5" name="Oval 30">
            <a:hlinkClick r:id="rId3" action="ppaction://hlinksldjump"/>
            <a:extLst>
              <a:ext uri="{FF2B5EF4-FFF2-40B4-BE49-F238E27FC236}">
                <a16:creationId xmlns:a16="http://schemas.microsoft.com/office/drawing/2014/main" id="{341D9B7E-3889-44EE-8F07-E05E56195BF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31">
            <a:hlinkClick r:id="rId3" action="ppaction://hlinksldjump"/>
            <a:extLst>
              <a:ext uri="{FF2B5EF4-FFF2-40B4-BE49-F238E27FC236}">
                <a16:creationId xmlns:a16="http://schemas.microsoft.com/office/drawing/2014/main" id="{05E0FA63-B87E-4399-BD11-502DF17DECE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32">
            <a:hlinkClick r:id="rId4" action="ppaction://hlinksldjump"/>
            <a:extLst>
              <a:ext uri="{FF2B5EF4-FFF2-40B4-BE49-F238E27FC236}">
                <a16:creationId xmlns:a16="http://schemas.microsoft.com/office/drawing/2014/main" id="{5E3E7F41-0F99-4966-AFB9-64639BCE1042}"/>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33">
            <a:hlinkClick r:id="rId5" action="ppaction://hlinksldjump"/>
            <a:extLst>
              <a:ext uri="{FF2B5EF4-FFF2-40B4-BE49-F238E27FC236}">
                <a16:creationId xmlns:a16="http://schemas.microsoft.com/office/drawing/2014/main" id="{04C699C7-A010-462C-B0BC-1C7B485EE81F}"/>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TextBox 34">
            <a:hlinkClick r:id="rId3" action="ppaction://hlinksldjump"/>
            <a:extLst>
              <a:ext uri="{FF2B5EF4-FFF2-40B4-BE49-F238E27FC236}">
                <a16:creationId xmlns:a16="http://schemas.microsoft.com/office/drawing/2014/main" id="{E66379D4-9096-4CD2-B215-C39FDB36F09A}"/>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0" name="TextBox 35">
            <a:hlinkClick r:id="rId3" action="ppaction://hlinksldjump"/>
            <a:extLst>
              <a:ext uri="{FF2B5EF4-FFF2-40B4-BE49-F238E27FC236}">
                <a16:creationId xmlns:a16="http://schemas.microsoft.com/office/drawing/2014/main" id="{CB467472-8CAD-435C-B2EA-133F131ACCD3}"/>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1" name="TextBox 36">
            <a:hlinkClick r:id="rId4" action="ppaction://hlinksldjump"/>
            <a:extLst>
              <a:ext uri="{FF2B5EF4-FFF2-40B4-BE49-F238E27FC236}">
                <a16:creationId xmlns:a16="http://schemas.microsoft.com/office/drawing/2014/main" id="{A3629EF6-8337-4EFA-B557-4A7DAAF631B9}"/>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2" name="TextBox 37">
            <a:hlinkClick r:id="rId4" action="ppaction://hlinksldjump"/>
            <a:extLst>
              <a:ext uri="{FF2B5EF4-FFF2-40B4-BE49-F238E27FC236}">
                <a16:creationId xmlns:a16="http://schemas.microsoft.com/office/drawing/2014/main" id="{5526B1A1-7AFC-4AA7-8ADA-39FC06DC646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3" name="Oval 38">
            <a:extLst>
              <a:ext uri="{FF2B5EF4-FFF2-40B4-BE49-F238E27FC236}">
                <a16:creationId xmlns:a16="http://schemas.microsoft.com/office/drawing/2014/main" id="{4998B515-F2E7-443F-8E6C-C73BA3D8B55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39">
            <a:hlinkClick r:id="rId6" action="ppaction://hlinksldjump"/>
            <a:extLst>
              <a:ext uri="{FF2B5EF4-FFF2-40B4-BE49-F238E27FC236}">
                <a16:creationId xmlns:a16="http://schemas.microsoft.com/office/drawing/2014/main" id="{CB79B7B5-1D5C-4D5E-84A1-0FA1DDD0125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5" name="Picture 40">
            <a:hlinkClick r:id="rId3" action="ppaction://hlinksldjump"/>
            <a:extLst>
              <a:ext uri="{FF2B5EF4-FFF2-40B4-BE49-F238E27FC236}">
                <a16:creationId xmlns:a16="http://schemas.microsoft.com/office/drawing/2014/main" id="{FA29FF8F-DD0D-4194-9904-E679738FFF67}"/>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6" name="Oval 41">
            <a:hlinkClick r:id="rId3" action="ppaction://hlinksldjump"/>
            <a:extLst>
              <a:ext uri="{FF2B5EF4-FFF2-40B4-BE49-F238E27FC236}">
                <a16:creationId xmlns:a16="http://schemas.microsoft.com/office/drawing/2014/main" id="{359AE2A7-D713-40A1-8418-08F42F24D95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838840277">
    <p:spTree>
      <p:nvGrpSpPr>
        <p:cNvPr id="1" name=""/>
        <p:cNvGrpSpPr/>
        <p:nvPr/>
      </p:nvGrpSpPr>
      <p:grpSpPr>
        <a:xfrm>
          <a:off x="0" y="0"/>
          <a:ext cx="0" cy="0"/>
          <a:chOff x="0" y="0"/>
          <a:chExt cx="0" cy="0"/>
        </a:xfrm>
      </p:grpSpPr>
      <p:cxnSp>
        <p:nvCxnSpPr>
          <p:cNvPr id="2" name="Straight Connector 11">
            <a:extLst>
              <a:ext uri="{FF2B5EF4-FFF2-40B4-BE49-F238E27FC236}">
                <a16:creationId xmlns:a16="http://schemas.microsoft.com/office/drawing/2014/main" id="{0ECA613F-532A-4FA7-897F-BDDEF128CF1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3" name="TextBox 12">
            <a:extLst>
              <a:ext uri="{FF2B5EF4-FFF2-40B4-BE49-F238E27FC236}">
                <a16:creationId xmlns:a16="http://schemas.microsoft.com/office/drawing/2014/main" id="{D2C08782-BBD2-40A3-8723-47A5DFB56FB1}"/>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4" name="Slide Number Placeholder 5">
            <a:extLst>
              <a:ext uri="{FF2B5EF4-FFF2-40B4-BE49-F238E27FC236}">
                <a16:creationId xmlns:a16="http://schemas.microsoft.com/office/drawing/2014/main" id="{154C943F-F92E-4951-BD65-E04B8387202F}"/>
              </a:ext>
            </a:extLst>
          </p:cNvPr>
          <p:cNvSpPr txBox="1"/>
          <p:nvPr/>
        </p:nvSpPr>
        <p:spPr>
          <a:xfrm>
            <a:off x="1166445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8416D56-23C8-4F03-B03B-602C3C65F9BA}" type="slidenum">
              <a:rPr sz="1200"/>
              <a:t>14</a:t>
            </a:fld>
            <a:endParaRPr lang="en-GB" sz="1200" b="0" i="0" u="none" strike="noStrike" kern="1200" cap="none" spc="0" baseline="0" dirty="0">
              <a:solidFill>
                <a:srgbClr val="000000"/>
              </a:solidFill>
              <a:uFillTx/>
              <a:latin typeface="Calibri"/>
            </a:endParaRPr>
          </a:p>
        </p:txBody>
      </p:sp>
      <p:sp>
        <p:nvSpPr>
          <p:cNvPr id="5" name="Rectangle 4">
            <a:extLst>
              <a:ext uri="{FF2B5EF4-FFF2-40B4-BE49-F238E27FC236}">
                <a16:creationId xmlns:a16="http://schemas.microsoft.com/office/drawing/2014/main" id="{8F7AF92F-0134-4BAF-9CE0-EC3574472E38}"/>
              </a:ext>
            </a:extLst>
          </p:cNvPr>
          <p:cNvSpPr/>
          <p:nvPr/>
        </p:nvSpPr>
        <p:spPr>
          <a:xfrm>
            <a:off x="363967" y="669605"/>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Declaration Submission</a:t>
            </a:r>
            <a:endParaRPr lang="en-GB" sz="2400" b="1" i="0" u="none" strike="noStrike" kern="1200" cap="none" spc="0" baseline="0">
              <a:solidFill>
                <a:srgbClr val="000000"/>
              </a:solidFill>
              <a:uFillTx/>
              <a:latin typeface="Calibri" pitchFamily="34"/>
              <a:ea typeface="Calibri" pitchFamily="34"/>
            </a:endParaRPr>
          </a:p>
        </p:txBody>
      </p:sp>
      <p:sp>
        <p:nvSpPr>
          <p:cNvPr id="6" name="Rectangle 33">
            <a:extLst>
              <a:ext uri="{FF2B5EF4-FFF2-40B4-BE49-F238E27FC236}">
                <a16:creationId xmlns:a16="http://schemas.microsoft.com/office/drawing/2014/main" id="{67581967-2ABD-4CAF-A7D9-F3A319E160A1}"/>
              </a:ext>
            </a:extLst>
          </p:cNvPr>
          <p:cNvSpPr/>
          <p:nvPr/>
        </p:nvSpPr>
        <p:spPr>
          <a:xfrm>
            <a:off x="437037" y="1391223"/>
            <a:ext cx="11430164" cy="3734528"/>
          </a:xfrm>
          <a:prstGeom prst="rect">
            <a:avLst/>
          </a:prstGeom>
          <a:solidFill>
            <a:srgbClr val="E7FFFF"/>
          </a:solidFill>
          <a:ln w="12701" cap="flat">
            <a:solidFill>
              <a:srgbClr val="E7FFFF"/>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TextBox 34">
            <a:extLst>
              <a:ext uri="{FF2B5EF4-FFF2-40B4-BE49-F238E27FC236}">
                <a16:creationId xmlns:a16="http://schemas.microsoft.com/office/drawing/2014/main" id="{6E159ABE-9BD9-46EA-8767-75C8DFC83301}"/>
              </a:ext>
            </a:extLst>
          </p:cNvPr>
          <p:cNvSpPr txBox="1"/>
          <p:nvPr/>
        </p:nvSpPr>
        <p:spPr>
          <a:xfrm>
            <a:off x="761375" y="1413150"/>
            <a:ext cx="10992880" cy="392414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Supplementary Declarations Workaround</a:t>
            </a:r>
            <a:endParaRPr lang="en-GB" sz="11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CDS is currently incorrectly mandating completion of SDE in D.E. 2/1 at item level for all SDP type Y Supplementary Declarations (D.E. 1/2 code Y) when it should accept this ‘SDE’ code at either header or item level. As a workaround, please declare SDE at least once at item level on type Y declaration.</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Declaring Currency </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a declaration has been submitted using a non-GBP currency at header level in D.E. 4/11, all values at item level in D.E. 4/14 must be declared using the same currency. If a non-matching currency is used at item level, CDS will not be able to process the declaration and the declaration will remain in a received state.  CDS will similarly fail to process a declaration where an invalid currency code has been declared, for example ‘GPB’ instead of ‘GBP’. </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endParaRPr lang="en-GB" sz="10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Local Reference Number</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LRN submitted in Data Element 2/5 will need to be </a:t>
            </a:r>
            <a:r>
              <a:rPr lang="en-GB" sz="1200" b="1" i="0" u="none" strike="noStrike" kern="1200" cap="none" spc="0" baseline="0">
                <a:solidFill>
                  <a:srgbClr val="000000"/>
                </a:solidFill>
                <a:uFillTx/>
                <a:latin typeface="Calibri"/>
              </a:rPr>
              <a:t>unique</a:t>
            </a:r>
            <a:r>
              <a:rPr lang="en-GB" sz="1200" b="0" i="0" u="none" strike="noStrike" kern="1200" cap="none" spc="0" baseline="0">
                <a:solidFill>
                  <a:srgbClr val="000000"/>
                </a:solidFill>
                <a:uFillTx/>
                <a:latin typeface="Calibri"/>
              </a:rPr>
              <a:t> for a period of </a:t>
            </a:r>
            <a:r>
              <a:rPr lang="en-GB" sz="1200" b="1" i="0" u="none" strike="noStrike" kern="1200" cap="none" spc="0" baseline="0">
                <a:solidFill>
                  <a:srgbClr val="000000"/>
                </a:solidFill>
                <a:uFillTx/>
                <a:latin typeface="Calibri"/>
              </a:rPr>
              <a:t>2 days </a:t>
            </a:r>
            <a:r>
              <a:rPr lang="en-GB" sz="1200" b="0" i="0" u="none" strike="noStrike" kern="1200" cap="none" spc="0" baseline="0">
                <a:solidFill>
                  <a:srgbClr val="000000"/>
                </a:solidFill>
                <a:uFillTx/>
                <a:latin typeface="Calibri"/>
              </a:rPr>
              <a:t>from the point of </a:t>
            </a:r>
            <a:r>
              <a:rPr lang="en-GB" sz="1200" b="1" i="0" u="none" strike="noStrike" kern="1200" cap="none" spc="0" baseline="0">
                <a:solidFill>
                  <a:srgbClr val="000000"/>
                </a:solidFill>
                <a:uFillTx/>
                <a:latin typeface="Calibri"/>
              </a:rPr>
              <a:t>declaration acceptance</a:t>
            </a:r>
            <a:r>
              <a:rPr lang="en-GB" sz="1200" b="0" i="0" u="none" strike="noStrike" kern="1200" cap="none" spc="0" baseline="0">
                <a:solidFill>
                  <a:srgbClr val="000000"/>
                </a:solidFill>
                <a:uFillTx/>
                <a:latin typeface="Calibri"/>
              </a:rPr>
              <a:t>. It can only be reused once the 2 calendar days have elapsed.</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endParaRPr lang="en-GB" sz="7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Quota ID Amendment Workaround</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in CDS when a quota ID is updated or removed via an amendment, the call out to advise the Quota Management System about the change is not being made. This occurs when the quota ID is within its own duty tax fee tag or if amending all elements of the duty tax fee. </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However, declarants should note that if the quota ID is present with other elements of duty tax fee, and the amendment is made just for the quota ID, there is no issue.</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8" name="Rectangle 43">
            <a:extLst>
              <a:ext uri="{FF2B5EF4-FFF2-40B4-BE49-F238E27FC236}">
                <a16:creationId xmlns:a16="http://schemas.microsoft.com/office/drawing/2014/main" id="{6F08BCA2-E126-4B74-AD6A-6407C6DCF35B}"/>
              </a:ext>
            </a:extLst>
          </p:cNvPr>
          <p:cNvSpPr/>
          <p:nvPr/>
        </p:nvSpPr>
        <p:spPr>
          <a:xfrm rot="16200004">
            <a:off x="-1296646" y="3133209"/>
            <a:ext cx="3734528" cy="268458"/>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sp>
        <p:nvSpPr>
          <p:cNvPr id="9" name="Rectangle 1">
            <a:extLst>
              <a:ext uri="{FF2B5EF4-FFF2-40B4-BE49-F238E27FC236}">
                <a16:creationId xmlns:a16="http://schemas.microsoft.com/office/drawing/2014/main" id="{3A51EB0F-EAEE-4619-BBF2-62958167B2D7}"/>
              </a:ext>
            </a:extLst>
          </p:cNvPr>
          <p:cNvSpPr/>
          <p:nvPr/>
        </p:nvSpPr>
        <p:spPr>
          <a:xfrm>
            <a:off x="363967" y="1059551"/>
            <a:ext cx="6952997" cy="27699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Declarants should follow the below declaration completion guidance when submitting declarations into CDS.</a:t>
            </a:r>
          </a:p>
        </p:txBody>
      </p:sp>
      <p:sp>
        <p:nvSpPr>
          <p:cNvPr id="11" name="Oval 39">
            <a:hlinkClick r:id="rId3" action="ppaction://hlinksldjump"/>
            <a:extLst>
              <a:ext uri="{FF2B5EF4-FFF2-40B4-BE49-F238E27FC236}">
                <a16:creationId xmlns:a16="http://schemas.microsoft.com/office/drawing/2014/main" id="{DE3742AF-2681-4339-B60C-F505E8C2912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0">
            <a:hlinkClick r:id="rId3" action="ppaction://hlinksldjump"/>
            <a:extLst>
              <a:ext uri="{FF2B5EF4-FFF2-40B4-BE49-F238E27FC236}">
                <a16:creationId xmlns:a16="http://schemas.microsoft.com/office/drawing/2014/main" id="{5AAF8EC4-8A50-4CB7-B02C-E6E7254C4AED}"/>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1">
            <a:hlinkClick r:id="rId4" action="ppaction://hlinksldjump"/>
            <a:extLst>
              <a:ext uri="{FF2B5EF4-FFF2-40B4-BE49-F238E27FC236}">
                <a16:creationId xmlns:a16="http://schemas.microsoft.com/office/drawing/2014/main" id="{EAB5730E-347A-4C32-9950-FFB9B8159E3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2">
            <a:hlinkClick r:id="rId5" action="ppaction://hlinksldjump"/>
            <a:extLst>
              <a:ext uri="{FF2B5EF4-FFF2-40B4-BE49-F238E27FC236}">
                <a16:creationId xmlns:a16="http://schemas.microsoft.com/office/drawing/2014/main" id="{BF0C6FB5-1E95-480D-8BF0-0ADAF30150B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44">
            <a:hlinkClick r:id="rId3" action="ppaction://hlinksldjump"/>
            <a:extLst>
              <a:ext uri="{FF2B5EF4-FFF2-40B4-BE49-F238E27FC236}">
                <a16:creationId xmlns:a16="http://schemas.microsoft.com/office/drawing/2014/main" id="{01F1B04F-88C4-431F-ACD6-E9F268FB659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45">
            <a:hlinkClick r:id="rId3" action="ppaction://hlinksldjump"/>
            <a:extLst>
              <a:ext uri="{FF2B5EF4-FFF2-40B4-BE49-F238E27FC236}">
                <a16:creationId xmlns:a16="http://schemas.microsoft.com/office/drawing/2014/main" id="{1D6049F6-A0BA-4212-A9EF-63FD1BAD5213}"/>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7" name="TextBox 46">
            <a:hlinkClick r:id="rId4" action="ppaction://hlinksldjump"/>
            <a:extLst>
              <a:ext uri="{FF2B5EF4-FFF2-40B4-BE49-F238E27FC236}">
                <a16:creationId xmlns:a16="http://schemas.microsoft.com/office/drawing/2014/main" id="{2FC367BB-1D6F-4A01-BB20-3B023E6C89E3}"/>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8" name="TextBox 47">
            <a:hlinkClick r:id="rId4" action="ppaction://hlinksldjump"/>
            <a:extLst>
              <a:ext uri="{FF2B5EF4-FFF2-40B4-BE49-F238E27FC236}">
                <a16:creationId xmlns:a16="http://schemas.microsoft.com/office/drawing/2014/main" id="{A95554AB-5B24-42FA-9A65-095B83248BF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48">
            <a:extLst>
              <a:ext uri="{FF2B5EF4-FFF2-40B4-BE49-F238E27FC236}">
                <a16:creationId xmlns:a16="http://schemas.microsoft.com/office/drawing/2014/main" id="{0F11FB3A-5D67-440C-88CD-8098AEE05481}"/>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49">
            <a:hlinkClick r:id="rId6" action="ppaction://hlinksldjump"/>
            <a:extLst>
              <a:ext uri="{FF2B5EF4-FFF2-40B4-BE49-F238E27FC236}">
                <a16:creationId xmlns:a16="http://schemas.microsoft.com/office/drawing/2014/main" id="{0E2AD1DE-B635-4D9B-9C29-2CCB889090D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hlinkClick r:id="rId3" action="ppaction://hlinksldjump"/>
            <a:extLst>
              <a:ext uri="{FF2B5EF4-FFF2-40B4-BE49-F238E27FC236}">
                <a16:creationId xmlns:a16="http://schemas.microsoft.com/office/drawing/2014/main" id="{5399FE4E-4B0C-4CAA-B801-495D765AAB08}"/>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1">
            <a:hlinkClick r:id="rId3" action="ppaction://hlinksldjump"/>
            <a:extLst>
              <a:ext uri="{FF2B5EF4-FFF2-40B4-BE49-F238E27FC236}">
                <a16:creationId xmlns:a16="http://schemas.microsoft.com/office/drawing/2014/main" id="{DBE2B228-B6B7-4F5E-84F9-F4008906151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838840276">
    <p:spTree>
      <p:nvGrpSpPr>
        <p:cNvPr id="1" name=""/>
        <p:cNvGrpSpPr/>
        <p:nvPr/>
      </p:nvGrpSpPr>
      <p:grpSpPr>
        <a:xfrm>
          <a:off x="0" y="0"/>
          <a:ext cx="0" cy="0"/>
          <a:chOff x="0" y="0"/>
          <a:chExt cx="0" cy="0"/>
        </a:xfrm>
      </p:grpSpPr>
      <p:cxnSp>
        <p:nvCxnSpPr>
          <p:cNvPr id="3" name="Straight Connector 11">
            <a:extLst>
              <a:ext uri="{FF2B5EF4-FFF2-40B4-BE49-F238E27FC236}">
                <a16:creationId xmlns:a16="http://schemas.microsoft.com/office/drawing/2014/main" id="{1F99451B-EED0-453C-B3E5-CF7F020D880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565D2FC-7F1D-4621-A871-21289B564AD2}"/>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Slide Number Placeholder 5">
            <a:extLst>
              <a:ext uri="{FF2B5EF4-FFF2-40B4-BE49-F238E27FC236}">
                <a16:creationId xmlns:a16="http://schemas.microsoft.com/office/drawing/2014/main" id="{81661E4A-7120-4DFC-8A48-079AF65780EC}"/>
              </a:ext>
            </a:extLst>
          </p:cNvPr>
          <p:cNvSpPr txBox="1"/>
          <p:nvPr/>
        </p:nvSpPr>
        <p:spPr>
          <a:xfrm>
            <a:off x="1170699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7F1FFEA-404E-4FF7-8E99-8378BD470702}" type="slidenum">
              <a:rPr sz="1200"/>
              <a:t>15</a:t>
            </a:fld>
            <a:endParaRPr lang="en-GB" sz="1200" b="0" i="0" u="none" strike="noStrike" kern="1200" cap="none" spc="0" baseline="0" dirty="0">
              <a:solidFill>
                <a:srgbClr val="000000"/>
              </a:solidFill>
              <a:uFillTx/>
              <a:latin typeface="Calibri"/>
            </a:endParaRPr>
          </a:p>
        </p:txBody>
      </p:sp>
      <p:sp>
        <p:nvSpPr>
          <p:cNvPr id="6" name="Rectangle 28">
            <a:extLst>
              <a:ext uri="{FF2B5EF4-FFF2-40B4-BE49-F238E27FC236}">
                <a16:creationId xmlns:a16="http://schemas.microsoft.com/office/drawing/2014/main" id="{08C59FF1-7E66-48E0-B982-D3DF0762792E}"/>
              </a:ext>
            </a:extLst>
          </p:cNvPr>
          <p:cNvSpPr/>
          <p:nvPr/>
        </p:nvSpPr>
        <p:spPr>
          <a:xfrm>
            <a:off x="486954" y="5584012"/>
            <a:ext cx="11419694" cy="34407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600"/>
              </a:spcAft>
              <a:buNone/>
              <a:tabLst/>
              <a:defRPr sz="1800" b="0" i="0" u="none" strike="noStrike" kern="0" cap="none" spc="0" baseline="0">
                <a:solidFill>
                  <a:srgbClr val="000000"/>
                </a:solidFill>
                <a:uFillTx/>
              </a:defRPr>
            </a:pPr>
            <a:endParaRPr lang="en-GB" sz="1600" b="1"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BB734EAF-809F-4F1E-8333-0E03EC943FFE}"/>
              </a:ext>
            </a:extLst>
          </p:cNvPr>
          <p:cNvSpPr/>
          <p:nvPr/>
        </p:nvSpPr>
        <p:spPr>
          <a:xfrm>
            <a:off x="319116" y="745254"/>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pitchFamily="34"/>
                <a:ea typeface="Calibri" pitchFamily="34"/>
              </a:rPr>
              <a:t>Declaration Submission</a:t>
            </a:r>
            <a:endParaRPr lang="en-GB" sz="2000" b="1" i="0" u="none" strike="noStrike" kern="1200" cap="none" spc="0" baseline="0">
              <a:solidFill>
                <a:srgbClr val="000000"/>
              </a:solidFill>
              <a:uFillTx/>
              <a:latin typeface="Calibri" pitchFamily="34"/>
              <a:ea typeface="Calibri" pitchFamily="34"/>
            </a:endParaRPr>
          </a:p>
        </p:txBody>
      </p:sp>
      <p:grpSp>
        <p:nvGrpSpPr>
          <p:cNvPr id="8" name="Group 16">
            <a:extLst>
              <a:ext uri="{FF2B5EF4-FFF2-40B4-BE49-F238E27FC236}">
                <a16:creationId xmlns:a16="http://schemas.microsoft.com/office/drawing/2014/main" id="{0F6915AD-41C8-417D-870B-6A55FD6FEDB3}"/>
              </a:ext>
            </a:extLst>
          </p:cNvPr>
          <p:cNvGrpSpPr/>
          <p:nvPr/>
        </p:nvGrpSpPr>
        <p:grpSpPr>
          <a:xfrm>
            <a:off x="402894" y="2628158"/>
            <a:ext cx="11443879" cy="3141266"/>
            <a:chOff x="402894" y="2628158"/>
            <a:chExt cx="11443879" cy="3141266"/>
          </a:xfrm>
        </p:grpSpPr>
        <p:sp>
          <p:nvSpPr>
            <p:cNvPr id="9" name="Rectangle 33">
              <a:extLst>
                <a:ext uri="{FF2B5EF4-FFF2-40B4-BE49-F238E27FC236}">
                  <a16:creationId xmlns:a16="http://schemas.microsoft.com/office/drawing/2014/main" id="{9B6E1D58-4F9C-40B2-B315-7952B248E3E5}"/>
                </a:ext>
              </a:extLst>
            </p:cNvPr>
            <p:cNvSpPr/>
            <p:nvPr/>
          </p:nvSpPr>
          <p:spPr>
            <a:xfrm>
              <a:off x="416609" y="2639397"/>
              <a:ext cx="11430164" cy="2995034"/>
            </a:xfrm>
            <a:prstGeom prst="rect">
              <a:avLst/>
            </a:prstGeom>
            <a:solidFill>
              <a:srgbClr val="E7FFFF"/>
            </a:solidFill>
            <a:ln w="12701" cap="flat">
              <a:solidFill>
                <a:srgbClr val="E7FFFF"/>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34">
              <a:extLst>
                <a:ext uri="{FF2B5EF4-FFF2-40B4-BE49-F238E27FC236}">
                  <a16:creationId xmlns:a16="http://schemas.microsoft.com/office/drawing/2014/main" id="{51885273-B422-41EE-ACB7-E24C73EE5CDB}"/>
                </a:ext>
              </a:extLst>
            </p:cNvPr>
            <p:cNvSpPr txBox="1"/>
            <p:nvPr/>
          </p:nvSpPr>
          <p:spPr>
            <a:xfrm>
              <a:off x="625458" y="2653186"/>
              <a:ext cx="11043281" cy="3116238"/>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Declaration Representation</a:t>
              </a: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Current guidance in UK Trade Tariff for CDS states that when D.E. 3/21 is completed, either 3/19 or 3/20 is only required if there is a representative who is different from the declarant declared in D.E. 3/17 or 3/18.</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However, on CDS currently, declarants should follow the below completion guidance below when declaring direct/indirect representation:</a:t>
              </a:r>
            </a:p>
            <a:p>
              <a:pPr marL="228600" marR="0" lvl="0" indent="-228600" algn="l" defTabSz="914400" rtl="0" fontAlgn="auto" hangingPunct="1">
                <a:lnSpc>
                  <a:spcPct val="100000"/>
                </a:lnSpc>
                <a:spcBef>
                  <a:spcPts val="300"/>
                </a:spcBef>
                <a:spcAft>
                  <a:spcPts val="0"/>
                </a:spcAft>
                <a:buSzPct val="100000"/>
                <a:buFont typeface="Calibri Light"/>
                <a:buAutoNum type="arabicPeriod"/>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export declarations, CDS is currently mandating the completion of the representative's details in D.E. 3/19 or D.E. 3/20, when a representative status code is populated in D.E. 3/21. This applies even when the Representative is the same Party as the Declarant and regardless of whether the status code is “2” (Direct Representation) or “3” (Indirect Representation).  </a:t>
              </a:r>
            </a:p>
            <a:p>
              <a:pPr marL="228600" marR="0" lvl="0" indent="-228600" algn="l" defTabSz="914400" rtl="0" fontAlgn="auto" hangingPunct="1">
                <a:lnSpc>
                  <a:spcPct val="100000"/>
                </a:lnSpc>
                <a:spcBef>
                  <a:spcPts val="300"/>
                </a:spcBef>
                <a:spcAft>
                  <a:spcPts val="0"/>
                </a:spcAft>
                <a:buSzPct val="100000"/>
                <a:buFont typeface="Calibri Light"/>
                <a:buAutoNum type="arabicPeriod"/>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import declarations, CDS is not currently mandating the completion of representative's details in DE 3/19 or DE 3/20 when a representative status code (be it ‘2’ or ‘3’) is populated in DE 3/21.</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Self Representation EORIs</a:t>
              </a:r>
            </a:p>
            <a:p>
              <a:pPr marL="342900" marR="0" lvl="0" indent="-342900" algn="l" defTabSz="914400" rtl="0" fontAlgn="auto" hangingPunct="1">
                <a:lnSpc>
                  <a:spcPct val="100000"/>
                </a:lnSpc>
                <a:spcBef>
                  <a:spcPts val="300"/>
                </a:spcBef>
                <a:spcAft>
                  <a:spcPts val="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It should be noted the Importer’s EORI – not the Importer’s name and address – should be entered in D.E. 3/16 in cases of self-representation. In these cases, both the declarant’s EORI and Importer’s EORI should be declared.</a:t>
              </a:r>
            </a:p>
            <a:p>
              <a:pPr marL="342900" marR="0" lvl="0" indent="-342900" algn="l" defTabSz="914400" rtl="0" fontAlgn="auto" hangingPunct="1">
                <a:lnSpc>
                  <a:spcPct val="100000"/>
                </a:lnSpc>
                <a:spcBef>
                  <a:spcPts val="300"/>
                </a:spcBef>
                <a:spcAft>
                  <a:spcPts val="0"/>
                </a:spcAft>
                <a:buSzPct val="100000"/>
                <a:buFont typeface="Calibri Light"/>
                <a:buAutoNum type="arabicPeriod"/>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1" name="Rectangle 43">
              <a:extLst>
                <a:ext uri="{FF2B5EF4-FFF2-40B4-BE49-F238E27FC236}">
                  <a16:creationId xmlns:a16="http://schemas.microsoft.com/office/drawing/2014/main" id="{797618F4-3B66-4592-939D-1F35A9FECEA2}"/>
                </a:ext>
              </a:extLst>
            </p:cNvPr>
            <p:cNvSpPr/>
            <p:nvPr/>
          </p:nvSpPr>
          <p:spPr>
            <a:xfrm rot="16200004">
              <a:off x="-982500" y="4013552"/>
              <a:ext cx="2993343" cy="222555"/>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grpSp>
      <p:sp>
        <p:nvSpPr>
          <p:cNvPr id="12" name="Rectangle 25">
            <a:extLst>
              <a:ext uri="{FF2B5EF4-FFF2-40B4-BE49-F238E27FC236}">
                <a16:creationId xmlns:a16="http://schemas.microsoft.com/office/drawing/2014/main" id="{BD1C0E1F-F03E-4F9F-B588-C8BFB6C1D847}"/>
              </a:ext>
            </a:extLst>
          </p:cNvPr>
          <p:cNvSpPr/>
          <p:nvPr/>
        </p:nvSpPr>
        <p:spPr>
          <a:xfrm>
            <a:off x="314507" y="1091921"/>
            <a:ext cx="3334377"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Pre-lodged Declaration Timer in Trade Test</a:t>
            </a:r>
          </a:p>
        </p:txBody>
      </p:sp>
      <p:graphicFrame>
        <p:nvGraphicFramePr>
          <p:cNvPr id="13" name="Table 5">
            <a:extLst>
              <a:ext uri="{FF2B5EF4-FFF2-40B4-BE49-F238E27FC236}">
                <a16:creationId xmlns:a16="http://schemas.microsoft.com/office/drawing/2014/main" id="{20422D3A-C4BE-4DE8-BE0C-37A0467604AE}"/>
              </a:ext>
            </a:extLst>
          </p:cNvPr>
          <p:cNvGraphicFramePr>
            <a:graphicFrameLocks noGrp="1"/>
          </p:cNvGraphicFramePr>
          <p:nvPr/>
        </p:nvGraphicFramePr>
        <p:xfrm>
          <a:off x="402902" y="1445364"/>
          <a:ext cx="11186631" cy="1097280"/>
        </p:xfrm>
        <a:graphic>
          <a:graphicData uri="http://schemas.openxmlformats.org/drawingml/2006/table">
            <a:tbl>
              <a:tblPr firstRow="1" bandRow="1">
                <a:effectLst/>
                <a:tableStyleId>{5C22544A-7EE6-4342-B048-85BDC9FD1C3A}</a:tableStyleId>
              </a:tblPr>
              <a:tblGrid>
                <a:gridCol w="4230992">
                  <a:extLst>
                    <a:ext uri="{9D8B030D-6E8A-4147-A177-3AD203B41FA5}">
                      <a16:colId xmlns:a16="http://schemas.microsoft.com/office/drawing/2014/main" val="2860805501"/>
                    </a:ext>
                  </a:extLst>
                </a:gridCol>
                <a:gridCol w="6955639">
                  <a:extLst>
                    <a:ext uri="{9D8B030D-6E8A-4147-A177-3AD203B41FA5}">
                      <a16:colId xmlns:a16="http://schemas.microsoft.com/office/drawing/2014/main" val="447841380"/>
                    </a:ext>
                  </a:extLst>
                </a:gridCol>
              </a:tblGrid>
              <a:tr h="215258">
                <a:tc>
                  <a:txBody>
                    <a:bodyPr/>
                    <a:lstStyle/>
                    <a:p>
                      <a:pPr lvl="0"/>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solidFill>
                      <a:srgbClr val="4472C4"/>
                    </a:solidFill>
                  </a:tcPr>
                </a:tc>
                <a:extLst>
                  <a:ext uri="{0D108BD9-81ED-4DB2-BD59-A6C34878D82A}">
                    <a16:rowId xmlns:a16="http://schemas.microsoft.com/office/drawing/2014/main" val="2194426394"/>
                  </a:ext>
                </a:extLst>
              </a:tr>
              <a:tr h="715124">
                <a:tc>
                  <a:txBody>
                    <a:bodyPr/>
                    <a:lstStyle/>
                    <a:p>
                      <a:pPr lvl="0">
                        <a:spcAft>
                          <a:spcPts val="600"/>
                        </a:spcAft>
                      </a:pPr>
                      <a:r>
                        <a:rPr lang="en-GB" sz="1200"/>
                        <a:t>Following the submission of a pre-lodged declaration, the declaration will become arrived following the submission of a Goods Presentation Notice (GPN).</a:t>
                      </a:r>
                    </a:p>
                  </a:txBody>
                  <a:tcPr>
                    <a:lnR w="57150" cap="flat" cmpd="sng" algn="ctr">
                      <a:solidFill>
                        <a:srgbClr val="FFFFFF"/>
                      </a:solidFill>
                      <a:prstDash val="solid"/>
                      <a:round/>
                      <a:headEnd type="none" w="med" len="med"/>
                      <a:tailEnd type="none" w="med" len="med"/>
                    </a:lnR>
                    <a:solidFill>
                      <a:srgbClr val="F2F2F2"/>
                    </a:solidFill>
                  </a:tcPr>
                </a:tc>
                <a:tc>
                  <a:txBody>
                    <a:bodyPr/>
                    <a:lstStyle/>
                    <a:p>
                      <a:pPr lvl="0">
                        <a:spcAft>
                          <a:spcPts val="600"/>
                        </a:spcAft>
                      </a:pPr>
                      <a:r>
                        <a:rPr lang="en-GB" sz="1200" b="0" dirty="0"/>
                        <a:t>The timeframe within which pre-lodged declarations must be arrived in Trade Test has been </a:t>
                      </a:r>
                      <a:r>
                        <a:rPr lang="en-GB" sz="1200" b="1" dirty="0"/>
                        <a:t>reduced from 30 days to 10 days </a:t>
                      </a:r>
                      <a:r>
                        <a:rPr lang="en-GB" sz="1200" b="0" dirty="0"/>
                        <a:t>as part of TTM10.3 to allow testing of these scenarios on an accelerated timeline. Once the 10 day timer has expired, the pre-lodged declaration will be rejected. This feature is </a:t>
                      </a:r>
                      <a:r>
                        <a:rPr lang="en-GB" sz="1200" b="1" dirty="0"/>
                        <a:t>not</a:t>
                      </a:r>
                      <a:r>
                        <a:rPr lang="en-GB" sz="1200" b="0" dirty="0"/>
                        <a:t> available in Trader Dress Rehearsal and the timeframe remains 30 days for pre-lodged declarations to be arrived  in TDR. </a:t>
                      </a:r>
                    </a:p>
                  </a:txBody>
                  <a:tcPr>
                    <a:lnL w="57150" cap="flat" cmpd="sng" algn="ctr">
                      <a:solidFill>
                        <a:srgbClr val="FFFFFF"/>
                      </a:solidFill>
                      <a:prstDash val="solid"/>
                      <a:round/>
                      <a:headEnd type="none" w="med" len="med"/>
                      <a:tailEnd type="none" w="med" len="med"/>
                    </a:lnL>
                    <a:solidFill>
                      <a:srgbClr val="F2F2F2"/>
                    </a:solidFill>
                  </a:tcPr>
                </a:tc>
                <a:extLst>
                  <a:ext uri="{0D108BD9-81ED-4DB2-BD59-A6C34878D82A}">
                    <a16:rowId xmlns:a16="http://schemas.microsoft.com/office/drawing/2014/main" val="2135190762"/>
                  </a:ext>
                </a:extLst>
              </a:tr>
            </a:tbl>
          </a:graphicData>
        </a:graphic>
      </p:graphicFrame>
      <p:sp>
        <p:nvSpPr>
          <p:cNvPr id="14" name="Oval 45">
            <a:hlinkClick r:id="rId3" action="ppaction://hlinksldjump"/>
            <a:extLst>
              <a:ext uri="{FF2B5EF4-FFF2-40B4-BE49-F238E27FC236}">
                <a16:creationId xmlns:a16="http://schemas.microsoft.com/office/drawing/2014/main" id="{414322D2-6523-4768-B66B-9D635F5BD7F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6">
            <a:hlinkClick r:id="rId3" action="ppaction://hlinksldjump"/>
            <a:extLst>
              <a:ext uri="{FF2B5EF4-FFF2-40B4-BE49-F238E27FC236}">
                <a16:creationId xmlns:a16="http://schemas.microsoft.com/office/drawing/2014/main" id="{3182DE19-41D1-4914-A7F1-54C8BE3B416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47">
            <a:hlinkClick r:id="rId4" action="ppaction://hlinksldjump"/>
            <a:extLst>
              <a:ext uri="{FF2B5EF4-FFF2-40B4-BE49-F238E27FC236}">
                <a16:creationId xmlns:a16="http://schemas.microsoft.com/office/drawing/2014/main" id="{6BBDA61E-A26E-4BB4-B74F-64600B3A97E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48">
            <a:hlinkClick r:id="rId5" action="ppaction://hlinksldjump"/>
            <a:extLst>
              <a:ext uri="{FF2B5EF4-FFF2-40B4-BE49-F238E27FC236}">
                <a16:creationId xmlns:a16="http://schemas.microsoft.com/office/drawing/2014/main" id="{D4200D59-A535-44E4-9AE3-72D29528477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49">
            <a:hlinkClick r:id="rId3" action="ppaction://hlinksldjump"/>
            <a:extLst>
              <a:ext uri="{FF2B5EF4-FFF2-40B4-BE49-F238E27FC236}">
                <a16:creationId xmlns:a16="http://schemas.microsoft.com/office/drawing/2014/main" id="{25ED9209-1346-4C13-B736-E9D429DC3B5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50">
            <a:hlinkClick r:id="rId3" action="ppaction://hlinksldjump"/>
            <a:extLst>
              <a:ext uri="{FF2B5EF4-FFF2-40B4-BE49-F238E27FC236}">
                <a16:creationId xmlns:a16="http://schemas.microsoft.com/office/drawing/2014/main" id="{9AB058FA-0230-4627-A7A7-44E466C2BD7F}"/>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0" name="TextBox 51">
            <a:hlinkClick r:id="rId4" action="ppaction://hlinksldjump"/>
            <a:extLst>
              <a:ext uri="{FF2B5EF4-FFF2-40B4-BE49-F238E27FC236}">
                <a16:creationId xmlns:a16="http://schemas.microsoft.com/office/drawing/2014/main" id="{C81F6D26-90B0-4C4D-AE34-1AA1BB6284E3}"/>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1" name="TextBox 52">
            <a:hlinkClick r:id="rId4" action="ppaction://hlinksldjump"/>
            <a:extLst>
              <a:ext uri="{FF2B5EF4-FFF2-40B4-BE49-F238E27FC236}">
                <a16:creationId xmlns:a16="http://schemas.microsoft.com/office/drawing/2014/main" id="{DC200616-B85A-4300-99C3-84873367864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53">
            <a:extLst>
              <a:ext uri="{FF2B5EF4-FFF2-40B4-BE49-F238E27FC236}">
                <a16:creationId xmlns:a16="http://schemas.microsoft.com/office/drawing/2014/main" id="{C9845937-9B8A-4253-9729-F67646A9D87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55">
            <a:hlinkClick r:id="rId6" action="ppaction://hlinksldjump"/>
            <a:extLst>
              <a:ext uri="{FF2B5EF4-FFF2-40B4-BE49-F238E27FC236}">
                <a16:creationId xmlns:a16="http://schemas.microsoft.com/office/drawing/2014/main" id="{4E2ABA61-9F0A-4763-939A-C1530C89EA0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3" action="ppaction://hlinksldjump"/>
            <a:extLst>
              <a:ext uri="{FF2B5EF4-FFF2-40B4-BE49-F238E27FC236}">
                <a16:creationId xmlns:a16="http://schemas.microsoft.com/office/drawing/2014/main" id="{E53D6395-A254-42C5-85ED-9F8A32135B15}"/>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57">
            <a:hlinkClick r:id="rId3" action="ppaction://hlinksldjump"/>
            <a:extLst>
              <a:ext uri="{FF2B5EF4-FFF2-40B4-BE49-F238E27FC236}">
                <a16:creationId xmlns:a16="http://schemas.microsoft.com/office/drawing/2014/main" id="{FDFE128B-E65A-44ED-A25D-BD268DAFDCD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110">
    <p:spTree>
      <p:nvGrpSpPr>
        <p:cNvPr id="1" name=""/>
        <p:cNvGrpSpPr/>
        <p:nvPr/>
      </p:nvGrpSpPr>
      <p:grpSpPr>
        <a:xfrm>
          <a:off x="0" y="0"/>
          <a:ext cx="0" cy="0"/>
          <a:chOff x="0" y="0"/>
          <a:chExt cx="0" cy="0"/>
        </a:xfrm>
      </p:grpSpPr>
      <p:sp>
        <p:nvSpPr>
          <p:cNvPr id="2" name="Rectangle 13">
            <a:extLst>
              <a:ext uri="{FF2B5EF4-FFF2-40B4-BE49-F238E27FC236}">
                <a16:creationId xmlns:a16="http://schemas.microsoft.com/office/drawing/2014/main" id="{40D128EF-8C47-43D3-AA9A-D46A5E1CDBF2}"/>
              </a:ext>
            </a:extLst>
          </p:cNvPr>
          <p:cNvSpPr/>
          <p:nvPr/>
        </p:nvSpPr>
        <p:spPr>
          <a:xfrm>
            <a:off x="382411" y="1155755"/>
            <a:ext cx="11501350" cy="156965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4841876"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To achieve full customs control on EU goods, at locations with limited space or infrastructure, we are introducing the Goods Vehicle Movement Service (GVMS) to support the Pre-Lodgement model for both imports and exports and to facilitate Transit movements. The GVMS solution is an IT component that enables declaration references to be linked together so that the person moving the goods (e.g. a driver/ Haulier) only has to present one single reference, the Goods Movement Reference (GMR), at the frontier to prove that all the necessary declarations have been pre-lodged for the goods on the vehicle. GVMS is the process that facilitates customs control by linking information on where the goods are to information on their customs status.</a:t>
            </a:r>
          </a:p>
          <a:p>
            <a:pPr marL="0" marR="0" lvl="0" indent="0" algn="l" defTabSz="914400" rtl="0" fontAlgn="auto" hangingPunct="1">
              <a:lnSpc>
                <a:spcPct val="100000"/>
              </a:lnSpc>
              <a:spcBef>
                <a:spcPts val="0"/>
              </a:spcBef>
              <a:spcAft>
                <a:spcPts val="0"/>
              </a:spcAft>
              <a:buNone/>
              <a:tabLst>
                <a:tab pos="4841876"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4841876"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Customs Declarations will need to continue to be made into the relevant customs declaration systems such as CHIEF and CDS. Transit declarations will be made into New Computerised Transit System (NCTS) as normal.  </a:t>
            </a:r>
          </a:p>
        </p:txBody>
      </p:sp>
      <p:grpSp>
        <p:nvGrpSpPr>
          <p:cNvPr id="3" name="Group 12">
            <a:extLst>
              <a:ext uri="{FF2B5EF4-FFF2-40B4-BE49-F238E27FC236}">
                <a16:creationId xmlns:a16="http://schemas.microsoft.com/office/drawing/2014/main" id="{31E5EE65-DCF7-4D0A-A181-019B65FB74DB}"/>
              </a:ext>
            </a:extLst>
          </p:cNvPr>
          <p:cNvGrpSpPr/>
          <p:nvPr/>
        </p:nvGrpSpPr>
        <p:grpSpPr>
          <a:xfrm>
            <a:off x="452006" y="3046186"/>
            <a:ext cx="11464061" cy="1510470"/>
            <a:chOff x="452006" y="3046186"/>
            <a:chExt cx="11464061" cy="1510470"/>
          </a:xfrm>
        </p:grpSpPr>
        <p:sp>
          <p:nvSpPr>
            <p:cNvPr id="4" name="Rectangle 13">
              <a:extLst>
                <a:ext uri="{FF2B5EF4-FFF2-40B4-BE49-F238E27FC236}">
                  <a16:creationId xmlns:a16="http://schemas.microsoft.com/office/drawing/2014/main" id="{046C704F-8824-4048-9AB7-8061D436D9FF}"/>
                </a:ext>
              </a:extLst>
            </p:cNvPr>
            <p:cNvSpPr/>
            <p:nvPr/>
          </p:nvSpPr>
          <p:spPr>
            <a:xfrm>
              <a:off x="452006" y="3276304"/>
              <a:ext cx="11464061" cy="1280352"/>
            </a:xfrm>
            <a:prstGeom prst="rect">
              <a:avLst/>
            </a:prstGeom>
            <a:solidFill>
              <a:srgbClr val="E6D5F3"/>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new arrangements for UK-EU customs trade, the Northern Ireland Protocol </a:t>
              </a:r>
              <a:r>
                <a:rPr lang="en-GB" sz="1200" b="1" i="0" u="none" strike="noStrike" kern="1200" cap="none" spc="0" baseline="0">
                  <a:solidFill>
                    <a:srgbClr val="000000"/>
                  </a:solidFill>
                  <a:uFillTx/>
                  <a:latin typeface="Calibri"/>
                </a:rPr>
                <a:t>(NIP)</a:t>
              </a:r>
              <a:r>
                <a:rPr lang="en-GB" sz="1200" b="0" i="0" u="none" strike="noStrike" kern="1200" cap="none" spc="0" baseline="0">
                  <a:solidFill>
                    <a:srgbClr val="000000"/>
                  </a:solidFill>
                  <a:uFillTx/>
                  <a:latin typeface="Calibri"/>
                </a:rPr>
                <a:t>, will be supported by the Goods Vehicle Movement Service </a:t>
              </a:r>
              <a:r>
                <a:rPr lang="en-GB" sz="1200" b="1" i="0" u="none" strike="noStrike" kern="1200" cap="none" spc="0" baseline="0">
                  <a:solidFill>
                    <a:srgbClr val="000000"/>
                  </a:solidFill>
                  <a:uFillTx/>
                  <a:latin typeface="Calibri"/>
                </a:rPr>
                <a:t>(GVMS) </a:t>
              </a:r>
              <a:r>
                <a:rPr lang="en-GB" sz="1200" b="0" i="0" u="none" strike="noStrike" kern="1200" cap="none" spc="0" baseline="0">
                  <a:solidFill>
                    <a:srgbClr val="000000"/>
                  </a:solidFill>
                  <a:uFillTx/>
                  <a:latin typeface="Calibri"/>
                </a:rPr>
                <a:t>and changes will be made to HMRC’s CDS to implement these new processes.</a:t>
              </a:r>
              <a:r>
                <a:rPr lang="en-GB" sz="1200" b="0" i="0" u="none" strike="noStrike" kern="1200" cap="none" spc="0" baseline="0">
                  <a:solidFill>
                    <a:srgbClr val="000000"/>
                  </a:solidFill>
                  <a:uFillTx/>
                  <a:latin typeface="Calibri"/>
                  <a:cs typeface="Arial"/>
                </a:rPr>
                <a:t> </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7000"/>
                </a:lnSpc>
                <a:spcBef>
                  <a:spcPts val="300"/>
                </a:spcBef>
                <a:spcAft>
                  <a:spcPts val="0"/>
                </a:spcAft>
                <a:buNone/>
                <a:tabLst/>
                <a:defRPr sz="1800" b="0" i="0" u="none" strike="noStrike" kern="0" cap="none" spc="0" baseline="0">
                  <a:solidFill>
                    <a:srgbClr val="000000"/>
                  </a:solidFill>
                  <a:uFillTx/>
                </a:defRPr>
              </a:pPr>
              <a:endParaRPr lang="en-GB" sz="700" b="0" i="0" u="none" strike="noStrike" kern="1200" cap="none" spc="0" baseline="0">
                <a:solidFill>
                  <a:srgbClr val="000000"/>
                </a:solidFill>
                <a:uFillTx/>
                <a:latin typeface="Calibri"/>
                <a:cs typeface="Arial"/>
              </a:endParaRPr>
            </a:p>
            <a:p>
              <a:pPr marL="0" marR="0" lvl="0" indent="0" algn="l" defTabSz="914400" rtl="0" fontAlgn="auto" hangingPunct="1">
                <a:lnSpc>
                  <a:spcPct val="107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cs typeface="Arial"/>
                </a:rPr>
                <a:t>The pre-lodgement model will enable HMRC to operationalise our NIP commitments, ensuring we comply with the UCC whilst avoiding new infrastructure. For all movements through locations operating a pre-lodgement model and using GVMS, a pre-lodged declaration (import or export) must be in submitted before boarding. This includes GB-NI Imports and NI-GB Exports. In these scenarios, both NI AI codes and GVMS AI codes must be declared on the declaration</a:t>
              </a:r>
            </a:p>
          </p:txBody>
        </p:sp>
        <p:sp>
          <p:nvSpPr>
            <p:cNvPr id="5" name="Rectangle 14">
              <a:extLst>
                <a:ext uri="{FF2B5EF4-FFF2-40B4-BE49-F238E27FC236}">
                  <a16:creationId xmlns:a16="http://schemas.microsoft.com/office/drawing/2014/main" id="{0EC59967-C933-4E9E-AC30-E7544AE4689E}"/>
                </a:ext>
              </a:extLst>
            </p:cNvPr>
            <p:cNvSpPr/>
            <p:nvPr/>
          </p:nvSpPr>
          <p:spPr>
            <a:xfrm>
              <a:off x="452006" y="3046186"/>
              <a:ext cx="11464061" cy="225893"/>
            </a:xfrm>
            <a:prstGeom prst="rect">
              <a:avLst/>
            </a:prstGeom>
            <a:solidFill>
              <a:srgbClr val="7030A0"/>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GVMS &amp; NI Protocol</a:t>
              </a:r>
            </a:p>
          </p:txBody>
        </p:sp>
      </p:grpSp>
      <p:sp>
        <p:nvSpPr>
          <p:cNvPr id="6" name="Rectangle 4">
            <a:extLst>
              <a:ext uri="{FF2B5EF4-FFF2-40B4-BE49-F238E27FC236}">
                <a16:creationId xmlns:a16="http://schemas.microsoft.com/office/drawing/2014/main" id="{3FF7C036-D249-47DB-84FB-1F35C8657036}"/>
              </a:ext>
            </a:extLst>
          </p:cNvPr>
          <p:cNvSpPr/>
          <p:nvPr/>
        </p:nvSpPr>
        <p:spPr>
          <a:xfrm>
            <a:off x="382411" y="743745"/>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Good Vehicle Movement Service (GVMS)</a:t>
            </a:r>
          </a:p>
        </p:txBody>
      </p:sp>
      <p:cxnSp>
        <p:nvCxnSpPr>
          <p:cNvPr id="7" name="Straight Connector 11">
            <a:extLst>
              <a:ext uri="{FF2B5EF4-FFF2-40B4-BE49-F238E27FC236}">
                <a16:creationId xmlns:a16="http://schemas.microsoft.com/office/drawing/2014/main" id="{1138A4B7-79F9-46C5-92E6-915F9943E6E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8" name="TextBox 12">
            <a:extLst>
              <a:ext uri="{FF2B5EF4-FFF2-40B4-BE49-F238E27FC236}">
                <a16:creationId xmlns:a16="http://schemas.microsoft.com/office/drawing/2014/main" id="{2B3AC083-D84D-459B-8013-20D9338FCBF8}"/>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10" name="Slide Number Placeholder 5">
            <a:extLst>
              <a:ext uri="{FF2B5EF4-FFF2-40B4-BE49-F238E27FC236}">
                <a16:creationId xmlns:a16="http://schemas.microsoft.com/office/drawing/2014/main" id="{CA816FE8-C258-41CF-B076-0FCC18039FCE}"/>
              </a:ext>
            </a:extLst>
          </p:cNvPr>
          <p:cNvSpPr txBox="1"/>
          <p:nvPr/>
        </p:nvSpPr>
        <p:spPr>
          <a:xfrm>
            <a:off x="1169635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58D9EF-4B34-4DBC-8145-6F6F749BFC3B}" type="slidenum">
              <a:rPr sz="1200"/>
              <a:t>16</a:t>
            </a:fld>
            <a:endParaRPr lang="en-GB" sz="1200" b="0" i="0" u="none" strike="noStrike" kern="1200" cap="none" spc="0" baseline="0" dirty="0">
              <a:solidFill>
                <a:srgbClr val="000000"/>
              </a:solidFill>
              <a:uFillTx/>
              <a:latin typeface="Calibri"/>
            </a:endParaRPr>
          </a:p>
        </p:txBody>
      </p:sp>
      <p:sp>
        <p:nvSpPr>
          <p:cNvPr id="11" name="Oval 55">
            <a:hlinkClick r:id="rId3" action="ppaction://hlinksldjump"/>
            <a:extLst>
              <a:ext uri="{FF2B5EF4-FFF2-40B4-BE49-F238E27FC236}">
                <a16:creationId xmlns:a16="http://schemas.microsoft.com/office/drawing/2014/main" id="{F23077AF-5FAD-4BA3-8199-434736A455D2}"/>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56">
            <a:hlinkClick r:id="rId3" action="ppaction://hlinksldjump"/>
            <a:extLst>
              <a:ext uri="{FF2B5EF4-FFF2-40B4-BE49-F238E27FC236}">
                <a16:creationId xmlns:a16="http://schemas.microsoft.com/office/drawing/2014/main" id="{0D73D0B1-5338-4BBF-AD05-63D0F295B19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57">
            <a:hlinkClick r:id="rId4" action="ppaction://hlinksldjump"/>
            <a:extLst>
              <a:ext uri="{FF2B5EF4-FFF2-40B4-BE49-F238E27FC236}">
                <a16:creationId xmlns:a16="http://schemas.microsoft.com/office/drawing/2014/main" id="{7F2A1461-6B35-454A-91EF-B8C93E302436}"/>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58">
            <a:hlinkClick r:id="rId5" action="ppaction://hlinksldjump"/>
            <a:extLst>
              <a:ext uri="{FF2B5EF4-FFF2-40B4-BE49-F238E27FC236}">
                <a16:creationId xmlns:a16="http://schemas.microsoft.com/office/drawing/2014/main" id="{767988F5-8278-4905-898C-CBF27FD85107}"/>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59">
            <a:hlinkClick r:id="rId3" action="ppaction://hlinksldjump"/>
            <a:extLst>
              <a:ext uri="{FF2B5EF4-FFF2-40B4-BE49-F238E27FC236}">
                <a16:creationId xmlns:a16="http://schemas.microsoft.com/office/drawing/2014/main" id="{C956991F-3FDA-4915-B3B8-53E486E9D5F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60">
            <a:hlinkClick r:id="rId3" action="ppaction://hlinksldjump"/>
            <a:extLst>
              <a:ext uri="{FF2B5EF4-FFF2-40B4-BE49-F238E27FC236}">
                <a16:creationId xmlns:a16="http://schemas.microsoft.com/office/drawing/2014/main" id="{569C7B2D-B628-41DA-9AF9-D84888522D8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17" name="TextBox 61">
            <a:hlinkClick r:id="rId4" action="ppaction://hlinksldjump"/>
            <a:extLst>
              <a:ext uri="{FF2B5EF4-FFF2-40B4-BE49-F238E27FC236}">
                <a16:creationId xmlns:a16="http://schemas.microsoft.com/office/drawing/2014/main" id="{17A41FFE-35E6-458D-B09F-FEBFEAC3794E}"/>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8" name="TextBox 62">
            <a:hlinkClick r:id="rId4" action="ppaction://hlinksldjump"/>
            <a:extLst>
              <a:ext uri="{FF2B5EF4-FFF2-40B4-BE49-F238E27FC236}">
                <a16:creationId xmlns:a16="http://schemas.microsoft.com/office/drawing/2014/main" id="{380065F9-25AF-4352-A7C7-FFAF195B79FC}"/>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63">
            <a:extLst>
              <a:ext uri="{FF2B5EF4-FFF2-40B4-BE49-F238E27FC236}">
                <a16:creationId xmlns:a16="http://schemas.microsoft.com/office/drawing/2014/main" id="{31150480-3737-4C1B-A0BA-B8F9C052C7F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64">
            <a:hlinkClick r:id="rId6" action="ppaction://hlinksldjump"/>
            <a:extLst>
              <a:ext uri="{FF2B5EF4-FFF2-40B4-BE49-F238E27FC236}">
                <a16:creationId xmlns:a16="http://schemas.microsoft.com/office/drawing/2014/main" id="{90E439EE-8373-4551-8211-7BBAE09DD70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hlinkClick r:id="rId3" action="ppaction://hlinksldjump"/>
            <a:extLst>
              <a:ext uri="{FF2B5EF4-FFF2-40B4-BE49-F238E27FC236}">
                <a16:creationId xmlns:a16="http://schemas.microsoft.com/office/drawing/2014/main" id="{072C2F63-5DC5-4F14-98DD-A5BF2A7BC315}"/>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66">
            <a:hlinkClick r:id="rId3" action="ppaction://hlinksldjump"/>
            <a:extLst>
              <a:ext uri="{FF2B5EF4-FFF2-40B4-BE49-F238E27FC236}">
                <a16:creationId xmlns:a16="http://schemas.microsoft.com/office/drawing/2014/main" id="{88DF45F4-3A2A-407D-9492-E7CDEA60E594}"/>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838840330">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42AD46DD-9A13-40A6-8F76-C9CB1986240B}"/>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740BD33A-683E-432C-AC0E-98DA84E48CB1}"/>
              </a:ext>
            </a:extLst>
          </p:cNvPr>
          <p:cNvSpPr txBox="1"/>
          <p:nvPr/>
        </p:nvSpPr>
        <p:spPr>
          <a:xfrm>
            <a:off x="391280" y="261225"/>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9">
            <a:extLst>
              <a:ext uri="{FF2B5EF4-FFF2-40B4-BE49-F238E27FC236}">
                <a16:creationId xmlns:a16="http://schemas.microsoft.com/office/drawing/2014/main" id="{558EC13F-70B2-40BB-AA5D-E038433B0E1F}"/>
              </a:ext>
            </a:extLst>
          </p:cNvPr>
          <p:cNvSpPr/>
          <p:nvPr/>
        </p:nvSpPr>
        <p:spPr>
          <a:xfrm>
            <a:off x="459760" y="4448749"/>
            <a:ext cx="11422255" cy="1745068"/>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600" b="0" i="0" u="none" strike="noStrike" kern="1200" cap="none" spc="0" baseline="0">
              <a:solidFill>
                <a:srgbClr val="FFFFFF"/>
              </a:solidFill>
              <a:uFillTx/>
              <a:latin typeface="Calibri"/>
            </a:endParaRPr>
          </a:p>
        </p:txBody>
      </p:sp>
      <p:sp>
        <p:nvSpPr>
          <p:cNvPr id="6" name="Rectangle 26">
            <a:extLst>
              <a:ext uri="{FF2B5EF4-FFF2-40B4-BE49-F238E27FC236}">
                <a16:creationId xmlns:a16="http://schemas.microsoft.com/office/drawing/2014/main" id="{0568F983-7498-446D-B9F8-5A0540B2E560}"/>
              </a:ext>
            </a:extLst>
          </p:cNvPr>
          <p:cNvSpPr/>
          <p:nvPr/>
        </p:nvSpPr>
        <p:spPr>
          <a:xfrm rot="16200004">
            <a:off x="-257316" y="5165844"/>
            <a:ext cx="1745059" cy="310886"/>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7" name="Rectangle 3">
            <a:extLst>
              <a:ext uri="{FF2B5EF4-FFF2-40B4-BE49-F238E27FC236}">
                <a16:creationId xmlns:a16="http://schemas.microsoft.com/office/drawing/2014/main" id="{72B04323-F3EC-47A0-B768-F0E9C129A5BF}"/>
              </a:ext>
            </a:extLst>
          </p:cNvPr>
          <p:cNvSpPr/>
          <p:nvPr/>
        </p:nvSpPr>
        <p:spPr>
          <a:xfrm>
            <a:off x="770647" y="4448748"/>
            <a:ext cx="5703313" cy="163121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100" b="1" i="0" u="none" strike="noStrike" kern="1200" cap="none" spc="0" baseline="0" dirty="0">
                <a:solidFill>
                  <a:srgbClr val="000000"/>
                </a:solidFill>
                <a:uFillTx/>
                <a:latin typeface="Calibri" pitchFamily="34"/>
              </a:rPr>
              <a:t>RoRo Imports</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050" b="1" i="0" u="none" strike="noStrike" kern="1200" cap="none" spc="0" baseline="0" dirty="0">
                <a:solidFill>
                  <a:srgbClr val="000000"/>
                </a:solidFill>
                <a:uFillTx/>
                <a:latin typeface="Calibri" pitchFamily="34"/>
              </a:rPr>
              <a:t>TT_IM32a - </a:t>
            </a:r>
            <a:r>
              <a:rPr lang="en-GB" sz="1050" b="0" i="0" u="none" strike="noStrike" kern="1200" cap="none" spc="0" baseline="0" dirty="0">
                <a:solidFill>
                  <a:srgbClr val="000000"/>
                </a:solidFill>
                <a:uFillTx/>
                <a:latin typeface="Calibri" pitchFamily="34"/>
              </a:rPr>
              <a:t>Non-GVMS (arrived via CSP) Imports Pre-Lodged: Type D full import declaration for a single goods item for entry to an approved customs warehouse, being re-imported following temporary exports under outward processing procedures. RoRo Goods Location RMGRMGRMG provided and a valid mode of transport.</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050" b="1" i="0" u="none" strike="noStrike" kern="1200" cap="none" spc="0" baseline="0" dirty="0">
                <a:solidFill>
                  <a:srgbClr val="000000"/>
                </a:solidFill>
                <a:uFillTx/>
                <a:latin typeface="Calibri" pitchFamily="34"/>
              </a:rPr>
              <a:t>TT_IM32b - </a:t>
            </a:r>
            <a:r>
              <a:rPr lang="en-GB" sz="1050" b="0" i="0" u="none" strike="noStrike" kern="1200" cap="none" spc="0" baseline="0" dirty="0">
                <a:solidFill>
                  <a:srgbClr val="000000"/>
                </a:solidFill>
                <a:uFillTx/>
                <a:latin typeface="Calibri"/>
              </a:rPr>
              <a:t>Non-GVMS (arrived via CSP) Imports Pre-Lodged Declaration with Rejection for Invalid Location: Type D full import declaration for a single goods item for entry to an approved customs warehouse, being re-imported following temporary exports under outward processing procedures. Invalid RoRo Goods Location RMGRMGRMX provided.</a:t>
            </a:r>
          </a:p>
        </p:txBody>
      </p:sp>
      <p:sp>
        <p:nvSpPr>
          <p:cNvPr id="8" name="Rectangle 27">
            <a:extLst>
              <a:ext uri="{FF2B5EF4-FFF2-40B4-BE49-F238E27FC236}">
                <a16:creationId xmlns:a16="http://schemas.microsoft.com/office/drawing/2014/main" id="{2583429E-DA64-4C95-8A7C-0244A674D9B6}"/>
              </a:ext>
            </a:extLst>
          </p:cNvPr>
          <p:cNvSpPr/>
          <p:nvPr/>
        </p:nvSpPr>
        <p:spPr>
          <a:xfrm>
            <a:off x="6473961" y="4461183"/>
            <a:ext cx="5368277" cy="150810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100" b="1" i="0" u="none" strike="noStrike" kern="1200" cap="none" spc="0" baseline="0" dirty="0">
                <a:solidFill>
                  <a:srgbClr val="000000"/>
                </a:solidFill>
                <a:uFillTx/>
                <a:latin typeface="Calibri" pitchFamily="34"/>
              </a:rPr>
              <a:t>RoRo Exports</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050" b="1" i="0" u="none" strike="noStrike" kern="1200" cap="none" spc="0" baseline="0" dirty="0">
                <a:solidFill>
                  <a:srgbClr val="000000"/>
                </a:solidFill>
                <a:uFillTx/>
                <a:latin typeface="Calibri" pitchFamily="34"/>
              </a:rPr>
              <a:t>TT_EX11a - </a:t>
            </a:r>
            <a:r>
              <a:rPr lang="en-GB" sz="1050" b="0" i="0" u="none" strike="noStrike" kern="1200" cap="none" spc="0" baseline="0" dirty="0">
                <a:solidFill>
                  <a:srgbClr val="000000"/>
                </a:solidFill>
                <a:uFillTx/>
                <a:latin typeface="Calibri" pitchFamily="34"/>
              </a:rPr>
              <a:t>Non-GVMS (arrived via CSP) Exports Pre-Lodged Declaration: Inventory linked Type D declaration using RoRo method of transport, arrived and departed from Port of Ramsgate. </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endParaRPr lang="en-GB" sz="1050" b="0" i="0" u="none" strike="noStrike" kern="1200" cap="none" spc="0" baseline="0" dirty="0">
              <a:solidFill>
                <a:srgbClr val="000000"/>
              </a:solidFill>
              <a:uFillTx/>
              <a:latin typeface="Calibri" pitchFamily="34"/>
            </a:endParaRP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050" b="1" i="0" u="none" strike="noStrike" kern="1200" cap="none" spc="0" baseline="0" dirty="0">
                <a:solidFill>
                  <a:srgbClr val="000000"/>
                </a:solidFill>
                <a:uFillTx/>
                <a:latin typeface="Calibri" pitchFamily="34"/>
              </a:rPr>
              <a:t>TT_EX11b - </a:t>
            </a:r>
            <a:r>
              <a:rPr lang="en-GB" sz="1050" b="0" i="0" u="none" strike="noStrike" kern="1200" cap="none" spc="0" baseline="0" dirty="0">
                <a:solidFill>
                  <a:srgbClr val="000000"/>
                </a:solidFill>
                <a:uFillTx/>
                <a:latin typeface="Calibri"/>
              </a:rPr>
              <a:t>Non-GVMS (arrived via CSP) Exports Pre-Lodged Declaration with Rejection for Invalid Location: Inventory linked Type D Maritime declaration using Maritime method of transport, arrived and departed from Port of Ramsgate with error in location code. Declaration is rejected.</a:t>
            </a:r>
          </a:p>
        </p:txBody>
      </p:sp>
      <p:sp>
        <p:nvSpPr>
          <p:cNvPr id="9" name="Slide Number Placeholder 5">
            <a:extLst>
              <a:ext uri="{FF2B5EF4-FFF2-40B4-BE49-F238E27FC236}">
                <a16:creationId xmlns:a16="http://schemas.microsoft.com/office/drawing/2014/main" id="{B56E83CB-B3F9-4686-8201-7EECD36C020E}"/>
              </a:ext>
            </a:extLst>
          </p:cNvPr>
          <p:cNvSpPr txBox="1"/>
          <p:nvPr/>
        </p:nvSpPr>
        <p:spPr>
          <a:xfrm>
            <a:off x="1172825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ACD227D-CF5B-452A-8D38-4E1E88BFFF8F}" type="slidenum">
              <a:rPr sz="1200"/>
              <a:t>17</a:t>
            </a:fld>
            <a:endParaRPr lang="en-GB" sz="1200" b="0" i="0" u="none" strike="noStrike" kern="1200" cap="none" spc="0" baseline="0" dirty="0">
              <a:solidFill>
                <a:srgbClr val="000000"/>
              </a:solidFill>
              <a:uFillTx/>
              <a:latin typeface="Calibri"/>
            </a:endParaRPr>
          </a:p>
        </p:txBody>
      </p:sp>
      <p:graphicFrame>
        <p:nvGraphicFramePr>
          <p:cNvPr id="10" name="Table 3">
            <a:extLst>
              <a:ext uri="{FF2B5EF4-FFF2-40B4-BE49-F238E27FC236}">
                <a16:creationId xmlns:a16="http://schemas.microsoft.com/office/drawing/2014/main" id="{66177F0C-25F2-4E0C-AC38-259070EE211E}"/>
              </a:ext>
            </a:extLst>
          </p:cNvPr>
          <p:cNvGraphicFramePr>
            <a:graphicFrameLocks noGrp="1"/>
          </p:cNvGraphicFramePr>
          <p:nvPr/>
        </p:nvGraphicFramePr>
        <p:xfrm>
          <a:off x="440996" y="1391067"/>
          <a:ext cx="6969703" cy="3031518"/>
        </p:xfrm>
        <a:graphic>
          <a:graphicData uri="http://schemas.openxmlformats.org/drawingml/2006/table">
            <a:tbl>
              <a:tblPr firstRow="1" bandRow="1">
                <a:effectLst/>
                <a:tableStyleId>{5C22544A-7EE6-4342-B048-85BDC9FD1C3A}</a:tableStyleId>
              </a:tblPr>
              <a:tblGrid>
                <a:gridCol w="6969703">
                  <a:extLst>
                    <a:ext uri="{9D8B030D-6E8A-4147-A177-3AD203B41FA5}">
                      <a16:colId xmlns:a16="http://schemas.microsoft.com/office/drawing/2014/main" val="3575835523"/>
                    </a:ext>
                  </a:extLst>
                </a:gridCol>
              </a:tblGrid>
              <a:tr h="306561">
                <a:tc>
                  <a:txBody>
                    <a:bodyPr/>
                    <a:lstStyle/>
                    <a:p>
                      <a:pPr lvl="0"/>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extLst>
                  <a:ext uri="{0D108BD9-81ED-4DB2-BD59-A6C34878D82A}">
                    <a16:rowId xmlns:a16="http://schemas.microsoft.com/office/drawing/2014/main" val="3435175026"/>
                  </a:ext>
                </a:extLst>
              </a:tr>
              <a:tr h="2724957">
                <a:tc>
                  <a:txBody>
                    <a:bodyPr/>
                    <a:lstStyle/>
                    <a:p>
                      <a:pPr lvl="0">
                        <a:spcAft>
                          <a:spcPts val="300"/>
                        </a:spcAft>
                      </a:pPr>
                      <a:r>
                        <a:rPr lang="en-GB" sz="1200" dirty="0">
                          <a:solidFill>
                            <a:srgbClr val="000000"/>
                          </a:solidFill>
                        </a:rPr>
                        <a:t>As part of TTM12.0.0/ TDR3.0.0, CDS will enable TT and TDR users to test submission and validation of </a:t>
                      </a:r>
                      <a:r>
                        <a:rPr lang="en-GB" sz="1200" dirty="0" err="1">
                          <a:solidFill>
                            <a:srgbClr val="000000"/>
                          </a:solidFill>
                        </a:rPr>
                        <a:t>RoRo</a:t>
                      </a:r>
                      <a:r>
                        <a:rPr lang="en-GB" sz="1200" dirty="0">
                          <a:solidFill>
                            <a:srgbClr val="000000"/>
                          </a:solidFill>
                        </a:rPr>
                        <a:t> declarations. This includes both import and export declarations at GVMS locations </a:t>
                      </a:r>
                      <a:r>
                        <a:rPr lang="en-GB" sz="1200" dirty="0"/>
                        <a:t>and non-GVMS locations</a:t>
                      </a:r>
                      <a:r>
                        <a:rPr lang="en-GB" sz="1200" dirty="0">
                          <a:solidFill>
                            <a:srgbClr val="000000"/>
                          </a:solidFill>
                        </a:rPr>
                        <a:t>. </a:t>
                      </a:r>
                      <a:endParaRPr lang="en-GB" sz="100" dirty="0">
                        <a:solidFill>
                          <a:srgbClr val="000000"/>
                        </a:solidFill>
                      </a:endParaRPr>
                    </a:p>
                    <a:p>
                      <a:pPr lvl="0">
                        <a:spcAft>
                          <a:spcPts val="300"/>
                        </a:spcAft>
                      </a:pPr>
                      <a:r>
                        <a:rPr lang="en-GB" sz="1200" dirty="0">
                          <a:solidFill>
                            <a:srgbClr val="000000"/>
                          </a:solidFill>
                        </a:rPr>
                        <a:t>For </a:t>
                      </a:r>
                      <a:r>
                        <a:rPr lang="en-GB" sz="1200" dirty="0" err="1">
                          <a:solidFill>
                            <a:srgbClr val="000000"/>
                          </a:solidFill>
                        </a:rPr>
                        <a:t>RoRo</a:t>
                      </a:r>
                      <a:r>
                        <a:rPr lang="en-GB" sz="1200" dirty="0">
                          <a:solidFill>
                            <a:srgbClr val="000000"/>
                          </a:solidFill>
                        </a:rPr>
                        <a:t> import and export declarations, the following declaration completion rules apply:</a:t>
                      </a:r>
                    </a:p>
                    <a:p>
                      <a:pPr marL="171450" marR="0" lvl="0" indent="-171450" algn="l" defTabSz="914400" rtl="0" fontAlgn="auto" hangingPunct="1">
                        <a:lnSpc>
                          <a:spcPct val="100000"/>
                        </a:lnSpc>
                        <a:spcBef>
                          <a:spcPts val="0"/>
                        </a:spcBef>
                        <a:spcAft>
                          <a:spcPts val="300"/>
                        </a:spcAft>
                        <a:buSzPct val="100000"/>
                        <a:buFont typeface="Arial" pitchFamily="34"/>
                        <a:buChar char="•"/>
                        <a:tabLst/>
                      </a:pPr>
                      <a:r>
                        <a:rPr lang="en-GB" sz="1200" dirty="0">
                          <a:solidFill>
                            <a:srgbClr val="000000"/>
                          </a:solidFill>
                        </a:rPr>
                        <a:t>CDS will allow a value of "6“ (</a:t>
                      </a:r>
                      <a:r>
                        <a:rPr lang="en-GB" sz="1200" dirty="0" err="1">
                          <a:solidFill>
                            <a:srgbClr val="000000"/>
                          </a:solidFill>
                        </a:rPr>
                        <a:t>RoRo</a:t>
                      </a:r>
                      <a:r>
                        <a:rPr lang="en-GB" sz="1200" dirty="0">
                          <a:solidFill>
                            <a:srgbClr val="000000"/>
                          </a:solidFill>
                        </a:rPr>
                        <a:t> </a:t>
                      </a:r>
                      <a:r>
                        <a:rPr lang="en-GB" sz="1200" dirty="0" err="1">
                          <a:solidFill>
                            <a:srgbClr val="000000"/>
                          </a:solidFill>
                        </a:rPr>
                        <a:t>MoT</a:t>
                      </a:r>
                      <a:r>
                        <a:rPr lang="en-GB" sz="1200" dirty="0">
                          <a:solidFill>
                            <a:srgbClr val="000000"/>
                          </a:solidFill>
                        </a:rPr>
                        <a:t>) to be entered in D.E. 7/4. Where value of "6" is declared, CDS will not mandate a VRN in D.E. 7/9 (identity of vehicle).</a:t>
                      </a:r>
                    </a:p>
                    <a:p>
                      <a:pPr marL="171450" lvl="0" indent="-171450">
                        <a:spcAft>
                          <a:spcPts val="300"/>
                        </a:spcAft>
                        <a:buSzPct val="100000"/>
                        <a:buFont typeface="Arial" pitchFamily="34"/>
                        <a:buChar char="•"/>
                      </a:pPr>
                      <a:r>
                        <a:rPr lang="en-GB" sz="1200" dirty="0">
                          <a:solidFill>
                            <a:srgbClr val="000000"/>
                          </a:solidFill>
                        </a:rPr>
                        <a:t>If the Goods Location code provided in D.E. 5/23 identifies a location in which GVMS operates, traders must declare a valid mode of transport in D.E. 7/4 and must also declare a valid GVMS specific additional information code of ‘RRS01’ at header level in D.E. 2/2.</a:t>
                      </a:r>
                    </a:p>
                    <a:p>
                      <a:pPr marL="171450" lvl="0" indent="-171450">
                        <a:spcAft>
                          <a:spcPts val="300"/>
                        </a:spcAft>
                        <a:buSzPct val="100000"/>
                        <a:buFont typeface="Arial" pitchFamily="34"/>
                        <a:buChar char="•"/>
                      </a:pPr>
                      <a:r>
                        <a:rPr lang="en-GB" sz="1200" dirty="0">
                          <a:solidFill>
                            <a:srgbClr val="000000"/>
                          </a:solidFill>
                        </a:rPr>
                        <a:t>When RRS01 is entered in D.E. 2/2, an </a:t>
                      </a:r>
                      <a:r>
                        <a:rPr lang="en-GB" sz="1200" b="1" dirty="0">
                          <a:solidFill>
                            <a:srgbClr val="000000"/>
                          </a:solidFill>
                        </a:rPr>
                        <a:t>accompanying description </a:t>
                      </a:r>
                      <a:r>
                        <a:rPr lang="en-GB" sz="1200" dirty="0">
                          <a:solidFill>
                            <a:srgbClr val="000000"/>
                          </a:solidFill>
                        </a:rPr>
                        <a:t>must also be entered in D.E. 2/2 which declares the </a:t>
                      </a:r>
                      <a:r>
                        <a:rPr lang="en-GB" sz="1200" dirty="0"/>
                        <a:t>EORI number of the haulier responsible for registering the movement on GMVS. If the EORI number of the haulier responsible for registering the movement on GMVS is not known, enter the name of the haulier instead.</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4267957743"/>
                  </a:ext>
                </a:extLst>
              </a:tr>
            </a:tbl>
          </a:graphicData>
        </a:graphic>
      </p:graphicFrame>
      <p:graphicFrame>
        <p:nvGraphicFramePr>
          <p:cNvPr id="11" name="Table 8">
            <a:extLst>
              <a:ext uri="{FF2B5EF4-FFF2-40B4-BE49-F238E27FC236}">
                <a16:creationId xmlns:a16="http://schemas.microsoft.com/office/drawing/2014/main" id="{607BEEEE-E83A-4EAC-A0D6-F66BE7C273C9}"/>
              </a:ext>
            </a:extLst>
          </p:cNvPr>
          <p:cNvGraphicFramePr>
            <a:graphicFrameLocks noGrp="1"/>
          </p:cNvGraphicFramePr>
          <p:nvPr/>
        </p:nvGraphicFramePr>
        <p:xfrm>
          <a:off x="7410709" y="1395036"/>
          <a:ext cx="4499296" cy="3031513"/>
        </p:xfrm>
        <a:graphic>
          <a:graphicData uri="http://schemas.openxmlformats.org/drawingml/2006/table">
            <a:tbl>
              <a:tblPr firstRow="1" bandRow="1">
                <a:effectLst/>
                <a:tableStyleId>{5C22544A-7EE6-4342-B048-85BDC9FD1C3A}</a:tableStyleId>
              </a:tblPr>
              <a:tblGrid>
                <a:gridCol w="4499296">
                  <a:extLst>
                    <a:ext uri="{9D8B030D-6E8A-4147-A177-3AD203B41FA5}">
                      <a16:colId xmlns:a16="http://schemas.microsoft.com/office/drawing/2014/main" val="2587264623"/>
                    </a:ext>
                  </a:extLst>
                </a:gridCol>
              </a:tblGrid>
              <a:tr h="280693">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1800041433"/>
                  </a:ext>
                </a:extLst>
              </a:tr>
              <a:tr h="2440487">
                <a:tc>
                  <a:txBody>
                    <a:bodyPr/>
                    <a:lstStyle/>
                    <a:p>
                      <a:pPr lvl="0">
                        <a:spcAft>
                          <a:spcPts val="0"/>
                        </a:spcAft>
                      </a:pPr>
                      <a:r>
                        <a:rPr lang="en-GB" sz="1200" b="1" i="0" dirty="0">
                          <a:latin typeface="Calibri" pitchFamily="34"/>
                          <a:ea typeface="Calibri" pitchFamily="34"/>
                        </a:rPr>
                        <a:t>TTM12.2 GVMS NI Location Codes</a:t>
                      </a:r>
                    </a:p>
                    <a:p>
                      <a:pPr lvl="0">
                        <a:spcAft>
                          <a:spcPts val="0"/>
                        </a:spcAft>
                      </a:pPr>
                      <a:r>
                        <a:rPr lang="en-GB" sz="1200" i="0" dirty="0">
                          <a:latin typeface="Calibri" pitchFamily="34"/>
                          <a:ea typeface="Calibri" pitchFamily="34"/>
                        </a:rPr>
                        <a:t>For testing purposes only, CDS will only mandate the entry of AI code ‘RRS01’ in D.E. 2/2 at the following NI port locations which are expected to</a:t>
                      </a:r>
                      <a:r>
                        <a:rPr lang="en-GB" sz="1200" i="0" dirty="0">
                          <a:solidFill>
                            <a:srgbClr val="FF0000"/>
                          </a:solidFill>
                          <a:latin typeface="Calibri" pitchFamily="34"/>
                          <a:ea typeface="Calibri" pitchFamily="34"/>
                        </a:rPr>
                        <a:t> </a:t>
                      </a:r>
                      <a:r>
                        <a:rPr lang="en-GB" sz="1200" i="0" dirty="0">
                          <a:latin typeface="Calibri" pitchFamily="34"/>
                          <a:ea typeface="Calibri" pitchFamily="34"/>
                        </a:rPr>
                        <a:t>be operating GVMS from January 2021:</a:t>
                      </a:r>
                    </a:p>
                    <a:p>
                      <a:pPr lvl="0">
                        <a:spcAft>
                          <a:spcPts val="0"/>
                        </a:spcAft>
                      </a:pPr>
                      <a:endParaRPr lang="en-GB" sz="1200" i="0" dirty="0">
                        <a:latin typeface="Calibri" pitchFamily="34"/>
                        <a:ea typeface="Calibri" pitchFamily="34"/>
                      </a:endParaRPr>
                    </a:p>
                    <a:p>
                      <a:pPr lvl="0">
                        <a:spcAft>
                          <a:spcPts val="0"/>
                        </a:spcAft>
                      </a:pPr>
                      <a:endParaRPr lang="en-GB" sz="1100" i="0" dirty="0">
                        <a:latin typeface="Calibri" pitchFamily="34"/>
                        <a:ea typeface="Calibri" pitchFamily="34"/>
                      </a:endParaRPr>
                    </a:p>
                    <a:p>
                      <a:pPr lvl="0">
                        <a:spcAft>
                          <a:spcPts val="0"/>
                        </a:spcAft>
                      </a:pPr>
                      <a:endParaRPr lang="en-GB" sz="1200" i="0" dirty="0">
                        <a:latin typeface="Calibri" pitchFamily="34"/>
                        <a:ea typeface="Calibri" pitchFamily="34"/>
                      </a:endParaRPr>
                    </a:p>
                    <a:p>
                      <a:pPr lvl="0">
                        <a:spcAft>
                          <a:spcPts val="0"/>
                        </a:spcAft>
                      </a:pPr>
                      <a:endParaRPr lang="en-GB" sz="1200" i="0" dirty="0">
                        <a:latin typeface="Calibri" pitchFamily="34"/>
                        <a:ea typeface="Calibri" pitchFamily="34"/>
                      </a:endParaRPr>
                    </a:p>
                    <a:p>
                      <a:pPr lvl="0">
                        <a:spcAft>
                          <a:spcPts val="0"/>
                        </a:spcAft>
                      </a:pPr>
                      <a:endParaRPr lang="en-GB" sz="1200" i="0" dirty="0">
                        <a:latin typeface="Calibri" pitchFamily="34"/>
                        <a:ea typeface="Calibri" pitchFamily="34"/>
                      </a:endParaRPr>
                    </a:p>
                    <a:p>
                      <a:pPr lvl="0">
                        <a:spcAft>
                          <a:spcPts val="0"/>
                        </a:spcAft>
                      </a:pPr>
                      <a:endParaRPr lang="en-GB" sz="500" i="0" dirty="0">
                        <a:latin typeface="Calibri" pitchFamily="34"/>
                        <a:ea typeface="Calibri" pitchFamily="34"/>
                      </a:endParaRPr>
                    </a:p>
                    <a:p>
                      <a:pPr lvl="0">
                        <a:spcBef>
                          <a:spcPts val="300"/>
                        </a:spcBef>
                        <a:tabLst>
                          <a:tab pos="3678238" algn="l"/>
                        </a:tabLst>
                      </a:pPr>
                      <a:r>
                        <a:rPr lang="en-GB" sz="1200" dirty="0"/>
                        <a:t>For any GB ports, the AI code RRS01 will not be required until the end of Staged Customs Control, where GVMS may be used for Imports and Exports between EU and GB at GVMS ports. Additional GVMS location codes can be found in the External Test release scope section.</a:t>
                      </a:r>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174432007"/>
                  </a:ext>
                </a:extLst>
              </a:tr>
            </a:tbl>
          </a:graphicData>
        </a:graphic>
      </p:graphicFrame>
      <p:graphicFrame>
        <p:nvGraphicFramePr>
          <p:cNvPr id="12" name="Table 45">
            <a:extLst>
              <a:ext uri="{FF2B5EF4-FFF2-40B4-BE49-F238E27FC236}">
                <a16:creationId xmlns:a16="http://schemas.microsoft.com/office/drawing/2014/main" id="{36331E24-A2B5-4BCA-852A-2EBA10472A54}"/>
              </a:ext>
            </a:extLst>
          </p:cNvPr>
          <p:cNvGraphicFramePr>
            <a:graphicFrameLocks noGrp="1"/>
          </p:cNvGraphicFramePr>
          <p:nvPr/>
        </p:nvGraphicFramePr>
        <p:xfrm>
          <a:off x="7487034" y="2480840"/>
          <a:ext cx="4332508" cy="883920"/>
        </p:xfrm>
        <a:graphic>
          <a:graphicData uri="http://schemas.openxmlformats.org/drawingml/2006/table">
            <a:tbl>
              <a:tblPr firstRow="1" firstCol="1" bandRow="1">
                <a:effectLst/>
                <a:tableStyleId>{F5AB1C69-6EDB-4FF4-983F-18BD219EF322}</a:tableStyleId>
              </a:tblPr>
              <a:tblGrid>
                <a:gridCol w="1015998">
                  <a:extLst>
                    <a:ext uri="{9D8B030D-6E8A-4147-A177-3AD203B41FA5}">
                      <a16:colId xmlns:a16="http://schemas.microsoft.com/office/drawing/2014/main" val="1061525880"/>
                    </a:ext>
                  </a:extLst>
                </a:gridCol>
                <a:gridCol w="1611081">
                  <a:extLst>
                    <a:ext uri="{9D8B030D-6E8A-4147-A177-3AD203B41FA5}">
                      <a16:colId xmlns:a16="http://schemas.microsoft.com/office/drawing/2014/main" val="720970226"/>
                    </a:ext>
                  </a:extLst>
                </a:gridCol>
                <a:gridCol w="1705429">
                  <a:extLst>
                    <a:ext uri="{9D8B030D-6E8A-4147-A177-3AD203B41FA5}">
                      <a16:colId xmlns:a16="http://schemas.microsoft.com/office/drawing/2014/main" val="1105427884"/>
                    </a:ext>
                  </a:extLst>
                </a:gridCol>
              </a:tblGrid>
              <a:tr h="0">
                <a:tc>
                  <a:txBody>
                    <a:bodyPr/>
                    <a:lstStyle/>
                    <a:p>
                      <a:pPr lvl="0" algn="ctr">
                        <a:spcAft>
                          <a:spcPts val="0"/>
                        </a:spcAft>
                      </a:pPr>
                      <a:r>
                        <a:rPr lang="en-GB" sz="1100"/>
                        <a:t>Location</a:t>
                      </a:r>
                      <a:endParaRPr lang="en-GB" sz="1100">
                        <a:latin typeface="Calibri" pitchFamily="34"/>
                        <a:ea typeface="Calibri" pitchFamily="34"/>
                      </a:endParaRPr>
                    </a:p>
                  </a:txBody>
                  <a:tcPr marL="68580" marR="68580" marT="0" marB="0"/>
                </a:tc>
                <a:tc>
                  <a:txBody>
                    <a:bodyPr/>
                    <a:lstStyle/>
                    <a:p>
                      <a:pPr lvl="0" algn="ctr">
                        <a:spcAft>
                          <a:spcPts val="0"/>
                        </a:spcAft>
                      </a:pPr>
                      <a:r>
                        <a:rPr lang="en-GB" sz="1100"/>
                        <a:t>Current CDS location code</a:t>
                      </a:r>
                      <a:endParaRPr lang="en-GB" sz="1100">
                        <a:latin typeface="Calibri" pitchFamily="34"/>
                        <a:ea typeface="Calibri" pitchFamily="34"/>
                      </a:endParaRPr>
                    </a:p>
                  </a:txBody>
                  <a:tcPr marL="68580" marR="68580" marT="0" marB="0"/>
                </a:tc>
                <a:tc>
                  <a:txBody>
                    <a:bodyPr/>
                    <a:lstStyle/>
                    <a:p>
                      <a:pPr lvl="0" algn="ctr">
                        <a:spcAft>
                          <a:spcPts val="0"/>
                        </a:spcAft>
                      </a:pPr>
                      <a:r>
                        <a:rPr lang="en-GB" sz="1100"/>
                        <a:t>New GVMS location code</a:t>
                      </a:r>
                      <a:endParaRPr lang="en-GB" sz="1100">
                        <a:latin typeface="Calibri" pitchFamily="34"/>
                        <a:ea typeface="Calibri" pitchFamily="34"/>
                      </a:endParaRPr>
                    </a:p>
                  </a:txBody>
                  <a:tcPr marL="68580" marR="68580" marT="0" marB="0"/>
                </a:tc>
                <a:extLst>
                  <a:ext uri="{0D108BD9-81ED-4DB2-BD59-A6C34878D82A}">
                    <a16:rowId xmlns:a16="http://schemas.microsoft.com/office/drawing/2014/main" val="2339403091"/>
                  </a:ext>
                </a:extLst>
              </a:tr>
              <a:tr h="0">
                <a:tc>
                  <a:txBody>
                    <a:bodyPr/>
                    <a:lstStyle/>
                    <a:p>
                      <a:pPr lvl="0" algn="ctr">
                        <a:spcAft>
                          <a:spcPts val="0"/>
                        </a:spcAft>
                      </a:pPr>
                      <a:r>
                        <a:rPr lang="en-GB" sz="1200" b="0">
                          <a:solidFill>
                            <a:srgbClr val="000000"/>
                          </a:solidFill>
                        </a:rPr>
                        <a:t>Belfast</a:t>
                      </a:r>
                      <a:endParaRPr lang="en-GB" sz="1200" b="0">
                        <a:solidFill>
                          <a:srgbClr val="000000"/>
                        </a:solidFill>
                        <a:latin typeface="Calibri" pitchFamily="34"/>
                        <a:ea typeface="Calibri" pitchFamily="34"/>
                      </a:endParaRPr>
                    </a:p>
                  </a:txBody>
                  <a:tcPr marL="68580" marR="68580" marT="0" marB="0">
                    <a:solidFill>
                      <a:srgbClr val="E1E1E1"/>
                    </a:solidFill>
                  </a:tcPr>
                </a:tc>
                <a:tc>
                  <a:txBody>
                    <a:bodyPr/>
                    <a:lstStyle/>
                    <a:p>
                      <a:pPr lvl="0" algn="ctr">
                        <a:spcAft>
                          <a:spcPts val="0"/>
                        </a:spcAft>
                      </a:pPr>
                      <a:r>
                        <a:rPr lang="en-GB" sz="1200"/>
                        <a:t>BELBELBEL</a:t>
                      </a:r>
                      <a:endParaRPr lang="en-GB" sz="1200">
                        <a:latin typeface="Calibri" pitchFamily="34"/>
                        <a:ea typeface="Calibri" pitchFamily="34"/>
                      </a:endParaRPr>
                    </a:p>
                  </a:txBody>
                  <a:tcPr marL="68580" marR="68580" marT="0" marB="0"/>
                </a:tc>
                <a:tc>
                  <a:txBody>
                    <a:bodyPr/>
                    <a:lstStyle/>
                    <a:p>
                      <a:pPr lvl="0" algn="ctr">
                        <a:spcAft>
                          <a:spcPts val="0"/>
                        </a:spcAft>
                      </a:pPr>
                      <a:r>
                        <a:rPr lang="en-GB" sz="1200"/>
                        <a:t>GBAUBELBELGVM</a:t>
                      </a:r>
                      <a:endParaRPr lang="en-GB" sz="1200">
                        <a:latin typeface="Calibri" pitchFamily="34"/>
                        <a:ea typeface="Calibri" pitchFamily="34"/>
                      </a:endParaRPr>
                    </a:p>
                  </a:txBody>
                  <a:tcPr marL="68580" marR="68580" marT="0" marB="0"/>
                </a:tc>
                <a:extLst>
                  <a:ext uri="{0D108BD9-81ED-4DB2-BD59-A6C34878D82A}">
                    <a16:rowId xmlns:a16="http://schemas.microsoft.com/office/drawing/2014/main" val="3972806549"/>
                  </a:ext>
                </a:extLst>
              </a:tr>
              <a:tr h="0">
                <a:tc>
                  <a:txBody>
                    <a:bodyPr/>
                    <a:lstStyle/>
                    <a:p>
                      <a:pPr lvl="0" algn="ctr">
                        <a:spcAft>
                          <a:spcPts val="0"/>
                        </a:spcAft>
                      </a:pPr>
                      <a:r>
                        <a:rPr lang="en-GB" sz="1200" b="0">
                          <a:solidFill>
                            <a:srgbClr val="000000"/>
                          </a:solidFill>
                        </a:rPr>
                        <a:t>Larne</a:t>
                      </a:r>
                      <a:endParaRPr lang="en-GB" sz="1200" b="0">
                        <a:solidFill>
                          <a:srgbClr val="000000"/>
                        </a:solidFill>
                        <a:latin typeface="Calibri" pitchFamily="34"/>
                        <a:ea typeface="Calibri" pitchFamily="34"/>
                      </a:endParaRPr>
                    </a:p>
                  </a:txBody>
                  <a:tcPr marL="68580" marR="68580" marT="0" marB="0">
                    <a:solidFill>
                      <a:srgbClr val="F0F0F0"/>
                    </a:solidFill>
                  </a:tcPr>
                </a:tc>
                <a:tc>
                  <a:txBody>
                    <a:bodyPr/>
                    <a:lstStyle/>
                    <a:p>
                      <a:pPr lvl="0" algn="ctr">
                        <a:spcAft>
                          <a:spcPts val="0"/>
                        </a:spcAft>
                      </a:pPr>
                      <a:r>
                        <a:rPr lang="en-GB" sz="1200"/>
                        <a:t>LARBELLAR</a:t>
                      </a:r>
                      <a:endParaRPr lang="en-GB" sz="1200">
                        <a:latin typeface="Calibri" pitchFamily="34"/>
                        <a:ea typeface="Calibri" pitchFamily="34"/>
                      </a:endParaRPr>
                    </a:p>
                  </a:txBody>
                  <a:tcPr marL="68580" marR="68580" marT="0" marB="0"/>
                </a:tc>
                <a:tc>
                  <a:txBody>
                    <a:bodyPr/>
                    <a:lstStyle/>
                    <a:p>
                      <a:pPr lvl="0" algn="ctr">
                        <a:spcAft>
                          <a:spcPts val="0"/>
                        </a:spcAft>
                      </a:pPr>
                      <a:r>
                        <a:rPr lang="en-GB" sz="1200"/>
                        <a:t>GBAULARBELGVM</a:t>
                      </a:r>
                      <a:endParaRPr lang="en-GB" sz="1200">
                        <a:latin typeface="Calibri" pitchFamily="34"/>
                        <a:ea typeface="Calibri" pitchFamily="34"/>
                      </a:endParaRPr>
                    </a:p>
                  </a:txBody>
                  <a:tcPr marL="68580" marR="68580" marT="0" marB="0"/>
                </a:tc>
                <a:extLst>
                  <a:ext uri="{0D108BD9-81ED-4DB2-BD59-A6C34878D82A}">
                    <a16:rowId xmlns:a16="http://schemas.microsoft.com/office/drawing/2014/main" val="2187228205"/>
                  </a:ext>
                </a:extLst>
              </a:tr>
              <a:tr h="0">
                <a:tc>
                  <a:txBody>
                    <a:bodyPr/>
                    <a:lstStyle/>
                    <a:p>
                      <a:pPr lvl="0" algn="ctr">
                        <a:spcAft>
                          <a:spcPts val="0"/>
                        </a:spcAft>
                      </a:pPr>
                      <a:r>
                        <a:rPr lang="en-GB" sz="1200" b="0">
                          <a:solidFill>
                            <a:srgbClr val="000000"/>
                          </a:solidFill>
                        </a:rPr>
                        <a:t>Warrenpoint</a:t>
                      </a:r>
                      <a:endParaRPr lang="en-GB" sz="1200" b="0">
                        <a:solidFill>
                          <a:srgbClr val="000000"/>
                        </a:solidFill>
                        <a:latin typeface="Calibri" pitchFamily="34"/>
                        <a:ea typeface="Calibri" pitchFamily="34"/>
                      </a:endParaRPr>
                    </a:p>
                  </a:txBody>
                  <a:tcPr marL="68580" marR="68580" marT="0" marB="0">
                    <a:solidFill>
                      <a:srgbClr val="E1E1E1"/>
                    </a:solidFill>
                  </a:tcPr>
                </a:tc>
                <a:tc>
                  <a:txBody>
                    <a:bodyPr/>
                    <a:lstStyle/>
                    <a:p>
                      <a:pPr lvl="0" algn="ctr">
                        <a:spcAft>
                          <a:spcPts val="0"/>
                        </a:spcAft>
                      </a:pPr>
                      <a:r>
                        <a:rPr lang="en-GB" sz="1200"/>
                        <a:t>WPTWPTWPT</a:t>
                      </a:r>
                      <a:endParaRPr lang="en-GB" sz="1200">
                        <a:latin typeface="Calibri" pitchFamily="34"/>
                        <a:ea typeface="Calibri" pitchFamily="34"/>
                      </a:endParaRPr>
                    </a:p>
                  </a:txBody>
                  <a:tcPr marL="68580" marR="68580" marT="0" marB="0"/>
                </a:tc>
                <a:tc>
                  <a:txBody>
                    <a:bodyPr/>
                    <a:lstStyle/>
                    <a:p>
                      <a:pPr lvl="0" algn="ctr">
                        <a:spcAft>
                          <a:spcPts val="0"/>
                        </a:spcAft>
                      </a:pPr>
                      <a:r>
                        <a:rPr lang="en-GB" sz="1200" dirty="0"/>
                        <a:t>GBAUWPTWPTGVM</a:t>
                      </a:r>
                      <a:endParaRPr lang="en-GB" sz="1200" dirty="0">
                        <a:latin typeface="Calibri" pitchFamily="34"/>
                        <a:ea typeface="Calibri" pitchFamily="34"/>
                      </a:endParaRPr>
                    </a:p>
                  </a:txBody>
                  <a:tcPr marL="68580" marR="68580" marT="0" marB="0"/>
                </a:tc>
                <a:extLst>
                  <a:ext uri="{0D108BD9-81ED-4DB2-BD59-A6C34878D82A}">
                    <a16:rowId xmlns:a16="http://schemas.microsoft.com/office/drawing/2014/main" val="2437647978"/>
                  </a:ext>
                </a:extLst>
              </a:tr>
            </a:tbl>
          </a:graphicData>
        </a:graphic>
      </p:graphicFrame>
      <p:sp>
        <p:nvSpPr>
          <p:cNvPr id="13" name="Rectangle 49">
            <a:extLst>
              <a:ext uri="{FF2B5EF4-FFF2-40B4-BE49-F238E27FC236}">
                <a16:creationId xmlns:a16="http://schemas.microsoft.com/office/drawing/2014/main" id="{DA657C55-C3C2-48E4-A1F2-4901BD4D5035}"/>
              </a:ext>
            </a:extLst>
          </p:cNvPr>
          <p:cNvSpPr/>
          <p:nvPr/>
        </p:nvSpPr>
        <p:spPr>
          <a:xfrm>
            <a:off x="391280" y="1098916"/>
            <a:ext cx="5158331"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RoRo: Declaration Submission at non-GVMS and GVMS locations</a:t>
            </a:r>
          </a:p>
        </p:txBody>
      </p:sp>
      <p:sp>
        <p:nvSpPr>
          <p:cNvPr id="14" name="Rectangle 4">
            <a:extLst>
              <a:ext uri="{FF2B5EF4-FFF2-40B4-BE49-F238E27FC236}">
                <a16:creationId xmlns:a16="http://schemas.microsoft.com/office/drawing/2014/main" id="{AD273981-5295-4053-B33C-D0687222D119}"/>
              </a:ext>
            </a:extLst>
          </p:cNvPr>
          <p:cNvSpPr/>
          <p:nvPr/>
        </p:nvSpPr>
        <p:spPr>
          <a:xfrm>
            <a:off x="399446" y="717721"/>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EU Exit: RoRo</a:t>
            </a:r>
          </a:p>
        </p:txBody>
      </p:sp>
      <p:sp>
        <p:nvSpPr>
          <p:cNvPr id="15" name="Oval 72">
            <a:hlinkClick r:id="rId3" action="ppaction://hlinksldjump"/>
            <a:extLst>
              <a:ext uri="{FF2B5EF4-FFF2-40B4-BE49-F238E27FC236}">
                <a16:creationId xmlns:a16="http://schemas.microsoft.com/office/drawing/2014/main" id="{490CD10C-158F-43C1-AE9F-E3A5B6DD92E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73">
            <a:hlinkClick r:id="rId3" action="ppaction://hlinksldjump"/>
            <a:extLst>
              <a:ext uri="{FF2B5EF4-FFF2-40B4-BE49-F238E27FC236}">
                <a16:creationId xmlns:a16="http://schemas.microsoft.com/office/drawing/2014/main" id="{A29BA3B5-6047-4E1A-930B-E165E223307D}"/>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74">
            <a:hlinkClick r:id="rId4" action="ppaction://hlinksldjump"/>
            <a:extLst>
              <a:ext uri="{FF2B5EF4-FFF2-40B4-BE49-F238E27FC236}">
                <a16:creationId xmlns:a16="http://schemas.microsoft.com/office/drawing/2014/main" id="{C7B01EDA-A91A-41EE-A52A-12BF1348425B}"/>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75">
            <a:hlinkClick r:id="rId5" action="ppaction://hlinksldjump"/>
            <a:extLst>
              <a:ext uri="{FF2B5EF4-FFF2-40B4-BE49-F238E27FC236}">
                <a16:creationId xmlns:a16="http://schemas.microsoft.com/office/drawing/2014/main" id="{DD9B3B26-4E5A-43B3-BA07-EA81CF60306F}"/>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76">
            <a:hlinkClick r:id="rId3" action="ppaction://hlinksldjump"/>
            <a:extLst>
              <a:ext uri="{FF2B5EF4-FFF2-40B4-BE49-F238E27FC236}">
                <a16:creationId xmlns:a16="http://schemas.microsoft.com/office/drawing/2014/main" id="{3F65D939-6558-4792-8B4C-3012F86A7A0E}"/>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0" name="TextBox 77">
            <a:hlinkClick r:id="rId3" action="ppaction://hlinksldjump"/>
            <a:extLst>
              <a:ext uri="{FF2B5EF4-FFF2-40B4-BE49-F238E27FC236}">
                <a16:creationId xmlns:a16="http://schemas.microsoft.com/office/drawing/2014/main" id="{5FCC2AD9-2AB3-4177-949A-A65DC3748D8B}"/>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1" name="TextBox 78">
            <a:hlinkClick r:id="rId4" action="ppaction://hlinksldjump"/>
            <a:extLst>
              <a:ext uri="{FF2B5EF4-FFF2-40B4-BE49-F238E27FC236}">
                <a16:creationId xmlns:a16="http://schemas.microsoft.com/office/drawing/2014/main" id="{DCB77A49-875C-427A-B09F-3A2556E40314}"/>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2" name="TextBox 79">
            <a:hlinkClick r:id="rId4" action="ppaction://hlinksldjump"/>
            <a:extLst>
              <a:ext uri="{FF2B5EF4-FFF2-40B4-BE49-F238E27FC236}">
                <a16:creationId xmlns:a16="http://schemas.microsoft.com/office/drawing/2014/main" id="{E3F9425E-204A-42DB-BEEB-AE81C0B2880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3" name="Oval 80">
            <a:extLst>
              <a:ext uri="{FF2B5EF4-FFF2-40B4-BE49-F238E27FC236}">
                <a16:creationId xmlns:a16="http://schemas.microsoft.com/office/drawing/2014/main" id="{4EEA2C2B-90D8-4BF0-A929-65690E2F846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TextBox 81">
            <a:hlinkClick r:id="rId6" action="ppaction://hlinksldjump"/>
            <a:extLst>
              <a:ext uri="{FF2B5EF4-FFF2-40B4-BE49-F238E27FC236}">
                <a16:creationId xmlns:a16="http://schemas.microsoft.com/office/drawing/2014/main" id="{3C7BE452-A424-4589-BD7E-3FC3B34A195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5" name="Picture 40">
            <a:hlinkClick r:id="rId3" action="ppaction://hlinksldjump"/>
            <a:extLst>
              <a:ext uri="{FF2B5EF4-FFF2-40B4-BE49-F238E27FC236}">
                <a16:creationId xmlns:a16="http://schemas.microsoft.com/office/drawing/2014/main" id="{3F3EDB01-6862-409F-9AFC-CE58AC5AE2F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6" name="Oval 83">
            <a:hlinkClick r:id="rId3" action="ppaction://hlinksldjump"/>
            <a:extLst>
              <a:ext uri="{FF2B5EF4-FFF2-40B4-BE49-F238E27FC236}">
                <a16:creationId xmlns:a16="http://schemas.microsoft.com/office/drawing/2014/main" id="{88B8081C-4EEB-46C4-B82F-7396DB8ABC0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7" name="Picture 106" descr="57% HMRCppt logo">
            <a:extLst>
              <a:ext uri="{FF2B5EF4-FFF2-40B4-BE49-F238E27FC236}">
                <a16:creationId xmlns:a16="http://schemas.microsoft.com/office/drawing/2014/main" id="{E365122B-A82D-3A4F-D1E0-8D0A832A8281}"/>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451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D94D79F-D8D4-4AB4-968D-B98FF294807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D2C550B-FA6B-40C0-9443-0C739AC9DD1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Slide Number Placeholder 5">
            <a:extLst>
              <a:ext uri="{FF2B5EF4-FFF2-40B4-BE49-F238E27FC236}">
                <a16:creationId xmlns:a16="http://schemas.microsoft.com/office/drawing/2014/main" id="{0DC07389-AB13-4DB0-90A7-5CFBC18BF8E7}"/>
              </a:ext>
            </a:extLst>
          </p:cNvPr>
          <p:cNvSpPr txBox="1"/>
          <p:nvPr/>
        </p:nvSpPr>
        <p:spPr>
          <a:xfrm>
            <a:off x="117069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06D6C3C-8B0F-4988-AD4D-EE308449C337}" type="slidenum">
              <a:rPr sz="1200"/>
              <a:t>18</a:t>
            </a:fld>
            <a:endParaRPr lang="en-GB" sz="1200" b="0" i="0" u="none" strike="noStrike" kern="1200" cap="none" spc="0" baseline="0" dirty="0">
              <a:solidFill>
                <a:srgbClr val="000000"/>
              </a:solidFill>
              <a:uFillTx/>
              <a:latin typeface="Calibri"/>
            </a:endParaRPr>
          </a:p>
        </p:txBody>
      </p:sp>
      <p:sp>
        <p:nvSpPr>
          <p:cNvPr id="6" name="Rectangle 31">
            <a:extLst>
              <a:ext uri="{FF2B5EF4-FFF2-40B4-BE49-F238E27FC236}">
                <a16:creationId xmlns:a16="http://schemas.microsoft.com/office/drawing/2014/main" id="{521E08DC-0DAA-4C26-803E-3F334C984B13}"/>
              </a:ext>
            </a:extLst>
          </p:cNvPr>
          <p:cNvSpPr/>
          <p:nvPr/>
        </p:nvSpPr>
        <p:spPr>
          <a:xfrm>
            <a:off x="319116" y="695739"/>
            <a:ext cx="11759760"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a:rPr>
              <a:t>Imports from EU Special Fiscal Territories and Countries with which the EU has a Customs Union (GB Imports)</a:t>
            </a:r>
          </a:p>
        </p:txBody>
      </p:sp>
      <p:sp>
        <p:nvSpPr>
          <p:cNvPr id="7" name="TextBox 42">
            <a:extLst>
              <a:ext uri="{FF2B5EF4-FFF2-40B4-BE49-F238E27FC236}">
                <a16:creationId xmlns:a16="http://schemas.microsoft.com/office/drawing/2014/main" id="{4D7DDAA2-C0DF-499C-BF38-E36690724F1C}"/>
              </a:ext>
            </a:extLst>
          </p:cNvPr>
          <p:cNvSpPr txBox="1"/>
          <p:nvPr/>
        </p:nvSpPr>
        <p:spPr>
          <a:xfrm>
            <a:off x="314901" y="1135191"/>
            <a:ext cx="11513128" cy="160043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TTM14.0/ TDR3.1.2, CDS will have the ability to process GB import declarations from </a:t>
            </a:r>
            <a:r>
              <a:rPr lang="en-GB" sz="1200" b="1" i="0" u="none" strike="noStrike" kern="1200" cap="none" spc="0" baseline="0">
                <a:solidFill>
                  <a:srgbClr val="000000"/>
                </a:solidFill>
                <a:uFillTx/>
                <a:latin typeface="Calibri"/>
              </a:rPr>
              <a:t>EU Special Fiscal Territories and countries which the EU has a customs union</a:t>
            </a:r>
            <a:r>
              <a:rPr lang="en-GB" sz="1200" b="0" i="0" u="none" strike="noStrike" kern="1200" cap="none" spc="0" baseline="0">
                <a:solidFill>
                  <a:srgbClr val="000000"/>
                </a:solidFill>
                <a:uFillTx/>
                <a:latin typeface="Calibri"/>
              </a:rPr>
              <a:t>. This will include declaration submission and validation of an import declaration and calculation of the correct duties that are liable.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following scenarios are </a:t>
            </a:r>
            <a:r>
              <a:rPr lang="en-GB" sz="1200" b="1" i="0" u="none" strike="noStrike" kern="1200" cap="none" spc="0" baseline="0">
                <a:solidFill>
                  <a:srgbClr val="000000"/>
                </a:solidFill>
                <a:uFillTx/>
                <a:latin typeface="Calibri"/>
              </a:rPr>
              <a:t>in scope </a:t>
            </a:r>
            <a:r>
              <a:rPr lang="en-GB" sz="1200" b="0" i="0" u="none" strike="noStrike" kern="1200" cap="none" spc="0" baseline="0">
                <a:solidFill>
                  <a:srgbClr val="000000"/>
                </a:solidFill>
                <a:uFillTx/>
                <a:latin typeface="Calibri"/>
              </a:rPr>
              <a:t>for CDS users: GB imports from EU SFT or Countries which EU has a Customs Union:</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Tariff Volume 3 guidance, GB declarants submitting an import declaration from EU SFTs or Countries which EU has a Customs Union should declare the declaration type ‘IM’ in D.E. 1/1 and the relevant country code which is provided on the previous slide.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validate the declaration against the UK tariff. CDS will then calculate any liable UK VAT and Excise duties and, where applicable, customs duties on the import, send a DMSTAX notification and collect duties against the declared method of payment.</a:t>
            </a:r>
          </a:p>
        </p:txBody>
      </p:sp>
      <p:sp>
        <p:nvSpPr>
          <p:cNvPr id="8" name="Rectangle 3">
            <a:extLst>
              <a:ext uri="{FF2B5EF4-FFF2-40B4-BE49-F238E27FC236}">
                <a16:creationId xmlns:a16="http://schemas.microsoft.com/office/drawing/2014/main" id="{C08C6297-506F-4D2D-8216-D8670374CB43}"/>
              </a:ext>
            </a:extLst>
          </p:cNvPr>
          <p:cNvSpPr/>
          <p:nvPr/>
        </p:nvSpPr>
        <p:spPr>
          <a:xfrm>
            <a:off x="303983" y="2769159"/>
            <a:ext cx="11440963" cy="1908215"/>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due to Department for International Trade delays with updating Tariff data, the country codes JE and GG (Jersey and Guernsey) are not currently recognised by CDS.  Until this is fixed, CDS users will not be able to submit import declarations from UK SFTs (Jersey or Guernsey) and </a:t>
            </a:r>
            <a:r>
              <a:rPr lang="en-GB" sz="1200" b="1" i="0" u="none" strike="noStrike" kern="1200" cap="none" spc="0" baseline="0">
                <a:solidFill>
                  <a:srgbClr val="000000"/>
                </a:solidFill>
                <a:uFillTx/>
                <a:latin typeface="Calibri"/>
              </a:rPr>
              <a:t>the following scenario GB imports from UK Special Fiscal Territories (Jersey/Guernsey) cannot be successfully run in Trade Test or Trader Dress Rehearsal:</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Tariff Volume 3 guidance, GB declarants submitting an import declaration from UK SFTs should declare the declaration type ‘CO’ in D.E. 1/1 and either the ‘GG’ country code for Guernsey or ‘JE’ country code for Jersey. Where applicable, declarants should also declare the SFT Additional Procedure Code ‘F15’ in D.E. 1/11.</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declarants may only declare preference code (dutyRegimeCode) 100 on declarations for GB imports for Guernsey and Jersey as customs duty is not applicable.</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validate the declaration against the UK tariff.  CDS will then calculate any liable VAT and Excise duties on the import, send a DMSTAX notification and collect duties against the declared method of payment.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‘CO’ can be used with all additional declaration types (Dec Type A/B/C/D/E/F/Y/Z) and ‘F15’ can be used for all additional declaration types except Type B or E.</a:t>
            </a:r>
          </a:p>
        </p:txBody>
      </p:sp>
      <p:sp>
        <p:nvSpPr>
          <p:cNvPr id="9" name="Rectangle 9">
            <a:extLst>
              <a:ext uri="{FF2B5EF4-FFF2-40B4-BE49-F238E27FC236}">
                <a16:creationId xmlns:a16="http://schemas.microsoft.com/office/drawing/2014/main" id="{D8CD2CC0-E5D7-4D32-929A-80890BC37D3E}"/>
              </a:ext>
            </a:extLst>
          </p:cNvPr>
          <p:cNvSpPr/>
          <p:nvPr/>
        </p:nvSpPr>
        <p:spPr>
          <a:xfrm>
            <a:off x="325947" y="5115327"/>
            <a:ext cx="11418999" cy="743132"/>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600" b="0" i="0" u="none" strike="noStrike" kern="1200" cap="none" spc="0" baseline="0">
              <a:solidFill>
                <a:srgbClr val="FFFFFF"/>
              </a:solidFill>
              <a:uFillTx/>
              <a:latin typeface="Calibri"/>
            </a:endParaRPr>
          </a:p>
        </p:txBody>
      </p:sp>
      <p:sp>
        <p:nvSpPr>
          <p:cNvPr id="10" name="Rectangle 28">
            <a:extLst>
              <a:ext uri="{FF2B5EF4-FFF2-40B4-BE49-F238E27FC236}">
                <a16:creationId xmlns:a16="http://schemas.microsoft.com/office/drawing/2014/main" id="{6F7AC558-5DBB-40D6-8EA8-D49F3FEB478E}"/>
              </a:ext>
            </a:extLst>
          </p:cNvPr>
          <p:cNvSpPr/>
          <p:nvPr/>
        </p:nvSpPr>
        <p:spPr>
          <a:xfrm rot="16200004">
            <a:off x="141934" y="5299350"/>
            <a:ext cx="743123" cy="375096"/>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FFFFFF"/>
                </a:solidFill>
                <a:uFillTx/>
                <a:latin typeface="Calibri"/>
              </a:rPr>
              <a:t>XML SAMPLES</a:t>
            </a:r>
          </a:p>
        </p:txBody>
      </p:sp>
      <p:sp>
        <p:nvSpPr>
          <p:cNvPr id="11" name="Rectangle 29">
            <a:extLst>
              <a:ext uri="{FF2B5EF4-FFF2-40B4-BE49-F238E27FC236}">
                <a16:creationId xmlns:a16="http://schemas.microsoft.com/office/drawing/2014/main" id="{3A1EE471-E406-4742-8BE0-A9B76E555C5E}"/>
              </a:ext>
            </a:extLst>
          </p:cNvPr>
          <p:cNvSpPr/>
          <p:nvPr/>
        </p:nvSpPr>
        <p:spPr>
          <a:xfrm>
            <a:off x="756044" y="5236823"/>
            <a:ext cx="10988893" cy="50014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TT_IM56a </a:t>
            </a:r>
            <a:r>
              <a:rPr lang="de-DE" sz="1200" b="0" i="0" u="none" strike="noStrike" kern="1200" cap="none" spc="0" baseline="0">
                <a:solidFill>
                  <a:srgbClr val="000000"/>
                </a:solidFill>
                <a:uFillTx/>
                <a:latin typeface="Calibri" pitchFamily="34"/>
              </a:rPr>
              <a:t>-</a:t>
            </a:r>
            <a:r>
              <a:rPr lang="de-DE" sz="1200" b="1" i="0" u="none" strike="noStrike" kern="1200" cap="none" spc="0" baseline="0">
                <a:solidFill>
                  <a:srgbClr val="000000"/>
                </a:solidFill>
                <a:uFillTx/>
                <a:latin typeface="Calibri" pitchFamily="34"/>
              </a:rPr>
              <a:t> </a:t>
            </a:r>
            <a:r>
              <a:rPr lang="en-GB" sz="1200" b="0" i="0" u="none" strike="noStrike" kern="1200" cap="none" spc="0" baseline="0">
                <a:solidFill>
                  <a:srgbClr val="000000"/>
                </a:solidFill>
                <a:uFillTx/>
                <a:latin typeface="Calibri" pitchFamily="34"/>
              </a:rPr>
              <a:t>Imports Declaration into Mainland UK from an EU Special Fiscal Territory</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TT_IM57a </a:t>
            </a:r>
            <a:r>
              <a:rPr lang="de-DE" sz="1200" b="0" i="0" u="none" strike="noStrike" kern="1200" cap="none" spc="0" baseline="0">
                <a:solidFill>
                  <a:srgbClr val="000000"/>
                </a:solidFill>
                <a:uFillTx/>
                <a:latin typeface="Calibri" pitchFamily="34"/>
              </a:rPr>
              <a:t>- </a:t>
            </a:r>
            <a:r>
              <a:rPr lang="en-GB" sz="1200" b="0" i="0" u="none" strike="noStrike" kern="1200" cap="none" spc="0" baseline="0">
                <a:solidFill>
                  <a:srgbClr val="000000"/>
                </a:solidFill>
                <a:uFillTx/>
                <a:latin typeface="Calibri"/>
              </a:rPr>
              <a:t>Imports Declaration into Mainland UK from territories with which the EU has a Customs Union </a:t>
            </a:r>
          </a:p>
        </p:txBody>
      </p:sp>
      <p:sp>
        <p:nvSpPr>
          <p:cNvPr id="12" name="TextBox 12">
            <a:extLst>
              <a:ext uri="{FF2B5EF4-FFF2-40B4-BE49-F238E27FC236}">
                <a16:creationId xmlns:a16="http://schemas.microsoft.com/office/drawing/2014/main" id="{6BB35FE3-9465-4A31-A21B-2293923E9460}"/>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13" name="Oval 59">
            <a:hlinkClick r:id="rId3" action="ppaction://hlinksldjump"/>
            <a:extLst>
              <a:ext uri="{FF2B5EF4-FFF2-40B4-BE49-F238E27FC236}">
                <a16:creationId xmlns:a16="http://schemas.microsoft.com/office/drawing/2014/main" id="{284571EA-12A9-4E3D-ADFC-7E40B539020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60">
            <a:hlinkClick r:id="rId3" action="ppaction://hlinksldjump"/>
            <a:extLst>
              <a:ext uri="{FF2B5EF4-FFF2-40B4-BE49-F238E27FC236}">
                <a16:creationId xmlns:a16="http://schemas.microsoft.com/office/drawing/2014/main" id="{5FDC8442-6C25-4BAB-BF10-656ED116B140}"/>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61">
            <a:hlinkClick r:id="rId4" action="ppaction://hlinksldjump"/>
            <a:extLst>
              <a:ext uri="{FF2B5EF4-FFF2-40B4-BE49-F238E27FC236}">
                <a16:creationId xmlns:a16="http://schemas.microsoft.com/office/drawing/2014/main" id="{979691EB-7AE9-4CBA-9CFF-698A2F65B819}"/>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62">
            <a:hlinkClick r:id="rId5" action="ppaction://hlinksldjump"/>
            <a:extLst>
              <a:ext uri="{FF2B5EF4-FFF2-40B4-BE49-F238E27FC236}">
                <a16:creationId xmlns:a16="http://schemas.microsoft.com/office/drawing/2014/main" id="{639604FD-5700-4D92-8EC9-B5EA2C2412C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63">
            <a:hlinkClick r:id="rId3" action="ppaction://hlinksldjump"/>
            <a:extLst>
              <a:ext uri="{FF2B5EF4-FFF2-40B4-BE49-F238E27FC236}">
                <a16:creationId xmlns:a16="http://schemas.microsoft.com/office/drawing/2014/main" id="{F1379345-3D91-4ABA-9310-A6580531496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8" name="TextBox 64">
            <a:hlinkClick r:id="rId3" action="ppaction://hlinksldjump"/>
            <a:extLst>
              <a:ext uri="{FF2B5EF4-FFF2-40B4-BE49-F238E27FC236}">
                <a16:creationId xmlns:a16="http://schemas.microsoft.com/office/drawing/2014/main" id="{DD553BCE-8C1B-4114-A7AF-FE58BA706163}"/>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9" name="TextBox 65">
            <a:hlinkClick r:id="rId4" action="ppaction://hlinksldjump"/>
            <a:extLst>
              <a:ext uri="{FF2B5EF4-FFF2-40B4-BE49-F238E27FC236}">
                <a16:creationId xmlns:a16="http://schemas.microsoft.com/office/drawing/2014/main" id="{3282DD83-26D8-4744-95CD-18A9C2F6429B}"/>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0" name="TextBox 66">
            <a:hlinkClick r:id="rId4" action="ppaction://hlinksldjump"/>
            <a:extLst>
              <a:ext uri="{FF2B5EF4-FFF2-40B4-BE49-F238E27FC236}">
                <a16:creationId xmlns:a16="http://schemas.microsoft.com/office/drawing/2014/main" id="{FCE42447-69DF-45FF-A1AC-E3A027DFE72E}"/>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1" name="Oval 67">
            <a:extLst>
              <a:ext uri="{FF2B5EF4-FFF2-40B4-BE49-F238E27FC236}">
                <a16:creationId xmlns:a16="http://schemas.microsoft.com/office/drawing/2014/main" id="{24E5B7F9-6B8C-4727-BCFD-86D7610E4197}"/>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TextBox 68">
            <a:hlinkClick r:id="rId6" action="ppaction://hlinksldjump"/>
            <a:extLst>
              <a:ext uri="{FF2B5EF4-FFF2-40B4-BE49-F238E27FC236}">
                <a16:creationId xmlns:a16="http://schemas.microsoft.com/office/drawing/2014/main" id="{A0B7262E-D91C-44EF-9664-A6A0191BA660}"/>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3" name="Picture 40">
            <a:hlinkClick r:id="rId3" action="ppaction://hlinksldjump"/>
            <a:extLst>
              <a:ext uri="{FF2B5EF4-FFF2-40B4-BE49-F238E27FC236}">
                <a16:creationId xmlns:a16="http://schemas.microsoft.com/office/drawing/2014/main" id="{877AC8A8-BA7D-48CB-9A78-DB011369F99D}"/>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4" name="Oval 70">
            <a:hlinkClick r:id="rId3" action="ppaction://hlinksldjump"/>
            <a:extLst>
              <a:ext uri="{FF2B5EF4-FFF2-40B4-BE49-F238E27FC236}">
                <a16:creationId xmlns:a16="http://schemas.microsoft.com/office/drawing/2014/main" id="{994A1196-9C32-4189-9D84-076FF56E8D2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5" name="Picture 106" descr="57% HMRCppt logo">
            <a:extLst>
              <a:ext uri="{FF2B5EF4-FFF2-40B4-BE49-F238E27FC236}">
                <a16:creationId xmlns:a16="http://schemas.microsoft.com/office/drawing/2014/main" id="{156CF9AC-96D0-E2C1-522D-94C34470737D}"/>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838840280">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F5DDADEF-4A2C-48B7-8787-2AFDA1DBF2DF}"/>
              </a:ext>
            </a:extLst>
          </p:cNvPr>
          <p:cNvSpPr/>
          <p:nvPr/>
        </p:nvSpPr>
        <p:spPr>
          <a:xfrm>
            <a:off x="445221" y="1190484"/>
            <a:ext cx="11501615" cy="5080689"/>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TextBox 13">
            <a:extLst>
              <a:ext uri="{FF2B5EF4-FFF2-40B4-BE49-F238E27FC236}">
                <a16:creationId xmlns:a16="http://schemas.microsoft.com/office/drawing/2014/main" id="{D25B800D-B1E8-4974-B4A4-D19F45384DF1}"/>
              </a:ext>
            </a:extLst>
          </p:cNvPr>
          <p:cNvSpPr txBox="1"/>
          <p:nvPr/>
        </p:nvSpPr>
        <p:spPr>
          <a:xfrm>
            <a:off x="706639" y="1247634"/>
            <a:ext cx="11062027" cy="46166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While CDS has delivered the functionality to submit and process all Document Status Codes in Appendix 5B of the UK Trade Tariff: volume 3, traders currently selected to migrate to CDS should </a:t>
            </a:r>
            <a:r>
              <a:rPr lang="en-GB" sz="1200" b="1" i="0" u="none" strike="noStrike" kern="1200" cap="none" spc="0" baseline="0">
                <a:solidFill>
                  <a:srgbClr val="000000"/>
                </a:solidFill>
                <a:uFillTx/>
                <a:latin typeface="Calibri"/>
              </a:rPr>
              <a:t>only submit the Document and other reference codes listed in the CDS code list documentation</a:t>
            </a:r>
            <a:r>
              <a:rPr lang="en-GB" sz="1200" b="0" i="0" u="none" strike="noStrike" kern="1200" cap="none" spc="0" baseline="0">
                <a:solidFill>
                  <a:srgbClr val="000000"/>
                </a:solidFill>
                <a:uFillTx/>
                <a:latin typeface="Calibri"/>
              </a:rPr>
              <a:t> until further notice.</a:t>
            </a:r>
          </a:p>
        </p:txBody>
      </p:sp>
      <p:cxnSp>
        <p:nvCxnSpPr>
          <p:cNvPr id="5" name="Straight Connector 11">
            <a:extLst>
              <a:ext uri="{FF2B5EF4-FFF2-40B4-BE49-F238E27FC236}">
                <a16:creationId xmlns:a16="http://schemas.microsoft.com/office/drawing/2014/main" id="{8C09C785-713A-4444-AB69-5754A90E717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67C5E36F-0B22-4B4A-98F6-A5CA8B952541}"/>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7" name="Rectangle 4">
            <a:extLst>
              <a:ext uri="{FF2B5EF4-FFF2-40B4-BE49-F238E27FC236}">
                <a16:creationId xmlns:a16="http://schemas.microsoft.com/office/drawing/2014/main" id="{DE5F3526-8B63-4D92-A1E3-6DA84DB17BC4}"/>
              </a:ext>
            </a:extLst>
          </p:cNvPr>
          <p:cNvSpPr/>
          <p:nvPr/>
        </p:nvSpPr>
        <p:spPr>
          <a:xfrm>
            <a:off x="364626" y="755916"/>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Status Codes</a:t>
            </a:r>
            <a:endParaRPr lang="en-GB" sz="2400" b="1" i="0" u="none" strike="noStrike" kern="1200" cap="none" spc="0" baseline="0">
              <a:solidFill>
                <a:srgbClr val="000000"/>
              </a:solidFill>
              <a:uFillTx/>
              <a:latin typeface="Calibri" pitchFamily="34"/>
              <a:ea typeface="Calibri" pitchFamily="34"/>
            </a:endParaRPr>
          </a:p>
        </p:txBody>
      </p:sp>
      <p:graphicFrame>
        <p:nvGraphicFramePr>
          <p:cNvPr id="8" name="Table 1">
            <a:extLst>
              <a:ext uri="{FF2B5EF4-FFF2-40B4-BE49-F238E27FC236}">
                <a16:creationId xmlns:a16="http://schemas.microsoft.com/office/drawing/2014/main" id="{4C8BBD5A-0CFE-484B-B85E-EA882B94FBDA}"/>
              </a:ext>
            </a:extLst>
          </p:cNvPr>
          <p:cNvGraphicFramePr>
            <a:graphicFrameLocks noGrp="1"/>
          </p:cNvGraphicFramePr>
          <p:nvPr/>
        </p:nvGraphicFramePr>
        <p:xfrm>
          <a:off x="795729" y="1766447"/>
          <a:ext cx="11062025" cy="3320424"/>
        </p:xfrm>
        <a:graphic>
          <a:graphicData uri="http://schemas.openxmlformats.org/drawingml/2006/table">
            <a:tbl>
              <a:tblPr firstRow="1" firstCol="1" bandRow="1">
                <a:effectLst/>
                <a:tableStyleId>{5C22544A-7EE6-4342-B048-85BDC9FD1C3A}</a:tableStyleId>
              </a:tblPr>
              <a:tblGrid>
                <a:gridCol w="566937">
                  <a:extLst>
                    <a:ext uri="{9D8B030D-6E8A-4147-A177-3AD203B41FA5}">
                      <a16:colId xmlns:a16="http://schemas.microsoft.com/office/drawing/2014/main" val="1134978179"/>
                    </a:ext>
                  </a:extLst>
                </a:gridCol>
                <a:gridCol w="5468788">
                  <a:extLst>
                    <a:ext uri="{9D8B030D-6E8A-4147-A177-3AD203B41FA5}">
                      <a16:colId xmlns:a16="http://schemas.microsoft.com/office/drawing/2014/main" val="4269034601"/>
                    </a:ext>
                  </a:extLst>
                </a:gridCol>
                <a:gridCol w="643033">
                  <a:extLst>
                    <a:ext uri="{9D8B030D-6E8A-4147-A177-3AD203B41FA5}">
                      <a16:colId xmlns:a16="http://schemas.microsoft.com/office/drawing/2014/main" val="1646408784"/>
                    </a:ext>
                  </a:extLst>
                </a:gridCol>
                <a:gridCol w="4383267">
                  <a:extLst>
                    <a:ext uri="{9D8B030D-6E8A-4147-A177-3AD203B41FA5}">
                      <a16:colId xmlns:a16="http://schemas.microsoft.com/office/drawing/2014/main" val="3803736204"/>
                    </a:ext>
                  </a:extLst>
                </a:gridCol>
              </a:tblGrid>
              <a:tr h="196925">
                <a:tc gridSpan="4">
                  <a:txBody>
                    <a:bodyPr/>
                    <a:lstStyle/>
                    <a:p>
                      <a:pPr lvl="0" algn="ctr">
                        <a:lnSpc>
                          <a:spcPct val="107000"/>
                        </a:lnSpc>
                        <a:spcAft>
                          <a:spcPts val="0"/>
                        </a:spcAft>
                      </a:pPr>
                      <a:r>
                        <a:rPr lang="en-GB" sz="1100">
                          <a:latin typeface="Calibri" pitchFamily="34"/>
                          <a:ea typeface="Calibri" pitchFamily="34"/>
                          <a:cs typeface="Times New Roman" pitchFamily="18"/>
                        </a:rPr>
                        <a:t>Data Element 2/3</a:t>
                      </a:r>
                    </a:p>
                  </a:txBody>
                  <a:tcPr marL="0" marR="26810" marT="26810" marB="26810">
                    <a:solidFill>
                      <a:srgbClr val="7F7F7F"/>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3757401139"/>
                  </a:ext>
                </a:extLst>
              </a:tr>
              <a:tr h="183264">
                <a:tc>
                  <a:txBody>
                    <a:bodyPr/>
                    <a:lstStyle/>
                    <a:p>
                      <a:pPr lvl="0" algn="ctr">
                        <a:lnSpc>
                          <a:spcPct val="107000"/>
                        </a:lnSpc>
                        <a:spcAft>
                          <a:spcPts val="0"/>
                        </a:spcAft>
                      </a:pPr>
                      <a:r>
                        <a:rPr lang="en-GB" sz="1000" b="1">
                          <a:solidFill>
                            <a:srgbClr val="FFFFFF"/>
                          </a:solidFill>
                          <a:latin typeface="Calibri" pitchFamily="34"/>
                          <a:ea typeface="Calibri" pitchFamily="34"/>
                          <a:cs typeface="Times New Roman" pitchFamily="18"/>
                        </a:rPr>
                        <a:t>Status</a:t>
                      </a:r>
                    </a:p>
                  </a:txBody>
                  <a:tcPr marL="0" marR="26810" marT="26810" marB="26810">
                    <a:solidFill>
                      <a:srgbClr val="A6A6A6"/>
                    </a:solidFill>
                  </a:tcPr>
                </a:tc>
                <a:tc>
                  <a:txBody>
                    <a:bodyPr/>
                    <a:lstStyle/>
                    <a:p>
                      <a:pPr lvl="0">
                        <a:lnSpc>
                          <a:spcPct val="107000"/>
                        </a:lnSpc>
                        <a:spcAft>
                          <a:spcPts val="0"/>
                        </a:spcAft>
                      </a:pPr>
                      <a:r>
                        <a:rPr lang="en-GB" sz="1000" b="1">
                          <a:solidFill>
                            <a:srgbClr val="FFFFFF"/>
                          </a:solidFill>
                        </a:rPr>
                        <a:t>Description</a:t>
                      </a:r>
                      <a:endParaRPr lang="en-GB" sz="1000" b="1">
                        <a:solidFill>
                          <a:srgbClr val="FFFFFF"/>
                        </a:solidFill>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A6A6A6"/>
                    </a:solidFill>
                  </a:tcPr>
                </a:tc>
                <a:tc>
                  <a:txBody>
                    <a:bodyPr/>
                    <a:lstStyle/>
                    <a:p>
                      <a:pPr lvl="0" algn="ctr">
                        <a:lnSpc>
                          <a:spcPct val="107000"/>
                        </a:lnSpc>
                        <a:spcAft>
                          <a:spcPts val="0"/>
                        </a:spcAft>
                      </a:pPr>
                      <a:r>
                        <a:rPr lang="en-GB" sz="1000" b="1">
                          <a:solidFill>
                            <a:srgbClr val="FFFFFF"/>
                          </a:solidFill>
                          <a:latin typeface="Calibri" pitchFamily="34"/>
                          <a:ea typeface="Calibri" pitchFamily="34"/>
                          <a:cs typeface="Times New Roman" pitchFamily="18"/>
                        </a:rPr>
                        <a:t>Status</a:t>
                      </a:r>
                    </a:p>
                  </a:txBody>
                  <a:tcPr marL="0" marR="26810" marT="26810" marB="26810">
                    <a:lnL w="38103" cap="flat" cmpd="sng" algn="ctr">
                      <a:solidFill>
                        <a:srgbClr val="FFFFFF"/>
                      </a:solidFill>
                      <a:prstDash val="solid"/>
                      <a:round/>
                      <a:headEnd type="none" w="med" len="med"/>
                      <a:tailEnd type="none" w="med" len="med"/>
                    </a:lnL>
                    <a:solidFill>
                      <a:srgbClr val="A6A6A6"/>
                    </a:solidFill>
                  </a:tcPr>
                </a:tc>
                <a:tc>
                  <a:txBody>
                    <a:bodyPr/>
                    <a:lstStyle/>
                    <a:p>
                      <a:pPr lvl="0">
                        <a:lnSpc>
                          <a:spcPct val="107000"/>
                        </a:lnSpc>
                        <a:spcAft>
                          <a:spcPts val="0"/>
                        </a:spcAft>
                      </a:pPr>
                      <a:r>
                        <a:rPr lang="en-GB" sz="1000" b="1">
                          <a:solidFill>
                            <a:srgbClr val="FFFFFF"/>
                          </a:solidFill>
                          <a:latin typeface="Calibri" pitchFamily="34"/>
                          <a:ea typeface="Calibri" pitchFamily="34"/>
                          <a:cs typeface="Times New Roman" pitchFamily="18"/>
                        </a:rPr>
                        <a:t>Description</a:t>
                      </a:r>
                    </a:p>
                  </a:txBody>
                  <a:tcPr marL="0" marR="26810" marT="26810" marB="26810">
                    <a:solidFill>
                      <a:srgbClr val="A6A6A6"/>
                    </a:solidFill>
                  </a:tcPr>
                </a:tc>
                <a:extLst>
                  <a:ext uri="{0D108BD9-81ED-4DB2-BD59-A6C34878D82A}">
                    <a16:rowId xmlns:a16="http://schemas.microsoft.com/office/drawing/2014/main" val="2365783823"/>
                  </a:ext>
                </a:extLst>
              </a:tr>
              <a:tr h="183264">
                <a:tc>
                  <a:txBody>
                    <a:bodyPr/>
                    <a:lstStyle/>
                    <a:p>
                      <a:pPr lvl="0" algn="ctr">
                        <a:lnSpc>
                          <a:spcPct val="107000"/>
                        </a:lnSpc>
                        <a:spcAft>
                          <a:spcPts val="0"/>
                        </a:spcAft>
                      </a:pPr>
                      <a:r>
                        <a:rPr lang="en-GB" sz="1000">
                          <a:solidFill>
                            <a:srgbClr val="000000"/>
                          </a:solidFill>
                        </a:rPr>
                        <a:t>AC</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Document attached for certification by customs</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GE</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Document with the goods – exhausted by (or only applies to) this entry</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643632137"/>
                  </a:ext>
                </a:extLst>
              </a:tr>
              <a:tr h="183264">
                <a:tc>
                  <a:txBody>
                    <a:bodyPr/>
                    <a:lstStyle/>
                    <a:p>
                      <a:pPr lvl="0" algn="ctr">
                        <a:lnSpc>
                          <a:spcPct val="107000"/>
                        </a:lnSpc>
                        <a:spcAft>
                          <a:spcPts val="0"/>
                        </a:spcAft>
                      </a:pPr>
                      <a:r>
                        <a:rPr lang="en-GB" sz="1000">
                          <a:solidFill>
                            <a:srgbClr val="000000"/>
                          </a:solidFill>
                        </a:rPr>
                        <a:t>AE</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Document attached – exhausted by (or only applies to) this entry (document returned to the trader)</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GP</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Document with the goods – part use (applies to this and other entries)</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1387828574"/>
                  </a:ext>
                </a:extLst>
              </a:tr>
              <a:tr h="325947">
                <a:tc>
                  <a:txBody>
                    <a:bodyPr/>
                    <a:lstStyle/>
                    <a:p>
                      <a:pPr lvl="0" algn="ctr">
                        <a:lnSpc>
                          <a:spcPct val="107000"/>
                        </a:lnSpc>
                        <a:spcAft>
                          <a:spcPts val="0"/>
                        </a:spcAft>
                      </a:pPr>
                      <a:r>
                        <a:rPr lang="en-GB" sz="1000">
                          <a:solidFill>
                            <a:srgbClr val="000000"/>
                          </a:solidFill>
                        </a:rPr>
                        <a:t>AF</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Document attached – exhausted by (or only applies to) this entry (document returned to the relevant Department)</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JA</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Document held by authorised trader – already attributed on simplified declaration</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3188398831"/>
                  </a:ext>
                </a:extLst>
              </a:tr>
              <a:tr h="183264">
                <a:tc>
                  <a:txBody>
                    <a:bodyPr/>
                    <a:lstStyle/>
                    <a:p>
                      <a:pPr lvl="0" algn="ctr">
                        <a:lnSpc>
                          <a:spcPct val="107000"/>
                        </a:lnSpc>
                        <a:spcAft>
                          <a:spcPts val="0"/>
                        </a:spcAft>
                      </a:pPr>
                      <a:r>
                        <a:rPr lang="en-GB" sz="1000">
                          <a:solidFill>
                            <a:srgbClr val="000000"/>
                          </a:solidFill>
                        </a:rPr>
                        <a:t>AG</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Document attached – exhausted by (or only applies to) this entry (document retained)</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JE</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Document held by authorised trader – exhausted by (or only applies to) this entry</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3317540933"/>
                  </a:ext>
                </a:extLst>
              </a:tr>
              <a:tr h="183264">
                <a:tc>
                  <a:txBody>
                    <a:bodyPr/>
                    <a:lstStyle/>
                    <a:p>
                      <a:pPr lvl="0" algn="ctr">
                        <a:lnSpc>
                          <a:spcPct val="107000"/>
                        </a:lnSpc>
                        <a:spcAft>
                          <a:spcPts val="0"/>
                        </a:spcAft>
                      </a:pPr>
                      <a:r>
                        <a:rPr lang="en-GB" sz="1000">
                          <a:solidFill>
                            <a:srgbClr val="000000"/>
                          </a:solidFill>
                        </a:rPr>
                        <a:t>AP</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Document attached – part use (applies to this and other entries) (document returned to the trader)</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JP</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Evidence required is available from trader – part use</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2575867641"/>
                  </a:ext>
                </a:extLst>
              </a:tr>
              <a:tr h="183264">
                <a:tc>
                  <a:txBody>
                    <a:bodyPr/>
                    <a:lstStyle/>
                    <a:p>
                      <a:pPr lvl="0" algn="ctr">
                        <a:lnSpc>
                          <a:spcPct val="107000"/>
                        </a:lnSpc>
                        <a:spcAft>
                          <a:spcPts val="0"/>
                        </a:spcAft>
                      </a:pPr>
                      <a:r>
                        <a:rPr lang="en-GB" sz="1000">
                          <a:solidFill>
                            <a:srgbClr val="000000"/>
                          </a:solidFill>
                        </a:rPr>
                        <a:t>AS</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Document attached – surrendered (document returned to the trader)</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LE</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Lodged previously – exhausted by (or only applies to) this entry</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3377975453"/>
                  </a:ext>
                </a:extLst>
              </a:tr>
              <a:tr h="183264">
                <a:tc>
                  <a:txBody>
                    <a:bodyPr/>
                    <a:lstStyle/>
                    <a:p>
                      <a:pPr lvl="0" algn="ctr">
                        <a:lnSpc>
                          <a:spcPct val="107000"/>
                        </a:lnSpc>
                        <a:spcAft>
                          <a:spcPts val="0"/>
                        </a:spcAft>
                      </a:pPr>
                      <a:r>
                        <a:rPr lang="en-GB" sz="1000">
                          <a:solidFill>
                            <a:srgbClr val="000000"/>
                          </a:solidFill>
                        </a:rPr>
                        <a:t>AT</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Document attached – surrendered (document returned to the relevant department)</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LP</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Lodged previously – part use (applies to this and other entries)</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627287651"/>
                  </a:ext>
                </a:extLst>
              </a:tr>
              <a:tr h="183264">
                <a:tc>
                  <a:txBody>
                    <a:bodyPr/>
                    <a:lstStyle/>
                    <a:p>
                      <a:pPr lvl="0" algn="ctr">
                        <a:lnSpc>
                          <a:spcPct val="107000"/>
                        </a:lnSpc>
                        <a:spcAft>
                          <a:spcPts val="0"/>
                        </a:spcAft>
                      </a:pPr>
                      <a:r>
                        <a:rPr lang="en-GB" sz="1000">
                          <a:solidFill>
                            <a:srgbClr val="000000"/>
                          </a:solidFill>
                        </a:rPr>
                        <a:t>CC</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Authorisation issued under the Community Customs Code – CCG not required</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RE</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To be used when declaration of a REX number is required</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2952522803"/>
                  </a:ext>
                </a:extLst>
              </a:tr>
              <a:tr h="183264">
                <a:tc>
                  <a:txBody>
                    <a:bodyPr/>
                    <a:lstStyle/>
                    <a:p>
                      <a:pPr lvl="0" algn="ctr">
                        <a:lnSpc>
                          <a:spcPct val="107000"/>
                        </a:lnSpc>
                        <a:spcAft>
                          <a:spcPts val="0"/>
                        </a:spcAft>
                      </a:pPr>
                      <a:r>
                        <a:rPr lang="en-GB" sz="1000">
                          <a:solidFill>
                            <a:srgbClr val="000000"/>
                          </a:solidFill>
                        </a:rPr>
                        <a:t>EA</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Electronic details on CDS – Licence already attributed on the simplified declaration. </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XB</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Document not required – quantity below ‘de minimus’</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4125749224"/>
                  </a:ext>
                </a:extLst>
              </a:tr>
              <a:tr h="183264">
                <a:tc>
                  <a:txBody>
                    <a:bodyPr/>
                    <a:lstStyle/>
                    <a:p>
                      <a:pPr lvl="0" algn="ctr">
                        <a:lnSpc>
                          <a:spcPct val="107000"/>
                        </a:lnSpc>
                        <a:spcAft>
                          <a:spcPts val="0"/>
                        </a:spcAft>
                      </a:pPr>
                      <a:r>
                        <a:rPr lang="en-GB" sz="1000">
                          <a:solidFill>
                            <a:srgbClr val="000000"/>
                          </a:solidFill>
                        </a:rPr>
                        <a:t>EE</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Electronic details on CDS – Licence to be exhausted. </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XF</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Document not required – goods not going into free circulation</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3086468682"/>
                  </a:ext>
                </a:extLst>
              </a:tr>
              <a:tr h="183264">
                <a:tc>
                  <a:txBody>
                    <a:bodyPr/>
                    <a:lstStyle/>
                    <a:p>
                      <a:pPr lvl="0" algn="ctr">
                        <a:lnSpc>
                          <a:spcPct val="107000"/>
                        </a:lnSpc>
                        <a:spcAft>
                          <a:spcPts val="0"/>
                        </a:spcAft>
                      </a:pPr>
                      <a:r>
                        <a:rPr lang="en-GB" sz="1000">
                          <a:solidFill>
                            <a:srgbClr val="000000"/>
                          </a:solidFill>
                        </a:rPr>
                        <a:t>EL</a:t>
                      </a:r>
                      <a:endParaRPr lang="en-GB" sz="1000">
                        <a:solidFill>
                          <a:srgbClr val="000000"/>
                        </a:solidFill>
                        <a:latin typeface="Calibri" pitchFamily="34"/>
                        <a:ea typeface="Calibri" pitchFamily="34"/>
                        <a:cs typeface="Times New Roman" pitchFamily="18"/>
                      </a:endParaRPr>
                    </a:p>
                  </a:txBody>
                  <a:tcPr marL="0" marR="26810" marT="26810" marB="26810">
                    <a:solidFill>
                      <a:srgbClr val="E7E6E6"/>
                    </a:solidFill>
                  </a:tcPr>
                </a:tc>
                <a:tc>
                  <a:txBody>
                    <a:bodyPr/>
                    <a:lstStyle/>
                    <a:p>
                      <a:pPr lvl="0">
                        <a:lnSpc>
                          <a:spcPct val="107000"/>
                        </a:lnSpc>
                        <a:spcAft>
                          <a:spcPts val="0"/>
                        </a:spcAft>
                      </a:pPr>
                      <a:r>
                        <a:rPr lang="en-GB" sz="1000"/>
                        <a:t>Electronic details on CDS – ‘Late’ declaration after licence completed. </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E7E6E6"/>
                    </a:solidFill>
                  </a:tcPr>
                </a:tc>
                <a:tc>
                  <a:txBody>
                    <a:bodyPr/>
                    <a:lstStyle/>
                    <a:p>
                      <a:pPr lvl="0" algn="ctr">
                        <a:lnSpc>
                          <a:spcPct val="107000"/>
                        </a:lnSpc>
                        <a:spcAft>
                          <a:spcPts val="0"/>
                        </a:spcAft>
                      </a:pPr>
                      <a:r>
                        <a:rPr lang="en-GB" sz="1000" b="1">
                          <a:solidFill>
                            <a:srgbClr val="000000"/>
                          </a:solidFill>
                        </a:rPr>
                        <a:t>XW</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E7E6E6"/>
                    </a:solidFill>
                  </a:tcPr>
                </a:tc>
                <a:tc>
                  <a:txBody>
                    <a:bodyPr/>
                    <a:lstStyle/>
                    <a:p>
                      <a:pPr lvl="0">
                        <a:lnSpc>
                          <a:spcPct val="107000"/>
                        </a:lnSpc>
                        <a:spcAft>
                          <a:spcPts val="0"/>
                        </a:spcAft>
                      </a:pPr>
                      <a:r>
                        <a:rPr lang="en-GB" sz="1000"/>
                        <a:t>Licence waiver claimed</a:t>
                      </a:r>
                      <a:endParaRPr lang="en-GB" sz="1000">
                        <a:latin typeface="Calibri" pitchFamily="34"/>
                        <a:ea typeface="Calibri" pitchFamily="34"/>
                        <a:cs typeface="Times New Roman" pitchFamily="18"/>
                      </a:endParaRPr>
                    </a:p>
                  </a:txBody>
                  <a:tcPr marL="0" marR="26810" marT="26810" marB="26810">
                    <a:solidFill>
                      <a:srgbClr val="E7E6E6"/>
                    </a:solidFill>
                  </a:tcPr>
                </a:tc>
                <a:extLst>
                  <a:ext uri="{0D108BD9-81ED-4DB2-BD59-A6C34878D82A}">
                    <a16:rowId xmlns:a16="http://schemas.microsoft.com/office/drawing/2014/main" val="2464399827"/>
                  </a:ext>
                </a:extLst>
              </a:tr>
              <a:tr h="183264">
                <a:tc>
                  <a:txBody>
                    <a:bodyPr/>
                    <a:lstStyle/>
                    <a:p>
                      <a:pPr lvl="0" algn="ctr">
                        <a:lnSpc>
                          <a:spcPct val="107000"/>
                        </a:lnSpc>
                        <a:spcAft>
                          <a:spcPts val="0"/>
                        </a:spcAft>
                      </a:pPr>
                      <a:r>
                        <a:rPr lang="en-GB" sz="1000">
                          <a:solidFill>
                            <a:srgbClr val="000000"/>
                          </a:solidFill>
                        </a:rPr>
                        <a:t>EP</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Electronic details on CDS – Part use. </a:t>
                      </a:r>
                      <a:endParaRPr lang="en-GB" sz="1000">
                        <a:latin typeface="Calibri" pitchFamily="34"/>
                        <a:ea typeface="Calibri" pitchFamily="34"/>
                        <a:cs typeface="Times New Roman" pitchFamily="18"/>
                      </a:endParaRP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XX</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a:t>Licence waiver claimed. Ex-heading goods - document doesn’t apply</a:t>
                      </a:r>
                      <a:endParaRPr lang="en-GB" sz="100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1825219545"/>
                  </a:ext>
                </a:extLst>
              </a:tr>
              <a:tr h="183264">
                <a:tc>
                  <a:txBody>
                    <a:bodyPr/>
                    <a:lstStyle/>
                    <a:p>
                      <a:pPr lvl="0" algn="ctr">
                        <a:lnSpc>
                          <a:spcPct val="107000"/>
                        </a:lnSpc>
                        <a:spcAft>
                          <a:spcPts val="0"/>
                        </a:spcAft>
                      </a:pPr>
                      <a:r>
                        <a:rPr lang="en-GB" sz="1000">
                          <a:solidFill>
                            <a:srgbClr val="000000"/>
                          </a:solidFill>
                        </a:rPr>
                        <a:t>ES</a:t>
                      </a:r>
                      <a:endParaRPr lang="en-GB" sz="1000">
                        <a:solidFill>
                          <a:srgbClr val="000000"/>
                        </a:solidFill>
                        <a:latin typeface="Calibri" pitchFamily="34"/>
                        <a:ea typeface="Calibri" pitchFamily="34"/>
                        <a:cs typeface="Times New Roman" pitchFamily="18"/>
                      </a:endParaRPr>
                    </a:p>
                  </a:txBody>
                  <a:tcPr marL="0" marR="26810" marT="26810" marB="26810">
                    <a:solidFill>
                      <a:srgbClr val="F2F2F2"/>
                    </a:solidFill>
                  </a:tcPr>
                </a:tc>
                <a:tc>
                  <a:txBody>
                    <a:bodyPr/>
                    <a:lstStyle/>
                    <a:p>
                      <a:pPr lvl="0">
                        <a:lnSpc>
                          <a:spcPct val="107000"/>
                        </a:lnSpc>
                        <a:spcAft>
                          <a:spcPts val="0"/>
                        </a:spcAft>
                      </a:pPr>
                      <a:r>
                        <a:rPr lang="en-GB" sz="1000"/>
                        <a:t>Electronic details on CDS – Licence to be Surrendered.</a:t>
                      </a:r>
                    </a:p>
                  </a:txBody>
                  <a:tcPr marL="0" marR="26810" marT="26810" marB="26810">
                    <a:lnR w="38103" cap="flat" cmpd="sng" algn="ctr">
                      <a:solidFill>
                        <a:srgbClr val="FFFFFF"/>
                      </a:solidFill>
                      <a:prstDash val="solid"/>
                      <a:round/>
                      <a:headEnd type="none" w="med" len="med"/>
                      <a:tailEnd type="none" w="med" len="med"/>
                    </a:lnR>
                    <a:solidFill>
                      <a:srgbClr val="F2F2F2"/>
                    </a:solidFill>
                  </a:tcPr>
                </a:tc>
                <a:tc>
                  <a:txBody>
                    <a:bodyPr/>
                    <a:lstStyle/>
                    <a:p>
                      <a:pPr lvl="0" algn="ctr">
                        <a:lnSpc>
                          <a:spcPct val="107000"/>
                        </a:lnSpc>
                        <a:spcAft>
                          <a:spcPts val="0"/>
                        </a:spcAft>
                      </a:pPr>
                      <a:r>
                        <a:rPr lang="en-GB" sz="1000" b="1">
                          <a:solidFill>
                            <a:srgbClr val="000000"/>
                          </a:solidFill>
                        </a:rPr>
                        <a:t>GE</a:t>
                      </a:r>
                      <a:endParaRPr lang="en-GB" sz="1000" b="1">
                        <a:solidFill>
                          <a:srgbClr val="000000"/>
                        </a:solidFill>
                        <a:latin typeface="Calibri" pitchFamily="34"/>
                        <a:ea typeface="Calibri" pitchFamily="34"/>
                        <a:cs typeface="Times New Roman" pitchFamily="18"/>
                      </a:endParaRPr>
                    </a:p>
                  </a:txBody>
                  <a:tcPr marL="0" marR="26810" marT="26810" marB="26810">
                    <a:lnL w="38103" cap="flat" cmpd="sng" algn="ctr">
                      <a:solidFill>
                        <a:srgbClr val="FFFFFF"/>
                      </a:solidFill>
                      <a:prstDash val="solid"/>
                      <a:round/>
                      <a:headEnd type="none" w="med" len="med"/>
                      <a:tailEnd type="none" w="med" len="med"/>
                    </a:lnL>
                    <a:solidFill>
                      <a:srgbClr val="F2F2F2"/>
                    </a:solidFill>
                  </a:tcPr>
                </a:tc>
                <a:tc>
                  <a:txBody>
                    <a:bodyPr/>
                    <a:lstStyle/>
                    <a:p>
                      <a:pPr lvl="0">
                        <a:lnSpc>
                          <a:spcPct val="107000"/>
                        </a:lnSpc>
                        <a:spcAft>
                          <a:spcPts val="0"/>
                        </a:spcAft>
                      </a:pPr>
                      <a:r>
                        <a:rPr lang="en-GB" sz="1000" dirty="0"/>
                        <a:t>Document with the goods – exhausted by (or only applies to) this entry</a:t>
                      </a:r>
                      <a:endParaRPr lang="en-GB" sz="1000" dirty="0">
                        <a:latin typeface="Calibri" pitchFamily="34"/>
                        <a:ea typeface="Calibri" pitchFamily="34"/>
                        <a:cs typeface="Times New Roman" pitchFamily="18"/>
                      </a:endParaRPr>
                    </a:p>
                  </a:txBody>
                  <a:tcPr marL="0" marR="26810" marT="26810" marB="26810">
                    <a:solidFill>
                      <a:srgbClr val="F2F2F2"/>
                    </a:solidFill>
                  </a:tcPr>
                </a:tc>
                <a:extLst>
                  <a:ext uri="{0D108BD9-81ED-4DB2-BD59-A6C34878D82A}">
                    <a16:rowId xmlns:a16="http://schemas.microsoft.com/office/drawing/2014/main" val="3539374248"/>
                  </a:ext>
                </a:extLst>
              </a:tr>
            </a:tbl>
          </a:graphicData>
        </a:graphic>
      </p:graphicFrame>
      <p:sp>
        <p:nvSpPr>
          <p:cNvPr id="9" name="Rectangle 12">
            <a:extLst>
              <a:ext uri="{FF2B5EF4-FFF2-40B4-BE49-F238E27FC236}">
                <a16:creationId xmlns:a16="http://schemas.microsoft.com/office/drawing/2014/main" id="{FDA4406B-E3CF-4DED-B6D0-22100A76E3A1}"/>
              </a:ext>
            </a:extLst>
          </p:cNvPr>
          <p:cNvSpPr/>
          <p:nvPr/>
        </p:nvSpPr>
        <p:spPr>
          <a:xfrm rot="16200004">
            <a:off x="-2009363" y="3623177"/>
            <a:ext cx="5080699" cy="215295"/>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sp>
        <p:nvSpPr>
          <p:cNvPr id="10" name="Rectangle 8">
            <a:extLst>
              <a:ext uri="{FF2B5EF4-FFF2-40B4-BE49-F238E27FC236}">
                <a16:creationId xmlns:a16="http://schemas.microsoft.com/office/drawing/2014/main" id="{58AB84D4-0BCF-4CC9-A3CC-971EC8479472}"/>
              </a:ext>
            </a:extLst>
          </p:cNvPr>
          <p:cNvSpPr/>
          <p:nvPr/>
        </p:nvSpPr>
        <p:spPr>
          <a:xfrm>
            <a:off x="795729" y="5090144"/>
            <a:ext cx="10694164" cy="107170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the following guidance for submitting document status codes in Data Element 2/3 on CDS: </a:t>
            </a:r>
            <a:endParaRPr lang="en-GB" sz="1400" b="0" i="0" u="none" strike="noStrike" kern="1200" cap="none" spc="0" baseline="0">
              <a:solidFill>
                <a:srgbClr val="000000"/>
              </a:solidFill>
              <a:uFillTx/>
              <a:latin typeface="Calibri"/>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list of allowed document status codes for document codes U164, U165, U166 and U167 has been updated as per </a:t>
            </a:r>
            <a:r>
              <a:rPr lang="en-GB" sz="1200" b="1" i="0" u="none" strike="noStrike" kern="1200" cap="none" spc="0" baseline="0">
                <a:solidFill>
                  <a:srgbClr val="000000"/>
                </a:solidFill>
                <a:uFillTx/>
                <a:latin typeface="Calibri"/>
              </a:rPr>
              <a:t>Notice 830</a:t>
            </a:r>
            <a:r>
              <a:rPr lang="en-GB" sz="1200" b="0" i="0" u="none" strike="noStrike" kern="1200" cap="none" spc="0" baseline="0">
                <a:solidFill>
                  <a:srgbClr val="000000"/>
                </a:solidFill>
                <a:uFillTx/>
                <a:latin typeface="Calibri"/>
              </a:rPr>
              <a:t>. The use of document status codes XO and RE with the listed document codes is no longer allowed. </a:t>
            </a:r>
            <a:endParaRPr lang="en-GB" sz="1400" b="0" i="0" u="none" strike="noStrike" kern="1200" cap="none" spc="0" baseline="0">
              <a:solidFill>
                <a:srgbClr val="000000"/>
              </a:solidFill>
              <a:uFillTx/>
              <a:latin typeface="Calibri"/>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Document status code XU can only be submitted against document codes A017, A022, C014, C015, C017, C018, C026, C027, C046, C624, C652, C666, C667, C668, C693, I004, L001, L079, L081, L082, N934, Y100, 9005, 9103. </a:t>
            </a:r>
            <a:endParaRPr lang="en-GB" sz="1400" b="0" i="0" u="none" strike="noStrike" kern="1200" cap="none" spc="0" baseline="0">
              <a:solidFill>
                <a:srgbClr val="000000"/>
              </a:solidFill>
              <a:uFillTx/>
              <a:latin typeface="Calibri"/>
            </a:endParaRPr>
          </a:p>
        </p:txBody>
      </p:sp>
      <p:sp>
        <p:nvSpPr>
          <p:cNvPr id="11" name="Slide Number Placeholder 5">
            <a:extLst>
              <a:ext uri="{FF2B5EF4-FFF2-40B4-BE49-F238E27FC236}">
                <a16:creationId xmlns:a16="http://schemas.microsoft.com/office/drawing/2014/main" id="{0A95A83A-7CA4-4F2B-8C48-90C3F51627AB}"/>
              </a:ext>
            </a:extLst>
          </p:cNvPr>
          <p:cNvSpPr txBox="1"/>
          <p:nvPr/>
        </p:nvSpPr>
        <p:spPr>
          <a:xfrm>
            <a:off x="117388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D4D04EE-5FBD-4EFE-A10A-6110B4E798AC}" type="slidenum">
              <a:rPr sz="1200"/>
              <a:t>19</a:t>
            </a:fld>
            <a:endParaRPr lang="en-GB" sz="1200" b="0" i="0" u="none" strike="noStrike" kern="1200" cap="none" spc="0" baseline="0" dirty="0">
              <a:solidFill>
                <a:srgbClr val="000000"/>
              </a:solidFill>
              <a:uFillTx/>
              <a:latin typeface="Calibri"/>
            </a:endParaRPr>
          </a:p>
        </p:txBody>
      </p:sp>
      <p:sp>
        <p:nvSpPr>
          <p:cNvPr id="12" name="Oval 40">
            <a:hlinkClick r:id="rId3" action="ppaction://hlinksldjump"/>
            <a:extLst>
              <a:ext uri="{FF2B5EF4-FFF2-40B4-BE49-F238E27FC236}">
                <a16:creationId xmlns:a16="http://schemas.microsoft.com/office/drawing/2014/main" id="{A68250EF-3965-4B14-81A3-F385BFA5092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1">
            <a:hlinkClick r:id="rId3" action="ppaction://hlinksldjump"/>
            <a:extLst>
              <a:ext uri="{FF2B5EF4-FFF2-40B4-BE49-F238E27FC236}">
                <a16:creationId xmlns:a16="http://schemas.microsoft.com/office/drawing/2014/main" id="{CC256051-22C8-41E8-ADC4-B2385F88EF2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2">
            <a:hlinkClick r:id="rId4" action="ppaction://hlinksldjump"/>
            <a:extLst>
              <a:ext uri="{FF2B5EF4-FFF2-40B4-BE49-F238E27FC236}">
                <a16:creationId xmlns:a16="http://schemas.microsoft.com/office/drawing/2014/main" id="{C63F65C4-82D3-4400-B1AA-75B1B3D2E72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3">
            <a:hlinkClick r:id="rId5" action="ppaction://hlinksldjump"/>
            <a:extLst>
              <a:ext uri="{FF2B5EF4-FFF2-40B4-BE49-F238E27FC236}">
                <a16:creationId xmlns:a16="http://schemas.microsoft.com/office/drawing/2014/main" id="{B185D5AE-0143-4FD5-8EAE-93C54C04186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44">
            <a:hlinkClick r:id="rId3" action="ppaction://hlinksldjump"/>
            <a:extLst>
              <a:ext uri="{FF2B5EF4-FFF2-40B4-BE49-F238E27FC236}">
                <a16:creationId xmlns:a16="http://schemas.microsoft.com/office/drawing/2014/main" id="{714CDE90-90AC-424D-ACEF-FE05CBDEAB6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45">
            <a:hlinkClick r:id="rId3" action="ppaction://hlinksldjump"/>
            <a:extLst>
              <a:ext uri="{FF2B5EF4-FFF2-40B4-BE49-F238E27FC236}">
                <a16:creationId xmlns:a16="http://schemas.microsoft.com/office/drawing/2014/main" id="{07F1597F-6889-4A32-AC3D-FC3AD75B459D}"/>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8" name="TextBox 46">
            <a:hlinkClick r:id="rId4" action="ppaction://hlinksldjump"/>
            <a:extLst>
              <a:ext uri="{FF2B5EF4-FFF2-40B4-BE49-F238E27FC236}">
                <a16:creationId xmlns:a16="http://schemas.microsoft.com/office/drawing/2014/main" id="{03D2172A-7430-4A5F-8314-7D3E67B9AFC7}"/>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47">
            <a:hlinkClick r:id="rId4" action="ppaction://hlinksldjump"/>
            <a:extLst>
              <a:ext uri="{FF2B5EF4-FFF2-40B4-BE49-F238E27FC236}">
                <a16:creationId xmlns:a16="http://schemas.microsoft.com/office/drawing/2014/main" id="{DF82364F-309C-4802-B29C-968C956C847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48">
            <a:extLst>
              <a:ext uri="{FF2B5EF4-FFF2-40B4-BE49-F238E27FC236}">
                <a16:creationId xmlns:a16="http://schemas.microsoft.com/office/drawing/2014/main" id="{52D6FC70-022B-4A1B-93E4-1E5177E97BC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49">
            <a:hlinkClick r:id="rId6" action="ppaction://hlinksldjump"/>
            <a:extLst>
              <a:ext uri="{FF2B5EF4-FFF2-40B4-BE49-F238E27FC236}">
                <a16:creationId xmlns:a16="http://schemas.microsoft.com/office/drawing/2014/main" id="{23ABF713-1358-446D-BDC2-8AE65792FD5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3" action="ppaction://hlinksldjump"/>
            <a:extLst>
              <a:ext uri="{FF2B5EF4-FFF2-40B4-BE49-F238E27FC236}">
                <a16:creationId xmlns:a16="http://schemas.microsoft.com/office/drawing/2014/main" id="{D9635EC5-015C-4D3B-BE89-088D0322535D}"/>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51">
            <a:hlinkClick r:id="rId3" action="ppaction://hlinksldjump"/>
            <a:extLst>
              <a:ext uri="{FF2B5EF4-FFF2-40B4-BE49-F238E27FC236}">
                <a16:creationId xmlns:a16="http://schemas.microsoft.com/office/drawing/2014/main" id="{941A7C23-A0DD-498F-BA09-DB1FEE9DDCE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4" name="Picture 106" descr="57% HMRCppt logo">
            <a:extLst>
              <a:ext uri="{FF2B5EF4-FFF2-40B4-BE49-F238E27FC236}">
                <a16:creationId xmlns:a16="http://schemas.microsoft.com/office/drawing/2014/main" id="{2E92F790-74D9-03CD-6519-50D90856569B}"/>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838840339">
    <p:spTree>
      <p:nvGrpSpPr>
        <p:cNvPr id="1" name=""/>
        <p:cNvGrpSpPr/>
        <p:nvPr/>
      </p:nvGrpSpPr>
      <p:grpSpPr>
        <a:xfrm>
          <a:off x="0" y="0"/>
          <a:ext cx="0" cy="0"/>
          <a:chOff x="0" y="0"/>
          <a:chExt cx="0" cy="0"/>
        </a:xfrm>
      </p:grpSpPr>
      <p:cxnSp>
        <p:nvCxnSpPr>
          <p:cNvPr id="3" name="Straight Connector 11">
            <a:extLst>
              <a:ext uri="{FF2B5EF4-FFF2-40B4-BE49-F238E27FC236}">
                <a16:creationId xmlns:a16="http://schemas.microsoft.com/office/drawing/2014/main" id="{66678A96-ED6C-4AEB-A6D9-169103154AD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DC20E67-3200-4368-AD3E-44D0EF288371}"/>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4">
            <a:extLst>
              <a:ext uri="{FF2B5EF4-FFF2-40B4-BE49-F238E27FC236}">
                <a16:creationId xmlns:a16="http://schemas.microsoft.com/office/drawing/2014/main" id="{5FFAF110-4A8E-4EFA-B26F-BBF04646CD7F}"/>
              </a:ext>
            </a:extLst>
          </p:cNvPr>
          <p:cNvSpPr/>
          <p:nvPr/>
        </p:nvSpPr>
        <p:spPr>
          <a:xfrm>
            <a:off x="363967" y="67214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Codes</a:t>
            </a:r>
            <a:endParaRPr lang="en-GB" sz="2400" b="1" i="0" u="none" strike="noStrike" kern="1200" cap="none" spc="0" baseline="0">
              <a:solidFill>
                <a:srgbClr val="000000"/>
              </a:solidFill>
              <a:uFillTx/>
              <a:latin typeface="Calibri" pitchFamily="34"/>
              <a:ea typeface="Calibri" pitchFamily="34"/>
            </a:endParaRPr>
          </a:p>
        </p:txBody>
      </p:sp>
      <p:sp>
        <p:nvSpPr>
          <p:cNvPr id="6" name="Rectangle 52">
            <a:extLst>
              <a:ext uri="{FF2B5EF4-FFF2-40B4-BE49-F238E27FC236}">
                <a16:creationId xmlns:a16="http://schemas.microsoft.com/office/drawing/2014/main" id="{5E0D2D67-2A2B-4017-AF88-9134EB2F57BF}"/>
              </a:ext>
            </a:extLst>
          </p:cNvPr>
          <p:cNvSpPr/>
          <p:nvPr/>
        </p:nvSpPr>
        <p:spPr>
          <a:xfrm>
            <a:off x="446940" y="1085548"/>
            <a:ext cx="11430155" cy="1076001"/>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TextBox 53">
            <a:extLst>
              <a:ext uri="{FF2B5EF4-FFF2-40B4-BE49-F238E27FC236}">
                <a16:creationId xmlns:a16="http://schemas.microsoft.com/office/drawing/2014/main" id="{71A36380-940D-47D6-8FEA-84A59B16F34D}"/>
              </a:ext>
            </a:extLst>
          </p:cNvPr>
          <p:cNvSpPr txBox="1"/>
          <p:nvPr/>
        </p:nvSpPr>
        <p:spPr>
          <a:xfrm>
            <a:off x="800100" y="1115110"/>
            <a:ext cx="10997095" cy="104643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Invalid Document Codes</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CDS reference data for previous document codes declared in D.E. 2/1 is not currently aligned with the CDS Tariff. The following should be noted during declaration completion:</a:t>
            </a: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823</a:t>
            </a:r>
            <a:r>
              <a:rPr lang="en-GB" sz="1200" b="0" i="0" u="none" strike="noStrike" kern="1200" cap="none" spc="0" baseline="0">
                <a:solidFill>
                  <a:srgbClr val="000000"/>
                </a:solidFill>
                <a:uFillTx/>
                <a:latin typeface="Calibri"/>
              </a:rPr>
              <a:t> is no longer a valid code and should not be declared</a:t>
            </a:r>
          </a:p>
          <a:p>
            <a:pPr marL="171450" marR="0" lvl="0" indent="-17145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722</a:t>
            </a:r>
            <a:r>
              <a:rPr lang="en-GB" sz="1200" b="0" i="0" u="none" strike="noStrike" kern="1200" cap="none" spc="0" baseline="0">
                <a:solidFill>
                  <a:srgbClr val="000000"/>
                </a:solidFill>
                <a:uFillTx/>
                <a:latin typeface="Calibri"/>
              </a:rPr>
              <a:t> should not be declared on a declaration currently otherwise the declaration will be rejected</a:t>
            </a:r>
          </a:p>
        </p:txBody>
      </p:sp>
      <p:sp>
        <p:nvSpPr>
          <p:cNvPr id="8" name="Rectangle 54">
            <a:extLst>
              <a:ext uri="{FF2B5EF4-FFF2-40B4-BE49-F238E27FC236}">
                <a16:creationId xmlns:a16="http://schemas.microsoft.com/office/drawing/2014/main" id="{44348998-0DCF-46A4-ABF4-8FD1F808EBE8}"/>
              </a:ext>
            </a:extLst>
          </p:cNvPr>
          <p:cNvSpPr/>
          <p:nvPr/>
        </p:nvSpPr>
        <p:spPr>
          <a:xfrm rot="16200004">
            <a:off x="76001" y="1456506"/>
            <a:ext cx="1076001" cy="334103"/>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a:solidFill>
                  <a:srgbClr val="FFFFFF"/>
                </a:solidFill>
                <a:uFillTx/>
                <a:latin typeface="Calibri"/>
              </a:rPr>
              <a:t>FUNCTIONAL CALL OUT</a:t>
            </a:r>
          </a:p>
        </p:txBody>
      </p:sp>
      <p:sp>
        <p:nvSpPr>
          <p:cNvPr id="9" name="Slide Number Placeholder 5">
            <a:extLst>
              <a:ext uri="{FF2B5EF4-FFF2-40B4-BE49-F238E27FC236}">
                <a16:creationId xmlns:a16="http://schemas.microsoft.com/office/drawing/2014/main" id="{34DAA581-CF1C-4E26-831F-8CE5F2375F7F}"/>
              </a:ext>
            </a:extLst>
          </p:cNvPr>
          <p:cNvSpPr txBox="1"/>
          <p:nvPr/>
        </p:nvSpPr>
        <p:spPr>
          <a:xfrm>
            <a:off x="1175295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FE8BD52-293B-4675-83D6-5197B3DFCA51}" type="slidenum">
              <a:rPr sz="1200"/>
              <a:t>20</a:t>
            </a:fld>
            <a:endParaRPr lang="en-GB" sz="1200" b="0" i="0" u="none" strike="noStrike" kern="1200" cap="none" spc="0" baseline="0" dirty="0">
              <a:solidFill>
                <a:srgbClr val="000000"/>
              </a:solidFill>
              <a:uFillTx/>
              <a:latin typeface="Calibri"/>
            </a:endParaRPr>
          </a:p>
        </p:txBody>
      </p:sp>
      <p:sp>
        <p:nvSpPr>
          <p:cNvPr id="10" name="Oval 37">
            <a:hlinkClick r:id="rId3" action="ppaction://hlinksldjump"/>
            <a:extLst>
              <a:ext uri="{FF2B5EF4-FFF2-40B4-BE49-F238E27FC236}">
                <a16:creationId xmlns:a16="http://schemas.microsoft.com/office/drawing/2014/main" id="{4AB8952B-7139-4806-A0F1-8438D0AB838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38">
            <a:hlinkClick r:id="rId3" action="ppaction://hlinksldjump"/>
            <a:extLst>
              <a:ext uri="{FF2B5EF4-FFF2-40B4-BE49-F238E27FC236}">
                <a16:creationId xmlns:a16="http://schemas.microsoft.com/office/drawing/2014/main" id="{FE759ACB-7237-4B61-851A-A1AB3686D56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39">
            <a:hlinkClick r:id="rId4" action="ppaction://hlinksldjump"/>
            <a:extLst>
              <a:ext uri="{FF2B5EF4-FFF2-40B4-BE49-F238E27FC236}">
                <a16:creationId xmlns:a16="http://schemas.microsoft.com/office/drawing/2014/main" id="{C5FF0B2E-316B-4615-96BA-916DEB19642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0">
            <a:hlinkClick r:id="rId5" action="ppaction://hlinksldjump"/>
            <a:extLst>
              <a:ext uri="{FF2B5EF4-FFF2-40B4-BE49-F238E27FC236}">
                <a16:creationId xmlns:a16="http://schemas.microsoft.com/office/drawing/2014/main" id="{F99233CE-3101-4223-8BE0-372F65348C6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1">
            <a:hlinkClick r:id="rId3" action="ppaction://hlinksldjump"/>
            <a:extLst>
              <a:ext uri="{FF2B5EF4-FFF2-40B4-BE49-F238E27FC236}">
                <a16:creationId xmlns:a16="http://schemas.microsoft.com/office/drawing/2014/main" id="{9B56AA6B-3695-4936-A645-7FB31D36FC4F}"/>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2">
            <a:hlinkClick r:id="rId3" action="ppaction://hlinksldjump"/>
            <a:extLst>
              <a:ext uri="{FF2B5EF4-FFF2-40B4-BE49-F238E27FC236}">
                <a16:creationId xmlns:a16="http://schemas.microsoft.com/office/drawing/2014/main" id="{20FA3B28-B425-4E29-9F97-C9CB370F3E80}"/>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43">
            <a:hlinkClick r:id="rId4" action="ppaction://hlinksldjump"/>
            <a:extLst>
              <a:ext uri="{FF2B5EF4-FFF2-40B4-BE49-F238E27FC236}">
                <a16:creationId xmlns:a16="http://schemas.microsoft.com/office/drawing/2014/main" id="{F37A1328-D40E-4896-AB2D-F18AA8C57BFE}"/>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44">
            <a:hlinkClick r:id="rId4" action="ppaction://hlinksldjump"/>
            <a:extLst>
              <a:ext uri="{FF2B5EF4-FFF2-40B4-BE49-F238E27FC236}">
                <a16:creationId xmlns:a16="http://schemas.microsoft.com/office/drawing/2014/main" id="{316787A3-DEFA-4B5E-8521-04CB2E4AACF2}"/>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45">
            <a:extLst>
              <a:ext uri="{FF2B5EF4-FFF2-40B4-BE49-F238E27FC236}">
                <a16:creationId xmlns:a16="http://schemas.microsoft.com/office/drawing/2014/main" id="{F6D68F5B-D75D-46A5-AAB8-1EAAFF9FF6D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46">
            <a:hlinkClick r:id="rId6" action="ppaction://hlinksldjump"/>
            <a:extLst>
              <a:ext uri="{FF2B5EF4-FFF2-40B4-BE49-F238E27FC236}">
                <a16:creationId xmlns:a16="http://schemas.microsoft.com/office/drawing/2014/main" id="{55DC2310-A3D1-4AFC-A922-33730BE5B44F}"/>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3" action="ppaction://hlinksldjump"/>
            <a:extLst>
              <a:ext uri="{FF2B5EF4-FFF2-40B4-BE49-F238E27FC236}">
                <a16:creationId xmlns:a16="http://schemas.microsoft.com/office/drawing/2014/main" id="{FC843745-8230-4146-B682-FFF275DE7FD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48">
            <a:hlinkClick r:id="rId3" action="ppaction://hlinksldjump"/>
            <a:extLst>
              <a:ext uri="{FF2B5EF4-FFF2-40B4-BE49-F238E27FC236}">
                <a16:creationId xmlns:a16="http://schemas.microsoft.com/office/drawing/2014/main" id="{CAA314FD-FD10-4E94-870B-FFA820791B30}"/>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2" name="Picture 106" descr="57% HMRCppt logo">
            <a:extLst>
              <a:ext uri="{FF2B5EF4-FFF2-40B4-BE49-F238E27FC236}">
                <a16:creationId xmlns:a16="http://schemas.microsoft.com/office/drawing/2014/main" id="{E76FC305-23D1-404F-943F-3CB7D951FCD7}"/>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838840281">
    <p:spTree>
      <p:nvGrpSpPr>
        <p:cNvPr id="1" name=""/>
        <p:cNvGrpSpPr/>
        <p:nvPr/>
      </p:nvGrpSpPr>
      <p:grpSpPr>
        <a:xfrm>
          <a:off x="0" y="0"/>
          <a:ext cx="0" cy="0"/>
          <a:chOff x="0" y="0"/>
          <a:chExt cx="0" cy="0"/>
        </a:xfrm>
      </p:grpSpPr>
      <p:cxnSp>
        <p:nvCxnSpPr>
          <p:cNvPr id="3" name="Straight Connector 11">
            <a:extLst>
              <a:ext uri="{FF2B5EF4-FFF2-40B4-BE49-F238E27FC236}">
                <a16:creationId xmlns:a16="http://schemas.microsoft.com/office/drawing/2014/main" id="{9B2FC885-83B3-4EF7-A1A2-3AC2F40580D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ADCBA93-6A56-4795-A219-599B77A5A0A0}"/>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graphicFrame>
        <p:nvGraphicFramePr>
          <p:cNvPr id="5" name="Table 9">
            <a:extLst>
              <a:ext uri="{FF2B5EF4-FFF2-40B4-BE49-F238E27FC236}">
                <a16:creationId xmlns:a16="http://schemas.microsoft.com/office/drawing/2014/main" id="{D95E33E4-18EC-4AE6-9FBE-4906ACD7B120}"/>
              </a:ext>
            </a:extLst>
          </p:cNvPr>
          <p:cNvGraphicFramePr>
            <a:graphicFrameLocks noGrp="1"/>
          </p:cNvGraphicFramePr>
          <p:nvPr/>
        </p:nvGraphicFramePr>
        <p:xfrm>
          <a:off x="432383" y="1814498"/>
          <a:ext cx="4292018" cy="2571750"/>
        </p:xfrm>
        <a:graphic>
          <a:graphicData uri="http://schemas.openxmlformats.org/drawingml/2006/table">
            <a:tbl>
              <a:tblPr firstRow="1" firstCol="1" bandRow="1">
                <a:effectLst/>
                <a:tableStyleId>{5C22544A-7EE6-4342-B048-85BDC9FD1C3A}</a:tableStyleId>
              </a:tblPr>
              <a:tblGrid>
                <a:gridCol w="1110666">
                  <a:extLst>
                    <a:ext uri="{9D8B030D-6E8A-4147-A177-3AD203B41FA5}">
                      <a16:colId xmlns:a16="http://schemas.microsoft.com/office/drawing/2014/main" val="1328227998"/>
                    </a:ext>
                  </a:extLst>
                </a:gridCol>
                <a:gridCol w="1593854">
                  <a:extLst>
                    <a:ext uri="{9D8B030D-6E8A-4147-A177-3AD203B41FA5}">
                      <a16:colId xmlns:a16="http://schemas.microsoft.com/office/drawing/2014/main" val="3423135618"/>
                    </a:ext>
                  </a:extLst>
                </a:gridCol>
                <a:gridCol w="1587498">
                  <a:extLst>
                    <a:ext uri="{9D8B030D-6E8A-4147-A177-3AD203B41FA5}">
                      <a16:colId xmlns:a16="http://schemas.microsoft.com/office/drawing/2014/main" val="3427334531"/>
                    </a:ext>
                  </a:extLst>
                </a:gridCol>
              </a:tblGrid>
              <a:tr h="98224">
                <a:tc>
                  <a:txBody>
                    <a:bodyPr/>
                    <a:lstStyle/>
                    <a:p>
                      <a:pPr lvl="0">
                        <a:lnSpc>
                          <a:spcPct val="107000"/>
                        </a:lnSpc>
                        <a:spcBef>
                          <a:spcPts val="600"/>
                        </a:spcBef>
                        <a:spcAft>
                          <a:spcPts val="600"/>
                        </a:spcAft>
                      </a:pPr>
                      <a:r>
                        <a:rPr lang="en-GB" sz="1100">
                          <a:solidFill>
                            <a:srgbClr val="FFFFFF"/>
                          </a:solidFill>
                          <a:latin typeface="Calibri"/>
                        </a:rPr>
                        <a:t>Document Code</a:t>
                      </a:r>
                      <a:endParaRPr lang="en-GB" sz="1050">
                        <a:solidFill>
                          <a:srgbClr val="FFFFFF"/>
                        </a:solidFill>
                        <a:latin typeface="Calibri"/>
                        <a:ea typeface="Calibri" pitchFamily="34"/>
                        <a:cs typeface="Times New Roman" pitchFamily="18"/>
                      </a:endParaRPr>
                    </a:p>
                  </a:txBody>
                  <a:tcPr marL="43260" marR="43260" marT="0" marB="0" anchor="ctr">
                    <a:solidFill>
                      <a:srgbClr val="7F7F7F"/>
                    </a:solidFill>
                  </a:tcPr>
                </a:tc>
                <a:tc>
                  <a:txBody>
                    <a:bodyPr/>
                    <a:lstStyle/>
                    <a:p>
                      <a:pPr lvl="0">
                        <a:lnSpc>
                          <a:spcPct val="107000"/>
                        </a:lnSpc>
                        <a:spcBef>
                          <a:spcPts val="600"/>
                        </a:spcBef>
                        <a:spcAft>
                          <a:spcPts val="600"/>
                        </a:spcAft>
                      </a:pPr>
                      <a:r>
                        <a:rPr lang="en-GB" sz="1100">
                          <a:latin typeface="Calibri"/>
                        </a:rPr>
                        <a:t>With Status Code XX</a:t>
                      </a:r>
                      <a:endParaRPr lang="en-GB" sz="1050">
                        <a:latin typeface="Calibri"/>
                        <a:ea typeface="Calibri" pitchFamily="34"/>
                        <a:cs typeface="Times New Roman" pitchFamily="18"/>
                      </a:endParaRPr>
                    </a:p>
                  </a:txBody>
                  <a:tcPr marL="43260" marR="43260" marT="0" marB="0" anchor="ctr">
                    <a:solidFill>
                      <a:srgbClr val="7F7F7F"/>
                    </a:solidFill>
                  </a:tcPr>
                </a:tc>
                <a:tc>
                  <a:txBody>
                    <a:bodyPr/>
                    <a:lstStyle/>
                    <a:p>
                      <a:pPr lvl="0">
                        <a:lnSpc>
                          <a:spcPct val="107000"/>
                        </a:lnSpc>
                        <a:spcBef>
                          <a:spcPts val="600"/>
                        </a:spcBef>
                        <a:spcAft>
                          <a:spcPts val="600"/>
                        </a:spcAft>
                      </a:pPr>
                      <a:r>
                        <a:rPr lang="en-GB" sz="1100">
                          <a:latin typeface="Calibri"/>
                        </a:rPr>
                        <a:t>With Status Code XW</a:t>
                      </a:r>
                      <a:endParaRPr lang="en-GB" sz="1050">
                        <a:latin typeface="Calibri"/>
                        <a:ea typeface="Calibri" pitchFamily="34"/>
                        <a:cs typeface="Times New Roman" pitchFamily="18"/>
                      </a:endParaRPr>
                    </a:p>
                  </a:txBody>
                  <a:tcPr marL="43260" marR="43260" marT="0" marB="0" anchor="ctr">
                    <a:solidFill>
                      <a:srgbClr val="7F7F7F"/>
                    </a:solidFill>
                  </a:tcPr>
                </a:tc>
                <a:extLst>
                  <a:ext uri="{0D108BD9-81ED-4DB2-BD59-A6C34878D82A}">
                    <a16:rowId xmlns:a16="http://schemas.microsoft.com/office/drawing/2014/main" val="692445670"/>
                  </a:ext>
                </a:extLst>
              </a:tr>
              <a:tr h="140470">
                <a:tc>
                  <a:txBody>
                    <a:bodyPr/>
                    <a:lstStyle/>
                    <a:p>
                      <a:pPr lvl="0">
                        <a:lnSpc>
                          <a:spcPct val="107000"/>
                        </a:lnSpc>
                        <a:spcBef>
                          <a:spcPts val="600"/>
                        </a:spcBef>
                        <a:spcAft>
                          <a:spcPts val="600"/>
                        </a:spcAft>
                      </a:pPr>
                      <a:r>
                        <a:rPr lang="en-GB" sz="1100">
                          <a:solidFill>
                            <a:srgbClr val="000000"/>
                          </a:solidFill>
                          <a:latin typeface="Calibri"/>
                        </a:rPr>
                        <a:t>9005</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1287921008"/>
                  </a:ext>
                </a:extLst>
              </a:tr>
              <a:tr h="140470">
                <a:tc>
                  <a:txBody>
                    <a:bodyPr/>
                    <a:lstStyle/>
                    <a:p>
                      <a:pPr lvl="0">
                        <a:lnSpc>
                          <a:spcPct val="107000"/>
                        </a:lnSpc>
                        <a:spcBef>
                          <a:spcPts val="600"/>
                        </a:spcBef>
                        <a:spcAft>
                          <a:spcPts val="600"/>
                        </a:spcAft>
                      </a:pPr>
                      <a:r>
                        <a:rPr lang="en-GB" sz="1100">
                          <a:solidFill>
                            <a:srgbClr val="000000"/>
                          </a:solidFill>
                          <a:latin typeface="Calibri"/>
                        </a:rPr>
                        <a:t>9100</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1727581455"/>
                  </a:ext>
                </a:extLst>
              </a:tr>
              <a:tr h="140470">
                <a:tc>
                  <a:txBody>
                    <a:bodyPr/>
                    <a:lstStyle/>
                    <a:p>
                      <a:pPr lvl="0">
                        <a:lnSpc>
                          <a:spcPct val="107000"/>
                        </a:lnSpc>
                        <a:spcBef>
                          <a:spcPts val="600"/>
                        </a:spcBef>
                        <a:spcAft>
                          <a:spcPts val="600"/>
                        </a:spcAft>
                      </a:pPr>
                      <a:r>
                        <a:rPr lang="en-GB" sz="1100">
                          <a:solidFill>
                            <a:srgbClr val="000000"/>
                          </a:solidFill>
                          <a:latin typeface="Calibri"/>
                        </a:rPr>
                        <a:t>9101</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1664308892"/>
                  </a:ext>
                </a:extLst>
              </a:tr>
              <a:tr h="140470">
                <a:tc>
                  <a:txBody>
                    <a:bodyPr/>
                    <a:lstStyle/>
                    <a:p>
                      <a:pPr lvl="0">
                        <a:lnSpc>
                          <a:spcPct val="107000"/>
                        </a:lnSpc>
                        <a:spcBef>
                          <a:spcPts val="600"/>
                        </a:spcBef>
                        <a:spcAft>
                          <a:spcPts val="600"/>
                        </a:spcAft>
                      </a:pPr>
                      <a:r>
                        <a:rPr lang="en-GB" sz="1100">
                          <a:solidFill>
                            <a:srgbClr val="000000"/>
                          </a:solidFill>
                          <a:latin typeface="Calibri"/>
                        </a:rPr>
                        <a:t>9102</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1932481345"/>
                  </a:ext>
                </a:extLst>
              </a:tr>
              <a:tr h="140470">
                <a:tc>
                  <a:txBody>
                    <a:bodyPr/>
                    <a:lstStyle/>
                    <a:p>
                      <a:pPr lvl="0">
                        <a:lnSpc>
                          <a:spcPct val="107000"/>
                        </a:lnSpc>
                        <a:spcBef>
                          <a:spcPts val="600"/>
                        </a:spcBef>
                        <a:spcAft>
                          <a:spcPts val="600"/>
                        </a:spcAft>
                      </a:pPr>
                      <a:r>
                        <a:rPr lang="en-GB" sz="1100">
                          <a:solidFill>
                            <a:srgbClr val="000000"/>
                          </a:solidFill>
                          <a:latin typeface="Calibri"/>
                        </a:rPr>
                        <a:t>9104</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830342734"/>
                  </a:ext>
                </a:extLst>
              </a:tr>
              <a:tr h="140470">
                <a:tc>
                  <a:txBody>
                    <a:bodyPr/>
                    <a:lstStyle/>
                    <a:p>
                      <a:pPr lvl="0">
                        <a:lnSpc>
                          <a:spcPct val="107000"/>
                        </a:lnSpc>
                        <a:spcBef>
                          <a:spcPts val="600"/>
                        </a:spcBef>
                        <a:spcAft>
                          <a:spcPts val="600"/>
                        </a:spcAft>
                      </a:pPr>
                      <a:r>
                        <a:rPr lang="en-GB" sz="1100">
                          <a:solidFill>
                            <a:srgbClr val="000000"/>
                          </a:solidFill>
                          <a:latin typeface="Calibri"/>
                        </a:rPr>
                        <a:t>9105</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2727634296"/>
                  </a:ext>
                </a:extLst>
              </a:tr>
              <a:tr h="140470">
                <a:tc>
                  <a:txBody>
                    <a:bodyPr/>
                    <a:lstStyle/>
                    <a:p>
                      <a:pPr lvl="0">
                        <a:lnSpc>
                          <a:spcPct val="107000"/>
                        </a:lnSpc>
                        <a:spcBef>
                          <a:spcPts val="600"/>
                        </a:spcBef>
                        <a:spcAft>
                          <a:spcPts val="600"/>
                        </a:spcAft>
                      </a:pPr>
                      <a:r>
                        <a:rPr lang="en-GB" sz="1100">
                          <a:solidFill>
                            <a:srgbClr val="000000"/>
                          </a:solidFill>
                          <a:latin typeface="Calibri"/>
                        </a:rPr>
                        <a:t>9106</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P&amp;R measure</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274757246"/>
                  </a:ext>
                </a:extLst>
              </a:tr>
              <a:tr h="140470">
                <a:tc>
                  <a:txBody>
                    <a:bodyPr/>
                    <a:lstStyle/>
                    <a:p>
                      <a:pPr lvl="0">
                        <a:lnSpc>
                          <a:spcPct val="107000"/>
                        </a:lnSpc>
                        <a:spcBef>
                          <a:spcPts val="600"/>
                        </a:spcBef>
                        <a:spcAft>
                          <a:spcPts val="600"/>
                        </a:spcAft>
                      </a:pPr>
                      <a:r>
                        <a:rPr lang="en-GB" sz="1100">
                          <a:solidFill>
                            <a:srgbClr val="000000"/>
                          </a:solidFill>
                          <a:latin typeface="Calibri"/>
                        </a:rPr>
                        <a:t>9115</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ALVS Control</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779224426"/>
                  </a:ext>
                </a:extLst>
              </a:tr>
              <a:tr h="140470">
                <a:tc>
                  <a:txBody>
                    <a:bodyPr/>
                    <a:lstStyle/>
                    <a:p>
                      <a:pPr lvl="0">
                        <a:lnSpc>
                          <a:spcPct val="107000"/>
                        </a:lnSpc>
                        <a:spcBef>
                          <a:spcPts val="600"/>
                        </a:spcBef>
                        <a:spcAft>
                          <a:spcPts val="600"/>
                        </a:spcAft>
                      </a:pPr>
                      <a:r>
                        <a:rPr lang="en-GB" sz="1100">
                          <a:solidFill>
                            <a:srgbClr val="000000"/>
                          </a:solidFill>
                          <a:latin typeface="Calibri"/>
                        </a:rPr>
                        <a:t>C640</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ALVS Control</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2245687529"/>
                  </a:ext>
                </a:extLst>
              </a:tr>
              <a:tr h="140470">
                <a:tc>
                  <a:txBody>
                    <a:bodyPr/>
                    <a:lstStyle/>
                    <a:p>
                      <a:pPr lvl="0">
                        <a:lnSpc>
                          <a:spcPct val="107000"/>
                        </a:lnSpc>
                        <a:spcBef>
                          <a:spcPts val="600"/>
                        </a:spcBef>
                        <a:spcAft>
                          <a:spcPts val="600"/>
                        </a:spcAft>
                      </a:pPr>
                      <a:r>
                        <a:rPr lang="en-GB" sz="1100">
                          <a:solidFill>
                            <a:srgbClr val="000000"/>
                          </a:solidFill>
                          <a:latin typeface="Calibri"/>
                        </a:rPr>
                        <a:t>C673</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2052843659"/>
                  </a:ext>
                </a:extLst>
              </a:tr>
              <a:tr h="140470">
                <a:tc>
                  <a:txBody>
                    <a:bodyPr/>
                    <a:lstStyle/>
                    <a:p>
                      <a:pPr lvl="0">
                        <a:lnSpc>
                          <a:spcPct val="107000"/>
                        </a:lnSpc>
                        <a:spcBef>
                          <a:spcPts val="600"/>
                        </a:spcBef>
                        <a:spcAft>
                          <a:spcPts val="600"/>
                        </a:spcAft>
                      </a:pPr>
                      <a:r>
                        <a:rPr lang="en-GB" sz="1100">
                          <a:solidFill>
                            <a:srgbClr val="000000"/>
                          </a:solidFill>
                          <a:latin typeface="Calibri"/>
                        </a:rPr>
                        <a:t>C678</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3439475636"/>
                  </a:ext>
                </a:extLst>
              </a:tr>
              <a:tr h="140470">
                <a:tc>
                  <a:txBody>
                    <a:bodyPr/>
                    <a:lstStyle/>
                    <a:p>
                      <a:pPr lvl="0">
                        <a:lnSpc>
                          <a:spcPct val="107000"/>
                        </a:lnSpc>
                        <a:spcBef>
                          <a:spcPts val="600"/>
                        </a:spcBef>
                        <a:spcAft>
                          <a:spcPts val="600"/>
                        </a:spcAft>
                      </a:pPr>
                      <a:r>
                        <a:rPr lang="en-GB" sz="1100">
                          <a:solidFill>
                            <a:srgbClr val="000000"/>
                          </a:solidFill>
                          <a:latin typeface="Calibri"/>
                        </a:rPr>
                        <a:t>N002</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Waive the ALVS Control</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3993367576"/>
                  </a:ext>
                </a:extLst>
              </a:tr>
              <a:tr h="140470">
                <a:tc>
                  <a:txBody>
                    <a:bodyPr/>
                    <a:lstStyle/>
                    <a:p>
                      <a:pPr lvl="0">
                        <a:lnSpc>
                          <a:spcPct val="107000"/>
                        </a:lnSpc>
                        <a:spcBef>
                          <a:spcPts val="600"/>
                        </a:spcBef>
                        <a:spcAft>
                          <a:spcPts val="600"/>
                        </a:spcAft>
                      </a:pPr>
                      <a:r>
                        <a:rPr lang="en-GB" sz="1100">
                          <a:solidFill>
                            <a:srgbClr val="000000"/>
                          </a:solidFill>
                          <a:latin typeface="Calibri"/>
                        </a:rPr>
                        <a:t>N851</a:t>
                      </a:r>
                      <a:endParaRPr lang="en-GB" sz="1050">
                        <a:solidFill>
                          <a:srgbClr val="000000"/>
                        </a:solidFill>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Waive the ALVS Control</a:t>
                      </a:r>
                      <a:endParaRPr lang="en-GB" sz="1050">
                        <a:latin typeface="Calibri"/>
                        <a:ea typeface="Calibri" pitchFamily="34"/>
                        <a:cs typeface="Times New Roman" pitchFamily="18"/>
                      </a:endParaRPr>
                    </a:p>
                  </a:txBody>
                  <a:tcPr marL="43260" marR="43260" marT="0" marB="0" anchor="ctr">
                    <a:solidFill>
                      <a:srgbClr val="E7E6E6"/>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E7E6E6"/>
                    </a:solidFill>
                  </a:tcPr>
                </a:tc>
                <a:extLst>
                  <a:ext uri="{0D108BD9-81ED-4DB2-BD59-A6C34878D82A}">
                    <a16:rowId xmlns:a16="http://schemas.microsoft.com/office/drawing/2014/main" val="3767601358"/>
                  </a:ext>
                </a:extLst>
              </a:tr>
              <a:tr h="140470">
                <a:tc>
                  <a:txBody>
                    <a:bodyPr/>
                    <a:lstStyle/>
                    <a:p>
                      <a:pPr lvl="0">
                        <a:lnSpc>
                          <a:spcPct val="107000"/>
                        </a:lnSpc>
                        <a:spcBef>
                          <a:spcPts val="600"/>
                        </a:spcBef>
                        <a:spcAft>
                          <a:spcPts val="600"/>
                        </a:spcAft>
                      </a:pPr>
                      <a:r>
                        <a:rPr lang="en-GB" sz="1100">
                          <a:solidFill>
                            <a:srgbClr val="000000"/>
                          </a:solidFill>
                          <a:latin typeface="Calibri"/>
                        </a:rPr>
                        <a:t>N853</a:t>
                      </a:r>
                      <a:endParaRPr lang="en-GB" sz="1050">
                        <a:solidFill>
                          <a:srgbClr val="000000"/>
                        </a:solidFill>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a:latin typeface="Calibri"/>
                        </a:rPr>
                        <a:t>Not Allowed</a:t>
                      </a:r>
                      <a:endParaRPr lang="en-GB" sz="1050">
                        <a:latin typeface="Calibri"/>
                        <a:ea typeface="Calibri" pitchFamily="34"/>
                        <a:cs typeface="Times New Roman" pitchFamily="18"/>
                      </a:endParaRPr>
                    </a:p>
                  </a:txBody>
                  <a:tcPr marL="43260" marR="43260" marT="0" marB="0" anchor="ctr">
                    <a:solidFill>
                      <a:srgbClr val="F2F2F2"/>
                    </a:solidFill>
                  </a:tcPr>
                </a:tc>
                <a:tc>
                  <a:txBody>
                    <a:bodyPr/>
                    <a:lstStyle/>
                    <a:p>
                      <a:pPr lvl="0">
                        <a:lnSpc>
                          <a:spcPct val="107000"/>
                        </a:lnSpc>
                        <a:spcBef>
                          <a:spcPts val="600"/>
                        </a:spcBef>
                        <a:spcAft>
                          <a:spcPts val="600"/>
                        </a:spcAft>
                      </a:pPr>
                      <a:r>
                        <a:rPr lang="en-GB" sz="1100" dirty="0">
                          <a:latin typeface="Calibri"/>
                        </a:rPr>
                        <a:t>Waive the ALVS Control</a:t>
                      </a:r>
                      <a:endParaRPr lang="en-GB" sz="1050" dirty="0">
                        <a:latin typeface="Calibri"/>
                        <a:ea typeface="Calibri" pitchFamily="34"/>
                        <a:cs typeface="Times New Roman" pitchFamily="18"/>
                      </a:endParaRPr>
                    </a:p>
                  </a:txBody>
                  <a:tcPr marL="43260" marR="43260" marT="0" marB="0" anchor="ctr">
                    <a:solidFill>
                      <a:srgbClr val="F2F2F2"/>
                    </a:solidFill>
                  </a:tcPr>
                </a:tc>
                <a:extLst>
                  <a:ext uri="{0D108BD9-81ED-4DB2-BD59-A6C34878D82A}">
                    <a16:rowId xmlns:a16="http://schemas.microsoft.com/office/drawing/2014/main" val="2970704822"/>
                  </a:ext>
                </a:extLst>
              </a:tr>
            </a:tbl>
          </a:graphicData>
        </a:graphic>
      </p:graphicFrame>
      <p:sp>
        <p:nvSpPr>
          <p:cNvPr id="6" name="Rectangle 32">
            <a:extLst>
              <a:ext uri="{FF2B5EF4-FFF2-40B4-BE49-F238E27FC236}">
                <a16:creationId xmlns:a16="http://schemas.microsoft.com/office/drawing/2014/main" id="{1A94E636-C568-4F6B-B188-A3519CA1557E}"/>
              </a:ext>
            </a:extLst>
          </p:cNvPr>
          <p:cNvSpPr/>
          <p:nvPr/>
        </p:nvSpPr>
        <p:spPr>
          <a:xfrm>
            <a:off x="363967" y="796168"/>
            <a:ext cx="11419694" cy="97840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30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Licence Waivers</a:t>
            </a:r>
          </a:p>
          <a:p>
            <a:pPr marL="0" marR="0" lvl="0" indent="0" algn="l" defTabSz="914400" rtl="0" fontAlgn="auto" hangingPunct="1">
              <a:lnSpc>
                <a:spcPct val="107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ea typeface="Calibri" pitchFamily="34"/>
                <a:cs typeface="Times New Roman" pitchFamily="18"/>
              </a:rPr>
              <a:t>Where a licence is not required, for example ex-heading or a dual-use goods, the requirement for the licence can be waived.  This may be done either by declaring the waiver document type defined in the Tariff (usually prefixed “Y”) with a reason statement, or by using a Document Status Code of “XX” or “XW” with the licence document type (usually prefixed “C”). </a:t>
            </a:r>
            <a:r>
              <a:rPr lang="en-GB" sz="1200" b="0" i="0" u="none" strike="noStrike" kern="1200" cap="none" spc="0" baseline="0">
                <a:solidFill>
                  <a:srgbClr val="000000"/>
                </a:solidFill>
                <a:uFillTx/>
                <a:latin typeface="Calibri"/>
              </a:rPr>
              <a:t>Document status codes “XX” and “XW” will be accepted for National Document Codes that satisfy a P&amp;R measure that require a licence. The allowances are as follows:</a:t>
            </a:r>
            <a:endParaRPr lang="en-GB" sz="1400" b="0" i="0" u="none" strike="noStrike" kern="1200" cap="none" spc="0" baseline="0">
              <a:solidFill>
                <a:srgbClr val="000000"/>
              </a:solidFill>
              <a:uFillTx/>
              <a:latin typeface="Calibri"/>
            </a:endParaRPr>
          </a:p>
        </p:txBody>
      </p:sp>
      <p:sp>
        <p:nvSpPr>
          <p:cNvPr id="7" name="Rectangle 33">
            <a:extLst>
              <a:ext uri="{FF2B5EF4-FFF2-40B4-BE49-F238E27FC236}">
                <a16:creationId xmlns:a16="http://schemas.microsoft.com/office/drawing/2014/main" id="{706474DA-AF71-41B5-9C1B-F239423385C4}"/>
              </a:ext>
            </a:extLst>
          </p:cNvPr>
          <p:cNvSpPr/>
          <p:nvPr/>
        </p:nvSpPr>
        <p:spPr>
          <a:xfrm>
            <a:off x="5118884" y="1801249"/>
            <a:ext cx="6758220" cy="1862257"/>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Rectangle 39">
            <a:extLst>
              <a:ext uri="{FF2B5EF4-FFF2-40B4-BE49-F238E27FC236}">
                <a16:creationId xmlns:a16="http://schemas.microsoft.com/office/drawing/2014/main" id="{AB897CC9-3EB6-4EA1-AFA8-D98CD23F7954}"/>
              </a:ext>
            </a:extLst>
          </p:cNvPr>
          <p:cNvSpPr/>
          <p:nvPr/>
        </p:nvSpPr>
        <p:spPr>
          <a:xfrm rot="16200004">
            <a:off x="4140010" y="2566949"/>
            <a:ext cx="1862257" cy="330839"/>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FUNCTIONAL CALL OUT</a:t>
            </a:r>
          </a:p>
        </p:txBody>
      </p:sp>
      <p:sp>
        <p:nvSpPr>
          <p:cNvPr id="9" name="Rectangle 40">
            <a:extLst>
              <a:ext uri="{FF2B5EF4-FFF2-40B4-BE49-F238E27FC236}">
                <a16:creationId xmlns:a16="http://schemas.microsoft.com/office/drawing/2014/main" id="{ED17C54A-F4E1-44C5-8CA1-C267C80D1C35}"/>
              </a:ext>
            </a:extLst>
          </p:cNvPr>
          <p:cNvSpPr/>
          <p:nvPr/>
        </p:nvSpPr>
        <p:spPr>
          <a:xfrm>
            <a:off x="5236567" y="1835246"/>
            <a:ext cx="6758220" cy="178510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Licence Waiver Workaround for Y902</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CDS is rejecting Document Category Code (Y) and Document Type Code (902) with 'Data Error: Data Element contains invalid value' , although Y902 is in the CDS code lists and is required by the Tariff, which now applies to exports as well as imports.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is one of a list of licence waiver document codes, which now applies to exports as well as imports. CDS will be able to recognise use of these codes on an export declaration. In the meantime, it will be necessary to continue using the applicable licence document code (in this case "L100") with a waiver status code ("XX").</a:t>
            </a:r>
            <a:endParaRPr lang="en-GB" sz="1200" b="1" i="0" u="none" strike="noStrike" kern="1200" cap="none" spc="0" baseline="0">
              <a:solidFill>
                <a:srgbClr val="FF0000"/>
              </a:solidFill>
              <a:uFillTx/>
              <a:latin typeface="Calibri"/>
            </a:endParaRPr>
          </a:p>
        </p:txBody>
      </p:sp>
      <p:sp>
        <p:nvSpPr>
          <p:cNvPr id="10" name="Slide Number Placeholder 5">
            <a:extLst>
              <a:ext uri="{FF2B5EF4-FFF2-40B4-BE49-F238E27FC236}">
                <a16:creationId xmlns:a16="http://schemas.microsoft.com/office/drawing/2014/main" id="{96443755-95BB-41B5-B2E6-B046438A02E7}"/>
              </a:ext>
            </a:extLst>
          </p:cNvPr>
          <p:cNvSpPr txBox="1"/>
          <p:nvPr/>
        </p:nvSpPr>
        <p:spPr>
          <a:xfrm>
            <a:off x="11752960"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FF592FD-CCE7-4F00-93CF-9A52096AC681}" type="slidenum">
              <a:rPr sz="1200"/>
              <a:t>21</a:t>
            </a:fld>
            <a:endParaRPr lang="en-GB" sz="1200" b="0" i="0" u="none" strike="noStrike" kern="1200" cap="none" spc="0" baseline="0" dirty="0">
              <a:solidFill>
                <a:srgbClr val="000000"/>
              </a:solidFill>
              <a:uFillTx/>
              <a:latin typeface="Calibri"/>
            </a:endParaRPr>
          </a:p>
        </p:txBody>
      </p:sp>
      <p:sp>
        <p:nvSpPr>
          <p:cNvPr id="11" name="Rectangle 31">
            <a:extLst>
              <a:ext uri="{FF2B5EF4-FFF2-40B4-BE49-F238E27FC236}">
                <a16:creationId xmlns:a16="http://schemas.microsoft.com/office/drawing/2014/main" id="{C08B7FF9-14D9-47FC-BAB0-8B265AE3CDB1}"/>
              </a:ext>
            </a:extLst>
          </p:cNvPr>
          <p:cNvSpPr/>
          <p:nvPr/>
        </p:nvSpPr>
        <p:spPr>
          <a:xfrm>
            <a:off x="5160242" y="3730687"/>
            <a:ext cx="6716853" cy="1411175"/>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Rectangle 35">
            <a:extLst>
              <a:ext uri="{FF2B5EF4-FFF2-40B4-BE49-F238E27FC236}">
                <a16:creationId xmlns:a16="http://schemas.microsoft.com/office/drawing/2014/main" id="{E5F3FC81-2F16-471A-BDA1-F9100EB60D0E}"/>
              </a:ext>
            </a:extLst>
          </p:cNvPr>
          <p:cNvSpPr/>
          <p:nvPr/>
        </p:nvSpPr>
        <p:spPr>
          <a:xfrm>
            <a:off x="5270903" y="3751143"/>
            <a:ext cx="6636952" cy="141577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Licence Waiver Workaround for 1CD</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system functionality is currently preventing the correct declaration on a type Y supplementary declaration. As a temporary workaround please complete document code 9114 with status code XW and the reason as "Licence produced with SFD". Also, please omit DE 1/11 code 1CD. A future release will permit status codes IA and JA to be used with document code 9114, at which point the goods can be declared in line with the CDS Tariff completion requirements, including use of DE 1/11 code 1CD.</a:t>
            </a:r>
            <a:endParaRPr lang="en-GB" sz="1200" b="1" i="0" u="none" strike="noStrike" kern="1200" cap="none" spc="0" baseline="0">
              <a:solidFill>
                <a:srgbClr val="FF0000"/>
              </a:solidFill>
              <a:uFillTx/>
              <a:latin typeface="Calibri"/>
            </a:endParaRPr>
          </a:p>
        </p:txBody>
      </p:sp>
      <p:sp>
        <p:nvSpPr>
          <p:cNvPr id="13" name="Rectangle 37">
            <a:extLst>
              <a:ext uri="{FF2B5EF4-FFF2-40B4-BE49-F238E27FC236}">
                <a16:creationId xmlns:a16="http://schemas.microsoft.com/office/drawing/2014/main" id="{1E6BE2B7-424B-4D35-98B5-D7656C12AF3D}"/>
              </a:ext>
            </a:extLst>
          </p:cNvPr>
          <p:cNvSpPr/>
          <p:nvPr/>
        </p:nvSpPr>
        <p:spPr>
          <a:xfrm rot="16200004">
            <a:off x="4372080" y="4273900"/>
            <a:ext cx="1436229" cy="349785"/>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FUNCTIONAL CALL OUT</a:t>
            </a:r>
          </a:p>
        </p:txBody>
      </p:sp>
      <p:sp>
        <p:nvSpPr>
          <p:cNvPr id="14" name="Oval 49">
            <a:hlinkClick r:id="rId3" action="ppaction://hlinksldjump"/>
            <a:extLst>
              <a:ext uri="{FF2B5EF4-FFF2-40B4-BE49-F238E27FC236}">
                <a16:creationId xmlns:a16="http://schemas.microsoft.com/office/drawing/2014/main" id="{88C778D3-A482-4B9B-A5D4-2E9792836D7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50">
            <a:hlinkClick r:id="rId3" action="ppaction://hlinksldjump"/>
            <a:extLst>
              <a:ext uri="{FF2B5EF4-FFF2-40B4-BE49-F238E27FC236}">
                <a16:creationId xmlns:a16="http://schemas.microsoft.com/office/drawing/2014/main" id="{5A64E7E9-BB1E-4843-8E14-89DD83359C7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51">
            <a:hlinkClick r:id="rId4" action="ppaction://hlinksldjump"/>
            <a:extLst>
              <a:ext uri="{FF2B5EF4-FFF2-40B4-BE49-F238E27FC236}">
                <a16:creationId xmlns:a16="http://schemas.microsoft.com/office/drawing/2014/main" id="{5C2DB19C-5E52-4A0D-AEB4-F90F88E8E76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52">
            <a:hlinkClick r:id="rId5" action="ppaction://hlinksldjump"/>
            <a:extLst>
              <a:ext uri="{FF2B5EF4-FFF2-40B4-BE49-F238E27FC236}">
                <a16:creationId xmlns:a16="http://schemas.microsoft.com/office/drawing/2014/main" id="{FFEE31D8-F822-43FE-80B7-BED80C836467}"/>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53">
            <a:hlinkClick r:id="rId3" action="ppaction://hlinksldjump"/>
            <a:extLst>
              <a:ext uri="{FF2B5EF4-FFF2-40B4-BE49-F238E27FC236}">
                <a16:creationId xmlns:a16="http://schemas.microsoft.com/office/drawing/2014/main" id="{CDE34D06-AED6-4F86-86D7-C891B5381FB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54">
            <a:hlinkClick r:id="rId3" action="ppaction://hlinksldjump"/>
            <a:extLst>
              <a:ext uri="{FF2B5EF4-FFF2-40B4-BE49-F238E27FC236}">
                <a16:creationId xmlns:a16="http://schemas.microsoft.com/office/drawing/2014/main" id="{F4B3CCFA-DA82-4A03-A10A-7C9B055569B4}"/>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0" name="TextBox 55">
            <a:hlinkClick r:id="rId4" action="ppaction://hlinksldjump"/>
            <a:extLst>
              <a:ext uri="{FF2B5EF4-FFF2-40B4-BE49-F238E27FC236}">
                <a16:creationId xmlns:a16="http://schemas.microsoft.com/office/drawing/2014/main" id="{D0EAC67E-B4EB-46F7-A367-841A6C49F319}"/>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1" name="TextBox 56">
            <a:hlinkClick r:id="rId4" action="ppaction://hlinksldjump"/>
            <a:extLst>
              <a:ext uri="{FF2B5EF4-FFF2-40B4-BE49-F238E27FC236}">
                <a16:creationId xmlns:a16="http://schemas.microsoft.com/office/drawing/2014/main" id="{927AB888-EA01-475A-8DF1-4C3A71471FE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57">
            <a:extLst>
              <a:ext uri="{FF2B5EF4-FFF2-40B4-BE49-F238E27FC236}">
                <a16:creationId xmlns:a16="http://schemas.microsoft.com/office/drawing/2014/main" id="{406EF40F-6A64-4583-9E69-E940ADE682D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58">
            <a:hlinkClick r:id="rId6" action="ppaction://hlinksldjump"/>
            <a:extLst>
              <a:ext uri="{FF2B5EF4-FFF2-40B4-BE49-F238E27FC236}">
                <a16:creationId xmlns:a16="http://schemas.microsoft.com/office/drawing/2014/main" id="{E3887599-F1F5-409E-A92B-CC83098BA3BA}"/>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3" action="ppaction://hlinksldjump"/>
            <a:extLst>
              <a:ext uri="{FF2B5EF4-FFF2-40B4-BE49-F238E27FC236}">
                <a16:creationId xmlns:a16="http://schemas.microsoft.com/office/drawing/2014/main" id="{5229FB30-7E48-4F55-BBCC-260ED68F5443}"/>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60">
            <a:hlinkClick r:id="rId3" action="ppaction://hlinksldjump"/>
            <a:extLst>
              <a:ext uri="{FF2B5EF4-FFF2-40B4-BE49-F238E27FC236}">
                <a16:creationId xmlns:a16="http://schemas.microsoft.com/office/drawing/2014/main" id="{BBF811A5-7B12-415D-B415-1464A7BAB8A1}"/>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6" name="Picture 106" descr="57% HMRCppt logo">
            <a:extLst>
              <a:ext uri="{FF2B5EF4-FFF2-40B4-BE49-F238E27FC236}">
                <a16:creationId xmlns:a16="http://schemas.microsoft.com/office/drawing/2014/main" id="{8CEA03DD-43E9-ECA5-30F3-958B72E03963}"/>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838840278">
    <p:spTree>
      <p:nvGrpSpPr>
        <p:cNvPr id="1" name=""/>
        <p:cNvGrpSpPr/>
        <p:nvPr/>
      </p:nvGrpSpPr>
      <p:grpSpPr>
        <a:xfrm>
          <a:off x="0" y="0"/>
          <a:ext cx="0" cy="0"/>
          <a:chOff x="0" y="0"/>
          <a:chExt cx="0" cy="0"/>
        </a:xfrm>
      </p:grpSpPr>
      <p:graphicFrame>
        <p:nvGraphicFramePr>
          <p:cNvPr id="3" name="Table 30">
            <a:extLst>
              <a:ext uri="{FF2B5EF4-FFF2-40B4-BE49-F238E27FC236}">
                <a16:creationId xmlns:a16="http://schemas.microsoft.com/office/drawing/2014/main" id="{BE71E69C-1393-43E5-BBA8-8766FF392D7E}"/>
              </a:ext>
            </a:extLst>
          </p:cNvPr>
          <p:cNvGraphicFramePr>
            <a:graphicFrameLocks noGrp="1"/>
          </p:cNvGraphicFramePr>
          <p:nvPr/>
        </p:nvGraphicFramePr>
        <p:xfrm>
          <a:off x="5694682" y="1136233"/>
          <a:ext cx="6133347" cy="1820195"/>
        </p:xfrm>
        <a:graphic>
          <a:graphicData uri="http://schemas.openxmlformats.org/drawingml/2006/table">
            <a:tbl>
              <a:tblPr firstRow="1" bandRow="1">
                <a:effectLst/>
                <a:tableStyleId>{5C22544A-7EE6-4342-B048-85BDC9FD1C3A}</a:tableStyleId>
              </a:tblPr>
              <a:tblGrid>
                <a:gridCol w="6133347">
                  <a:extLst>
                    <a:ext uri="{9D8B030D-6E8A-4147-A177-3AD203B41FA5}">
                      <a16:colId xmlns:a16="http://schemas.microsoft.com/office/drawing/2014/main" val="1710866878"/>
                    </a:ext>
                  </a:extLst>
                </a:gridCol>
              </a:tblGrid>
              <a:tr h="265304">
                <a:tc>
                  <a:txBody>
                    <a:bodyPr/>
                    <a:lstStyle/>
                    <a:p>
                      <a:pPr lvl="0"/>
                      <a:r>
                        <a:rPr lang="en-GB" sz="1200"/>
                        <a:t>Combining Imports Authorisation Types</a:t>
                      </a:r>
                    </a:p>
                  </a:txBody>
                  <a:tcPr anchor="ctr">
                    <a:solidFill>
                      <a:srgbClr val="7F7F7F"/>
                    </a:solidFill>
                  </a:tcPr>
                </a:tc>
                <a:extLst>
                  <a:ext uri="{0D108BD9-81ED-4DB2-BD59-A6C34878D82A}">
                    <a16:rowId xmlns:a16="http://schemas.microsoft.com/office/drawing/2014/main" val="977273468"/>
                  </a:ext>
                </a:extLst>
              </a:tr>
              <a:tr h="1545875">
                <a:tc>
                  <a:txBody>
                    <a:bodyPr/>
                    <a:lstStyle/>
                    <a:p>
                      <a:pPr lvl="0">
                        <a:spcAft>
                          <a:spcPts val="600"/>
                        </a:spcAft>
                      </a:pPr>
                      <a:r>
                        <a:rPr lang="en-GB" sz="1200" dirty="0"/>
                        <a:t>The table below outlines the authorisations which may be combined on an Imports declaration.</a:t>
                      </a:r>
                    </a:p>
                  </a:txBody>
                  <a:tcPr>
                    <a:solidFill>
                      <a:srgbClr val="F2F2F2"/>
                    </a:solidFill>
                  </a:tcPr>
                </a:tc>
                <a:extLst>
                  <a:ext uri="{0D108BD9-81ED-4DB2-BD59-A6C34878D82A}">
                    <a16:rowId xmlns:a16="http://schemas.microsoft.com/office/drawing/2014/main" val="1840910911"/>
                  </a:ext>
                </a:extLst>
              </a:tr>
            </a:tbl>
          </a:graphicData>
        </a:graphic>
      </p:graphicFrame>
      <p:cxnSp>
        <p:nvCxnSpPr>
          <p:cNvPr id="4" name="Straight Connector 12">
            <a:extLst>
              <a:ext uri="{FF2B5EF4-FFF2-40B4-BE49-F238E27FC236}">
                <a16:creationId xmlns:a16="http://schemas.microsoft.com/office/drawing/2014/main" id="{D445427B-3796-4EF8-9C54-4BE0BC8B6EC4}"/>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5" name="TextBox 5">
            <a:extLst>
              <a:ext uri="{FF2B5EF4-FFF2-40B4-BE49-F238E27FC236}">
                <a16:creationId xmlns:a16="http://schemas.microsoft.com/office/drawing/2014/main" id="{265478DD-A77D-457D-8627-0A04465FA008}"/>
              </a:ext>
            </a:extLst>
          </p:cNvPr>
          <p:cNvSpPr txBox="1"/>
          <p:nvPr/>
        </p:nvSpPr>
        <p:spPr>
          <a:xfrm>
            <a:off x="366089" y="3137681"/>
            <a:ext cx="11549978" cy="101566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the UK Trade Tariff for CDS Vol. 3, when a DAN (D.E. 4/8 - MOP ‘E’) is used to pay a customs duty:</a:t>
            </a:r>
          </a:p>
          <a:p>
            <a:pPr marL="228600" marR="0" lvl="0" indent="-228600" algn="l" defTabSz="914400" rtl="0" fontAlgn="auto" hangingPunct="1">
              <a:lnSpc>
                <a:spcPct val="100000"/>
              </a:lnSpc>
              <a:spcBef>
                <a:spcPts val="0"/>
              </a:spcBef>
              <a:spcAft>
                <a:spcPts val="0"/>
              </a:spcAft>
              <a:buSzPct val="100000"/>
              <a:buAutoNum type="arabicPeriod"/>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a:t>
            </a:r>
            <a:r>
              <a:rPr lang="en-GB" sz="1200" b="1" i="0" u="none" strike="noStrike" kern="1200" cap="none" spc="0" baseline="0">
                <a:solidFill>
                  <a:srgbClr val="000000"/>
                </a:solidFill>
                <a:uFillTx/>
                <a:latin typeface="Calibri"/>
              </a:rPr>
              <a:t>CCG authorisation </a:t>
            </a:r>
            <a:r>
              <a:rPr lang="en-GB" sz="1200" b="0" i="0" u="none" strike="noStrike" kern="1200" cap="none" spc="0" baseline="0">
                <a:solidFill>
                  <a:srgbClr val="000000"/>
                </a:solidFill>
                <a:uFillTx/>
                <a:latin typeface="Calibri"/>
              </a:rPr>
              <a:t>must be declared by entering the document code </a:t>
            </a:r>
            <a:r>
              <a:rPr lang="en-GB" sz="1200" b="1" i="0" u="none" strike="noStrike" kern="1200" cap="none" spc="0" baseline="0">
                <a:solidFill>
                  <a:srgbClr val="000000"/>
                </a:solidFill>
                <a:uFillTx/>
                <a:latin typeface="Calibri"/>
              </a:rPr>
              <a:t>C505</a:t>
            </a:r>
            <a:r>
              <a:rPr lang="en-GB" sz="1200" b="0" i="0" u="none" strike="noStrike" kern="1200" cap="none" spc="0" baseline="0">
                <a:solidFill>
                  <a:srgbClr val="000000"/>
                </a:solidFill>
                <a:uFillTx/>
                <a:latin typeface="Calibri"/>
              </a:rPr>
              <a:t> in D.E. 2/3. </a:t>
            </a:r>
          </a:p>
          <a:p>
            <a:pPr marL="228600" marR="0" lvl="0" indent="-228600" algn="l" defTabSz="914400" rtl="0" fontAlgn="auto" hangingPunct="1">
              <a:lnSpc>
                <a:spcPct val="100000"/>
              </a:lnSpc>
              <a:spcBef>
                <a:spcPts val="0"/>
              </a:spcBef>
              <a:spcAft>
                <a:spcPts val="0"/>
              </a:spcAft>
              <a:buSzPct val="100000"/>
              <a:buAutoNum type="arabicPeriod"/>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this C505 document code is entered, the Holder of the Authorisation Number (D.E. 3/39) should be completed with authorisation type code CGU followed by the EORI of the authorised party. </a:t>
            </a:r>
          </a:p>
          <a:p>
            <a:pPr marL="228600" marR="0" lvl="0" indent="-228600" algn="l" defTabSz="914400" rtl="0" fontAlgn="auto" hangingPunct="1">
              <a:lnSpc>
                <a:spcPct val="100000"/>
              </a:lnSpc>
              <a:spcBef>
                <a:spcPts val="0"/>
              </a:spcBef>
              <a:spcAft>
                <a:spcPts val="0"/>
              </a:spcAft>
              <a:buSzPct val="100000"/>
              <a:buAutoNum type="arabicPeriod"/>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Guarantee Type (D.E. 8/2) should be completed with ‘1’ and Guarantee Reference (D.E. 8/3) should be completed with the UCC comprehensive guarantee reference number (GRN).</a:t>
            </a:r>
            <a:endParaRPr lang="en-GB" sz="1400" b="0" i="0" u="none" strike="noStrike" kern="1200" cap="none" spc="0" baseline="0">
              <a:solidFill>
                <a:srgbClr val="000000"/>
              </a:solidFill>
              <a:uFillTx/>
              <a:latin typeface="Calibri"/>
            </a:endParaRPr>
          </a:p>
        </p:txBody>
      </p:sp>
      <p:cxnSp>
        <p:nvCxnSpPr>
          <p:cNvPr id="6" name="Straight Connector 11">
            <a:extLst>
              <a:ext uri="{FF2B5EF4-FFF2-40B4-BE49-F238E27FC236}">
                <a16:creationId xmlns:a16="http://schemas.microsoft.com/office/drawing/2014/main" id="{4D78BDA2-5633-4F2D-8FD6-27B236DFBFB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0D24B105-B1A8-4371-B244-0D1D5544AE14}"/>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8" name="Rectangle 4">
            <a:extLst>
              <a:ext uri="{FF2B5EF4-FFF2-40B4-BE49-F238E27FC236}">
                <a16:creationId xmlns:a16="http://schemas.microsoft.com/office/drawing/2014/main" id="{E7297792-1F4A-43AC-A480-6FD05F9B6B67}"/>
              </a:ext>
            </a:extLst>
          </p:cNvPr>
          <p:cNvSpPr/>
          <p:nvPr/>
        </p:nvSpPr>
        <p:spPr>
          <a:xfrm>
            <a:off x="363967" y="669605"/>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Authorisations</a:t>
            </a:r>
            <a:endParaRPr lang="en-GB" sz="2400" b="1" i="0" u="none" strike="noStrike" kern="1200" cap="none" spc="0" baseline="0">
              <a:solidFill>
                <a:srgbClr val="000000"/>
              </a:solidFill>
              <a:uFillTx/>
              <a:latin typeface="Calibri" pitchFamily="34"/>
              <a:ea typeface="Calibri" pitchFamily="34"/>
            </a:endParaRPr>
          </a:p>
        </p:txBody>
      </p:sp>
      <p:sp>
        <p:nvSpPr>
          <p:cNvPr id="9" name="Rectangle 9">
            <a:extLst>
              <a:ext uri="{FF2B5EF4-FFF2-40B4-BE49-F238E27FC236}">
                <a16:creationId xmlns:a16="http://schemas.microsoft.com/office/drawing/2014/main" id="{C7A9F473-7E60-4AC5-9BD5-87A0B888608A}"/>
              </a:ext>
            </a:extLst>
          </p:cNvPr>
          <p:cNvSpPr/>
          <p:nvPr/>
        </p:nvSpPr>
        <p:spPr>
          <a:xfrm>
            <a:off x="436388" y="4207840"/>
            <a:ext cx="11435038" cy="1792800"/>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11">
            <a:extLst>
              <a:ext uri="{FF2B5EF4-FFF2-40B4-BE49-F238E27FC236}">
                <a16:creationId xmlns:a16="http://schemas.microsoft.com/office/drawing/2014/main" id="{4AFE7D40-F79D-4463-B396-2F6D00104695}"/>
              </a:ext>
            </a:extLst>
          </p:cNvPr>
          <p:cNvSpPr txBox="1"/>
          <p:nvPr/>
        </p:nvSpPr>
        <p:spPr>
          <a:xfrm>
            <a:off x="697769" y="4254200"/>
            <a:ext cx="11124581" cy="185435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CCG Other Guarantee Reference Workaround</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is currently mandating that a CCG is also declared in the “Other Guarantee Reference” field. The workaround in place is to continue declaring the CCG in “Other Guarantee Reference”. The CCG can currently be declared in the GRN field but would need to be repeated under “Other Guarantee reference”. Please note, GRN must only be completed with a valid guarantee reference, so if using “guaranteenotrequired” then this must only be declared under “Other Guarantee Reference”.</a:t>
            </a: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6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No CCG Waiver Workaround</a:t>
            </a:r>
            <a:endParaRPr lang="en-GB" sz="16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workaround for CCG waiver is </a:t>
            </a:r>
            <a:r>
              <a:rPr lang="en-GB" sz="1200" b="1" i="0" u="none" strike="noStrike" kern="1200" cap="none" spc="0" baseline="0">
                <a:solidFill>
                  <a:srgbClr val="000000"/>
                </a:solidFill>
                <a:uFillTx/>
                <a:latin typeface="Calibri"/>
              </a:rPr>
              <a:t>no longer in place </a:t>
            </a:r>
            <a:r>
              <a:rPr lang="en-GB" sz="1200" b="0" i="0" u="none" strike="noStrike" kern="1200" cap="none" spc="0" baseline="0">
                <a:solidFill>
                  <a:srgbClr val="000000"/>
                </a:solidFill>
                <a:uFillTx/>
                <a:latin typeface="Calibri"/>
              </a:rPr>
              <a:t>from this imports release therefore declarations submitted with 505N will result in a rejection.</a:t>
            </a:r>
            <a:r>
              <a:rPr lang="en-GB" sz="1400" b="0" i="0" u="none" strike="noStrike" kern="1200" cap="none" spc="0" baseline="0">
                <a:solidFill>
                  <a:srgbClr val="000000"/>
                </a:solidFill>
                <a:uFillTx/>
                <a:latin typeface="Calibri"/>
              </a:rPr>
              <a:t> </a:t>
            </a:r>
            <a:r>
              <a:rPr lang="en-GB" sz="1200" b="0" i="0" u="none" strike="noStrike" kern="1200" cap="none" spc="0" baseline="0">
                <a:solidFill>
                  <a:srgbClr val="000000"/>
                </a:solidFill>
                <a:uFillTx/>
                <a:latin typeface="Calibri"/>
              </a:rPr>
              <a:t>Please complete the declaration as per the Imports Completion Guidance when declaring a CCG waiver using document code C505 in D.E. 2/3 along with document status code ‘CC’.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600" b="0" i="0" u="none" strike="noStrike" kern="1200" cap="none" spc="0" baseline="0">
              <a:solidFill>
                <a:srgbClr val="000000"/>
              </a:solidFill>
              <a:uFillTx/>
              <a:latin typeface="Calibri"/>
            </a:endParaRPr>
          </a:p>
        </p:txBody>
      </p:sp>
      <p:sp>
        <p:nvSpPr>
          <p:cNvPr id="11" name="Rectangle 14">
            <a:extLst>
              <a:ext uri="{FF2B5EF4-FFF2-40B4-BE49-F238E27FC236}">
                <a16:creationId xmlns:a16="http://schemas.microsoft.com/office/drawing/2014/main" id="{212AB92F-27D1-41FD-8296-F642611AF837}"/>
              </a:ext>
            </a:extLst>
          </p:cNvPr>
          <p:cNvSpPr/>
          <p:nvPr/>
        </p:nvSpPr>
        <p:spPr>
          <a:xfrm>
            <a:off x="349163" y="2831448"/>
            <a:ext cx="4547896" cy="34407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ea typeface="Calibri" pitchFamily="34"/>
              </a:rPr>
              <a:t>CCG Authorisation</a:t>
            </a:r>
          </a:p>
        </p:txBody>
      </p:sp>
      <p:graphicFrame>
        <p:nvGraphicFramePr>
          <p:cNvPr id="12" name="Table 24">
            <a:extLst>
              <a:ext uri="{FF2B5EF4-FFF2-40B4-BE49-F238E27FC236}">
                <a16:creationId xmlns:a16="http://schemas.microsoft.com/office/drawing/2014/main" id="{F6C426FB-B560-4E1D-BA88-F63BF42888B4}"/>
              </a:ext>
            </a:extLst>
          </p:cNvPr>
          <p:cNvGraphicFramePr>
            <a:graphicFrameLocks noGrp="1"/>
          </p:cNvGraphicFramePr>
          <p:nvPr/>
        </p:nvGraphicFramePr>
        <p:xfrm>
          <a:off x="5805854" y="1701113"/>
          <a:ext cx="5770426" cy="1200150"/>
        </p:xfrm>
        <a:graphic>
          <a:graphicData uri="http://schemas.openxmlformats.org/drawingml/2006/table">
            <a:tbl>
              <a:tblPr firstRow="1" firstCol="1" bandRow="1">
                <a:effectLst/>
                <a:tableStyleId>{5C22544A-7EE6-4342-B048-85BDC9FD1C3A}</a:tableStyleId>
              </a:tblPr>
              <a:tblGrid>
                <a:gridCol w="1274207">
                  <a:extLst>
                    <a:ext uri="{9D8B030D-6E8A-4147-A177-3AD203B41FA5}">
                      <a16:colId xmlns:a16="http://schemas.microsoft.com/office/drawing/2014/main" val="438384297"/>
                    </a:ext>
                  </a:extLst>
                </a:gridCol>
                <a:gridCol w="478971">
                  <a:extLst>
                    <a:ext uri="{9D8B030D-6E8A-4147-A177-3AD203B41FA5}">
                      <a16:colId xmlns:a16="http://schemas.microsoft.com/office/drawing/2014/main" val="2960092175"/>
                    </a:ext>
                  </a:extLst>
                </a:gridCol>
                <a:gridCol w="726243">
                  <a:extLst>
                    <a:ext uri="{9D8B030D-6E8A-4147-A177-3AD203B41FA5}">
                      <a16:colId xmlns:a16="http://schemas.microsoft.com/office/drawing/2014/main" val="1104944067"/>
                    </a:ext>
                  </a:extLst>
                </a:gridCol>
                <a:gridCol w="822749">
                  <a:extLst>
                    <a:ext uri="{9D8B030D-6E8A-4147-A177-3AD203B41FA5}">
                      <a16:colId xmlns:a16="http://schemas.microsoft.com/office/drawing/2014/main" val="2036098819"/>
                    </a:ext>
                  </a:extLst>
                </a:gridCol>
                <a:gridCol w="1310316">
                  <a:extLst>
                    <a:ext uri="{9D8B030D-6E8A-4147-A177-3AD203B41FA5}">
                      <a16:colId xmlns:a16="http://schemas.microsoft.com/office/drawing/2014/main" val="460065851"/>
                    </a:ext>
                  </a:extLst>
                </a:gridCol>
                <a:gridCol w="653146">
                  <a:extLst>
                    <a:ext uri="{9D8B030D-6E8A-4147-A177-3AD203B41FA5}">
                      <a16:colId xmlns:a16="http://schemas.microsoft.com/office/drawing/2014/main" val="3948337646"/>
                    </a:ext>
                  </a:extLst>
                </a:gridCol>
                <a:gridCol w="504794">
                  <a:extLst>
                    <a:ext uri="{9D8B030D-6E8A-4147-A177-3AD203B41FA5}">
                      <a16:colId xmlns:a16="http://schemas.microsoft.com/office/drawing/2014/main" val="1326200040"/>
                    </a:ext>
                  </a:extLst>
                </a:gridCol>
              </a:tblGrid>
              <a:tr h="0">
                <a:tc>
                  <a:txBody>
                    <a:bodyPr/>
                    <a:lstStyle/>
                    <a:p>
                      <a:pPr lvl="0" algn="ctr">
                        <a:lnSpc>
                          <a:spcPct val="107000"/>
                        </a:lnSpc>
                        <a:spcAft>
                          <a:spcPts val="800"/>
                        </a:spcAft>
                      </a:pPr>
                      <a:r>
                        <a:rPr lang="en-GB" sz="1100"/>
                        <a:t> </a:t>
                      </a:r>
                      <a:endParaRPr lang="en-GB" sz="1100">
                        <a:latin typeface="Calibri" pitchFamily="34"/>
                        <a:ea typeface="Calibri" pitchFamily="34"/>
                        <a:cs typeface="Times New Roman" pitchFamily="18"/>
                      </a:endParaRPr>
                    </a:p>
                  </a:txBody>
                  <a:tcPr marL="68580" marR="68580" marT="0" marB="0" anchor="ctr"/>
                </a:tc>
                <a:tc>
                  <a:txBody>
                    <a:bodyPr/>
                    <a:lstStyle/>
                    <a:p>
                      <a:pPr lvl="0" algn="ctr">
                        <a:lnSpc>
                          <a:spcPct val="107000"/>
                        </a:lnSpc>
                        <a:spcAft>
                          <a:spcPts val="800"/>
                        </a:spcAft>
                      </a:pPr>
                      <a:r>
                        <a:rPr lang="en-GB" sz="1100"/>
                        <a:t>AEO</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EIDR</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SDP</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Special Procedures</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CW</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CCG</a:t>
                      </a:r>
                      <a:endParaRPr lang="en-GB" sz="1100">
                        <a:latin typeface="Calibri" pitchFamily="34"/>
                        <a:ea typeface="Calibri" pitchFamily="34"/>
                        <a:cs typeface="Times New Roman" pitchFamily="18"/>
                      </a:endParaRPr>
                    </a:p>
                  </a:txBody>
                  <a:tcPr marL="68580" marR="68580" marT="0" marB="0" anchor="ctr">
                    <a:solidFill>
                      <a:srgbClr val="A6A6A6"/>
                    </a:solidFill>
                  </a:tcPr>
                </a:tc>
                <a:extLst>
                  <a:ext uri="{0D108BD9-81ED-4DB2-BD59-A6C34878D82A}">
                    <a16:rowId xmlns:a16="http://schemas.microsoft.com/office/drawing/2014/main" val="4190890672"/>
                  </a:ext>
                </a:extLst>
              </a:tr>
              <a:tr h="0">
                <a:tc>
                  <a:txBody>
                    <a:bodyPr/>
                    <a:lstStyle/>
                    <a:p>
                      <a:pPr lvl="0" algn="ctr">
                        <a:lnSpc>
                          <a:spcPct val="107000"/>
                        </a:lnSpc>
                        <a:spcAft>
                          <a:spcPts val="800"/>
                        </a:spcAft>
                      </a:pPr>
                      <a:r>
                        <a:rPr lang="en-GB" sz="1100"/>
                        <a:t>AEO</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2107513124"/>
                  </a:ext>
                </a:extLst>
              </a:tr>
              <a:tr h="0">
                <a:tc>
                  <a:txBody>
                    <a:bodyPr/>
                    <a:lstStyle/>
                    <a:p>
                      <a:pPr lvl="0" algn="ctr">
                        <a:lnSpc>
                          <a:spcPct val="107000"/>
                        </a:lnSpc>
                        <a:spcAft>
                          <a:spcPts val="800"/>
                        </a:spcAft>
                      </a:pPr>
                      <a:r>
                        <a:rPr lang="en-GB" sz="1100"/>
                        <a:t>EIDR</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x</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b="1">
                          <a:solidFill>
                            <a:srgbClr val="FF0000"/>
                          </a:solidFill>
                        </a:rPr>
                        <a:t>x</a:t>
                      </a:r>
                      <a:endParaRPr lang="en-GB" sz="1100" b="1">
                        <a:solidFill>
                          <a:srgbClr val="FF0000"/>
                        </a:solidFill>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3875127381"/>
                  </a:ext>
                </a:extLst>
              </a:tr>
              <a:tr h="0">
                <a:tc>
                  <a:txBody>
                    <a:bodyPr/>
                    <a:lstStyle/>
                    <a:p>
                      <a:pPr lvl="0" algn="ctr">
                        <a:lnSpc>
                          <a:spcPct val="107000"/>
                        </a:lnSpc>
                        <a:spcAft>
                          <a:spcPts val="800"/>
                        </a:spcAft>
                      </a:pPr>
                      <a:r>
                        <a:rPr lang="en-GB" sz="1100"/>
                        <a:t>SDP</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x</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3729091875"/>
                  </a:ext>
                </a:extLst>
              </a:tr>
              <a:tr h="0">
                <a:tc>
                  <a:txBody>
                    <a:bodyPr/>
                    <a:lstStyle/>
                    <a:p>
                      <a:pPr lvl="0" algn="ctr">
                        <a:lnSpc>
                          <a:spcPct val="107000"/>
                        </a:lnSpc>
                        <a:spcAft>
                          <a:spcPts val="800"/>
                        </a:spcAft>
                      </a:pPr>
                      <a:r>
                        <a:rPr lang="en-GB" sz="1100"/>
                        <a:t>Special Procedures</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x</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572469707"/>
                  </a:ext>
                </a:extLst>
              </a:tr>
              <a:tr h="0">
                <a:tc>
                  <a:txBody>
                    <a:bodyPr/>
                    <a:lstStyle/>
                    <a:p>
                      <a:pPr lvl="0" algn="ctr">
                        <a:lnSpc>
                          <a:spcPct val="107000"/>
                        </a:lnSpc>
                        <a:spcAft>
                          <a:spcPts val="800"/>
                        </a:spcAft>
                      </a:pPr>
                      <a:r>
                        <a:rPr lang="en-GB" sz="1100"/>
                        <a:t>CW</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x</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x</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3731627826"/>
                  </a:ext>
                </a:extLst>
              </a:tr>
              <a:tr h="0">
                <a:tc>
                  <a:txBody>
                    <a:bodyPr/>
                    <a:lstStyle/>
                    <a:p>
                      <a:pPr lvl="0" algn="ctr">
                        <a:lnSpc>
                          <a:spcPct val="107000"/>
                        </a:lnSpc>
                        <a:spcAft>
                          <a:spcPts val="800"/>
                        </a:spcAft>
                      </a:pPr>
                      <a:r>
                        <a:rPr lang="en-GB" sz="1100"/>
                        <a:t>CCG</a:t>
                      </a:r>
                      <a:endParaRPr lang="en-GB" sz="1100">
                        <a:latin typeface="Calibri" pitchFamily="34"/>
                        <a:ea typeface="Calibri" pitchFamily="34"/>
                        <a:cs typeface="Times New Roman" pitchFamily="18"/>
                      </a:endParaRPr>
                    </a:p>
                  </a:txBody>
                  <a:tcPr marL="68580" marR="68580" marT="0" marB="0" anchor="ctr">
                    <a:solidFill>
                      <a:srgbClr val="A6A6A6"/>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a:t>🗸</a:t>
                      </a:r>
                      <a:endParaRPr lang="en-GB" sz="1100">
                        <a:latin typeface="Calibri" pitchFamily="34"/>
                        <a:ea typeface="Calibri" pitchFamily="34"/>
                        <a:cs typeface="Times New Roman" pitchFamily="18"/>
                      </a:endParaRPr>
                    </a:p>
                  </a:txBody>
                  <a:tcPr marL="68580" marR="68580" marT="0" marB="0" anchor="ctr">
                    <a:solidFill>
                      <a:srgbClr val="F2F2F2"/>
                    </a:solidFill>
                  </a:tcPr>
                </a:tc>
                <a:tc>
                  <a:txBody>
                    <a:bodyPr/>
                    <a:lstStyle/>
                    <a:p>
                      <a:pPr lvl="0" algn="ctr">
                        <a:lnSpc>
                          <a:spcPct val="107000"/>
                        </a:lnSpc>
                        <a:spcAft>
                          <a:spcPts val="800"/>
                        </a:spcAft>
                      </a:pPr>
                      <a:r>
                        <a:rPr lang="en-GB" sz="1100" dirty="0"/>
                        <a:t>-</a:t>
                      </a:r>
                      <a:endParaRPr lang="en-GB" sz="1100" dirty="0">
                        <a:latin typeface="Calibri"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859688358"/>
                  </a:ext>
                </a:extLst>
              </a:tr>
            </a:tbl>
          </a:graphicData>
        </a:graphic>
      </p:graphicFrame>
      <p:graphicFrame>
        <p:nvGraphicFramePr>
          <p:cNvPr id="13" name="Table 31">
            <a:extLst>
              <a:ext uri="{FF2B5EF4-FFF2-40B4-BE49-F238E27FC236}">
                <a16:creationId xmlns:a16="http://schemas.microsoft.com/office/drawing/2014/main" id="{8C3FBBDB-9768-4CDC-A82D-F0556F0958FB}"/>
              </a:ext>
            </a:extLst>
          </p:cNvPr>
          <p:cNvGraphicFramePr>
            <a:graphicFrameLocks noGrp="1"/>
          </p:cNvGraphicFramePr>
          <p:nvPr/>
        </p:nvGraphicFramePr>
        <p:xfrm>
          <a:off x="442066" y="1137870"/>
          <a:ext cx="5174525" cy="1541056"/>
        </p:xfrm>
        <a:graphic>
          <a:graphicData uri="http://schemas.openxmlformats.org/drawingml/2006/table">
            <a:tbl>
              <a:tblPr firstRow="1" bandRow="1">
                <a:effectLst/>
                <a:tableStyleId>{5C22544A-7EE6-4342-B048-85BDC9FD1C3A}</a:tableStyleId>
              </a:tblPr>
              <a:tblGrid>
                <a:gridCol w="5174525">
                  <a:extLst>
                    <a:ext uri="{9D8B030D-6E8A-4147-A177-3AD203B41FA5}">
                      <a16:colId xmlns:a16="http://schemas.microsoft.com/office/drawing/2014/main" val="3617208993"/>
                    </a:ext>
                  </a:extLst>
                </a:gridCol>
              </a:tblGrid>
              <a:tr h="276935">
                <a:tc>
                  <a:txBody>
                    <a:bodyPr/>
                    <a:lstStyle/>
                    <a:p>
                      <a:pPr lvl="0"/>
                      <a:r>
                        <a:rPr lang="en-GB" sz="1200"/>
                        <a:t>AEO Authorisation</a:t>
                      </a:r>
                    </a:p>
                  </a:txBody>
                  <a:tcPr anchor="ctr">
                    <a:solidFill>
                      <a:srgbClr val="7F7F7F"/>
                    </a:solidFill>
                  </a:tcPr>
                </a:tc>
                <a:extLst>
                  <a:ext uri="{0D108BD9-81ED-4DB2-BD59-A6C34878D82A}">
                    <a16:rowId xmlns:a16="http://schemas.microsoft.com/office/drawing/2014/main" val="2893090270"/>
                  </a:ext>
                </a:extLst>
              </a:tr>
              <a:tr h="1264121">
                <a:tc>
                  <a:txBody>
                    <a:bodyPr/>
                    <a:lstStyle/>
                    <a:p>
                      <a:pPr lvl="0">
                        <a:spcAft>
                          <a:spcPts val="600"/>
                        </a:spcAft>
                      </a:pPr>
                      <a:r>
                        <a:rPr lang="en-GB" sz="1200" dirty="0"/>
                        <a:t>There are 3 types of AEO authorisation which are declared with a different document code in D.E. 2/3 based on the authorisation type being declared.</a:t>
                      </a:r>
                    </a:p>
                  </a:txBody>
                  <a:tcPr>
                    <a:solidFill>
                      <a:srgbClr val="F2F2F2"/>
                    </a:solidFill>
                  </a:tcPr>
                </a:tc>
                <a:extLst>
                  <a:ext uri="{0D108BD9-81ED-4DB2-BD59-A6C34878D82A}">
                    <a16:rowId xmlns:a16="http://schemas.microsoft.com/office/drawing/2014/main" val="3738615478"/>
                  </a:ext>
                </a:extLst>
              </a:tr>
            </a:tbl>
          </a:graphicData>
        </a:graphic>
      </p:graphicFrame>
      <p:graphicFrame>
        <p:nvGraphicFramePr>
          <p:cNvPr id="14" name="Table 33">
            <a:extLst>
              <a:ext uri="{FF2B5EF4-FFF2-40B4-BE49-F238E27FC236}">
                <a16:creationId xmlns:a16="http://schemas.microsoft.com/office/drawing/2014/main" id="{075DB7E6-0AF6-4D97-ACD2-510472D826C9}"/>
              </a:ext>
            </a:extLst>
          </p:cNvPr>
          <p:cNvGraphicFramePr>
            <a:graphicFrameLocks noGrp="1"/>
          </p:cNvGraphicFramePr>
          <p:nvPr/>
        </p:nvGraphicFramePr>
        <p:xfrm>
          <a:off x="559219" y="1877610"/>
          <a:ext cx="4991324" cy="755996"/>
        </p:xfrm>
        <a:graphic>
          <a:graphicData uri="http://schemas.openxmlformats.org/drawingml/2006/table">
            <a:tbl>
              <a:tblPr firstRow="1" firstCol="1" bandRow="1">
                <a:effectLst/>
                <a:tableStyleId>{5C22544A-7EE6-4342-B048-85BDC9FD1C3A}</a:tableStyleId>
              </a:tblPr>
              <a:tblGrid>
                <a:gridCol w="2062758">
                  <a:extLst>
                    <a:ext uri="{9D8B030D-6E8A-4147-A177-3AD203B41FA5}">
                      <a16:colId xmlns:a16="http://schemas.microsoft.com/office/drawing/2014/main" val="3763131062"/>
                    </a:ext>
                  </a:extLst>
                </a:gridCol>
                <a:gridCol w="1775261">
                  <a:extLst>
                    <a:ext uri="{9D8B030D-6E8A-4147-A177-3AD203B41FA5}">
                      <a16:colId xmlns:a16="http://schemas.microsoft.com/office/drawing/2014/main" val="158910514"/>
                    </a:ext>
                  </a:extLst>
                </a:gridCol>
                <a:gridCol w="1153305">
                  <a:extLst>
                    <a:ext uri="{9D8B030D-6E8A-4147-A177-3AD203B41FA5}">
                      <a16:colId xmlns:a16="http://schemas.microsoft.com/office/drawing/2014/main" val="780340656"/>
                    </a:ext>
                  </a:extLst>
                </a:gridCol>
              </a:tblGrid>
              <a:tr h="215999">
                <a:tc>
                  <a:txBody>
                    <a:bodyPr/>
                    <a:lstStyle/>
                    <a:p>
                      <a:pPr lvl="0">
                        <a:lnSpc>
                          <a:spcPct val="107000"/>
                        </a:lnSpc>
                        <a:spcAft>
                          <a:spcPts val="800"/>
                        </a:spcAft>
                      </a:pPr>
                      <a:r>
                        <a:rPr lang="en-GB" sz="1100"/>
                        <a:t>Authorisation Type Description</a:t>
                      </a:r>
                      <a:endParaRPr lang="en-GB" sz="14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100"/>
                        <a:t>Authorisation Type Code</a:t>
                      </a:r>
                      <a:endParaRPr lang="en-GB" sz="14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100"/>
                        <a:t>Document Code</a:t>
                      </a:r>
                      <a:endParaRPr lang="en-GB" sz="1100">
                        <a:latin typeface="Arial" pitchFamily="34"/>
                        <a:ea typeface="Calibri" pitchFamily="34"/>
                        <a:cs typeface="Times New Roman" pitchFamily="18"/>
                      </a:endParaRPr>
                    </a:p>
                  </a:txBody>
                  <a:tcPr marL="62115" marR="62115" marT="0" marB="0" anchor="ctr">
                    <a:solidFill>
                      <a:srgbClr val="A6A6A6"/>
                    </a:solidFill>
                  </a:tcPr>
                </a:tc>
                <a:extLst>
                  <a:ext uri="{0D108BD9-81ED-4DB2-BD59-A6C34878D82A}">
                    <a16:rowId xmlns:a16="http://schemas.microsoft.com/office/drawing/2014/main" val="1687336492"/>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Customs Simplifications</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AEOC</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C501</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2449343724"/>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Safety &amp; Security</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AEOS</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C502</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1364287938"/>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Full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AEOF</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dirty="0">
                          <a:latin typeface="Calibri" pitchFamily="34"/>
                          <a:ea typeface="Calibri" pitchFamily="34"/>
                          <a:cs typeface="Times New Roman" pitchFamily="18"/>
                        </a:rPr>
                        <a:t>C503</a:t>
                      </a:r>
                      <a:endParaRPr lang="en-GB" sz="1200" dirty="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614952708"/>
                  </a:ext>
                </a:extLst>
              </a:tr>
            </a:tbl>
          </a:graphicData>
        </a:graphic>
      </p:graphicFrame>
      <p:sp>
        <p:nvSpPr>
          <p:cNvPr id="15" name="Rectangle 8">
            <a:extLst>
              <a:ext uri="{FF2B5EF4-FFF2-40B4-BE49-F238E27FC236}">
                <a16:creationId xmlns:a16="http://schemas.microsoft.com/office/drawing/2014/main" id="{51BB66BE-A07F-4FCE-8D4F-1A0A1EEA7103}"/>
              </a:ext>
            </a:extLst>
          </p:cNvPr>
          <p:cNvSpPr/>
          <p:nvPr/>
        </p:nvSpPr>
        <p:spPr>
          <a:xfrm rot="16200004">
            <a:off x="-329321" y="4973540"/>
            <a:ext cx="1792800" cy="261381"/>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FUNCTIONAL CALL OUT</a:t>
            </a:r>
          </a:p>
        </p:txBody>
      </p:sp>
      <p:sp>
        <p:nvSpPr>
          <p:cNvPr id="16" name="Slide Number Placeholder 5">
            <a:extLst>
              <a:ext uri="{FF2B5EF4-FFF2-40B4-BE49-F238E27FC236}">
                <a16:creationId xmlns:a16="http://schemas.microsoft.com/office/drawing/2014/main" id="{09D8F254-A5A0-4678-B46A-E125CD75190D}"/>
              </a:ext>
            </a:extLst>
          </p:cNvPr>
          <p:cNvSpPr txBox="1"/>
          <p:nvPr/>
        </p:nvSpPr>
        <p:spPr>
          <a:xfrm>
            <a:off x="117388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D13FFD1-2166-41D5-B57F-CB8C3C5926FC}" type="slidenum">
              <a:rPr sz="1200"/>
              <a:t>22</a:t>
            </a:fld>
            <a:endParaRPr lang="en-GB" sz="1200" b="0" i="0" u="none" strike="noStrike" kern="1200" cap="none" spc="0" baseline="0" dirty="0">
              <a:solidFill>
                <a:srgbClr val="000000"/>
              </a:solidFill>
              <a:uFillTx/>
              <a:latin typeface="Calibri"/>
            </a:endParaRPr>
          </a:p>
        </p:txBody>
      </p:sp>
      <p:sp>
        <p:nvSpPr>
          <p:cNvPr id="17" name="Oval 45">
            <a:hlinkClick r:id="rId3" action="ppaction://hlinksldjump"/>
            <a:extLst>
              <a:ext uri="{FF2B5EF4-FFF2-40B4-BE49-F238E27FC236}">
                <a16:creationId xmlns:a16="http://schemas.microsoft.com/office/drawing/2014/main" id="{19A07F47-DE8B-4156-92BF-F989AAFFB06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46">
            <a:hlinkClick r:id="rId3" action="ppaction://hlinksldjump"/>
            <a:extLst>
              <a:ext uri="{FF2B5EF4-FFF2-40B4-BE49-F238E27FC236}">
                <a16:creationId xmlns:a16="http://schemas.microsoft.com/office/drawing/2014/main" id="{0FCD85DC-2B22-4A46-BA65-D46CC1A95C22}"/>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47">
            <a:hlinkClick r:id="rId4" action="ppaction://hlinksldjump"/>
            <a:extLst>
              <a:ext uri="{FF2B5EF4-FFF2-40B4-BE49-F238E27FC236}">
                <a16:creationId xmlns:a16="http://schemas.microsoft.com/office/drawing/2014/main" id="{4C04FC47-EB68-4E06-94D5-ED6E4E28C11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Oval 48">
            <a:hlinkClick r:id="rId5" action="ppaction://hlinksldjump"/>
            <a:extLst>
              <a:ext uri="{FF2B5EF4-FFF2-40B4-BE49-F238E27FC236}">
                <a16:creationId xmlns:a16="http://schemas.microsoft.com/office/drawing/2014/main" id="{F49D71FF-69F1-4EFB-9F1B-B24A82FCF4AA}"/>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49">
            <a:hlinkClick r:id="rId3" action="ppaction://hlinksldjump"/>
            <a:extLst>
              <a:ext uri="{FF2B5EF4-FFF2-40B4-BE49-F238E27FC236}">
                <a16:creationId xmlns:a16="http://schemas.microsoft.com/office/drawing/2014/main" id="{00010390-3B74-455B-836C-728C3A7C4E55}"/>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2" name="TextBox 50">
            <a:hlinkClick r:id="rId3" action="ppaction://hlinksldjump"/>
            <a:extLst>
              <a:ext uri="{FF2B5EF4-FFF2-40B4-BE49-F238E27FC236}">
                <a16:creationId xmlns:a16="http://schemas.microsoft.com/office/drawing/2014/main" id="{29442B12-3F24-41F5-A00F-74A5CF30CE85}"/>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3" name="TextBox 51">
            <a:hlinkClick r:id="rId4" action="ppaction://hlinksldjump"/>
            <a:extLst>
              <a:ext uri="{FF2B5EF4-FFF2-40B4-BE49-F238E27FC236}">
                <a16:creationId xmlns:a16="http://schemas.microsoft.com/office/drawing/2014/main" id="{24CB71B3-C2AD-405D-8A63-24D5548E7757}"/>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4" name="TextBox 52">
            <a:hlinkClick r:id="rId4" action="ppaction://hlinksldjump"/>
            <a:extLst>
              <a:ext uri="{FF2B5EF4-FFF2-40B4-BE49-F238E27FC236}">
                <a16:creationId xmlns:a16="http://schemas.microsoft.com/office/drawing/2014/main" id="{77AC5331-D4E3-456A-86F7-5784B07AA1E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5" name="Oval 53">
            <a:extLst>
              <a:ext uri="{FF2B5EF4-FFF2-40B4-BE49-F238E27FC236}">
                <a16:creationId xmlns:a16="http://schemas.microsoft.com/office/drawing/2014/main" id="{A322651F-56DA-47B2-BC58-80CF958A025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TextBox 54">
            <a:hlinkClick r:id="rId6" action="ppaction://hlinksldjump"/>
            <a:extLst>
              <a:ext uri="{FF2B5EF4-FFF2-40B4-BE49-F238E27FC236}">
                <a16:creationId xmlns:a16="http://schemas.microsoft.com/office/drawing/2014/main" id="{9D50FBB3-201E-4D9D-A8C2-166F76B323D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7" name="Picture 40">
            <a:hlinkClick r:id="rId3" action="ppaction://hlinksldjump"/>
            <a:extLst>
              <a:ext uri="{FF2B5EF4-FFF2-40B4-BE49-F238E27FC236}">
                <a16:creationId xmlns:a16="http://schemas.microsoft.com/office/drawing/2014/main" id="{498F0DB9-3E61-4EAB-80A3-A1BDC6AB6B38}"/>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8" name="Oval 56">
            <a:hlinkClick r:id="rId3" action="ppaction://hlinksldjump"/>
            <a:extLst>
              <a:ext uri="{FF2B5EF4-FFF2-40B4-BE49-F238E27FC236}">
                <a16:creationId xmlns:a16="http://schemas.microsoft.com/office/drawing/2014/main" id="{5FA4CF71-7B5C-4626-B787-458B4F82760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9" name="Picture 106" descr="57% HMRCppt logo">
            <a:extLst>
              <a:ext uri="{FF2B5EF4-FFF2-40B4-BE49-F238E27FC236}">
                <a16:creationId xmlns:a16="http://schemas.microsoft.com/office/drawing/2014/main" id="{FB4888D7-873D-1A46-6F3E-828A83FE87D2}"/>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838840279">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527C4708-85EF-4460-A059-F7CDE6A7323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FDFCA2F9-F747-422B-8103-15524906BF3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F3E33157-41C7-46E2-9190-DB71F5A82CFD}"/>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6" name="Rectangle 4">
            <a:extLst>
              <a:ext uri="{FF2B5EF4-FFF2-40B4-BE49-F238E27FC236}">
                <a16:creationId xmlns:a16="http://schemas.microsoft.com/office/drawing/2014/main" id="{F6D187D4-996A-48F3-9906-5325ACCC5C7A}"/>
              </a:ext>
            </a:extLst>
          </p:cNvPr>
          <p:cNvSpPr/>
          <p:nvPr/>
        </p:nvSpPr>
        <p:spPr>
          <a:xfrm>
            <a:off x="363967" y="70247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Authorisations</a:t>
            </a:r>
            <a:endParaRPr lang="en-GB" sz="2400" b="1" i="0" u="none" strike="noStrike" kern="1200" cap="none" spc="0" baseline="0">
              <a:solidFill>
                <a:srgbClr val="000000"/>
              </a:solidFill>
              <a:uFillTx/>
              <a:latin typeface="Calibri" pitchFamily="34"/>
              <a:ea typeface="Calibri" pitchFamily="34"/>
            </a:endParaRPr>
          </a:p>
        </p:txBody>
      </p:sp>
      <p:sp>
        <p:nvSpPr>
          <p:cNvPr id="7" name="Rectangle 9">
            <a:extLst>
              <a:ext uri="{FF2B5EF4-FFF2-40B4-BE49-F238E27FC236}">
                <a16:creationId xmlns:a16="http://schemas.microsoft.com/office/drawing/2014/main" id="{8A5DA663-DEC9-44F5-ADD8-2AAA9BECEC6E}"/>
              </a:ext>
            </a:extLst>
          </p:cNvPr>
          <p:cNvSpPr/>
          <p:nvPr/>
        </p:nvSpPr>
        <p:spPr>
          <a:xfrm>
            <a:off x="438628" y="1180042"/>
            <a:ext cx="11435038" cy="1936552"/>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TextBox 11">
            <a:extLst>
              <a:ext uri="{FF2B5EF4-FFF2-40B4-BE49-F238E27FC236}">
                <a16:creationId xmlns:a16="http://schemas.microsoft.com/office/drawing/2014/main" id="{93EE4304-4CB4-4577-91A9-8AEEA2910512}"/>
              </a:ext>
            </a:extLst>
          </p:cNvPr>
          <p:cNvSpPr txBox="1"/>
          <p:nvPr/>
        </p:nvSpPr>
        <p:spPr>
          <a:xfrm>
            <a:off x="749085" y="1212915"/>
            <a:ext cx="11124581" cy="185435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Authorisation Number Format </a:t>
            </a:r>
            <a:endParaRPr lang="en-GB" sz="16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has issued a separate document on Validation of Authorisations, which provides further guidance on the authorisation number formats that will result in successful validation. This document is available on </a:t>
            </a:r>
            <a:r>
              <a:rPr lang="en-GB" sz="1200">
                <a:solidFill>
                  <a:srgbClr val="000000"/>
                </a:solidFill>
                <a:latin typeface="Calibri"/>
              </a:rPr>
              <a:t>the </a:t>
            </a:r>
            <a:r>
              <a:rPr lang="en-GB" sz="1200">
                <a:solidFill>
                  <a:srgbClr val="000000"/>
                </a:solidFill>
                <a:latin typeface="Calibri"/>
                <a:hlinkClick r:id="rId3"/>
              </a:rPr>
              <a:t>HMRC Developer Hub</a:t>
            </a:r>
            <a:r>
              <a:rPr lang="en-GB" sz="1200">
                <a:solidFill>
                  <a:srgbClr val="000000"/>
                </a:solidFill>
                <a:latin typeface="Calibri"/>
              </a:rPr>
              <a:t>, with</a:t>
            </a:r>
            <a:r>
              <a:rPr lang="en-GB" sz="1200" b="0" i="0" u="none" strike="noStrike" kern="1200" cap="none" spc="0" baseline="0">
                <a:solidFill>
                  <a:srgbClr val="000000"/>
                </a:solidFill>
                <a:uFillTx/>
                <a:latin typeface="Calibri"/>
              </a:rPr>
              <a:t>in the folder CDS 11 Guidance Documents. </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CSE Authorisation Exports Workaround</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Export declaration types A, B, or C, where a CSE authorisation is being claimed, the code '1CS' must be declared in D.E. 1/11 (Additional Procedure). </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this code is not included in the CDS Tariff Volume 3 completion rules as the Tariff Volume 3 reflects the end-state requirements for CDS and the code '1CS' has been introduced as a temporary code to be used in these scenarios. </a:t>
            </a:r>
          </a:p>
        </p:txBody>
      </p:sp>
      <p:sp>
        <p:nvSpPr>
          <p:cNvPr id="9" name="Rectangle 8">
            <a:extLst>
              <a:ext uri="{FF2B5EF4-FFF2-40B4-BE49-F238E27FC236}">
                <a16:creationId xmlns:a16="http://schemas.microsoft.com/office/drawing/2014/main" id="{1691C097-DF00-4A1A-AAAB-B7F7651C1747}"/>
              </a:ext>
            </a:extLst>
          </p:cNvPr>
          <p:cNvSpPr/>
          <p:nvPr/>
        </p:nvSpPr>
        <p:spPr>
          <a:xfrm rot="16200004">
            <a:off x="-409906" y="2028578"/>
            <a:ext cx="1936552" cy="239481"/>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sp>
        <p:nvSpPr>
          <p:cNvPr id="10" name="Slide Number Placeholder 5">
            <a:extLst>
              <a:ext uri="{FF2B5EF4-FFF2-40B4-BE49-F238E27FC236}">
                <a16:creationId xmlns:a16="http://schemas.microsoft.com/office/drawing/2014/main" id="{B9FB8159-344E-4E82-9161-2B9825404183}"/>
              </a:ext>
            </a:extLst>
          </p:cNvPr>
          <p:cNvSpPr txBox="1"/>
          <p:nvPr/>
        </p:nvSpPr>
        <p:spPr>
          <a:xfrm>
            <a:off x="11749518"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E42FAA7-B72B-42C9-9566-1F7E92EFE9A4}" type="slidenum">
              <a:rPr sz="1200"/>
              <a:t>23</a:t>
            </a:fld>
            <a:endParaRPr lang="en-GB" sz="1200" b="0" i="0" u="none" strike="noStrike" kern="1200" cap="none" spc="0" baseline="0" dirty="0">
              <a:solidFill>
                <a:srgbClr val="000000"/>
              </a:solidFill>
              <a:uFillTx/>
              <a:latin typeface="Calibri"/>
            </a:endParaRPr>
          </a:p>
        </p:txBody>
      </p:sp>
      <p:sp>
        <p:nvSpPr>
          <p:cNvPr id="11" name="Oval 36">
            <a:hlinkClick r:id="rId4" action="ppaction://hlinksldjump"/>
            <a:extLst>
              <a:ext uri="{FF2B5EF4-FFF2-40B4-BE49-F238E27FC236}">
                <a16:creationId xmlns:a16="http://schemas.microsoft.com/office/drawing/2014/main" id="{03B281D3-5133-495A-A12D-83FE3344660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37">
            <a:hlinkClick r:id="rId4" action="ppaction://hlinksldjump"/>
            <a:extLst>
              <a:ext uri="{FF2B5EF4-FFF2-40B4-BE49-F238E27FC236}">
                <a16:creationId xmlns:a16="http://schemas.microsoft.com/office/drawing/2014/main" id="{24ABA3DC-8E70-413D-BD7C-4324D27CEC85}"/>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38">
            <a:hlinkClick r:id="rId5" action="ppaction://hlinksldjump"/>
            <a:extLst>
              <a:ext uri="{FF2B5EF4-FFF2-40B4-BE49-F238E27FC236}">
                <a16:creationId xmlns:a16="http://schemas.microsoft.com/office/drawing/2014/main" id="{D479034E-41C3-4417-A97F-2AE45A38EEC2}"/>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39">
            <a:hlinkClick r:id="rId6" action="ppaction://hlinksldjump"/>
            <a:extLst>
              <a:ext uri="{FF2B5EF4-FFF2-40B4-BE49-F238E27FC236}">
                <a16:creationId xmlns:a16="http://schemas.microsoft.com/office/drawing/2014/main" id="{229119D0-D0BB-4FD1-ADD6-985CE2B74DC9}"/>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40">
            <a:hlinkClick r:id="rId4" action="ppaction://hlinksldjump"/>
            <a:extLst>
              <a:ext uri="{FF2B5EF4-FFF2-40B4-BE49-F238E27FC236}">
                <a16:creationId xmlns:a16="http://schemas.microsoft.com/office/drawing/2014/main" id="{08B108B1-E254-4A78-AF9B-9BB6E0BCA195}"/>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44">
            <a:hlinkClick r:id="rId4" action="ppaction://hlinksldjump"/>
            <a:extLst>
              <a:ext uri="{FF2B5EF4-FFF2-40B4-BE49-F238E27FC236}">
                <a16:creationId xmlns:a16="http://schemas.microsoft.com/office/drawing/2014/main" id="{3C8D4FDF-6B97-4E89-8C96-038DF69267A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7" name="TextBox 45">
            <a:hlinkClick r:id="rId5" action="ppaction://hlinksldjump"/>
            <a:extLst>
              <a:ext uri="{FF2B5EF4-FFF2-40B4-BE49-F238E27FC236}">
                <a16:creationId xmlns:a16="http://schemas.microsoft.com/office/drawing/2014/main" id="{F63A01E9-D0FC-4831-87AE-0916071F6BF9}"/>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8" name="TextBox 46">
            <a:hlinkClick r:id="rId5" action="ppaction://hlinksldjump"/>
            <a:extLst>
              <a:ext uri="{FF2B5EF4-FFF2-40B4-BE49-F238E27FC236}">
                <a16:creationId xmlns:a16="http://schemas.microsoft.com/office/drawing/2014/main" id="{A3BEAACB-93D2-4403-97A6-45D46E6F0DE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47">
            <a:extLst>
              <a:ext uri="{FF2B5EF4-FFF2-40B4-BE49-F238E27FC236}">
                <a16:creationId xmlns:a16="http://schemas.microsoft.com/office/drawing/2014/main" id="{9A2C2C14-F2D2-4793-9D92-F20308A50BE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48">
            <a:hlinkClick r:id="rId7" action="ppaction://hlinksldjump"/>
            <a:extLst>
              <a:ext uri="{FF2B5EF4-FFF2-40B4-BE49-F238E27FC236}">
                <a16:creationId xmlns:a16="http://schemas.microsoft.com/office/drawing/2014/main" id="{C4D7D889-6C78-48C0-8CCC-BD07CDD32ADC}"/>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hlinkClick r:id="rId4" action="ppaction://hlinksldjump"/>
            <a:extLst>
              <a:ext uri="{FF2B5EF4-FFF2-40B4-BE49-F238E27FC236}">
                <a16:creationId xmlns:a16="http://schemas.microsoft.com/office/drawing/2014/main" id="{70738FAD-84EA-4A20-ADC2-0D814F2FA812}"/>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0">
            <a:hlinkClick r:id="rId4" action="ppaction://hlinksldjump"/>
            <a:extLst>
              <a:ext uri="{FF2B5EF4-FFF2-40B4-BE49-F238E27FC236}">
                <a16:creationId xmlns:a16="http://schemas.microsoft.com/office/drawing/2014/main" id="{3AEF5F8C-81B7-42C4-82B2-954D0ACCD550}"/>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3" name="Picture 106" descr="57% HMRCppt logo">
            <a:extLst>
              <a:ext uri="{FF2B5EF4-FFF2-40B4-BE49-F238E27FC236}">
                <a16:creationId xmlns:a16="http://schemas.microsoft.com/office/drawing/2014/main" id="{8A76950B-CE90-E125-0E96-8ABADD578CBB}"/>
              </a:ext>
            </a:extLst>
          </p:cNvPr>
          <p:cNvPicPr>
            <a:picLocks noChangeAspect="1"/>
          </p:cNvPicPr>
          <p:nvPr/>
        </p:nvPicPr>
        <p:blipFill>
          <a:blip r:embed="rId9"/>
          <a:srcRect/>
          <a:stretch>
            <a:fillRect/>
          </a:stretch>
        </p:blipFill>
        <p:spPr>
          <a:xfrm>
            <a:off x="208287" y="6259936"/>
            <a:ext cx="813834" cy="500826"/>
          </a:xfrm>
          <a:prstGeom prst="rect">
            <a:avLst/>
          </a:prstGeom>
          <a:noFill/>
          <a:ln cap="flat">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838840308">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7A9F53AD-1B85-4C78-AD11-A3CCEA5853D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3FDA5904-8D53-40D1-A21D-0CCC374D07D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089890D-E2EC-49B6-9A73-18B0A3274D04}"/>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13">
            <a:extLst>
              <a:ext uri="{FF2B5EF4-FFF2-40B4-BE49-F238E27FC236}">
                <a16:creationId xmlns:a16="http://schemas.microsoft.com/office/drawing/2014/main" id="{CA58FDF2-1AAA-4416-A2D8-EF6707F52CD9}"/>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BF3AD470-948F-4624-9307-C1C8A08D3760}"/>
              </a:ext>
            </a:extLst>
          </p:cNvPr>
          <p:cNvSpPr/>
          <p:nvPr/>
        </p:nvSpPr>
        <p:spPr>
          <a:xfrm>
            <a:off x="354997" y="758412"/>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0" cap="none" spc="0" baseline="0">
                <a:solidFill>
                  <a:srgbClr val="000000"/>
                </a:solidFill>
                <a:uFillTx/>
                <a:latin typeface="Calibri"/>
              </a:rPr>
              <a:t>Inventory Linking</a:t>
            </a:r>
            <a:endParaRPr lang="en-GB" sz="1200" b="1"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1D6C3F7E-C265-4992-8352-AFC36FB6C7F3}"/>
              </a:ext>
            </a:extLst>
          </p:cNvPr>
          <p:cNvSpPr/>
          <p:nvPr/>
        </p:nvSpPr>
        <p:spPr>
          <a:xfrm>
            <a:off x="397910" y="1289102"/>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8" name="Rectangle 8">
            <a:extLst>
              <a:ext uri="{FF2B5EF4-FFF2-40B4-BE49-F238E27FC236}">
                <a16:creationId xmlns:a16="http://schemas.microsoft.com/office/drawing/2014/main" id="{3E56F867-1ABE-4A65-B1DC-05A9F084F6FB}"/>
              </a:ext>
            </a:extLst>
          </p:cNvPr>
          <p:cNvSpPr/>
          <p:nvPr/>
        </p:nvSpPr>
        <p:spPr>
          <a:xfrm>
            <a:off x="334871" y="1127747"/>
            <a:ext cx="209500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Imports Inventory Linking</a:t>
            </a:r>
          </a:p>
        </p:txBody>
      </p:sp>
      <p:graphicFrame>
        <p:nvGraphicFramePr>
          <p:cNvPr id="9" name="Table 12">
            <a:extLst>
              <a:ext uri="{FF2B5EF4-FFF2-40B4-BE49-F238E27FC236}">
                <a16:creationId xmlns:a16="http://schemas.microsoft.com/office/drawing/2014/main" id="{2B684015-A55D-4996-A8A5-481DB517CB44}"/>
              </a:ext>
            </a:extLst>
          </p:cNvPr>
          <p:cNvGraphicFramePr>
            <a:graphicFrameLocks noGrp="1"/>
          </p:cNvGraphicFramePr>
          <p:nvPr/>
        </p:nvGraphicFramePr>
        <p:xfrm>
          <a:off x="413427" y="1485259"/>
          <a:ext cx="11264228" cy="2699366"/>
        </p:xfrm>
        <a:graphic>
          <a:graphicData uri="http://schemas.openxmlformats.org/drawingml/2006/table">
            <a:tbl>
              <a:tblPr firstRow="1" bandRow="1">
                <a:effectLst/>
                <a:tableStyleId>{5C22544A-7EE6-4342-B048-85BDC9FD1C3A}</a:tableStyleId>
              </a:tblPr>
              <a:tblGrid>
                <a:gridCol w="7886663">
                  <a:extLst>
                    <a:ext uri="{9D8B030D-6E8A-4147-A177-3AD203B41FA5}">
                      <a16:colId xmlns:a16="http://schemas.microsoft.com/office/drawing/2014/main" val="3527992090"/>
                    </a:ext>
                  </a:extLst>
                </a:gridCol>
                <a:gridCol w="3377565">
                  <a:extLst>
                    <a:ext uri="{9D8B030D-6E8A-4147-A177-3AD203B41FA5}">
                      <a16:colId xmlns:a16="http://schemas.microsoft.com/office/drawing/2014/main" val="3049601168"/>
                    </a:ext>
                  </a:extLst>
                </a:gridCol>
              </a:tblGrid>
              <a:tr h="291446">
                <a:tc>
                  <a:txBody>
                    <a:bodyPr/>
                    <a:lstStyle/>
                    <a:p>
                      <a:pPr lvl="0"/>
                      <a:r>
                        <a:rPr lang="en-GB" sz="1200"/>
                        <a:t>External Test Scope</a:t>
                      </a:r>
                    </a:p>
                  </a:txBody>
                  <a:tcPr anchor="ctr">
                    <a:solidFill>
                      <a:srgbClr val="009999"/>
                    </a:solidFill>
                  </a:tcPr>
                </a:tc>
                <a:tc>
                  <a:txBody>
                    <a:bodyPr/>
                    <a:lstStyle/>
                    <a:p>
                      <a:pPr lvl="0"/>
                      <a:r>
                        <a:rPr lang="en-GB" sz="1200"/>
                        <a:t>Specific External Test Behaviour</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3823841970"/>
                  </a:ext>
                </a:extLst>
              </a:tr>
              <a:tr h="1444239">
                <a:tc>
                  <a:txBody>
                    <a:bodyPr/>
                    <a:lstStyle/>
                    <a:p>
                      <a:pPr lvl="0">
                        <a:spcAft>
                          <a:spcPts val="600"/>
                        </a:spcAft>
                      </a:pPr>
                      <a:r>
                        <a:rPr lang="en-GB" sz="1200"/>
                        <a:t>The inventory linking of frontier declarations (IM-A / IM-B / IM-C) or pre-lodged declaration (IM-D / IM-E / IM-F), as well as the arrival of inventory linked pre-lodged declarations, is in scope for CDS Trade Test.</a:t>
                      </a:r>
                    </a:p>
                    <a:p>
                      <a:pPr lvl="0">
                        <a:spcAft>
                          <a:spcPts val="600"/>
                        </a:spcAft>
                      </a:pPr>
                      <a:r>
                        <a:rPr lang="en-GB" sz="1200"/>
                        <a:t>For inventory-linked entries to the UK, CDS will send a message to the CSP inventory system so it can link the declaration to the consignment and update the inventory system with the declaration status and route of entry. For declarations that are not matched on input, CDS will look to re-validate the link.</a:t>
                      </a:r>
                    </a:p>
                    <a:p>
                      <a:pPr lvl="0">
                        <a:spcAft>
                          <a:spcPts val="600"/>
                        </a:spcAft>
                      </a:pPr>
                      <a:r>
                        <a:rPr lang="en-GB" sz="1200"/>
                        <a:t>The CSP inventory system consignment is linked with CDS by inventory consignment references (ICRs), which will be cross-referenced against the declaration and used to identify the consignment and declaration in subsequent messages between CDS and the CSP inventory system.</a:t>
                      </a:r>
                    </a:p>
                    <a:p>
                      <a:pPr lvl="0">
                        <a:spcAft>
                          <a:spcPts val="600"/>
                        </a:spcAft>
                      </a:pPr>
                      <a:r>
                        <a:rPr lang="en-GB" sz="1200"/>
                        <a:t>The ICR is declared as the master unique consignment reference (MUCR).</a:t>
                      </a:r>
                    </a:p>
                    <a:p>
                      <a:pPr lvl="0">
                        <a:spcAft>
                          <a:spcPts val="600"/>
                        </a:spcAft>
                      </a:pPr>
                      <a:r>
                        <a:rPr lang="en-GB" sz="1200"/>
                        <a:t>CSP inventory systems will be updated with significant changes during declaration processing with the import clearance status (ICS) of the declaration as it progresses towards customs clearance or its final state.</a:t>
                      </a:r>
                    </a:p>
                  </a:txBody>
                  <a:tcPr>
                    <a:solidFill>
                      <a:srgbClr val="F2F2F2"/>
                    </a:solidFill>
                  </a:tcPr>
                </a:tc>
                <a:tc>
                  <a:txBody>
                    <a:bodyPr/>
                    <a:lstStyle/>
                    <a:p>
                      <a:pPr lvl="0">
                        <a:spcAft>
                          <a:spcPts val="600"/>
                        </a:spcAft>
                      </a:pPr>
                      <a:r>
                        <a:rPr lang="en-GB" sz="1200" b="1" dirty="0"/>
                        <a:t>Negative Inventory Match Response followed by Amendment and Clearance</a:t>
                      </a:r>
                    </a:p>
                    <a:p>
                      <a:pPr lvl="0">
                        <a:spcAft>
                          <a:spcPts val="600"/>
                        </a:spcAft>
                      </a:pPr>
                      <a:r>
                        <a:rPr lang="en-GB" sz="1200" dirty="0"/>
                        <a:t>Trade Test supports the submission of an amendment or null amendment following an initial negative inventory match to trigger re-processing without waiting for the 24 hour timer to elapse in CDS Trade Test. </a:t>
                      </a:r>
                    </a:p>
                    <a:p>
                      <a:pPr lvl="0">
                        <a:spcAft>
                          <a:spcPts val="600"/>
                        </a:spcAft>
                      </a:pPr>
                      <a:r>
                        <a:rPr lang="en-GB" sz="1200" dirty="0"/>
                        <a:t>This 24 hour timer has been configured to facilitate testing in Trade Test only. In the Live CDS system, this timer will be 29 days.</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111060650"/>
                  </a:ext>
                </a:extLst>
              </a:tr>
            </a:tbl>
          </a:graphicData>
        </a:graphic>
      </p:graphicFrame>
      <p:sp>
        <p:nvSpPr>
          <p:cNvPr id="11" name="Slide Number Placeholder 5">
            <a:extLst>
              <a:ext uri="{FF2B5EF4-FFF2-40B4-BE49-F238E27FC236}">
                <a16:creationId xmlns:a16="http://schemas.microsoft.com/office/drawing/2014/main" id="{40D08B42-D640-4ACF-A6C3-DDD9BD9B9D00}"/>
              </a:ext>
            </a:extLst>
          </p:cNvPr>
          <p:cNvSpPr txBox="1"/>
          <p:nvPr/>
        </p:nvSpPr>
        <p:spPr>
          <a:xfrm>
            <a:off x="11717620"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ECA8A76-591C-4A52-9E36-D24462FEA88E}" type="slidenum">
              <a:rPr sz="1200"/>
              <a:t>24</a:t>
            </a:fld>
            <a:endParaRPr lang="en-GB" sz="1200" b="0" i="0" u="none" strike="noStrike" kern="1200" cap="none" spc="0" baseline="0" dirty="0">
              <a:solidFill>
                <a:srgbClr val="000000"/>
              </a:solidFill>
              <a:uFillTx/>
              <a:latin typeface="Calibri"/>
            </a:endParaRPr>
          </a:p>
        </p:txBody>
      </p:sp>
      <p:sp>
        <p:nvSpPr>
          <p:cNvPr id="12" name="Oval 56">
            <a:hlinkClick r:id="rId2" action="ppaction://hlinksldjump"/>
            <a:extLst>
              <a:ext uri="{FF2B5EF4-FFF2-40B4-BE49-F238E27FC236}">
                <a16:creationId xmlns:a16="http://schemas.microsoft.com/office/drawing/2014/main" id="{9FB06F2E-7A54-40DE-8F56-39FAA345B5C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57">
            <a:hlinkClick r:id="rId2" action="ppaction://hlinksldjump"/>
            <a:extLst>
              <a:ext uri="{FF2B5EF4-FFF2-40B4-BE49-F238E27FC236}">
                <a16:creationId xmlns:a16="http://schemas.microsoft.com/office/drawing/2014/main" id="{11A03878-8221-4D76-8217-2EBE038DAA8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58">
            <a:hlinkClick r:id="rId3" action="ppaction://hlinksldjump"/>
            <a:extLst>
              <a:ext uri="{FF2B5EF4-FFF2-40B4-BE49-F238E27FC236}">
                <a16:creationId xmlns:a16="http://schemas.microsoft.com/office/drawing/2014/main" id="{F3CD26B8-C7A3-443A-AC87-AAA1FB3D46D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59">
            <a:hlinkClick r:id="rId4" action="ppaction://hlinksldjump"/>
            <a:extLst>
              <a:ext uri="{FF2B5EF4-FFF2-40B4-BE49-F238E27FC236}">
                <a16:creationId xmlns:a16="http://schemas.microsoft.com/office/drawing/2014/main" id="{4C48CA1C-F7B3-4D1A-9AAC-9039C5BB83F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60">
            <a:hlinkClick r:id="rId2" action="ppaction://hlinksldjump"/>
            <a:extLst>
              <a:ext uri="{FF2B5EF4-FFF2-40B4-BE49-F238E27FC236}">
                <a16:creationId xmlns:a16="http://schemas.microsoft.com/office/drawing/2014/main" id="{47B43DAC-59A0-42BF-8FF4-886ACD99EECD}"/>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61">
            <a:hlinkClick r:id="rId2" action="ppaction://hlinksldjump"/>
            <a:extLst>
              <a:ext uri="{FF2B5EF4-FFF2-40B4-BE49-F238E27FC236}">
                <a16:creationId xmlns:a16="http://schemas.microsoft.com/office/drawing/2014/main" id="{D35CD10D-BB97-45EF-8F9D-17EF3E822ADD}"/>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8" name="TextBox 62">
            <a:hlinkClick r:id="rId3" action="ppaction://hlinksldjump"/>
            <a:extLst>
              <a:ext uri="{FF2B5EF4-FFF2-40B4-BE49-F238E27FC236}">
                <a16:creationId xmlns:a16="http://schemas.microsoft.com/office/drawing/2014/main" id="{7DEC51AB-9A9E-476D-965D-B1CD45A19F89}"/>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9" name="TextBox 63">
            <a:hlinkClick r:id="rId3" action="ppaction://hlinksldjump"/>
            <a:extLst>
              <a:ext uri="{FF2B5EF4-FFF2-40B4-BE49-F238E27FC236}">
                <a16:creationId xmlns:a16="http://schemas.microsoft.com/office/drawing/2014/main" id="{8C9E5C98-6020-4944-8E59-0EC227A610A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20" name="Oval 64">
            <a:extLst>
              <a:ext uri="{FF2B5EF4-FFF2-40B4-BE49-F238E27FC236}">
                <a16:creationId xmlns:a16="http://schemas.microsoft.com/office/drawing/2014/main" id="{2C77D88B-6C8C-4A8E-8A67-B1249BF2EB9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65">
            <a:hlinkClick r:id="rId5" action="ppaction://hlinksldjump"/>
            <a:extLst>
              <a:ext uri="{FF2B5EF4-FFF2-40B4-BE49-F238E27FC236}">
                <a16:creationId xmlns:a16="http://schemas.microsoft.com/office/drawing/2014/main" id="{BBEE24CD-62B5-4D26-AFAE-4405AACEC3C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2" action="ppaction://hlinksldjump"/>
            <a:extLst>
              <a:ext uri="{FF2B5EF4-FFF2-40B4-BE49-F238E27FC236}">
                <a16:creationId xmlns:a16="http://schemas.microsoft.com/office/drawing/2014/main" id="{1B625923-083D-48FC-B0CD-D8B7DC941101}"/>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67">
            <a:hlinkClick r:id="rId2" action="ppaction://hlinksldjump"/>
            <a:extLst>
              <a:ext uri="{FF2B5EF4-FFF2-40B4-BE49-F238E27FC236}">
                <a16:creationId xmlns:a16="http://schemas.microsoft.com/office/drawing/2014/main" id="{FE4BAD07-EC04-4DA9-B9A7-F28A05437464}"/>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4" name="Picture 106" descr="57% HMRCppt logo">
            <a:extLst>
              <a:ext uri="{FF2B5EF4-FFF2-40B4-BE49-F238E27FC236}">
                <a16:creationId xmlns:a16="http://schemas.microsoft.com/office/drawing/2014/main" id="{A87A5969-A89A-DCE7-2B18-B549B5CF699C}"/>
              </a:ext>
            </a:extLst>
          </p:cNvPr>
          <p:cNvPicPr>
            <a:picLocks noChangeAspect="1"/>
          </p:cNvPicPr>
          <p:nvPr/>
        </p:nvPicPr>
        <p:blipFill>
          <a:blip r:embed="rId7"/>
          <a:srcRect/>
          <a:stretch>
            <a:fillRect/>
          </a:stretch>
        </p:blipFill>
        <p:spPr>
          <a:xfrm>
            <a:off x="208287" y="6259936"/>
            <a:ext cx="813834" cy="500826"/>
          </a:xfrm>
          <a:prstGeom prst="rect">
            <a:avLst/>
          </a:prstGeom>
          <a:noFill/>
          <a:ln cap="flat">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838840309">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DADDD444-B8C4-4D76-B2D5-8FCA8DE5F81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691D8E7-C8BC-450F-9B36-DBF5D42619D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F2C419B-5A7F-4C6A-91B0-AE850885E607}"/>
              </a:ext>
            </a:extLst>
          </p:cNvPr>
          <p:cNvSpPr txBox="1"/>
          <p:nvPr/>
        </p:nvSpPr>
        <p:spPr>
          <a:xfrm>
            <a:off x="363967" y="248844"/>
            <a:ext cx="4269242"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13">
            <a:extLst>
              <a:ext uri="{FF2B5EF4-FFF2-40B4-BE49-F238E27FC236}">
                <a16:creationId xmlns:a16="http://schemas.microsoft.com/office/drawing/2014/main" id="{309B11A6-34EA-4D86-8A6D-2ECD1104D804}"/>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8DBB6517-BA31-41C7-8030-B3C00E584F81}"/>
              </a:ext>
            </a:extLst>
          </p:cNvPr>
          <p:cNvSpPr/>
          <p:nvPr/>
        </p:nvSpPr>
        <p:spPr>
          <a:xfrm>
            <a:off x="354997" y="758412"/>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0" cap="none" spc="0" baseline="0">
                <a:solidFill>
                  <a:srgbClr val="000000"/>
                </a:solidFill>
                <a:uFillTx/>
                <a:latin typeface="Calibri"/>
              </a:rPr>
              <a:t>Inventory Linking</a:t>
            </a:r>
            <a:endParaRPr lang="en-GB" sz="1200" b="1" i="0" u="none" strike="noStrike" kern="1200" cap="none" spc="0" baseline="0">
              <a:solidFill>
                <a:srgbClr val="000000"/>
              </a:solidFill>
              <a:uFillTx/>
              <a:latin typeface="Calibri"/>
            </a:endParaRPr>
          </a:p>
        </p:txBody>
      </p:sp>
      <p:sp>
        <p:nvSpPr>
          <p:cNvPr id="7" name="Rectangle 5">
            <a:extLst>
              <a:ext uri="{FF2B5EF4-FFF2-40B4-BE49-F238E27FC236}">
                <a16:creationId xmlns:a16="http://schemas.microsoft.com/office/drawing/2014/main" id="{B32983D8-4471-4FFD-8BFF-4F245190FD3B}"/>
              </a:ext>
            </a:extLst>
          </p:cNvPr>
          <p:cNvSpPr/>
          <p:nvPr/>
        </p:nvSpPr>
        <p:spPr>
          <a:xfrm>
            <a:off x="382749" y="1210281"/>
            <a:ext cx="4434227"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Exports Inventory Linking: Location-Based Authorisations</a:t>
            </a:r>
          </a:p>
        </p:txBody>
      </p:sp>
      <p:graphicFrame>
        <p:nvGraphicFramePr>
          <p:cNvPr id="8" name="Table 4">
            <a:extLst>
              <a:ext uri="{FF2B5EF4-FFF2-40B4-BE49-F238E27FC236}">
                <a16:creationId xmlns:a16="http://schemas.microsoft.com/office/drawing/2014/main" id="{FA6D5C14-91AE-4F20-9779-47FD4A2D9C88}"/>
              </a:ext>
            </a:extLst>
          </p:cNvPr>
          <p:cNvGraphicFramePr>
            <a:graphicFrameLocks noGrp="1"/>
          </p:cNvGraphicFramePr>
          <p:nvPr/>
        </p:nvGraphicFramePr>
        <p:xfrm>
          <a:off x="440923" y="1577166"/>
          <a:ext cx="11083213" cy="2194560"/>
        </p:xfrm>
        <a:graphic>
          <a:graphicData uri="http://schemas.openxmlformats.org/drawingml/2006/table">
            <a:tbl>
              <a:tblPr firstRow="1" bandRow="1">
                <a:effectLst/>
                <a:tableStyleId>{5C22544A-7EE6-4342-B048-85BDC9FD1C3A}</a:tableStyleId>
              </a:tblPr>
              <a:tblGrid>
                <a:gridCol w="5636023">
                  <a:extLst>
                    <a:ext uri="{9D8B030D-6E8A-4147-A177-3AD203B41FA5}">
                      <a16:colId xmlns:a16="http://schemas.microsoft.com/office/drawing/2014/main" val="2831600866"/>
                    </a:ext>
                  </a:extLst>
                </a:gridCol>
                <a:gridCol w="5447190">
                  <a:extLst>
                    <a:ext uri="{9D8B030D-6E8A-4147-A177-3AD203B41FA5}">
                      <a16:colId xmlns:a16="http://schemas.microsoft.com/office/drawing/2014/main" val="1401444958"/>
                    </a:ext>
                  </a:extLst>
                </a:gridCol>
              </a:tblGrid>
              <a:tr h="0">
                <a:tc>
                  <a:txBody>
                    <a:bodyPr/>
                    <a:lstStyle/>
                    <a:p>
                      <a:pPr marL="0" marR="0" lvl="0" indent="0" algn="l" defTabSz="914400" rtl="0" fontAlgn="auto" hangingPunct="1">
                        <a:lnSpc>
                          <a:spcPct val="100000"/>
                        </a:lnSpc>
                        <a:spcBef>
                          <a:spcPts val="0"/>
                        </a:spcBef>
                        <a:spcAft>
                          <a:spcPts val="0"/>
                        </a:spcAft>
                        <a:buNone/>
                        <a:tabLst/>
                      </a:pPr>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2469082039"/>
                  </a:ext>
                </a:extLst>
              </a:tr>
              <a:tr h="746790">
                <a:tc>
                  <a:txBody>
                    <a:bodyPr/>
                    <a:lstStyle/>
                    <a:p>
                      <a:pPr lvl="0"/>
                      <a:r>
                        <a:rPr lang="en-GB" sz="1200"/>
                        <a:t>Trade Test and Trader Dress Rehearsal support a broader range of exports frontier movements. This includes the following capabilities:</a:t>
                      </a:r>
                    </a:p>
                    <a:p>
                      <a:pPr marL="285750" lvl="0" indent="-285750">
                        <a:buSzPct val="100000"/>
                        <a:buFont typeface="Arial" pitchFamily="34"/>
                        <a:buChar char="•"/>
                      </a:pPr>
                      <a:r>
                        <a:rPr lang="en-GB" sz="1200"/>
                        <a:t>Submission of Type A, B, C D, E, F J and K declarations.</a:t>
                      </a:r>
                    </a:p>
                    <a:p>
                      <a:pPr marL="285750" lvl="0" indent="-285750">
                        <a:buSzPct val="100000"/>
                        <a:buFont typeface="Arial" pitchFamily="34"/>
                        <a:buChar char="•"/>
                      </a:pPr>
                      <a:r>
                        <a:rPr lang="en-GB" sz="1200"/>
                        <a:t>Singular arrival and departure of a declaration</a:t>
                      </a:r>
                    </a:p>
                    <a:p>
                      <a:pPr marL="285750" lvl="0" indent="-285750">
                        <a:buSzPct val="100000"/>
                        <a:buFont typeface="Arial" pitchFamily="34"/>
                        <a:buChar char="•"/>
                      </a:pPr>
                      <a:r>
                        <a:rPr lang="en-GB" sz="1200"/>
                        <a:t>Consolidations</a:t>
                      </a:r>
                    </a:p>
                    <a:p>
                      <a:pPr marL="285750" lvl="0" indent="-285750">
                        <a:buSzPct val="100000"/>
                        <a:buFont typeface="Arial" pitchFamily="34"/>
                        <a:buChar char="•"/>
                      </a:pPr>
                      <a:r>
                        <a:rPr lang="en-GB" sz="1200"/>
                        <a:t>Multiple arrivals and departures of a declaration, including from multiple locations.</a:t>
                      </a:r>
                    </a:p>
                    <a:p>
                      <a:pPr marL="285750" lvl="0" indent="-285750">
                        <a:buSzPct val="100000"/>
                        <a:buFont typeface="Arial" pitchFamily="34"/>
                        <a:buChar char="•"/>
                      </a:pPr>
                      <a:r>
                        <a:rPr lang="en-GB" sz="1200">
                          <a:solidFill>
                            <a:srgbClr val="000000"/>
                          </a:solidFill>
                        </a:rPr>
                        <a:t>Movements and consolidations sent to CDS for MUCRs and DUCRs (declarations) present in CHIEF HMUT (CDS-CHIEF Inventory Linking Exports Dual Running). Not available in TDR. </a:t>
                      </a:r>
                      <a:endParaRPr lang="en-GB" sz="1200">
                        <a:solidFill>
                          <a:srgbClr val="000000"/>
                        </a:solidFill>
                        <a:ea typeface="Arial" pitchFamily="34"/>
                      </a:endParaRPr>
                    </a:p>
                  </a:txBody>
                  <a:tcPr>
                    <a:lnR w="57150" cap="flat" cmpd="sng" algn="ctr">
                      <a:solidFill>
                        <a:srgbClr val="FFFFFF"/>
                      </a:solidFill>
                      <a:prstDash val="solid"/>
                      <a:round/>
                      <a:headEnd type="none" w="med" len="med"/>
                      <a:tailEnd type="none" w="med" len="med"/>
                    </a:lnR>
                    <a:solidFill>
                      <a:srgbClr val="F2F2F2"/>
                    </a:solidFill>
                  </a:tcPr>
                </a:tc>
                <a:tc>
                  <a:txBody>
                    <a:bodyPr/>
                    <a:lstStyle/>
                    <a:p>
                      <a:pPr lvl="0"/>
                      <a:r>
                        <a:rPr lang="en-GB" sz="1200" dirty="0"/>
                        <a:t>Please note that, due to a technical constraint, testing is confined to the </a:t>
                      </a:r>
                      <a:r>
                        <a:rPr lang="en-GB" sz="1200" b="1" dirty="0"/>
                        <a:t>use of a limited set of CDS location codes </a:t>
                      </a:r>
                      <a:r>
                        <a:rPr lang="en-GB" sz="1200" dirty="0"/>
                        <a:t>allocated to pre-defined EORIs. Users will be provided with pre-authorised EORI numbers specifically for the trade test environment through a shared EORI ‘library.’ As TDR uses real data, available locations will be based on loaders authorised locations. </a:t>
                      </a:r>
                    </a:p>
                    <a:p>
                      <a:pPr lvl="0"/>
                      <a:endParaRPr lang="en-GB" sz="1200" dirty="0"/>
                    </a:p>
                    <a:p>
                      <a:pPr lvl="0"/>
                      <a:r>
                        <a:rPr lang="en-GB" sz="1200" dirty="0"/>
                        <a:t>Please see the Test Data Library for further details. </a:t>
                      </a:r>
                    </a:p>
                    <a:p>
                      <a:pPr lvl="0"/>
                      <a:endParaRPr lang="en-GB" sz="1200" dirty="0"/>
                    </a:p>
                    <a:p>
                      <a:pPr marL="0" marR="0" lvl="0" indent="0" algn="l" defTabSz="914400" rtl="0" fontAlgn="auto" hangingPunct="1">
                        <a:lnSpc>
                          <a:spcPct val="100000"/>
                        </a:lnSpc>
                        <a:spcBef>
                          <a:spcPts val="0"/>
                        </a:spcBef>
                        <a:spcAft>
                          <a:spcPts val="0"/>
                        </a:spcAft>
                        <a:buNone/>
                        <a:tabLst/>
                      </a:pPr>
                      <a:r>
                        <a:rPr lang="en-GB" sz="1200" dirty="0"/>
                        <a:t>Please note, CSPs will be separately notified of the EORIs to use when testing Exports Dual Running (not available in TDR).</a:t>
                      </a:r>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991565271"/>
                  </a:ext>
                </a:extLst>
              </a:tr>
            </a:tbl>
          </a:graphicData>
        </a:graphic>
      </p:graphicFrame>
      <p:sp>
        <p:nvSpPr>
          <p:cNvPr id="9" name="Rectangle 9">
            <a:extLst>
              <a:ext uri="{FF2B5EF4-FFF2-40B4-BE49-F238E27FC236}">
                <a16:creationId xmlns:a16="http://schemas.microsoft.com/office/drawing/2014/main" id="{A695A7CC-93A5-4EA5-8723-07A0F1AA937E}"/>
              </a:ext>
            </a:extLst>
          </p:cNvPr>
          <p:cNvSpPr/>
          <p:nvPr/>
        </p:nvSpPr>
        <p:spPr>
          <a:xfrm>
            <a:off x="440923" y="3831025"/>
            <a:ext cx="11051996" cy="1248786"/>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Rectangle 44">
            <a:extLst>
              <a:ext uri="{FF2B5EF4-FFF2-40B4-BE49-F238E27FC236}">
                <a16:creationId xmlns:a16="http://schemas.microsoft.com/office/drawing/2014/main" id="{AE12D9FA-993E-44D1-B920-254FF509CBB7}"/>
              </a:ext>
            </a:extLst>
          </p:cNvPr>
          <p:cNvSpPr/>
          <p:nvPr/>
        </p:nvSpPr>
        <p:spPr>
          <a:xfrm rot="16200004">
            <a:off x="28671" y="4243269"/>
            <a:ext cx="1248786" cy="424281"/>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11" name="TextBox 11">
            <a:extLst>
              <a:ext uri="{FF2B5EF4-FFF2-40B4-BE49-F238E27FC236}">
                <a16:creationId xmlns:a16="http://schemas.microsoft.com/office/drawing/2014/main" id="{1D7DC23C-8E59-434F-8130-D57398001D57}"/>
              </a:ext>
            </a:extLst>
          </p:cNvPr>
          <p:cNvSpPr txBox="1"/>
          <p:nvPr/>
        </p:nvSpPr>
        <p:spPr>
          <a:xfrm>
            <a:off x="862516" y="4224582"/>
            <a:ext cx="10508293" cy="276999"/>
          </a:xfrm>
          <a:prstGeom prst="rect">
            <a:avLst/>
          </a:prstGeom>
          <a:noFill/>
          <a:ln cap="flat">
            <a:noFill/>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0"/>
              </a:spcAft>
              <a:buSzPct val="100000"/>
              <a:buFont typeface="Calibri Light"/>
              <a:buAutoNum type="arabicPeriod"/>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TT_EX01a  -  </a:t>
            </a:r>
            <a:r>
              <a:rPr lang="en-GB" sz="1200" b="0" i="0" u="none" strike="noStrike" kern="1200" cap="none" spc="0" baseline="0">
                <a:solidFill>
                  <a:srgbClr val="000000"/>
                </a:solidFill>
                <a:uFillTx/>
                <a:latin typeface="Calibri" pitchFamily="34"/>
              </a:rPr>
              <a:t>Exports-Inventory linked Type D Maritime declaration with one MUCR and one DUCR, arrived and departed at MUCR level</a:t>
            </a:r>
            <a:endParaRPr lang="en-GB" sz="1200" b="1" i="0" u="none" strike="noStrike" kern="1200" cap="none" spc="0" baseline="0">
              <a:solidFill>
                <a:srgbClr val="000000"/>
              </a:solidFill>
              <a:uFillTx/>
              <a:latin typeface="Calibri" pitchFamily="34"/>
            </a:endParaRPr>
          </a:p>
        </p:txBody>
      </p:sp>
      <p:sp>
        <p:nvSpPr>
          <p:cNvPr id="13" name="Slide Number Placeholder 5">
            <a:extLst>
              <a:ext uri="{FF2B5EF4-FFF2-40B4-BE49-F238E27FC236}">
                <a16:creationId xmlns:a16="http://schemas.microsoft.com/office/drawing/2014/main" id="{9119FFC8-C73D-417F-80B4-3BCFF82CD8DE}"/>
              </a:ext>
            </a:extLst>
          </p:cNvPr>
          <p:cNvSpPr txBox="1"/>
          <p:nvPr/>
        </p:nvSpPr>
        <p:spPr>
          <a:xfrm>
            <a:off x="1173888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D75D153-D47C-48C4-A1E7-9FACF2E3E9C8}" type="slidenum">
              <a:rPr sz="1200"/>
              <a:t>25</a:t>
            </a:fld>
            <a:endParaRPr lang="en-GB" sz="1200" b="0" i="0" u="none" strike="noStrike" kern="1200" cap="none" spc="0" baseline="0" dirty="0">
              <a:solidFill>
                <a:srgbClr val="000000"/>
              </a:solidFill>
              <a:uFillTx/>
              <a:latin typeface="Calibri"/>
            </a:endParaRPr>
          </a:p>
        </p:txBody>
      </p:sp>
      <p:sp>
        <p:nvSpPr>
          <p:cNvPr id="14" name="Oval 28">
            <a:hlinkClick r:id="rId2" action="ppaction://hlinksldjump"/>
            <a:extLst>
              <a:ext uri="{FF2B5EF4-FFF2-40B4-BE49-F238E27FC236}">
                <a16:creationId xmlns:a16="http://schemas.microsoft.com/office/drawing/2014/main" id="{2E6C0044-37A9-47E2-A538-53598EF0AB1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29">
            <a:hlinkClick r:id="rId2" action="ppaction://hlinksldjump"/>
            <a:extLst>
              <a:ext uri="{FF2B5EF4-FFF2-40B4-BE49-F238E27FC236}">
                <a16:creationId xmlns:a16="http://schemas.microsoft.com/office/drawing/2014/main" id="{8A40EDB4-DA72-4EC5-8D9F-8705D9F2252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30">
            <a:hlinkClick r:id="rId3" action="ppaction://hlinksldjump"/>
            <a:extLst>
              <a:ext uri="{FF2B5EF4-FFF2-40B4-BE49-F238E27FC236}">
                <a16:creationId xmlns:a16="http://schemas.microsoft.com/office/drawing/2014/main" id="{0A6CC967-A06D-405F-AF9F-640D980ED39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31">
            <a:hlinkClick r:id="rId4" action="ppaction://hlinksldjump"/>
            <a:extLst>
              <a:ext uri="{FF2B5EF4-FFF2-40B4-BE49-F238E27FC236}">
                <a16:creationId xmlns:a16="http://schemas.microsoft.com/office/drawing/2014/main" id="{7CC80484-CC88-4545-B66A-2C1F1E7FBC2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32">
            <a:hlinkClick r:id="rId2" action="ppaction://hlinksldjump"/>
            <a:extLst>
              <a:ext uri="{FF2B5EF4-FFF2-40B4-BE49-F238E27FC236}">
                <a16:creationId xmlns:a16="http://schemas.microsoft.com/office/drawing/2014/main" id="{69F00793-D980-4D5B-8F3C-1D21047F820E}"/>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33">
            <a:hlinkClick r:id="rId2" action="ppaction://hlinksldjump"/>
            <a:extLst>
              <a:ext uri="{FF2B5EF4-FFF2-40B4-BE49-F238E27FC236}">
                <a16:creationId xmlns:a16="http://schemas.microsoft.com/office/drawing/2014/main" id="{97E1619A-2602-444D-BBB8-641BB650BA84}"/>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0" name="TextBox 34">
            <a:hlinkClick r:id="rId3" action="ppaction://hlinksldjump"/>
            <a:extLst>
              <a:ext uri="{FF2B5EF4-FFF2-40B4-BE49-F238E27FC236}">
                <a16:creationId xmlns:a16="http://schemas.microsoft.com/office/drawing/2014/main" id="{BE160FB2-C897-4142-9588-69E25463AA5F}"/>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1" name="TextBox 35">
            <a:hlinkClick r:id="rId3" action="ppaction://hlinksldjump"/>
            <a:extLst>
              <a:ext uri="{FF2B5EF4-FFF2-40B4-BE49-F238E27FC236}">
                <a16:creationId xmlns:a16="http://schemas.microsoft.com/office/drawing/2014/main" id="{26CC2BB3-B7AE-48D8-804A-0D87E4A1F87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36">
            <a:extLst>
              <a:ext uri="{FF2B5EF4-FFF2-40B4-BE49-F238E27FC236}">
                <a16:creationId xmlns:a16="http://schemas.microsoft.com/office/drawing/2014/main" id="{901194C2-F8C4-472F-B8F3-66E61354713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37">
            <a:hlinkClick r:id="rId5" action="ppaction://hlinksldjump"/>
            <a:extLst>
              <a:ext uri="{FF2B5EF4-FFF2-40B4-BE49-F238E27FC236}">
                <a16:creationId xmlns:a16="http://schemas.microsoft.com/office/drawing/2014/main" id="{0ABF8A33-3433-4D29-ABF4-B69E68E4A567}"/>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2" action="ppaction://hlinksldjump"/>
            <a:extLst>
              <a:ext uri="{FF2B5EF4-FFF2-40B4-BE49-F238E27FC236}">
                <a16:creationId xmlns:a16="http://schemas.microsoft.com/office/drawing/2014/main" id="{6DAEE16B-FCB1-497B-A34D-0B94F2BA7FEF}"/>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39">
            <a:hlinkClick r:id="rId2" action="ppaction://hlinksldjump"/>
            <a:extLst>
              <a:ext uri="{FF2B5EF4-FFF2-40B4-BE49-F238E27FC236}">
                <a16:creationId xmlns:a16="http://schemas.microsoft.com/office/drawing/2014/main" id="{897310EA-353C-4E66-AB2A-DA62FD5417B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6" name="Picture 106" descr="57% HMRCppt logo">
            <a:extLst>
              <a:ext uri="{FF2B5EF4-FFF2-40B4-BE49-F238E27FC236}">
                <a16:creationId xmlns:a16="http://schemas.microsoft.com/office/drawing/2014/main" id="{B39416FF-36DD-120D-2623-65EE4F370D0E}"/>
              </a:ext>
            </a:extLst>
          </p:cNvPr>
          <p:cNvPicPr>
            <a:picLocks noChangeAspect="1"/>
          </p:cNvPicPr>
          <p:nvPr/>
        </p:nvPicPr>
        <p:blipFill>
          <a:blip r:embed="rId7"/>
          <a:srcRect/>
          <a:stretch>
            <a:fillRect/>
          </a:stretch>
        </p:blipFill>
        <p:spPr>
          <a:xfrm>
            <a:off x="208287" y="6259936"/>
            <a:ext cx="813834" cy="500826"/>
          </a:xfrm>
          <a:prstGeom prst="rect">
            <a:avLst/>
          </a:prstGeom>
          <a:noFill/>
          <a:ln cap="flat">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838840310">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D1C88665-A557-4FCF-A661-A11F4A3BBDF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A22AAD3-D9E1-4252-BEC7-EF6FBE634F4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70CC26C-EA97-46EB-AC5C-C779305DDF41}"/>
              </a:ext>
            </a:extLst>
          </p:cNvPr>
          <p:cNvSpPr txBox="1"/>
          <p:nvPr/>
        </p:nvSpPr>
        <p:spPr>
          <a:xfrm>
            <a:off x="363967" y="248844"/>
            <a:ext cx="4269242"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13">
            <a:extLst>
              <a:ext uri="{FF2B5EF4-FFF2-40B4-BE49-F238E27FC236}">
                <a16:creationId xmlns:a16="http://schemas.microsoft.com/office/drawing/2014/main" id="{953D12E9-E1BA-4897-BBC4-51BA73EF09FD}"/>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D87C794D-391B-4045-B688-109F40E31815}"/>
              </a:ext>
            </a:extLst>
          </p:cNvPr>
          <p:cNvSpPr/>
          <p:nvPr/>
        </p:nvSpPr>
        <p:spPr>
          <a:xfrm>
            <a:off x="354997" y="758412"/>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0" cap="none" spc="0" baseline="0">
                <a:solidFill>
                  <a:srgbClr val="000000"/>
                </a:solidFill>
                <a:uFillTx/>
                <a:latin typeface="Calibri"/>
              </a:rPr>
              <a:t>Inventory Linking</a:t>
            </a:r>
            <a:endParaRPr lang="en-GB" sz="1200" b="1" i="0" u="none" strike="noStrike" kern="1200" cap="none" spc="0" baseline="0">
              <a:solidFill>
                <a:srgbClr val="000000"/>
              </a:solidFill>
              <a:uFillTx/>
              <a:latin typeface="Calibri"/>
            </a:endParaRPr>
          </a:p>
        </p:txBody>
      </p:sp>
      <p:sp>
        <p:nvSpPr>
          <p:cNvPr id="7" name="Rectangle 5">
            <a:extLst>
              <a:ext uri="{FF2B5EF4-FFF2-40B4-BE49-F238E27FC236}">
                <a16:creationId xmlns:a16="http://schemas.microsoft.com/office/drawing/2014/main" id="{82B4A59B-08BF-485C-961C-3B770148B543}"/>
              </a:ext>
            </a:extLst>
          </p:cNvPr>
          <p:cNvSpPr/>
          <p:nvPr/>
        </p:nvSpPr>
        <p:spPr>
          <a:xfrm>
            <a:off x="382749" y="1210281"/>
            <a:ext cx="3101233"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pitchFamily="34"/>
                <a:ea typeface="Calibri" pitchFamily="34"/>
              </a:rPr>
              <a:t>CDS Dual Running: DUCR Part Numbers</a:t>
            </a:r>
            <a:endParaRPr lang="en-GB" sz="1400" b="1" i="0" u="none" strike="noStrike" kern="1200" cap="none" spc="0" baseline="0">
              <a:solidFill>
                <a:srgbClr val="000000"/>
              </a:solidFill>
              <a:uFillTx/>
              <a:latin typeface="Calibri"/>
            </a:endParaRPr>
          </a:p>
        </p:txBody>
      </p:sp>
      <p:graphicFrame>
        <p:nvGraphicFramePr>
          <p:cNvPr id="8" name="Table 4">
            <a:extLst>
              <a:ext uri="{FF2B5EF4-FFF2-40B4-BE49-F238E27FC236}">
                <a16:creationId xmlns:a16="http://schemas.microsoft.com/office/drawing/2014/main" id="{CD20383C-1524-4FCD-A696-2DF069868657}"/>
              </a:ext>
            </a:extLst>
          </p:cNvPr>
          <p:cNvGraphicFramePr>
            <a:graphicFrameLocks noGrp="1"/>
          </p:cNvGraphicFramePr>
          <p:nvPr/>
        </p:nvGraphicFramePr>
        <p:xfrm>
          <a:off x="440923" y="1577166"/>
          <a:ext cx="11103879" cy="1828800"/>
        </p:xfrm>
        <a:graphic>
          <a:graphicData uri="http://schemas.openxmlformats.org/drawingml/2006/table">
            <a:tbl>
              <a:tblPr firstRow="1" bandRow="1">
                <a:effectLst/>
                <a:tableStyleId>{5C22544A-7EE6-4342-B048-85BDC9FD1C3A}</a:tableStyleId>
              </a:tblPr>
              <a:tblGrid>
                <a:gridCol w="11103879">
                  <a:extLst>
                    <a:ext uri="{9D8B030D-6E8A-4147-A177-3AD203B41FA5}">
                      <a16:colId xmlns:a16="http://schemas.microsoft.com/office/drawing/2014/main" val="3248064041"/>
                    </a:ext>
                  </a:extLst>
                </a:gridCol>
              </a:tblGrid>
              <a:tr h="0">
                <a:tc>
                  <a:txBody>
                    <a:bodyPr/>
                    <a:lstStyle/>
                    <a:p>
                      <a:pPr marL="0" marR="0" lvl="0" indent="0" algn="l" defTabSz="914400" rtl="0" fontAlgn="auto" hangingPunct="1">
                        <a:lnSpc>
                          <a:spcPct val="100000"/>
                        </a:lnSpc>
                        <a:spcBef>
                          <a:spcPts val="0"/>
                        </a:spcBef>
                        <a:spcAft>
                          <a:spcPts val="0"/>
                        </a:spcAft>
                        <a:buNone/>
                        <a:tabLst/>
                      </a:pPr>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extLst>
                  <a:ext uri="{0D108BD9-81ED-4DB2-BD59-A6C34878D82A}">
                    <a16:rowId xmlns:a16="http://schemas.microsoft.com/office/drawing/2014/main" val="393351253"/>
                  </a:ext>
                </a:extLst>
              </a:tr>
              <a:tr h="746790">
                <a:tc>
                  <a:txBody>
                    <a:bodyPr/>
                    <a:lstStyle/>
                    <a:p>
                      <a:pPr lvl="0"/>
                      <a:r>
                        <a:rPr lang="en-GB" sz="1200" i="0" u="none" strike="noStrike" dirty="0">
                          <a:solidFill>
                            <a:srgbClr val="000000"/>
                          </a:solidFill>
                        </a:rPr>
                        <a:t>To facilitate CDS/CHIEF exports dual running, CDS introduced functionality which allows for the DUCR Part ID to be provided in all inventory linking requests. </a:t>
                      </a:r>
                    </a:p>
                    <a:p>
                      <a:pPr lvl="0"/>
                      <a:r>
                        <a:rPr lang="en-GB" sz="1200" i="0" u="none" strike="noStrike" dirty="0">
                          <a:solidFill>
                            <a:srgbClr val="000000"/>
                          </a:solidFill>
                        </a:rPr>
                        <a:t>As part of this functionality –</a:t>
                      </a:r>
                    </a:p>
                    <a:p>
                      <a:pPr marL="171450" lvl="0" indent="-171450">
                        <a:buSzPct val="100000"/>
                        <a:buFont typeface="Arial" pitchFamily="34"/>
                        <a:buChar char="•"/>
                      </a:pPr>
                      <a:r>
                        <a:rPr lang="en-GB" sz="1200" dirty="0">
                          <a:solidFill>
                            <a:srgbClr val="000000"/>
                          </a:solidFill>
                        </a:rPr>
                        <a:t>CSP Loaders/Consolidators will be able to include a DUCR Part ID in their inventory linking messages (i.e. EAA, EAL, EDL and EAC).</a:t>
                      </a:r>
                    </a:p>
                    <a:p>
                      <a:pPr marL="171450" lvl="0" indent="-171450">
                        <a:buSzPct val="100000"/>
                        <a:buFont typeface="Arial" pitchFamily="34"/>
                        <a:buChar char="•"/>
                      </a:pPr>
                      <a:r>
                        <a:rPr lang="en-GB" sz="1200" dirty="0">
                          <a:solidFill>
                            <a:srgbClr val="000000"/>
                          </a:solidFill>
                        </a:rPr>
                        <a:t>CDS will be able to receive the DUCR and Part ID on all inventory linking requests for movements and check whether the DUCR exists in CDS. If the DUCR is not recognised, CDS will send the request to CHIEF.</a:t>
                      </a:r>
                    </a:p>
                    <a:p>
                      <a:pPr marL="171450" lvl="0" indent="-171450">
                        <a:buSzPct val="100000"/>
                        <a:buFont typeface="Arial" pitchFamily="34"/>
                        <a:buChar char="•"/>
                      </a:pPr>
                      <a:r>
                        <a:rPr lang="en-GB" sz="1200" dirty="0">
                          <a:solidFill>
                            <a:srgbClr val="000000"/>
                          </a:solidFill>
                        </a:rPr>
                        <a:t>For a CDS declaration, CDS will always return the most recent DUCR Part ID that was received in a movement request (i.e. the last movement/consolidation). If a DUCR Part ID is present in a response from ILE, all subsequent control notifications from CDS will include the DUCR Part ID.</a:t>
                      </a:r>
                    </a:p>
                    <a:p>
                      <a:pPr marL="171450" lvl="0" indent="-171450">
                        <a:buSzPct val="100000"/>
                        <a:buFont typeface="Arial" pitchFamily="34"/>
                        <a:buChar char="•"/>
                      </a:pPr>
                      <a:r>
                        <a:rPr lang="en-GB" sz="1200" dirty="0">
                          <a:solidFill>
                            <a:srgbClr val="000000"/>
                          </a:solidFill>
                        </a:rPr>
                        <a:t>DUCR part numbers are also available in TDR but as with all exports activity TDR does not send requests to CHIEF.</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4146171430"/>
                  </a:ext>
                </a:extLst>
              </a:tr>
            </a:tbl>
          </a:graphicData>
        </a:graphic>
      </p:graphicFrame>
      <p:sp>
        <p:nvSpPr>
          <p:cNvPr id="9" name="Rectangle 9">
            <a:extLst>
              <a:ext uri="{FF2B5EF4-FFF2-40B4-BE49-F238E27FC236}">
                <a16:creationId xmlns:a16="http://schemas.microsoft.com/office/drawing/2014/main" id="{94F8C792-1187-49D5-A095-2838160AC1E0}"/>
              </a:ext>
            </a:extLst>
          </p:cNvPr>
          <p:cNvSpPr/>
          <p:nvPr/>
        </p:nvSpPr>
        <p:spPr>
          <a:xfrm>
            <a:off x="440923" y="3699598"/>
            <a:ext cx="11103879" cy="1094838"/>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Rectangle 44">
            <a:extLst>
              <a:ext uri="{FF2B5EF4-FFF2-40B4-BE49-F238E27FC236}">
                <a16:creationId xmlns:a16="http://schemas.microsoft.com/office/drawing/2014/main" id="{1D64945B-BFB0-4D7B-9A0C-7755FB3EDE0F}"/>
              </a:ext>
            </a:extLst>
          </p:cNvPr>
          <p:cNvSpPr/>
          <p:nvPr/>
        </p:nvSpPr>
        <p:spPr>
          <a:xfrm rot="16200004">
            <a:off x="132899" y="4007632"/>
            <a:ext cx="1094838" cy="478770"/>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11" name="TextBox 11">
            <a:extLst>
              <a:ext uri="{FF2B5EF4-FFF2-40B4-BE49-F238E27FC236}">
                <a16:creationId xmlns:a16="http://schemas.microsoft.com/office/drawing/2014/main" id="{20C0D25B-E155-489B-8690-2D1FEB67CBC0}"/>
              </a:ext>
            </a:extLst>
          </p:cNvPr>
          <p:cNvSpPr txBox="1"/>
          <p:nvPr/>
        </p:nvSpPr>
        <p:spPr>
          <a:xfrm>
            <a:off x="919694" y="3985750"/>
            <a:ext cx="10401921" cy="64633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TT_EX12a - </a:t>
            </a:r>
            <a:r>
              <a:rPr lang="en-GB" sz="1200" b="0" i="0" u="none" strike="noStrike" kern="1200" cap="none" spc="0" baseline="0">
                <a:solidFill>
                  <a:srgbClr val="000000"/>
                </a:solidFill>
                <a:uFillTx/>
                <a:latin typeface="Calibri" pitchFamily="34"/>
              </a:rPr>
              <a:t>Two pre-lodged CHIEF Type D declarations, one in CHIEF and one in CDS, move to arrived declarations</a:t>
            </a:r>
            <a:r>
              <a:rPr lang="en-GB" sz="1200" b="0" i="0" u="none" strike="noStrike" kern="1200" cap="none" spc="0" baseline="0">
                <a:solidFill>
                  <a:srgbClr val="000000"/>
                </a:solidFill>
                <a:uFillTx/>
                <a:latin typeface="Calibri"/>
              </a:rPr>
              <a:t> </a:t>
            </a:r>
            <a:r>
              <a:rPr lang="en-GB" sz="1200" b="0" i="0" u="none" strike="noStrike" kern="1200" cap="none" spc="0" baseline="0">
                <a:solidFill>
                  <a:srgbClr val="000000"/>
                </a:solidFill>
                <a:uFillTx/>
                <a:latin typeface="Calibri" pitchFamily="34"/>
              </a:rPr>
              <a:t>Two Type D pre-lodged declarations, one in CHIEF and one in CDS, are submitted. No control task is raised. Two DUCRs are arrived at the location. The declarations are consolidated with one MUCR. The goods are departed using the MUCR.</a:t>
            </a:r>
            <a:r>
              <a:rPr lang="en-GB" sz="1200" b="0" i="0" u="none" strike="noStrike" kern="1200" cap="none" spc="0" baseline="0">
                <a:solidFill>
                  <a:srgbClr val="000000"/>
                </a:solidFill>
                <a:uFillTx/>
                <a:latin typeface="Calibri"/>
              </a:rPr>
              <a:t> </a:t>
            </a:r>
          </a:p>
        </p:txBody>
      </p:sp>
      <p:sp>
        <p:nvSpPr>
          <p:cNvPr id="13" name="Slide Number Placeholder 5">
            <a:extLst>
              <a:ext uri="{FF2B5EF4-FFF2-40B4-BE49-F238E27FC236}">
                <a16:creationId xmlns:a16="http://schemas.microsoft.com/office/drawing/2014/main" id="{12DEACD7-52B5-4734-A3A4-BCA2F98DE450}"/>
              </a:ext>
            </a:extLst>
          </p:cNvPr>
          <p:cNvSpPr txBox="1"/>
          <p:nvPr/>
        </p:nvSpPr>
        <p:spPr>
          <a:xfrm>
            <a:off x="117388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5240E4C-9B97-4AB3-B222-7F2F0F5DB687}" type="slidenum">
              <a:rPr sz="1200"/>
              <a:t>26</a:t>
            </a:fld>
            <a:endParaRPr lang="en-GB" sz="1200" b="0" i="0" u="none" strike="noStrike" kern="1200" cap="none" spc="0" baseline="0" dirty="0">
              <a:solidFill>
                <a:srgbClr val="000000"/>
              </a:solidFill>
              <a:uFillTx/>
              <a:latin typeface="Calibri"/>
            </a:endParaRPr>
          </a:p>
        </p:txBody>
      </p:sp>
      <p:graphicFrame>
        <p:nvGraphicFramePr>
          <p:cNvPr id="14" name="Object 3">
            <a:hlinkClick r:id="" action="ppaction://ole?verb=0"/>
            <a:extLst>
              <a:ext uri="{FF2B5EF4-FFF2-40B4-BE49-F238E27FC236}">
                <a16:creationId xmlns:a16="http://schemas.microsoft.com/office/drawing/2014/main" id="{E4806EEA-804E-4A8E-953E-C497F4859AC6}"/>
              </a:ext>
            </a:extLst>
          </p:cNvPr>
          <p:cNvGraphicFramePr/>
          <p:nvPr/>
        </p:nvGraphicFramePr>
        <p:xfrm>
          <a:off x="795646" y="4909998"/>
          <a:ext cx="914400" cy="781053"/>
        </p:xfrm>
        <a:graphic>
          <a:graphicData uri="http://schemas.openxmlformats.org/presentationml/2006/ole">
            <mc:AlternateContent xmlns:mc="http://schemas.openxmlformats.org/markup-compatibility/2006">
              <mc:Choice xmlns:v="urn:schemas-microsoft-com:vml" Requires="v">
                <p:oleObj name="Presentation" r:id="rId2" imgW="1828800" imgH="1562100" progId="">
                  <p:embed/>
                </p:oleObj>
              </mc:Choice>
              <mc:Fallback>
                <p:oleObj name="Presentation" r:id="rId2" imgW="1828800" imgH="1562100" progId="">
                  <p:embed/>
                  <p:pic>
                    <p:nvPicPr>
                      <p:cNvPr id="14" name="Object 3">
                        <a:hlinkClick r:id="" action="ppaction://ole?verb=0"/>
                        <a:extLst>
                          <a:ext uri="{FF2B5EF4-FFF2-40B4-BE49-F238E27FC236}">
                            <a16:creationId xmlns:a16="http://schemas.microsoft.com/office/drawing/2014/main" id="{E4806EEA-804E-4A8E-953E-C497F4859AC6}"/>
                          </a:ext>
                        </a:extLst>
                      </p:cNvPr>
                      <p:cNvPicPr/>
                      <p:nvPr/>
                    </p:nvPicPr>
                    <p:blipFill>
                      <a:blip r:embed="rId3"/>
                      <a:stretch>
                        <a:fillRect/>
                      </a:stretch>
                    </p:blipFill>
                    <p:spPr>
                      <a:xfrm>
                        <a:off x="795646" y="4909998"/>
                        <a:ext cx="914400" cy="781053"/>
                      </a:xfrm>
                      <a:prstGeom prst="rect">
                        <a:avLst/>
                      </a:prstGeom>
                      <a:noFill/>
                      <a:ln cap="flat">
                        <a:noFill/>
                      </a:ln>
                    </p:spPr>
                  </p:pic>
                </p:oleObj>
              </mc:Fallback>
            </mc:AlternateContent>
          </a:graphicData>
        </a:graphic>
      </p:graphicFrame>
      <p:sp>
        <p:nvSpPr>
          <p:cNvPr id="15" name="TextBox 4">
            <a:extLst>
              <a:ext uri="{FF2B5EF4-FFF2-40B4-BE49-F238E27FC236}">
                <a16:creationId xmlns:a16="http://schemas.microsoft.com/office/drawing/2014/main" id="{19C80CD5-7B7B-4BC2-96A1-FE512E928F1C}"/>
              </a:ext>
            </a:extLst>
          </p:cNvPr>
          <p:cNvSpPr txBox="1"/>
          <p:nvPr/>
        </p:nvSpPr>
        <p:spPr>
          <a:xfrm>
            <a:off x="1674741" y="5185086"/>
            <a:ext cx="628153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document describes the use of DUCR Part IDs as part of CDS Dual Running.</a:t>
            </a:r>
          </a:p>
        </p:txBody>
      </p:sp>
      <p:sp>
        <p:nvSpPr>
          <p:cNvPr id="16" name="Oval 28">
            <a:hlinkClick r:id="rId4" action="ppaction://hlinksldjump"/>
            <a:extLst>
              <a:ext uri="{FF2B5EF4-FFF2-40B4-BE49-F238E27FC236}">
                <a16:creationId xmlns:a16="http://schemas.microsoft.com/office/drawing/2014/main" id="{C3A73BB7-E5B3-49E2-9787-AC3F646EBEE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29">
            <a:hlinkClick r:id="rId4" action="ppaction://hlinksldjump"/>
            <a:extLst>
              <a:ext uri="{FF2B5EF4-FFF2-40B4-BE49-F238E27FC236}">
                <a16:creationId xmlns:a16="http://schemas.microsoft.com/office/drawing/2014/main" id="{E12B6D1A-A1F8-4F9F-87AF-0CFF91AF83E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30">
            <a:hlinkClick r:id="rId5" action="ppaction://hlinksldjump"/>
            <a:extLst>
              <a:ext uri="{FF2B5EF4-FFF2-40B4-BE49-F238E27FC236}">
                <a16:creationId xmlns:a16="http://schemas.microsoft.com/office/drawing/2014/main" id="{CADBC3E1-5C2B-4255-9CCA-6642F8A68FD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31">
            <a:hlinkClick r:id="rId6" action="ppaction://hlinksldjump"/>
            <a:extLst>
              <a:ext uri="{FF2B5EF4-FFF2-40B4-BE49-F238E27FC236}">
                <a16:creationId xmlns:a16="http://schemas.microsoft.com/office/drawing/2014/main" id="{3AC33515-CF92-4612-9A11-5CB0D2CF28D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32">
            <a:hlinkClick r:id="rId4" action="ppaction://hlinksldjump"/>
            <a:extLst>
              <a:ext uri="{FF2B5EF4-FFF2-40B4-BE49-F238E27FC236}">
                <a16:creationId xmlns:a16="http://schemas.microsoft.com/office/drawing/2014/main" id="{FB891A07-E51C-47BB-AAD6-504A36EE3A8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1" name="TextBox 33">
            <a:hlinkClick r:id="rId4" action="ppaction://hlinksldjump"/>
            <a:extLst>
              <a:ext uri="{FF2B5EF4-FFF2-40B4-BE49-F238E27FC236}">
                <a16:creationId xmlns:a16="http://schemas.microsoft.com/office/drawing/2014/main" id="{453B11E3-FC90-499E-BC42-A504D0E5B20F}"/>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2" name="TextBox 34">
            <a:hlinkClick r:id="rId5" action="ppaction://hlinksldjump"/>
            <a:extLst>
              <a:ext uri="{FF2B5EF4-FFF2-40B4-BE49-F238E27FC236}">
                <a16:creationId xmlns:a16="http://schemas.microsoft.com/office/drawing/2014/main" id="{74FEE420-25E1-474B-8E3A-3B116AD4C2B3}"/>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3" name="TextBox 35">
            <a:hlinkClick r:id="rId5" action="ppaction://hlinksldjump"/>
            <a:extLst>
              <a:ext uri="{FF2B5EF4-FFF2-40B4-BE49-F238E27FC236}">
                <a16:creationId xmlns:a16="http://schemas.microsoft.com/office/drawing/2014/main" id="{DD28F668-4283-4D0A-8C92-F16F47ABB69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4" name="Oval 36">
            <a:extLst>
              <a:ext uri="{FF2B5EF4-FFF2-40B4-BE49-F238E27FC236}">
                <a16:creationId xmlns:a16="http://schemas.microsoft.com/office/drawing/2014/main" id="{D8ED54F9-BB72-4174-8648-60EE4B30EE0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TextBox 37">
            <a:hlinkClick r:id="rId7" action="ppaction://hlinksldjump"/>
            <a:extLst>
              <a:ext uri="{FF2B5EF4-FFF2-40B4-BE49-F238E27FC236}">
                <a16:creationId xmlns:a16="http://schemas.microsoft.com/office/drawing/2014/main" id="{07A9E8C8-6C05-4D87-837B-A31BACF7A1C7}"/>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6" name="Picture 40">
            <a:hlinkClick r:id="rId4" action="ppaction://hlinksldjump"/>
            <a:extLst>
              <a:ext uri="{FF2B5EF4-FFF2-40B4-BE49-F238E27FC236}">
                <a16:creationId xmlns:a16="http://schemas.microsoft.com/office/drawing/2014/main" id="{7F8AC151-D8A3-41A5-9E80-8E4FA83A7C70}"/>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7" name="Oval 39">
            <a:hlinkClick r:id="rId4" action="ppaction://hlinksldjump"/>
            <a:extLst>
              <a:ext uri="{FF2B5EF4-FFF2-40B4-BE49-F238E27FC236}">
                <a16:creationId xmlns:a16="http://schemas.microsoft.com/office/drawing/2014/main" id="{BE83A0F7-92B8-4001-84C9-D72811DA727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8" name="Picture 106" descr="57% HMRCppt logo">
            <a:extLst>
              <a:ext uri="{FF2B5EF4-FFF2-40B4-BE49-F238E27FC236}">
                <a16:creationId xmlns:a16="http://schemas.microsoft.com/office/drawing/2014/main" id="{343D4402-D140-E86F-97D9-3A7BE6D4DB1A}"/>
              </a:ext>
            </a:extLst>
          </p:cNvPr>
          <p:cNvPicPr>
            <a:picLocks noChangeAspect="1"/>
          </p:cNvPicPr>
          <p:nvPr/>
        </p:nvPicPr>
        <p:blipFill>
          <a:blip r:embed="rId9"/>
          <a:srcRect/>
          <a:stretch>
            <a:fillRect/>
          </a:stretch>
        </p:blipFill>
        <p:spPr>
          <a:xfrm>
            <a:off x="208287" y="6259936"/>
            <a:ext cx="813834" cy="500826"/>
          </a:xfrm>
          <a:prstGeom prst="rect">
            <a:avLst/>
          </a:prstGeom>
          <a:noFill/>
          <a:ln cap="flat">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838840312">
    <p:spTree>
      <p:nvGrpSpPr>
        <p:cNvPr id="1" name=""/>
        <p:cNvGrpSpPr/>
        <p:nvPr/>
      </p:nvGrpSpPr>
      <p:grpSpPr>
        <a:xfrm>
          <a:off x="0" y="0"/>
          <a:ext cx="0" cy="0"/>
          <a:chOff x="0" y="0"/>
          <a:chExt cx="0" cy="0"/>
        </a:xfrm>
      </p:grpSpPr>
      <p:cxnSp>
        <p:nvCxnSpPr>
          <p:cNvPr id="3" name="Straight Connector 9">
            <a:extLst>
              <a:ext uri="{FF2B5EF4-FFF2-40B4-BE49-F238E27FC236}">
                <a16:creationId xmlns:a16="http://schemas.microsoft.com/office/drawing/2014/main" id="{82F25570-2961-4D2B-B758-971DBC53B7E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AB3D18F8-6A5A-495C-8034-F1B7D6A8553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64F51596-5965-4EAE-857A-4E19A6A8E030}"/>
              </a:ext>
            </a:extLst>
          </p:cNvPr>
          <p:cNvSpPr txBox="1"/>
          <p:nvPr/>
        </p:nvSpPr>
        <p:spPr>
          <a:xfrm>
            <a:off x="363967" y="248844"/>
            <a:ext cx="4214679"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6" name="Rectangle 4">
            <a:extLst>
              <a:ext uri="{FF2B5EF4-FFF2-40B4-BE49-F238E27FC236}">
                <a16:creationId xmlns:a16="http://schemas.microsoft.com/office/drawing/2014/main" id="{6CE0B40C-3CA2-4FA9-8DEB-7FC9723B627B}"/>
              </a:ext>
            </a:extLst>
          </p:cNvPr>
          <p:cNvSpPr/>
          <p:nvPr/>
        </p:nvSpPr>
        <p:spPr>
          <a:xfrm>
            <a:off x="399446" y="793918"/>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Duty Calculation</a:t>
            </a:r>
          </a:p>
        </p:txBody>
      </p:sp>
      <p:graphicFrame>
        <p:nvGraphicFramePr>
          <p:cNvPr id="7" name="Table 4">
            <a:extLst>
              <a:ext uri="{FF2B5EF4-FFF2-40B4-BE49-F238E27FC236}">
                <a16:creationId xmlns:a16="http://schemas.microsoft.com/office/drawing/2014/main" id="{A1305815-4402-4478-A62A-7C28ABC9C66A}"/>
              </a:ext>
            </a:extLst>
          </p:cNvPr>
          <p:cNvGraphicFramePr>
            <a:graphicFrameLocks noGrp="1"/>
          </p:cNvGraphicFramePr>
          <p:nvPr/>
        </p:nvGraphicFramePr>
        <p:xfrm>
          <a:off x="444297" y="1186754"/>
          <a:ext cx="11313880" cy="3610650"/>
        </p:xfrm>
        <a:graphic>
          <a:graphicData uri="http://schemas.openxmlformats.org/drawingml/2006/table">
            <a:tbl>
              <a:tblPr firstRow="1" bandRow="1">
                <a:effectLst/>
                <a:tableStyleId>{5C22544A-7EE6-4342-B048-85BDC9FD1C3A}</a:tableStyleId>
              </a:tblPr>
              <a:tblGrid>
                <a:gridCol w="5834201">
                  <a:extLst>
                    <a:ext uri="{9D8B030D-6E8A-4147-A177-3AD203B41FA5}">
                      <a16:colId xmlns:a16="http://schemas.microsoft.com/office/drawing/2014/main" val="1810033885"/>
                    </a:ext>
                  </a:extLst>
                </a:gridCol>
                <a:gridCol w="5479679">
                  <a:extLst>
                    <a:ext uri="{9D8B030D-6E8A-4147-A177-3AD203B41FA5}">
                      <a16:colId xmlns:a16="http://schemas.microsoft.com/office/drawing/2014/main" val="171547995"/>
                    </a:ext>
                  </a:extLst>
                </a:gridCol>
              </a:tblGrid>
              <a:tr h="351449">
                <a:tc>
                  <a:txBody>
                    <a:bodyPr/>
                    <a:lstStyle/>
                    <a:p>
                      <a:pPr marL="0" marR="0" lvl="0" indent="0" algn="l" defTabSz="914400" rtl="0" fontAlgn="auto" hangingPunct="1">
                        <a:lnSpc>
                          <a:spcPct val="100000"/>
                        </a:lnSpc>
                        <a:spcBef>
                          <a:spcPts val="0"/>
                        </a:spcBef>
                        <a:spcAft>
                          <a:spcPts val="0"/>
                        </a:spcAft>
                        <a:buNone/>
                        <a:tabLst/>
                      </a:pPr>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278589773"/>
                  </a:ext>
                </a:extLst>
              </a:tr>
              <a:tr h="2974808">
                <a:tc>
                  <a:txBody>
                    <a:bodyPr/>
                    <a:lstStyle/>
                    <a:p>
                      <a:pPr lvl="0">
                        <a:lnSpc>
                          <a:spcPct val="107000"/>
                        </a:lnSpc>
                        <a:spcAft>
                          <a:spcPts val="800"/>
                        </a:spcAft>
                      </a:pPr>
                      <a:r>
                        <a:rPr lang="en-GB" sz="1200">
                          <a:solidFill>
                            <a:srgbClr val="000000"/>
                          </a:solidFill>
                          <a:ea typeface="Arial" pitchFamily="34"/>
                        </a:rPr>
                        <a:t>CDS TT and TDR will produce a calculation of the duties owed, calculating against the quantity of the commodity that is declared and taking into account any adjustments. </a:t>
                      </a:r>
                      <a:endParaRPr lang="en-GB" sz="100" b="1">
                        <a:solidFill>
                          <a:srgbClr val="000000"/>
                        </a:solidFill>
                        <a:ea typeface="Arial" pitchFamily="34"/>
                      </a:endParaRPr>
                    </a:p>
                    <a:p>
                      <a:pPr lvl="0">
                        <a:lnSpc>
                          <a:spcPct val="107000"/>
                        </a:lnSpc>
                        <a:spcAft>
                          <a:spcPts val="800"/>
                        </a:spcAft>
                      </a:pPr>
                      <a:r>
                        <a:rPr lang="en-GB" sz="1200" b="1">
                          <a:solidFill>
                            <a:srgbClr val="000000"/>
                          </a:solidFill>
                          <a:ea typeface="Arial" pitchFamily="34"/>
                        </a:rPr>
                        <a:t>Preference</a:t>
                      </a:r>
                    </a:p>
                    <a:p>
                      <a:pPr lvl="0"/>
                      <a:r>
                        <a:rPr lang="en-GB" sz="1200"/>
                        <a:t>CDS TT and TDR will calculate duties considering claims for preference based on commodity and country. All valid preference codes starting with 2, 3, or 4 are now in scope for Trade Test and Trader Dress Rehearsal along with a preference code of 100, indicating no preference. Please note, </a:t>
                      </a:r>
                      <a:r>
                        <a:rPr lang="en-GB" sz="1200">
                          <a:solidFill>
                            <a:srgbClr val="333333"/>
                          </a:solidFill>
                          <a:latin typeface="Calibri"/>
                        </a:rPr>
                        <a:t>Traders cannot claim a preference on GB-NI 'not at risk' goods but must still declare in DE 4/17 Preference (D</a:t>
                      </a:r>
                      <a:r>
                        <a:rPr lang="en-GB" sz="1200" b="0" i="0" kern="1200">
                          <a:solidFill>
                            <a:srgbClr val="000000"/>
                          </a:solidFill>
                          <a:latin typeface="Calibri"/>
                        </a:rPr>
                        <a:t>utyTaxFee/DutyRegime) the value "100“ as it is a mandatory field.</a:t>
                      </a:r>
                      <a:endParaRPr lang="en-GB" sz="1200"/>
                    </a:p>
                    <a:p>
                      <a:pPr lvl="0"/>
                      <a:endParaRPr lang="en-GB" sz="1200"/>
                    </a:p>
                    <a:p>
                      <a:pPr lvl="0"/>
                      <a:r>
                        <a:rPr lang="en-GB" sz="1200"/>
                        <a:t>Please note, </a:t>
                      </a:r>
                      <a:r>
                        <a:rPr lang="en-GB" sz="1200">
                          <a:solidFill>
                            <a:srgbClr val="333333"/>
                          </a:solidFill>
                          <a:latin typeface="Calibri"/>
                        </a:rPr>
                        <a:t>there is no provision for Quotas or Suspensions in the Free Trade Agreement so the code “300“ must be declared. </a:t>
                      </a:r>
                    </a:p>
                    <a:p>
                      <a:pPr lvl="0"/>
                      <a:endParaRPr lang="en-GB" sz="1200">
                        <a:solidFill>
                          <a:srgbClr val="333333"/>
                        </a:solidFill>
                        <a:latin typeface="Calibri"/>
                      </a:endParaRPr>
                    </a:p>
                    <a:p>
                      <a:pPr lvl="0"/>
                      <a:r>
                        <a:rPr lang="en-GB" sz="1200"/>
                        <a:t>TT and TDR also provide functionality to test trade preference scenarios where a security deposit will be taken. A security deposit can be triggered by submitting certain document status codes against the document code for the proof of origin document. </a:t>
                      </a:r>
                    </a:p>
                  </a:txBody>
                  <a:tcPr>
                    <a:lnR w="57150" cap="flat" cmpd="sng" algn="ctr">
                      <a:solidFill>
                        <a:srgbClr val="FFFFFF"/>
                      </a:solidFill>
                      <a:prstDash val="solid"/>
                      <a:round/>
                      <a:headEnd type="none" w="med" len="med"/>
                      <a:tailEnd type="none" w="med" len="med"/>
                    </a:lnR>
                    <a:solidFill>
                      <a:srgbClr val="F2F2F2"/>
                    </a:solidFill>
                  </a:tcPr>
                </a:tc>
                <a:tc>
                  <a:txBody>
                    <a:bodyPr/>
                    <a:lstStyle/>
                    <a:p>
                      <a:pPr lvl="0">
                        <a:lnSpc>
                          <a:spcPct val="107000"/>
                        </a:lnSpc>
                        <a:spcAft>
                          <a:spcPts val="800"/>
                        </a:spcAft>
                      </a:pPr>
                      <a:r>
                        <a:rPr lang="en-GB" sz="1200" dirty="0">
                          <a:solidFill>
                            <a:srgbClr val="000000"/>
                          </a:solidFill>
                          <a:ea typeface="Arial" pitchFamily="34"/>
                        </a:rPr>
                        <a:t>Please note: </a:t>
                      </a:r>
                    </a:p>
                    <a:p>
                      <a:pPr marL="228600" lvl="0" indent="-228600">
                        <a:lnSpc>
                          <a:spcPct val="107000"/>
                        </a:lnSpc>
                        <a:spcAft>
                          <a:spcPts val="800"/>
                        </a:spcAft>
                        <a:buSzPct val="100000"/>
                        <a:buFont typeface="Arial" pitchFamily="34"/>
                        <a:buChar char="•"/>
                      </a:pPr>
                      <a:r>
                        <a:rPr lang="en-GB" sz="1200" dirty="0">
                          <a:solidFill>
                            <a:srgbClr val="000000"/>
                          </a:solidFill>
                          <a:ea typeface="Arial" pitchFamily="34"/>
                        </a:rPr>
                        <a:t>Up to 99 goods items can be entered on declarations submitted in the External Test environments (Trade Test, Trader Dress Rehearsal.)</a:t>
                      </a:r>
                    </a:p>
                    <a:p>
                      <a:pPr marL="228600" lvl="0" indent="-228600">
                        <a:lnSpc>
                          <a:spcPct val="107000"/>
                        </a:lnSpc>
                        <a:spcAft>
                          <a:spcPts val="800"/>
                        </a:spcAft>
                        <a:buSzPct val="100000"/>
                        <a:buFont typeface="Arial" pitchFamily="34"/>
                        <a:buChar char="•"/>
                      </a:pPr>
                      <a:r>
                        <a:rPr lang="en-GB" sz="1200" dirty="0">
                          <a:solidFill>
                            <a:srgbClr val="000000"/>
                          </a:solidFill>
                          <a:ea typeface="Arial" pitchFamily="34"/>
                        </a:rPr>
                        <a:t>Whilst it is possible to test commodity codes against which a provisional anti-dumping duty (ADD) or countervailing measure is applied, in these scenarios a security deposit will be taken but the provisional measures will not be finalised so that the security deposit is released. This is due to the static nature of the data in the environment. (Trade Test, Trader Dress Rehearsal). </a:t>
                      </a:r>
                    </a:p>
                    <a:p>
                      <a:pPr marL="228600" lvl="0" indent="-228600">
                        <a:lnSpc>
                          <a:spcPct val="107000"/>
                        </a:lnSpc>
                        <a:spcAft>
                          <a:spcPts val="800"/>
                        </a:spcAft>
                        <a:buSzPct val="100000"/>
                        <a:buFont typeface="Arial" pitchFamily="34"/>
                        <a:buChar char="•"/>
                      </a:pPr>
                      <a:r>
                        <a:rPr lang="en-GB" sz="1200" b="0" dirty="0">
                          <a:solidFill>
                            <a:srgbClr val="000000"/>
                          </a:solidFill>
                          <a:ea typeface="Arial" pitchFamily="34"/>
                        </a:rPr>
                        <a:t>For the Type C scenarios currently available in trade test, duty is not expected to be owed. A </a:t>
                      </a:r>
                      <a:r>
                        <a:rPr lang="en-GB" sz="1200" b="1" dirty="0">
                          <a:solidFill>
                            <a:srgbClr val="000000"/>
                          </a:solidFill>
                          <a:ea typeface="Arial" pitchFamily="34"/>
                        </a:rPr>
                        <a:t>tax notification will not be received </a:t>
                      </a:r>
                      <a:r>
                        <a:rPr lang="en-GB" sz="1200" b="0" dirty="0">
                          <a:solidFill>
                            <a:srgbClr val="000000"/>
                          </a:solidFill>
                          <a:ea typeface="Arial" pitchFamily="34"/>
                        </a:rPr>
                        <a:t>for these scenarios.</a:t>
                      </a:r>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452200922"/>
                  </a:ext>
                </a:extLst>
              </a:tr>
            </a:tbl>
          </a:graphicData>
        </a:graphic>
      </p:graphicFrame>
      <p:sp>
        <p:nvSpPr>
          <p:cNvPr id="8" name="Slide Number Placeholder 5">
            <a:extLst>
              <a:ext uri="{FF2B5EF4-FFF2-40B4-BE49-F238E27FC236}">
                <a16:creationId xmlns:a16="http://schemas.microsoft.com/office/drawing/2014/main" id="{346512EE-FF56-4785-B9F5-3E82C7387676}"/>
              </a:ext>
            </a:extLst>
          </p:cNvPr>
          <p:cNvSpPr txBox="1"/>
          <p:nvPr/>
        </p:nvSpPr>
        <p:spPr>
          <a:xfrm>
            <a:off x="117388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9F5955F-26A8-45E2-A772-F1D7E2F1722D}" type="slidenum">
              <a:rPr sz="1200"/>
              <a:t>27</a:t>
            </a:fld>
            <a:endParaRPr lang="en-GB" sz="1200" b="0" i="0" u="none" strike="noStrike" kern="1200" cap="none" spc="0" baseline="0" dirty="0">
              <a:solidFill>
                <a:srgbClr val="000000"/>
              </a:solidFill>
              <a:uFillTx/>
              <a:latin typeface="Calibri"/>
            </a:endParaRPr>
          </a:p>
        </p:txBody>
      </p:sp>
      <p:grpSp>
        <p:nvGrpSpPr>
          <p:cNvPr id="9" name="Group 2">
            <a:extLst>
              <a:ext uri="{FF2B5EF4-FFF2-40B4-BE49-F238E27FC236}">
                <a16:creationId xmlns:a16="http://schemas.microsoft.com/office/drawing/2014/main" id="{92711234-D94F-4885-9D15-8D4ECD96969B}"/>
              </a:ext>
            </a:extLst>
          </p:cNvPr>
          <p:cNvGrpSpPr/>
          <p:nvPr/>
        </p:nvGrpSpPr>
        <p:grpSpPr>
          <a:xfrm>
            <a:off x="450826" y="4838319"/>
            <a:ext cx="11306181" cy="1262182"/>
            <a:chOff x="450826" y="4838319"/>
            <a:chExt cx="11306181" cy="1262182"/>
          </a:xfrm>
        </p:grpSpPr>
        <p:sp>
          <p:nvSpPr>
            <p:cNvPr id="10" name="Rectangle 9">
              <a:extLst>
                <a:ext uri="{FF2B5EF4-FFF2-40B4-BE49-F238E27FC236}">
                  <a16:creationId xmlns:a16="http://schemas.microsoft.com/office/drawing/2014/main" id="{6485C02E-1346-40A4-876A-6F783B047352}"/>
                </a:ext>
              </a:extLst>
            </p:cNvPr>
            <p:cNvSpPr/>
            <p:nvPr/>
          </p:nvSpPr>
          <p:spPr>
            <a:xfrm>
              <a:off x="450826" y="4841693"/>
              <a:ext cx="11306181" cy="1258808"/>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Rectangle 22">
              <a:extLst>
                <a:ext uri="{FF2B5EF4-FFF2-40B4-BE49-F238E27FC236}">
                  <a16:creationId xmlns:a16="http://schemas.microsoft.com/office/drawing/2014/main" id="{E79E1C80-E681-4601-A72F-507CEDEC0A41}"/>
                </a:ext>
              </a:extLst>
            </p:cNvPr>
            <p:cNvSpPr/>
            <p:nvPr/>
          </p:nvSpPr>
          <p:spPr>
            <a:xfrm rot="16200004">
              <a:off x="43196" y="5245949"/>
              <a:ext cx="1262182" cy="446922"/>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12" name="TextBox 11">
              <a:extLst>
                <a:ext uri="{FF2B5EF4-FFF2-40B4-BE49-F238E27FC236}">
                  <a16:creationId xmlns:a16="http://schemas.microsoft.com/office/drawing/2014/main" id="{0C576B51-AFB6-4D61-8D36-3AC0746417D8}"/>
                </a:ext>
              </a:extLst>
            </p:cNvPr>
            <p:cNvSpPr txBox="1"/>
            <p:nvPr/>
          </p:nvSpPr>
          <p:spPr>
            <a:xfrm>
              <a:off x="947482" y="4960400"/>
              <a:ext cx="10612709" cy="101566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TT_IM01a</a:t>
              </a:r>
              <a:r>
                <a:rPr lang="en-GB" sz="1200" b="1" i="0" u="none" strike="noStrike" kern="1200" cap="none" spc="0" baseline="0">
                  <a:solidFill>
                    <a:srgbClr val="000000"/>
                  </a:solidFill>
                  <a:uFillTx/>
                  <a:latin typeface="Calibri"/>
                </a:rPr>
                <a:t>  - </a:t>
              </a:r>
              <a:r>
                <a:rPr lang="en-GB" sz="1200" b="0" i="0" u="none" strike="noStrike" kern="1200" cap="none" spc="0" baseline="0">
                  <a:solidFill>
                    <a:srgbClr val="000000"/>
                  </a:solidFill>
                  <a:uFillTx/>
                  <a:latin typeface="Calibri" pitchFamily="34"/>
                </a:rPr>
                <a:t>Imports-Standard frontier Type A declaration. Import of goods liable to Duty &amp; VAT, with no previous procedure</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TT_IM09a </a:t>
              </a:r>
              <a:r>
                <a:rPr lang="en-GB" sz="1200" b="1" i="1" u="none" strike="noStrike" kern="1200" cap="none" spc="0" baseline="0">
                  <a:solidFill>
                    <a:srgbClr val="000000"/>
                  </a:solidFill>
                  <a:uFillTx/>
                  <a:latin typeface="Calibri"/>
                </a:rPr>
                <a:t>*Please note that this XML sample is no longer functional but can be used as a template*  - </a:t>
              </a:r>
              <a:r>
                <a:rPr lang="en-GB" sz="1200" b="0" i="0" u="none" strike="noStrike" kern="1200" cap="none" spc="0" baseline="0">
                  <a:solidFill>
                    <a:srgbClr val="000000"/>
                  </a:solidFill>
                  <a:uFillTx/>
                  <a:latin typeface="Calibri" pitchFamily="34"/>
                </a:rPr>
                <a:t>Self representing Trader submits a Type A declaration using End Use Preference code</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TT_IM13a  - </a:t>
              </a:r>
              <a:r>
                <a:rPr lang="en-GB" sz="1200" b="0" i="0" u="none" strike="noStrike" kern="1200" cap="none" spc="0" baseline="0">
                  <a:solidFill>
                    <a:srgbClr val="000000"/>
                  </a:solidFill>
                  <a:uFillTx/>
                  <a:latin typeface="Calibri" pitchFamily="34"/>
                </a:rPr>
                <a:t>Type Y Supplementary Declaration for Import of goods going into free circulation with application of duties &amp; preference to a declaration where the goods have SIV rates, but SIV is not chosen as a method of valuation for the goods. </a:t>
              </a:r>
              <a:endParaRPr lang="en-GB" sz="1200" b="1" i="0" u="none" strike="noStrike" kern="1200" cap="none" spc="0" baseline="0">
                <a:solidFill>
                  <a:srgbClr val="000000"/>
                </a:solidFill>
                <a:uFillTx/>
                <a:latin typeface="Calibri" pitchFamily="34"/>
              </a:endParaRPr>
            </a:p>
          </p:txBody>
        </p:sp>
        <p:sp>
          <p:nvSpPr>
            <p:cNvPr id="13" name="TextBox 1">
              <a:extLst>
                <a:ext uri="{FF2B5EF4-FFF2-40B4-BE49-F238E27FC236}">
                  <a16:creationId xmlns:a16="http://schemas.microsoft.com/office/drawing/2014/main" id="{8F533461-9E52-48A1-A09D-9657269C8369}"/>
                </a:ext>
              </a:extLst>
            </p:cNvPr>
            <p:cNvSpPr txBox="1"/>
            <p:nvPr/>
          </p:nvSpPr>
          <p:spPr>
            <a:xfrm>
              <a:off x="1403247" y="5289118"/>
              <a:ext cx="184772" cy="369335"/>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grpSp>
      <p:sp>
        <p:nvSpPr>
          <p:cNvPr id="14" name="Oval 27">
            <a:hlinkClick r:id="rId2" action="ppaction://hlinksldjump"/>
            <a:extLst>
              <a:ext uri="{FF2B5EF4-FFF2-40B4-BE49-F238E27FC236}">
                <a16:creationId xmlns:a16="http://schemas.microsoft.com/office/drawing/2014/main" id="{29C40537-F913-4736-AACE-84BE8B9BABC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28">
            <a:hlinkClick r:id="rId2" action="ppaction://hlinksldjump"/>
            <a:extLst>
              <a:ext uri="{FF2B5EF4-FFF2-40B4-BE49-F238E27FC236}">
                <a16:creationId xmlns:a16="http://schemas.microsoft.com/office/drawing/2014/main" id="{3F59C6F2-5580-4E19-B2F0-1FDC65AAEDD0}"/>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29">
            <a:hlinkClick r:id="rId3" action="ppaction://hlinksldjump"/>
            <a:extLst>
              <a:ext uri="{FF2B5EF4-FFF2-40B4-BE49-F238E27FC236}">
                <a16:creationId xmlns:a16="http://schemas.microsoft.com/office/drawing/2014/main" id="{369EF1EB-A9AF-4840-AFE5-0CCE4C80B0B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30">
            <a:hlinkClick r:id="rId4" action="ppaction://hlinksldjump"/>
            <a:extLst>
              <a:ext uri="{FF2B5EF4-FFF2-40B4-BE49-F238E27FC236}">
                <a16:creationId xmlns:a16="http://schemas.microsoft.com/office/drawing/2014/main" id="{2A0D3F09-2985-4D85-BF3B-1CB7240FB37A}"/>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31">
            <a:hlinkClick r:id="rId2" action="ppaction://hlinksldjump"/>
            <a:extLst>
              <a:ext uri="{FF2B5EF4-FFF2-40B4-BE49-F238E27FC236}">
                <a16:creationId xmlns:a16="http://schemas.microsoft.com/office/drawing/2014/main" id="{46F7067D-79C1-4511-8222-BB286DE53C1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32">
            <a:hlinkClick r:id="rId2" action="ppaction://hlinksldjump"/>
            <a:extLst>
              <a:ext uri="{FF2B5EF4-FFF2-40B4-BE49-F238E27FC236}">
                <a16:creationId xmlns:a16="http://schemas.microsoft.com/office/drawing/2014/main" id="{D8DDE27C-AB40-439E-BF0D-B72D12DFBD75}"/>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0" name="TextBox 33">
            <a:hlinkClick r:id="rId3" action="ppaction://hlinksldjump"/>
            <a:extLst>
              <a:ext uri="{FF2B5EF4-FFF2-40B4-BE49-F238E27FC236}">
                <a16:creationId xmlns:a16="http://schemas.microsoft.com/office/drawing/2014/main" id="{87ED474E-E5B8-4A2B-837B-0CB3331F122E}"/>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1" name="TextBox 34">
            <a:hlinkClick r:id="rId3" action="ppaction://hlinksldjump"/>
            <a:extLst>
              <a:ext uri="{FF2B5EF4-FFF2-40B4-BE49-F238E27FC236}">
                <a16:creationId xmlns:a16="http://schemas.microsoft.com/office/drawing/2014/main" id="{2FE64E91-0A17-4FAC-A5E0-7E1AF58D4A4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35">
            <a:extLst>
              <a:ext uri="{FF2B5EF4-FFF2-40B4-BE49-F238E27FC236}">
                <a16:creationId xmlns:a16="http://schemas.microsoft.com/office/drawing/2014/main" id="{6CDA253E-ACDD-4F75-9826-70C20FBF46D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39">
            <a:hlinkClick r:id="rId5" action="ppaction://hlinksldjump"/>
            <a:extLst>
              <a:ext uri="{FF2B5EF4-FFF2-40B4-BE49-F238E27FC236}">
                <a16:creationId xmlns:a16="http://schemas.microsoft.com/office/drawing/2014/main" id="{189F0805-6E4F-42C0-915E-60A47A082DD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2" action="ppaction://hlinksldjump"/>
            <a:extLst>
              <a:ext uri="{FF2B5EF4-FFF2-40B4-BE49-F238E27FC236}">
                <a16:creationId xmlns:a16="http://schemas.microsoft.com/office/drawing/2014/main" id="{B717A5EE-C3E8-4913-B73F-F1D3C30C05FC}"/>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41">
            <a:hlinkClick r:id="rId2" action="ppaction://hlinksldjump"/>
            <a:extLst>
              <a:ext uri="{FF2B5EF4-FFF2-40B4-BE49-F238E27FC236}">
                <a16:creationId xmlns:a16="http://schemas.microsoft.com/office/drawing/2014/main" id="{226196BA-4AA8-4E49-80F9-FD0210B25BB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6" name="Picture 106" descr="57% HMRCppt logo">
            <a:extLst>
              <a:ext uri="{FF2B5EF4-FFF2-40B4-BE49-F238E27FC236}">
                <a16:creationId xmlns:a16="http://schemas.microsoft.com/office/drawing/2014/main" id="{E746E123-3BCC-86F4-98F0-1E3036A8B197}"/>
              </a:ext>
            </a:extLst>
          </p:cNvPr>
          <p:cNvPicPr>
            <a:picLocks noChangeAspect="1"/>
          </p:cNvPicPr>
          <p:nvPr/>
        </p:nvPicPr>
        <p:blipFill>
          <a:blip r:embed="rId7"/>
          <a:srcRect/>
          <a:stretch>
            <a:fillRect/>
          </a:stretch>
        </p:blipFill>
        <p:spPr>
          <a:xfrm>
            <a:off x="208287" y="6259936"/>
            <a:ext cx="813834" cy="500826"/>
          </a:xfrm>
          <a:prstGeom prst="rect">
            <a:avLst/>
          </a:prstGeom>
          <a:noFill/>
          <a:ln cap="flat">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838840283">
    <p:spTree>
      <p:nvGrpSpPr>
        <p:cNvPr id="1" name=""/>
        <p:cNvGrpSpPr/>
        <p:nvPr/>
      </p:nvGrpSpPr>
      <p:grpSpPr>
        <a:xfrm>
          <a:off x="0" y="0"/>
          <a:ext cx="0" cy="0"/>
          <a:chOff x="0" y="0"/>
          <a:chExt cx="0" cy="0"/>
        </a:xfrm>
      </p:grpSpPr>
      <p:sp>
        <p:nvSpPr>
          <p:cNvPr id="2" name="Rectangle 30">
            <a:extLst>
              <a:ext uri="{FF2B5EF4-FFF2-40B4-BE49-F238E27FC236}">
                <a16:creationId xmlns:a16="http://schemas.microsoft.com/office/drawing/2014/main" id="{34EA49C7-847D-42FF-8B5B-944E11554A47}"/>
              </a:ext>
            </a:extLst>
          </p:cNvPr>
          <p:cNvSpPr/>
          <p:nvPr/>
        </p:nvSpPr>
        <p:spPr>
          <a:xfrm>
            <a:off x="670913" y="4263316"/>
            <a:ext cx="11166021" cy="1228907"/>
          </a:xfrm>
          <a:prstGeom prst="rect">
            <a:avLst/>
          </a:prstGeom>
          <a:solidFill>
            <a:srgbClr val="E7FFFF"/>
          </a:solidFill>
          <a:ln w="12701" cap="flat">
            <a:solidFill>
              <a:srgbClr val="E7FFFF"/>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 name="Rectangle 31">
            <a:extLst>
              <a:ext uri="{FF2B5EF4-FFF2-40B4-BE49-F238E27FC236}">
                <a16:creationId xmlns:a16="http://schemas.microsoft.com/office/drawing/2014/main" id="{1F582785-0A69-4D35-BA21-3C0285A8C957}"/>
              </a:ext>
            </a:extLst>
          </p:cNvPr>
          <p:cNvSpPr/>
          <p:nvPr/>
        </p:nvSpPr>
        <p:spPr>
          <a:xfrm rot="16200004">
            <a:off x="28072" y="4652486"/>
            <a:ext cx="1228907" cy="450570"/>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cxnSp>
        <p:nvCxnSpPr>
          <p:cNvPr id="4" name="Straight Connector 9">
            <a:extLst>
              <a:ext uri="{FF2B5EF4-FFF2-40B4-BE49-F238E27FC236}">
                <a16:creationId xmlns:a16="http://schemas.microsoft.com/office/drawing/2014/main" id="{29AB318B-024E-49DA-823B-8238A22290B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5" name="Straight Connector 11">
            <a:extLst>
              <a:ext uri="{FF2B5EF4-FFF2-40B4-BE49-F238E27FC236}">
                <a16:creationId xmlns:a16="http://schemas.microsoft.com/office/drawing/2014/main" id="{6FD01636-E283-4127-9227-C194FCABFE9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219B7C58-181C-4A9E-9E26-E3DCAEA9043C}"/>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7" name="Rectangle 4">
            <a:extLst>
              <a:ext uri="{FF2B5EF4-FFF2-40B4-BE49-F238E27FC236}">
                <a16:creationId xmlns:a16="http://schemas.microsoft.com/office/drawing/2014/main" id="{D298DCA4-D070-4E6B-8468-47F5C9F58672}"/>
              </a:ext>
            </a:extLst>
          </p:cNvPr>
          <p:cNvSpPr/>
          <p:nvPr/>
        </p:nvSpPr>
        <p:spPr>
          <a:xfrm>
            <a:off x="363967" y="1141701"/>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Onward Supply Relief and Excise Duty</a:t>
            </a:r>
            <a:endParaRPr lang="en-GB" sz="1800" b="1" i="0" u="none" strike="noStrike" kern="1200" cap="none" spc="0" baseline="0">
              <a:solidFill>
                <a:srgbClr val="000000"/>
              </a:solidFill>
              <a:uFillTx/>
              <a:latin typeface="Calibri" pitchFamily="34"/>
              <a:ea typeface="Calibri" pitchFamily="34"/>
            </a:endParaRPr>
          </a:p>
        </p:txBody>
      </p:sp>
      <p:sp>
        <p:nvSpPr>
          <p:cNvPr id="8" name="Rectangle 15">
            <a:extLst>
              <a:ext uri="{FF2B5EF4-FFF2-40B4-BE49-F238E27FC236}">
                <a16:creationId xmlns:a16="http://schemas.microsoft.com/office/drawing/2014/main" id="{7D8F76D1-5BF5-425A-A2AA-4A6A4C518212}"/>
              </a:ext>
            </a:extLst>
          </p:cNvPr>
          <p:cNvSpPr/>
          <p:nvPr/>
        </p:nvSpPr>
        <p:spPr>
          <a:xfrm>
            <a:off x="355061" y="1468261"/>
            <a:ext cx="11441878" cy="48756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importing goods into Onward Supply Relief (OSR) following a previous procedure, you will need to submit a Type A full declaration for the goods being imported. This applies to procedure codes 4251, 4253 and 4271 in D.E. 4/3. </a:t>
            </a:r>
            <a:endParaRPr lang="en-GB" sz="1400" b="0" i="0" u="none" strike="noStrike" kern="1200" cap="none" spc="0" baseline="0">
              <a:solidFill>
                <a:srgbClr val="000000"/>
              </a:solidFill>
              <a:uFillTx/>
              <a:latin typeface="Calibri"/>
            </a:endParaRPr>
          </a:p>
        </p:txBody>
      </p:sp>
      <p:sp>
        <p:nvSpPr>
          <p:cNvPr id="9" name="Rectangle 16">
            <a:extLst>
              <a:ext uri="{FF2B5EF4-FFF2-40B4-BE49-F238E27FC236}">
                <a16:creationId xmlns:a16="http://schemas.microsoft.com/office/drawing/2014/main" id="{A47A963C-F9F8-4AEC-9ACC-2C9C44FB3C86}"/>
              </a:ext>
            </a:extLst>
          </p:cNvPr>
          <p:cNvSpPr/>
          <p:nvPr/>
        </p:nvSpPr>
        <p:spPr>
          <a:xfrm>
            <a:off x="417240" y="1974857"/>
            <a:ext cx="11419694" cy="2190106"/>
          </a:xfrm>
          <a:prstGeom prst="rect">
            <a:avLst/>
          </a:prstGeom>
          <a:solidFill>
            <a:srgbClr val="E7FFFF"/>
          </a:solidFill>
          <a:ln w="12701" cap="flat">
            <a:solidFill>
              <a:srgbClr val="E7FFFF"/>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17">
            <a:extLst>
              <a:ext uri="{FF2B5EF4-FFF2-40B4-BE49-F238E27FC236}">
                <a16:creationId xmlns:a16="http://schemas.microsoft.com/office/drawing/2014/main" id="{AF212342-FAE8-4DF6-90D8-F14138A68706}"/>
              </a:ext>
            </a:extLst>
          </p:cNvPr>
          <p:cNvSpPr txBox="1"/>
          <p:nvPr/>
        </p:nvSpPr>
        <p:spPr>
          <a:xfrm>
            <a:off x="867811" y="2015465"/>
            <a:ext cx="10813593" cy="2000551"/>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OSR Additional Declaration Type Workaround</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Although the UK Trade Tariff for CDS: volume 3 indicates that the procedure codes 4251, 4253 and 4271 can also be submitted on a Type C simplified declaration with an expanded C* dataset, please note that CDS is currently not supporting this functionality. This is because CDS does not currently capture the extended set of data elements needed to collect revenue on a Type C or F declaration. Therefore instead of submitting the code “C” in Data Element 1/2 Additional Declaration Type, </a:t>
            </a:r>
            <a:r>
              <a:rPr lang="en-GB" sz="1200" b="1" i="0" u="none" strike="noStrike" kern="1200" cap="none" spc="0" baseline="0">
                <a:solidFill>
                  <a:srgbClr val="000000"/>
                </a:solidFill>
                <a:uFillTx/>
                <a:latin typeface="Calibri"/>
              </a:rPr>
              <a:t>you will need to submit the code “A”. </a:t>
            </a:r>
            <a:r>
              <a:rPr lang="en-GB" sz="1200" b="0" i="0" u="none" strike="noStrike" kern="1200" cap="none" spc="0" baseline="0">
                <a:solidFill>
                  <a:srgbClr val="000000"/>
                </a:solidFill>
                <a:uFillTx/>
                <a:latin typeface="Calibri"/>
              </a:rPr>
              <a:t>You will still need to complete the declaration based on the UK Trade Tariff guidance for an H1 dataset and the procedure code submitted. </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OSR Manual Override Workaround</a:t>
            </a:r>
            <a:endParaRPr lang="en-GB" sz="16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using Additional Procedure Code 63P (which can only be used with procedure codes 4200 and 4271 to claim Returned Goods Relief with OSR and Excise duty suspension) CDS is charging excise duty and VAT, which should have been suspended under Onward Supply Relief. Declarants should temporarily use a manual override to enter the amounts on the tax lines and show the excise duty and VAT as 0.00. </a:t>
            </a:r>
            <a:endParaRPr lang="en-GB" sz="1400" b="0" i="0" u="none" strike="noStrike" kern="1200" cap="none" spc="0" baseline="0">
              <a:solidFill>
                <a:srgbClr val="000000"/>
              </a:solidFill>
              <a:uFillTx/>
              <a:latin typeface="Calibri"/>
            </a:endParaRPr>
          </a:p>
        </p:txBody>
      </p:sp>
      <p:sp>
        <p:nvSpPr>
          <p:cNvPr id="11" name="Rectangle 12">
            <a:extLst>
              <a:ext uri="{FF2B5EF4-FFF2-40B4-BE49-F238E27FC236}">
                <a16:creationId xmlns:a16="http://schemas.microsoft.com/office/drawing/2014/main" id="{2AAAFEE3-4F9F-45FC-B2DB-B1A36A97D765}"/>
              </a:ext>
            </a:extLst>
          </p:cNvPr>
          <p:cNvSpPr/>
          <p:nvPr/>
        </p:nvSpPr>
        <p:spPr>
          <a:xfrm rot="16200004">
            <a:off x="-444938" y="2852225"/>
            <a:ext cx="2190106" cy="435391"/>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sp>
        <p:nvSpPr>
          <p:cNvPr id="12" name="Rectangle 4">
            <a:extLst>
              <a:ext uri="{FF2B5EF4-FFF2-40B4-BE49-F238E27FC236}">
                <a16:creationId xmlns:a16="http://schemas.microsoft.com/office/drawing/2014/main" id="{089861BF-51A8-460C-B9CF-297B75241639}"/>
              </a:ext>
            </a:extLst>
          </p:cNvPr>
          <p:cNvSpPr/>
          <p:nvPr/>
        </p:nvSpPr>
        <p:spPr>
          <a:xfrm>
            <a:off x="363967" y="756099"/>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Duty Calculation</a:t>
            </a:r>
            <a:endParaRPr lang="en-GB" sz="2400" b="1" i="0" u="none" strike="noStrike" kern="1200" cap="none" spc="0" baseline="0">
              <a:solidFill>
                <a:srgbClr val="000000"/>
              </a:solidFill>
              <a:uFillTx/>
              <a:latin typeface="Calibri" pitchFamily="34"/>
              <a:ea typeface="Calibri" pitchFamily="34"/>
            </a:endParaRPr>
          </a:p>
        </p:txBody>
      </p:sp>
      <p:sp>
        <p:nvSpPr>
          <p:cNvPr id="14" name="Slide Number Placeholder 5">
            <a:extLst>
              <a:ext uri="{FF2B5EF4-FFF2-40B4-BE49-F238E27FC236}">
                <a16:creationId xmlns:a16="http://schemas.microsoft.com/office/drawing/2014/main" id="{5CC1A0FF-BDAB-43A5-A088-377C14EB45FC}"/>
              </a:ext>
            </a:extLst>
          </p:cNvPr>
          <p:cNvSpPr txBox="1"/>
          <p:nvPr/>
        </p:nvSpPr>
        <p:spPr>
          <a:xfrm>
            <a:off x="1173888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334D3D2-53BF-4257-B3DB-24C0051DFB03}" type="slidenum">
              <a:rPr sz="1200"/>
              <a:t>28</a:t>
            </a:fld>
            <a:endParaRPr lang="en-GB" sz="1200" b="0" i="0" u="none" strike="noStrike" kern="1200" cap="none" spc="0" baseline="0" dirty="0">
              <a:solidFill>
                <a:srgbClr val="000000"/>
              </a:solidFill>
              <a:uFillTx/>
              <a:latin typeface="Calibri"/>
            </a:endParaRPr>
          </a:p>
        </p:txBody>
      </p:sp>
      <p:sp>
        <p:nvSpPr>
          <p:cNvPr id="15" name="Rectangle 21">
            <a:extLst>
              <a:ext uri="{FF2B5EF4-FFF2-40B4-BE49-F238E27FC236}">
                <a16:creationId xmlns:a16="http://schemas.microsoft.com/office/drawing/2014/main" id="{44F18EC7-AEEA-4197-ADCA-2EBC2DCD2B91}"/>
              </a:ext>
            </a:extLst>
          </p:cNvPr>
          <p:cNvSpPr/>
          <p:nvPr/>
        </p:nvSpPr>
        <p:spPr>
          <a:xfrm>
            <a:off x="881435" y="4359456"/>
            <a:ext cx="10744968" cy="123110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Excise Workaround</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declaring the following excise procedure codes: 0151, 0153, 0171, 0751, 0753, 0771, 4251, 4253 or 4271, then instead of submitting the code “C” in Data Element 1/2 Additional Declaration Type </a:t>
            </a:r>
            <a:r>
              <a:rPr lang="en-GB" sz="1200" b="1" i="0" u="none" strike="noStrike" kern="1200" cap="none" spc="0" baseline="0">
                <a:solidFill>
                  <a:srgbClr val="000000"/>
                </a:solidFill>
                <a:uFillTx/>
                <a:latin typeface="Calibri"/>
              </a:rPr>
              <a:t>you will need to submit the code “A”.  </a:t>
            </a:r>
            <a:r>
              <a:rPr lang="en-GB" sz="1200" b="0" i="0" u="none" strike="noStrike" kern="1200" cap="none" spc="0" baseline="0">
                <a:solidFill>
                  <a:srgbClr val="000000"/>
                </a:solidFill>
                <a:uFillTx/>
                <a:latin typeface="Calibri"/>
              </a:rPr>
              <a:t>You will still need to complete the declaration based on the UK Trade Tariff guidance for an H1 dataset and the procedure code submitted. </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6" name="Oval 45">
            <a:hlinkClick r:id="rId3" action="ppaction://hlinksldjump"/>
            <a:extLst>
              <a:ext uri="{FF2B5EF4-FFF2-40B4-BE49-F238E27FC236}">
                <a16:creationId xmlns:a16="http://schemas.microsoft.com/office/drawing/2014/main" id="{6D2CBED5-0930-47C0-B68F-BF9FF7B828A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46">
            <a:hlinkClick r:id="rId3" action="ppaction://hlinksldjump"/>
            <a:extLst>
              <a:ext uri="{FF2B5EF4-FFF2-40B4-BE49-F238E27FC236}">
                <a16:creationId xmlns:a16="http://schemas.microsoft.com/office/drawing/2014/main" id="{39FB78DE-589F-479F-A53E-C6C105A01AC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47">
            <a:hlinkClick r:id="rId4" action="ppaction://hlinksldjump"/>
            <a:extLst>
              <a:ext uri="{FF2B5EF4-FFF2-40B4-BE49-F238E27FC236}">
                <a16:creationId xmlns:a16="http://schemas.microsoft.com/office/drawing/2014/main" id="{2CA0583A-1ED3-4792-91F9-E233E8F018A1}"/>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48">
            <a:hlinkClick r:id="rId5" action="ppaction://hlinksldjump"/>
            <a:extLst>
              <a:ext uri="{FF2B5EF4-FFF2-40B4-BE49-F238E27FC236}">
                <a16:creationId xmlns:a16="http://schemas.microsoft.com/office/drawing/2014/main" id="{85AF8D9A-E3B5-4405-B4FF-CB36836DA690}"/>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49">
            <a:hlinkClick r:id="rId3" action="ppaction://hlinksldjump"/>
            <a:extLst>
              <a:ext uri="{FF2B5EF4-FFF2-40B4-BE49-F238E27FC236}">
                <a16:creationId xmlns:a16="http://schemas.microsoft.com/office/drawing/2014/main" id="{8C526F88-C8B8-4F12-9F26-F1524B770C0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1" name="TextBox 50">
            <a:hlinkClick r:id="rId3" action="ppaction://hlinksldjump"/>
            <a:extLst>
              <a:ext uri="{FF2B5EF4-FFF2-40B4-BE49-F238E27FC236}">
                <a16:creationId xmlns:a16="http://schemas.microsoft.com/office/drawing/2014/main" id="{2161498D-C70C-4080-8F9B-15F7ED3AF367}"/>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22" name="TextBox 51">
            <a:hlinkClick r:id="rId4" action="ppaction://hlinksldjump"/>
            <a:extLst>
              <a:ext uri="{FF2B5EF4-FFF2-40B4-BE49-F238E27FC236}">
                <a16:creationId xmlns:a16="http://schemas.microsoft.com/office/drawing/2014/main" id="{057E42F5-3C09-436D-A554-14897057B3BB}"/>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3" name="TextBox 52">
            <a:hlinkClick r:id="rId4" action="ppaction://hlinksldjump"/>
            <a:extLst>
              <a:ext uri="{FF2B5EF4-FFF2-40B4-BE49-F238E27FC236}">
                <a16:creationId xmlns:a16="http://schemas.microsoft.com/office/drawing/2014/main" id="{E6ECB00E-9F5E-40FC-A762-F51B03245DE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4" name="Oval 53">
            <a:extLst>
              <a:ext uri="{FF2B5EF4-FFF2-40B4-BE49-F238E27FC236}">
                <a16:creationId xmlns:a16="http://schemas.microsoft.com/office/drawing/2014/main" id="{7F76B954-32E1-4A25-ADF2-2BFF547DD1E0}"/>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TextBox 54">
            <a:hlinkClick r:id="rId6" action="ppaction://hlinksldjump"/>
            <a:extLst>
              <a:ext uri="{FF2B5EF4-FFF2-40B4-BE49-F238E27FC236}">
                <a16:creationId xmlns:a16="http://schemas.microsoft.com/office/drawing/2014/main" id="{2202FF57-859E-4127-990D-AF512D67A29C}"/>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6" name="Picture 40">
            <a:hlinkClick r:id="rId3" action="ppaction://hlinksldjump"/>
            <a:extLst>
              <a:ext uri="{FF2B5EF4-FFF2-40B4-BE49-F238E27FC236}">
                <a16:creationId xmlns:a16="http://schemas.microsoft.com/office/drawing/2014/main" id="{A16A4026-5D9B-491D-9353-AD56609B7ECA}"/>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7" name="Oval 56">
            <a:hlinkClick r:id="rId3" action="ppaction://hlinksldjump"/>
            <a:extLst>
              <a:ext uri="{FF2B5EF4-FFF2-40B4-BE49-F238E27FC236}">
                <a16:creationId xmlns:a16="http://schemas.microsoft.com/office/drawing/2014/main" id="{2A385612-ACBA-44F7-B1E6-1F4C8793BBF3}"/>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8" name="Picture 106" descr="57% HMRCppt logo">
            <a:extLst>
              <a:ext uri="{FF2B5EF4-FFF2-40B4-BE49-F238E27FC236}">
                <a16:creationId xmlns:a16="http://schemas.microsoft.com/office/drawing/2014/main" id="{FA9C2CAE-8199-EE4F-FC1D-6669130BDB5B}"/>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838840284">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38A45F13-ABAA-409A-A098-D7CBA47E092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F773FF3-6B45-488D-9A9C-4100825EEC6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8CAEEA8-5E34-41F5-9627-95CADFCD516D}"/>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4">
            <a:extLst>
              <a:ext uri="{FF2B5EF4-FFF2-40B4-BE49-F238E27FC236}">
                <a16:creationId xmlns:a16="http://schemas.microsoft.com/office/drawing/2014/main" id="{006942BC-8945-47AC-98D5-904F1894EA8F}"/>
              </a:ext>
            </a:extLst>
          </p:cNvPr>
          <p:cNvSpPr/>
          <p:nvPr/>
        </p:nvSpPr>
        <p:spPr>
          <a:xfrm>
            <a:off x="363967" y="756099"/>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Duty Calculation</a:t>
            </a:r>
            <a:endParaRPr lang="en-GB" sz="2400" b="1" i="0" u="none" strike="noStrike" kern="1200" cap="none" spc="0" baseline="0">
              <a:solidFill>
                <a:srgbClr val="000000"/>
              </a:solidFill>
              <a:uFillTx/>
              <a:latin typeface="Calibri" pitchFamily="34"/>
              <a:ea typeface="Calibri" pitchFamily="34"/>
            </a:endParaRPr>
          </a:p>
        </p:txBody>
      </p:sp>
      <p:sp>
        <p:nvSpPr>
          <p:cNvPr id="7" name="Slide Number Placeholder 5">
            <a:extLst>
              <a:ext uri="{FF2B5EF4-FFF2-40B4-BE49-F238E27FC236}">
                <a16:creationId xmlns:a16="http://schemas.microsoft.com/office/drawing/2014/main" id="{37ACFD94-39DC-4D79-8D37-7B58C27B90D8}"/>
              </a:ext>
            </a:extLst>
          </p:cNvPr>
          <p:cNvSpPr txBox="1"/>
          <p:nvPr/>
        </p:nvSpPr>
        <p:spPr>
          <a:xfrm>
            <a:off x="1173888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C35F832-CBD0-4AC7-B0B8-09747446FC6C}" type="slidenum">
              <a:rPr sz="1200"/>
              <a:t>29</a:t>
            </a:fld>
            <a:endParaRPr lang="en-GB" sz="1200" b="0" i="0" u="none" strike="noStrike" kern="1200" cap="none" spc="0" baseline="0" dirty="0">
              <a:solidFill>
                <a:srgbClr val="000000"/>
              </a:solidFill>
              <a:uFillTx/>
              <a:latin typeface="Calibri"/>
            </a:endParaRPr>
          </a:p>
        </p:txBody>
      </p:sp>
      <p:sp>
        <p:nvSpPr>
          <p:cNvPr id="8" name="Rectangle 4">
            <a:extLst>
              <a:ext uri="{FF2B5EF4-FFF2-40B4-BE49-F238E27FC236}">
                <a16:creationId xmlns:a16="http://schemas.microsoft.com/office/drawing/2014/main" id="{5F179DFC-89B8-4AF2-B3AE-4E512F1C2A5B}"/>
              </a:ext>
            </a:extLst>
          </p:cNvPr>
          <p:cNvSpPr/>
          <p:nvPr/>
        </p:nvSpPr>
        <p:spPr>
          <a:xfrm>
            <a:off x="363967" y="1186406"/>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Value Build Up</a:t>
            </a:r>
            <a:endParaRPr lang="en-GB" sz="1800" b="1" i="0" u="none" strike="noStrike" kern="1200" cap="none" spc="0" baseline="0">
              <a:solidFill>
                <a:srgbClr val="000000"/>
              </a:solidFill>
              <a:uFillTx/>
              <a:latin typeface="Calibri" pitchFamily="34"/>
              <a:ea typeface="Calibri" pitchFamily="34"/>
            </a:endParaRPr>
          </a:p>
        </p:txBody>
      </p:sp>
      <p:sp>
        <p:nvSpPr>
          <p:cNvPr id="9" name="Rectangle 46">
            <a:extLst>
              <a:ext uri="{FF2B5EF4-FFF2-40B4-BE49-F238E27FC236}">
                <a16:creationId xmlns:a16="http://schemas.microsoft.com/office/drawing/2014/main" id="{E755D357-2C74-4701-885F-4B040DA257E8}"/>
              </a:ext>
            </a:extLst>
          </p:cNvPr>
          <p:cNvSpPr/>
          <p:nvPr/>
        </p:nvSpPr>
        <p:spPr>
          <a:xfrm>
            <a:off x="446940" y="1515791"/>
            <a:ext cx="11430155" cy="1697382"/>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47">
            <a:extLst>
              <a:ext uri="{FF2B5EF4-FFF2-40B4-BE49-F238E27FC236}">
                <a16:creationId xmlns:a16="http://schemas.microsoft.com/office/drawing/2014/main" id="{AF257DA1-32F1-44EF-88ED-45FB5280E144}"/>
              </a:ext>
            </a:extLst>
          </p:cNvPr>
          <p:cNvSpPr txBox="1"/>
          <p:nvPr/>
        </p:nvSpPr>
        <p:spPr>
          <a:xfrm>
            <a:off x="852376" y="1572941"/>
            <a:ext cx="10997095" cy="156965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Although UK Trade Tariff for CDS: Volume 3 indicates that the codes for D.E. 4/9 Additions and Deductions can be declared up to 99 times at both the header and the item level, however, the following guidance should be followed:</a:t>
            </a:r>
            <a:endParaRPr lang="en-GB" sz="1400" b="0" i="0" u="none" strike="noStrike" kern="1200" cap="none" spc="0" baseline="0">
              <a:solidFill>
                <a:srgbClr val="000000"/>
              </a:solidFill>
              <a:uFillTx/>
              <a:latin typeface="Calibri"/>
            </a:endParaRPr>
          </a:p>
          <a:p>
            <a:pPr marL="342900" marR="0" lvl="0" indent="-34290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Item Level: only one instance of each code will be allowed</a:t>
            </a:r>
            <a:endParaRPr lang="en-GB" sz="1400" b="1" i="0" u="none" strike="noStrike" kern="1200" cap="none" spc="0" baseline="0">
              <a:solidFill>
                <a:srgbClr val="000000"/>
              </a:solidFill>
              <a:uFillTx/>
              <a:latin typeface="Calibri"/>
            </a:endParaRPr>
          </a:p>
          <a:p>
            <a:pPr marL="342900" marR="0" lvl="0" indent="-34290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Header Level: only one instance of each code will be allowed</a:t>
            </a: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two instances of a code could be applied, it is requested that the submitter aggregates the value additions or deductions. This applies to all codes found in Appendix 10 of the UK Trade Tariff for CDS: Volume 3. For example, if there is a royalty fee needed across two different agreements of £500 and £600, rather than declaring two instances of code AI, £1100 would be declared against one instance of code AI. </a:t>
            </a:r>
            <a:endParaRPr lang="en-GB" sz="1400" b="0" i="0" u="none" strike="noStrike" kern="1200" cap="none" spc="0" baseline="0">
              <a:solidFill>
                <a:srgbClr val="000000"/>
              </a:solidFill>
              <a:uFillTx/>
              <a:latin typeface="Calibri"/>
            </a:endParaRPr>
          </a:p>
        </p:txBody>
      </p:sp>
      <p:sp>
        <p:nvSpPr>
          <p:cNvPr id="11" name="Rectangle 48">
            <a:extLst>
              <a:ext uri="{FF2B5EF4-FFF2-40B4-BE49-F238E27FC236}">
                <a16:creationId xmlns:a16="http://schemas.microsoft.com/office/drawing/2014/main" id="{A9B4E0AC-79F5-4572-9A4F-49B42D4A73E2}"/>
              </a:ext>
            </a:extLst>
          </p:cNvPr>
          <p:cNvSpPr/>
          <p:nvPr/>
        </p:nvSpPr>
        <p:spPr>
          <a:xfrm rot="16200004">
            <a:off x="-250166" y="2230729"/>
            <a:ext cx="1679542" cy="285329"/>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a:solidFill>
                  <a:srgbClr val="FFFFFF"/>
                </a:solidFill>
                <a:uFillTx/>
                <a:latin typeface="Calibri"/>
              </a:rPr>
              <a:t>FUNCTIONAL CALL OUT</a:t>
            </a:r>
          </a:p>
        </p:txBody>
      </p:sp>
      <p:sp>
        <p:nvSpPr>
          <p:cNvPr id="12" name="Oval 41">
            <a:hlinkClick r:id="rId3" action="ppaction://hlinksldjump"/>
            <a:extLst>
              <a:ext uri="{FF2B5EF4-FFF2-40B4-BE49-F238E27FC236}">
                <a16:creationId xmlns:a16="http://schemas.microsoft.com/office/drawing/2014/main" id="{BAC5E9E8-86D0-4482-B92C-0FD2CD3D3E4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2">
            <a:hlinkClick r:id="rId3" action="ppaction://hlinksldjump"/>
            <a:extLst>
              <a:ext uri="{FF2B5EF4-FFF2-40B4-BE49-F238E27FC236}">
                <a16:creationId xmlns:a16="http://schemas.microsoft.com/office/drawing/2014/main" id="{2DD2939D-1BF2-43E1-9440-85BF52AC1FAD}"/>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3">
            <a:hlinkClick r:id="rId4" action="ppaction://hlinksldjump"/>
            <a:extLst>
              <a:ext uri="{FF2B5EF4-FFF2-40B4-BE49-F238E27FC236}">
                <a16:creationId xmlns:a16="http://schemas.microsoft.com/office/drawing/2014/main" id="{C3796C88-508C-4A4B-A425-D88455937072}"/>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4">
            <a:hlinkClick r:id="rId5" action="ppaction://hlinksldjump"/>
            <a:extLst>
              <a:ext uri="{FF2B5EF4-FFF2-40B4-BE49-F238E27FC236}">
                <a16:creationId xmlns:a16="http://schemas.microsoft.com/office/drawing/2014/main" id="{53598DDD-62D9-4C91-9BCB-073CA342638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45">
            <a:hlinkClick r:id="rId3" action="ppaction://hlinksldjump"/>
            <a:extLst>
              <a:ext uri="{FF2B5EF4-FFF2-40B4-BE49-F238E27FC236}">
                <a16:creationId xmlns:a16="http://schemas.microsoft.com/office/drawing/2014/main" id="{77A01FAF-C66E-4711-BFFF-CA7DD1F30FA6}"/>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49">
            <a:hlinkClick r:id="rId3" action="ppaction://hlinksldjump"/>
            <a:extLst>
              <a:ext uri="{FF2B5EF4-FFF2-40B4-BE49-F238E27FC236}">
                <a16:creationId xmlns:a16="http://schemas.microsoft.com/office/drawing/2014/main" id="{6DFBA4AE-7508-4D66-A39B-B7CE3942A0EB}"/>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8" name="TextBox 50">
            <a:hlinkClick r:id="rId4" action="ppaction://hlinksldjump"/>
            <a:extLst>
              <a:ext uri="{FF2B5EF4-FFF2-40B4-BE49-F238E27FC236}">
                <a16:creationId xmlns:a16="http://schemas.microsoft.com/office/drawing/2014/main" id="{48839A6F-0AFB-4553-9827-B641CFA84FBF}"/>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51">
            <a:hlinkClick r:id="rId4" action="ppaction://hlinksldjump"/>
            <a:extLst>
              <a:ext uri="{FF2B5EF4-FFF2-40B4-BE49-F238E27FC236}">
                <a16:creationId xmlns:a16="http://schemas.microsoft.com/office/drawing/2014/main" id="{BD403040-F7D6-4CCD-B8DD-640907EB087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52">
            <a:extLst>
              <a:ext uri="{FF2B5EF4-FFF2-40B4-BE49-F238E27FC236}">
                <a16:creationId xmlns:a16="http://schemas.microsoft.com/office/drawing/2014/main" id="{94A5DED1-4FFC-496B-8A04-48E82C7E56D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53">
            <a:hlinkClick r:id="rId6" action="ppaction://hlinksldjump"/>
            <a:extLst>
              <a:ext uri="{FF2B5EF4-FFF2-40B4-BE49-F238E27FC236}">
                <a16:creationId xmlns:a16="http://schemas.microsoft.com/office/drawing/2014/main" id="{A277A578-54D5-4FE2-AA5A-09C3EC92818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3" action="ppaction://hlinksldjump"/>
            <a:extLst>
              <a:ext uri="{FF2B5EF4-FFF2-40B4-BE49-F238E27FC236}">
                <a16:creationId xmlns:a16="http://schemas.microsoft.com/office/drawing/2014/main" id="{4825EACC-E220-4F0A-B860-5937076196AC}"/>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55">
            <a:hlinkClick r:id="rId3" action="ppaction://hlinksldjump"/>
            <a:extLst>
              <a:ext uri="{FF2B5EF4-FFF2-40B4-BE49-F238E27FC236}">
                <a16:creationId xmlns:a16="http://schemas.microsoft.com/office/drawing/2014/main" id="{E7B53DD8-733F-413C-91AF-DE26A3E787E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4" name="Picture 106" descr="57% HMRCppt logo">
            <a:extLst>
              <a:ext uri="{FF2B5EF4-FFF2-40B4-BE49-F238E27FC236}">
                <a16:creationId xmlns:a16="http://schemas.microsoft.com/office/drawing/2014/main" id="{9C92746D-8A56-B28D-C3CB-4BE8B165CB34}"/>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838840314">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1039DCE3-04B7-40FC-819A-2CBA24D5E6FF}"/>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0ECB6433-D8CF-42B1-9165-9003969DDA58}"/>
              </a:ext>
            </a:extLst>
          </p:cNvPr>
          <p:cNvSpPr txBox="1"/>
          <p:nvPr/>
        </p:nvSpPr>
        <p:spPr>
          <a:xfrm>
            <a:off x="391280" y="261225"/>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4" name="Rectangle 4">
            <a:extLst>
              <a:ext uri="{FF2B5EF4-FFF2-40B4-BE49-F238E27FC236}">
                <a16:creationId xmlns:a16="http://schemas.microsoft.com/office/drawing/2014/main" id="{F80E6687-5546-4A36-9776-BFE3DD45AEC0}"/>
              </a:ext>
            </a:extLst>
          </p:cNvPr>
          <p:cNvSpPr/>
          <p:nvPr/>
        </p:nvSpPr>
        <p:spPr>
          <a:xfrm>
            <a:off x="399446" y="756537"/>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Payment Processing</a:t>
            </a:r>
          </a:p>
        </p:txBody>
      </p:sp>
      <p:sp>
        <p:nvSpPr>
          <p:cNvPr id="5" name="Rectangle 4">
            <a:extLst>
              <a:ext uri="{FF2B5EF4-FFF2-40B4-BE49-F238E27FC236}">
                <a16:creationId xmlns:a16="http://schemas.microsoft.com/office/drawing/2014/main" id="{CC9F78A5-D978-4A7A-A80C-AC96FAAEF55F}"/>
              </a:ext>
            </a:extLst>
          </p:cNvPr>
          <p:cNvSpPr/>
          <p:nvPr/>
        </p:nvSpPr>
        <p:spPr>
          <a:xfrm>
            <a:off x="399446" y="1125864"/>
            <a:ext cx="69697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Methods of Payments</a:t>
            </a:r>
          </a:p>
        </p:txBody>
      </p:sp>
      <p:graphicFrame>
        <p:nvGraphicFramePr>
          <p:cNvPr id="6" name="Table 4">
            <a:extLst>
              <a:ext uri="{FF2B5EF4-FFF2-40B4-BE49-F238E27FC236}">
                <a16:creationId xmlns:a16="http://schemas.microsoft.com/office/drawing/2014/main" id="{9DCBDDAB-A89D-4084-B394-6ADD960F3138}"/>
              </a:ext>
            </a:extLst>
          </p:cNvPr>
          <p:cNvGraphicFramePr>
            <a:graphicFrameLocks noGrp="1"/>
          </p:cNvGraphicFramePr>
          <p:nvPr/>
        </p:nvGraphicFramePr>
        <p:xfrm>
          <a:off x="485518" y="1463506"/>
          <a:ext cx="11313880" cy="1828673"/>
        </p:xfrm>
        <a:graphic>
          <a:graphicData uri="http://schemas.openxmlformats.org/drawingml/2006/table">
            <a:tbl>
              <a:tblPr firstRow="1" bandRow="1">
                <a:effectLst/>
                <a:tableStyleId>{5C22544A-7EE6-4342-B048-85BDC9FD1C3A}</a:tableStyleId>
              </a:tblPr>
              <a:tblGrid>
                <a:gridCol w="8608143">
                  <a:extLst>
                    <a:ext uri="{9D8B030D-6E8A-4147-A177-3AD203B41FA5}">
                      <a16:colId xmlns:a16="http://schemas.microsoft.com/office/drawing/2014/main" val="1355198483"/>
                    </a:ext>
                  </a:extLst>
                </a:gridCol>
                <a:gridCol w="2705737">
                  <a:extLst>
                    <a:ext uri="{9D8B030D-6E8A-4147-A177-3AD203B41FA5}">
                      <a16:colId xmlns:a16="http://schemas.microsoft.com/office/drawing/2014/main" val="3155992046"/>
                    </a:ext>
                  </a:extLst>
                </a:gridCol>
              </a:tblGrid>
              <a:tr h="146285">
                <a:tc>
                  <a:txBody>
                    <a:bodyPr/>
                    <a:lstStyle/>
                    <a:p>
                      <a:pPr marL="0" marR="0" lvl="0" indent="0" algn="l" defTabSz="914400" rtl="0" fontAlgn="auto" hangingPunct="1">
                        <a:lnSpc>
                          <a:spcPct val="100000"/>
                        </a:lnSpc>
                        <a:spcBef>
                          <a:spcPts val="0"/>
                        </a:spcBef>
                        <a:spcAft>
                          <a:spcPts val="0"/>
                        </a:spcAft>
                        <a:buNone/>
                        <a:tabLst/>
                      </a:pPr>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2395625410"/>
                  </a:ext>
                </a:extLst>
              </a:tr>
              <a:tr h="746790">
                <a:tc>
                  <a:txBody>
                    <a:bodyPr/>
                    <a:lstStyle/>
                    <a:p>
                      <a:pPr lvl="0">
                        <a:lnSpc>
                          <a:spcPct val="107000"/>
                        </a:lnSpc>
                        <a:spcAft>
                          <a:spcPts val="800"/>
                        </a:spcAft>
                      </a:pPr>
                      <a:r>
                        <a:rPr lang="en-GB" sz="1200" dirty="0"/>
                        <a:t>As part of TTM12.0.0, the following Methods of Payments will be in scope for Trade Test and Trader Dress Rehearsal:</a:t>
                      </a:r>
                    </a:p>
                    <a:p>
                      <a:pPr marL="171450" lvl="0" indent="-171450" algn="l">
                        <a:buSzPct val="100000"/>
                        <a:buFont typeface="Arial" pitchFamily="34"/>
                        <a:buChar char="•"/>
                      </a:pPr>
                      <a:r>
                        <a:rPr lang="en-GB" sz="1200" dirty="0"/>
                        <a:t>Guarantee Account</a:t>
                      </a:r>
                    </a:p>
                    <a:p>
                      <a:pPr marL="171450" lvl="0" indent="-171450" algn="l">
                        <a:buSzPct val="100000"/>
                        <a:buFont typeface="Arial" pitchFamily="34"/>
                        <a:buChar char="•"/>
                      </a:pPr>
                      <a:r>
                        <a:rPr lang="en-GB" sz="1200" dirty="0"/>
                        <a:t>Cash Account</a:t>
                      </a:r>
                    </a:p>
                    <a:p>
                      <a:pPr marL="171450" lvl="0" indent="-171450" algn="l">
                        <a:buSzPct val="100000"/>
                        <a:buFont typeface="Arial" pitchFamily="34"/>
                        <a:buChar char="•"/>
                      </a:pPr>
                      <a:r>
                        <a:rPr lang="en-GB" sz="1200" dirty="0"/>
                        <a:t>Individual Guarantee Account</a:t>
                      </a:r>
                      <a:endParaRPr lang="en-GB" sz="1100" dirty="0"/>
                    </a:p>
                    <a:p>
                      <a:pPr marL="171450" lvl="0" indent="-171450" algn="l">
                        <a:buSzPct val="100000"/>
                        <a:buFont typeface="Arial" pitchFamily="34"/>
                        <a:buChar char="•"/>
                      </a:pPr>
                      <a:r>
                        <a:rPr lang="en-GB" sz="1200" dirty="0"/>
                        <a:t>Allowing both Duty Deferment and Guarantee Account to be declared as MOPs on a single declaration </a:t>
                      </a:r>
                    </a:p>
                    <a:p>
                      <a:pPr marL="0" lvl="0" indent="0" algn="l">
                        <a:buNone/>
                      </a:pPr>
                      <a:endParaRPr lang="en-GB" sz="1200" dirty="0"/>
                    </a:p>
                    <a:p>
                      <a:pPr marL="0" lvl="0" indent="0" algn="l">
                        <a:buNone/>
                      </a:pPr>
                      <a:r>
                        <a:rPr lang="en-GB" sz="1200" dirty="0"/>
                        <a:t>Detailed declaration completion information can be found in the Simulated section as this functionality is also available in production. </a:t>
                      </a:r>
                    </a:p>
                  </a:txBody>
                  <a:tcPr>
                    <a:lnR w="57150" cap="flat" cmpd="sng" algn="ctr">
                      <a:solidFill>
                        <a:srgbClr val="FFFFFF"/>
                      </a:solidFill>
                      <a:prstDash val="solid"/>
                      <a:round/>
                      <a:headEnd type="none" w="med" len="med"/>
                      <a:tailEnd type="none" w="med" len="med"/>
                    </a:lnR>
                    <a:solidFill>
                      <a:srgbClr val="F2F2F2"/>
                    </a:solidFill>
                  </a:tcPr>
                </a:tc>
                <a:tc>
                  <a:txBody>
                    <a:bodyPr/>
                    <a:lstStyle/>
                    <a:p>
                      <a:pPr lvl="0">
                        <a:lnSpc>
                          <a:spcPct val="107000"/>
                        </a:lnSpc>
                        <a:spcAft>
                          <a:spcPts val="800"/>
                        </a:spcAft>
                      </a:pPr>
                      <a:r>
                        <a:rPr lang="en-GB" sz="1200" dirty="0">
                          <a:solidFill>
                            <a:srgbClr val="000000"/>
                          </a:solidFill>
                          <a:ea typeface="Arial" pitchFamily="34"/>
                        </a:rPr>
                        <a:t>Please note, there will be additional test data added to the Test Data Library for the new methods of payment introduced with the release.</a:t>
                      </a:r>
                    </a:p>
                    <a:p>
                      <a:pPr lvl="0">
                        <a:lnSpc>
                          <a:spcPct val="107000"/>
                        </a:lnSpc>
                        <a:spcAft>
                          <a:spcPts val="800"/>
                        </a:spcAft>
                      </a:pPr>
                      <a:r>
                        <a:rPr lang="en-GB" sz="1200" dirty="0">
                          <a:solidFill>
                            <a:srgbClr val="000000"/>
                          </a:solidFill>
                          <a:ea typeface="Arial" pitchFamily="34"/>
                        </a:rPr>
                        <a:t>TDR uses real trader data including account data. Real account references should be included in TDR.</a:t>
                      </a:r>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140825835"/>
                  </a:ext>
                </a:extLst>
              </a:tr>
            </a:tbl>
          </a:graphicData>
        </a:graphic>
      </p:graphicFrame>
      <p:sp>
        <p:nvSpPr>
          <p:cNvPr id="7" name="Rectangle 35">
            <a:extLst>
              <a:ext uri="{FF2B5EF4-FFF2-40B4-BE49-F238E27FC236}">
                <a16:creationId xmlns:a16="http://schemas.microsoft.com/office/drawing/2014/main" id="{12F9EC23-EDC9-4A2B-9F68-4E4367B725EC}"/>
              </a:ext>
            </a:extLst>
          </p:cNvPr>
          <p:cNvSpPr/>
          <p:nvPr/>
        </p:nvSpPr>
        <p:spPr>
          <a:xfrm>
            <a:off x="605908" y="3477490"/>
            <a:ext cx="11193490" cy="2462214"/>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Rectangle 36">
            <a:extLst>
              <a:ext uri="{FF2B5EF4-FFF2-40B4-BE49-F238E27FC236}">
                <a16:creationId xmlns:a16="http://schemas.microsoft.com/office/drawing/2014/main" id="{EBA40900-CEA7-45CC-83E9-02462F071BF2}"/>
              </a:ext>
            </a:extLst>
          </p:cNvPr>
          <p:cNvSpPr/>
          <p:nvPr/>
        </p:nvSpPr>
        <p:spPr>
          <a:xfrm rot="16200004">
            <a:off x="-627941" y="4585931"/>
            <a:ext cx="2462214" cy="235293"/>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9" name="Rectangle 37">
            <a:extLst>
              <a:ext uri="{FF2B5EF4-FFF2-40B4-BE49-F238E27FC236}">
                <a16:creationId xmlns:a16="http://schemas.microsoft.com/office/drawing/2014/main" id="{32F181B7-F180-4AD6-BE9A-308A6B8E7339}"/>
              </a:ext>
            </a:extLst>
          </p:cNvPr>
          <p:cNvSpPr/>
          <p:nvPr/>
        </p:nvSpPr>
        <p:spPr>
          <a:xfrm>
            <a:off x="823618" y="3522268"/>
            <a:ext cx="4764380" cy="201593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General Guarantee Account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TT_FI01a - </a:t>
            </a:r>
            <a:r>
              <a:rPr lang="en-GB" sz="1200" b="0" i="0" u="none" strike="noStrike" kern="1200" cap="none" spc="0" baseline="0">
                <a:solidFill>
                  <a:srgbClr val="000000"/>
                </a:solidFill>
                <a:uFillTx/>
                <a:latin typeface="Calibri"/>
              </a:rPr>
              <a:t>General Guarantee Account for Method of Payment (MoP) with Sufficient Funds: Imports Type A declaration with direct representation that uses the General Guarantee Account they own for MoP, which will result in the a security amount being owed. There will be no outright charges.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TT_FI01b - </a:t>
            </a:r>
            <a:r>
              <a:rPr lang="en-GB" sz="1200" b="0" i="0" u="none" strike="noStrike" kern="1200" cap="none" spc="0" baseline="0">
                <a:solidFill>
                  <a:srgbClr val="000000"/>
                </a:solidFill>
                <a:uFillTx/>
                <a:latin typeface="Calibri"/>
              </a:rPr>
              <a:t>General Guarantee Account for MoP with Insufficient Funds: Imports Type A declaration with self representation that uses the General Guarantee Account they own for MoP. The General Guarantee account has insufficient funds and the declaration will be held in DMS. </a:t>
            </a:r>
          </a:p>
        </p:txBody>
      </p:sp>
      <p:sp>
        <p:nvSpPr>
          <p:cNvPr id="10" name="TextBox 11">
            <a:extLst>
              <a:ext uri="{FF2B5EF4-FFF2-40B4-BE49-F238E27FC236}">
                <a16:creationId xmlns:a16="http://schemas.microsoft.com/office/drawing/2014/main" id="{1598B5BC-59E8-4EB5-8E94-D952162F9E5D}"/>
              </a:ext>
            </a:extLst>
          </p:cNvPr>
          <p:cNvSpPr txBox="1"/>
          <p:nvPr/>
        </p:nvSpPr>
        <p:spPr>
          <a:xfrm>
            <a:off x="5587998" y="3522844"/>
            <a:ext cx="6108594" cy="1908215"/>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Cash Account</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TT_FI04a - </a:t>
            </a:r>
            <a:r>
              <a:rPr lang="en-GB" sz="1200" b="0" i="0" u="none" strike="noStrike" kern="1200" cap="none" spc="0" baseline="0">
                <a:solidFill>
                  <a:srgbClr val="000000"/>
                </a:solidFill>
                <a:uFillTx/>
                <a:latin typeface="Calibri" pitchFamily="34"/>
              </a:rPr>
              <a:t>Cash Account for MoP: Imports Type A declaration that uses a cash account for MoP.</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500" b="1" i="0" u="none" strike="noStrike" kern="1200" cap="none" spc="0" baseline="0">
              <a:solidFill>
                <a:srgbClr val="000000"/>
              </a:solidFill>
              <a:uFillTx/>
              <a:latin typeface="Calibri" pitchFamily="34"/>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Individual Guarantee Account</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TT_FI02a - </a:t>
            </a:r>
            <a:r>
              <a:rPr lang="en-GB" sz="1200" b="0" i="0" u="none" strike="noStrike" kern="1200" cap="none" spc="0" baseline="0">
                <a:solidFill>
                  <a:srgbClr val="000000"/>
                </a:solidFill>
                <a:uFillTx/>
                <a:latin typeface="Calibri" pitchFamily="34"/>
              </a:rPr>
              <a:t>Individual Guarantee for MoP: Imports Type A declaration that uses an individual guarantee for MoP. This will result in the creation of a security amount being owed.</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pitchFamily="34"/>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Both Deferment and General Guarantee Account on a Single Declaration</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TT_FI03a - </a:t>
            </a:r>
            <a:r>
              <a:rPr lang="en-GB" sz="1200" b="0" i="0" u="none" strike="noStrike" kern="1200" cap="none" spc="0" baseline="0">
                <a:solidFill>
                  <a:srgbClr val="000000"/>
                </a:solidFill>
                <a:uFillTx/>
                <a:latin typeface="Calibri" pitchFamily="34"/>
              </a:rPr>
              <a:t>Declaration using both Deferment and Guarantee Account Methods of Payment: Imports Type A declaration that includes both a GAN and a DAN for MoP. The declaration will result in the creation of outright duties and security amounts being owed.</a:t>
            </a:r>
          </a:p>
        </p:txBody>
      </p:sp>
      <p:sp>
        <p:nvSpPr>
          <p:cNvPr id="12" name="Slide Number Placeholder 5">
            <a:extLst>
              <a:ext uri="{FF2B5EF4-FFF2-40B4-BE49-F238E27FC236}">
                <a16:creationId xmlns:a16="http://schemas.microsoft.com/office/drawing/2014/main" id="{5456E765-6143-4ADA-BEF8-4C815D1E23E8}"/>
              </a:ext>
            </a:extLst>
          </p:cNvPr>
          <p:cNvSpPr txBox="1"/>
          <p:nvPr/>
        </p:nvSpPr>
        <p:spPr>
          <a:xfrm>
            <a:off x="1173888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E35B8DE-A7FC-4509-BA5F-42379510302F}" type="slidenum">
              <a:rPr sz="1200"/>
              <a:t>30</a:t>
            </a:fld>
            <a:endParaRPr lang="en-GB" sz="1200" b="0" i="0" u="none" strike="noStrike" kern="1200" cap="none" spc="0" baseline="0" dirty="0">
              <a:solidFill>
                <a:srgbClr val="000000"/>
              </a:solidFill>
              <a:uFillTx/>
              <a:latin typeface="Calibri"/>
            </a:endParaRPr>
          </a:p>
        </p:txBody>
      </p:sp>
      <p:sp>
        <p:nvSpPr>
          <p:cNvPr id="13" name="Oval 28">
            <a:hlinkClick r:id="rId3" action="ppaction://hlinksldjump"/>
            <a:extLst>
              <a:ext uri="{FF2B5EF4-FFF2-40B4-BE49-F238E27FC236}">
                <a16:creationId xmlns:a16="http://schemas.microsoft.com/office/drawing/2014/main" id="{29CF8F2A-7732-4F5D-B7B9-E14D886F813F}"/>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29">
            <a:hlinkClick r:id="rId3" action="ppaction://hlinksldjump"/>
            <a:extLst>
              <a:ext uri="{FF2B5EF4-FFF2-40B4-BE49-F238E27FC236}">
                <a16:creationId xmlns:a16="http://schemas.microsoft.com/office/drawing/2014/main" id="{ECD669A9-6867-43F6-BBE7-BE6AA846CABF}"/>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30">
            <a:hlinkClick r:id="rId4" action="ppaction://hlinksldjump"/>
            <a:extLst>
              <a:ext uri="{FF2B5EF4-FFF2-40B4-BE49-F238E27FC236}">
                <a16:creationId xmlns:a16="http://schemas.microsoft.com/office/drawing/2014/main" id="{79F1F4C3-2B1F-42F7-9867-BA197149EED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31">
            <a:hlinkClick r:id="rId5" action="ppaction://hlinksldjump"/>
            <a:extLst>
              <a:ext uri="{FF2B5EF4-FFF2-40B4-BE49-F238E27FC236}">
                <a16:creationId xmlns:a16="http://schemas.microsoft.com/office/drawing/2014/main" id="{C717DC74-ABA4-46B6-8053-4B8835EEB70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38">
            <a:hlinkClick r:id="rId3" action="ppaction://hlinksldjump"/>
            <a:extLst>
              <a:ext uri="{FF2B5EF4-FFF2-40B4-BE49-F238E27FC236}">
                <a16:creationId xmlns:a16="http://schemas.microsoft.com/office/drawing/2014/main" id="{84D190E8-F111-42FA-8F77-62734263C8A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8" name="TextBox 39">
            <a:hlinkClick r:id="rId3" action="ppaction://hlinksldjump"/>
            <a:extLst>
              <a:ext uri="{FF2B5EF4-FFF2-40B4-BE49-F238E27FC236}">
                <a16:creationId xmlns:a16="http://schemas.microsoft.com/office/drawing/2014/main" id="{F5E6CD82-E2AF-473C-92B9-B028BAD0B12B}"/>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9" name="TextBox 40">
            <a:hlinkClick r:id="rId4" action="ppaction://hlinksldjump"/>
            <a:extLst>
              <a:ext uri="{FF2B5EF4-FFF2-40B4-BE49-F238E27FC236}">
                <a16:creationId xmlns:a16="http://schemas.microsoft.com/office/drawing/2014/main" id="{32E3D333-9257-4232-97B8-22F27B98158F}"/>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0" name="TextBox 41">
            <a:hlinkClick r:id="rId4" action="ppaction://hlinksldjump"/>
            <a:extLst>
              <a:ext uri="{FF2B5EF4-FFF2-40B4-BE49-F238E27FC236}">
                <a16:creationId xmlns:a16="http://schemas.microsoft.com/office/drawing/2014/main" id="{099ADCCA-57AF-4AB8-ADD8-E9B1D3D23E5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1" name="Oval 42">
            <a:extLst>
              <a:ext uri="{FF2B5EF4-FFF2-40B4-BE49-F238E27FC236}">
                <a16:creationId xmlns:a16="http://schemas.microsoft.com/office/drawing/2014/main" id="{364E46BB-C0B6-43EC-A5EE-48B28E17D03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TextBox 44">
            <a:hlinkClick r:id="rId6" action="ppaction://hlinksldjump"/>
            <a:extLst>
              <a:ext uri="{FF2B5EF4-FFF2-40B4-BE49-F238E27FC236}">
                <a16:creationId xmlns:a16="http://schemas.microsoft.com/office/drawing/2014/main" id="{7BB5ACE6-C76F-47E3-9092-B2D3A21062F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3" name="Picture 40">
            <a:hlinkClick r:id="rId3" action="ppaction://hlinksldjump"/>
            <a:extLst>
              <a:ext uri="{FF2B5EF4-FFF2-40B4-BE49-F238E27FC236}">
                <a16:creationId xmlns:a16="http://schemas.microsoft.com/office/drawing/2014/main" id="{9FAFE7B7-739F-42A6-94EF-FF9FDDD7885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4" name="Oval 46">
            <a:hlinkClick r:id="rId3" action="ppaction://hlinksldjump"/>
            <a:extLst>
              <a:ext uri="{FF2B5EF4-FFF2-40B4-BE49-F238E27FC236}">
                <a16:creationId xmlns:a16="http://schemas.microsoft.com/office/drawing/2014/main" id="{01EF4092-7A09-4D7C-B4A4-E97049FC5A1A}"/>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5" name="Picture 106" descr="57% HMRCppt logo">
            <a:extLst>
              <a:ext uri="{FF2B5EF4-FFF2-40B4-BE49-F238E27FC236}">
                <a16:creationId xmlns:a16="http://schemas.microsoft.com/office/drawing/2014/main" id="{AA06E2E2-4653-A8D8-8465-D434A3E1C14B}"/>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83884028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EAD16C8-D591-4E7D-851C-E088D93FBC1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183ABB91-ED77-4A0D-8AAF-1543DF37EFA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152715E-4DB4-4D73-829B-1FDAF6A6C87C}"/>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4">
            <a:extLst>
              <a:ext uri="{FF2B5EF4-FFF2-40B4-BE49-F238E27FC236}">
                <a16:creationId xmlns:a16="http://schemas.microsoft.com/office/drawing/2014/main" id="{F75DFB82-DDB1-43F4-85EE-E912C8A85726}"/>
              </a:ext>
            </a:extLst>
          </p:cNvPr>
          <p:cNvSpPr/>
          <p:nvPr/>
        </p:nvSpPr>
        <p:spPr>
          <a:xfrm>
            <a:off x="364626" y="762536"/>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Payment Processing</a:t>
            </a:r>
            <a:endParaRPr lang="en-GB" sz="2400" b="1" i="0" u="none" strike="noStrike" kern="1200" cap="none" spc="0" baseline="0">
              <a:solidFill>
                <a:srgbClr val="000000"/>
              </a:solidFill>
              <a:uFillTx/>
              <a:latin typeface="Calibri" pitchFamily="34"/>
              <a:ea typeface="Calibri" pitchFamily="34"/>
            </a:endParaRPr>
          </a:p>
        </p:txBody>
      </p:sp>
      <p:sp>
        <p:nvSpPr>
          <p:cNvPr id="6" name="Rectangle 32">
            <a:extLst>
              <a:ext uri="{FF2B5EF4-FFF2-40B4-BE49-F238E27FC236}">
                <a16:creationId xmlns:a16="http://schemas.microsoft.com/office/drawing/2014/main" id="{80D400C1-697E-49F8-8140-9AF1CE443640}"/>
              </a:ext>
            </a:extLst>
          </p:cNvPr>
          <p:cNvSpPr/>
          <p:nvPr/>
        </p:nvSpPr>
        <p:spPr>
          <a:xfrm>
            <a:off x="439168" y="1217925"/>
            <a:ext cx="11191661" cy="2118125"/>
          </a:xfrm>
          <a:prstGeom prst="rect">
            <a:avLst/>
          </a:prstGeom>
          <a:solidFill>
            <a:srgbClr val="E7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TextBox 33">
            <a:extLst>
              <a:ext uri="{FF2B5EF4-FFF2-40B4-BE49-F238E27FC236}">
                <a16:creationId xmlns:a16="http://schemas.microsoft.com/office/drawing/2014/main" id="{B14CBAED-6228-4736-8BE2-FC03D7CAF06B}"/>
              </a:ext>
            </a:extLst>
          </p:cNvPr>
          <p:cNvSpPr txBox="1"/>
          <p:nvPr/>
        </p:nvSpPr>
        <p:spPr>
          <a:xfrm>
            <a:off x="768352" y="1242331"/>
            <a:ext cx="10791547" cy="196977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cs typeface="Calibri"/>
              </a:rPr>
              <a:t>General Guarantee Account Procedure Codes</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ea typeface="Calibri"/>
                <a:cs typeface="Calibri"/>
              </a:rPr>
              <a:t>Guarantee Accounts handle </a:t>
            </a:r>
            <a:r>
              <a:rPr lang="en-GB" sz="1200" b="1" i="0" u="none" strike="noStrike" kern="1200" cap="none" spc="0" baseline="0">
                <a:solidFill>
                  <a:srgbClr val="000000"/>
                </a:solidFill>
                <a:uFillTx/>
                <a:latin typeface="Calibri"/>
                <a:ea typeface="Calibri"/>
                <a:cs typeface="Calibri"/>
              </a:rPr>
              <a:t>secured revenue only</a:t>
            </a:r>
            <a:r>
              <a:rPr lang="en-GB" sz="1200" b="0" i="0" u="none" strike="noStrike" kern="1200" cap="none" spc="0" baseline="0">
                <a:solidFill>
                  <a:srgbClr val="000000"/>
                </a:solidFill>
                <a:uFillTx/>
                <a:latin typeface="Calibri"/>
                <a:ea typeface="Calibri"/>
                <a:cs typeface="Calibri"/>
              </a:rPr>
              <a:t>, but can be used with specific Customs Procedures only. Please note, the following procedure codes in D.E. 1/10 are not expected to be used with the General Guarantee Account as the method of payment on a declaration:</a:t>
            </a:r>
            <a:endParaRPr lang="en-US" sz="1200" b="0" i="0" u="none" strike="noStrike" kern="1200" cap="none" spc="0" baseline="0">
              <a:solidFill>
                <a:srgbClr val="000000"/>
              </a:solidFill>
              <a:uFillTx/>
              <a:latin typeface="Calibri"/>
              <a:ea typeface="Calibri"/>
              <a:cs typeface="Calibri"/>
            </a:endParaRPr>
          </a:p>
          <a:p>
            <a:pPr marL="171450" marR="0" lvl="0" indent="-171450" algn="l" defTabSz="914400" rtl="0" fontAlgn="auto" hangingPunct="1">
              <a:lnSpc>
                <a:spcPct val="100000"/>
              </a:lnSpc>
              <a:spcBef>
                <a:spcPts val="300"/>
              </a:spcBef>
              <a:spcAft>
                <a:spcPts val="0"/>
              </a:spcAft>
              <a:buSzPct val="100000"/>
              <a:buFont typeface="Arial"/>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ea typeface="Calibri"/>
                <a:cs typeface="Calibri"/>
              </a:rPr>
              <a:t>7100, 7110, 7121, 7123, 7151, 7153, 7154, 7171, 7178, 0008 (Inventory linking), 0009 (Inventory linking).</a:t>
            </a:r>
            <a:endParaRPr lang="en-GB" sz="18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Removal of MOP type G on CDS</a:t>
            </a:r>
          </a:p>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Whilst the Tariff notes MOP type G may be declared, this code has been removed from CDS code list and is no longer valid as a method of payment. Please note, MOP type G is not required to be declared in order to use PVA on CDS. </a:t>
            </a:r>
          </a:p>
        </p:txBody>
      </p:sp>
      <p:sp>
        <p:nvSpPr>
          <p:cNvPr id="8" name="Rectangle 34">
            <a:extLst>
              <a:ext uri="{FF2B5EF4-FFF2-40B4-BE49-F238E27FC236}">
                <a16:creationId xmlns:a16="http://schemas.microsoft.com/office/drawing/2014/main" id="{D59C04D4-0844-4490-9409-464FF1B19622}"/>
              </a:ext>
            </a:extLst>
          </p:cNvPr>
          <p:cNvSpPr/>
          <p:nvPr/>
        </p:nvSpPr>
        <p:spPr>
          <a:xfrm rot="16200004">
            <a:off x="-490763" y="2147867"/>
            <a:ext cx="2118125" cy="258244"/>
          </a:xfrm>
          <a:prstGeom prst="rect">
            <a:avLst/>
          </a:pr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FUNCTIONAL CALL OUT</a:t>
            </a:r>
          </a:p>
        </p:txBody>
      </p:sp>
      <p:sp>
        <p:nvSpPr>
          <p:cNvPr id="10" name="Slide Number Placeholder 5">
            <a:extLst>
              <a:ext uri="{FF2B5EF4-FFF2-40B4-BE49-F238E27FC236}">
                <a16:creationId xmlns:a16="http://schemas.microsoft.com/office/drawing/2014/main" id="{D9D4923A-9FBE-4B8A-8674-F49798DEA1B5}"/>
              </a:ext>
            </a:extLst>
          </p:cNvPr>
          <p:cNvSpPr txBox="1"/>
          <p:nvPr/>
        </p:nvSpPr>
        <p:spPr>
          <a:xfrm>
            <a:off x="1172825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1E4FB27-E33F-4786-952F-3DB7E679C9FB}" type="slidenum">
              <a:rPr sz="1200"/>
              <a:t>31</a:t>
            </a:fld>
            <a:endParaRPr lang="en-GB" sz="1200" b="0" i="0" u="none" strike="noStrike" kern="1200" cap="none" spc="0" baseline="0" dirty="0">
              <a:solidFill>
                <a:srgbClr val="000000"/>
              </a:solidFill>
              <a:uFillTx/>
              <a:latin typeface="Calibri"/>
            </a:endParaRPr>
          </a:p>
        </p:txBody>
      </p:sp>
      <p:sp>
        <p:nvSpPr>
          <p:cNvPr id="11" name="Oval 41">
            <a:hlinkClick r:id="rId3" action="ppaction://hlinksldjump"/>
            <a:extLst>
              <a:ext uri="{FF2B5EF4-FFF2-40B4-BE49-F238E27FC236}">
                <a16:creationId xmlns:a16="http://schemas.microsoft.com/office/drawing/2014/main" id="{C5D3E3DD-3070-40FB-B2EC-71B34C70F20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2">
            <a:hlinkClick r:id="rId3" action="ppaction://hlinksldjump"/>
            <a:extLst>
              <a:ext uri="{FF2B5EF4-FFF2-40B4-BE49-F238E27FC236}">
                <a16:creationId xmlns:a16="http://schemas.microsoft.com/office/drawing/2014/main" id="{4A224E2E-0647-4907-AA7B-39C517D4501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3">
            <a:hlinkClick r:id="rId4" action="ppaction://hlinksldjump"/>
            <a:extLst>
              <a:ext uri="{FF2B5EF4-FFF2-40B4-BE49-F238E27FC236}">
                <a16:creationId xmlns:a16="http://schemas.microsoft.com/office/drawing/2014/main" id="{B62D232D-E1A9-496A-BBD1-BA36B3A6D9A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4">
            <a:hlinkClick r:id="rId5" action="ppaction://hlinksldjump"/>
            <a:extLst>
              <a:ext uri="{FF2B5EF4-FFF2-40B4-BE49-F238E27FC236}">
                <a16:creationId xmlns:a16="http://schemas.microsoft.com/office/drawing/2014/main" id="{9D92E7FE-4D93-4373-917A-FC216AEF3CA7}"/>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45">
            <a:hlinkClick r:id="rId3" action="ppaction://hlinksldjump"/>
            <a:extLst>
              <a:ext uri="{FF2B5EF4-FFF2-40B4-BE49-F238E27FC236}">
                <a16:creationId xmlns:a16="http://schemas.microsoft.com/office/drawing/2014/main" id="{38E337E8-28E9-4F59-828D-138D689168B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46">
            <a:hlinkClick r:id="rId3" action="ppaction://hlinksldjump"/>
            <a:extLst>
              <a:ext uri="{FF2B5EF4-FFF2-40B4-BE49-F238E27FC236}">
                <a16:creationId xmlns:a16="http://schemas.microsoft.com/office/drawing/2014/main" id="{DAE688AF-9A6F-4247-AE20-1707937CF78E}"/>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7" name="TextBox 47">
            <a:hlinkClick r:id="rId4" action="ppaction://hlinksldjump"/>
            <a:extLst>
              <a:ext uri="{FF2B5EF4-FFF2-40B4-BE49-F238E27FC236}">
                <a16:creationId xmlns:a16="http://schemas.microsoft.com/office/drawing/2014/main" id="{A213CF4C-70B8-426D-9512-79711A6F8F92}"/>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8" name="TextBox 48">
            <a:hlinkClick r:id="rId4" action="ppaction://hlinksldjump"/>
            <a:extLst>
              <a:ext uri="{FF2B5EF4-FFF2-40B4-BE49-F238E27FC236}">
                <a16:creationId xmlns:a16="http://schemas.microsoft.com/office/drawing/2014/main" id="{A452D2AA-C873-4599-BB34-FF7375A2872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49">
            <a:extLst>
              <a:ext uri="{FF2B5EF4-FFF2-40B4-BE49-F238E27FC236}">
                <a16:creationId xmlns:a16="http://schemas.microsoft.com/office/drawing/2014/main" id="{BF129A27-FC87-4C54-995F-00213CC5630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50">
            <a:hlinkClick r:id="rId6" action="ppaction://hlinksldjump"/>
            <a:extLst>
              <a:ext uri="{FF2B5EF4-FFF2-40B4-BE49-F238E27FC236}">
                <a16:creationId xmlns:a16="http://schemas.microsoft.com/office/drawing/2014/main" id="{C2BF7A89-5D57-4DE5-A744-4AAC4D1EB2B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hlinkClick r:id="rId3" action="ppaction://hlinksldjump"/>
            <a:extLst>
              <a:ext uri="{FF2B5EF4-FFF2-40B4-BE49-F238E27FC236}">
                <a16:creationId xmlns:a16="http://schemas.microsoft.com/office/drawing/2014/main" id="{C737BA7C-B837-4614-8E2E-0C0EA832272E}"/>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2">
            <a:hlinkClick r:id="rId3" action="ppaction://hlinksldjump"/>
            <a:extLst>
              <a:ext uri="{FF2B5EF4-FFF2-40B4-BE49-F238E27FC236}">
                <a16:creationId xmlns:a16="http://schemas.microsoft.com/office/drawing/2014/main" id="{4F61B0A1-3BEF-44CA-A93A-06301B5BD77F}"/>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3" name="Picture 106" descr="57% HMRCppt logo">
            <a:extLst>
              <a:ext uri="{FF2B5EF4-FFF2-40B4-BE49-F238E27FC236}">
                <a16:creationId xmlns:a16="http://schemas.microsoft.com/office/drawing/2014/main" id="{938EB2E6-25BE-CCDF-7072-B9374629B9BF}"/>
              </a:ext>
            </a:extLst>
          </p:cNvPr>
          <p:cNvPicPr>
            <a:picLocks noChangeAspect="1"/>
          </p:cNvPicPr>
          <p:nvPr/>
        </p:nvPicPr>
        <p:blipFill>
          <a:blip r:embed="rId8"/>
          <a:srcRect/>
          <a:stretch>
            <a:fillRect/>
          </a:stretch>
        </p:blipFill>
        <p:spPr>
          <a:xfrm>
            <a:off x="208287" y="6259936"/>
            <a:ext cx="813834" cy="500826"/>
          </a:xfrm>
          <a:prstGeom prst="rect">
            <a:avLst/>
          </a:prstGeom>
          <a:noFill/>
          <a:ln cap="flat">
            <a:noFill/>
          </a:ln>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838840311">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11E1765F-70F3-4C86-9CB3-84BEB1AC16E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03B1394-539B-4157-8A41-50C8A68A902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1662964-015F-4AD3-A556-4AA7B29F4228}"/>
              </a:ext>
            </a:extLst>
          </p:cNvPr>
          <p:cNvSpPr txBox="1"/>
          <p:nvPr/>
        </p:nvSpPr>
        <p:spPr>
          <a:xfrm>
            <a:off x="363967" y="248844"/>
            <a:ext cx="419890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Declaration Submission</a:t>
            </a:r>
          </a:p>
        </p:txBody>
      </p:sp>
      <p:sp>
        <p:nvSpPr>
          <p:cNvPr id="5" name="Rectangle 13">
            <a:extLst>
              <a:ext uri="{FF2B5EF4-FFF2-40B4-BE49-F238E27FC236}">
                <a16:creationId xmlns:a16="http://schemas.microsoft.com/office/drawing/2014/main" id="{DC6C9AC3-3BB4-415F-9420-7CB2FDB4F077}"/>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16827C58-54B9-4CDA-881D-49ED1BA214DB}"/>
              </a:ext>
            </a:extLst>
          </p:cNvPr>
          <p:cNvSpPr/>
          <p:nvPr/>
        </p:nvSpPr>
        <p:spPr>
          <a:xfrm>
            <a:off x="319116" y="781263"/>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Cancellations</a:t>
            </a:r>
          </a:p>
        </p:txBody>
      </p:sp>
      <p:graphicFrame>
        <p:nvGraphicFramePr>
          <p:cNvPr id="7" name="Table 17">
            <a:extLst>
              <a:ext uri="{FF2B5EF4-FFF2-40B4-BE49-F238E27FC236}">
                <a16:creationId xmlns:a16="http://schemas.microsoft.com/office/drawing/2014/main" id="{E7171067-1B5E-4411-A2FB-86A1684AA800}"/>
              </a:ext>
            </a:extLst>
          </p:cNvPr>
          <p:cNvGraphicFramePr>
            <a:graphicFrameLocks noGrp="1"/>
          </p:cNvGraphicFramePr>
          <p:nvPr/>
        </p:nvGraphicFramePr>
        <p:xfrm>
          <a:off x="363967" y="1243922"/>
          <a:ext cx="11386346" cy="1463040"/>
        </p:xfrm>
        <a:graphic>
          <a:graphicData uri="http://schemas.openxmlformats.org/drawingml/2006/table">
            <a:tbl>
              <a:tblPr firstRow="1" bandRow="1">
                <a:effectLst/>
                <a:tableStyleId>{5C22544A-7EE6-4342-B048-85BDC9FD1C3A}</a:tableStyleId>
              </a:tblPr>
              <a:tblGrid>
                <a:gridCol w="3793333">
                  <a:extLst>
                    <a:ext uri="{9D8B030D-6E8A-4147-A177-3AD203B41FA5}">
                      <a16:colId xmlns:a16="http://schemas.microsoft.com/office/drawing/2014/main" val="2639776968"/>
                    </a:ext>
                  </a:extLst>
                </a:gridCol>
                <a:gridCol w="7593013">
                  <a:extLst>
                    <a:ext uri="{9D8B030D-6E8A-4147-A177-3AD203B41FA5}">
                      <a16:colId xmlns:a16="http://schemas.microsoft.com/office/drawing/2014/main" val="1087726610"/>
                    </a:ext>
                  </a:extLst>
                </a:gridCol>
              </a:tblGrid>
              <a:tr h="196266">
                <a:tc>
                  <a:txBody>
                    <a:bodyPr/>
                    <a:lstStyle/>
                    <a:p>
                      <a:pPr marL="0" marR="0" lvl="0" indent="0" algn="l" defTabSz="914400" rtl="0" fontAlgn="auto" hangingPunct="1">
                        <a:lnSpc>
                          <a:spcPct val="100000"/>
                        </a:lnSpc>
                        <a:spcBef>
                          <a:spcPts val="0"/>
                        </a:spcBef>
                        <a:spcAft>
                          <a:spcPts val="0"/>
                        </a:spcAft>
                        <a:buNone/>
                        <a:tabLst/>
                      </a:pPr>
                      <a:r>
                        <a:rPr lang="en-GB" sz="1200"/>
                        <a:t>External Test Scope</a:t>
                      </a:r>
                    </a:p>
                  </a:txBody>
                  <a:tcPr anchor="ctr">
                    <a:lnR w="57150" cap="flat" cmpd="sng" algn="ctr">
                      <a:solidFill>
                        <a:srgbClr val="FFFFFF"/>
                      </a:solidFill>
                      <a:prstDash val="solid"/>
                      <a:round/>
                      <a:headEnd type="none" w="med" len="med"/>
                      <a:tailEnd type="none" w="med" len="med"/>
                    </a:lnR>
                    <a:solidFill>
                      <a:srgbClr val="009999"/>
                    </a:solidFill>
                  </a:tcPr>
                </a:tc>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912473668"/>
                  </a:ext>
                </a:extLst>
              </a:tr>
              <a:tr h="560106">
                <a:tc>
                  <a:txBody>
                    <a:bodyPr/>
                    <a:lstStyle/>
                    <a:p>
                      <a:pPr lvl="0"/>
                      <a:r>
                        <a:rPr lang="en-GB" sz="1200"/>
                        <a:t>The submitter will be able to send a cancellation request (pre-clearance) in this phase of TT and TDR. </a:t>
                      </a:r>
                    </a:p>
                  </a:txBody>
                  <a:tcPr>
                    <a:lnR w="57150" cap="flat" cmpd="sng" algn="ctr">
                      <a:solidFill>
                        <a:srgbClr val="FFFFFF"/>
                      </a:solidFill>
                      <a:prstDash val="solid"/>
                      <a:round/>
                      <a:headEnd type="none" w="med" len="med"/>
                      <a:tailEnd type="none" w="med" len="med"/>
                    </a:lnR>
                    <a:solidFill>
                      <a:srgbClr val="F2F2F2"/>
                    </a:solidFill>
                  </a:tcPr>
                </a:tc>
                <a:tc>
                  <a:txBody>
                    <a:bodyPr/>
                    <a:lstStyle/>
                    <a:p>
                      <a:pPr lvl="0"/>
                      <a:r>
                        <a:rPr lang="en-GB" sz="1200" dirty="0"/>
                        <a:t>For the purposes of CDS trade test only, the declaration will be </a:t>
                      </a:r>
                      <a:r>
                        <a:rPr lang="en-GB" sz="1200" b="1" dirty="0"/>
                        <a:t>automatically invalidated</a:t>
                      </a:r>
                      <a:r>
                        <a:rPr lang="en-GB" sz="1200" dirty="0"/>
                        <a:t>. The submitter will receive notice that the declaration has been cancelled following a successful cancellation request.</a:t>
                      </a:r>
                    </a:p>
                    <a:p>
                      <a:pPr marL="0" marR="0" lvl="0" indent="0" algn="l" defTabSz="914400" rtl="0" fontAlgn="auto" hangingPunct="1">
                        <a:lnSpc>
                          <a:spcPct val="100000"/>
                        </a:lnSpc>
                        <a:spcBef>
                          <a:spcPts val="0"/>
                        </a:spcBef>
                        <a:spcAft>
                          <a:spcPts val="0"/>
                        </a:spcAft>
                        <a:buNone/>
                        <a:tabLst/>
                      </a:pPr>
                      <a:r>
                        <a:rPr lang="en-GB" sz="1200" dirty="0">
                          <a:latin typeface="Calibri" pitchFamily="34"/>
                          <a:ea typeface="Calibri" pitchFamily="34"/>
                          <a:cs typeface="Times New Roman" pitchFamily="18"/>
                        </a:rPr>
                        <a:t>For Trader Dress Rehearsal, post-clearance cancellations are out of scope for Imports only. This means that import declarations can only be cancelled during the dwell time before the declaration is cleared. However, TDR is able to accept a cancellation request for a cleared exports declaration that has not been departed. </a:t>
                      </a:r>
                    </a:p>
                    <a:p>
                      <a:pPr lvl="0"/>
                      <a:endParaRPr lang="en-GB" sz="1200" dirty="0"/>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565957877"/>
                  </a:ext>
                </a:extLst>
              </a:tr>
            </a:tbl>
          </a:graphicData>
        </a:graphic>
      </p:graphicFrame>
      <p:sp>
        <p:nvSpPr>
          <p:cNvPr id="8" name="Rectangle 9">
            <a:extLst>
              <a:ext uri="{FF2B5EF4-FFF2-40B4-BE49-F238E27FC236}">
                <a16:creationId xmlns:a16="http://schemas.microsoft.com/office/drawing/2014/main" id="{F7A2AF77-57B7-4C13-9EB1-3105623AD1F5}"/>
              </a:ext>
            </a:extLst>
          </p:cNvPr>
          <p:cNvSpPr/>
          <p:nvPr/>
        </p:nvSpPr>
        <p:spPr>
          <a:xfrm>
            <a:off x="370789" y="2806293"/>
            <a:ext cx="11386346" cy="1358112"/>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Rectangle 18">
            <a:extLst>
              <a:ext uri="{FF2B5EF4-FFF2-40B4-BE49-F238E27FC236}">
                <a16:creationId xmlns:a16="http://schemas.microsoft.com/office/drawing/2014/main" id="{230599D1-69DB-4E9E-BBD3-74992CEAF5EA}"/>
              </a:ext>
            </a:extLst>
          </p:cNvPr>
          <p:cNvSpPr/>
          <p:nvPr/>
        </p:nvSpPr>
        <p:spPr>
          <a:xfrm rot="16200004">
            <a:off x="-94330" y="3284214"/>
            <a:ext cx="1345311" cy="415073"/>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RELEVANT XML SAMPLES</a:t>
            </a:r>
          </a:p>
        </p:txBody>
      </p:sp>
      <p:sp>
        <p:nvSpPr>
          <p:cNvPr id="10" name="TextBox 11">
            <a:extLst>
              <a:ext uri="{FF2B5EF4-FFF2-40B4-BE49-F238E27FC236}">
                <a16:creationId xmlns:a16="http://schemas.microsoft.com/office/drawing/2014/main" id="{3FF57DB0-3FFC-4D13-85F2-C304F880856A}"/>
              </a:ext>
            </a:extLst>
          </p:cNvPr>
          <p:cNvSpPr txBox="1"/>
          <p:nvPr/>
        </p:nvSpPr>
        <p:spPr>
          <a:xfrm>
            <a:off x="777614" y="3130494"/>
            <a:ext cx="10812286" cy="646334"/>
          </a:xfrm>
          <a:prstGeom prst="rect">
            <a:avLst/>
          </a:prstGeom>
          <a:noFill/>
          <a:ln cap="flat">
            <a:noFill/>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0"/>
              </a:spcAft>
              <a:buSzPct val="100000"/>
              <a:buAutoNum type="arabicPeriod"/>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TT_IM11a</a:t>
            </a:r>
            <a:r>
              <a:rPr lang="en-GB" sz="1200" b="1" i="0" u="none" strike="noStrike" kern="1200" cap="none" spc="0" baseline="0">
                <a:solidFill>
                  <a:srgbClr val="000000"/>
                </a:solidFill>
                <a:uFillTx/>
                <a:latin typeface="Calibri" pitchFamily="34"/>
              </a:rPr>
              <a:t>  - </a:t>
            </a:r>
            <a:r>
              <a:rPr lang="en-GB" sz="1200" b="0" i="0" u="none" strike="noStrike" kern="1200" cap="none" spc="0" baseline="0">
                <a:solidFill>
                  <a:srgbClr val="000000"/>
                </a:solidFill>
                <a:uFillTx/>
                <a:latin typeface="Calibri"/>
              </a:rPr>
              <a:t>C21EIDR Imports-Pre-lodged inventory summary Type K declaration with amendment and cancellation.</a:t>
            </a:r>
          </a:p>
          <a:p>
            <a:pPr marL="228600" marR="0" lvl="0" indent="-228600" algn="l" defTabSz="914400" rtl="0" fontAlgn="auto" hangingPunct="1">
              <a:lnSpc>
                <a:spcPct val="100000"/>
              </a:lnSpc>
              <a:spcBef>
                <a:spcPts val="0"/>
              </a:spcBef>
              <a:spcAft>
                <a:spcPts val="0"/>
              </a:spcAft>
              <a:buSzPct val="100000"/>
              <a:buFont typeface="Calibri Light"/>
              <a:buAutoNum type="arabicPeriod" startAt="2"/>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TT_IM10b - </a:t>
            </a:r>
            <a:r>
              <a:rPr lang="en-GB" sz="1200" b="0" i="0" u="none" strike="noStrike" kern="1200" cap="none" spc="0" baseline="0">
                <a:solidFill>
                  <a:srgbClr val="000000"/>
                </a:solidFill>
                <a:uFillTx/>
                <a:latin typeface="Calibri" pitchFamily="34"/>
              </a:rPr>
              <a:t>Import declaration is cancelled using a cancellation message</a:t>
            </a:r>
          </a:p>
          <a:p>
            <a:pPr marL="228600" marR="0" lvl="0" indent="-228600" algn="l" defTabSz="914400" rtl="0" fontAlgn="auto" hangingPunct="1">
              <a:lnSpc>
                <a:spcPct val="100000"/>
              </a:lnSpc>
              <a:spcBef>
                <a:spcPts val="0"/>
              </a:spcBef>
              <a:spcAft>
                <a:spcPts val="0"/>
              </a:spcAft>
              <a:buSzPct val="100000"/>
              <a:buFont typeface="Calibri Light"/>
              <a:buAutoNum type="arabicPeriod" startAt="3"/>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TT_EX010a  - </a:t>
            </a:r>
            <a:r>
              <a:rPr lang="en-GB" sz="1200" b="0" i="0" u="none" strike="noStrike" kern="1200" cap="none" spc="0" baseline="0">
                <a:solidFill>
                  <a:srgbClr val="000000"/>
                </a:solidFill>
                <a:uFillTx/>
                <a:latin typeface="Calibri" pitchFamily="34"/>
              </a:rPr>
              <a:t>Type A Full Declaration using Export Licensing for "Cultural Goods" and Military Weapons, followed by cancellation.</a:t>
            </a:r>
          </a:p>
        </p:txBody>
      </p:sp>
      <p:sp>
        <p:nvSpPr>
          <p:cNvPr id="12" name="Slide Number Placeholder 5">
            <a:extLst>
              <a:ext uri="{FF2B5EF4-FFF2-40B4-BE49-F238E27FC236}">
                <a16:creationId xmlns:a16="http://schemas.microsoft.com/office/drawing/2014/main" id="{E8F9FB05-C69E-4219-9C3F-C6743226D466}"/>
              </a:ext>
            </a:extLst>
          </p:cNvPr>
          <p:cNvSpPr txBox="1"/>
          <p:nvPr/>
        </p:nvSpPr>
        <p:spPr>
          <a:xfrm>
            <a:off x="11738888"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24D59DB-8FAA-4376-BBFC-5AD2F4DCF3BA}" type="slidenum">
              <a:rPr sz="1200"/>
              <a:t>32</a:t>
            </a:fld>
            <a:endParaRPr lang="en-GB" sz="1200" b="0" i="0" u="none" strike="noStrike" kern="1200" cap="none" spc="0" baseline="0" dirty="0">
              <a:solidFill>
                <a:srgbClr val="000000"/>
              </a:solidFill>
              <a:uFillTx/>
              <a:latin typeface="Calibri"/>
            </a:endParaRPr>
          </a:p>
        </p:txBody>
      </p:sp>
      <p:sp>
        <p:nvSpPr>
          <p:cNvPr id="13" name="Oval 40">
            <a:hlinkClick r:id="rId2" action="ppaction://hlinksldjump"/>
            <a:extLst>
              <a:ext uri="{FF2B5EF4-FFF2-40B4-BE49-F238E27FC236}">
                <a16:creationId xmlns:a16="http://schemas.microsoft.com/office/drawing/2014/main" id="{2CC243A5-CD5D-4FCE-8652-34067EFC679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1">
            <a:hlinkClick r:id="rId2" action="ppaction://hlinksldjump"/>
            <a:extLst>
              <a:ext uri="{FF2B5EF4-FFF2-40B4-BE49-F238E27FC236}">
                <a16:creationId xmlns:a16="http://schemas.microsoft.com/office/drawing/2014/main" id="{B5D6F131-7499-4E7E-B6B3-828AA374F66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2">
            <a:hlinkClick r:id="rId3" action="ppaction://hlinksldjump"/>
            <a:extLst>
              <a:ext uri="{FF2B5EF4-FFF2-40B4-BE49-F238E27FC236}">
                <a16:creationId xmlns:a16="http://schemas.microsoft.com/office/drawing/2014/main" id="{5507DE28-C350-448E-A9C6-4F58A7B262E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43">
            <a:hlinkClick r:id="rId4" action="ppaction://hlinksldjump"/>
            <a:extLst>
              <a:ext uri="{FF2B5EF4-FFF2-40B4-BE49-F238E27FC236}">
                <a16:creationId xmlns:a16="http://schemas.microsoft.com/office/drawing/2014/main" id="{B2B0722E-BF1F-421E-87E1-D1C11757CEAA}"/>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44">
            <a:hlinkClick r:id="rId2" action="ppaction://hlinksldjump"/>
            <a:extLst>
              <a:ext uri="{FF2B5EF4-FFF2-40B4-BE49-F238E27FC236}">
                <a16:creationId xmlns:a16="http://schemas.microsoft.com/office/drawing/2014/main" id="{8A3EB87B-A5FF-40CD-B2CB-8EB4B4486C7C}"/>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8" name="TextBox 57">
            <a:hlinkClick r:id="rId2" action="ppaction://hlinksldjump"/>
            <a:extLst>
              <a:ext uri="{FF2B5EF4-FFF2-40B4-BE49-F238E27FC236}">
                <a16:creationId xmlns:a16="http://schemas.microsoft.com/office/drawing/2014/main" id="{D34B4020-AC52-413C-B7C7-8055848039D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9" name="TextBox 58">
            <a:hlinkClick r:id="rId3" action="ppaction://hlinksldjump"/>
            <a:extLst>
              <a:ext uri="{FF2B5EF4-FFF2-40B4-BE49-F238E27FC236}">
                <a16:creationId xmlns:a16="http://schemas.microsoft.com/office/drawing/2014/main" id="{403CB443-ABC6-4F1B-B719-3C98EE6055D4}"/>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0" name="TextBox 59">
            <a:hlinkClick r:id="rId3" action="ppaction://hlinksldjump"/>
            <a:extLst>
              <a:ext uri="{FF2B5EF4-FFF2-40B4-BE49-F238E27FC236}">
                <a16:creationId xmlns:a16="http://schemas.microsoft.com/office/drawing/2014/main" id="{B845A2C1-4646-47A1-BDF9-E22C07A32E2E}"/>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1" name="Oval 60">
            <a:extLst>
              <a:ext uri="{FF2B5EF4-FFF2-40B4-BE49-F238E27FC236}">
                <a16:creationId xmlns:a16="http://schemas.microsoft.com/office/drawing/2014/main" id="{3111B3D9-2967-440A-A9B6-9F2021270CB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TextBox 61">
            <a:hlinkClick r:id="rId5" action="ppaction://hlinksldjump"/>
            <a:extLst>
              <a:ext uri="{FF2B5EF4-FFF2-40B4-BE49-F238E27FC236}">
                <a16:creationId xmlns:a16="http://schemas.microsoft.com/office/drawing/2014/main" id="{FFC004BE-845C-4C9E-AEF7-3D7D2F13F318}"/>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3" name="Picture 40">
            <a:hlinkClick r:id="rId2" action="ppaction://hlinksldjump"/>
            <a:extLst>
              <a:ext uri="{FF2B5EF4-FFF2-40B4-BE49-F238E27FC236}">
                <a16:creationId xmlns:a16="http://schemas.microsoft.com/office/drawing/2014/main" id="{F5806F3C-A1A3-4F38-A793-0573F876276B}"/>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4" name="Oval 63">
            <a:hlinkClick r:id="rId2" action="ppaction://hlinksldjump"/>
            <a:extLst>
              <a:ext uri="{FF2B5EF4-FFF2-40B4-BE49-F238E27FC236}">
                <a16:creationId xmlns:a16="http://schemas.microsoft.com/office/drawing/2014/main" id="{7DF8A523-4F51-4D52-893F-9F4468BAE74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pic>
        <p:nvPicPr>
          <p:cNvPr id="25" name="Picture 106" descr="57% HMRCppt logo">
            <a:extLst>
              <a:ext uri="{FF2B5EF4-FFF2-40B4-BE49-F238E27FC236}">
                <a16:creationId xmlns:a16="http://schemas.microsoft.com/office/drawing/2014/main" id="{A1D68E60-4D2E-D906-4B04-71EE7CC2E112}"/>
              </a:ext>
            </a:extLst>
          </p:cNvPr>
          <p:cNvPicPr>
            <a:picLocks noChangeAspect="1"/>
          </p:cNvPicPr>
          <p:nvPr/>
        </p:nvPicPr>
        <p:blipFill>
          <a:blip r:embed="rId7"/>
          <a:srcRect/>
          <a:stretch>
            <a:fillRect/>
          </a:stretch>
        </p:blipFill>
        <p:spPr>
          <a:xfrm>
            <a:off x="208287" y="6259936"/>
            <a:ext cx="813834" cy="500826"/>
          </a:xfrm>
          <a:prstGeom prst="rect">
            <a:avLst/>
          </a:prstGeom>
          <a:noFill/>
          <a:ln cap="flat">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838840348">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0193641E-6E45-4EAC-87B6-22629C885877}"/>
              </a:ext>
            </a:extLst>
          </p:cNvPr>
          <p:cNvSpPr/>
          <p:nvPr/>
        </p:nvSpPr>
        <p:spPr>
          <a:xfrm>
            <a:off x="936446" y="2948784"/>
            <a:ext cx="10093503"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0" cap="none" spc="0" baseline="0">
                <a:solidFill>
                  <a:srgbClr val="FFFFFF"/>
                </a:solidFill>
                <a:uFillTx/>
                <a:latin typeface="Calibri"/>
              </a:rPr>
              <a:t>CDS External Test Release Scope</a:t>
            </a:r>
          </a:p>
        </p:txBody>
      </p:sp>
      <p:sp>
        <p:nvSpPr>
          <p:cNvPr id="3" name="Slide Number Placeholder 5">
            <a:extLst>
              <a:ext uri="{FF2B5EF4-FFF2-40B4-BE49-F238E27FC236}">
                <a16:creationId xmlns:a16="http://schemas.microsoft.com/office/drawing/2014/main" id="{DE664C29-C943-4BF8-8170-2CC835CAB480}"/>
              </a:ext>
            </a:extLst>
          </p:cNvPr>
          <p:cNvSpPr txBox="1"/>
          <p:nvPr/>
        </p:nvSpPr>
        <p:spPr>
          <a:xfrm>
            <a:off x="117388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FF8A5D9-7D13-4150-A2D1-4189B9E367AB}" type="slidenum">
              <a:rPr sz="1200"/>
              <a:t>33</a:t>
            </a:fld>
            <a:endParaRPr lang="en-GB" sz="1200" b="0" i="0" u="none" strike="noStrike" kern="1200" cap="none" spc="0" baseline="0" dirty="0">
              <a:solidFill>
                <a:srgbClr val="000000"/>
              </a:solidFill>
              <a:uFillTx/>
              <a:latin typeface="Calibri"/>
            </a:endParaRPr>
          </a:p>
        </p:txBody>
      </p:sp>
      <p:pic>
        <p:nvPicPr>
          <p:cNvPr id="4" name="Picture 8" descr="100% HMRCppt logo">
            <a:extLst>
              <a:ext uri="{FF2B5EF4-FFF2-40B4-BE49-F238E27FC236}">
                <a16:creationId xmlns:a16="http://schemas.microsoft.com/office/drawing/2014/main" id="{D3712AA4-4EC5-4865-8B61-85E42C32E7C6}"/>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5" name="Oval 20">
            <a:hlinkClick r:id="rId3" action="ppaction://hlinksldjump"/>
            <a:extLst>
              <a:ext uri="{FF2B5EF4-FFF2-40B4-BE49-F238E27FC236}">
                <a16:creationId xmlns:a16="http://schemas.microsoft.com/office/drawing/2014/main" id="{F432A333-E029-44D5-A2E7-013139D05D2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21">
            <a:hlinkClick r:id="rId3" action="ppaction://hlinksldjump"/>
            <a:extLst>
              <a:ext uri="{FF2B5EF4-FFF2-40B4-BE49-F238E27FC236}">
                <a16:creationId xmlns:a16="http://schemas.microsoft.com/office/drawing/2014/main" id="{165B5F8E-5FFB-4634-956E-173F25B0CEF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2">
            <a:hlinkClick r:id="rId4" action="ppaction://hlinksldjump"/>
            <a:extLst>
              <a:ext uri="{FF2B5EF4-FFF2-40B4-BE49-F238E27FC236}">
                <a16:creationId xmlns:a16="http://schemas.microsoft.com/office/drawing/2014/main" id="{5154E4FD-FA12-4C8B-AAE9-497D3317F1AA}"/>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23">
            <a:hlinkClick r:id="rId5" action="ppaction://hlinksldjump"/>
            <a:extLst>
              <a:ext uri="{FF2B5EF4-FFF2-40B4-BE49-F238E27FC236}">
                <a16:creationId xmlns:a16="http://schemas.microsoft.com/office/drawing/2014/main" id="{D6DEC662-6737-4AE8-9B17-10C083887BE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TextBox 24">
            <a:hlinkClick r:id="rId3" action="ppaction://hlinksldjump"/>
            <a:extLst>
              <a:ext uri="{FF2B5EF4-FFF2-40B4-BE49-F238E27FC236}">
                <a16:creationId xmlns:a16="http://schemas.microsoft.com/office/drawing/2014/main" id="{A3AA7893-E6E1-47F1-9146-EB76AB2A5802}"/>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0" name="TextBox 25">
            <a:hlinkClick r:id="rId3" action="ppaction://hlinksldjump"/>
            <a:extLst>
              <a:ext uri="{FF2B5EF4-FFF2-40B4-BE49-F238E27FC236}">
                <a16:creationId xmlns:a16="http://schemas.microsoft.com/office/drawing/2014/main" id="{78DF0759-2C77-455B-8526-8F795CD31897}"/>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1" name="TextBox 26">
            <a:hlinkClick r:id="rId4" action="ppaction://hlinksldjump"/>
            <a:extLst>
              <a:ext uri="{FF2B5EF4-FFF2-40B4-BE49-F238E27FC236}">
                <a16:creationId xmlns:a16="http://schemas.microsoft.com/office/drawing/2014/main" id="{BE2DAEE1-3317-43DB-B27D-51F434EB8099}"/>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2" name="TextBox 27">
            <a:hlinkClick r:id="rId4" action="ppaction://hlinksldjump"/>
            <a:extLst>
              <a:ext uri="{FF2B5EF4-FFF2-40B4-BE49-F238E27FC236}">
                <a16:creationId xmlns:a16="http://schemas.microsoft.com/office/drawing/2014/main" id="{EFD6397B-6F22-474A-B775-0B34A2DCB00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3" name="Oval 28">
            <a:extLst>
              <a:ext uri="{FF2B5EF4-FFF2-40B4-BE49-F238E27FC236}">
                <a16:creationId xmlns:a16="http://schemas.microsoft.com/office/drawing/2014/main" id="{926BCF72-3639-495D-AB1C-77EDBE9643FF}"/>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9">
            <a:hlinkClick r:id="rId6" action="ppaction://hlinksldjump"/>
            <a:extLst>
              <a:ext uri="{FF2B5EF4-FFF2-40B4-BE49-F238E27FC236}">
                <a16:creationId xmlns:a16="http://schemas.microsoft.com/office/drawing/2014/main" id="{A2BCEB05-4610-44FC-BA7E-71FEDEA2C9F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5" name="Picture 30">
            <a:hlinkClick r:id="rId3" action="ppaction://hlinksldjump"/>
            <a:extLst>
              <a:ext uri="{FF2B5EF4-FFF2-40B4-BE49-F238E27FC236}">
                <a16:creationId xmlns:a16="http://schemas.microsoft.com/office/drawing/2014/main" id="{9640BC49-4F04-4E56-B378-734C1DAA289C}"/>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6" name="Oval 31">
            <a:hlinkClick r:id="rId3" action="ppaction://hlinksldjump"/>
            <a:extLst>
              <a:ext uri="{FF2B5EF4-FFF2-40B4-BE49-F238E27FC236}">
                <a16:creationId xmlns:a16="http://schemas.microsoft.com/office/drawing/2014/main" id="{B97AB42E-40DA-4858-8D39-BA60F031F1D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838840295">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A4C2CE83-71EA-4B88-A5B0-147B6DBE31E8}"/>
              </a:ext>
            </a:extLst>
          </p:cNvPr>
          <p:cNvSpPr/>
          <p:nvPr/>
        </p:nvSpPr>
        <p:spPr>
          <a:xfrm>
            <a:off x="942344" y="2807208"/>
            <a:ext cx="9812344"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0" cap="none" spc="0" baseline="0" dirty="0">
                <a:solidFill>
                  <a:srgbClr val="FFFFFF"/>
                </a:solidFill>
                <a:uFillTx/>
                <a:latin typeface="Calibri"/>
              </a:rPr>
              <a:t>External Test Capabilities: Simulated Services</a:t>
            </a:r>
            <a:endParaRPr lang="en-GB" sz="4000" b="1" i="0" u="none" strike="noStrike" kern="0" cap="none" spc="0" baseline="0" dirty="0">
              <a:solidFill>
                <a:srgbClr val="000000"/>
              </a:solidFill>
              <a:uFillTx/>
              <a:latin typeface="Calibri"/>
            </a:endParaRPr>
          </a:p>
        </p:txBody>
      </p:sp>
      <p:sp>
        <p:nvSpPr>
          <p:cNvPr id="3" name="Slide Number Placeholder 5">
            <a:extLst>
              <a:ext uri="{FF2B5EF4-FFF2-40B4-BE49-F238E27FC236}">
                <a16:creationId xmlns:a16="http://schemas.microsoft.com/office/drawing/2014/main" id="{732AEEA7-827E-473B-AB55-08F13805E218}"/>
              </a:ext>
            </a:extLst>
          </p:cNvPr>
          <p:cNvSpPr txBox="1"/>
          <p:nvPr/>
        </p:nvSpPr>
        <p:spPr>
          <a:xfrm>
            <a:off x="11736543"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890B44F-A6DD-4E5E-A067-2C4DF40AC1C2}" type="slidenum">
              <a:rPr sz="1200"/>
              <a:t>34</a:t>
            </a:fld>
            <a:endParaRPr lang="en-GB" sz="1200" b="0" i="0" u="none" strike="noStrike" kern="1200" cap="none" spc="0" baseline="0">
              <a:solidFill>
                <a:srgbClr val="000000"/>
              </a:solidFill>
              <a:uFillTx/>
              <a:latin typeface="Calibri"/>
            </a:endParaRPr>
          </a:p>
        </p:txBody>
      </p:sp>
      <p:pic>
        <p:nvPicPr>
          <p:cNvPr id="4" name="Picture 8" descr="100% HMRCppt logo">
            <a:extLst>
              <a:ext uri="{FF2B5EF4-FFF2-40B4-BE49-F238E27FC236}">
                <a16:creationId xmlns:a16="http://schemas.microsoft.com/office/drawing/2014/main" id="{D1FD2586-F2AE-4863-9465-8B4110B3F95C}"/>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5" name="Oval 14">
            <a:hlinkClick r:id="rId3" action="ppaction://hlinksldjump"/>
            <a:extLst>
              <a:ext uri="{FF2B5EF4-FFF2-40B4-BE49-F238E27FC236}">
                <a16:creationId xmlns:a16="http://schemas.microsoft.com/office/drawing/2014/main" id="{606AE465-CF3E-4108-8815-E69E77C305A7}"/>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15">
            <a:hlinkClick r:id="rId3" action="ppaction://hlinksldjump"/>
            <a:extLst>
              <a:ext uri="{FF2B5EF4-FFF2-40B4-BE49-F238E27FC236}">
                <a16:creationId xmlns:a16="http://schemas.microsoft.com/office/drawing/2014/main" id="{2D51958E-604E-4A67-8E54-281A7597DBB0}"/>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16">
            <a:hlinkClick r:id="rId4" action="ppaction://hlinksldjump"/>
            <a:extLst>
              <a:ext uri="{FF2B5EF4-FFF2-40B4-BE49-F238E27FC236}">
                <a16:creationId xmlns:a16="http://schemas.microsoft.com/office/drawing/2014/main" id="{B248924B-2DA0-41D2-8780-8440F89D5A1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17">
            <a:hlinkClick r:id="rId5" action="ppaction://hlinksldjump"/>
            <a:extLst>
              <a:ext uri="{FF2B5EF4-FFF2-40B4-BE49-F238E27FC236}">
                <a16:creationId xmlns:a16="http://schemas.microsoft.com/office/drawing/2014/main" id="{D019EA91-BFD1-459D-976A-3DA04E62162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TextBox 18">
            <a:hlinkClick r:id="rId3" action="ppaction://hlinksldjump"/>
            <a:extLst>
              <a:ext uri="{FF2B5EF4-FFF2-40B4-BE49-F238E27FC236}">
                <a16:creationId xmlns:a16="http://schemas.microsoft.com/office/drawing/2014/main" id="{C7D18C92-E4DC-4FB2-A400-C8E453A2CACE}"/>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0" name="TextBox 19">
            <a:hlinkClick r:id="rId3" action="ppaction://hlinksldjump"/>
            <a:extLst>
              <a:ext uri="{FF2B5EF4-FFF2-40B4-BE49-F238E27FC236}">
                <a16:creationId xmlns:a16="http://schemas.microsoft.com/office/drawing/2014/main" id="{D513F65C-C9C8-4369-AF34-6F8F4953F2FE}"/>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1" name="TextBox 20">
            <a:hlinkClick r:id="rId4" action="ppaction://hlinksldjump"/>
            <a:extLst>
              <a:ext uri="{FF2B5EF4-FFF2-40B4-BE49-F238E27FC236}">
                <a16:creationId xmlns:a16="http://schemas.microsoft.com/office/drawing/2014/main" id="{8B25775F-F5B2-46FD-A191-A207AB479AF4}"/>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2" name="TextBox 21">
            <a:hlinkClick r:id="rId4" action="ppaction://hlinksldjump"/>
            <a:extLst>
              <a:ext uri="{FF2B5EF4-FFF2-40B4-BE49-F238E27FC236}">
                <a16:creationId xmlns:a16="http://schemas.microsoft.com/office/drawing/2014/main" id="{382763FB-6938-44E9-AF45-5B051094CCB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3" name="Oval 22">
            <a:extLst>
              <a:ext uri="{FF2B5EF4-FFF2-40B4-BE49-F238E27FC236}">
                <a16:creationId xmlns:a16="http://schemas.microsoft.com/office/drawing/2014/main" id="{B8A1D4B2-6705-4763-B751-D44F363192A6}"/>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3">
            <a:hlinkClick r:id="rId6" action="ppaction://hlinksldjump"/>
            <a:extLst>
              <a:ext uri="{FF2B5EF4-FFF2-40B4-BE49-F238E27FC236}">
                <a16:creationId xmlns:a16="http://schemas.microsoft.com/office/drawing/2014/main" id="{27C0D3E6-B4B9-4520-9F0B-A11751FD1DD7}"/>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5" name="Picture 40">
            <a:hlinkClick r:id="rId3" action="ppaction://hlinksldjump"/>
            <a:extLst>
              <a:ext uri="{FF2B5EF4-FFF2-40B4-BE49-F238E27FC236}">
                <a16:creationId xmlns:a16="http://schemas.microsoft.com/office/drawing/2014/main" id="{2A64F01B-8ED5-4CA0-B66B-C89F05EE3484}"/>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6" name="Oval 25">
            <a:hlinkClick r:id="rId3" action="ppaction://hlinksldjump"/>
            <a:extLst>
              <a:ext uri="{FF2B5EF4-FFF2-40B4-BE49-F238E27FC236}">
                <a16:creationId xmlns:a16="http://schemas.microsoft.com/office/drawing/2014/main" id="{96327CB1-74CE-4F19-90D6-21A2B9AF213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FB9ED8BF-040D-4CFA-B72F-E80A4331071C}"/>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1F8E1560-1EA3-401E-ADED-38D4D83C4DE1}"/>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dirty="0">
                <a:solidFill>
                  <a:srgbClr val="A6A6A6"/>
                </a:solidFill>
                <a:uFillTx/>
                <a:latin typeface="Calibri"/>
              </a:rPr>
              <a:t>EXTERNAL TEST CAPABILITIES: SIMULATED SERVICES</a:t>
            </a:r>
          </a:p>
        </p:txBody>
      </p:sp>
      <p:graphicFrame>
        <p:nvGraphicFramePr>
          <p:cNvPr id="5" name="Table 4">
            <a:extLst>
              <a:ext uri="{FF2B5EF4-FFF2-40B4-BE49-F238E27FC236}">
                <a16:creationId xmlns:a16="http://schemas.microsoft.com/office/drawing/2014/main" id="{2AC900DE-2EB3-4EC6-AAB7-05E707640CAD}"/>
              </a:ext>
            </a:extLst>
          </p:cNvPr>
          <p:cNvGraphicFramePr>
            <a:graphicFrameLocks noGrp="1"/>
          </p:cNvGraphicFramePr>
          <p:nvPr/>
        </p:nvGraphicFramePr>
        <p:xfrm>
          <a:off x="440155" y="1737067"/>
          <a:ext cx="11542297" cy="735134"/>
        </p:xfrm>
        <a:graphic>
          <a:graphicData uri="http://schemas.openxmlformats.org/drawingml/2006/table">
            <a:tbl>
              <a:tblPr firstRow="1" bandRow="1">
                <a:effectLst/>
                <a:tableStyleId>{5C22544A-7EE6-4342-B048-85BDC9FD1C3A}</a:tableStyleId>
              </a:tblPr>
              <a:tblGrid>
                <a:gridCol w="11542297">
                  <a:extLst>
                    <a:ext uri="{9D8B030D-6E8A-4147-A177-3AD203B41FA5}">
                      <a16:colId xmlns:a16="http://schemas.microsoft.com/office/drawing/2014/main" val="3848272029"/>
                    </a:ext>
                  </a:extLst>
                </a:gridCol>
              </a:tblGrid>
              <a:tr h="197574">
                <a:tc>
                  <a:txBody>
                    <a:bodyPr/>
                    <a:lstStyle/>
                    <a:p>
                      <a:pPr lvl="0"/>
                      <a:r>
                        <a:rPr lang="en-GB" sz="1100"/>
                        <a:t>External Test Scope</a:t>
                      </a:r>
                    </a:p>
                  </a:txBody>
                  <a:tcPr anchor="ctr">
                    <a:lnR w="57150" cap="flat" cmpd="sng" algn="ctr">
                      <a:solidFill>
                        <a:srgbClr val="FFFFFF"/>
                      </a:solidFill>
                      <a:prstDash val="solid"/>
                      <a:round/>
                      <a:headEnd type="none" w="med" len="med"/>
                      <a:tailEnd type="none" w="med" len="med"/>
                    </a:lnR>
                    <a:solidFill>
                      <a:srgbClr val="009999"/>
                    </a:solidFill>
                  </a:tcPr>
                </a:tc>
                <a:extLst>
                  <a:ext uri="{0D108BD9-81ED-4DB2-BD59-A6C34878D82A}">
                    <a16:rowId xmlns:a16="http://schemas.microsoft.com/office/drawing/2014/main" val="3812539193"/>
                  </a:ext>
                </a:extLst>
              </a:tr>
              <a:tr h="476054">
                <a:tc>
                  <a:txBody>
                    <a:bodyPr/>
                    <a:lstStyle/>
                    <a:p>
                      <a:pPr marL="0" marR="0" lvl="0" indent="0" algn="l" defTabSz="914400" rtl="0" fontAlgn="auto" hangingPunct="1">
                        <a:lnSpc>
                          <a:spcPct val="100000"/>
                        </a:lnSpc>
                        <a:spcBef>
                          <a:spcPts val="0"/>
                        </a:spcBef>
                        <a:spcAft>
                          <a:spcPts val="0"/>
                        </a:spcAft>
                        <a:buNone/>
                        <a:tabLst>
                          <a:tab pos="3678238" algn="l"/>
                        </a:tabLst>
                      </a:pPr>
                      <a:r>
                        <a:rPr lang="en-GB" sz="1100" dirty="0">
                          <a:solidFill>
                            <a:srgbClr val="000000"/>
                          </a:solidFill>
                        </a:rPr>
                        <a:t>As part of TTM12.2, CDS introduced new customs routing granularity to allow traders/CSPs to identify which goods to take out of which consignment and present them at the correct location for the relevant agency to inspect. </a:t>
                      </a:r>
                      <a:endParaRPr lang="en-GB" sz="1100" dirty="0">
                        <a:solidFill>
                          <a:srgbClr val="C00000"/>
                        </a:solidFill>
                      </a:endParaRP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873311312"/>
                  </a:ext>
                </a:extLst>
              </a:tr>
            </a:tbl>
          </a:graphicData>
        </a:graphic>
      </p:graphicFrame>
      <p:graphicFrame>
        <p:nvGraphicFramePr>
          <p:cNvPr id="6" name="Table 15">
            <a:extLst>
              <a:ext uri="{FF2B5EF4-FFF2-40B4-BE49-F238E27FC236}">
                <a16:creationId xmlns:a16="http://schemas.microsoft.com/office/drawing/2014/main" id="{37FEBC9D-5A88-46CC-ACEE-14D9EB35CB34}"/>
              </a:ext>
            </a:extLst>
          </p:cNvPr>
          <p:cNvGraphicFramePr>
            <a:graphicFrameLocks noGrp="1"/>
          </p:cNvGraphicFramePr>
          <p:nvPr/>
        </p:nvGraphicFramePr>
        <p:xfrm>
          <a:off x="440155" y="2478615"/>
          <a:ext cx="11529916" cy="3981882"/>
        </p:xfrm>
        <a:graphic>
          <a:graphicData uri="http://schemas.openxmlformats.org/drawingml/2006/table">
            <a:tbl>
              <a:tblPr firstRow="1" bandRow="1">
                <a:effectLst/>
                <a:tableStyleId>{5C22544A-7EE6-4342-B048-85BDC9FD1C3A}</a:tableStyleId>
              </a:tblPr>
              <a:tblGrid>
                <a:gridCol w="11529916">
                  <a:extLst>
                    <a:ext uri="{9D8B030D-6E8A-4147-A177-3AD203B41FA5}">
                      <a16:colId xmlns:a16="http://schemas.microsoft.com/office/drawing/2014/main" val="3952240238"/>
                    </a:ext>
                  </a:extLst>
                </a:gridCol>
              </a:tblGrid>
              <a:tr h="299478">
                <a:tc>
                  <a:txBody>
                    <a:bodyPr/>
                    <a:lstStyle/>
                    <a:p>
                      <a:pPr lvl="0"/>
                      <a:r>
                        <a:rPr lang="en-GB" sz="1100"/>
                        <a:t>Expected Behaviour in External Test</a:t>
                      </a:r>
                    </a:p>
                  </a:txBody>
                  <a:tcPr anchor="ctr">
                    <a:solidFill>
                      <a:srgbClr val="4472C4"/>
                    </a:solidFill>
                  </a:tcPr>
                </a:tc>
                <a:extLst>
                  <a:ext uri="{0D108BD9-81ED-4DB2-BD59-A6C34878D82A}">
                    <a16:rowId xmlns:a16="http://schemas.microsoft.com/office/drawing/2014/main" val="1241020887"/>
                  </a:ext>
                </a:extLst>
              </a:tr>
              <a:tr h="3682404">
                <a:tc>
                  <a:txBody>
                    <a:bodyPr/>
                    <a:lstStyle/>
                    <a:p>
                      <a:pPr marL="0" marR="0" lvl="0" indent="0" algn="l" defTabSz="914400" rtl="0" fontAlgn="auto" hangingPunct="1">
                        <a:lnSpc>
                          <a:spcPct val="100000"/>
                        </a:lnSpc>
                        <a:spcBef>
                          <a:spcPts val="300"/>
                        </a:spcBef>
                        <a:spcAft>
                          <a:spcPts val="0"/>
                        </a:spcAft>
                        <a:buNone/>
                        <a:tabLst/>
                      </a:pPr>
                      <a:r>
                        <a:rPr lang="en-GB" sz="1100" b="0" i="0" u="none" strike="noStrike" kern="1200" cap="none" spc="0" baseline="0" dirty="0">
                          <a:solidFill>
                            <a:srgbClr val="000000"/>
                          </a:solidFill>
                          <a:uFillTx/>
                          <a:latin typeface="Calibri"/>
                        </a:rPr>
                        <a:t>To test controls in External Test, the control behaviours are initiated by including specific wording in the goods description field (D.E. 6/8) on a frontier declaration that is either pre-lodged or arrived </a:t>
                      </a:r>
                      <a:r>
                        <a:rPr lang="en-GB" sz="1100" dirty="0">
                          <a:effectLst/>
                        </a:rPr>
                        <a:t>(with application of certain simulated controls only on arrival).</a:t>
                      </a:r>
                      <a:r>
                        <a:rPr lang="en-GB" sz="1100" b="0" i="0" u="none" strike="noStrike" kern="1200" cap="none" spc="0" baseline="0" dirty="0">
                          <a:solidFill>
                            <a:srgbClr val="000000"/>
                          </a:solidFill>
                          <a:uFillTx/>
                          <a:latin typeface="Calibri"/>
                        </a:rPr>
                        <a:t> The ‘trigger word’ must be included on at least one item on the declaration.</a:t>
                      </a:r>
                    </a:p>
                    <a:p>
                      <a:pPr lvl="0">
                        <a:spcAft>
                          <a:spcPts val="600"/>
                        </a:spcAft>
                      </a:pPr>
                      <a:endParaRPr lang="en-GB" sz="1400" dirty="0"/>
                    </a:p>
                    <a:p>
                      <a:pPr lvl="0">
                        <a:spcAft>
                          <a:spcPts val="600"/>
                        </a:spcAft>
                      </a:pPr>
                      <a:endParaRPr lang="en-GB" sz="14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p>
                      <a:pPr lvl="0">
                        <a:spcAft>
                          <a:spcPts val="600"/>
                        </a:spcAft>
                      </a:pPr>
                      <a:endParaRPr lang="en-GB" sz="1100" dirty="0"/>
                    </a:p>
                  </a:txBody>
                  <a:tcPr>
                    <a:solidFill>
                      <a:srgbClr val="F2F2F2"/>
                    </a:solidFill>
                  </a:tcPr>
                </a:tc>
                <a:extLst>
                  <a:ext uri="{0D108BD9-81ED-4DB2-BD59-A6C34878D82A}">
                    <a16:rowId xmlns:a16="http://schemas.microsoft.com/office/drawing/2014/main" val="3860013601"/>
                  </a:ext>
                </a:extLst>
              </a:tr>
            </a:tbl>
          </a:graphicData>
        </a:graphic>
      </p:graphicFrame>
      <p:graphicFrame>
        <p:nvGraphicFramePr>
          <p:cNvPr id="7" name="Table 17">
            <a:extLst>
              <a:ext uri="{FF2B5EF4-FFF2-40B4-BE49-F238E27FC236}">
                <a16:creationId xmlns:a16="http://schemas.microsoft.com/office/drawing/2014/main" id="{1ADCBC23-08AB-4436-97C3-F4259078344B}"/>
              </a:ext>
            </a:extLst>
          </p:cNvPr>
          <p:cNvGraphicFramePr>
            <a:graphicFrameLocks noGrp="1"/>
          </p:cNvGraphicFramePr>
          <p:nvPr/>
        </p:nvGraphicFramePr>
        <p:xfrm>
          <a:off x="530810" y="3166069"/>
          <a:ext cx="7674925" cy="2683148"/>
        </p:xfrm>
        <a:graphic>
          <a:graphicData uri="http://schemas.openxmlformats.org/drawingml/2006/table">
            <a:tbl>
              <a:tblPr firstRow="1" firstCol="1" bandRow="1">
                <a:effectLst/>
                <a:tableStyleId>{5C22544A-7EE6-4342-B048-85BDC9FD1C3A}</a:tableStyleId>
              </a:tblPr>
              <a:tblGrid>
                <a:gridCol w="313907">
                  <a:extLst>
                    <a:ext uri="{9D8B030D-6E8A-4147-A177-3AD203B41FA5}">
                      <a16:colId xmlns:a16="http://schemas.microsoft.com/office/drawing/2014/main" val="1065799515"/>
                    </a:ext>
                  </a:extLst>
                </a:gridCol>
                <a:gridCol w="1254427">
                  <a:extLst>
                    <a:ext uri="{9D8B030D-6E8A-4147-A177-3AD203B41FA5}">
                      <a16:colId xmlns:a16="http://schemas.microsoft.com/office/drawing/2014/main" val="1498652503"/>
                    </a:ext>
                  </a:extLst>
                </a:gridCol>
                <a:gridCol w="1327868">
                  <a:extLst>
                    <a:ext uri="{9D8B030D-6E8A-4147-A177-3AD203B41FA5}">
                      <a16:colId xmlns:a16="http://schemas.microsoft.com/office/drawing/2014/main" val="1516439184"/>
                    </a:ext>
                  </a:extLst>
                </a:gridCol>
                <a:gridCol w="1343771">
                  <a:extLst>
                    <a:ext uri="{9D8B030D-6E8A-4147-A177-3AD203B41FA5}">
                      <a16:colId xmlns:a16="http://schemas.microsoft.com/office/drawing/2014/main" val="2409550660"/>
                    </a:ext>
                  </a:extLst>
                </a:gridCol>
                <a:gridCol w="1590260">
                  <a:extLst>
                    <a:ext uri="{9D8B030D-6E8A-4147-A177-3AD203B41FA5}">
                      <a16:colId xmlns:a16="http://schemas.microsoft.com/office/drawing/2014/main" val="818262093"/>
                    </a:ext>
                  </a:extLst>
                </a:gridCol>
                <a:gridCol w="997209">
                  <a:extLst>
                    <a:ext uri="{9D8B030D-6E8A-4147-A177-3AD203B41FA5}">
                      <a16:colId xmlns:a16="http://schemas.microsoft.com/office/drawing/2014/main" val="1135656543"/>
                    </a:ext>
                  </a:extLst>
                </a:gridCol>
                <a:gridCol w="847483">
                  <a:extLst>
                    <a:ext uri="{9D8B030D-6E8A-4147-A177-3AD203B41FA5}">
                      <a16:colId xmlns:a16="http://schemas.microsoft.com/office/drawing/2014/main" val="3100848471"/>
                    </a:ext>
                  </a:extLst>
                </a:gridCol>
              </a:tblGrid>
              <a:tr h="136682">
                <a:tc>
                  <a:txBody>
                    <a:bodyPr/>
                    <a:lstStyle/>
                    <a:p>
                      <a:pPr lvl="0" algn="ctr">
                        <a:spcAft>
                          <a:spcPts val="0"/>
                        </a:spcAft>
                      </a:pPr>
                      <a:endParaRPr lang="en-GB" sz="1100">
                        <a:solidFill>
                          <a:srgbClr val="000000"/>
                        </a:solidFill>
                        <a:latin typeface="Calibri"/>
                        <a:ea typeface="Calibri" pitchFamily="34"/>
                      </a:endParaRPr>
                    </a:p>
                  </a:txBody>
                  <a:tcPr marL="31784" marR="31784" marT="0" marB="0" anchor="ctr"/>
                </a:tc>
                <a:tc gridSpan="2">
                  <a:txBody>
                    <a:bodyPr/>
                    <a:lstStyle/>
                    <a:p>
                      <a:pPr lvl="0" algn="ctr">
                        <a:spcAft>
                          <a:spcPts val="0"/>
                        </a:spcAft>
                      </a:pPr>
                      <a:r>
                        <a:rPr lang="en-GB" sz="1100">
                          <a:solidFill>
                            <a:srgbClr val="FFFFFF"/>
                          </a:solidFill>
                          <a:latin typeface="Calibri"/>
                          <a:ea typeface="Calibri" pitchFamily="34"/>
                        </a:rPr>
                        <a:t>Trigger</a:t>
                      </a:r>
                    </a:p>
                  </a:txBody>
                  <a:tcPr marL="31784" marR="31784" marT="0" marB="0" anchor="ctr">
                    <a:solidFill>
                      <a:srgbClr val="A6A6A6"/>
                    </a:solidFill>
                  </a:tcPr>
                </a:tc>
                <a:tc hMerge="1">
                  <a:txBody>
                    <a:bodyPr/>
                    <a:lstStyle/>
                    <a:p>
                      <a:endParaRPr lang="en-GB"/>
                    </a:p>
                  </a:txBody>
                  <a:tcPr/>
                </a:tc>
                <a:tc gridSpan="2">
                  <a:txBody>
                    <a:bodyPr/>
                    <a:lstStyle/>
                    <a:p>
                      <a:pPr lvl="0" algn="ctr">
                        <a:spcAft>
                          <a:spcPts val="0"/>
                        </a:spcAft>
                      </a:pPr>
                      <a:r>
                        <a:rPr lang="en-GB" sz="1100">
                          <a:solidFill>
                            <a:srgbClr val="FFFFFF"/>
                          </a:solidFill>
                          <a:latin typeface="Calibri"/>
                        </a:rPr>
                        <a:t>Control</a:t>
                      </a:r>
                      <a:endParaRPr lang="en-GB" sz="1100">
                        <a:solidFill>
                          <a:srgbClr val="FFFFFF"/>
                        </a:solidFill>
                        <a:latin typeface="Calibri"/>
                        <a:ea typeface="Calibri" pitchFamily="34"/>
                      </a:endParaRPr>
                    </a:p>
                  </a:txBody>
                  <a:tcPr marL="31784" marR="31784" marT="0" marB="0" anchor="ctr">
                    <a:solidFill>
                      <a:srgbClr val="A6A6A6"/>
                    </a:solidFill>
                  </a:tcPr>
                </a:tc>
                <a:tc hMerge="1">
                  <a:txBody>
                    <a:bodyPr/>
                    <a:lstStyle/>
                    <a:p>
                      <a:endParaRPr lang="en-GB"/>
                    </a:p>
                  </a:txBody>
                  <a:tcPr/>
                </a:tc>
                <a:tc gridSpan="2">
                  <a:txBody>
                    <a:bodyPr/>
                    <a:lstStyle/>
                    <a:p>
                      <a:pPr lvl="0" algn="ctr">
                        <a:spcAft>
                          <a:spcPts val="0"/>
                        </a:spcAft>
                      </a:pPr>
                      <a:r>
                        <a:rPr lang="en-GB" sz="1100">
                          <a:solidFill>
                            <a:srgbClr val="FFFFFF"/>
                          </a:solidFill>
                          <a:latin typeface="Calibri"/>
                          <a:ea typeface="Calibri" pitchFamily="34"/>
                        </a:rPr>
                        <a:t>Returned</a:t>
                      </a:r>
                    </a:p>
                  </a:txBody>
                  <a:tcPr marL="31784" marR="31784" marT="0" marB="0" anchor="ctr">
                    <a:solidFill>
                      <a:srgbClr val="A6A6A6"/>
                    </a:solidFill>
                  </a:tcPr>
                </a:tc>
                <a:tc hMerge="1">
                  <a:txBody>
                    <a:bodyPr/>
                    <a:lstStyle/>
                    <a:p>
                      <a:endParaRPr lang="en-GB"/>
                    </a:p>
                  </a:txBody>
                  <a:tcPr/>
                </a:tc>
                <a:extLst>
                  <a:ext uri="{0D108BD9-81ED-4DB2-BD59-A6C34878D82A}">
                    <a16:rowId xmlns:a16="http://schemas.microsoft.com/office/drawing/2014/main" val="4175379541"/>
                  </a:ext>
                </a:extLst>
              </a:tr>
              <a:tr h="273365">
                <a:tc>
                  <a:txBody>
                    <a:bodyPr/>
                    <a:lstStyle/>
                    <a:p>
                      <a:pPr lvl="0" algn="ctr">
                        <a:spcAft>
                          <a:spcPts val="0"/>
                        </a:spcAft>
                      </a:pPr>
                      <a:r>
                        <a:rPr lang="en-GB" sz="1100" b="1">
                          <a:solidFill>
                            <a:srgbClr val="000000"/>
                          </a:solidFill>
                          <a:latin typeface="Calibri"/>
                          <a:ea typeface="Calibri" pitchFamily="34"/>
                        </a:rPr>
                        <a:t>No.</a:t>
                      </a: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rPr>
                        <a:t>Declaration types</a:t>
                      </a:r>
                      <a:endParaRPr lang="en-GB" sz="1100" b="1">
                        <a:solidFill>
                          <a:srgbClr val="000000"/>
                        </a:solidFill>
                        <a:latin typeface="Calibri"/>
                        <a:ea typeface="Calibri" pitchFamily="34"/>
                      </a:endParaRP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rPr>
                        <a:t>Goods Description Declared</a:t>
                      </a:r>
                      <a:endParaRPr lang="en-GB" sz="1100" b="1">
                        <a:solidFill>
                          <a:srgbClr val="000000"/>
                        </a:solidFill>
                        <a:latin typeface="Calibri"/>
                        <a:ea typeface="Calibri" pitchFamily="34"/>
                      </a:endParaRP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rPr>
                        <a:t>Control Type</a:t>
                      </a:r>
                      <a:r>
                        <a:rPr lang="en-GB" sz="1100" b="1" baseline="30000">
                          <a:solidFill>
                            <a:srgbClr val="000000"/>
                          </a:solidFill>
                          <a:latin typeface="Calibri"/>
                        </a:rPr>
                        <a:t>1</a:t>
                      </a:r>
                      <a:r>
                        <a:rPr lang="en-GB" sz="1100" b="1">
                          <a:solidFill>
                            <a:srgbClr val="000000"/>
                          </a:solidFill>
                          <a:latin typeface="Calibri"/>
                        </a:rPr>
                        <a:t> </a:t>
                      </a:r>
                      <a:endParaRPr lang="en-GB" sz="1100" b="1">
                        <a:solidFill>
                          <a:srgbClr val="000000"/>
                        </a:solidFill>
                        <a:latin typeface="Calibri"/>
                        <a:ea typeface="Calibri" pitchFamily="34"/>
                      </a:endParaRP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rPr>
                        <a:t>Destination</a:t>
                      </a:r>
                      <a:endParaRPr lang="en-GB" sz="1100" b="1">
                        <a:solidFill>
                          <a:srgbClr val="000000"/>
                        </a:solidFill>
                        <a:latin typeface="Calibri"/>
                        <a:ea typeface="Calibri" pitchFamily="34"/>
                      </a:endParaRP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ea typeface="Calibri" pitchFamily="34"/>
                        </a:rPr>
                        <a:t>Notification</a:t>
                      </a:r>
                      <a:r>
                        <a:rPr lang="en-GB" sz="1100" b="1" baseline="30000">
                          <a:solidFill>
                            <a:srgbClr val="000000"/>
                          </a:solidFill>
                          <a:latin typeface="Calibri"/>
                          <a:ea typeface="Calibri" pitchFamily="34"/>
                        </a:rPr>
                        <a:t>2</a:t>
                      </a:r>
                      <a:r>
                        <a:rPr lang="en-GB" sz="1100" b="1">
                          <a:solidFill>
                            <a:srgbClr val="000000"/>
                          </a:solidFill>
                          <a:latin typeface="Calibri"/>
                          <a:ea typeface="Calibri" pitchFamily="34"/>
                        </a:rPr>
                        <a:t> </a:t>
                      </a:r>
                    </a:p>
                  </a:txBody>
                  <a:tcPr marL="31784" marR="31784" marT="0" marB="0" anchor="ctr">
                    <a:solidFill>
                      <a:srgbClr val="BFBFBF"/>
                    </a:solidFill>
                  </a:tcPr>
                </a:tc>
                <a:tc>
                  <a:txBody>
                    <a:bodyPr/>
                    <a:lstStyle/>
                    <a:p>
                      <a:pPr lvl="0" algn="ctr">
                        <a:spcAft>
                          <a:spcPts val="0"/>
                        </a:spcAft>
                      </a:pPr>
                      <a:r>
                        <a:rPr lang="en-GB" sz="1100" b="1">
                          <a:solidFill>
                            <a:srgbClr val="000000"/>
                          </a:solidFill>
                          <a:latin typeface="Calibri"/>
                          <a:ea typeface="Calibri" pitchFamily="34"/>
                        </a:rPr>
                        <a:t>Route Returned</a:t>
                      </a:r>
                    </a:p>
                  </a:txBody>
                  <a:tcPr marL="31784" marR="31784" marT="0" marB="0" anchor="ctr">
                    <a:solidFill>
                      <a:srgbClr val="BFBFBF"/>
                    </a:solidFill>
                  </a:tcPr>
                </a:tc>
                <a:extLst>
                  <a:ext uri="{0D108BD9-81ED-4DB2-BD59-A6C34878D82A}">
                    <a16:rowId xmlns:a16="http://schemas.microsoft.com/office/drawing/2014/main" val="4094325319"/>
                  </a:ext>
                </a:extLst>
              </a:tr>
              <a:tr h="136682">
                <a:tc>
                  <a:txBody>
                    <a:bodyPr/>
                    <a:lstStyle/>
                    <a:p>
                      <a:pPr lvl="0" algn="l">
                        <a:spcAft>
                          <a:spcPts val="0"/>
                        </a:spcAft>
                      </a:pPr>
                      <a:r>
                        <a:rPr lang="en-GB" sz="1100">
                          <a:solidFill>
                            <a:srgbClr val="000000"/>
                          </a:solidFill>
                          <a:latin typeface="Calibri"/>
                          <a:ea typeface="Calibri" pitchFamily="34"/>
                        </a:rPr>
                        <a:t>1</a:t>
                      </a:r>
                    </a:p>
                  </a:txBody>
                  <a:tcPr marL="31784" marR="31784" marT="0" marB="0">
                    <a:solidFill>
                      <a:srgbClr val="D9D9D9"/>
                    </a:solidFill>
                  </a:tcPr>
                </a:tc>
                <a:tc>
                  <a:txBody>
                    <a:bodyPr/>
                    <a:lstStyle/>
                    <a:p>
                      <a:pPr lvl="0" algn="l">
                        <a:spcAft>
                          <a:spcPts val="0"/>
                        </a:spcAft>
                      </a:pPr>
                      <a:r>
                        <a:rPr lang="en-GB" sz="1100" dirty="0">
                          <a:solidFill>
                            <a:srgbClr val="000000"/>
                          </a:solidFill>
                          <a:latin typeface="+mn-lt"/>
                        </a:rPr>
                        <a:t>A, B, C, D, E, F, J, K</a:t>
                      </a:r>
                      <a:endParaRPr lang="en-GB" sz="1100" dirty="0">
                        <a:solidFill>
                          <a:srgbClr val="000000"/>
                        </a:solidFill>
                        <a:latin typeface="+mn-lt"/>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ttdocblockingF</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Blocking Documentary</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Border Force</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DMSDOC</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1F</a:t>
                      </a:r>
                    </a:p>
                  </a:txBody>
                  <a:tcPr marL="31784" marR="31784" marT="0" marB="0">
                    <a:solidFill>
                      <a:srgbClr val="D9D9D9"/>
                    </a:solidFill>
                  </a:tcPr>
                </a:tc>
                <a:extLst>
                  <a:ext uri="{0D108BD9-81ED-4DB2-BD59-A6C34878D82A}">
                    <a16:rowId xmlns:a16="http://schemas.microsoft.com/office/drawing/2014/main" val="2036302588"/>
                  </a:ext>
                </a:extLst>
              </a:tr>
              <a:tr h="136682">
                <a:tc>
                  <a:txBody>
                    <a:bodyPr/>
                    <a:lstStyle/>
                    <a:p>
                      <a:pPr lvl="0" algn="l">
                        <a:spcAft>
                          <a:spcPts val="0"/>
                        </a:spcAft>
                      </a:pPr>
                      <a:r>
                        <a:rPr lang="en-GB" sz="1100">
                          <a:solidFill>
                            <a:srgbClr val="000000"/>
                          </a:solidFill>
                          <a:latin typeface="Calibri"/>
                          <a:ea typeface="Calibri" pitchFamily="34"/>
                        </a:rPr>
                        <a:t>2</a:t>
                      </a:r>
                    </a:p>
                  </a:txBody>
                  <a:tcPr marL="31784" marR="31784" marT="0" marB="0">
                    <a:solidFill>
                      <a:srgbClr val="E7E6E6"/>
                    </a:solidFill>
                  </a:tcPr>
                </a:tc>
                <a:tc>
                  <a:txBody>
                    <a:bodyPr/>
                    <a:lstStyle/>
                    <a:p>
                      <a:pPr lvl="0" algn="l">
                        <a:spcAft>
                          <a:spcPts val="0"/>
                        </a:spcAft>
                      </a:pPr>
                      <a:r>
                        <a:rPr lang="en-GB" sz="1100" dirty="0">
                          <a:solidFill>
                            <a:srgbClr val="000000"/>
                          </a:solidFill>
                          <a:latin typeface="+mn-lt"/>
                        </a:rPr>
                        <a:t>A, B, C, D, E, F, J, K</a:t>
                      </a:r>
                      <a:endParaRPr lang="en-GB" sz="1100" dirty="0">
                        <a:solidFill>
                          <a:srgbClr val="000000"/>
                        </a:solidFill>
                        <a:latin typeface="+mn-lt"/>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ttdocblockingS</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Blocking Documentary</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Trading Standards</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DMSDOC</a:t>
                      </a: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1S</a:t>
                      </a:r>
                    </a:p>
                  </a:txBody>
                  <a:tcPr marL="31784" marR="31784" marT="0" marB="0">
                    <a:solidFill>
                      <a:srgbClr val="E7E6E6"/>
                    </a:solidFill>
                  </a:tcPr>
                </a:tc>
                <a:extLst>
                  <a:ext uri="{0D108BD9-81ED-4DB2-BD59-A6C34878D82A}">
                    <a16:rowId xmlns:a16="http://schemas.microsoft.com/office/drawing/2014/main" val="389963948"/>
                  </a:ext>
                </a:extLst>
              </a:tr>
              <a:tr h="273365">
                <a:tc>
                  <a:txBody>
                    <a:bodyPr/>
                    <a:lstStyle/>
                    <a:p>
                      <a:pPr lvl="0" algn="l">
                        <a:spcAft>
                          <a:spcPts val="0"/>
                        </a:spcAft>
                      </a:pPr>
                      <a:r>
                        <a:rPr lang="en-GB" sz="1100">
                          <a:solidFill>
                            <a:srgbClr val="000000"/>
                          </a:solidFill>
                          <a:latin typeface="Calibri"/>
                          <a:ea typeface="Calibri" pitchFamily="34"/>
                        </a:rPr>
                        <a:t>3</a:t>
                      </a:r>
                    </a:p>
                  </a:txBody>
                  <a:tcPr marL="31784" marR="31784" marT="0" marB="0">
                    <a:solidFill>
                      <a:srgbClr val="D9D9D9"/>
                    </a:solidFill>
                  </a:tcPr>
                </a:tc>
                <a:tc>
                  <a:txBody>
                    <a:bodyPr/>
                    <a:lstStyle/>
                    <a:p>
                      <a:pPr lvl="0" algn="l">
                        <a:spcAft>
                          <a:spcPts val="0"/>
                        </a:spcAft>
                      </a:pPr>
                      <a:r>
                        <a:rPr lang="en-GB" sz="1100" dirty="0">
                          <a:solidFill>
                            <a:srgbClr val="000000"/>
                          </a:solidFill>
                          <a:latin typeface="+mn-lt"/>
                        </a:rPr>
                        <a:t>A, B, C, D, E, F, J, K</a:t>
                      </a:r>
                      <a:endParaRPr lang="en-GB" sz="1100" dirty="0">
                        <a:solidFill>
                          <a:srgbClr val="000000"/>
                        </a:solidFill>
                        <a:latin typeface="+mn-lt"/>
                        <a:ea typeface="Calibri" pitchFamily="34"/>
                      </a:endParaRPr>
                    </a:p>
                  </a:txBody>
                  <a:tcPr marL="31784" marR="31784" marT="0" marB="0">
                    <a:solidFill>
                      <a:srgbClr val="D9D9D9"/>
                    </a:solidFill>
                  </a:tcPr>
                </a:tc>
                <a:tc>
                  <a:txBody>
                    <a:bodyPr/>
                    <a:lstStyle/>
                    <a:p>
                      <a:pPr lvl="0" algn="l">
                        <a:spcAft>
                          <a:spcPts val="0"/>
                        </a:spcAft>
                      </a:pPr>
                      <a:r>
                        <a:rPr lang="en-GB" sz="1100" dirty="0" err="1">
                          <a:solidFill>
                            <a:srgbClr val="000000"/>
                          </a:solidFill>
                          <a:latin typeface="Calibri"/>
                        </a:rPr>
                        <a:t>ttdocnonblockingU</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Non-blocking Documentary</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marL="0" marR="0" lvl="0" indent="0" algn="l" defTabSz="914400" rtl="0" fontAlgn="auto" hangingPunct="1">
                        <a:lnSpc>
                          <a:spcPct val="100000"/>
                        </a:lnSpc>
                        <a:spcBef>
                          <a:spcPts val="0"/>
                        </a:spcBef>
                        <a:spcAft>
                          <a:spcPts val="0"/>
                        </a:spcAft>
                        <a:buNone/>
                        <a:tabLst/>
                      </a:pPr>
                      <a:r>
                        <a:rPr lang="en-GB" sz="1100"/>
                        <a:t>Trading Standards Customs (NCH)</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DMSDOC</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3U</a:t>
                      </a:r>
                    </a:p>
                  </a:txBody>
                  <a:tcPr marL="31784" marR="31784" marT="0" marB="0">
                    <a:solidFill>
                      <a:srgbClr val="D9D9D9"/>
                    </a:solidFill>
                  </a:tcPr>
                </a:tc>
                <a:extLst>
                  <a:ext uri="{0D108BD9-81ED-4DB2-BD59-A6C34878D82A}">
                    <a16:rowId xmlns:a16="http://schemas.microsoft.com/office/drawing/2014/main" val="2512694236"/>
                  </a:ext>
                </a:extLst>
              </a:tr>
              <a:tr h="273365">
                <a:tc>
                  <a:txBody>
                    <a:bodyPr/>
                    <a:lstStyle/>
                    <a:p>
                      <a:pPr lvl="0" algn="l">
                        <a:spcAft>
                          <a:spcPts val="0"/>
                        </a:spcAft>
                      </a:pPr>
                      <a:r>
                        <a:rPr lang="en-GB" sz="1100">
                          <a:solidFill>
                            <a:srgbClr val="000000"/>
                          </a:solidFill>
                          <a:latin typeface="Calibri"/>
                          <a:ea typeface="Calibri" pitchFamily="34"/>
                        </a:rPr>
                        <a:t>4</a:t>
                      </a:r>
                    </a:p>
                  </a:txBody>
                  <a:tcPr marL="31784" marR="31784" marT="0" marB="0">
                    <a:solidFill>
                      <a:srgbClr val="E7E6E6"/>
                    </a:solidFill>
                  </a:tcPr>
                </a:tc>
                <a:tc>
                  <a:txBody>
                    <a:bodyPr/>
                    <a:lstStyle/>
                    <a:p>
                      <a:pPr lvl="0" algn="l">
                        <a:spcAft>
                          <a:spcPts val="0"/>
                        </a:spcAft>
                      </a:pPr>
                      <a:r>
                        <a:rPr lang="en-GB" sz="1100" dirty="0">
                          <a:solidFill>
                            <a:srgbClr val="000000"/>
                          </a:solidFill>
                          <a:latin typeface="+mn-lt"/>
                        </a:rPr>
                        <a:t>A, B, C, D, E, F, J, K</a:t>
                      </a:r>
                      <a:endParaRPr lang="en-GB" sz="1100" dirty="0">
                        <a:solidFill>
                          <a:srgbClr val="000000"/>
                        </a:solidFill>
                        <a:latin typeface="+mn-lt"/>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ttdocnonblockingV</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Non-blocking Documentary</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Trading Standards Border Force</a:t>
                      </a: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DMSDOC</a:t>
                      </a:r>
                    </a:p>
                    <a:p>
                      <a:pPr lvl="0" algn="l">
                        <a:spcAft>
                          <a:spcPts val="0"/>
                        </a:spcAft>
                      </a:pP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3V</a:t>
                      </a:r>
                    </a:p>
                  </a:txBody>
                  <a:tcPr marL="31784" marR="31784" marT="0" marB="0">
                    <a:solidFill>
                      <a:srgbClr val="E7E6E6"/>
                    </a:solidFill>
                  </a:tcPr>
                </a:tc>
                <a:extLst>
                  <a:ext uri="{0D108BD9-81ED-4DB2-BD59-A6C34878D82A}">
                    <a16:rowId xmlns:a16="http://schemas.microsoft.com/office/drawing/2014/main" val="1270052651"/>
                  </a:ext>
                </a:extLst>
              </a:tr>
              <a:tr h="336188">
                <a:tc>
                  <a:txBody>
                    <a:bodyPr/>
                    <a:lstStyle/>
                    <a:p>
                      <a:pPr lvl="0" algn="l">
                        <a:spcAft>
                          <a:spcPts val="0"/>
                        </a:spcAft>
                      </a:pPr>
                      <a:r>
                        <a:rPr lang="en-GB" sz="1100">
                          <a:solidFill>
                            <a:srgbClr val="000000"/>
                          </a:solidFill>
                          <a:latin typeface="Calibri"/>
                          <a:ea typeface="Calibri" pitchFamily="34"/>
                        </a:rPr>
                        <a:t>5</a:t>
                      </a:r>
                    </a:p>
                  </a:txBody>
                  <a:tcPr marL="31784" marR="31784" marT="0" marB="0">
                    <a:solidFill>
                      <a:srgbClr val="D9D9D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000000"/>
                          </a:solidFill>
                          <a:latin typeface="+mn-lt"/>
                        </a:rPr>
                        <a:t>A, B, C, D, E, F, J, K</a:t>
                      </a:r>
                      <a:endParaRPr lang="en-GB" sz="1100" dirty="0">
                        <a:solidFill>
                          <a:srgbClr val="000000"/>
                        </a:solidFill>
                        <a:latin typeface="+mn-lt"/>
                        <a:ea typeface="Calibri" pitchFamily="34"/>
                      </a:endParaRPr>
                    </a:p>
                    <a:p>
                      <a:pPr lvl="0" algn="l">
                        <a:spcAft>
                          <a:spcPts val="0"/>
                        </a:spcAft>
                      </a:pP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dirty="0" err="1">
                          <a:solidFill>
                            <a:srgbClr val="000000"/>
                          </a:solidFill>
                          <a:latin typeface="Calibri"/>
                        </a:rPr>
                        <a:t>ttphysicalQ</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dirty="0">
                          <a:solidFill>
                            <a:srgbClr val="000000"/>
                          </a:solidFill>
                          <a:latin typeface="Calibri"/>
                        </a:rPr>
                        <a:t>Physical</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r>
                        <a:rPr lang="en-GB" sz="1100"/>
                        <a:t>OGD </a:t>
                      </a:r>
                      <a:r>
                        <a:rPr lang="en-GB" sz="1100">
                          <a:solidFill>
                            <a:srgbClr val="000000"/>
                          </a:solidFill>
                          <a:latin typeface="Calibri"/>
                        </a:rPr>
                        <a:t>(DEFRA) </a:t>
                      </a:r>
                      <a:r>
                        <a:rPr lang="en-GB" sz="1100"/>
                        <a:t>and Trading Standards</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DMSCTL</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2Q</a:t>
                      </a:r>
                    </a:p>
                  </a:txBody>
                  <a:tcPr marL="31784" marR="31784" marT="0" marB="0">
                    <a:solidFill>
                      <a:srgbClr val="D9D9D9"/>
                    </a:solidFill>
                  </a:tcPr>
                </a:tc>
                <a:extLst>
                  <a:ext uri="{0D108BD9-81ED-4DB2-BD59-A6C34878D82A}">
                    <a16:rowId xmlns:a16="http://schemas.microsoft.com/office/drawing/2014/main" val="2750844123"/>
                  </a:ext>
                </a:extLst>
              </a:tr>
              <a:tr h="273365">
                <a:tc>
                  <a:txBody>
                    <a:bodyPr/>
                    <a:lstStyle/>
                    <a:p>
                      <a:pPr lvl="0" algn="l">
                        <a:spcAft>
                          <a:spcPts val="0"/>
                        </a:spcAft>
                      </a:pPr>
                      <a:r>
                        <a:rPr lang="en-GB" sz="1100">
                          <a:solidFill>
                            <a:srgbClr val="000000"/>
                          </a:solidFill>
                          <a:latin typeface="Calibri"/>
                          <a:ea typeface="Calibri" pitchFamily="34"/>
                        </a:rPr>
                        <a:t>6</a:t>
                      </a:r>
                    </a:p>
                  </a:txBody>
                  <a:tcPr marL="31784" marR="31784" marT="0" marB="0">
                    <a:solidFill>
                      <a:srgbClr val="E7E6E6"/>
                    </a:solidFill>
                  </a:tcPr>
                </a:tc>
                <a:tc>
                  <a:txBody>
                    <a:bodyPr/>
                    <a:lstStyle/>
                    <a:p>
                      <a:pPr lvl="0" algn="l">
                        <a:spcAft>
                          <a:spcPts val="0"/>
                        </a:spcAft>
                      </a:pPr>
                      <a:r>
                        <a:rPr lang="en-GB" sz="1100" dirty="0">
                          <a:solidFill>
                            <a:srgbClr val="000000"/>
                          </a:solidFill>
                          <a:latin typeface="+mn-lt"/>
                        </a:rPr>
                        <a:t>A, B, C, D, E, F, J, K</a:t>
                      </a:r>
                      <a:endParaRPr lang="en-GB" sz="1100" dirty="0">
                        <a:solidFill>
                          <a:srgbClr val="000000"/>
                        </a:solidFill>
                        <a:latin typeface="+mn-lt"/>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ttphysicalW</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Physical</a:t>
                      </a:r>
                    </a:p>
                    <a:p>
                      <a:pPr lvl="0" algn="l">
                        <a:spcAft>
                          <a:spcPts val="0"/>
                        </a:spcAft>
                      </a:pPr>
                      <a:r>
                        <a:rPr lang="en-GB" sz="1100">
                          <a:solidFill>
                            <a:srgbClr val="000000"/>
                          </a:solidFill>
                          <a:latin typeface="Calibri"/>
                          <a:ea typeface="Calibri" pitchFamily="34"/>
                        </a:rPr>
                        <a:t>Documentary</a:t>
                      </a:r>
                    </a:p>
                  </a:txBody>
                  <a:tcPr marL="31784" marR="31784" marT="0" marB="0">
                    <a:solidFill>
                      <a:srgbClr val="E7E6E6"/>
                    </a:solidFill>
                  </a:tcPr>
                </a:tc>
                <a:tc>
                  <a:txBody>
                    <a:bodyPr/>
                    <a:lstStyle/>
                    <a:p>
                      <a:pPr lvl="0"/>
                      <a:r>
                        <a:rPr lang="en-GB" sz="1100"/>
                        <a:t>OGD, Trading Standards Customs (NCH)</a:t>
                      </a:r>
                    </a:p>
                  </a:txBody>
                  <a:tcPr marL="31784" marR="31784" marT="0" marB="0">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solidFill>
                            <a:srgbClr val="000000"/>
                          </a:solidFill>
                          <a:latin typeface="Calibri"/>
                          <a:ea typeface="Calibri" pitchFamily="34"/>
                        </a:rPr>
                        <a:t>DMSCTL</a:t>
                      </a:r>
                    </a:p>
                  </a:txBody>
                  <a:tcPr marL="31784" marR="31784" marT="0" marB="0">
                    <a:solidFill>
                      <a:srgbClr val="E7E6E6"/>
                    </a:solidFill>
                  </a:tcPr>
                </a:tc>
                <a:tc>
                  <a:txBody>
                    <a:bodyPr/>
                    <a:lstStyle/>
                    <a:p>
                      <a:pPr lvl="0" algn="l">
                        <a:spcAft>
                          <a:spcPts val="0"/>
                        </a:spcAft>
                      </a:pPr>
                      <a:r>
                        <a:rPr lang="en-GB" sz="1100" dirty="0">
                          <a:solidFill>
                            <a:srgbClr val="000000"/>
                          </a:solidFill>
                          <a:latin typeface="Calibri"/>
                          <a:ea typeface="Calibri" pitchFamily="34"/>
                        </a:rPr>
                        <a:t>2W</a:t>
                      </a:r>
                    </a:p>
                  </a:txBody>
                  <a:tcPr marL="31784" marR="31784" marT="0" marB="0">
                    <a:solidFill>
                      <a:srgbClr val="E7E6E6"/>
                    </a:solidFill>
                  </a:tcPr>
                </a:tc>
                <a:extLst>
                  <a:ext uri="{0D108BD9-81ED-4DB2-BD59-A6C34878D82A}">
                    <a16:rowId xmlns:a16="http://schemas.microsoft.com/office/drawing/2014/main" val="335822105"/>
                  </a:ext>
                </a:extLst>
              </a:tr>
              <a:tr h="136682">
                <a:tc>
                  <a:txBody>
                    <a:bodyPr/>
                    <a:lstStyle/>
                    <a:p>
                      <a:pPr lvl="0" algn="l">
                        <a:spcAft>
                          <a:spcPts val="0"/>
                        </a:spcAft>
                      </a:pPr>
                      <a:r>
                        <a:rPr lang="en-GB" sz="1100">
                          <a:solidFill>
                            <a:srgbClr val="000000"/>
                          </a:solidFill>
                          <a:latin typeface="Calibri"/>
                          <a:ea typeface="Calibri" pitchFamily="34"/>
                        </a:rPr>
                        <a:t>7</a:t>
                      </a:r>
                    </a:p>
                  </a:txBody>
                  <a:tcPr marL="31784" marR="31784" marT="0" marB="0">
                    <a:solidFill>
                      <a:srgbClr val="D9D9D9"/>
                    </a:solidFill>
                  </a:tcPr>
                </a:tc>
                <a:tc>
                  <a:txBody>
                    <a:bodyPr/>
                    <a:lstStyle/>
                    <a:p>
                      <a:pPr lvl="0" algn="l">
                        <a:spcAft>
                          <a:spcPts val="0"/>
                        </a:spcAft>
                      </a:pPr>
                      <a:r>
                        <a:rPr lang="en-GB" sz="1100" dirty="0">
                          <a:solidFill>
                            <a:srgbClr val="000000"/>
                          </a:solidFill>
                          <a:latin typeface="Calibri"/>
                        </a:rPr>
                        <a:t>A, B, C, J</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ttalvsPHSI</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ALVS</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DEFRA (PHSI)</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No Notification</a:t>
                      </a: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0P</a:t>
                      </a:r>
                    </a:p>
                  </a:txBody>
                  <a:tcPr marL="31784" marR="31784" marT="0" marB="0">
                    <a:solidFill>
                      <a:srgbClr val="D9D9D9"/>
                    </a:solidFill>
                  </a:tcPr>
                </a:tc>
                <a:extLst>
                  <a:ext uri="{0D108BD9-81ED-4DB2-BD59-A6C34878D82A}">
                    <a16:rowId xmlns:a16="http://schemas.microsoft.com/office/drawing/2014/main" val="1902636539"/>
                  </a:ext>
                </a:extLst>
              </a:tr>
              <a:tr h="136682">
                <a:tc>
                  <a:txBody>
                    <a:bodyPr/>
                    <a:lstStyle/>
                    <a:p>
                      <a:pPr lvl="0" algn="l">
                        <a:spcAft>
                          <a:spcPts val="0"/>
                        </a:spcAft>
                      </a:pPr>
                      <a:r>
                        <a:rPr lang="en-GB" sz="1100">
                          <a:solidFill>
                            <a:srgbClr val="000000"/>
                          </a:solidFill>
                          <a:latin typeface="Calibri"/>
                          <a:ea typeface="Calibri" pitchFamily="34"/>
                        </a:rPr>
                        <a:t>8</a:t>
                      </a:r>
                    </a:p>
                  </a:txBody>
                  <a:tcPr marL="31784" marR="31784" marT="0" marB="0">
                    <a:solidFill>
                      <a:srgbClr val="E7E6E6"/>
                    </a:solidFill>
                  </a:tcPr>
                </a:tc>
                <a:tc>
                  <a:txBody>
                    <a:bodyPr/>
                    <a:lstStyle/>
                    <a:p>
                      <a:pPr lvl="0" algn="l">
                        <a:spcAft>
                          <a:spcPts val="0"/>
                        </a:spcAft>
                      </a:pPr>
                      <a:r>
                        <a:rPr lang="en-GB" sz="1100" dirty="0">
                          <a:solidFill>
                            <a:srgbClr val="000000"/>
                          </a:solidFill>
                          <a:latin typeface="Calibri"/>
                          <a:ea typeface="Calibri" pitchFamily="34"/>
                        </a:rPr>
                        <a:t>A, B, C, J</a:t>
                      </a: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ttalvsHMI</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ALVS</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rPr>
                        <a:t>DEFRA (HMI)</a:t>
                      </a:r>
                      <a:endParaRPr lang="en-GB" sz="1100">
                        <a:solidFill>
                          <a:srgbClr val="000000"/>
                        </a:solidFill>
                        <a:latin typeface="Calibri"/>
                        <a:ea typeface="Calibri" pitchFamily="34"/>
                      </a:endParaRP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No Notification</a:t>
                      </a:r>
                    </a:p>
                  </a:txBody>
                  <a:tcPr marL="31784" marR="31784" marT="0" marB="0">
                    <a:solidFill>
                      <a:srgbClr val="E7E6E6"/>
                    </a:solidFill>
                  </a:tcPr>
                </a:tc>
                <a:tc>
                  <a:txBody>
                    <a:bodyPr/>
                    <a:lstStyle/>
                    <a:p>
                      <a:pPr lvl="0" algn="l">
                        <a:spcAft>
                          <a:spcPts val="0"/>
                        </a:spcAft>
                      </a:pPr>
                      <a:r>
                        <a:rPr lang="en-GB" sz="1100">
                          <a:solidFill>
                            <a:srgbClr val="000000"/>
                          </a:solidFill>
                          <a:latin typeface="Calibri"/>
                          <a:ea typeface="Calibri" pitchFamily="34"/>
                        </a:rPr>
                        <a:t>0H</a:t>
                      </a:r>
                    </a:p>
                  </a:txBody>
                  <a:tcPr marL="31784" marR="31784" marT="0" marB="0">
                    <a:solidFill>
                      <a:srgbClr val="E7E6E6"/>
                    </a:solidFill>
                  </a:tcPr>
                </a:tc>
                <a:extLst>
                  <a:ext uri="{0D108BD9-81ED-4DB2-BD59-A6C34878D82A}">
                    <a16:rowId xmlns:a16="http://schemas.microsoft.com/office/drawing/2014/main" val="1835967699"/>
                  </a:ext>
                </a:extLst>
              </a:tr>
              <a:tr h="136682">
                <a:tc>
                  <a:txBody>
                    <a:bodyPr/>
                    <a:lstStyle/>
                    <a:p>
                      <a:pPr lvl="0" algn="l">
                        <a:spcAft>
                          <a:spcPts val="0"/>
                        </a:spcAft>
                      </a:pPr>
                      <a:r>
                        <a:rPr lang="en-GB" sz="1100">
                          <a:solidFill>
                            <a:srgbClr val="000000"/>
                          </a:solidFill>
                          <a:latin typeface="Calibri"/>
                          <a:ea typeface="Calibri" pitchFamily="34"/>
                        </a:rPr>
                        <a:t>9</a:t>
                      </a:r>
                    </a:p>
                  </a:txBody>
                  <a:tcPr marL="31784" marR="31784" marT="0" marB="0">
                    <a:solidFill>
                      <a:srgbClr val="D9D9D9"/>
                    </a:solidFill>
                  </a:tcPr>
                </a:tc>
                <a:tc>
                  <a:txBody>
                    <a:bodyPr/>
                    <a:lstStyle/>
                    <a:p>
                      <a:pPr lvl="0" algn="l">
                        <a:spcAft>
                          <a:spcPts val="0"/>
                        </a:spcAft>
                      </a:pPr>
                      <a:r>
                        <a:rPr lang="en-GB" sz="1100" dirty="0">
                          <a:solidFill>
                            <a:srgbClr val="000000"/>
                          </a:solidFill>
                          <a:latin typeface="Calibri"/>
                        </a:rPr>
                        <a:t>D, E, F, K</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ttalvsHMI</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dirty="0">
                          <a:solidFill>
                            <a:srgbClr val="000000"/>
                          </a:solidFill>
                          <a:latin typeface="Calibri"/>
                        </a:rPr>
                        <a:t>ALVS</a:t>
                      </a:r>
                      <a:endParaRPr lang="en-GB" sz="1100" dirty="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rPr>
                        <a:t>DEFRA (HMI)</a:t>
                      </a:r>
                      <a:endParaRPr lang="en-GB" sz="1100">
                        <a:solidFill>
                          <a:srgbClr val="000000"/>
                        </a:solidFill>
                        <a:latin typeface="Calibri"/>
                        <a:ea typeface="Calibri" pitchFamily="34"/>
                      </a:endParaRPr>
                    </a:p>
                  </a:txBody>
                  <a:tcPr marL="31784" marR="31784" marT="0" marB="0">
                    <a:solidFill>
                      <a:srgbClr val="D9D9D9"/>
                    </a:solidFill>
                  </a:tcPr>
                </a:tc>
                <a:tc>
                  <a:txBody>
                    <a:bodyPr/>
                    <a:lstStyle/>
                    <a:p>
                      <a:pPr lvl="0" algn="l">
                        <a:spcAft>
                          <a:spcPts val="0"/>
                        </a:spcAft>
                      </a:pPr>
                      <a:r>
                        <a:rPr lang="en-GB" sz="1100">
                          <a:solidFill>
                            <a:srgbClr val="000000"/>
                          </a:solidFill>
                          <a:latin typeface="Calibri"/>
                          <a:ea typeface="Calibri" pitchFamily="34"/>
                        </a:rPr>
                        <a:t>No Notification</a:t>
                      </a:r>
                    </a:p>
                  </a:txBody>
                  <a:tcPr marL="31784" marR="31784" marT="0" marB="0">
                    <a:solidFill>
                      <a:srgbClr val="D9D9D9"/>
                    </a:solidFill>
                  </a:tcPr>
                </a:tc>
                <a:tc>
                  <a:txBody>
                    <a:bodyPr/>
                    <a:lstStyle/>
                    <a:p>
                      <a:pPr lvl="0" algn="l">
                        <a:spcAft>
                          <a:spcPts val="0"/>
                        </a:spcAft>
                      </a:pPr>
                      <a:r>
                        <a:rPr lang="en-GB" sz="1100" dirty="0">
                          <a:solidFill>
                            <a:srgbClr val="000000"/>
                          </a:solidFill>
                          <a:latin typeface="Calibri"/>
                          <a:ea typeface="Calibri" pitchFamily="34"/>
                        </a:rPr>
                        <a:t>H0 </a:t>
                      </a:r>
                    </a:p>
                  </a:txBody>
                  <a:tcPr marL="31784" marR="31784" marT="0" marB="0">
                    <a:solidFill>
                      <a:srgbClr val="D9D9D9"/>
                    </a:solidFill>
                  </a:tcPr>
                </a:tc>
                <a:extLst>
                  <a:ext uri="{0D108BD9-81ED-4DB2-BD59-A6C34878D82A}">
                    <a16:rowId xmlns:a16="http://schemas.microsoft.com/office/drawing/2014/main" val="1574384367"/>
                  </a:ext>
                </a:extLst>
              </a:tr>
            </a:tbl>
          </a:graphicData>
        </a:graphic>
      </p:graphicFrame>
      <p:sp>
        <p:nvSpPr>
          <p:cNvPr id="8" name="Rectangle 20">
            <a:extLst>
              <a:ext uri="{FF2B5EF4-FFF2-40B4-BE49-F238E27FC236}">
                <a16:creationId xmlns:a16="http://schemas.microsoft.com/office/drawing/2014/main" id="{E401DCFC-D861-46BD-A779-F87532F20602}"/>
              </a:ext>
            </a:extLst>
          </p:cNvPr>
          <p:cNvSpPr/>
          <p:nvPr/>
        </p:nvSpPr>
        <p:spPr>
          <a:xfrm>
            <a:off x="8205745" y="3102633"/>
            <a:ext cx="3694967" cy="330860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dirty="0">
                <a:solidFill>
                  <a:srgbClr val="000000"/>
                </a:solidFill>
                <a:uFillTx/>
                <a:latin typeface="Calibri"/>
              </a:rPr>
              <a:t>DIS Queries – Import Declarations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Please note, for Control Task no. 1-8</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dirty="0">
                <a:solidFill>
                  <a:srgbClr val="000000"/>
                </a:solidFill>
                <a:uFillTx/>
                <a:latin typeface="Calibri"/>
              </a:rPr>
              <a:t>When submitted on an </a:t>
            </a:r>
            <a:r>
              <a:rPr lang="en-GB" sz="1100" b="1" i="0" u="none" strike="noStrike" kern="1200" cap="none" spc="0" baseline="0" dirty="0">
                <a:solidFill>
                  <a:srgbClr val="000000"/>
                </a:solidFill>
                <a:uFillTx/>
                <a:latin typeface="Calibri"/>
              </a:rPr>
              <a:t>arrived Imports declaration</a:t>
            </a:r>
            <a:r>
              <a:rPr lang="en-GB" sz="1100" b="0" i="0" u="none" strike="noStrike" kern="1200" cap="none" spc="0" baseline="0" dirty="0">
                <a:solidFill>
                  <a:srgbClr val="000000"/>
                </a:solidFill>
                <a:uFillTx/>
                <a:latin typeface="Calibri"/>
              </a:rPr>
              <a:t>, the '</a:t>
            </a:r>
            <a:r>
              <a:rPr lang="en-GB" sz="1100" b="0" i="0" u="none" strike="noStrike" kern="1200" cap="none" spc="0" baseline="0" dirty="0" err="1">
                <a:solidFill>
                  <a:srgbClr val="000000"/>
                </a:solidFill>
                <a:uFillTx/>
                <a:latin typeface="Calibri"/>
              </a:rPr>
              <a:t>inventoryLinkedValidateMovementRequest</a:t>
            </a:r>
            <a:r>
              <a:rPr lang="en-GB" sz="1100" b="0" i="0" u="none" strike="noStrike" kern="1200" cap="none" spc="0" baseline="0" dirty="0">
                <a:solidFill>
                  <a:srgbClr val="000000"/>
                </a:solidFill>
                <a:uFillTx/>
                <a:latin typeface="Calibri"/>
              </a:rPr>
              <a:t>' notification will return a ROE of "0“. The DIS query response will return the same ROE codes as in the CSP status notification.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Please note, for Control Task no. 9</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dirty="0">
                <a:solidFill>
                  <a:srgbClr val="000000"/>
                </a:solidFill>
                <a:uFillTx/>
                <a:latin typeface="Calibri"/>
              </a:rPr>
              <a:t>When submitted on a </a:t>
            </a:r>
            <a:r>
              <a:rPr lang="en-GB" sz="1100" b="1" i="0" u="none" strike="noStrike" kern="1200" cap="none" spc="0" baseline="0" dirty="0">
                <a:solidFill>
                  <a:srgbClr val="000000"/>
                </a:solidFill>
                <a:uFillTx/>
                <a:latin typeface="Calibri"/>
              </a:rPr>
              <a:t>pre-lodged Imports declaration</a:t>
            </a:r>
            <a:r>
              <a:rPr lang="en-GB" sz="1100" b="0" i="0" u="none" strike="noStrike" kern="1200" cap="none" spc="0" baseline="0" dirty="0">
                <a:solidFill>
                  <a:srgbClr val="000000"/>
                </a:solidFill>
                <a:uFillTx/>
                <a:latin typeface="Calibri"/>
              </a:rPr>
              <a:t>, the '</a:t>
            </a:r>
            <a:r>
              <a:rPr lang="en-GB" sz="1100" b="0" i="0" u="none" strike="noStrike" kern="1200" cap="none" spc="0" baseline="0" dirty="0" err="1">
                <a:solidFill>
                  <a:srgbClr val="000000"/>
                </a:solidFill>
                <a:uFillTx/>
                <a:latin typeface="Calibri"/>
              </a:rPr>
              <a:t>inventoryLinkedValidateMovementRequest</a:t>
            </a:r>
            <a:r>
              <a:rPr lang="en-GB" sz="1100" b="0" i="0" u="none" strike="noStrike" kern="1200" cap="none" spc="0" baseline="0" dirty="0">
                <a:solidFill>
                  <a:srgbClr val="000000"/>
                </a:solidFill>
                <a:uFillTx/>
                <a:latin typeface="Calibri"/>
              </a:rPr>
              <a:t>' notification and DIS query response will return a ROE of “H“.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dirty="0">
                <a:solidFill>
                  <a:srgbClr val="000000"/>
                </a:solidFill>
                <a:uFillTx/>
                <a:latin typeface="Calibri"/>
              </a:rPr>
              <a:t>DIS Queries – Export Declarations</a:t>
            </a:r>
            <a:endParaRPr lang="en-GB" sz="12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Please note, for Control Task no. 1-6</a:t>
            </a:r>
            <a:endParaRPr lang="en-GB" sz="1100" b="0"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dirty="0">
                <a:solidFill>
                  <a:srgbClr val="000000"/>
                </a:solidFill>
                <a:uFillTx/>
                <a:latin typeface="Calibri"/>
              </a:rPr>
              <a:t>When submitted on an </a:t>
            </a:r>
            <a:r>
              <a:rPr lang="en-GB" sz="1100" b="1" i="0" u="none" strike="noStrike" kern="1200" cap="none" spc="0" baseline="0" dirty="0">
                <a:solidFill>
                  <a:srgbClr val="000000"/>
                </a:solidFill>
                <a:uFillTx/>
                <a:latin typeface="Calibri"/>
              </a:rPr>
              <a:t>arrived Exports declaration</a:t>
            </a:r>
            <a:r>
              <a:rPr lang="en-GB" sz="1100" b="0" i="0" u="none" strike="noStrike" kern="1200" cap="none" spc="0" baseline="0" dirty="0">
                <a:solidFill>
                  <a:srgbClr val="000000"/>
                </a:solidFill>
                <a:uFillTx/>
                <a:latin typeface="Calibri"/>
              </a:rPr>
              <a:t>, the DIS query response will return the prefix of the ROE code stated in the table with no CSP notification sent.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Please note, for Control Task no. 7-8</a:t>
            </a:r>
            <a:endParaRPr lang="en-GB" sz="1100" b="0"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dirty="0">
                <a:solidFill>
                  <a:srgbClr val="000000"/>
                </a:solidFill>
                <a:uFillTx/>
                <a:latin typeface="Calibri"/>
              </a:rPr>
              <a:t>When submitted on an </a:t>
            </a:r>
            <a:r>
              <a:rPr lang="en-GB" sz="1100" b="1" i="0" u="none" strike="noStrike" kern="1200" cap="none" spc="0" baseline="0" dirty="0">
                <a:solidFill>
                  <a:srgbClr val="000000"/>
                </a:solidFill>
                <a:uFillTx/>
                <a:latin typeface="Calibri"/>
              </a:rPr>
              <a:t>arrived Exports declaration</a:t>
            </a:r>
            <a:r>
              <a:rPr lang="en-GB" sz="1100" b="0" i="0" u="none" strike="noStrike" kern="1200" cap="none" spc="0" baseline="0" dirty="0">
                <a:solidFill>
                  <a:srgbClr val="000000"/>
                </a:solidFill>
                <a:uFillTx/>
                <a:latin typeface="Calibri"/>
              </a:rPr>
              <a:t>, the DIS query response must return an “E”. </a:t>
            </a:r>
          </a:p>
        </p:txBody>
      </p:sp>
      <p:sp>
        <p:nvSpPr>
          <p:cNvPr id="9" name="Rectangle 22">
            <a:extLst>
              <a:ext uri="{FF2B5EF4-FFF2-40B4-BE49-F238E27FC236}">
                <a16:creationId xmlns:a16="http://schemas.microsoft.com/office/drawing/2014/main" id="{E1025CB9-1366-40B8-B1D0-29861D2B9459}"/>
              </a:ext>
            </a:extLst>
          </p:cNvPr>
          <p:cNvSpPr/>
          <p:nvPr/>
        </p:nvSpPr>
        <p:spPr>
          <a:xfrm>
            <a:off x="370615" y="1036216"/>
            <a:ext cx="11379195" cy="43088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100" b="0" i="0" u="none" strike="noStrike" kern="1200" cap="none" spc="0" baseline="0" dirty="0">
                <a:solidFill>
                  <a:srgbClr val="000000"/>
                </a:solidFill>
                <a:uFillTx/>
                <a:latin typeface="Calibri"/>
              </a:rPr>
              <a:t>Both of the External Test environments (TT and TDR) use a simulated controls process so that controls functionality can be tested with minimal intervention from HMRC. The content from the declaration submission determines the control behaviour for the CDS system in External Test.</a:t>
            </a:r>
          </a:p>
        </p:txBody>
      </p:sp>
      <p:sp>
        <p:nvSpPr>
          <p:cNvPr id="10" name="Rectangle 4">
            <a:extLst>
              <a:ext uri="{FF2B5EF4-FFF2-40B4-BE49-F238E27FC236}">
                <a16:creationId xmlns:a16="http://schemas.microsoft.com/office/drawing/2014/main" id="{A1F1D117-8555-41D0-91A9-1452B9AC166C}"/>
              </a:ext>
            </a:extLst>
          </p:cNvPr>
          <p:cNvSpPr/>
          <p:nvPr/>
        </p:nvSpPr>
        <p:spPr>
          <a:xfrm>
            <a:off x="370615" y="676372"/>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dirty="0">
                <a:solidFill>
                  <a:srgbClr val="000000"/>
                </a:solidFill>
                <a:uFillTx/>
                <a:latin typeface="Calibri" pitchFamily="34"/>
                <a:ea typeface="Calibri" pitchFamily="34"/>
              </a:rPr>
              <a:t>Simulated Controls</a:t>
            </a:r>
          </a:p>
        </p:txBody>
      </p:sp>
      <p:sp>
        <p:nvSpPr>
          <p:cNvPr id="11" name="Rectangle 25">
            <a:extLst>
              <a:ext uri="{FF2B5EF4-FFF2-40B4-BE49-F238E27FC236}">
                <a16:creationId xmlns:a16="http://schemas.microsoft.com/office/drawing/2014/main" id="{F3684DFC-0EFD-4A82-A8C5-D0126FF41415}"/>
              </a:ext>
            </a:extLst>
          </p:cNvPr>
          <p:cNvSpPr/>
          <p:nvPr/>
        </p:nvSpPr>
        <p:spPr>
          <a:xfrm>
            <a:off x="370615" y="1447531"/>
            <a:ext cx="3617338"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Initiating a Control Task for Imports or Exports</a:t>
            </a:r>
          </a:p>
        </p:txBody>
      </p:sp>
      <p:sp>
        <p:nvSpPr>
          <p:cNvPr id="12" name="Oval 14">
            <a:hlinkClick r:id="rId3" action="ppaction://hlinksldjump"/>
            <a:extLst>
              <a:ext uri="{FF2B5EF4-FFF2-40B4-BE49-F238E27FC236}">
                <a16:creationId xmlns:a16="http://schemas.microsoft.com/office/drawing/2014/main" id="{09189CE4-BC43-4E4E-96E9-859D8E65C18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6">
            <a:hlinkClick r:id="rId3" action="ppaction://hlinksldjump"/>
            <a:extLst>
              <a:ext uri="{FF2B5EF4-FFF2-40B4-BE49-F238E27FC236}">
                <a16:creationId xmlns:a16="http://schemas.microsoft.com/office/drawing/2014/main" id="{EED51C9D-EFF4-4EBB-A950-70F7FA7E3AD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18">
            <a:hlinkClick r:id="rId4" action="ppaction://hlinksldjump"/>
            <a:extLst>
              <a:ext uri="{FF2B5EF4-FFF2-40B4-BE49-F238E27FC236}">
                <a16:creationId xmlns:a16="http://schemas.microsoft.com/office/drawing/2014/main" id="{D68F2840-619D-47C3-BBB8-A3D5D68D873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19">
            <a:hlinkClick r:id="rId5" action="ppaction://hlinksldjump"/>
            <a:extLst>
              <a:ext uri="{FF2B5EF4-FFF2-40B4-BE49-F238E27FC236}">
                <a16:creationId xmlns:a16="http://schemas.microsoft.com/office/drawing/2014/main" id="{4933F4CA-4554-41F0-B069-BE506A3B761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21">
            <a:hlinkClick r:id="rId3" action="ppaction://hlinksldjump"/>
            <a:extLst>
              <a:ext uri="{FF2B5EF4-FFF2-40B4-BE49-F238E27FC236}">
                <a16:creationId xmlns:a16="http://schemas.microsoft.com/office/drawing/2014/main" id="{AA546B00-003A-4600-B045-E0442215DC1C}"/>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24">
            <a:hlinkClick r:id="rId3" action="ppaction://hlinksldjump"/>
            <a:extLst>
              <a:ext uri="{FF2B5EF4-FFF2-40B4-BE49-F238E27FC236}">
                <a16:creationId xmlns:a16="http://schemas.microsoft.com/office/drawing/2014/main" id="{CBA32C73-A402-4A4A-9A7A-EAA7D59654BA}"/>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8" name="TextBox 26">
            <a:hlinkClick r:id="rId4" action="ppaction://hlinksldjump"/>
            <a:extLst>
              <a:ext uri="{FF2B5EF4-FFF2-40B4-BE49-F238E27FC236}">
                <a16:creationId xmlns:a16="http://schemas.microsoft.com/office/drawing/2014/main" id="{DB9C96C4-373B-4917-94BD-AF1BACA3EB9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9" name="TextBox 27">
            <a:hlinkClick r:id="rId4" action="ppaction://hlinksldjump"/>
            <a:extLst>
              <a:ext uri="{FF2B5EF4-FFF2-40B4-BE49-F238E27FC236}">
                <a16:creationId xmlns:a16="http://schemas.microsoft.com/office/drawing/2014/main" id="{40388A1D-2E3F-4EB7-A54E-5894E699315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20" name="Oval 28">
            <a:extLst>
              <a:ext uri="{FF2B5EF4-FFF2-40B4-BE49-F238E27FC236}">
                <a16:creationId xmlns:a16="http://schemas.microsoft.com/office/drawing/2014/main" id="{360E9681-E71C-423E-BEEA-C6AA5F451E96}"/>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29">
            <a:hlinkClick r:id="rId6" action="ppaction://hlinksldjump"/>
            <a:extLst>
              <a:ext uri="{FF2B5EF4-FFF2-40B4-BE49-F238E27FC236}">
                <a16:creationId xmlns:a16="http://schemas.microsoft.com/office/drawing/2014/main" id="{DCC0A96E-BF90-433C-9BFC-19A2B2619CD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3" action="ppaction://hlinksldjump"/>
            <a:extLst>
              <a:ext uri="{FF2B5EF4-FFF2-40B4-BE49-F238E27FC236}">
                <a16:creationId xmlns:a16="http://schemas.microsoft.com/office/drawing/2014/main" id="{D6D844C3-42D4-4D23-90B5-A4FD4DBE9A3A}"/>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31">
            <a:hlinkClick r:id="rId3" action="ppaction://hlinksldjump"/>
            <a:extLst>
              <a:ext uri="{FF2B5EF4-FFF2-40B4-BE49-F238E27FC236}">
                <a16:creationId xmlns:a16="http://schemas.microsoft.com/office/drawing/2014/main" id="{1EB0BDDC-045B-4B57-9798-1D39AC5A806F}"/>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Slide Number Placeholder 5">
            <a:extLst>
              <a:ext uri="{FF2B5EF4-FFF2-40B4-BE49-F238E27FC236}">
                <a16:creationId xmlns:a16="http://schemas.microsoft.com/office/drawing/2014/main" id="{73A2D6E1-787B-4C88-A2F1-BE8AF0AB0656}"/>
              </a:ext>
            </a:extLst>
          </p:cNvPr>
          <p:cNvSpPr txBox="1"/>
          <p:nvPr/>
        </p:nvSpPr>
        <p:spPr>
          <a:xfrm>
            <a:off x="11575483" y="6387897"/>
            <a:ext cx="586621"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7532B9-D47D-44EF-A133-C412C58152DE}" type="slidenum">
              <a:rPr sz="1200"/>
              <a:t>35</a:t>
            </a:fld>
            <a:endParaRPr lang="en-GB" sz="1200" b="0" i="0" u="none" strike="noStrike" kern="1200" cap="none" spc="0" baseline="0">
              <a:solidFill>
                <a:srgbClr val="000000"/>
              </a:solidFill>
              <a:uFillTx/>
              <a:latin typeface="Calibri"/>
            </a:endParaRPr>
          </a:p>
        </p:txBody>
      </p:sp>
      <p:sp>
        <p:nvSpPr>
          <p:cNvPr id="25" name="Rectangle 4">
            <a:extLst>
              <a:ext uri="{FF2B5EF4-FFF2-40B4-BE49-F238E27FC236}">
                <a16:creationId xmlns:a16="http://schemas.microsoft.com/office/drawing/2014/main" id="{0DF5854C-BFE5-4FE4-A538-A80DA260396E}"/>
              </a:ext>
            </a:extLst>
          </p:cNvPr>
          <p:cNvSpPr/>
          <p:nvPr/>
        </p:nvSpPr>
        <p:spPr>
          <a:xfrm>
            <a:off x="697277" y="5848309"/>
            <a:ext cx="6762664" cy="76944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1" u="none" strike="noStrike" kern="1200" cap="none" spc="0" baseline="0">
                <a:solidFill>
                  <a:srgbClr val="333333"/>
                </a:solidFill>
                <a:uFillTx/>
                <a:latin typeface="Calibri"/>
              </a:rPr>
              <a:t>Where more than 1 destination is defined, the control type might vary across destinations. The control type in this table represents the most severe control type for the trigger which may be returned.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1" u="none" strike="noStrike" kern="1200" cap="none" spc="0" baseline="0">
                <a:solidFill>
                  <a:srgbClr val="333333"/>
                </a:solidFill>
                <a:uFillTx/>
                <a:latin typeface="Calibri"/>
              </a:rPr>
              <a:t>Please note, DMSDOC and DMSCTL notifications will not contain the ROE code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1" u="none" strike="noStrike" kern="1200" cap="none" spc="0" baseline="0">
              <a:solidFill>
                <a:srgbClr val="000000"/>
              </a:solidFill>
              <a:uFillTx/>
              <a:latin typeface="Calibri"/>
            </a:endParaRPr>
          </a:p>
        </p:txBody>
      </p:sp>
      <p:sp>
        <p:nvSpPr>
          <p:cNvPr id="26" name="Rectangle 5">
            <a:extLst>
              <a:ext uri="{FF2B5EF4-FFF2-40B4-BE49-F238E27FC236}">
                <a16:creationId xmlns:a16="http://schemas.microsoft.com/office/drawing/2014/main" id="{FB68D9D6-E970-423E-B20A-D49F1066D58E}"/>
              </a:ext>
            </a:extLst>
          </p:cNvPr>
          <p:cNvSpPr/>
          <p:nvPr/>
        </p:nvSpPr>
        <p:spPr>
          <a:xfrm>
            <a:off x="530811" y="5863769"/>
            <a:ext cx="232760" cy="26160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30000">
                <a:solidFill>
                  <a:srgbClr val="000000"/>
                </a:solidFill>
                <a:uFillTx/>
                <a:latin typeface="Calibri"/>
              </a:rPr>
              <a:t>1</a:t>
            </a:r>
            <a:endParaRPr lang="en-GB" sz="1800" b="0" i="0" u="none" strike="noStrike" kern="1200" cap="none" spc="0" baseline="0">
              <a:solidFill>
                <a:srgbClr val="000000"/>
              </a:solidFill>
              <a:uFillTx/>
              <a:latin typeface="Calibri"/>
            </a:endParaRPr>
          </a:p>
        </p:txBody>
      </p:sp>
      <p:sp>
        <p:nvSpPr>
          <p:cNvPr id="28" name="Rectangle 5">
            <a:extLst>
              <a:ext uri="{FF2B5EF4-FFF2-40B4-BE49-F238E27FC236}">
                <a16:creationId xmlns:a16="http://schemas.microsoft.com/office/drawing/2014/main" id="{81B47DCA-848A-48FE-B220-63647F278166}"/>
              </a:ext>
            </a:extLst>
          </p:cNvPr>
          <p:cNvSpPr/>
          <p:nvPr/>
        </p:nvSpPr>
        <p:spPr>
          <a:xfrm>
            <a:off x="530811" y="6185197"/>
            <a:ext cx="232756" cy="261610"/>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baseline="30000">
                <a:solidFill>
                  <a:srgbClr val="000000"/>
                </a:solidFill>
                <a:latin typeface="Calibri"/>
              </a:rPr>
              <a:t>2</a:t>
            </a:r>
            <a:endParaRPr lang="en-GB" sz="1800" b="0" i="0" u="none" strike="noStrike" kern="1200" cap="none" spc="0" baseline="0">
              <a:solidFill>
                <a:srgbClr val="000000"/>
              </a:solidFill>
              <a:uFillTx/>
              <a:latin typeface="Calibri"/>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E5CDA3F8-8B8D-4216-AF79-F758663DCA2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66BA3FAA-00AB-40A2-8ADA-2C4929362F92}"/>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dirty="0">
                <a:solidFill>
                  <a:srgbClr val="A6A6A6"/>
                </a:solidFill>
                <a:uFillTx/>
                <a:latin typeface="Calibri"/>
              </a:rPr>
              <a:t>EXTERNAL TEST CAPABILITIES: SIMULATED SERVICES</a:t>
            </a:r>
          </a:p>
        </p:txBody>
      </p:sp>
      <p:graphicFrame>
        <p:nvGraphicFramePr>
          <p:cNvPr id="5" name="Table 4">
            <a:extLst>
              <a:ext uri="{FF2B5EF4-FFF2-40B4-BE49-F238E27FC236}">
                <a16:creationId xmlns:a16="http://schemas.microsoft.com/office/drawing/2014/main" id="{9B85182D-3D8B-412A-9F74-94BFB460426B}"/>
              </a:ext>
            </a:extLst>
          </p:cNvPr>
          <p:cNvGraphicFramePr>
            <a:graphicFrameLocks noGrp="1"/>
          </p:cNvGraphicFramePr>
          <p:nvPr/>
        </p:nvGraphicFramePr>
        <p:xfrm>
          <a:off x="427783" y="1863556"/>
          <a:ext cx="11542297" cy="1021080"/>
        </p:xfrm>
        <a:graphic>
          <a:graphicData uri="http://schemas.openxmlformats.org/drawingml/2006/table">
            <a:tbl>
              <a:tblPr firstRow="1" bandRow="1">
                <a:effectLst/>
                <a:tableStyleId>{5C22544A-7EE6-4342-B048-85BDC9FD1C3A}</a:tableStyleId>
              </a:tblPr>
              <a:tblGrid>
                <a:gridCol w="11542297">
                  <a:extLst>
                    <a:ext uri="{9D8B030D-6E8A-4147-A177-3AD203B41FA5}">
                      <a16:colId xmlns:a16="http://schemas.microsoft.com/office/drawing/2014/main" val="2829802766"/>
                    </a:ext>
                  </a:extLst>
                </a:gridCol>
              </a:tblGrid>
              <a:tr h="219346">
                <a:tc>
                  <a:txBody>
                    <a:bodyPr/>
                    <a:lstStyle/>
                    <a:p>
                      <a:pPr lvl="0"/>
                      <a:r>
                        <a:rPr lang="en-GB" sz="1100"/>
                        <a:t>External Test Scope</a:t>
                      </a:r>
                    </a:p>
                  </a:txBody>
                  <a:tcPr anchor="ctr">
                    <a:lnR w="57150" cap="flat" cmpd="sng" algn="ctr">
                      <a:solidFill>
                        <a:srgbClr val="FFFFFF"/>
                      </a:solidFill>
                      <a:prstDash val="solid"/>
                      <a:round/>
                      <a:headEnd type="none" w="med" len="med"/>
                      <a:tailEnd type="none" w="med" len="med"/>
                    </a:lnR>
                    <a:solidFill>
                      <a:srgbClr val="009999"/>
                    </a:solidFill>
                  </a:tcPr>
                </a:tc>
                <a:extLst>
                  <a:ext uri="{0D108BD9-81ED-4DB2-BD59-A6C34878D82A}">
                    <a16:rowId xmlns:a16="http://schemas.microsoft.com/office/drawing/2014/main" val="1531160605"/>
                  </a:ext>
                </a:extLst>
              </a:tr>
              <a:tr h="645127">
                <a:tc>
                  <a:txBody>
                    <a:bodyPr/>
                    <a:lstStyle/>
                    <a:p>
                      <a:pPr marL="0" marR="0" lvl="0" indent="0" algn="l" defTabSz="914400" rtl="0" fontAlgn="auto" hangingPunct="1">
                        <a:lnSpc>
                          <a:spcPct val="100000"/>
                        </a:lnSpc>
                        <a:spcBef>
                          <a:spcPts val="0"/>
                        </a:spcBef>
                        <a:spcAft>
                          <a:spcPts val="0"/>
                        </a:spcAft>
                        <a:buNone/>
                        <a:tabLst>
                          <a:tab pos="3678238" algn="l"/>
                        </a:tabLst>
                      </a:pPr>
                      <a:r>
                        <a:rPr lang="en-GB" sz="1100" dirty="0">
                          <a:solidFill>
                            <a:srgbClr val="000000"/>
                          </a:solidFill>
                        </a:rPr>
                        <a:t>As part of TTM14.2, </a:t>
                      </a:r>
                      <a:r>
                        <a:rPr lang="en-GB" sz="1100" dirty="0"/>
                        <a:t>traders can test the receipt of queries raised against import and export declarations in Trade Test and Trader Dress Rehearsal. Traders will be able to respond to three separate scenarios, blocking physical (</a:t>
                      </a:r>
                      <a:r>
                        <a:rPr lang="en-GB" sz="1100" dirty="0" err="1"/>
                        <a:t>ttphysical</a:t>
                      </a:r>
                      <a:r>
                        <a:rPr lang="en-GB" sz="1100" dirty="0"/>
                        <a:t>), blocking documentary (</a:t>
                      </a:r>
                      <a:r>
                        <a:rPr lang="en-GB" sz="1100" dirty="0" err="1"/>
                        <a:t>ttdocblocking</a:t>
                      </a:r>
                      <a:r>
                        <a:rPr lang="en-GB" sz="1100" dirty="0"/>
                        <a:t>), non-blocking documentary (</a:t>
                      </a:r>
                      <a:r>
                        <a:rPr lang="en-GB" sz="1100" dirty="0" err="1"/>
                        <a:t>ttdocnonblocking</a:t>
                      </a:r>
                      <a:r>
                        <a:rPr lang="en-GB" sz="1100" dirty="0"/>
                        <a:t>), where a case worker has raised a query about their consignment. </a:t>
                      </a:r>
                      <a:endParaRPr lang="en-GB" sz="1100" dirty="0">
                        <a:solidFill>
                          <a:srgbClr val="000000"/>
                        </a:solidFill>
                      </a:endParaRPr>
                    </a:p>
                    <a:p>
                      <a:pPr marL="0" marR="0" lvl="0" indent="0" algn="l" defTabSz="914400" rtl="0" fontAlgn="auto" hangingPunct="1">
                        <a:lnSpc>
                          <a:spcPct val="100000"/>
                        </a:lnSpc>
                        <a:spcBef>
                          <a:spcPts val="0"/>
                        </a:spcBef>
                        <a:spcAft>
                          <a:spcPts val="0"/>
                        </a:spcAft>
                        <a:buNone/>
                        <a:tabLst>
                          <a:tab pos="3678238" algn="l"/>
                        </a:tabLst>
                      </a:pPr>
                      <a:r>
                        <a:rPr lang="en-GB" sz="1100" dirty="0">
                          <a:solidFill>
                            <a:srgbClr val="000000"/>
                          </a:solidFill>
                        </a:rPr>
                        <a:t>Whilst the production solution involves nudges by both message and email, and two-way messaging via a UI onto a secure mailbox, for the purposes of testing users will only receive a 'query' notification message. It is not necessary for the user to respond to the query (i.e. amend/invalidation declarations, uploading documents etc). </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846489941"/>
                  </a:ext>
                </a:extLst>
              </a:tr>
            </a:tbl>
          </a:graphicData>
        </a:graphic>
      </p:graphicFrame>
      <p:graphicFrame>
        <p:nvGraphicFramePr>
          <p:cNvPr id="6" name="Table 15">
            <a:extLst>
              <a:ext uri="{FF2B5EF4-FFF2-40B4-BE49-F238E27FC236}">
                <a16:creationId xmlns:a16="http://schemas.microsoft.com/office/drawing/2014/main" id="{F28D1DC1-2F0E-4AAC-B1A6-3CFAD9E6B2DB}"/>
              </a:ext>
            </a:extLst>
          </p:cNvPr>
          <p:cNvGraphicFramePr>
            <a:graphicFrameLocks noGrp="1"/>
          </p:cNvGraphicFramePr>
          <p:nvPr/>
        </p:nvGraphicFramePr>
        <p:xfrm>
          <a:off x="427783" y="2961604"/>
          <a:ext cx="11529916" cy="3169920"/>
        </p:xfrm>
        <a:graphic>
          <a:graphicData uri="http://schemas.openxmlformats.org/drawingml/2006/table">
            <a:tbl>
              <a:tblPr firstRow="1" bandRow="1">
                <a:effectLst/>
                <a:tableStyleId>{5C22544A-7EE6-4342-B048-85BDC9FD1C3A}</a:tableStyleId>
              </a:tblPr>
              <a:tblGrid>
                <a:gridCol w="11529916">
                  <a:extLst>
                    <a:ext uri="{9D8B030D-6E8A-4147-A177-3AD203B41FA5}">
                      <a16:colId xmlns:a16="http://schemas.microsoft.com/office/drawing/2014/main" val="4261417337"/>
                    </a:ext>
                  </a:extLst>
                </a:gridCol>
              </a:tblGrid>
              <a:tr h="191383">
                <a:tc>
                  <a:txBody>
                    <a:bodyPr/>
                    <a:lstStyle/>
                    <a:p>
                      <a:pPr lvl="0"/>
                      <a:r>
                        <a:rPr lang="en-GB" sz="1100"/>
                        <a:t>Expected Behaviour in External Test</a:t>
                      </a:r>
                    </a:p>
                  </a:txBody>
                  <a:tcPr anchor="ctr">
                    <a:solidFill>
                      <a:srgbClr val="4472C4"/>
                    </a:solidFill>
                  </a:tcPr>
                </a:tc>
                <a:extLst>
                  <a:ext uri="{0D108BD9-81ED-4DB2-BD59-A6C34878D82A}">
                    <a16:rowId xmlns:a16="http://schemas.microsoft.com/office/drawing/2014/main" val="4130046812"/>
                  </a:ext>
                </a:extLst>
              </a:tr>
              <a:tr h="2353281">
                <a:tc>
                  <a:txBody>
                    <a:bodyPr/>
                    <a:lstStyle/>
                    <a:p>
                      <a:pPr marL="0" marR="0" lvl="0" indent="0" algn="l" defTabSz="914400" rtl="0" fontAlgn="auto" hangingPunct="1">
                        <a:lnSpc>
                          <a:spcPct val="100000"/>
                        </a:lnSpc>
                        <a:spcBef>
                          <a:spcPts val="300"/>
                        </a:spcBef>
                        <a:spcAft>
                          <a:spcPts val="0"/>
                        </a:spcAft>
                        <a:buNone/>
                        <a:tabLst/>
                      </a:pPr>
                      <a:r>
                        <a:rPr lang="en-GB" sz="1100" b="0" i="0" u="none" strike="noStrike" kern="1200" cap="none" spc="0" baseline="0" dirty="0">
                          <a:solidFill>
                            <a:srgbClr val="000000"/>
                          </a:solidFill>
                          <a:uFillTx/>
                          <a:latin typeface="Calibri"/>
                        </a:rPr>
                        <a:t>As per the previous slide, in order to test this functionality, users must declare the relevant ‘trigger word’ in the goods description field D.E. 6/8 for the following permitted import/export scenarios:</a:t>
                      </a:r>
                    </a:p>
                    <a:p>
                      <a:pPr marL="171450" marR="0" lvl="0" indent="-171450" algn="l" defTabSz="914400" rtl="0" fontAlgn="auto" hangingPunct="1">
                        <a:lnSpc>
                          <a:spcPct val="100000"/>
                        </a:lnSpc>
                        <a:spcBef>
                          <a:spcPts val="300"/>
                        </a:spcBef>
                        <a:spcAft>
                          <a:spcPts val="0"/>
                        </a:spcAft>
                        <a:buSzPct val="100000"/>
                        <a:buFont typeface="Arial" pitchFamily="34"/>
                        <a:buChar char="•"/>
                        <a:tabLst/>
                      </a:pPr>
                      <a:r>
                        <a:rPr lang="en-GB" sz="1100" dirty="0"/>
                        <a:t>Blocking physical (</a:t>
                      </a:r>
                      <a:r>
                        <a:rPr lang="en-GB" sz="1100" dirty="0" err="1"/>
                        <a:t>ttphysical</a:t>
                      </a:r>
                      <a:r>
                        <a:rPr lang="en-GB" sz="1100" dirty="0"/>
                        <a:t>)</a:t>
                      </a:r>
                    </a:p>
                    <a:p>
                      <a:pPr marL="171450" marR="0" lvl="0" indent="-171450" algn="l" defTabSz="914400" rtl="0" fontAlgn="auto" hangingPunct="1">
                        <a:lnSpc>
                          <a:spcPct val="100000"/>
                        </a:lnSpc>
                        <a:spcBef>
                          <a:spcPts val="300"/>
                        </a:spcBef>
                        <a:spcAft>
                          <a:spcPts val="0"/>
                        </a:spcAft>
                        <a:buSzPct val="100000"/>
                        <a:buFont typeface="Arial" pitchFamily="34"/>
                        <a:buChar char="•"/>
                        <a:tabLst/>
                      </a:pPr>
                      <a:r>
                        <a:rPr lang="en-GB" sz="1100" dirty="0"/>
                        <a:t>Blocking documentary (</a:t>
                      </a:r>
                      <a:r>
                        <a:rPr lang="en-GB" sz="1100" dirty="0" err="1"/>
                        <a:t>ttdocblocking</a:t>
                      </a:r>
                      <a:r>
                        <a:rPr lang="en-GB" sz="1100" dirty="0"/>
                        <a:t>)</a:t>
                      </a:r>
                    </a:p>
                    <a:p>
                      <a:pPr marL="171450" marR="0" lvl="0" indent="-171450" algn="l" defTabSz="914400" rtl="0" fontAlgn="auto" hangingPunct="1">
                        <a:lnSpc>
                          <a:spcPct val="100000"/>
                        </a:lnSpc>
                        <a:spcBef>
                          <a:spcPts val="300"/>
                        </a:spcBef>
                        <a:spcAft>
                          <a:spcPts val="0"/>
                        </a:spcAft>
                        <a:buSzPct val="100000"/>
                        <a:buFont typeface="Arial" pitchFamily="34"/>
                        <a:buChar char="•"/>
                        <a:tabLst/>
                      </a:pPr>
                      <a:r>
                        <a:rPr lang="en-GB" sz="1100" dirty="0"/>
                        <a:t>Non-blocking documentary (</a:t>
                      </a:r>
                      <a:r>
                        <a:rPr lang="en-GB" sz="1100" dirty="0" err="1"/>
                        <a:t>ttdocnonblocking</a:t>
                      </a:r>
                      <a:r>
                        <a:rPr lang="en-GB" sz="1100" dirty="0"/>
                        <a:t>)</a:t>
                      </a:r>
                      <a:endParaRPr lang="en-GB" sz="11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pPr>
                      <a:endParaRPr lang="en-GB" sz="1100" dirty="0"/>
                    </a:p>
                    <a:p>
                      <a:pPr marL="0" lvl="0" indent="0">
                        <a:buNone/>
                      </a:pPr>
                      <a:r>
                        <a:rPr lang="en-GB" sz="1100" dirty="0"/>
                        <a:t>When packaging type "TB" is entered in the "Type of Packages" data element (D.E. 6/9), the declarant will receive a </a:t>
                      </a:r>
                      <a:r>
                        <a:rPr lang="en-GB" sz="1100" b="1" dirty="0"/>
                        <a:t>Query Notification Message (DMSQRY)</a:t>
                      </a:r>
                      <a:r>
                        <a:rPr lang="en-GB" sz="1100" dirty="0"/>
                        <a:t> from the Case Emulator.</a:t>
                      </a:r>
                    </a:p>
                    <a:p>
                      <a:pPr marL="171450" lvl="0" indent="-171450">
                        <a:buSzPct val="100000"/>
                        <a:buFont typeface="Arial" pitchFamily="34"/>
                        <a:buChar char="•"/>
                      </a:pPr>
                      <a:endParaRPr lang="en-GB" sz="1100" dirty="0"/>
                    </a:p>
                    <a:p>
                      <a:pPr marL="0" lvl="0" indent="0">
                        <a:buNone/>
                      </a:pPr>
                      <a:r>
                        <a:rPr lang="en-GB" sz="1100" b="1" dirty="0"/>
                        <a:t>Please Note:</a:t>
                      </a:r>
                    </a:p>
                    <a:p>
                      <a:pPr marL="171450" lvl="0" indent="-171450">
                        <a:buSzPct val="100000"/>
                        <a:buFont typeface="Arial" pitchFamily="34"/>
                        <a:buChar char="•"/>
                      </a:pPr>
                      <a:r>
                        <a:rPr lang="en-GB" sz="1100" dirty="0"/>
                        <a:t>For the purpose of this emulator, no additional functionality around amending, invalidation of declarations, or the uploading of documents will be introduced. Once the DMSQRY is sent the declaration stops processing. </a:t>
                      </a:r>
                    </a:p>
                    <a:p>
                      <a:pPr marL="171450" lvl="0" indent="-171450">
                        <a:buSzPct val="100000"/>
                        <a:buFont typeface="Arial" pitchFamily="34"/>
                        <a:buChar char="•"/>
                      </a:pPr>
                      <a:r>
                        <a:rPr lang="en-GB" sz="1100" dirty="0"/>
                        <a:t>This functionality allows the testing of declarations with only one goods item. If a declaration is submitted with more than one goods items, only the first goods item will be addressed. </a:t>
                      </a:r>
                    </a:p>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dirty="0"/>
                        <a:t>DEFRA (DMSALV) scenarios are out of scope (detailed on the next slide).</a:t>
                      </a:r>
                    </a:p>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dirty="0">
                          <a:solidFill>
                            <a:srgbClr val="0D0D0D"/>
                          </a:solidFill>
                          <a:latin typeface="Calibri" pitchFamily="34"/>
                          <a:ea typeface="Calibri" pitchFamily="34"/>
                        </a:rPr>
                        <a:t>Control Emulator functionality is available on all data sets except H7 (SRDS)</a:t>
                      </a:r>
                    </a:p>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100" kern="1200" dirty="0">
                          <a:solidFill>
                            <a:srgbClr val="000000"/>
                          </a:solidFill>
                          <a:latin typeface="+mn-lt"/>
                        </a:rPr>
                        <a:t>If the trigger words are not used, the declaration will receive ROE 6 routing. There are no other risk rules implemented in External Test.</a:t>
                      </a:r>
                    </a:p>
                    <a:p>
                      <a:pPr marL="0" marR="0" lvl="0" indent="0" algn="l" defTabSz="914400" rtl="0" fontAlgn="auto" hangingPunct="1">
                        <a:lnSpc>
                          <a:spcPct val="100000"/>
                        </a:lnSpc>
                        <a:spcBef>
                          <a:spcPts val="0"/>
                        </a:spcBef>
                        <a:spcAft>
                          <a:spcPts val="0"/>
                        </a:spcAft>
                        <a:buSzPct val="100000"/>
                        <a:buFont typeface="Arial" pitchFamily="34"/>
                        <a:buNone/>
                        <a:tabLst/>
                      </a:pPr>
                      <a:endParaRPr lang="en-GB" sz="1000" dirty="0">
                        <a:latin typeface="Arial" pitchFamily="34"/>
                        <a:ea typeface="Calibri" pitchFamily="34"/>
                      </a:endParaRPr>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100" dirty="0"/>
                    </a:p>
                  </a:txBody>
                  <a:tcPr>
                    <a:solidFill>
                      <a:srgbClr val="F2F2F2"/>
                    </a:solidFill>
                  </a:tcPr>
                </a:tc>
                <a:extLst>
                  <a:ext uri="{0D108BD9-81ED-4DB2-BD59-A6C34878D82A}">
                    <a16:rowId xmlns:a16="http://schemas.microsoft.com/office/drawing/2014/main" val="1381025671"/>
                  </a:ext>
                </a:extLst>
              </a:tr>
            </a:tbl>
          </a:graphicData>
        </a:graphic>
      </p:graphicFrame>
      <p:sp>
        <p:nvSpPr>
          <p:cNvPr id="7" name="Rectangle 4">
            <a:extLst>
              <a:ext uri="{FF2B5EF4-FFF2-40B4-BE49-F238E27FC236}">
                <a16:creationId xmlns:a16="http://schemas.microsoft.com/office/drawing/2014/main" id="{DDCA6F33-9AAA-4530-8000-C3809DAD1F73}"/>
              </a:ext>
            </a:extLst>
          </p:cNvPr>
          <p:cNvSpPr/>
          <p:nvPr/>
        </p:nvSpPr>
        <p:spPr>
          <a:xfrm>
            <a:off x="370615" y="676372"/>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dirty="0">
                <a:solidFill>
                  <a:srgbClr val="000000"/>
                </a:solidFill>
                <a:uFillTx/>
                <a:latin typeface="Calibri" pitchFamily="34"/>
                <a:ea typeface="Calibri" pitchFamily="34"/>
              </a:rPr>
              <a:t>Simulated Controls</a:t>
            </a:r>
          </a:p>
        </p:txBody>
      </p:sp>
      <p:sp>
        <p:nvSpPr>
          <p:cNvPr id="8" name="Rectangle 25">
            <a:extLst>
              <a:ext uri="{FF2B5EF4-FFF2-40B4-BE49-F238E27FC236}">
                <a16:creationId xmlns:a16="http://schemas.microsoft.com/office/drawing/2014/main" id="{FE2B92FC-9238-43D9-9F1C-C2AE14DF8950}"/>
              </a:ext>
            </a:extLst>
          </p:cNvPr>
          <p:cNvSpPr/>
          <p:nvPr/>
        </p:nvSpPr>
        <p:spPr>
          <a:xfrm>
            <a:off x="365622" y="999192"/>
            <a:ext cx="2834365"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Receiving a Query on a Control Task</a:t>
            </a:r>
            <a:endParaRPr lang="en-GB" sz="1400" b="1" i="0" u="none" strike="noStrike" kern="1200" cap="none" spc="0" baseline="0">
              <a:solidFill>
                <a:srgbClr val="FF0000"/>
              </a:solidFill>
              <a:uFillTx/>
              <a:latin typeface="Calibri"/>
            </a:endParaRPr>
          </a:p>
        </p:txBody>
      </p:sp>
      <p:sp>
        <p:nvSpPr>
          <p:cNvPr id="9" name="Oval 14">
            <a:hlinkClick r:id="" action="ppaction://noaction"/>
            <a:extLst>
              <a:ext uri="{FF2B5EF4-FFF2-40B4-BE49-F238E27FC236}">
                <a16:creationId xmlns:a16="http://schemas.microsoft.com/office/drawing/2014/main" id="{84159E45-AE32-4671-9656-124573F4D2A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16">
            <a:hlinkClick r:id="" action="ppaction://noaction"/>
            <a:extLst>
              <a:ext uri="{FF2B5EF4-FFF2-40B4-BE49-F238E27FC236}">
                <a16:creationId xmlns:a16="http://schemas.microsoft.com/office/drawing/2014/main" id="{C86A60C9-BAA1-4A01-BB65-5D26CF8C080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8">
            <a:hlinkClick r:id="" action="ppaction://noaction"/>
            <a:extLst>
              <a:ext uri="{FF2B5EF4-FFF2-40B4-BE49-F238E27FC236}">
                <a16:creationId xmlns:a16="http://schemas.microsoft.com/office/drawing/2014/main" id="{7D93645C-1CE6-4221-93F9-31908CC3026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9">
            <a:hlinkClick r:id="" action="ppaction://noaction"/>
            <a:extLst>
              <a:ext uri="{FF2B5EF4-FFF2-40B4-BE49-F238E27FC236}">
                <a16:creationId xmlns:a16="http://schemas.microsoft.com/office/drawing/2014/main" id="{E050247F-BD52-42A7-86C9-D43280732FD2}"/>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21">
            <a:hlinkClick r:id="" action="ppaction://noaction"/>
            <a:extLst>
              <a:ext uri="{FF2B5EF4-FFF2-40B4-BE49-F238E27FC236}">
                <a16:creationId xmlns:a16="http://schemas.microsoft.com/office/drawing/2014/main" id="{3CC5D5A9-5B0B-4B46-88A7-09CAADE41B5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24">
            <a:hlinkClick r:id="" action="ppaction://noaction"/>
            <a:extLst>
              <a:ext uri="{FF2B5EF4-FFF2-40B4-BE49-F238E27FC236}">
                <a16:creationId xmlns:a16="http://schemas.microsoft.com/office/drawing/2014/main" id="{0A9E73FB-0658-438C-BD43-4FCAA8600F8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26">
            <a:hlinkClick r:id="" action="ppaction://noaction"/>
            <a:extLst>
              <a:ext uri="{FF2B5EF4-FFF2-40B4-BE49-F238E27FC236}">
                <a16:creationId xmlns:a16="http://schemas.microsoft.com/office/drawing/2014/main" id="{35678168-1931-4691-AE00-06D9EB3AACC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6" name="TextBox 27">
            <a:hlinkClick r:id="" action="ppaction://noaction"/>
            <a:extLst>
              <a:ext uri="{FF2B5EF4-FFF2-40B4-BE49-F238E27FC236}">
                <a16:creationId xmlns:a16="http://schemas.microsoft.com/office/drawing/2014/main" id="{C539306A-D9A2-4C3B-990D-EB637785F6F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7" name="Oval 28">
            <a:extLst>
              <a:ext uri="{FF2B5EF4-FFF2-40B4-BE49-F238E27FC236}">
                <a16:creationId xmlns:a16="http://schemas.microsoft.com/office/drawing/2014/main" id="{D77D2273-C528-467E-B9E1-374672CB87E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29">
            <a:hlinkClick r:id="" action="ppaction://noaction"/>
            <a:extLst>
              <a:ext uri="{FF2B5EF4-FFF2-40B4-BE49-F238E27FC236}">
                <a16:creationId xmlns:a16="http://schemas.microsoft.com/office/drawing/2014/main" id="{EC35F75D-2B0D-4C6D-B58A-A2709A1A335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40">
            <a:hlinkClick r:id="" action="ppaction://noaction"/>
            <a:extLst>
              <a:ext uri="{FF2B5EF4-FFF2-40B4-BE49-F238E27FC236}">
                <a16:creationId xmlns:a16="http://schemas.microsoft.com/office/drawing/2014/main" id="{0F9927EA-9D3C-42FB-84D2-9CEE2D66B44E}"/>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31">
            <a:hlinkClick r:id="" action="ppaction://noaction"/>
            <a:extLst>
              <a:ext uri="{FF2B5EF4-FFF2-40B4-BE49-F238E27FC236}">
                <a16:creationId xmlns:a16="http://schemas.microsoft.com/office/drawing/2014/main" id="{8C4CF511-9F75-4F61-ABD7-1653B4B170B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F3347EFD-B512-493D-938B-097689021AD5}"/>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B9520A3-7DF6-4639-BDDC-285D47FAD971}" type="slidenum">
              <a:rPr sz="1200"/>
              <a:t>36</a:t>
            </a:fld>
            <a:endParaRPr lang="en-GB" sz="1200" b="0" i="0" u="none" strike="noStrike" kern="1200" cap="none" spc="0" baseline="0">
              <a:solidFill>
                <a:srgbClr val="000000"/>
              </a:solidFill>
              <a:uFillTx/>
              <a:latin typeface="Calibri"/>
            </a:endParaRPr>
          </a:p>
        </p:txBody>
      </p:sp>
      <p:sp>
        <p:nvSpPr>
          <p:cNvPr id="22" name="Rectangle 33">
            <a:extLst>
              <a:ext uri="{FF2B5EF4-FFF2-40B4-BE49-F238E27FC236}">
                <a16:creationId xmlns:a16="http://schemas.microsoft.com/office/drawing/2014/main" id="{381749EF-1411-4662-9D65-14313B674E2F}"/>
              </a:ext>
            </a:extLst>
          </p:cNvPr>
          <p:cNvSpPr/>
          <p:nvPr/>
        </p:nvSpPr>
        <p:spPr>
          <a:xfrm>
            <a:off x="365622" y="1268565"/>
            <a:ext cx="11604458" cy="60016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In the production environment, customs require the ability to query declarations for a variety of reasons by sending an electronic message (with text) to traders. The trader is then able to respond to the query by amending or invalidating the declaration, or responding to the message, or uploading requested documents. This allows for declaration issues to be resolved, thus allowing progression of the declaration. </a:t>
            </a:r>
          </a:p>
        </p:txBody>
      </p:sp>
      <p:grpSp>
        <p:nvGrpSpPr>
          <p:cNvPr id="23" name="Group 2">
            <a:extLst>
              <a:ext uri="{FF2B5EF4-FFF2-40B4-BE49-F238E27FC236}">
                <a16:creationId xmlns:a16="http://schemas.microsoft.com/office/drawing/2014/main" id="{7534A3DC-1DA5-4B3D-9238-6B1FBBCA4CEA}"/>
              </a:ext>
            </a:extLst>
          </p:cNvPr>
          <p:cNvGrpSpPr/>
          <p:nvPr/>
        </p:nvGrpSpPr>
        <p:grpSpPr>
          <a:xfrm>
            <a:off x="426139" y="5856731"/>
            <a:ext cx="11531560" cy="600166"/>
            <a:chOff x="426139" y="5856731"/>
            <a:chExt cx="11531560" cy="600166"/>
          </a:xfrm>
        </p:grpSpPr>
        <p:sp>
          <p:nvSpPr>
            <p:cNvPr id="24" name="Rectangle 9">
              <a:extLst>
                <a:ext uri="{FF2B5EF4-FFF2-40B4-BE49-F238E27FC236}">
                  <a16:creationId xmlns:a16="http://schemas.microsoft.com/office/drawing/2014/main" id="{3F4F4706-76C6-47BB-AC4B-8D5D7271E054}"/>
                </a:ext>
              </a:extLst>
            </p:cNvPr>
            <p:cNvSpPr/>
            <p:nvPr/>
          </p:nvSpPr>
          <p:spPr>
            <a:xfrm>
              <a:off x="1001935" y="5856731"/>
              <a:ext cx="10955764" cy="600166"/>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Rectangle 34">
              <a:extLst>
                <a:ext uri="{FF2B5EF4-FFF2-40B4-BE49-F238E27FC236}">
                  <a16:creationId xmlns:a16="http://schemas.microsoft.com/office/drawing/2014/main" id="{B8005FEC-0AB6-438A-BBC3-FA2768D1FF0A}"/>
                </a:ext>
              </a:extLst>
            </p:cNvPr>
            <p:cNvSpPr/>
            <p:nvPr/>
          </p:nvSpPr>
          <p:spPr>
            <a:xfrm rot="16200004">
              <a:off x="413950" y="5868921"/>
              <a:ext cx="600165" cy="575788"/>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800" b="1" i="0" u="none" strike="noStrike" kern="1200" cap="none" spc="0" baseline="0" dirty="0">
                  <a:solidFill>
                    <a:srgbClr val="FFFFFF"/>
                  </a:solidFill>
                  <a:uFillTx/>
                  <a:latin typeface="Calibri"/>
                </a:rPr>
                <a:t>XML SAMPLES</a:t>
              </a:r>
            </a:p>
          </p:txBody>
        </p:sp>
        <p:sp>
          <p:nvSpPr>
            <p:cNvPr id="26" name="Rectangle 35">
              <a:extLst>
                <a:ext uri="{FF2B5EF4-FFF2-40B4-BE49-F238E27FC236}">
                  <a16:creationId xmlns:a16="http://schemas.microsoft.com/office/drawing/2014/main" id="{62333D2D-974B-44AC-95B0-B5271A7D6CC7}"/>
                </a:ext>
              </a:extLst>
            </p:cNvPr>
            <p:cNvSpPr/>
            <p:nvPr/>
          </p:nvSpPr>
          <p:spPr>
            <a:xfrm>
              <a:off x="1062459" y="5923656"/>
              <a:ext cx="9471986" cy="2910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TT_IM62a - Imports frontier declaration to emulate the non-blocking NCH "Raise a Query" functionality</a:t>
              </a:r>
              <a:endParaRPr lang="en-GB" sz="1200" b="0" i="0" u="none" strike="noStrike" kern="1200" cap="none" spc="0" baseline="0">
                <a:solidFill>
                  <a:srgbClr val="000000"/>
                </a:solidFill>
                <a:uFillTx/>
                <a:latin typeface="Calibri"/>
              </a:endParaRPr>
            </a:p>
          </p:txBody>
        </p:sp>
      </p:grpSp>
      <p:graphicFrame>
        <p:nvGraphicFramePr>
          <p:cNvPr id="27" name="Object 37">
            <a:hlinkClick r:id="" action="ppaction://ole?verb=0"/>
            <a:extLst>
              <a:ext uri="{FF2B5EF4-FFF2-40B4-BE49-F238E27FC236}">
                <a16:creationId xmlns:a16="http://schemas.microsoft.com/office/drawing/2014/main" id="{CCD72C0D-144C-4CF9-993C-A00454F4D568}"/>
              </a:ext>
            </a:extLst>
          </p:cNvPr>
          <p:cNvGraphicFramePr/>
          <p:nvPr>
            <p:extLst>
              <p:ext uri="{D42A27DB-BD31-4B8C-83A1-F6EECF244321}">
                <p14:modId xmlns:p14="http://schemas.microsoft.com/office/powerpoint/2010/main" val="75367216"/>
              </p:ext>
            </p:extLst>
          </p:nvPr>
        </p:nvGraphicFramePr>
        <p:xfrm>
          <a:off x="10842607" y="753913"/>
          <a:ext cx="914400" cy="806445"/>
        </p:xfrm>
        <a:graphic>
          <a:graphicData uri="http://schemas.openxmlformats.org/presentationml/2006/ole">
            <mc:AlternateContent xmlns:mc="http://schemas.openxmlformats.org/markup-compatibility/2006">
              <mc:Choice xmlns:v="urn:schemas-microsoft-com:vml" Requires="v">
                <p:oleObj name="Presentation" r:id="rId4" imgW="1371600" imgH="1209675" progId="PowerPoint.Show.12">
                  <p:embed/>
                </p:oleObj>
              </mc:Choice>
              <mc:Fallback>
                <p:oleObj name="Presentation" r:id="rId4" imgW="1371600" imgH="1209675" progId="PowerPoint.Show.12">
                  <p:embed/>
                  <p:pic>
                    <p:nvPicPr>
                      <p:cNvPr id="27" name="Object 37">
                        <a:hlinkClick r:id="" action="ppaction://ole?verb=0"/>
                        <a:extLst>
                          <a:ext uri="{FF2B5EF4-FFF2-40B4-BE49-F238E27FC236}">
                            <a16:creationId xmlns:a16="http://schemas.microsoft.com/office/drawing/2014/main" id="{CCD72C0D-144C-4CF9-993C-A00454F4D568}"/>
                          </a:ext>
                        </a:extLst>
                      </p:cNvPr>
                      <p:cNvPicPr/>
                      <p:nvPr/>
                    </p:nvPicPr>
                    <p:blipFill>
                      <a:blip r:embed="rId5"/>
                      <a:stretch>
                        <a:fillRect/>
                      </a:stretch>
                    </p:blipFill>
                    <p:spPr>
                      <a:xfrm>
                        <a:off x="10842607" y="753913"/>
                        <a:ext cx="914400" cy="806445"/>
                      </a:xfrm>
                      <a:prstGeom prst="rect">
                        <a:avLst/>
                      </a:prstGeom>
                      <a:noFill/>
                      <a:ln cap="flat">
                        <a:noFill/>
                      </a:ln>
                    </p:spPr>
                  </p:pic>
                </p:oleObj>
              </mc:Fallback>
            </mc:AlternateContent>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838840300">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89FAD55D-C1B6-4C2E-ACA9-E08A72CA85E8}"/>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3D23C96F-131D-4797-BE48-FA4E1C6563FD}"/>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dirty="0">
                <a:solidFill>
                  <a:srgbClr val="A6A6A6"/>
                </a:solidFill>
                <a:uFillTx/>
                <a:latin typeface="Calibri"/>
              </a:rPr>
              <a:t>EXTERNAL TEST CAPABILITIES: SIMULATED SERVICES</a:t>
            </a:r>
          </a:p>
        </p:txBody>
      </p:sp>
      <p:graphicFrame>
        <p:nvGraphicFramePr>
          <p:cNvPr id="5" name="Table 1">
            <a:extLst>
              <a:ext uri="{FF2B5EF4-FFF2-40B4-BE49-F238E27FC236}">
                <a16:creationId xmlns:a16="http://schemas.microsoft.com/office/drawing/2014/main" id="{AD96F206-84D2-4443-AA31-2364F066B037}"/>
              </a:ext>
            </a:extLst>
          </p:cNvPr>
          <p:cNvGraphicFramePr>
            <a:graphicFrameLocks noGrp="1"/>
          </p:cNvGraphicFramePr>
          <p:nvPr/>
        </p:nvGraphicFramePr>
        <p:xfrm>
          <a:off x="456020" y="1075736"/>
          <a:ext cx="11421084" cy="4295412"/>
        </p:xfrm>
        <a:graphic>
          <a:graphicData uri="http://schemas.openxmlformats.org/drawingml/2006/table">
            <a:tbl>
              <a:tblPr firstRow="1" bandRow="1">
                <a:effectLst/>
                <a:tableStyleId>{5C22544A-7EE6-4342-B048-85BDC9FD1C3A}</a:tableStyleId>
              </a:tblPr>
              <a:tblGrid>
                <a:gridCol w="11421084">
                  <a:extLst>
                    <a:ext uri="{9D8B030D-6E8A-4147-A177-3AD203B41FA5}">
                      <a16:colId xmlns:a16="http://schemas.microsoft.com/office/drawing/2014/main" val="2255660696"/>
                    </a:ext>
                  </a:extLst>
                </a:gridCol>
              </a:tblGrid>
              <a:tr h="267087">
                <a:tc>
                  <a:txBody>
                    <a:bodyPr/>
                    <a:lstStyle/>
                    <a:p>
                      <a:pPr lvl="0"/>
                      <a:r>
                        <a:rPr lang="en-GB" sz="1200">
                          <a:solidFill>
                            <a:srgbClr val="FFFFFF"/>
                          </a:solidFill>
                        </a:rPr>
                        <a:t>External Test Scope</a:t>
                      </a:r>
                    </a:p>
                  </a:txBody>
                  <a:tcPr anchor="ctr">
                    <a:lnR w="57150" cap="flat" cmpd="sng" algn="ctr">
                      <a:solidFill>
                        <a:srgbClr val="FFFFFF"/>
                      </a:solidFill>
                      <a:prstDash val="solid"/>
                      <a:round/>
                      <a:headEnd type="none" w="med" len="med"/>
                      <a:tailEnd type="none" w="med" len="med"/>
                    </a:lnR>
                    <a:solidFill>
                      <a:srgbClr val="009999"/>
                    </a:solidFill>
                  </a:tcPr>
                </a:tc>
                <a:extLst>
                  <a:ext uri="{0D108BD9-81ED-4DB2-BD59-A6C34878D82A}">
                    <a16:rowId xmlns:a16="http://schemas.microsoft.com/office/drawing/2014/main" val="868349922"/>
                  </a:ext>
                </a:extLst>
              </a:tr>
              <a:tr h="4021092">
                <a:tc>
                  <a:txBody>
                    <a:bodyPr/>
                    <a:lstStyle/>
                    <a:p>
                      <a:pPr marL="0" marR="0" lvl="0" indent="0" algn="l" defTabSz="914400" rtl="0" fontAlgn="auto" hangingPunct="1">
                        <a:lnSpc>
                          <a:spcPct val="100000"/>
                        </a:lnSpc>
                        <a:spcBef>
                          <a:spcPts val="0"/>
                        </a:spcBef>
                        <a:spcAft>
                          <a:spcPts val="0"/>
                        </a:spcAft>
                        <a:buNone/>
                        <a:tabLst/>
                      </a:pPr>
                      <a:endParaRPr lang="en-GB" sz="100" b="1" dirty="0">
                        <a:solidFill>
                          <a:srgbClr val="FF0000"/>
                        </a:solidFill>
                      </a:endParaRPr>
                    </a:p>
                    <a:p>
                      <a:pPr marL="0" marR="0" lvl="0" indent="0" algn="l" defTabSz="914400" rtl="0" fontAlgn="auto" hangingPunct="1">
                        <a:lnSpc>
                          <a:spcPct val="100000"/>
                        </a:lnSpc>
                        <a:spcBef>
                          <a:spcPts val="0"/>
                        </a:spcBef>
                        <a:spcAft>
                          <a:spcPts val="0"/>
                        </a:spcAft>
                        <a:buNone/>
                        <a:tabLst/>
                      </a:pPr>
                      <a:r>
                        <a:rPr lang="en-GB" sz="1200" dirty="0">
                          <a:solidFill>
                            <a:srgbClr val="000000"/>
                          </a:solidFill>
                        </a:rPr>
                        <a:t>As part of TTM12.2, CDS will deliver the capability for a DMSALV notification to be returned in TT and TDR environments, emulating the experience that a trader would have in the production environment.</a:t>
                      </a: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p>
                      <a:pPr marL="0" marR="0" lvl="0" indent="0" algn="l" defTabSz="914400" rtl="0" fontAlgn="auto" hangingPunct="1">
                        <a:lnSpc>
                          <a:spcPct val="100000"/>
                        </a:lnSpc>
                        <a:spcBef>
                          <a:spcPts val="0"/>
                        </a:spcBef>
                        <a:spcAft>
                          <a:spcPts val="0"/>
                        </a:spcAft>
                        <a:buNone/>
                        <a:tabLst/>
                      </a:pPr>
                      <a:r>
                        <a:rPr lang="en-GB" sz="1200" dirty="0">
                          <a:solidFill>
                            <a:srgbClr val="000000"/>
                          </a:solidFill>
                        </a:rPr>
                        <a:t> </a:t>
                      </a:r>
                    </a:p>
                    <a:p>
                      <a:pPr lvl="0" algn="l"/>
                      <a:r>
                        <a:rPr lang="en-GB" sz="1200" b="1" dirty="0">
                          <a:solidFill>
                            <a:srgbClr val="000000"/>
                          </a:solidFill>
                        </a:rPr>
                        <a:t>*Please note</a:t>
                      </a:r>
                      <a:r>
                        <a:rPr lang="en-GB" sz="1200" b="0" dirty="0">
                          <a:solidFill>
                            <a:srgbClr val="000000"/>
                          </a:solidFill>
                        </a:rPr>
                        <a:t>: The description will be static in TT &amp; TDR. The description however will not always be static in production. The description field for production will outline what is returned by ALVS. This field is designed to deliver an informative response, providing any necessary actions that may need to be taken by the trader. </a:t>
                      </a:r>
                    </a:p>
                    <a:p>
                      <a:pPr lvl="0" algn="l"/>
                      <a:endParaRPr lang="en-GB" sz="1200" b="0" i="0" dirty="0">
                        <a:latin typeface="Calibri (body)"/>
                      </a:endParaRPr>
                    </a:p>
                    <a:p>
                      <a:pPr lvl="0" algn="l"/>
                      <a:r>
                        <a:rPr lang="en-GB" sz="1200" b="1" i="0" dirty="0">
                          <a:latin typeface="Calibri (body)"/>
                        </a:rPr>
                        <a:t>Production Example:</a:t>
                      </a:r>
                    </a:p>
                    <a:p>
                      <a:pPr lvl="0" algn="l"/>
                      <a:r>
                        <a:rPr lang="en-GB" sz="1200" b="1" i="0" dirty="0">
                          <a:latin typeface="Calibri (body)"/>
                        </a:rPr>
                        <a:t>&lt;_2_1:StatementCode&gt;X00&lt;/_2_1:StatementCode&gt;</a:t>
                      </a:r>
                    </a:p>
                    <a:p>
                      <a:pPr lvl="0" algn="l"/>
                      <a:r>
                        <a:rPr lang="en-GB" sz="1200" b="0" i="0" dirty="0">
                          <a:latin typeface="Calibri (body)"/>
                        </a:rPr>
                        <a:t>&lt;_2_1:StatementDescription&gt; A Customs Declaration has been submitted which contains Commodity code 0102213000 Wrong Supp Units </a:t>
                      </a:r>
                      <a:r>
                        <a:rPr lang="en-GB" sz="1200" b="1" i="0" dirty="0">
                          <a:latin typeface="Calibri (body)"/>
                        </a:rPr>
                        <a:t>X00 expected</a:t>
                      </a:r>
                      <a:r>
                        <a:rPr lang="en-GB" sz="1200" b="0" i="0" dirty="0">
                          <a:latin typeface="Calibri (body)"/>
                        </a:rPr>
                        <a:t>. However, for this Commodity code, a quantity of 15 has been entered on the CHEDA submitted to Animal Health but a quantity of 10 has been entered on the matching customs declaration (for CHEDA number(s) GBCHD2021.0000264). Please review/correct the CHEDA commodity number of details and/or correct the quantity on your Customs Declaration item. &lt;/_2_1:StatementDescription&gt;</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887438410"/>
                  </a:ext>
                </a:extLst>
              </a:tr>
            </a:tbl>
          </a:graphicData>
        </a:graphic>
      </p:graphicFrame>
      <p:graphicFrame>
        <p:nvGraphicFramePr>
          <p:cNvPr id="6" name="Table 5">
            <a:extLst>
              <a:ext uri="{FF2B5EF4-FFF2-40B4-BE49-F238E27FC236}">
                <a16:creationId xmlns:a16="http://schemas.microsoft.com/office/drawing/2014/main" id="{BA37459B-E82C-4B5B-AF75-264B3EA1FB62}"/>
              </a:ext>
            </a:extLst>
          </p:cNvPr>
          <p:cNvGraphicFramePr>
            <a:graphicFrameLocks noGrp="1"/>
          </p:cNvGraphicFramePr>
          <p:nvPr/>
        </p:nvGraphicFramePr>
        <p:xfrm>
          <a:off x="3579016" y="1802245"/>
          <a:ext cx="4879192" cy="1626744"/>
        </p:xfrm>
        <a:graphic>
          <a:graphicData uri="http://schemas.openxmlformats.org/drawingml/2006/table">
            <a:tbl>
              <a:tblPr>
                <a:effectLst/>
              </a:tblPr>
              <a:tblGrid>
                <a:gridCol w="742063">
                  <a:extLst>
                    <a:ext uri="{9D8B030D-6E8A-4147-A177-3AD203B41FA5}">
                      <a16:colId xmlns:a16="http://schemas.microsoft.com/office/drawing/2014/main" val="1441826911"/>
                    </a:ext>
                  </a:extLst>
                </a:gridCol>
                <a:gridCol w="460528">
                  <a:extLst>
                    <a:ext uri="{9D8B030D-6E8A-4147-A177-3AD203B41FA5}">
                      <a16:colId xmlns:a16="http://schemas.microsoft.com/office/drawing/2014/main" val="1560657155"/>
                    </a:ext>
                  </a:extLst>
                </a:gridCol>
                <a:gridCol w="3676601">
                  <a:extLst>
                    <a:ext uri="{9D8B030D-6E8A-4147-A177-3AD203B41FA5}">
                      <a16:colId xmlns:a16="http://schemas.microsoft.com/office/drawing/2014/main" val="1939962915"/>
                    </a:ext>
                  </a:extLst>
                </a:gridCol>
              </a:tblGrid>
              <a:tr h="185687">
                <a:tc>
                  <a:txBody>
                    <a:bodyPr/>
                    <a:lstStyle/>
                    <a:p>
                      <a:pPr lvl="0" algn="l"/>
                      <a:r>
                        <a:rPr lang="en-GB" sz="1100" b="1">
                          <a:solidFill>
                            <a:srgbClr val="FFFFFF"/>
                          </a:solidFill>
                        </a:rPr>
                        <a:t>Type</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A6A6A6"/>
                    </a:solidFill>
                  </a:tcPr>
                </a:tc>
                <a:tc>
                  <a:txBody>
                    <a:bodyPr/>
                    <a:lstStyle/>
                    <a:p>
                      <a:pPr lvl="0" algn="l"/>
                      <a:r>
                        <a:rPr lang="en-GB" sz="1100" b="1">
                          <a:solidFill>
                            <a:srgbClr val="FFFFFF"/>
                          </a:solidFill>
                        </a:rPr>
                        <a:t>Code</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A6A6A6"/>
                    </a:solidFill>
                  </a:tcPr>
                </a:tc>
                <a:tc>
                  <a:txBody>
                    <a:bodyPr/>
                    <a:lstStyle/>
                    <a:p>
                      <a:pPr lvl="0" algn="l"/>
                      <a:r>
                        <a:rPr lang="en-GB" sz="1100" b="1">
                          <a:solidFill>
                            <a:srgbClr val="FFFFFF"/>
                          </a:solidFill>
                        </a:rPr>
                        <a:t>Description</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A6A6A6"/>
                    </a:solidFill>
                  </a:tcPr>
                </a:tc>
                <a:extLst>
                  <a:ext uri="{0D108BD9-81ED-4DB2-BD59-A6C34878D82A}">
                    <a16:rowId xmlns:a16="http://schemas.microsoft.com/office/drawing/2014/main" val="1962051946"/>
                  </a:ext>
                </a:extLst>
              </a:tr>
              <a:tr h="185687">
                <a:tc rowSpan="2">
                  <a:txBody>
                    <a:bodyPr/>
                    <a:lstStyle/>
                    <a:p>
                      <a:pPr lvl="0"/>
                      <a:r>
                        <a:rPr lang="en-GB" sz="1100" b="1"/>
                        <a:t>Hold (HXX)</a:t>
                      </a:r>
                    </a:p>
                    <a:p>
                      <a:pPr lvl="0"/>
                      <a:r>
                        <a:rPr lang="en-GB" sz="1100" b="1"/>
                        <a:t> </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H01</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Awaiting Decision</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extLst>
                  <a:ext uri="{0D108BD9-81ED-4DB2-BD59-A6C34878D82A}">
                    <a16:rowId xmlns:a16="http://schemas.microsoft.com/office/drawing/2014/main" val="2446170632"/>
                  </a:ext>
                </a:extLst>
              </a:tr>
              <a:tr h="185687">
                <a:tc vMerge="1">
                  <a:txBody>
                    <a:bodyPr/>
                    <a:lstStyle/>
                    <a:p>
                      <a:endParaRPr lang="en-GB"/>
                    </a:p>
                  </a:txBody>
                  <a:tcPr/>
                </a:tc>
                <a:tc>
                  <a:txBody>
                    <a:bodyPr/>
                    <a:lstStyle/>
                    <a:p>
                      <a:pPr lvl="0"/>
                      <a:r>
                        <a:rPr lang="en-GB" sz="1100"/>
                        <a:t>H02</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To Be Inspected</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extLst>
                  <a:ext uri="{0D108BD9-81ED-4DB2-BD59-A6C34878D82A}">
                    <a16:rowId xmlns:a16="http://schemas.microsoft.com/office/drawing/2014/main" val="2634815152"/>
                  </a:ext>
                </a:extLst>
              </a:tr>
              <a:tr h="356561">
                <a:tc>
                  <a:txBody>
                    <a:bodyPr/>
                    <a:lstStyle/>
                    <a:p>
                      <a:pPr lvl="0"/>
                      <a:r>
                        <a:rPr lang="en-GB" sz="1100" b="1"/>
                        <a:t>Refuse Entry (NXX)</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N01</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Entry refused following inspection</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2515974348"/>
                  </a:ext>
                </a:extLst>
              </a:tr>
              <a:tr h="356561">
                <a:tc>
                  <a:txBody>
                    <a:bodyPr/>
                    <a:lstStyle/>
                    <a:p>
                      <a:pPr lvl="0"/>
                      <a:r>
                        <a:rPr lang="en-GB" sz="1100" b="1"/>
                        <a:t>Data Error (EXX)</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E01</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Simplified Frontier Declaration used but Inspection Location on the Advance Notification does not identify LCP premises</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extLst>
                  <a:ext uri="{0D108BD9-81ED-4DB2-BD59-A6C34878D82A}">
                    <a16:rowId xmlns:a16="http://schemas.microsoft.com/office/drawing/2014/main" val="3095586711"/>
                  </a:ext>
                </a:extLst>
              </a:tr>
              <a:tr h="356561">
                <a:tc>
                  <a:txBody>
                    <a:bodyPr/>
                    <a:lstStyle/>
                    <a:p>
                      <a:pPr lvl="0"/>
                      <a:r>
                        <a:rPr lang="en-GB" sz="1100" b="1"/>
                        <a:t>No Match (X00)</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X00</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dirty="0"/>
                        <a:t>No match</a:t>
                      </a:r>
                    </a:p>
                  </a:txBody>
                  <a:tcPr marL="9692" marR="9692" marT="7269" marB="7269"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1286876960"/>
                  </a:ext>
                </a:extLst>
              </a:tr>
            </a:tbl>
          </a:graphicData>
        </a:graphic>
      </p:graphicFrame>
      <p:sp>
        <p:nvSpPr>
          <p:cNvPr id="7" name="Rectangle 15">
            <a:extLst>
              <a:ext uri="{FF2B5EF4-FFF2-40B4-BE49-F238E27FC236}">
                <a16:creationId xmlns:a16="http://schemas.microsoft.com/office/drawing/2014/main" id="{63762953-398A-429B-A833-E13DDAEEF5C1}"/>
              </a:ext>
            </a:extLst>
          </p:cNvPr>
          <p:cNvSpPr/>
          <p:nvPr/>
        </p:nvSpPr>
        <p:spPr>
          <a:xfrm>
            <a:off x="391280" y="765151"/>
            <a:ext cx="439716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Initiating a DMSALV Notification for Imports or Exports</a:t>
            </a:r>
          </a:p>
        </p:txBody>
      </p:sp>
      <p:sp>
        <p:nvSpPr>
          <p:cNvPr id="8" name="Oval 10">
            <a:hlinkClick r:id="rId3" action="ppaction://hlinksldjump"/>
            <a:extLst>
              <a:ext uri="{FF2B5EF4-FFF2-40B4-BE49-F238E27FC236}">
                <a16:creationId xmlns:a16="http://schemas.microsoft.com/office/drawing/2014/main" id="{408A4887-3200-47B7-9CA8-42466BA26F5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11">
            <a:hlinkClick r:id="rId3" action="ppaction://hlinksldjump"/>
            <a:extLst>
              <a:ext uri="{FF2B5EF4-FFF2-40B4-BE49-F238E27FC236}">
                <a16:creationId xmlns:a16="http://schemas.microsoft.com/office/drawing/2014/main" id="{25A0D1B0-6360-4621-8AE8-52C5C31BC27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14">
            <a:hlinkClick r:id="rId4" action="ppaction://hlinksldjump"/>
            <a:extLst>
              <a:ext uri="{FF2B5EF4-FFF2-40B4-BE49-F238E27FC236}">
                <a16:creationId xmlns:a16="http://schemas.microsoft.com/office/drawing/2014/main" id="{16711744-FE41-479D-909C-CBFC07B3DAF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6">
            <a:hlinkClick r:id="rId5" action="ppaction://hlinksldjump"/>
            <a:extLst>
              <a:ext uri="{FF2B5EF4-FFF2-40B4-BE49-F238E27FC236}">
                <a16:creationId xmlns:a16="http://schemas.microsoft.com/office/drawing/2014/main" id="{E3242266-39ED-416B-B15C-0DF8B6EDBB2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17">
            <a:hlinkClick r:id="rId3" action="ppaction://hlinksldjump"/>
            <a:extLst>
              <a:ext uri="{FF2B5EF4-FFF2-40B4-BE49-F238E27FC236}">
                <a16:creationId xmlns:a16="http://schemas.microsoft.com/office/drawing/2014/main" id="{E6C5D7F0-7852-4E4B-A73C-0273D7049EB5}"/>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18">
            <a:hlinkClick r:id="rId3" action="ppaction://hlinksldjump"/>
            <a:extLst>
              <a:ext uri="{FF2B5EF4-FFF2-40B4-BE49-F238E27FC236}">
                <a16:creationId xmlns:a16="http://schemas.microsoft.com/office/drawing/2014/main" id="{515D7AD7-CD59-43CD-A862-F33898AC03B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19">
            <a:hlinkClick r:id="rId4" action="ppaction://hlinksldjump"/>
            <a:extLst>
              <a:ext uri="{FF2B5EF4-FFF2-40B4-BE49-F238E27FC236}">
                <a16:creationId xmlns:a16="http://schemas.microsoft.com/office/drawing/2014/main" id="{C7B5213D-28BC-4B7C-B418-AB5E551FF5E8}"/>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5" name="TextBox 20">
            <a:hlinkClick r:id="rId4" action="ppaction://hlinksldjump"/>
            <a:extLst>
              <a:ext uri="{FF2B5EF4-FFF2-40B4-BE49-F238E27FC236}">
                <a16:creationId xmlns:a16="http://schemas.microsoft.com/office/drawing/2014/main" id="{9D3A3980-CA03-4054-A01F-920B93F6114D}"/>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6" name="Oval 21">
            <a:extLst>
              <a:ext uri="{FF2B5EF4-FFF2-40B4-BE49-F238E27FC236}">
                <a16:creationId xmlns:a16="http://schemas.microsoft.com/office/drawing/2014/main" id="{A62F19A9-D78F-4E57-B907-F87B2B5DF1CD}"/>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22">
            <a:hlinkClick r:id="rId6" action="ppaction://hlinksldjump"/>
            <a:extLst>
              <a:ext uri="{FF2B5EF4-FFF2-40B4-BE49-F238E27FC236}">
                <a16:creationId xmlns:a16="http://schemas.microsoft.com/office/drawing/2014/main" id="{F27F419E-39B6-4E3C-878A-586923C9711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D3FA180B-4256-4EEF-A70E-5C027042F82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26">
            <a:hlinkClick r:id="rId3" action="ppaction://hlinksldjump"/>
            <a:extLst>
              <a:ext uri="{FF2B5EF4-FFF2-40B4-BE49-F238E27FC236}">
                <a16:creationId xmlns:a16="http://schemas.microsoft.com/office/drawing/2014/main" id="{2ED87099-6435-4671-B082-CB7871DCE48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Slide Number Placeholder 5">
            <a:extLst>
              <a:ext uri="{FF2B5EF4-FFF2-40B4-BE49-F238E27FC236}">
                <a16:creationId xmlns:a16="http://schemas.microsoft.com/office/drawing/2014/main" id="{365C7066-1999-473D-9700-E58C5239B282}"/>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D498BE9-DFD2-4AF3-BACD-9E8E86C84863}" type="slidenum">
              <a:rPr sz="1200"/>
              <a:t>37</a:t>
            </a:fld>
            <a:endParaRPr lang="en-GB" sz="1200" b="0" i="0" u="none" strike="noStrike" kern="1200" cap="none" spc="0" baseline="0">
              <a:solidFill>
                <a:srgbClr val="000000"/>
              </a:solidFill>
              <a:uFillTx/>
              <a:latin typeface="Calibri"/>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838840361">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58586BEA-BC81-4BC3-A41B-48EAADBD497A}"/>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BC1660B9-ABD9-4E9F-BBBB-C7B0984707DC}"/>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dirty="0">
                <a:solidFill>
                  <a:srgbClr val="A6A6A6"/>
                </a:solidFill>
                <a:uFillTx/>
                <a:latin typeface="Calibri"/>
              </a:rPr>
              <a:t>EXTERNAL TEST CAPABILITIES: SIMULATED SERVICES</a:t>
            </a:r>
          </a:p>
        </p:txBody>
      </p:sp>
      <p:graphicFrame>
        <p:nvGraphicFramePr>
          <p:cNvPr id="5" name="Table 24">
            <a:extLst>
              <a:ext uri="{FF2B5EF4-FFF2-40B4-BE49-F238E27FC236}">
                <a16:creationId xmlns:a16="http://schemas.microsoft.com/office/drawing/2014/main" id="{A5F5BEB7-A3E1-4B86-BC5D-A6296DD27488}"/>
              </a:ext>
            </a:extLst>
          </p:cNvPr>
          <p:cNvGraphicFramePr>
            <a:graphicFrameLocks noGrp="1"/>
          </p:cNvGraphicFramePr>
          <p:nvPr/>
        </p:nvGraphicFramePr>
        <p:xfrm>
          <a:off x="446172" y="1072929"/>
          <a:ext cx="11459279" cy="3220470"/>
        </p:xfrm>
        <a:graphic>
          <a:graphicData uri="http://schemas.openxmlformats.org/drawingml/2006/table">
            <a:tbl>
              <a:tblPr firstRow="1" bandRow="1">
                <a:effectLst/>
                <a:tableStyleId>{5C22544A-7EE6-4342-B048-85BDC9FD1C3A}</a:tableStyleId>
              </a:tblPr>
              <a:tblGrid>
                <a:gridCol w="11459279">
                  <a:extLst>
                    <a:ext uri="{9D8B030D-6E8A-4147-A177-3AD203B41FA5}">
                      <a16:colId xmlns:a16="http://schemas.microsoft.com/office/drawing/2014/main" val="2115987183"/>
                    </a:ext>
                  </a:extLst>
                </a:gridCol>
              </a:tblGrid>
              <a:tr h="319802">
                <a:tc>
                  <a:txBody>
                    <a:bodyPr/>
                    <a:lstStyle/>
                    <a:p>
                      <a:pPr lvl="0"/>
                      <a:r>
                        <a:rPr lang="en-GB" sz="1200"/>
                        <a:t>Expected Behaviour in External Test</a:t>
                      </a:r>
                    </a:p>
                  </a:txBody>
                  <a:tcPr anchor="ctr">
                    <a:solidFill>
                      <a:srgbClr val="4472C4"/>
                    </a:solidFill>
                  </a:tcPr>
                </a:tc>
                <a:extLst>
                  <a:ext uri="{0D108BD9-81ED-4DB2-BD59-A6C34878D82A}">
                    <a16:rowId xmlns:a16="http://schemas.microsoft.com/office/drawing/2014/main" val="3876157379"/>
                  </a:ext>
                </a:extLst>
              </a:tr>
              <a:tr h="2900668">
                <a:tc>
                  <a:txBody>
                    <a:bodyPr/>
                    <a:lstStyle/>
                    <a:p>
                      <a:pPr lvl="0">
                        <a:spcAft>
                          <a:spcPts val="600"/>
                        </a:spcAft>
                      </a:pPr>
                      <a:r>
                        <a:rPr lang="en-GB" sz="1200" dirty="0"/>
                        <a:t>In order to test DMSALV notifications in CDS TT/TDR environments, the original declaration should include the appropriate ‘trigger word’ in Goods Description DE 6/8</a:t>
                      </a:r>
                      <a:r>
                        <a:rPr lang="en-GB" sz="1400" dirty="0"/>
                        <a:t>. </a:t>
                      </a:r>
                      <a:r>
                        <a:rPr lang="en-GB" sz="1200" dirty="0"/>
                        <a:t>Traders should only use one goods item in a declaration for the purpose of the TT/TDR solution. Only one Goods Description code (e.g. "ttalvsdecisionMat1") should be used in the Goods Description data element (DE 6/8).</a:t>
                      </a:r>
                    </a:p>
                    <a:p>
                      <a:pPr lvl="0">
                        <a:spcAft>
                          <a:spcPts val="600"/>
                        </a:spcAft>
                      </a:pPr>
                      <a:r>
                        <a:rPr lang="en-GB" sz="1200" dirty="0"/>
                        <a:t>*Please note that currently these trigger words are case sensitive and traders are advised to follow the current case format. Currently if the case format is not followed a DMSALV will not be returned. </a:t>
                      </a:r>
                    </a:p>
                  </a:txBody>
                  <a:tcPr>
                    <a:solidFill>
                      <a:srgbClr val="F2F2F2"/>
                    </a:solidFill>
                  </a:tcPr>
                </a:tc>
                <a:extLst>
                  <a:ext uri="{0D108BD9-81ED-4DB2-BD59-A6C34878D82A}">
                    <a16:rowId xmlns:a16="http://schemas.microsoft.com/office/drawing/2014/main" val="1656926364"/>
                  </a:ext>
                </a:extLst>
              </a:tr>
            </a:tbl>
          </a:graphicData>
        </a:graphic>
      </p:graphicFrame>
      <p:graphicFrame>
        <p:nvGraphicFramePr>
          <p:cNvPr id="6" name="Table 25">
            <a:extLst>
              <a:ext uri="{FF2B5EF4-FFF2-40B4-BE49-F238E27FC236}">
                <a16:creationId xmlns:a16="http://schemas.microsoft.com/office/drawing/2014/main" id="{83583629-76F9-4F66-A63F-464A53940C23}"/>
              </a:ext>
            </a:extLst>
          </p:cNvPr>
          <p:cNvGraphicFramePr>
            <a:graphicFrameLocks noGrp="1"/>
          </p:cNvGraphicFramePr>
          <p:nvPr/>
        </p:nvGraphicFramePr>
        <p:xfrm>
          <a:off x="3794942" y="2429981"/>
          <a:ext cx="4291780" cy="1577667"/>
        </p:xfrm>
        <a:graphic>
          <a:graphicData uri="http://schemas.openxmlformats.org/drawingml/2006/table">
            <a:tbl>
              <a:tblPr firstRow="1" firstCol="1" bandRow="1">
                <a:effectLst/>
                <a:tableStyleId>{5C22544A-7EE6-4342-B048-85BDC9FD1C3A}</a:tableStyleId>
              </a:tblPr>
              <a:tblGrid>
                <a:gridCol w="1509610">
                  <a:extLst>
                    <a:ext uri="{9D8B030D-6E8A-4147-A177-3AD203B41FA5}">
                      <a16:colId xmlns:a16="http://schemas.microsoft.com/office/drawing/2014/main" val="3742540515"/>
                    </a:ext>
                  </a:extLst>
                </a:gridCol>
                <a:gridCol w="1603180">
                  <a:extLst>
                    <a:ext uri="{9D8B030D-6E8A-4147-A177-3AD203B41FA5}">
                      <a16:colId xmlns:a16="http://schemas.microsoft.com/office/drawing/2014/main" val="2112755813"/>
                    </a:ext>
                  </a:extLst>
                </a:gridCol>
                <a:gridCol w="1178990">
                  <a:extLst>
                    <a:ext uri="{9D8B030D-6E8A-4147-A177-3AD203B41FA5}">
                      <a16:colId xmlns:a16="http://schemas.microsoft.com/office/drawing/2014/main" val="2110377621"/>
                    </a:ext>
                  </a:extLst>
                </a:gridCol>
              </a:tblGrid>
              <a:tr h="296576">
                <a:tc>
                  <a:txBody>
                    <a:bodyPr/>
                    <a:lstStyle/>
                    <a:p>
                      <a:pPr lvl="0">
                        <a:lnSpc>
                          <a:spcPct val="107000"/>
                        </a:lnSpc>
                        <a:spcAft>
                          <a:spcPts val="800"/>
                        </a:spcAft>
                      </a:pPr>
                      <a:r>
                        <a:rPr lang="en-GB" sz="1100"/>
                        <a:t>Goods Description</a:t>
                      </a:r>
                      <a:endParaRPr lang="en-GB" sz="11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100"/>
                        <a:t>Notifications Received</a:t>
                      </a:r>
                      <a:endParaRPr lang="en-GB" sz="11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100"/>
                        <a:t>Route Returned</a:t>
                      </a:r>
                      <a:endParaRPr lang="en-GB" sz="1100">
                        <a:latin typeface="Arial" pitchFamily="34"/>
                        <a:ea typeface="Calibri" pitchFamily="34"/>
                        <a:cs typeface="Times New Roman" pitchFamily="18"/>
                      </a:endParaRPr>
                    </a:p>
                  </a:txBody>
                  <a:tcPr marL="62115" marR="62115" marT="0" marB="0" anchor="ctr">
                    <a:solidFill>
                      <a:srgbClr val="A6A6A6"/>
                    </a:solidFill>
                  </a:tcPr>
                </a:tc>
                <a:extLst>
                  <a:ext uri="{0D108BD9-81ED-4DB2-BD59-A6C34878D82A}">
                    <a16:rowId xmlns:a16="http://schemas.microsoft.com/office/drawing/2014/main" val="4096539085"/>
                  </a:ext>
                </a:extLst>
              </a:tr>
              <a:tr h="206444">
                <a:tc>
                  <a:txBody>
                    <a:bodyPr/>
                    <a:lstStyle/>
                    <a:p>
                      <a:pPr lvl="0">
                        <a:lnSpc>
                          <a:spcPct val="107000"/>
                        </a:lnSpc>
                        <a:spcAft>
                          <a:spcPts val="0"/>
                        </a:spcAft>
                      </a:pPr>
                      <a:r>
                        <a:rPr lang="en-GB" sz="1100">
                          <a:solidFill>
                            <a:srgbClr val="000000"/>
                          </a:solidFill>
                        </a:rPr>
                        <a:t>ttalvsdecisionHold1</a:t>
                      </a:r>
                      <a:endParaRPr lang="en-GB" sz="1100">
                        <a:solidFill>
                          <a:srgbClr val="000000"/>
                        </a:solidFill>
                        <a:latin typeface="Calibri"/>
                        <a:ea typeface="Calibri" pitchFamily="34"/>
                        <a:cs typeface="Times New Roman" pitchFamily="18"/>
                      </a:endParaRPr>
                    </a:p>
                  </a:txBody>
                  <a:tcPr marL="62115" marR="62115" marT="0" marB="0" anchor="ctr">
                    <a:solidFill>
                      <a:srgbClr val="E7E6E6"/>
                    </a:solidFill>
                  </a:tcPr>
                </a:tc>
                <a:tc>
                  <a:txBody>
                    <a:bodyPr/>
                    <a:lstStyle/>
                    <a:p>
                      <a:pPr lvl="0">
                        <a:lnSpc>
                          <a:spcPct val="107000"/>
                        </a:lnSpc>
                        <a:spcAft>
                          <a:spcPts val="0"/>
                        </a:spcAft>
                      </a:pPr>
                      <a:r>
                        <a:rPr lang="en-GB" sz="1100">
                          <a:solidFill>
                            <a:srgbClr val="000000"/>
                          </a:solidFill>
                          <a:latin typeface="Calibri"/>
                          <a:ea typeface="Calibri" pitchFamily="34"/>
                          <a:cs typeface="Times New Roman" pitchFamily="18"/>
                        </a:rPr>
                        <a:t>DMSALV</a:t>
                      </a:r>
                    </a:p>
                  </a:txBody>
                  <a:tcPr marL="62115" marR="62115" marT="0" marB="0" anchor="ctr">
                    <a:solidFill>
                      <a:srgbClr val="E7E6E6"/>
                    </a:solidFill>
                  </a:tcPr>
                </a:tc>
                <a:tc>
                  <a:txBody>
                    <a:bodyPr/>
                    <a:lstStyle/>
                    <a:p>
                      <a:pPr lvl="0" algn="ctr">
                        <a:lnSpc>
                          <a:spcPct val="107000"/>
                        </a:lnSpc>
                        <a:spcAft>
                          <a:spcPts val="0"/>
                        </a:spcAft>
                      </a:pPr>
                      <a:r>
                        <a:rPr lang="en-GB" sz="1100" b="0">
                          <a:solidFill>
                            <a:srgbClr val="000000"/>
                          </a:solidFill>
                          <a:latin typeface="Calibri"/>
                          <a:ea typeface="Calibri" pitchFamily="34"/>
                          <a:cs typeface="Times New Roman" pitchFamily="18"/>
                        </a:rPr>
                        <a:t>H01</a:t>
                      </a:r>
                    </a:p>
                  </a:txBody>
                  <a:tcPr marL="62115" marR="62115" marT="0" marB="0" anchor="ctr">
                    <a:solidFill>
                      <a:srgbClr val="E7E6E6"/>
                    </a:solidFill>
                  </a:tcPr>
                </a:tc>
                <a:extLst>
                  <a:ext uri="{0D108BD9-81ED-4DB2-BD59-A6C34878D82A}">
                    <a16:rowId xmlns:a16="http://schemas.microsoft.com/office/drawing/2014/main" val="389681624"/>
                  </a:ext>
                </a:extLst>
              </a:tr>
              <a:tr h="280574">
                <a:tc>
                  <a:txBody>
                    <a:bodyPr/>
                    <a:lstStyle/>
                    <a:p>
                      <a:pPr lvl="0">
                        <a:lnSpc>
                          <a:spcPct val="107000"/>
                        </a:lnSpc>
                        <a:spcAft>
                          <a:spcPts val="0"/>
                        </a:spcAft>
                      </a:pPr>
                      <a:r>
                        <a:rPr lang="en-GB" sz="1100">
                          <a:solidFill>
                            <a:srgbClr val="000000"/>
                          </a:solidFill>
                        </a:rPr>
                        <a:t>ttalvsdecisionHold2</a:t>
                      </a:r>
                      <a:endParaRPr lang="en-GB" sz="1100">
                        <a:solidFill>
                          <a:srgbClr val="000000"/>
                        </a:solidFill>
                        <a:latin typeface="Calibri"/>
                        <a:ea typeface="Calibri" pitchFamily="34"/>
                        <a:cs typeface="Times New Roman" pitchFamily="18"/>
                      </a:endParaRPr>
                    </a:p>
                  </a:txBody>
                  <a:tcPr marL="62115" marR="62115" marT="0" marB="0" anchor="ctr">
                    <a:solidFill>
                      <a:srgbClr val="F2F2F2"/>
                    </a:solidFill>
                  </a:tcPr>
                </a:tc>
                <a:tc>
                  <a:txBody>
                    <a:bodyPr/>
                    <a:lstStyle/>
                    <a:p>
                      <a:pPr lvl="0">
                        <a:lnSpc>
                          <a:spcPct val="107000"/>
                        </a:lnSpc>
                        <a:spcAft>
                          <a:spcPts val="0"/>
                        </a:spcAft>
                      </a:pPr>
                      <a:r>
                        <a:rPr lang="en-GB" sz="1100">
                          <a:solidFill>
                            <a:srgbClr val="000000"/>
                          </a:solidFill>
                        </a:rPr>
                        <a:t>DMSALV</a:t>
                      </a:r>
                      <a:endParaRPr lang="en-GB" sz="1100">
                        <a:solidFill>
                          <a:srgbClr val="000000"/>
                        </a:solidFill>
                        <a:latin typeface="Calibri"/>
                        <a:ea typeface="Calibri" pitchFamily="34"/>
                        <a:cs typeface="Times New Roman" pitchFamily="18"/>
                      </a:endParaRPr>
                    </a:p>
                  </a:txBody>
                  <a:tcPr marL="62115" marR="62115" marT="0" marB="0" anchor="ctr">
                    <a:solidFill>
                      <a:srgbClr val="F2F2F2"/>
                    </a:solidFill>
                  </a:tcPr>
                </a:tc>
                <a:tc>
                  <a:txBody>
                    <a:bodyPr/>
                    <a:lstStyle/>
                    <a:p>
                      <a:pPr lvl="0" algn="ctr">
                        <a:lnSpc>
                          <a:spcPct val="107000"/>
                        </a:lnSpc>
                        <a:spcAft>
                          <a:spcPts val="0"/>
                        </a:spcAft>
                      </a:pPr>
                      <a:r>
                        <a:rPr lang="en-GB" sz="1100" b="0">
                          <a:solidFill>
                            <a:srgbClr val="000000"/>
                          </a:solidFill>
                          <a:latin typeface="Calibri"/>
                          <a:ea typeface="Calibri" pitchFamily="34"/>
                          <a:cs typeface="Times New Roman" pitchFamily="18"/>
                        </a:rPr>
                        <a:t>H02</a:t>
                      </a:r>
                    </a:p>
                  </a:txBody>
                  <a:tcPr marL="62115" marR="62115" marT="0" marB="0" anchor="ctr">
                    <a:solidFill>
                      <a:srgbClr val="F2F2F2"/>
                    </a:solidFill>
                  </a:tcPr>
                </a:tc>
                <a:extLst>
                  <a:ext uri="{0D108BD9-81ED-4DB2-BD59-A6C34878D82A}">
                    <a16:rowId xmlns:a16="http://schemas.microsoft.com/office/drawing/2014/main" val="1049436809"/>
                  </a:ext>
                </a:extLst>
              </a:tr>
              <a:tr h="240222">
                <a:tc>
                  <a:txBody>
                    <a:bodyPr/>
                    <a:lstStyle/>
                    <a:p>
                      <a:pPr lvl="0">
                        <a:lnSpc>
                          <a:spcPct val="107000"/>
                        </a:lnSpc>
                        <a:spcAft>
                          <a:spcPts val="0"/>
                        </a:spcAft>
                      </a:pPr>
                      <a:r>
                        <a:rPr lang="en-GB" sz="1100">
                          <a:solidFill>
                            <a:srgbClr val="000000"/>
                          </a:solidFill>
                        </a:rPr>
                        <a:t>ttalvsdecisionRef1</a:t>
                      </a:r>
                      <a:endParaRPr lang="en-GB" sz="1100">
                        <a:solidFill>
                          <a:srgbClr val="000000"/>
                        </a:solidFill>
                        <a:latin typeface="Calibri"/>
                        <a:ea typeface="Calibri" pitchFamily="34"/>
                        <a:cs typeface="Times New Roman" pitchFamily="18"/>
                      </a:endParaRPr>
                    </a:p>
                  </a:txBody>
                  <a:tcPr marL="62115" marR="62115" marT="0" marB="0" anchor="ctr">
                    <a:solidFill>
                      <a:srgbClr val="E7E6E6"/>
                    </a:solidFill>
                  </a:tcPr>
                </a:tc>
                <a:tc>
                  <a:txBody>
                    <a:bodyPr/>
                    <a:lstStyle/>
                    <a:p>
                      <a:pPr lvl="0">
                        <a:lnSpc>
                          <a:spcPct val="107000"/>
                        </a:lnSpc>
                        <a:spcAft>
                          <a:spcPts val="0"/>
                        </a:spcAft>
                      </a:pPr>
                      <a:r>
                        <a:rPr lang="en-GB" sz="1100">
                          <a:solidFill>
                            <a:srgbClr val="000000"/>
                          </a:solidFill>
                        </a:rPr>
                        <a:t>DMSALV</a:t>
                      </a:r>
                      <a:endParaRPr lang="en-GB" sz="1100" i="1">
                        <a:solidFill>
                          <a:srgbClr val="000000"/>
                        </a:solidFill>
                        <a:latin typeface="Calibri"/>
                        <a:ea typeface="Calibri" pitchFamily="34"/>
                        <a:cs typeface="Times New Roman" pitchFamily="18"/>
                      </a:endParaRPr>
                    </a:p>
                  </a:txBody>
                  <a:tcPr marL="62115" marR="62115" marT="0" marB="0" anchor="ctr">
                    <a:solidFill>
                      <a:srgbClr val="E7E6E6"/>
                    </a:solidFill>
                  </a:tcPr>
                </a:tc>
                <a:tc>
                  <a:txBody>
                    <a:bodyPr/>
                    <a:lstStyle/>
                    <a:p>
                      <a:pPr lvl="0" algn="ctr">
                        <a:lnSpc>
                          <a:spcPct val="107000"/>
                        </a:lnSpc>
                        <a:spcAft>
                          <a:spcPts val="0"/>
                        </a:spcAft>
                      </a:pPr>
                      <a:r>
                        <a:rPr lang="en-GB" sz="1100" b="0">
                          <a:solidFill>
                            <a:srgbClr val="000000"/>
                          </a:solidFill>
                        </a:rPr>
                        <a:t>N01</a:t>
                      </a:r>
                      <a:endParaRPr lang="en-GB" sz="1100" b="0">
                        <a:solidFill>
                          <a:srgbClr val="000000"/>
                        </a:solidFill>
                        <a:latin typeface="Calibri"/>
                        <a:ea typeface="Calibri" pitchFamily="34"/>
                        <a:cs typeface="Times New Roman" pitchFamily="18"/>
                      </a:endParaRPr>
                    </a:p>
                  </a:txBody>
                  <a:tcPr marL="62115" marR="62115" marT="0" marB="0" anchor="ctr">
                    <a:solidFill>
                      <a:srgbClr val="E7E6E6"/>
                    </a:solidFill>
                  </a:tcPr>
                </a:tc>
                <a:extLst>
                  <a:ext uri="{0D108BD9-81ED-4DB2-BD59-A6C34878D82A}">
                    <a16:rowId xmlns:a16="http://schemas.microsoft.com/office/drawing/2014/main" val="645087033"/>
                  </a:ext>
                </a:extLst>
              </a:tr>
              <a:tr h="273588">
                <a:tc>
                  <a:txBody>
                    <a:bodyPr/>
                    <a:lstStyle/>
                    <a:p>
                      <a:pPr lvl="0">
                        <a:lnSpc>
                          <a:spcPct val="107000"/>
                        </a:lnSpc>
                        <a:spcAft>
                          <a:spcPts val="0"/>
                        </a:spcAft>
                      </a:pPr>
                      <a:r>
                        <a:rPr lang="en-GB" sz="1100">
                          <a:solidFill>
                            <a:srgbClr val="000000"/>
                          </a:solidFill>
                        </a:rPr>
                        <a:t>ttalvsdecisionErr1</a:t>
                      </a:r>
                      <a:endParaRPr lang="en-GB" sz="1100">
                        <a:solidFill>
                          <a:srgbClr val="000000"/>
                        </a:solidFill>
                        <a:latin typeface="Calibri"/>
                        <a:ea typeface="Calibri" pitchFamily="34"/>
                        <a:cs typeface="Times New Roman" pitchFamily="18"/>
                      </a:endParaRPr>
                    </a:p>
                  </a:txBody>
                  <a:tcPr marL="62115" marR="62115" marT="0" marB="0" anchor="ctr">
                    <a:solidFill>
                      <a:srgbClr val="F2F2F2"/>
                    </a:solidFill>
                  </a:tcPr>
                </a:tc>
                <a:tc>
                  <a:txBody>
                    <a:bodyPr/>
                    <a:lstStyle/>
                    <a:p>
                      <a:pPr lvl="0">
                        <a:lnSpc>
                          <a:spcPct val="107000"/>
                        </a:lnSpc>
                        <a:spcAft>
                          <a:spcPts val="0"/>
                        </a:spcAft>
                      </a:pPr>
                      <a:r>
                        <a:rPr lang="en-GB" sz="1100">
                          <a:solidFill>
                            <a:srgbClr val="000000"/>
                          </a:solidFill>
                        </a:rPr>
                        <a:t>DMSALV </a:t>
                      </a:r>
                      <a:endParaRPr lang="en-GB" sz="1100" i="1">
                        <a:solidFill>
                          <a:srgbClr val="000000"/>
                        </a:solidFill>
                        <a:latin typeface="Calibri"/>
                        <a:ea typeface="Calibri" pitchFamily="34"/>
                        <a:cs typeface="Times New Roman" pitchFamily="18"/>
                      </a:endParaRPr>
                    </a:p>
                  </a:txBody>
                  <a:tcPr marL="62115" marR="62115" marT="0" marB="0" anchor="ctr">
                    <a:solidFill>
                      <a:srgbClr val="F2F2F2"/>
                    </a:solidFill>
                  </a:tcPr>
                </a:tc>
                <a:tc>
                  <a:txBody>
                    <a:bodyPr/>
                    <a:lstStyle/>
                    <a:p>
                      <a:pPr lvl="0" algn="ctr">
                        <a:lnSpc>
                          <a:spcPct val="107000"/>
                        </a:lnSpc>
                        <a:spcAft>
                          <a:spcPts val="0"/>
                        </a:spcAft>
                      </a:pPr>
                      <a:r>
                        <a:rPr lang="en-GB" sz="1100" b="0">
                          <a:solidFill>
                            <a:srgbClr val="000000"/>
                          </a:solidFill>
                        </a:rPr>
                        <a:t>E01</a:t>
                      </a:r>
                      <a:endParaRPr lang="en-GB" sz="1100" b="0">
                        <a:solidFill>
                          <a:srgbClr val="000000"/>
                        </a:solidFill>
                        <a:latin typeface="Calibri"/>
                        <a:ea typeface="Calibri" pitchFamily="34"/>
                        <a:cs typeface="Times New Roman" pitchFamily="18"/>
                      </a:endParaRPr>
                    </a:p>
                  </a:txBody>
                  <a:tcPr marL="62115" marR="62115" marT="0" marB="0" anchor="ctr">
                    <a:solidFill>
                      <a:srgbClr val="F2F2F2"/>
                    </a:solidFill>
                  </a:tcPr>
                </a:tc>
                <a:extLst>
                  <a:ext uri="{0D108BD9-81ED-4DB2-BD59-A6C34878D82A}">
                    <a16:rowId xmlns:a16="http://schemas.microsoft.com/office/drawing/2014/main" val="2545107071"/>
                  </a:ext>
                </a:extLst>
              </a:tr>
              <a:tr h="280263">
                <a:tc>
                  <a:txBody>
                    <a:bodyPr/>
                    <a:lstStyle/>
                    <a:p>
                      <a:pPr lvl="0">
                        <a:lnSpc>
                          <a:spcPct val="107000"/>
                        </a:lnSpc>
                        <a:spcAft>
                          <a:spcPts val="0"/>
                        </a:spcAft>
                      </a:pPr>
                      <a:r>
                        <a:rPr lang="en-GB" sz="1100">
                          <a:solidFill>
                            <a:srgbClr val="000000"/>
                          </a:solidFill>
                        </a:rPr>
                        <a:t>ttalvsdecisionMat1</a:t>
                      </a:r>
                      <a:endParaRPr lang="en-GB" sz="1100">
                        <a:solidFill>
                          <a:srgbClr val="000000"/>
                        </a:solidFill>
                        <a:latin typeface="Calibri"/>
                        <a:ea typeface="Calibri" pitchFamily="34"/>
                        <a:cs typeface="Times New Roman" pitchFamily="18"/>
                      </a:endParaRPr>
                    </a:p>
                  </a:txBody>
                  <a:tcPr marL="62115" marR="62115" marT="0" marB="0" anchor="ctr">
                    <a:solidFill>
                      <a:srgbClr val="E7E6E6"/>
                    </a:solidFill>
                  </a:tcPr>
                </a:tc>
                <a:tc>
                  <a:txBody>
                    <a:bodyPr/>
                    <a:lstStyle/>
                    <a:p>
                      <a:pPr lvl="0">
                        <a:lnSpc>
                          <a:spcPct val="107000"/>
                        </a:lnSpc>
                        <a:spcAft>
                          <a:spcPts val="0"/>
                        </a:spcAft>
                      </a:pPr>
                      <a:r>
                        <a:rPr lang="en-GB" sz="1100">
                          <a:solidFill>
                            <a:srgbClr val="000000"/>
                          </a:solidFill>
                        </a:rPr>
                        <a:t>DMSALV</a:t>
                      </a:r>
                      <a:endParaRPr lang="en-GB" sz="1100" i="1">
                        <a:solidFill>
                          <a:srgbClr val="000000"/>
                        </a:solidFill>
                        <a:latin typeface="Calibri"/>
                        <a:ea typeface="Calibri" pitchFamily="34"/>
                        <a:cs typeface="Times New Roman" pitchFamily="18"/>
                      </a:endParaRPr>
                    </a:p>
                  </a:txBody>
                  <a:tcPr marL="62115" marR="62115" marT="0" marB="0" anchor="ctr">
                    <a:solidFill>
                      <a:srgbClr val="E7E6E6"/>
                    </a:solidFill>
                  </a:tcPr>
                </a:tc>
                <a:tc>
                  <a:txBody>
                    <a:bodyPr/>
                    <a:lstStyle/>
                    <a:p>
                      <a:pPr lvl="0" algn="ctr">
                        <a:lnSpc>
                          <a:spcPct val="107000"/>
                        </a:lnSpc>
                        <a:spcAft>
                          <a:spcPts val="0"/>
                        </a:spcAft>
                      </a:pPr>
                      <a:r>
                        <a:rPr lang="en-GB" sz="1100" b="0" dirty="0">
                          <a:solidFill>
                            <a:srgbClr val="000000"/>
                          </a:solidFill>
                        </a:rPr>
                        <a:t>X00</a:t>
                      </a:r>
                      <a:endParaRPr lang="en-GB" sz="1100" b="0" dirty="0">
                        <a:solidFill>
                          <a:srgbClr val="000000"/>
                        </a:solidFill>
                        <a:latin typeface="Calibri"/>
                        <a:ea typeface="Calibri" pitchFamily="34"/>
                        <a:cs typeface="Times New Roman" pitchFamily="18"/>
                      </a:endParaRPr>
                    </a:p>
                  </a:txBody>
                  <a:tcPr marL="62115" marR="62115" marT="0" marB="0" anchor="ctr">
                    <a:solidFill>
                      <a:srgbClr val="E7E6E6"/>
                    </a:solidFill>
                  </a:tcPr>
                </a:tc>
                <a:extLst>
                  <a:ext uri="{0D108BD9-81ED-4DB2-BD59-A6C34878D82A}">
                    <a16:rowId xmlns:a16="http://schemas.microsoft.com/office/drawing/2014/main" val="1749914361"/>
                  </a:ext>
                </a:extLst>
              </a:tr>
            </a:tbl>
          </a:graphicData>
        </a:graphic>
      </p:graphicFrame>
      <p:sp>
        <p:nvSpPr>
          <p:cNvPr id="7" name="Rectangle 15">
            <a:extLst>
              <a:ext uri="{FF2B5EF4-FFF2-40B4-BE49-F238E27FC236}">
                <a16:creationId xmlns:a16="http://schemas.microsoft.com/office/drawing/2014/main" id="{C1E9C07F-5DA8-4314-AD84-142D8891F3AF}"/>
              </a:ext>
            </a:extLst>
          </p:cNvPr>
          <p:cNvSpPr/>
          <p:nvPr/>
        </p:nvSpPr>
        <p:spPr>
          <a:xfrm>
            <a:off x="391280" y="765151"/>
            <a:ext cx="439716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Initiating a DMSALV Notification for Imports or Exports</a:t>
            </a:r>
          </a:p>
        </p:txBody>
      </p:sp>
      <p:sp>
        <p:nvSpPr>
          <p:cNvPr id="8" name="Oval 10">
            <a:hlinkClick r:id="rId3" action="ppaction://hlinksldjump"/>
            <a:extLst>
              <a:ext uri="{FF2B5EF4-FFF2-40B4-BE49-F238E27FC236}">
                <a16:creationId xmlns:a16="http://schemas.microsoft.com/office/drawing/2014/main" id="{3793E749-E791-49A2-883A-00D209F90D7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11">
            <a:hlinkClick r:id="rId3" action="ppaction://hlinksldjump"/>
            <a:extLst>
              <a:ext uri="{FF2B5EF4-FFF2-40B4-BE49-F238E27FC236}">
                <a16:creationId xmlns:a16="http://schemas.microsoft.com/office/drawing/2014/main" id="{E8BCB333-2013-4E60-A006-69F5FDB1C9E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14">
            <a:hlinkClick r:id="rId4" action="ppaction://hlinksldjump"/>
            <a:extLst>
              <a:ext uri="{FF2B5EF4-FFF2-40B4-BE49-F238E27FC236}">
                <a16:creationId xmlns:a16="http://schemas.microsoft.com/office/drawing/2014/main" id="{A3A6DDB6-F0C0-431F-82D8-965E8CC9082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6">
            <a:hlinkClick r:id="rId5" action="ppaction://hlinksldjump"/>
            <a:extLst>
              <a:ext uri="{FF2B5EF4-FFF2-40B4-BE49-F238E27FC236}">
                <a16:creationId xmlns:a16="http://schemas.microsoft.com/office/drawing/2014/main" id="{8B95D50C-4344-44E8-B8CD-5C01B3DA65B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17">
            <a:hlinkClick r:id="rId3" action="ppaction://hlinksldjump"/>
            <a:extLst>
              <a:ext uri="{FF2B5EF4-FFF2-40B4-BE49-F238E27FC236}">
                <a16:creationId xmlns:a16="http://schemas.microsoft.com/office/drawing/2014/main" id="{9E01A76A-94F3-473C-AD59-F24F1336F1D7}"/>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18">
            <a:hlinkClick r:id="rId3" action="ppaction://hlinksldjump"/>
            <a:extLst>
              <a:ext uri="{FF2B5EF4-FFF2-40B4-BE49-F238E27FC236}">
                <a16:creationId xmlns:a16="http://schemas.microsoft.com/office/drawing/2014/main" id="{4E5BE070-7AB4-4DDC-9760-2276DD78DB5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19">
            <a:hlinkClick r:id="rId4" action="ppaction://hlinksldjump"/>
            <a:extLst>
              <a:ext uri="{FF2B5EF4-FFF2-40B4-BE49-F238E27FC236}">
                <a16:creationId xmlns:a16="http://schemas.microsoft.com/office/drawing/2014/main" id="{92EE3D54-B3C7-4559-AA80-9974EF7BF6E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5" name="TextBox 20">
            <a:hlinkClick r:id="rId4" action="ppaction://hlinksldjump"/>
            <a:extLst>
              <a:ext uri="{FF2B5EF4-FFF2-40B4-BE49-F238E27FC236}">
                <a16:creationId xmlns:a16="http://schemas.microsoft.com/office/drawing/2014/main" id="{8EDE4573-D664-4E6C-9584-6352C5D94CC2}"/>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6" name="Oval 21">
            <a:extLst>
              <a:ext uri="{FF2B5EF4-FFF2-40B4-BE49-F238E27FC236}">
                <a16:creationId xmlns:a16="http://schemas.microsoft.com/office/drawing/2014/main" id="{DFFE2F4D-F2E7-4C90-A635-872EDBF8F45A}"/>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22">
            <a:hlinkClick r:id="rId6" action="ppaction://hlinksldjump"/>
            <a:extLst>
              <a:ext uri="{FF2B5EF4-FFF2-40B4-BE49-F238E27FC236}">
                <a16:creationId xmlns:a16="http://schemas.microsoft.com/office/drawing/2014/main" id="{35A2C6D4-248E-4189-B11B-4D5135F499B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482CDB9C-5C71-42C3-BA5C-EFD6D03A659C}"/>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26">
            <a:hlinkClick r:id="rId3" action="ppaction://hlinksldjump"/>
            <a:extLst>
              <a:ext uri="{FF2B5EF4-FFF2-40B4-BE49-F238E27FC236}">
                <a16:creationId xmlns:a16="http://schemas.microsoft.com/office/drawing/2014/main" id="{DB1AF7F1-8EE7-4EF0-9885-D4102DB6D1AC}"/>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Slide Number Placeholder 5">
            <a:extLst>
              <a:ext uri="{FF2B5EF4-FFF2-40B4-BE49-F238E27FC236}">
                <a16:creationId xmlns:a16="http://schemas.microsoft.com/office/drawing/2014/main" id="{F0E49566-4CB0-4C39-B9E7-3F360D20BD02}"/>
              </a:ext>
            </a:extLst>
          </p:cNvPr>
          <p:cNvSpPr txBox="1"/>
          <p:nvPr/>
        </p:nvSpPr>
        <p:spPr>
          <a:xfrm>
            <a:off x="1170911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B8B0941-8864-422D-AF99-0585B9D63E8A}" type="slidenum">
              <a:rPr sz="1200"/>
              <a:t>38</a:t>
            </a:fld>
            <a:endParaRPr lang="en-GB" sz="1200" b="0" i="0" u="none" strike="noStrike" kern="1200" cap="none" spc="0" baseline="0">
              <a:solidFill>
                <a:srgbClr val="000000"/>
              </a:solidFill>
              <a:uFillTx/>
              <a:latin typeface="Calibri"/>
            </a:endParaRPr>
          </a:p>
        </p:txBody>
      </p:sp>
      <p:sp>
        <p:nvSpPr>
          <p:cNvPr id="21" name="Rectangle 9">
            <a:extLst>
              <a:ext uri="{FF2B5EF4-FFF2-40B4-BE49-F238E27FC236}">
                <a16:creationId xmlns:a16="http://schemas.microsoft.com/office/drawing/2014/main" id="{C75FBF1A-4EB4-486A-9AD6-E8E0C5DDD2A4}"/>
              </a:ext>
            </a:extLst>
          </p:cNvPr>
          <p:cNvSpPr/>
          <p:nvPr/>
        </p:nvSpPr>
        <p:spPr>
          <a:xfrm>
            <a:off x="446172" y="4988024"/>
            <a:ext cx="11449430" cy="1101102"/>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Rectangle 34">
            <a:extLst>
              <a:ext uri="{FF2B5EF4-FFF2-40B4-BE49-F238E27FC236}">
                <a16:creationId xmlns:a16="http://schemas.microsoft.com/office/drawing/2014/main" id="{1A38F234-8EBD-41E3-BC32-AE4B21D95122}"/>
              </a:ext>
            </a:extLst>
          </p:cNvPr>
          <p:cNvSpPr/>
          <p:nvPr/>
        </p:nvSpPr>
        <p:spPr>
          <a:xfrm rot="16200004">
            <a:off x="183511" y="5266231"/>
            <a:ext cx="1101093" cy="575788"/>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sp>
        <p:nvSpPr>
          <p:cNvPr id="23" name="Rectangle 35">
            <a:extLst>
              <a:ext uri="{FF2B5EF4-FFF2-40B4-BE49-F238E27FC236}">
                <a16:creationId xmlns:a16="http://schemas.microsoft.com/office/drawing/2014/main" id="{A9EA796C-8ED7-4BD4-9FFE-396BDF15D90D}"/>
              </a:ext>
            </a:extLst>
          </p:cNvPr>
          <p:cNvSpPr/>
          <p:nvPr/>
        </p:nvSpPr>
        <p:spPr>
          <a:xfrm>
            <a:off x="1038383" y="5113617"/>
            <a:ext cx="9471986"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TT_IM49a - Goods Import Declaration to the Isle of Man </a:t>
            </a:r>
            <a:r>
              <a:rPr lang="en-GB" sz="1200" b="0" i="0" u="none" strike="noStrike" kern="1200" cap="none" spc="0" baseline="0">
                <a:solidFill>
                  <a:srgbClr val="000000"/>
                </a:solidFill>
                <a:uFillTx/>
                <a:latin typeface="Calibri" pitchFamily="34"/>
                <a:ea typeface="Times New Roman" pitchFamily="18"/>
              </a:rPr>
              <a:t>- </a:t>
            </a:r>
            <a:r>
              <a:rPr lang="en-GB" sz="1200" b="0" i="0" u="none" strike="noStrike" kern="1200" cap="none" spc="0" baseline="0">
                <a:solidFill>
                  <a:srgbClr val="000000"/>
                </a:solidFill>
                <a:uFillTx/>
                <a:latin typeface="Calibri"/>
              </a:rPr>
              <a:t>Declaring Imports Declaration Types ‘IM’ and ‘CO’ with ‘GB’ Goods Location Code</a:t>
            </a: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TT_IM35a - Inventory-linked Frontier ALVS declaration triggering a control</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838840301">
    <p:spTree>
      <p:nvGrpSpPr>
        <p:cNvPr id="1" name=""/>
        <p:cNvGrpSpPr/>
        <p:nvPr/>
      </p:nvGrpSpPr>
      <p:grpSpPr>
        <a:xfrm>
          <a:off x="0" y="0"/>
          <a:ext cx="0" cy="0"/>
          <a:chOff x="0" y="0"/>
          <a:chExt cx="0" cy="0"/>
        </a:xfrm>
      </p:grpSpPr>
      <p:pic>
        <p:nvPicPr>
          <p:cNvPr id="2" name="Picture 106" descr="57% HMRCppt logo">
            <a:extLst>
              <a:ext uri="{FF2B5EF4-FFF2-40B4-BE49-F238E27FC236}">
                <a16:creationId xmlns:a16="http://schemas.microsoft.com/office/drawing/2014/main" id="{F61E221B-0810-4473-A050-0781B7D3F1C6}"/>
              </a:ext>
            </a:extLst>
          </p:cNvPr>
          <p:cNvPicPr>
            <a:picLocks noChangeAspect="1"/>
          </p:cNvPicPr>
          <p:nvPr/>
        </p:nvPicPr>
        <p:blipFill>
          <a:blip r:embed="rId2"/>
          <a:srcRect/>
          <a:stretch>
            <a:fillRect/>
          </a:stretch>
        </p:blipFill>
        <p:spPr>
          <a:xfrm>
            <a:off x="366262" y="5954179"/>
            <a:ext cx="1030227" cy="633980"/>
          </a:xfrm>
          <a:prstGeom prst="rect">
            <a:avLst/>
          </a:prstGeom>
          <a:noFill/>
          <a:ln cap="flat">
            <a:noFill/>
          </a:ln>
        </p:spPr>
      </p:pic>
      <p:graphicFrame>
        <p:nvGraphicFramePr>
          <p:cNvPr id="3" name="Table 1">
            <a:extLst>
              <a:ext uri="{FF2B5EF4-FFF2-40B4-BE49-F238E27FC236}">
                <a16:creationId xmlns:a16="http://schemas.microsoft.com/office/drawing/2014/main" id="{1AA0C130-EFBC-4574-8352-E8C47083B97A}"/>
              </a:ext>
            </a:extLst>
          </p:cNvPr>
          <p:cNvGraphicFramePr>
            <a:graphicFrameLocks noGrp="1"/>
          </p:cNvGraphicFramePr>
          <p:nvPr/>
        </p:nvGraphicFramePr>
        <p:xfrm>
          <a:off x="376915" y="1153625"/>
          <a:ext cx="6259168" cy="5599400"/>
        </p:xfrm>
        <a:graphic>
          <a:graphicData uri="http://schemas.openxmlformats.org/drawingml/2006/table">
            <a:tbl>
              <a:tblPr firstRow="1" bandRow="1">
                <a:effectLst/>
                <a:tableStyleId>{5C22544A-7EE6-4342-B048-85BDC9FD1C3A}</a:tableStyleId>
              </a:tblPr>
              <a:tblGrid>
                <a:gridCol w="6259168">
                  <a:extLst>
                    <a:ext uri="{9D8B030D-6E8A-4147-A177-3AD203B41FA5}">
                      <a16:colId xmlns:a16="http://schemas.microsoft.com/office/drawing/2014/main" val="253336031"/>
                    </a:ext>
                  </a:extLst>
                </a:gridCol>
              </a:tblGrid>
              <a:tr h="329604">
                <a:tc>
                  <a:txBody>
                    <a:bodyPr/>
                    <a:lstStyle/>
                    <a:p>
                      <a:pPr lvl="0"/>
                      <a:r>
                        <a:rPr lang="en-GB" sz="1200"/>
                        <a:t>Specific External Test Behaviour</a:t>
                      </a:r>
                    </a:p>
                  </a:txBody>
                  <a:tcPr anchor="ctr">
                    <a:solidFill>
                      <a:srgbClr val="4472C4"/>
                    </a:solidFill>
                  </a:tcPr>
                </a:tc>
                <a:extLst>
                  <a:ext uri="{0D108BD9-81ED-4DB2-BD59-A6C34878D82A}">
                    <a16:rowId xmlns:a16="http://schemas.microsoft.com/office/drawing/2014/main" val="124711870"/>
                  </a:ext>
                </a:extLst>
              </a:tr>
              <a:tr h="5269796">
                <a:tc>
                  <a:txBody>
                    <a:bodyPr/>
                    <a:lstStyle/>
                    <a:p>
                      <a:pPr lvl="0"/>
                      <a:r>
                        <a:rPr lang="en-GB" sz="1200" dirty="0"/>
                        <a:t>To test an Exports multiple arrivals and departures scenario with a control, the original declaration should include the appropriate ‘trigger word’ in DE 6/8 and then the declaration should be arrived. </a:t>
                      </a:r>
                      <a:r>
                        <a:rPr lang="en-GB" sz="1200" b="1" dirty="0"/>
                        <a:t>Trigger words are currently case sensitive.</a:t>
                      </a:r>
                    </a:p>
                    <a:p>
                      <a:pPr lvl="0"/>
                      <a:r>
                        <a:rPr lang="en-GB" sz="1200" dirty="0"/>
                        <a:t>To trigger a control on a subsequent arrival, the EAL message must contain a specific location code, which will initiate a second control response. One of the location codes in the table below should be submitted on the subsequent (not the first) EAL to test each type of control task.</a:t>
                      </a:r>
                    </a:p>
                  </a:txBody>
                  <a:tcPr>
                    <a:solidFill>
                      <a:srgbClr val="F2F2F2"/>
                    </a:solidFill>
                  </a:tcPr>
                </a:tc>
                <a:extLst>
                  <a:ext uri="{0D108BD9-81ED-4DB2-BD59-A6C34878D82A}">
                    <a16:rowId xmlns:a16="http://schemas.microsoft.com/office/drawing/2014/main" val="230339185"/>
                  </a:ext>
                </a:extLst>
              </a:tr>
            </a:tbl>
          </a:graphicData>
        </a:graphic>
      </p:graphicFrame>
      <p:cxnSp>
        <p:nvCxnSpPr>
          <p:cNvPr id="4" name="Straight Connector 9">
            <a:extLst>
              <a:ext uri="{FF2B5EF4-FFF2-40B4-BE49-F238E27FC236}">
                <a16:creationId xmlns:a16="http://schemas.microsoft.com/office/drawing/2014/main" id="{C37B41C2-81D5-4387-B6B8-8C0397E6560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5" name="Straight Connector 11">
            <a:extLst>
              <a:ext uri="{FF2B5EF4-FFF2-40B4-BE49-F238E27FC236}">
                <a16:creationId xmlns:a16="http://schemas.microsoft.com/office/drawing/2014/main" id="{214B99AA-16AB-4B33-8CF2-5BBACAB2B85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72256A31-3649-4260-87B0-1C23F5CB5696}"/>
              </a:ext>
            </a:extLst>
          </p:cNvPr>
          <p:cNvSpPr txBox="1"/>
          <p:nvPr/>
        </p:nvSpPr>
        <p:spPr>
          <a:xfrm>
            <a:off x="363967" y="248844"/>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graphicFrame>
        <p:nvGraphicFramePr>
          <p:cNvPr id="7" name="Table 15">
            <a:extLst>
              <a:ext uri="{FF2B5EF4-FFF2-40B4-BE49-F238E27FC236}">
                <a16:creationId xmlns:a16="http://schemas.microsoft.com/office/drawing/2014/main" id="{737A6AEC-A0DF-4155-8E6E-48BF5388CADA}"/>
              </a:ext>
            </a:extLst>
          </p:cNvPr>
          <p:cNvGraphicFramePr>
            <a:graphicFrameLocks noGrp="1"/>
          </p:cNvGraphicFramePr>
          <p:nvPr/>
        </p:nvGraphicFramePr>
        <p:xfrm>
          <a:off x="450662" y="2628744"/>
          <a:ext cx="6021742" cy="4036420"/>
        </p:xfrm>
        <a:graphic>
          <a:graphicData uri="http://schemas.openxmlformats.org/drawingml/2006/table">
            <a:tbl>
              <a:tblPr firstRow="1" firstCol="1" bandRow="1">
                <a:effectLst/>
                <a:tableStyleId>{5C22544A-7EE6-4342-B048-85BDC9FD1C3A}</a:tableStyleId>
              </a:tblPr>
              <a:tblGrid>
                <a:gridCol w="1496845">
                  <a:extLst>
                    <a:ext uri="{9D8B030D-6E8A-4147-A177-3AD203B41FA5}">
                      <a16:colId xmlns:a16="http://schemas.microsoft.com/office/drawing/2014/main" val="1359591094"/>
                    </a:ext>
                  </a:extLst>
                </a:gridCol>
                <a:gridCol w="1375019">
                  <a:extLst>
                    <a:ext uri="{9D8B030D-6E8A-4147-A177-3AD203B41FA5}">
                      <a16:colId xmlns:a16="http://schemas.microsoft.com/office/drawing/2014/main" val="2943900580"/>
                    </a:ext>
                  </a:extLst>
                </a:gridCol>
                <a:gridCol w="1779888">
                  <a:extLst>
                    <a:ext uri="{9D8B030D-6E8A-4147-A177-3AD203B41FA5}">
                      <a16:colId xmlns:a16="http://schemas.microsoft.com/office/drawing/2014/main" val="4061304450"/>
                    </a:ext>
                  </a:extLst>
                </a:gridCol>
                <a:gridCol w="1369990">
                  <a:extLst>
                    <a:ext uri="{9D8B030D-6E8A-4147-A177-3AD203B41FA5}">
                      <a16:colId xmlns:a16="http://schemas.microsoft.com/office/drawing/2014/main" val="554299465"/>
                    </a:ext>
                  </a:extLst>
                </a:gridCol>
              </a:tblGrid>
              <a:tr h="214673">
                <a:tc>
                  <a:txBody>
                    <a:bodyPr/>
                    <a:lstStyle/>
                    <a:p>
                      <a:pPr lvl="0">
                        <a:lnSpc>
                          <a:spcPct val="107000"/>
                        </a:lnSpc>
                        <a:spcAft>
                          <a:spcPts val="800"/>
                        </a:spcAft>
                      </a:pPr>
                      <a:r>
                        <a:rPr lang="en-GB" sz="1000"/>
                        <a:t>Re-Arrival Control Generated</a:t>
                      </a:r>
                      <a:endParaRPr lang="en-GB" sz="11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000"/>
                        <a:t>UNLOCODE</a:t>
                      </a:r>
                      <a:endParaRPr lang="en-GB" sz="11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000"/>
                        <a:t>Location</a:t>
                      </a:r>
                      <a:endParaRPr lang="en-GB" sz="1000">
                        <a:latin typeface="Arial" pitchFamily="34"/>
                        <a:ea typeface="Calibri" pitchFamily="34"/>
                        <a:cs typeface="Times New Roman" pitchFamily="18"/>
                      </a:endParaRPr>
                    </a:p>
                  </a:txBody>
                  <a:tcPr marL="62115" marR="62115" marT="0" marB="0" anchor="ctr">
                    <a:solidFill>
                      <a:srgbClr val="A6A6A6"/>
                    </a:solidFill>
                  </a:tcPr>
                </a:tc>
                <a:tc>
                  <a:txBody>
                    <a:bodyPr/>
                    <a:lstStyle/>
                    <a:p>
                      <a:pPr lvl="0">
                        <a:lnSpc>
                          <a:spcPct val="107000"/>
                        </a:lnSpc>
                        <a:spcAft>
                          <a:spcPts val="800"/>
                        </a:spcAft>
                      </a:pPr>
                      <a:r>
                        <a:rPr lang="en-GB" sz="1000">
                          <a:latin typeface="Calibri"/>
                          <a:ea typeface="Calibri" pitchFamily="34"/>
                          <a:cs typeface="Times New Roman" pitchFamily="18"/>
                        </a:rPr>
                        <a:t>EORI</a:t>
                      </a:r>
                    </a:p>
                  </a:txBody>
                  <a:tcPr marL="62115" marR="62115" marT="0" marB="0" anchor="ctr">
                    <a:solidFill>
                      <a:srgbClr val="A6A6A6"/>
                    </a:solidFill>
                  </a:tcPr>
                </a:tc>
                <a:extLst>
                  <a:ext uri="{0D108BD9-81ED-4DB2-BD59-A6C34878D82A}">
                    <a16:rowId xmlns:a16="http://schemas.microsoft.com/office/drawing/2014/main" val="860024875"/>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Physical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GBAUBKGLONSVW</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Barking [London] - Sivyer Wharf</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GB025115111987</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2148079732"/>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Documentary control </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GBAUBIFBARBIF</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Barrow in Furness </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GB025115111987</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812978078"/>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Non-blocking doc control </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GBAUIPSIPSOTE</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Ipswich</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GB025115111987</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3318156197"/>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Physical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GBAUCDFCDFCDF</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Cardiff Docks</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GB025115133100</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1930818762"/>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Documentary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GBAUPMEPTMPME</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Portsmouth</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GB025115133100</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46615733"/>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Non-blocking doc control </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GBAUCOWCOWCOW</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Cowes - Medina Wharf</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GB025115133100</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3141616864"/>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Physical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GBAUFISFISFIS</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Fishguard </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GB025115155321</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2572877163"/>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Documentary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GBAUFLEFLEFLE</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Fleetwood </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GB025115155321</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3810701164"/>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Non-blocking doc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GBAUFOYFOYFOY</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Fowey Harbour</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GB025115155321</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3243462923"/>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Physical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GBAUDVRDOVDVR</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Dover</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GB025115166433</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4037894360"/>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Documentary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GBAUGOOGOOGOO</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Goole </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GB025115166433</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4283163861"/>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Non-blocking doc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GBAUGRGGRGGRG</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Grangemouth Docks</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GB025115166433</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2574383772"/>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Physical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GBAUHYMHEYHYM</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Heysham </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GB025115188654</a:t>
                      </a:r>
                      <a:endParaRPr lang="en-GB" sz="120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3571141395"/>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Documentary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GBAUHLYHLDHLY</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Holyhead </a:t>
                      </a:r>
                      <a:endParaRPr lang="en-GB" sz="1200">
                        <a:latin typeface="Arial" pitchFamily="34"/>
                        <a:ea typeface="Calibri" pitchFamily="34"/>
                        <a:cs typeface="Times New Roman" pitchFamily="18"/>
                      </a:endParaRPr>
                    </a:p>
                  </a:txBody>
                  <a:tcPr marL="68580" marR="68580" marT="0" marB="0" anchor="ctr">
                    <a:solidFill>
                      <a:srgbClr val="F2F2F2"/>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GB025115188654</a:t>
                      </a:r>
                      <a:endParaRPr lang="en-GB" sz="1200">
                        <a:latin typeface="Arial" pitchFamily="34"/>
                        <a:ea typeface="Calibri" pitchFamily="34"/>
                        <a:cs typeface="Times New Roman" pitchFamily="18"/>
                      </a:endParaRPr>
                    </a:p>
                  </a:txBody>
                  <a:tcPr marL="68580" marR="68580" marT="0" marB="0" anchor="ctr">
                    <a:solidFill>
                      <a:srgbClr val="F2F2F2"/>
                    </a:solidFill>
                  </a:tcPr>
                </a:tc>
                <a:extLst>
                  <a:ext uri="{0D108BD9-81ED-4DB2-BD59-A6C34878D82A}">
                    <a16:rowId xmlns:a16="http://schemas.microsoft.com/office/drawing/2014/main" val="3590223053"/>
                  </a:ext>
                </a:extLst>
              </a:tr>
              <a:tr h="179999">
                <a:tc>
                  <a:txBody>
                    <a:bodyPr/>
                    <a:lstStyle/>
                    <a:p>
                      <a:pPr lvl="0">
                        <a:lnSpc>
                          <a:spcPct val="107000"/>
                        </a:lnSpc>
                        <a:spcBef>
                          <a:spcPts val="200"/>
                        </a:spcBef>
                        <a:spcAft>
                          <a:spcPts val="200"/>
                        </a:spcAft>
                      </a:pPr>
                      <a:r>
                        <a:rPr lang="en-GB" sz="1100" b="0">
                          <a:solidFill>
                            <a:srgbClr val="000000"/>
                          </a:solidFill>
                          <a:latin typeface="Calibri" pitchFamily="34"/>
                          <a:ea typeface="Calibri" pitchFamily="34"/>
                          <a:cs typeface="Times New Roman" pitchFamily="18"/>
                        </a:rPr>
                        <a:t>Non-blocking doc control</a:t>
                      </a:r>
                      <a:endParaRPr lang="en-GB" sz="1200" b="0">
                        <a:solidFill>
                          <a:srgbClr val="000000"/>
                        </a:solidFill>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GBAUHULHULHUL</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a:latin typeface="Calibri" pitchFamily="34"/>
                          <a:ea typeface="Calibri" pitchFamily="34"/>
                          <a:cs typeface="Times New Roman" pitchFamily="18"/>
                        </a:rPr>
                        <a:t>Hull </a:t>
                      </a:r>
                      <a:endParaRPr lang="en-GB" sz="1200">
                        <a:latin typeface="Arial" pitchFamily="34"/>
                        <a:ea typeface="Calibri" pitchFamily="34"/>
                        <a:cs typeface="Times New Roman" pitchFamily="18"/>
                      </a:endParaRPr>
                    </a:p>
                  </a:txBody>
                  <a:tcPr marL="68580" marR="68580" marT="0" marB="0" anchor="ctr">
                    <a:solidFill>
                      <a:srgbClr val="E7E6E6"/>
                    </a:solidFill>
                  </a:tcPr>
                </a:tc>
                <a:tc>
                  <a:txBody>
                    <a:bodyPr/>
                    <a:lstStyle/>
                    <a:p>
                      <a:pPr lvl="0">
                        <a:lnSpc>
                          <a:spcPct val="107000"/>
                        </a:lnSpc>
                        <a:spcBef>
                          <a:spcPts val="200"/>
                        </a:spcBef>
                        <a:spcAft>
                          <a:spcPts val="200"/>
                        </a:spcAft>
                      </a:pPr>
                      <a:r>
                        <a:rPr lang="en-GB" sz="1100" dirty="0">
                          <a:latin typeface="Calibri" pitchFamily="34"/>
                          <a:ea typeface="Calibri" pitchFamily="34"/>
                          <a:cs typeface="Times New Roman" pitchFamily="18"/>
                        </a:rPr>
                        <a:t>GB025115188654</a:t>
                      </a:r>
                      <a:endParaRPr lang="en-GB" sz="1200" dirty="0">
                        <a:latin typeface="Arial" pitchFamily="34"/>
                        <a:ea typeface="Calibri" pitchFamily="34"/>
                        <a:cs typeface="Times New Roman" pitchFamily="18"/>
                      </a:endParaRPr>
                    </a:p>
                  </a:txBody>
                  <a:tcPr marL="68580" marR="68580" marT="0" marB="0" anchor="ctr">
                    <a:solidFill>
                      <a:srgbClr val="E7E6E6"/>
                    </a:solidFill>
                  </a:tcPr>
                </a:tc>
                <a:extLst>
                  <a:ext uri="{0D108BD9-81ED-4DB2-BD59-A6C34878D82A}">
                    <a16:rowId xmlns:a16="http://schemas.microsoft.com/office/drawing/2014/main" val="2704574307"/>
                  </a:ext>
                </a:extLst>
              </a:tr>
            </a:tbl>
          </a:graphicData>
        </a:graphic>
      </p:graphicFrame>
      <p:sp>
        <p:nvSpPr>
          <p:cNvPr id="8" name="Rectangle 16">
            <a:extLst>
              <a:ext uri="{FF2B5EF4-FFF2-40B4-BE49-F238E27FC236}">
                <a16:creationId xmlns:a16="http://schemas.microsoft.com/office/drawing/2014/main" id="{76F5605D-E6E3-4868-BE5B-679146F3070F}"/>
              </a:ext>
            </a:extLst>
          </p:cNvPr>
          <p:cNvSpPr/>
          <p:nvPr/>
        </p:nvSpPr>
        <p:spPr>
          <a:xfrm>
            <a:off x="319116" y="819622"/>
            <a:ext cx="4023917"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Exports Controls for Multiple Arrivals or Departures</a:t>
            </a:r>
          </a:p>
        </p:txBody>
      </p:sp>
      <p:sp>
        <p:nvSpPr>
          <p:cNvPr id="9" name="Slide Number Placeholder 5">
            <a:extLst>
              <a:ext uri="{FF2B5EF4-FFF2-40B4-BE49-F238E27FC236}">
                <a16:creationId xmlns:a16="http://schemas.microsoft.com/office/drawing/2014/main" id="{29B914DC-FF00-4ED9-8D8C-73CD1F81DD8A}"/>
              </a:ext>
            </a:extLst>
          </p:cNvPr>
          <p:cNvSpPr txBox="1"/>
          <p:nvPr/>
        </p:nvSpPr>
        <p:spPr>
          <a:xfrm>
            <a:off x="1172739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124F58E-D073-4727-AD5E-4695ED58954C}" type="slidenum">
              <a:rPr sz="1200"/>
              <a:t>39</a:t>
            </a:fld>
            <a:endParaRPr lang="en-GB" sz="1200" b="0" i="0" u="none" strike="noStrike" kern="1200" cap="none" spc="0" baseline="0" dirty="0">
              <a:solidFill>
                <a:srgbClr val="000000"/>
              </a:solidFill>
              <a:uFillTx/>
              <a:latin typeface="Calibri"/>
            </a:endParaRPr>
          </a:p>
        </p:txBody>
      </p:sp>
      <p:sp>
        <p:nvSpPr>
          <p:cNvPr id="10" name="Oval 45">
            <a:hlinkClick r:id="rId3" action="ppaction://hlinksldjump"/>
            <a:extLst>
              <a:ext uri="{FF2B5EF4-FFF2-40B4-BE49-F238E27FC236}">
                <a16:creationId xmlns:a16="http://schemas.microsoft.com/office/drawing/2014/main" id="{930A715A-808B-4D2E-BF31-47815DA8E60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6">
            <a:hlinkClick r:id="rId3" action="ppaction://hlinksldjump"/>
            <a:extLst>
              <a:ext uri="{FF2B5EF4-FFF2-40B4-BE49-F238E27FC236}">
                <a16:creationId xmlns:a16="http://schemas.microsoft.com/office/drawing/2014/main" id="{9EBE6E99-9EE3-480B-9D80-E0FFA58704E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7">
            <a:hlinkClick r:id="rId4" action="ppaction://hlinksldjump"/>
            <a:extLst>
              <a:ext uri="{FF2B5EF4-FFF2-40B4-BE49-F238E27FC236}">
                <a16:creationId xmlns:a16="http://schemas.microsoft.com/office/drawing/2014/main" id="{7662C125-6FAD-4DF3-83DF-49576C32EDCB}"/>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8">
            <a:hlinkClick r:id="rId5" action="ppaction://hlinksldjump"/>
            <a:extLst>
              <a:ext uri="{FF2B5EF4-FFF2-40B4-BE49-F238E27FC236}">
                <a16:creationId xmlns:a16="http://schemas.microsoft.com/office/drawing/2014/main" id="{952FC5FD-B7EC-4307-899C-DAF9FAEFCDF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9">
            <a:hlinkClick r:id="rId3" action="ppaction://hlinksldjump"/>
            <a:extLst>
              <a:ext uri="{FF2B5EF4-FFF2-40B4-BE49-F238E27FC236}">
                <a16:creationId xmlns:a16="http://schemas.microsoft.com/office/drawing/2014/main" id="{BB8BFCB9-98E9-454F-B7B3-12B0B6C2359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50">
            <a:hlinkClick r:id="rId3" action="ppaction://hlinksldjump"/>
            <a:extLst>
              <a:ext uri="{FF2B5EF4-FFF2-40B4-BE49-F238E27FC236}">
                <a16:creationId xmlns:a16="http://schemas.microsoft.com/office/drawing/2014/main" id="{323F36E0-568C-4B3E-BF19-0B0B9C5C9AFB}"/>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51">
            <a:hlinkClick r:id="rId4" action="ppaction://hlinksldjump"/>
            <a:extLst>
              <a:ext uri="{FF2B5EF4-FFF2-40B4-BE49-F238E27FC236}">
                <a16:creationId xmlns:a16="http://schemas.microsoft.com/office/drawing/2014/main" id="{FD004D27-47F9-48D9-A55C-AA601BF91AC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7" name="TextBox 52">
            <a:hlinkClick r:id="rId4" action="ppaction://hlinksldjump"/>
            <a:extLst>
              <a:ext uri="{FF2B5EF4-FFF2-40B4-BE49-F238E27FC236}">
                <a16:creationId xmlns:a16="http://schemas.microsoft.com/office/drawing/2014/main" id="{932725F5-AD24-41E8-A3BF-AD2241F452A2}"/>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8" name="Oval 53">
            <a:extLst>
              <a:ext uri="{FF2B5EF4-FFF2-40B4-BE49-F238E27FC236}">
                <a16:creationId xmlns:a16="http://schemas.microsoft.com/office/drawing/2014/main" id="{6FD8E5BC-59D4-4537-93E9-3663F971767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54">
            <a:hlinkClick r:id="rId6" action="ppaction://hlinksldjump"/>
            <a:extLst>
              <a:ext uri="{FF2B5EF4-FFF2-40B4-BE49-F238E27FC236}">
                <a16:creationId xmlns:a16="http://schemas.microsoft.com/office/drawing/2014/main" id="{6B4F6F4F-D5CF-4C1A-B49D-409FC2BDD96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3" action="ppaction://hlinksldjump"/>
            <a:extLst>
              <a:ext uri="{FF2B5EF4-FFF2-40B4-BE49-F238E27FC236}">
                <a16:creationId xmlns:a16="http://schemas.microsoft.com/office/drawing/2014/main" id="{772E9268-E06F-4B13-9D19-6C4B747E8C8D}"/>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56">
            <a:hlinkClick r:id="rId3" action="ppaction://hlinksldjump"/>
            <a:extLst>
              <a:ext uri="{FF2B5EF4-FFF2-40B4-BE49-F238E27FC236}">
                <a16:creationId xmlns:a16="http://schemas.microsoft.com/office/drawing/2014/main" id="{5F6EF882-E09F-47D0-831C-E875D43CEACA}"/>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Rectangle 27">
            <a:extLst>
              <a:ext uri="{FF2B5EF4-FFF2-40B4-BE49-F238E27FC236}">
                <a16:creationId xmlns:a16="http://schemas.microsoft.com/office/drawing/2014/main" id="{D2523E7F-BD06-4E1F-B6E4-CA35DE7EC180}"/>
              </a:ext>
            </a:extLst>
          </p:cNvPr>
          <p:cNvSpPr/>
          <p:nvPr/>
        </p:nvSpPr>
        <p:spPr>
          <a:xfrm>
            <a:off x="6709830" y="819622"/>
            <a:ext cx="435433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5. Blocking Control Response with Packaging/Type of PK</a:t>
            </a:r>
          </a:p>
        </p:txBody>
      </p:sp>
      <p:graphicFrame>
        <p:nvGraphicFramePr>
          <p:cNvPr id="23" name="Table 18">
            <a:extLst>
              <a:ext uri="{FF2B5EF4-FFF2-40B4-BE49-F238E27FC236}">
                <a16:creationId xmlns:a16="http://schemas.microsoft.com/office/drawing/2014/main" id="{2BC1F236-4340-457A-B4F6-3CC225FE424E}"/>
              </a:ext>
            </a:extLst>
          </p:cNvPr>
          <p:cNvGraphicFramePr>
            <a:graphicFrameLocks noGrp="1"/>
          </p:cNvGraphicFramePr>
          <p:nvPr/>
        </p:nvGraphicFramePr>
        <p:xfrm>
          <a:off x="6774030" y="1171620"/>
          <a:ext cx="5097368" cy="2682240"/>
        </p:xfrm>
        <a:graphic>
          <a:graphicData uri="http://schemas.openxmlformats.org/drawingml/2006/table">
            <a:tbl>
              <a:tblPr firstRow="1" bandRow="1">
                <a:effectLst/>
                <a:tableStyleId>{5C22544A-7EE6-4342-B048-85BDC9FD1C3A}</a:tableStyleId>
              </a:tblPr>
              <a:tblGrid>
                <a:gridCol w="5097368">
                  <a:extLst>
                    <a:ext uri="{9D8B030D-6E8A-4147-A177-3AD203B41FA5}">
                      <a16:colId xmlns:a16="http://schemas.microsoft.com/office/drawing/2014/main" val="1181105750"/>
                    </a:ext>
                  </a:extLst>
                </a:gridCol>
              </a:tblGrid>
              <a:tr h="215258">
                <a:tc>
                  <a:txBody>
                    <a:bodyPr/>
                    <a:lstStyle/>
                    <a:p>
                      <a:pPr lvl="0"/>
                      <a:r>
                        <a:rPr lang="en-GB" sz="1200"/>
                        <a:t>Specific External Test Behaviour</a:t>
                      </a:r>
                    </a:p>
                  </a:txBody>
                  <a:tcPr anchor="ctr">
                    <a:solidFill>
                      <a:srgbClr val="4472C4"/>
                    </a:solidFill>
                  </a:tcPr>
                </a:tc>
                <a:extLst>
                  <a:ext uri="{0D108BD9-81ED-4DB2-BD59-A6C34878D82A}">
                    <a16:rowId xmlns:a16="http://schemas.microsoft.com/office/drawing/2014/main" val="1932417483"/>
                  </a:ext>
                </a:extLst>
              </a:tr>
              <a:tr h="1276977">
                <a:tc>
                  <a:txBody>
                    <a:bodyPr/>
                    <a:lstStyle/>
                    <a:p>
                      <a:pPr lvl="0">
                        <a:spcAft>
                          <a:spcPts val="600"/>
                        </a:spcAft>
                      </a:pPr>
                      <a:r>
                        <a:rPr lang="en-GB" sz="1100" dirty="0"/>
                        <a:t>For both imports and exports, to trigger a blocking and final control response, simulating the seizure, detention, or destruction of goods by HMRC:</a:t>
                      </a:r>
                    </a:p>
                    <a:p>
                      <a:pPr marL="228600" lvl="0" indent="-228600">
                        <a:spcAft>
                          <a:spcPts val="600"/>
                        </a:spcAft>
                        <a:buSzPct val="100000"/>
                        <a:buFont typeface="+mj-lt"/>
                        <a:buAutoNum type="arabicPeriod"/>
                      </a:pPr>
                      <a:r>
                        <a:rPr lang="en-GB" sz="1100" dirty="0"/>
                        <a:t>Declarations in External Test should include </a:t>
                      </a:r>
                      <a:r>
                        <a:rPr lang="en-GB" sz="1100" b="1" dirty="0"/>
                        <a:t>Packaging/Type (DE 6/9) of the first goods item of ‘PK’ </a:t>
                      </a:r>
                      <a:r>
                        <a:rPr lang="en-GB" sz="1100" dirty="0"/>
                        <a:t>alongside the </a:t>
                      </a:r>
                      <a:r>
                        <a:rPr lang="en-GB" sz="1100" b="1" dirty="0"/>
                        <a:t>‘trigger word’</a:t>
                      </a:r>
                      <a:r>
                        <a:rPr lang="en-GB" sz="1100" dirty="0"/>
                        <a:t> for initiating the control task in the Goods Description (DE 6/8).</a:t>
                      </a:r>
                    </a:p>
                    <a:p>
                      <a:pPr marL="228600" lvl="0" indent="-228600">
                        <a:spcAft>
                          <a:spcPts val="600"/>
                        </a:spcAft>
                        <a:buSzPct val="100000"/>
                        <a:buFont typeface="+mj-lt"/>
                        <a:buAutoNum type="arabicPeriod"/>
                      </a:pPr>
                      <a:r>
                        <a:rPr lang="en-GB" sz="1100" dirty="0"/>
                        <a:t>When Packaging/Type ‘PK’ has been entered on the declaration, a task will be raised to invalidate the declaration which must be </a:t>
                      </a:r>
                      <a:r>
                        <a:rPr lang="en-GB" sz="1100" b="1" dirty="0"/>
                        <a:t>actioned by HMRC</a:t>
                      </a:r>
                      <a:r>
                        <a:rPr lang="en-GB" sz="1100" dirty="0"/>
                        <a:t>. </a:t>
                      </a:r>
                    </a:p>
                    <a:p>
                      <a:pPr marL="228600" lvl="0" indent="-228600">
                        <a:spcAft>
                          <a:spcPts val="600"/>
                        </a:spcAft>
                        <a:buSzPct val="100000"/>
                        <a:buFont typeface="+mj-lt"/>
                        <a:buAutoNum type="arabicPeriod"/>
                      </a:pPr>
                      <a:r>
                        <a:rPr lang="en-GB" sz="1100" dirty="0"/>
                        <a:t>The declaration will be invalidated by HMRC and the </a:t>
                      </a:r>
                      <a:r>
                        <a:rPr lang="en-GB" sz="1100" b="1" dirty="0"/>
                        <a:t>DMSINV notification </a:t>
                      </a:r>
                      <a:r>
                        <a:rPr lang="en-GB" sz="1100" dirty="0"/>
                        <a:t>will include ‘seized’ in the free text reason field.</a:t>
                      </a:r>
                    </a:p>
                    <a:p>
                      <a:pPr lvl="0"/>
                      <a:r>
                        <a:rPr lang="en-GB" sz="1100" dirty="0"/>
                        <a:t>For all other values in Packaging/Type (DE 6/9), the automated controls process in External Test will resolve the control task and the declaration will continue to progress.</a:t>
                      </a:r>
                    </a:p>
                  </a:txBody>
                  <a:tcPr>
                    <a:solidFill>
                      <a:srgbClr val="F2F2F2"/>
                    </a:solidFill>
                  </a:tcPr>
                </a:tc>
                <a:extLst>
                  <a:ext uri="{0D108BD9-81ED-4DB2-BD59-A6C34878D82A}">
                    <a16:rowId xmlns:a16="http://schemas.microsoft.com/office/drawing/2014/main" val="2660863775"/>
                  </a:ext>
                </a:extLst>
              </a:tr>
            </a:tbl>
          </a:graphicData>
        </a:graphic>
      </p:graphicFrame>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838840302">
    <p:spTree>
      <p:nvGrpSpPr>
        <p:cNvPr id="1" name=""/>
        <p:cNvGrpSpPr/>
        <p:nvPr/>
      </p:nvGrpSpPr>
      <p:grpSpPr>
        <a:xfrm>
          <a:off x="0" y="0"/>
          <a:ext cx="0" cy="0"/>
          <a:chOff x="0" y="0"/>
          <a:chExt cx="0" cy="0"/>
        </a:xfrm>
      </p:grpSpPr>
      <p:cxnSp>
        <p:nvCxnSpPr>
          <p:cNvPr id="3" name="Straight Connector 9">
            <a:extLst>
              <a:ext uri="{FF2B5EF4-FFF2-40B4-BE49-F238E27FC236}">
                <a16:creationId xmlns:a16="http://schemas.microsoft.com/office/drawing/2014/main" id="{1BAB59E6-E979-4747-870B-E90F557B1DB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3D778592-C5FE-4AF0-A581-06521091651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456D7457-1166-467C-B34B-DB3508B2448C}"/>
              </a:ext>
            </a:extLst>
          </p:cNvPr>
          <p:cNvSpPr txBox="1"/>
          <p:nvPr/>
        </p:nvSpPr>
        <p:spPr>
          <a:xfrm>
            <a:off x="363967" y="248844"/>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6" name="Rectangle 12">
            <a:extLst>
              <a:ext uri="{FF2B5EF4-FFF2-40B4-BE49-F238E27FC236}">
                <a16:creationId xmlns:a16="http://schemas.microsoft.com/office/drawing/2014/main" id="{FEF55D24-7FE3-49F1-8F27-2C6F523FBDF1}"/>
              </a:ext>
            </a:extLst>
          </p:cNvPr>
          <p:cNvSpPr/>
          <p:nvPr/>
        </p:nvSpPr>
        <p:spPr>
          <a:xfrm>
            <a:off x="363967" y="824624"/>
            <a:ext cx="3340083"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Delaying the Automated Control Response</a:t>
            </a:r>
          </a:p>
        </p:txBody>
      </p:sp>
      <p:graphicFrame>
        <p:nvGraphicFramePr>
          <p:cNvPr id="7" name="Table 20">
            <a:extLst>
              <a:ext uri="{FF2B5EF4-FFF2-40B4-BE49-F238E27FC236}">
                <a16:creationId xmlns:a16="http://schemas.microsoft.com/office/drawing/2014/main" id="{65902102-3E12-428C-9840-2FA2A3EAFEC0}"/>
              </a:ext>
            </a:extLst>
          </p:cNvPr>
          <p:cNvGraphicFramePr>
            <a:graphicFrameLocks noGrp="1"/>
          </p:cNvGraphicFramePr>
          <p:nvPr/>
        </p:nvGraphicFramePr>
        <p:xfrm>
          <a:off x="419700" y="1161754"/>
          <a:ext cx="5433950" cy="2621280"/>
        </p:xfrm>
        <a:graphic>
          <a:graphicData uri="http://schemas.openxmlformats.org/drawingml/2006/table">
            <a:tbl>
              <a:tblPr firstRow="1" bandRow="1">
                <a:effectLst/>
                <a:tableStyleId>{5C22544A-7EE6-4342-B048-85BDC9FD1C3A}</a:tableStyleId>
              </a:tblPr>
              <a:tblGrid>
                <a:gridCol w="5433950">
                  <a:extLst>
                    <a:ext uri="{9D8B030D-6E8A-4147-A177-3AD203B41FA5}">
                      <a16:colId xmlns:a16="http://schemas.microsoft.com/office/drawing/2014/main" val="103061790"/>
                    </a:ext>
                  </a:extLst>
                </a:gridCol>
              </a:tblGrid>
              <a:tr h="247491">
                <a:tc>
                  <a:txBody>
                    <a:bodyPr/>
                    <a:lstStyle/>
                    <a:p>
                      <a:pPr lvl="0"/>
                      <a:r>
                        <a:rPr lang="en-GB" sz="1200"/>
                        <a:t>External Test Scope</a:t>
                      </a:r>
                    </a:p>
                  </a:txBody>
                  <a:tcPr anchor="ctr">
                    <a:solidFill>
                      <a:srgbClr val="009999"/>
                    </a:solidFill>
                  </a:tcPr>
                </a:tc>
                <a:extLst>
                  <a:ext uri="{0D108BD9-81ED-4DB2-BD59-A6C34878D82A}">
                    <a16:rowId xmlns:a16="http://schemas.microsoft.com/office/drawing/2014/main" val="566605227"/>
                  </a:ext>
                </a:extLst>
              </a:tr>
              <a:tr h="1627321">
                <a:tc>
                  <a:txBody>
                    <a:bodyPr/>
                    <a:lstStyle/>
                    <a:p>
                      <a:pPr lvl="0">
                        <a:spcAft>
                          <a:spcPts val="600"/>
                        </a:spcAft>
                      </a:pPr>
                      <a:r>
                        <a:rPr lang="en-GB" sz="1100" dirty="0"/>
                        <a:t>As the CDS External Test automated controls solution responds immediately, it prevents the testing of certain scenarios which would occur during the period where a control task is under review by a case worker in Production. The scenarios are:</a:t>
                      </a:r>
                    </a:p>
                    <a:p>
                      <a:pPr marL="171450" lvl="0" indent="-171450">
                        <a:buSzPct val="100000"/>
                        <a:buFont typeface="Arial" pitchFamily="34"/>
                        <a:buChar char="•"/>
                      </a:pPr>
                      <a:r>
                        <a:rPr lang="en-GB" sz="1100" dirty="0"/>
                        <a:t>Attempt by the declarant to invalidate a frontier declaration with an open blocking control</a:t>
                      </a:r>
                    </a:p>
                    <a:p>
                      <a:pPr marL="171450" lvl="0" indent="-171450">
                        <a:buSzPct val="100000"/>
                        <a:buFont typeface="Arial" pitchFamily="34"/>
                        <a:buChar char="•"/>
                      </a:pPr>
                      <a:r>
                        <a:rPr lang="en-GB" sz="1100" dirty="0"/>
                        <a:t>Attempt to depart an Exports declaration where there is an open blocking control, either from the same location or where the consignment has been arrived at multiple locations</a:t>
                      </a:r>
                    </a:p>
                    <a:p>
                      <a:pPr marL="171450" lvl="0" indent="-171450">
                        <a:buSzPct val="100000"/>
                        <a:buFont typeface="Arial" pitchFamily="34"/>
                        <a:buChar char="•"/>
                      </a:pPr>
                      <a:r>
                        <a:rPr lang="en-GB" sz="1100" dirty="0">
                          <a:solidFill>
                            <a:srgbClr val="000000"/>
                          </a:solidFill>
                        </a:rPr>
                        <a:t>Amendment of declaration under control to override the duty calculation and add a security and remove an item that is not under control so that it can be processed under a separate declaration </a:t>
                      </a:r>
                    </a:p>
                    <a:p>
                      <a:pPr marL="0" lvl="0" indent="0">
                        <a:buNone/>
                      </a:pPr>
                      <a:endParaRPr lang="en-GB" sz="1100" dirty="0">
                        <a:solidFill>
                          <a:srgbClr val="000000"/>
                        </a:solidFill>
                      </a:endParaRPr>
                    </a:p>
                    <a:p>
                      <a:pPr marL="0" lvl="0" indent="0">
                        <a:buNone/>
                      </a:pPr>
                      <a:r>
                        <a:rPr lang="en-GB" sz="1100" dirty="0">
                          <a:solidFill>
                            <a:srgbClr val="000000"/>
                          </a:solidFill>
                        </a:rPr>
                        <a:t>To test these scenarios, TT users should follow the process outlined in the grey box below to request HMRC support.</a:t>
                      </a:r>
                    </a:p>
                  </a:txBody>
                  <a:tcPr>
                    <a:solidFill>
                      <a:srgbClr val="F2F2F2"/>
                    </a:solidFill>
                  </a:tcPr>
                </a:tc>
                <a:extLst>
                  <a:ext uri="{0D108BD9-81ED-4DB2-BD59-A6C34878D82A}">
                    <a16:rowId xmlns:a16="http://schemas.microsoft.com/office/drawing/2014/main" val="3208983291"/>
                  </a:ext>
                </a:extLst>
              </a:tr>
            </a:tbl>
          </a:graphicData>
        </a:graphic>
      </p:graphicFrame>
      <p:graphicFrame>
        <p:nvGraphicFramePr>
          <p:cNvPr id="8" name="Table 1">
            <a:extLst>
              <a:ext uri="{FF2B5EF4-FFF2-40B4-BE49-F238E27FC236}">
                <a16:creationId xmlns:a16="http://schemas.microsoft.com/office/drawing/2014/main" id="{3DCD1DA1-3C07-44F1-8825-561E32DC61A6}"/>
              </a:ext>
            </a:extLst>
          </p:cNvPr>
          <p:cNvGraphicFramePr>
            <a:graphicFrameLocks noGrp="1"/>
          </p:cNvGraphicFramePr>
          <p:nvPr>
            <p:extLst>
              <p:ext uri="{D42A27DB-BD31-4B8C-83A1-F6EECF244321}">
                <p14:modId xmlns:p14="http://schemas.microsoft.com/office/powerpoint/2010/main" val="2782966706"/>
              </p:ext>
            </p:extLst>
          </p:nvPr>
        </p:nvGraphicFramePr>
        <p:xfrm>
          <a:off x="428167" y="3883392"/>
          <a:ext cx="11497025" cy="1767840"/>
        </p:xfrm>
        <a:graphic>
          <a:graphicData uri="http://schemas.openxmlformats.org/drawingml/2006/table">
            <a:tbl>
              <a:tblPr firstRow="1" bandRow="1">
                <a:effectLst/>
                <a:tableStyleId>{5C22544A-7EE6-4342-B048-85BDC9FD1C3A}</a:tableStyleId>
              </a:tblPr>
              <a:tblGrid>
                <a:gridCol w="11497025">
                  <a:extLst>
                    <a:ext uri="{9D8B030D-6E8A-4147-A177-3AD203B41FA5}">
                      <a16:colId xmlns:a16="http://schemas.microsoft.com/office/drawing/2014/main" val="519272156"/>
                    </a:ext>
                  </a:extLst>
                </a:gridCol>
              </a:tblGrid>
              <a:tr h="0">
                <a:tc>
                  <a:txBody>
                    <a:bodyPr/>
                    <a:lstStyle/>
                    <a:p>
                      <a:pPr lvl="0"/>
                      <a:r>
                        <a:rPr lang="en-GB" sz="1200" dirty="0"/>
                        <a:t>Requesting HMRC Support for Testing Controls Scenarios</a:t>
                      </a:r>
                    </a:p>
                  </a:txBody>
                  <a:tcPr anchor="ctr">
                    <a:solidFill>
                      <a:srgbClr val="7F7F7F"/>
                    </a:solidFill>
                  </a:tcPr>
                </a:tc>
                <a:extLst>
                  <a:ext uri="{0D108BD9-81ED-4DB2-BD59-A6C34878D82A}">
                    <a16:rowId xmlns:a16="http://schemas.microsoft.com/office/drawing/2014/main" val="2028766045"/>
                  </a:ext>
                </a:extLst>
              </a:tr>
              <a:tr h="405572">
                <a:tc>
                  <a:txBody>
                    <a:bodyPr/>
                    <a:lstStyle/>
                    <a:p>
                      <a:pPr lvl="0">
                        <a:spcAft>
                          <a:spcPts val="600"/>
                        </a:spcAft>
                      </a:pPr>
                      <a:r>
                        <a:rPr lang="en-GB" sz="1100" dirty="0">
                          <a:solidFill>
                            <a:schemeClr val="tx1"/>
                          </a:solidFill>
                        </a:rPr>
                        <a:t>‘Pre-booking' a window is now no longer required. </a:t>
                      </a:r>
                    </a:p>
                    <a:p>
                      <a:pPr lvl="0">
                        <a:spcAft>
                          <a:spcPts val="600"/>
                        </a:spcAft>
                      </a:pPr>
                      <a:r>
                        <a:rPr lang="en-GB" sz="1100" dirty="0">
                          <a:solidFill>
                            <a:schemeClr val="tx1"/>
                          </a:solidFill>
                        </a:rPr>
                        <a:t>Most simulated controls can be triggered on-demand by specifying the relevant trigger words in your payload. Where a Packaging / Type ‘PK’ has been declared, the controls will not be automatically resolved. This will enable to testing of control scenarios which require a delayed resolution, such as attempting to depart an exports declaration where there is an open blocking control. </a:t>
                      </a:r>
                    </a:p>
                    <a:p>
                      <a:pPr lvl="0">
                        <a:spcAft>
                          <a:spcPts val="600"/>
                        </a:spcAft>
                      </a:pPr>
                      <a:r>
                        <a:rPr lang="en-GB" sz="1100" dirty="0">
                          <a:solidFill>
                            <a:schemeClr val="tx1"/>
                          </a:solidFill>
                        </a:rPr>
                        <a:t>Rather than requesting a test window where these control tasks would be processed </a:t>
                      </a:r>
                      <a:r>
                        <a:rPr lang="en-GB" sz="1100" dirty="0" err="1">
                          <a:solidFill>
                            <a:schemeClr val="tx1"/>
                          </a:solidFill>
                        </a:rPr>
                        <a:t>en</a:t>
                      </a:r>
                      <a:r>
                        <a:rPr lang="en-GB" sz="1100" dirty="0">
                          <a:solidFill>
                            <a:schemeClr val="tx1"/>
                          </a:solidFill>
                        </a:rPr>
                        <a:t>-masse, SDST will now process these on behalf of our CDS development community on an ad-hoc basis. CSPs will need to email </a:t>
                      </a:r>
                      <a:r>
                        <a:rPr lang="en-GB" sz="1100" dirty="0">
                          <a:solidFill>
                            <a:schemeClr val="tx1"/>
                          </a:solidFill>
                          <a:hlinkClick r:id="rId3"/>
                        </a:rPr>
                        <a:t>SDSTeam@hmrc.gov.uk</a:t>
                      </a:r>
                      <a:r>
                        <a:rPr lang="en-GB" sz="1100" dirty="0">
                          <a:solidFill>
                            <a:schemeClr val="tx1"/>
                          </a:solidFill>
                        </a:rPr>
                        <a:t> when they have submitted any declarations with a Packaging/Type 'PK' which require manual processing. When submitting a request, they will need to provide MRNs and actions for SDST to perform.</a:t>
                      </a:r>
                    </a:p>
                    <a:p>
                      <a:pPr lvl="0">
                        <a:spcAft>
                          <a:spcPts val="600"/>
                        </a:spcAft>
                      </a:pPr>
                      <a:r>
                        <a:rPr lang="en-GB" sz="1100" dirty="0">
                          <a:solidFill>
                            <a:schemeClr val="tx1"/>
                          </a:solidFill>
                        </a:rPr>
                        <a:t>Please also be aware that resolution times may vary depending on workload, but we expect to be able to resolve most requests within two working days.</a:t>
                      </a:r>
                    </a:p>
                  </a:txBody>
                  <a:tcPr anchor="ctr">
                    <a:solidFill>
                      <a:srgbClr val="F2F2F2"/>
                    </a:solidFill>
                  </a:tcPr>
                </a:tc>
                <a:extLst>
                  <a:ext uri="{0D108BD9-81ED-4DB2-BD59-A6C34878D82A}">
                    <a16:rowId xmlns:a16="http://schemas.microsoft.com/office/drawing/2014/main" val="2466518589"/>
                  </a:ext>
                </a:extLst>
              </a:tr>
            </a:tbl>
          </a:graphicData>
        </a:graphic>
      </p:graphicFrame>
      <p:sp>
        <p:nvSpPr>
          <p:cNvPr id="9" name="Slide Number Placeholder 5">
            <a:extLst>
              <a:ext uri="{FF2B5EF4-FFF2-40B4-BE49-F238E27FC236}">
                <a16:creationId xmlns:a16="http://schemas.microsoft.com/office/drawing/2014/main" id="{6477758F-392F-4A72-8899-CE3634034B10}"/>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0AF3DDF-FB46-48B0-A5C1-D0F99D49BD2D}" type="slidenum">
              <a:rPr sz="1200"/>
              <a:t>40</a:t>
            </a:fld>
            <a:endParaRPr lang="en-GB" sz="1200" b="0" i="0" u="none" strike="noStrike" kern="1200" cap="none" spc="0" baseline="0">
              <a:solidFill>
                <a:srgbClr val="000000"/>
              </a:solidFill>
              <a:uFillTx/>
              <a:latin typeface="Calibri"/>
            </a:endParaRPr>
          </a:p>
        </p:txBody>
      </p:sp>
      <p:sp>
        <p:nvSpPr>
          <p:cNvPr id="10" name="Oval 43">
            <a:hlinkClick r:id="rId4" action="ppaction://hlinksldjump"/>
            <a:extLst>
              <a:ext uri="{FF2B5EF4-FFF2-40B4-BE49-F238E27FC236}">
                <a16:creationId xmlns:a16="http://schemas.microsoft.com/office/drawing/2014/main" id="{2A98B0BC-F3B6-437D-9CC4-ADFD39E50FE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4">
            <a:hlinkClick r:id="rId4" action="ppaction://hlinksldjump"/>
            <a:extLst>
              <a:ext uri="{FF2B5EF4-FFF2-40B4-BE49-F238E27FC236}">
                <a16:creationId xmlns:a16="http://schemas.microsoft.com/office/drawing/2014/main" id="{1B3D376A-0009-47E3-A995-33D00C5A2A7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5">
            <a:hlinkClick r:id="rId5" action="ppaction://hlinksldjump"/>
            <a:extLst>
              <a:ext uri="{FF2B5EF4-FFF2-40B4-BE49-F238E27FC236}">
                <a16:creationId xmlns:a16="http://schemas.microsoft.com/office/drawing/2014/main" id="{3CD61F89-4935-474E-8FE8-A1CE89688AE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6">
            <a:hlinkClick r:id="rId6" action="ppaction://hlinksldjump"/>
            <a:extLst>
              <a:ext uri="{FF2B5EF4-FFF2-40B4-BE49-F238E27FC236}">
                <a16:creationId xmlns:a16="http://schemas.microsoft.com/office/drawing/2014/main" id="{98AFF41B-6A01-4EA7-9452-89BDE64A8F8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7">
            <a:hlinkClick r:id="rId4" action="ppaction://hlinksldjump"/>
            <a:extLst>
              <a:ext uri="{FF2B5EF4-FFF2-40B4-BE49-F238E27FC236}">
                <a16:creationId xmlns:a16="http://schemas.microsoft.com/office/drawing/2014/main" id="{CD39F9F1-F81C-43D0-A511-479DAF08770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8">
            <a:hlinkClick r:id="rId4" action="ppaction://hlinksldjump"/>
            <a:extLst>
              <a:ext uri="{FF2B5EF4-FFF2-40B4-BE49-F238E27FC236}">
                <a16:creationId xmlns:a16="http://schemas.microsoft.com/office/drawing/2014/main" id="{EA43DE75-A266-4CD9-B1BF-6C657FF7F317}"/>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49">
            <a:hlinkClick r:id="rId5" action="ppaction://hlinksldjump"/>
            <a:extLst>
              <a:ext uri="{FF2B5EF4-FFF2-40B4-BE49-F238E27FC236}">
                <a16:creationId xmlns:a16="http://schemas.microsoft.com/office/drawing/2014/main" id="{2E88DB0B-491C-4535-BAC7-83D9934DF71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7" name="TextBox 50">
            <a:hlinkClick r:id="rId5" action="ppaction://hlinksldjump"/>
            <a:extLst>
              <a:ext uri="{FF2B5EF4-FFF2-40B4-BE49-F238E27FC236}">
                <a16:creationId xmlns:a16="http://schemas.microsoft.com/office/drawing/2014/main" id="{3D4FFC2D-ACB1-421F-AF6C-CB8B9A628C0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8" name="Oval 51">
            <a:extLst>
              <a:ext uri="{FF2B5EF4-FFF2-40B4-BE49-F238E27FC236}">
                <a16:creationId xmlns:a16="http://schemas.microsoft.com/office/drawing/2014/main" id="{F0C6339B-6365-4A9E-912A-6D0F926B8EA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52">
            <a:hlinkClick r:id="rId7" action="ppaction://hlinksldjump"/>
            <a:extLst>
              <a:ext uri="{FF2B5EF4-FFF2-40B4-BE49-F238E27FC236}">
                <a16:creationId xmlns:a16="http://schemas.microsoft.com/office/drawing/2014/main" id="{63559561-510F-47A6-AF61-D57000A8F952}"/>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4" action="ppaction://hlinksldjump"/>
            <a:extLst>
              <a:ext uri="{FF2B5EF4-FFF2-40B4-BE49-F238E27FC236}">
                <a16:creationId xmlns:a16="http://schemas.microsoft.com/office/drawing/2014/main" id="{1A95F491-A185-462A-AB5D-30353A1B8EDE}"/>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54">
            <a:hlinkClick r:id="rId4" action="ppaction://hlinksldjump"/>
            <a:extLst>
              <a:ext uri="{FF2B5EF4-FFF2-40B4-BE49-F238E27FC236}">
                <a16:creationId xmlns:a16="http://schemas.microsoft.com/office/drawing/2014/main" id="{5CE7A101-8789-484D-A4D3-7A87C6D50EE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2" name="Table 1">
            <a:extLst>
              <a:ext uri="{FF2B5EF4-FFF2-40B4-BE49-F238E27FC236}">
                <a16:creationId xmlns:a16="http://schemas.microsoft.com/office/drawing/2014/main" id="{9DF8247E-E1EF-44FB-B902-1FAA47AC62DF}"/>
              </a:ext>
            </a:extLst>
          </p:cNvPr>
          <p:cNvGraphicFramePr>
            <a:graphicFrameLocks noGrp="1"/>
          </p:cNvGraphicFramePr>
          <p:nvPr>
            <p:extLst>
              <p:ext uri="{D42A27DB-BD31-4B8C-83A1-F6EECF244321}">
                <p14:modId xmlns:p14="http://schemas.microsoft.com/office/powerpoint/2010/main" val="403140840"/>
              </p:ext>
            </p:extLst>
          </p:nvPr>
        </p:nvGraphicFramePr>
        <p:xfrm>
          <a:off x="5928777" y="1161745"/>
          <a:ext cx="5987290" cy="2621273"/>
        </p:xfrm>
        <a:graphic>
          <a:graphicData uri="http://schemas.openxmlformats.org/drawingml/2006/table">
            <a:tbl>
              <a:tblPr firstRow="1" bandRow="1">
                <a:effectLst/>
                <a:tableStyleId>{5C22544A-7EE6-4342-B048-85BDC9FD1C3A}</a:tableStyleId>
              </a:tblPr>
              <a:tblGrid>
                <a:gridCol w="5987290">
                  <a:extLst>
                    <a:ext uri="{9D8B030D-6E8A-4147-A177-3AD203B41FA5}">
                      <a16:colId xmlns:a16="http://schemas.microsoft.com/office/drawing/2014/main" val="693020319"/>
                    </a:ext>
                  </a:extLst>
                </a:gridCol>
              </a:tblGrid>
              <a:tr h="280848">
                <a:tc>
                  <a:txBody>
                    <a:bodyPr/>
                    <a:lstStyle/>
                    <a:p>
                      <a:pPr lvl="0"/>
                      <a:r>
                        <a:rPr lang="en-GB" sz="1200"/>
                        <a:t>Specific External Test Behaviour</a:t>
                      </a:r>
                    </a:p>
                  </a:txBody>
                  <a:tcPr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3808997979"/>
                  </a:ext>
                </a:extLst>
              </a:tr>
              <a:tr h="2340425">
                <a:tc>
                  <a:txBody>
                    <a:bodyPr/>
                    <a:lstStyle/>
                    <a:p>
                      <a:pPr lvl="0"/>
                      <a:r>
                        <a:rPr lang="en-GB" sz="1200" b="1" dirty="0"/>
                        <a:t>Adding a Security to a Declaration and Removing a Goods Item Following a Control Task</a:t>
                      </a:r>
                      <a:endParaRPr lang="en-GB" sz="1200" dirty="0"/>
                    </a:p>
                    <a:p>
                      <a:pPr lvl="0"/>
                      <a:r>
                        <a:rPr lang="en-GB" sz="1200" dirty="0"/>
                        <a:t>In order to test this Controls scenario in TT and TDR, users must request HMRC support via the SDST team.</a:t>
                      </a:r>
                    </a:p>
                    <a:p>
                      <a:pPr lvl="0"/>
                      <a:endParaRPr lang="en-GB" sz="1200" dirty="0"/>
                    </a:p>
                    <a:p>
                      <a:pPr lvl="0"/>
                      <a:r>
                        <a:rPr lang="en-GB" sz="1200" dirty="0"/>
                        <a:t>Users should submit their declaration with the relevant control ‘trigger word’ declared against the ‘non-compliant’ goods item. Users will then be able to submit an amended declaration with the manual override code ‘UVC01’ in D.E. 2/2 and </a:t>
                      </a:r>
                      <a:r>
                        <a:rPr lang="en-GB" sz="1200" dirty="0">
                          <a:solidFill>
                            <a:srgbClr val="000000"/>
                          </a:solidFill>
                        </a:rPr>
                        <a:t>MOP code in D.E. 4/8 of “M”, “N”, “R”, “S”, “T”, “U” or “V” in order to add a security. Users may also remove any ‘compliant’ goods items from the declaration that do not have a control ‘trigger word’ against them, whilst the non-compliant items must remain. Once the security has been added, the amended declaration can be cleared manually by SDST on request, as explained below.</a:t>
                      </a:r>
                      <a:endParaRPr lang="en-GB" sz="1200" dirty="0"/>
                    </a:p>
                  </a:txBody>
                  <a:tcP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639882197"/>
                  </a:ext>
                </a:extLst>
              </a:tr>
            </a:tbl>
          </a:graphicData>
        </a:graphic>
      </p:graphicFrame>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22">
            <a:extLst>
              <a:ext uri="{FF2B5EF4-FFF2-40B4-BE49-F238E27FC236}">
                <a16:creationId xmlns:a16="http://schemas.microsoft.com/office/drawing/2014/main" id="{3DDAF7FA-C219-299F-1BD9-EC6B7DF9D7AE}"/>
              </a:ext>
            </a:extLst>
          </p:cNvPr>
          <p:cNvGraphicFramePr>
            <a:graphicFrameLocks noGrp="1"/>
          </p:cNvGraphicFramePr>
          <p:nvPr/>
        </p:nvGraphicFramePr>
        <p:xfrm>
          <a:off x="367200" y="1184400"/>
          <a:ext cx="11058164" cy="5080000"/>
        </p:xfrm>
        <a:graphic>
          <a:graphicData uri="http://schemas.openxmlformats.org/drawingml/2006/table">
            <a:tbl>
              <a:tblPr firstRow="1" bandRow="1">
                <a:tableStyleId>{5C22544A-7EE6-4342-B048-85BDC9FD1C3A}</a:tableStyleId>
              </a:tblPr>
              <a:tblGrid>
                <a:gridCol w="339022">
                  <a:extLst>
                    <a:ext uri="{9D8B030D-6E8A-4147-A177-3AD203B41FA5}">
                      <a16:colId xmlns:a16="http://schemas.microsoft.com/office/drawing/2014/main" val="2352989780"/>
                    </a:ext>
                  </a:extLst>
                </a:gridCol>
                <a:gridCol w="1800000">
                  <a:extLst>
                    <a:ext uri="{9D8B030D-6E8A-4147-A177-3AD203B41FA5}">
                      <a16:colId xmlns:a16="http://schemas.microsoft.com/office/drawing/2014/main" val="3382480719"/>
                    </a:ext>
                  </a:extLst>
                </a:gridCol>
                <a:gridCol w="1152000">
                  <a:extLst>
                    <a:ext uri="{9D8B030D-6E8A-4147-A177-3AD203B41FA5}">
                      <a16:colId xmlns:a16="http://schemas.microsoft.com/office/drawing/2014/main" val="770876181"/>
                    </a:ext>
                  </a:extLst>
                </a:gridCol>
                <a:gridCol w="1562918">
                  <a:extLst>
                    <a:ext uri="{9D8B030D-6E8A-4147-A177-3AD203B41FA5}">
                      <a16:colId xmlns:a16="http://schemas.microsoft.com/office/drawing/2014/main" val="712826819"/>
                    </a:ext>
                  </a:extLst>
                </a:gridCol>
                <a:gridCol w="711965">
                  <a:extLst>
                    <a:ext uri="{9D8B030D-6E8A-4147-A177-3AD203B41FA5}">
                      <a16:colId xmlns:a16="http://schemas.microsoft.com/office/drawing/2014/main" val="2204335785"/>
                    </a:ext>
                  </a:extLst>
                </a:gridCol>
                <a:gridCol w="1729053">
                  <a:extLst>
                    <a:ext uri="{9D8B030D-6E8A-4147-A177-3AD203B41FA5}">
                      <a16:colId xmlns:a16="http://schemas.microsoft.com/office/drawing/2014/main" val="2175408792"/>
                    </a:ext>
                  </a:extLst>
                </a:gridCol>
                <a:gridCol w="1390008">
                  <a:extLst>
                    <a:ext uri="{9D8B030D-6E8A-4147-A177-3AD203B41FA5}">
                      <a16:colId xmlns:a16="http://schemas.microsoft.com/office/drawing/2014/main" val="3857972927"/>
                    </a:ext>
                  </a:extLst>
                </a:gridCol>
                <a:gridCol w="2373198">
                  <a:extLst>
                    <a:ext uri="{9D8B030D-6E8A-4147-A177-3AD203B41FA5}">
                      <a16:colId xmlns:a16="http://schemas.microsoft.com/office/drawing/2014/main" val="2470573502"/>
                    </a:ext>
                  </a:extLst>
                </a:gridCol>
              </a:tblGrid>
              <a:tr h="288000">
                <a:tc>
                  <a:txBody>
                    <a:bodyPr/>
                    <a:lstStyle/>
                    <a:p>
                      <a:pPr algn="ctr" fontAlgn="t"/>
                      <a:r>
                        <a:rPr lang="en-GB" sz="1100" b="1" i="0" u="none" strike="noStrike" dirty="0">
                          <a:solidFill>
                            <a:schemeClr val="bg1"/>
                          </a:solidFill>
                          <a:effectLst/>
                          <a:latin typeface="Calibri" panose="020F0502020204030204" pitchFamily="34" charset="0"/>
                        </a:rPr>
                        <a:t>Id</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Scenario / Test Case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Developer Type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Recommended Keyword</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Package Type to use</a:t>
                      </a:r>
                    </a:p>
                  </a:txBody>
                  <a:tcPr marL="6350" marR="6350" marT="6350" marB="0" anchor="ctr"/>
                </a:tc>
                <a:tc>
                  <a:txBody>
                    <a:bodyPr/>
                    <a:lstStyle/>
                    <a:p>
                      <a:pPr algn="ctr" fontAlgn="t"/>
                      <a:r>
                        <a:rPr lang="en-GB" sz="1100" b="1" i="0" u="none" strike="noStrike">
                          <a:solidFill>
                            <a:schemeClr val="bg1"/>
                          </a:solidFill>
                          <a:effectLst/>
                          <a:latin typeface="Calibri" panose="020F0502020204030204" pitchFamily="34" charset="0"/>
                        </a:rPr>
                        <a:t>Instructions</a:t>
                      </a:r>
                    </a:p>
                  </a:txBody>
                  <a:tcPr marL="6350" marR="6350" marT="6350" marB="0" anchor="ctr"/>
                </a:tc>
                <a:tc>
                  <a:txBody>
                    <a:bodyPr/>
                    <a:lstStyle/>
                    <a:p>
                      <a:pPr algn="ctr" fontAlgn="t"/>
                      <a:r>
                        <a:rPr lang="en-GB" sz="1100" b="1" i="0" u="none" strike="noStrike">
                          <a:solidFill>
                            <a:schemeClr val="bg1"/>
                          </a:solidFill>
                          <a:effectLst/>
                          <a:latin typeface="Calibri" panose="020F0502020204030204" pitchFamily="34" charset="0"/>
                        </a:rPr>
                        <a:t>ERS/EMR Status</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Notes</a:t>
                      </a:r>
                    </a:p>
                  </a:txBody>
                  <a:tcPr marL="6350" marR="6350" marT="6350" marB="0" anchor="ctr"/>
                </a:tc>
                <a:extLst>
                  <a:ext uri="{0D108BD9-81ED-4DB2-BD59-A6C34878D82A}">
                    <a16:rowId xmlns:a16="http://schemas.microsoft.com/office/drawing/2014/main" val="1391959997"/>
                  </a:ext>
                </a:extLst>
              </a:tr>
              <a:tr h="504402">
                <a:tc>
                  <a:txBody>
                    <a:bodyPr/>
                    <a:lstStyle/>
                    <a:p>
                      <a:pPr algn="ctr" fontAlgn="t"/>
                      <a:r>
                        <a:rPr lang="en-GB" sz="1100" b="0" i="0" u="none" strike="noStrike" dirty="0">
                          <a:solidFill>
                            <a:srgbClr val="000000"/>
                          </a:solidFill>
                          <a:effectLst/>
                          <a:latin typeface="Calibri" panose="020F0502020204030204" pitchFamily="34" charset="0"/>
                        </a:rPr>
                        <a:t>1</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1 then stay there until manually seized and handled externally.</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p>
                    <a:p>
                      <a:pPr algn="l" fontAlgn="t"/>
                      <a:r>
                        <a:rPr lang="en-GB" sz="1100" b="0" i="0" u="none" strike="noStrike" dirty="0">
                          <a:solidFill>
                            <a:schemeClr val="tx1"/>
                          </a:solidFill>
                          <a:effectLst/>
                          <a:latin typeface="Calibri" panose="020F0502020204030204" pitchFamily="34" charset="0"/>
                        </a:rPr>
                        <a:t>Request HMRC seize and handle declaration externally.</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(Manual Intervention)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6</a:t>
                      </a:r>
                    </a:p>
                  </a:txBody>
                  <a:tcPr marL="6350" marR="6350" marT="6350" marB="0" anchor="ctr"/>
                </a:tc>
                <a:tc>
                  <a:txBody>
                    <a:bodyPr/>
                    <a:lstStyle/>
                    <a:p>
                      <a:pPr algn="l" fontAlgn="t"/>
                      <a:endParaRPr lang="en-GB" sz="1100" b="0" i="0" u="none" strike="noStrike" dirty="0">
                        <a:solidFill>
                          <a:schemeClr val="tx1"/>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2966970723"/>
                  </a:ext>
                </a:extLst>
              </a:tr>
              <a:tr h="404280">
                <a:tc>
                  <a:txBody>
                    <a:bodyPr/>
                    <a:lstStyle/>
                    <a:p>
                      <a:pPr algn="ctr" fontAlgn="t"/>
                      <a:r>
                        <a:rPr lang="en-GB" sz="1100" b="0" i="0" u="none" strike="noStrike" dirty="0">
                          <a:solidFill>
                            <a:srgbClr val="000000"/>
                          </a:solidFill>
                          <a:effectLst/>
                          <a:latin typeface="Calibri" panose="020F0502020204030204" pitchFamily="34" charset="0"/>
                        </a:rPr>
                        <a:t>2</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1 then stay there until manually cleared.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clear declaration.</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(Manual Intervention)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3</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1767698591"/>
                  </a:ext>
                </a:extLst>
              </a:tr>
              <a:tr h="404280">
                <a:tc>
                  <a:txBody>
                    <a:bodyPr/>
                    <a:lstStyle/>
                    <a:p>
                      <a:pPr algn="ctr" fontAlgn="t"/>
                      <a:r>
                        <a:rPr lang="en-GB" sz="1100" b="0" i="0" u="none" strike="noStrike" dirty="0">
                          <a:solidFill>
                            <a:srgbClr val="000000"/>
                          </a:solidFill>
                          <a:effectLst/>
                          <a:latin typeface="Calibri" panose="020F0502020204030204" pitchFamily="34" charset="0"/>
                        </a:rPr>
                        <a:t>3</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1 then stay there until manually seized and invalidated.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seize and invalidate declaration.</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(Arrival)</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1, SOE 14</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(Manual Intervention)</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1, SOE 4</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1180983923"/>
                  </a:ext>
                </a:extLst>
              </a:tr>
              <a:tr h="404280">
                <a:tc>
                  <a:txBody>
                    <a:bodyPr/>
                    <a:lstStyle/>
                    <a:p>
                      <a:pPr algn="ctr" fontAlgn="t"/>
                      <a:r>
                        <a:rPr lang="en-GB" sz="1100" b="0" i="0" u="none" strike="noStrike" dirty="0">
                          <a:solidFill>
                            <a:srgbClr val="000000"/>
                          </a:solidFill>
                          <a:effectLst/>
                          <a:latin typeface="Calibri" panose="020F0502020204030204" pitchFamily="34" charset="0"/>
                        </a:rPr>
                        <a:t>4</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1 then automatically clear after 1 minute.</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Not 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(1 minute delay)</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3</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673105582"/>
                  </a:ext>
                </a:extLst>
              </a:tr>
              <a:tr h="504402">
                <a:tc>
                  <a:txBody>
                    <a:bodyPr/>
                    <a:lstStyle/>
                    <a:p>
                      <a:pPr algn="ctr" fontAlgn="t"/>
                      <a:r>
                        <a:rPr lang="en-GB" sz="1100" b="0" i="0" u="none" strike="noStrike" dirty="0">
                          <a:solidFill>
                            <a:srgbClr val="000000"/>
                          </a:solidFill>
                          <a:effectLst/>
                          <a:latin typeface="Calibri" panose="020F0502020204030204" pitchFamily="34" charset="0"/>
                        </a:rPr>
                        <a:t>5</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2 then stay there until manually seized and handled externally.</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ttexportphysical</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seize and handle declaration externally.</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(Arrival)</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2, SOE 14</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(Manual Intervention)</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2, SOE 6</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2030327249"/>
                  </a:ext>
                </a:extLst>
              </a:tr>
              <a:tr h="504402">
                <a:tc>
                  <a:txBody>
                    <a:bodyPr/>
                    <a:lstStyle/>
                    <a:p>
                      <a:pPr algn="ctr" fontAlgn="t"/>
                      <a:r>
                        <a:rPr lang="en-GB" sz="1100" b="0" i="0" u="none" strike="noStrike" dirty="0">
                          <a:solidFill>
                            <a:srgbClr val="000000"/>
                          </a:solidFill>
                          <a:effectLst/>
                          <a:latin typeface="Calibri" panose="020F0502020204030204" pitchFamily="34" charset="0"/>
                        </a:rPr>
                        <a:t>6</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2 then stay there until manually cleared.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ttexportphysical</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clear declaration.</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(Manual Intervention)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3</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3213811764"/>
                  </a:ext>
                </a:extLst>
              </a:tr>
              <a:tr h="504402">
                <a:tc>
                  <a:txBody>
                    <a:bodyPr/>
                    <a:lstStyle/>
                    <a:p>
                      <a:pPr algn="ctr" fontAlgn="t"/>
                      <a:r>
                        <a:rPr lang="en-GB" sz="1100" b="0" i="0" u="none" strike="noStrike" dirty="0">
                          <a:solidFill>
                            <a:srgbClr val="000000"/>
                          </a:solidFill>
                          <a:effectLst/>
                          <a:latin typeface="Calibri" panose="020F0502020204030204" pitchFamily="34" charset="0"/>
                        </a:rPr>
                        <a:t>7</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2 then stay there until manually seized and invalidated.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ttexportphysical</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seize and invalidate declaration.</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(Arrival)</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2, SOE 14</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(Manual Intervention)</a:t>
                      </a:r>
                      <a:br>
                        <a:rPr lang="en-GB" sz="1100" b="0" i="0" u="none" strike="noStrike">
                          <a:solidFill>
                            <a:schemeClr val="tx1"/>
                          </a:solidFill>
                          <a:effectLst/>
                          <a:latin typeface="Calibri" panose="020F0502020204030204" pitchFamily="34" charset="0"/>
                        </a:rPr>
                      </a:br>
                      <a:r>
                        <a:rPr lang="en-GB" sz="1100" b="0" i="0" u="none" strike="noStrike">
                          <a:solidFill>
                            <a:schemeClr val="tx1"/>
                          </a:solidFill>
                          <a:effectLst/>
                          <a:latin typeface="Calibri" panose="020F0502020204030204" pitchFamily="34" charset="0"/>
                        </a:rPr>
                        <a:t>ROE 2, SOE 4</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1368058057"/>
                  </a:ext>
                </a:extLst>
              </a:tr>
            </a:tbl>
          </a:graphicData>
        </a:graphic>
      </p:graphicFrame>
      <p:cxnSp>
        <p:nvCxnSpPr>
          <p:cNvPr id="3" name="Straight Connector 12">
            <a:extLst>
              <a:ext uri="{FF2B5EF4-FFF2-40B4-BE49-F238E27FC236}">
                <a16:creationId xmlns:a16="http://schemas.microsoft.com/office/drawing/2014/main" id="{E5CDA3F8-8B8D-4216-AF79-F758663DCA2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66BA3FAA-00AB-40A2-8ADA-2C4929362F92}"/>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EXTERNAL TEST CAPABILITIES: SIMULATED SERVICES</a:t>
            </a:r>
          </a:p>
        </p:txBody>
      </p:sp>
      <p:sp>
        <p:nvSpPr>
          <p:cNvPr id="7" name="Rectangle 4">
            <a:extLst>
              <a:ext uri="{FF2B5EF4-FFF2-40B4-BE49-F238E27FC236}">
                <a16:creationId xmlns:a16="http://schemas.microsoft.com/office/drawing/2014/main" id="{DDCA6F33-9AAA-4530-8000-C3809DAD1F73}"/>
              </a:ext>
            </a:extLst>
          </p:cNvPr>
          <p:cNvSpPr/>
          <p:nvPr/>
        </p:nvSpPr>
        <p:spPr>
          <a:xfrm>
            <a:off x="367200" y="655200"/>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1200" cap="none" spc="0" normalizeH="0" baseline="0" noProof="0" dirty="0">
                <a:ln>
                  <a:noFill/>
                </a:ln>
                <a:solidFill>
                  <a:srgbClr val="000000"/>
                </a:solidFill>
                <a:effectLst/>
                <a:uLnTx/>
                <a:uFillTx/>
                <a:latin typeface="Calibri" pitchFamily="34"/>
                <a:ea typeface="Calibri" pitchFamily="34"/>
                <a:cs typeface="+mn-cs"/>
              </a:rPr>
              <a:t>Exports Unhappy Path Test Scenarios</a:t>
            </a:r>
          </a:p>
        </p:txBody>
      </p:sp>
      <p:sp>
        <p:nvSpPr>
          <p:cNvPr id="9" name="Oval 14">
            <a:hlinkClick r:id="rId3" action="ppaction://hlinksldjump"/>
            <a:extLst>
              <a:ext uri="{FF2B5EF4-FFF2-40B4-BE49-F238E27FC236}">
                <a16:creationId xmlns:a16="http://schemas.microsoft.com/office/drawing/2014/main" id="{84159E45-AE32-4671-9656-124573F4D2A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16">
            <a:hlinkClick r:id="rId3" action="ppaction://hlinksldjump"/>
            <a:extLst>
              <a:ext uri="{FF2B5EF4-FFF2-40B4-BE49-F238E27FC236}">
                <a16:creationId xmlns:a16="http://schemas.microsoft.com/office/drawing/2014/main" id="{C86A60C9-BAA1-4A01-BB65-5D26CF8C080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8">
            <a:hlinkClick r:id="" action="ppaction://noaction"/>
            <a:extLst>
              <a:ext uri="{FF2B5EF4-FFF2-40B4-BE49-F238E27FC236}">
                <a16:creationId xmlns:a16="http://schemas.microsoft.com/office/drawing/2014/main" id="{7D93645C-1CE6-4221-93F9-31908CC3026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9">
            <a:hlinkClick r:id="" action="ppaction://noaction"/>
            <a:extLst>
              <a:ext uri="{FF2B5EF4-FFF2-40B4-BE49-F238E27FC236}">
                <a16:creationId xmlns:a16="http://schemas.microsoft.com/office/drawing/2014/main" id="{E050247F-BD52-42A7-86C9-D43280732FD2}"/>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21">
            <a:hlinkClick r:id="rId3" action="ppaction://hlinksldjump"/>
            <a:extLst>
              <a:ext uri="{FF2B5EF4-FFF2-40B4-BE49-F238E27FC236}">
                <a16:creationId xmlns:a16="http://schemas.microsoft.com/office/drawing/2014/main" id="{3CC5D5A9-5B0B-4B46-88A7-09CAADE41B5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1</a:t>
            </a:r>
          </a:p>
        </p:txBody>
      </p:sp>
      <p:sp>
        <p:nvSpPr>
          <p:cNvPr id="14" name="TextBox 24">
            <a:hlinkClick r:id="rId3" action="ppaction://hlinksldjump"/>
            <a:extLst>
              <a:ext uri="{FF2B5EF4-FFF2-40B4-BE49-F238E27FC236}">
                <a16:creationId xmlns:a16="http://schemas.microsoft.com/office/drawing/2014/main" id="{0A9E73FB-0658-438C-BD43-4FCAA8600F8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2</a:t>
            </a:r>
          </a:p>
        </p:txBody>
      </p:sp>
      <p:sp>
        <p:nvSpPr>
          <p:cNvPr id="15" name="TextBox 26">
            <a:hlinkClick r:id="" action="ppaction://noaction"/>
            <a:extLst>
              <a:ext uri="{FF2B5EF4-FFF2-40B4-BE49-F238E27FC236}">
                <a16:creationId xmlns:a16="http://schemas.microsoft.com/office/drawing/2014/main" id="{35678168-1931-4691-AE00-06D9EB3AACC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3</a:t>
            </a:r>
          </a:p>
        </p:txBody>
      </p:sp>
      <p:sp>
        <p:nvSpPr>
          <p:cNvPr id="16" name="TextBox 27">
            <a:hlinkClick r:id="" action="ppaction://noaction"/>
            <a:extLst>
              <a:ext uri="{FF2B5EF4-FFF2-40B4-BE49-F238E27FC236}">
                <a16:creationId xmlns:a16="http://schemas.microsoft.com/office/drawing/2014/main" id="{C539306A-D9A2-4C3B-990D-EB637785F6F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FFFFFF"/>
                </a:solidFill>
                <a:effectLst/>
                <a:uLnTx/>
                <a:uFillTx/>
                <a:latin typeface="Calibri"/>
                <a:ea typeface="+mn-ea"/>
                <a:cs typeface="+mn-cs"/>
              </a:rPr>
              <a:t>4</a:t>
            </a:r>
          </a:p>
        </p:txBody>
      </p:sp>
      <p:sp>
        <p:nvSpPr>
          <p:cNvPr id="17" name="Oval 28">
            <a:extLst>
              <a:ext uri="{FF2B5EF4-FFF2-40B4-BE49-F238E27FC236}">
                <a16:creationId xmlns:a16="http://schemas.microsoft.com/office/drawing/2014/main" id="{D77D2273-C528-467E-B9E1-374672CB87E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29">
            <a:hlinkClick r:id="" action="ppaction://noaction"/>
            <a:extLst>
              <a:ext uri="{FF2B5EF4-FFF2-40B4-BE49-F238E27FC236}">
                <a16:creationId xmlns:a16="http://schemas.microsoft.com/office/drawing/2014/main" id="{EC35F75D-2B0D-4C6D-B58A-A2709A1A335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5</a:t>
            </a:r>
          </a:p>
        </p:txBody>
      </p:sp>
      <p:pic>
        <p:nvPicPr>
          <p:cNvPr id="19" name="Picture 40">
            <a:hlinkClick r:id="rId3" action="ppaction://hlinksldjump"/>
            <a:extLst>
              <a:ext uri="{FF2B5EF4-FFF2-40B4-BE49-F238E27FC236}">
                <a16:creationId xmlns:a16="http://schemas.microsoft.com/office/drawing/2014/main" id="{0F9927EA-9D3C-42FB-84D2-9CEE2D66B44E}"/>
              </a:ext>
            </a:extLst>
          </p:cNvPr>
          <p:cNvPicPr>
            <a:picLocks noChangeAspect="1"/>
          </p:cNvPicPr>
          <p:nvPr/>
        </p:nvPicPr>
        <p:blipFill>
          <a:blip r:embed="rId4">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31">
            <a:hlinkClick r:id="rId3" action="ppaction://hlinksldjump"/>
            <a:extLst>
              <a:ext uri="{FF2B5EF4-FFF2-40B4-BE49-F238E27FC236}">
                <a16:creationId xmlns:a16="http://schemas.microsoft.com/office/drawing/2014/main" id="{8C4CF511-9F75-4F61-ABD7-1653B4B170B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Slide Number Placeholder 5">
            <a:extLst>
              <a:ext uri="{FF2B5EF4-FFF2-40B4-BE49-F238E27FC236}">
                <a16:creationId xmlns:a16="http://schemas.microsoft.com/office/drawing/2014/main" id="{F3347EFD-B512-493D-938B-097689021AD5}"/>
              </a:ext>
            </a:extLst>
          </p:cNvPr>
          <p:cNvSpPr txBox="1"/>
          <p:nvPr/>
        </p:nvSpPr>
        <p:spPr>
          <a:xfrm>
            <a:off x="1165424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B9520A3-7DF6-4639-BDDC-285D47FAD971}"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22" name="Rectangle 33">
            <a:extLst>
              <a:ext uri="{FF2B5EF4-FFF2-40B4-BE49-F238E27FC236}">
                <a16:creationId xmlns:a16="http://schemas.microsoft.com/office/drawing/2014/main" id="{381749EF-1411-4662-9D65-14313B674E2F}"/>
              </a:ext>
            </a:extLst>
          </p:cNvPr>
          <p:cNvSpPr/>
          <p:nvPr/>
        </p:nvSpPr>
        <p:spPr>
          <a:xfrm>
            <a:off x="367200" y="927666"/>
            <a:ext cx="11604458" cy="26161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tab pos="3678238" algn="l"/>
              </a:tabLst>
              <a:defRPr sz="1800" b="0" i="0" u="none" strike="noStrike" kern="0" cap="none" spc="0" baseline="0">
                <a:solidFill>
                  <a:srgbClr val="000000"/>
                </a:solidFill>
                <a:uFillTx/>
              </a:defRPr>
            </a:pPr>
            <a:r>
              <a:rPr kumimoji="0" lang="en-GB" sz="1100" b="0" i="0" u="none" strike="noStrike" kern="1200" cap="none" spc="0" normalizeH="0" baseline="0" noProof="0" dirty="0">
                <a:ln>
                  <a:noFill/>
                </a:ln>
                <a:solidFill>
                  <a:srgbClr val="000000"/>
                </a:solidFill>
                <a:effectLst/>
                <a:uLnTx/>
                <a:uFillTx/>
                <a:latin typeface="Calibri"/>
                <a:ea typeface="+mn-ea"/>
                <a:cs typeface="+mn-cs"/>
              </a:rPr>
              <a:t>Notes: (1) All Declarations are assumed to have been arrived. (2) Approved developers have the capability to submit Exports movement messages.</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22">
            <a:extLst>
              <a:ext uri="{FF2B5EF4-FFF2-40B4-BE49-F238E27FC236}">
                <a16:creationId xmlns:a16="http://schemas.microsoft.com/office/drawing/2014/main" id="{3DDAF7FA-C219-299F-1BD9-EC6B7DF9D7AE}"/>
              </a:ext>
            </a:extLst>
          </p:cNvPr>
          <p:cNvGraphicFramePr>
            <a:graphicFrameLocks noGrp="1"/>
          </p:cNvGraphicFramePr>
          <p:nvPr/>
        </p:nvGraphicFramePr>
        <p:xfrm>
          <a:off x="367200" y="1184400"/>
          <a:ext cx="11056806" cy="4203349"/>
        </p:xfrm>
        <a:graphic>
          <a:graphicData uri="http://schemas.openxmlformats.org/drawingml/2006/table">
            <a:tbl>
              <a:tblPr firstRow="1" bandRow="1">
                <a:tableStyleId>{5C22544A-7EE6-4342-B048-85BDC9FD1C3A}</a:tableStyleId>
              </a:tblPr>
              <a:tblGrid>
                <a:gridCol w="338856">
                  <a:extLst>
                    <a:ext uri="{9D8B030D-6E8A-4147-A177-3AD203B41FA5}">
                      <a16:colId xmlns:a16="http://schemas.microsoft.com/office/drawing/2014/main" val="2352989780"/>
                    </a:ext>
                  </a:extLst>
                </a:gridCol>
                <a:gridCol w="1800000">
                  <a:extLst>
                    <a:ext uri="{9D8B030D-6E8A-4147-A177-3AD203B41FA5}">
                      <a16:colId xmlns:a16="http://schemas.microsoft.com/office/drawing/2014/main" val="3382480719"/>
                    </a:ext>
                  </a:extLst>
                </a:gridCol>
                <a:gridCol w="1152000">
                  <a:extLst>
                    <a:ext uri="{9D8B030D-6E8A-4147-A177-3AD203B41FA5}">
                      <a16:colId xmlns:a16="http://schemas.microsoft.com/office/drawing/2014/main" val="80382164"/>
                    </a:ext>
                  </a:extLst>
                </a:gridCol>
                <a:gridCol w="1563597">
                  <a:extLst>
                    <a:ext uri="{9D8B030D-6E8A-4147-A177-3AD203B41FA5}">
                      <a16:colId xmlns:a16="http://schemas.microsoft.com/office/drawing/2014/main" val="712826819"/>
                    </a:ext>
                  </a:extLst>
                </a:gridCol>
                <a:gridCol w="711571">
                  <a:extLst>
                    <a:ext uri="{9D8B030D-6E8A-4147-A177-3AD203B41FA5}">
                      <a16:colId xmlns:a16="http://schemas.microsoft.com/office/drawing/2014/main" val="2204335785"/>
                    </a:ext>
                  </a:extLst>
                </a:gridCol>
                <a:gridCol w="1729552">
                  <a:extLst>
                    <a:ext uri="{9D8B030D-6E8A-4147-A177-3AD203B41FA5}">
                      <a16:colId xmlns:a16="http://schemas.microsoft.com/office/drawing/2014/main" val="3469875932"/>
                    </a:ext>
                  </a:extLst>
                </a:gridCol>
                <a:gridCol w="1389283">
                  <a:extLst>
                    <a:ext uri="{9D8B030D-6E8A-4147-A177-3AD203B41FA5}">
                      <a16:colId xmlns:a16="http://schemas.microsoft.com/office/drawing/2014/main" val="3857972927"/>
                    </a:ext>
                  </a:extLst>
                </a:gridCol>
                <a:gridCol w="2371947">
                  <a:extLst>
                    <a:ext uri="{9D8B030D-6E8A-4147-A177-3AD203B41FA5}">
                      <a16:colId xmlns:a16="http://schemas.microsoft.com/office/drawing/2014/main" val="2470573502"/>
                    </a:ext>
                  </a:extLst>
                </a:gridCol>
              </a:tblGrid>
              <a:tr h="288000">
                <a:tc>
                  <a:txBody>
                    <a:bodyPr/>
                    <a:lstStyle/>
                    <a:p>
                      <a:pPr algn="ctr" fontAlgn="t"/>
                      <a:r>
                        <a:rPr lang="en-GB" sz="1100" b="1" i="0" u="none" strike="noStrike" dirty="0">
                          <a:solidFill>
                            <a:schemeClr val="bg1"/>
                          </a:solidFill>
                          <a:effectLst/>
                          <a:latin typeface="Calibri" panose="020F0502020204030204" pitchFamily="34" charset="0"/>
                        </a:rPr>
                        <a:t>Id</a:t>
                      </a:r>
                    </a:p>
                  </a:txBody>
                  <a:tcPr marL="6350" marR="6350" marT="6350" marB="0" anchor="ctr"/>
                </a:tc>
                <a:tc>
                  <a:txBody>
                    <a:bodyPr/>
                    <a:lstStyle/>
                    <a:p>
                      <a:pPr algn="ctr" fontAlgn="t"/>
                      <a:r>
                        <a:rPr lang="en-GB" sz="1100" b="1" i="0" u="none" strike="noStrike">
                          <a:solidFill>
                            <a:schemeClr val="bg1"/>
                          </a:solidFill>
                          <a:effectLst/>
                          <a:latin typeface="Calibri" panose="020F0502020204030204" pitchFamily="34" charset="0"/>
                        </a:rPr>
                        <a:t>Scenario / Test Case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Developer Type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Recommended Keyword</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Package Type to use</a:t>
                      </a:r>
                    </a:p>
                  </a:txBody>
                  <a:tcPr marL="6350" marR="6350" marT="6350" marB="0" anchor="ctr"/>
                </a:tc>
                <a:tc>
                  <a:txBody>
                    <a:bodyPr/>
                    <a:lstStyle/>
                    <a:p>
                      <a:pPr algn="ctr" fontAlgn="t"/>
                      <a:r>
                        <a:rPr lang="en-GB" sz="1100" b="1" i="0" u="none" strike="noStrike">
                          <a:solidFill>
                            <a:schemeClr val="bg1"/>
                          </a:solidFill>
                          <a:effectLst/>
                          <a:latin typeface="Calibri" panose="020F0502020204030204" pitchFamily="34" charset="0"/>
                        </a:rPr>
                        <a:t>Instructions</a:t>
                      </a:r>
                    </a:p>
                  </a:txBody>
                  <a:tcPr marL="6350" marR="6350" marT="6350" marB="0" anchor="ctr"/>
                </a:tc>
                <a:tc>
                  <a:txBody>
                    <a:bodyPr/>
                    <a:lstStyle/>
                    <a:p>
                      <a:pPr algn="ctr" fontAlgn="t"/>
                      <a:r>
                        <a:rPr lang="en-GB" sz="1100" b="1" i="0" u="none" strike="noStrike">
                          <a:solidFill>
                            <a:schemeClr val="bg1"/>
                          </a:solidFill>
                          <a:effectLst/>
                          <a:latin typeface="Calibri" panose="020F0502020204030204" pitchFamily="34" charset="0"/>
                        </a:rPr>
                        <a:t>ERS/EMR Status</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Notes</a:t>
                      </a:r>
                    </a:p>
                  </a:txBody>
                  <a:tcPr marL="6350" marR="6350" marT="6350" marB="0" anchor="ctr"/>
                </a:tc>
                <a:extLst>
                  <a:ext uri="{0D108BD9-81ED-4DB2-BD59-A6C34878D82A}">
                    <a16:rowId xmlns:a16="http://schemas.microsoft.com/office/drawing/2014/main" val="1391959997"/>
                  </a:ext>
                </a:extLst>
              </a:tr>
              <a:tr h="720000">
                <a:tc>
                  <a:txBody>
                    <a:bodyPr/>
                    <a:lstStyle/>
                    <a:p>
                      <a:pPr algn="ctr" fontAlgn="t"/>
                      <a:r>
                        <a:rPr lang="en-GB" sz="1100" b="0" i="0" u="none" strike="noStrike" dirty="0">
                          <a:solidFill>
                            <a:srgbClr val="000000"/>
                          </a:solidFill>
                          <a:effectLst/>
                          <a:latin typeface="Calibri" panose="020F0502020204030204" pitchFamily="34" charset="0"/>
                        </a:rPr>
                        <a:t>8</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2 then automatically clear after 1 minute.</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ttexportphysical</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Not PK</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(1 minute delay)</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3</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GB" sz="1100" b="0" i="0" u="none" strike="noStrike" dirty="0">
                        <a:solidFill>
                          <a:schemeClr val="tx1"/>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1681706108"/>
                  </a:ext>
                </a:extLst>
              </a:tr>
              <a:tr h="720000">
                <a:tc>
                  <a:txBody>
                    <a:bodyPr/>
                    <a:lstStyle/>
                    <a:p>
                      <a:pPr algn="ctr" fontAlgn="t"/>
                      <a:r>
                        <a:rPr lang="en-GB" sz="1100" b="0" i="0" u="none" strike="noStrike" dirty="0">
                          <a:solidFill>
                            <a:srgbClr val="000000"/>
                          </a:solidFill>
                          <a:effectLst/>
                          <a:latin typeface="Calibri" panose="020F0502020204030204" pitchFamily="34" charset="0"/>
                        </a:rPr>
                        <a:t>9</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go Route 3 then automatically clear after 1 minute.</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ttdocnonblockingU</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Any</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3,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(1 minute delay)</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3, SOE 3</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GB" sz="1100" b="0" i="0" u="none" strike="noStrike" dirty="0">
                        <a:solidFill>
                          <a:schemeClr val="tx1"/>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2154958610"/>
                  </a:ext>
                </a:extLst>
              </a:tr>
              <a:tr h="906609">
                <a:tc>
                  <a:txBody>
                    <a:bodyPr/>
                    <a:lstStyle/>
                    <a:p>
                      <a:pPr algn="ctr" fontAlgn="t"/>
                      <a:r>
                        <a:rPr lang="en-GB" sz="1100" b="0" i="0" u="none" strike="noStrike" dirty="0">
                          <a:solidFill>
                            <a:srgbClr val="000000"/>
                          </a:solidFill>
                          <a:effectLst/>
                          <a:latin typeface="Calibri" panose="020F0502020204030204" pitchFamily="34" charset="0"/>
                        </a:rPr>
                        <a:t>10</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to cancel a declaration and the cancellation be automatically approved.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Submit cancellation.</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3</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(Cancellation)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4</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200628214"/>
                  </a:ext>
                </a:extLst>
              </a:tr>
              <a:tr h="906609">
                <a:tc>
                  <a:txBody>
                    <a:bodyPr/>
                    <a:lstStyle/>
                    <a:p>
                      <a:pPr algn="ctr" fontAlgn="t"/>
                      <a:r>
                        <a:rPr lang="en-GB" sz="1100" b="0" i="0" u="none" strike="noStrike" dirty="0">
                          <a:solidFill>
                            <a:srgbClr val="000000"/>
                          </a:solidFill>
                          <a:effectLst/>
                          <a:latin typeface="Calibri" panose="020F0502020204030204" pitchFamily="34" charset="0"/>
                        </a:rPr>
                        <a:t>11</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to cancel a declaration, the cancellation be denied, and the declaration given permission to proceed (P2P) using CDCM.</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CSPs only</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mn-lt"/>
                      </a:endParaRPr>
                    </a:p>
                  </a:txBody>
                  <a:tcPr marL="6350" marR="6350" marT="6350" marB="0" anchor="ctr"/>
                </a:tc>
                <a:tc>
                  <a:txBody>
                    <a:bodyPr/>
                    <a:lstStyle/>
                    <a:p>
                      <a:pPr algn="ctr"/>
                      <a:r>
                        <a:rPr lang="en-GB" sz="1100" dirty="0">
                          <a:solidFill>
                            <a:schemeClr val="tx1"/>
                          </a:solidFill>
                          <a:latin typeface="+mn-lt"/>
                        </a:rPr>
                        <a:t>Any</a:t>
                      </a:r>
                    </a:p>
                  </a:txBody>
                  <a:tcPr marL="6350" marR="6350" marT="6350" marB="0" anchor="ctr"/>
                </a:tc>
                <a:tc>
                  <a:txBody>
                    <a:bodyPr/>
                    <a:lstStyle/>
                    <a:p>
                      <a:r>
                        <a:rPr lang="en-GB" sz="1100" dirty="0">
                          <a:solidFill>
                            <a:schemeClr val="tx1"/>
                          </a:solidFill>
                        </a:rPr>
                        <a:t>Arrive the DUCR.</a:t>
                      </a:r>
                      <a:br>
                        <a:rPr lang="en-GB" sz="1100" dirty="0">
                          <a:solidFill>
                            <a:schemeClr val="tx1"/>
                          </a:solidFill>
                        </a:rPr>
                      </a:br>
                      <a:r>
                        <a:rPr lang="en-GB" sz="1100" dirty="0">
                          <a:solidFill>
                            <a:schemeClr val="tx1"/>
                          </a:solidFill>
                        </a:rPr>
                        <a:t>Submit Cancellation.</a:t>
                      </a:r>
                    </a:p>
                    <a:p>
                      <a:r>
                        <a:rPr lang="en-GB" sz="1100" dirty="0">
                          <a:solidFill>
                            <a:schemeClr val="tx1"/>
                          </a:solidFill>
                        </a:rPr>
                        <a:t>Request HMRC deny cancellation and give declaration P2P.</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(Cancellation)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(Cancellation rejected)</a:t>
                      </a:r>
                    </a:p>
                    <a:p>
                      <a:pPr algn="l" fontAlgn="t"/>
                      <a:r>
                        <a:rPr lang="en-GB" sz="1100" b="0" i="0" u="none" strike="noStrike" dirty="0">
                          <a:solidFill>
                            <a:schemeClr val="tx1"/>
                          </a:solidFill>
                          <a:effectLst/>
                          <a:latin typeface="Calibri" panose="020F0502020204030204" pitchFamily="34" charset="0"/>
                        </a:rPr>
                        <a:t>(Permission to proceed)</a:t>
                      </a:r>
                    </a:p>
                    <a:p>
                      <a:pPr algn="l" fontAlgn="t"/>
                      <a:r>
                        <a:rPr lang="en-GB" sz="1100" b="0" i="0" u="none" strike="noStrike" dirty="0">
                          <a:solidFill>
                            <a:schemeClr val="tx1"/>
                          </a:solidFill>
                          <a:effectLst/>
                          <a:latin typeface="Calibri" panose="020F0502020204030204" pitchFamily="34" charset="0"/>
                        </a:rPr>
                        <a:t>ROE 1, SOE 3</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GB" sz="1100" b="0" i="0" u="none" strike="noStrike" dirty="0">
                          <a:solidFill>
                            <a:schemeClr val="tx1"/>
                          </a:solidFill>
                          <a:effectLst/>
                          <a:latin typeface="Calibri" panose="020F0502020204030204" pitchFamily="34" charset="0"/>
                        </a:rPr>
                        <a:t>This scenario requires HMRC support in TT. Bespoke test windows were held in November 2023 and a subsequent follow up in January 2024 only.</a:t>
                      </a:r>
                    </a:p>
                    <a:p>
                      <a:pPr algn="l" fontAlgn="t"/>
                      <a:endParaRPr lang="en-GB" sz="1100" b="0" i="0" u="none" strike="noStrike" dirty="0">
                        <a:solidFill>
                          <a:schemeClr val="tx1"/>
                        </a:solidFill>
                        <a:effectLst/>
                        <a:latin typeface="Calibri" panose="020F0502020204030204" pitchFamily="34" charset="0"/>
                      </a:endParaRPr>
                    </a:p>
                    <a:p>
                      <a:pPr algn="l" fontAlgn="t"/>
                      <a:r>
                        <a:rPr lang="en-GB" sz="1100" b="0" i="0" u="none" strike="noStrike" dirty="0">
                          <a:solidFill>
                            <a:schemeClr val="tx1"/>
                          </a:solidFill>
                          <a:effectLst/>
                          <a:latin typeface="Calibri" panose="020F0502020204030204" pitchFamily="34" charset="0"/>
                        </a:rPr>
                        <a:t>Note that no EMR/ERS will be sent on rejection of the cancellation request as the declaration state does not change. A </a:t>
                      </a:r>
                      <a:r>
                        <a:rPr lang="en-GB" sz="1100" dirty="0">
                          <a:solidFill>
                            <a:schemeClr val="tx1"/>
                          </a:solidFill>
                        </a:rPr>
                        <a:t>DMSREQ will be sent to the submitter.</a:t>
                      </a:r>
                      <a:endParaRPr lang="en-GB" sz="1100" b="0" i="0" u="none" strike="noStrike" dirty="0">
                        <a:solidFill>
                          <a:schemeClr val="tx1"/>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3236851797"/>
                  </a:ext>
                </a:extLst>
              </a:tr>
            </a:tbl>
          </a:graphicData>
        </a:graphic>
      </p:graphicFrame>
      <p:cxnSp>
        <p:nvCxnSpPr>
          <p:cNvPr id="3" name="Straight Connector 12">
            <a:extLst>
              <a:ext uri="{FF2B5EF4-FFF2-40B4-BE49-F238E27FC236}">
                <a16:creationId xmlns:a16="http://schemas.microsoft.com/office/drawing/2014/main" id="{E5CDA3F8-8B8D-4216-AF79-F758663DCA2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66BA3FAA-00AB-40A2-8ADA-2C4929362F92}"/>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EXTERNAL TEST CAPABILITIES: SIMULATED SERVICES</a:t>
            </a:r>
          </a:p>
        </p:txBody>
      </p:sp>
      <p:sp>
        <p:nvSpPr>
          <p:cNvPr id="7" name="Rectangle 4">
            <a:extLst>
              <a:ext uri="{FF2B5EF4-FFF2-40B4-BE49-F238E27FC236}">
                <a16:creationId xmlns:a16="http://schemas.microsoft.com/office/drawing/2014/main" id="{DDCA6F33-9AAA-4530-8000-C3809DAD1F73}"/>
              </a:ext>
            </a:extLst>
          </p:cNvPr>
          <p:cNvSpPr/>
          <p:nvPr/>
        </p:nvSpPr>
        <p:spPr>
          <a:xfrm>
            <a:off x="367200" y="655339"/>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1200" cap="none" spc="0" normalizeH="0" baseline="0" noProof="0" dirty="0">
                <a:ln>
                  <a:noFill/>
                </a:ln>
                <a:solidFill>
                  <a:srgbClr val="000000"/>
                </a:solidFill>
                <a:effectLst/>
                <a:uLnTx/>
                <a:uFillTx/>
                <a:latin typeface="Calibri" pitchFamily="34"/>
                <a:ea typeface="Calibri" pitchFamily="34"/>
                <a:cs typeface="+mn-cs"/>
              </a:rPr>
              <a:t>Exports Unhappy Path Test Scenarios</a:t>
            </a:r>
          </a:p>
        </p:txBody>
      </p:sp>
      <p:sp>
        <p:nvSpPr>
          <p:cNvPr id="9" name="Oval 14">
            <a:hlinkClick r:id="rId3" action="ppaction://hlinksldjump"/>
            <a:extLst>
              <a:ext uri="{FF2B5EF4-FFF2-40B4-BE49-F238E27FC236}">
                <a16:creationId xmlns:a16="http://schemas.microsoft.com/office/drawing/2014/main" id="{84159E45-AE32-4671-9656-124573F4D2A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16">
            <a:hlinkClick r:id="rId3" action="ppaction://hlinksldjump"/>
            <a:extLst>
              <a:ext uri="{FF2B5EF4-FFF2-40B4-BE49-F238E27FC236}">
                <a16:creationId xmlns:a16="http://schemas.microsoft.com/office/drawing/2014/main" id="{C86A60C9-BAA1-4A01-BB65-5D26CF8C080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8">
            <a:hlinkClick r:id="" action="ppaction://noaction"/>
            <a:extLst>
              <a:ext uri="{FF2B5EF4-FFF2-40B4-BE49-F238E27FC236}">
                <a16:creationId xmlns:a16="http://schemas.microsoft.com/office/drawing/2014/main" id="{7D93645C-1CE6-4221-93F9-31908CC3026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9">
            <a:hlinkClick r:id="" action="ppaction://noaction"/>
            <a:extLst>
              <a:ext uri="{FF2B5EF4-FFF2-40B4-BE49-F238E27FC236}">
                <a16:creationId xmlns:a16="http://schemas.microsoft.com/office/drawing/2014/main" id="{E050247F-BD52-42A7-86C9-D43280732FD2}"/>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21">
            <a:hlinkClick r:id="rId3" action="ppaction://hlinksldjump"/>
            <a:extLst>
              <a:ext uri="{FF2B5EF4-FFF2-40B4-BE49-F238E27FC236}">
                <a16:creationId xmlns:a16="http://schemas.microsoft.com/office/drawing/2014/main" id="{3CC5D5A9-5B0B-4B46-88A7-09CAADE41B5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1</a:t>
            </a:r>
          </a:p>
        </p:txBody>
      </p:sp>
      <p:sp>
        <p:nvSpPr>
          <p:cNvPr id="14" name="TextBox 24">
            <a:hlinkClick r:id="rId3" action="ppaction://hlinksldjump"/>
            <a:extLst>
              <a:ext uri="{FF2B5EF4-FFF2-40B4-BE49-F238E27FC236}">
                <a16:creationId xmlns:a16="http://schemas.microsoft.com/office/drawing/2014/main" id="{0A9E73FB-0658-438C-BD43-4FCAA8600F8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2</a:t>
            </a:r>
          </a:p>
        </p:txBody>
      </p:sp>
      <p:sp>
        <p:nvSpPr>
          <p:cNvPr id="15" name="TextBox 26">
            <a:hlinkClick r:id="" action="ppaction://noaction"/>
            <a:extLst>
              <a:ext uri="{FF2B5EF4-FFF2-40B4-BE49-F238E27FC236}">
                <a16:creationId xmlns:a16="http://schemas.microsoft.com/office/drawing/2014/main" id="{35678168-1931-4691-AE00-06D9EB3AACC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3</a:t>
            </a:r>
          </a:p>
        </p:txBody>
      </p:sp>
      <p:sp>
        <p:nvSpPr>
          <p:cNvPr id="16" name="TextBox 27">
            <a:hlinkClick r:id="" action="ppaction://noaction"/>
            <a:extLst>
              <a:ext uri="{FF2B5EF4-FFF2-40B4-BE49-F238E27FC236}">
                <a16:creationId xmlns:a16="http://schemas.microsoft.com/office/drawing/2014/main" id="{C539306A-D9A2-4C3B-990D-EB637785F6F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FFFFFF"/>
                </a:solidFill>
                <a:effectLst/>
                <a:uLnTx/>
                <a:uFillTx/>
                <a:latin typeface="Calibri"/>
                <a:ea typeface="+mn-ea"/>
                <a:cs typeface="+mn-cs"/>
              </a:rPr>
              <a:t>4</a:t>
            </a:r>
          </a:p>
        </p:txBody>
      </p:sp>
      <p:sp>
        <p:nvSpPr>
          <p:cNvPr id="17" name="Oval 28">
            <a:extLst>
              <a:ext uri="{FF2B5EF4-FFF2-40B4-BE49-F238E27FC236}">
                <a16:creationId xmlns:a16="http://schemas.microsoft.com/office/drawing/2014/main" id="{D77D2273-C528-467E-B9E1-374672CB87E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29">
            <a:hlinkClick r:id="" action="ppaction://noaction"/>
            <a:extLst>
              <a:ext uri="{FF2B5EF4-FFF2-40B4-BE49-F238E27FC236}">
                <a16:creationId xmlns:a16="http://schemas.microsoft.com/office/drawing/2014/main" id="{EC35F75D-2B0D-4C6D-B58A-A2709A1A335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5</a:t>
            </a:r>
          </a:p>
        </p:txBody>
      </p:sp>
      <p:pic>
        <p:nvPicPr>
          <p:cNvPr id="19" name="Picture 40">
            <a:hlinkClick r:id="rId3" action="ppaction://hlinksldjump"/>
            <a:extLst>
              <a:ext uri="{FF2B5EF4-FFF2-40B4-BE49-F238E27FC236}">
                <a16:creationId xmlns:a16="http://schemas.microsoft.com/office/drawing/2014/main" id="{0F9927EA-9D3C-42FB-84D2-9CEE2D66B44E}"/>
              </a:ext>
            </a:extLst>
          </p:cNvPr>
          <p:cNvPicPr>
            <a:picLocks noChangeAspect="1"/>
          </p:cNvPicPr>
          <p:nvPr/>
        </p:nvPicPr>
        <p:blipFill>
          <a:blip r:embed="rId4">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31">
            <a:hlinkClick r:id="rId3" action="ppaction://hlinksldjump"/>
            <a:extLst>
              <a:ext uri="{FF2B5EF4-FFF2-40B4-BE49-F238E27FC236}">
                <a16:creationId xmlns:a16="http://schemas.microsoft.com/office/drawing/2014/main" id="{8C4CF511-9F75-4F61-ABD7-1653B4B170B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Slide Number Placeholder 5">
            <a:extLst>
              <a:ext uri="{FF2B5EF4-FFF2-40B4-BE49-F238E27FC236}">
                <a16:creationId xmlns:a16="http://schemas.microsoft.com/office/drawing/2014/main" id="{F3347EFD-B512-493D-938B-097689021AD5}"/>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B9520A3-7DF6-4639-BDDC-285D47FAD971}"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22" name="Rectangle 33">
            <a:extLst>
              <a:ext uri="{FF2B5EF4-FFF2-40B4-BE49-F238E27FC236}">
                <a16:creationId xmlns:a16="http://schemas.microsoft.com/office/drawing/2014/main" id="{381749EF-1411-4662-9D65-14313B674E2F}"/>
              </a:ext>
            </a:extLst>
          </p:cNvPr>
          <p:cNvSpPr/>
          <p:nvPr/>
        </p:nvSpPr>
        <p:spPr>
          <a:xfrm>
            <a:off x="367200" y="928800"/>
            <a:ext cx="11604458" cy="26161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tab pos="3678238" algn="l"/>
              </a:tabLst>
              <a:defRPr sz="1800" b="0" i="0" u="none" strike="noStrike" kern="0" cap="none" spc="0" baseline="0">
                <a:solidFill>
                  <a:srgbClr val="000000"/>
                </a:solidFill>
                <a:uFillTx/>
              </a:defRPr>
            </a:pPr>
            <a:r>
              <a:rPr kumimoji="0" lang="en-GB" sz="1100" b="0" i="0" u="none" strike="noStrike" kern="1200" cap="none" spc="0" normalizeH="0" baseline="0" noProof="0" dirty="0">
                <a:ln>
                  <a:noFill/>
                </a:ln>
                <a:solidFill>
                  <a:srgbClr val="000000"/>
                </a:solidFill>
                <a:effectLst/>
                <a:uLnTx/>
                <a:uFillTx/>
                <a:latin typeface="Calibri"/>
                <a:ea typeface="+mn-ea"/>
                <a:cs typeface="+mn-cs"/>
              </a:rPr>
              <a:t>Notes: (1) All Declarations are assumed to have been arrived. (2) Approved developers have the capability to submit Exports movement messages.</a:t>
            </a:r>
          </a:p>
        </p:txBody>
      </p:sp>
    </p:spTree>
    <p:extLst>
      <p:ext uri="{BB962C8B-B14F-4D97-AF65-F5344CB8AC3E}">
        <p14:creationId xmlns:p14="http://schemas.microsoft.com/office/powerpoint/2010/main" val="349254352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12">
            <a:extLst>
              <a:ext uri="{FF2B5EF4-FFF2-40B4-BE49-F238E27FC236}">
                <a16:creationId xmlns:a16="http://schemas.microsoft.com/office/drawing/2014/main" id="{E5CDA3F8-8B8D-4216-AF79-F758663DCA2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4" name="TextBox 13">
            <a:extLst>
              <a:ext uri="{FF2B5EF4-FFF2-40B4-BE49-F238E27FC236}">
                <a16:creationId xmlns:a16="http://schemas.microsoft.com/office/drawing/2014/main" id="{66BA3FAA-00AB-40A2-8ADA-2C4929362F92}"/>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EXTERNAL TEST CAPABILITIES: SIMULATED SERVICES</a:t>
            </a:r>
          </a:p>
        </p:txBody>
      </p:sp>
      <p:sp>
        <p:nvSpPr>
          <p:cNvPr id="7" name="Rectangle 4">
            <a:extLst>
              <a:ext uri="{FF2B5EF4-FFF2-40B4-BE49-F238E27FC236}">
                <a16:creationId xmlns:a16="http://schemas.microsoft.com/office/drawing/2014/main" id="{DDCA6F33-9AAA-4530-8000-C3809DAD1F73}"/>
              </a:ext>
            </a:extLst>
          </p:cNvPr>
          <p:cNvSpPr/>
          <p:nvPr/>
        </p:nvSpPr>
        <p:spPr>
          <a:xfrm>
            <a:off x="367200" y="655200"/>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1200" cap="none" spc="0" normalizeH="0" baseline="0" noProof="0" dirty="0">
                <a:ln>
                  <a:noFill/>
                </a:ln>
                <a:solidFill>
                  <a:srgbClr val="000000"/>
                </a:solidFill>
                <a:effectLst/>
                <a:uLnTx/>
                <a:uFillTx/>
                <a:latin typeface="Calibri" pitchFamily="34"/>
                <a:ea typeface="Calibri" pitchFamily="34"/>
                <a:cs typeface="+mn-cs"/>
              </a:rPr>
              <a:t>Exports Unhappy Path Test Scenarios</a:t>
            </a:r>
          </a:p>
        </p:txBody>
      </p:sp>
      <p:sp>
        <p:nvSpPr>
          <p:cNvPr id="9" name="Oval 14">
            <a:hlinkClick r:id="rId3" action="ppaction://hlinksldjump"/>
            <a:extLst>
              <a:ext uri="{FF2B5EF4-FFF2-40B4-BE49-F238E27FC236}">
                <a16:creationId xmlns:a16="http://schemas.microsoft.com/office/drawing/2014/main" id="{84159E45-AE32-4671-9656-124573F4D2A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16">
            <a:hlinkClick r:id="rId3" action="ppaction://hlinksldjump"/>
            <a:extLst>
              <a:ext uri="{FF2B5EF4-FFF2-40B4-BE49-F238E27FC236}">
                <a16:creationId xmlns:a16="http://schemas.microsoft.com/office/drawing/2014/main" id="{C86A60C9-BAA1-4A01-BB65-5D26CF8C080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8">
            <a:hlinkClick r:id="" action="ppaction://noaction"/>
            <a:extLst>
              <a:ext uri="{FF2B5EF4-FFF2-40B4-BE49-F238E27FC236}">
                <a16:creationId xmlns:a16="http://schemas.microsoft.com/office/drawing/2014/main" id="{7D93645C-1CE6-4221-93F9-31908CC3026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9">
            <a:hlinkClick r:id="rId4" action="ppaction://hlinksldjump"/>
            <a:extLst>
              <a:ext uri="{FF2B5EF4-FFF2-40B4-BE49-F238E27FC236}">
                <a16:creationId xmlns:a16="http://schemas.microsoft.com/office/drawing/2014/main" id="{E050247F-BD52-42A7-86C9-D43280732FD2}"/>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21">
            <a:hlinkClick r:id="rId3" action="ppaction://hlinksldjump"/>
            <a:extLst>
              <a:ext uri="{FF2B5EF4-FFF2-40B4-BE49-F238E27FC236}">
                <a16:creationId xmlns:a16="http://schemas.microsoft.com/office/drawing/2014/main" id="{3CC5D5A9-5B0B-4B46-88A7-09CAADE41B5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1</a:t>
            </a:r>
          </a:p>
        </p:txBody>
      </p:sp>
      <p:sp>
        <p:nvSpPr>
          <p:cNvPr id="14" name="TextBox 24">
            <a:hlinkClick r:id="rId3" action="ppaction://hlinksldjump"/>
            <a:extLst>
              <a:ext uri="{FF2B5EF4-FFF2-40B4-BE49-F238E27FC236}">
                <a16:creationId xmlns:a16="http://schemas.microsoft.com/office/drawing/2014/main" id="{0A9E73FB-0658-438C-BD43-4FCAA8600F8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2</a:t>
            </a:r>
          </a:p>
        </p:txBody>
      </p:sp>
      <p:sp>
        <p:nvSpPr>
          <p:cNvPr id="15" name="TextBox 26">
            <a:hlinkClick r:id="" action="ppaction://noaction"/>
            <a:extLst>
              <a:ext uri="{FF2B5EF4-FFF2-40B4-BE49-F238E27FC236}">
                <a16:creationId xmlns:a16="http://schemas.microsoft.com/office/drawing/2014/main" id="{35678168-1931-4691-AE00-06D9EB3AACC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3</a:t>
            </a:r>
          </a:p>
        </p:txBody>
      </p:sp>
      <p:sp>
        <p:nvSpPr>
          <p:cNvPr id="16" name="TextBox 27">
            <a:hlinkClick r:id="" action="ppaction://noaction"/>
            <a:extLst>
              <a:ext uri="{FF2B5EF4-FFF2-40B4-BE49-F238E27FC236}">
                <a16:creationId xmlns:a16="http://schemas.microsoft.com/office/drawing/2014/main" id="{C539306A-D9A2-4C3B-990D-EB637785F6F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FFFFFF"/>
                </a:solidFill>
                <a:effectLst/>
                <a:uLnTx/>
                <a:uFillTx/>
                <a:latin typeface="Calibri"/>
                <a:ea typeface="+mn-ea"/>
                <a:cs typeface="+mn-cs"/>
              </a:rPr>
              <a:t>4</a:t>
            </a:r>
          </a:p>
        </p:txBody>
      </p:sp>
      <p:sp>
        <p:nvSpPr>
          <p:cNvPr id="17" name="Oval 28">
            <a:extLst>
              <a:ext uri="{FF2B5EF4-FFF2-40B4-BE49-F238E27FC236}">
                <a16:creationId xmlns:a16="http://schemas.microsoft.com/office/drawing/2014/main" id="{D77D2273-C528-467E-B9E1-374672CB87E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29">
            <a:hlinkClick r:id="" action="ppaction://noaction"/>
            <a:extLst>
              <a:ext uri="{FF2B5EF4-FFF2-40B4-BE49-F238E27FC236}">
                <a16:creationId xmlns:a16="http://schemas.microsoft.com/office/drawing/2014/main" id="{EC35F75D-2B0D-4C6D-B58A-A2709A1A335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A6A6A6"/>
                </a:solidFill>
                <a:effectLst/>
                <a:uLnTx/>
                <a:uFillTx/>
                <a:latin typeface="Calibri"/>
                <a:ea typeface="+mn-ea"/>
                <a:cs typeface="+mn-cs"/>
              </a:rPr>
              <a:t>5</a:t>
            </a:r>
          </a:p>
        </p:txBody>
      </p:sp>
      <p:pic>
        <p:nvPicPr>
          <p:cNvPr id="19" name="Picture 40">
            <a:hlinkClick r:id="rId3" action="ppaction://hlinksldjump"/>
            <a:extLst>
              <a:ext uri="{FF2B5EF4-FFF2-40B4-BE49-F238E27FC236}">
                <a16:creationId xmlns:a16="http://schemas.microsoft.com/office/drawing/2014/main" id="{0F9927EA-9D3C-42FB-84D2-9CEE2D66B44E}"/>
              </a:ext>
            </a:extLst>
          </p:cNvPr>
          <p:cNvPicPr>
            <a:picLocks noChangeAspect="1"/>
          </p:cNvPicPr>
          <p:nvPr/>
        </p:nvPicPr>
        <p:blipFill>
          <a:blip r:embed="rId5">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31">
            <a:hlinkClick r:id="rId3" action="ppaction://hlinksldjump"/>
            <a:extLst>
              <a:ext uri="{FF2B5EF4-FFF2-40B4-BE49-F238E27FC236}">
                <a16:creationId xmlns:a16="http://schemas.microsoft.com/office/drawing/2014/main" id="{8C4CF511-9F75-4F61-ABD7-1653B4B170B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Slide Number Placeholder 5">
            <a:extLst>
              <a:ext uri="{FF2B5EF4-FFF2-40B4-BE49-F238E27FC236}">
                <a16:creationId xmlns:a16="http://schemas.microsoft.com/office/drawing/2014/main" id="{F3347EFD-B512-493D-938B-097689021AD5}"/>
              </a:ext>
            </a:extLst>
          </p:cNvPr>
          <p:cNvSpPr txBox="1"/>
          <p:nvPr/>
        </p:nvSpPr>
        <p:spPr>
          <a:xfrm>
            <a:off x="1164510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B9520A3-7DF6-4639-BDDC-285D47FAD971}"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43</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22" name="Rectangle 33">
            <a:extLst>
              <a:ext uri="{FF2B5EF4-FFF2-40B4-BE49-F238E27FC236}">
                <a16:creationId xmlns:a16="http://schemas.microsoft.com/office/drawing/2014/main" id="{381749EF-1411-4662-9D65-14313B674E2F}"/>
              </a:ext>
            </a:extLst>
          </p:cNvPr>
          <p:cNvSpPr/>
          <p:nvPr/>
        </p:nvSpPr>
        <p:spPr>
          <a:xfrm>
            <a:off x="367200" y="928800"/>
            <a:ext cx="11604458" cy="26161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tab pos="3678238" algn="l"/>
              </a:tabLst>
              <a:defRPr sz="1800" b="0" i="0" u="none" strike="noStrike" kern="0" cap="none" spc="0" baseline="0">
                <a:solidFill>
                  <a:srgbClr val="000000"/>
                </a:solidFill>
                <a:uFillTx/>
              </a:defRPr>
            </a:pPr>
            <a:r>
              <a:rPr kumimoji="0" lang="en-GB" sz="1100" b="0" i="0" u="none" strike="noStrike" kern="1200" cap="none" spc="0" normalizeH="0" baseline="0" noProof="0" dirty="0">
                <a:ln>
                  <a:noFill/>
                </a:ln>
                <a:solidFill>
                  <a:srgbClr val="000000"/>
                </a:solidFill>
                <a:effectLst/>
                <a:uLnTx/>
                <a:uFillTx/>
                <a:latin typeface="Calibri"/>
                <a:ea typeface="+mn-ea"/>
                <a:cs typeface="+mn-cs"/>
              </a:rPr>
              <a:t>Notes: (1) All Declarations are assumed to have been arrived. </a:t>
            </a:r>
            <a:r>
              <a:rPr kumimoji="0" lang="en-GB" sz="1100" b="0" i="0" u="none" strike="noStrike" kern="1200" cap="none" spc="0" normalizeH="0" baseline="0" noProof="0">
                <a:ln>
                  <a:noFill/>
                </a:ln>
                <a:solidFill>
                  <a:srgbClr val="000000"/>
                </a:solidFill>
                <a:effectLst/>
                <a:uLnTx/>
                <a:uFillTx/>
                <a:latin typeface="Calibri"/>
                <a:ea typeface="+mn-ea"/>
                <a:cs typeface="+mn-cs"/>
              </a:rPr>
              <a:t>(2) Approved developers have the capability to submit Exports movement messages.</a:t>
            </a:r>
            <a:endParaRPr kumimoji="0" lang="en-GB" sz="1100" b="0" i="0" u="none" strike="noStrike" kern="1200" cap="none" spc="0" normalizeH="0" baseline="0" noProof="0" dirty="0">
              <a:ln>
                <a:noFill/>
              </a:ln>
              <a:solidFill>
                <a:srgbClr val="000000"/>
              </a:solidFill>
              <a:effectLst/>
              <a:uLnTx/>
              <a:uFillTx/>
              <a:latin typeface="Calibri"/>
              <a:ea typeface="+mn-ea"/>
              <a:cs typeface="+mn-cs"/>
            </a:endParaRPr>
          </a:p>
        </p:txBody>
      </p:sp>
      <p:graphicFrame>
        <p:nvGraphicFramePr>
          <p:cNvPr id="5" name="Table 22">
            <a:extLst>
              <a:ext uri="{FF2B5EF4-FFF2-40B4-BE49-F238E27FC236}">
                <a16:creationId xmlns:a16="http://schemas.microsoft.com/office/drawing/2014/main" id="{3DDAF7FA-C219-299F-1BD9-EC6B7DF9D7AE}"/>
              </a:ext>
            </a:extLst>
          </p:cNvPr>
          <p:cNvGraphicFramePr>
            <a:graphicFrameLocks noGrp="1"/>
          </p:cNvGraphicFramePr>
          <p:nvPr/>
        </p:nvGraphicFramePr>
        <p:xfrm>
          <a:off x="365622" y="1185920"/>
          <a:ext cx="11056405" cy="5191418"/>
        </p:xfrm>
        <a:graphic>
          <a:graphicData uri="http://schemas.openxmlformats.org/drawingml/2006/table">
            <a:tbl>
              <a:tblPr firstRow="1" bandRow="1">
                <a:tableStyleId>{5C22544A-7EE6-4342-B048-85BDC9FD1C3A}</a:tableStyleId>
              </a:tblPr>
              <a:tblGrid>
                <a:gridCol w="338895">
                  <a:extLst>
                    <a:ext uri="{9D8B030D-6E8A-4147-A177-3AD203B41FA5}">
                      <a16:colId xmlns:a16="http://schemas.microsoft.com/office/drawing/2014/main" val="2352989780"/>
                    </a:ext>
                  </a:extLst>
                </a:gridCol>
                <a:gridCol w="1800000">
                  <a:extLst>
                    <a:ext uri="{9D8B030D-6E8A-4147-A177-3AD203B41FA5}">
                      <a16:colId xmlns:a16="http://schemas.microsoft.com/office/drawing/2014/main" val="3382480719"/>
                    </a:ext>
                  </a:extLst>
                </a:gridCol>
                <a:gridCol w="1152000">
                  <a:extLst>
                    <a:ext uri="{9D8B030D-6E8A-4147-A177-3AD203B41FA5}">
                      <a16:colId xmlns:a16="http://schemas.microsoft.com/office/drawing/2014/main" val="169660631"/>
                    </a:ext>
                  </a:extLst>
                </a:gridCol>
                <a:gridCol w="1563798">
                  <a:extLst>
                    <a:ext uri="{9D8B030D-6E8A-4147-A177-3AD203B41FA5}">
                      <a16:colId xmlns:a16="http://schemas.microsoft.com/office/drawing/2014/main" val="712826819"/>
                    </a:ext>
                  </a:extLst>
                </a:gridCol>
                <a:gridCol w="711674">
                  <a:extLst>
                    <a:ext uri="{9D8B030D-6E8A-4147-A177-3AD203B41FA5}">
                      <a16:colId xmlns:a16="http://schemas.microsoft.com/office/drawing/2014/main" val="2204335785"/>
                    </a:ext>
                  </a:extLst>
                </a:gridCol>
                <a:gridCol w="1728335">
                  <a:extLst>
                    <a:ext uri="{9D8B030D-6E8A-4147-A177-3AD203B41FA5}">
                      <a16:colId xmlns:a16="http://schemas.microsoft.com/office/drawing/2014/main" val="3469875932"/>
                    </a:ext>
                  </a:extLst>
                </a:gridCol>
                <a:gridCol w="1389463">
                  <a:extLst>
                    <a:ext uri="{9D8B030D-6E8A-4147-A177-3AD203B41FA5}">
                      <a16:colId xmlns:a16="http://schemas.microsoft.com/office/drawing/2014/main" val="3857972927"/>
                    </a:ext>
                  </a:extLst>
                </a:gridCol>
                <a:gridCol w="2372240">
                  <a:extLst>
                    <a:ext uri="{9D8B030D-6E8A-4147-A177-3AD203B41FA5}">
                      <a16:colId xmlns:a16="http://schemas.microsoft.com/office/drawing/2014/main" val="2470573502"/>
                    </a:ext>
                  </a:extLst>
                </a:gridCol>
              </a:tblGrid>
              <a:tr h="288000">
                <a:tc>
                  <a:txBody>
                    <a:bodyPr/>
                    <a:lstStyle/>
                    <a:p>
                      <a:pPr algn="ctr" fontAlgn="t"/>
                      <a:r>
                        <a:rPr lang="en-GB" sz="1100" b="1" i="0" u="none" strike="noStrike" dirty="0">
                          <a:solidFill>
                            <a:schemeClr val="bg1"/>
                          </a:solidFill>
                          <a:effectLst/>
                          <a:latin typeface="Calibri" panose="020F0502020204030204" pitchFamily="34" charset="0"/>
                        </a:rPr>
                        <a:t>Id</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Scenario / Test Case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Developer Type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Recommended Keyword</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Package Type to use</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Instructions</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ERS/EMR Status</a:t>
                      </a:r>
                    </a:p>
                  </a:txBody>
                  <a:tcPr marL="6350" marR="6350" marT="6350" marB="0" anchor="ctr"/>
                </a:tc>
                <a:tc>
                  <a:txBody>
                    <a:bodyPr/>
                    <a:lstStyle/>
                    <a:p>
                      <a:pPr algn="ctr" fontAlgn="t"/>
                      <a:r>
                        <a:rPr lang="en-GB" sz="1100" b="1" i="0" u="none" strike="noStrike" dirty="0">
                          <a:solidFill>
                            <a:schemeClr val="bg1"/>
                          </a:solidFill>
                          <a:effectLst/>
                          <a:latin typeface="Calibri" panose="020F0502020204030204" pitchFamily="34" charset="0"/>
                        </a:rPr>
                        <a:t>Notes</a:t>
                      </a:r>
                    </a:p>
                  </a:txBody>
                  <a:tcPr marL="6350" marR="6350" marT="6350" marB="0" anchor="ctr"/>
                </a:tc>
                <a:extLst>
                  <a:ext uri="{0D108BD9-81ED-4DB2-BD59-A6C34878D82A}">
                    <a16:rowId xmlns:a16="http://schemas.microsoft.com/office/drawing/2014/main" val="1391959997"/>
                  </a:ext>
                </a:extLst>
              </a:tr>
              <a:tr h="906609">
                <a:tc>
                  <a:txBody>
                    <a:bodyPr/>
                    <a:lstStyle/>
                    <a:p>
                      <a:pPr algn="ctr" fontAlgn="t"/>
                      <a:r>
                        <a:rPr lang="en-GB" sz="1100" b="0" i="0" u="none" strike="noStrike" dirty="0">
                          <a:solidFill>
                            <a:srgbClr val="000000"/>
                          </a:solidFill>
                          <a:effectLst/>
                          <a:latin typeface="Calibri" panose="020F0502020204030204" pitchFamily="34" charset="0"/>
                        </a:rPr>
                        <a:t>12</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to amend a declaration and the amendment be automatically approved.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Submit amendment.</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3</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(Amendment)</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3</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extLst>
                  <a:ext uri="{0D108BD9-81ED-4DB2-BD59-A6C34878D82A}">
                    <a16:rowId xmlns:a16="http://schemas.microsoft.com/office/drawing/2014/main" val="4091136871"/>
                  </a:ext>
                </a:extLst>
              </a:tr>
              <a:tr h="906609">
                <a:tc>
                  <a:txBody>
                    <a:bodyPr/>
                    <a:lstStyle/>
                    <a:p>
                      <a:pPr algn="ctr" fontAlgn="t"/>
                      <a:r>
                        <a:rPr lang="en-GB" sz="1100" b="0" i="0" u="none" strike="noStrike" dirty="0">
                          <a:solidFill>
                            <a:srgbClr val="000000"/>
                          </a:solidFill>
                          <a:effectLst/>
                          <a:latin typeface="Calibri" panose="020F0502020204030204" pitchFamily="34" charset="0"/>
                        </a:rPr>
                        <a:t>13</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to amend a declaration and the amendment be automatically rejected.</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a:solidFill>
                            <a:schemeClr val="tx1"/>
                          </a:solidFill>
                          <a:effectLst/>
                          <a:latin typeface="Calibri" panose="020F0502020204030204" pitchFamily="34" charset="0"/>
                        </a:rPr>
                        <a:t> </a:t>
                      </a:r>
                    </a:p>
                  </a:txBody>
                  <a:tcPr marL="6350" marR="6350" marT="6350" marB="0" anchor="ctr"/>
                </a:tc>
                <a:tc>
                  <a:txBody>
                    <a:bodyPr/>
                    <a:lstStyle/>
                    <a:p>
                      <a:pPr algn="ctr" fontAlgn="t"/>
                      <a:r>
                        <a:rPr lang="en-GB" sz="1100" b="0" i="0" u="none" strike="noStrike">
                          <a:solidFill>
                            <a:schemeClr val="tx1"/>
                          </a:solidFill>
                          <a:effectLst/>
                          <a:latin typeface="Calibri" panose="020F0502020204030204" pitchFamily="34" charset="0"/>
                        </a:rPr>
                        <a:t> </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Submit amendment to remove a mandatory field.</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3</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(Amendment)</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(Amendment rejected)</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Note that no EMR/ERS will be sent on rejection of the amendment request as the state of the declaration does not change. A DMSREJ will be sent to the submitter of the request.</a:t>
                      </a:r>
                    </a:p>
                  </a:txBody>
                  <a:tcPr marL="6350" marR="6350" marT="6350" marB="0" anchor="ctr"/>
                </a:tc>
                <a:extLst>
                  <a:ext uri="{0D108BD9-81ED-4DB2-BD59-A6C34878D82A}">
                    <a16:rowId xmlns:a16="http://schemas.microsoft.com/office/drawing/2014/main" val="1681706108"/>
                  </a:ext>
                </a:extLst>
              </a:tr>
              <a:tr h="906609">
                <a:tc>
                  <a:txBody>
                    <a:bodyPr/>
                    <a:lstStyle/>
                    <a:p>
                      <a:pPr algn="ctr" fontAlgn="t"/>
                      <a:r>
                        <a:rPr lang="en-GB" sz="1100" b="0" i="0" u="none" strike="noStrike" dirty="0">
                          <a:solidFill>
                            <a:srgbClr val="000000"/>
                          </a:solidFill>
                          <a:effectLst/>
                          <a:latin typeface="Calibri" panose="020F0502020204030204" pitchFamily="34" charset="0"/>
                        </a:rPr>
                        <a:t>14</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initially go Route 1 but then be reselected for physical inspection (R2), and then given permission to proceed (P2P) using CDCM</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CSPs only</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Any</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reselect and give declaration P2P.</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(Manual intervention)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14</a:t>
                      </a:r>
                    </a:p>
                    <a:p>
                      <a:pPr algn="l" fontAlgn="t"/>
                      <a:r>
                        <a:rPr lang="en-GB" sz="1100" b="0" i="0" u="none" strike="noStrike" dirty="0">
                          <a:solidFill>
                            <a:schemeClr val="tx1"/>
                          </a:solidFill>
                          <a:effectLst/>
                          <a:latin typeface="Calibri" panose="020F0502020204030204" pitchFamily="34" charset="0"/>
                        </a:rPr>
                        <a:t>(P2P)</a:t>
                      </a:r>
                    </a:p>
                    <a:p>
                      <a:pPr algn="l" fontAlgn="t"/>
                      <a:r>
                        <a:rPr lang="en-GB" sz="1100" b="0" i="0" u="none" strike="noStrike" dirty="0">
                          <a:solidFill>
                            <a:schemeClr val="tx1"/>
                          </a:solidFill>
                          <a:effectLst/>
                          <a:latin typeface="Calibri" panose="020F0502020204030204" pitchFamily="34" charset="0"/>
                        </a:rPr>
                        <a:t>ROE 2, SOE 3</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This scenario requires HMRC support in TT and TDR. Bespoke test windows were held in November 2023 and a subsequent follow up in January 2024 only.</a:t>
                      </a:r>
                    </a:p>
                  </a:txBody>
                  <a:tcPr marL="6350" marR="6350" marT="6350" marB="0" anchor="ctr"/>
                </a:tc>
                <a:extLst>
                  <a:ext uri="{0D108BD9-81ED-4DB2-BD59-A6C34878D82A}">
                    <a16:rowId xmlns:a16="http://schemas.microsoft.com/office/drawing/2014/main" val="2154958610"/>
                  </a:ext>
                </a:extLst>
              </a:tr>
              <a:tr h="906609">
                <a:tc>
                  <a:txBody>
                    <a:bodyPr/>
                    <a:lstStyle/>
                    <a:p>
                      <a:pPr algn="ctr" fontAlgn="t"/>
                      <a:r>
                        <a:rPr lang="en-GB" sz="1100" b="0" i="0" u="none" strike="noStrike" dirty="0">
                          <a:solidFill>
                            <a:srgbClr val="000000"/>
                          </a:solidFill>
                          <a:effectLst/>
                          <a:latin typeface="Calibri" panose="020F0502020204030204" pitchFamily="34" charset="0"/>
                        </a:rPr>
                        <a:t>15</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GB" sz="1100" b="0" i="0" u="none" strike="noStrike" dirty="0">
                          <a:solidFill>
                            <a:schemeClr val="tx1"/>
                          </a:solidFill>
                          <a:effectLst/>
                          <a:latin typeface="Calibri" panose="020F0502020204030204" pitchFamily="34" charset="0"/>
                        </a:rPr>
                        <a:t>I would like the declaration to initially go Route 1 but then be reselected for physical inspection (R2), and then seized using CDCM.</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CSPs only</a:t>
                      </a:r>
                    </a:p>
                  </a:txBody>
                  <a:tcPr marL="6350" marR="6350" marT="6350" marB="0" anchor="ctr"/>
                </a:tc>
                <a:tc>
                  <a:txBody>
                    <a:bodyPr/>
                    <a:lstStyle/>
                    <a:p>
                      <a:pPr algn="l" fontAlgn="t"/>
                      <a:r>
                        <a:rPr lang="en-GB" sz="1100" b="0" i="0" u="none" strike="noStrike" dirty="0" err="1">
                          <a:solidFill>
                            <a:schemeClr val="tx1"/>
                          </a:solidFill>
                          <a:effectLst/>
                          <a:latin typeface="Calibri" panose="020F0502020204030204" pitchFamily="34" charset="0"/>
                        </a:rPr>
                        <a:t>ttdocblockingF</a:t>
                      </a:r>
                      <a:endParaRPr lang="en-GB" sz="1100" b="0" i="0" u="none" strike="noStrike" dirty="0">
                        <a:solidFill>
                          <a:schemeClr val="tx1"/>
                        </a:solidFill>
                        <a:effectLst/>
                        <a:latin typeface="Calibri" panose="020F0502020204030204" pitchFamily="34" charset="0"/>
                      </a:endParaRP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Any</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GB" sz="1100" b="0" i="0" u="none" strike="noStrike" dirty="0">
                          <a:solidFill>
                            <a:schemeClr val="tx1"/>
                          </a:solidFill>
                          <a:effectLst/>
                          <a:latin typeface="Calibri" panose="020F0502020204030204" pitchFamily="34" charset="0"/>
                        </a:rPr>
                        <a:t>Arrive the DUCR.</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Request HMRC reselect and seize declaration.</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1, SOE 14</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(Manual intervention)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2, SOE 14</a:t>
                      </a:r>
                    </a:p>
                    <a:p>
                      <a:pPr algn="l" fontAlgn="t"/>
                      <a:r>
                        <a:rPr lang="en-GB" sz="1100" b="0" i="0" u="none" strike="noStrike" dirty="0">
                          <a:solidFill>
                            <a:schemeClr val="tx1"/>
                          </a:solidFill>
                          <a:effectLst/>
                          <a:latin typeface="Calibri" panose="020F0502020204030204" pitchFamily="34" charset="0"/>
                        </a:rPr>
                        <a:t>(Seizure)</a:t>
                      </a:r>
                    </a:p>
                    <a:p>
                      <a:pPr algn="l" fontAlgn="t"/>
                      <a:r>
                        <a:rPr lang="en-GB" sz="1100" b="0" i="0" u="none" strike="noStrike" dirty="0">
                          <a:solidFill>
                            <a:schemeClr val="tx1"/>
                          </a:solidFill>
                          <a:effectLst/>
                          <a:latin typeface="Calibri" panose="020F0502020204030204" pitchFamily="34" charset="0"/>
                        </a:rPr>
                        <a:t>ROE 2, SOE 4</a:t>
                      </a:r>
                    </a:p>
                  </a:txBody>
                  <a:tcPr marL="6350" marR="6350" marT="6350" marB="0"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GB" sz="1100" b="0" i="0" u="none" strike="noStrike" dirty="0">
                          <a:solidFill>
                            <a:schemeClr val="tx1"/>
                          </a:solidFill>
                          <a:effectLst/>
                          <a:latin typeface="Calibri" panose="020F0502020204030204" pitchFamily="34" charset="0"/>
                        </a:rPr>
                        <a:t>This scenario requires HMRC support in TT and TDR. Bespoke test windows were held in November 2023 and a subsequent follow up in January 2024 only.</a:t>
                      </a:r>
                    </a:p>
                  </a:txBody>
                  <a:tcPr marL="6350" marR="6350" marT="6350" marB="0" anchor="ctr"/>
                </a:tc>
                <a:extLst>
                  <a:ext uri="{0D108BD9-81ED-4DB2-BD59-A6C34878D82A}">
                    <a16:rowId xmlns:a16="http://schemas.microsoft.com/office/drawing/2014/main" val="1631463863"/>
                  </a:ext>
                </a:extLst>
              </a:tr>
              <a:tr h="906609">
                <a:tc>
                  <a:txBody>
                    <a:bodyPr/>
                    <a:lstStyle/>
                    <a:p>
                      <a:pPr algn="ctr" fontAlgn="t"/>
                      <a:r>
                        <a:rPr lang="en-GB" sz="1100" b="0" i="0" u="none" strike="noStrike" dirty="0">
                          <a:solidFill>
                            <a:srgbClr val="000000"/>
                          </a:solidFill>
                          <a:effectLst/>
                          <a:latin typeface="Calibri" panose="020F0502020204030204" pitchFamily="34" charset="0"/>
                        </a:rPr>
                        <a:t>16</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I would like the declaration to be Rejected on Arrival by rerouting the declaration from a GMVS location to a non-GVMS location.</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Approved developers and CSPs</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ctr" fontAlgn="t"/>
                      <a:r>
                        <a:rPr lang="en-GB" sz="1100" b="0" i="0" u="none" strike="noStrike" dirty="0">
                          <a:solidFill>
                            <a:schemeClr val="tx1"/>
                          </a:solidFill>
                          <a:effectLst/>
                          <a:latin typeface="Calibri" panose="020F0502020204030204" pitchFamily="34" charset="0"/>
                        </a:rPr>
                        <a:t> </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Raise pre-lodged GVMS declaration.</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Arrive the DUCR at non-GVMS location.</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(Arrival)</a:t>
                      </a:r>
                      <a:br>
                        <a:rPr lang="en-GB" sz="1100" b="0" i="0" u="none" strike="noStrike" dirty="0">
                          <a:solidFill>
                            <a:schemeClr val="tx1"/>
                          </a:solidFill>
                          <a:effectLst/>
                          <a:latin typeface="Calibri" panose="020F0502020204030204" pitchFamily="34" charset="0"/>
                        </a:rPr>
                      </a:br>
                      <a:r>
                        <a:rPr lang="en-GB" sz="1100" b="0" i="0" u="none" strike="noStrike" dirty="0">
                          <a:solidFill>
                            <a:schemeClr val="tx1"/>
                          </a:solidFill>
                          <a:effectLst/>
                          <a:latin typeface="Calibri" panose="020F0502020204030204" pitchFamily="34" charset="0"/>
                        </a:rPr>
                        <a:t>ROE 6, SOE 11</a:t>
                      </a:r>
                    </a:p>
                  </a:txBody>
                  <a:tcPr marL="6350" marR="6350" marT="6350" marB="0" anchor="ctr"/>
                </a:tc>
                <a:tc>
                  <a:txBody>
                    <a:bodyPr/>
                    <a:lstStyle/>
                    <a:p>
                      <a:pPr algn="l" fontAlgn="t"/>
                      <a:r>
                        <a:rPr lang="en-GB" sz="1100" b="0" i="0" u="none" strike="noStrike" dirty="0">
                          <a:solidFill>
                            <a:schemeClr val="tx1"/>
                          </a:solidFill>
                          <a:effectLst/>
                          <a:latin typeface="Calibri" panose="020F0502020204030204" pitchFamily="34" charset="0"/>
                        </a:rPr>
                        <a:t>This also works for a non-GVMS declaration being arrived at a GVMS location.</a:t>
                      </a:r>
                    </a:p>
                  </a:txBody>
                  <a:tcPr marL="6350" marR="6350" marT="6350" marB="0" anchor="ctr"/>
                </a:tc>
                <a:extLst>
                  <a:ext uri="{0D108BD9-81ED-4DB2-BD59-A6C34878D82A}">
                    <a16:rowId xmlns:a16="http://schemas.microsoft.com/office/drawing/2014/main" val="200628214"/>
                  </a:ext>
                </a:extLst>
              </a:tr>
            </a:tbl>
          </a:graphicData>
        </a:graphic>
      </p:graphicFrame>
    </p:spTree>
    <p:extLst>
      <p:ext uri="{BB962C8B-B14F-4D97-AF65-F5344CB8AC3E}">
        <p14:creationId xmlns:p14="http://schemas.microsoft.com/office/powerpoint/2010/main" val="121853588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838840303">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3D6C107C-B07B-4F89-A347-CD83BDB736AC}"/>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E846907C-8EA9-43F7-A813-253B442F5CB8}"/>
              </a:ext>
            </a:extLst>
          </p:cNvPr>
          <p:cNvSpPr txBox="1"/>
          <p:nvPr/>
        </p:nvSpPr>
        <p:spPr>
          <a:xfrm>
            <a:off x="391280" y="261225"/>
            <a:ext cx="445102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4" name="Oval 10">
            <a:hlinkClick r:id="rId3" action="ppaction://hlinksldjump"/>
            <a:extLst>
              <a:ext uri="{FF2B5EF4-FFF2-40B4-BE49-F238E27FC236}">
                <a16:creationId xmlns:a16="http://schemas.microsoft.com/office/drawing/2014/main" id="{1970161D-6E98-4D96-887C-A92FD730D1BF}"/>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 name="Oval 11">
            <a:hlinkClick r:id="rId3" action="ppaction://hlinksldjump"/>
            <a:extLst>
              <a:ext uri="{FF2B5EF4-FFF2-40B4-BE49-F238E27FC236}">
                <a16:creationId xmlns:a16="http://schemas.microsoft.com/office/drawing/2014/main" id="{D99ACCF0-C7A7-433E-8F6A-BDA54898257B}"/>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14">
            <a:hlinkClick r:id="rId4" action="ppaction://hlinksldjump"/>
            <a:extLst>
              <a:ext uri="{FF2B5EF4-FFF2-40B4-BE49-F238E27FC236}">
                <a16:creationId xmlns:a16="http://schemas.microsoft.com/office/drawing/2014/main" id="{4D85BF0D-49F2-4CFA-9A06-C491BC52F15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16">
            <a:hlinkClick r:id="rId5" action="ppaction://hlinksldjump"/>
            <a:extLst>
              <a:ext uri="{FF2B5EF4-FFF2-40B4-BE49-F238E27FC236}">
                <a16:creationId xmlns:a16="http://schemas.microsoft.com/office/drawing/2014/main" id="{ADB5B965-6762-40F3-B771-1D113AB357ED}"/>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TextBox 17">
            <a:hlinkClick r:id="rId3" action="ppaction://hlinksldjump"/>
            <a:extLst>
              <a:ext uri="{FF2B5EF4-FFF2-40B4-BE49-F238E27FC236}">
                <a16:creationId xmlns:a16="http://schemas.microsoft.com/office/drawing/2014/main" id="{C270E362-5926-496C-92C4-38CAA8F7D00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9" name="TextBox 18">
            <a:hlinkClick r:id="rId3" action="ppaction://hlinksldjump"/>
            <a:extLst>
              <a:ext uri="{FF2B5EF4-FFF2-40B4-BE49-F238E27FC236}">
                <a16:creationId xmlns:a16="http://schemas.microsoft.com/office/drawing/2014/main" id="{DEFBD39A-52B8-48CB-BE57-1D40E7C8952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0" name="TextBox 19">
            <a:hlinkClick r:id="rId4" action="ppaction://hlinksldjump"/>
            <a:extLst>
              <a:ext uri="{FF2B5EF4-FFF2-40B4-BE49-F238E27FC236}">
                <a16:creationId xmlns:a16="http://schemas.microsoft.com/office/drawing/2014/main" id="{159105A4-24FD-4EA9-BD68-CD12F4EB36C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1" name="TextBox 20">
            <a:hlinkClick r:id="rId4" action="ppaction://hlinksldjump"/>
            <a:extLst>
              <a:ext uri="{FF2B5EF4-FFF2-40B4-BE49-F238E27FC236}">
                <a16:creationId xmlns:a16="http://schemas.microsoft.com/office/drawing/2014/main" id="{22D36EED-ABD2-432F-8F97-EBB132910C3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2" name="Oval 21">
            <a:extLst>
              <a:ext uri="{FF2B5EF4-FFF2-40B4-BE49-F238E27FC236}">
                <a16:creationId xmlns:a16="http://schemas.microsoft.com/office/drawing/2014/main" id="{B444F08A-51C0-42DD-A648-56A966063FF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22">
            <a:hlinkClick r:id="rId6" action="ppaction://hlinksldjump"/>
            <a:extLst>
              <a:ext uri="{FF2B5EF4-FFF2-40B4-BE49-F238E27FC236}">
                <a16:creationId xmlns:a16="http://schemas.microsoft.com/office/drawing/2014/main" id="{166F4229-BAE6-4FB7-B3F4-65088B09AB6F}"/>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4" name="Picture 40">
            <a:hlinkClick r:id="rId3" action="ppaction://hlinksldjump"/>
            <a:extLst>
              <a:ext uri="{FF2B5EF4-FFF2-40B4-BE49-F238E27FC236}">
                <a16:creationId xmlns:a16="http://schemas.microsoft.com/office/drawing/2014/main" id="{C32EBC2C-75A7-470C-98FD-4E738D50350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5" name="Oval 26">
            <a:hlinkClick r:id="rId3" action="ppaction://hlinksldjump"/>
            <a:extLst>
              <a:ext uri="{FF2B5EF4-FFF2-40B4-BE49-F238E27FC236}">
                <a16:creationId xmlns:a16="http://schemas.microsoft.com/office/drawing/2014/main" id="{5F98C68A-9A40-43B5-B5C6-84394D0AB05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Slide Number Placeholder 5">
            <a:extLst>
              <a:ext uri="{FF2B5EF4-FFF2-40B4-BE49-F238E27FC236}">
                <a16:creationId xmlns:a16="http://schemas.microsoft.com/office/drawing/2014/main" id="{2FD5D46E-26F8-4747-ABE1-93D748CDCBFA}"/>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4DA8B2C-404E-4B2A-8574-8F3FAF1A0B84}" type="slidenum">
              <a:rPr sz="1200"/>
              <a:t>44</a:t>
            </a:fld>
            <a:endParaRPr lang="en-GB" sz="1200" b="0" i="0" u="none" strike="noStrike" kern="1200" cap="none" spc="0" baseline="0" dirty="0">
              <a:solidFill>
                <a:srgbClr val="000000"/>
              </a:solidFill>
              <a:uFillTx/>
              <a:latin typeface="Calibri"/>
            </a:endParaRPr>
          </a:p>
        </p:txBody>
      </p:sp>
      <p:sp>
        <p:nvSpPr>
          <p:cNvPr id="18" name="Footer Placeholder 1">
            <a:extLst>
              <a:ext uri="{FF2B5EF4-FFF2-40B4-BE49-F238E27FC236}">
                <a16:creationId xmlns:a16="http://schemas.microsoft.com/office/drawing/2014/main" id="{FB7C2F90-4A47-4379-97C9-EE00EECBAEAC}"/>
              </a:ext>
            </a:extLst>
          </p:cNvPr>
          <p:cNvSpPr txBox="1"/>
          <p:nvPr/>
        </p:nvSpPr>
        <p:spPr>
          <a:xfrm>
            <a:off x="2871755" y="1025124"/>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19" name="Rectangle 38">
            <a:extLst>
              <a:ext uri="{FF2B5EF4-FFF2-40B4-BE49-F238E27FC236}">
                <a16:creationId xmlns:a16="http://schemas.microsoft.com/office/drawing/2014/main" id="{2E1CFB4A-6FA8-439A-A2F0-DB2CD31FADF7}"/>
              </a:ext>
            </a:extLst>
          </p:cNvPr>
          <p:cNvSpPr/>
          <p:nvPr/>
        </p:nvSpPr>
        <p:spPr>
          <a:xfrm>
            <a:off x="446483" y="661952"/>
            <a:ext cx="11356966" cy="5623806"/>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39">
            <a:extLst>
              <a:ext uri="{FF2B5EF4-FFF2-40B4-BE49-F238E27FC236}">
                <a16:creationId xmlns:a16="http://schemas.microsoft.com/office/drawing/2014/main" id="{C96EA915-D160-4536-A59A-AABFB76651EF}"/>
              </a:ext>
            </a:extLst>
          </p:cNvPr>
          <p:cNvSpPr/>
          <p:nvPr/>
        </p:nvSpPr>
        <p:spPr>
          <a:xfrm rot="16200004">
            <a:off x="-2343291" y="3326912"/>
            <a:ext cx="5623806" cy="285347"/>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RELEVANT XML SAMPLES</a:t>
            </a:r>
          </a:p>
        </p:txBody>
      </p:sp>
      <p:sp>
        <p:nvSpPr>
          <p:cNvPr id="21" name="TextBox 40">
            <a:extLst>
              <a:ext uri="{FF2B5EF4-FFF2-40B4-BE49-F238E27FC236}">
                <a16:creationId xmlns:a16="http://schemas.microsoft.com/office/drawing/2014/main" id="{7F73788B-004B-48F7-A726-430DF5119F26}"/>
              </a:ext>
            </a:extLst>
          </p:cNvPr>
          <p:cNvSpPr txBox="1"/>
          <p:nvPr/>
        </p:nvSpPr>
        <p:spPr>
          <a:xfrm>
            <a:off x="651610" y="649992"/>
            <a:ext cx="11029547" cy="589392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Initiating a Control Task for Imports or Exports</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TT_IM34b</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rPr>
              <a:t>Inventory-linked Type A Frontier non- ALVS declaration where "ttphysicalW" is entered in the goods description field on the goods item. The indicative duty is calculated and Trader notifications are sent to the CSP before the final calculation is processed. The following responses are also expected: Validate Movement Request contains ROE = "0", CSP status notification contains ROE = "2W", DIS query response contains ROE = "2W" </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TT_IM34a</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rPr>
              <a:t>Inventory-linked Type D  pre-lodged ALVS declaration where "ttalvsHMI" is entered in the goods description field on the goods item. The indicative duty is calculated and Trader notifications are sent to the CSP before the final calculation is processed. The following responses are also expected: Validate Movement Request contains ROE = "H", CSP status notification contains ROE = "H0", DIS query response contains ROE = "H" </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br>
              <a:rPr lang="en-GB" sz="1400" b="1" i="0" u="none" strike="noStrike" kern="1200" cap="none" spc="0" baseline="0">
                <a:solidFill>
                  <a:srgbClr val="000000"/>
                </a:solidFill>
                <a:uFillTx/>
                <a:latin typeface="Calibri"/>
              </a:rPr>
            </a:br>
            <a:r>
              <a:rPr lang="en-GB" sz="1400" b="1" i="0" u="none" strike="noStrike" kern="1200" cap="none" spc="0" baseline="0">
                <a:solidFill>
                  <a:srgbClr val="000000"/>
                </a:solidFill>
                <a:uFillTx/>
                <a:latin typeface="Calibri"/>
              </a:rPr>
              <a:t>Initiating a DMSALV Notification for Imports or Exports</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TT_IM35a</a:t>
            </a:r>
            <a:endParaRPr lang="en-GB" sz="1200" b="1" i="1"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rPr>
              <a:t>Inventory-linked Type A Frontier ALVS declaration triggering a control where "ttalvsdecisionHold1" is entered in the goods description field on the goods item. DMSALV Trader notification is generated which contains the decision code H01 and a control response is sent to DMS stating that the goods cannot be cleared. </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endParaRPr lang="en-GB" sz="300" b="0" i="0" u="none" strike="noStrike" kern="1200" cap="none" spc="0" baseline="0">
              <a:solidFill>
                <a:srgbClr val="000000"/>
              </a:solidFill>
              <a:uFillTx/>
              <a:latin typeface="Calibri" pitchFamily="34"/>
            </a:endParaRP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br>
              <a:rPr lang="en-GB" sz="1400" b="1" i="0" u="none" strike="noStrike" kern="1200" cap="none" spc="0" baseline="0">
                <a:solidFill>
                  <a:srgbClr val="000000"/>
                </a:solidFill>
                <a:uFillTx/>
                <a:latin typeface="Calibri" pitchFamily="34"/>
              </a:rPr>
            </a:br>
            <a:r>
              <a:rPr lang="en-GB" sz="1400" b="1" i="0" u="none" strike="noStrike" kern="1200" cap="none" spc="0" baseline="0">
                <a:solidFill>
                  <a:srgbClr val="000000"/>
                </a:solidFill>
                <a:uFillTx/>
                <a:latin typeface="Calibri" pitchFamily="34"/>
              </a:rPr>
              <a:t>Adding a Security and Removing a Goods Item following a Control Task</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TT_IM16a</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Add Security Following a Control Task: Type A declaration with goods item deemed to be undervalued and subject to a blocking control. Amendment to manually override the duty calculations by declaring "UVC01" and add a security by using MoP "R", along with an amendment reason code of "Amend Security - Undervaluation".</a:t>
            </a: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TT_IM17a</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Remove Goods Items Not Subject to Controls: Type A declaration with three goods items. Two items are subject to controls ttimportphysical and ttimportdocblocking. Amendment submitted to remove item that is not controlled. Caseworker then clears the controls, but in TT and TDR the emulator will clear the controls automatically.</a:t>
            </a: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300"/>
              </a:spcAft>
              <a:buNone/>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TT_IM17b</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Remove Goods Item that Requires an Electronic Licence and is Not Subject to Control: Type A declaration has two goods items. One item requires a valid internal electronic licence (DiT) with status code 'EP' . The other item is subject to a blocking control. Amendment submitted to remove the item that is not controlled. Caseworker then clears the controls, but in TT and TDR the emulator will clear the controls automatically. </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838840304">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7DFD267B-2067-429F-8084-59169F04BDD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28F5A46-9A5F-4DB1-BB14-3AF64AE7BBF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7ABE806-9BB5-4F18-8E59-F69B0B5817E6}"/>
              </a:ext>
            </a:extLst>
          </p:cNvPr>
          <p:cNvSpPr txBox="1"/>
          <p:nvPr/>
        </p:nvSpPr>
        <p:spPr>
          <a:xfrm>
            <a:off x="363967" y="248844"/>
            <a:ext cx="4347213"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Rectangle 4">
            <a:extLst>
              <a:ext uri="{FF2B5EF4-FFF2-40B4-BE49-F238E27FC236}">
                <a16:creationId xmlns:a16="http://schemas.microsoft.com/office/drawing/2014/main" id="{825E5DE1-62D6-4808-A608-EAFF1C6C94CD}"/>
              </a:ext>
            </a:extLst>
          </p:cNvPr>
          <p:cNvSpPr/>
          <p:nvPr/>
        </p:nvSpPr>
        <p:spPr>
          <a:xfrm>
            <a:off x="347700" y="747000"/>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Simulated Quota Service</a:t>
            </a:r>
          </a:p>
        </p:txBody>
      </p:sp>
      <p:sp>
        <p:nvSpPr>
          <p:cNvPr id="7" name="Slide Number Placeholder 5">
            <a:extLst>
              <a:ext uri="{FF2B5EF4-FFF2-40B4-BE49-F238E27FC236}">
                <a16:creationId xmlns:a16="http://schemas.microsoft.com/office/drawing/2014/main" id="{8BE6D221-8FE7-4C93-8885-F023DFCE5CB1}"/>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F16CB34-8586-4406-A7D6-292B95004108}" type="slidenum">
              <a:rPr sz="1200"/>
              <a:t>45</a:t>
            </a:fld>
            <a:endParaRPr lang="en-GB" sz="1200" b="0" i="0" u="none" strike="noStrike" kern="1200" cap="none" spc="0" baseline="0">
              <a:solidFill>
                <a:srgbClr val="000000"/>
              </a:solidFill>
              <a:uFillTx/>
              <a:latin typeface="Calibri"/>
            </a:endParaRPr>
          </a:p>
        </p:txBody>
      </p:sp>
      <p:sp>
        <p:nvSpPr>
          <p:cNvPr id="8" name="Oval 48">
            <a:hlinkClick r:id="rId2" action="ppaction://hlinksldjump"/>
            <a:extLst>
              <a:ext uri="{FF2B5EF4-FFF2-40B4-BE49-F238E27FC236}">
                <a16:creationId xmlns:a16="http://schemas.microsoft.com/office/drawing/2014/main" id="{93F145AB-5411-4BD7-A7AE-149BCEDC866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49">
            <a:hlinkClick r:id="rId2" action="ppaction://hlinksldjump"/>
            <a:extLst>
              <a:ext uri="{FF2B5EF4-FFF2-40B4-BE49-F238E27FC236}">
                <a16:creationId xmlns:a16="http://schemas.microsoft.com/office/drawing/2014/main" id="{D7BEC7BB-1287-4449-B864-079EE0950244}"/>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50">
            <a:hlinkClick r:id="rId3" action="ppaction://hlinksldjump"/>
            <a:extLst>
              <a:ext uri="{FF2B5EF4-FFF2-40B4-BE49-F238E27FC236}">
                <a16:creationId xmlns:a16="http://schemas.microsoft.com/office/drawing/2014/main" id="{9EE381EB-1A79-42BC-8473-B66D54E8B73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51">
            <a:hlinkClick r:id="rId4" action="ppaction://hlinksldjump"/>
            <a:extLst>
              <a:ext uri="{FF2B5EF4-FFF2-40B4-BE49-F238E27FC236}">
                <a16:creationId xmlns:a16="http://schemas.microsoft.com/office/drawing/2014/main" id="{D13FC42F-6361-465A-99EE-5A36862D98D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52">
            <a:hlinkClick r:id="rId2" action="ppaction://hlinksldjump"/>
            <a:extLst>
              <a:ext uri="{FF2B5EF4-FFF2-40B4-BE49-F238E27FC236}">
                <a16:creationId xmlns:a16="http://schemas.microsoft.com/office/drawing/2014/main" id="{EDCDE2AA-61E5-4EEC-A101-98D0E42F1547}"/>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53">
            <a:hlinkClick r:id="rId2" action="ppaction://hlinksldjump"/>
            <a:extLst>
              <a:ext uri="{FF2B5EF4-FFF2-40B4-BE49-F238E27FC236}">
                <a16:creationId xmlns:a16="http://schemas.microsoft.com/office/drawing/2014/main" id="{918539F9-7E82-4784-BE32-91538C5D3A5B}"/>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54">
            <a:hlinkClick r:id="rId3" action="ppaction://hlinksldjump"/>
            <a:extLst>
              <a:ext uri="{FF2B5EF4-FFF2-40B4-BE49-F238E27FC236}">
                <a16:creationId xmlns:a16="http://schemas.microsoft.com/office/drawing/2014/main" id="{43AD0C63-AE8C-45BC-AEA4-D39B7DA37B1F}"/>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5" name="TextBox 55">
            <a:hlinkClick r:id="rId3" action="ppaction://hlinksldjump"/>
            <a:extLst>
              <a:ext uri="{FF2B5EF4-FFF2-40B4-BE49-F238E27FC236}">
                <a16:creationId xmlns:a16="http://schemas.microsoft.com/office/drawing/2014/main" id="{602EE135-4588-4BB1-B144-470F51DCF19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6" name="Oval 56">
            <a:extLst>
              <a:ext uri="{FF2B5EF4-FFF2-40B4-BE49-F238E27FC236}">
                <a16:creationId xmlns:a16="http://schemas.microsoft.com/office/drawing/2014/main" id="{B34DA43C-13EA-449F-97A7-FA9366520580}"/>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7">
            <a:hlinkClick r:id="rId5" action="ppaction://hlinksldjump"/>
            <a:extLst>
              <a:ext uri="{FF2B5EF4-FFF2-40B4-BE49-F238E27FC236}">
                <a16:creationId xmlns:a16="http://schemas.microsoft.com/office/drawing/2014/main" id="{1D02E862-661E-4801-AF52-DA45D70D1FE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2" action="ppaction://hlinksldjump"/>
            <a:extLst>
              <a:ext uri="{FF2B5EF4-FFF2-40B4-BE49-F238E27FC236}">
                <a16:creationId xmlns:a16="http://schemas.microsoft.com/office/drawing/2014/main" id="{2841F958-5FAB-47B7-BA1C-AB0C5D1006CF}"/>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59">
            <a:hlinkClick r:id="rId2" action="ppaction://hlinksldjump"/>
            <a:extLst>
              <a:ext uri="{FF2B5EF4-FFF2-40B4-BE49-F238E27FC236}">
                <a16:creationId xmlns:a16="http://schemas.microsoft.com/office/drawing/2014/main" id="{2199F65D-0B23-4590-9052-C7CA59C02BF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3">
            <a:extLst>
              <a:ext uri="{FF2B5EF4-FFF2-40B4-BE49-F238E27FC236}">
                <a16:creationId xmlns:a16="http://schemas.microsoft.com/office/drawing/2014/main" id="{7979047A-1EFC-4636-9A29-583133F03CE4}"/>
              </a:ext>
            </a:extLst>
          </p:cNvPr>
          <p:cNvSpPr/>
          <p:nvPr/>
        </p:nvSpPr>
        <p:spPr>
          <a:xfrm>
            <a:off x="347700" y="1126504"/>
            <a:ext cx="11355549" cy="68480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the TT and TDR environments do not support live quota data, a simulated quota service has been developed for TT and TDR via the quota emulator. In this simulated service, predefined quota order numbers must be included on the declaration to trigger the associated quota allocation scenario and security deposit, if applicable.</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EU Quota cannot be claimed for NI Imports. If EU quota order number beginning with ‘09’ is declared on an NI import declaration, CDS will reject the declaration.</a:t>
            </a:r>
          </a:p>
        </p:txBody>
      </p:sp>
      <p:graphicFrame>
        <p:nvGraphicFramePr>
          <p:cNvPr id="21" name="Table 8">
            <a:extLst>
              <a:ext uri="{FF2B5EF4-FFF2-40B4-BE49-F238E27FC236}">
                <a16:creationId xmlns:a16="http://schemas.microsoft.com/office/drawing/2014/main" id="{0EE07EA8-B12F-4F11-BB0C-2A7EDC898230}"/>
              </a:ext>
            </a:extLst>
          </p:cNvPr>
          <p:cNvGraphicFramePr>
            <a:graphicFrameLocks noGrp="1"/>
          </p:cNvGraphicFramePr>
          <p:nvPr/>
        </p:nvGraphicFramePr>
        <p:xfrm>
          <a:off x="408791" y="2160562"/>
          <a:ext cx="8192877" cy="3332137"/>
        </p:xfrm>
        <a:graphic>
          <a:graphicData uri="http://schemas.openxmlformats.org/drawingml/2006/table">
            <a:tbl>
              <a:tblPr>
                <a:effectLst/>
              </a:tblPr>
              <a:tblGrid>
                <a:gridCol w="8192877">
                  <a:extLst>
                    <a:ext uri="{9D8B030D-6E8A-4147-A177-3AD203B41FA5}">
                      <a16:colId xmlns:a16="http://schemas.microsoft.com/office/drawing/2014/main" val="4263257079"/>
                    </a:ext>
                  </a:extLst>
                </a:gridCol>
              </a:tblGrid>
              <a:tr h="305629">
                <a:tc>
                  <a:txBody>
                    <a:bodyPr/>
                    <a:lstStyle/>
                    <a:p>
                      <a:pPr lvl="0" algn="l" fontAlgn="auto"/>
                      <a:r>
                        <a:rPr lang="en-GB" sz="1200" b="1" i="0">
                          <a:solidFill>
                            <a:srgbClr val="FFFFFF"/>
                          </a:solidFill>
                          <a:latin typeface="Calibri"/>
                        </a:rPr>
                        <a:t>External Test Scope​</a:t>
                      </a:r>
                      <a:endParaRPr lang="en-GB" b="1" i="0">
                        <a:solidFill>
                          <a:srgbClr val="FFFFFF"/>
                        </a:solidFill>
                        <a:latin typeface="Calibri"/>
                      </a:endParaRPr>
                    </a:p>
                  </a:txBody>
                  <a:tcPr anchor="ct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9999"/>
                    </a:solidFill>
                  </a:tcPr>
                </a:tc>
                <a:extLst>
                  <a:ext uri="{0D108BD9-81ED-4DB2-BD59-A6C34878D82A}">
                    <a16:rowId xmlns:a16="http://schemas.microsoft.com/office/drawing/2014/main" val="2627575877"/>
                  </a:ext>
                </a:extLst>
              </a:tr>
              <a:tr h="3026508">
                <a:tc>
                  <a:txBody>
                    <a:bodyPr/>
                    <a:lstStyle/>
                    <a:p>
                      <a:pPr lvl="0">
                        <a:spcBef>
                          <a:spcPts val="300"/>
                        </a:spcBef>
                      </a:pPr>
                      <a:r>
                        <a:rPr lang="en-GB" sz="1200" dirty="0">
                          <a:solidFill>
                            <a:srgbClr val="000000"/>
                          </a:solidFill>
                          <a:latin typeface="Calibri"/>
                        </a:rPr>
                        <a:t>From the December TTM12.2/TDR3.1.0 release, the quota simulator in External Test will now support testing of UK quotas and RPA license testing by distinguishing between First Come First Serve (FCFS) Preferential, and Licensable quotas, whilst also recognising UK quotas in the TT and TDR environments. </a:t>
                      </a:r>
                    </a:p>
                    <a:p>
                      <a:pPr marL="628650" lvl="1" indent="-171450">
                        <a:spcBef>
                          <a:spcPts val="600"/>
                        </a:spcBef>
                        <a:buSzPct val="100000"/>
                        <a:buFont typeface="Arial" pitchFamily="34"/>
                        <a:buChar char="•"/>
                      </a:pPr>
                      <a:r>
                        <a:rPr lang="en-GB" sz="1200" dirty="0">
                          <a:solidFill>
                            <a:srgbClr val="000000"/>
                          </a:solidFill>
                          <a:latin typeface="Calibri"/>
                        </a:rPr>
                        <a:t>CDS will now accept </a:t>
                      </a:r>
                      <a:r>
                        <a:rPr lang="en-GB" sz="1200" b="1" dirty="0">
                          <a:solidFill>
                            <a:srgbClr val="000000"/>
                          </a:solidFill>
                          <a:latin typeface="Calibri"/>
                        </a:rPr>
                        <a:t>UK Quota IDs (beginning with 05) in D.E. 8/1</a:t>
                      </a:r>
                      <a:r>
                        <a:rPr lang="en-GB" sz="1200" dirty="0">
                          <a:solidFill>
                            <a:srgbClr val="000000"/>
                          </a:solidFill>
                          <a:latin typeface="Calibri"/>
                        </a:rPr>
                        <a:t>. </a:t>
                      </a:r>
                    </a:p>
                    <a:p>
                      <a:pPr marL="628650" lvl="1" indent="-171450">
                        <a:spcBef>
                          <a:spcPts val="600"/>
                        </a:spcBef>
                        <a:buSzPct val="100000"/>
                        <a:buFont typeface="Arial" pitchFamily="34"/>
                        <a:buChar char="•"/>
                      </a:pPr>
                      <a:r>
                        <a:rPr lang="en-GB" sz="1200" dirty="0">
                          <a:solidFill>
                            <a:srgbClr val="000000"/>
                          </a:solidFill>
                          <a:latin typeface="Calibri"/>
                        </a:rPr>
                        <a:t>The existing delay will be present for First Come First Served quotas. Licensable quotas are not included in this, and they will not have a delay configured.</a:t>
                      </a:r>
                    </a:p>
                    <a:p>
                      <a:pPr marL="628650" lvl="1" indent="-171450">
                        <a:spcBef>
                          <a:spcPts val="600"/>
                        </a:spcBef>
                        <a:buSzPct val="100000"/>
                        <a:buFont typeface="Arial" pitchFamily="34"/>
                        <a:buChar char="•"/>
                      </a:pPr>
                      <a:r>
                        <a:rPr lang="en-GB" sz="1200" dirty="0">
                          <a:solidFill>
                            <a:srgbClr val="000000"/>
                          </a:solidFill>
                        </a:rPr>
                        <a:t>CDS will be able to facilitate the amendment and cancellation of UK Quota requests. TT &amp; TDR users may amend a declaration with a UK quota claim from a UK quota order number or remove a UK quota order number from a declaration where UK quota was requested. The amendment / cancellation must be received before the end of the dwell time, prior to the quota allocation request being sent beyond CDS. </a:t>
                      </a:r>
                    </a:p>
                    <a:p>
                      <a:pPr marL="457200" lvl="1" indent="0">
                        <a:spcBef>
                          <a:spcPts val="600"/>
                        </a:spcBef>
                        <a:buNone/>
                      </a:pPr>
                      <a:endParaRPr lang="en-GB" sz="1200" dirty="0">
                        <a:solidFill>
                          <a:srgbClr val="000000"/>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019060464"/>
                  </a:ext>
                </a:extLst>
              </a:tr>
            </a:tbl>
          </a:graphicData>
        </a:graphic>
      </p:graphicFrame>
      <p:sp>
        <p:nvSpPr>
          <p:cNvPr id="22" name="Rectangle 4">
            <a:extLst>
              <a:ext uri="{FF2B5EF4-FFF2-40B4-BE49-F238E27FC236}">
                <a16:creationId xmlns:a16="http://schemas.microsoft.com/office/drawing/2014/main" id="{8D919C4A-DEE6-427F-940A-2EE4060D5FEC}"/>
              </a:ext>
            </a:extLst>
          </p:cNvPr>
          <p:cNvSpPr/>
          <p:nvPr/>
        </p:nvSpPr>
        <p:spPr>
          <a:xfrm>
            <a:off x="326614" y="1825133"/>
            <a:ext cx="3860989"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60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Testing Submission of UK Quota and RPA Licences</a:t>
            </a:r>
          </a:p>
        </p:txBody>
      </p:sp>
      <p:graphicFrame>
        <p:nvGraphicFramePr>
          <p:cNvPr id="23" name="Table 1">
            <a:extLst>
              <a:ext uri="{FF2B5EF4-FFF2-40B4-BE49-F238E27FC236}">
                <a16:creationId xmlns:a16="http://schemas.microsoft.com/office/drawing/2014/main" id="{49917751-1ED7-4731-966F-ADBB76FE25F7}"/>
              </a:ext>
            </a:extLst>
          </p:cNvPr>
          <p:cNvGraphicFramePr>
            <a:graphicFrameLocks noGrp="1"/>
          </p:cNvGraphicFramePr>
          <p:nvPr/>
        </p:nvGraphicFramePr>
        <p:xfrm>
          <a:off x="8708571" y="2156895"/>
          <a:ext cx="3168533" cy="3329000"/>
        </p:xfrm>
        <a:graphic>
          <a:graphicData uri="http://schemas.openxmlformats.org/drawingml/2006/table">
            <a:tbl>
              <a:tblPr firstRow="1" bandRow="1">
                <a:effectLst/>
                <a:tableStyleId>{5C22544A-7EE6-4342-B048-85BDC9FD1C3A}</a:tableStyleId>
              </a:tblPr>
              <a:tblGrid>
                <a:gridCol w="3168533">
                  <a:extLst>
                    <a:ext uri="{9D8B030D-6E8A-4147-A177-3AD203B41FA5}">
                      <a16:colId xmlns:a16="http://schemas.microsoft.com/office/drawing/2014/main" val="1659424406"/>
                    </a:ext>
                  </a:extLst>
                </a:gridCol>
              </a:tblGrid>
              <a:tr h="310996">
                <a:tc>
                  <a:txBody>
                    <a:bodyPr/>
                    <a:lstStyle/>
                    <a:p>
                      <a:pPr lvl="0"/>
                      <a:r>
                        <a:rPr lang="en-GB" sz="1200"/>
                        <a:t>Specific External Test Behaviour</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4088410614"/>
                  </a:ext>
                </a:extLst>
              </a:tr>
              <a:tr h="3018004">
                <a:tc>
                  <a:txBody>
                    <a:bodyPr/>
                    <a:lstStyle/>
                    <a:p>
                      <a:pPr marL="0" marR="0" lvl="0" indent="0" algn="l" defTabSz="914400" rtl="0" fontAlgn="auto" hangingPunct="1">
                        <a:lnSpc>
                          <a:spcPct val="100000"/>
                        </a:lnSpc>
                        <a:spcBef>
                          <a:spcPts val="600"/>
                        </a:spcBef>
                        <a:spcAft>
                          <a:spcPts val="0"/>
                        </a:spcAft>
                        <a:buNone/>
                        <a:tabLst/>
                      </a:pPr>
                      <a:r>
                        <a:rPr lang="en-GB" sz="1200" b="0" u="none" dirty="0">
                          <a:solidFill>
                            <a:srgbClr val="000000"/>
                          </a:solidFill>
                          <a:latin typeface="Calibri"/>
                        </a:rPr>
                        <a:t>Please note</a:t>
                      </a:r>
                      <a:r>
                        <a:rPr lang="en-GB" sz="1200" b="0" i="0" dirty="0">
                          <a:solidFill>
                            <a:srgbClr val="000000"/>
                          </a:solidFill>
                          <a:latin typeface="Calibri"/>
                        </a:rPr>
                        <a:t>:​</a:t>
                      </a:r>
                    </a:p>
                    <a:p>
                      <a:pPr marL="171450" lvl="0" indent="-171450">
                        <a:spcBef>
                          <a:spcPts val="600"/>
                        </a:spcBef>
                        <a:buSzPct val="100000"/>
                        <a:buFont typeface="Arial" pitchFamily="34"/>
                        <a:buChar char="•"/>
                      </a:pPr>
                      <a:r>
                        <a:rPr lang="en-GB" sz="1200" b="0" u="none" dirty="0">
                          <a:solidFill>
                            <a:srgbClr val="000000"/>
                          </a:solidFill>
                          <a:latin typeface="Calibri"/>
                        </a:rPr>
                        <a:t>Only </a:t>
                      </a:r>
                      <a:r>
                        <a:rPr lang="en-GB" sz="1200" dirty="0">
                          <a:solidFill>
                            <a:srgbClr val="000000"/>
                          </a:solidFill>
                          <a:latin typeface="Calibri"/>
                        </a:rPr>
                        <a:t>Imports </a:t>
                      </a:r>
                      <a:r>
                        <a:rPr lang="en-GB" sz="1200" b="1" dirty="0">
                          <a:solidFill>
                            <a:srgbClr val="000000"/>
                          </a:solidFill>
                          <a:latin typeface="Calibri"/>
                        </a:rPr>
                        <a:t>type A, D, Y and Z declarations </a:t>
                      </a:r>
                      <a:r>
                        <a:rPr lang="en-GB" sz="1200" dirty="0">
                          <a:solidFill>
                            <a:srgbClr val="000000"/>
                          </a:solidFill>
                          <a:latin typeface="Calibri"/>
                        </a:rPr>
                        <a:t>are in scope for testing. B</a:t>
                      </a:r>
                      <a:r>
                        <a:rPr lang="en-GB" sz="1200" b="0" dirty="0">
                          <a:solidFill>
                            <a:srgbClr val="000000"/>
                          </a:solidFill>
                          <a:latin typeface="Calibri"/>
                        </a:rPr>
                        <a:t>oth</a:t>
                      </a:r>
                      <a:r>
                        <a:rPr lang="en-GB" sz="1200" b="1" dirty="0">
                          <a:solidFill>
                            <a:srgbClr val="000000"/>
                          </a:solidFill>
                          <a:latin typeface="Calibri"/>
                        </a:rPr>
                        <a:t> </a:t>
                      </a:r>
                      <a:r>
                        <a:rPr lang="en-GB" sz="1200" dirty="0">
                          <a:solidFill>
                            <a:srgbClr val="000000"/>
                          </a:solidFill>
                          <a:latin typeface="Calibri"/>
                        </a:rPr>
                        <a:t>Inventory Linked and non-Inventory Linked ports are supported for these scenarios.</a:t>
                      </a:r>
                    </a:p>
                    <a:p>
                      <a:pPr marL="628650" lvl="1" indent="-171450">
                        <a:spcBef>
                          <a:spcPts val="600"/>
                        </a:spcBef>
                        <a:buSzPct val="100000"/>
                        <a:buFont typeface="Arial" pitchFamily="34"/>
                        <a:buChar char="•"/>
                      </a:pPr>
                      <a:r>
                        <a:rPr lang="en-GB" sz="1200" b="1" dirty="0">
                          <a:solidFill>
                            <a:srgbClr val="000000"/>
                          </a:solidFill>
                          <a:latin typeface="Calibri"/>
                        </a:rPr>
                        <a:t>Type D</a:t>
                      </a:r>
                      <a:r>
                        <a:rPr lang="en-GB" sz="1200" dirty="0">
                          <a:solidFill>
                            <a:srgbClr val="000000"/>
                          </a:solidFill>
                          <a:latin typeface="Calibri"/>
                        </a:rPr>
                        <a:t> is </a:t>
                      </a:r>
                      <a:r>
                        <a:rPr lang="en-GB" sz="1200" b="0" dirty="0">
                          <a:solidFill>
                            <a:srgbClr val="000000"/>
                          </a:solidFill>
                          <a:latin typeface="Calibri"/>
                        </a:rPr>
                        <a:t>not relevant </a:t>
                      </a:r>
                      <a:r>
                        <a:rPr lang="en-GB" sz="1200" dirty="0">
                          <a:solidFill>
                            <a:srgbClr val="000000"/>
                          </a:solidFill>
                          <a:latin typeface="Calibri"/>
                        </a:rPr>
                        <a:t>on its own as declaration processing for type D does not involve quota requests. However, it is in scope in the sense that you could submit a type D declaration, which then has a goods arrival notification (making it a type A). Hence, you could submit a type D declaration including quota information.</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350049254"/>
                  </a:ext>
                </a:extLst>
              </a:tr>
            </a:tbl>
          </a:graphicData>
        </a:graphic>
      </p:graphicFrame>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838840326">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730AD26C-E3EA-4733-AAE3-A834A1081DDB}"/>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1F75AD2B-9B83-4F72-8D18-BEBF533BC485}"/>
              </a:ext>
            </a:extLst>
          </p:cNvPr>
          <p:cNvSpPr txBox="1"/>
          <p:nvPr/>
        </p:nvSpPr>
        <p:spPr>
          <a:xfrm>
            <a:off x="391280" y="261225"/>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Slide Number Placeholder 5">
            <a:extLst>
              <a:ext uri="{FF2B5EF4-FFF2-40B4-BE49-F238E27FC236}">
                <a16:creationId xmlns:a16="http://schemas.microsoft.com/office/drawing/2014/main" id="{2A396E05-0578-4611-82D5-1B6105FB3A31}"/>
              </a:ext>
            </a:extLst>
          </p:cNvPr>
          <p:cNvSpPr txBox="1"/>
          <p:nvPr/>
        </p:nvSpPr>
        <p:spPr>
          <a:xfrm>
            <a:off x="11591800" y="6391189"/>
            <a:ext cx="56800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85B507C-6C0F-4EA8-A69B-FCB85DB4C44E}" type="slidenum">
              <a:rPr sz="1200"/>
              <a:t>46</a:t>
            </a:fld>
            <a:endParaRPr lang="en-GB" sz="1200" b="0" i="0" u="none" strike="noStrike" kern="1200" cap="none" spc="0" baseline="0">
              <a:solidFill>
                <a:srgbClr val="000000"/>
              </a:solidFill>
              <a:uFillTx/>
              <a:latin typeface="Calibri"/>
            </a:endParaRPr>
          </a:p>
        </p:txBody>
      </p:sp>
      <p:sp>
        <p:nvSpPr>
          <p:cNvPr id="6" name="Oval 28">
            <a:hlinkClick r:id="rId3" action="ppaction://hlinksldjump"/>
            <a:extLst>
              <a:ext uri="{FF2B5EF4-FFF2-40B4-BE49-F238E27FC236}">
                <a16:creationId xmlns:a16="http://schemas.microsoft.com/office/drawing/2014/main" id="{A62CB19A-135B-4FA0-B1FD-338C8A417F3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9">
            <a:hlinkClick r:id="rId3" action="ppaction://hlinksldjump"/>
            <a:extLst>
              <a:ext uri="{FF2B5EF4-FFF2-40B4-BE49-F238E27FC236}">
                <a16:creationId xmlns:a16="http://schemas.microsoft.com/office/drawing/2014/main" id="{178712AE-50A5-4031-8206-43B7852D8E60}"/>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30">
            <a:hlinkClick r:id="rId4" action="ppaction://hlinksldjump"/>
            <a:extLst>
              <a:ext uri="{FF2B5EF4-FFF2-40B4-BE49-F238E27FC236}">
                <a16:creationId xmlns:a16="http://schemas.microsoft.com/office/drawing/2014/main" id="{1AD82D52-2CE2-48B7-8F67-7963120E04F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31">
            <a:hlinkClick r:id="rId5" action="ppaction://hlinksldjump"/>
            <a:extLst>
              <a:ext uri="{FF2B5EF4-FFF2-40B4-BE49-F238E27FC236}">
                <a16:creationId xmlns:a16="http://schemas.microsoft.com/office/drawing/2014/main" id="{9C83DCF2-35E0-4D5A-A2D9-30408B2ED4A7}"/>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32">
            <a:hlinkClick r:id="rId3" action="ppaction://hlinksldjump"/>
            <a:extLst>
              <a:ext uri="{FF2B5EF4-FFF2-40B4-BE49-F238E27FC236}">
                <a16:creationId xmlns:a16="http://schemas.microsoft.com/office/drawing/2014/main" id="{89BAF097-0876-46A6-81EE-69F6CB5039B9}"/>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1" name="TextBox 33">
            <a:hlinkClick r:id="rId3" action="ppaction://hlinksldjump"/>
            <a:extLst>
              <a:ext uri="{FF2B5EF4-FFF2-40B4-BE49-F238E27FC236}">
                <a16:creationId xmlns:a16="http://schemas.microsoft.com/office/drawing/2014/main" id="{EB200371-3486-4976-BDDE-3E4D66CC24FE}"/>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2" name="TextBox 34">
            <a:hlinkClick r:id="rId4" action="ppaction://hlinksldjump"/>
            <a:extLst>
              <a:ext uri="{FF2B5EF4-FFF2-40B4-BE49-F238E27FC236}">
                <a16:creationId xmlns:a16="http://schemas.microsoft.com/office/drawing/2014/main" id="{CFD4244F-0321-4E2C-BCE3-A2518A766B9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3" name="TextBox 35">
            <a:hlinkClick r:id="rId4" action="ppaction://hlinksldjump"/>
            <a:extLst>
              <a:ext uri="{FF2B5EF4-FFF2-40B4-BE49-F238E27FC236}">
                <a16:creationId xmlns:a16="http://schemas.microsoft.com/office/drawing/2014/main" id="{07BB71DA-F27C-4800-828C-9E69D384EC4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4" name="Oval 36">
            <a:extLst>
              <a:ext uri="{FF2B5EF4-FFF2-40B4-BE49-F238E27FC236}">
                <a16:creationId xmlns:a16="http://schemas.microsoft.com/office/drawing/2014/main" id="{4E2EFEEF-1878-4D15-8EA2-AD6C2080B80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37">
            <a:hlinkClick r:id="rId6" action="ppaction://hlinksldjump"/>
            <a:extLst>
              <a:ext uri="{FF2B5EF4-FFF2-40B4-BE49-F238E27FC236}">
                <a16:creationId xmlns:a16="http://schemas.microsoft.com/office/drawing/2014/main" id="{4A99C734-D34E-47F0-B901-E6228D5048F2}"/>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6" name="Picture 40">
            <a:hlinkClick r:id="rId3" action="ppaction://hlinksldjump"/>
            <a:extLst>
              <a:ext uri="{FF2B5EF4-FFF2-40B4-BE49-F238E27FC236}">
                <a16:creationId xmlns:a16="http://schemas.microsoft.com/office/drawing/2014/main" id="{5064838A-0AD3-44A8-8CBA-452B14C1FBF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7" name="Oval 39">
            <a:hlinkClick r:id="rId3" action="ppaction://hlinksldjump"/>
            <a:extLst>
              <a:ext uri="{FF2B5EF4-FFF2-40B4-BE49-F238E27FC236}">
                <a16:creationId xmlns:a16="http://schemas.microsoft.com/office/drawing/2014/main" id="{720928EA-AF12-4FC8-A48A-172AB1F072D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Rectangle 40">
            <a:extLst>
              <a:ext uri="{FF2B5EF4-FFF2-40B4-BE49-F238E27FC236}">
                <a16:creationId xmlns:a16="http://schemas.microsoft.com/office/drawing/2014/main" id="{ADA02906-2E0A-41AE-9B9E-118DB7B3F81F}"/>
              </a:ext>
            </a:extLst>
          </p:cNvPr>
          <p:cNvSpPr/>
          <p:nvPr/>
        </p:nvSpPr>
        <p:spPr>
          <a:xfrm>
            <a:off x="391280" y="2009174"/>
            <a:ext cx="5743044"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UK Tariff: First Come First Served Quota and Non-Preferential FCFS Quota</a:t>
            </a:r>
          </a:p>
        </p:txBody>
      </p:sp>
      <p:sp>
        <p:nvSpPr>
          <p:cNvPr id="19" name="Rectangle 4">
            <a:extLst>
              <a:ext uri="{FF2B5EF4-FFF2-40B4-BE49-F238E27FC236}">
                <a16:creationId xmlns:a16="http://schemas.microsoft.com/office/drawing/2014/main" id="{A438EA35-4B83-44F7-A418-F92ED73A2251}"/>
              </a:ext>
            </a:extLst>
          </p:cNvPr>
          <p:cNvSpPr/>
          <p:nvPr/>
        </p:nvSpPr>
        <p:spPr>
          <a:xfrm>
            <a:off x="399446" y="717721"/>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Simulated Quota Service</a:t>
            </a:r>
          </a:p>
        </p:txBody>
      </p:sp>
      <p:sp>
        <p:nvSpPr>
          <p:cNvPr id="20" name="Rectangle 3">
            <a:extLst>
              <a:ext uri="{FF2B5EF4-FFF2-40B4-BE49-F238E27FC236}">
                <a16:creationId xmlns:a16="http://schemas.microsoft.com/office/drawing/2014/main" id="{11DDCA90-FBAF-46E8-93C0-7E5462E8DAC4}"/>
              </a:ext>
            </a:extLst>
          </p:cNvPr>
          <p:cNvSpPr/>
          <p:nvPr/>
        </p:nvSpPr>
        <p:spPr>
          <a:xfrm>
            <a:off x="401458" y="1064727"/>
            <a:ext cx="11355549" cy="92333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the previous slides on the Simulated Quota Service, predefined quota order numbers must be included on the declaration to trigger the associated quota allocation scenario and security deposit, if applicable.</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endParaRPr lang="en-GB" sz="1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EU Quota cannot be claimed for NI Imports. If EU quota order number beginning with ‘09’ is declared on an NI import declaration, CDS will reject the declaration. UK quota may only be claimed on GB-RoW imports or NI-RoW ‘not at risk’ imports.</a:t>
            </a:r>
            <a:r>
              <a:rPr lang="en-GB" sz="1200" b="0" i="0" u="none" strike="noStrike" kern="1200" cap="none" spc="0" baseline="0">
                <a:solidFill>
                  <a:srgbClr val="FF0000"/>
                </a:solidFill>
                <a:uFillTx/>
                <a:latin typeface="Calibri"/>
              </a:rPr>
              <a:t> </a:t>
            </a:r>
            <a:r>
              <a:rPr lang="en-GB" sz="1200" b="0" i="0" u="none" strike="noStrike" kern="1200" cap="none" spc="0" baseline="0">
                <a:solidFill>
                  <a:srgbClr val="000000"/>
                </a:solidFill>
                <a:uFillTx/>
                <a:latin typeface="Calibri"/>
              </a:rPr>
              <a:t>If these are incorrectly entered the declaration will be rejected with a CDS40010 error message.</a:t>
            </a:r>
          </a:p>
        </p:txBody>
      </p:sp>
      <p:graphicFrame>
        <p:nvGraphicFramePr>
          <p:cNvPr id="21" name="Table 42">
            <a:extLst>
              <a:ext uri="{FF2B5EF4-FFF2-40B4-BE49-F238E27FC236}">
                <a16:creationId xmlns:a16="http://schemas.microsoft.com/office/drawing/2014/main" id="{4A63C10A-15D1-4B95-A087-E942C9188F1B}"/>
              </a:ext>
            </a:extLst>
          </p:cNvPr>
          <p:cNvGraphicFramePr>
            <a:graphicFrameLocks noGrp="1"/>
          </p:cNvGraphicFramePr>
          <p:nvPr/>
        </p:nvGraphicFramePr>
        <p:xfrm>
          <a:off x="488115" y="2307424"/>
          <a:ext cx="6662327" cy="3878580"/>
        </p:xfrm>
        <a:graphic>
          <a:graphicData uri="http://schemas.openxmlformats.org/drawingml/2006/table">
            <a:tbl>
              <a:tblPr>
                <a:effectLst/>
              </a:tblPr>
              <a:tblGrid>
                <a:gridCol w="6662327">
                  <a:extLst>
                    <a:ext uri="{9D8B030D-6E8A-4147-A177-3AD203B41FA5}">
                      <a16:colId xmlns:a16="http://schemas.microsoft.com/office/drawing/2014/main" val="3931003801"/>
                    </a:ext>
                  </a:extLst>
                </a:gridCol>
              </a:tblGrid>
              <a:tr h="0">
                <a:tc>
                  <a:txBody>
                    <a:bodyPr/>
                    <a:lstStyle/>
                    <a:p>
                      <a:pPr lvl="0" algn="l" fontAlgn="auto"/>
                      <a:r>
                        <a:rPr lang="en-GB" sz="1200" b="1" i="0">
                          <a:solidFill>
                            <a:srgbClr val="FFFFFF"/>
                          </a:solidFill>
                          <a:latin typeface="Calibri"/>
                        </a:rPr>
                        <a:t>External Test Scope​</a:t>
                      </a:r>
                      <a:endParaRPr lang="en-GB" b="1" i="0">
                        <a:solidFill>
                          <a:srgbClr val="FFFFFF"/>
                        </a:solidFill>
                        <a:latin typeface="Calibri"/>
                      </a:endParaRPr>
                    </a:p>
                  </a:txBody>
                  <a:tcPr anchor="ct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9999"/>
                    </a:solidFill>
                  </a:tcPr>
                </a:tc>
                <a:extLst>
                  <a:ext uri="{0D108BD9-81ED-4DB2-BD59-A6C34878D82A}">
                    <a16:rowId xmlns:a16="http://schemas.microsoft.com/office/drawing/2014/main" val="4274681251"/>
                  </a:ext>
                </a:extLst>
              </a:tr>
              <a:tr h="2004447">
                <a:tc>
                  <a:txBody>
                    <a:bodyPr/>
                    <a:lstStyle/>
                    <a:p>
                      <a:pPr lvl="0">
                        <a:spcBef>
                          <a:spcPts val="300"/>
                        </a:spcBef>
                      </a:pPr>
                      <a:r>
                        <a:rPr lang="en-GB" sz="1200" dirty="0">
                          <a:solidFill>
                            <a:srgbClr val="000000"/>
                          </a:solidFill>
                          <a:latin typeface="Calibri"/>
                        </a:rPr>
                        <a:t>From TTM12.2/TDR3.1.0, the quota simulator in External Test will support testing of UK FCFS quota validation and calculation in both TT and TDR. CDS will validate that the UK quota order number is connected to the commodity code combination entered in D.E. 6/14-6/15 and the country of origin entered in D.E. 5/15.</a:t>
                      </a:r>
                    </a:p>
                    <a:p>
                      <a:pPr marL="457200" lvl="1" indent="0">
                        <a:spcBef>
                          <a:spcPts val="300"/>
                        </a:spcBef>
                        <a:buNone/>
                      </a:pPr>
                      <a:endParaRPr lang="en-GB" sz="400" dirty="0">
                        <a:solidFill>
                          <a:srgbClr val="000000"/>
                        </a:solidFill>
                        <a:latin typeface="Calibri"/>
                      </a:endParaRPr>
                    </a:p>
                    <a:p>
                      <a:pPr lvl="0">
                        <a:spcBef>
                          <a:spcPts val="300"/>
                        </a:spcBef>
                      </a:pPr>
                      <a:r>
                        <a:rPr lang="en-GB" sz="1200" b="1" dirty="0">
                          <a:solidFill>
                            <a:srgbClr val="000000"/>
                          </a:solidFill>
                          <a:latin typeface="Calibri" pitchFamily="34"/>
                          <a:ea typeface="Calibri" pitchFamily="34"/>
                          <a:cs typeface="Times New Roman" pitchFamily="18"/>
                        </a:rPr>
                        <a:t>Provisional Duty Calculation</a:t>
                      </a:r>
                      <a:endParaRPr lang="en-GB" sz="1200" dirty="0">
                        <a:solidFill>
                          <a:srgbClr val="000000"/>
                        </a:solidFill>
                        <a:cs typeface="Arial" pitchFamily="34"/>
                      </a:endParaRPr>
                    </a:p>
                    <a:p>
                      <a:pPr lvl="0">
                        <a:spcBef>
                          <a:spcPts val="300"/>
                        </a:spcBef>
                      </a:pPr>
                      <a:r>
                        <a:rPr lang="en-GB" sz="1200" dirty="0">
                          <a:solidFill>
                            <a:srgbClr val="000000"/>
                          </a:solidFill>
                        </a:rPr>
                        <a:t>Where UK FCFS Quota has been validly claimed for NI Imports, CDS will calculate and provisionally charge UK duties depending on the status of the quota claimed: </a:t>
                      </a:r>
                    </a:p>
                    <a:p>
                      <a:pPr marL="171450" lvl="0" indent="-171450">
                        <a:spcBef>
                          <a:spcPts val="300"/>
                        </a:spcBef>
                        <a:buSzPct val="100000"/>
                        <a:buFont typeface="Arial" pitchFamily="34"/>
                        <a:buChar char="•"/>
                      </a:pPr>
                      <a:r>
                        <a:rPr lang="en-GB" sz="1200" b="1" dirty="0">
                          <a:solidFill>
                            <a:srgbClr val="000000"/>
                          </a:solidFill>
                        </a:rPr>
                        <a:t>Open</a:t>
                      </a:r>
                      <a:r>
                        <a:rPr lang="en-GB" sz="1200" dirty="0">
                          <a:solidFill>
                            <a:srgbClr val="000000"/>
                          </a:solidFill>
                        </a:rPr>
                        <a:t> – CDS will calculate and charge provisional UK customs duties at the in-quota rate. This is defined as:</a:t>
                      </a:r>
                    </a:p>
                    <a:p>
                      <a:pPr marL="628650" lvl="1" indent="-171450">
                        <a:spcBef>
                          <a:spcPts val="300"/>
                        </a:spcBef>
                        <a:buSzPct val="100000"/>
                        <a:buFont typeface="Arial" pitchFamily="34"/>
                        <a:buChar char="•"/>
                      </a:pPr>
                      <a:r>
                        <a:rPr lang="en-GB" sz="1200" dirty="0">
                          <a:solidFill>
                            <a:srgbClr val="000000"/>
                          </a:solidFill>
                        </a:rPr>
                        <a:t>The non-preferential tariff quota rate, where the trader has entered preference code 120, 123, 125 or 128 in D.E. 4/17.</a:t>
                      </a:r>
                    </a:p>
                    <a:p>
                      <a:pPr marL="171450" lvl="0" indent="-171450">
                        <a:spcBef>
                          <a:spcPts val="300"/>
                        </a:spcBef>
                        <a:buSzPct val="100000"/>
                        <a:buFont typeface="Arial" pitchFamily="34"/>
                        <a:buChar char="•"/>
                      </a:pPr>
                      <a:r>
                        <a:rPr lang="en-GB" sz="1200" b="1" dirty="0">
                          <a:solidFill>
                            <a:srgbClr val="000000"/>
                          </a:solidFill>
                        </a:rPr>
                        <a:t>Critical or Blocked/Critical </a:t>
                      </a:r>
                      <a:r>
                        <a:rPr lang="en-GB" sz="1200" dirty="0">
                          <a:solidFill>
                            <a:srgbClr val="000000"/>
                          </a:solidFill>
                        </a:rPr>
                        <a:t>– CDS will calculate and charge a security deposit equal to the difference between the in-quota rate and the out-of-quota rate. The out-of-quota rate is defined as:</a:t>
                      </a:r>
                    </a:p>
                    <a:p>
                      <a:pPr marL="628650" lvl="1" indent="-171450">
                        <a:spcBef>
                          <a:spcPts val="300"/>
                        </a:spcBef>
                        <a:buSzPct val="100000"/>
                        <a:buFont typeface="Arial" pitchFamily="34"/>
                        <a:buChar char="•"/>
                      </a:pPr>
                      <a:r>
                        <a:rPr lang="en-GB" sz="1200" dirty="0">
                          <a:solidFill>
                            <a:srgbClr val="000000"/>
                          </a:solidFill>
                        </a:rPr>
                        <a:t>The non-preferential rate for the goods (100, if available, or 140 otherwise).</a:t>
                      </a:r>
                    </a:p>
                    <a:p>
                      <a:pPr marL="0" marR="0" lvl="0" indent="0" algn="l" defTabSz="914400" rtl="0" fontAlgn="auto" hangingPunct="1">
                        <a:lnSpc>
                          <a:spcPct val="100000"/>
                        </a:lnSpc>
                        <a:spcBef>
                          <a:spcPts val="300"/>
                        </a:spcBef>
                        <a:spcAft>
                          <a:spcPts val="0"/>
                        </a:spcAft>
                        <a:buNone/>
                        <a:tabLst/>
                      </a:pPr>
                      <a:r>
                        <a:rPr lang="en-GB" sz="1200" dirty="0">
                          <a:solidFill>
                            <a:srgbClr val="000000"/>
                          </a:solidFill>
                        </a:rPr>
                        <a:t>CDS will then return a DMSTAX notification to the trader to notify them of UK provisional amounts due and secured. </a:t>
                      </a:r>
                      <a:r>
                        <a:rPr lang="en-GB" sz="1200" b="0" i="0" u="none" strike="noStrike" kern="1200" dirty="0">
                          <a:solidFill>
                            <a:srgbClr val="000000"/>
                          </a:solidFill>
                          <a:latin typeface="Calibri"/>
                        </a:rPr>
                        <a:t>CDS will then hold the declaration open until Quota allocation results have been received.</a:t>
                      </a:r>
                    </a:p>
                    <a:p>
                      <a:pPr lvl="0">
                        <a:spcBef>
                          <a:spcPts val="300"/>
                        </a:spcBef>
                      </a:pPr>
                      <a:endParaRPr lang="en-GB" sz="1200" dirty="0">
                        <a:solidFill>
                          <a:srgbClr val="000000"/>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08735849"/>
                  </a:ext>
                </a:extLst>
              </a:tr>
            </a:tbl>
          </a:graphicData>
        </a:graphic>
      </p:graphicFrame>
      <p:graphicFrame>
        <p:nvGraphicFramePr>
          <p:cNvPr id="22" name="Table 46">
            <a:extLst>
              <a:ext uri="{FF2B5EF4-FFF2-40B4-BE49-F238E27FC236}">
                <a16:creationId xmlns:a16="http://schemas.microsoft.com/office/drawing/2014/main" id="{3286430B-4943-4009-AAED-4A4BBA50D306}"/>
              </a:ext>
            </a:extLst>
          </p:cNvPr>
          <p:cNvGraphicFramePr>
            <a:graphicFrameLocks noGrp="1"/>
          </p:cNvGraphicFramePr>
          <p:nvPr/>
        </p:nvGraphicFramePr>
        <p:xfrm>
          <a:off x="7247278" y="2307131"/>
          <a:ext cx="4715999" cy="3872270"/>
        </p:xfrm>
        <a:graphic>
          <a:graphicData uri="http://schemas.openxmlformats.org/drawingml/2006/table">
            <a:tbl>
              <a:tblPr>
                <a:effectLst/>
              </a:tblPr>
              <a:tblGrid>
                <a:gridCol w="4715999">
                  <a:extLst>
                    <a:ext uri="{9D8B030D-6E8A-4147-A177-3AD203B41FA5}">
                      <a16:colId xmlns:a16="http://schemas.microsoft.com/office/drawing/2014/main" val="2708137058"/>
                    </a:ext>
                  </a:extLst>
                </a:gridCol>
              </a:tblGrid>
              <a:tr h="382310">
                <a:tc>
                  <a:txBody>
                    <a:bodyPr/>
                    <a:lstStyle/>
                    <a:p>
                      <a:pPr lvl="0" algn="l" fontAlgn="auto"/>
                      <a:r>
                        <a:rPr lang="en-GB" sz="1200" b="1" i="0">
                          <a:solidFill>
                            <a:srgbClr val="FFFFFF"/>
                          </a:solidFill>
                          <a:latin typeface="Calibri" pitchFamily="34"/>
                        </a:rPr>
                        <a:t>Specific External Test Behaviour​</a:t>
                      </a:r>
                      <a:endParaRPr lang="en-GB" b="1" i="0">
                        <a:solidFill>
                          <a:srgbClr val="FFFFFF"/>
                        </a:solidFill>
                      </a:endParaRPr>
                    </a:p>
                  </a:txBody>
                  <a:tcPr anchor="ct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70C0"/>
                    </a:solidFill>
                  </a:tcPr>
                </a:tc>
                <a:extLst>
                  <a:ext uri="{0D108BD9-81ED-4DB2-BD59-A6C34878D82A}">
                    <a16:rowId xmlns:a16="http://schemas.microsoft.com/office/drawing/2014/main" val="772636090"/>
                  </a:ext>
                </a:extLst>
              </a:tr>
              <a:tr h="3313383">
                <a:tc>
                  <a:txBody>
                    <a:bodyPr/>
                    <a:lstStyle/>
                    <a:p>
                      <a:pPr lvl="0" algn="l" fontAlgn="auto"/>
                      <a:r>
                        <a:rPr lang="en-GB" sz="1200" b="0" i="0" dirty="0">
                          <a:solidFill>
                            <a:srgbClr val="000000"/>
                          </a:solidFill>
                          <a:latin typeface="Calibri" pitchFamily="34"/>
                        </a:rPr>
                        <a:t>To test FCFS quota allocation in TT/TDR, please declare the following UK Quota order number in D.E. 8/1:</a:t>
                      </a:r>
                    </a:p>
                    <a:p>
                      <a:pPr lvl="0" algn="l" fontAlgn="auto"/>
                      <a:r>
                        <a:rPr lang="en-GB" sz="1200" b="0" i="0" dirty="0">
                          <a:solidFill>
                            <a:srgbClr val="000000"/>
                          </a:solidFill>
                          <a:latin typeface="Calibri" pitchFamily="34"/>
                        </a:rPr>
                        <a:t>​</a:t>
                      </a:r>
                      <a:endParaRPr lang="en-GB" sz="1200" b="0" i="0" dirty="0">
                        <a:solidFill>
                          <a:srgbClr val="000000"/>
                        </a:solidFill>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r>
                        <a:rPr lang="en-GB" sz="1200" b="0" i="0" dirty="0">
                          <a:solidFill>
                            <a:srgbClr val="000000"/>
                          </a:solidFill>
                          <a:latin typeface="Calibri" pitchFamily="34"/>
                        </a:rPr>
                        <a:t>The existing 11-minute delay will be applied at the point of interaction between a declaration and the Simulated Quota Service. This is to ensure that a quota is not allocated before the 10-minute dwell timer, which is applied to all supplementary and frontier declarations, has elapsed. ​</a:t>
                      </a:r>
                      <a:endParaRPr lang="en-GB" b="0" i="0" dirty="0">
                        <a:solidFill>
                          <a:srgbClr val="000000"/>
                        </a:solidFill>
                      </a:endParaRPr>
                    </a:p>
                    <a:p>
                      <a:pPr lvl="0" algn="l" fontAlgn="auto"/>
                      <a:endParaRPr lang="en-GB" b="0" i="0" dirty="0">
                        <a:solidFill>
                          <a:srgbClr val="000000"/>
                        </a:solidFill>
                      </a:endParaRPr>
                    </a:p>
                    <a:p>
                      <a:pPr lvl="0" algn="l" fontAlgn="auto"/>
                      <a:endParaRPr lang="en-GB" b="0" i="0" dirty="0">
                        <a:solidFill>
                          <a:srgbClr val="000000"/>
                        </a:solidFill>
                      </a:endParaRPr>
                    </a:p>
                    <a:p>
                      <a:pPr lvl="0" algn="l" fontAlgn="auto"/>
                      <a:endParaRPr lang="en-GB" b="0" i="0" dirty="0">
                        <a:solidFill>
                          <a:srgbClr val="000000"/>
                        </a:solidFill>
                      </a:endParaRPr>
                    </a:p>
                    <a:p>
                      <a:pPr lvl="0" algn="l" fontAlgn="auto"/>
                      <a:endParaRPr lang="en-GB" b="0" i="0" dirty="0">
                        <a:solidFill>
                          <a:srgbClr val="000000"/>
                        </a:solidFill>
                      </a:endParaRPr>
                    </a:p>
                    <a:p>
                      <a:pPr lvl="0" algn="l" fontAlgn="auto"/>
                      <a:endParaRPr lang="en-GB" sz="700" b="0" i="0" dirty="0">
                        <a:solidFill>
                          <a:srgbClr val="000000"/>
                        </a:solidFill>
                      </a:endParaRPr>
                    </a:p>
                  </a:txBody>
                  <a:tcP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558324974"/>
                  </a:ext>
                </a:extLst>
              </a:tr>
            </a:tbl>
          </a:graphicData>
        </a:graphic>
      </p:graphicFrame>
      <p:graphicFrame>
        <p:nvGraphicFramePr>
          <p:cNvPr id="23" name="Table 50">
            <a:extLst>
              <a:ext uri="{FF2B5EF4-FFF2-40B4-BE49-F238E27FC236}">
                <a16:creationId xmlns:a16="http://schemas.microsoft.com/office/drawing/2014/main" id="{270D6E8D-D993-4A28-AF6B-67689FB32149}"/>
              </a:ext>
            </a:extLst>
          </p:cNvPr>
          <p:cNvGraphicFramePr>
            <a:graphicFrameLocks noGrp="1"/>
          </p:cNvGraphicFramePr>
          <p:nvPr/>
        </p:nvGraphicFramePr>
        <p:xfrm>
          <a:off x="7296153" y="3186656"/>
          <a:ext cx="4580949" cy="899160"/>
        </p:xfrm>
        <a:graphic>
          <a:graphicData uri="http://schemas.openxmlformats.org/drawingml/2006/table">
            <a:tbl>
              <a:tblPr>
                <a:effectLst/>
              </a:tblPr>
              <a:tblGrid>
                <a:gridCol w="924741">
                  <a:extLst>
                    <a:ext uri="{9D8B030D-6E8A-4147-A177-3AD203B41FA5}">
                      <a16:colId xmlns:a16="http://schemas.microsoft.com/office/drawing/2014/main" val="1483321260"/>
                    </a:ext>
                  </a:extLst>
                </a:gridCol>
                <a:gridCol w="2159730">
                  <a:extLst>
                    <a:ext uri="{9D8B030D-6E8A-4147-A177-3AD203B41FA5}">
                      <a16:colId xmlns:a16="http://schemas.microsoft.com/office/drawing/2014/main" val="3950897320"/>
                    </a:ext>
                  </a:extLst>
                </a:gridCol>
                <a:gridCol w="592183">
                  <a:extLst>
                    <a:ext uri="{9D8B030D-6E8A-4147-A177-3AD203B41FA5}">
                      <a16:colId xmlns:a16="http://schemas.microsoft.com/office/drawing/2014/main" val="3271670206"/>
                    </a:ext>
                  </a:extLst>
                </a:gridCol>
                <a:gridCol w="904295">
                  <a:extLst>
                    <a:ext uri="{9D8B030D-6E8A-4147-A177-3AD203B41FA5}">
                      <a16:colId xmlns:a16="http://schemas.microsoft.com/office/drawing/2014/main" val="1319427075"/>
                    </a:ext>
                  </a:extLst>
                </a:gridCol>
              </a:tblGrid>
              <a:tr h="0">
                <a:tc>
                  <a:txBody>
                    <a:bodyPr/>
                    <a:lstStyle/>
                    <a:p>
                      <a:pPr lvl="0" algn="l" fontAlgn="auto"/>
                      <a:r>
                        <a:rPr lang="en-GB" sz="1150" b="1" i="0">
                          <a:solidFill>
                            <a:srgbClr val="FFFFFF"/>
                          </a:solidFill>
                          <a:latin typeface="Calibri" pitchFamily="34"/>
                        </a:rPr>
                        <a:t>QuotaOrderNumber​</a:t>
                      </a:r>
                      <a:endParaRPr lang="en-GB" sz="1150" b="1" i="0">
                        <a:solidFill>
                          <a:srgbClr val="FFFFFF"/>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tc>
                  <a:txBody>
                    <a:bodyPr/>
                    <a:lstStyle/>
                    <a:p>
                      <a:pPr lvl="0" algn="l" fontAlgn="auto"/>
                      <a:r>
                        <a:rPr lang="en-GB" sz="1150" b="1" i="0">
                          <a:solidFill>
                            <a:srgbClr val="FFFFFF"/>
                          </a:solidFill>
                        </a:rPr>
                        <a:t>Quota Scenario</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tc>
                  <a:txBody>
                    <a:bodyPr/>
                    <a:lstStyle/>
                    <a:p>
                      <a:pPr lvl="0" algn="l" fontAlgn="auto"/>
                      <a:r>
                        <a:rPr lang="en-GB" sz="1150" b="1" i="0">
                          <a:solidFill>
                            <a:srgbClr val="FFFFFF"/>
                          </a:solidFill>
                        </a:rPr>
                        <a:t>Status</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tc>
                  <a:txBody>
                    <a:bodyPr/>
                    <a:lstStyle/>
                    <a:p>
                      <a:pPr lvl="0" algn="l" fontAlgn="auto"/>
                      <a:r>
                        <a:rPr lang="en-GB" sz="1150" b="1" i="0">
                          <a:solidFill>
                            <a:srgbClr val="FFFFFF"/>
                          </a:solidFill>
                        </a:rPr>
                        <a:t>Allocation</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extLst>
                  <a:ext uri="{0D108BD9-81ED-4DB2-BD59-A6C34878D82A}">
                    <a16:rowId xmlns:a16="http://schemas.microsoft.com/office/drawing/2014/main" val="3660644919"/>
                  </a:ext>
                </a:extLst>
              </a:tr>
              <a:tr h="178609">
                <a:tc>
                  <a:txBody>
                    <a:bodyPr/>
                    <a:lstStyle/>
                    <a:p>
                      <a:pPr lvl="0" algn="l"/>
                      <a:r>
                        <a:rPr lang="it-IT" sz="1200" b="0" i="0">
                          <a:latin typeface="Calibri"/>
                        </a:rPr>
                        <a:t>050123</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E7E6E6"/>
                    </a:solidFill>
                  </a:tcPr>
                </a:tc>
                <a:tc>
                  <a:txBody>
                    <a:bodyPr/>
                    <a:lstStyle/>
                    <a:p>
                      <a:pPr lvl="0" algn="l"/>
                      <a:r>
                        <a:rPr lang="it-IT" sz="1200" b="0" i="0">
                          <a:latin typeface="Calibri"/>
                        </a:rPr>
                        <a:t>Non-Preferential FCFS UK Quota</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E7E6E6"/>
                    </a:solidFill>
                  </a:tcPr>
                </a:tc>
                <a:tc>
                  <a:txBody>
                    <a:bodyPr/>
                    <a:lstStyle/>
                    <a:p>
                      <a:pPr lvl="0" algn="l"/>
                      <a:r>
                        <a:rPr lang="it-IT" sz="1200" b="0" i="0">
                          <a:latin typeface="Calibri"/>
                        </a:rPr>
                        <a:t>Open</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E7E6E6"/>
                    </a:solidFill>
                  </a:tcPr>
                </a:tc>
                <a:tc>
                  <a:txBody>
                    <a:bodyPr/>
                    <a:lstStyle/>
                    <a:p>
                      <a:pPr lvl="0" algn="l"/>
                      <a:r>
                        <a:rPr lang="it-IT" sz="1200" b="0" i="0" dirty="0">
                          <a:latin typeface="Calibri"/>
                        </a:rPr>
                        <a:t>Full</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3890045287"/>
                  </a:ext>
                </a:extLst>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4495">
    <p:spTree>
      <p:nvGrpSpPr>
        <p:cNvPr id="1" name=""/>
        <p:cNvGrpSpPr/>
        <p:nvPr/>
      </p:nvGrpSpPr>
      <p:grpSpPr>
        <a:xfrm>
          <a:off x="0" y="0"/>
          <a:ext cx="0" cy="0"/>
          <a:chOff x="0" y="0"/>
          <a:chExt cx="0" cy="0"/>
        </a:xfrm>
      </p:grpSpPr>
      <p:pic>
        <p:nvPicPr>
          <p:cNvPr id="2" name="Picture 106" descr="57% HMRCppt logo">
            <a:extLst>
              <a:ext uri="{FF2B5EF4-FFF2-40B4-BE49-F238E27FC236}">
                <a16:creationId xmlns:a16="http://schemas.microsoft.com/office/drawing/2014/main" id="{F596595C-0E6C-411E-AB37-DB60745405C2}"/>
              </a:ext>
            </a:extLst>
          </p:cNvPr>
          <p:cNvPicPr>
            <a:picLocks noChangeAspect="1"/>
          </p:cNvPicPr>
          <p:nvPr/>
        </p:nvPicPr>
        <p:blipFill>
          <a:blip r:embed="rId3"/>
          <a:srcRect/>
          <a:stretch>
            <a:fillRect/>
          </a:stretch>
        </p:blipFill>
        <p:spPr>
          <a:xfrm>
            <a:off x="366262" y="5954179"/>
            <a:ext cx="1030227" cy="633980"/>
          </a:xfrm>
          <a:prstGeom prst="rect">
            <a:avLst/>
          </a:prstGeom>
          <a:noFill/>
          <a:ln cap="flat">
            <a:noFill/>
          </a:ln>
        </p:spPr>
      </p:pic>
      <p:cxnSp>
        <p:nvCxnSpPr>
          <p:cNvPr id="3" name="Straight Connector 9">
            <a:extLst>
              <a:ext uri="{FF2B5EF4-FFF2-40B4-BE49-F238E27FC236}">
                <a16:creationId xmlns:a16="http://schemas.microsoft.com/office/drawing/2014/main" id="{AAB9CB70-9B8D-4523-9D3F-60C6C0FE75A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9D26CC4C-8CF4-48EF-8BEB-A4F72978F6C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A41C004C-6DDD-4FC7-94AD-B572C43D5E60}"/>
              </a:ext>
            </a:extLst>
          </p:cNvPr>
          <p:cNvSpPr txBox="1"/>
          <p:nvPr/>
        </p:nvSpPr>
        <p:spPr>
          <a:xfrm>
            <a:off x="363967" y="248844"/>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6" name="Rectangle 13">
            <a:extLst>
              <a:ext uri="{FF2B5EF4-FFF2-40B4-BE49-F238E27FC236}">
                <a16:creationId xmlns:a16="http://schemas.microsoft.com/office/drawing/2014/main" id="{D28F7DDA-3609-4E53-A955-D389BE5D6DE9}"/>
              </a:ext>
            </a:extLst>
          </p:cNvPr>
          <p:cNvSpPr/>
          <p:nvPr/>
        </p:nvSpPr>
        <p:spPr>
          <a:xfrm>
            <a:off x="363967"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7" name="Rectangle 4">
            <a:extLst>
              <a:ext uri="{FF2B5EF4-FFF2-40B4-BE49-F238E27FC236}">
                <a16:creationId xmlns:a16="http://schemas.microsoft.com/office/drawing/2014/main" id="{6F5A86EA-6B22-4840-A4D5-8CAF8B9EFE64}"/>
              </a:ext>
            </a:extLst>
          </p:cNvPr>
          <p:cNvSpPr/>
          <p:nvPr/>
        </p:nvSpPr>
        <p:spPr>
          <a:xfrm>
            <a:off x="319116" y="776526"/>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Simulated Immediate Payment Service</a:t>
            </a:r>
          </a:p>
        </p:txBody>
      </p:sp>
      <p:sp>
        <p:nvSpPr>
          <p:cNvPr id="8" name="Rectangle 16">
            <a:extLst>
              <a:ext uri="{FF2B5EF4-FFF2-40B4-BE49-F238E27FC236}">
                <a16:creationId xmlns:a16="http://schemas.microsoft.com/office/drawing/2014/main" id="{8087E02C-83B6-4FEE-B6D4-C0C2D82E7863}"/>
              </a:ext>
            </a:extLst>
          </p:cNvPr>
          <p:cNvSpPr/>
          <p:nvPr/>
        </p:nvSpPr>
        <p:spPr>
          <a:xfrm>
            <a:off x="306415" y="1167176"/>
            <a:ext cx="3193633"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Imports Frontier Declaration Submission</a:t>
            </a:r>
          </a:p>
        </p:txBody>
      </p:sp>
      <p:graphicFrame>
        <p:nvGraphicFramePr>
          <p:cNvPr id="9" name="Table 1">
            <a:extLst>
              <a:ext uri="{FF2B5EF4-FFF2-40B4-BE49-F238E27FC236}">
                <a16:creationId xmlns:a16="http://schemas.microsoft.com/office/drawing/2014/main" id="{884CB6EA-52E1-4E4C-8A34-8191F2F9BB67}"/>
              </a:ext>
            </a:extLst>
          </p:cNvPr>
          <p:cNvGraphicFramePr>
            <a:graphicFrameLocks noGrp="1"/>
          </p:cNvGraphicFramePr>
          <p:nvPr>
            <p:extLst>
              <p:ext uri="{D42A27DB-BD31-4B8C-83A1-F6EECF244321}">
                <p14:modId xmlns:p14="http://schemas.microsoft.com/office/powerpoint/2010/main" val="1455171651"/>
              </p:ext>
            </p:extLst>
          </p:nvPr>
        </p:nvGraphicFramePr>
        <p:xfrm>
          <a:off x="87882" y="1415372"/>
          <a:ext cx="12016221" cy="5151120"/>
        </p:xfrm>
        <a:graphic>
          <a:graphicData uri="http://schemas.openxmlformats.org/drawingml/2006/table">
            <a:tbl>
              <a:tblPr firstRow="1" bandRow="1">
                <a:effectLst/>
                <a:tableStyleId>{5C22544A-7EE6-4342-B048-85BDC9FD1C3A}</a:tableStyleId>
              </a:tblPr>
              <a:tblGrid>
                <a:gridCol w="5034988">
                  <a:extLst>
                    <a:ext uri="{9D8B030D-6E8A-4147-A177-3AD203B41FA5}">
                      <a16:colId xmlns:a16="http://schemas.microsoft.com/office/drawing/2014/main" val="4164426615"/>
                    </a:ext>
                  </a:extLst>
                </a:gridCol>
                <a:gridCol w="6981233">
                  <a:extLst>
                    <a:ext uri="{9D8B030D-6E8A-4147-A177-3AD203B41FA5}">
                      <a16:colId xmlns:a16="http://schemas.microsoft.com/office/drawing/2014/main" val="3235285253"/>
                    </a:ext>
                  </a:extLst>
                </a:gridCol>
              </a:tblGrid>
              <a:tr h="264764">
                <a:tc>
                  <a:txBody>
                    <a:bodyPr/>
                    <a:lstStyle/>
                    <a:p>
                      <a:pPr lvl="0"/>
                      <a:r>
                        <a:rPr lang="en-GB" sz="1200"/>
                        <a:t>External Test Scope</a:t>
                      </a:r>
                    </a:p>
                  </a:txBody>
                  <a:tcPr anchor="ctr">
                    <a:solidFill>
                      <a:srgbClr val="009999"/>
                    </a:solidFill>
                  </a:tcPr>
                </a:tc>
                <a:tc>
                  <a:txBody>
                    <a:bodyPr/>
                    <a:lstStyle/>
                    <a:p>
                      <a:pPr lvl="0"/>
                      <a:r>
                        <a:rPr lang="en-GB" sz="1200"/>
                        <a:t>Specific External Test Behaviour</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588386359"/>
                  </a:ext>
                </a:extLst>
              </a:tr>
              <a:tr h="4780474">
                <a:tc>
                  <a:txBody>
                    <a:bodyPr/>
                    <a:lstStyle/>
                    <a:p>
                      <a:pPr lvl="0">
                        <a:spcAft>
                          <a:spcPts val="600"/>
                        </a:spcAft>
                      </a:pPr>
                      <a:r>
                        <a:rPr lang="en-GB" sz="1200" b="0" dirty="0"/>
                        <a:t>CDS Trade Test supports the use of an immediate method of payment for liabilities owed on a frontier and the receipt of all associated notifications in declaration types A, B, D, E, J and K. </a:t>
                      </a:r>
                    </a:p>
                    <a:p>
                      <a:pPr lvl="0">
                        <a:spcAft>
                          <a:spcPts val="0"/>
                        </a:spcAft>
                      </a:pPr>
                      <a:r>
                        <a:rPr lang="en-GB" sz="1200" b="0" dirty="0"/>
                        <a:t>The immediate methods of payment in scope for CDS Trade Test are:</a:t>
                      </a:r>
                    </a:p>
                    <a:p>
                      <a:pPr marL="171450" lvl="0" indent="-171450">
                        <a:spcAft>
                          <a:spcPts val="0"/>
                        </a:spcAft>
                        <a:buSzPct val="100000"/>
                        <a:buFont typeface="Arial" pitchFamily="34"/>
                        <a:buChar char="•"/>
                      </a:pPr>
                      <a:r>
                        <a:rPr lang="en-GB" sz="1200" b="0" dirty="0"/>
                        <a:t>MOP code A (Immediate payment in cash)</a:t>
                      </a:r>
                    </a:p>
                    <a:p>
                      <a:pPr marL="171450" lvl="0" indent="-171450">
                        <a:spcAft>
                          <a:spcPts val="0"/>
                        </a:spcAft>
                        <a:buSzPct val="100000"/>
                        <a:buFont typeface="Arial" pitchFamily="34"/>
                        <a:buChar char="•"/>
                      </a:pPr>
                      <a:r>
                        <a:rPr lang="en-GB" sz="1200" b="0" dirty="0"/>
                        <a:t>MOP code B (Immediate payment by corporate credit card)</a:t>
                      </a:r>
                    </a:p>
                    <a:p>
                      <a:pPr marL="171450" lvl="0" indent="-171450">
                        <a:spcAft>
                          <a:spcPts val="0"/>
                        </a:spcAft>
                        <a:buSzPct val="100000"/>
                        <a:buFont typeface="Arial" pitchFamily="34"/>
                        <a:buChar char="•"/>
                      </a:pPr>
                      <a:r>
                        <a:rPr lang="en-GB" sz="1200" b="0" dirty="0"/>
                        <a:t>MOP code C (Immediate payment by cheque)</a:t>
                      </a:r>
                    </a:p>
                    <a:p>
                      <a:pPr marL="171450" lvl="0" indent="-171450">
                        <a:spcAft>
                          <a:spcPts val="0"/>
                        </a:spcAft>
                        <a:buSzPct val="100000"/>
                        <a:buFont typeface="Arial" pitchFamily="34"/>
                        <a:buChar char="•"/>
                      </a:pPr>
                      <a:r>
                        <a:rPr lang="en-GB" sz="1200" b="0" dirty="0"/>
                        <a:t>MOP code E (Deferred payment – Deferment Account)</a:t>
                      </a:r>
                    </a:p>
                    <a:p>
                      <a:pPr marL="171450" lvl="0" indent="-171450">
                        <a:spcAft>
                          <a:spcPts val="0"/>
                        </a:spcAft>
                        <a:buSzPct val="100000"/>
                        <a:buFont typeface="Arial" pitchFamily="34"/>
                        <a:buChar char="•"/>
                      </a:pPr>
                      <a:r>
                        <a:rPr lang="en-GB" sz="1200" b="0" dirty="0"/>
                        <a:t>MOP code H (Immediate payment by electronic credit transfer)</a:t>
                      </a:r>
                    </a:p>
                    <a:p>
                      <a:pPr marL="171450" lvl="0" indent="-171450">
                        <a:spcAft>
                          <a:spcPts val="0"/>
                        </a:spcAft>
                        <a:buSzPct val="100000"/>
                        <a:buFont typeface="Arial" pitchFamily="34"/>
                        <a:buChar char="•"/>
                      </a:pPr>
                      <a:r>
                        <a:rPr lang="en-GB" sz="1200" b="0" dirty="0"/>
                        <a:t>MOP code M (Security Deposit – immediate payment (cash deposit))</a:t>
                      </a:r>
                    </a:p>
                    <a:p>
                      <a:pPr lvl="0">
                        <a:spcAft>
                          <a:spcPts val="600"/>
                        </a:spcAft>
                      </a:pPr>
                      <a:r>
                        <a:rPr lang="en-GB" sz="1200" b="0" dirty="0"/>
                        <a:t>The immediate payments facility for CDS Trade Test will include the ability to:</a:t>
                      </a:r>
                    </a:p>
                    <a:p>
                      <a:pPr marL="171450" lvl="0" indent="-171450">
                        <a:spcAft>
                          <a:spcPts val="0"/>
                        </a:spcAft>
                        <a:buSzPct val="100000"/>
                        <a:buFont typeface="Arial" pitchFamily="34"/>
                        <a:buChar char="•"/>
                      </a:pPr>
                      <a:r>
                        <a:rPr lang="en-GB" sz="1200" b="0" dirty="0"/>
                        <a:t>Use an immediate payment MOP on the declaration</a:t>
                      </a:r>
                    </a:p>
                    <a:p>
                      <a:pPr marL="171450" lvl="0" indent="-171450">
                        <a:spcAft>
                          <a:spcPts val="0"/>
                        </a:spcAft>
                        <a:buSzPct val="100000"/>
                        <a:buFont typeface="Arial" pitchFamily="34"/>
                        <a:buChar char="•"/>
                      </a:pPr>
                      <a:r>
                        <a:rPr lang="en-GB" sz="1200" b="0" dirty="0"/>
                        <a:t>Receive a notification of the liabilities owed including provision of a unique payment reference</a:t>
                      </a:r>
                    </a:p>
                    <a:p>
                      <a:pPr marL="171450" lvl="0" indent="-171450">
                        <a:spcAft>
                          <a:spcPts val="0"/>
                        </a:spcAft>
                        <a:buSzPct val="100000"/>
                        <a:buFont typeface="Arial" pitchFamily="34"/>
                        <a:buChar char="•"/>
                      </a:pPr>
                      <a:r>
                        <a:rPr lang="en-GB" sz="1200" b="0" dirty="0"/>
                        <a:t>Receive a notification that the payment has been fully received </a:t>
                      </a:r>
                    </a:p>
                    <a:p>
                      <a:pPr marL="171450" lvl="0" indent="-171450">
                        <a:spcAft>
                          <a:spcPts val="0"/>
                        </a:spcAft>
                        <a:buSzPct val="100000"/>
                        <a:buFont typeface="Arial" pitchFamily="34"/>
                        <a:buChar char="•"/>
                      </a:pPr>
                      <a:r>
                        <a:rPr lang="en-GB" sz="1200" b="0" dirty="0"/>
                        <a:t>Receive a notification that payment is owed in the case of partial or no payment</a:t>
                      </a:r>
                    </a:p>
                  </a:txBody>
                  <a:tcPr>
                    <a:solidFill>
                      <a:srgbClr val="F2F2F2"/>
                    </a:solidFill>
                  </a:tcPr>
                </a:tc>
                <a:tc>
                  <a:txBody>
                    <a:bodyPr/>
                    <a:lstStyle/>
                    <a:p>
                      <a:pPr lvl="0">
                        <a:spcAft>
                          <a:spcPts val="600"/>
                        </a:spcAft>
                      </a:pPr>
                      <a:r>
                        <a:rPr lang="en-GB" sz="1200" b="0" dirty="0"/>
                        <a:t>Initiation of Immediate Payment</a:t>
                      </a:r>
                    </a:p>
                    <a:p>
                      <a:pPr lvl="0">
                        <a:spcAft>
                          <a:spcPts val="600"/>
                        </a:spcAft>
                      </a:pPr>
                      <a:r>
                        <a:rPr lang="en-GB" sz="1200" b="0" dirty="0"/>
                        <a:t>As the trade test system cannot process payments including cash, cheque, card, and bank transfer payments, the solution requires that mock payments are automatically sent internally within the CDS Trade Test system when one of the immediate payments MOP codes is used on a declaration submission with responses pre-configured dependent on the simulated scenario (full, partial, over or no payment). </a:t>
                      </a:r>
                      <a:r>
                        <a:rPr lang="en-GB" sz="1200" b="0" i="0" kern="1200" dirty="0">
                          <a:solidFill>
                            <a:srgbClr val="000000"/>
                          </a:solidFill>
                          <a:effectLst/>
                          <a:latin typeface="+mn-lt"/>
                          <a:ea typeface="+mn-ea"/>
                          <a:cs typeface="+mn-cs"/>
                        </a:rPr>
                        <a:t>This will also apply when no MOP is declared (in this case the system will default to immediate payment).</a:t>
                      </a:r>
                      <a:endParaRPr lang="en-GB" sz="1200" b="0" dirty="0"/>
                    </a:p>
                    <a:p>
                      <a:pPr lvl="0">
                        <a:spcAft>
                          <a:spcPts val="600"/>
                        </a:spcAft>
                      </a:pPr>
                      <a:endParaRPr lang="en-GB" sz="200" b="0" dirty="0"/>
                    </a:p>
                    <a:p>
                      <a:pPr lvl="0">
                        <a:spcAft>
                          <a:spcPts val="600"/>
                        </a:spcAft>
                      </a:pPr>
                      <a:r>
                        <a:rPr lang="en-GB" sz="1200" b="0" dirty="0"/>
                        <a:t>EORIs for Immediate Payment Service</a:t>
                      </a:r>
                    </a:p>
                    <a:p>
                      <a:pPr lvl="0">
                        <a:spcAft>
                          <a:spcPts val="600"/>
                        </a:spcAft>
                      </a:pPr>
                      <a:r>
                        <a:rPr lang="en-GB" sz="1200" b="0" dirty="0"/>
                        <a:t>The following EORIs should be used on declarations in CDS Trade Test intended to trigger particular Immediate Payment scenarios.</a:t>
                      </a:r>
                    </a:p>
                    <a:p>
                      <a:pPr lvl="0">
                        <a:spcAft>
                          <a:spcPts val="600"/>
                        </a:spcAft>
                      </a:pPr>
                      <a:endParaRPr lang="en-GB" sz="1200" b="0" dirty="0"/>
                    </a:p>
                    <a:p>
                      <a:pPr lvl="0">
                        <a:spcAft>
                          <a:spcPts val="600"/>
                        </a:spcAft>
                      </a:pPr>
                      <a:endParaRPr lang="en-GB" sz="1200" b="0" dirty="0"/>
                    </a:p>
                    <a:p>
                      <a:pPr lvl="0">
                        <a:spcAft>
                          <a:spcPts val="600"/>
                        </a:spcAft>
                      </a:pPr>
                      <a:endParaRPr lang="en-GB" sz="1200" b="0" dirty="0"/>
                    </a:p>
                    <a:p>
                      <a:pPr lvl="0">
                        <a:spcAft>
                          <a:spcPts val="600"/>
                        </a:spcAft>
                      </a:pPr>
                      <a:endParaRPr lang="en-GB" sz="1200" b="0" dirty="0"/>
                    </a:p>
                    <a:p>
                      <a:pPr lvl="0">
                        <a:spcAft>
                          <a:spcPts val="600"/>
                        </a:spcAft>
                      </a:pPr>
                      <a:r>
                        <a:rPr lang="en-GB" sz="1200" b="0" dirty="0"/>
                        <a:t>Where one of the above EORIs is used in conjunction with an Immediate Payments MOP (A, B, C, H) a simulated payment of the value indicated – or no payment if using GB725115006000 – will be sent internally within the CDS Trade Test system and trigger the associated notifications.</a:t>
                      </a:r>
                    </a:p>
                    <a:p>
                      <a:pPr lvl="0">
                        <a:spcAft>
                          <a:spcPts val="600"/>
                        </a:spcAft>
                      </a:pPr>
                      <a:r>
                        <a:rPr lang="en-GB" sz="1200" b="0" dirty="0"/>
                        <a:t>If you do not use one of the EORIs above, but do use an Immediate method of payment, a payment amount of £999,000 will be applied.</a:t>
                      </a:r>
                    </a:p>
                    <a:p>
                      <a:pPr lvl="0">
                        <a:spcAft>
                          <a:spcPts val="600"/>
                        </a:spcAft>
                      </a:pPr>
                      <a:r>
                        <a:rPr lang="en-GB" sz="1200" b="1" dirty="0"/>
                        <a:t>Insufficient Funds Testing</a:t>
                      </a:r>
                    </a:p>
                    <a:p>
                      <a:pPr lvl="0">
                        <a:spcAft>
                          <a:spcPts val="600"/>
                        </a:spcAft>
                      </a:pPr>
                      <a:r>
                        <a:rPr lang="en-GB" sz="1200" b="0" dirty="0"/>
                        <a:t>Please note, in order to test an insufficient funds scenario, traders must declare Guarantee Reference in D.E 8/3. In the XML sample TT_FI01b, the value GAN212082 is declared and a DMSCPI notification is sent.</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684870706"/>
                  </a:ext>
                </a:extLst>
              </a:tr>
            </a:tbl>
          </a:graphicData>
        </a:graphic>
      </p:graphicFrame>
      <p:graphicFrame>
        <p:nvGraphicFramePr>
          <p:cNvPr id="10" name="Table 3">
            <a:extLst>
              <a:ext uri="{FF2B5EF4-FFF2-40B4-BE49-F238E27FC236}">
                <a16:creationId xmlns:a16="http://schemas.microsoft.com/office/drawing/2014/main" id="{1132D1DB-CF8B-4887-BB83-186859A11166}"/>
              </a:ext>
            </a:extLst>
          </p:cNvPr>
          <p:cNvGraphicFramePr>
            <a:graphicFrameLocks noGrp="1"/>
          </p:cNvGraphicFramePr>
          <p:nvPr>
            <p:extLst>
              <p:ext uri="{D42A27DB-BD31-4B8C-83A1-F6EECF244321}">
                <p14:modId xmlns:p14="http://schemas.microsoft.com/office/powerpoint/2010/main" val="1435717882"/>
              </p:ext>
            </p:extLst>
          </p:nvPr>
        </p:nvGraphicFramePr>
        <p:xfrm>
          <a:off x="7201024" y="3673219"/>
          <a:ext cx="2827164" cy="1115190"/>
        </p:xfrm>
        <a:graphic>
          <a:graphicData uri="http://schemas.openxmlformats.org/drawingml/2006/table">
            <a:tbl>
              <a:tblPr firstRow="1" firstCol="1" bandRow="1">
                <a:effectLst/>
                <a:tableStyleId>{5C22544A-7EE6-4342-B048-85BDC9FD1C3A}</a:tableStyleId>
              </a:tblPr>
              <a:tblGrid>
                <a:gridCol w="1275414">
                  <a:extLst>
                    <a:ext uri="{9D8B030D-6E8A-4147-A177-3AD203B41FA5}">
                      <a16:colId xmlns:a16="http://schemas.microsoft.com/office/drawing/2014/main" val="1745775179"/>
                    </a:ext>
                  </a:extLst>
                </a:gridCol>
                <a:gridCol w="1551750">
                  <a:extLst>
                    <a:ext uri="{9D8B030D-6E8A-4147-A177-3AD203B41FA5}">
                      <a16:colId xmlns:a16="http://schemas.microsoft.com/office/drawing/2014/main" val="3263308754"/>
                    </a:ext>
                  </a:extLst>
                </a:gridCol>
              </a:tblGrid>
              <a:tr h="81454">
                <a:tc>
                  <a:txBody>
                    <a:bodyPr/>
                    <a:lstStyle/>
                    <a:p>
                      <a:pPr lvl="0">
                        <a:lnSpc>
                          <a:spcPct val="107000"/>
                        </a:lnSpc>
                        <a:spcBef>
                          <a:spcPts val="200"/>
                        </a:spcBef>
                        <a:spcAft>
                          <a:spcPts val="200"/>
                        </a:spcAft>
                      </a:pPr>
                      <a:r>
                        <a:rPr lang="en-GB" sz="1200"/>
                        <a:t>EORI</a:t>
                      </a:r>
                      <a:endParaRPr lang="en-GB" sz="1200">
                        <a:latin typeface="Arial" pitchFamily="34"/>
                        <a:ea typeface="Arial" pitchFamily="34"/>
                        <a:cs typeface="Arial" pitchFamily="34"/>
                      </a:endParaRPr>
                    </a:p>
                  </a:txBody>
                  <a:tcPr marL="0" marR="0" marT="0" marB="0">
                    <a:solidFill>
                      <a:srgbClr val="7F7F7F"/>
                    </a:solidFill>
                  </a:tcPr>
                </a:tc>
                <a:tc>
                  <a:txBody>
                    <a:bodyPr/>
                    <a:lstStyle/>
                    <a:p>
                      <a:pPr lvl="0">
                        <a:lnSpc>
                          <a:spcPct val="107000"/>
                        </a:lnSpc>
                        <a:spcBef>
                          <a:spcPts val="200"/>
                        </a:spcBef>
                        <a:spcAft>
                          <a:spcPts val="200"/>
                        </a:spcAft>
                      </a:pPr>
                      <a:r>
                        <a:rPr lang="en-GB" sz="1200"/>
                        <a:t>Payment Amount</a:t>
                      </a:r>
                      <a:endParaRPr lang="en-GB" sz="1200">
                        <a:latin typeface="Arial" pitchFamily="34"/>
                        <a:ea typeface="Arial" pitchFamily="34"/>
                        <a:cs typeface="Arial" pitchFamily="34"/>
                      </a:endParaRPr>
                    </a:p>
                  </a:txBody>
                  <a:tcPr marL="0" marR="0" marT="0" marB="0">
                    <a:solidFill>
                      <a:srgbClr val="7F7F7F"/>
                    </a:solidFill>
                  </a:tcPr>
                </a:tc>
                <a:extLst>
                  <a:ext uri="{0D108BD9-81ED-4DB2-BD59-A6C34878D82A}">
                    <a16:rowId xmlns:a16="http://schemas.microsoft.com/office/drawing/2014/main" val="2023864943"/>
                  </a:ext>
                </a:extLst>
              </a:tr>
              <a:tr h="77275">
                <a:tc>
                  <a:txBody>
                    <a:bodyPr/>
                    <a:lstStyle/>
                    <a:p>
                      <a:pPr lvl="0">
                        <a:lnSpc>
                          <a:spcPct val="107000"/>
                        </a:lnSpc>
                        <a:spcBef>
                          <a:spcPts val="200"/>
                        </a:spcBef>
                        <a:spcAft>
                          <a:spcPts val="200"/>
                        </a:spcAft>
                      </a:pPr>
                      <a:r>
                        <a:rPr lang="en-GB" sz="1200" b="0">
                          <a:solidFill>
                            <a:srgbClr val="000000"/>
                          </a:solidFill>
                        </a:rPr>
                        <a:t>GB725115003000</a:t>
                      </a:r>
                      <a:endParaRPr lang="en-GB" sz="1200" b="0">
                        <a:solidFill>
                          <a:srgbClr val="000000"/>
                        </a:solidFill>
                        <a:latin typeface="Arial" pitchFamily="34"/>
                        <a:ea typeface="Arial" pitchFamily="34"/>
                        <a:cs typeface="Arial" pitchFamily="34"/>
                      </a:endParaRPr>
                    </a:p>
                  </a:txBody>
                  <a:tcPr marL="0" marR="0" marT="0" marB="0">
                    <a:solidFill>
                      <a:srgbClr val="F2F2F2"/>
                    </a:solidFill>
                  </a:tcPr>
                </a:tc>
                <a:tc>
                  <a:txBody>
                    <a:bodyPr/>
                    <a:lstStyle/>
                    <a:p>
                      <a:pPr lvl="0">
                        <a:lnSpc>
                          <a:spcPct val="107000"/>
                        </a:lnSpc>
                        <a:spcBef>
                          <a:spcPts val="200"/>
                        </a:spcBef>
                        <a:spcAft>
                          <a:spcPts val="200"/>
                        </a:spcAft>
                      </a:pPr>
                      <a:r>
                        <a:rPr lang="en-GB" sz="1200"/>
                        <a:t>£988.00</a:t>
                      </a:r>
                      <a:endParaRPr lang="en-GB" sz="1200">
                        <a:latin typeface="Arial" pitchFamily="34"/>
                        <a:ea typeface="Arial" pitchFamily="34"/>
                        <a:cs typeface="Arial" pitchFamily="34"/>
                      </a:endParaRPr>
                    </a:p>
                  </a:txBody>
                  <a:tcPr marL="0" marR="0" marT="0" marB="0">
                    <a:solidFill>
                      <a:srgbClr val="F2F2F2"/>
                    </a:solidFill>
                  </a:tcPr>
                </a:tc>
                <a:extLst>
                  <a:ext uri="{0D108BD9-81ED-4DB2-BD59-A6C34878D82A}">
                    <a16:rowId xmlns:a16="http://schemas.microsoft.com/office/drawing/2014/main" val="2762001336"/>
                  </a:ext>
                </a:extLst>
              </a:tr>
              <a:tr h="81454">
                <a:tc>
                  <a:txBody>
                    <a:bodyPr/>
                    <a:lstStyle/>
                    <a:p>
                      <a:pPr lvl="0">
                        <a:lnSpc>
                          <a:spcPct val="107000"/>
                        </a:lnSpc>
                        <a:spcBef>
                          <a:spcPts val="200"/>
                        </a:spcBef>
                        <a:spcAft>
                          <a:spcPts val="200"/>
                        </a:spcAft>
                      </a:pPr>
                      <a:r>
                        <a:rPr lang="en-GB" sz="1200" b="0">
                          <a:solidFill>
                            <a:srgbClr val="000000"/>
                          </a:solidFill>
                        </a:rPr>
                        <a:t>GB725115004000</a:t>
                      </a:r>
                      <a:endParaRPr lang="en-GB" sz="1200" b="0">
                        <a:solidFill>
                          <a:srgbClr val="000000"/>
                        </a:solidFill>
                        <a:latin typeface="Arial" pitchFamily="34"/>
                        <a:ea typeface="Arial" pitchFamily="34"/>
                        <a:cs typeface="Arial" pitchFamily="34"/>
                      </a:endParaRPr>
                    </a:p>
                  </a:txBody>
                  <a:tcPr marL="0" marR="0" marT="0" marB="0">
                    <a:solidFill>
                      <a:srgbClr val="E7E6E6"/>
                    </a:solidFill>
                  </a:tcPr>
                </a:tc>
                <a:tc>
                  <a:txBody>
                    <a:bodyPr/>
                    <a:lstStyle/>
                    <a:p>
                      <a:pPr lvl="0">
                        <a:lnSpc>
                          <a:spcPct val="107000"/>
                        </a:lnSpc>
                        <a:spcBef>
                          <a:spcPts val="200"/>
                        </a:spcBef>
                        <a:spcAft>
                          <a:spcPts val="200"/>
                        </a:spcAft>
                      </a:pPr>
                      <a:r>
                        <a:rPr lang="en-GB" sz="1200"/>
                        <a:t>£1100.00</a:t>
                      </a:r>
                      <a:endParaRPr lang="en-GB" sz="1200">
                        <a:latin typeface="Arial" pitchFamily="34"/>
                        <a:ea typeface="Arial" pitchFamily="34"/>
                        <a:cs typeface="Arial" pitchFamily="34"/>
                      </a:endParaRPr>
                    </a:p>
                  </a:txBody>
                  <a:tcPr marL="0" marR="0" marT="0" marB="0">
                    <a:solidFill>
                      <a:srgbClr val="E7E6E6"/>
                    </a:solidFill>
                  </a:tcPr>
                </a:tc>
                <a:extLst>
                  <a:ext uri="{0D108BD9-81ED-4DB2-BD59-A6C34878D82A}">
                    <a16:rowId xmlns:a16="http://schemas.microsoft.com/office/drawing/2014/main" val="3399585487"/>
                  </a:ext>
                </a:extLst>
              </a:tr>
              <a:tr h="77275">
                <a:tc>
                  <a:txBody>
                    <a:bodyPr/>
                    <a:lstStyle/>
                    <a:p>
                      <a:pPr lvl="0">
                        <a:lnSpc>
                          <a:spcPct val="107000"/>
                        </a:lnSpc>
                        <a:spcBef>
                          <a:spcPts val="200"/>
                        </a:spcBef>
                        <a:spcAft>
                          <a:spcPts val="200"/>
                        </a:spcAft>
                      </a:pPr>
                      <a:r>
                        <a:rPr lang="en-GB" sz="1200" b="0">
                          <a:solidFill>
                            <a:srgbClr val="000000"/>
                          </a:solidFill>
                        </a:rPr>
                        <a:t>GB725115005000</a:t>
                      </a:r>
                      <a:endParaRPr lang="en-GB" sz="1200" b="0">
                        <a:solidFill>
                          <a:srgbClr val="000000"/>
                        </a:solidFill>
                        <a:latin typeface="Arial" pitchFamily="34"/>
                        <a:ea typeface="Arial" pitchFamily="34"/>
                        <a:cs typeface="Arial" pitchFamily="34"/>
                      </a:endParaRPr>
                    </a:p>
                  </a:txBody>
                  <a:tcPr marL="0" marR="0" marT="0" marB="0">
                    <a:solidFill>
                      <a:srgbClr val="F2F2F2"/>
                    </a:solidFill>
                  </a:tcPr>
                </a:tc>
                <a:tc>
                  <a:txBody>
                    <a:bodyPr/>
                    <a:lstStyle/>
                    <a:p>
                      <a:pPr lvl="0">
                        <a:lnSpc>
                          <a:spcPct val="107000"/>
                        </a:lnSpc>
                        <a:spcBef>
                          <a:spcPts val="200"/>
                        </a:spcBef>
                        <a:spcAft>
                          <a:spcPts val="200"/>
                        </a:spcAft>
                      </a:pPr>
                      <a:r>
                        <a:rPr lang="en-GB" sz="1200"/>
                        <a:t>£500.00</a:t>
                      </a:r>
                      <a:endParaRPr lang="en-GB" sz="1200">
                        <a:latin typeface="Arial" pitchFamily="34"/>
                        <a:ea typeface="Arial" pitchFamily="34"/>
                        <a:cs typeface="Arial" pitchFamily="34"/>
                      </a:endParaRPr>
                    </a:p>
                  </a:txBody>
                  <a:tcPr marL="0" marR="0" marT="0" marB="0">
                    <a:solidFill>
                      <a:srgbClr val="F2F2F2"/>
                    </a:solidFill>
                  </a:tcPr>
                </a:tc>
                <a:extLst>
                  <a:ext uri="{0D108BD9-81ED-4DB2-BD59-A6C34878D82A}">
                    <a16:rowId xmlns:a16="http://schemas.microsoft.com/office/drawing/2014/main" val="1253227561"/>
                  </a:ext>
                </a:extLst>
              </a:tr>
              <a:tr h="64437">
                <a:tc>
                  <a:txBody>
                    <a:bodyPr/>
                    <a:lstStyle/>
                    <a:p>
                      <a:pPr lvl="0">
                        <a:lnSpc>
                          <a:spcPct val="107000"/>
                        </a:lnSpc>
                        <a:spcBef>
                          <a:spcPts val="200"/>
                        </a:spcBef>
                        <a:spcAft>
                          <a:spcPts val="200"/>
                        </a:spcAft>
                      </a:pPr>
                      <a:r>
                        <a:rPr lang="en-GB" sz="1200" b="0">
                          <a:solidFill>
                            <a:srgbClr val="000000"/>
                          </a:solidFill>
                        </a:rPr>
                        <a:t>GB725115006000</a:t>
                      </a:r>
                      <a:endParaRPr lang="en-GB" sz="1200" b="0">
                        <a:solidFill>
                          <a:srgbClr val="000000"/>
                        </a:solidFill>
                        <a:latin typeface="Arial" pitchFamily="34"/>
                        <a:ea typeface="Arial" pitchFamily="34"/>
                        <a:cs typeface="Arial" pitchFamily="34"/>
                      </a:endParaRPr>
                    </a:p>
                  </a:txBody>
                  <a:tcPr marL="0" marR="0" marT="0" marB="0">
                    <a:solidFill>
                      <a:srgbClr val="E7E6E6"/>
                    </a:solidFill>
                  </a:tcPr>
                </a:tc>
                <a:tc>
                  <a:txBody>
                    <a:bodyPr/>
                    <a:lstStyle/>
                    <a:p>
                      <a:pPr lvl="0">
                        <a:lnSpc>
                          <a:spcPct val="107000"/>
                        </a:lnSpc>
                        <a:spcBef>
                          <a:spcPts val="200"/>
                        </a:spcBef>
                        <a:spcAft>
                          <a:spcPts val="200"/>
                        </a:spcAft>
                      </a:pPr>
                      <a:r>
                        <a:rPr lang="en-GB" sz="1200"/>
                        <a:t>No message</a:t>
                      </a:r>
                      <a:endParaRPr lang="en-GB" sz="1200">
                        <a:latin typeface="Arial" pitchFamily="34"/>
                        <a:ea typeface="Arial" pitchFamily="34"/>
                        <a:cs typeface="Arial" pitchFamily="34"/>
                      </a:endParaRPr>
                    </a:p>
                  </a:txBody>
                  <a:tcPr marL="0" marR="0" marT="0" marB="0">
                    <a:solidFill>
                      <a:srgbClr val="E7E6E6"/>
                    </a:solidFill>
                  </a:tcPr>
                </a:tc>
                <a:extLst>
                  <a:ext uri="{0D108BD9-81ED-4DB2-BD59-A6C34878D82A}">
                    <a16:rowId xmlns:a16="http://schemas.microsoft.com/office/drawing/2014/main" val="2884543620"/>
                  </a:ext>
                </a:extLst>
              </a:tr>
              <a:tr h="77275">
                <a:tc>
                  <a:txBody>
                    <a:bodyPr/>
                    <a:lstStyle/>
                    <a:p>
                      <a:pPr lvl="0">
                        <a:lnSpc>
                          <a:spcPct val="107000"/>
                        </a:lnSpc>
                        <a:spcBef>
                          <a:spcPts val="200"/>
                        </a:spcBef>
                        <a:spcAft>
                          <a:spcPts val="200"/>
                        </a:spcAft>
                      </a:pPr>
                      <a:r>
                        <a:rPr lang="en-GB" sz="1200" b="0">
                          <a:solidFill>
                            <a:srgbClr val="000000"/>
                          </a:solidFill>
                        </a:rPr>
                        <a:t>GB725115007000</a:t>
                      </a:r>
                      <a:endParaRPr lang="en-GB" sz="1200" b="0">
                        <a:solidFill>
                          <a:srgbClr val="000000"/>
                        </a:solidFill>
                        <a:latin typeface="Arial" pitchFamily="34"/>
                        <a:ea typeface="Arial" pitchFamily="34"/>
                        <a:cs typeface="Arial" pitchFamily="34"/>
                      </a:endParaRPr>
                    </a:p>
                  </a:txBody>
                  <a:tcPr marL="0" marR="0" marT="0" marB="0">
                    <a:solidFill>
                      <a:srgbClr val="E7E6E6"/>
                    </a:solidFill>
                  </a:tcPr>
                </a:tc>
                <a:tc>
                  <a:txBody>
                    <a:bodyPr/>
                    <a:lstStyle/>
                    <a:p>
                      <a:pPr lvl="0">
                        <a:lnSpc>
                          <a:spcPct val="107000"/>
                        </a:lnSpc>
                        <a:spcBef>
                          <a:spcPts val="200"/>
                        </a:spcBef>
                        <a:spcAft>
                          <a:spcPts val="200"/>
                        </a:spcAft>
                      </a:pPr>
                      <a:r>
                        <a:rPr lang="en-GB" sz="1200" dirty="0"/>
                        <a:t>£100000.00</a:t>
                      </a:r>
                      <a:endParaRPr lang="en-GB" sz="1200" dirty="0">
                        <a:latin typeface="Arial" pitchFamily="34"/>
                        <a:ea typeface="Arial" pitchFamily="34"/>
                        <a:cs typeface="Arial" pitchFamily="34"/>
                      </a:endParaRPr>
                    </a:p>
                  </a:txBody>
                  <a:tcPr marL="0" marR="0" marT="0" marB="0">
                    <a:solidFill>
                      <a:srgbClr val="E7E6E6"/>
                    </a:solidFill>
                  </a:tcPr>
                </a:tc>
                <a:extLst>
                  <a:ext uri="{0D108BD9-81ED-4DB2-BD59-A6C34878D82A}">
                    <a16:rowId xmlns:a16="http://schemas.microsoft.com/office/drawing/2014/main" val="3117785463"/>
                  </a:ext>
                </a:extLst>
              </a:tr>
            </a:tbl>
          </a:graphicData>
        </a:graphic>
      </p:graphicFrame>
      <p:sp>
        <p:nvSpPr>
          <p:cNvPr id="11" name="Slide Number Placeholder 5">
            <a:extLst>
              <a:ext uri="{FF2B5EF4-FFF2-40B4-BE49-F238E27FC236}">
                <a16:creationId xmlns:a16="http://schemas.microsoft.com/office/drawing/2014/main" id="{DD402EA0-AAF9-4137-A7C3-520B1BBE46CC}"/>
              </a:ext>
            </a:extLst>
          </p:cNvPr>
          <p:cNvSpPr txBox="1"/>
          <p:nvPr/>
        </p:nvSpPr>
        <p:spPr>
          <a:xfrm>
            <a:off x="11548051" y="6470193"/>
            <a:ext cx="586621"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B90B8E9-8E35-4560-860A-469E2F03ACC1}" type="slidenum">
              <a:rPr sz="1200"/>
              <a:t>47</a:t>
            </a:fld>
            <a:endParaRPr lang="en-GB" sz="1200" b="0" i="0" u="none" strike="noStrike" kern="1200" cap="none" spc="0" baseline="0" dirty="0">
              <a:solidFill>
                <a:srgbClr val="000000"/>
              </a:solidFill>
              <a:uFillTx/>
              <a:latin typeface="Calibri"/>
            </a:endParaRPr>
          </a:p>
        </p:txBody>
      </p:sp>
      <p:sp>
        <p:nvSpPr>
          <p:cNvPr id="12" name="Oval 43">
            <a:hlinkClick r:id="rId4" action="ppaction://hlinksldjump"/>
            <a:extLst>
              <a:ext uri="{FF2B5EF4-FFF2-40B4-BE49-F238E27FC236}">
                <a16:creationId xmlns:a16="http://schemas.microsoft.com/office/drawing/2014/main" id="{79ED9949-6F81-43C6-AECE-36A6648FEEC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4">
            <a:hlinkClick r:id="rId4" action="ppaction://hlinksldjump"/>
            <a:extLst>
              <a:ext uri="{FF2B5EF4-FFF2-40B4-BE49-F238E27FC236}">
                <a16:creationId xmlns:a16="http://schemas.microsoft.com/office/drawing/2014/main" id="{C9E39D03-E84B-4DDF-AF78-4C056908605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5">
            <a:hlinkClick r:id="rId5" action="ppaction://hlinksldjump"/>
            <a:extLst>
              <a:ext uri="{FF2B5EF4-FFF2-40B4-BE49-F238E27FC236}">
                <a16:creationId xmlns:a16="http://schemas.microsoft.com/office/drawing/2014/main" id="{110DDA20-A524-4AAB-9E14-C67BD837E14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6">
            <a:hlinkClick r:id="rId6" action="ppaction://hlinksldjump"/>
            <a:extLst>
              <a:ext uri="{FF2B5EF4-FFF2-40B4-BE49-F238E27FC236}">
                <a16:creationId xmlns:a16="http://schemas.microsoft.com/office/drawing/2014/main" id="{5E2167CA-5008-498B-AD55-BBB79C46DF6D}"/>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47">
            <a:hlinkClick r:id="rId4" action="ppaction://hlinksldjump"/>
            <a:extLst>
              <a:ext uri="{FF2B5EF4-FFF2-40B4-BE49-F238E27FC236}">
                <a16:creationId xmlns:a16="http://schemas.microsoft.com/office/drawing/2014/main" id="{78ABE6B2-38E4-4BFA-B1DE-4EBE083D1EED}"/>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48">
            <a:hlinkClick r:id="rId4" action="ppaction://hlinksldjump"/>
            <a:extLst>
              <a:ext uri="{FF2B5EF4-FFF2-40B4-BE49-F238E27FC236}">
                <a16:creationId xmlns:a16="http://schemas.microsoft.com/office/drawing/2014/main" id="{597D4565-2333-43A0-971D-A4C2D0C1DDC5}"/>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8" name="TextBox 49">
            <a:hlinkClick r:id="rId5" action="ppaction://hlinksldjump"/>
            <a:extLst>
              <a:ext uri="{FF2B5EF4-FFF2-40B4-BE49-F238E27FC236}">
                <a16:creationId xmlns:a16="http://schemas.microsoft.com/office/drawing/2014/main" id="{B6134E4A-55DB-4736-84FB-0B1C1FC5BD5A}"/>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9" name="TextBox 50">
            <a:hlinkClick r:id="rId5" action="ppaction://hlinksldjump"/>
            <a:extLst>
              <a:ext uri="{FF2B5EF4-FFF2-40B4-BE49-F238E27FC236}">
                <a16:creationId xmlns:a16="http://schemas.microsoft.com/office/drawing/2014/main" id="{6560EA4B-3FF6-4266-A8C6-8F0EBF6A7FAC}"/>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20" name="Oval 51">
            <a:extLst>
              <a:ext uri="{FF2B5EF4-FFF2-40B4-BE49-F238E27FC236}">
                <a16:creationId xmlns:a16="http://schemas.microsoft.com/office/drawing/2014/main" id="{83273865-977A-4058-A9BB-50649B9042A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52">
            <a:hlinkClick r:id="rId7" action="ppaction://hlinksldjump"/>
            <a:extLst>
              <a:ext uri="{FF2B5EF4-FFF2-40B4-BE49-F238E27FC236}">
                <a16:creationId xmlns:a16="http://schemas.microsoft.com/office/drawing/2014/main" id="{D8ADC33C-678E-46F4-BB3D-B2AD83E66898}"/>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hlinkClick r:id="rId4" action="ppaction://hlinksldjump"/>
            <a:extLst>
              <a:ext uri="{FF2B5EF4-FFF2-40B4-BE49-F238E27FC236}">
                <a16:creationId xmlns:a16="http://schemas.microsoft.com/office/drawing/2014/main" id="{AB3EA4F0-B81F-48B0-8A7A-7F462254BFFC}"/>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54">
            <a:hlinkClick r:id="rId4" action="ppaction://hlinksldjump"/>
            <a:extLst>
              <a:ext uri="{FF2B5EF4-FFF2-40B4-BE49-F238E27FC236}">
                <a16:creationId xmlns:a16="http://schemas.microsoft.com/office/drawing/2014/main" id="{4A2769C1-A95B-44F1-8C91-F6E3EB325C1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1">
            <a:extLst>
              <a:ext uri="{FF2B5EF4-FFF2-40B4-BE49-F238E27FC236}">
                <a16:creationId xmlns:a16="http://schemas.microsoft.com/office/drawing/2014/main" id="{5E573888-051C-459D-B566-36ABA242590F}"/>
              </a:ext>
            </a:extLst>
          </p:cNvPr>
          <p:cNvSpPr/>
          <p:nvPr/>
        </p:nvSpPr>
        <p:spPr>
          <a:xfrm>
            <a:off x="189390" y="5088187"/>
            <a:ext cx="4869984" cy="1217944"/>
          </a:xfrm>
          <a:prstGeom prst="rect">
            <a:avLst/>
          </a:prstGeom>
          <a:solidFill>
            <a:srgbClr val="E7E6E6"/>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dirty="0">
                <a:solidFill>
                  <a:srgbClr val="000000"/>
                </a:solidFill>
                <a:uFillTx/>
                <a:latin typeface="Calibri"/>
              </a:rPr>
              <a:t>Please Note: </a:t>
            </a:r>
            <a:r>
              <a:rPr lang="en-GB" sz="1000" b="0" i="0" u="none" strike="noStrike" kern="1200" cap="none" spc="0" baseline="0" dirty="0">
                <a:solidFill>
                  <a:srgbClr val="000000"/>
                </a:solidFill>
                <a:uFillTx/>
                <a:latin typeface="Calibri"/>
              </a:rPr>
              <a:t>Within TT and TDR, when testing an immediate payment the following example reference format is generated </a:t>
            </a:r>
            <a:r>
              <a:rPr lang="en-GB" sz="1000" b="1" i="0" u="none" strike="noStrike" kern="1200" cap="none" spc="0" baseline="0" dirty="0">
                <a:solidFill>
                  <a:srgbClr val="000000"/>
                </a:solidFill>
                <a:uFillTx/>
                <a:latin typeface="Calibri"/>
              </a:rPr>
              <a:t>"&lt;</a:t>
            </a:r>
            <a:r>
              <a:rPr lang="en-GB" sz="1000" b="1" i="0" u="none" strike="noStrike" kern="1200" cap="none" spc="0" baseline="0" dirty="0" err="1">
                <a:solidFill>
                  <a:srgbClr val="000000"/>
                </a:solidFill>
                <a:uFillTx/>
                <a:latin typeface="Calibri"/>
              </a:rPr>
              <a:t>ReferenceID</a:t>
            </a:r>
            <a:r>
              <a:rPr lang="en-GB" sz="1000" b="1" i="0" u="none" strike="noStrike" kern="1200" cap="none" spc="0" baseline="0" dirty="0">
                <a:solidFill>
                  <a:srgbClr val="000000"/>
                </a:solidFill>
                <a:uFillTx/>
                <a:latin typeface="Calibri"/>
              </a:rPr>
              <a:t>&gt;5ef36ae&lt;/</a:t>
            </a:r>
            <a:r>
              <a:rPr lang="en-GB" sz="1000" b="1" i="0" u="none" strike="noStrike" kern="1200" cap="none" spc="0" baseline="0" dirty="0" err="1">
                <a:solidFill>
                  <a:srgbClr val="000000"/>
                </a:solidFill>
                <a:uFillTx/>
                <a:latin typeface="Calibri"/>
              </a:rPr>
              <a:t>ReferenceID</a:t>
            </a:r>
            <a:r>
              <a:rPr lang="en-GB" sz="1000" b="1" i="0" u="none" strike="noStrike" kern="1200" cap="none" spc="0" baseline="0" dirty="0">
                <a:solidFill>
                  <a:srgbClr val="000000"/>
                </a:solidFill>
                <a:uFillTx/>
                <a:latin typeface="Calibri"/>
              </a:rPr>
              <a:t>&gt;"</a:t>
            </a:r>
            <a:r>
              <a:rPr lang="en-GB" sz="1000" b="0" i="0" u="none" strike="noStrike" kern="1200" cap="none" spc="0" baseline="0" dirty="0">
                <a:solidFill>
                  <a:srgbClr val="000000"/>
                </a:solidFill>
                <a:uFillTx/>
                <a:latin typeface="Calibri"/>
              </a:rPr>
              <a:t>. However this unique format differs from the immediate payment reference format expected within production e.g.: </a:t>
            </a:r>
            <a:r>
              <a:rPr lang="en-GB" sz="1000" b="1" i="0" u="none" strike="noStrike" kern="1200" cap="none" spc="0" baseline="0" dirty="0">
                <a:solidFill>
                  <a:srgbClr val="000000"/>
                </a:solidFill>
                <a:uFillTx/>
                <a:latin typeface="Calibri"/>
              </a:rPr>
              <a:t>CDSI21ZQ2KP6AR00</a:t>
            </a:r>
            <a:r>
              <a:rPr lang="en-GB" sz="1000" b="0" i="0" u="none" strike="noStrike" kern="1200" cap="none" spc="0" baseline="0" dirty="0">
                <a:solidFill>
                  <a:srgbClr val="000000"/>
                </a:solidFill>
                <a:uFillTx/>
                <a:latin typeface="Calibri"/>
              </a:rPr>
              <a:t>. The production reference is the accurate format as it follows the expected details of CDSI - Last two digits of the current year - Last 8 digits of the declaration ID (MRN) -Two numeric digits to ensure uniqueness.</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838840306">
    <p:spTree>
      <p:nvGrpSpPr>
        <p:cNvPr id="1" name=""/>
        <p:cNvGrpSpPr/>
        <p:nvPr/>
      </p:nvGrpSpPr>
      <p:grpSpPr>
        <a:xfrm>
          <a:off x="0" y="0"/>
          <a:ext cx="0" cy="0"/>
          <a:chOff x="0" y="0"/>
          <a:chExt cx="0" cy="0"/>
        </a:xfrm>
      </p:grpSpPr>
      <p:cxnSp>
        <p:nvCxnSpPr>
          <p:cNvPr id="2" name="Straight Connector 9">
            <a:extLst>
              <a:ext uri="{FF2B5EF4-FFF2-40B4-BE49-F238E27FC236}">
                <a16:creationId xmlns:a16="http://schemas.microsoft.com/office/drawing/2014/main" id="{9E061092-92F3-4C27-A89D-BEEEEE8C70F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9E7642E1-5C88-4C2F-BF64-0797AA9AC45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37A91E1-37F9-41F2-9BBE-A74693918F73}"/>
              </a:ext>
            </a:extLst>
          </p:cNvPr>
          <p:cNvSpPr txBox="1"/>
          <p:nvPr/>
        </p:nvSpPr>
        <p:spPr>
          <a:xfrm>
            <a:off x="363967" y="248844"/>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Rectangle 13">
            <a:extLst>
              <a:ext uri="{FF2B5EF4-FFF2-40B4-BE49-F238E27FC236}">
                <a16:creationId xmlns:a16="http://schemas.microsoft.com/office/drawing/2014/main" id="{576253FF-8AC7-499C-934D-185BBC618132}"/>
              </a:ext>
            </a:extLst>
          </p:cNvPr>
          <p:cNvSpPr/>
          <p:nvPr/>
        </p:nvSpPr>
        <p:spPr>
          <a:xfrm>
            <a:off x="389132" y="810167"/>
            <a:ext cx="4607926" cy="400114"/>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FFFFFF"/>
                </a:solidFill>
                <a:uFillTx/>
                <a:latin typeface="Calibri" pitchFamily="34"/>
                <a:ea typeface="Calibri" pitchFamily="34"/>
              </a:rPr>
              <a:t>High-level Imports Scenarios in Trade Test</a:t>
            </a:r>
          </a:p>
        </p:txBody>
      </p:sp>
      <p:sp>
        <p:nvSpPr>
          <p:cNvPr id="6" name="Rectangle 4">
            <a:extLst>
              <a:ext uri="{FF2B5EF4-FFF2-40B4-BE49-F238E27FC236}">
                <a16:creationId xmlns:a16="http://schemas.microsoft.com/office/drawing/2014/main" id="{D15A606E-A4C7-426E-A2AB-8956662DF377}"/>
              </a:ext>
            </a:extLst>
          </p:cNvPr>
          <p:cNvSpPr/>
          <p:nvPr/>
        </p:nvSpPr>
        <p:spPr>
          <a:xfrm>
            <a:off x="325937" y="742620"/>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Simulated Immediate Payment Service</a:t>
            </a:r>
          </a:p>
        </p:txBody>
      </p:sp>
      <p:graphicFrame>
        <p:nvGraphicFramePr>
          <p:cNvPr id="7" name="Table 4">
            <a:extLst>
              <a:ext uri="{FF2B5EF4-FFF2-40B4-BE49-F238E27FC236}">
                <a16:creationId xmlns:a16="http://schemas.microsoft.com/office/drawing/2014/main" id="{1DFEF2E5-4545-4298-AD74-99DF5C21B131}"/>
              </a:ext>
            </a:extLst>
          </p:cNvPr>
          <p:cNvGraphicFramePr>
            <a:graphicFrameLocks noGrp="1"/>
          </p:cNvGraphicFramePr>
          <p:nvPr/>
        </p:nvGraphicFramePr>
        <p:xfrm>
          <a:off x="363967" y="2116186"/>
          <a:ext cx="11456462" cy="816303"/>
        </p:xfrm>
        <a:graphic>
          <a:graphicData uri="http://schemas.openxmlformats.org/drawingml/2006/table">
            <a:tbl>
              <a:tblPr firstRow="1" bandRow="1">
                <a:effectLst/>
                <a:tableStyleId>{5C22544A-7EE6-4342-B048-85BDC9FD1C3A}</a:tableStyleId>
              </a:tblPr>
              <a:tblGrid>
                <a:gridCol w="11456462">
                  <a:extLst>
                    <a:ext uri="{9D8B030D-6E8A-4147-A177-3AD203B41FA5}">
                      <a16:colId xmlns:a16="http://schemas.microsoft.com/office/drawing/2014/main" val="3675989758"/>
                    </a:ext>
                  </a:extLst>
                </a:gridCol>
              </a:tblGrid>
              <a:tr h="239856">
                <a:tc>
                  <a:txBody>
                    <a:bodyPr/>
                    <a:lstStyle/>
                    <a:p>
                      <a:pPr lvl="0"/>
                      <a:r>
                        <a:rPr lang="en-GB" sz="1200"/>
                        <a:t>Specific External Test Behaviour</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1730291658"/>
                  </a:ext>
                </a:extLst>
              </a:tr>
              <a:tr h="541983">
                <a:tc>
                  <a:txBody>
                    <a:bodyPr/>
                    <a:lstStyle/>
                    <a:p>
                      <a:pPr lvl="0"/>
                      <a:r>
                        <a:rPr lang="en-GB" sz="1200" dirty="0">
                          <a:solidFill>
                            <a:srgbClr val="333333"/>
                          </a:solidFill>
                        </a:rPr>
                        <a:t>In TT &amp; TDR environments, the immediate payment emulator only supports the frontier declaration types A, B, D, E, J &amp; K, so in this scenario a test supplementary declaration (type Y or Z) would get stuck after the generation of the DMSTAX and you would not receive a DMSCLE message. </a:t>
                      </a:r>
                      <a:endParaRPr lang="en-GB" sz="1200" dirty="0">
                        <a:solidFill>
                          <a:srgbClr val="000000"/>
                        </a:solidFill>
                      </a:endParaRP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754587018"/>
                  </a:ext>
                </a:extLst>
              </a:tr>
            </a:tbl>
          </a:graphicData>
        </a:graphic>
      </p:graphicFrame>
      <p:sp>
        <p:nvSpPr>
          <p:cNvPr id="8" name="Rectangle 21">
            <a:extLst>
              <a:ext uri="{FF2B5EF4-FFF2-40B4-BE49-F238E27FC236}">
                <a16:creationId xmlns:a16="http://schemas.microsoft.com/office/drawing/2014/main" id="{CBC57A21-A2FA-4B24-8DAC-99CE24764C3F}"/>
              </a:ext>
            </a:extLst>
          </p:cNvPr>
          <p:cNvSpPr/>
          <p:nvPr/>
        </p:nvSpPr>
        <p:spPr>
          <a:xfrm>
            <a:off x="319116" y="1122727"/>
            <a:ext cx="291753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Imports Supplementary Declarations</a:t>
            </a:r>
          </a:p>
        </p:txBody>
      </p:sp>
      <p:sp>
        <p:nvSpPr>
          <p:cNvPr id="9" name="Rectangle 6">
            <a:extLst>
              <a:ext uri="{FF2B5EF4-FFF2-40B4-BE49-F238E27FC236}">
                <a16:creationId xmlns:a16="http://schemas.microsoft.com/office/drawing/2014/main" id="{142D1163-1481-45CD-8DDE-4DC167F3AE20}"/>
              </a:ext>
            </a:extLst>
          </p:cNvPr>
          <p:cNvSpPr/>
          <p:nvPr/>
        </p:nvSpPr>
        <p:spPr>
          <a:xfrm>
            <a:off x="319116" y="1430505"/>
            <a:ext cx="11501323"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In production, CDS now accepts a supplementary declaration (type Y or Z) without a MOP or DAN code when there’s no revenue to pay and, if there is revenue to pay, CDS will default to immediate cash payment. This effectively blocks clearance until the trader takes action. The expected action in live would be to cancel the supplementary declaration and resubmit with Deferment payment details added. </a:t>
            </a:r>
          </a:p>
        </p:txBody>
      </p:sp>
      <p:graphicFrame>
        <p:nvGraphicFramePr>
          <p:cNvPr id="10" name="Table 7">
            <a:extLst>
              <a:ext uri="{FF2B5EF4-FFF2-40B4-BE49-F238E27FC236}">
                <a16:creationId xmlns:a16="http://schemas.microsoft.com/office/drawing/2014/main" id="{6F0506EC-D711-41A9-8B72-816850CD1BDD}"/>
              </a:ext>
            </a:extLst>
          </p:cNvPr>
          <p:cNvGraphicFramePr>
            <a:graphicFrameLocks noGrp="1"/>
          </p:cNvGraphicFramePr>
          <p:nvPr/>
        </p:nvGraphicFramePr>
        <p:xfrm>
          <a:off x="363967" y="3349392"/>
          <a:ext cx="11456471" cy="1722120"/>
        </p:xfrm>
        <a:graphic>
          <a:graphicData uri="http://schemas.openxmlformats.org/drawingml/2006/table">
            <a:tbl>
              <a:tblPr firstRow="1" bandRow="1">
                <a:effectLst/>
                <a:tableStyleId>{5C22544A-7EE6-4342-B048-85BDC9FD1C3A}</a:tableStyleId>
              </a:tblPr>
              <a:tblGrid>
                <a:gridCol w="5499942">
                  <a:extLst>
                    <a:ext uri="{9D8B030D-6E8A-4147-A177-3AD203B41FA5}">
                      <a16:colId xmlns:a16="http://schemas.microsoft.com/office/drawing/2014/main" val="1971677978"/>
                    </a:ext>
                  </a:extLst>
                </a:gridCol>
                <a:gridCol w="5956529">
                  <a:extLst>
                    <a:ext uri="{9D8B030D-6E8A-4147-A177-3AD203B41FA5}">
                      <a16:colId xmlns:a16="http://schemas.microsoft.com/office/drawing/2014/main" val="1157048436"/>
                    </a:ext>
                  </a:extLst>
                </a:gridCol>
              </a:tblGrid>
              <a:tr h="0">
                <a:tc>
                  <a:txBody>
                    <a:bodyPr/>
                    <a:lstStyle/>
                    <a:p>
                      <a:pPr lvl="0"/>
                      <a:r>
                        <a:rPr lang="en-GB" sz="1200"/>
                        <a:t>External Test Scope</a:t>
                      </a:r>
                    </a:p>
                  </a:txBody>
                  <a:tcPr anchor="ctr">
                    <a:solidFill>
                      <a:srgbClr val="009999"/>
                    </a:solidFill>
                  </a:tcPr>
                </a:tc>
                <a:tc>
                  <a:txBody>
                    <a:bodyPr/>
                    <a:lstStyle/>
                    <a:p>
                      <a:pPr lvl="0"/>
                      <a:r>
                        <a:rPr lang="en-GB" sz="1200"/>
                        <a:t>Specific External Test Behaviour</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745573190"/>
                  </a:ext>
                </a:extLst>
              </a:tr>
              <a:tr h="576017">
                <a:tc>
                  <a:txBody>
                    <a:bodyPr/>
                    <a:lstStyle/>
                    <a:p>
                      <a:pPr lvl="0">
                        <a:spcAft>
                          <a:spcPts val="600"/>
                        </a:spcAft>
                      </a:pPr>
                      <a:r>
                        <a:rPr lang="en-GB" sz="1200" b="1"/>
                        <a:t>Immediate Payment Outstanding Liabilities</a:t>
                      </a:r>
                    </a:p>
                    <a:p>
                      <a:pPr lvl="0">
                        <a:spcAft>
                          <a:spcPts val="600"/>
                        </a:spcAft>
                      </a:pPr>
                      <a:r>
                        <a:rPr lang="en-GB" sz="1200"/>
                        <a:t>For scenarios where no payment is received or the payment is less than the liabilities owed, the CDS system will send daily reminder notifications indicating that there is an outstanding liability for the declaration. The first reminder notification will be received 24 hours after the initial payment notification (DMSTAX or DMSCPI), with subsequent notifications received every 24 hours from this point. Please refer to the Service Design Document and E2E Sequence Diagrams for further information.</a:t>
                      </a:r>
                      <a:endParaRPr lang="en-GB" sz="1200" b="0">
                        <a:latin typeface="Calibri"/>
                      </a:endParaRPr>
                    </a:p>
                  </a:txBody>
                  <a:tcPr>
                    <a:solidFill>
                      <a:srgbClr val="F2F2F2"/>
                    </a:solidFill>
                  </a:tcPr>
                </a:tc>
                <a:tc>
                  <a:txBody>
                    <a:bodyPr/>
                    <a:lstStyle/>
                    <a:p>
                      <a:pPr lvl="0">
                        <a:lnSpc>
                          <a:spcPct val="107000"/>
                        </a:lnSpc>
                        <a:spcAft>
                          <a:spcPts val="800"/>
                        </a:spcAft>
                      </a:pPr>
                      <a:r>
                        <a:rPr lang="en-GB" sz="1200" dirty="0">
                          <a:latin typeface="Calibri"/>
                          <a:ea typeface="Arial" pitchFamily="34"/>
                          <a:cs typeface="Arial" pitchFamily="34"/>
                        </a:rPr>
                        <a:t>For the purposes of CDS TT &amp; TDR, 2 reminder notifications will be sent after which time the declaration will cease to be processed. Once the reminder notifications have expired, the declaration may be cancelled by the end user as it will not be processed. In the Live CDS system, up to 31 reminder notifications will be received daily until either payment is received or the reminders expire.</a:t>
                      </a:r>
                      <a:endParaRPr lang="en-GB" sz="1200" b="0" dirty="0"/>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537679152"/>
                  </a:ext>
                </a:extLst>
              </a:tr>
            </a:tbl>
          </a:graphicData>
        </a:graphic>
      </p:graphicFrame>
      <p:sp>
        <p:nvSpPr>
          <p:cNvPr id="11" name="Rectangle 8">
            <a:extLst>
              <a:ext uri="{FF2B5EF4-FFF2-40B4-BE49-F238E27FC236}">
                <a16:creationId xmlns:a16="http://schemas.microsoft.com/office/drawing/2014/main" id="{4F18A7B2-E48D-4103-B2D8-3A417BF9E77B}"/>
              </a:ext>
            </a:extLst>
          </p:cNvPr>
          <p:cNvSpPr/>
          <p:nvPr/>
        </p:nvSpPr>
        <p:spPr>
          <a:xfrm>
            <a:off x="325937" y="3032863"/>
            <a:ext cx="276550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Outstanding Liability Notifications</a:t>
            </a:r>
          </a:p>
        </p:txBody>
      </p:sp>
      <p:sp>
        <p:nvSpPr>
          <p:cNvPr id="13" name="Slide Number Placeholder 5">
            <a:extLst>
              <a:ext uri="{FF2B5EF4-FFF2-40B4-BE49-F238E27FC236}">
                <a16:creationId xmlns:a16="http://schemas.microsoft.com/office/drawing/2014/main" id="{791CBFA3-F9A4-404B-981E-CC5F78C68384}"/>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9368612-1F71-4537-8ADF-805966520E35}" type="slidenum">
              <a:rPr sz="1200"/>
              <a:t>48</a:t>
            </a:fld>
            <a:endParaRPr lang="en-GB" sz="1200" b="0" i="0" u="none" strike="noStrike" kern="1200" cap="none" spc="0" baseline="0" dirty="0">
              <a:solidFill>
                <a:srgbClr val="000000"/>
              </a:solidFill>
              <a:uFillTx/>
              <a:latin typeface="Calibri"/>
            </a:endParaRPr>
          </a:p>
        </p:txBody>
      </p:sp>
      <p:sp>
        <p:nvSpPr>
          <p:cNvPr id="14" name="Oval 51">
            <a:hlinkClick r:id="rId2" action="ppaction://hlinksldjump"/>
            <a:extLst>
              <a:ext uri="{FF2B5EF4-FFF2-40B4-BE49-F238E27FC236}">
                <a16:creationId xmlns:a16="http://schemas.microsoft.com/office/drawing/2014/main" id="{C7B9855D-3913-4108-8936-285C608AE407}"/>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52">
            <a:hlinkClick r:id="rId2" action="ppaction://hlinksldjump"/>
            <a:extLst>
              <a:ext uri="{FF2B5EF4-FFF2-40B4-BE49-F238E27FC236}">
                <a16:creationId xmlns:a16="http://schemas.microsoft.com/office/drawing/2014/main" id="{551ABFF2-C2C4-4A5F-BDB5-BDBE8B2F0EA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53">
            <a:hlinkClick r:id="rId3" action="ppaction://hlinksldjump"/>
            <a:extLst>
              <a:ext uri="{FF2B5EF4-FFF2-40B4-BE49-F238E27FC236}">
                <a16:creationId xmlns:a16="http://schemas.microsoft.com/office/drawing/2014/main" id="{A212AABB-738D-4080-9625-65EEE49E0CA2}"/>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54">
            <a:hlinkClick r:id="rId4" action="ppaction://hlinksldjump"/>
            <a:extLst>
              <a:ext uri="{FF2B5EF4-FFF2-40B4-BE49-F238E27FC236}">
                <a16:creationId xmlns:a16="http://schemas.microsoft.com/office/drawing/2014/main" id="{912C7A28-6991-4912-8122-4756B17BB2D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55">
            <a:hlinkClick r:id="rId2" action="ppaction://hlinksldjump"/>
            <a:extLst>
              <a:ext uri="{FF2B5EF4-FFF2-40B4-BE49-F238E27FC236}">
                <a16:creationId xmlns:a16="http://schemas.microsoft.com/office/drawing/2014/main" id="{BD48B192-08C4-4A10-B9C4-DA5142022307}"/>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56">
            <a:hlinkClick r:id="rId2" action="ppaction://hlinksldjump"/>
            <a:extLst>
              <a:ext uri="{FF2B5EF4-FFF2-40B4-BE49-F238E27FC236}">
                <a16:creationId xmlns:a16="http://schemas.microsoft.com/office/drawing/2014/main" id="{DA3A5FBE-B081-4010-AEBF-22AA1CE8E2C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0" name="TextBox 57">
            <a:hlinkClick r:id="rId3" action="ppaction://hlinksldjump"/>
            <a:extLst>
              <a:ext uri="{FF2B5EF4-FFF2-40B4-BE49-F238E27FC236}">
                <a16:creationId xmlns:a16="http://schemas.microsoft.com/office/drawing/2014/main" id="{2F6C6E68-AEF1-4EF5-A72C-D93AEAC6A29D}"/>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21" name="TextBox 58">
            <a:hlinkClick r:id="rId3" action="ppaction://hlinksldjump"/>
            <a:extLst>
              <a:ext uri="{FF2B5EF4-FFF2-40B4-BE49-F238E27FC236}">
                <a16:creationId xmlns:a16="http://schemas.microsoft.com/office/drawing/2014/main" id="{2EB690FC-2093-4F58-B43A-D55770D4BAC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22" name="Oval 59">
            <a:extLst>
              <a:ext uri="{FF2B5EF4-FFF2-40B4-BE49-F238E27FC236}">
                <a16:creationId xmlns:a16="http://schemas.microsoft.com/office/drawing/2014/main" id="{A38ADD1C-AE4B-4E8E-B31A-1E49A0D6EAD6}"/>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60">
            <a:hlinkClick r:id="rId5" action="ppaction://hlinksldjump"/>
            <a:extLst>
              <a:ext uri="{FF2B5EF4-FFF2-40B4-BE49-F238E27FC236}">
                <a16:creationId xmlns:a16="http://schemas.microsoft.com/office/drawing/2014/main" id="{EECF8A4A-E1BC-4891-AF04-9E0BDE15294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2" action="ppaction://hlinksldjump"/>
            <a:extLst>
              <a:ext uri="{FF2B5EF4-FFF2-40B4-BE49-F238E27FC236}">
                <a16:creationId xmlns:a16="http://schemas.microsoft.com/office/drawing/2014/main" id="{9B577856-3A9F-41BC-AB37-46C7CDFE951F}"/>
              </a:ext>
            </a:extLst>
          </p:cNvPr>
          <p:cNvPicPr>
            <a:picLocks noChangeAspect="1"/>
          </p:cNvPicPr>
          <p:nvPr/>
        </p:nvPicPr>
        <p:blipFill>
          <a:blip r:embed="rId6">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62">
            <a:hlinkClick r:id="rId2" action="ppaction://hlinksldjump"/>
            <a:extLst>
              <a:ext uri="{FF2B5EF4-FFF2-40B4-BE49-F238E27FC236}">
                <a16:creationId xmlns:a16="http://schemas.microsoft.com/office/drawing/2014/main" id="{AF67F572-256E-4684-A693-9A27BBC3655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838840327">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05C65322-4314-4679-BC11-DED850C1783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E5AE28CC-D784-4F01-80D7-8AA6FE65941A}"/>
              </a:ext>
            </a:extLst>
          </p:cNvPr>
          <p:cNvSpPr txBox="1"/>
          <p:nvPr/>
        </p:nvSpPr>
        <p:spPr>
          <a:xfrm>
            <a:off x="391280" y="261225"/>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Slide Number Placeholder 5">
            <a:extLst>
              <a:ext uri="{FF2B5EF4-FFF2-40B4-BE49-F238E27FC236}">
                <a16:creationId xmlns:a16="http://schemas.microsoft.com/office/drawing/2014/main" id="{75ED918C-C82E-4E17-BC8D-38D1C8E87DB8}"/>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D627F29-F06C-442F-83DD-FEC4FFBEE6D6}" type="slidenum">
              <a:rPr sz="1200"/>
              <a:t>49</a:t>
            </a:fld>
            <a:endParaRPr lang="en-GB" sz="1200" b="0" i="0" u="none" strike="noStrike" kern="1200" cap="none" spc="0" baseline="0">
              <a:solidFill>
                <a:srgbClr val="000000"/>
              </a:solidFill>
              <a:uFillTx/>
              <a:latin typeface="Calibri"/>
            </a:endParaRPr>
          </a:p>
        </p:txBody>
      </p:sp>
      <p:sp>
        <p:nvSpPr>
          <p:cNvPr id="6" name="Oval 28">
            <a:hlinkClick r:id="rId3" action="ppaction://hlinksldjump"/>
            <a:extLst>
              <a:ext uri="{FF2B5EF4-FFF2-40B4-BE49-F238E27FC236}">
                <a16:creationId xmlns:a16="http://schemas.microsoft.com/office/drawing/2014/main" id="{B185DA32-21E0-499D-B67D-64B7984F48A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9">
            <a:hlinkClick r:id="rId3" action="ppaction://hlinksldjump"/>
            <a:extLst>
              <a:ext uri="{FF2B5EF4-FFF2-40B4-BE49-F238E27FC236}">
                <a16:creationId xmlns:a16="http://schemas.microsoft.com/office/drawing/2014/main" id="{23C43A8D-7043-41F8-89EC-AFAEE82C1C44}"/>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30">
            <a:hlinkClick r:id="rId4" action="ppaction://hlinksldjump"/>
            <a:extLst>
              <a:ext uri="{FF2B5EF4-FFF2-40B4-BE49-F238E27FC236}">
                <a16:creationId xmlns:a16="http://schemas.microsoft.com/office/drawing/2014/main" id="{440F0F77-AA5C-45A6-92FF-C14337B07CF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31">
            <a:hlinkClick r:id="rId5" action="ppaction://hlinksldjump"/>
            <a:extLst>
              <a:ext uri="{FF2B5EF4-FFF2-40B4-BE49-F238E27FC236}">
                <a16:creationId xmlns:a16="http://schemas.microsoft.com/office/drawing/2014/main" id="{5A420832-5FDE-4CCC-A09A-ADC77FC51C13}"/>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32">
            <a:hlinkClick r:id="rId3" action="ppaction://hlinksldjump"/>
            <a:extLst>
              <a:ext uri="{FF2B5EF4-FFF2-40B4-BE49-F238E27FC236}">
                <a16:creationId xmlns:a16="http://schemas.microsoft.com/office/drawing/2014/main" id="{D053FC92-FCF6-4B27-A698-A96359486BF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1" name="TextBox 33">
            <a:hlinkClick r:id="rId3" action="ppaction://hlinksldjump"/>
            <a:extLst>
              <a:ext uri="{FF2B5EF4-FFF2-40B4-BE49-F238E27FC236}">
                <a16:creationId xmlns:a16="http://schemas.microsoft.com/office/drawing/2014/main" id="{7D50DE29-F6FF-4AD2-8DD0-C3228A134BA0}"/>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2" name="TextBox 34">
            <a:hlinkClick r:id="rId4" action="ppaction://hlinksldjump"/>
            <a:extLst>
              <a:ext uri="{FF2B5EF4-FFF2-40B4-BE49-F238E27FC236}">
                <a16:creationId xmlns:a16="http://schemas.microsoft.com/office/drawing/2014/main" id="{48CA93E7-42F7-4AB9-AD62-7271B7721C1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3" name="TextBox 35">
            <a:hlinkClick r:id="rId4" action="ppaction://hlinksldjump"/>
            <a:extLst>
              <a:ext uri="{FF2B5EF4-FFF2-40B4-BE49-F238E27FC236}">
                <a16:creationId xmlns:a16="http://schemas.microsoft.com/office/drawing/2014/main" id="{B83EFFC8-8C9E-4C6E-BD48-E64D9AA1ABC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4" name="Oval 36">
            <a:extLst>
              <a:ext uri="{FF2B5EF4-FFF2-40B4-BE49-F238E27FC236}">
                <a16:creationId xmlns:a16="http://schemas.microsoft.com/office/drawing/2014/main" id="{1572C8C3-9078-4044-9825-90EE391A1BC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37">
            <a:hlinkClick r:id="rId6" action="ppaction://hlinksldjump"/>
            <a:extLst>
              <a:ext uri="{FF2B5EF4-FFF2-40B4-BE49-F238E27FC236}">
                <a16:creationId xmlns:a16="http://schemas.microsoft.com/office/drawing/2014/main" id="{D5596062-B453-48CF-9158-3939500C09D0}"/>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6" name="Picture 40">
            <a:hlinkClick r:id="rId3" action="ppaction://hlinksldjump"/>
            <a:extLst>
              <a:ext uri="{FF2B5EF4-FFF2-40B4-BE49-F238E27FC236}">
                <a16:creationId xmlns:a16="http://schemas.microsoft.com/office/drawing/2014/main" id="{BEAD5134-1E28-494F-874E-6C5563DE4363}"/>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7" name="Oval 39">
            <a:hlinkClick r:id="rId3" action="ppaction://hlinksldjump"/>
            <a:extLst>
              <a:ext uri="{FF2B5EF4-FFF2-40B4-BE49-F238E27FC236}">
                <a16:creationId xmlns:a16="http://schemas.microsoft.com/office/drawing/2014/main" id="{AFB3B24A-A053-476C-81A7-F72979990FB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Rectangle 40">
            <a:extLst>
              <a:ext uri="{FF2B5EF4-FFF2-40B4-BE49-F238E27FC236}">
                <a16:creationId xmlns:a16="http://schemas.microsoft.com/office/drawing/2014/main" id="{547A5D2C-D847-40FD-8377-8C1A8AED7947}"/>
              </a:ext>
            </a:extLst>
          </p:cNvPr>
          <p:cNvSpPr/>
          <p:nvPr/>
        </p:nvSpPr>
        <p:spPr>
          <a:xfrm>
            <a:off x="391280" y="1098916"/>
            <a:ext cx="267380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UK Tariff: Preferential FCFS Quota</a:t>
            </a:r>
          </a:p>
        </p:txBody>
      </p:sp>
      <p:sp>
        <p:nvSpPr>
          <p:cNvPr id="19" name="Rectangle 4">
            <a:extLst>
              <a:ext uri="{FF2B5EF4-FFF2-40B4-BE49-F238E27FC236}">
                <a16:creationId xmlns:a16="http://schemas.microsoft.com/office/drawing/2014/main" id="{D3D07EA4-8558-4216-9151-D1C5A08F6005}"/>
              </a:ext>
            </a:extLst>
          </p:cNvPr>
          <p:cNvSpPr/>
          <p:nvPr/>
        </p:nvSpPr>
        <p:spPr>
          <a:xfrm>
            <a:off x="399446" y="717721"/>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EU Exit: UK Tariff</a:t>
            </a:r>
          </a:p>
        </p:txBody>
      </p:sp>
      <p:graphicFrame>
        <p:nvGraphicFramePr>
          <p:cNvPr id="20" name="Table 43">
            <a:extLst>
              <a:ext uri="{FF2B5EF4-FFF2-40B4-BE49-F238E27FC236}">
                <a16:creationId xmlns:a16="http://schemas.microsoft.com/office/drawing/2014/main" id="{32A244C0-5DD3-4B7E-8136-29C47CCE05B3}"/>
              </a:ext>
            </a:extLst>
          </p:cNvPr>
          <p:cNvGraphicFramePr>
            <a:graphicFrameLocks noGrp="1"/>
          </p:cNvGraphicFramePr>
          <p:nvPr/>
        </p:nvGraphicFramePr>
        <p:xfrm>
          <a:off x="8953503" y="1413625"/>
          <a:ext cx="2851154" cy="3701554"/>
        </p:xfrm>
        <a:graphic>
          <a:graphicData uri="http://schemas.openxmlformats.org/drawingml/2006/table">
            <a:tbl>
              <a:tblPr>
                <a:effectLst/>
              </a:tblPr>
              <a:tblGrid>
                <a:gridCol w="2851154">
                  <a:extLst>
                    <a:ext uri="{9D8B030D-6E8A-4147-A177-3AD203B41FA5}">
                      <a16:colId xmlns:a16="http://schemas.microsoft.com/office/drawing/2014/main" val="2709817507"/>
                    </a:ext>
                  </a:extLst>
                </a:gridCol>
              </a:tblGrid>
              <a:tr h="300270">
                <a:tc>
                  <a:txBody>
                    <a:bodyPr/>
                    <a:lstStyle/>
                    <a:p>
                      <a:pPr lvl="0" algn="l" fontAlgn="auto"/>
                      <a:r>
                        <a:rPr lang="en-GB" sz="1200" b="1" i="0">
                          <a:solidFill>
                            <a:srgbClr val="FFFFFF"/>
                          </a:solidFill>
                          <a:latin typeface="Calibri" pitchFamily="34"/>
                        </a:rPr>
                        <a:t>Specific External Test Behaviour​</a:t>
                      </a:r>
                      <a:endParaRPr lang="en-GB" b="1" i="0">
                        <a:solidFill>
                          <a:srgbClr val="FFFFFF"/>
                        </a:solidFill>
                      </a:endParaRPr>
                    </a:p>
                  </a:txBody>
                  <a:tcPr anchor="ct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70C0"/>
                    </a:solidFill>
                  </a:tcPr>
                </a:tc>
                <a:extLst>
                  <a:ext uri="{0D108BD9-81ED-4DB2-BD59-A6C34878D82A}">
                    <a16:rowId xmlns:a16="http://schemas.microsoft.com/office/drawing/2014/main" val="147766095"/>
                  </a:ext>
                </a:extLst>
              </a:tr>
              <a:tr h="3401284">
                <a:tc>
                  <a:txBody>
                    <a:bodyPr/>
                    <a:lstStyle/>
                    <a:p>
                      <a:pPr lvl="0" algn="l" fontAlgn="auto"/>
                      <a:r>
                        <a:rPr lang="en-GB" sz="1200" b="0" i="0" dirty="0">
                          <a:solidFill>
                            <a:srgbClr val="000000"/>
                          </a:solidFill>
                          <a:latin typeface="Calibri" pitchFamily="34"/>
                        </a:rPr>
                        <a:t>The existing 11-minute delay will be applied at the point of interaction between a declaration and the Simulated Quota Service. This is to ensure that a quota is not allocated before the 10-minute dwell timer, which is applied to all supplementary and frontier declarations, has elapsed. </a:t>
                      </a:r>
                      <a:endParaRPr lang="en-GB" b="0" i="0" dirty="0">
                        <a:solidFill>
                          <a:srgbClr val="000000"/>
                        </a:solidFill>
                      </a:endParaRPr>
                    </a:p>
                    <a:p>
                      <a:pPr lvl="0" algn="l" fontAlgn="auto"/>
                      <a:r>
                        <a:rPr lang="en-GB" sz="1200" b="0" i="0" dirty="0">
                          <a:solidFill>
                            <a:srgbClr val="000000"/>
                          </a:solidFill>
                          <a:latin typeface="Calibri" pitchFamily="34"/>
                        </a:rPr>
                        <a:t>​</a:t>
                      </a:r>
                      <a:endParaRPr lang="en-GB" b="0" i="0" dirty="0">
                        <a:solidFill>
                          <a:srgbClr val="000000"/>
                        </a:solidFill>
                      </a:endParaRPr>
                    </a:p>
                  </a:txBody>
                  <a:tcP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218493769"/>
                  </a:ext>
                </a:extLst>
              </a:tr>
            </a:tbl>
          </a:graphicData>
        </a:graphic>
      </p:graphicFrame>
      <p:graphicFrame>
        <p:nvGraphicFramePr>
          <p:cNvPr id="21" name="Table 45">
            <a:extLst>
              <a:ext uri="{FF2B5EF4-FFF2-40B4-BE49-F238E27FC236}">
                <a16:creationId xmlns:a16="http://schemas.microsoft.com/office/drawing/2014/main" id="{8E70376A-BB63-4171-91CE-180AFF164D14}"/>
              </a:ext>
            </a:extLst>
          </p:cNvPr>
          <p:cNvGraphicFramePr>
            <a:graphicFrameLocks noGrp="1"/>
          </p:cNvGraphicFramePr>
          <p:nvPr/>
        </p:nvGraphicFramePr>
        <p:xfrm>
          <a:off x="488115" y="1413625"/>
          <a:ext cx="8389181" cy="3701558"/>
        </p:xfrm>
        <a:graphic>
          <a:graphicData uri="http://schemas.openxmlformats.org/drawingml/2006/table">
            <a:tbl>
              <a:tblPr>
                <a:effectLst/>
              </a:tblPr>
              <a:tblGrid>
                <a:gridCol w="8389181">
                  <a:extLst>
                    <a:ext uri="{9D8B030D-6E8A-4147-A177-3AD203B41FA5}">
                      <a16:colId xmlns:a16="http://schemas.microsoft.com/office/drawing/2014/main" val="3722643134"/>
                    </a:ext>
                  </a:extLst>
                </a:gridCol>
              </a:tblGrid>
              <a:tr h="287798">
                <a:tc>
                  <a:txBody>
                    <a:bodyPr/>
                    <a:lstStyle/>
                    <a:p>
                      <a:pPr lvl="0" algn="l" fontAlgn="auto"/>
                      <a:r>
                        <a:rPr lang="en-GB" sz="1200" b="1" i="0">
                          <a:solidFill>
                            <a:srgbClr val="FFFFFF"/>
                          </a:solidFill>
                          <a:latin typeface="Calibri"/>
                        </a:rPr>
                        <a:t>External Test Scope​</a:t>
                      </a:r>
                      <a:endParaRPr lang="en-GB" b="1" i="0">
                        <a:solidFill>
                          <a:srgbClr val="FFFFFF"/>
                        </a:solidFill>
                        <a:latin typeface="Calibri"/>
                      </a:endParaRPr>
                    </a:p>
                  </a:txBody>
                  <a:tcPr anchor="ct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9999"/>
                    </a:solidFill>
                  </a:tcPr>
                </a:tc>
                <a:extLst>
                  <a:ext uri="{0D108BD9-81ED-4DB2-BD59-A6C34878D82A}">
                    <a16:rowId xmlns:a16="http://schemas.microsoft.com/office/drawing/2014/main" val="2051563544"/>
                  </a:ext>
                </a:extLst>
              </a:tr>
              <a:tr h="2014560">
                <a:tc>
                  <a:txBody>
                    <a:bodyPr/>
                    <a:lstStyle/>
                    <a:p>
                      <a:pPr lvl="0">
                        <a:spcBef>
                          <a:spcPts val="300"/>
                        </a:spcBef>
                      </a:pPr>
                      <a:r>
                        <a:rPr lang="en-GB" sz="1200" dirty="0">
                          <a:solidFill>
                            <a:srgbClr val="000000"/>
                          </a:solidFill>
                          <a:latin typeface="Calibri"/>
                        </a:rPr>
                        <a:t>From TTM12.2/TDR3.1.0, the quota simulator in External Test will support testing of UK Preferential quota validation and calculation.</a:t>
                      </a:r>
                    </a:p>
                    <a:p>
                      <a:pPr marL="171450" lvl="0" indent="-171450">
                        <a:spcBef>
                          <a:spcPts val="300"/>
                        </a:spcBef>
                        <a:buSzPct val="100000"/>
                        <a:buFont typeface="Arial" pitchFamily="34"/>
                        <a:buChar char="•"/>
                      </a:pPr>
                      <a:r>
                        <a:rPr lang="en-GB" sz="1200" dirty="0">
                          <a:solidFill>
                            <a:srgbClr val="000000"/>
                          </a:solidFill>
                          <a:latin typeface="Calibri"/>
                        </a:rPr>
                        <a:t>Appropriate preference document code or document status code of ‘AE’, ‘AF’, ‘AG’, ‘AP’, ‘AS’, ‘AT’, ‘GE’, ‘GP’, ‘LE’ or LP’ should be declared in D.E. 2/3</a:t>
                      </a:r>
                    </a:p>
                    <a:p>
                      <a:pPr marL="171450" lvl="0" indent="-171450">
                        <a:spcBef>
                          <a:spcPts val="300"/>
                        </a:spcBef>
                        <a:buSzPct val="100000"/>
                        <a:buFont typeface="Arial" pitchFamily="34"/>
                        <a:buChar char="•"/>
                      </a:pPr>
                      <a:r>
                        <a:rPr lang="en-GB" sz="1200" dirty="0">
                          <a:solidFill>
                            <a:srgbClr val="000000"/>
                          </a:solidFill>
                          <a:latin typeface="Calibri"/>
                        </a:rPr>
                        <a:t>Trader Preference Claim Code 220, 223, 225, 320, 323, 325 or 420 should be declared in D.E. 4/17</a:t>
                      </a:r>
                    </a:p>
                    <a:p>
                      <a:pPr marL="457200" lvl="1" indent="0">
                        <a:spcBef>
                          <a:spcPts val="300"/>
                        </a:spcBef>
                        <a:buNone/>
                      </a:pPr>
                      <a:r>
                        <a:rPr lang="en-GB" sz="100" dirty="0">
                          <a:solidFill>
                            <a:srgbClr val="000000"/>
                          </a:solidFill>
                          <a:latin typeface="Calibri"/>
                        </a:rPr>
                        <a:t>Should </a:t>
                      </a:r>
                    </a:p>
                    <a:p>
                      <a:pPr lvl="0">
                        <a:spcBef>
                          <a:spcPts val="300"/>
                        </a:spcBef>
                      </a:pPr>
                      <a:r>
                        <a:rPr lang="en-GB" sz="1200" b="1" dirty="0">
                          <a:solidFill>
                            <a:srgbClr val="000000"/>
                          </a:solidFill>
                          <a:latin typeface="Calibri" pitchFamily="34"/>
                          <a:ea typeface="Calibri" pitchFamily="34"/>
                          <a:cs typeface="Times New Roman" pitchFamily="18"/>
                        </a:rPr>
                        <a:t>Provisional Duty Calculation</a:t>
                      </a:r>
                      <a:endParaRPr lang="en-GB" sz="1200" dirty="0">
                        <a:solidFill>
                          <a:srgbClr val="000000"/>
                        </a:solidFill>
                        <a:cs typeface="Arial" pitchFamily="34"/>
                      </a:endParaRPr>
                    </a:p>
                    <a:p>
                      <a:pPr lvl="0">
                        <a:spcBef>
                          <a:spcPts val="300"/>
                        </a:spcBef>
                      </a:pPr>
                      <a:r>
                        <a:rPr lang="en-GB" sz="1200" dirty="0">
                          <a:solidFill>
                            <a:srgbClr val="000000"/>
                          </a:solidFill>
                        </a:rPr>
                        <a:t>Where UK Preferential FCFS Quota has been validly claimed for NI Imports, CDS will calculate and provisionally charge UK duties depending on the status of the quota claimed: </a:t>
                      </a:r>
                    </a:p>
                    <a:p>
                      <a:pPr marL="171450" lvl="0" indent="-171450">
                        <a:spcBef>
                          <a:spcPts val="300"/>
                        </a:spcBef>
                        <a:buSzPct val="100000"/>
                        <a:buFont typeface="Arial" pitchFamily="34"/>
                        <a:buChar char="•"/>
                      </a:pPr>
                      <a:r>
                        <a:rPr lang="en-GB" sz="1200" b="1" dirty="0">
                          <a:solidFill>
                            <a:srgbClr val="000000"/>
                          </a:solidFill>
                        </a:rPr>
                        <a:t>Open</a:t>
                      </a:r>
                      <a:r>
                        <a:rPr lang="en-GB" sz="1200" dirty="0">
                          <a:solidFill>
                            <a:srgbClr val="000000"/>
                          </a:solidFill>
                        </a:rPr>
                        <a:t> – CDS should calculate the reduced rate of UK duty and provisionally charge the Trader at the in-quota preferential rate via the Traders declared method of payment only.</a:t>
                      </a:r>
                    </a:p>
                    <a:p>
                      <a:pPr marL="171450" lvl="0" indent="-171450">
                        <a:spcBef>
                          <a:spcPts val="300"/>
                        </a:spcBef>
                        <a:buSzPct val="100000"/>
                        <a:buFont typeface="Arial" pitchFamily="34"/>
                        <a:buChar char="•"/>
                      </a:pPr>
                      <a:r>
                        <a:rPr lang="en-GB" sz="1200" b="1" dirty="0">
                          <a:solidFill>
                            <a:srgbClr val="000000"/>
                          </a:solidFill>
                        </a:rPr>
                        <a:t>Critical or Blocked/Critical </a:t>
                      </a:r>
                      <a:r>
                        <a:rPr lang="en-GB" sz="1200" dirty="0">
                          <a:solidFill>
                            <a:srgbClr val="000000"/>
                          </a:solidFill>
                        </a:rPr>
                        <a:t>– </a:t>
                      </a:r>
                      <a:r>
                        <a:rPr lang="en-GB" sz="1200" b="0" i="0" u="none" strike="noStrike" kern="1200" dirty="0">
                          <a:solidFill>
                            <a:srgbClr val="000000"/>
                          </a:solidFill>
                          <a:latin typeface="Calibri"/>
                        </a:rPr>
                        <a:t>CDS should calculate the reduced rate of UK duty and charge a security deposit via the Traders declared method of payment only. The out-of-quota rate is defined as the preferential non-quota for the goods (200 for 220 claims; 300 for 320 claims; 100 for 120 claims etc.)</a:t>
                      </a:r>
                    </a:p>
                    <a:p>
                      <a:pPr marL="0" lvl="0" indent="0">
                        <a:spcBef>
                          <a:spcPts val="300"/>
                        </a:spcBef>
                        <a:buNone/>
                      </a:pPr>
                      <a:endParaRPr lang="en-GB" sz="1200" b="0" i="0" u="none" strike="noStrike" kern="1200" dirty="0">
                        <a:solidFill>
                          <a:srgbClr val="000000"/>
                        </a:solidFill>
                        <a:latin typeface="Calibri"/>
                      </a:endParaRPr>
                    </a:p>
                    <a:p>
                      <a:pPr marL="0" marR="0" lvl="0" indent="0" algn="l" defTabSz="914400" rtl="0" fontAlgn="auto" hangingPunct="1">
                        <a:lnSpc>
                          <a:spcPct val="100000"/>
                        </a:lnSpc>
                        <a:spcBef>
                          <a:spcPts val="300"/>
                        </a:spcBef>
                        <a:spcAft>
                          <a:spcPts val="0"/>
                        </a:spcAft>
                        <a:buNone/>
                        <a:tabLst/>
                      </a:pPr>
                      <a:r>
                        <a:rPr lang="en-GB" sz="1200" dirty="0">
                          <a:solidFill>
                            <a:srgbClr val="000000"/>
                          </a:solidFill>
                        </a:rPr>
                        <a:t>CDS will then return a DMSTAX notification to the trader to notify them of UK provisional amounts due and secured. </a:t>
                      </a:r>
                      <a:r>
                        <a:rPr lang="en-GB" sz="1200" b="0" i="0" u="none" strike="noStrike" kern="1200" dirty="0">
                          <a:solidFill>
                            <a:srgbClr val="000000"/>
                          </a:solidFill>
                          <a:latin typeface="Calibri"/>
                        </a:rPr>
                        <a:t>CDS will then hold the declaration open until Quota allocation results have been received.</a:t>
                      </a:r>
                    </a:p>
                    <a:p>
                      <a:pPr marL="0" lvl="0" indent="0">
                        <a:spcBef>
                          <a:spcPts val="300"/>
                        </a:spcBef>
                        <a:buNone/>
                      </a:pPr>
                      <a:endParaRPr lang="en-GB" sz="1200" dirty="0">
                        <a:solidFill>
                          <a:srgbClr val="000000"/>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000110736"/>
                  </a:ext>
                </a:extLst>
              </a:tr>
            </a:tbl>
          </a:graphicData>
        </a:graphic>
      </p:graphicFrame>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838840328">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B97F7FC3-B26C-43FA-99B4-8F8833B47E43}"/>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5BBE48EF-2E00-47E5-BCC8-BA25EF1E2E1B}"/>
              </a:ext>
            </a:extLst>
          </p:cNvPr>
          <p:cNvSpPr txBox="1"/>
          <p:nvPr/>
        </p:nvSpPr>
        <p:spPr>
          <a:xfrm>
            <a:off x="391280" y="261225"/>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Slide Number Placeholder 5">
            <a:extLst>
              <a:ext uri="{FF2B5EF4-FFF2-40B4-BE49-F238E27FC236}">
                <a16:creationId xmlns:a16="http://schemas.microsoft.com/office/drawing/2014/main" id="{54B3E45B-DD16-4640-857A-47D71A286CB5}"/>
              </a:ext>
            </a:extLst>
          </p:cNvPr>
          <p:cNvSpPr txBox="1"/>
          <p:nvPr/>
        </p:nvSpPr>
        <p:spPr>
          <a:xfrm>
            <a:off x="11725104" y="64024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B17209A-AC4C-4383-B1F6-C3A21DF6578B}" type="slidenum">
              <a:rPr sz="1200"/>
              <a:t>50</a:t>
            </a:fld>
            <a:endParaRPr lang="en-GB" sz="1200" b="0" i="0" u="none" strike="noStrike" kern="1200" cap="none" spc="0" baseline="0">
              <a:solidFill>
                <a:srgbClr val="000000"/>
              </a:solidFill>
              <a:uFillTx/>
              <a:latin typeface="Calibri"/>
            </a:endParaRPr>
          </a:p>
        </p:txBody>
      </p:sp>
      <p:sp>
        <p:nvSpPr>
          <p:cNvPr id="6" name="Oval 28">
            <a:hlinkClick r:id="rId3" action="ppaction://hlinksldjump"/>
            <a:extLst>
              <a:ext uri="{FF2B5EF4-FFF2-40B4-BE49-F238E27FC236}">
                <a16:creationId xmlns:a16="http://schemas.microsoft.com/office/drawing/2014/main" id="{9BBFCB8A-906B-47ED-8360-16EB6C45933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9">
            <a:hlinkClick r:id="rId3" action="ppaction://hlinksldjump"/>
            <a:extLst>
              <a:ext uri="{FF2B5EF4-FFF2-40B4-BE49-F238E27FC236}">
                <a16:creationId xmlns:a16="http://schemas.microsoft.com/office/drawing/2014/main" id="{E8326F99-804B-4D94-91A0-B73FB04F245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30">
            <a:hlinkClick r:id="rId4" action="ppaction://hlinksldjump"/>
            <a:extLst>
              <a:ext uri="{FF2B5EF4-FFF2-40B4-BE49-F238E27FC236}">
                <a16:creationId xmlns:a16="http://schemas.microsoft.com/office/drawing/2014/main" id="{4DCE76C5-C661-419C-8745-CE018D4FD1A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31">
            <a:hlinkClick r:id="rId5" action="ppaction://hlinksldjump"/>
            <a:extLst>
              <a:ext uri="{FF2B5EF4-FFF2-40B4-BE49-F238E27FC236}">
                <a16:creationId xmlns:a16="http://schemas.microsoft.com/office/drawing/2014/main" id="{DDE2C4B0-2FAC-4A94-928D-82FDDB41429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32">
            <a:hlinkClick r:id="rId3" action="ppaction://hlinksldjump"/>
            <a:extLst>
              <a:ext uri="{FF2B5EF4-FFF2-40B4-BE49-F238E27FC236}">
                <a16:creationId xmlns:a16="http://schemas.microsoft.com/office/drawing/2014/main" id="{B42CCB22-E375-4D0F-95A6-F46639BC67AC}"/>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1" name="TextBox 33">
            <a:hlinkClick r:id="rId3" action="ppaction://hlinksldjump"/>
            <a:extLst>
              <a:ext uri="{FF2B5EF4-FFF2-40B4-BE49-F238E27FC236}">
                <a16:creationId xmlns:a16="http://schemas.microsoft.com/office/drawing/2014/main" id="{42B47B36-B89E-4862-9D79-9180CECCBC70}"/>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2" name="TextBox 34">
            <a:hlinkClick r:id="rId4" action="ppaction://hlinksldjump"/>
            <a:extLst>
              <a:ext uri="{FF2B5EF4-FFF2-40B4-BE49-F238E27FC236}">
                <a16:creationId xmlns:a16="http://schemas.microsoft.com/office/drawing/2014/main" id="{40E25568-7BDB-440B-8E43-C371BC5B6EF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3" name="TextBox 35">
            <a:hlinkClick r:id="rId4" action="ppaction://hlinksldjump"/>
            <a:extLst>
              <a:ext uri="{FF2B5EF4-FFF2-40B4-BE49-F238E27FC236}">
                <a16:creationId xmlns:a16="http://schemas.microsoft.com/office/drawing/2014/main" id="{18A1861C-6948-456E-B6E6-1C3CA946359A}"/>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4" name="Oval 36">
            <a:extLst>
              <a:ext uri="{FF2B5EF4-FFF2-40B4-BE49-F238E27FC236}">
                <a16:creationId xmlns:a16="http://schemas.microsoft.com/office/drawing/2014/main" id="{518024AD-38A7-4554-8F27-AA3A0D717F7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37">
            <a:hlinkClick r:id="rId6" action="ppaction://hlinksldjump"/>
            <a:extLst>
              <a:ext uri="{FF2B5EF4-FFF2-40B4-BE49-F238E27FC236}">
                <a16:creationId xmlns:a16="http://schemas.microsoft.com/office/drawing/2014/main" id="{99005342-E613-49CE-BF75-54AD6D1B00C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6" name="Picture 40">
            <a:hlinkClick r:id="rId3" action="ppaction://hlinksldjump"/>
            <a:extLst>
              <a:ext uri="{FF2B5EF4-FFF2-40B4-BE49-F238E27FC236}">
                <a16:creationId xmlns:a16="http://schemas.microsoft.com/office/drawing/2014/main" id="{7149AEDA-0861-4A3D-BEDD-420DC4FB55B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7" name="Oval 39">
            <a:hlinkClick r:id="rId3" action="ppaction://hlinksldjump"/>
            <a:extLst>
              <a:ext uri="{FF2B5EF4-FFF2-40B4-BE49-F238E27FC236}">
                <a16:creationId xmlns:a16="http://schemas.microsoft.com/office/drawing/2014/main" id="{CE662AFF-CD6F-42BE-818C-6A05E39FFCC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Rectangle 40">
            <a:extLst>
              <a:ext uri="{FF2B5EF4-FFF2-40B4-BE49-F238E27FC236}">
                <a16:creationId xmlns:a16="http://schemas.microsoft.com/office/drawing/2014/main" id="{79AE2CD3-C275-4186-A329-8D3D9BC1B333}"/>
              </a:ext>
            </a:extLst>
          </p:cNvPr>
          <p:cNvSpPr/>
          <p:nvPr/>
        </p:nvSpPr>
        <p:spPr>
          <a:xfrm>
            <a:off x="399446" y="1087047"/>
            <a:ext cx="5263231"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UK Tariff: First Come First Served Quota Finalised Duty Calculation</a:t>
            </a:r>
          </a:p>
        </p:txBody>
      </p:sp>
      <p:sp>
        <p:nvSpPr>
          <p:cNvPr id="19" name="Rectangle 4">
            <a:extLst>
              <a:ext uri="{FF2B5EF4-FFF2-40B4-BE49-F238E27FC236}">
                <a16:creationId xmlns:a16="http://schemas.microsoft.com/office/drawing/2014/main" id="{70C7BC06-81CD-499F-9D6B-1E0A994F389B}"/>
              </a:ext>
            </a:extLst>
          </p:cNvPr>
          <p:cNvSpPr/>
          <p:nvPr/>
        </p:nvSpPr>
        <p:spPr>
          <a:xfrm>
            <a:off x="399446" y="717721"/>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EU Exit: UK Tariff</a:t>
            </a:r>
          </a:p>
        </p:txBody>
      </p:sp>
      <p:graphicFrame>
        <p:nvGraphicFramePr>
          <p:cNvPr id="20" name="Table 42">
            <a:extLst>
              <a:ext uri="{FF2B5EF4-FFF2-40B4-BE49-F238E27FC236}">
                <a16:creationId xmlns:a16="http://schemas.microsoft.com/office/drawing/2014/main" id="{583F0639-F4BE-4942-92B3-2ACCB2C081B0}"/>
              </a:ext>
            </a:extLst>
          </p:cNvPr>
          <p:cNvGraphicFramePr>
            <a:graphicFrameLocks noGrp="1"/>
          </p:cNvGraphicFramePr>
          <p:nvPr/>
        </p:nvGraphicFramePr>
        <p:xfrm>
          <a:off x="496272" y="1385306"/>
          <a:ext cx="11380823" cy="2308860"/>
        </p:xfrm>
        <a:graphic>
          <a:graphicData uri="http://schemas.openxmlformats.org/drawingml/2006/table">
            <a:tbl>
              <a:tblPr>
                <a:effectLst/>
              </a:tblPr>
              <a:tblGrid>
                <a:gridCol w="11380823">
                  <a:extLst>
                    <a:ext uri="{9D8B030D-6E8A-4147-A177-3AD203B41FA5}">
                      <a16:colId xmlns:a16="http://schemas.microsoft.com/office/drawing/2014/main" val="3560248333"/>
                    </a:ext>
                  </a:extLst>
                </a:gridCol>
              </a:tblGrid>
              <a:tr h="0">
                <a:tc>
                  <a:txBody>
                    <a:bodyPr/>
                    <a:lstStyle/>
                    <a:p>
                      <a:pPr lvl="0" algn="l" fontAlgn="auto"/>
                      <a:r>
                        <a:rPr lang="en-GB" sz="1200" b="1" i="0">
                          <a:solidFill>
                            <a:srgbClr val="FFFFFF"/>
                          </a:solidFill>
                          <a:latin typeface="Calibri"/>
                        </a:rPr>
                        <a:t>External Test Scope​</a:t>
                      </a:r>
                      <a:endParaRPr lang="en-GB" b="1" i="0">
                        <a:solidFill>
                          <a:srgbClr val="FFFFFF"/>
                        </a:solidFill>
                        <a:latin typeface="Calibri"/>
                      </a:endParaRPr>
                    </a:p>
                  </a:txBody>
                  <a:tcPr anchor="ct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9999"/>
                    </a:solidFill>
                  </a:tcPr>
                </a:tc>
                <a:extLst>
                  <a:ext uri="{0D108BD9-81ED-4DB2-BD59-A6C34878D82A}">
                    <a16:rowId xmlns:a16="http://schemas.microsoft.com/office/drawing/2014/main" val="3453569002"/>
                  </a:ext>
                </a:extLst>
              </a:tr>
              <a:tr h="2014560">
                <a:tc>
                  <a:txBody>
                    <a:bodyPr/>
                    <a:lstStyle/>
                    <a:p>
                      <a:pPr marL="0" lvl="0" indent="0">
                        <a:spcBef>
                          <a:spcPts val="300"/>
                        </a:spcBef>
                        <a:buNone/>
                      </a:pPr>
                      <a:r>
                        <a:rPr lang="en-GB" sz="1400" b="1" dirty="0">
                          <a:solidFill>
                            <a:srgbClr val="000000"/>
                          </a:solidFill>
                          <a:latin typeface="Calibri"/>
                        </a:rPr>
                        <a:t>Finalised Duty Calculation</a:t>
                      </a:r>
                    </a:p>
                    <a:p>
                      <a:pPr marL="0" lvl="0" indent="0">
                        <a:spcBef>
                          <a:spcPts val="300"/>
                        </a:spcBef>
                        <a:buNone/>
                      </a:pPr>
                      <a:r>
                        <a:rPr lang="en-GB" sz="1200" dirty="0">
                          <a:solidFill>
                            <a:srgbClr val="000000"/>
                          </a:solidFill>
                          <a:latin typeface="Calibri"/>
                        </a:rPr>
                        <a:t>Once the Quota request outcome has been received, the following scenarios may be returned –</a:t>
                      </a:r>
                    </a:p>
                    <a:p>
                      <a:pPr marL="171450" lvl="0" indent="-171450">
                        <a:spcBef>
                          <a:spcPts val="300"/>
                        </a:spcBef>
                        <a:buSzPct val="100000"/>
                        <a:buFont typeface="Arial" pitchFamily="34"/>
                        <a:buChar char="•"/>
                      </a:pPr>
                      <a:r>
                        <a:rPr lang="en-GB" sz="1200" dirty="0">
                          <a:solidFill>
                            <a:srgbClr val="000000"/>
                          </a:solidFill>
                          <a:latin typeface="Calibri"/>
                        </a:rPr>
                        <a:t>Full Quota Allocation - f</a:t>
                      </a:r>
                      <a:r>
                        <a:rPr lang="en-GB" sz="1200" b="0" i="0" u="none" strike="noStrike" kern="1200" dirty="0">
                          <a:solidFill>
                            <a:srgbClr val="000000"/>
                          </a:solidFill>
                          <a:latin typeface="Calibri"/>
                        </a:rPr>
                        <a:t>inal duty calculation will be calculated, and duties will be calculated at the in-quota rate. If a security deposit was taken for the quota claim and quota has been allocated (please see table 1 for examples) then the security should be released (refunded).</a:t>
                      </a:r>
                    </a:p>
                    <a:p>
                      <a:pPr marL="171450" lvl="0" indent="-171450">
                        <a:spcBef>
                          <a:spcPts val="300"/>
                        </a:spcBef>
                        <a:buSzPct val="100000"/>
                        <a:buFont typeface="Arial" pitchFamily="34"/>
                        <a:buChar char="•"/>
                      </a:pPr>
                      <a:r>
                        <a:rPr lang="en-GB" sz="1200" b="0" i="0" u="none" strike="noStrike" kern="1200" dirty="0">
                          <a:solidFill>
                            <a:srgbClr val="000000"/>
                          </a:solidFill>
                          <a:latin typeface="Calibri"/>
                        </a:rPr>
                        <a:t>No Allocation - </a:t>
                      </a:r>
                      <a:r>
                        <a:rPr lang="en-GB" sz="1200" dirty="0">
                          <a:solidFill>
                            <a:srgbClr val="000000"/>
                          </a:solidFill>
                        </a:rPr>
                        <a:t>Final duty calculation should be re-triggered, and duties should be calculated at the out of quota rate (see Note 1 below for definition of out-quota rate).</a:t>
                      </a:r>
                    </a:p>
                    <a:p>
                      <a:pPr marL="628650" lvl="1" indent="-171450">
                        <a:spcBef>
                          <a:spcPts val="300"/>
                        </a:spcBef>
                        <a:buSzPct val="100000"/>
                        <a:buFont typeface="Arial" pitchFamily="34"/>
                        <a:buChar char="•"/>
                      </a:pPr>
                      <a:r>
                        <a:rPr lang="en-GB" sz="1200" dirty="0">
                          <a:solidFill>
                            <a:srgbClr val="000000"/>
                          </a:solidFill>
                        </a:rPr>
                        <a:t>If a security deposit was taken for the quota claim and the quota has no allocation then the security should be finalised</a:t>
                      </a:r>
                    </a:p>
                    <a:p>
                      <a:pPr marL="628650" lvl="1" indent="-171450">
                        <a:spcBef>
                          <a:spcPts val="300"/>
                        </a:spcBef>
                        <a:buSzPct val="100000"/>
                        <a:buFont typeface="Arial" pitchFamily="34"/>
                        <a:buChar char="•"/>
                      </a:pPr>
                      <a:r>
                        <a:rPr lang="en-GB" sz="1200" dirty="0">
                          <a:solidFill>
                            <a:srgbClr val="000000"/>
                          </a:solidFill>
                        </a:rPr>
                        <a:t>If a security deposit was NOT taken and the delta shows additional funds are to be secured then they should be processed against the traders declared MOP </a:t>
                      </a:r>
                    </a:p>
                    <a:p>
                      <a:pPr marL="0" lvl="0" indent="0">
                        <a:spcBef>
                          <a:spcPts val="300"/>
                        </a:spcBef>
                        <a:buNone/>
                      </a:pPr>
                      <a:endParaRPr lang="en-GB" sz="1200" b="0" i="0" u="none" strike="noStrike" kern="1200" dirty="0">
                        <a:solidFill>
                          <a:srgbClr val="000000"/>
                        </a:solidFill>
                        <a:latin typeface="Calibri"/>
                      </a:endParaRPr>
                    </a:p>
                    <a:p>
                      <a:pPr marL="0" lvl="0" indent="0">
                        <a:spcBef>
                          <a:spcPts val="300"/>
                        </a:spcBef>
                        <a:buNone/>
                      </a:pPr>
                      <a:r>
                        <a:rPr lang="en-GB" sz="1200" b="0" i="0" u="none" strike="noStrike" kern="1200" dirty="0">
                          <a:solidFill>
                            <a:srgbClr val="000000"/>
                          </a:solidFill>
                          <a:latin typeface="Calibri"/>
                        </a:rPr>
                        <a:t>Please note, partial duty calculation is out of scope for TTM12.2/TDR3.1.0.</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887992060"/>
                  </a:ext>
                </a:extLst>
              </a:tr>
            </a:tbl>
          </a:graphicData>
        </a:graphic>
      </p:graphicFrame>
      <p:sp>
        <p:nvSpPr>
          <p:cNvPr id="21" name="Rectangle 9">
            <a:extLst>
              <a:ext uri="{FF2B5EF4-FFF2-40B4-BE49-F238E27FC236}">
                <a16:creationId xmlns:a16="http://schemas.microsoft.com/office/drawing/2014/main" id="{EA1B32FD-F2CE-4519-9B38-F0752FC25F1F}"/>
              </a:ext>
            </a:extLst>
          </p:cNvPr>
          <p:cNvSpPr/>
          <p:nvPr/>
        </p:nvSpPr>
        <p:spPr>
          <a:xfrm>
            <a:off x="512886" y="3805275"/>
            <a:ext cx="11387608" cy="1185821"/>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600" b="0" i="0" u="none" strike="noStrike" kern="1200" cap="none" spc="0" baseline="0">
              <a:solidFill>
                <a:srgbClr val="FFFFFF"/>
              </a:solidFill>
              <a:uFillTx/>
              <a:latin typeface="Calibri"/>
            </a:endParaRPr>
          </a:p>
        </p:txBody>
      </p:sp>
      <p:sp>
        <p:nvSpPr>
          <p:cNvPr id="22" name="Rectangle 22">
            <a:extLst>
              <a:ext uri="{FF2B5EF4-FFF2-40B4-BE49-F238E27FC236}">
                <a16:creationId xmlns:a16="http://schemas.microsoft.com/office/drawing/2014/main" id="{2CA1E477-054D-4A14-A34F-20A028448911}"/>
              </a:ext>
            </a:extLst>
          </p:cNvPr>
          <p:cNvSpPr/>
          <p:nvPr/>
        </p:nvSpPr>
        <p:spPr>
          <a:xfrm rot="16200004">
            <a:off x="235033" y="4083138"/>
            <a:ext cx="1185821" cy="630113"/>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RELEVANT XML SAMPLES</a:t>
            </a:r>
          </a:p>
        </p:txBody>
      </p:sp>
      <p:sp>
        <p:nvSpPr>
          <p:cNvPr id="23" name="Rectangle 23">
            <a:extLst>
              <a:ext uri="{FF2B5EF4-FFF2-40B4-BE49-F238E27FC236}">
                <a16:creationId xmlns:a16="http://schemas.microsoft.com/office/drawing/2014/main" id="{BE65CE0B-CF91-484F-A2D3-82F399FBF5A5}"/>
              </a:ext>
            </a:extLst>
          </p:cNvPr>
          <p:cNvSpPr/>
          <p:nvPr/>
        </p:nvSpPr>
        <p:spPr>
          <a:xfrm>
            <a:off x="1143000" y="3992416"/>
            <a:ext cx="10532104" cy="830997"/>
          </a:xfrm>
          <a:prstGeom prst="rect">
            <a:avLst/>
          </a:prstGeom>
          <a:noFill/>
          <a:ln cap="flat">
            <a:noFill/>
            <a:prstDash val="solid"/>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300"/>
              </a:spcAft>
              <a:buSzPct val="100000"/>
              <a:buFont typeface="Calibri Light"/>
              <a:buAutoNum type="arabicPeriod"/>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TT_IM43a *</a:t>
            </a:r>
            <a:r>
              <a:rPr lang="en-GB" sz="1200" b="1" i="1" u="none" strike="noStrike" kern="1200" cap="none" spc="0" baseline="0">
                <a:solidFill>
                  <a:srgbClr val="000000"/>
                </a:solidFill>
                <a:uFillTx/>
                <a:latin typeface="Calibri"/>
              </a:rPr>
              <a:t>Please note that this XML sample is no longer functional but can be used as a template* </a:t>
            </a:r>
            <a:r>
              <a:rPr lang="de-DE" sz="1200" b="1" i="0" u="none" strike="noStrike" kern="1200" cap="none" spc="0" baseline="0">
                <a:solidFill>
                  <a:srgbClr val="FF0000"/>
                </a:solidFill>
                <a:uFillTx/>
                <a:latin typeface="Calibri" pitchFamily="34"/>
              </a:rPr>
              <a:t> </a:t>
            </a:r>
            <a:r>
              <a:rPr lang="de-DE" sz="1200" b="1" i="0" u="none" strike="noStrike" kern="1200" cap="none" spc="0" baseline="0">
                <a:solidFill>
                  <a:srgbClr val="000000"/>
                </a:solidFill>
                <a:uFillTx/>
                <a:latin typeface="Calibri" pitchFamily="34"/>
              </a:rPr>
              <a:t>- </a:t>
            </a:r>
            <a:r>
              <a:rPr lang="en-GB" sz="1200" b="1" i="0" u="none" strike="noStrike" kern="1200" cap="none" spc="0" baseline="0">
                <a:solidFill>
                  <a:srgbClr val="000000"/>
                </a:solidFill>
                <a:uFillTx/>
                <a:latin typeface="Calibri" pitchFamily="34"/>
              </a:rPr>
              <a:t>ROW to NI, NIIMP, Goods 'De-Risked', Non-preferential UK FCFS quota claimed </a:t>
            </a:r>
            <a:r>
              <a:rPr lang="en-GB" sz="1200" b="0" i="0" u="none" strike="noStrike" kern="1200" cap="none" spc="0" baseline="0">
                <a:solidFill>
                  <a:srgbClr val="000000"/>
                </a:solidFill>
                <a:uFillTx/>
                <a:latin typeface="Calibri" pitchFamily="34"/>
              </a:rPr>
              <a:t>- Type A declaration for goods imported to Northern Ireland from US. The goods are 'De-Risked' by the Trader using NIREM and a non-preferential UK FCFS quota is claimed (non-RPA licence). Declaration validated against EU Tariff regulatory measures. Quota claim to fully allocated. Customs duties calculated using the UK Tariff rate.</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838840329">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F5433FE4-3A21-4D6C-87E7-FC3587966DE3}"/>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DA635EE2-4CD2-4BFD-9F75-A39E84EA6000}"/>
              </a:ext>
            </a:extLst>
          </p:cNvPr>
          <p:cNvSpPr txBox="1"/>
          <p:nvPr/>
        </p:nvSpPr>
        <p:spPr>
          <a:xfrm>
            <a:off x="391280" y="261225"/>
            <a:ext cx="433958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SIMULATED SERVICES</a:t>
            </a:r>
          </a:p>
        </p:txBody>
      </p:sp>
      <p:sp>
        <p:nvSpPr>
          <p:cNvPr id="5" name="Slide Number Placeholder 5">
            <a:extLst>
              <a:ext uri="{FF2B5EF4-FFF2-40B4-BE49-F238E27FC236}">
                <a16:creationId xmlns:a16="http://schemas.microsoft.com/office/drawing/2014/main" id="{95DFD040-F532-4E92-96DE-C2D022E54EB3}"/>
              </a:ext>
            </a:extLst>
          </p:cNvPr>
          <p:cNvSpPr txBox="1"/>
          <p:nvPr/>
        </p:nvSpPr>
        <p:spPr>
          <a:xfrm>
            <a:off x="1166339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4C0920C-5A59-4C10-AD70-4D63D86F3379}" type="slidenum">
              <a:rPr sz="1200"/>
              <a:t>51</a:t>
            </a:fld>
            <a:endParaRPr lang="en-GB" sz="1200" b="0" i="0" u="none" strike="noStrike" kern="1200" cap="none" spc="0" baseline="0">
              <a:solidFill>
                <a:srgbClr val="000000"/>
              </a:solidFill>
              <a:uFillTx/>
              <a:latin typeface="Calibri"/>
            </a:endParaRPr>
          </a:p>
        </p:txBody>
      </p:sp>
      <p:sp>
        <p:nvSpPr>
          <p:cNvPr id="6" name="Oval 28">
            <a:hlinkClick r:id="rId3" action="ppaction://hlinksldjump"/>
            <a:extLst>
              <a:ext uri="{FF2B5EF4-FFF2-40B4-BE49-F238E27FC236}">
                <a16:creationId xmlns:a16="http://schemas.microsoft.com/office/drawing/2014/main" id="{A73A9964-2389-473B-BB5D-4D403C72542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9">
            <a:hlinkClick r:id="rId3" action="ppaction://hlinksldjump"/>
            <a:extLst>
              <a:ext uri="{FF2B5EF4-FFF2-40B4-BE49-F238E27FC236}">
                <a16:creationId xmlns:a16="http://schemas.microsoft.com/office/drawing/2014/main" id="{4A791529-DDF7-4CFA-80BE-01BAFE87601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30">
            <a:hlinkClick r:id="rId4" action="ppaction://hlinksldjump"/>
            <a:extLst>
              <a:ext uri="{FF2B5EF4-FFF2-40B4-BE49-F238E27FC236}">
                <a16:creationId xmlns:a16="http://schemas.microsoft.com/office/drawing/2014/main" id="{6369E71F-9A10-4200-B5AF-74FBDA19FD7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31">
            <a:hlinkClick r:id="rId5" action="ppaction://hlinksldjump"/>
            <a:extLst>
              <a:ext uri="{FF2B5EF4-FFF2-40B4-BE49-F238E27FC236}">
                <a16:creationId xmlns:a16="http://schemas.microsoft.com/office/drawing/2014/main" id="{424823C1-A5DC-4D37-A154-3DE12AFBBC7B}"/>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TextBox 32">
            <a:hlinkClick r:id="rId3" action="ppaction://hlinksldjump"/>
            <a:extLst>
              <a:ext uri="{FF2B5EF4-FFF2-40B4-BE49-F238E27FC236}">
                <a16:creationId xmlns:a16="http://schemas.microsoft.com/office/drawing/2014/main" id="{19FC6E8E-5434-462F-B977-6B4BD8AFF642}"/>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1" name="TextBox 33">
            <a:hlinkClick r:id="rId3" action="ppaction://hlinksldjump"/>
            <a:extLst>
              <a:ext uri="{FF2B5EF4-FFF2-40B4-BE49-F238E27FC236}">
                <a16:creationId xmlns:a16="http://schemas.microsoft.com/office/drawing/2014/main" id="{3E7CA1D9-5AD2-4F24-9755-FCD4FFA56C5E}"/>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2" name="TextBox 34">
            <a:hlinkClick r:id="rId4" action="ppaction://hlinksldjump"/>
            <a:extLst>
              <a:ext uri="{FF2B5EF4-FFF2-40B4-BE49-F238E27FC236}">
                <a16:creationId xmlns:a16="http://schemas.microsoft.com/office/drawing/2014/main" id="{DDCA2A82-7D9B-47FE-80E4-0A359AC14131}"/>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3" name="TextBox 35">
            <a:hlinkClick r:id="rId4" action="ppaction://hlinksldjump"/>
            <a:extLst>
              <a:ext uri="{FF2B5EF4-FFF2-40B4-BE49-F238E27FC236}">
                <a16:creationId xmlns:a16="http://schemas.microsoft.com/office/drawing/2014/main" id="{6F5334AB-8E63-498A-A9BA-9A06C0F4B4D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4</a:t>
            </a:r>
          </a:p>
        </p:txBody>
      </p:sp>
      <p:sp>
        <p:nvSpPr>
          <p:cNvPr id="14" name="Oval 36">
            <a:extLst>
              <a:ext uri="{FF2B5EF4-FFF2-40B4-BE49-F238E27FC236}">
                <a16:creationId xmlns:a16="http://schemas.microsoft.com/office/drawing/2014/main" id="{95ADF7EF-2EA6-4D08-8731-2C9D244B64E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37">
            <a:hlinkClick r:id="rId6" action="ppaction://hlinksldjump"/>
            <a:extLst>
              <a:ext uri="{FF2B5EF4-FFF2-40B4-BE49-F238E27FC236}">
                <a16:creationId xmlns:a16="http://schemas.microsoft.com/office/drawing/2014/main" id="{62B64D5D-E1AF-4B58-82F1-9941CCD23EC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6" name="Picture 40">
            <a:hlinkClick r:id="rId3" action="ppaction://hlinksldjump"/>
            <a:extLst>
              <a:ext uri="{FF2B5EF4-FFF2-40B4-BE49-F238E27FC236}">
                <a16:creationId xmlns:a16="http://schemas.microsoft.com/office/drawing/2014/main" id="{57B70BF3-59E2-4733-A706-0BD536DD2D0E}"/>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7" name="Oval 39">
            <a:hlinkClick r:id="rId3" action="ppaction://hlinksldjump"/>
            <a:extLst>
              <a:ext uri="{FF2B5EF4-FFF2-40B4-BE49-F238E27FC236}">
                <a16:creationId xmlns:a16="http://schemas.microsoft.com/office/drawing/2014/main" id="{BBCFBC8F-FA62-46C9-8867-5D158E97F1B1}"/>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Rectangle 40">
            <a:extLst>
              <a:ext uri="{FF2B5EF4-FFF2-40B4-BE49-F238E27FC236}">
                <a16:creationId xmlns:a16="http://schemas.microsoft.com/office/drawing/2014/main" id="{486DBB6F-B17F-4DC8-8223-DE930CA2B654}"/>
              </a:ext>
            </a:extLst>
          </p:cNvPr>
          <p:cNvSpPr/>
          <p:nvPr/>
        </p:nvSpPr>
        <p:spPr>
          <a:xfrm>
            <a:off x="391280" y="1098916"/>
            <a:ext cx="214424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UK Tariff: Licence Quota</a:t>
            </a:r>
          </a:p>
        </p:txBody>
      </p:sp>
      <p:sp>
        <p:nvSpPr>
          <p:cNvPr id="19" name="Rectangle 4">
            <a:extLst>
              <a:ext uri="{FF2B5EF4-FFF2-40B4-BE49-F238E27FC236}">
                <a16:creationId xmlns:a16="http://schemas.microsoft.com/office/drawing/2014/main" id="{8AB3B6F9-1FE2-4CF9-96CF-78A7E88ECABC}"/>
              </a:ext>
            </a:extLst>
          </p:cNvPr>
          <p:cNvSpPr/>
          <p:nvPr/>
        </p:nvSpPr>
        <p:spPr>
          <a:xfrm>
            <a:off x="399446" y="717721"/>
            <a:ext cx="6969703"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EU Exit: UK Tariff</a:t>
            </a:r>
          </a:p>
        </p:txBody>
      </p:sp>
      <p:graphicFrame>
        <p:nvGraphicFramePr>
          <p:cNvPr id="20" name="Table 45">
            <a:extLst>
              <a:ext uri="{FF2B5EF4-FFF2-40B4-BE49-F238E27FC236}">
                <a16:creationId xmlns:a16="http://schemas.microsoft.com/office/drawing/2014/main" id="{11C9FB78-A43A-4844-B545-56C0B934FA89}"/>
              </a:ext>
            </a:extLst>
          </p:cNvPr>
          <p:cNvGraphicFramePr>
            <a:graphicFrameLocks noGrp="1"/>
          </p:cNvGraphicFramePr>
          <p:nvPr/>
        </p:nvGraphicFramePr>
        <p:xfrm>
          <a:off x="8558912" y="1387656"/>
          <a:ext cx="3315907" cy="2926080"/>
        </p:xfrm>
        <a:graphic>
          <a:graphicData uri="http://schemas.openxmlformats.org/drawingml/2006/table">
            <a:tbl>
              <a:tblPr>
                <a:effectLst/>
              </a:tblPr>
              <a:tblGrid>
                <a:gridCol w="3315907">
                  <a:extLst>
                    <a:ext uri="{9D8B030D-6E8A-4147-A177-3AD203B41FA5}">
                      <a16:colId xmlns:a16="http://schemas.microsoft.com/office/drawing/2014/main" val="1956565704"/>
                    </a:ext>
                  </a:extLst>
                </a:gridCol>
              </a:tblGrid>
              <a:tr h="272418">
                <a:tc>
                  <a:txBody>
                    <a:bodyPr/>
                    <a:lstStyle/>
                    <a:p>
                      <a:pPr lvl="0" algn="l" fontAlgn="auto"/>
                      <a:r>
                        <a:rPr lang="en-GB" sz="1200" b="1" i="0">
                          <a:solidFill>
                            <a:srgbClr val="FFFFFF"/>
                          </a:solidFill>
                          <a:latin typeface="Calibri" pitchFamily="34"/>
                        </a:rPr>
                        <a:t>Specific External Test Behaviour​</a:t>
                      </a:r>
                      <a:endParaRPr lang="en-GB" b="1" i="0">
                        <a:solidFill>
                          <a:srgbClr val="FFFFFF"/>
                        </a:solidFill>
                      </a:endParaRPr>
                    </a:p>
                  </a:txBody>
                  <a:tcPr anchor="ct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70C0"/>
                    </a:solidFill>
                  </a:tcPr>
                </a:tc>
                <a:extLst>
                  <a:ext uri="{0D108BD9-81ED-4DB2-BD59-A6C34878D82A}">
                    <a16:rowId xmlns:a16="http://schemas.microsoft.com/office/drawing/2014/main" val="3170871282"/>
                  </a:ext>
                </a:extLst>
              </a:tr>
              <a:tr h="2639982">
                <a:tc>
                  <a:txBody>
                    <a:bodyPr/>
                    <a:lstStyle/>
                    <a:p>
                      <a:pPr lvl="0" algn="l" fontAlgn="auto"/>
                      <a:r>
                        <a:rPr lang="en-GB" sz="1200" b="0" i="0" dirty="0">
                          <a:solidFill>
                            <a:srgbClr val="000000"/>
                          </a:solidFill>
                          <a:latin typeface="Calibri" pitchFamily="34"/>
                        </a:rPr>
                        <a:t>The existing 11-minute delay will not be configured for licence quota. In TT/TDR, the following UK Licence Quota ID can be declared to test Licence quota:​</a:t>
                      </a: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lgn="l" fontAlgn="auto"/>
                      <a:endParaRPr lang="en-GB" sz="1200" b="0" i="0" dirty="0">
                        <a:solidFill>
                          <a:srgbClr val="000000"/>
                        </a:solidFill>
                        <a:latin typeface="Calibri" pitchFamily="34"/>
                      </a:endParaRPr>
                    </a:p>
                    <a:p>
                      <a:pPr lvl="0"/>
                      <a:r>
                        <a:rPr lang="en-GB" sz="1200" b="0" i="0" dirty="0">
                          <a:solidFill>
                            <a:srgbClr val="000000"/>
                          </a:solidFill>
                          <a:latin typeface="Calibri" pitchFamily="34"/>
                        </a:rPr>
                        <a:t>For the purposes of testing only, the following UK Licence IDs have been set up in TT/TDR and may be declared in D.E. 2/3 – </a:t>
                      </a:r>
                      <a:r>
                        <a:rPr lang="en-GB" sz="1200" dirty="0">
                          <a:latin typeface="Calibri"/>
                        </a:rPr>
                        <a:t>GBCPI1BF12345A, </a:t>
                      </a:r>
                    </a:p>
                    <a:p>
                      <a:pPr lvl="0"/>
                      <a:r>
                        <a:rPr lang="en-GB" sz="1200" dirty="0">
                          <a:latin typeface="Calibri"/>
                        </a:rPr>
                        <a:t>GBCPI1BF12345B, GBCPI1BF12345C, GBCPI1BF12345D, GBCPI1BF12345E GBCPI1BF12345F.</a:t>
                      </a:r>
                      <a:endParaRPr lang="en-GB" b="0" i="0" dirty="0">
                        <a:solidFill>
                          <a:srgbClr val="000000"/>
                        </a:solidFill>
                      </a:endParaRPr>
                    </a:p>
                  </a:txBody>
                  <a:tcPr>
                    <a:lnL w="5074" cap="flat" cmpd="sng" algn="ctr">
                      <a:solidFill>
                        <a:srgbClr val="FFFFFF"/>
                      </a:solidFill>
                      <a:prstDash val="solid"/>
                      <a:round/>
                      <a:headEnd type="none" w="med" len="med"/>
                      <a:tailEnd type="none" w="med" len="med"/>
                    </a:lnL>
                    <a:lnR w="22860"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45887651"/>
                  </a:ext>
                </a:extLst>
              </a:tr>
            </a:tbl>
          </a:graphicData>
        </a:graphic>
      </p:graphicFrame>
      <p:graphicFrame>
        <p:nvGraphicFramePr>
          <p:cNvPr id="21" name="Table 46">
            <a:extLst>
              <a:ext uri="{FF2B5EF4-FFF2-40B4-BE49-F238E27FC236}">
                <a16:creationId xmlns:a16="http://schemas.microsoft.com/office/drawing/2014/main" id="{FDE44C4A-87AB-412C-B90D-85BB7DEC748D}"/>
              </a:ext>
            </a:extLst>
          </p:cNvPr>
          <p:cNvGraphicFramePr>
            <a:graphicFrameLocks noGrp="1"/>
          </p:cNvGraphicFramePr>
          <p:nvPr/>
        </p:nvGraphicFramePr>
        <p:xfrm>
          <a:off x="8628790" y="2470297"/>
          <a:ext cx="3115890" cy="548640"/>
        </p:xfrm>
        <a:graphic>
          <a:graphicData uri="http://schemas.openxmlformats.org/drawingml/2006/table">
            <a:tbl>
              <a:tblPr>
                <a:effectLst/>
              </a:tblPr>
              <a:tblGrid>
                <a:gridCol w="1660294">
                  <a:extLst>
                    <a:ext uri="{9D8B030D-6E8A-4147-A177-3AD203B41FA5}">
                      <a16:colId xmlns:a16="http://schemas.microsoft.com/office/drawing/2014/main" val="2570705910"/>
                    </a:ext>
                  </a:extLst>
                </a:gridCol>
                <a:gridCol w="1455596">
                  <a:extLst>
                    <a:ext uri="{9D8B030D-6E8A-4147-A177-3AD203B41FA5}">
                      <a16:colId xmlns:a16="http://schemas.microsoft.com/office/drawing/2014/main" val="25016709"/>
                    </a:ext>
                  </a:extLst>
                </a:gridCol>
              </a:tblGrid>
              <a:tr h="153143">
                <a:tc>
                  <a:txBody>
                    <a:bodyPr/>
                    <a:lstStyle/>
                    <a:p>
                      <a:pPr lvl="0" algn="l" fontAlgn="auto"/>
                      <a:r>
                        <a:rPr lang="en-GB" sz="1200" b="1" i="0">
                          <a:solidFill>
                            <a:srgbClr val="FFFFFF"/>
                          </a:solidFill>
                          <a:latin typeface="Calibri" pitchFamily="34"/>
                        </a:rPr>
                        <a:t>QuotaOrderNumber​</a:t>
                      </a:r>
                      <a:endParaRPr lang="en-GB" b="1" i="0">
                        <a:solidFill>
                          <a:srgbClr val="FFFFFF"/>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tc>
                  <a:txBody>
                    <a:bodyPr/>
                    <a:lstStyle/>
                    <a:p>
                      <a:pPr lvl="0" algn="l" fontAlgn="auto"/>
                      <a:r>
                        <a:rPr lang="en-GB" sz="1200" b="1" i="0">
                          <a:solidFill>
                            <a:srgbClr val="FFFFFF"/>
                          </a:solidFill>
                        </a:rPr>
                        <a:t>Quota Scenario</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A6A6A6"/>
                    </a:solidFill>
                  </a:tcPr>
                </a:tc>
                <a:extLst>
                  <a:ext uri="{0D108BD9-81ED-4DB2-BD59-A6C34878D82A}">
                    <a16:rowId xmlns:a16="http://schemas.microsoft.com/office/drawing/2014/main" val="2773418904"/>
                  </a:ext>
                </a:extLst>
              </a:tr>
              <a:tr h="0">
                <a:tc>
                  <a:txBody>
                    <a:bodyPr/>
                    <a:lstStyle/>
                    <a:p>
                      <a:pPr lvl="0" algn="l" fontAlgn="auto"/>
                      <a:r>
                        <a:rPr lang="en-GB" sz="1200" b="0" i="0" kern="1200">
                          <a:solidFill>
                            <a:srgbClr val="000000"/>
                          </a:solidFill>
                          <a:latin typeface="Calibri"/>
                        </a:rPr>
                        <a:t>054067</a:t>
                      </a:r>
                      <a:endParaRPr lang="en-GB" sz="1200" b="1" i="0">
                        <a:solidFill>
                          <a:srgbClr val="FF0000"/>
                        </a:solidFill>
                      </a:endParaRP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200" b="0" i="0" kern="1200" dirty="0">
                          <a:solidFill>
                            <a:srgbClr val="000000"/>
                          </a:solidFill>
                          <a:latin typeface="Calibri"/>
                        </a:rPr>
                        <a:t>UK Licence Quota</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880590661"/>
                  </a:ext>
                </a:extLst>
              </a:tr>
            </a:tbl>
          </a:graphicData>
        </a:graphic>
      </p:graphicFrame>
      <p:graphicFrame>
        <p:nvGraphicFramePr>
          <p:cNvPr id="22" name="Table 47">
            <a:extLst>
              <a:ext uri="{FF2B5EF4-FFF2-40B4-BE49-F238E27FC236}">
                <a16:creationId xmlns:a16="http://schemas.microsoft.com/office/drawing/2014/main" id="{470A95A5-A895-4291-BD15-E920E858574B}"/>
              </a:ext>
            </a:extLst>
          </p:cNvPr>
          <p:cNvGraphicFramePr>
            <a:graphicFrameLocks noGrp="1"/>
          </p:cNvGraphicFramePr>
          <p:nvPr/>
        </p:nvGraphicFramePr>
        <p:xfrm>
          <a:off x="488115" y="1387656"/>
          <a:ext cx="8017706" cy="2927240"/>
        </p:xfrm>
        <a:graphic>
          <a:graphicData uri="http://schemas.openxmlformats.org/drawingml/2006/table">
            <a:tbl>
              <a:tblPr>
                <a:effectLst/>
              </a:tblPr>
              <a:tblGrid>
                <a:gridCol w="8017706">
                  <a:extLst>
                    <a:ext uri="{9D8B030D-6E8A-4147-A177-3AD203B41FA5}">
                      <a16:colId xmlns:a16="http://schemas.microsoft.com/office/drawing/2014/main" val="750305903"/>
                    </a:ext>
                  </a:extLst>
                </a:gridCol>
              </a:tblGrid>
              <a:tr h="284817">
                <a:tc>
                  <a:txBody>
                    <a:bodyPr/>
                    <a:lstStyle/>
                    <a:p>
                      <a:pPr lvl="0" algn="l" fontAlgn="auto"/>
                      <a:r>
                        <a:rPr lang="en-GB" sz="1200" b="1" i="0">
                          <a:solidFill>
                            <a:srgbClr val="FFFFFF"/>
                          </a:solidFill>
                          <a:latin typeface="Calibri"/>
                        </a:rPr>
                        <a:t>External Test Scope​</a:t>
                      </a:r>
                      <a:endParaRPr lang="en-GB" b="1" i="0">
                        <a:solidFill>
                          <a:srgbClr val="FFFFFF"/>
                        </a:solidFill>
                        <a:latin typeface="Calibri"/>
                      </a:endParaRPr>
                    </a:p>
                  </a:txBody>
                  <a:tcPr anchor="ct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5074" cap="flat" cmpd="sng" algn="ctr">
                      <a:solidFill>
                        <a:srgbClr val="FFFFFF"/>
                      </a:solidFill>
                      <a:prstDash val="solid"/>
                      <a:round/>
                      <a:headEnd type="none" w="med" len="med"/>
                      <a:tailEnd type="none" w="med" len="med"/>
                    </a:lnT>
                    <a:lnB w="15243" cap="flat" cmpd="sng" algn="ctr">
                      <a:solidFill>
                        <a:srgbClr val="FFFFFF"/>
                      </a:solidFill>
                      <a:prstDash val="solid"/>
                      <a:round/>
                      <a:headEnd type="none" w="med" len="med"/>
                      <a:tailEnd type="none" w="med" len="med"/>
                    </a:lnB>
                    <a:solidFill>
                      <a:srgbClr val="009999"/>
                    </a:solidFill>
                  </a:tcPr>
                </a:tc>
                <a:extLst>
                  <a:ext uri="{0D108BD9-81ED-4DB2-BD59-A6C34878D82A}">
                    <a16:rowId xmlns:a16="http://schemas.microsoft.com/office/drawing/2014/main" val="4035821866"/>
                  </a:ext>
                </a:extLst>
              </a:tr>
              <a:tr h="2642423">
                <a:tc>
                  <a:txBody>
                    <a:bodyPr/>
                    <a:lstStyle/>
                    <a:p>
                      <a:pPr lvl="0">
                        <a:spcBef>
                          <a:spcPts val="300"/>
                        </a:spcBef>
                      </a:pPr>
                      <a:r>
                        <a:rPr lang="en-GB" sz="1200" dirty="0">
                          <a:solidFill>
                            <a:srgbClr val="000000"/>
                          </a:solidFill>
                          <a:latin typeface="Calibri"/>
                        </a:rPr>
                        <a:t>From TTM12.2/TDR3.1.0, the quota simulator in External Test will support testing of UK Licence quota validation and calculation in both TT and TDR. With Licensed Quota, traders can benefit from guaranteed quota rates up to the quantity they were allocated if they have successfully applied and received license. The licence will indicate how much the trader can import within a specified window.</a:t>
                      </a:r>
                    </a:p>
                    <a:p>
                      <a:pPr marL="628650" lvl="1" indent="-171450">
                        <a:spcBef>
                          <a:spcPts val="300"/>
                        </a:spcBef>
                        <a:buSzPct val="100000"/>
                        <a:buFont typeface="Arial" pitchFamily="34"/>
                        <a:buChar char="•"/>
                      </a:pPr>
                      <a:r>
                        <a:rPr lang="en-GB" sz="1200" dirty="0">
                          <a:solidFill>
                            <a:srgbClr val="000000"/>
                          </a:solidFill>
                          <a:latin typeface="Calibri"/>
                        </a:rPr>
                        <a:t>TT &amp; TDR users will now be able to </a:t>
                      </a:r>
                      <a:r>
                        <a:rPr lang="en-GB" sz="1200" b="1" dirty="0">
                          <a:solidFill>
                            <a:srgbClr val="000000"/>
                          </a:solidFill>
                          <a:latin typeface="Calibri"/>
                        </a:rPr>
                        <a:t>enter UK Licence Quota IDs (beginning with 05) in D.E. 8/1 </a:t>
                      </a:r>
                      <a:r>
                        <a:rPr lang="en-GB" sz="1200" b="0" dirty="0">
                          <a:solidFill>
                            <a:srgbClr val="000000"/>
                          </a:solidFill>
                          <a:latin typeface="Calibri"/>
                        </a:rPr>
                        <a:t>on a </a:t>
                      </a:r>
                      <a:r>
                        <a:rPr lang="en-GB" sz="1200" dirty="0">
                          <a:solidFill>
                            <a:srgbClr val="000000"/>
                          </a:solidFill>
                          <a:latin typeface="Calibri"/>
                        </a:rPr>
                        <a:t>Imports </a:t>
                      </a:r>
                      <a:r>
                        <a:rPr lang="en-GB" sz="1200" b="1" dirty="0">
                          <a:solidFill>
                            <a:srgbClr val="000000"/>
                          </a:solidFill>
                          <a:latin typeface="Calibri"/>
                        </a:rPr>
                        <a:t>type A, D, Y and Z declarations</a:t>
                      </a:r>
                      <a:r>
                        <a:rPr lang="en-GB" sz="1200" dirty="0">
                          <a:solidFill>
                            <a:srgbClr val="000000"/>
                          </a:solidFill>
                          <a:latin typeface="Calibri"/>
                        </a:rPr>
                        <a:t>. B</a:t>
                      </a:r>
                      <a:r>
                        <a:rPr lang="en-GB" sz="1200" b="0" dirty="0">
                          <a:solidFill>
                            <a:srgbClr val="000000"/>
                          </a:solidFill>
                          <a:latin typeface="Calibri"/>
                        </a:rPr>
                        <a:t>oth</a:t>
                      </a:r>
                      <a:r>
                        <a:rPr lang="en-GB" sz="1200" b="1" dirty="0">
                          <a:solidFill>
                            <a:srgbClr val="000000"/>
                          </a:solidFill>
                          <a:latin typeface="Calibri"/>
                        </a:rPr>
                        <a:t> </a:t>
                      </a:r>
                      <a:r>
                        <a:rPr lang="en-GB" sz="1200" dirty="0">
                          <a:solidFill>
                            <a:srgbClr val="000000"/>
                          </a:solidFill>
                          <a:latin typeface="Calibri"/>
                        </a:rPr>
                        <a:t>Inventory Linked and non-Inventory Linked ports are supported for these scenarios.</a:t>
                      </a:r>
                    </a:p>
                    <a:p>
                      <a:pPr marL="628650" lvl="1" indent="-171450">
                        <a:spcBef>
                          <a:spcPts val="300"/>
                        </a:spcBef>
                        <a:buSzPct val="100000"/>
                        <a:buFont typeface="Arial" pitchFamily="34"/>
                        <a:buChar char="•"/>
                      </a:pPr>
                      <a:r>
                        <a:rPr lang="en-GB" sz="1200" dirty="0">
                          <a:solidFill>
                            <a:srgbClr val="000000"/>
                          </a:solidFill>
                          <a:latin typeface="Calibri"/>
                        </a:rPr>
                        <a:t>Trader must enter a Document code of ‘L001’ and a valid UK Licence ID number in 2/3.</a:t>
                      </a:r>
                    </a:p>
                    <a:p>
                      <a:pPr marL="457200" lvl="1" indent="0">
                        <a:spcBef>
                          <a:spcPts val="300"/>
                        </a:spcBef>
                        <a:buNone/>
                      </a:pPr>
                      <a:endParaRPr lang="en-GB" sz="200" dirty="0">
                        <a:solidFill>
                          <a:srgbClr val="000000"/>
                        </a:solidFill>
                        <a:latin typeface="Calibri"/>
                      </a:endParaRPr>
                    </a:p>
                    <a:p>
                      <a:pPr lvl="0">
                        <a:spcBef>
                          <a:spcPts val="300"/>
                        </a:spcBef>
                      </a:pPr>
                      <a:r>
                        <a:rPr lang="en-GB" sz="1200" b="1" dirty="0">
                          <a:solidFill>
                            <a:srgbClr val="000000"/>
                          </a:solidFill>
                          <a:latin typeface="Calibri" pitchFamily="34"/>
                          <a:ea typeface="Calibri" pitchFamily="34"/>
                          <a:cs typeface="Times New Roman" pitchFamily="18"/>
                        </a:rPr>
                        <a:t>Duty Calculation</a:t>
                      </a:r>
                      <a:endParaRPr lang="en-GB" sz="1200" dirty="0">
                        <a:solidFill>
                          <a:srgbClr val="000000"/>
                        </a:solidFill>
                        <a:cs typeface="Arial" pitchFamily="34"/>
                      </a:endParaRPr>
                    </a:p>
                    <a:p>
                      <a:pPr lvl="0">
                        <a:spcBef>
                          <a:spcPts val="300"/>
                        </a:spcBef>
                      </a:pPr>
                      <a:r>
                        <a:rPr lang="en-GB" sz="1200" dirty="0">
                          <a:solidFill>
                            <a:srgbClr val="000000"/>
                          </a:solidFill>
                        </a:rPr>
                        <a:t>Where UK Licence Quota has been validly claimed for NI Imports, CDS must calculate and charge the UK licence in-quota rate to the declared method of payment as per BAU.</a:t>
                      </a:r>
                    </a:p>
                    <a:p>
                      <a:pPr lvl="0">
                        <a:spcBef>
                          <a:spcPts val="300"/>
                        </a:spcBef>
                      </a:pPr>
                      <a:r>
                        <a:rPr lang="en-GB" sz="1200" dirty="0">
                          <a:solidFill>
                            <a:srgbClr val="000000"/>
                          </a:solidFill>
                        </a:rPr>
                        <a:t>If the trader has indicated their licence is not available, CDS will calculate and collect a security deposit against the declared method of payment as per BAU. CDS will then return a DMSTAX notification to the trader to notify them of amounts payable.</a:t>
                      </a:r>
                    </a:p>
                  </a:txBody>
                  <a:tcPr>
                    <a:lnL w="5074" cap="flat" cmpd="sng" algn="ctr">
                      <a:solidFill>
                        <a:srgbClr val="FFFFFF"/>
                      </a:solidFill>
                      <a:prstDash val="solid"/>
                      <a:round/>
                      <a:headEnd type="none" w="med" len="med"/>
                      <a:tailEnd type="none" w="med" len="med"/>
                    </a:lnL>
                    <a:lnR w="5074" cap="flat" cmpd="sng" algn="ctr">
                      <a:solidFill>
                        <a:srgbClr val="FFFFFF"/>
                      </a:solidFill>
                      <a:prstDash val="solid"/>
                      <a:round/>
                      <a:headEnd type="none" w="med" len="med"/>
                      <a:tailEnd type="none" w="med" len="med"/>
                    </a:lnR>
                    <a:lnT w="15243" cap="flat" cmpd="sng" algn="ctr">
                      <a:solidFill>
                        <a:srgbClr val="FFFFFF"/>
                      </a:solidFill>
                      <a:prstDash val="solid"/>
                      <a:round/>
                      <a:headEnd type="none" w="med" len="med"/>
                      <a:tailEnd type="none" w="med" len="med"/>
                    </a:lnT>
                    <a:lnB w="5074"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27242395"/>
                  </a:ext>
                </a:extLst>
              </a:tr>
            </a:tbl>
          </a:graphicData>
        </a:graphic>
      </p:graphicFrame>
      <p:sp>
        <p:nvSpPr>
          <p:cNvPr id="23" name="Rectangle 9">
            <a:extLst>
              <a:ext uri="{FF2B5EF4-FFF2-40B4-BE49-F238E27FC236}">
                <a16:creationId xmlns:a16="http://schemas.microsoft.com/office/drawing/2014/main" id="{0409E1B5-05E2-4F6B-AA48-8A0C5EAAB939}"/>
              </a:ext>
            </a:extLst>
          </p:cNvPr>
          <p:cNvSpPr/>
          <p:nvPr/>
        </p:nvSpPr>
        <p:spPr>
          <a:xfrm>
            <a:off x="487210" y="4319268"/>
            <a:ext cx="11387608" cy="1685074"/>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600" b="0" i="0" u="none" strike="noStrike" kern="1200" cap="none" spc="0" baseline="0">
              <a:solidFill>
                <a:srgbClr val="FFFFFF"/>
              </a:solidFill>
              <a:uFillTx/>
              <a:latin typeface="Calibri"/>
            </a:endParaRPr>
          </a:p>
        </p:txBody>
      </p:sp>
      <p:sp>
        <p:nvSpPr>
          <p:cNvPr id="24" name="Rectangle 24">
            <a:extLst>
              <a:ext uri="{FF2B5EF4-FFF2-40B4-BE49-F238E27FC236}">
                <a16:creationId xmlns:a16="http://schemas.microsoft.com/office/drawing/2014/main" id="{262150C6-7E8C-4957-85ED-F221AA99AA89}"/>
              </a:ext>
            </a:extLst>
          </p:cNvPr>
          <p:cNvSpPr/>
          <p:nvPr/>
        </p:nvSpPr>
        <p:spPr>
          <a:xfrm rot="16200004">
            <a:off x="-150574" y="4957063"/>
            <a:ext cx="1685074" cy="409486"/>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FFFFFF"/>
                </a:solidFill>
                <a:uFillTx/>
                <a:latin typeface="Calibri"/>
              </a:rPr>
              <a:t>RELEVANT XML SAMPLES</a:t>
            </a:r>
          </a:p>
        </p:txBody>
      </p:sp>
      <p:sp>
        <p:nvSpPr>
          <p:cNvPr id="25" name="Rectangle 42">
            <a:extLst>
              <a:ext uri="{FF2B5EF4-FFF2-40B4-BE49-F238E27FC236}">
                <a16:creationId xmlns:a16="http://schemas.microsoft.com/office/drawing/2014/main" id="{45A1C47B-7B19-401E-B0B6-FA5BB1181C22}"/>
              </a:ext>
            </a:extLst>
          </p:cNvPr>
          <p:cNvSpPr/>
          <p:nvPr/>
        </p:nvSpPr>
        <p:spPr>
          <a:xfrm>
            <a:off x="949796" y="4319268"/>
            <a:ext cx="10794894" cy="1685074"/>
          </a:xfrm>
          <a:prstGeom prst="rect">
            <a:avLst/>
          </a:prstGeom>
          <a:noFill/>
          <a:ln cap="flat">
            <a:noFill/>
            <a:prstDash val="solid"/>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300"/>
              </a:spcAft>
              <a:buSzPct val="100000"/>
              <a:buFont typeface="Calibri Light"/>
              <a:buAutoNum type="arabicPeriod"/>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TT_IM44a *</a:t>
            </a:r>
            <a:r>
              <a:rPr lang="en-GB" sz="1200" b="1" i="1" u="none" strike="noStrike" kern="1200" cap="none" spc="0" baseline="0">
                <a:solidFill>
                  <a:srgbClr val="000000"/>
                </a:solidFill>
                <a:uFillTx/>
                <a:latin typeface="Calibri"/>
              </a:rPr>
              <a:t>Please note that this XML sample is no longer functional but can be used as a template* </a:t>
            </a:r>
            <a:endParaRPr lang="de-DE" sz="1200" b="1" i="0" u="none" strike="noStrike" kern="1200" cap="none" spc="0" baseline="0">
              <a:solidFill>
                <a:srgbClr val="FF0000"/>
              </a:solidFill>
              <a:uFillTx/>
              <a:latin typeface="Calibri" pitchFamily="34"/>
            </a:endParaRPr>
          </a:p>
          <a:p>
            <a:pPr marL="228600" marR="0" lvl="0" indent="-22860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ROW to GB UK Licence Quota Validation </a:t>
            </a:r>
            <a:r>
              <a:rPr lang="en-GB" sz="1200" b="0" i="0" u="none" strike="noStrike" kern="1200" cap="none" spc="0" baseline="0">
                <a:solidFill>
                  <a:srgbClr val="000000"/>
                </a:solidFill>
                <a:uFillTx/>
                <a:latin typeface="Calibri" pitchFamily="34"/>
              </a:rPr>
              <a:t>- Type A (Frontier standard) Declaration for goods Imported from Argentina (AR) to GB. Trader has entered a UK Quota Number starting with 054. Trader Licence will be validated against UK Licences. UK Tariff will be used to calculate UK duties as per UK Licence quota rate and also used to calculate UK VAT.</a:t>
            </a:r>
          </a:p>
          <a:p>
            <a:pPr marL="228600" marR="0" lvl="0" indent="-228600" algn="l" defTabSz="914400" rtl="0" fontAlgn="auto" hangingPunct="1">
              <a:lnSpc>
                <a:spcPct val="100000"/>
              </a:lnSpc>
              <a:spcBef>
                <a:spcPts val="0"/>
              </a:spcBef>
              <a:spcAft>
                <a:spcPts val="300"/>
              </a:spcAft>
              <a:buSzPct val="100000"/>
              <a:buFont typeface="Calibri Light"/>
              <a:buAutoNum type="arabicPeriod" startAt="2"/>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TT_IM45a *</a:t>
            </a:r>
            <a:r>
              <a:rPr lang="en-GB" sz="1200" b="1" i="1" u="none" strike="noStrike" kern="1200" cap="none" spc="0" baseline="0">
                <a:solidFill>
                  <a:srgbClr val="000000"/>
                </a:solidFill>
                <a:uFillTx/>
                <a:latin typeface="Calibri"/>
              </a:rPr>
              <a:t>Please note that this XML sample is no longer functional but can be used as a template* </a:t>
            </a:r>
            <a:endParaRPr lang="de-DE" sz="1200" b="1" i="0" u="none" strike="noStrike" kern="1200" cap="none" spc="0" baseline="0">
              <a:solidFill>
                <a:srgbClr val="FF0000"/>
              </a:solidFill>
              <a:uFillTx/>
              <a:latin typeface="Calibri" pitchFamily="34"/>
            </a:endParaRP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fr-FR" sz="1200" b="1" i="0" u="none" strike="noStrike" kern="1200" cap="none" spc="0" baseline="0">
                <a:solidFill>
                  <a:srgbClr val="000000"/>
                </a:solidFill>
                <a:uFillTx/>
                <a:latin typeface="Calibri"/>
              </a:rPr>
              <a:t>ROW-NI 'De-Risked' - UK Licence Quota Validation </a:t>
            </a:r>
            <a:r>
              <a:rPr lang="fr-FR" sz="1200" b="0" i="0" u="none" strike="noStrike" kern="1200" cap="none" spc="0" baseline="0">
                <a:solidFill>
                  <a:srgbClr val="000000"/>
                </a:solidFill>
                <a:uFillTx/>
                <a:latin typeface="Calibri"/>
              </a:rPr>
              <a:t>- </a:t>
            </a:r>
            <a:r>
              <a:rPr lang="en-GB" sz="1200" b="0" i="0" u="none" strike="noStrike" kern="1200" cap="none" spc="0" baseline="0">
                <a:solidFill>
                  <a:srgbClr val="000000"/>
                </a:solidFill>
                <a:uFillTx/>
                <a:latin typeface="Calibri"/>
              </a:rPr>
              <a:t>Type A Frontier Standard Declaration for goods imported to NI from RoW. The goods are 'De-Risked' by the Trader using AI code NIREM and AI code NIIMP to signify import from RoW to NI. UK quota applied and Trader Licence will be validated against UK Licences.</a:t>
            </a:r>
            <a:br>
              <a:rPr lang="en-GB" sz="1200" b="0" i="0" u="none" strike="noStrike" kern="1200" cap="none" spc="0" baseline="0">
                <a:solidFill>
                  <a:srgbClr val="000000"/>
                </a:solidFill>
                <a:uFillTx/>
                <a:latin typeface="Calibri"/>
              </a:rPr>
            </a:br>
            <a:r>
              <a:rPr lang="en-GB" sz="1200" b="0" i="0" u="none" strike="noStrike" kern="1200" cap="none" spc="0" baseline="0">
                <a:solidFill>
                  <a:srgbClr val="000000"/>
                </a:solidFill>
                <a:uFillTx/>
                <a:latin typeface="Calibri"/>
              </a:rPr>
              <a:t>Customs duty is calculated and charged according to the UK Tariff. UK Customs Duty and UK VAT are charged. </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53BFE0-3D93-18DA-4615-EA654CE282AA}"/>
            </a:ext>
          </a:extLst>
        </p:cNvPr>
        <p:cNvGrpSpPr/>
        <p:nvPr/>
      </p:nvGrpSpPr>
      <p:grpSpPr>
        <a:xfrm>
          <a:off x="0" y="0"/>
          <a:ext cx="0" cy="0"/>
          <a:chOff x="0" y="0"/>
          <a:chExt cx="0" cy="0"/>
        </a:xfrm>
      </p:grpSpPr>
      <p:sp>
        <p:nvSpPr>
          <p:cNvPr id="4" name="Rectangle 4">
            <a:extLst>
              <a:ext uri="{FF2B5EF4-FFF2-40B4-BE49-F238E27FC236}">
                <a16:creationId xmlns:a16="http://schemas.microsoft.com/office/drawing/2014/main" id="{5D50737C-4416-6E4E-B88E-37CA651A80AF}"/>
              </a:ext>
            </a:extLst>
          </p:cNvPr>
          <p:cNvSpPr/>
          <p:nvPr/>
        </p:nvSpPr>
        <p:spPr>
          <a:xfrm>
            <a:off x="406300" y="2289141"/>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383CA231-0E54-07A5-D2E0-09969336E224}"/>
              </a:ext>
            </a:extLst>
          </p:cNvPr>
          <p:cNvGraphicFramePr>
            <a:graphicFrameLocks noGrp="1"/>
          </p:cNvGraphicFramePr>
          <p:nvPr/>
        </p:nvGraphicFramePr>
        <p:xfrm>
          <a:off x="469412" y="3023652"/>
          <a:ext cx="11433644" cy="585390"/>
        </p:xfrm>
        <a:graphic>
          <a:graphicData uri="http://schemas.openxmlformats.org/drawingml/2006/table">
            <a:tbl>
              <a:tblPr firstRow="1" bandRow="1">
                <a:effectLst/>
                <a:tableStyleId>{5C22544A-7EE6-4342-B048-85BDC9FD1C3A}</a:tableStyleId>
              </a:tblPr>
              <a:tblGrid>
                <a:gridCol w="11433644">
                  <a:extLst>
                    <a:ext uri="{9D8B030D-6E8A-4147-A177-3AD203B41FA5}">
                      <a16:colId xmlns:a16="http://schemas.microsoft.com/office/drawing/2014/main" val="3681585703"/>
                    </a:ext>
                  </a:extLst>
                </a:gridCol>
              </a:tblGrid>
              <a:tr h="271292">
                <a:tc>
                  <a:txBody>
                    <a:bodyPr/>
                    <a:lstStyle/>
                    <a:p>
                      <a:pPr lvl="0" algn="ctr"/>
                      <a:r>
                        <a:rPr lang="en-GB" sz="1200" dirty="0"/>
                        <a:t>TTM32.0 (CDS 5.0.0)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04/12/2025</a:t>
                      </a:r>
                      <a:r>
                        <a:rPr lang="en-GB" sz="1200" b="1" dirty="0">
                          <a:solidFill>
                            <a:srgbClr val="000000"/>
                          </a:solidFill>
                        </a:rPr>
                        <a:t>,</a:t>
                      </a:r>
                      <a:r>
                        <a:rPr lang="en-GB" sz="1200" b="0" dirty="0">
                          <a:solidFill>
                            <a:srgbClr val="000000"/>
                          </a:solidFill>
                        </a:rPr>
                        <a:t> </a:t>
                      </a:r>
                      <a:r>
                        <a:rPr lang="en-GB" sz="1200" b="1" dirty="0">
                          <a:solidFill>
                            <a:srgbClr val="000000"/>
                          </a:solidFill>
                        </a:rPr>
                        <a:t>TDR: </a:t>
                      </a:r>
                      <a:r>
                        <a:rPr lang="en-GB" sz="1200" b="0" dirty="0">
                          <a:solidFill>
                            <a:srgbClr val="000000"/>
                          </a:solidFill>
                        </a:rPr>
                        <a:t>16/12/2025</a:t>
                      </a:r>
                      <a:r>
                        <a:rPr lang="en-GB" sz="1200" b="1" dirty="0">
                          <a:solidFill>
                            <a:srgbClr val="000000"/>
                          </a:solidFill>
                        </a:rPr>
                        <a:t>,</a:t>
                      </a:r>
                      <a:r>
                        <a:rPr lang="en-GB" sz="1200" b="0" dirty="0">
                          <a:solidFill>
                            <a:srgbClr val="000000"/>
                          </a:solidFill>
                        </a:rPr>
                        <a:t> </a:t>
                      </a:r>
                      <a:r>
                        <a:rPr lang="en-GB" sz="1200" b="1" dirty="0">
                          <a:solidFill>
                            <a:srgbClr val="000000"/>
                          </a:solidFill>
                        </a:rPr>
                        <a:t>Live: </a:t>
                      </a:r>
                      <a:r>
                        <a:rPr lang="en-GB" sz="1200" b="0" dirty="0">
                          <a:solidFill>
                            <a:srgbClr val="000000"/>
                          </a:solidFill>
                        </a:rPr>
                        <a:t>13/12/2025</a:t>
                      </a:r>
                      <a:endParaRPr lang="en-GB" sz="1200" b="1" dirty="0">
                        <a:solidFill>
                          <a:srgbClr val="000000"/>
                        </a:solidFill>
                      </a:endParaRP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C9A75F67-9713-BBCE-7268-A5245468D3D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70D36570-4ED4-2D95-AC8C-56F6BEFE77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graphicFrame>
        <p:nvGraphicFramePr>
          <p:cNvPr id="12" name="Table 21">
            <a:extLst>
              <a:ext uri="{FF2B5EF4-FFF2-40B4-BE49-F238E27FC236}">
                <a16:creationId xmlns:a16="http://schemas.microsoft.com/office/drawing/2014/main" id="{C6CEB481-9602-7A5A-ED27-594EB76B55E2}"/>
              </a:ext>
            </a:extLst>
          </p:cNvPr>
          <p:cNvGraphicFramePr>
            <a:graphicFrameLocks noGrp="1"/>
          </p:cNvGraphicFramePr>
          <p:nvPr/>
        </p:nvGraphicFramePr>
        <p:xfrm>
          <a:off x="469412" y="3600335"/>
          <a:ext cx="11433644" cy="693338"/>
        </p:xfrm>
        <a:graphic>
          <a:graphicData uri="http://schemas.openxmlformats.org/drawingml/2006/table">
            <a:tbl>
              <a:tblPr firstRow="1" bandRow="1">
                <a:effectLst/>
                <a:tableStyleId>{5C22544A-7EE6-4342-B048-85BDC9FD1C3A}</a:tableStyleId>
              </a:tblPr>
              <a:tblGrid>
                <a:gridCol w="2858411">
                  <a:extLst>
                    <a:ext uri="{9D8B030D-6E8A-4147-A177-3AD203B41FA5}">
                      <a16:colId xmlns:a16="http://schemas.microsoft.com/office/drawing/2014/main" val="2226360519"/>
                    </a:ext>
                  </a:extLst>
                </a:gridCol>
                <a:gridCol w="2858411">
                  <a:extLst>
                    <a:ext uri="{9D8B030D-6E8A-4147-A177-3AD203B41FA5}">
                      <a16:colId xmlns:a16="http://schemas.microsoft.com/office/drawing/2014/main" val="763822440"/>
                    </a:ext>
                  </a:extLst>
                </a:gridCol>
                <a:gridCol w="2858411">
                  <a:extLst>
                    <a:ext uri="{9D8B030D-6E8A-4147-A177-3AD203B41FA5}">
                      <a16:colId xmlns:a16="http://schemas.microsoft.com/office/drawing/2014/main" val="3390581973"/>
                    </a:ext>
                  </a:extLst>
                </a:gridCol>
                <a:gridCol w="2858411">
                  <a:extLst>
                    <a:ext uri="{9D8B030D-6E8A-4147-A177-3AD203B41FA5}">
                      <a16:colId xmlns:a16="http://schemas.microsoft.com/office/drawing/2014/main" val="2084145098"/>
                    </a:ext>
                  </a:extLst>
                </a:gridCol>
              </a:tblGrid>
              <a:tr h="693338">
                <a:tc>
                  <a:txBody>
                    <a:bodyPr/>
                    <a:lstStyle/>
                    <a:p>
                      <a:pPr marL="0" indent="0">
                        <a:buNone/>
                      </a:pPr>
                      <a:r>
                        <a:rPr lang="en-GB" sz="1200" b="0" i="0" u="none" strike="noStrike" noProof="0">
                          <a:solidFill>
                            <a:srgbClr val="000000"/>
                          </a:solidFill>
                          <a:effectLst/>
                          <a:latin typeface="Calibri"/>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indent="0" algn="l">
                        <a:buFont typeface="Arial" panose="020B0604020202020204" pitchFamily="34" charset="0"/>
                        <a:buNone/>
                      </a:pPr>
                      <a:r>
                        <a:rPr lang="en-GB" sz="1200" b="0" i="0" u="none" dirty="0">
                          <a:solidFill>
                            <a:schemeClr val="tx1"/>
                          </a:solidFill>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Tx/>
                        <a:buNone/>
                      </a:pPr>
                      <a:endParaRPr lang="en-GB" sz="1100" b="0" i="0" u="none" strike="noStrike" noProof="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kern="1200" dirty="0">
                        <a:solidFill>
                          <a:schemeClr val="dk1"/>
                        </a:solidFill>
                        <a:effectLst/>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dirty="0">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bl>
          </a:graphicData>
        </a:graphic>
      </p:graphicFrame>
      <p:grpSp>
        <p:nvGrpSpPr>
          <p:cNvPr id="17" name="Group 7">
            <a:extLst>
              <a:ext uri="{FF2B5EF4-FFF2-40B4-BE49-F238E27FC236}">
                <a16:creationId xmlns:a16="http://schemas.microsoft.com/office/drawing/2014/main" id="{FA9E2B8B-7391-EDFC-D416-E50769FB71B4}"/>
              </a:ext>
            </a:extLst>
          </p:cNvPr>
          <p:cNvGrpSpPr/>
          <p:nvPr/>
        </p:nvGrpSpPr>
        <p:grpSpPr>
          <a:xfrm>
            <a:off x="6161416" y="1800986"/>
            <a:ext cx="4848834" cy="276999"/>
            <a:chOff x="5888461" y="3286179"/>
            <a:chExt cx="4848834" cy="276999"/>
          </a:xfrm>
        </p:grpSpPr>
        <p:sp>
          <p:nvSpPr>
            <p:cNvPr id="18" name="TextBox 7">
              <a:extLst>
                <a:ext uri="{FF2B5EF4-FFF2-40B4-BE49-F238E27FC236}">
                  <a16:creationId xmlns:a16="http://schemas.microsoft.com/office/drawing/2014/main" id="{0DBD7A65-E502-C349-4D18-DF88ADEDC498}"/>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E5A9D6E7-2FE4-6DB9-A7B8-6106372ED31B}"/>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7AAAAF99-2EEF-195F-A03F-77C3EF3282CD}"/>
              </a:ext>
            </a:extLst>
          </p:cNvPr>
          <p:cNvSpPr/>
          <p:nvPr/>
        </p:nvSpPr>
        <p:spPr>
          <a:xfrm>
            <a:off x="368560" y="53415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3F70D6BA-A761-0393-C29D-4A01965824BC}"/>
              </a:ext>
            </a:extLst>
          </p:cNvPr>
          <p:cNvSpPr txBox="1"/>
          <p:nvPr/>
        </p:nvSpPr>
        <p:spPr>
          <a:xfrm>
            <a:off x="384436" y="841449"/>
            <a:ext cx="11280111" cy="1538883"/>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The purpose of this document is to provide </a:t>
            </a:r>
            <a:r>
              <a:rPr kumimoji="0" lang="en-GB" sz="1400" b="0" i="0" u="none" strike="noStrike" kern="0" cap="none" spc="0" normalizeH="0" baseline="0" noProof="0">
                <a:ln>
                  <a:noFill/>
                </a:ln>
                <a:solidFill>
                  <a:srgbClr val="000000"/>
                </a:solidFill>
                <a:effectLst/>
                <a:uLnTx/>
                <a:uFillTx/>
                <a:latin typeface="Calibri"/>
                <a:ea typeface="Calibri"/>
                <a:cs typeface="Calibri"/>
              </a:rPr>
              <a:t>External Developers</a:t>
            </a:r>
            <a:r>
              <a:rPr kumimoji="0" lang="en-GB" sz="1400" b="0" i="0" u="none" strike="noStrike" kern="1200" cap="none" spc="0" normalizeH="0" baseline="0" noProof="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hlinkClick r:id="rId3"/>
              </a:rPr>
              <a:t>Technical Documentation</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a:ea typeface="Calibri"/>
                <a:cs typeface="Calibri"/>
                <a:hlinkClick r:id="rId4"/>
              </a:rPr>
              <a:t>SDSTeam@hmrc.gov.uk</a:t>
            </a:r>
            <a:r>
              <a:rPr kumimoji="0" lang="en-GB" sz="1400" b="0" i="0" u="none" strike="noStrike" kern="1200" cap="none" spc="0" normalizeH="0" baseline="0" noProof="0">
                <a:ln>
                  <a:noFill/>
                </a:ln>
                <a:solidFill>
                  <a:srgbClr val="000000"/>
                </a:solidFill>
                <a:effectLst/>
                <a:uLnTx/>
                <a:uFillTx/>
                <a:latin typeface="Calibri"/>
                <a:ea typeface="Calibri"/>
                <a:cs typeface="Calibri"/>
              </a:rPr>
              <a:t>.</a:t>
            </a:r>
          </a:p>
        </p:txBody>
      </p:sp>
      <p:grpSp>
        <p:nvGrpSpPr>
          <p:cNvPr id="2" name="Group 1">
            <a:extLst>
              <a:ext uri="{FF2B5EF4-FFF2-40B4-BE49-F238E27FC236}">
                <a16:creationId xmlns:a16="http://schemas.microsoft.com/office/drawing/2014/main" id="{93F0CBE6-3CF2-1DBB-EB30-AABED9379E09}"/>
              </a:ext>
            </a:extLst>
          </p:cNvPr>
          <p:cNvGrpSpPr/>
          <p:nvPr/>
        </p:nvGrpSpPr>
        <p:grpSpPr>
          <a:xfrm>
            <a:off x="469412" y="2678887"/>
            <a:ext cx="8527215" cy="331808"/>
            <a:chOff x="474672" y="3064839"/>
            <a:chExt cx="8527215" cy="331808"/>
          </a:xfrm>
        </p:grpSpPr>
        <p:sp>
          <p:nvSpPr>
            <p:cNvPr id="3" name="Rectangle 10">
              <a:extLst>
                <a:ext uri="{FF2B5EF4-FFF2-40B4-BE49-F238E27FC236}">
                  <a16:creationId xmlns:a16="http://schemas.microsoft.com/office/drawing/2014/main" id="{2B2BBB2C-60F6-B6CC-0638-05663A5538A8}"/>
                </a:ext>
              </a:extLst>
            </p:cNvPr>
            <p:cNvSpPr/>
            <p:nvPr/>
          </p:nvSpPr>
          <p:spPr>
            <a:xfrm>
              <a:off x="474672" y="3064839"/>
              <a:ext cx="849961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C2EDB8D3-A1FA-0E50-9192-606A2FF10200}"/>
                </a:ext>
              </a:extLst>
            </p:cNvPr>
            <p:cNvGrpSpPr/>
            <p:nvPr/>
          </p:nvGrpSpPr>
          <p:grpSpPr>
            <a:xfrm>
              <a:off x="860989" y="3092244"/>
              <a:ext cx="2801739" cy="276999"/>
              <a:chOff x="879076" y="3279769"/>
              <a:chExt cx="2801739" cy="276999"/>
            </a:xfrm>
          </p:grpSpPr>
          <p:sp>
            <p:nvSpPr>
              <p:cNvPr id="10" name="TextBox 7">
                <a:extLst>
                  <a:ext uri="{FF2B5EF4-FFF2-40B4-BE49-F238E27FC236}">
                    <a16:creationId xmlns:a16="http://schemas.microsoft.com/office/drawing/2014/main" id="{C2A3D195-F603-4251-0F04-3B709ECAE947}"/>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60A739DD-FB2C-02C2-43DF-3E67971597DA}"/>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13" name="Group 4">
              <a:extLst>
                <a:ext uri="{FF2B5EF4-FFF2-40B4-BE49-F238E27FC236}">
                  <a16:creationId xmlns:a16="http://schemas.microsoft.com/office/drawing/2014/main" id="{711EBC25-B56C-CC2A-7177-B3861A26B8FC}"/>
                </a:ext>
              </a:extLst>
            </p:cNvPr>
            <p:cNvGrpSpPr/>
            <p:nvPr/>
          </p:nvGrpSpPr>
          <p:grpSpPr>
            <a:xfrm>
              <a:off x="2685253" y="3092244"/>
              <a:ext cx="3258752" cy="276999"/>
              <a:chOff x="2663583" y="3286719"/>
              <a:chExt cx="3199302" cy="276999"/>
            </a:xfrm>
          </p:grpSpPr>
          <p:sp>
            <p:nvSpPr>
              <p:cNvPr id="14" name="TextBox 7">
                <a:extLst>
                  <a:ext uri="{FF2B5EF4-FFF2-40B4-BE49-F238E27FC236}">
                    <a16:creationId xmlns:a16="http://schemas.microsoft.com/office/drawing/2014/main" id="{5E8B145E-AB28-2084-E577-06B8C1E079A2}"/>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4E8F15A0-B68A-0C9F-D44A-80A49945D64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F1BD2972-549B-F033-C35B-AC15446EBB3E}"/>
                </a:ext>
              </a:extLst>
            </p:cNvPr>
            <p:cNvSpPr/>
            <p:nvPr/>
          </p:nvSpPr>
          <p:spPr>
            <a:xfrm>
              <a:off x="474672" y="3065425"/>
              <a:ext cx="49231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sp>
          <p:nvSpPr>
            <p:cNvPr id="21" name="TextBox 7">
              <a:extLst>
                <a:ext uri="{FF2B5EF4-FFF2-40B4-BE49-F238E27FC236}">
                  <a16:creationId xmlns:a16="http://schemas.microsoft.com/office/drawing/2014/main" id="{6B4A4037-3C00-2989-F231-353688AA149D}"/>
                </a:ext>
              </a:extLst>
            </p:cNvPr>
            <p:cNvSpPr txBox="1"/>
            <p:nvPr/>
          </p:nvSpPr>
          <p:spPr>
            <a:xfrm>
              <a:off x="5743135" y="3092244"/>
              <a:ext cx="325875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TDR only</a:t>
              </a:r>
            </a:p>
          </p:txBody>
        </p:sp>
        <p:sp>
          <p:nvSpPr>
            <p:cNvPr id="22" name="Oval 16">
              <a:extLst>
                <a:ext uri="{FF2B5EF4-FFF2-40B4-BE49-F238E27FC236}">
                  <a16:creationId xmlns:a16="http://schemas.microsoft.com/office/drawing/2014/main" id="{2F5000AF-F525-B8D3-BBE4-AA963E63BBAC}"/>
                </a:ext>
              </a:extLst>
            </p:cNvPr>
            <p:cNvSpPr/>
            <p:nvPr/>
          </p:nvSpPr>
          <p:spPr>
            <a:xfrm>
              <a:off x="5743135" y="3160248"/>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44" name="TextBox 43">
            <a:extLst>
              <a:ext uri="{FF2B5EF4-FFF2-40B4-BE49-F238E27FC236}">
                <a16:creationId xmlns:a16="http://schemas.microsoft.com/office/drawing/2014/main" id="{97EBF5BA-3C69-B327-4579-D785D2B13694}"/>
              </a:ext>
            </a:extLst>
          </p:cNvPr>
          <p:cNvSpPr txBox="1"/>
          <p:nvPr/>
        </p:nvSpPr>
        <p:spPr>
          <a:xfrm>
            <a:off x="3556819" y="3644848"/>
            <a:ext cx="2701634"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hlinkClick r:id="rId5" action="ppaction://hlinksldjump"/>
              </a:rPr>
              <a:t>Further Windsor Framework Requirements </a:t>
            </a:r>
            <a:endParaRPr kumimoji="0" lang="en-GB" sz="1200" b="0" i="0" u="none" strike="noStrike" kern="1200" cap="none" spc="0" normalizeH="0" baseline="0" noProof="0" dirty="0">
              <a:ln>
                <a:noFill/>
              </a:ln>
              <a:solidFill>
                <a:prstClr val="black"/>
              </a:solidFill>
              <a:effectLst/>
              <a:uLnTx/>
              <a:uFillTx/>
              <a:latin typeface="Calibri"/>
              <a:ea typeface="Calibri" panose="020F0502020204030204" pitchFamily="34" charset="0"/>
              <a:cs typeface="Arial"/>
              <a:hlinkClick r:id="" action="ppaction://noaction"/>
            </a:endParaRPr>
          </a:p>
        </p:txBody>
      </p:sp>
      <p:sp>
        <p:nvSpPr>
          <p:cNvPr id="47" name="TextBox 46">
            <a:extLst>
              <a:ext uri="{FF2B5EF4-FFF2-40B4-BE49-F238E27FC236}">
                <a16:creationId xmlns:a16="http://schemas.microsoft.com/office/drawing/2014/main" id="{C3FF8C5B-EF33-64F1-FE01-BACCDAC58412}"/>
              </a:ext>
            </a:extLst>
          </p:cNvPr>
          <p:cNvSpPr txBox="1"/>
          <p:nvPr/>
        </p:nvSpPr>
        <p:spPr>
          <a:xfrm>
            <a:off x="767669" y="3638671"/>
            <a:ext cx="2681594"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200" b="0" i="0" u="sng" strike="noStrike" kern="1200" cap="none" spc="0" normalizeH="0" baseline="0" noProof="0" dirty="0">
                <a:ln>
                  <a:noFill/>
                </a:ln>
                <a:solidFill>
                  <a:prstClr val="black"/>
                </a:solidFill>
                <a:effectLst/>
                <a:uLnTx/>
                <a:uFillTx/>
                <a:latin typeface="Calibri" panose="020F0502020204030204"/>
                <a:ea typeface="+mn-ea"/>
                <a:cs typeface="+mn-cs"/>
                <a:hlinkClick r:id="rId6" action="ppaction://hlinksldjump"/>
              </a:rPr>
              <a:t>Mandating NIDOM, NIIMP or NIEXP on NI Declarations</a:t>
            </a:r>
            <a:endParaRPr kumimoji="0" lang="en-GB" sz="1200" b="0" i="0" u="none" strike="noStrike" kern="1200" cap="none" spc="0" normalizeH="0" baseline="0" noProof="0" dirty="0">
              <a:ln>
                <a:noFill/>
              </a:ln>
              <a:solidFill>
                <a:prstClr val="black"/>
              </a:solidFill>
              <a:effectLst/>
              <a:uLnTx/>
              <a:uFillTx/>
              <a:latin typeface="Calibri"/>
              <a:ea typeface="Calibri" panose="020F0502020204030204" pitchFamily="34" charset="0"/>
              <a:cs typeface="Arial"/>
            </a:endParaRPr>
          </a:p>
        </p:txBody>
      </p:sp>
      <p:sp>
        <p:nvSpPr>
          <p:cNvPr id="48" name="Oval 16">
            <a:extLst>
              <a:ext uri="{FF2B5EF4-FFF2-40B4-BE49-F238E27FC236}">
                <a16:creationId xmlns:a16="http://schemas.microsoft.com/office/drawing/2014/main" id="{139DDF10-08F1-F2C2-64A4-D97FFCD36A1A}"/>
              </a:ext>
            </a:extLst>
          </p:cNvPr>
          <p:cNvSpPr/>
          <p:nvPr/>
        </p:nvSpPr>
        <p:spPr>
          <a:xfrm>
            <a:off x="598407" y="3727816"/>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Footer Placeholder 54">
            <a:extLst>
              <a:ext uri="{FF2B5EF4-FFF2-40B4-BE49-F238E27FC236}">
                <a16:creationId xmlns:a16="http://schemas.microsoft.com/office/drawing/2014/main" id="{2A6598EC-55E5-92D9-9868-376A77242759}"/>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57" name="Slide Number Placeholder 56">
            <a:extLst>
              <a:ext uri="{FF2B5EF4-FFF2-40B4-BE49-F238E27FC236}">
                <a16:creationId xmlns:a16="http://schemas.microsoft.com/office/drawing/2014/main" id="{4F407099-3A0A-4139-8695-98B434A2E3A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8" name="Oval 16">
            <a:extLst>
              <a:ext uri="{FF2B5EF4-FFF2-40B4-BE49-F238E27FC236}">
                <a16:creationId xmlns:a16="http://schemas.microsoft.com/office/drawing/2014/main" id="{9046262A-F225-CC00-EE23-0995C379BCE4}"/>
              </a:ext>
            </a:extLst>
          </p:cNvPr>
          <p:cNvSpPr/>
          <p:nvPr/>
        </p:nvSpPr>
        <p:spPr>
          <a:xfrm>
            <a:off x="3402903" y="3727815"/>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95841428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56814-5CCA-729C-8DBE-EBC803A39E35}"/>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67DFF10-CDD4-73B9-B87D-021798DDA8D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20B556A-AB1D-C539-5895-248BBE6D5F73}"/>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9F743B3-F606-FF02-DFB0-9142D0D36C45}"/>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92094CC2-FA7C-9650-9DEE-4497C113834C}"/>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F1231BEB-D927-AC23-DB43-8DFF443C06DA}"/>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11" name="Rectangle 2">
            <a:extLst>
              <a:ext uri="{FF2B5EF4-FFF2-40B4-BE49-F238E27FC236}">
                <a16:creationId xmlns:a16="http://schemas.microsoft.com/office/drawing/2014/main" id="{A2023634-D69A-25C9-EBD5-4A11F05ED56E}"/>
              </a:ext>
            </a:extLst>
          </p:cNvPr>
          <p:cNvSpPr/>
          <p:nvPr/>
        </p:nvSpPr>
        <p:spPr>
          <a:xfrm>
            <a:off x="396721" y="2711708"/>
            <a:ext cx="64" cy="611687"/>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p:txBody>
      </p:sp>
      <p:sp>
        <p:nvSpPr>
          <p:cNvPr id="8" name="TextBox 7">
            <a:extLst>
              <a:ext uri="{FF2B5EF4-FFF2-40B4-BE49-F238E27FC236}">
                <a16:creationId xmlns:a16="http://schemas.microsoft.com/office/drawing/2014/main" id="{33CEA278-9465-0AC3-D3BB-0F0B00648C83}"/>
              </a:ext>
            </a:extLst>
          </p:cNvPr>
          <p:cNvSpPr txBox="1"/>
          <p:nvPr/>
        </p:nvSpPr>
        <p:spPr>
          <a:xfrm>
            <a:off x="322838" y="914809"/>
            <a:ext cx="11377784" cy="458587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sng" strike="noStrike" kern="1200" cap="none" spc="0" normalizeH="0" baseline="0" noProof="0" dirty="0">
                <a:ln>
                  <a:noFill/>
                </a:ln>
                <a:solidFill>
                  <a:prstClr val="black"/>
                </a:solidFill>
                <a:effectLst/>
                <a:uLnTx/>
                <a:uFillTx/>
                <a:latin typeface="Calibri" panose="020F0502020204030204"/>
                <a:ea typeface="+mn-ea"/>
                <a:cs typeface="+mn-cs"/>
              </a:rPr>
              <a:t>Mandating NIDOM, NIIMP or NIEXP on NI Declarations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sng"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CDS will mandate that where an NI GLC is declared, an NI AI Code must also be declared.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Please see the attached worksheet for current NI locations, which is repeated on the following two slides – Note that this list will be amended for any new NI locations that are created in or removed from CDS and is only valid for this release.</a:t>
            </a:r>
            <a:endPar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sng" strike="noStrike" kern="1200" cap="none" spc="0" normalizeH="0" baseline="0" noProof="0" dirty="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sng" strike="noStrike" kern="1200" cap="none" spc="0" normalizeH="0" baseline="0" noProof="0" dirty="0">
              <a:ln>
                <a:noFill/>
              </a:ln>
              <a:solidFill>
                <a:srgbClr val="172B4D"/>
              </a:solidFill>
              <a:effectLst/>
              <a:uLnTx/>
              <a:uFillTx/>
              <a:latin typeface="Calibri" panose="020F0502020204030204"/>
              <a:ea typeface="+mn-ea"/>
              <a:cs typeface="+mn-cs"/>
            </a:endParaRPr>
          </a:p>
        </p:txBody>
      </p:sp>
      <p:graphicFrame>
        <p:nvGraphicFramePr>
          <p:cNvPr id="14" name="Table 13">
            <a:extLst>
              <a:ext uri="{FF2B5EF4-FFF2-40B4-BE49-F238E27FC236}">
                <a16:creationId xmlns:a16="http://schemas.microsoft.com/office/drawing/2014/main" id="{3EA70D79-0371-0CCD-C519-4768F6CE073C}"/>
              </a:ext>
            </a:extLst>
          </p:cNvPr>
          <p:cNvGraphicFramePr>
            <a:graphicFrameLocks noGrp="1"/>
          </p:cNvGraphicFramePr>
          <p:nvPr/>
        </p:nvGraphicFramePr>
        <p:xfrm>
          <a:off x="396914" y="1774397"/>
          <a:ext cx="11303708" cy="1737360"/>
        </p:xfrm>
        <a:graphic>
          <a:graphicData uri="http://schemas.openxmlformats.org/drawingml/2006/table">
            <a:tbl>
              <a:tblPr firstRow="1" bandRow="1">
                <a:tableStyleId>{5C22544A-7EE6-4342-B048-85BDC9FD1C3A}</a:tableStyleId>
              </a:tblPr>
              <a:tblGrid>
                <a:gridCol w="1564281">
                  <a:extLst>
                    <a:ext uri="{9D8B030D-6E8A-4147-A177-3AD203B41FA5}">
                      <a16:colId xmlns:a16="http://schemas.microsoft.com/office/drawing/2014/main" val="3510095676"/>
                    </a:ext>
                  </a:extLst>
                </a:gridCol>
                <a:gridCol w="4384714">
                  <a:extLst>
                    <a:ext uri="{9D8B030D-6E8A-4147-A177-3AD203B41FA5}">
                      <a16:colId xmlns:a16="http://schemas.microsoft.com/office/drawing/2014/main" val="2344416941"/>
                    </a:ext>
                  </a:extLst>
                </a:gridCol>
                <a:gridCol w="5354713">
                  <a:extLst>
                    <a:ext uri="{9D8B030D-6E8A-4147-A177-3AD203B41FA5}">
                      <a16:colId xmlns:a16="http://schemas.microsoft.com/office/drawing/2014/main" val="3125006888"/>
                    </a:ext>
                  </a:extLst>
                </a:gridCol>
              </a:tblGrid>
              <a:tr h="229383">
                <a:tc>
                  <a:txBody>
                    <a:bodyPr/>
                    <a:lstStyle/>
                    <a:p>
                      <a:r>
                        <a:rPr lang="en-GB" sz="1200" dirty="0"/>
                        <a:t>Declaration Type</a:t>
                      </a:r>
                    </a:p>
                  </a:txBody>
                  <a:tcPr>
                    <a:solidFill>
                      <a:srgbClr val="009999"/>
                    </a:solidFill>
                  </a:tcPr>
                </a:tc>
                <a:tc>
                  <a:txBody>
                    <a:bodyPr/>
                    <a:lstStyle/>
                    <a:p>
                      <a:r>
                        <a:rPr lang="en-GB" sz="1200" dirty="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265289430"/>
                  </a:ext>
                </a:extLst>
              </a:tr>
              <a:tr h="382304">
                <a:tc>
                  <a:txBody>
                    <a:bodyPr/>
                    <a:lstStyle/>
                    <a:p>
                      <a:r>
                        <a:rPr lang="en-GB" sz="1200" kern="1200" dirty="0">
                          <a:solidFill>
                            <a:schemeClr val="dk1"/>
                          </a:solidFill>
                          <a:latin typeface="+mn-lt"/>
                          <a:ea typeface="+mn-ea"/>
                          <a:cs typeface="+mn-cs"/>
                        </a:rPr>
                        <a:t>Import</a:t>
                      </a:r>
                    </a:p>
                  </a:txBody>
                  <a:tcPr>
                    <a:solidFill>
                      <a:srgbClr val="CBDCDB"/>
                    </a:solidFill>
                  </a:tcPr>
                </a:tc>
                <a:tc>
                  <a:txBody>
                    <a:bodyPr/>
                    <a:lstStyle/>
                    <a:p>
                      <a:r>
                        <a:rPr lang="en-GB" sz="1200" kern="1200" dirty="0">
                          <a:solidFill>
                            <a:schemeClr val="dk1"/>
                          </a:solidFill>
                          <a:latin typeface="+mn-lt"/>
                          <a:ea typeface="+mn-ea"/>
                          <a:cs typeface="+mn-cs"/>
                        </a:rPr>
                        <a:t>If Goods Location Code in </a:t>
                      </a:r>
                      <a:r>
                        <a:rPr lang="en-GB" sz="1200" kern="1200" dirty="0">
                          <a:solidFill>
                            <a:schemeClr val="dk1"/>
                          </a:solidFill>
                          <a:latin typeface="+mn-lt"/>
                          <a:ea typeface="+mn-ea"/>
                          <a:cs typeface="+mn-cs"/>
                          <a:hlinkClick r:id="rId2" action="ppaction://hlinksldjump"/>
                        </a:rPr>
                        <a:t>NI Locations</a:t>
                      </a:r>
                      <a:r>
                        <a:rPr lang="en-GB" sz="1200" kern="1200" dirty="0">
                          <a:solidFill>
                            <a:schemeClr val="dk1"/>
                          </a:solidFill>
                          <a:latin typeface="+mn-lt"/>
                          <a:ea typeface="+mn-ea"/>
                          <a:cs typeface="+mn-cs"/>
                        </a:rPr>
                        <a:t> is declared in DE 5/23</a:t>
                      </a:r>
                    </a:p>
                  </a:txBody>
                  <a:tcPr>
                    <a:solidFill>
                      <a:srgbClr val="CBDCDB"/>
                    </a:solidFill>
                  </a:tcPr>
                </a:tc>
                <a:tc>
                  <a:txBody>
                    <a:bodyPr/>
                    <a:lstStyle/>
                    <a:p>
                      <a:r>
                        <a:rPr lang="en-GB" sz="1200" dirty="0"/>
                        <a:t>Additional Information codes ‘NIDOM’ or ‘NIIMP’ must be declared in DE 2/2. If none of these codes are declared in DE 2/2 the declaration will be rejected and a DMSREJ notification returned to the trader. </a:t>
                      </a:r>
                    </a:p>
                  </a:txBody>
                  <a:tcPr>
                    <a:solidFill>
                      <a:srgbClr val="CBDCDB"/>
                    </a:solidFill>
                  </a:tcPr>
                </a:tc>
                <a:extLst>
                  <a:ext uri="{0D108BD9-81ED-4DB2-BD59-A6C34878D82A}">
                    <a16:rowId xmlns:a16="http://schemas.microsoft.com/office/drawing/2014/main" val="1796952593"/>
                  </a:ext>
                </a:extLst>
              </a:tr>
              <a:tr h="382304">
                <a:tc>
                  <a:txBody>
                    <a:bodyPr/>
                    <a:lstStyle/>
                    <a:p>
                      <a:r>
                        <a:rPr lang="en-GB" sz="1200" kern="1200" dirty="0">
                          <a:solidFill>
                            <a:schemeClr val="dk1"/>
                          </a:solidFill>
                          <a:latin typeface="+mn-lt"/>
                          <a:ea typeface="+mn-ea"/>
                          <a:cs typeface="+mn-cs"/>
                        </a:rPr>
                        <a:t>Export</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dirty="0">
                          <a:solidFill>
                            <a:schemeClr val="dk1"/>
                          </a:solidFill>
                          <a:latin typeface="+mn-lt"/>
                          <a:ea typeface="+mn-ea"/>
                          <a:cs typeface="+mn-cs"/>
                        </a:rPr>
                        <a:t>If Goods Location Code in </a:t>
                      </a:r>
                      <a:r>
                        <a:rPr lang="en-GB" sz="1200" kern="1200" dirty="0">
                          <a:solidFill>
                            <a:schemeClr val="dk1"/>
                          </a:solidFill>
                          <a:latin typeface="+mn-lt"/>
                          <a:ea typeface="+mn-ea"/>
                          <a:cs typeface="+mn-cs"/>
                          <a:hlinkClick r:id="rId2" action="ppaction://hlinksldjump"/>
                        </a:rPr>
                        <a:t>NI Locations</a:t>
                      </a:r>
                      <a:r>
                        <a:rPr lang="en-GB" sz="1200" kern="1200" dirty="0">
                          <a:solidFill>
                            <a:schemeClr val="dk1"/>
                          </a:solidFill>
                          <a:latin typeface="+mn-lt"/>
                          <a:ea typeface="+mn-ea"/>
                          <a:cs typeface="+mn-cs"/>
                        </a:rPr>
                        <a:t> is declared in DE 5/23</a:t>
                      </a:r>
                    </a:p>
                    <a:p>
                      <a:endParaRPr lang="en-GB" sz="1200" kern="1200" dirty="0">
                        <a:solidFill>
                          <a:schemeClr val="dk1"/>
                        </a:solidFill>
                        <a:latin typeface="+mn-lt"/>
                        <a:ea typeface="+mn-ea"/>
                        <a:cs typeface="+mn-cs"/>
                      </a:endParaRP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Additional Information code ‘NIEXP’ must be declared in DE 2/2. </a:t>
                      </a:r>
                      <a:r>
                        <a:rPr lang="fr-FR" sz="1200" dirty="0">
                          <a:solidFill>
                            <a:srgbClr val="172B4D"/>
                          </a:solidFill>
                        </a:rPr>
                        <a:t>If ‘NIEXP’ is not declared in DE 2/2 </a:t>
                      </a:r>
                      <a:r>
                        <a:rPr lang="en-GB" sz="1200" dirty="0"/>
                        <a:t>the declaration will be rejected and a DMSREJ notification returned to the trader.</a:t>
                      </a:r>
                      <a:endParaRPr lang="fr-FR" sz="1200" dirty="0">
                        <a:solidFill>
                          <a:srgbClr val="172B4D"/>
                        </a:solidFill>
                      </a:endParaRPr>
                    </a:p>
                    <a:p>
                      <a:endParaRPr lang="en-GB" sz="1200" dirty="0"/>
                    </a:p>
                  </a:txBody>
                  <a:tcPr>
                    <a:solidFill>
                      <a:srgbClr val="CBDCDB"/>
                    </a:solidFill>
                  </a:tcPr>
                </a:tc>
                <a:extLst>
                  <a:ext uri="{0D108BD9-81ED-4DB2-BD59-A6C34878D82A}">
                    <a16:rowId xmlns:a16="http://schemas.microsoft.com/office/drawing/2014/main" val="656800731"/>
                  </a:ext>
                </a:extLst>
              </a:tr>
            </a:tbl>
          </a:graphicData>
        </a:graphic>
      </p:graphicFrame>
      <p:sp>
        <p:nvSpPr>
          <p:cNvPr id="28" name="Footer Placeholder 27">
            <a:extLst>
              <a:ext uri="{FF2B5EF4-FFF2-40B4-BE49-F238E27FC236}">
                <a16:creationId xmlns:a16="http://schemas.microsoft.com/office/drawing/2014/main" id="{2848B7F6-E70F-126D-F9B9-56C8164CF414}"/>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29" name="Slide Number Placeholder 28">
            <a:extLst>
              <a:ext uri="{FF2B5EF4-FFF2-40B4-BE49-F238E27FC236}">
                <a16:creationId xmlns:a16="http://schemas.microsoft.com/office/drawing/2014/main" id="{FE4E3410-5985-40AB-75E9-D5494ED327D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graphicFrame>
        <p:nvGraphicFramePr>
          <p:cNvPr id="7" name="Object 6">
            <a:extLst>
              <a:ext uri="{FF2B5EF4-FFF2-40B4-BE49-F238E27FC236}">
                <a16:creationId xmlns:a16="http://schemas.microsoft.com/office/drawing/2014/main" id="{A88974E2-F36C-C55A-E97E-E5161BB21E94}"/>
              </a:ext>
            </a:extLst>
          </p:cNvPr>
          <p:cNvGraphicFramePr>
            <a:graphicFrameLocks noChangeAspect="1"/>
          </p:cNvGraphicFramePr>
          <p:nvPr/>
        </p:nvGraphicFramePr>
        <p:xfrm>
          <a:off x="10191750" y="563563"/>
          <a:ext cx="938213" cy="790575"/>
        </p:xfrm>
        <a:graphic>
          <a:graphicData uri="http://schemas.openxmlformats.org/presentationml/2006/ole">
            <mc:AlternateContent xmlns:mc="http://schemas.openxmlformats.org/markup-compatibility/2006">
              <mc:Choice xmlns:v="urn:schemas-microsoft-com:vml" Requires="v">
                <p:oleObj name="Worksheet" showAsIcon="1" r:id="rId3" imgW="937800" imgH="791280" progId="Excel.Sheet.12">
                  <p:embed/>
                </p:oleObj>
              </mc:Choice>
              <mc:Fallback>
                <p:oleObj name="Worksheet" showAsIcon="1" r:id="rId3" imgW="937800" imgH="791280" progId="Excel.Sheet.12">
                  <p:embed/>
                  <p:pic>
                    <p:nvPicPr>
                      <p:cNvPr id="7" name="Object 6">
                        <a:extLst>
                          <a:ext uri="{FF2B5EF4-FFF2-40B4-BE49-F238E27FC236}">
                            <a16:creationId xmlns:a16="http://schemas.microsoft.com/office/drawing/2014/main" id="{A88974E2-F36C-C55A-E97E-E5161BB21E94}"/>
                          </a:ext>
                        </a:extLst>
                      </p:cNvPr>
                      <p:cNvPicPr/>
                      <p:nvPr/>
                    </p:nvPicPr>
                    <p:blipFill>
                      <a:blip r:embed="rId4"/>
                      <a:stretch>
                        <a:fillRect/>
                      </a:stretch>
                    </p:blipFill>
                    <p:spPr>
                      <a:xfrm>
                        <a:off x="10191750" y="563563"/>
                        <a:ext cx="938213" cy="790575"/>
                      </a:xfrm>
                      <a:prstGeom prst="rect">
                        <a:avLst/>
                      </a:prstGeom>
                    </p:spPr>
                  </p:pic>
                </p:oleObj>
              </mc:Fallback>
            </mc:AlternateContent>
          </a:graphicData>
        </a:graphic>
      </p:graphicFrame>
    </p:spTree>
    <p:extLst>
      <p:ext uri="{BB962C8B-B14F-4D97-AF65-F5344CB8AC3E}">
        <p14:creationId xmlns:p14="http://schemas.microsoft.com/office/powerpoint/2010/main" val="27307880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64A164-AC0E-03F8-4788-45EA07D836A5}"/>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9614F45-0AF3-ECF8-706C-08F50DC8AB8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1659512-66A4-571F-E382-05617748E99F}"/>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C8F2A47-8BED-362B-6FA7-B6ED01B20EFF}"/>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8F931B25-F141-DE3A-0DC8-924EDDA4D28B}"/>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66E6D3D6-30E0-241F-8AEA-3AAA1554D705}"/>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11" name="Rectangle 2">
            <a:extLst>
              <a:ext uri="{FF2B5EF4-FFF2-40B4-BE49-F238E27FC236}">
                <a16:creationId xmlns:a16="http://schemas.microsoft.com/office/drawing/2014/main" id="{F3D5E595-A2A1-39BE-7443-250CBF8181FE}"/>
              </a:ext>
            </a:extLst>
          </p:cNvPr>
          <p:cNvSpPr/>
          <p:nvPr/>
        </p:nvSpPr>
        <p:spPr>
          <a:xfrm>
            <a:off x="396721" y="2804041"/>
            <a:ext cx="65" cy="427021"/>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Arial" pitchFamily="34"/>
              <a:ea typeface="+mn-ea"/>
              <a:cs typeface="+mn-cs"/>
            </a:endParaRPr>
          </a:p>
        </p:txBody>
      </p:sp>
      <p:sp>
        <p:nvSpPr>
          <p:cNvPr id="8" name="TextBox 7">
            <a:extLst>
              <a:ext uri="{FF2B5EF4-FFF2-40B4-BE49-F238E27FC236}">
                <a16:creationId xmlns:a16="http://schemas.microsoft.com/office/drawing/2014/main" id="{86860B8B-230D-5581-9EF3-B701F0FA2780}"/>
              </a:ext>
            </a:extLst>
          </p:cNvPr>
          <p:cNvSpPr txBox="1"/>
          <p:nvPr/>
        </p:nvSpPr>
        <p:spPr>
          <a:xfrm>
            <a:off x="322838" y="792342"/>
            <a:ext cx="1137778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172B4D"/>
                </a:solidFill>
                <a:effectLst/>
                <a:uLnTx/>
                <a:uFillTx/>
                <a:latin typeface="Calibri" panose="020F0502020204030204"/>
                <a:ea typeface="+mn-ea"/>
                <a:cs typeface="+mn-cs"/>
              </a:rPr>
              <a:t>NI Locations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sng" strike="noStrike" kern="1200" cap="none" spc="0" normalizeH="0" baseline="0" noProof="0" dirty="0">
              <a:ln>
                <a:noFill/>
              </a:ln>
              <a:solidFill>
                <a:srgbClr val="172B4D"/>
              </a:solidFill>
              <a:effectLst/>
              <a:uLnTx/>
              <a:uFillTx/>
              <a:latin typeface="Calibri" panose="020F0502020204030204"/>
              <a:ea typeface="+mn-ea"/>
              <a:cs typeface="+mn-cs"/>
            </a:endParaRPr>
          </a:p>
        </p:txBody>
      </p:sp>
      <p:graphicFrame>
        <p:nvGraphicFramePr>
          <p:cNvPr id="10" name="Table 9">
            <a:extLst>
              <a:ext uri="{FF2B5EF4-FFF2-40B4-BE49-F238E27FC236}">
                <a16:creationId xmlns:a16="http://schemas.microsoft.com/office/drawing/2014/main" id="{05D38D6B-BF5A-5A68-68FC-9E726EC35C39}"/>
              </a:ext>
            </a:extLst>
          </p:cNvPr>
          <p:cNvGraphicFramePr>
            <a:graphicFrameLocks noGrp="1"/>
          </p:cNvGraphicFramePr>
          <p:nvPr/>
        </p:nvGraphicFramePr>
        <p:xfrm>
          <a:off x="339635" y="1225190"/>
          <a:ext cx="5593220" cy="4620653"/>
        </p:xfrm>
        <a:graphic>
          <a:graphicData uri="http://schemas.openxmlformats.org/drawingml/2006/table">
            <a:tbl>
              <a:tblPr>
                <a:tableStyleId>{5C22544A-7EE6-4342-B048-85BDC9FD1C3A}</a:tableStyleId>
              </a:tblPr>
              <a:tblGrid>
                <a:gridCol w="3034445">
                  <a:extLst>
                    <a:ext uri="{9D8B030D-6E8A-4147-A177-3AD203B41FA5}">
                      <a16:colId xmlns:a16="http://schemas.microsoft.com/office/drawing/2014/main" val="3713261337"/>
                    </a:ext>
                  </a:extLst>
                </a:gridCol>
                <a:gridCol w="1574631">
                  <a:extLst>
                    <a:ext uri="{9D8B030D-6E8A-4147-A177-3AD203B41FA5}">
                      <a16:colId xmlns:a16="http://schemas.microsoft.com/office/drawing/2014/main" val="2401386670"/>
                    </a:ext>
                  </a:extLst>
                </a:gridCol>
                <a:gridCol w="984144">
                  <a:extLst>
                    <a:ext uri="{9D8B030D-6E8A-4147-A177-3AD203B41FA5}">
                      <a16:colId xmlns:a16="http://schemas.microsoft.com/office/drawing/2014/main" val="3383499255"/>
                    </a:ext>
                  </a:extLst>
                </a:gridCol>
              </a:tblGrid>
              <a:tr h="281505">
                <a:tc>
                  <a:txBody>
                    <a:bodyPr/>
                    <a:lstStyle/>
                    <a:p>
                      <a:pPr algn="l" fontAlgn="b"/>
                      <a:r>
                        <a:rPr lang="en-GB" sz="1100" b="0" i="0" u="none" strike="noStrike" dirty="0">
                          <a:solidFill>
                            <a:schemeClr val="bg1"/>
                          </a:solidFill>
                          <a:effectLst/>
                          <a:latin typeface="Calibri" panose="020F0502020204030204" pitchFamily="34" charset="0"/>
                        </a:rPr>
                        <a:t>Location</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Location Code</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Appendix*</a:t>
                      </a:r>
                    </a:p>
                  </a:txBody>
                  <a:tcPr marL="6350" marR="6350" marT="6350" marB="0" anchor="b">
                    <a:solidFill>
                      <a:srgbClr val="009999"/>
                    </a:solidFill>
                  </a:tcPr>
                </a:tc>
                <a:extLst>
                  <a:ext uri="{0D108BD9-81ED-4DB2-BD59-A6C34878D82A}">
                    <a16:rowId xmlns:a16="http://schemas.microsoft.com/office/drawing/2014/main" val="2558104534"/>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Airport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GBAUBELBFSBEL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16A</a:t>
                      </a:r>
                    </a:p>
                  </a:txBody>
                  <a:tcPr marL="6350" marR="6350" marT="6350" marB="0" anchor="b">
                    <a:solidFill>
                      <a:srgbClr val="E7EEEE"/>
                    </a:solidFill>
                  </a:tcPr>
                </a:tc>
                <a:extLst>
                  <a:ext uri="{0D108BD9-81ED-4DB2-BD59-A6C34878D82A}">
                    <a16:rowId xmlns:a16="http://schemas.microsoft.com/office/drawing/2014/main" val="4217240836"/>
                  </a:ext>
                </a:extLst>
              </a:tr>
              <a:tr h="197234">
                <a:tc>
                  <a:txBody>
                    <a:bodyPr/>
                    <a:lstStyle/>
                    <a:p>
                      <a:pPr algn="l" fontAlgn="b"/>
                      <a:r>
                        <a:rPr lang="en-GB" sz="1100" b="0" i="0" u="none" strike="noStrike" dirty="0">
                          <a:solidFill>
                            <a:schemeClr val="tx1"/>
                          </a:solidFill>
                          <a:effectLst/>
                          <a:latin typeface="Calibri" panose="020F0502020204030204" pitchFamily="34" charset="0"/>
                        </a:rPr>
                        <a:t>St Angelo Airport - Enniskillen</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GBCUENKBFSENK</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16B</a:t>
                      </a:r>
                    </a:p>
                  </a:txBody>
                  <a:tcPr marL="6350" marR="6350" marT="6350" marB="0" anchor="b">
                    <a:solidFill>
                      <a:srgbClr val="E7EEEE"/>
                    </a:solidFill>
                  </a:tcPr>
                </a:tc>
                <a:extLst>
                  <a:ext uri="{0D108BD9-81ED-4DB2-BD59-A6C34878D82A}">
                    <a16:rowId xmlns:a16="http://schemas.microsoft.com/office/drawing/2014/main" val="302554685"/>
                  </a:ext>
                </a:extLst>
              </a:tr>
              <a:tr h="197234">
                <a:tc>
                  <a:txBody>
                    <a:bodyPr/>
                    <a:lstStyle/>
                    <a:p>
                      <a:pPr algn="l" fontAlgn="b"/>
                      <a:r>
                        <a:rPr lang="en-GB" sz="1100" b="0" i="0" u="none" strike="noStrike" dirty="0">
                          <a:solidFill>
                            <a:schemeClr val="tx1"/>
                          </a:solidFill>
                          <a:effectLst/>
                          <a:latin typeface="Calibri" panose="020F0502020204030204" pitchFamily="34" charset="0"/>
                        </a:rPr>
                        <a:t>George Best Belfast City Airport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GBCUBHDBHDBHD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16B</a:t>
                      </a:r>
                    </a:p>
                  </a:txBody>
                  <a:tcPr marL="6350" marR="6350" marT="6350" marB="0" anchor="b">
                    <a:solidFill>
                      <a:srgbClr val="E7EEEE"/>
                    </a:solidFill>
                  </a:tcPr>
                </a:tc>
                <a:extLst>
                  <a:ext uri="{0D108BD9-81ED-4DB2-BD59-A6C34878D82A}">
                    <a16:rowId xmlns:a16="http://schemas.microsoft.com/office/drawing/2014/main" val="1335057999"/>
                  </a:ext>
                </a:extLst>
              </a:tr>
              <a:tr h="197234">
                <a:tc>
                  <a:txBody>
                    <a:bodyPr/>
                    <a:lstStyle/>
                    <a:p>
                      <a:pPr algn="l" fontAlgn="b"/>
                      <a:r>
                        <a:rPr lang="en-GB" sz="1100" b="0" i="0" u="none" strike="noStrike" dirty="0">
                          <a:solidFill>
                            <a:schemeClr val="tx1"/>
                          </a:solidFill>
                          <a:effectLst/>
                          <a:latin typeface="Calibri" panose="020F0502020204030204" pitchFamily="34" charset="0"/>
                        </a:rPr>
                        <a:t>City Of Derry Airport - Londonderry</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GBCULDYLDYLDY</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16B</a:t>
                      </a:r>
                    </a:p>
                  </a:txBody>
                  <a:tcPr marL="6350" marR="6350" marT="6350" marB="0" anchor="b">
                    <a:solidFill>
                      <a:srgbClr val="E7EEEE"/>
                    </a:solidFill>
                  </a:tcPr>
                </a:tc>
                <a:extLst>
                  <a:ext uri="{0D108BD9-81ED-4DB2-BD59-A6C34878D82A}">
                    <a16:rowId xmlns:a16="http://schemas.microsoft.com/office/drawing/2014/main" val="567414216"/>
                  </a:ext>
                </a:extLst>
              </a:tr>
              <a:tr h="197234">
                <a:tc>
                  <a:txBody>
                    <a:bodyPr/>
                    <a:lstStyle/>
                    <a:p>
                      <a:pPr algn="l" fontAlgn="b"/>
                      <a:r>
                        <a:rPr lang="en-GB" sz="1100" b="0" i="0" u="none" strike="noStrike">
                          <a:solidFill>
                            <a:schemeClr val="tx1"/>
                          </a:solidFill>
                          <a:effectLst/>
                          <a:latin typeface="Calibri" panose="020F0502020204030204" pitchFamily="34" charset="0"/>
                        </a:rPr>
                        <a:t>Belfast Port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GBAUBELBELBEL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1247400851"/>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 Oil Berth 4</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GBAUBELBELOB4</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2090886868"/>
                  </a:ext>
                </a:extLst>
              </a:tr>
              <a:tr h="197234">
                <a:tc>
                  <a:txBody>
                    <a:bodyPr/>
                    <a:lstStyle/>
                    <a:p>
                      <a:pPr algn="l" fontAlgn="b"/>
                      <a:r>
                        <a:rPr lang="en-GB" sz="1100" b="0" i="0" u="none" strike="noStrike">
                          <a:solidFill>
                            <a:schemeClr val="tx1"/>
                          </a:solidFill>
                          <a:effectLst/>
                          <a:latin typeface="Calibri" panose="020F0502020204030204" pitchFamily="34" charset="0"/>
                        </a:rPr>
                        <a:t>Belfast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GBAUOYTBELVLA1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2077225476"/>
                  </a:ext>
                </a:extLst>
              </a:tr>
              <a:tr h="197234">
                <a:tc>
                  <a:txBody>
                    <a:bodyPr/>
                    <a:lstStyle/>
                    <a:p>
                      <a:pPr algn="l" fontAlgn="b"/>
                      <a:r>
                        <a:rPr lang="en-GB" sz="1100" b="0" i="0" u="none" strike="noStrike">
                          <a:solidFill>
                            <a:schemeClr val="tx1"/>
                          </a:solidFill>
                          <a:effectLst/>
                          <a:latin typeface="Calibri" panose="020F0502020204030204" pitchFamily="34" charset="0"/>
                        </a:rPr>
                        <a:t>Belfast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GBAUOYTBELVLJ1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816684728"/>
                  </a:ext>
                </a:extLst>
              </a:tr>
              <a:tr h="197234">
                <a:tc>
                  <a:txBody>
                    <a:bodyPr/>
                    <a:lstStyle/>
                    <a:p>
                      <a:pPr algn="l" fontAlgn="b"/>
                      <a:r>
                        <a:rPr lang="en-GB" sz="1100" b="0" i="0" u="none" strike="noStrike">
                          <a:solidFill>
                            <a:schemeClr val="tx1"/>
                          </a:solidFill>
                          <a:effectLst/>
                          <a:latin typeface="Calibri" panose="020F0502020204030204" pitchFamily="34" charset="0"/>
                        </a:rPr>
                        <a:t>Belfast Harbour Port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GBAUBELBELBCB1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1957924439"/>
                  </a:ext>
                </a:extLst>
              </a:tr>
              <a:tr h="197234">
                <a:tc>
                  <a:txBody>
                    <a:bodyPr/>
                    <a:lstStyle/>
                    <a:p>
                      <a:pPr algn="l" fontAlgn="b"/>
                      <a:r>
                        <a:rPr lang="en-GB" sz="1100" b="0" i="0" u="none" strike="noStrike" dirty="0">
                          <a:solidFill>
                            <a:schemeClr val="tx1"/>
                          </a:solidFill>
                          <a:effectLst/>
                          <a:latin typeface="Calibri" panose="020F0502020204030204" pitchFamily="34" charset="0"/>
                        </a:rPr>
                        <a:t>Coleraine</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GBAUCLRCLRCLR</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1146938277"/>
                  </a:ext>
                </a:extLst>
              </a:tr>
              <a:tr h="197234">
                <a:tc>
                  <a:txBody>
                    <a:bodyPr/>
                    <a:lstStyle/>
                    <a:p>
                      <a:pPr algn="l" fontAlgn="b"/>
                      <a:r>
                        <a:rPr lang="en-GB" sz="1100" b="0" i="0" u="none" strike="noStrike">
                          <a:solidFill>
                            <a:schemeClr val="tx1"/>
                          </a:solidFill>
                          <a:effectLst/>
                          <a:latin typeface="Calibri" panose="020F0502020204030204" pitchFamily="34" charset="0"/>
                        </a:rPr>
                        <a:t>Kilroot Power Station Jetty</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GBAUKPSBELKPS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481447449"/>
                  </a:ext>
                </a:extLst>
              </a:tr>
              <a:tr h="197234">
                <a:tc>
                  <a:txBody>
                    <a:bodyPr/>
                    <a:lstStyle/>
                    <a:p>
                      <a:pPr algn="l" fontAlgn="b"/>
                      <a:r>
                        <a:rPr lang="en-GB" sz="1100" b="0" i="0" u="none" strike="noStrike">
                          <a:solidFill>
                            <a:schemeClr val="tx1"/>
                          </a:solidFill>
                          <a:effectLst/>
                          <a:latin typeface="Calibri" panose="020F0502020204030204" pitchFamily="34" charset="0"/>
                        </a:rPr>
                        <a:t>Larne Harbour</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GBAULARBELLAR</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3709200743"/>
                  </a:ext>
                </a:extLst>
              </a:tr>
              <a:tr h="197234">
                <a:tc>
                  <a:txBody>
                    <a:bodyPr/>
                    <a:lstStyle/>
                    <a:p>
                      <a:pPr algn="l" fontAlgn="b"/>
                      <a:r>
                        <a:rPr lang="en-GB" sz="1100" b="0" i="0" u="none" strike="noStrike" dirty="0">
                          <a:solidFill>
                            <a:schemeClr val="tx1"/>
                          </a:solidFill>
                          <a:effectLst/>
                          <a:latin typeface="Calibri" panose="020F0502020204030204" pitchFamily="34" charset="0"/>
                        </a:rPr>
                        <a:t>Londonderry</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GBAULDYLDYLDY</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1472873640"/>
                  </a:ext>
                </a:extLst>
              </a:tr>
              <a:tr h="197234">
                <a:tc>
                  <a:txBody>
                    <a:bodyPr/>
                    <a:lstStyle/>
                    <a:p>
                      <a:pPr algn="l" fontAlgn="b"/>
                      <a:r>
                        <a:rPr lang="en-GB" sz="1100" b="0" i="0" u="none" strike="noStrike">
                          <a:solidFill>
                            <a:schemeClr val="tx1"/>
                          </a:solidFill>
                          <a:effectLst/>
                          <a:latin typeface="Calibri" panose="020F0502020204030204" pitchFamily="34" charset="0"/>
                        </a:rPr>
                        <a:t>Maydown - Oil Terminal, Coolkeeragh</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GBAUMYNLDYMYN</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4043631866"/>
                  </a:ext>
                </a:extLst>
              </a:tr>
              <a:tr h="197234">
                <a:tc>
                  <a:txBody>
                    <a:bodyPr/>
                    <a:lstStyle/>
                    <a:p>
                      <a:pPr algn="l" fontAlgn="b"/>
                      <a:r>
                        <a:rPr lang="en-GB" sz="1100" b="0" i="0" u="none" strike="noStrike" dirty="0">
                          <a:solidFill>
                            <a:schemeClr val="tx1"/>
                          </a:solidFill>
                          <a:effectLst/>
                          <a:latin typeface="Calibri" panose="020F0502020204030204" pitchFamily="34" charset="0"/>
                        </a:rPr>
                        <a:t>Warrenpoint Harbour</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GBAUWPTWPTWPT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2696838546"/>
                  </a:ext>
                </a:extLst>
              </a:tr>
              <a:tr h="197234">
                <a:tc>
                  <a:txBody>
                    <a:bodyPr/>
                    <a:lstStyle/>
                    <a:p>
                      <a:pPr algn="l" fontAlgn="b"/>
                      <a:r>
                        <a:rPr lang="en-GB" sz="1100" b="0" i="0" u="none" strike="noStrike" dirty="0">
                          <a:solidFill>
                            <a:schemeClr val="tx1"/>
                          </a:solidFill>
                          <a:effectLst/>
                          <a:latin typeface="Calibri" panose="020F0502020204030204" pitchFamily="34" charset="0"/>
                        </a:rPr>
                        <a:t>Whitehead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GBAUWHEBELWHE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624924938"/>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Airport - FedEx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GBAUBELBFSFDS</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2433261565"/>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Airport - Swissport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GBAUBELBFSSLS</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2845858025"/>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 </a:t>
                      </a:r>
                      <a:r>
                        <a:rPr lang="en-GB" sz="1100" b="0" i="0" u="none" strike="noStrike" dirty="0" err="1">
                          <a:solidFill>
                            <a:schemeClr val="tx1"/>
                          </a:solidFill>
                          <a:effectLst/>
                          <a:latin typeface="Calibri" panose="020F0502020204030204" pitchFamily="34" charset="0"/>
                        </a:rPr>
                        <a:t>Lissan</a:t>
                      </a:r>
                      <a:r>
                        <a:rPr lang="en-GB" sz="1100" b="0" i="0" u="none" strike="noStrike" dirty="0">
                          <a:solidFill>
                            <a:schemeClr val="tx1"/>
                          </a:solidFill>
                          <a:effectLst/>
                          <a:latin typeface="Calibri" panose="020F0502020204030204" pitchFamily="34" charset="0"/>
                        </a:rPr>
                        <a:t> Coal</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GBAUBELBELLCC</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1280296451"/>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 TCB</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GBAUBELBELVLQ1</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3426698177"/>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 Coastal Container Line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GBAUBELBELBTM2</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3493691136"/>
                  </a:ext>
                </a:extLst>
              </a:tr>
              <a:tr h="197234">
                <a:tc>
                  <a:txBody>
                    <a:bodyPr/>
                    <a:lstStyle/>
                    <a:p>
                      <a:pPr algn="l" fontAlgn="b"/>
                      <a:r>
                        <a:rPr lang="en-GB" sz="1100" b="0" i="0" u="none" strike="noStrike" dirty="0">
                          <a:solidFill>
                            <a:schemeClr val="tx1"/>
                          </a:solidFill>
                          <a:effectLst/>
                          <a:latin typeface="Calibri" panose="020F0502020204030204" pitchFamily="34" charset="0"/>
                        </a:rPr>
                        <a:t>Belfast - Belfast Container Terminal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GBAUBELBELBCT1</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2453729738"/>
                  </a:ext>
                </a:extLst>
              </a:tr>
            </a:tbl>
          </a:graphicData>
        </a:graphic>
      </p:graphicFrame>
      <p:sp>
        <p:nvSpPr>
          <p:cNvPr id="13" name="TextBox 12">
            <a:extLst>
              <a:ext uri="{FF2B5EF4-FFF2-40B4-BE49-F238E27FC236}">
                <a16:creationId xmlns:a16="http://schemas.microsoft.com/office/drawing/2014/main" id="{3C751D5D-1D04-0E12-2C17-CA7E4574AF31}"/>
              </a:ext>
            </a:extLst>
          </p:cNvPr>
          <p:cNvSpPr txBox="1"/>
          <p:nvPr/>
        </p:nvSpPr>
        <p:spPr>
          <a:xfrm>
            <a:off x="275575" y="6056862"/>
            <a:ext cx="11472309"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sng" strike="noStrike" kern="1200" cap="none" spc="0" normalizeH="0" baseline="0" noProof="0" dirty="0">
                <a:ln>
                  <a:noFill/>
                </a:ln>
                <a:solidFill>
                  <a:prstClr val="black"/>
                </a:solidFill>
                <a:effectLst/>
                <a:uLnTx/>
                <a:uFillTx/>
                <a:latin typeface="Calibri" panose="020F0502020204030204" pitchFamily="34" charset="0"/>
                <a:ea typeface="+mn-ea"/>
                <a:cs typeface="+mn-cs"/>
                <a:hlinkClick r:id="rId2">
                  <a:extLst>
                    <a:ext uri="{A12FA001-AC4F-418D-AE19-62706E023703}">
                      <ahyp:hlinkClr xmlns:ahyp="http://schemas.microsoft.com/office/drawing/2018/hyperlinkcolor" val="tx"/>
                    </a:ext>
                  </a:extLst>
                </a:hlinkClick>
              </a:rPr>
              <a:t>*Appendices 16A through to 16S can be found under Goods location codes for Data Element 5/23 of the Customs Declaration Service (Appendix 16).</a:t>
            </a:r>
            <a:r>
              <a:rPr kumimoji="0" lang="en-GB" sz="1100" b="1"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14" name="Footer Placeholder 13">
            <a:extLst>
              <a:ext uri="{FF2B5EF4-FFF2-40B4-BE49-F238E27FC236}">
                <a16:creationId xmlns:a16="http://schemas.microsoft.com/office/drawing/2014/main" id="{101FE622-FE24-D3EE-7C99-61DF780EFB12}"/>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17" name="Slide Number Placeholder 16">
            <a:extLst>
              <a:ext uri="{FF2B5EF4-FFF2-40B4-BE49-F238E27FC236}">
                <a16:creationId xmlns:a16="http://schemas.microsoft.com/office/drawing/2014/main" id="{6887263B-5D47-4F8C-C5E2-8A4AA12EC58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graphicFrame>
        <p:nvGraphicFramePr>
          <p:cNvPr id="16" name="Table 15">
            <a:extLst>
              <a:ext uri="{FF2B5EF4-FFF2-40B4-BE49-F238E27FC236}">
                <a16:creationId xmlns:a16="http://schemas.microsoft.com/office/drawing/2014/main" id="{C4258B07-1367-E62C-308B-B142351BC355}"/>
              </a:ext>
            </a:extLst>
          </p:cNvPr>
          <p:cNvGraphicFramePr>
            <a:graphicFrameLocks noGrp="1"/>
          </p:cNvGraphicFramePr>
          <p:nvPr/>
        </p:nvGraphicFramePr>
        <p:xfrm>
          <a:off x="6259145" y="1215585"/>
          <a:ext cx="5593220" cy="4639861"/>
        </p:xfrm>
        <a:graphic>
          <a:graphicData uri="http://schemas.openxmlformats.org/drawingml/2006/table">
            <a:tbl>
              <a:tblPr>
                <a:tableStyleId>{5C22544A-7EE6-4342-B048-85BDC9FD1C3A}</a:tableStyleId>
              </a:tblPr>
              <a:tblGrid>
                <a:gridCol w="3034445">
                  <a:extLst>
                    <a:ext uri="{9D8B030D-6E8A-4147-A177-3AD203B41FA5}">
                      <a16:colId xmlns:a16="http://schemas.microsoft.com/office/drawing/2014/main" val="3713261337"/>
                    </a:ext>
                  </a:extLst>
                </a:gridCol>
                <a:gridCol w="1574631">
                  <a:extLst>
                    <a:ext uri="{9D8B030D-6E8A-4147-A177-3AD203B41FA5}">
                      <a16:colId xmlns:a16="http://schemas.microsoft.com/office/drawing/2014/main" val="2401386670"/>
                    </a:ext>
                  </a:extLst>
                </a:gridCol>
                <a:gridCol w="984144">
                  <a:extLst>
                    <a:ext uri="{9D8B030D-6E8A-4147-A177-3AD203B41FA5}">
                      <a16:colId xmlns:a16="http://schemas.microsoft.com/office/drawing/2014/main" val="3383499255"/>
                    </a:ext>
                  </a:extLst>
                </a:gridCol>
              </a:tblGrid>
              <a:tr h="285203">
                <a:tc>
                  <a:txBody>
                    <a:bodyPr/>
                    <a:lstStyle/>
                    <a:p>
                      <a:pPr algn="l" fontAlgn="b"/>
                      <a:r>
                        <a:rPr lang="en-GB" sz="1100" b="0" i="0" u="none" strike="noStrike" dirty="0">
                          <a:solidFill>
                            <a:schemeClr val="bg1"/>
                          </a:solidFill>
                          <a:effectLst/>
                          <a:latin typeface="Calibri" panose="020F0502020204030204" pitchFamily="34" charset="0"/>
                        </a:rPr>
                        <a:t>Location</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Location Code</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Appendix*</a:t>
                      </a:r>
                    </a:p>
                  </a:txBody>
                  <a:tcPr marL="6350" marR="6350" marT="6350" marB="0" anchor="b">
                    <a:solidFill>
                      <a:srgbClr val="009999"/>
                    </a:solidFill>
                  </a:tcPr>
                </a:tc>
                <a:extLst>
                  <a:ext uri="{0D108BD9-81ED-4DB2-BD59-A6C34878D82A}">
                    <a16:rowId xmlns:a16="http://schemas.microsoft.com/office/drawing/2014/main" val="2558104534"/>
                  </a:ext>
                </a:extLst>
              </a:tr>
              <a:tr h="197939">
                <a:tc>
                  <a:txBody>
                    <a:bodyPr/>
                    <a:lstStyle/>
                    <a:p>
                      <a:pPr algn="l" fontAlgn="b"/>
                      <a:r>
                        <a:rPr lang="en-GB" sz="1100" b="0" i="0" u="none" strike="noStrike" dirty="0">
                          <a:solidFill>
                            <a:srgbClr val="000000"/>
                          </a:solidFill>
                          <a:effectLst/>
                          <a:latin typeface="Calibri" panose="020F0502020204030204" pitchFamily="34" charset="0"/>
                        </a:rPr>
                        <a:t>Belfast - United Molasses (Ireland)</a:t>
                      </a:r>
                    </a:p>
                  </a:txBody>
                  <a:tcPr marL="6350" marR="6350" marT="6350" marB="0" anchor="b">
                    <a:solidFill>
                      <a:srgbClr val="E7EEEE"/>
                    </a:solidFill>
                  </a:tcPr>
                </a:tc>
                <a:tc>
                  <a:txBody>
                    <a:bodyPr/>
                    <a:lstStyle/>
                    <a:p>
                      <a:pPr algn="l" fontAlgn="b"/>
                      <a:r>
                        <a:rPr lang="en-GB" sz="1100" b="0" i="0" u="none" strike="noStrike">
                          <a:solidFill>
                            <a:srgbClr val="000000"/>
                          </a:solidFill>
                          <a:effectLst/>
                          <a:latin typeface="Calibri" panose="020F0502020204030204" pitchFamily="34" charset="0"/>
                        </a:rPr>
                        <a:t>GBAUBELBELUML</a:t>
                      </a:r>
                    </a:p>
                  </a:txBody>
                  <a:tcPr marL="6350" marR="6350" marT="6350" marB="0" anchor="b">
                    <a:solidFill>
                      <a:srgbClr val="E7EEEE"/>
                    </a:solidFill>
                  </a:tcPr>
                </a:tc>
                <a:tc>
                  <a:txBody>
                    <a:bodyPr/>
                    <a:lstStyle/>
                    <a:p>
                      <a:pPr algn="l" fontAlgn="b"/>
                      <a:r>
                        <a:rPr lang="en-GB" sz="1100" b="0" i="0" u="none" strike="noStrike">
                          <a:solidFill>
                            <a:srgbClr val="000000"/>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4217240836"/>
                  </a:ext>
                </a:extLst>
              </a:tr>
              <a:tr h="197939">
                <a:tc>
                  <a:txBody>
                    <a:bodyPr/>
                    <a:lstStyle/>
                    <a:p>
                      <a:pPr algn="l" fontAlgn="b"/>
                      <a:r>
                        <a:rPr lang="en-GB" sz="1100" b="0" i="0" u="none" strike="noStrike" dirty="0">
                          <a:solidFill>
                            <a:schemeClr val="tx1"/>
                          </a:solidFill>
                          <a:effectLst/>
                          <a:latin typeface="Calibri" panose="020F0502020204030204" pitchFamily="34" charset="0"/>
                        </a:rPr>
                        <a:t>EOS Warehousing Limited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GBAUBBGBELEOS1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124060343"/>
                  </a:ext>
                </a:extLst>
              </a:tr>
              <a:tr h="197939">
                <a:tc>
                  <a:txBody>
                    <a:bodyPr/>
                    <a:lstStyle/>
                    <a:p>
                      <a:pPr algn="l" fontAlgn="b"/>
                      <a:r>
                        <a:rPr lang="en-GB" sz="1100" b="0" i="0" u="none" strike="noStrike" dirty="0" err="1">
                          <a:solidFill>
                            <a:schemeClr val="tx1"/>
                          </a:solidFill>
                          <a:effectLst/>
                          <a:latin typeface="Calibri" panose="020F0502020204030204" pitchFamily="34" charset="0"/>
                        </a:rPr>
                        <a:t>Speedlink</a:t>
                      </a:r>
                      <a:r>
                        <a:rPr lang="en-GB" sz="1100" b="0" i="0" u="none" strike="noStrike" dirty="0">
                          <a:solidFill>
                            <a:schemeClr val="tx1"/>
                          </a:solidFill>
                          <a:effectLst/>
                          <a:latin typeface="Calibri" panose="020F0502020204030204" pitchFamily="34" charset="0"/>
                        </a:rPr>
                        <a:t> (NI)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GBAUCMLBFSLXS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3831324847"/>
                  </a:ext>
                </a:extLst>
              </a:tr>
              <a:tr h="197939">
                <a:tc>
                  <a:txBody>
                    <a:bodyPr/>
                    <a:lstStyle/>
                    <a:p>
                      <a:pPr algn="l" fontAlgn="b"/>
                      <a:r>
                        <a:rPr lang="en-GB" sz="1100" b="0" i="0" u="none" strike="noStrike">
                          <a:solidFill>
                            <a:schemeClr val="tx1"/>
                          </a:solidFill>
                          <a:effectLst/>
                          <a:latin typeface="Calibri" panose="020F0502020204030204" pitchFamily="34" charset="0"/>
                        </a:rPr>
                        <a:t>A1 Global Logistics</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GBAUDYLBFSAGE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874197345"/>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Airport - DHL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GBAUBELBFSAEX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567414216"/>
                  </a:ext>
                </a:extLst>
              </a:tr>
              <a:tr h="197939">
                <a:tc>
                  <a:txBody>
                    <a:bodyPr/>
                    <a:lstStyle/>
                    <a:p>
                      <a:pPr algn="l" fontAlgn="b"/>
                      <a:r>
                        <a:rPr lang="en-GB" sz="1100" b="0" i="0" u="none" strike="noStrike">
                          <a:solidFill>
                            <a:schemeClr val="tx1"/>
                          </a:solidFill>
                          <a:effectLst/>
                          <a:latin typeface="Calibri" panose="020F0502020204030204" pitchFamily="34" charset="0"/>
                        </a:rPr>
                        <a:t>Antrim - IFS Global</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GBAUANTBFSIFX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247400851"/>
                  </a:ext>
                </a:extLst>
              </a:tr>
              <a:tr h="197939">
                <a:tc>
                  <a:txBody>
                    <a:bodyPr/>
                    <a:lstStyle/>
                    <a:p>
                      <a:pPr algn="l" fontAlgn="b"/>
                      <a:r>
                        <a:rPr lang="en-GB" sz="1100" b="0" i="0" u="none" strike="noStrike">
                          <a:solidFill>
                            <a:schemeClr val="tx1"/>
                          </a:solidFill>
                          <a:effectLst/>
                          <a:latin typeface="Calibri" panose="020F0502020204030204" pitchFamily="34" charset="0"/>
                        </a:rPr>
                        <a:t>Belfast - Campbell McCleave </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GBAUBELBFSCMX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090886868"/>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Cargo Air Freight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GBAUBELBFSCRX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077225476"/>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DSV</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GBAUBELBFSCUX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816684728"/>
                  </a:ext>
                </a:extLst>
              </a:tr>
              <a:tr h="197939">
                <a:tc>
                  <a:txBody>
                    <a:bodyPr/>
                    <a:lstStyle/>
                    <a:p>
                      <a:pPr algn="l" fontAlgn="b"/>
                      <a:r>
                        <a:rPr lang="en-GB" sz="1100" b="0" i="0" u="none" strike="noStrike">
                          <a:solidFill>
                            <a:schemeClr val="tx1"/>
                          </a:solidFill>
                          <a:effectLst/>
                          <a:latin typeface="Calibri" panose="020F0502020204030204" pitchFamily="34" charset="0"/>
                        </a:rPr>
                        <a:t>Belfast - Campbell McCleave </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GBAUBELBFSHLX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957924439"/>
                  </a:ext>
                </a:extLst>
              </a:tr>
              <a:tr h="197939">
                <a:tc>
                  <a:txBody>
                    <a:bodyPr/>
                    <a:lstStyle/>
                    <a:p>
                      <a:pPr algn="l" fontAlgn="b"/>
                      <a:r>
                        <a:rPr lang="en-GB" sz="1100" b="0" i="0" u="none" strike="noStrike">
                          <a:solidFill>
                            <a:schemeClr val="tx1"/>
                          </a:solidFill>
                          <a:effectLst/>
                          <a:latin typeface="Calibri" panose="020F0502020204030204" pitchFamily="34" charset="0"/>
                        </a:rPr>
                        <a:t>Belfast - Campbell McCleave </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GBAUBELBELCAM1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146938277"/>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PING</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GBAUBELBELHYX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81447449"/>
                  </a:ext>
                </a:extLst>
              </a:tr>
              <a:tr h="197939">
                <a:tc>
                  <a:txBody>
                    <a:bodyPr/>
                    <a:lstStyle/>
                    <a:p>
                      <a:pPr algn="l" fontAlgn="b"/>
                      <a:r>
                        <a:rPr lang="en-GB" sz="1100" b="0" i="0" u="none" strike="noStrike">
                          <a:solidFill>
                            <a:schemeClr val="tx1"/>
                          </a:solidFill>
                          <a:effectLst/>
                          <a:latin typeface="Calibri" panose="020F0502020204030204" pitchFamily="34" charset="0"/>
                        </a:rPr>
                        <a:t>Belfast - All Route Shipping</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GBAUBELBELVKT2</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3709200743"/>
                  </a:ext>
                </a:extLst>
              </a:tr>
              <a:tr h="197939">
                <a:tc>
                  <a:txBody>
                    <a:bodyPr/>
                    <a:lstStyle/>
                    <a:p>
                      <a:pPr algn="l" fontAlgn="b"/>
                      <a:r>
                        <a:rPr lang="en-GB" sz="1100" b="0" i="0" u="none" strike="noStrike">
                          <a:solidFill>
                            <a:schemeClr val="tx1"/>
                          </a:solidFill>
                          <a:effectLst/>
                          <a:latin typeface="Calibri" panose="020F0502020204030204" pitchFamily="34" charset="0"/>
                        </a:rPr>
                        <a:t>Belfast - UPS</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GBAUBELBELUPS1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472873640"/>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Hamilton Shipping</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GBAUBELBELVRB1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043631866"/>
                  </a:ext>
                </a:extLst>
              </a:tr>
              <a:tr h="197939">
                <a:tc>
                  <a:txBody>
                    <a:bodyPr/>
                    <a:lstStyle/>
                    <a:p>
                      <a:pPr algn="l" fontAlgn="b"/>
                      <a:r>
                        <a:rPr lang="en-GB" sz="1100" b="0" i="0" u="none" strike="noStrike">
                          <a:solidFill>
                            <a:schemeClr val="tx1"/>
                          </a:solidFill>
                          <a:effectLst/>
                          <a:latin typeface="Calibri" panose="020F0502020204030204" pitchFamily="34" charset="0"/>
                        </a:rPr>
                        <a:t>Belfast - Cargo Forwarding</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GBAUBELBELCAF1</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696838546"/>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CMA</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GBAUBELBELVLK1</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624924938"/>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Int Airport -  </a:t>
                      </a:r>
                      <a:r>
                        <a:rPr lang="en-GB" sz="1100" b="0" i="0" u="none" strike="noStrike" dirty="0" err="1">
                          <a:solidFill>
                            <a:schemeClr val="tx1"/>
                          </a:solidFill>
                          <a:effectLst/>
                          <a:latin typeface="Calibri" panose="020F0502020204030204" pitchFamily="34" charset="0"/>
                        </a:rPr>
                        <a:t>Fedex</a:t>
                      </a:r>
                      <a:r>
                        <a:rPr lang="en-GB" sz="1100" b="0" i="0" u="none" strike="noStrike" dirty="0">
                          <a:solidFill>
                            <a:schemeClr val="tx1"/>
                          </a:solidFill>
                          <a:effectLst/>
                          <a:latin typeface="Calibri" panose="020F0502020204030204" pitchFamily="34" charset="0"/>
                        </a:rPr>
                        <a:t> Express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GBAUCMLBFSFXB1</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433261565"/>
                  </a:ext>
                </a:extLst>
              </a:tr>
              <a:tr h="197939">
                <a:tc>
                  <a:txBody>
                    <a:bodyPr/>
                    <a:lstStyle/>
                    <a:p>
                      <a:pPr algn="l" fontAlgn="b"/>
                      <a:r>
                        <a:rPr lang="en-GB" sz="1100" b="0" i="0" u="none" strike="noStrike" dirty="0">
                          <a:solidFill>
                            <a:schemeClr val="tx1"/>
                          </a:solidFill>
                          <a:effectLst/>
                          <a:latin typeface="Calibri" panose="020F0502020204030204" pitchFamily="34" charset="0"/>
                        </a:rPr>
                        <a:t>Carrickfergus - IFS Global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GBAUCFGBFSIQX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845858025"/>
                  </a:ext>
                </a:extLst>
              </a:tr>
              <a:tr h="197939">
                <a:tc>
                  <a:txBody>
                    <a:bodyPr/>
                    <a:lstStyle/>
                    <a:p>
                      <a:pPr algn="l" fontAlgn="b"/>
                      <a:r>
                        <a:rPr lang="en-GB" sz="1100" b="0" i="0" u="none" strike="noStrike" dirty="0" err="1">
                          <a:solidFill>
                            <a:schemeClr val="tx1"/>
                          </a:solidFill>
                          <a:effectLst/>
                          <a:latin typeface="Calibri" panose="020F0502020204030204" pitchFamily="34" charset="0"/>
                        </a:rPr>
                        <a:t>Mallusk</a:t>
                      </a:r>
                      <a:r>
                        <a:rPr lang="en-GB" sz="1100" b="0" i="0" u="none" strike="noStrike" dirty="0">
                          <a:solidFill>
                            <a:schemeClr val="tx1"/>
                          </a:solidFill>
                          <a:effectLst/>
                          <a:latin typeface="Calibri" panose="020F0502020204030204" pitchFamily="34" charset="0"/>
                        </a:rPr>
                        <a:t>/Newtownabbey - Expeditors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GBAUMLKBFSEXX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280296451"/>
                  </a:ext>
                </a:extLst>
              </a:tr>
              <a:tr h="197939">
                <a:tc>
                  <a:txBody>
                    <a:bodyPr/>
                    <a:lstStyle/>
                    <a:p>
                      <a:pPr algn="l" fontAlgn="b"/>
                      <a:r>
                        <a:rPr lang="en-GB" sz="1100" b="0" i="0" u="none" strike="noStrike" dirty="0" err="1">
                          <a:solidFill>
                            <a:schemeClr val="tx1"/>
                          </a:solidFill>
                          <a:effectLst/>
                          <a:latin typeface="Calibri" panose="020F0502020204030204" pitchFamily="34" charset="0"/>
                        </a:rPr>
                        <a:t>Mallusk</a:t>
                      </a:r>
                      <a:r>
                        <a:rPr lang="en-GB" sz="1100" b="0" i="0" u="none" strike="noStrike" dirty="0">
                          <a:solidFill>
                            <a:schemeClr val="tx1"/>
                          </a:solidFill>
                          <a:effectLst/>
                          <a:latin typeface="Calibri" panose="020F0502020204030204" pitchFamily="34" charset="0"/>
                        </a:rPr>
                        <a:t>/Newtownabbey - UPS Limited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GBAUMLKBFSUPS7</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3426698177"/>
                  </a:ext>
                </a:extLst>
              </a:tr>
              <a:tr h="197939">
                <a:tc>
                  <a:txBody>
                    <a:bodyPr/>
                    <a:lstStyle/>
                    <a:p>
                      <a:pPr algn="l" fontAlgn="b"/>
                      <a:r>
                        <a:rPr lang="en-GB" sz="1100" b="0" i="0" u="none" strike="noStrike" dirty="0">
                          <a:solidFill>
                            <a:schemeClr val="tx1"/>
                          </a:solidFill>
                          <a:effectLst/>
                          <a:latin typeface="Calibri" panose="020F0502020204030204" pitchFamily="34" charset="0"/>
                        </a:rPr>
                        <a:t>Belfast - DHL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GBAUBELBELDHX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3493691136"/>
                  </a:ext>
                </a:extLst>
              </a:tr>
            </a:tbl>
          </a:graphicData>
        </a:graphic>
      </p:graphicFrame>
    </p:spTree>
    <p:extLst>
      <p:ext uri="{BB962C8B-B14F-4D97-AF65-F5344CB8AC3E}">
        <p14:creationId xmlns:p14="http://schemas.microsoft.com/office/powerpoint/2010/main" val="205448154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DA670A-3FBA-F259-7AB5-B95CA6712642}"/>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418B63A-47E5-F1C7-7AD1-2D146FD6FFB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6770853-11BC-69E0-B93D-9F24E56662A9}"/>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EE269E2-CC9B-B74A-C447-D9A398805C41}"/>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D7150A6A-285B-CBE2-949D-364978416FC3}"/>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72D3AA52-E59F-B491-EE7F-B149C3AAB636}"/>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11" name="Rectangle 2">
            <a:extLst>
              <a:ext uri="{FF2B5EF4-FFF2-40B4-BE49-F238E27FC236}">
                <a16:creationId xmlns:a16="http://schemas.microsoft.com/office/drawing/2014/main" id="{94D094B0-A748-32FB-987E-5C9E1CB0580F}"/>
              </a:ext>
            </a:extLst>
          </p:cNvPr>
          <p:cNvSpPr/>
          <p:nvPr/>
        </p:nvSpPr>
        <p:spPr>
          <a:xfrm>
            <a:off x="396721" y="2804041"/>
            <a:ext cx="65" cy="427021"/>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Arial" pitchFamily="34"/>
              <a:ea typeface="+mn-ea"/>
              <a:cs typeface="+mn-cs"/>
            </a:endParaRPr>
          </a:p>
        </p:txBody>
      </p:sp>
      <p:sp>
        <p:nvSpPr>
          <p:cNvPr id="8" name="TextBox 7">
            <a:extLst>
              <a:ext uri="{FF2B5EF4-FFF2-40B4-BE49-F238E27FC236}">
                <a16:creationId xmlns:a16="http://schemas.microsoft.com/office/drawing/2014/main" id="{C16988AD-0ABF-E0C9-1CBE-25213DCD576E}"/>
              </a:ext>
            </a:extLst>
          </p:cNvPr>
          <p:cNvSpPr txBox="1"/>
          <p:nvPr/>
        </p:nvSpPr>
        <p:spPr>
          <a:xfrm>
            <a:off x="322838" y="792342"/>
            <a:ext cx="11377784"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172B4D"/>
                </a:solidFill>
                <a:effectLst/>
                <a:uLnTx/>
                <a:uFillTx/>
                <a:latin typeface="Calibri" panose="020F0502020204030204"/>
                <a:ea typeface="+mn-ea"/>
                <a:cs typeface="+mn-cs"/>
              </a:rPr>
              <a:t>NI Locations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sng" strike="noStrike" kern="1200" cap="none" spc="0" normalizeH="0" baseline="0" noProof="0" dirty="0">
              <a:ln>
                <a:noFill/>
              </a:ln>
              <a:solidFill>
                <a:srgbClr val="172B4D"/>
              </a:solidFill>
              <a:effectLst/>
              <a:uLnTx/>
              <a:uFillTx/>
              <a:latin typeface="Calibri" panose="020F0502020204030204"/>
              <a:ea typeface="+mn-ea"/>
              <a:cs typeface="+mn-cs"/>
            </a:endParaRPr>
          </a:p>
        </p:txBody>
      </p:sp>
      <p:graphicFrame>
        <p:nvGraphicFramePr>
          <p:cNvPr id="10" name="Table 9">
            <a:extLst>
              <a:ext uri="{FF2B5EF4-FFF2-40B4-BE49-F238E27FC236}">
                <a16:creationId xmlns:a16="http://schemas.microsoft.com/office/drawing/2014/main" id="{8F43C4EE-A75F-61F6-27AA-461052CB0FFF}"/>
              </a:ext>
            </a:extLst>
          </p:cNvPr>
          <p:cNvGraphicFramePr>
            <a:graphicFrameLocks noGrp="1"/>
          </p:cNvGraphicFramePr>
          <p:nvPr/>
        </p:nvGraphicFramePr>
        <p:xfrm>
          <a:off x="325692" y="1201165"/>
          <a:ext cx="5593220" cy="4620648"/>
        </p:xfrm>
        <a:graphic>
          <a:graphicData uri="http://schemas.openxmlformats.org/drawingml/2006/table">
            <a:tbl>
              <a:tblPr>
                <a:tableStyleId>{5C22544A-7EE6-4342-B048-85BDC9FD1C3A}</a:tableStyleId>
              </a:tblPr>
              <a:tblGrid>
                <a:gridCol w="3034445">
                  <a:extLst>
                    <a:ext uri="{9D8B030D-6E8A-4147-A177-3AD203B41FA5}">
                      <a16:colId xmlns:a16="http://schemas.microsoft.com/office/drawing/2014/main" val="3713261337"/>
                    </a:ext>
                  </a:extLst>
                </a:gridCol>
                <a:gridCol w="1574631">
                  <a:extLst>
                    <a:ext uri="{9D8B030D-6E8A-4147-A177-3AD203B41FA5}">
                      <a16:colId xmlns:a16="http://schemas.microsoft.com/office/drawing/2014/main" val="2401386670"/>
                    </a:ext>
                  </a:extLst>
                </a:gridCol>
                <a:gridCol w="984144">
                  <a:extLst>
                    <a:ext uri="{9D8B030D-6E8A-4147-A177-3AD203B41FA5}">
                      <a16:colId xmlns:a16="http://schemas.microsoft.com/office/drawing/2014/main" val="3383499255"/>
                    </a:ext>
                  </a:extLst>
                </a:gridCol>
              </a:tblGrid>
              <a:tr h="288055">
                <a:tc>
                  <a:txBody>
                    <a:bodyPr/>
                    <a:lstStyle/>
                    <a:p>
                      <a:pPr algn="l" fontAlgn="b"/>
                      <a:r>
                        <a:rPr lang="en-GB" sz="1100" b="0" i="0" u="none" strike="noStrike" dirty="0">
                          <a:solidFill>
                            <a:schemeClr val="bg1"/>
                          </a:solidFill>
                          <a:effectLst/>
                          <a:latin typeface="Calibri" panose="020F0502020204030204" pitchFamily="34" charset="0"/>
                        </a:rPr>
                        <a:t>Location</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Location Code</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Appendix*</a:t>
                      </a:r>
                    </a:p>
                  </a:txBody>
                  <a:tcPr marL="6350" marR="6350" marT="6350" marB="0" anchor="b">
                    <a:solidFill>
                      <a:srgbClr val="009999"/>
                    </a:solidFill>
                  </a:tcPr>
                </a:tc>
                <a:extLst>
                  <a:ext uri="{0D108BD9-81ED-4DB2-BD59-A6C34878D82A}">
                    <a16:rowId xmlns:a16="http://schemas.microsoft.com/office/drawing/2014/main" val="2558104534"/>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 EOS Warehousing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GBAULISBFSEOX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217240836"/>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 Royal Mail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GBAUBFSBFSPBE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567414216"/>
                  </a:ext>
                </a:extLst>
              </a:tr>
              <a:tr h="224622">
                <a:tc>
                  <a:txBody>
                    <a:bodyPr/>
                    <a:lstStyle/>
                    <a:p>
                      <a:pPr algn="l" fontAlgn="b"/>
                      <a:r>
                        <a:rPr lang="en-GB" sz="1100" b="0" i="0" u="none" strike="noStrike" dirty="0">
                          <a:solidFill>
                            <a:schemeClr val="tx1"/>
                          </a:solidFill>
                          <a:effectLst/>
                          <a:latin typeface="Calibri" panose="020F0502020204030204" pitchFamily="34" charset="0"/>
                        </a:rPr>
                        <a:t>Belfast - Schenker</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GBAUBELBFSRXX</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247400851"/>
                  </a:ext>
                </a:extLst>
              </a:tr>
              <a:tr h="216209">
                <a:tc>
                  <a:txBody>
                    <a:bodyPr/>
                    <a:lstStyle/>
                    <a:p>
                      <a:pPr algn="l" fontAlgn="b"/>
                      <a:r>
                        <a:rPr lang="en-GB" sz="1100" b="0" i="0" u="none" strike="noStrike" dirty="0">
                          <a:solidFill>
                            <a:schemeClr val="tx1"/>
                          </a:solidFill>
                          <a:effectLst/>
                          <a:latin typeface="Calibri" panose="020F0502020204030204" pitchFamily="34" charset="0"/>
                        </a:rPr>
                        <a:t>Schenker Limited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GBAUNTABFSRXX </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090886868"/>
                  </a:ext>
                </a:extLst>
              </a:tr>
              <a:tr h="216209">
                <a:tc>
                  <a:txBody>
                    <a:bodyPr/>
                    <a:lstStyle/>
                    <a:p>
                      <a:pPr algn="l" fontAlgn="b"/>
                      <a:r>
                        <a:rPr lang="en-GB" sz="1100" b="0" i="0" u="none" strike="noStrike">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GBAUCCVBELDPB</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077225476"/>
                  </a:ext>
                </a:extLst>
              </a:tr>
              <a:tr h="216209">
                <a:tc>
                  <a:txBody>
                    <a:bodyPr/>
                    <a:lstStyle/>
                    <a:p>
                      <a:pPr algn="l" fontAlgn="b"/>
                      <a:r>
                        <a:rPr lang="en-GB" sz="1100" b="0" i="0" u="none" strike="noStrike">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GBAUANTBELDPK</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816684728"/>
                  </a:ext>
                </a:extLst>
              </a:tr>
              <a:tr h="216209">
                <a:tc>
                  <a:txBody>
                    <a:bodyPr/>
                    <a:lstStyle/>
                    <a:p>
                      <a:pPr algn="l" fontAlgn="b"/>
                      <a:r>
                        <a:rPr lang="en-GB" sz="1100" b="0" i="0" u="none" strike="noStrike">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GBAUMLKBELDPM</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957924439"/>
                  </a:ext>
                </a:extLst>
              </a:tr>
              <a:tr h="216209">
                <a:tc>
                  <a:txBody>
                    <a:bodyPr/>
                    <a:lstStyle/>
                    <a:p>
                      <a:pPr algn="l" fontAlgn="b"/>
                      <a:r>
                        <a:rPr lang="en-GB" sz="1100" b="0" i="0" u="none" strike="noStrike">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GBAUXLUBELDPL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146938277"/>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GBAUCRGBELDPC</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81447449"/>
                  </a:ext>
                </a:extLst>
              </a:tr>
              <a:tr h="216209">
                <a:tc>
                  <a:txBody>
                    <a:bodyPr/>
                    <a:lstStyle/>
                    <a:p>
                      <a:pPr algn="l" fontAlgn="b"/>
                      <a:r>
                        <a:rPr lang="en-GB" sz="1100" b="0" i="0" u="none" strike="noStrike">
                          <a:solidFill>
                            <a:schemeClr val="tx1"/>
                          </a:solidFill>
                          <a:effectLst/>
                          <a:latin typeface="Calibri" panose="020F0502020204030204" pitchFamily="34" charset="0"/>
                        </a:rPr>
                        <a:t>Belfast - Interlink Ireland/DPD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GBAUTOOBELDPT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3709200743"/>
                  </a:ext>
                </a:extLst>
              </a:tr>
              <a:tr h="216209">
                <a:tc>
                  <a:txBody>
                    <a:bodyPr/>
                    <a:lstStyle/>
                    <a:p>
                      <a:pPr algn="l" fontAlgn="b"/>
                      <a:r>
                        <a:rPr lang="en-GB" sz="1100" b="0" i="0" u="none" strike="noStrike">
                          <a:solidFill>
                            <a:schemeClr val="tx1"/>
                          </a:solidFill>
                          <a:effectLst/>
                          <a:latin typeface="Calibri" panose="020F0502020204030204" pitchFamily="34" charset="0"/>
                        </a:rPr>
                        <a:t>Belfast - Hannon Transport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GBAUURLBELHAN</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472873640"/>
                  </a:ext>
                </a:extLst>
              </a:tr>
              <a:tr h="216209">
                <a:tc>
                  <a:txBody>
                    <a:bodyPr/>
                    <a:lstStyle/>
                    <a:p>
                      <a:pPr algn="l" fontAlgn="b"/>
                      <a:r>
                        <a:rPr lang="en-GB" sz="1100" b="0" i="0" u="none" strike="noStrike">
                          <a:solidFill>
                            <a:schemeClr val="tx1"/>
                          </a:solidFill>
                          <a:effectLst/>
                          <a:latin typeface="Calibri" panose="020F0502020204030204" pitchFamily="34" charset="0"/>
                        </a:rPr>
                        <a:t>Belfast - EOS Warehousing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GBAUBBGBELEOS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043631866"/>
                  </a:ext>
                </a:extLst>
              </a:tr>
              <a:tr h="216209">
                <a:tc>
                  <a:txBody>
                    <a:bodyPr/>
                    <a:lstStyle/>
                    <a:p>
                      <a:pPr algn="l" fontAlgn="b"/>
                      <a:r>
                        <a:rPr lang="en-GB" sz="1100" b="0" i="0" u="none" strike="noStrike" dirty="0">
                          <a:solidFill>
                            <a:schemeClr val="tx1"/>
                          </a:solidFill>
                          <a:effectLst/>
                          <a:latin typeface="Calibri" panose="020F0502020204030204" pitchFamily="34" charset="0"/>
                        </a:rPr>
                        <a:t>Carrickfergus - </a:t>
                      </a:r>
                      <a:r>
                        <a:rPr lang="en-GB" sz="1100" b="0" i="0" u="none" strike="noStrike" dirty="0" err="1">
                          <a:solidFill>
                            <a:schemeClr val="tx1"/>
                          </a:solidFill>
                          <a:effectLst/>
                          <a:latin typeface="Calibri" panose="020F0502020204030204" pitchFamily="34" charset="0"/>
                        </a:rPr>
                        <a:t>Fedex</a:t>
                      </a:r>
                      <a:endParaRPr lang="en-GB" sz="1100" b="0" i="0" u="none" strike="noStrike" dirty="0">
                        <a:solidFill>
                          <a:schemeClr val="tx1"/>
                        </a:solidFill>
                        <a:effectLst/>
                        <a:latin typeface="Calibri" panose="020F0502020204030204" pitchFamily="34" charset="0"/>
                      </a:endParaRP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GBAUCFGBFSFDC2</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696838546"/>
                  </a:ext>
                </a:extLst>
              </a:tr>
              <a:tr h="216209">
                <a:tc>
                  <a:txBody>
                    <a:bodyPr/>
                    <a:lstStyle/>
                    <a:p>
                      <a:pPr algn="l" fontAlgn="b"/>
                      <a:r>
                        <a:rPr lang="en-GB" sz="1100" b="0" i="0" u="none" strike="noStrike">
                          <a:solidFill>
                            <a:schemeClr val="tx1"/>
                          </a:solidFill>
                          <a:effectLst/>
                          <a:latin typeface="Calibri" panose="020F0502020204030204" pitchFamily="34" charset="0"/>
                        </a:rPr>
                        <a:t>Coleraine - WD Meats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GBAUCLRBFSDDE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624924938"/>
                  </a:ext>
                </a:extLst>
              </a:tr>
              <a:tr h="216209">
                <a:tc>
                  <a:txBody>
                    <a:bodyPr/>
                    <a:lstStyle/>
                    <a:p>
                      <a:pPr algn="l" fontAlgn="b"/>
                      <a:r>
                        <a:rPr lang="en-GB" sz="1100" b="0" i="0" u="none" strike="noStrike">
                          <a:solidFill>
                            <a:schemeClr val="tx1"/>
                          </a:solidFill>
                          <a:effectLst/>
                          <a:latin typeface="Calibri" panose="020F0502020204030204" pitchFamily="34" charset="0"/>
                        </a:rPr>
                        <a:t>Londonderry - DHL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GBAUCOOBFSDXX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433261565"/>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516 - DHL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GBAUBELBFSXXX</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16K</a:t>
                      </a:r>
                    </a:p>
                  </a:txBody>
                  <a:tcPr marL="6350" marR="6350" marT="6350" marB="0" anchor="b">
                    <a:solidFill>
                      <a:srgbClr val="E7EEEE"/>
                    </a:solidFill>
                  </a:tcPr>
                </a:tc>
                <a:extLst>
                  <a:ext uri="{0D108BD9-81ED-4DB2-BD59-A6C34878D82A}">
                    <a16:rowId xmlns:a16="http://schemas.microsoft.com/office/drawing/2014/main" val="2845858025"/>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516 - EORI (NI)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GBAUARMBELTSA</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16k</a:t>
                      </a:r>
                    </a:p>
                  </a:txBody>
                  <a:tcPr marL="6350" marR="6350" marT="6350" marB="0" anchor="b">
                    <a:solidFill>
                      <a:srgbClr val="E7EEEE"/>
                    </a:solidFill>
                  </a:tcPr>
                </a:tc>
                <a:extLst>
                  <a:ext uri="{0D108BD9-81ED-4DB2-BD59-A6C34878D82A}">
                    <a16:rowId xmlns:a16="http://schemas.microsoft.com/office/drawing/2014/main" val="1280296451"/>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516 - EORI (NI)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GBAUENKBELTSB</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16K</a:t>
                      </a:r>
                    </a:p>
                  </a:txBody>
                  <a:tcPr marL="6350" marR="6350" marT="6350" marB="0" anchor="b">
                    <a:solidFill>
                      <a:srgbClr val="E7EEEE"/>
                    </a:solidFill>
                  </a:tcPr>
                </a:tc>
                <a:extLst>
                  <a:ext uri="{0D108BD9-81ED-4DB2-BD59-A6C34878D82A}">
                    <a16:rowId xmlns:a16="http://schemas.microsoft.com/office/drawing/2014/main" val="3426698177"/>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516 - EORI (NI)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GBAUNRYBELTSC</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16k</a:t>
                      </a:r>
                    </a:p>
                  </a:txBody>
                  <a:tcPr marL="6350" marR="6350" marT="6350" marB="0" anchor="b">
                    <a:solidFill>
                      <a:srgbClr val="E7EEEE"/>
                    </a:solidFill>
                  </a:tcPr>
                </a:tc>
                <a:extLst>
                  <a:ext uri="{0D108BD9-81ED-4DB2-BD59-A6C34878D82A}">
                    <a16:rowId xmlns:a16="http://schemas.microsoft.com/office/drawing/2014/main" val="3493691136"/>
                  </a:ext>
                </a:extLst>
              </a:tr>
              <a:tr h="216209">
                <a:tc>
                  <a:txBody>
                    <a:bodyPr/>
                    <a:lstStyle/>
                    <a:p>
                      <a:pPr algn="l" fontAlgn="b"/>
                      <a:r>
                        <a:rPr lang="en-GB" sz="1100" b="0" i="0" u="none" strike="noStrike" dirty="0">
                          <a:solidFill>
                            <a:schemeClr val="tx1"/>
                          </a:solidFill>
                          <a:effectLst/>
                          <a:latin typeface="Calibri" panose="020F0502020204030204" pitchFamily="34" charset="0"/>
                        </a:rPr>
                        <a:t>Belfast 516 - DHL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GBAUCOOBFSXXD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16K</a:t>
                      </a:r>
                    </a:p>
                  </a:txBody>
                  <a:tcPr marL="6350" marR="6350" marT="6350" marB="0" anchor="b">
                    <a:solidFill>
                      <a:srgbClr val="E7EEEE"/>
                    </a:solidFill>
                  </a:tcPr>
                </a:tc>
                <a:extLst>
                  <a:ext uri="{0D108BD9-81ED-4DB2-BD59-A6C34878D82A}">
                    <a16:rowId xmlns:a16="http://schemas.microsoft.com/office/drawing/2014/main" val="2453729738"/>
                  </a:ext>
                </a:extLst>
              </a:tr>
            </a:tbl>
          </a:graphicData>
        </a:graphic>
      </p:graphicFrame>
      <p:sp>
        <p:nvSpPr>
          <p:cNvPr id="13" name="TextBox 12">
            <a:extLst>
              <a:ext uri="{FF2B5EF4-FFF2-40B4-BE49-F238E27FC236}">
                <a16:creationId xmlns:a16="http://schemas.microsoft.com/office/drawing/2014/main" id="{75219FE6-B23A-8390-0CBC-69E9778434E9}"/>
              </a:ext>
            </a:extLst>
          </p:cNvPr>
          <p:cNvSpPr txBox="1"/>
          <p:nvPr/>
        </p:nvSpPr>
        <p:spPr>
          <a:xfrm>
            <a:off x="275575" y="6056862"/>
            <a:ext cx="11472309"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sng" strike="noStrike" kern="1200" cap="none" spc="0" normalizeH="0" baseline="0" noProof="0" dirty="0">
                <a:ln>
                  <a:noFill/>
                </a:ln>
                <a:solidFill>
                  <a:prstClr val="black"/>
                </a:solidFill>
                <a:effectLst/>
                <a:uLnTx/>
                <a:uFillTx/>
                <a:latin typeface="Calibri" panose="020F0502020204030204" pitchFamily="34" charset="0"/>
                <a:ea typeface="+mn-ea"/>
                <a:cs typeface="+mn-cs"/>
                <a:hlinkClick r:id="rId2">
                  <a:extLst>
                    <a:ext uri="{A12FA001-AC4F-418D-AE19-62706E023703}">
                      <ahyp:hlinkClr xmlns:ahyp="http://schemas.microsoft.com/office/drawing/2018/hyperlinkcolor" val="tx"/>
                    </a:ext>
                  </a:extLst>
                </a:hlinkClick>
              </a:rPr>
              <a:t>*Appendices 16A through to 16S can be found under Goods location codes for Data Element 5/23 of the Customs Declaration Service (Appendix 16).</a:t>
            </a:r>
            <a:r>
              <a:rPr kumimoji="0" lang="en-GB" sz="1100" b="1"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14" name="Footer Placeholder 13">
            <a:extLst>
              <a:ext uri="{FF2B5EF4-FFF2-40B4-BE49-F238E27FC236}">
                <a16:creationId xmlns:a16="http://schemas.microsoft.com/office/drawing/2014/main" id="{EACEBB0E-A8DA-88FB-4754-DDF4C7E3035E}"/>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17" name="Slide Number Placeholder 16">
            <a:extLst>
              <a:ext uri="{FF2B5EF4-FFF2-40B4-BE49-F238E27FC236}">
                <a16:creationId xmlns:a16="http://schemas.microsoft.com/office/drawing/2014/main" id="{22332176-C6CF-69B2-57A7-9470971C9DE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graphicFrame>
        <p:nvGraphicFramePr>
          <p:cNvPr id="16" name="Table 15">
            <a:extLst>
              <a:ext uri="{FF2B5EF4-FFF2-40B4-BE49-F238E27FC236}">
                <a16:creationId xmlns:a16="http://schemas.microsoft.com/office/drawing/2014/main" id="{D35B4522-3504-C749-1851-FBEF7EF50A78}"/>
              </a:ext>
            </a:extLst>
          </p:cNvPr>
          <p:cNvGraphicFramePr>
            <a:graphicFrameLocks noGrp="1"/>
          </p:cNvGraphicFramePr>
          <p:nvPr/>
        </p:nvGraphicFramePr>
        <p:xfrm>
          <a:off x="6273088" y="1201166"/>
          <a:ext cx="5593220" cy="4620642"/>
        </p:xfrm>
        <a:graphic>
          <a:graphicData uri="http://schemas.openxmlformats.org/drawingml/2006/table">
            <a:tbl>
              <a:tblPr>
                <a:tableStyleId>{5C22544A-7EE6-4342-B048-85BDC9FD1C3A}</a:tableStyleId>
              </a:tblPr>
              <a:tblGrid>
                <a:gridCol w="3034445">
                  <a:extLst>
                    <a:ext uri="{9D8B030D-6E8A-4147-A177-3AD203B41FA5}">
                      <a16:colId xmlns:a16="http://schemas.microsoft.com/office/drawing/2014/main" val="3713261337"/>
                    </a:ext>
                  </a:extLst>
                </a:gridCol>
                <a:gridCol w="1574631">
                  <a:extLst>
                    <a:ext uri="{9D8B030D-6E8A-4147-A177-3AD203B41FA5}">
                      <a16:colId xmlns:a16="http://schemas.microsoft.com/office/drawing/2014/main" val="2401386670"/>
                    </a:ext>
                  </a:extLst>
                </a:gridCol>
                <a:gridCol w="984144">
                  <a:extLst>
                    <a:ext uri="{9D8B030D-6E8A-4147-A177-3AD203B41FA5}">
                      <a16:colId xmlns:a16="http://schemas.microsoft.com/office/drawing/2014/main" val="3383499255"/>
                    </a:ext>
                  </a:extLst>
                </a:gridCol>
              </a:tblGrid>
              <a:tr h="301740">
                <a:tc>
                  <a:txBody>
                    <a:bodyPr/>
                    <a:lstStyle/>
                    <a:p>
                      <a:pPr algn="l" fontAlgn="b"/>
                      <a:r>
                        <a:rPr lang="en-GB" sz="1100" b="0" i="0" u="none" strike="noStrike" dirty="0">
                          <a:solidFill>
                            <a:schemeClr val="bg1"/>
                          </a:solidFill>
                          <a:effectLst/>
                          <a:latin typeface="Calibri" panose="020F0502020204030204" pitchFamily="34" charset="0"/>
                        </a:rPr>
                        <a:t>Location</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Location Code</a:t>
                      </a:r>
                    </a:p>
                  </a:txBody>
                  <a:tcPr marL="6350" marR="6350" marT="6350" marB="0" anchor="b">
                    <a:solidFill>
                      <a:srgbClr val="009999"/>
                    </a:solidFill>
                  </a:tcPr>
                </a:tc>
                <a:tc>
                  <a:txBody>
                    <a:bodyPr/>
                    <a:lstStyle/>
                    <a:p>
                      <a:pPr algn="l" fontAlgn="b"/>
                      <a:r>
                        <a:rPr lang="en-GB" sz="1100" b="0" i="0" u="none" strike="noStrike" dirty="0">
                          <a:solidFill>
                            <a:schemeClr val="bg1"/>
                          </a:solidFill>
                          <a:effectLst/>
                          <a:latin typeface="Calibri" panose="020F0502020204030204" pitchFamily="34" charset="0"/>
                        </a:rPr>
                        <a:t>Appendix*</a:t>
                      </a:r>
                    </a:p>
                  </a:txBody>
                  <a:tcPr marL="6350" marR="6350" marT="6350" marB="0" anchor="b">
                    <a:solidFill>
                      <a:srgbClr val="009999"/>
                    </a:solidFill>
                  </a:tcPr>
                </a:tc>
                <a:extLst>
                  <a:ext uri="{0D108BD9-81ED-4DB2-BD59-A6C34878D82A}">
                    <a16:rowId xmlns:a16="http://schemas.microsoft.com/office/drawing/2014/main" val="2558104534"/>
                  </a:ext>
                </a:extLst>
              </a:tr>
              <a:tr h="185186">
                <a:tc>
                  <a:txBody>
                    <a:bodyPr/>
                    <a:lstStyle/>
                    <a:p>
                      <a:pPr algn="l" fontAlgn="b"/>
                      <a:r>
                        <a:rPr lang="en-GB" sz="1100" b="0" i="0" u="none" strike="noStrike" dirty="0">
                          <a:solidFill>
                            <a:schemeClr val="tx1"/>
                          </a:solidFill>
                          <a:effectLst/>
                          <a:latin typeface="Calibri" panose="020F0502020204030204" pitchFamily="34" charset="0"/>
                        </a:rPr>
                        <a:t>Belfast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GBBUBELLCACSE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16L</a:t>
                      </a:r>
                    </a:p>
                  </a:txBody>
                  <a:tcPr marL="6350" marR="6350" marT="6350" marB="0" anchor="b">
                    <a:solidFill>
                      <a:srgbClr val="E7EEEE"/>
                    </a:solidFill>
                  </a:tcPr>
                </a:tc>
                <a:extLst>
                  <a:ext uri="{0D108BD9-81ED-4DB2-BD59-A6C34878D82A}">
                    <a16:rowId xmlns:a16="http://schemas.microsoft.com/office/drawing/2014/main" val="4217240836"/>
                  </a:ext>
                </a:extLst>
              </a:tr>
              <a:tr h="185186">
                <a:tc>
                  <a:txBody>
                    <a:bodyPr/>
                    <a:lstStyle/>
                    <a:p>
                      <a:pPr algn="l" fontAlgn="b"/>
                      <a:r>
                        <a:rPr lang="en-GB" sz="1100" b="0" i="0" u="none" strike="noStrike">
                          <a:solidFill>
                            <a:schemeClr val="tx1"/>
                          </a:solidFill>
                          <a:effectLst/>
                          <a:latin typeface="Calibri" panose="020F0502020204030204" pitchFamily="34" charset="0"/>
                        </a:rPr>
                        <a:t>Belfast</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GBAUBELBELGVM</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16s</a:t>
                      </a:r>
                    </a:p>
                  </a:txBody>
                  <a:tcPr marL="6350" marR="6350" marT="6350" marB="0" anchor="b">
                    <a:solidFill>
                      <a:srgbClr val="E7EEEE"/>
                    </a:solidFill>
                  </a:tcPr>
                </a:tc>
                <a:extLst>
                  <a:ext uri="{0D108BD9-81ED-4DB2-BD59-A6C34878D82A}">
                    <a16:rowId xmlns:a16="http://schemas.microsoft.com/office/drawing/2014/main" val="2228018320"/>
                  </a:ext>
                </a:extLst>
              </a:tr>
              <a:tr h="185186">
                <a:tc>
                  <a:txBody>
                    <a:bodyPr/>
                    <a:lstStyle/>
                    <a:p>
                      <a:pPr algn="l" fontAlgn="b"/>
                      <a:r>
                        <a:rPr lang="en-GB" sz="1100" b="0" i="0" u="none" strike="noStrike" dirty="0">
                          <a:solidFill>
                            <a:schemeClr val="tx1"/>
                          </a:solidFill>
                          <a:effectLst/>
                          <a:latin typeface="Calibri" panose="020F0502020204030204" pitchFamily="34" charset="0"/>
                        </a:rPr>
                        <a:t>Larne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GBAULARBELGVM</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16s</a:t>
                      </a:r>
                    </a:p>
                  </a:txBody>
                  <a:tcPr marL="6350" marR="6350" marT="6350" marB="0" anchor="b">
                    <a:solidFill>
                      <a:srgbClr val="E7EEEE"/>
                    </a:solidFill>
                  </a:tcPr>
                </a:tc>
                <a:extLst>
                  <a:ext uri="{0D108BD9-81ED-4DB2-BD59-A6C34878D82A}">
                    <a16:rowId xmlns:a16="http://schemas.microsoft.com/office/drawing/2014/main" val="1874197345"/>
                  </a:ext>
                </a:extLst>
              </a:tr>
              <a:tr h="185186">
                <a:tc>
                  <a:txBody>
                    <a:bodyPr/>
                    <a:lstStyle/>
                    <a:p>
                      <a:pPr algn="l" fontAlgn="b"/>
                      <a:r>
                        <a:rPr lang="en-GB" sz="1100" b="0" i="0" u="none" strike="noStrike" dirty="0">
                          <a:solidFill>
                            <a:schemeClr val="tx1"/>
                          </a:solidFill>
                          <a:effectLst/>
                          <a:latin typeface="Calibri" panose="020F0502020204030204" pitchFamily="34" charset="0"/>
                        </a:rPr>
                        <a:t>Larne - Moyle </a:t>
                      </a:r>
                      <a:r>
                        <a:rPr lang="en-GB" sz="1100" b="0" i="0" u="none" strike="noStrike" dirty="0" err="1">
                          <a:solidFill>
                            <a:schemeClr val="tx1"/>
                          </a:solidFill>
                          <a:effectLst/>
                          <a:latin typeface="Calibri" panose="020F0502020204030204" pitchFamily="34" charset="0"/>
                        </a:rPr>
                        <a:t>Interconnecter</a:t>
                      </a:r>
                      <a:endParaRPr lang="en-GB" sz="1100" b="0" i="0" u="none" strike="noStrike" dirty="0">
                        <a:solidFill>
                          <a:schemeClr val="tx1"/>
                        </a:solidFill>
                        <a:effectLst/>
                        <a:latin typeface="Calibri" panose="020F0502020204030204" pitchFamily="34" charset="0"/>
                      </a:endParaRPr>
                    </a:p>
                  </a:txBody>
                  <a:tcPr marL="6350" marR="6350" marT="6350" marB="0" anchor="b">
                    <a:solidFill>
                      <a:srgbClr val="E7EEEE"/>
                    </a:solidFill>
                  </a:tcPr>
                </a:tc>
                <a:tc>
                  <a:txBody>
                    <a:bodyPr/>
                    <a:lstStyle/>
                    <a:p>
                      <a:pPr algn="l" fontAlgn="t"/>
                      <a:r>
                        <a:rPr lang="en-GB" sz="1100" b="0" i="0" u="none" strike="noStrike">
                          <a:solidFill>
                            <a:schemeClr val="tx1"/>
                          </a:solidFill>
                          <a:effectLst/>
                          <a:latin typeface="Calibri" panose="020F0502020204030204" pitchFamily="34" charset="0"/>
                        </a:rPr>
                        <a:t>GBDUBLRBELMYL</a:t>
                      </a:r>
                    </a:p>
                  </a:txBody>
                  <a:tcPr marL="6350" marR="6350" marT="6350" marB="0">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16J</a:t>
                      </a:r>
                    </a:p>
                  </a:txBody>
                  <a:tcPr marL="6350" marR="6350" marT="6350" marB="0" anchor="b">
                    <a:solidFill>
                      <a:srgbClr val="E7EEEE"/>
                    </a:solidFill>
                  </a:tcPr>
                </a:tc>
                <a:extLst>
                  <a:ext uri="{0D108BD9-81ED-4DB2-BD59-A6C34878D82A}">
                    <a16:rowId xmlns:a16="http://schemas.microsoft.com/office/drawing/2014/main" val="567414216"/>
                  </a:ext>
                </a:extLst>
              </a:tr>
              <a:tr h="185186">
                <a:tc>
                  <a:txBody>
                    <a:bodyPr/>
                    <a:lstStyle/>
                    <a:p>
                      <a:pPr algn="l" fontAlgn="b"/>
                      <a:r>
                        <a:rPr lang="en-GB" sz="1100" b="0" i="0" u="none" strike="noStrike">
                          <a:solidFill>
                            <a:schemeClr val="tx1"/>
                          </a:solidFill>
                          <a:effectLst/>
                          <a:latin typeface="Calibri" panose="020F0502020204030204" pitchFamily="34" charset="0"/>
                        </a:rPr>
                        <a:t>Warrenpoint</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GBAUWPTWPTGVM</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16s</a:t>
                      </a:r>
                    </a:p>
                  </a:txBody>
                  <a:tcPr marL="6350" marR="6350" marT="6350" marB="0" anchor="b">
                    <a:solidFill>
                      <a:srgbClr val="E7EEEE"/>
                    </a:solidFill>
                  </a:tcPr>
                </a:tc>
                <a:extLst>
                  <a:ext uri="{0D108BD9-81ED-4DB2-BD59-A6C34878D82A}">
                    <a16:rowId xmlns:a16="http://schemas.microsoft.com/office/drawing/2014/main" val="1247400851"/>
                  </a:ext>
                </a:extLst>
              </a:tr>
              <a:tr h="185186">
                <a:tc>
                  <a:txBody>
                    <a:bodyPr/>
                    <a:lstStyle/>
                    <a:p>
                      <a:pPr algn="l" fontAlgn="b"/>
                      <a:r>
                        <a:rPr lang="en-GB" sz="1100" b="0" i="0" u="none" strike="noStrike">
                          <a:solidFill>
                            <a:schemeClr val="tx1"/>
                          </a:solidFill>
                          <a:effectLst/>
                          <a:latin typeface="Calibri" panose="020F0502020204030204" pitchFamily="34" charset="0"/>
                        </a:rPr>
                        <a:t>Belfast Airport - Ping Handling</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GBAUBELBFSHYS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2090886868"/>
                  </a:ext>
                </a:extLst>
              </a:tr>
              <a:tr h="185186">
                <a:tc>
                  <a:txBody>
                    <a:bodyPr/>
                    <a:lstStyle/>
                    <a:p>
                      <a:pPr algn="l" fontAlgn="b"/>
                      <a:r>
                        <a:rPr lang="en-GB" sz="1100" b="0" i="0" u="none" strike="noStrike" dirty="0">
                          <a:solidFill>
                            <a:schemeClr val="tx1"/>
                          </a:solidFill>
                          <a:effectLst/>
                          <a:latin typeface="Calibri" panose="020F0502020204030204" pitchFamily="34" charset="0"/>
                        </a:rPr>
                        <a:t>Belfast Airport - Heavyweight Air Express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GBAUBELBFSHWS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16E</a:t>
                      </a:r>
                    </a:p>
                  </a:txBody>
                  <a:tcPr marL="6350" marR="6350" marT="6350" marB="0" anchor="b">
                    <a:solidFill>
                      <a:srgbClr val="E7EEEE"/>
                    </a:solidFill>
                  </a:tcPr>
                </a:tc>
                <a:extLst>
                  <a:ext uri="{0D108BD9-81ED-4DB2-BD59-A6C34878D82A}">
                    <a16:rowId xmlns:a16="http://schemas.microsoft.com/office/drawing/2014/main" val="2077225476"/>
                  </a:ext>
                </a:extLst>
              </a:tr>
              <a:tr h="185186">
                <a:tc>
                  <a:txBody>
                    <a:bodyPr/>
                    <a:lstStyle/>
                    <a:p>
                      <a:pPr algn="l" fontAlgn="b"/>
                      <a:r>
                        <a:rPr lang="en-GB" sz="1100" b="0" i="0" u="none" strike="noStrike">
                          <a:solidFill>
                            <a:schemeClr val="tx1"/>
                          </a:solidFill>
                          <a:effectLst/>
                          <a:latin typeface="Calibri" panose="020F0502020204030204" pitchFamily="34" charset="0"/>
                        </a:rPr>
                        <a:t>George Best Belfast Airport </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GBAUBHDBHDBWS</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16D</a:t>
                      </a:r>
                    </a:p>
                  </a:txBody>
                  <a:tcPr marL="6350" marR="6350" marT="6350" marB="0" anchor="b">
                    <a:solidFill>
                      <a:srgbClr val="E7EEEE"/>
                    </a:solidFill>
                  </a:tcPr>
                </a:tc>
                <a:extLst>
                  <a:ext uri="{0D108BD9-81ED-4DB2-BD59-A6C34878D82A}">
                    <a16:rowId xmlns:a16="http://schemas.microsoft.com/office/drawing/2014/main" val="816684728"/>
                  </a:ext>
                </a:extLst>
              </a:tr>
              <a:tr h="185186">
                <a:tc>
                  <a:txBody>
                    <a:bodyPr/>
                    <a:lstStyle/>
                    <a:p>
                      <a:pPr algn="l" fontAlgn="b"/>
                      <a:r>
                        <a:rPr lang="en-GB" sz="1100" b="0" i="0" u="none" strike="noStrike">
                          <a:solidFill>
                            <a:schemeClr val="tx1"/>
                          </a:solidFill>
                          <a:effectLst/>
                          <a:latin typeface="Calibri" panose="020F0502020204030204" pitchFamily="34" charset="0"/>
                        </a:rPr>
                        <a:t>Larne - Asap Cargo Ltd</a:t>
                      </a:r>
                    </a:p>
                  </a:txBody>
                  <a:tcPr marL="6350" marR="6350" marT="6350" marB="0" anchor="b">
                    <a:solidFill>
                      <a:srgbClr val="E7EEEE"/>
                    </a:solidFill>
                  </a:tcPr>
                </a:tc>
                <a:tc>
                  <a:txBody>
                    <a:bodyPr/>
                    <a:lstStyle/>
                    <a:p>
                      <a:pPr algn="l" fontAlgn="t"/>
                      <a:r>
                        <a:rPr lang="en-GB" sz="1100" b="0" i="0" u="none" strike="noStrike">
                          <a:solidFill>
                            <a:schemeClr val="tx1"/>
                          </a:solidFill>
                          <a:effectLst/>
                          <a:latin typeface="Calibri" panose="020F0502020204030204" pitchFamily="34" charset="0"/>
                        </a:rPr>
                        <a:t>GBCULARBELACL</a:t>
                      </a:r>
                    </a:p>
                  </a:txBody>
                  <a:tcPr marL="6350" marR="6350" marT="6350" marB="0">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a:t>
                      </a:r>
                    </a:p>
                  </a:txBody>
                  <a:tcPr marL="6350" marR="6350" marT="6350" marB="0" anchor="b">
                    <a:solidFill>
                      <a:srgbClr val="E7EEEE"/>
                    </a:solidFill>
                  </a:tcPr>
                </a:tc>
                <a:extLst>
                  <a:ext uri="{0D108BD9-81ED-4DB2-BD59-A6C34878D82A}">
                    <a16:rowId xmlns:a16="http://schemas.microsoft.com/office/drawing/2014/main" val="1957924439"/>
                  </a:ext>
                </a:extLst>
              </a:tr>
              <a:tr h="221756">
                <a:tc>
                  <a:txBody>
                    <a:bodyPr/>
                    <a:lstStyle/>
                    <a:p>
                      <a:pPr algn="l" fontAlgn="b"/>
                      <a:r>
                        <a:rPr lang="en-GB" sz="1100" b="0" i="0" u="none" strike="noStrike">
                          <a:solidFill>
                            <a:schemeClr val="tx1"/>
                          </a:solidFill>
                          <a:effectLst/>
                          <a:latin typeface="Calibri" panose="020F0502020204030204" pitchFamily="34" charset="0"/>
                        </a:rPr>
                        <a:t>Mallusk - Interlink Ireland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GBCUMLKBELIIL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a:t>
                      </a:r>
                    </a:p>
                  </a:txBody>
                  <a:tcPr marL="6350" marR="6350" marT="6350" marB="0" anchor="b">
                    <a:solidFill>
                      <a:srgbClr val="E7EEEE"/>
                    </a:solidFill>
                  </a:tcPr>
                </a:tc>
                <a:extLst>
                  <a:ext uri="{0D108BD9-81ED-4DB2-BD59-A6C34878D82A}">
                    <a16:rowId xmlns:a16="http://schemas.microsoft.com/office/drawing/2014/main" val="1146938277"/>
                  </a:ext>
                </a:extLst>
              </a:tr>
              <a:tr h="221756">
                <a:tc>
                  <a:txBody>
                    <a:bodyPr/>
                    <a:lstStyle/>
                    <a:p>
                      <a:pPr algn="l" fontAlgn="b"/>
                      <a:r>
                        <a:rPr lang="en-GB" sz="1100" b="0" i="0" u="none" strike="noStrike">
                          <a:solidFill>
                            <a:schemeClr val="tx1"/>
                          </a:solidFill>
                          <a:effectLst/>
                          <a:latin typeface="Calibri" panose="020F0502020204030204" pitchFamily="34" charset="0"/>
                        </a:rPr>
                        <a:t>Toomebridge - Interlink Ireland Ltd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GBCUTOOBELIID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a:t>
                      </a:r>
                    </a:p>
                  </a:txBody>
                  <a:tcPr marL="6350" marR="6350" marT="6350" marB="0" anchor="b">
                    <a:solidFill>
                      <a:srgbClr val="E7EEEE"/>
                    </a:solidFill>
                  </a:tcPr>
                </a:tc>
                <a:extLst>
                  <a:ext uri="{0D108BD9-81ED-4DB2-BD59-A6C34878D82A}">
                    <a16:rowId xmlns:a16="http://schemas.microsoft.com/office/drawing/2014/main" val="481447449"/>
                  </a:ext>
                </a:extLst>
              </a:tr>
              <a:tr h="363614">
                <a:tc>
                  <a:txBody>
                    <a:bodyPr/>
                    <a:lstStyle/>
                    <a:p>
                      <a:pPr algn="l" fontAlgn="b"/>
                      <a:r>
                        <a:rPr lang="en-GB" sz="1100" b="0" i="0" u="none" strike="noStrike" dirty="0">
                          <a:solidFill>
                            <a:schemeClr val="tx1"/>
                          </a:solidFill>
                          <a:effectLst/>
                          <a:latin typeface="Calibri" panose="020F0502020204030204" pitchFamily="34" charset="0"/>
                        </a:rPr>
                        <a:t>B.G. Freight Line, Victoria Terminal Westbank Road, Belfast BT3 9JL</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GBAUBELBFSVKH1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3709200743"/>
                  </a:ext>
                </a:extLst>
              </a:tr>
              <a:tr h="185186">
                <a:tc>
                  <a:txBody>
                    <a:bodyPr/>
                    <a:lstStyle/>
                    <a:p>
                      <a:pPr algn="l" fontAlgn="b"/>
                      <a:r>
                        <a:rPr lang="en-GB" sz="1100" b="0" i="0" u="none" strike="noStrike">
                          <a:solidFill>
                            <a:schemeClr val="tx1"/>
                          </a:solidFill>
                          <a:effectLst/>
                          <a:latin typeface="Calibri" panose="020F0502020204030204" pitchFamily="34" charset="0"/>
                        </a:rPr>
                        <a:t>Fedex Express UK Transportation Limited</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GBAU8TNBFSFDB2</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1472873640"/>
                  </a:ext>
                </a:extLst>
              </a:tr>
              <a:tr h="185186">
                <a:tc>
                  <a:txBody>
                    <a:bodyPr/>
                    <a:lstStyle/>
                    <a:p>
                      <a:pPr algn="l" fontAlgn="b"/>
                      <a:r>
                        <a:rPr lang="en-GB" sz="1100" b="0" i="0" u="none" strike="noStrike">
                          <a:solidFill>
                            <a:schemeClr val="tx1"/>
                          </a:solidFill>
                          <a:effectLst/>
                          <a:latin typeface="Calibri" panose="020F0502020204030204" pitchFamily="34" charset="0"/>
                        </a:rPr>
                        <a:t>TCB (NI) Limited</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GBAUBELBELTCB1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4043631866"/>
                  </a:ext>
                </a:extLst>
              </a:tr>
              <a:tr h="363614">
                <a:tc>
                  <a:txBody>
                    <a:bodyPr/>
                    <a:lstStyle/>
                    <a:p>
                      <a:pPr algn="l" fontAlgn="b"/>
                      <a:r>
                        <a:rPr lang="en-GB" sz="1100" b="0" i="0" u="none" strike="noStrike" dirty="0">
                          <a:solidFill>
                            <a:schemeClr val="tx1"/>
                          </a:solidFill>
                          <a:effectLst/>
                          <a:latin typeface="Calibri" panose="020F0502020204030204" pitchFamily="34" charset="0"/>
                        </a:rPr>
                        <a:t>Hamilton Shipping Ltd, 2-10 </a:t>
                      </a:r>
                      <a:r>
                        <a:rPr lang="en-GB" sz="1100" b="0" i="0" u="none" strike="noStrike" dirty="0" err="1">
                          <a:solidFill>
                            <a:schemeClr val="tx1"/>
                          </a:solidFill>
                          <a:effectLst/>
                          <a:latin typeface="Calibri" panose="020F0502020204030204" pitchFamily="34" charset="0"/>
                        </a:rPr>
                        <a:t>Duncrue</a:t>
                      </a:r>
                      <a:r>
                        <a:rPr lang="en-GB" sz="1100" b="0" i="0" u="none" strike="noStrike" dirty="0">
                          <a:solidFill>
                            <a:schemeClr val="tx1"/>
                          </a:solidFill>
                          <a:effectLst/>
                          <a:latin typeface="Calibri" panose="020F0502020204030204" pitchFamily="34" charset="0"/>
                        </a:rPr>
                        <a:t> Road, Belfast, BT3 9BP</a:t>
                      </a:r>
                    </a:p>
                  </a:txBody>
                  <a:tcPr marL="6350" marR="6350" marT="6350" marB="0" anchor="b">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GBAUBELBFSVKB1</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16F</a:t>
                      </a:r>
                    </a:p>
                  </a:txBody>
                  <a:tcPr marL="6350" marR="6350" marT="6350" marB="0" anchor="b">
                    <a:solidFill>
                      <a:srgbClr val="E7EEEE"/>
                    </a:solidFill>
                  </a:tcPr>
                </a:tc>
                <a:extLst>
                  <a:ext uri="{0D108BD9-81ED-4DB2-BD59-A6C34878D82A}">
                    <a16:rowId xmlns:a16="http://schemas.microsoft.com/office/drawing/2014/main" val="2696838546"/>
                  </a:ext>
                </a:extLst>
              </a:tr>
              <a:tr h="185186">
                <a:tc>
                  <a:txBody>
                    <a:bodyPr/>
                    <a:lstStyle/>
                    <a:p>
                      <a:pPr algn="l" fontAlgn="b"/>
                      <a:r>
                        <a:rPr lang="en-GB" sz="1100" b="0" i="0" u="none" strike="noStrike">
                          <a:solidFill>
                            <a:schemeClr val="tx1"/>
                          </a:solidFill>
                          <a:effectLst/>
                          <a:latin typeface="Calibri" panose="020F0502020204030204" pitchFamily="34" charset="0"/>
                        </a:rPr>
                        <a:t>Cloghan Point Oil Jetty</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GBAUCGPBELCGP</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16C</a:t>
                      </a:r>
                    </a:p>
                  </a:txBody>
                  <a:tcPr marL="6350" marR="6350" marT="6350" marB="0" anchor="b">
                    <a:solidFill>
                      <a:srgbClr val="E7EEEE"/>
                    </a:solidFill>
                  </a:tcPr>
                </a:tc>
                <a:extLst>
                  <a:ext uri="{0D108BD9-81ED-4DB2-BD59-A6C34878D82A}">
                    <a16:rowId xmlns:a16="http://schemas.microsoft.com/office/drawing/2014/main" val="624924938"/>
                  </a:ext>
                </a:extLst>
              </a:tr>
              <a:tr h="185186">
                <a:tc>
                  <a:txBody>
                    <a:bodyPr/>
                    <a:lstStyle/>
                    <a:p>
                      <a:pPr algn="l" fontAlgn="t"/>
                      <a:r>
                        <a:rPr lang="en-GB" sz="1100" b="0" i="0" u="none" strike="noStrike" dirty="0">
                          <a:solidFill>
                            <a:schemeClr val="tx1"/>
                          </a:solidFill>
                          <a:effectLst/>
                          <a:latin typeface="Calibri" panose="020F0502020204030204" pitchFamily="34" charset="0"/>
                        </a:rPr>
                        <a:t>Antrim - Interlink Ireland Ltd</a:t>
                      </a:r>
                    </a:p>
                  </a:txBody>
                  <a:tcPr marL="6350" marR="6350" marT="6350" marB="0">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GBCUANTBELIIA</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 </a:t>
                      </a:r>
                    </a:p>
                  </a:txBody>
                  <a:tcPr marL="6350" marR="6350" marT="6350" marB="0" anchor="b">
                    <a:solidFill>
                      <a:srgbClr val="E7EEEE"/>
                    </a:solidFill>
                  </a:tcPr>
                </a:tc>
                <a:extLst>
                  <a:ext uri="{0D108BD9-81ED-4DB2-BD59-A6C34878D82A}">
                    <a16:rowId xmlns:a16="http://schemas.microsoft.com/office/drawing/2014/main" val="2433261565"/>
                  </a:ext>
                </a:extLst>
              </a:tr>
              <a:tr h="185186">
                <a:tc>
                  <a:txBody>
                    <a:bodyPr/>
                    <a:lstStyle/>
                    <a:p>
                      <a:pPr algn="l" fontAlgn="t"/>
                      <a:r>
                        <a:rPr lang="en-GB" sz="1100" b="0" i="0" u="none" strike="noStrike" dirty="0">
                          <a:solidFill>
                            <a:schemeClr val="tx1"/>
                          </a:solidFill>
                          <a:effectLst/>
                          <a:latin typeface="Calibri" panose="020F0502020204030204" pitchFamily="34" charset="0"/>
                        </a:rPr>
                        <a:t>Castlereagh - Interlink Ireland Ltd</a:t>
                      </a:r>
                    </a:p>
                  </a:txBody>
                  <a:tcPr marL="6350" marR="6350" marT="6350" marB="0">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GBCUNTSBELIIE</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 </a:t>
                      </a:r>
                    </a:p>
                  </a:txBody>
                  <a:tcPr marL="6350" marR="6350" marT="6350" marB="0" anchor="b">
                    <a:solidFill>
                      <a:srgbClr val="E7EEEE"/>
                    </a:solidFill>
                  </a:tcPr>
                </a:tc>
                <a:extLst>
                  <a:ext uri="{0D108BD9-81ED-4DB2-BD59-A6C34878D82A}">
                    <a16:rowId xmlns:a16="http://schemas.microsoft.com/office/drawing/2014/main" val="2845858025"/>
                  </a:ext>
                </a:extLst>
              </a:tr>
              <a:tr h="185186">
                <a:tc>
                  <a:txBody>
                    <a:bodyPr/>
                    <a:lstStyle/>
                    <a:p>
                      <a:pPr algn="l" fontAlgn="t"/>
                      <a:r>
                        <a:rPr lang="en-GB" sz="1100" b="0" i="0" u="none" strike="noStrike" dirty="0">
                          <a:solidFill>
                            <a:schemeClr val="tx1"/>
                          </a:solidFill>
                          <a:effectLst/>
                          <a:latin typeface="Calibri" panose="020F0502020204030204" pitchFamily="34" charset="0"/>
                        </a:rPr>
                        <a:t>Craigavon - Interlink Ireland Ltd</a:t>
                      </a:r>
                    </a:p>
                  </a:txBody>
                  <a:tcPr marL="6350" marR="6350" marT="6350" marB="0">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GBCUCRGBELIIB</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 </a:t>
                      </a:r>
                    </a:p>
                  </a:txBody>
                  <a:tcPr marL="6350" marR="6350" marT="6350" marB="0" anchor="b">
                    <a:solidFill>
                      <a:srgbClr val="E7EEEE"/>
                    </a:solidFill>
                  </a:tcPr>
                </a:tc>
                <a:extLst>
                  <a:ext uri="{0D108BD9-81ED-4DB2-BD59-A6C34878D82A}">
                    <a16:rowId xmlns:a16="http://schemas.microsoft.com/office/drawing/2014/main" val="1280296451"/>
                  </a:ext>
                </a:extLst>
              </a:tr>
              <a:tr h="185186">
                <a:tc>
                  <a:txBody>
                    <a:bodyPr/>
                    <a:lstStyle/>
                    <a:p>
                      <a:pPr algn="l" fontAlgn="t"/>
                      <a:r>
                        <a:rPr lang="en-GB" sz="1100" b="0" i="0" u="none" strike="noStrike" dirty="0">
                          <a:solidFill>
                            <a:schemeClr val="tx1"/>
                          </a:solidFill>
                          <a:effectLst/>
                          <a:latin typeface="Calibri" panose="020F0502020204030204" pitchFamily="34" charset="0"/>
                        </a:rPr>
                        <a:t>Loughgall - Interlink Ireland Ltd</a:t>
                      </a:r>
                    </a:p>
                  </a:txBody>
                  <a:tcPr marL="6350" marR="6350" marT="6350" marB="0">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GBCUXLUBELIIC</a:t>
                      </a:r>
                    </a:p>
                  </a:txBody>
                  <a:tcPr marL="6350" marR="6350" marT="6350" marB="0" anchor="b">
                    <a:solidFill>
                      <a:srgbClr val="E7EEEE"/>
                    </a:solidFill>
                  </a:tcPr>
                </a:tc>
                <a:tc>
                  <a:txBody>
                    <a:bodyPr/>
                    <a:lstStyle/>
                    <a:p>
                      <a:pPr algn="l" fontAlgn="b"/>
                      <a:r>
                        <a:rPr lang="en-GB" sz="1100" b="0" i="0" u="none" strike="noStrike">
                          <a:solidFill>
                            <a:schemeClr val="tx1"/>
                          </a:solidFill>
                          <a:effectLst/>
                          <a:latin typeface="Calibri" panose="020F0502020204030204" pitchFamily="34" charset="0"/>
                        </a:rPr>
                        <a:t>16N </a:t>
                      </a:r>
                    </a:p>
                  </a:txBody>
                  <a:tcPr marL="6350" marR="6350" marT="6350" marB="0" anchor="b">
                    <a:solidFill>
                      <a:srgbClr val="E7EEEE"/>
                    </a:solidFill>
                  </a:tcPr>
                </a:tc>
                <a:extLst>
                  <a:ext uri="{0D108BD9-81ED-4DB2-BD59-A6C34878D82A}">
                    <a16:rowId xmlns:a16="http://schemas.microsoft.com/office/drawing/2014/main" val="3426698177"/>
                  </a:ext>
                </a:extLst>
              </a:tr>
              <a:tr h="185186">
                <a:tc>
                  <a:txBody>
                    <a:bodyPr/>
                    <a:lstStyle/>
                    <a:p>
                      <a:pPr algn="l" fontAlgn="t"/>
                      <a:r>
                        <a:rPr lang="en-GB" sz="1100" b="0" i="0" u="none" strike="noStrike" dirty="0">
                          <a:solidFill>
                            <a:schemeClr val="tx1"/>
                          </a:solidFill>
                          <a:effectLst/>
                          <a:latin typeface="Calibri" panose="020F0502020204030204" pitchFamily="34" charset="0"/>
                        </a:rPr>
                        <a:t>TST Express (TST Group)</a:t>
                      </a:r>
                    </a:p>
                  </a:txBody>
                  <a:tcPr marL="6350" marR="6350" marT="6350" marB="0">
                    <a:solidFill>
                      <a:srgbClr val="E7EEEE"/>
                    </a:solidFill>
                  </a:tcPr>
                </a:tc>
                <a:tc>
                  <a:txBody>
                    <a:bodyPr/>
                    <a:lstStyle/>
                    <a:p>
                      <a:pPr algn="l" fontAlgn="t"/>
                      <a:r>
                        <a:rPr lang="en-GB" sz="1100" b="0" i="0" u="none" strike="noStrike" dirty="0">
                          <a:solidFill>
                            <a:schemeClr val="tx1"/>
                          </a:solidFill>
                          <a:effectLst/>
                          <a:latin typeface="Calibri" panose="020F0502020204030204" pitchFamily="34" charset="0"/>
                        </a:rPr>
                        <a:t>GBCUBYMBELWCL</a:t>
                      </a:r>
                    </a:p>
                  </a:txBody>
                  <a:tcPr marL="6350" marR="6350" marT="6350" marB="0">
                    <a:solidFill>
                      <a:srgbClr val="E7EEEE"/>
                    </a:solidFill>
                  </a:tcPr>
                </a:tc>
                <a:tc>
                  <a:txBody>
                    <a:bodyPr/>
                    <a:lstStyle/>
                    <a:p>
                      <a:pPr algn="l" fontAlgn="b"/>
                      <a:r>
                        <a:rPr lang="en-GB" sz="1100" b="0" i="0" u="none" strike="noStrike" dirty="0">
                          <a:solidFill>
                            <a:schemeClr val="tx1"/>
                          </a:solidFill>
                          <a:effectLst/>
                          <a:latin typeface="Calibri" panose="020F0502020204030204" pitchFamily="34" charset="0"/>
                        </a:rPr>
                        <a:t>16N</a:t>
                      </a:r>
                    </a:p>
                  </a:txBody>
                  <a:tcPr marL="6350" marR="6350" marT="6350" marB="0" anchor="b">
                    <a:solidFill>
                      <a:srgbClr val="E7EEEE"/>
                    </a:solidFill>
                  </a:tcPr>
                </a:tc>
                <a:extLst>
                  <a:ext uri="{0D108BD9-81ED-4DB2-BD59-A6C34878D82A}">
                    <a16:rowId xmlns:a16="http://schemas.microsoft.com/office/drawing/2014/main" val="3493691136"/>
                  </a:ext>
                </a:extLst>
              </a:tr>
            </a:tbl>
          </a:graphicData>
        </a:graphic>
      </p:graphicFrame>
    </p:spTree>
    <p:extLst>
      <p:ext uri="{BB962C8B-B14F-4D97-AF65-F5344CB8AC3E}">
        <p14:creationId xmlns:p14="http://schemas.microsoft.com/office/powerpoint/2010/main" val="344214576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480155-7F5B-35D1-4D9D-0EFA49CC9C1B}"/>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F1364AD0-4951-1FC2-97C1-BFC2D2F019B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6A1EC0E-5D7B-383F-1124-B05F9F6EF90D}"/>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518E572-BF79-35A6-F6F6-DA01FCF520E8}"/>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F5302A38-24CC-41EE-148C-043E609A3619}"/>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6EEC4283-7067-0E1B-D897-EAAA5B11CBCA}"/>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7" name="TextBox 9">
            <a:extLst>
              <a:ext uri="{FF2B5EF4-FFF2-40B4-BE49-F238E27FC236}">
                <a16:creationId xmlns:a16="http://schemas.microsoft.com/office/drawing/2014/main" id="{5EBD2476-1C80-0164-71EE-94B343E6151C}"/>
              </a:ext>
            </a:extLst>
          </p:cNvPr>
          <p:cNvSpPr txBox="1"/>
          <p:nvPr/>
        </p:nvSpPr>
        <p:spPr>
          <a:xfrm>
            <a:off x="233124" y="779761"/>
            <a:ext cx="11852365"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dirty="0">
                <a:ln>
                  <a:noFill/>
                </a:ln>
                <a:solidFill>
                  <a:srgbClr val="000000"/>
                </a:solidFill>
                <a:effectLst/>
                <a:uLnTx/>
                <a:uFillTx/>
                <a:latin typeface="Calibri"/>
                <a:ea typeface="Calibri"/>
                <a:cs typeface="Calibri"/>
              </a:rPr>
              <a:t>Further Windsor Framework Requirements </a:t>
            </a:r>
          </a:p>
        </p:txBody>
      </p:sp>
      <p:sp>
        <p:nvSpPr>
          <p:cNvPr id="8" name="TextBox 11">
            <a:extLst>
              <a:ext uri="{FF2B5EF4-FFF2-40B4-BE49-F238E27FC236}">
                <a16:creationId xmlns:a16="http://schemas.microsoft.com/office/drawing/2014/main" id="{7C23AE9E-37DE-1964-47DB-0B4223591D81}"/>
              </a:ext>
            </a:extLst>
          </p:cNvPr>
          <p:cNvSpPr txBox="1"/>
          <p:nvPr/>
        </p:nvSpPr>
        <p:spPr>
          <a:xfrm>
            <a:off x="233124" y="998600"/>
            <a:ext cx="12065257" cy="4431983"/>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introduce Procedure Code validation to ensure that declaration completion aligns with the expected behaviour outlined in the declaration completion instructions.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1" i="0" u="sng" strike="noStrike" kern="1200" cap="none" spc="0" normalizeH="0" baseline="0" noProof="0" dirty="0">
                <a:ln>
                  <a:noFill/>
                </a:ln>
                <a:solidFill>
                  <a:prstClr val="black"/>
                </a:solidFill>
                <a:effectLst/>
                <a:uLnTx/>
                <a:uFillTx/>
                <a:latin typeface="Calibri"/>
                <a:ea typeface="Calibri"/>
                <a:cs typeface="Calibri"/>
              </a:rPr>
              <a:t>Mandating APC F06 with certain Procedure Codes on a declarations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a:ea typeface="Calibri"/>
                <a:cs typeface="Calibri"/>
              </a:rPr>
              <a:t>CDS will mandate </a:t>
            </a:r>
            <a:r>
              <a:rPr kumimoji="0" lang="en-GB" sz="1200" b="0" i="0" u="none" strike="noStrike" kern="1200" cap="none" spc="0" normalizeH="0" baseline="0" noProof="0" dirty="0">
                <a:ln>
                  <a:noFill/>
                </a:ln>
                <a:solidFill>
                  <a:prstClr val="black"/>
                </a:solidFill>
                <a:effectLst/>
                <a:uLnTx/>
                <a:uFillTx/>
                <a:latin typeface="Calibri"/>
                <a:ea typeface="Calibri"/>
                <a:cs typeface="Calibri"/>
              </a:rPr>
              <a:t>the necessary excise APC for released goods to help free circulation with simultaneous entry to an Excise Warehouse.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prstClr val="black"/>
                </a:solidFill>
                <a:effectLst/>
                <a:uLnTx/>
                <a:uFillTx/>
                <a:latin typeface="Calibri"/>
                <a:ea typeface="Calibri"/>
                <a:cs typeface="Calibri"/>
              </a:rPr>
              <a:t>Pre-requisite:</a:t>
            </a:r>
            <a:endParaRPr kumimoji="0" lang="en-US" altLang="en-US" sz="1200" b="0"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a:ea typeface="Calibri"/>
                <a:cs typeface="Calibri"/>
              </a:rPr>
              <a:t>An import declaration has been declared, submitted or arrived.</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sng" strike="noStrike" kern="1200" cap="none" spc="0" normalizeH="0" baseline="0" noProof="0" dirty="0">
                <a:ln>
                  <a:noFill/>
                </a:ln>
                <a:solidFill>
                  <a:prstClr val="black"/>
                </a:solidFill>
                <a:effectLst/>
                <a:uLnTx/>
                <a:uFillTx/>
                <a:latin typeface="Calibri"/>
                <a:ea typeface="Calibri"/>
                <a:cs typeface="Calibri"/>
              </a:rPr>
              <a:t>Mandating ‘Y’ in the location type Identifier with Certain Procedure Codes on a declaration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the ‘authorisation’ location identifier when Special Previous procedure codes are declared as a previous procedure.</a:t>
            </a:r>
            <a:endParaRPr kumimoji="0" lang="en-US" altLang="en-US" sz="1200" b="0"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prstClr val="black"/>
                </a:solidFill>
                <a:effectLst/>
                <a:uLnTx/>
                <a:uFillTx/>
                <a:latin typeface="Calibri"/>
                <a:ea typeface="Calibri"/>
                <a:cs typeface="Calibri"/>
              </a:rPr>
              <a:t>An import declaration has been declared, submitted or arrived.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11" name="Rectangle 2">
            <a:extLst>
              <a:ext uri="{FF2B5EF4-FFF2-40B4-BE49-F238E27FC236}">
                <a16:creationId xmlns:a16="http://schemas.microsoft.com/office/drawing/2014/main" id="{56208660-E4F2-8E3C-4079-04F8340EF9F9}"/>
              </a:ext>
            </a:extLst>
          </p:cNvPr>
          <p:cNvSpPr/>
          <p:nvPr/>
        </p:nvSpPr>
        <p:spPr>
          <a:xfrm>
            <a:off x="396721" y="2711708"/>
            <a:ext cx="64" cy="611687"/>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p:txBody>
      </p:sp>
      <p:graphicFrame>
        <p:nvGraphicFramePr>
          <p:cNvPr id="26" name="Table 25">
            <a:extLst>
              <a:ext uri="{FF2B5EF4-FFF2-40B4-BE49-F238E27FC236}">
                <a16:creationId xmlns:a16="http://schemas.microsoft.com/office/drawing/2014/main" id="{D8128F25-4C24-0FD1-5EBF-53EAAEB49516}"/>
              </a:ext>
            </a:extLst>
          </p:cNvPr>
          <p:cNvGraphicFramePr>
            <a:graphicFrameLocks noGrp="1"/>
          </p:cNvGraphicFramePr>
          <p:nvPr/>
        </p:nvGraphicFramePr>
        <p:xfrm>
          <a:off x="278077" y="4601086"/>
          <a:ext cx="11762458" cy="1658995"/>
        </p:xfrm>
        <a:graphic>
          <a:graphicData uri="http://schemas.openxmlformats.org/drawingml/2006/table">
            <a:tbl>
              <a:tblPr firstRow="1" bandRow="1">
                <a:tableStyleId>{5C22544A-7EE6-4342-B048-85BDC9FD1C3A}</a:tableStyleId>
              </a:tblPr>
              <a:tblGrid>
                <a:gridCol w="3764420">
                  <a:extLst>
                    <a:ext uri="{9D8B030D-6E8A-4147-A177-3AD203B41FA5}">
                      <a16:colId xmlns:a16="http://schemas.microsoft.com/office/drawing/2014/main" val="3837587197"/>
                    </a:ext>
                  </a:extLst>
                </a:gridCol>
                <a:gridCol w="7998038">
                  <a:extLst>
                    <a:ext uri="{9D8B030D-6E8A-4147-A177-3AD203B41FA5}">
                      <a16:colId xmlns:a16="http://schemas.microsoft.com/office/drawing/2014/main" val="574208599"/>
                    </a:ext>
                  </a:extLst>
                </a:gridCol>
              </a:tblGrid>
              <a:tr h="287395">
                <a:tc>
                  <a:txBody>
                    <a:bodyPr/>
                    <a:lstStyle/>
                    <a:p>
                      <a:r>
                        <a:rPr lang="en-GB" sz="1200" dirty="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Previous Procedure ’51’ in DE 1/10 at item level </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‘Y’ must be declared as the 4</a:t>
                      </a:r>
                      <a:r>
                        <a:rPr lang="en-GB" sz="1200" baseline="30000" dirty="0">
                          <a:latin typeface="+mn-lt"/>
                          <a:ea typeface="Calibri"/>
                          <a:cs typeface="Calibri"/>
                        </a:rPr>
                        <a:t>th</a:t>
                      </a:r>
                      <a:r>
                        <a:rPr lang="en-GB" sz="1200" dirty="0">
                          <a:latin typeface="+mn-lt"/>
                          <a:ea typeface="Calibri"/>
                          <a:cs typeface="Calibri"/>
                        </a:rPr>
                        <a:t> character in the Location Type Identifier in DE 5/23.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r h="30252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Previous Procedure ’71’ in DE 1/10 at item level </a:t>
                      </a:r>
                    </a:p>
                    <a:p>
                      <a:endParaRPr lang="en-GB" sz="1200" dirty="0"/>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‘Y’ must be declared as the 4</a:t>
                      </a:r>
                      <a:r>
                        <a:rPr lang="en-GB" sz="1200" baseline="30000" dirty="0">
                          <a:latin typeface="+mn-lt"/>
                          <a:ea typeface="Calibri"/>
                          <a:cs typeface="Calibri"/>
                        </a:rPr>
                        <a:t>th</a:t>
                      </a:r>
                      <a:r>
                        <a:rPr lang="en-GB" sz="1200" dirty="0">
                          <a:latin typeface="+mn-lt"/>
                          <a:ea typeface="Calibri"/>
                          <a:cs typeface="Calibri"/>
                        </a:rPr>
                        <a:t> character in the Location Type Identifier in DE 5/23.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1385396127"/>
                  </a:ext>
                </a:extLst>
              </a:tr>
              <a:tr h="30252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Previous Procedure ’53’ in DE 1/10 at item level </a:t>
                      </a:r>
                    </a:p>
                    <a:p>
                      <a:endParaRPr lang="en-GB" sz="1200" dirty="0"/>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‘Y’ must be declared as the 4</a:t>
                      </a:r>
                      <a:r>
                        <a:rPr lang="en-GB" sz="1200" baseline="30000" dirty="0">
                          <a:latin typeface="+mn-lt"/>
                          <a:ea typeface="Calibri"/>
                          <a:cs typeface="Calibri"/>
                        </a:rPr>
                        <a:t>th</a:t>
                      </a:r>
                      <a:r>
                        <a:rPr lang="en-GB" sz="1200" dirty="0">
                          <a:latin typeface="+mn-lt"/>
                          <a:ea typeface="Calibri"/>
                          <a:cs typeface="Calibri"/>
                        </a:rPr>
                        <a:t> character in the Location Type Identifier in DE 5/23.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2185373112"/>
                  </a:ext>
                </a:extLst>
              </a:tr>
            </a:tbl>
          </a:graphicData>
        </a:graphic>
      </p:graphicFrame>
      <p:graphicFrame>
        <p:nvGraphicFramePr>
          <p:cNvPr id="27" name="Table 26">
            <a:extLst>
              <a:ext uri="{FF2B5EF4-FFF2-40B4-BE49-F238E27FC236}">
                <a16:creationId xmlns:a16="http://schemas.microsoft.com/office/drawing/2014/main" id="{E8B053BB-FD4E-56CA-F7E4-302390FED297}"/>
              </a:ext>
            </a:extLst>
          </p:cNvPr>
          <p:cNvGraphicFramePr>
            <a:graphicFrameLocks noGrp="1"/>
          </p:cNvGraphicFramePr>
          <p:nvPr/>
        </p:nvGraphicFramePr>
        <p:xfrm>
          <a:off x="322838" y="2429789"/>
          <a:ext cx="11717633" cy="999211"/>
        </p:xfrm>
        <a:graphic>
          <a:graphicData uri="http://schemas.openxmlformats.org/drawingml/2006/table">
            <a:tbl>
              <a:tblPr firstRow="1" bandRow="1">
                <a:tableStyleId>{5C22544A-7EE6-4342-B048-85BDC9FD1C3A}</a:tableStyleId>
              </a:tblPr>
              <a:tblGrid>
                <a:gridCol w="3750074">
                  <a:extLst>
                    <a:ext uri="{9D8B030D-6E8A-4147-A177-3AD203B41FA5}">
                      <a16:colId xmlns:a16="http://schemas.microsoft.com/office/drawing/2014/main" val="3837587197"/>
                    </a:ext>
                  </a:extLst>
                </a:gridCol>
                <a:gridCol w="7967559">
                  <a:extLst>
                    <a:ext uri="{9D8B030D-6E8A-4147-A177-3AD203B41FA5}">
                      <a16:colId xmlns:a16="http://schemas.microsoft.com/office/drawing/2014/main" val="574208599"/>
                    </a:ext>
                  </a:extLst>
                </a:gridCol>
              </a:tblGrid>
              <a:tr h="309624">
                <a:tc>
                  <a:txBody>
                    <a:bodyPr/>
                    <a:lstStyle/>
                    <a:p>
                      <a:r>
                        <a:rPr lang="en-GB" sz="1200" dirty="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689587">
                <a:tc>
                  <a:txBody>
                    <a:bodyPr/>
                    <a:lstStyle/>
                    <a:p>
                      <a:r>
                        <a:rPr lang="en-GB" sz="1200" dirty="0"/>
                        <a:t>Requested Procedure Code ’07’ and Previous Procedure Codes 00, 21, 53, 54, 78 in DE 1/10 at item level on a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‘F06’ must be declared in DE 1/11 at item level on the same goods item.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bl>
          </a:graphicData>
        </a:graphic>
      </p:graphicFrame>
      <p:sp>
        <p:nvSpPr>
          <p:cNvPr id="29" name="Footer Placeholder 28">
            <a:extLst>
              <a:ext uri="{FF2B5EF4-FFF2-40B4-BE49-F238E27FC236}">
                <a16:creationId xmlns:a16="http://schemas.microsoft.com/office/drawing/2014/main" id="{5DBF005B-064A-80CA-E93E-77B458DFBEF5}"/>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30" name="Slide Number Placeholder 29">
            <a:extLst>
              <a:ext uri="{FF2B5EF4-FFF2-40B4-BE49-F238E27FC236}">
                <a16:creationId xmlns:a16="http://schemas.microsoft.com/office/drawing/2014/main" id="{A889295E-923C-A73E-DB42-204B8FE5FCE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876112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561BE0-E211-AC9D-E2CE-2798438CF4B2}"/>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BAC6602-E8C6-CF1F-D793-C91B5ECDA71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01680DC-B145-1027-AC99-2F30C23B5C44}"/>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84916AB-7B82-C41D-E893-C3226A4BE39E}"/>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3FBC8EAF-750A-8EC0-47B1-9FC650C51B4C}"/>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D05C7F17-4CD4-44FF-0BEE-25430AB43605}"/>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8" name="TextBox 11">
            <a:extLst>
              <a:ext uri="{FF2B5EF4-FFF2-40B4-BE49-F238E27FC236}">
                <a16:creationId xmlns:a16="http://schemas.microsoft.com/office/drawing/2014/main" id="{D1D8BDB8-CB3D-D078-D533-BF6A1D79367E}"/>
              </a:ext>
            </a:extLst>
          </p:cNvPr>
          <p:cNvSpPr txBox="1"/>
          <p:nvPr/>
        </p:nvSpPr>
        <p:spPr>
          <a:xfrm>
            <a:off x="233124" y="979868"/>
            <a:ext cx="12065257" cy="4985980"/>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Mandating Location Type Identifiers where goods are being released from a Free Zone</a:t>
            </a:r>
            <a:endParaRPr kumimoji="0" lang="en-US" altLang="en-US" sz="1200" b="1" i="0" u="sng"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location identifiers when goods are being released from a Free Zone.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prstClr val="black"/>
                </a:solidFill>
                <a:effectLst/>
                <a:uLnTx/>
                <a:uFillTx/>
                <a:latin typeface="Calibri"/>
                <a:ea typeface="Calibri"/>
                <a:cs typeface="Calibri"/>
              </a:rPr>
              <a:t>An import declaration has been declared, submitted or arrived.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Mandating MRN or ZZZ when more than 1 previous procedure involving a customs warehouse has occurred</a:t>
            </a:r>
            <a:endParaRPr kumimoji="0" lang="en-GB" altLang="en-US" sz="12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that an MRN or alternative evidence is provided as a document type, when more than 1 previous procedure involving customs warehouses has occurred.</a:t>
            </a:r>
            <a:endParaRPr kumimoji="0" lang="en-US" altLang="en-US" sz="1200" b="1"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prstClr val="black"/>
                </a:solidFill>
                <a:effectLst/>
                <a:uLnTx/>
                <a:uFillTx/>
                <a:latin typeface="Calibri"/>
                <a:ea typeface="Calibri"/>
                <a:cs typeface="Calibri"/>
              </a:rPr>
              <a:t>An import declaration has been submitted, amended or arrived.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6" name="Table 25">
            <a:extLst>
              <a:ext uri="{FF2B5EF4-FFF2-40B4-BE49-F238E27FC236}">
                <a16:creationId xmlns:a16="http://schemas.microsoft.com/office/drawing/2014/main" id="{BF69819C-8680-5EA6-8921-8BF9247A310C}"/>
              </a:ext>
            </a:extLst>
          </p:cNvPr>
          <p:cNvGraphicFramePr>
            <a:graphicFrameLocks noGrp="1"/>
          </p:cNvGraphicFramePr>
          <p:nvPr/>
        </p:nvGraphicFramePr>
        <p:xfrm>
          <a:off x="339635" y="2123663"/>
          <a:ext cx="11160000" cy="92747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dirty="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Previous Procedure ‘78’ in DE 1/10 at item level </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‘Y’ or ‘U’ must be declared as the 4</a:t>
                      </a:r>
                      <a:r>
                        <a:rPr lang="en-GB" sz="1200" baseline="30000" dirty="0">
                          <a:latin typeface="+mn-lt"/>
                          <a:ea typeface="Calibri"/>
                          <a:cs typeface="Calibri"/>
                        </a:rPr>
                        <a:t>th</a:t>
                      </a:r>
                      <a:r>
                        <a:rPr lang="en-GB" sz="1200" dirty="0">
                          <a:latin typeface="+mn-lt"/>
                          <a:ea typeface="Calibri"/>
                          <a:cs typeface="Calibri"/>
                        </a:rPr>
                        <a:t> character in the Location Type Identifier in DE 5/23.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bl>
          </a:graphicData>
        </a:graphic>
      </p:graphicFrame>
      <p:graphicFrame>
        <p:nvGraphicFramePr>
          <p:cNvPr id="27" name="Table 26">
            <a:extLst>
              <a:ext uri="{FF2B5EF4-FFF2-40B4-BE49-F238E27FC236}">
                <a16:creationId xmlns:a16="http://schemas.microsoft.com/office/drawing/2014/main" id="{06B70597-21F6-10EF-733A-8E4059528418}"/>
              </a:ext>
            </a:extLst>
          </p:cNvPr>
          <p:cNvGraphicFramePr>
            <a:graphicFrameLocks noGrp="1"/>
          </p:cNvGraphicFramePr>
          <p:nvPr/>
        </p:nvGraphicFramePr>
        <p:xfrm>
          <a:off x="322838" y="4277156"/>
          <a:ext cx="11160000" cy="92747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dirty="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Additional Procedure Code ‘1XW’ in DE 1/11 at item level </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At least one of ‘MRN’ or ‘ZZZ’ must be declared in Previous Document Type DE 2/1 at header level. If this requirement is not met </a:t>
                      </a:r>
                      <a:r>
                        <a:rPr lang="en-GB" sz="1200" dirty="0"/>
                        <a:t>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bl>
          </a:graphicData>
        </a:graphic>
      </p:graphicFrame>
      <p:sp>
        <p:nvSpPr>
          <p:cNvPr id="28" name="Footer Placeholder 27">
            <a:extLst>
              <a:ext uri="{FF2B5EF4-FFF2-40B4-BE49-F238E27FC236}">
                <a16:creationId xmlns:a16="http://schemas.microsoft.com/office/drawing/2014/main" id="{D323EEED-BD72-BFA2-9E36-416D00C9D75A}"/>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30" name="Slide Number Placeholder 29">
            <a:extLst>
              <a:ext uri="{FF2B5EF4-FFF2-40B4-BE49-F238E27FC236}">
                <a16:creationId xmlns:a16="http://schemas.microsoft.com/office/drawing/2014/main" id="{027F1BE0-5C87-944A-A4B0-9E8F6E12C10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366686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949DD6-5F99-FF0B-B6BC-31E38AA2206C}"/>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4F747913-F854-DDD3-748C-5E5DAE97425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5726866-99B9-E5D5-A818-D7EC9C068293}"/>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B0BB77E-B41B-AD6A-F4F0-9A7F9D2DA4EB}"/>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5BFAA690-A263-539C-1820-3D082112FD4F}"/>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E40A8663-91DA-F879-0886-1090AD97F162}"/>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8" name="TextBox 11">
            <a:extLst>
              <a:ext uri="{FF2B5EF4-FFF2-40B4-BE49-F238E27FC236}">
                <a16:creationId xmlns:a16="http://schemas.microsoft.com/office/drawing/2014/main" id="{01F35DAB-5A72-8B8B-E583-2826CA28ABF2}"/>
              </a:ext>
            </a:extLst>
          </p:cNvPr>
          <p:cNvSpPr txBox="1"/>
          <p:nvPr/>
        </p:nvSpPr>
        <p:spPr>
          <a:xfrm>
            <a:off x="233124" y="979868"/>
            <a:ext cx="12065257" cy="5539978"/>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Mandating Certain Document Types when a supplementary additional Procedure Code is declared</a:t>
            </a:r>
            <a:endParaRPr kumimoji="0" lang="en-GB" sz="1200" b="0" i="0" u="sng"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certain previous document types when Supplementary Declaration Additional procedure codes are declared.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prstClr val="black"/>
                </a:solidFill>
                <a:effectLst/>
                <a:uLnTx/>
                <a:uFillTx/>
                <a:latin typeface="Calibri"/>
                <a:ea typeface="Calibri"/>
                <a:cs typeface="Calibri"/>
              </a:rPr>
              <a:t>An import type Y or Z supplementary declaration has been submitted, amended or arrived.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Mandating UKIM when a supplementary Declaration type has been declared in DE 1/2 on a H8 declaration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UKIM as a coded identification where a Supplementary Declaration has been declared as the additional declaration type.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US" altLang="en-US" sz="1200" b="0" i="0" u="none" strike="noStrike" kern="1200" cap="none" spc="0" normalizeH="0" baseline="0" noProof="0" dirty="0">
                <a:ln>
                  <a:noFill/>
                </a:ln>
                <a:solidFill>
                  <a:prstClr val="black"/>
                </a:solidFill>
                <a:effectLst/>
                <a:uLnTx/>
                <a:uFillTx/>
                <a:latin typeface="Calibri"/>
                <a:ea typeface="Calibri"/>
                <a:cs typeface="Calibri"/>
              </a:rPr>
              <a:t>A H8 Declaration has been submitted.</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11" name="Rectangle 2">
            <a:extLst>
              <a:ext uri="{FF2B5EF4-FFF2-40B4-BE49-F238E27FC236}">
                <a16:creationId xmlns:a16="http://schemas.microsoft.com/office/drawing/2014/main" id="{1FF420FD-4E4F-56BC-274C-46C7EC080D88}"/>
              </a:ext>
            </a:extLst>
          </p:cNvPr>
          <p:cNvSpPr/>
          <p:nvPr/>
        </p:nvSpPr>
        <p:spPr>
          <a:xfrm>
            <a:off x="396721" y="2711708"/>
            <a:ext cx="64" cy="611687"/>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p:txBody>
      </p:sp>
      <p:graphicFrame>
        <p:nvGraphicFramePr>
          <p:cNvPr id="26" name="Table 25">
            <a:extLst>
              <a:ext uri="{FF2B5EF4-FFF2-40B4-BE49-F238E27FC236}">
                <a16:creationId xmlns:a16="http://schemas.microsoft.com/office/drawing/2014/main" id="{5092CE2C-FE26-723E-08E6-CCF5D57D2CA3}"/>
              </a:ext>
            </a:extLst>
          </p:cNvPr>
          <p:cNvGraphicFramePr>
            <a:graphicFrameLocks noGrp="1"/>
          </p:cNvGraphicFramePr>
          <p:nvPr/>
        </p:nvGraphicFramePr>
        <p:xfrm>
          <a:off x="339635" y="2178653"/>
          <a:ext cx="11160000" cy="156755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Additional Procedure Code ‘1RD’ in DE 1/11 at item level </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‘DCR’ must be declared in Previous Document Type DE 2/1 at header level. </a:t>
                      </a:r>
                      <a:r>
                        <a:rPr lang="en-GB" sz="1200" dirty="0"/>
                        <a:t>If this requirement is not met 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r h="302521">
                <a:tc>
                  <a:txBody>
                    <a:bodyPr/>
                    <a:lstStyle/>
                    <a:p>
                      <a:r>
                        <a:rPr lang="en-GB" sz="1200" dirty="0"/>
                        <a:t>Additional Procedure Code ‘1AG’  in DE 1/11 at item level </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‘DCR’ must be declared in Previous Document Type DE 2/1 at header level. </a:t>
                      </a:r>
                      <a:r>
                        <a:rPr lang="en-GB" sz="1200" dirty="0"/>
                        <a:t>If this requirement is not met CDS will reject the declaration and return a DMSREJ notification to the submitter</a:t>
                      </a:r>
                    </a:p>
                  </a:txBody>
                  <a:tcPr>
                    <a:solidFill>
                      <a:srgbClr val="E7EEEE"/>
                    </a:solidFill>
                  </a:tcPr>
                </a:tc>
                <a:extLst>
                  <a:ext uri="{0D108BD9-81ED-4DB2-BD59-A6C34878D82A}">
                    <a16:rowId xmlns:a16="http://schemas.microsoft.com/office/drawing/2014/main" val="1003652622"/>
                  </a:ext>
                </a:extLst>
              </a:tr>
            </a:tbl>
          </a:graphicData>
        </a:graphic>
      </p:graphicFrame>
      <p:graphicFrame>
        <p:nvGraphicFramePr>
          <p:cNvPr id="28" name="Table 27">
            <a:extLst>
              <a:ext uri="{FF2B5EF4-FFF2-40B4-BE49-F238E27FC236}">
                <a16:creationId xmlns:a16="http://schemas.microsoft.com/office/drawing/2014/main" id="{E5784795-86DE-53EE-21FD-D8DB7753975C}"/>
              </a:ext>
            </a:extLst>
          </p:cNvPr>
          <p:cNvGraphicFramePr>
            <a:graphicFrameLocks noGrp="1"/>
          </p:cNvGraphicFramePr>
          <p:nvPr/>
        </p:nvGraphicFramePr>
        <p:xfrm>
          <a:off x="339635" y="5030423"/>
          <a:ext cx="11160000" cy="92747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‘Y’ or ‘Z’ declared in DE 1/2 at header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The first 4 digits of coded identification of location subfield must be ‘UKIM’ in DE 5/23. </a:t>
                      </a:r>
                      <a:r>
                        <a:rPr lang="en-GB" sz="1200" dirty="0"/>
                        <a:t>If this requirement is not met 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bl>
          </a:graphicData>
        </a:graphic>
      </p:graphicFrame>
      <p:sp>
        <p:nvSpPr>
          <p:cNvPr id="29" name="Footer Placeholder 28">
            <a:extLst>
              <a:ext uri="{FF2B5EF4-FFF2-40B4-BE49-F238E27FC236}">
                <a16:creationId xmlns:a16="http://schemas.microsoft.com/office/drawing/2014/main" id="{4FEF2F40-9057-20F0-12A5-791B5A0338AE}"/>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30" name="Slide Number Placeholder 29">
            <a:extLst>
              <a:ext uri="{FF2B5EF4-FFF2-40B4-BE49-F238E27FC236}">
                <a16:creationId xmlns:a16="http://schemas.microsoft.com/office/drawing/2014/main" id="{55BCFB43-0644-0AAD-D622-AF9F55D9654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1969483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BA12C8-EC34-4349-5789-73EA94564EB2}"/>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E0CFE6B-431F-A393-A7E9-A443A44CF54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4FB0A84-942F-8D34-BC76-1BC003D56071}"/>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B1C0AE2-3A5E-8C59-EAA4-1FA3F6052695}"/>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1A042C2D-E935-F997-1B91-E0B99512F896}"/>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72337E26-C42C-47C9-4A35-BFA6EAF7B878}"/>
              </a:ext>
            </a:extLst>
          </p:cNvPr>
          <p:cNvSpPr/>
          <p:nvPr/>
        </p:nvSpPr>
        <p:spPr>
          <a:xfrm>
            <a:off x="592183" y="4007852"/>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8" name="TextBox 11">
            <a:extLst>
              <a:ext uri="{FF2B5EF4-FFF2-40B4-BE49-F238E27FC236}">
                <a16:creationId xmlns:a16="http://schemas.microsoft.com/office/drawing/2014/main" id="{814E9B0C-CA9D-5777-112E-CA1876F2B30B}"/>
              </a:ext>
            </a:extLst>
          </p:cNvPr>
          <p:cNvSpPr txBox="1"/>
          <p:nvPr/>
        </p:nvSpPr>
        <p:spPr>
          <a:xfrm>
            <a:off x="233059" y="938498"/>
            <a:ext cx="11742873" cy="2585323"/>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Mandating Document identifiers where a Supplementary Declaration APC has been declared</a:t>
            </a:r>
            <a:endParaRPr kumimoji="0" lang="en-GB" sz="1200" b="0" i="0" u="sng"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CDS will mandate certain previous document identifiers when specific Supplementary Declaration Additional procedure codes are declared.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a:ea typeface="Calibri"/>
                <a:cs typeface="Calibri"/>
              </a:rPr>
              <a:t>Pre-requisite:</a:t>
            </a:r>
            <a:b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prstClr val="black"/>
                </a:solidFill>
                <a:effectLst/>
                <a:uLnTx/>
                <a:uFillTx/>
                <a:latin typeface="Calibri"/>
                <a:ea typeface="Calibri"/>
                <a:cs typeface="Calibri"/>
              </a:rPr>
              <a:t>A Type Y or Z Import Supplementary declaration has been submitted amended or arrived.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11" name="Rectangle 2">
            <a:extLst>
              <a:ext uri="{FF2B5EF4-FFF2-40B4-BE49-F238E27FC236}">
                <a16:creationId xmlns:a16="http://schemas.microsoft.com/office/drawing/2014/main" id="{0C9B525A-3E63-B2D9-1C01-933114BCCE97}"/>
              </a:ext>
            </a:extLst>
          </p:cNvPr>
          <p:cNvSpPr/>
          <p:nvPr/>
        </p:nvSpPr>
        <p:spPr>
          <a:xfrm>
            <a:off x="396721" y="2360826"/>
            <a:ext cx="64" cy="611687"/>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000000"/>
              </a:solidFill>
              <a:effectLst/>
              <a:uLnTx/>
              <a:uFillTx/>
              <a:latin typeface="Arial" pitchFamily="34"/>
              <a:ea typeface="+mn-ea"/>
              <a:cs typeface="+mn-cs"/>
            </a:endParaRPr>
          </a:p>
        </p:txBody>
      </p:sp>
      <p:graphicFrame>
        <p:nvGraphicFramePr>
          <p:cNvPr id="9" name="Table 8">
            <a:extLst>
              <a:ext uri="{FF2B5EF4-FFF2-40B4-BE49-F238E27FC236}">
                <a16:creationId xmlns:a16="http://schemas.microsoft.com/office/drawing/2014/main" id="{41932FF8-D153-29C9-9EB7-8FB41A8F1C35}"/>
              </a:ext>
            </a:extLst>
          </p:cNvPr>
          <p:cNvGraphicFramePr>
            <a:graphicFrameLocks noGrp="1"/>
          </p:cNvGraphicFramePr>
          <p:nvPr/>
        </p:nvGraphicFramePr>
        <p:xfrm>
          <a:off x="339635" y="2112138"/>
          <a:ext cx="11160000" cy="193331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a:t>Condition</a:t>
                      </a:r>
                    </a:p>
                  </a:txBody>
                  <a:tcPr>
                    <a:solidFill>
                      <a:srgbClr val="009999"/>
                    </a:solidFill>
                  </a:tcPr>
                </a:tc>
                <a:tc>
                  <a:txBody>
                    <a:bodyPr/>
                    <a:lstStyle/>
                    <a:p>
                      <a:r>
                        <a:rPr lang="en-GB" sz="1200" dirty="0"/>
                        <a:t>Requirement/Outcome</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dirty="0"/>
                        <a:t>Additional Procedure Code ‘1RD’ in DE 1/11 at item level </a:t>
                      </a:r>
                      <a:r>
                        <a:rPr lang="en-GB" sz="1200" b="1" dirty="0"/>
                        <a:t>and </a:t>
                      </a:r>
                    </a:p>
                    <a:p>
                      <a:r>
                        <a:rPr lang="en-GB" sz="1200" dirty="0"/>
                        <a:t>Previous Document Type ‘DCR’ in DE 2/1 at header level </a:t>
                      </a:r>
                    </a:p>
                  </a:txBody>
                  <a:tcPr>
                    <a:solidFill>
                      <a:srgbClr val="CBDCDB"/>
                    </a:solidFill>
                  </a:tcPr>
                </a:tc>
                <a:tc>
                  <a:txBody>
                    <a:bodyPr/>
                    <a:lstStyle/>
                    <a:p>
                      <a:r>
                        <a:rPr lang="en-GB" sz="1200" dirty="0"/>
                        <a:t>The previous document identifier on at least one ‘DCR’ document entry must begin with ‘RSD’ as the first three characters. </a:t>
                      </a:r>
                    </a:p>
                    <a:p>
                      <a:r>
                        <a:rPr lang="en-GB" sz="1200" dirty="0"/>
                        <a:t>If this requirement is not met CDS will reject the declaration and return a DMSREJ notification to the submitter</a:t>
                      </a:r>
                    </a:p>
                  </a:txBody>
                  <a:tcPr>
                    <a:solidFill>
                      <a:srgbClr val="CBDCDB"/>
                    </a:solidFill>
                  </a:tcPr>
                </a:tc>
                <a:extLst>
                  <a:ext uri="{0D108BD9-81ED-4DB2-BD59-A6C34878D82A}">
                    <a16:rowId xmlns:a16="http://schemas.microsoft.com/office/drawing/2014/main" val="676372353"/>
                  </a:ext>
                </a:extLst>
              </a:tr>
              <a:tr h="302521">
                <a:tc>
                  <a:txBody>
                    <a:bodyPr/>
                    <a:lstStyle/>
                    <a:p>
                      <a:r>
                        <a:rPr lang="en-GB" sz="1200" dirty="0"/>
                        <a:t>Additional Procedure Code ‘1AG’ in DE 1/11 at item level </a:t>
                      </a:r>
                      <a:r>
                        <a:rPr lang="en-GB" sz="1200" b="1" dirty="0"/>
                        <a:t>and </a:t>
                      </a:r>
                    </a:p>
                    <a:p>
                      <a:r>
                        <a:rPr lang="en-GB" sz="1200" dirty="0"/>
                        <a:t>Previous Document Type ‘DCR’ in DE 2/1 at header level </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latin typeface="+mn-lt"/>
                          <a:ea typeface="Calibri"/>
                          <a:cs typeface="Calibri"/>
                        </a:rPr>
                        <a:t>The previous document identifier on at least one 'DCR' document entry must begin with ‘AGG’ as the first three characters.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If this requirement is not met CDS will reject the declaration and return a DMSREJ notification to the submitter</a:t>
                      </a:r>
                    </a:p>
                  </a:txBody>
                  <a:tcPr>
                    <a:solidFill>
                      <a:srgbClr val="E7EEEE"/>
                    </a:solidFill>
                  </a:tcPr>
                </a:tc>
                <a:extLst>
                  <a:ext uri="{0D108BD9-81ED-4DB2-BD59-A6C34878D82A}">
                    <a16:rowId xmlns:a16="http://schemas.microsoft.com/office/drawing/2014/main" val="1003652622"/>
                  </a:ext>
                </a:extLst>
              </a:tr>
            </a:tbl>
          </a:graphicData>
        </a:graphic>
      </p:graphicFrame>
      <p:sp>
        <p:nvSpPr>
          <p:cNvPr id="10" name="Footer Placeholder 9">
            <a:extLst>
              <a:ext uri="{FF2B5EF4-FFF2-40B4-BE49-F238E27FC236}">
                <a16:creationId xmlns:a16="http://schemas.microsoft.com/office/drawing/2014/main" id="{B931FC4F-AB2D-2537-DA3F-3CD8EEAD3A0A}"/>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CDS External Release Scope Guidance Document</a:t>
            </a:r>
          </a:p>
        </p:txBody>
      </p:sp>
      <p:sp>
        <p:nvSpPr>
          <p:cNvPr id="12" name="Slide Number Placeholder 11">
            <a:extLst>
              <a:ext uri="{FF2B5EF4-FFF2-40B4-BE49-F238E27FC236}">
                <a16:creationId xmlns:a16="http://schemas.microsoft.com/office/drawing/2014/main" id="{91E729AD-5F5E-D6FB-37E1-B2E6C6DBFA3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4B48B1-1197-4F9F-8D61-6ADBBBC3D0AA}"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613009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a:extLst>
              <a:ext uri="{FF2B5EF4-FFF2-40B4-BE49-F238E27FC236}">
                <a16:creationId xmlns:a16="http://schemas.microsoft.com/office/drawing/2014/main" id="{9105E830-6E06-4C30-9D12-A474D0A940A1}"/>
              </a:ext>
            </a:extLst>
          </p:cNvPr>
          <p:cNvSpPr/>
          <p:nvPr/>
        </p:nvSpPr>
        <p:spPr>
          <a:xfrm>
            <a:off x="363967" y="2644747"/>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extLst>
              <p:ext uri="{D42A27DB-BD31-4B8C-83A1-F6EECF244321}">
                <p14:modId xmlns:p14="http://schemas.microsoft.com/office/powerpoint/2010/main" val="602194461"/>
              </p:ext>
            </p:extLst>
          </p:nvPr>
        </p:nvGraphicFramePr>
        <p:xfrm>
          <a:off x="469412" y="3438525"/>
          <a:ext cx="11378564" cy="585390"/>
        </p:xfrm>
        <a:graphic>
          <a:graphicData uri="http://schemas.openxmlformats.org/drawingml/2006/table">
            <a:tbl>
              <a:tblPr firstRow="1" bandRow="1">
                <a:effectLst/>
                <a:tableStyleId>{5C22544A-7EE6-4342-B048-85BDC9FD1C3A}</a:tableStyleId>
              </a:tblPr>
              <a:tblGrid>
                <a:gridCol w="11378564">
                  <a:extLst>
                    <a:ext uri="{9D8B030D-6E8A-4147-A177-3AD203B41FA5}">
                      <a16:colId xmlns:a16="http://schemas.microsoft.com/office/drawing/2014/main" val="3681585703"/>
                    </a:ext>
                  </a:extLst>
                </a:gridCol>
              </a:tblGrid>
              <a:tr h="271292">
                <a:tc>
                  <a:txBody>
                    <a:bodyPr/>
                    <a:lstStyle/>
                    <a:p>
                      <a:pPr lvl="0" algn="ctr"/>
                      <a:r>
                        <a:rPr lang="en-GB" sz="1200" dirty="0"/>
                        <a:t>TTM31.0 (CDS 4.9.0)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17/09/2025,</a:t>
                      </a:r>
                      <a:r>
                        <a:rPr lang="en-GB" sz="1200" b="0" dirty="0">
                          <a:solidFill>
                            <a:srgbClr val="000000"/>
                          </a:solidFill>
                        </a:rPr>
                        <a:t> </a:t>
                      </a:r>
                      <a:r>
                        <a:rPr lang="en-GB" sz="1200" b="1" dirty="0">
                          <a:solidFill>
                            <a:srgbClr val="000000"/>
                          </a:solidFill>
                        </a:rPr>
                        <a:t>TDR: 30/09/2025,</a:t>
                      </a:r>
                      <a:r>
                        <a:rPr lang="en-GB" sz="1200" b="0" dirty="0">
                          <a:solidFill>
                            <a:srgbClr val="000000"/>
                          </a:solidFill>
                        </a:rPr>
                        <a:t> </a:t>
                      </a:r>
                      <a:r>
                        <a:rPr lang="en-GB" sz="1200" b="1" dirty="0">
                          <a:solidFill>
                            <a:srgbClr val="000000"/>
                          </a:solidFill>
                        </a:rPr>
                        <a:t>Live: 27/09/2025</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69412" y="4031098"/>
          <a:ext cx="11378564" cy="2086995"/>
        </p:xfrm>
        <a:graphic>
          <a:graphicData uri="http://schemas.openxmlformats.org/drawingml/2006/table">
            <a:tbl>
              <a:tblPr firstRow="1" bandRow="1">
                <a:effectLst/>
                <a:tableStyleId>{5C22544A-7EE6-4342-B048-85BDC9FD1C3A}</a:tableStyleId>
              </a:tblPr>
              <a:tblGrid>
                <a:gridCol w="2844641">
                  <a:extLst>
                    <a:ext uri="{9D8B030D-6E8A-4147-A177-3AD203B41FA5}">
                      <a16:colId xmlns:a16="http://schemas.microsoft.com/office/drawing/2014/main" val="2226360519"/>
                    </a:ext>
                  </a:extLst>
                </a:gridCol>
                <a:gridCol w="2844641">
                  <a:extLst>
                    <a:ext uri="{9D8B030D-6E8A-4147-A177-3AD203B41FA5}">
                      <a16:colId xmlns:a16="http://schemas.microsoft.com/office/drawing/2014/main" val="763822440"/>
                    </a:ext>
                  </a:extLst>
                </a:gridCol>
                <a:gridCol w="2844641">
                  <a:extLst>
                    <a:ext uri="{9D8B030D-6E8A-4147-A177-3AD203B41FA5}">
                      <a16:colId xmlns:a16="http://schemas.microsoft.com/office/drawing/2014/main" val="3390581973"/>
                    </a:ext>
                  </a:extLst>
                </a:gridCol>
                <a:gridCol w="2844641">
                  <a:extLst>
                    <a:ext uri="{9D8B030D-6E8A-4147-A177-3AD203B41FA5}">
                      <a16:colId xmlns:a16="http://schemas.microsoft.com/office/drawing/2014/main" val="2084145098"/>
                    </a:ext>
                  </a:extLst>
                </a:gridCol>
              </a:tblGrid>
              <a:tr h="693338">
                <a:tc>
                  <a:txBody>
                    <a:bodyPr/>
                    <a:lstStyle/>
                    <a:p>
                      <a:pPr marL="0" indent="0">
                        <a:buNone/>
                      </a:pPr>
                      <a:r>
                        <a:rPr lang="en-GB" sz="1200" b="0" i="0" u="none" strike="noStrike" noProof="0">
                          <a:solidFill>
                            <a:srgbClr val="000000"/>
                          </a:solidFill>
                          <a:effectLst/>
                          <a:latin typeface="Calibri"/>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indent="0" algn="l">
                        <a:buFont typeface="Arial" panose="020B0604020202020204" pitchFamily="34" charset="0"/>
                        <a:buNone/>
                      </a:pPr>
                      <a:r>
                        <a:rPr lang="en-GB" sz="1200" b="0" i="0" u="none">
                          <a:solidFill>
                            <a:schemeClr val="tx1"/>
                          </a:solidFill>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Tx/>
                        <a:buNone/>
                      </a:pPr>
                      <a:endParaRPr lang="en-GB" sz="1100" b="0" i="0" u="none" strike="noStrike" noProof="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kern="1200">
                        <a:solidFill>
                          <a:schemeClr val="dk1"/>
                        </a:solidFill>
                        <a:effectLst/>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700319">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a:effectLst/>
                        </a:rPr>
                        <a:t>     </a:t>
                      </a:r>
                    </a:p>
                    <a:p>
                      <a:pPr marL="0" marR="0" lvl="0" indent="0" algn="l" rtl="0" eaLnBrk="1" fontAlgn="auto" latinLnBrk="0" hangingPunct="1">
                        <a:lnSpc>
                          <a:spcPct val="100000"/>
                        </a:lnSpc>
                        <a:spcBef>
                          <a:spcPts val="0"/>
                        </a:spcBef>
                        <a:spcAft>
                          <a:spcPts val="0"/>
                        </a:spcAft>
                        <a:buClrTx/>
                        <a:buSzPct val="100000"/>
                        <a:buNone/>
                      </a:pPr>
                      <a:endParaRPr lang="en-GB" sz="1200" b="0" i="0" u="none" strike="noStrike" noProof="0">
                        <a:solidFill>
                          <a:srgbClr val="000000"/>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effectLst/>
                        </a:rPr>
                        <a:t> </a:t>
                      </a:r>
                    </a:p>
                    <a:p>
                      <a:pPr marL="0" marR="0" lvl="0" indent="0" algn="l">
                        <a:lnSpc>
                          <a:spcPct val="100000"/>
                        </a:lnSpc>
                        <a:spcBef>
                          <a:spcPts val="0"/>
                        </a:spcBef>
                        <a:spcAft>
                          <a:spcPts val="0"/>
                        </a:spcAft>
                        <a:buClrTx/>
                        <a:buNone/>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solidFill>
                            <a:schemeClr val="tx1"/>
                          </a:solidFill>
                          <a:effectLst/>
                        </a:rPr>
                        <a:t> </a:t>
                      </a:r>
                    </a:p>
                    <a:p>
                      <a:pPr marL="171450" marR="0" lvl="0" indent="-171450" algn="l" defTabSz="914400">
                        <a:lnSpc>
                          <a:spcPct val="100000"/>
                        </a:lnSpc>
                        <a:spcBef>
                          <a:spcPts val="0"/>
                        </a:spcBef>
                        <a:spcAft>
                          <a:spcPts val="0"/>
                        </a:spcAft>
                        <a:buClrTx/>
                        <a:buSzPct val="100000"/>
                        <a:buFont typeface="Arial" pitchFamily="34"/>
                        <a:buChar char="•"/>
                        <a:tabLst/>
                        <a:defRPr/>
                      </a:pPr>
                      <a:endParaRPr lang="fr-FR" sz="1200" b="0" u="none">
                        <a:solidFill>
                          <a:schemeClr val="tx1"/>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noProof="0">
                          <a:solidFill>
                            <a:schemeClr val="tx1"/>
                          </a:solidFill>
                          <a:effectLst/>
                          <a:latin typeface="Calibri"/>
                        </a:rPr>
                        <a:t>   </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693338">
                <a:tc>
                  <a:txBody>
                    <a:bodyPr/>
                    <a:lstStyle/>
                    <a:p>
                      <a:pPr marL="0" marR="0" lvl="0" indent="0" algn="l" rtl="0" eaLnBrk="1" fontAlgn="auto" latinLnBrk="0" hangingPunct="1">
                        <a:lnSpc>
                          <a:spcPct val="100000"/>
                        </a:lnSpc>
                        <a:spcBef>
                          <a:spcPts val="0"/>
                        </a:spcBef>
                        <a:spcAft>
                          <a:spcPts val="0"/>
                        </a:spcAft>
                        <a:buClrTx/>
                        <a:buSzPct val="100000"/>
                        <a:buNone/>
                      </a:pPr>
                      <a:endParaRPr lang="en-GB" sz="1200" b="0" i="0" u="none" strike="noStrike" noProof="0">
                        <a:solidFill>
                          <a:srgbClr val="000000"/>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a:lnSpc>
                          <a:spcPct val="100000"/>
                        </a:lnSpc>
                        <a:spcBef>
                          <a:spcPts val="0"/>
                        </a:spcBef>
                        <a:spcAft>
                          <a:spcPts val="0"/>
                        </a:spcAft>
                        <a:buClrTx/>
                        <a:buNone/>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fr-FR" sz="1200" b="0" u="none">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dirty="0">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475014943"/>
                  </a:ext>
                </a:extLst>
              </a:tr>
            </a:tbl>
          </a:graphicData>
        </a:graphic>
      </p:graphicFrame>
      <p:grpSp>
        <p:nvGrpSpPr>
          <p:cNvPr id="17" name="Group 7">
            <a:extLst>
              <a:ext uri="{FF2B5EF4-FFF2-40B4-BE49-F238E27FC236}">
                <a16:creationId xmlns:a16="http://schemas.microsoft.com/office/drawing/2014/main" id="{41E1EFAA-BD97-4E2D-BB61-16E87384F3A2}"/>
              </a:ext>
            </a:extLst>
          </p:cNvPr>
          <p:cNvGrpSpPr/>
          <p:nvPr/>
        </p:nvGrpSpPr>
        <p:grpSpPr>
          <a:xfrm>
            <a:off x="6161416" y="1800986"/>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09837" y="1112388"/>
            <a:ext cx="11280111" cy="1538883"/>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The purpose of this document is to provide </a:t>
            </a:r>
            <a:r>
              <a:rPr kumimoji="0" lang="en-GB" sz="1400" b="0" i="0" u="none" strike="noStrike" kern="0" cap="none" spc="0" normalizeH="0" baseline="0" noProof="0">
                <a:ln>
                  <a:noFill/>
                </a:ln>
                <a:solidFill>
                  <a:srgbClr val="000000"/>
                </a:solidFill>
                <a:effectLst/>
                <a:uLnTx/>
                <a:uFillTx/>
                <a:latin typeface="Calibri"/>
                <a:ea typeface="Calibri"/>
                <a:cs typeface="Calibri"/>
              </a:rPr>
              <a:t>External Developers</a:t>
            </a:r>
            <a:r>
              <a:rPr kumimoji="0" lang="en-GB" sz="1400" b="0" i="0" u="none" strike="noStrike" kern="1200" cap="none" spc="0" normalizeH="0" baseline="0" noProof="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hlinkClick r:id="rId3"/>
              </a:rPr>
              <a:t>Technical Documentation</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a:ea typeface="Calibri"/>
                <a:cs typeface="Calibri"/>
                <a:hlinkClick r:id="rId4"/>
              </a:rPr>
              <a:t>SDSTeam@hmrc.gov.uk</a:t>
            </a:r>
            <a:r>
              <a:rPr kumimoji="0" lang="en-GB" sz="1400" b="0" i="0" u="none" strike="noStrike" kern="1200" cap="none" spc="0" normalizeH="0" baseline="0" noProof="0">
                <a:ln>
                  <a:noFill/>
                </a:ln>
                <a:solidFill>
                  <a:srgbClr val="000000"/>
                </a:solidFill>
                <a:effectLst/>
                <a:uLnTx/>
                <a:uFillTx/>
                <a:latin typeface="Calibri"/>
                <a:ea typeface="Calibri"/>
                <a:cs typeface="Calibri"/>
              </a:rPr>
              <a:t>.</a:t>
            </a: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20" name="Footer Placeholder 1">
            <a:extLst>
              <a:ext uri="{FF2B5EF4-FFF2-40B4-BE49-F238E27FC236}">
                <a16:creationId xmlns:a16="http://schemas.microsoft.com/office/drawing/2014/main" id="{A21A1122-B829-80FE-C15B-A27655C0ABE8}"/>
              </a:ext>
            </a:extLst>
          </p:cNvPr>
          <p:cNvSpPr txBox="1"/>
          <p:nvPr/>
        </p:nvSpPr>
        <p:spPr>
          <a:xfrm>
            <a:off x="2961869" y="6518767"/>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grpSp>
        <p:nvGrpSpPr>
          <p:cNvPr id="2" name="Group 1">
            <a:extLst>
              <a:ext uri="{FF2B5EF4-FFF2-40B4-BE49-F238E27FC236}">
                <a16:creationId xmlns:a16="http://schemas.microsoft.com/office/drawing/2014/main" id="{874DC40D-C241-796E-C6DF-D8BC6E5C8296}"/>
              </a:ext>
            </a:extLst>
          </p:cNvPr>
          <p:cNvGrpSpPr/>
          <p:nvPr/>
        </p:nvGrpSpPr>
        <p:grpSpPr>
          <a:xfrm>
            <a:off x="469412" y="3034496"/>
            <a:ext cx="8527215" cy="331808"/>
            <a:chOff x="474672" y="3064839"/>
            <a:chExt cx="8527215" cy="331808"/>
          </a:xfrm>
        </p:grpSpPr>
        <p:sp>
          <p:nvSpPr>
            <p:cNvPr id="3" name="Rectangle 10">
              <a:extLst>
                <a:ext uri="{FF2B5EF4-FFF2-40B4-BE49-F238E27FC236}">
                  <a16:creationId xmlns:a16="http://schemas.microsoft.com/office/drawing/2014/main" id="{94168FC7-34EF-4114-A530-1D726C05FA50}"/>
                </a:ext>
              </a:extLst>
            </p:cNvPr>
            <p:cNvSpPr/>
            <p:nvPr/>
          </p:nvSpPr>
          <p:spPr>
            <a:xfrm>
              <a:off x="474672" y="3064839"/>
              <a:ext cx="849961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60989" y="3092244"/>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13" name="Group 4">
              <a:extLst>
                <a:ext uri="{FF2B5EF4-FFF2-40B4-BE49-F238E27FC236}">
                  <a16:creationId xmlns:a16="http://schemas.microsoft.com/office/drawing/2014/main" id="{A92579FC-9F94-41B6-AA6C-7D87C27C7DEC}"/>
                </a:ext>
              </a:extLst>
            </p:cNvPr>
            <p:cNvGrpSpPr/>
            <p:nvPr/>
          </p:nvGrpSpPr>
          <p:grpSpPr>
            <a:xfrm>
              <a:off x="2685253" y="3092244"/>
              <a:ext cx="325875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74672" y="3065425"/>
              <a:ext cx="49231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sp>
          <p:nvSpPr>
            <p:cNvPr id="21" name="TextBox 7">
              <a:extLst>
                <a:ext uri="{FF2B5EF4-FFF2-40B4-BE49-F238E27FC236}">
                  <a16:creationId xmlns:a16="http://schemas.microsoft.com/office/drawing/2014/main" id="{3F5C3486-6149-AFCB-2DB7-5E9BC3A0AE18}"/>
                </a:ext>
              </a:extLst>
            </p:cNvPr>
            <p:cNvSpPr txBox="1"/>
            <p:nvPr/>
          </p:nvSpPr>
          <p:spPr>
            <a:xfrm>
              <a:off x="5743135" y="3092244"/>
              <a:ext cx="325875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TDR only</a:t>
              </a:r>
            </a:p>
          </p:txBody>
        </p:sp>
        <p:sp>
          <p:nvSpPr>
            <p:cNvPr id="22" name="Oval 16">
              <a:extLst>
                <a:ext uri="{FF2B5EF4-FFF2-40B4-BE49-F238E27FC236}">
                  <a16:creationId xmlns:a16="http://schemas.microsoft.com/office/drawing/2014/main" id="{82CB8AD1-6F50-514F-71B5-D9DB42ECC32E}"/>
                </a:ext>
              </a:extLst>
            </p:cNvPr>
            <p:cNvSpPr/>
            <p:nvPr/>
          </p:nvSpPr>
          <p:spPr>
            <a:xfrm>
              <a:off x="5743135" y="3160248"/>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60" name="TextBox 59">
            <a:extLst>
              <a:ext uri="{FF2B5EF4-FFF2-40B4-BE49-F238E27FC236}">
                <a16:creationId xmlns:a16="http://schemas.microsoft.com/office/drawing/2014/main" id="{AB660DEB-8923-26B2-A944-53E6EE162F1E}"/>
              </a:ext>
            </a:extLst>
          </p:cNvPr>
          <p:cNvSpPr txBox="1"/>
          <p:nvPr/>
        </p:nvSpPr>
        <p:spPr>
          <a:xfrm>
            <a:off x="3606621" y="4111460"/>
            <a:ext cx="2122392"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a:cs typeface="Calibri"/>
              </a:rPr>
              <a:t>Simplifying Customs Declarations  </a:t>
            </a:r>
            <a:endParaRPr kumimoji="0" lang="en-GB" sz="1200" b="0" i="0" u="none" strike="noStrike" kern="1200" cap="none" spc="0" normalizeH="0" baseline="0" noProof="0">
              <a:ln>
                <a:noFill/>
              </a:ln>
              <a:solidFill>
                <a:prstClr val="black"/>
              </a:solidFill>
              <a:effectLst/>
              <a:uLnTx/>
              <a:uFillTx/>
              <a:latin typeface="Calibri"/>
              <a:ea typeface="Calibri" panose="020F0502020204030204" pitchFamily="34" charset="0"/>
              <a:cs typeface="Arial"/>
            </a:endParaRPr>
          </a:p>
        </p:txBody>
      </p:sp>
      <p:sp>
        <p:nvSpPr>
          <p:cNvPr id="67" name="TextBox 66">
            <a:extLst>
              <a:ext uri="{FF2B5EF4-FFF2-40B4-BE49-F238E27FC236}">
                <a16:creationId xmlns:a16="http://schemas.microsoft.com/office/drawing/2014/main" id="{8A62237D-EBF8-ACCC-29A4-533D5667BD70}"/>
              </a:ext>
            </a:extLst>
          </p:cNvPr>
          <p:cNvSpPr txBox="1"/>
          <p:nvPr/>
        </p:nvSpPr>
        <p:spPr>
          <a:xfrm>
            <a:off x="3606621" y="4789833"/>
            <a:ext cx="2533143"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Simplifying Customs Declarations - Making DE 1/9 Optional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Oval 16">
            <a:extLst>
              <a:ext uri="{FF2B5EF4-FFF2-40B4-BE49-F238E27FC236}">
                <a16:creationId xmlns:a16="http://schemas.microsoft.com/office/drawing/2014/main" id="{EFB285EC-AD21-C68E-0A62-DD8A4F162511}"/>
              </a:ext>
            </a:extLst>
          </p:cNvPr>
          <p:cNvSpPr/>
          <p:nvPr/>
        </p:nvSpPr>
        <p:spPr>
          <a:xfrm>
            <a:off x="6290154" y="427132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A80BD74B-EC8F-0EE0-EF14-6B4E6DA025D0}"/>
              </a:ext>
            </a:extLst>
          </p:cNvPr>
          <p:cNvSpPr txBox="1"/>
          <p:nvPr/>
        </p:nvSpPr>
        <p:spPr>
          <a:xfrm>
            <a:off x="815660" y="4766443"/>
            <a:ext cx="2428446" cy="77905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a:cs typeface="Arial"/>
              </a:rPr>
              <a:t>UKIMS EIDR Additional Validation - DMS CR Changes</a:t>
            </a:r>
          </a:p>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Geneva"/>
              <a:cs typeface="Calibri"/>
            </a:endParaRPr>
          </a:p>
        </p:txBody>
      </p:sp>
      <p:sp>
        <p:nvSpPr>
          <p:cNvPr id="35" name="TextBox 34">
            <a:extLst>
              <a:ext uri="{FF2B5EF4-FFF2-40B4-BE49-F238E27FC236}">
                <a16:creationId xmlns:a16="http://schemas.microsoft.com/office/drawing/2014/main" id="{B69B4CCF-5AFB-23E0-202D-A778DC431FD9}"/>
              </a:ext>
            </a:extLst>
          </p:cNvPr>
          <p:cNvSpPr txBox="1"/>
          <p:nvPr/>
        </p:nvSpPr>
        <p:spPr>
          <a:xfrm>
            <a:off x="800259" y="4111460"/>
            <a:ext cx="2122392"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panose="020F0502020204030204" pitchFamily="34" charset="0"/>
                <a:cs typeface="Arial"/>
              </a:rPr>
              <a:t>Single EU Member State Conversion</a:t>
            </a:r>
          </a:p>
        </p:txBody>
      </p:sp>
      <p:sp>
        <p:nvSpPr>
          <p:cNvPr id="8" name="TextBox 7">
            <a:extLst>
              <a:ext uri="{FF2B5EF4-FFF2-40B4-BE49-F238E27FC236}">
                <a16:creationId xmlns:a16="http://schemas.microsoft.com/office/drawing/2014/main" id="{1157FD52-53AC-DF8C-4A2D-4CB26B1CD7DC}"/>
              </a:ext>
            </a:extLst>
          </p:cNvPr>
          <p:cNvSpPr txBox="1"/>
          <p:nvPr/>
        </p:nvSpPr>
        <p:spPr>
          <a:xfrm>
            <a:off x="3666855" y="5599687"/>
            <a:ext cx="253314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a:ea typeface="+mn-ea"/>
                <a:cs typeface="+mn-cs"/>
              </a:rPr>
              <a:t>Validation of </a:t>
            </a:r>
            <a:r>
              <a:rPr kumimoji="0" lang="en-GB" sz="1200" b="0" i="0" u="none" strike="noStrike" kern="1200" cap="none" spc="0" normalizeH="0" baseline="0" noProof="0" err="1">
                <a:ln>
                  <a:noFill/>
                </a:ln>
                <a:solidFill>
                  <a:srgbClr val="000000"/>
                </a:solidFill>
                <a:effectLst/>
                <a:uLnTx/>
                <a:uFillTx/>
                <a:latin typeface="Calibri"/>
                <a:ea typeface="+mn-ea"/>
                <a:cs typeface="+mn-cs"/>
              </a:rPr>
              <a:t>AbD</a:t>
            </a:r>
            <a:r>
              <a:rPr kumimoji="0" lang="en-GB" sz="1200" b="0" i="0" u="none" strike="noStrike" kern="1200" cap="none" spc="0" normalizeH="0" baseline="0" noProof="0">
                <a:ln>
                  <a:noFill/>
                </a:ln>
                <a:solidFill>
                  <a:srgbClr val="000000"/>
                </a:solidFill>
                <a:effectLst/>
                <a:uLnTx/>
                <a:uFillTx/>
                <a:latin typeface="Calibri"/>
                <a:ea typeface="+mn-ea"/>
                <a:cs typeface="+mn-cs"/>
              </a:rPr>
              <a:t> Identifiers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C9FFC71A-BF14-7160-5BE5-DBB9537E5139}"/>
              </a:ext>
            </a:extLst>
          </p:cNvPr>
          <p:cNvSpPr txBox="1"/>
          <p:nvPr/>
        </p:nvSpPr>
        <p:spPr>
          <a:xfrm>
            <a:off x="800259" y="5516602"/>
            <a:ext cx="2122392"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a:cs typeface="Calibri"/>
              </a:rPr>
              <a:t>Low-Value Goods Procedures: Item Value Validation</a:t>
            </a:r>
          </a:p>
        </p:txBody>
      </p:sp>
      <p:sp>
        <p:nvSpPr>
          <p:cNvPr id="30" name="Oval 16">
            <a:extLst>
              <a:ext uri="{FF2B5EF4-FFF2-40B4-BE49-F238E27FC236}">
                <a16:creationId xmlns:a16="http://schemas.microsoft.com/office/drawing/2014/main" id="{D6BA9ADC-793E-9889-7455-7883B4188B49}"/>
              </a:ext>
            </a:extLst>
          </p:cNvPr>
          <p:cNvSpPr/>
          <p:nvPr/>
        </p:nvSpPr>
        <p:spPr>
          <a:xfrm>
            <a:off x="607708" y="426018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16">
            <a:extLst>
              <a:ext uri="{FF2B5EF4-FFF2-40B4-BE49-F238E27FC236}">
                <a16:creationId xmlns:a16="http://schemas.microsoft.com/office/drawing/2014/main" id="{D29AEB62-7B8B-39C6-FEA1-EB358EB39F92}"/>
              </a:ext>
            </a:extLst>
          </p:cNvPr>
          <p:cNvSpPr/>
          <p:nvPr/>
        </p:nvSpPr>
        <p:spPr>
          <a:xfrm>
            <a:off x="607707" y="494775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Oval 16">
            <a:extLst>
              <a:ext uri="{FF2B5EF4-FFF2-40B4-BE49-F238E27FC236}">
                <a16:creationId xmlns:a16="http://schemas.microsoft.com/office/drawing/2014/main" id="{08F5330B-A625-0E05-43E3-EDFB0BCF2872}"/>
              </a:ext>
            </a:extLst>
          </p:cNvPr>
          <p:cNvSpPr/>
          <p:nvPr/>
        </p:nvSpPr>
        <p:spPr>
          <a:xfrm>
            <a:off x="607707" y="566744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Oval 16">
            <a:extLst>
              <a:ext uri="{FF2B5EF4-FFF2-40B4-BE49-F238E27FC236}">
                <a16:creationId xmlns:a16="http://schemas.microsoft.com/office/drawing/2014/main" id="{241D603B-F25E-5294-CEC8-BCB0F88C628E}"/>
              </a:ext>
            </a:extLst>
          </p:cNvPr>
          <p:cNvSpPr/>
          <p:nvPr/>
        </p:nvSpPr>
        <p:spPr>
          <a:xfrm>
            <a:off x="3432120" y="428502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Oval 16">
            <a:extLst>
              <a:ext uri="{FF2B5EF4-FFF2-40B4-BE49-F238E27FC236}">
                <a16:creationId xmlns:a16="http://schemas.microsoft.com/office/drawing/2014/main" id="{9DD3DD9D-4F77-8237-B35F-8C2A1709C398}"/>
              </a:ext>
            </a:extLst>
          </p:cNvPr>
          <p:cNvSpPr/>
          <p:nvPr/>
        </p:nvSpPr>
        <p:spPr>
          <a:xfrm>
            <a:off x="3429886" y="494775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16">
            <a:extLst>
              <a:ext uri="{FF2B5EF4-FFF2-40B4-BE49-F238E27FC236}">
                <a16:creationId xmlns:a16="http://schemas.microsoft.com/office/drawing/2014/main" id="{7CAC8C2C-648C-9947-D138-782830AD0649}"/>
              </a:ext>
            </a:extLst>
          </p:cNvPr>
          <p:cNvSpPr/>
          <p:nvPr/>
        </p:nvSpPr>
        <p:spPr>
          <a:xfrm>
            <a:off x="3429885" y="566744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60">
            <a:extLst>
              <a:ext uri="{FF2B5EF4-FFF2-40B4-BE49-F238E27FC236}">
                <a16:creationId xmlns:a16="http://schemas.microsoft.com/office/drawing/2014/main" id="{4F11A9AE-5E68-DFC7-EC50-B34317953424}"/>
              </a:ext>
            </a:extLst>
          </p:cNvPr>
          <p:cNvSpPr txBox="1"/>
          <p:nvPr/>
        </p:nvSpPr>
        <p:spPr>
          <a:xfrm>
            <a:off x="6519350" y="4191148"/>
            <a:ext cx="2233238" cy="281231"/>
          </a:xfrm>
          <a:prstGeom prst="rect">
            <a:avLst/>
          </a:prstGeom>
          <a:noFill/>
        </p:spPr>
        <p:txBody>
          <a:bodyPr wrap="square" lIns="91440" tIns="45720" rIns="91440" bIns="45720" rtlCol="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a:cs typeface="Calibri"/>
              </a:rPr>
              <a:t>Country of Destination</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10763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512548"/>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2185214"/>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Single EU Member State Conversion</a:t>
            </a: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Calibri"/>
              </a:rPr>
              <a:t>Defining trader use of "EU" in Country of Dispatch/Country of Origin and Country of Preferential Origin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Traders will only be allowed to declare "EU" as a country code in country of preferential origin and when they do declare "EU“, they must also declare a country of origin in DE 5/15. Traders can declare both the country of origin and the country of preferential origin.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validate based on the conditions shown below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Pre-requisite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A, C, F, D, Y, Z Import Declaration (Procedure Category H1, H2, H3, H4, H5, I1 C&amp;F and I1 B&amp;E) has been submitted, arrived or amended.</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12" name="Table 11">
            <a:extLst>
              <a:ext uri="{FF2B5EF4-FFF2-40B4-BE49-F238E27FC236}">
                <a16:creationId xmlns:a16="http://schemas.microsoft.com/office/drawing/2014/main" id="{7746C170-937D-9B1B-5086-15FC34098C41}"/>
              </a:ext>
            </a:extLst>
          </p:cNvPr>
          <p:cNvGraphicFramePr>
            <a:graphicFrameLocks noGrp="1"/>
          </p:cNvGraphicFramePr>
          <p:nvPr/>
        </p:nvGraphicFramePr>
        <p:xfrm>
          <a:off x="332758" y="3125304"/>
          <a:ext cx="11265020" cy="1802150"/>
        </p:xfrm>
        <a:graphic>
          <a:graphicData uri="http://schemas.openxmlformats.org/drawingml/2006/table">
            <a:tbl>
              <a:tblPr firstRow="1" bandRow="1">
                <a:tableStyleId>{93296810-A885-4BE3-A3E7-6D5BEEA58F35}</a:tableStyleId>
              </a:tblPr>
              <a:tblGrid>
                <a:gridCol w="3821001">
                  <a:extLst>
                    <a:ext uri="{9D8B030D-6E8A-4147-A177-3AD203B41FA5}">
                      <a16:colId xmlns:a16="http://schemas.microsoft.com/office/drawing/2014/main" val="4279161841"/>
                    </a:ext>
                  </a:extLst>
                </a:gridCol>
                <a:gridCol w="7444019">
                  <a:extLst>
                    <a:ext uri="{9D8B030D-6E8A-4147-A177-3AD203B41FA5}">
                      <a16:colId xmlns:a16="http://schemas.microsoft.com/office/drawing/2014/main" val="542067479"/>
                    </a:ext>
                  </a:extLst>
                </a:gridCol>
              </a:tblGrid>
              <a:tr h="303149">
                <a:tc>
                  <a:txBody>
                    <a:bodyPr/>
                    <a:lstStyle/>
                    <a:p>
                      <a:pPr algn="ctr"/>
                      <a:r>
                        <a:rPr lang="en-GB" sz="1200"/>
                        <a:t>Condition</a:t>
                      </a:r>
                    </a:p>
                  </a:txBody>
                  <a:tcPr anchor="ctr">
                    <a:solidFill>
                      <a:srgbClr val="009999"/>
                    </a:solidFill>
                  </a:tcPr>
                </a:tc>
                <a:tc>
                  <a:txBody>
                    <a:bodyPr/>
                    <a:lstStyle/>
                    <a:p>
                      <a:pPr algn="ctr"/>
                      <a:r>
                        <a:rPr lang="en-GB" sz="1200"/>
                        <a:t>Outcome</a:t>
                      </a:r>
                    </a:p>
                  </a:txBody>
                  <a:tcPr anchor="ctr">
                    <a:solidFill>
                      <a:srgbClr val="009999"/>
                    </a:solidFill>
                  </a:tcPr>
                </a:tc>
                <a:extLst>
                  <a:ext uri="{0D108BD9-81ED-4DB2-BD59-A6C34878D82A}">
                    <a16:rowId xmlns:a16="http://schemas.microsoft.com/office/drawing/2014/main" val="2381253783"/>
                  </a:ext>
                </a:extLst>
              </a:tr>
              <a:tr h="286307">
                <a:tc>
                  <a:txBody>
                    <a:bodyPr/>
                    <a:lstStyle/>
                    <a:p>
                      <a:r>
                        <a:rPr lang="en-GB" sz="1200"/>
                        <a:t>Trader declares "EU" in DE 5/14 at item or header level</a:t>
                      </a:r>
                    </a:p>
                  </a:txBody>
                  <a:tcPr anchor="ctr"/>
                </a:tc>
                <a:tc>
                  <a:txBody>
                    <a:bodyPr/>
                    <a:lstStyle/>
                    <a:p>
                      <a:r>
                        <a:rPr lang="en-GB" sz="1200"/>
                        <a:t>CDS will reject the declaration and send a DMSREJ notification to the submitter</a:t>
                      </a:r>
                    </a:p>
                  </a:txBody>
                  <a:tcPr/>
                </a:tc>
                <a:extLst>
                  <a:ext uri="{0D108BD9-81ED-4DB2-BD59-A6C34878D82A}">
                    <a16:rowId xmlns:a16="http://schemas.microsoft.com/office/drawing/2014/main" val="1555940194"/>
                  </a:ext>
                </a:extLst>
              </a:tr>
              <a:tr h="286307">
                <a:tc>
                  <a:txBody>
                    <a:bodyPr/>
                    <a:lstStyle/>
                    <a:p>
                      <a:r>
                        <a:rPr lang="pt-BR" sz="1200"/>
                        <a:t>Trader declares "EU" in DE 5/15 at item level</a:t>
                      </a:r>
                      <a:endParaRPr lang="en-GB" sz="1200"/>
                    </a:p>
                  </a:txBody>
                  <a:tcPr anchor="ctr"/>
                </a:tc>
                <a:tc>
                  <a:txBody>
                    <a:bodyPr/>
                    <a:lstStyle/>
                    <a:p>
                      <a:pPr marL="0" indent="0">
                        <a:buFont typeface="Arial" panose="020B0604020202020204" pitchFamily="34" charset="0"/>
                        <a:buNone/>
                      </a:pPr>
                      <a:r>
                        <a:rPr lang="en-GB" sz="1200"/>
                        <a:t>CDS will reject the declaration and send a DMSREJ notification to the submitter</a:t>
                      </a:r>
                    </a:p>
                  </a:txBody>
                  <a:tcPr/>
                </a:tc>
                <a:extLst>
                  <a:ext uri="{0D108BD9-81ED-4DB2-BD59-A6C34878D82A}">
                    <a16:rowId xmlns:a16="http://schemas.microsoft.com/office/drawing/2014/main" val="2265010969"/>
                  </a:ext>
                </a:extLst>
              </a:tr>
              <a:tr h="286307">
                <a:tc>
                  <a:txBody>
                    <a:bodyPr/>
                    <a:lstStyle/>
                    <a:p>
                      <a:r>
                        <a:rPr lang="pt-BR" sz="1200"/>
                        <a:t>Trader declares "EU" in DE 5/16 at item level</a:t>
                      </a:r>
                      <a:endParaRPr lang="en-GB" sz="1200"/>
                    </a:p>
                  </a:txBody>
                  <a:tcPr anchor="ctr"/>
                </a:tc>
                <a:tc>
                  <a:txBody>
                    <a:bodyPr/>
                    <a:lstStyle/>
                    <a:p>
                      <a:r>
                        <a:rPr lang="en-GB" sz="1200"/>
                        <a:t>CDS will mandate that a trader declares a country code in DE 5/15 against the same goods item</a:t>
                      </a:r>
                    </a:p>
                  </a:txBody>
                  <a:tcPr/>
                </a:tc>
                <a:extLst>
                  <a:ext uri="{0D108BD9-81ED-4DB2-BD59-A6C34878D82A}">
                    <a16:rowId xmlns:a16="http://schemas.microsoft.com/office/drawing/2014/main" val="1182879321"/>
                  </a:ext>
                </a:extLst>
              </a:tr>
              <a:tr h="471564">
                <a:tc>
                  <a:txBody>
                    <a:bodyPr/>
                    <a:lstStyle/>
                    <a:p>
                      <a:r>
                        <a:rPr lang="en-GB" sz="1200"/>
                        <a:t>Trader declares "EU" in DE 5/16 at item level, and does not declare a country code in DE 5/15 against the same goods item</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CDS will reject the declaration and send a DMS rejection notification to the submitter</a:t>
                      </a:r>
                    </a:p>
                  </a:txBody>
                  <a:tcPr/>
                </a:tc>
                <a:extLst>
                  <a:ext uri="{0D108BD9-81ED-4DB2-BD59-A6C34878D82A}">
                    <a16:rowId xmlns:a16="http://schemas.microsoft.com/office/drawing/2014/main" val="1403313755"/>
                  </a:ext>
                </a:extLst>
              </a:tr>
            </a:tbl>
          </a:graphicData>
        </a:graphic>
      </p:graphicFrame>
    </p:spTree>
    <p:extLst>
      <p:ext uri="{BB962C8B-B14F-4D97-AF65-F5344CB8AC3E}">
        <p14:creationId xmlns:p14="http://schemas.microsoft.com/office/powerpoint/2010/main" val="182907460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5270674"/>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UKIMS EIDR Additional Validation - DMS CR Changes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CDS will ensure that where the EIDR document code 'C514' is declared on either SPIMM or Non-SPIMM declarations that is valid for UKIMS-EIDR, that a permissible Additional Procedure Code is declared so that traders follow the UKIMS EIDR process correctly.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rPr>
              <a:t>Additional Procedure Code (APC) Validation for UKIMS EIDR Authorisations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There will be validation on what APCs are permitted on declarations where UKIMS EIDR authorisation is declared.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rPr>
              <a:t>Pre-requisites</a:t>
            </a:r>
          </a:p>
          <a:p>
            <a:pPr marL="0" marR="0" lvl="0" indent="0" algn="l" defTabSz="914400" rtl="0" eaLnBrk="1" fontAlgn="auto" latinLnBrk="0" hangingPunct="1">
              <a:lnSpc>
                <a:spcPct val="100000"/>
              </a:lnSpc>
              <a:spcBef>
                <a:spcPts val="0"/>
              </a:spcBef>
              <a:spcAft>
                <a:spcPts val="0"/>
              </a:spcAft>
              <a:buClrTx/>
              <a:buSzTx/>
              <a:buFont typeface="Calibri Light" panose="020F0302020204030204"/>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'J', 'K', 'Z' (Procedure Categories H1, H8, C21i EIDR NOP) import declaration has been submitted, amended, or arrived. N.B. there is no distinctive procedure category for SPIMM C21i EIDR NOP, so validation captured in this part should apply to the 'regular' C21i EIDR NOP </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and</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SPIMM C21i EIDR NOP.</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Document Code ‘C514’ has been declared in D.E. 2/3 at item level.</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Existing requirements regarding UKIMS-EIDR Authorisation Validation will be met.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Please note that CDS will validate based on the conditions shown below :</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1) Where a trader declares both of the below (1.1-1.2) at item level on the same goods item, then only the APCs in Table 1: UKIMS EIDR APC Restriction Lists SPIMM Declarations should be permitted on the same goods item. If any other APC is declared,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- 1.1. 1SG or 1EN declared in D.E. 1/11.</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- 1.2. UKIMS EIDR (i.e. C514 declared in D.E. 2/3 and the authorisation number quoted is stored as a UKIMS-EIDR number).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2) Where a trader declares all of the below (2.1-2.2) at item level on the same goods item, then only the APCs in Table 2: UKIMS EIDR APC Restriction Lists Non-SPIMM Declarations should be permitted on the same goods item. If any other APC is declared,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- 2.1. None of 1SG, 1EN, 1LG or 1EL declared in D.E. 1/11.</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- 2.2. UKIMS EIDR (i.e. C514 declared in D.E. 2/3 and the authorisation number quoted is stored as a UKIMS-EIDR number)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396377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69889C-CE98-A5FF-D458-5BAD13635632}"/>
            </a:ext>
          </a:extLst>
        </p:cNvPr>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69D5F2C-4FFA-86C2-238A-A3740F7D6CC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BE49A75-F167-C9BE-4E9E-7BD5A5ABC13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C3221C2-9E0A-5008-6BE5-6E3A956F6DD4}"/>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112BA833-D8AF-C1F9-205E-FDAA0DED8F67}"/>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5E0C5965-C0B8-EAC0-F014-FED818434D82}"/>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08074F6A-A4E8-5BC1-5E9F-52149D708B82}"/>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E0E1FDCA-FF49-4558-6164-00FCEBF5048B}"/>
              </a:ext>
            </a:extLst>
          </p:cNvPr>
          <p:cNvSpPr txBox="1"/>
          <p:nvPr/>
        </p:nvSpPr>
        <p:spPr>
          <a:xfrm>
            <a:off x="315463" y="838715"/>
            <a:ext cx="11460152" cy="307777"/>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UKIMS EIDR Additional Validation - DMS CR Changes (continuation)</a:t>
            </a:r>
          </a:p>
        </p:txBody>
      </p:sp>
      <p:sp>
        <p:nvSpPr>
          <p:cNvPr id="14" name="TextBox 13">
            <a:extLst>
              <a:ext uri="{FF2B5EF4-FFF2-40B4-BE49-F238E27FC236}">
                <a16:creationId xmlns:a16="http://schemas.microsoft.com/office/drawing/2014/main" id="{EEBC0147-2113-FA1D-DC8D-148F46AD5D1E}"/>
              </a:ext>
            </a:extLst>
          </p:cNvPr>
          <p:cNvSpPr txBox="1"/>
          <p:nvPr/>
        </p:nvSpPr>
        <p:spPr>
          <a:xfrm>
            <a:off x="325937" y="1075956"/>
            <a:ext cx="4698999" cy="28469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Table 1: UKIMS EIDR APC Restriction Lists 'SPIMM Declarations’</a:t>
            </a:r>
          </a:p>
        </p:txBody>
      </p:sp>
      <p:sp>
        <p:nvSpPr>
          <p:cNvPr id="6" name="TextBox 5">
            <a:extLst>
              <a:ext uri="{FF2B5EF4-FFF2-40B4-BE49-F238E27FC236}">
                <a16:creationId xmlns:a16="http://schemas.microsoft.com/office/drawing/2014/main" id="{52AD5842-4D11-5A23-B2B9-0F0B8DF56AFD}"/>
              </a:ext>
            </a:extLst>
          </p:cNvPr>
          <p:cNvSpPr txBox="1"/>
          <p:nvPr/>
        </p:nvSpPr>
        <p:spPr>
          <a:xfrm>
            <a:off x="5231561" y="1077256"/>
            <a:ext cx="4698999" cy="28469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Table 2: UKIMS EIDR APC Restriction Lists 'Non-SPIMM Declarations' </a:t>
            </a:r>
          </a:p>
        </p:txBody>
      </p:sp>
      <p:graphicFrame>
        <p:nvGraphicFramePr>
          <p:cNvPr id="12" name="Table 11">
            <a:extLst>
              <a:ext uri="{FF2B5EF4-FFF2-40B4-BE49-F238E27FC236}">
                <a16:creationId xmlns:a16="http://schemas.microsoft.com/office/drawing/2014/main" id="{764BE15A-6B99-64DA-E425-7682D106DC7B}"/>
              </a:ext>
            </a:extLst>
          </p:cNvPr>
          <p:cNvGraphicFramePr>
            <a:graphicFrameLocks noGrp="1"/>
          </p:cNvGraphicFramePr>
          <p:nvPr/>
        </p:nvGraphicFramePr>
        <p:xfrm>
          <a:off x="434964" y="1360649"/>
          <a:ext cx="4480943" cy="4914679"/>
        </p:xfrm>
        <a:graphic>
          <a:graphicData uri="http://schemas.openxmlformats.org/drawingml/2006/table">
            <a:tbl>
              <a:tblPr firstRow="1" bandRow="1">
                <a:tableStyleId>{93296810-A885-4BE3-A3E7-6D5BEEA58F35}</a:tableStyleId>
              </a:tblPr>
              <a:tblGrid>
                <a:gridCol w="4480943">
                  <a:extLst>
                    <a:ext uri="{9D8B030D-6E8A-4147-A177-3AD203B41FA5}">
                      <a16:colId xmlns:a16="http://schemas.microsoft.com/office/drawing/2014/main" val="963852825"/>
                    </a:ext>
                  </a:extLst>
                </a:gridCol>
              </a:tblGrid>
              <a:tr h="372748">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Permitted APCs with SPIMM APCs 1SG or 1EN when UKIMS EIDR is used. Other APC combinations will be rejected</a:t>
                      </a:r>
                      <a:endParaRPr lang="en-GB" sz="11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solidFill>
                      <a:srgbClr val="009999"/>
                    </a:solidFill>
                  </a:tcPr>
                </a:tc>
                <a:extLst>
                  <a:ext uri="{0D108BD9-81ED-4DB2-BD59-A6C34878D82A}">
                    <a16:rowId xmlns:a16="http://schemas.microsoft.com/office/drawing/2014/main" val="211999030"/>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1CO</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1181720559"/>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1EN</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1750045257"/>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1GO</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712999362"/>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1GP</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42068972"/>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1NR</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771725955"/>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1RD</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4237641978"/>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1RM</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3412131553"/>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1SC</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3930530026"/>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1SG</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65365079"/>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1SP</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089361520"/>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1SR</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1434186692"/>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1TB</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479480364"/>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1VW</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021686826"/>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1XW</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1338226261"/>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A04</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74935760"/>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A10</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593455773"/>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F44</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999515526"/>
                  </a:ext>
                </a:extLst>
              </a:tr>
              <a:tr h="239049">
                <a:tc>
                  <a:txBody>
                    <a:bodyPr/>
                    <a:lstStyle/>
                    <a:p>
                      <a:pPr algn="l" fontAlgn="b"/>
                      <a:r>
                        <a:rPr lang="en-GB" sz="1100" u="none" strike="noStrike">
                          <a:effectLst/>
                          <a:latin typeface="Calibri" panose="020F0502020204030204" pitchFamily="34" charset="0"/>
                          <a:ea typeface="Calibri" panose="020F0502020204030204" pitchFamily="34" charset="0"/>
                          <a:cs typeface="Calibri" panose="020F0502020204030204" pitchFamily="34" charset="0"/>
                        </a:rPr>
                        <a:t>F46</a:t>
                      </a:r>
                      <a:endParaRPr lang="en-GB"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1110682184"/>
                  </a:ext>
                </a:extLst>
              </a:tr>
              <a:tr h="239049">
                <a:tc>
                  <a:txBody>
                    <a:bodyPr/>
                    <a:lstStyle/>
                    <a:p>
                      <a:pPr algn="l" fontAlgn="b"/>
                      <a:r>
                        <a:rPr lang="en-GB" sz="1100" u="none" strike="noStrike" dirty="0">
                          <a:effectLst/>
                          <a:latin typeface="Calibri" panose="020F0502020204030204" pitchFamily="34" charset="0"/>
                          <a:ea typeface="Calibri" panose="020F0502020204030204" pitchFamily="34" charset="0"/>
                          <a:cs typeface="Calibri" panose="020F0502020204030204" pitchFamily="34" charset="0"/>
                        </a:rPr>
                        <a:t>F47</a:t>
                      </a:r>
                      <a:endParaRPr lang="en-GB"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b"/>
                </a:tc>
                <a:extLst>
                  <a:ext uri="{0D108BD9-81ED-4DB2-BD59-A6C34878D82A}">
                    <a16:rowId xmlns:a16="http://schemas.microsoft.com/office/drawing/2014/main" val="2906206443"/>
                  </a:ext>
                </a:extLst>
              </a:tr>
            </a:tbl>
          </a:graphicData>
        </a:graphic>
      </p:graphicFrame>
      <p:graphicFrame>
        <p:nvGraphicFramePr>
          <p:cNvPr id="15" name="Table 14">
            <a:extLst>
              <a:ext uri="{FF2B5EF4-FFF2-40B4-BE49-F238E27FC236}">
                <a16:creationId xmlns:a16="http://schemas.microsoft.com/office/drawing/2014/main" id="{2C6ACEA5-43FF-CC14-2362-FDF36EDFDFA6}"/>
              </a:ext>
            </a:extLst>
          </p:cNvPr>
          <p:cNvGraphicFramePr>
            <a:graphicFrameLocks noGrp="1"/>
          </p:cNvGraphicFramePr>
          <p:nvPr/>
        </p:nvGraphicFramePr>
        <p:xfrm>
          <a:off x="5231561" y="1371908"/>
          <a:ext cx="6207066" cy="4914681"/>
        </p:xfrm>
        <a:graphic>
          <a:graphicData uri="http://schemas.openxmlformats.org/drawingml/2006/table">
            <a:tbl>
              <a:tblPr firstRow="1" bandRow="1">
                <a:tableStyleId>{93296810-A885-4BE3-A3E7-6D5BEEA58F35}</a:tableStyleId>
              </a:tblPr>
              <a:tblGrid>
                <a:gridCol w="3103533">
                  <a:extLst>
                    <a:ext uri="{9D8B030D-6E8A-4147-A177-3AD203B41FA5}">
                      <a16:colId xmlns:a16="http://schemas.microsoft.com/office/drawing/2014/main" val="521768764"/>
                    </a:ext>
                  </a:extLst>
                </a:gridCol>
                <a:gridCol w="3103533">
                  <a:extLst>
                    <a:ext uri="{9D8B030D-6E8A-4147-A177-3AD203B41FA5}">
                      <a16:colId xmlns:a16="http://schemas.microsoft.com/office/drawing/2014/main" val="782833512"/>
                    </a:ext>
                  </a:extLst>
                </a:gridCol>
              </a:tblGrid>
              <a:tr h="307741">
                <a:tc gridSpan="2">
                  <a:txBody>
                    <a:bodyPr/>
                    <a:lstStyle/>
                    <a:p>
                      <a:pPr algn="l" fontAlgn="b"/>
                      <a:r>
                        <a:rPr lang="en-GB" sz="1100" b="1" i="0" u="none" strike="noStrike">
                          <a:solidFill>
                            <a:srgbClr val="FFFFFF"/>
                          </a:solidFill>
                          <a:effectLst/>
                          <a:latin typeface="Calibri" panose="020F0502020204030204" pitchFamily="34" charset="0"/>
                        </a:rPr>
                        <a:t>Permitted APCs with UKIMS EIDR on non-SPIMM declarations</a:t>
                      </a:r>
                    </a:p>
                  </a:txBody>
                  <a:tcPr marL="2676" marR="2676" marT="2676" marB="0" anchor="b">
                    <a:solidFill>
                      <a:srgbClr val="009999"/>
                    </a:solidFill>
                  </a:tcPr>
                </a:tc>
                <a:tc hMerge="1">
                  <a:txBody>
                    <a:bodyPr/>
                    <a:lstStyle/>
                    <a:p>
                      <a:pPr algn="l" fontAlgn="b"/>
                      <a:endParaRPr lang="en-GB" sz="500" b="1" i="0" u="none" strike="noStrike">
                        <a:solidFill>
                          <a:srgbClr val="FFFFFF"/>
                        </a:solidFill>
                        <a:effectLst/>
                        <a:latin typeface="Calibri" panose="020F0502020204030204" pitchFamily="34" charset="0"/>
                      </a:endParaRPr>
                    </a:p>
                  </a:txBody>
                  <a:tcPr marL="2676" marR="2676" marT="2676" marB="0" anchor="b"/>
                </a:tc>
                <a:extLst>
                  <a:ext uri="{0D108BD9-81ED-4DB2-BD59-A6C34878D82A}">
                    <a16:rowId xmlns:a16="http://schemas.microsoft.com/office/drawing/2014/main" val="750556036"/>
                  </a:ext>
                </a:extLst>
              </a:tr>
              <a:tr h="177190">
                <a:tc>
                  <a:txBody>
                    <a:bodyPr/>
                    <a:lstStyle/>
                    <a:p>
                      <a:pPr algn="l" fontAlgn="b"/>
                      <a:r>
                        <a:rPr lang="en-GB" sz="1100" b="0" i="0" u="none" strike="noStrike">
                          <a:solidFill>
                            <a:srgbClr val="000000"/>
                          </a:solidFill>
                          <a:effectLst/>
                          <a:latin typeface="Calibri" panose="020F0502020204030204" pitchFamily="34" charset="0"/>
                        </a:rPr>
                        <a:t>000</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C21</a:t>
                      </a:r>
                    </a:p>
                  </a:txBody>
                  <a:tcPr marL="2676" marR="2676" marT="2676" marB="0" anchor="b"/>
                </a:tc>
                <a:extLst>
                  <a:ext uri="{0D108BD9-81ED-4DB2-BD59-A6C34878D82A}">
                    <a16:rowId xmlns:a16="http://schemas.microsoft.com/office/drawing/2014/main" val="654362419"/>
                  </a:ext>
                </a:extLst>
              </a:tr>
              <a:tr h="177190">
                <a:tc>
                  <a:txBody>
                    <a:bodyPr/>
                    <a:lstStyle/>
                    <a:p>
                      <a:pPr algn="l" fontAlgn="b"/>
                      <a:r>
                        <a:rPr lang="en-GB" sz="1100" b="0" i="0" u="none" strike="noStrike">
                          <a:solidFill>
                            <a:srgbClr val="000000"/>
                          </a:solidFill>
                          <a:effectLst/>
                          <a:latin typeface="Calibri" panose="020F0502020204030204" pitchFamily="34" charset="0"/>
                        </a:rPr>
                        <a:t> 1CL</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C23</a:t>
                      </a:r>
                    </a:p>
                  </a:txBody>
                  <a:tcPr marL="2676" marR="2676" marT="2676" marB="0" anchor="b"/>
                </a:tc>
                <a:extLst>
                  <a:ext uri="{0D108BD9-81ED-4DB2-BD59-A6C34878D82A}">
                    <a16:rowId xmlns:a16="http://schemas.microsoft.com/office/drawing/2014/main" val="2406184787"/>
                  </a:ext>
                </a:extLst>
              </a:tr>
              <a:tr h="177190">
                <a:tc>
                  <a:txBody>
                    <a:bodyPr/>
                    <a:lstStyle/>
                    <a:p>
                      <a:pPr algn="l" fontAlgn="b"/>
                      <a:r>
                        <a:rPr lang="en-GB" sz="1100" b="0" i="0" u="none" strike="noStrike">
                          <a:solidFill>
                            <a:srgbClr val="000000"/>
                          </a:solidFill>
                          <a:effectLst/>
                          <a:latin typeface="Calibri" panose="020F0502020204030204" pitchFamily="34" charset="0"/>
                        </a:rPr>
                        <a:t> 1DP</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C25</a:t>
                      </a:r>
                    </a:p>
                  </a:txBody>
                  <a:tcPr marL="2676" marR="2676" marT="2676" marB="0" anchor="b"/>
                </a:tc>
                <a:extLst>
                  <a:ext uri="{0D108BD9-81ED-4DB2-BD59-A6C34878D82A}">
                    <a16:rowId xmlns:a16="http://schemas.microsoft.com/office/drawing/2014/main" val="4277748244"/>
                  </a:ext>
                </a:extLst>
              </a:tr>
              <a:tr h="177190">
                <a:tc>
                  <a:txBody>
                    <a:bodyPr/>
                    <a:lstStyle/>
                    <a:p>
                      <a:pPr algn="l" fontAlgn="b"/>
                      <a:r>
                        <a:rPr lang="en-GB" sz="1100" b="0" i="0" u="none" strike="noStrike">
                          <a:solidFill>
                            <a:srgbClr val="000000"/>
                          </a:solidFill>
                          <a:effectLst/>
                          <a:latin typeface="Calibri" panose="020F0502020204030204" pitchFamily="34" charset="0"/>
                        </a:rPr>
                        <a:t> 1EB</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C26</a:t>
                      </a:r>
                    </a:p>
                  </a:txBody>
                  <a:tcPr marL="2676" marR="2676" marT="2676" marB="0" anchor="b"/>
                </a:tc>
                <a:extLst>
                  <a:ext uri="{0D108BD9-81ED-4DB2-BD59-A6C34878D82A}">
                    <a16:rowId xmlns:a16="http://schemas.microsoft.com/office/drawing/2014/main" val="2734840995"/>
                  </a:ext>
                </a:extLst>
              </a:tr>
              <a:tr h="177190">
                <a:tc>
                  <a:txBody>
                    <a:bodyPr/>
                    <a:lstStyle/>
                    <a:p>
                      <a:pPr algn="l" fontAlgn="b"/>
                      <a:r>
                        <a:rPr lang="en-GB" sz="1100" b="0" i="0" u="none" strike="noStrike">
                          <a:solidFill>
                            <a:srgbClr val="000000"/>
                          </a:solidFill>
                          <a:effectLst/>
                          <a:latin typeface="Calibri" panose="020F0502020204030204" pitchFamily="34" charset="0"/>
                        </a:rPr>
                        <a:t> 1ES</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C30</a:t>
                      </a:r>
                    </a:p>
                  </a:txBody>
                  <a:tcPr marL="2676" marR="2676" marT="2676" marB="0" anchor="b"/>
                </a:tc>
                <a:extLst>
                  <a:ext uri="{0D108BD9-81ED-4DB2-BD59-A6C34878D82A}">
                    <a16:rowId xmlns:a16="http://schemas.microsoft.com/office/drawing/2014/main" val="832861631"/>
                  </a:ext>
                </a:extLst>
              </a:tr>
              <a:tr h="177190">
                <a:tc>
                  <a:txBody>
                    <a:bodyPr/>
                    <a:lstStyle/>
                    <a:p>
                      <a:pPr algn="l" fontAlgn="b"/>
                      <a:r>
                        <a:rPr lang="en-GB" sz="1100" b="0" i="0" u="none" strike="noStrike">
                          <a:solidFill>
                            <a:srgbClr val="000000"/>
                          </a:solidFill>
                          <a:effectLst/>
                          <a:latin typeface="Calibri" panose="020F0502020204030204" pitchFamily="34" charset="0"/>
                        </a:rPr>
                        <a:t> 1MO</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C31</a:t>
                      </a:r>
                    </a:p>
                  </a:txBody>
                  <a:tcPr marL="2676" marR="2676" marT="2676" marB="0" anchor="b"/>
                </a:tc>
                <a:extLst>
                  <a:ext uri="{0D108BD9-81ED-4DB2-BD59-A6C34878D82A}">
                    <a16:rowId xmlns:a16="http://schemas.microsoft.com/office/drawing/2014/main" val="2983030846"/>
                  </a:ext>
                </a:extLst>
              </a:tr>
              <a:tr h="177190">
                <a:tc>
                  <a:txBody>
                    <a:bodyPr/>
                    <a:lstStyle/>
                    <a:p>
                      <a:pPr algn="l" fontAlgn="b"/>
                      <a:r>
                        <a:rPr lang="en-GB" sz="1100" b="0" i="0" u="none" strike="noStrike">
                          <a:solidFill>
                            <a:srgbClr val="000000"/>
                          </a:solidFill>
                          <a:effectLst/>
                          <a:latin typeface="Calibri" panose="020F0502020204030204" pitchFamily="34" charset="0"/>
                        </a:rPr>
                        <a:t> 1NC</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C32</a:t>
                      </a:r>
                    </a:p>
                  </a:txBody>
                  <a:tcPr marL="2676" marR="2676" marT="2676" marB="0" anchor="b"/>
                </a:tc>
                <a:extLst>
                  <a:ext uri="{0D108BD9-81ED-4DB2-BD59-A6C34878D82A}">
                    <a16:rowId xmlns:a16="http://schemas.microsoft.com/office/drawing/2014/main" val="232791733"/>
                  </a:ext>
                </a:extLst>
              </a:tr>
              <a:tr h="177190">
                <a:tc>
                  <a:txBody>
                    <a:bodyPr/>
                    <a:lstStyle/>
                    <a:p>
                      <a:pPr algn="l" fontAlgn="b"/>
                      <a:r>
                        <a:rPr lang="en-GB" sz="1100" b="0" i="0" u="none" strike="noStrike">
                          <a:solidFill>
                            <a:srgbClr val="000000"/>
                          </a:solidFill>
                          <a:effectLst/>
                          <a:latin typeface="Calibri" panose="020F0502020204030204" pitchFamily="34" charset="0"/>
                        </a:rPr>
                        <a:t> A04</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C34</a:t>
                      </a:r>
                    </a:p>
                  </a:txBody>
                  <a:tcPr marL="2676" marR="2676" marT="2676" marB="0" anchor="b"/>
                </a:tc>
                <a:extLst>
                  <a:ext uri="{0D108BD9-81ED-4DB2-BD59-A6C34878D82A}">
                    <a16:rowId xmlns:a16="http://schemas.microsoft.com/office/drawing/2014/main" val="2480143591"/>
                  </a:ext>
                </a:extLst>
              </a:tr>
              <a:tr h="177190">
                <a:tc>
                  <a:txBody>
                    <a:bodyPr/>
                    <a:lstStyle/>
                    <a:p>
                      <a:pPr algn="l" fontAlgn="b"/>
                      <a:r>
                        <a:rPr lang="en-GB" sz="1100" b="0" i="0" u="none" strike="noStrike">
                          <a:solidFill>
                            <a:srgbClr val="000000"/>
                          </a:solidFill>
                          <a:effectLst/>
                          <a:latin typeface="Calibri" panose="020F0502020204030204" pitchFamily="34" charset="0"/>
                        </a:rPr>
                        <a:t> A10</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C35</a:t>
                      </a:r>
                    </a:p>
                  </a:txBody>
                  <a:tcPr marL="2676" marR="2676" marT="2676" marB="0" anchor="b"/>
                </a:tc>
                <a:extLst>
                  <a:ext uri="{0D108BD9-81ED-4DB2-BD59-A6C34878D82A}">
                    <a16:rowId xmlns:a16="http://schemas.microsoft.com/office/drawing/2014/main" val="3556143633"/>
                  </a:ext>
                </a:extLst>
              </a:tr>
              <a:tr h="177190">
                <a:tc>
                  <a:txBody>
                    <a:bodyPr/>
                    <a:lstStyle/>
                    <a:p>
                      <a:pPr algn="l" fontAlgn="b"/>
                      <a:r>
                        <a:rPr lang="en-GB" sz="1100" b="0" i="0" u="none" strike="noStrike">
                          <a:solidFill>
                            <a:srgbClr val="000000"/>
                          </a:solidFill>
                          <a:effectLst/>
                          <a:latin typeface="Calibri" panose="020F0502020204030204" pitchFamily="34" charset="0"/>
                        </a:rPr>
                        <a:t> 1NO</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C36</a:t>
                      </a:r>
                    </a:p>
                  </a:txBody>
                  <a:tcPr marL="2676" marR="2676" marT="2676" marB="0" anchor="b"/>
                </a:tc>
                <a:extLst>
                  <a:ext uri="{0D108BD9-81ED-4DB2-BD59-A6C34878D82A}">
                    <a16:rowId xmlns:a16="http://schemas.microsoft.com/office/drawing/2014/main" val="2258956445"/>
                  </a:ext>
                </a:extLst>
              </a:tr>
              <a:tr h="177190">
                <a:tc>
                  <a:txBody>
                    <a:bodyPr/>
                    <a:lstStyle/>
                    <a:p>
                      <a:pPr algn="l" fontAlgn="b"/>
                      <a:r>
                        <a:rPr lang="en-GB" sz="1100" b="0" i="0" u="none" strike="noStrike">
                          <a:solidFill>
                            <a:srgbClr val="000000"/>
                          </a:solidFill>
                          <a:effectLst/>
                          <a:latin typeface="Calibri" panose="020F0502020204030204" pitchFamily="34" charset="0"/>
                        </a:rPr>
                        <a:t> 1PP</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C37</a:t>
                      </a:r>
                    </a:p>
                  </a:txBody>
                  <a:tcPr marL="2676" marR="2676" marT="2676" marB="0" anchor="b"/>
                </a:tc>
                <a:extLst>
                  <a:ext uri="{0D108BD9-81ED-4DB2-BD59-A6C34878D82A}">
                    <a16:rowId xmlns:a16="http://schemas.microsoft.com/office/drawing/2014/main" val="3331633449"/>
                  </a:ext>
                </a:extLst>
              </a:tr>
              <a:tr h="177190">
                <a:tc>
                  <a:txBody>
                    <a:bodyPr/>
                    <a:lstStyle/>
                    <a:p>
                      <a:pPr algn="l" fontAlgn="b"/>
                      <a:r>
                        <a:rPr lang="en-GB" sz="1100" b="0" i="0" u="none" strike="noStrike">
                          <a:solidFill>
                            <a:srgbClr val="000000"/>
                          </a:solidFill>
                          <a:effectLst/>
                          <a:latin typeface="Calibri" panose="020F0502020204030204" pitchFamily="34" charset="0"/>
                        </a:rPr>
                        <a:t> 1SC</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C38</a:t>
                      </a:r>
                    </a:p>
                  </a:txBody>
                  <a:tcPr marL="2676" marR="2676" marT="2676" marB="0" anchor="b"/>
                </a:tc>
                <a:extLst>
                  <a:ext uri="{0D108BD9-81ED-4DB2-BD59-A6C34878D82A}">
                    <a16:rowId xmlns:a16="http://schemas.microsoft.com/office/drawing/2014/main" val="1523440077"/>
                  </a:ext>
                </a:extLst>
              </a:tr>
              <a:tr h="177190">
                <a:tc>
                  <a:txBody>
                    <a:bodyPr/>
                    <a:lstStyle/>
                    <a:p>
                      <a:pPr algn="l" fontAlgn="b"/>
                      <a:r>
                        <a:rPr lang="en-GB" sz="1100" b="0" i="0" u="none" strike="noStrike">
                          <a:solidFill>
                            <a:srgbClr val="000000"/>
                          </a:solidFill>
                          <a:effectLst/>
                          <a:latin typeface="Calibri" panose="020F0502020204030204" pitchFamily="34" charset="0"/>
                        </a:rPr>
                        <a:t> 1RD</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C45</a:t>
                      </a:r>
                    </a:p>
                  </a:txBody>
                  <a:tcPr marL="2676" marR="2676" marT="2676" marB="0" anchor="b"/>
                </a:tc>
                <a:extLst>
                  <a:ext uri="{0D108BD9-81ED-4DB2-BD59-A6C34878D82A}">
                    <a16:rowId xmlns:a16="http://schemas.microsoft.com/office/drawing/2014/main" val="2359745417"/>
                  </a:ext>
                </a:extLst>
              </a:tr>
              <a:tr h="177190">
                <a:tc>
                  <a:txBody>
                    <a:bodyPr/>
                    <a:lstStyle/>
                    <a:p>
                      <a:pPr algn="l" fontAlgn="b"/>
                      <a:r>
                        <a:rPr lang="en-GB" sz="1100" b="0" i="0" u="none" strike="noStrike">
                          <a:solidFill>
                            <a:srgbClr val="000000"/>
                          </a:solidFill>
                          <a:effectLst/>
                          <a:latin typeface="Calibri" panose="020F0502020204030204" pitchFamily="34" charset="0"/>
                        </a:rPr>
                        <a:t> 1RM</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C46</a:t>
                      </a:r>
                    </a:p>
                  </a:txBody>
                  <a:tcPr marL="2676" marR="2676" marT="2676" marB="0" anchor="b"/>
                </a:tc>
                <a:extLst>
                  <a:ext uri="{0D108BD9-81ED-4DB2-BD59-A6C34878D82A}">
                    <a16:rowId xmlns:a16="http://schemas.microsoft.com/office/drawing/2014/main" val="177952071"/>
                  </a:ext>
                </a:extLst>
              </a:tr>
              <a:tr h="177190">
                <a:tc>
                  <a:txBody>
                    <a:bodyPr/>
                    <a:lstStyle/>
                    <a:p>
                      <a:pPr algn="l" fontAlgn="b"/>
                      <a:r>
                        <a:rPr lang="en-GB" sz="1100" b="0" i="0" u="none" strike="noStrike">
                          <a:solidFill>
                            <a:srgbClr val="000000"/>
                          </a:solidFill>
                          <a:effectLst/>
                          <a:latin typeface="Calibri" panose="020F0502020204030204" pitchFamily="34" charset="0"/>
                        </a:rPr>
                        <a:t> 1VW</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C47</a:t>
                      </a:r>
                    </a:p>
                  </a:txBody>
                  <a:tcPr marL="2676" marR="2676" marT="2676" marB="0" anchor="b"/>
                </a:tc>
                <a:extLst>
                  <a:ext uri="{0D108BD9-81ED-4DB2-BD59-A6C34878D82A}">
                    <a16:rowId xmlns:a16="http://schemas.microsoft.com/office/drawing/2014/main" val="4176807648"/>
                  </a:ext>
                </a:extLst>
              </a:tr>
              <a:tr h="177190">
                <a:tc>
                  <a:txBody>
                    <a:bodyPr/>
                    <a:lstStyle/>
                    <a:p>
                      <a:pPr algn="l" fontAlgn="b"/>
                      <a:r>
                        <a:rPr lang="en-GB" sz="1100" b="0" i="0" u="none" strike="noStrike">
                          <a:solidFill>
                            <a:srgbClr val="000000"/>
                          </a:solidFill>
                          <a:effectLst/>
                          <a:latin typeface="Calibri" panose="020F0502020204030204" pitchFamily="34" charset="0"/>
                        </a:rPr>
                        <a:t> 1XW</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C49</a:t>
                      </a:r>
                    </a:p>
                  </a:txBody>
                  <a:tcPr marL="2676" marR="2676" marT="2676" marB="0" anchor="b"/>
                </a:tc>
                <a:extLst>
                  <a:ext uri="{0D108BD9-81ED-4DB2-BD59-A6C34878D82A}">
                    <a16:rowId xmlns:a16="http://schemas.microsoft.com/office/drawing/2014/main" val="3675337853"/>
                  </a:ext>
                </a:extLst>
              </a:tr>
              <a:tr h="177190">
                <a:tc>
                  <a:txBody>
                    <a:bodyPr/>
                    <a:lstStyle/>
                    <a:p>
                      <a:pPr algn="l" fontAlgn="b"/>
                      <a:r>
                        <a:rPr lang="en-GB" sz="1100" b="0" i="0" u="none" strike="noStrike">
                          <a:solidFill>
                            <a:srgbClr val="000000"/>
                          </a:solidFill>
                          <a:effectLst/>
                          <a:latin typeface="Calibri" panose="020F0502020204030204" pitchFamily="34" charset="0"/>
                        </a:rPr>
                        <a:t> C06</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C50</a:t>
                      </a:r>
                    </a:p>
                  </a:txBody>
                  <a:tcPr marL="2676" marR="2676" marT="2676" marB="0" anchor="b"/>
                </a:tc>
                <a:extLst>
                  <a:ext uri="{0D108BD9-81ED-4DB2-BD59-A6C34878D82A}">
                    <a16:rowId xmlns:a16="http://schemas.microsoft.com/office/drawing/2014/main" val="3254318598"/>
                  </a:ext>
                </a:extLst>
              </a:tr>
              <a:tr h="177190">
                <a:tc>
                  <a:txBody>
                    <a:bodyPr/>
                    <a:lstStyle/>
                    <a:p>
                      <a:pPr algn="l" fontAlgn="b"/>
                      <a:r>
                        <a:rPr lang="en-GB" sz="1100" b="0" i="0" u="none" strike="noStrike">
                          <a:solidFill>
                            <a:srgbClr val="000000"/>
                          </a:solidFill>
                          <a:effectLst/>
                          <a:latin typeface="Calibri" panose="020F0502020204030204" pitchFamily="34" charset="0"/>
                        </a:rPr>
                        <a:t> C09</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C56</a:t>
                      </a:r>
                    </a:p>
                  </a:txBody>
                  <a:tcPr marL="2676" marR="2676" marT="2676" marB="0" anchor="b"/>
                </a:tc>
                <a:extLst>
                  <a:ext uri="{0D108BD9-81ED-4DB2-BD59-A6C34878D82A}">
                    <a16:rowId xmlns:a16="http://schemas.microsoft.com/office/drawing/2014/main" val="2020632324"/>
                  </a:ext>
                </a:extLst>
              </a:tr>
              <a:tr h="177190">
                <a:tc>
                  <a:txBody>
                    <a:bodyPr/>
                    <a:lstStyle/>
                    <a:p>
                      <a:pPr algn="l" fontAlgn="b"/>
                      <a:r>
                        <a:rPr lang="en-GB" sz="1100" b="0" i="0" u="none" strike="noStrike">
                          <a:solidFill>
                            <a:srgbClr val="000000"/>
                          </a:solidFill>
                          <a:effectLst/>
                          <a:latin typeface="Calibri" panose="020F0502020204030204" pitchFamily="34" charset="0"/>
                        </a:rPr>
                        <a:t> C10</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C57</a:t>
                      </a:r>
                    </a:p>
                  </a:txBody>
                  <a:tcPr marL="2676" marR="2676" marT="2676" marB="0" anchor="b"/>
                </a:tc>
                <a:extLst>
                  <a:ext uri="{0D108BD9-81ED-4DB2-BD59-A6C34878D82A}">
                    <a16:rowId xmlns:a16="http://schemas.microsoft.com/office/drawing/2014/main" val="3049913634"/>
                  </a:ext>
                </a:extLst>
              </a:tr>
              <a:tr h="177190">
                <a:tc>
                  <a:txBody>
                    <a:bodyPr/>
                    <a:lstStyle/>
                    <a:p>
                      <a:pPr algn="l" fontAlgn="b"/>
                      <a:r>
                        <a:rPr lang="en-GB" sz="1100" b="0" i="0" u="none" strike="noStrike">
                          <a:solidFill>
                            <a:srgbClr val="000000"/>
                          </a:solidFill>
                          <a:effectLst/>
                          <a:latin typeface="Calibri" panose="020F0502020204030204" pitchFamily="34" charset="0"/>
                        </a:rPr>
                        <a:t> C11</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C58</a:t>
                      </a:r>
                    </a:p>
                  </a:txBody>
                  <a:tcPr marL="2676" marR="2676" marT="2676" marB="0" anchor="b"/>
                </a:tc>
                <a:extLst>
                  <a:ext uri="{0D108BD9-81ED-4DB2-BD59-A6C34878D82A}">
                    <a16:rowId xmlns:a16="http://schemas.microsoft.com/office/drawing/2014/main" val="2861001482"/>
                  </a:ext>
                </a:extLst>
              </a:tr>
              <a:tr h="177190">
                <a:tc>
                  <a:txBody>
                    <a:bodyPr/>
                    <a:lstStyle/>
                    <a:p>
                      <a:pPr algn="l" fontAlgn="b"/>
                      <a:r>
                        <a:rPr lang="en-GB" sz="1100" b="0" i="0" u="none" strike="noStrike">
                          <a:solidFill>
                            <a:srgbClr val="000000"/>
                          </a:solidFill>
                          <a:effectLst/>
                          <a:latin typeface="Calibri" panose="020F0502020204030204" pitchFamily="34" charset="0"/>
                        </a:rPr>
                        <a:t> C12</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C59</a:t>
                      </a:r>
                    </a:p>
                  </a:txBody>
                  <a:tcPr marL="2676" marR="2676" marT="2676" marB="0" anchor="b"/>
                </a:tc>
                <a:extLst>
                  <a:ext uri="{0D108BD9-81ED-4DB2-BD59-A6C34878D82A}">
                    <a16:rowId xmlns:a16="http://schemas.microsoft.com/office/drawing/2014/main" val="843353412"/>
                  </a:ext>
                </a:extLst>
              </a:tr>
              <a:tr h="177190">
                <a:tc>
                  <a:txBody>
                    <a:bodyPr/>
                    <a:lstStyle/>
                    <a:p>
                      <a:pPr algn="l" fontAlgn="b"/>
                      <a:r>
                        <a:rPr lang="en-GB" sz="1100" b="0" i="0" u="none" strike="noStrike">
                          <a:solidFill>
                            <a:srgbClr val="000000"/>
                          </a:solidFill>
                          <a:effectLst/>
                          <a:latin typeface="Calibri" panose="020F0502020204030204" pitchFamily="34" charset="0"/>
                        </a:rPr>
                        <a:t> C13</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F44</a:t>
                      </a:r>
                    </a:p>
                  </a:txBody>
                  <a:tcPr marL="2676" marR="2676" marT="2676" marB="0" anchor="b"/>
                </a:tc>
                <a:extLst>
                  <a:ext uri="{0D108BD9-81ED-4DB2-BD59-A6C34878D82A}">
                    <a16:rowId xmlns:a16="http://schemas.microsoft.com/office/drawing/2014/main" val="1737115889"/>
                  </a:ext>
                </a:extLst>
              </a:tr>
              <a:tr h="177190">
                <a:tc>
                  <a:txBody>
                    <a:bodyPr/>
                    <a:lstStyle/>
                    <a:p>
                      <a:pPr algn="l" fontAlgn="b"/>
                      <a:r>
                        <a:rPr lang="en-GB" sz="1100" b="0" i="0" u="none" strike="noStrike">
                          <a:solidFill>
                            <a:srgbClr val="000000"/>
                          </a:solidFill>
                          <a:effectLst/>
                          <a:latin typeface="Calibri" panose="020F0502020204030204" pitchFamily="34" charset="0"/>
                        </a:rPr>
                        <a:t> C14</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F45</a:t>
                      </a:r>
                    </a:p>
                  </a:txBody>
                  <a:tcPr marL="2676" marR="2676" marT="2676" marB="0" anchor="b"/>
                </a:tc>
                <a:extLst>
                  <a:ext uri="{0D108BD9-81ED-4DB2-BD59-A6C34878D82A}">
                    <a16:rowId xmlns:a16="http://schemas.microsoft.com/office/drawing/2014/main" val="1796774603"/>
                  </a:ext>
                </a:extLst>
              </a:tr>
              <a:tr h="177190">
                <a:tc>
                  <a:txBody>
                    <a:bodyPr/>
                    <a:lstStyle/>
                    <a:p>
                      <a:pPr algn="l" fontAlgn="b"/>
                      <a:r>
                        <a:rPr lang="en-GB" sz="1100" b="0" i="0" u="none" strike="noStrike">
                          <a:solidFill>
                            <a:srgbClr val="000000"/>
                          </a:solidFill>
                          <a:effectLst/>
                          <a:latin typeface="Calibri" panose="020F0502020204030204" pitchFamily="34" charset="0"/>
                        </a:rPr>
                        <a:t> C16</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F46</a:t>
                      </a:r>
                    </a:p>
                  </a:txBody>
                  <a:tcPr marL="2676" marR="2676" marT="2676" marB="0" anchor="b"/>
                </a:tc>
                <a:extLst>
                  <a:ext uri="{0D108BD9-81ED-4DB2-BD59-A6C34878D82A}">
                    <a16:rowId xmlns:a16="http://schemas.microsoft.com/office/drawing/2014/main" val="445359766"/>
                  </a:ext>
                </a:extLst>
              </a:tr>
              <a:tr h="177190">
                <a:tc>
                  <a:txBody>
                    <a:bodyPr/>
                    <a:lstStyle/>
                    <a:p>
                      <a:pPr algn="l" fontAlgn="b"/>
                      <a:r>
                        <a:rPr lang="en-GB" sz="1100" b="0" i="0" u="none" strike="noStrike">
                          <a:solidFill>
                            <a:srgbClr val="000000"/>
                          </a:solidFill>
                          <a:effectLst/>
                          <a:latin typeface="Calibri" panose="020F0502020204030204" pitchFamily="34" charset="0"/>
                        </a:rPr>
                        <a:t> C17</a:t>
                      </a:r>
                    </a:p>
                  </a:txBody>
                  <a:tcPr marL="2676" marR="2676" marT="2676" marB="0" anchor="b"/>
                </a:tc>
                <a:tc>
                  <a:txBody>
                    <a:bodyPr/>
                    <a:lstStyle/>
                    <a:p>
                      <a:pPr algn="l" fontAlgn="b"/>
                      <a:r>
                        <a:rPr lang="en-GB" sz="1100" b="0" i="0" u="none" strike="noStrike">
                          <a:solidFill>
                            <a:srgbClr val="000000"/>
                          </a:solidFill>
                          <a:effectLst/>
                          <a:latin typeface="Calibri" panose="020F0502020204030204" pitchFamily="34" charset="0"/>
                        </a:rPr>
                        <a:t> F47</a:t>
                      </a:r>
                    </a:p>
                  </a:txBody>
                  <a:tcPr marL="2676" marR="2676" marT="2676" marB="0" anchor="b"/>
                </a:tc>
                <a:extLst>
                  <a:ext uri="{0D108BD9-81ED-4DB2-BD59-A6C34878D82A}">
                    <a16:rowId xmlns:a16="http://schemas.microsoft.com/office/drawing/2014/main" val="1518343028"/>
                  </a:ext>
                </a:extLst>
              </a:tr>
              <a:tr h="177190">
                <a:tc>
                  <a:txBody>
                    <a:bodyPr/>
                    <a:lstStyle/>
                    <a:p>
                      <a:pPr algn="l" fontAlgn="b"/>
                      <a:r>
                        <a:rPr lang="en-GB" sz="1100" b="0" i="0" u="none" strike="noStrike">
                          <a:solidFill>
                            <a:srgbClr val="000000"/>
                          </a:solidFill>
                          <a:effectLst/>
                          <a:latin typeface="Calibri" panose="020F0502020204030204" pitchFamily="34" charset="0"/>
                        </a:rPr>
                        <a:t> C20</a:t>
                      </a:r>
                    </a:p>
                  </a:txBody>
                  <a:tcPr marL="2676" marR="2676" marT="2676" marB="0" anchor="b"/>
                </a:tc>
                <a:tc>
                  <a:txBody>
                    <a:bodyPr/>
                    <a:lstStyle/>
                    <a:p>
                      <a:pPr algn="l" fontAlgn="b"/>
                      <a:r>
                        <a:rPr lang="en-GB" sz="1100" b="0" i="0" u="none" strike="noStrike" dirty="0">
                          <a:solidFill>
                            <a:srgbClr val="000000"/>
                          </a:solidFill>
                          <a:effectLst/>
                          <a:latin typeface="Calibri" panose="020F0502020204030204" pitchFamily="34" charset="0"/>
                        </a:rPr>
                        <a:t> 1NR</a:t>
                      </a:r>
                    </a:p>
                  </a:txBody>
                  <a:tcPr marL="2676" marR="2676" marT="2676" marB="0" anchor="b"/>
                </a:tc>
                <a:extLst>
                  <a:ext uri="{0D108BD9-81ED-4DB2-BD59-A6C34878D82A}">
                    <a16:rowId xmlns:a16="http://schemas.microsoft.com/office/drawing/2014/main" val="3457302598"/>
                  </a:ext>
                </a:extLst>
              </a:tr>
            </a:tbl>
          </a:graphicData>
        </a:graphic>
      </p:graphicFrame>
    </p:spTree>
    <p:extLst>
      <p:ext uri="{BB962C8B-B14F-4D97-AF65-F5344CB8AC3E}">
        <p14:creationId xmlns:p14="http://schemas.microsoft.com/office/powerpoint/2010/main" val="172838558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511678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Low-Value Goods Procedures: Item Value Validation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This feature ensures the following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 CDS will allow the declaration of any recognised currency in the item value data elements on full, simplified and SRDS declaration datasets.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 CDS will convert any recognised currency values declared into GBP for the low-value goods procedures (IOSS, C07 &amp; C08).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 CDS will validate the declared value submitted by the declarant e.g., When an F48 (IOSS) and / or C07 is submitted, the intrinsic converted value should not exceed the threshold of £135. When APC C08 is used, the intrinsic converted value should not exceed the threshold of £39.</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Item Price on Full or Simplified Customs Declarations Claiming IOSS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'F48' must be entered in D.E. 1/11 at item level on all goods items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H1 (Type A, D or Y declaration), I1 (Type B or E declaration) can be declared.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AI code 'NIDOM' or 'NIIMP' is entered in D.E. 2/2 at item level on all goods items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Procedure code '40 00' is entered in D.E. 1/10 at item level on all goods items.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item price value of an item claiming IOSS does not exceed £135 on full or simplified customs declarations.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an item price is entered at item level in D.E. 4/14 on the declaration in any recognised currency other than GBP, CDS will convert this value to GBP.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an item price is entered at item level in D.E. 4/14 and is converted into GBP as per condition 1) above, the value will not exceed 135 GBP Sterling.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an item price is entered at item level in GBP in D.E. 4/14, it will not exceed 135 GBP Sterling.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an item price entered at item level in D.E. 4/14 in GBP, or is converted to GBP as per condition 1) above and the value exceeds 135 GBP Sterling, CDS will reject the declaration and send a DMSREJ notification to the submitter.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386461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916730"/>
            <a:ext cx="11460152" cy="6414577"/>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Low-Value Goods Procedures: Item Value Validation (continuation)</a:t>
            </a:r>
            <a:endParaRPr kumimoji="0" lang="en-GB" sz="1400" b="1" i="0" u="sng"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Intrinsic Value on Super Reduced Data Set (SRDS) Declarations Claiming IOSS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'F48' entered in D.E. 1/11 at item level on all goods items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Declaration category Super Reduced Data Sets (SRDS) is requested on a Type A or D declaration.</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intrinsic value of an item claiming IOSS does not exceed £135 on SRDS declarations.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endParaRPr kumimoji="0" lang="en-GB" sz="1200" b="1"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the intrinsic value entered at item level in D.E. 4/18 on the declaration is in any recognised currency other than GBP , CDS will convert this value to GBP.</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the intrinsic value entered at item level in D.E. 4/18 is converted into GBP as per condition 1) above, the value will not exceed 135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the intrinsic value is entered at item level in GBP in D.E. 4/18, it will not exceed 135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the intrinsic value is entered at item level in D.E. 4/18 in GBP or is converted to GBP as per condition 1) above and the value exceeds 135 GBP Sterling, CDS will reject the declaration and send a DMSREJ notification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Item Price on Full or Simplified Customs Declarations for Consignments of Negligible Value</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'C07' is entered in D.E. 1/11 at item level on a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H1 (Type A, D, Y or Z declaration), H5 (Type A, D, Y or Z declaration), I1 (Type C &amp; F declaration), I1 (Type B &amp; E declaration), C21i EIDR (Type J &amp; K declaration)</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item price of an item declared on a consignment of negligible value does not exceed £135 on full or simplified customs declarations.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endParaRPr kumimoji="0" lang="en-GB" sz="1200" b="1"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an item price is entered at item level in D.E. 4/14 on the same goods item is in any recognised currency other than GBP , CDS validation processing will continue.</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the item price is entered at item level in D.E. 4/14 on the same goods item is in any recognised currency other than GBP, CDS will convert the value into GBP.</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the item price entered at item level in D.E. 4/14 on the same goods item and is converted into GBP as per condition 2) above, the value will not exceed 135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the item price is entered at item level in GBP in D.E. 4/14 on the same goods item, it will not exceed 135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5) Where an item price is entered at item level in D.E. 4/14 on the same goods item in GBP, or is converted to GBP as per condition 2) above, and the value exceeds 135 GBP Sterling, CDS will reject the declaration and send a DMSREJ notification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370077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926243"/>
            <a:ext cx="11460152" cy="6465873"/>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Low-Value Goods Procedures: Item Value Validation (continuation)</a:t>
            </a:r>
            <a:endParaRPr kumimoji="0" lang="en-GB" sz="1400" b="1" i="0" u="sng"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Intrinsic Value on SRDS Declarations for goods items of Negligible Value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‘C07’ entered in D.E. 1/11 at item level on a goods item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Declaration category Super Reduced Data Sets (SRDS) is requested on a Type A or D declaration.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intrinsic value of an item declared on a consignment of negligible value does not exceed £135 on SRDS declarations.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the intrinsic value entered at item level in D.E. 4/18 on the same goods item is in any recognised currency other than GBP , CDS validation processing will continue.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the intrinsic value entered at item level D.E. 4/18 on the same goods item is in any recognised currency other than GBP, CDS will convert the value into GBP.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the intrinsic value entered at item level in D.E. 4/18 on the same goods item is converted into GBP as per condition 2) above, the value will not exceed 135 GBP Sterling.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the intrinsic value is entered at item level in GBP in D.E. 4/18 on the same goods item, it will not exceed 135 GBP Sterling.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5) Where the intrinsic value is entered at item level in D.E. 4/18 on the same goods item in GBP, or is converted to GBP as per condition 2) above, and the value exceeds 135 GBP Sterling, CDS will reject the declaration and send a DMSREJ notification to the submitter.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Item Price on Full or Simplified Customs Declarations for Consignments Sent From One Private Individual to Another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‘C08’ entered in D.E. 1/11 at item level on a goods item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H1 (Type A, D, Y or Z declaration), H5 (Type A, D, Y or Z declaration), I1 (Type C &amp; F declaration), I1 (Type B &amp; E declaration), C21i EIDR (Type J &amp; K declaration)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item price of an item declared on a consignment sent from one private individual to another does not exceed £39 on full or simplified customs declarations.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an item price is entered at item level in D.E. 4/14 on the same goods item in any recognised currency other than GBP, CDS validation processing will continue.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the item price is entered at item level in D.E. 4/14 on the same goods item in any recognised currency other than GBP, CDS will convert the value into GBP.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an item price entered at item level in D.E. 4/14 on the same goods item is converted into GBP as per condition 2) above, the value will not exceed 39 GBP Sterling.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the item price is entered at item level in GBP in D.E. 4/14 on the same goods item, it will not exceed 39 GBP Sterling.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5) Where an item price entered at item level in D.E. 4/14 on the same goods item is in GBP, or is converted to GBP as per condition 2) above, and the value exceeds 39 GBP Sterling, CDS will reject the declaration and send a DMSREJ notification to the submitter.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072477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17695"/>
            <a:ext cx="11460152" cy="414728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Low-Value Goods Procedures: Item Value Validation (continuation)</a:t>
            </a:r>
            <a:endParaRPr kumimoji="0" lang="en-GB" sz="1400" b="1" i="0" u="sng"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Validating Intrinsic Value on SRDS Declarations for Consignments Sent From One Private Individual to Another</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APC ‘C08’ must be entered in D.E. 1/11 at item level on a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Declaration category Super Reduced Data Sets (SRDS) is requested on a Type A or D declaration.</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AI code ‘NIIMP is entered in D.E. 2/2 at item level on the same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Procedure Code '4000' to be declared in DE 1/10 at item level on the same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that the declared intrinsic value of an item declared on a consignment sent from one private individual to another does not exceed £39 on SRDS declarations.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shown below :</a:t>
            </a:r>
            <a:endParaRPr kumimoji="0" lang="en-GB" sz="1200" b="1"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Where the intrinsic value entered at item level in D.E. 4/18 on the same goods item is in any recognised currency other than GBP, CDS validation processing will continue.</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Where the intrinsic value is entered at item level in D.E. 4/18 on the same goods item is in any recognised currency other than GBP, CDS will convert the value into GBP.</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the intrinsic value entered at item level in D.E. 4/18 on the same goods item is converted into GBP as per condition 2) above, the value will not exceed 39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4) Where the intrinsic value is entered at item level in GBP in D.E. 4/18 on the same goods item, it will not exceed 39 GBP Sterling.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5) Where the intrinsic value is entered at item level in D.E. 4/18 on the same goods item is in GBP, or is converted to GBP as per condition 2) above, and the value exceeds 39 GBP Sterling, CDS will reject the declaration and send a DMSREJ notification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728598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7">
            <a:extLst>
              <a:ext uri="{FF2B5EF4-FFF2-40B4-BE49-F238E27FC236}">
                <a16:creationId xmlns:a16="http://schemas.microsoft.com/office/drawing/2014/main" id="{E1C38D08-3DB4-E4C9-C415-00B190A26C2A}"/>
              </a:ext>
            </a:extLst>
          </p:cNvPr>
          <p:cNvSpPr txBox="1"/>
          <p:nvPr/>
        </p:nvSpPr>
        <p:spPr>
          <a:xfrm>
            <a:off x="325227" y="974088"/>
            <a:ext cx="11868361" cy="11741676"/>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dirty="0">
                <a:ln>
                  <a:noFill/>
                </a:ln>
                <a:solidFill>
                  <a:srgbClr val="000000"/>
                </a:solidFill>
                <a:effectLst/>
                <a:uLnTx/>
                <a:uFillTx/>
                <a:latin typeface="Calibri"/>
                <a:ea typeface="+mn-ea"/>
                <a:cs typeface="+mn-cs"/>
              </a:rPr>
              <a:t>Simplifying Customs Declarations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1200" cap="none" spc="0" normalizeH="0" baseline="0" noProof="0" dirty="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a:ea typeface="Calibri"/>
                <a:cs typeface="Calibri"/>
              </a:rPr>
              <a:t>GB Customs Declarations (</a:t>
            </a:r>
            <a:r>
              <a:rPr kumimoji="0" lang="en-GB" sz="1200" b="0" i="0" u="none" strike="noStrike" kern="0" cap="none" spc="0" normalizeH="0" baseline="0" noProof="0" dirty="0" err="1">
                <a:ln>
                  <a:noFill/>
                </a:ln>
                <a:solidFill>
                  <a:srgbClr val="000000"/>
                </a:solidFill>
                <a:effectLst/>
                <a:uLnTx/>
                <a:uFillTx/>
                <a:latin typeface="Calibri"/>
                <a:ea typeface="Calibri"/>
                <a:cs typeface="Calibri"/>
              </a:rPr>
              <a:t>RoW</a:t>
            </a:r>
            <a:r>
              <a:rPr kumimoji="0" lang="en-GB" sz="1200" b="0" i="0" u="none" strike="noStrike" kern="0" cap="none" spc="0" normalizeH="0" baseline="0" noProof="0" dirty="0">
                <a:ln>
                  <a:noFill/>
                </a:ln>
                <a:solidFill>
                  <a:srgbClr val="000000"/>
                </a:solidFill>
                <a:effectLst/>
                <a:uLnTx/>
                <a:uFillTx/>
                <a:latin typeface="Calibri"/>
                <a:ea typeface="Calibri"/>
                <a:cs typeface="Calibri"/>
              </a:rPr>
              <a:t>-GB, GB-</a:t>
            </a:r>
            <a:r>
              <a:rPr kumimoji="0" lang="en-GB" sz="1200" b="0" i="0" u="none" strike="noStrike" kern="0" cap="none" spc="0" normalizeH="0" baseline="0" noProof="0" dirty="0" err="1">
                <a:ln>
                  <a:noFill/>
                </a:ln>
                <a:solidFill>
                  <a:srgbClr val="000000"/>
                </a:solidFill>
                <a:effectLst/>
                <a:uLnTx/>
                <a:uFillTx/>
                <a:latin typeface="Calibri"/>
                <a:ea typeface="Calibri"/>
                <a:cs typeface="Calibri"/>
              </a:rPr>
              <a:t>RoW</a:t>
            </a:r>
            <a:r>
              <a:rPr kumimoji="0" lang="en-GB" sz="1200" b="0" i="0" u="none" strike="noStrike" kern="0" cap="none" spc="0" normalizeH="0" baseline="0" noProof="0" dirty="0">
                <a:ln>
                  <a:noFill/>
                </a:ln>
                <a:solidFill>
                  <a:srgbClr val="000000"/>
                </a:solidFill>
                <a:effectLst/>
                <a:uLnTx/>
                <a:uFillTx/>
                <a:latin typeface="Calibri"/>
                <a:ea typeface="Calibri"/>
                <a:cs typeface="Calibri"/>
              </a:rPr>
              <a:t>) will be simplified by allowing CDS to make certain Data Elements optional for in-scope Declaration Types as shown with the table below.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a:ea typeface="Calibri"/>
                <a:cs typeface="Calibri"/>
              </a:rPr>
              <a:t>These changes only apply to GB and do not affect declarations into and out of NI.</a:t>
            </a:r>
            <a:endParaRPr kumimoji="0" lang="en-GB" sz="18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a:ea typeface="Calibri"/>
              <a:cs typeface="Calibri"/>
            </a:endParaRPr>
          </a:p>
          <a:p>
            <a:pPr marL="228600" marR="0" lvl="0" indent="-22860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172B4D"/>
              </a:solidFill>
              <a:effectLst/>
              <a:uLnTx/>
              <a:uFillTx/>
              <a:latin typeface="-apple-system"/>
              <a:ea typeface="Calibri"/>
              <a:cs typeface="Calibri"/>
            </a:endParaRPr>
          </a:p>
          <a:p>
            <a:pPr marL="228600" marR="0" lvl="0" indent="-22860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228600" marR="0" lvl="0" indent="-22860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dirty="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dirty="0">
                <a:ln>
                  <a:noFill/>
                </a:ln>
                <a:solidFill>
                  <a:srgbClr val="172B4D"/>
                </a:solidFill>
                <a:effectLst/>
                <a:uLnTx/>
                <a:uFillTx/>
                <a:latin typeface="-apple-system"/>
                <a:ea typeface="+mn-ea"/>
                <a:cs typeface="+mn-cs"/>
              </a:rPr>
              <a:t>   </a:t>
            </a:r>
          </a:p>
          <a:p>
            <a:pPr marL="457200" marR="0" lvl="1"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sz="1800" b="0" i="0" u="none" strike="noStrike" kern="0" cap="none" spc="0" baseline="0">
                <a:solidFill>
                  <a:srgbClr val="000000"/>
                </a:solidFill>
                <a:uFillTx/>
              </a:defRPr>
            </a:pPr>
            <a:br>
              <a:rPr kumimoji="0" lang="en-GB" sz="1200" b="0" i="0" u="none" strike="noStrike" kern="1200" cap="none" spc="0" normalizeH="0" baseline="0" noProof="0" dirty="0">
                <a:ln>
                  <a:noFill/>
                </a:ln>
                <a:solidFill>
                  <a:srgbClr val="000000"/>
                </a:solidFill>
                <a:effectLst/>
                <a:uLnTx/>
                <a:uFillTx/>
                <a:latin typeface="Calibri"/>
                <a:ea typeface="+mn-ea"/>
                <a:cs typeface="+mn-cs"/>
              </a:rPr>
            </a:br>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 name="Straight Connector 17">
            <a:extLst>
              <a:ext uri="{FF2B5EF4-FFF2-40B4-BE49-F238E27FC236}">
                <a16:creationId xmlns:a16="http://schemas.microsoft.com/office/drawing/2014/main" id="{C41A0265-EBF9-B101-14ED-CAF3DF2EAE2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87B08FD-E64C-18CF-2C57-1EE81CEE9E6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7A41F76-B733-96FD-0106-F767751C55E8}"/>
              </a:ext>
            </a:extLst>
          </p:cNvPr>
          <p:cNvSpPr txBox="1"/>
          <p:nvPr/>
        </p:nvSpPr>
        <p:spPr>
          <a:xfrm>
            <a:off x="315458" y="130823"/>
            <a:ext cx="203754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Footer Placeholder 1">
            <a:extLst>
              <a:ext uri="{FF2B5EF4-FFF2-40B4-BE49-F238E27FC236}">
                <a16:creationId xmlns:a16="http://schemas.microsoft.com/office/drawing/2014/main" id="{C79D1AD6-91A3-7B1D-008F-7A346B499372}"/>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a:ln>
                <a:noFill/>
              </a:ln>
              <a:solidFill>
                <a:srgbClr val="008D8E"/>
              </a:solidFill>
              <a:effectLst/>
              <a:uLnTx/>
              <a:uFillTx/>
              <a:latin typeface="Calibri"/>
              <a:ea typeface="Geneva"/>
              <a:cs typeface="Arial"/>
            </a:endParaRPr>
          </a:p>
        </p:txBody>
      </p:sp>
      <p:sp>
        <p:nvSpPr>
          <p:cNvPr id="7" name="Rectangle 7">
            <a:extLst>
              <a:ext uri="{FF2B5EF4-FFF2-40B4-BE49-F238E27FC236}">
                <a16:creationId xmlns:a16="http://schemas.microsoft.com/office/drawing/2014/main" id="{209E6720-E719-B7B5-5722-3F423670EA8F}"/>
              </a:ext>
            </a:extLst>
          </p:cNvPr>
          <p:cNvSpPr/>
          <p:nvPr/>
        </p:nvSpPr>
        <p:spPr>
          <a:xfrm>
            <a:off x="332759"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8" name="Slide Number Placeholder 3">
            <a:extLst>
              <a:ext uri="{FF2B5EF4-FFF2-40B4-BE49-F238E27FC236}">
                <a16:creationId xmlns:a16="http://schemas.microsoft.com/office/drawing/2014/main" id="{8436E059-2E22-E6F4-D700-EE50B0B1D77C}"/>
              </a:ext>
            </a:extLst>
          </p:cNvPr>
          <p:cNvSpPr txBox="1"/>
          <p:nvPr/>
        </p:nvSpPr>
        <p:spPr>
          <a:xfrm>
            <a:off x="9227548" y="6389397"/>
            <a:ext cx="2743200"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898989"/>
                </a:solidFill>
                <a:effectLst/>
                <a:uLnTx/>
                <a:uFillTx/>
                <a:latin typeface="Calibri"/>
                <a:ea typeface="Calibri"/>
                <a:cs typeface="Calibri"/>
              </a:rPr>
              <a:t>10</a:t>
            </a:r>
            <a:endParaRPr kumimoji="0" lang="en-GB" sz="1200" b="0" i="0" u="none" strike="noStrike" kern="1200" cap="none" spc="0" normalizeH="0" baseline="0" noProof="0">
              <a:ln>
                <a:noFill/>
              </a:ln>
              <a:solidFill>
                <a:srgbClr val="898989"/>
              </a:solidFill>
              <a:effectLst/>
              <a:uLnTx/>
              <a:uFillTx/>
              <a:latin typeface="Calibri"/>
              <a:ea typeface="Calibri"/>
              <a:cs typeface="Calibri"/>
            </a:endParaRPr>
          </a:p>
        </p:txBody>
      </p:sp>
      <p:graphicFrame>
        <p:nvGraphicFramePr>
          <p:cNvPr id="10" name="Table 11">
            <a:extLst>
              <a:ext uri="{FF2B5EF4-FFF2-40B4-BE49-F238E27FC236}">
                <a16:creationId xmlns:a16="http://schemas.microsoft.com/office/drawing/2014/main" id="{95158559-03B8-2626-A110-D9FE6FD6CDE2}"/>
              </a:ext>
            </a:extLst>
          </p:cNvPr>
          <p:cNvGraphicFramePr>
            <a:graphicFrameLocks noGrp="1"/>
          </p:cNvGraphicFramePr>
          <p:nvPr/>
        </p:nvGraphicFramePr>
        <p:xfrm>
          <a:off x="332759" y="1970314"/>
          <a:ext cx="11634655" cy="4357860"/>
        </p:xfrm>
        <a:graphic>
          <a:graphicData uri="http://schemas.openxmlformats.org/drawingml/2006/table">
            <a:tbl>
              <a:tblPr firstRow="1" bandRow="1">
                <a:tableStyleId>{93296810-A885-4BE3-A3E7-6D5BEEA58F35}</a:tableStyleId>
              </a:tblPr>
              <a:tblGrid>
                <a:gridCol w="2653622">
                  <a:extLst>
                    <a:ext uri="{9D8B030D-6E8A-4147-A177-3AD203B41FA5}">
                      <a16:colId xmlns:a16="http://schemas.microsoft.com/office/drawing/2014/main" val="2163330524"/>
                    </a:ext>
                  </a:extLst>
                </a:gridCol>
                <a:gridCol w="6429040">
                  <a:extLst>
                    <a:ext uri="{9D8B030D-6E8A-4147-A177-3AD203B41FA5}">
                      <a16:colId xmlns:a16="http://schemas.microsoft.com/office/drawing/2014/main" val="3462633626"/>
                    </a:ext>
                  </a:extLst>
                </a:gridCol>
                <a:gridCol w="2551993">
                  <a:extLst>
                    <a:ext uri="{9D8B030D-6E8A-4147-A177-3AD203B41FA5}">
                      <a16:colId xmlns:a16="http://schemas.microsoft.com/office/drawing/2014/main" val="1122083003"/>
                    </a:ext>
                  </a:extLst>
                </a:gridCol>
              </a:tblGrid>
              <a:tr h="703962">
                <a:tc>
                  <a:txBody>
                    <a:bodyPr/>
                    <a:lstStyle/>
                    <a:p>
                      <a:pPr lvl="0"/>
                      <a:r>
                        <a:rPr lang="en-GB" sz="1200" b="1"/>
                        <a:t>Procedure Categories</a:t>
                      </a:r>
                      <a:endParaRPr lang="en-GB" sz="1200" b="1">
                        <a:latin typeface="Calibri"/>
                      </a:endParaRPr>
                    </a:p>
                  </a:txBody>
                  <a:tcPr>
                    <a:solidFill>
                      <a:srgbClr val="009999"/>
                    </a:solidFill>
                  </a:tcPr>
                </a:tc>
                <a:tc>
                  <a:txBody>
                    <a:bodyPr/>
                    <a:lstStyle/>
                    <a:p>
                      <a:pPr lvl="0" algn="l">
                        <a:lnSpc>
                          <a:spcPct val="100000"/>
                        </a:lnSpc>
                        <a:spcBef>
                          <a:spcPts val="0"/>
                        </a:spcBef>
                        <a:spcAft>
                          <a:spcPts val="0"/>
                        </a:spcAft>
                        <a:buNone/>
                      </a:pPr>
                      <a:r>
                        <a:rPr lang="en-GB" sz="1200" b="1" u="none" strike="noStrike" kern="1200" noProof="0" dirty="0">
                          <a:solidFill>
                            <a:srgbClr val="FFFFFF"/>
                          </a:solidFill>
                        </a:rPr>
                        <a:t>Pre-requisite -  Trader has not declared one of the following Additional Information Codes in DE 2/2 at item level: ‘NIDOM’, ‘NIIMP’ for Import and ‘NIEXP’ for Export.</a:t>
                      </a:r>
                      <a:endParaRPr lang="en-US" sz="1200" b="1" dirty="0"/>
                    </a:p>
                    <a:p>
                      <a:pPr marL="0" marR="0" lvl="0" indent="0" algn="l">
                        <a:lnSpc>
                          <a:spcPct val="100000"/>
                        </a:lnSpc>
                        <a:spcBef>
                          <a:spcPts val="0"/>
                        </a:spcBef>
                        <a:spcAft>
                          <a:spcPts val="0"/>
                        </a:spcAft>
                        <a:buNone/>
                      </a:pPr>
                      <a:endParaRPr lang="en-GB" sz="1200" b="1" kern="1200" dirty="0">
                        <a:solidFill>
                          <a:srgbClr val="000000"/>
                        </a:solidFill>
                      </a:endParaRPr>
                    </a:p>
                  </a:txBody>
                  <a:tcPr>
                    <a:solidFill>
                      <a:srgbClr val="009999"/>
                    </a:solidFill>
                  </a:tcPr>
                </a:tc>
                <a:tc>
                  <a:txBody>
                    <a:bodyPr/>
                    <a:lstStyle/>
                    <a:p>
                      <a:pPr lvl="0" algn="l">
                        <a:lnSpc>
                          <a:spcPct val="100000"/>
                        </a:lnSpc>
                        <a:spcBef>
                          <a:spcPts val="0"/>
                        </a:spcBef>
                        <a:spcAft>
                          <a:spcPts val="0"/>
                        </a:spcAft>
                        <a:buNone/>
                      </a:pPr>
                      <a:r>
                        <a:rPr lang="en-GB" sz="1200" b="1" u="none" strike="noStrike" noProof="0">
                          <a:solidFill>
                            <a:srgbClr val="FFFFFF"/>
                          </a:solidFill>
                        </a:rPr>
                        <a:t>Data Elements Made Optional on a GB Declaration </a:t>
                      </a:r>
                      <a:endParaRPr lang="en-US" sz="1200" b="1"/>
                    </a:p>
                  </a:txBody>
                  <a:tcPr>
                    <a:solidFill>
                      <a:srgbClr val="009999"/>
                    </a:solidFill>
                  </a:tcPr>
                </a:tc>
                <a:extLst>
                  <a:ext uri="{0D108BD9-81ED-4DB2-BD59-A6C34878D82A}">
                    <a16:rowId xmlns:a16="http://schemas.microsoft.com/office/drawing/2014/main" val="999406675"/>
                  </a:ext>
                </a:extLst>
              </a:tr>
              <a:tr h="469308">
                <a:tc>
                  <a:txBody>
                    <a:bodyPr/>
                    <a:lstStyle/>
                    <a:p>
                      <a:pPr lvl="0"/>
                      <a:r>
                        <a:rPr lang="en-GB" sz="1100" b="0">
                          <a:solidFill>
                            <a:schemeClr val="tx1"/>
                          </a:solidFill>
                          <a:latin typeface="Calibri"/>
                        </a:rPr>
                        <a:t>Full Import Declaration</a:t>
                      </a:r>
                      <a:endParaRPr lang="en-GB" sz="1100">
                        <a:solidFill>
                          <a:schemeClr val="tx1"/>
                        </a:solidFill>
                        <a:latin typeface="Calibri"/>
                      </a:endParaRPr>
                    </a:p>
                  </a:txBody>
                  <a:tcPr/>
                </a:tc>
                <a:tc>
                  <a:txBody>
                    <a:bodyPr/>
                    <a:lstStyle/>
                    <a:p>
                      <a:pPr lvl="0"/>
                      <a:r>
                        <a:rPr lang="en-GB" sz="1100" b="0" kern="1200" dirty="0">
                          <a:solidFill>
                            <a:srgbClr val="000000"/>
                          </a:solidFill>
                          <a:latin typeface="Calibri"/>
                        </a:rPr>
                        <a:t>A Type 'A', 'D' Import (procedure category H1, H2, H3, H4, H5) has been submitted, amended or arrived as per BAU.</a:t>
                      </a:r>
                      <a:endParaRPr lang="en-GB" sz="1100" b="0" i="0" kern="1200" dirty="0">
                        <a:solidFill>
                          <a:srgbClr val="000000"/>
                        </a:solidFill>
                        <a:latin typeface="Calibri"/>
                      </a:endParaRPr>
                    </a:p>
                  </a:txBody>
                  <a:tcPr/>
                </a:tc>
                <a:tc>
                  <a:txBody>
                    <a:bodyPr/>
                    <a:lstStyle/>
                    <a:p>
                      <a:pPr lvl="0"/>
                      <a:r>
                        <a:rPr lang="en-GB" sz="1100" b="0">
                          <a:solidFill>
                            <a:schemeClr val="tx1"/>
                          </a:solidFill>
                          <a:latin typeface="Calibri"/>
                        </a:rPr>
                        <a:t>DE 3/19, DE 4/11, DE 5/26, DE 5/27, DE 6/13, DE 7/5, DE 7/15 </a:t>
                      </a:r>
                      <a:endParaRPr lang="en-GB" sz="1100">
                        <a:solidFill>
                          <a:schemeClr val="tx1"/>
                        </a:solidFill>
                        <a:latin typeface="Calibri"/>
                      </a:endParaRPr>
                    </a:p>
                  </a:txBody>
                  <a:tcPr/>
                </a:tc>
                <a:extLst>
                  <a:ext uri="{0D108BD9-81ED-4DB2-BD59-A6C34878D82A}">
                    <a16:rowId xmlns:a16="http://schemas.microsoft.com/office/drawing/2014/main" val="1230946987"/>
                  </a:ext>
                </a:extLst>
              </a:tr>
              <a:tr h="469308">
                <a:tc>
                  <a:txBody>
                    <a:bodyPr/>
                    <a:lstStyle/>
                    <a:p>
                      <a:pPr lvl="0" algn="l">
                        <a:lnSpc>
                          <a:spcPct val="100000"/>
                        </a:lnSpc>
                        <a:spcBef>
                          <a:spcPts val="0"/>
                        </a:spcBef>
                        <a:spcAft>
                          <a:spcPts val="0"/>
                        </a:spcAft>
                        <a:buNone/>
                      </a:pPr>
                      <a:r>
                        <a:rPr lang="en-GB" sz="1100" b="0" u="none" strike="noStrike" noProof="0">
                          <a:solidFill>
                            <a:schemeClr val="tx1"/>
                          </a:solidFill>
                          <a:latin typeface="Calibri"/>
                        </a:rPr>
                        <a:t>Import Simplified Frontier Declaration (SFD)</a:t>
                      </a:r>
                      <a:endParaRPr lang="en-US" sz="1100">
                        <a:solidFill>
                          <a:schemeClr val="tx1"/>
                        </a:solidFill>
                        <a:latin typeface="Calibri"/>
                      </a:endParaRPr>
                    </a:p>
                  </a:txBody>
                  <a:tcPr/>
                </a:tc>
                <a:tc>
                  <a:txBody>
                    <a:bodyPr/>
                    <a:lstStyle/>
                    <a:p>
                      <a:pPr lvl="0"/>
                      <a:r>
                        <a:rPr lang="en-GB" sz="1100" b="0" kern="1200">
                          <a:solidFill>
                            <a:srgbClr val="000000"/>
                          </a:solidFill>
                          <a:latin typeface="Calibri"/>
                        </a:rPr>
                        <a:t>A Type 'C', ‘F’ Import (procedure category I1 C&amp;F) or a Type 'B', 'E' Import (procedure category I1 B&amp;E) has been submitted, amended or arrived as per BAU.</a:t>
                      </a:r>
                      <a:endParaRPr lang="en-GB" sz="1100" b="0" i="0" kern="1200">
                        <a:solidFill>
                          <a:srgbClr val="000000"/>
                        </a:solidFill>
                        <a:latin typeface="Calibri"/>
                      </a:endParaRPr>
                    </a:p>
                  </a:txBody>
                  <a:tcPr/>
                </a:tc>
                <a:tc>
                  <a:txBody>
                    <a:bodyPr/>
                    <a:lstStyle/>
                    <a:p>
                      <a:pPr marL="0" marR="0" lvl="0" indent="0" algn="l" defTabSz="914400" rtl="0" fontAlgn="auto" hangingPunct="1">
                        <a:lnSpc>
                          <a:spcPct val="100000"/>
                        </a:lnSpc>
                        <a:spcBef>
                          <a:spcPts val="0"/>
                        </a:spcBef>
                        <a:spcAft>
                          <a:spcPts val="0"/>
                        </a:spcAft>
                        <a:buNone/>
                        <a:tabLst/>
                      </a:pPr>
                      <a:r>
                        <a:rPr lang="en-GB" sz="1100" b="0">
                          <a:solidFill>
                            <a:schemeClr val="tx1"/>
                          </a:solidFill>
                          <a:latin typeface="Calibri"/>
                        </a:rPr>
                        <a:t>DE 3/17, DE 3/19, DE 4/11, DE 5/26, DE 5/27, DE 6/13</a:t>
                      </a:r>
                    </a:p>
                  </a:txBody>
                  <a:tcPr/>
                </a:tc>
                <a:extLst>
                  <a:ext uri="{0D108BD9-81ED-4DB2-BD59-A6C34878D82A}">
                    <a16:rowId xmlns:a16="http://schemas.microsoft.com/office/drawing/2014/main" val="1079420483"/>
                  </a:ext>
                </a:extLst>
              </a:tr>
              <a:tr h="653679">
                <a:tc>
                  <a:txBody>
                    <a:bodyPr/>
                    <a:lstStyle/>
                    <a:p>
                      <a:pPr lvl="0"/>
                      <a:r>
                        <a:rPr lang="en-GB" sz="1100" b="0">
                          <a:solidFill>
                            <a:schemeClr val="tx1"/>
                          </a:solidFill>
                          <a:latin typeface="Calibri"/>
                        </a:rPr>
                        <a:t>Import Supplementary Declaration</a:t>
                      </a:r>
                      <a:endParaRPr lang="en-GB" sz="1100">
                        <a:solidFill>
                          <a:schemeClr val="tx1"/>
                        </a:solidFill>
                        <a:latin typeface="Calibri"/>
                      </a:endParaRPr>
                    </a:p>
                  </a:txBody>
                  <a:tcPr/>
                </a:tc>
                <a:tc>
                  <a:txBody>
                    <a:bodyPr/>
                    <a:lstStyle/>
                    <a:p>
                      <a:pPr lvl="0"/>
                      <a:r>
                        <a:rPr lang="en-GB" sz="1100" b="0" kern="1200">
                          <a:solidFill>
                            <a:srgbClr val="000000"/>
                          </a:solidFill>
                          <a:latin typeface="Calibri"/>
                        </a:rPr>
                        <a:t>A Type 'Y', ‘Z’ Import (procedure category H1, H3, H4, H5) has been submitted, amended or arrived as per BAU.</a:t>
                      </a:r>
                      <a:endParaRPr lang="en-GB" sz="1100" b="0" i="0" kern="1200">
                        <a:solidFill>
                          <a:srgbClr val="000000"/>
                        </a:solidFill>
                        <a:latin typeface="Calibri"/>
                      </a:endParaRPr>
                    </a:p>
                  </a:txBody>
                  <a:tcPr/>
                </a:tc>
                <a:tc>
                  <a:txBody>
                    <a:bodyPr/>
                    <a:lstStyle/>
                    <a:p>
                      <a:pPr lvl="0"/>
                      <a:r>
                        <a:rPr lang="en-GB" sz="1100" b="0">
                          <a:solidFill>
                            <a:schemeClr val="tx1"/>
                          </a:solidFill>
                          <a:latin typeface="Calibri"/>
                        </a:rPr>
                        <a:t>DE 3/17, DE 3/19, DE 4/11, DE 5/26, DE 5/27, DE 6/9, DE 6/11, DE 6/13, DE 7/2, DE 7/5, DE 7/9, DE 7/10, DE 7/15 </a:t>
                      </a:r>
                      <a:endParaRPr lang="en-GB" sz="1100">
                        <a:solidFill>
                          <a:schemeClr val="tx1"/>
                        </a:solidFill>
                        <a:latin typeface="Calibri"/>
                      </a:endParaRPr>
                    </a:p>
                  </a:txBody>
                  <a:tcPr/>
                </a:tc>
                <a:extLst>
                  <a:ext uri="{0D108BD9-81ED-4DB2-BD59-A6C34878D82A}">
                    <a16:rowId xmlns:a16="http://schemas.microsoft.com/office/drawing/2014/main" val="3079430757"/>
                  </a:ext>
                </a:extLst>
              </a:tr>
              <a:tr h="469308">
                <a:tc>
                  <a:txBody>
                    <a:bodyPr/>
                    <a:lstStyle/>
                    <a:p>
                      <a:pPr lvl="0"/>
                      <a:r>
                        <a:rPr lang="en-GB" sz="1100" b="0">
                          <a:solidFill>
                            <a:schemeClr val="tx1"/>
                          </a:solidFill>
                          <a:latin typeface="Calibri"/>
                        </a:rPr>
                        <a:t>Full Export Declaration</a:t>
                      </a:r>
                      <a:endParaRPr lang="en-GB" sz="1100">
                        <a:solidFill>
                          <a:schemeClr val="tx1"/>
                        </a:solidFill>
                        <a:latin typeface="Calibri"/>
                      </a:endParaRPr>
                    </a:p>
                  </a:txBody>
                  <a:tcPr/>
                </a:tc>
                <a:tc>
                  <a:txBody>
                    <a:bodyPr/>
                    <a:lstStyle/>
                    <a:p>
                      <a:pPr lvl="0"/>
                      <a:r>
                        <a:rPr lang="en-GB" sz="1100" b="0" kern="1200">
                          <a:solidFill>
                            <a:srgbClr val="000000"/>
                          </a:solidFill>
                          <a:latin typeface="Calibri"/>
                        </a:rPr>
                        <a:t>A Type 'A', 'D' Export (procedure category B1, B2, B4) has been submitted, amended or arrived as per BAU.</a:t>
                      </a:r>
                    </a:p>
                    <a:p>
                      <a:pPr marL="0" marR="0" lvl="0" indent="0" algn="l" defTabSz="914400" rtl="0" fontAlgn="auto" hangingPunct="1">
                        <a:lnSpc>
                          <a:spcPct val="100000"/>
                        </a:lnSpc>
                        <a:spcBef>
                          <a:spcPts val="0"/>
                        </a:spcBef>
                        <a:spcAft>
                          <a:spcPts val="0"/>
                        </a:spcAft>
                        <a:buNone/>
                        <a:tabLst/>
                      </a:pPr>
                      <a:endParaRPr lang="en-GB" sz="1100" b="0" i="0">
                        <a:solidFill>
                          <a:srgbClr val="172B4D"/>
                        </a:solidFill>
                        <a:latin typeface="Calibri"/>
                      </a:endParaRPr>
                    </a:p>
                  </a:txBody>
                  <a:tcPr/>
                </a:tc>
                <a:tc>
                  <a:txBody>
                    <a:bodyPr/>
                    <a:lstStyle/>
                    <a:p>
                      <a:pPr lvl="0"/>
                      <a:r>
                        <a:rPr lang="en-GB" sz="1100" b="0">
                          <a:solidFill>
                            <a:schemeClr val="tx1"/>
                          </a:solidFill>
                          <a:latin typeface="Calibri"/>
                        </a:rPr>
                        <a:t>DE 3/19, DE 4/15, DE 5/14, DE 5/26, DE 6/13, DE 7/5, DE 7/14, DE 7/15 </a:t>
                      </a:r>
                      <a:endParaRPr lang="en-GB" sz="1100">
                        <a:solidFill>
                          <a:schemeClr val="tx1"/>
                        </a:solidFill>
                        <a:latin typeface="Calibri"/>
                      </a:endParaRPr>
                    </a:p>
                  </a:txBody>
                  <a:tcPr/>
                </a:tc>
                <a:extLst>
                  <a:ext uri="{0D108BD9-81ED-4DB2-BD59-A6C34878D82A}">
                    <a16:rowId xmlns:a16="http://schemas.microsoft.com/office/drawing/2014/main" val="3095141981"/>
                  </a:ext>
                </a:extLst>
              </a:tr>
              <a:tr h="469308">
                <a:tc>
                  <a:txBody>
                    <a:bodyPr/>
                    <a:lstStyle/>
                    <a:p>
                      <a:pPr lvl="0"/>
                      <a:r>
                        <a:rPr lang="en-GB" sz="1100" b="0">
                          <a:solidFill>
                            <a:schemeClr val="tx1"/>
                          </a:solidFill>
                          <a:latin typeface="Calibri"/>
                        </a:rPr>
                        <a:t>Export </a:t>
                      </a:r>
                      <a:r>
                        <a:rPr lang="en-GB" sz="1100" b="0" u="none" strike="noStrike" noProof="0">
                          <a:solidFill>
                            <a:schemeClr val="tx1"/>
                          </a:solidFill>
                          <a:latin typeface="Calibri"/>
                        </a:rPr>
                        <a:t>Simplified Frontier Declaration (SFD)</a:t>
                      </a:r>
                      <a:endParaRPr lang="en-GB" sz="1100">
                        <a:solidFill>
                          <a:schemeClr val="tx1"/>
                        </a:solidFill>
                        <a:latin typeface="Calibri"/>
                      </a:endParaRPr>
                    </a:p>
                  </a:txBody>
                  <a:tcPr/>
                </a:tc>
                <a:tc>
                  <a:txBody>
                    <a:bodyPr/>
                    <a:lstStyle/>
                    <a:p>
                      <a:pPr lvl="0"/>
                      <a:r>
                        <a:rPr lang="en-GB" sz="1100" b="0" kern="1200">
                          <a:solidFill>
                            <a:srgbClr val="000000"/>
                          </a:solidFill>
                          <a:latin typeface="Calibri"/>
                        </a:rPr>
                        <a:t>A Type 'C', ‘F’ Export (procedure category C1 C&amp;F) or a Type 'B', 'E' Export (procedure category C1 B&amp;E) has been submitted, amended or arrived as per BAU.</a:t>
                      </a:r>
                    </a:p>
                  </a:txBody>
                  <a:tcPr/>
                </a:tc>
                <a:tc>
                  <a:txBody>
                    <a:bodyPr/>
                    <a:lstStyle/>
                    <a:p>
                      <a:pPr lvl="0"/>
                      <a:r>
                        <a:rPr lang="en-GB" sz="1100" b="0">
                          <a:solidFill>
                            <a:schemeClr val="tx1"/>
                          </a:solidFill>
                          <a:latin typeface="Calibri"/>
                        </a:rPr>
                        <a:t>DE 3/19, DE 5/26, DE 5/27 </a:t>
                      </a:r>
                      <a:endParaRPr lang="en-GB" sz="1100">
                        <a:solidFill>
                          <a:schemeClr val="tx1"/>
                        </a:solidFill>
                        <a:latin typeface="Calibri"/>
                      </a:endParaRPr>
                    </a:p>
                  </a:txBody>
                  <a:tcPr/>
                </a:tc>
                <a:extLst>
                  <a:ext uri="{0D108BD9-81ED-4DB2-BD59-A6C34878D82A}">
                    <a16:rowId xmlns:a16="http://schemas.microsoft.com/office/drawing/2014/main" val="2374008933"/>
                  </a:ext>
                </a:extLst>
              </a:tr>
              <a:tr h="653679">
                <a:tc>
                  <a:txBody>
                    <a:bodyPr/>
                    <a:lstStyle/>
                    <a:p>
                      <a:pPr lvl="0"/>
                      <a:r>
                        <a:rPr lang="en-GB" sz="1100" b="0">
                          <a:solidFill>
                            <a:schemeClr val="tx1"/>
                          </a:solidFill>
                          <a:latin typeface="Calibri"/>
                        </a:rPr>
                        <a:t>Export Supplementary Declaration</a:t>
                      </a:r>
                      <a:endParaRPr lang="en-GB" sz="1100">
                        <a:solidFill>
                          <a:schemeClr val="tx1"/>
                        </a:solidFill>
                        <a:latin typeface="Calibri"/>
                      </a:endParaRPr>
                    </a:p>
                  </a:txBody>
                  <a:tcPr/>
                </a:tc>
                <a:tc>
                  <a:txBody>
                    <a:bodyPr/>
                    <a:lstStyle/>
                    <a:p>
                      <a:pPr lvl="0"/>
                      <a:r>
                        <a:rPr lang="en-GB" sz="1100" b="0" kern="1200">
                          <a:solidFill>
                            <a:srgbClr val="000000"/>
                          </a:solidFill>
                          <a:latin typeface="Calibri"/>
                        </a:rPr>
                        <a:t>A Type 'Y', ‘Z’ Export (procedure category B1, B4) has been submitted, amended or arrived as per BAU.</a:t>
                      </a:r>
                    </a:p>
                    <a:p>
                      <a:pPr marL="0" marR="0" lvl="0" indent="0" algn="l" defTabSz="914400" rtl="0" fontAlgn="auto" hangingPunct="1">
                        <a:lnSpc>
                          <a:spcPct val="100000"/>
                        </a:lnSpc>
                        <a:spcBef>
                          <a:spcPts val="0"/>
                        </a:spcBef>
                        <a:spcAft>
                          <a:spcPts val="0"/>
                        </a:spcAft>
                        <a:buNone/>
                        <a:tabLst/>
                      </a:pPr>
                      <a:endParaRPr lang="en-GB" sz="1100" b="0" i="0">
                        <a:solidFill>
                          <a:srgbClr val="172B4D"/>
                        </a:solidFill>
                        <a:latin typeface="Calibri"/>
                      </a:endParaRPr>
                    </a:p>
                  </a:txBody>
                  <a:tcPr/>
                </a:tc>
                <a:tc>
                  <a:txBody>
                    <a:bodyPr/>
                    <a:lstStyle/>
                    <a:p>
                      <a:pPr lvl="0"/>
                      <a:r>
                        <a:rPr lang="en-GB" sz="1100" b="0">
                          <a:solidFill>
                            <a:schemeClr val="tx1"/>
                          </a:solidFill>
                          <a:latin typeface="Calibri"/>
                        </a:rPr>
                        <a:t>DE 3/19, DE 4/15, DE 5/14, DE 5/26, DE 5/27, DE 6/9, DE 6/11, DE 6/13, DE 7/2, DE 7/10, DE 7/14, DE 7/15</a:t>
                      </a:r>
                      <a:endParaRPr lang="en-GB" sz="1100">
                        <a:solidFill>
                          <a:schemeClr val="tx1"/>
                        </a:solidFill>
                        <a:latin typeface="Calibri"/>
                      </a:endParaRPr>
                    </a:p>
                  </a:txBody>
                  <a:tcPr/>
                </a:tc>
                <a:extLst>
                  <a:ext uri="{0D108BD9-81ED-4DB2-BD59-A6C34878D82A}">
                    <a16:rowId xmlns:a16="http://schemas.microsoft.com/office/drawing/2014/main" val="1975478772"/>
                  </a:ext>
                </a:extLst>
              </a:tr>
              <a:tr h="469308">
                <a:tc>
                  <a:txBody>
                    <a:bodyPr/>
                    <a:lstStyle/>
                    <a:p>
                      <a:pPr lvl="0"/>
                      <a:r>
                        <a:rPr lang="en-GB" sz="1100" b="0" kern="1200">
                          <a:solidFill>
                            <a:schemeClr val="tx1"/>
                          </a:solidFill>
                          <a:latin typeface="Calibri"/>
                        </a:rPr>
                        <a:t>Case Emulator and Supplementary Declarations</a:t>
                      </a:r>
                      <a:endParaRPr lang="en-GB" sz="1100" b="0">
                        <a:solidFill>
                          <a:schemeClr val="tx1"/>
                        </a:solidFill>
                        <a:latin typeface="Calibri"/>
                      </a:endParaRPr>
                    </a:p>
                  </a:txBody>
                  <a:tcPr/>
                </a:tc>
                <a:tc>
                  <a:txBody>
                    <a:bodyPr/>
                    <a:lstStyle/>
                    <a:p>
                      <a:pPr marL="0" marR="0" lvl="0" indent="0" algn="l" defTabSz="914400" rtl="0" fontAlgn="auto" hangingPunct="1">
                        <a:lnSpc>
                          <a:spcPct val="100000"/>
                        </a:lnSpc>
                        <a:spcBef>
                          <a:spcPts val="0"/>
                        </a:spcBef>
                        <a:spcAft>
                          <a:spcPts val="0"/>
                        </a:spcAft>
                        <a:buNone/>
                        <a:tabLst/>
                      </a:pPr>
                      <a:r>
                        <a:rPr lang="en-GB" sz="1100" b="0" kern="1200">
                          <a:solidFill>
                            <a:srgbClr val="000000"/>
                          </a:solidFill>
                          <a:latin typeface="Calibri"/>
                        </a:rPr>
                        <a:t>A Type 'Y', ‘Z’ Export or Import (procedure category H1, H3, H4, H5, B1, B4) has been submitted, amended or arrived as per BAU</a:t>
                      </a:r>
                      <a:endParaRPr lang="en-GB" sz="1100" b="0" i="0">
                        <a:solidFill>
                          <a:srgbClr val="172B4D"/>
                        </a:solidFill>
                        <a:latin typeface="Calibri"/>
                      </a:endParaRPr>
                    </a:p>
                  </a:txBody>
                  <a:tcPr/>
                </a:tc>
                <a:tc>
                  <a:txBody>
                    <a:bodyPr/>
                    <a:lstStyle/>
                    <a:p>
                      <a:pPr lvl="0"/>
                      <a:r>
                        <a:rPr lang="en-GB" sz="1100" b="0" kern="1200" dirty="0">
                          <a:solidFill>
                            <a:schemeClr val="tx1"/>
                          </a:solidFill>
                          <a:latin typeface="Calibri"/>
                        </a:rPr>
                        <a:t>DE 6/9</a:t>
                      </a:r>
                      <a:endParaRPr lang="en-GB" sz="1100" dirty="0">
                        <a:solidFill>
                          <a:schemeClr val="tx1"/>
                        </a:solidFill>
                        <a:latin typeface="Calibri"/>
                      </a:endParaRPr>
                    </a:p>
                  </a:txBody>
                  <a:tcPr/>
                </a:tc>
                <a:extLst>
                  <a:ext uri="{0D108BD9-81ED-4DB2-BD59-A6C34878D82A}">
                    <a16:rowId xmlns:a16="http://schemas.microsoft.com/office/drawing/2014/main" val="801859977"/>
                  </a:ext>
                </a:extLst>
              </a:tr>
            </a:tbl>
          </a:graphicData>
        </a:graphic>
      </p:graphicFrame>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r>
              <a:rPr kumimoji="0" lang="en-GB" sz="1200" b="0" i="0" u="none" strike="noStrike" kern="0" cap="none" spc="0" normalizeH="0" baseline="0" noProof="0">
                <a:ln>
                  <a:noFill/>
                </a:ln>
                <a:solidFill>
                  <a:srgbClr val="A5A5A5"/>
                </a:solidFill>
                <a:effectLst/>
                <a:uLnTx/>
                <a:uFillTx/>
                <a:latin typeface="Calibri"/>
                <a:ea typeface="Geneva"/>
                <a:cs typeface="Arial"/>
              </a:rPr>
              <a:t>11</a:t>
            </a:r>
            <a:endParaRPr kumimoji="0" lang="en-GB" sz="1200" b="1" i="0" u="none" strike="noStrike" kern="1200" cap="none" spc="0" normalizeH="0" baseline="0" noProof="0">
              <a:ln>
                <a:noFill/>
              </a:ln>
              <a:solidFill>
                <a:srgbClr val="A5A5A5"/>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t>'</a:t>
            </a: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Calibri"/>
              <a:cs typeface="Calibri"/>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3424014"/>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Simplifying Customs Declarations - Making DE 1/9 Optional</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Import and Export Declarations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DE</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 1/9 Total Number of Items will be made optional for traders to declare on all import and export declarations</a:t>
            </a:r>
            <a:endParaRPr kumimoji="0" lang="en-GB" sz="1200" b="1" i="0" u="sng"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Pre-requisite</a:t>
            </a:r>
            <a:endParaRPr kumimoji="0" lang="en-GB" sz="1200" b="1" i="0" u="sng" strike="noStrike" kern="120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For Import Declarations, an Import Declaration has been submitted, amended or arrived</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 For Export Declarations, an Export declaration has been submitted, amended or arrived</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GB &amp; NI Customs Declarations will be simplified by making DE 1/9 Total Number of Items optional for traders to declare on all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import and export declarations</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that CDS will validate based on the conditions outlined below :</a:t>
            </a:r>
            <a:endParaRPr kumimoji="0" lang="en-GB" sz="1200" b="1"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CDS will ensure that DE 1/9 - Total Number of Items is optional for a trader to declare.</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2)Where DE 1/9 has not been declared at header level, CDS will auto-populate DE 1/9 with the count of goods items declared on the declaration.</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3) Where DE 1/9 is declared at header level, CDS will auto-populate DE 1/9 with the count of goods items declared on the declaration. The value calculated by CDS will override the value entered by the trader and be used for declaration validation and processing</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045010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11">
            <a:extLst>
              <a:ext uri="{FF2B5EF4-FFF2-40B4-BE49-F238E27FC236}">
                <a16:creationId xmlns:a16="http://schemas.microsoft.com/office/drawing/2014/main" id="{C5A8E9DA-6EAD-50B6-85E9-8F7E4D66B8A5}"/>
              </a:ext>
            </a:extLst>
          </p:cNvPr>
          <p:cNvSpPr txBox="1"/>
          <p:nvPr/>
        </p:nvSpPr>
        <p:spPr>
          <a:xfrm>
            <a:off x="325680" y="746378"/>
            <a:ext cx="11866320" cy="7048083"/>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Validation of </a:t>
            </a:r>
            <a:r>
              <a:rPr kumimoji="0" lang="en-GB" sz="1400" b="1" i="0" u="none" strike="noStrike" kern="1200" cap="none" spc="0" normalizeH="0" baseline="0" noProof="0" err="1">
                <a:ln>
                  <a:noFill/>
                </a:ln>
                <a:solidFill>
                  <a:srgbClr val="000000"/>
                </a:solidFill>
                <a:effectLst/>
                <a:uLnTx/>
                <a:uFillTx/>
                <a:latin typeface="Calibri"/>
                <a:ea typeface="+mn-ea"/>
                <a:cs typeface="+mn-cs"/>
              </a:rPr>
              <a:t>AbD</a:t>
            </a:r>
            <a:r>
              <a:rPr kumimoji="0" lang="en-GB" sz="1400" b="1" i="0" u="none" strike="noStrike" kern="1200" cap="none" spc="0" normalizeH="0" baseline="0" noProof="0">
                <a:ln>
                  <a:noFill/>
                </a:ln>
                <a:solidFill>
                  <a:srgbClr val="000000"/>
                </a:solidFill>
                <a:effectLst/>
                <a:uLnTx/>
                <a:uFillTx/>
                <a:latin typeface="Calibri"/>
                <a:ea typeface="+mn-ea"/>
                <a:cs typeface="+mn-cs"/>
              </a:rPr>
              <a:t> Identifiers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err="1">
                <a:ln>
                  <a:noFill/>
                </a:ln>
                <a:solidFill>
                  <a:srgbClr val="000000"/>
                </a:solidFill>
                <a:effectLst/>
                <a:uLnTx/>
                <a:uFillTx/>
                <a:latin typeface="Calibri"/>
                <a:ea typeface="+mn-ea"/>
                <a:cs typeface="+mn-cs"/>
              </a:rPr>
              <a:t>AbD</a:t>
            </a:r>
            <a:r>
              <a:rPr kumimoji="0" lang="en-GB" sz="1200" b="0" i="0" u="none" strike="noStrike" kern="1200" cap="none" spc="0" normalizeH="0" baseline="0" noProof="0">
                <a:ln>
                  <a:noFill/>
                </a:ln>
                <a:solidFill>
                  <a:srgbClr val="000000"/>
                </a:solidFill>
                <a:effectLst/>
                <a:uLnTx/>
                <a:uFillTx/>
                <a:latin typeface="Calibri"/>
                <a:ea typeface="+mn-ea"/>
                <a:cs typeface="+mn-cs"/>
              </a:rPr>
              <a:t> allows traders without the required authorisations to submit declarations for the following special procedures: Inward Processing, Outward Processing, End Use/Authorised Use and Temporary Admission</a:t>
            </a:r>
            <a:r>
              <a:rPr kumimoji="0" lang="en-GB" sz="1200" b="0" i="0" u="none" strike="noStrike" kern="0" cap="none" spc="0" normalizeH="0" baseline="0" noProof="0">
                <a:ln>
                  <a:noFill/>
                </a:ln>
                <a:solidFill>
                  <a:srgbClr val="000000"/>
                </a:solidFill>
                <a:effectLst/>
                <a:uLnTx/>
                <a:uFillTx/>
                <a:latin typeface="Calibri"/>
                <a:ea typeface="+mn-ea"/>
                <a:cs typeface="+mn-cs"/>
              </a:rPr>
              <a:t>.</a:t>
            </a:r>
            <a:endParaRPr kumimoji="0" lang="en-GB" sz="1200" b="0" i="0" u="none"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CDS will ensure the following:</a:t>
            </a:r>
            <a:endParaRPr kumimoji="0" lang="en-GB" sz="1200" b="0" i="0" u="none"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a:ea typeface="+mn-ea"/>
                <a:cs typeface="+mn-cs"/>
              </a:rPr>
              <a:t>   </a:t>
            </a:r>
            <a:r>
              <a:rPr kumimoji="0" lang="en-GB" sz="1200" b="0" i="0" u="none" strike="noStrike" kern="1200" cap="none" spc="0" normalizeH="0" baseline="0" noProof="0">
                <a:ln>
                  <a:noFill/>
                </a:ln>
                <a:solidFill>
                  <a:srgbClr val="000000"/>
                </a:solidFill>
                <a:effectLst/>
                <a:uLnTx/>
                <a:uFillTx/>
                <a:latin typeface="Calibri"/>
                <a:ea typeface="+mn-ea"/>
                <a:cs typeface="+mn-cs"/>
              </a:rPr>
              <a:t>Add validation to the use of </a:t>
            </a:r>
            <a:r>
              <a:rPr kumimoji="0" lang="en-GB" sz="1200" b="0" i="0" u="none" strike="noStrike" kern="1200" cap="none" spc="0" normalizeH="0" baseline="0" noProof="0" err="1">
                <a:ln>
                  <a:noFill/>
                </a:ln>
                <a:solidFill>
                  <a:srgbClr val="000000"/>
                </a:solidFill>
                <a:effectLst/>
                <a:uLnTx/>
                <a:uFillTx/>
                <a:latin typeface="Calibri"/>
                <a:ea typeface="+mn-ea"/>
                <a:cs typeface="+mn-cs"/>
              </a:rPr>
              <a:t>AbD</a:t>
            </a:r>
            <a:r>
              <a:rPr kumimoji="0" lang="en-GB" sz="1200" b="0" i="0" u="none" strike="noStrike" kern="1200" cap="none" spc="0" normalizeH="0" baseline="0" noProof="0">
                <a:ln>
                  <a:noFill/>
                </a:ln>
                <a:solidFill>
                  <a:srgbClr val="000000"/>
                </a:solidFill>
                <a:effectLst/>
                <a:uLnTx/>
                <a:uFillTx/>
                <a:latin typeface="Calibri"/>
                <a:ea typeface="+mn-ea"/>
                <a:cs typeface="+mn-cs"/>
              </a:rPr>
              <a:t> for Outward Processing (Procedure code 22) and End Use/Authorised Use (requested procedure code 44).</a:t>
            </a:r>
            <a:endParaRPr kumimoji="0" lang="en-GB" sz="1200" b="0" i="0" u="none" strike="noStrike" kern="0" cap="none" spc="0" normalizeH="0" baseline="0" noProof="0">
              <a:ln>
                <a:noFill/>
              </a:ln>
              <a:solidFill>
                <a:srgbClr val="000000"/>
              </a:solidFill>
              <a:effectLst/>
              <a:uLnTx/>
              <a:uFillTx/>
              <a:latin typeface="Calibri"/>
              <a:ea typeface="+mn-ea"/>
              <a:cs typeface="+mn-cs"/>
            </a:endParaRPr>
          </a:p>
          <a:p>
            <a:pPr marL="228600" marR="0" lvl="0" indent="-228600" algn="l" defTabSz="914400" rtl="0" eaLnBrk="1" fontAlgn="auto" latinLnBrk="0" hangingPunct="1">
              <a:lnSpc>
                <a:spcPct val="100000"/>
              </a:lnSpc>
              <a:spcBef>
                <a:spcPts val="0"/>
              </a:spcBef>
              <a:spcAft>
                <a:spcPts val="0"/>
              </a:spcAft>
              <a:buClrTx/>
              <a:buSzPct val="100000"/>
              <a:buFontTx/>
              <a:buAutoNum type="arabicPeriod"/>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Mandate an Importer and Exporter EORI where </a:t>
            </a:r>
            <a:r>
              <a:rPr kumimoji="0" lang="en-GB" sz="1200" b="0" i="0" u="none" strike="noStrike" kern="1200" cap="none" spc="0" normalizeH="0" baseline="0" noProof="0" err="1">
                <a:ln>
                  <a:noFill/>
                </a:ln>
                <a:solidFill>
                  <a:srgbClr val="000000"/>
                </a:solidFill>
                <a:effectLst/>
                <a:uLnTx/>
                <a:uFillTx/>
                <a:latin typeface="Calibri"/>
                <a:ea typeface="+mn-ea"/>
                <a:cs typeface="+mn-cs"/>
              </a:rPr>
              <a:t>AbD</a:t>
            </a:r>
            <a:r>
              <a:rPr kumimoji="0" lang="en-GB" sz="1200" b="0" i="0" u="none" strike="noStrike" kern="1200" cap="none" spc="0" normalizeH="0" baseline="0" noProof="0">
                <a:ln>
                  <a:noFill/>
                </a:ln>
                <a:solidFill>
                  <a:srgbClr val="000000"/>
                </a:solidFill>
                <a:effectLst/>
                <a:uLnTx/>
                <a:uFillTx/>
                <a:latin typeface="Calibri"/>
                <a:ea typeface="+mn-ea"/>
                <a:cs typeface="+mn-cs"/>
              </a:rPr>
              <a:t> is used with Outward Processing (requested procedure codes 21 &amp; 22</a:t>
            </a:r>
            <a:r>
              <a:rPr kumimoji="0" lang="en-GB" sz="1200" b="0" i="0" u="none" strike="noStrike" kern="0" cap="none" spc="0" normalizeH="0" baseline="0" noProof="0">
                <a:ln>
                  <a:noFill/>
                </a:ln>
                <a:solidFill>
                  <a:srgbClr val="000000"/>
                </a:solidFill>
                <a:effectLst/>
                <a:uLnTx/>
                <a:uFillTx/>
                <a:latin typeface="Calibri"/>
                <a:ea typeface="+mn-ea"/>
                <a:cs typeface="+mn-cs"/>
              </a:rPr>
              <a:t>),</a:t>
            </a:r>
            <a:r>
              <a:rPr kumimoji="0" lang="en-GB" sz="1200" b="0" i="0" u="none" strike="noStrike" kern="1200" cap="none" spc="0" normalizeH="0" baseline="0" noProof="0">
                <a:ln>
                  <a:noFill/>
                </a:ln>
                <a:solidFill>
                  <a:srgbClr val="000000"/>
                </a:solidFill>
                <a:effectLst/>
                <a:uLnTx/>
                <a:uFillTx/>
                <a:latin typeface="Calibri"/>
                <a:ea typeface="+mn-ea"/>
                <a:cs typeface="+mn-cs"/>
              </a:rPr>
              <a:t> End Use/Authorised Use (requested procedure code 44) or Inward Processing (requested procedure code 51).</a:t>
            </a:r>
            <a:endParaRPr kumimoji="0" lang="en-GB" sz="1200" b="0" i="0" u="none"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Pct val="100000"/>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Tx/>
              <a:buNone/>
              <a:tabLst/>
              <a:defRPr sz="1800" b="0" i="0" u="none" strike="noStrike" kern="0" cap="none" spc="0" baseline="0">
                <a:solidFill>
                  <a:srgbClr val="000000"/>
                </a:solidFill>
                <a:uFillTx/>
              </a:defRPr>
            </a:pPr>
            <a:r>
              <a:rPr kumimoji="0" lang="en-GB" sz="1200" b="1" i="0" u="sng" strike="noStrike" kern="0" cap="none" spc="0" normalizeH="0" baseline="0" noProof="0">
                <a:ln>
                  <a:noFill/>
                </a:ln>
                <a:solidFill>
                  <a:srgbClr val="000000"/>
                </a:solidFill>
                <a:effectLst/>
                <a:uLnTx/>
                <a:uFillTx/>
                <a:latin typeface="Calibri" panose="020F0502020204030204"/>
                <a:ea typeface="+mn-ea"/>
                <a:cs typeface="+mn-cs"/>
              </a:rPr>
              <a:t>Validation of </a:t>
            </a:r>
            <a:r>
              <a:rPr kumimoji="0" lang="en-GB" sz="1200" b="1" i="0" u="sng" strike="noStrike" kern="0" cap="none" spc="0" normalizeH="0" baseline="0" noProof="0" err="1">
                <a:ln>
                  <a:noFill/>
                </a:ln>
                <a:solidFill>
                  <a:srgbClr val="000000"/>
                </a:solidFill>
                <a:effectLst/>
                <a:uLnTx/>
                <a:uFillTx/>
                <a:latin typeface="Calibri" panose="020F0502020204030204"/>
                <a:ea typeface="+mn-ea"/>
                <a:cs typeface="+mn-cs"/>
              </a:rPr>
              <a:t>AbD</a:t>
            </a:r>
            <a:r>
              <a:rPr kumimoji="0" lang="en-GB" sz="1200" b="1" i="0" u="sng" strike="noStrike" kern="0" cap="none" spc="0" normalizeH="0" baseline="0" noProof="0">
                <a:ln>
                  <a:noFill/>
                </a:ln>
                <a:solidFill>
                  <a:srgbClr val="000000"/>
                </a:solidFill>
                <a:effectLst/>
                <a:uLnTx/>
                <a:uFillTx/>
                <a:latin typeface="Calibri" panose="020F0502020204030204"/>
                <a:ea typeface="+mn-ea"/>
                <a:cs typeface="+mn-cs"/>
              </a:rPr>
              <a:t> Identifiers on Import Declarations</a:t>
            </a:r>
            <a:endParaRPr kumimoji="0" lang="en-GB" sz="1200" b="1" i="0" u="sng"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There will be validation on the use of </a:t>
            </a:r>
            <a:r>
              <a:rPr kumimoji="0" lang="en-GB" sz="1200" b="0" i="0" u="none" strike="noStrike" kern="0" cap="none" spc="0" normalizeH="0" baseline="0" noProof="0" err="1">
                <a:ln>
                  <a:noFill/>
                </a:ln>
                <a:solidFill>
                  <a:srgbClr val="000000"/>
                </a:solidFill>
                <a:effectLst/>
                <a:uLnTx/>
                <a:uFillTx/>
                <a:latin typeface="Calibri" panose="020F0502020204030204"/>
                <a:ea typeface="Calibri" panose="020F0502020204030204"/>
                <a:cs typeface="Calibri" panose="020F0502020204030204"/>
              </a:rPr>
              <a:t>AbD</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for Outward Processing &amp; End Use/Authorised Use procedures.</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Tx/>
              <a:buNone/>
              <a:tabLst/>
              <a:defRPr sz="1800" b="0" i="0" u="none" strike="noStrike" kern="0" cap="none" spc="0" baseline="0">
                <a:solidFill>
                  <a:srgbClr val="000000"/>
                </a:solidFill>
                <a:uFillTx/>
              </a:defRPr>
            </a:pPr>
            <a:r>
              <a:rPr kumimoji="0" lang="en-GB" sz="1200" b="1" i="0" u="sng" strike="noStrike" kern="0" cap="none" spc="0" normalizeH="0" baseline="0" noProof="0">
                <a:ln>
                  <a:noFill/>
                </a:ln>
                <a:solidFill>
                  <a:srgbClr val="000000"/>
                </a:solidFill>
                <a:effectLst/>
                <a:uLnTx/>
                <a:uFillTx/>
                <a:latin typeface="Calibri" panose="020F0502020204030204"/>
                <a:ea typeface="+mn-ea"/>
                <a:cs typeface="+mn-cs"/>
              </a:rPr>
              <a:t>Pre-requisite</a:t>
            </a:r>
            <a:endParaRPr kumimoji="0" lang="en-GB" sz="1200" b="1" i="0" u="sng"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Pct val="100000"/>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A Type A or D Import declaration has been submitted, amended or arrived (Applicable to Procedure Category, H1,H2, H5).</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a trader declares Previous Procedure Code 22 in DE 1/10, </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CDS will ensure that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AI A</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BDOU is declared in DE 2/2  on the same goods item , unless one or more of the following exceptions applies: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Declaration of Authorisation Document Code C019 in DE 2/3 on the same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of Additional Procedure Code B06 in DE 1/11 on the same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a trader declares Requested Procedure Code 44 in DE 1/10 and AI code ABDIN in DE 2/2 against the same goods item, </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CDS will ensure Authorisation Document</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Code N990 is declared in DE 2/3 on the same goods item.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one or more of the above acceptance criteria is not met CDS will reject the declaration and a DMSREJ notification is sent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endParaRPr kumimoji="0" lang="en-GB" sz="1200" b="0" i="0" u="sng" strike="noStrike" kern="1200" cap="none" spc="0" normalizeH="0" baseline="0" noProof="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2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Pct val="100000"/>
              <a:buFont typeface="Calibri Light"/>
              <a:buAutoNum type="arabicPeriod"/>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sng" strike="noStrike" kern="1200" cap="none" spc="0" normalizeH="0" baseline="0" noProof="0">
              <a:ln>
                <a:noFill/>
              </a:ln>
              <a:solidFill>
                <a:srgbClr val="172B4D"/>
              </a:solidFill>
              <a:effectLst/>
              <a:uLnTx/>
              <a:uFillTx/>
              <a:latin typeface="Calibri"/>
              <a:ea typeface="+mn-ea"/>
              <a:cs typeface="+mn-cs"/>
            </a:endParaRPr>
          </a:p>
        </p:txBody>
      </p:sp>
      <p:cxnSp>
        <p:nvCxnSpPr>
          <p:cNvPr id="2" name="Straight Connector 17">
            <a:extLst>
              <a:ext uri="{FF2B5EF4-FFF2-40B4-BE49-F238E27FC236}">
                <a16:creationId xmlns:a16="http://schemas.microsoft.com/office/drawing/2014/main" id="{3C24229E-FEE0-24AB-B635-DC26670DAB3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C15436A-B95B-7598-372C-34E990D693E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F741D12C-7FF0-AAAB-4803-4219F3374B98}"/>
              </a:ext>
            </a:extLst>
          </p:cNvPr>
          <p:cNvSpPr txBox="1"/>
          <p:nvPr/>
        </p:nvSpPr>
        <p:spPr>
          <a:xfrm>
            <a:off x="315458" y="130823"/>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Footer Placeholder 1">
            <a:extLst>
              <a:ext uri="{FF2B5EF4-FFF2-40B4-BE49-F238E27FC236}">
                <a16:creationId xmlns:a16="http://schemas.microsoft.com/office/drawing/2014/main" id="{40A7DBA6-9265-51D7-714B-6B3016119349}"/>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r>
              <a:rPr kumimoji="0" lang="en-GB" sz="900" b="0" i="0" u="none" strike="noStrike" kern="0" cap="none" spc="0" normalizeH="0" baseline="0" noProof="0">
                <a:ln>
                  <a:noFill/>
                </a:ln>
                <a:solidFill>
                  <a:srgbClr val="3B3A3D"/>
                </a:solidFill>
                <a:effectLst/>
                <a:uLnTx/>
                <a:uFillTx/>
                <a:latin typeface="Calibri"/>
                <a:ea typeface="Geneva"/>
                <a:cs typeface="Arial"/>
              </a:rPr>
              <a:t> </a:t>
            </a:r>
            <a:r>
              <a:rPr kumimoji="0" lang="en-GB" sz="1200" b="0" i="0" u="none" strike="noStrike" kern="0" cap="none" spc="0" normalizeH="0" baseline="0" noProof="0">
                <a:ln>
                  <a:noFill/>
                </a:ln>
                <a:solidFill>
                  <a:srgbClr val="A5A5A5"/>
                </a:solidFill>
                <a:effectLst/>
                <a:uLnTx/>
                <a:uFillTx/>
                <a:latin typeface="Calibri"/>
                <a:ea typeface="Geneva"/>
                <a:cs typeface="Arial"/>
              </a:rPr>
              <a:t>12</a:t>
            </a:r>
            <a:endParaRPr kumimoji="0" lang="en-GB" sz="1200" b="1" i="0" u="none" strike="noStrike" kern="1200" cap="none" spc="0" normalizeH="0" baseline="0" noProof="0">
              <a:ln>
                <a:noFill/>
              </a:ln>
              <a:solidFill>
                <a:srgbClr val="A5A5A5"/>
              </a:solidFill>
              <a:effectLst/>
              <a:uLnTx/>
              <a:uFillTx/>
              <a:latin typeface="Calibri"/>
              <a:ea typeface="Geneva"/>
              <a:cs typeface="Arial"/>
            </a:endParaRPr>
          </a:p>
        </p:txBody>
      </p:sp>
      <p:sp>
        <p:nvSpPr>
          <p:cNvPr id="7" name="Rectangle 7">
            <a:extLst>
              <a:ext uri="{FF2B5EF4-FFF2-40B4-BE49-F238E27FC236}">
                <a16:creationId xmlns:a16="http://schemas.microsoft.com/office/drawing/2014/main" id="{7E0EF656-CA5D-4526-6ECD-C43222A2EFEB}"/>
              </a:ext>
            </a:extLst>
          </p:cNvPr>
          <p:cNvSpPr/>
          <p:nvPr/>
        </p:nvSpPr>
        <p:spPr>
          <a:xfrm>
            <a:off x="332759" y="438601"/>
            <a:ext cx="3563745" cy="307777"/>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142056744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B4C07FE7-F4B6-9B42-9944-27CA40F0655E}"/>
              </a:ext>
            </a:extLst>
          </p:cNvPr>
          <p:cNvSpPr txBox="1"/>
          <p:nvPr/>
        </p:nvSpPr>
        <p:spPr>
          <a:xfrm>
            <a:off x="240634" y="817090"/>
            <a:ext cx="11861439" cy="584775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0000"/>
                </a:solidFill>
                <a:effectLst/>
                <a:uLnTx/>
                <a:uFillTx/>
                <a:latin typeface="Calibri" panose="020F0502020204030204"/>
                <a:ea typeface="Calibri"/>
                <a:cs typeface="Calibri"/>
              </a:rPr>
              <a:t>Validation of </a:t>
            </a:r>
            <a:r>
              <a:rPr kumimoji="0" lang="en-GB" sz="1400" b="1" i="0" u="none" strike="noStrike" kern="1200" cap="none" spc="0" normalizeH="0" baseline="0" noProof="0" err="1">
                <a:ln>
                  <a:noFill/>
                </a:ln>
                <a:solidFill>
                  <a:srgbClr val="000000"/>
                </a:solidFill>
                <a:effectLst/>
                <a:uLnTx/>
                <a:uFillTx/>
                <a:latin typeface="Calibri" panose="020F0502020204030204"/>
                <a:ea typeface="Calibri"/>
                <a:cs typeface="Calibri"/>
              </a:rPr>
              <a:t>AbD</a:t>
            </a:r>
            <a:r>
              <a:rPr kumimoji="0" lang="en-GB" sz="1400" b="1" i="0" u="none" strike="noStrike" kern="1200" cap="none" spc="0" normalizeH="0" baseline="0" noProof="0">
                <a:ln>
                  <a:noFill/>
                </a:ln>
                <a:solidFill>
                  <a:srgbClr val="000000"/>
                </a:solidFill>
                <a:effectLst/>
                <a:uLnTx/>
                <a:uFillTx/>
                <a:latin typeface="Calibri" panose="020F0502020204030204"/>
                <a:ea typeface="Calibri"/>
                <a:cs typeface="Calibri"/>
              </a:rPr>
              <a:t> Identifiers (continuation)</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rPr>
              <a:t>Validation of </a:t>
            </a:r>
            <a:r>
              <a:rPr kumimoji="0" lang="en-GB" sz="1200" b="1" i="0" u="sng" strike="noStrike" kern="1200" cap="none" spc="0" normalizeH="0" baseline="0" noProof="0" err="1">
                <a:ln>
                  <a:noFill/>
                </a:ln>
                <a:solidFill>
                  <a:srgbClr val="000000"/>
                </a:solidFill>
                <a:effectLst/>
                <a:uLnTx/>
                <a:uFillTx/>
                <a:latin typeface="Calibri" panose="020F0502020204030204"/>
                <a:ea typeface="Calibri"/>
                <a:cs typeface="Calibri"/>
              </a:rPr>
              <a:t>AbD</a:t>
            </a:r>
            <a:r>
              <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rPr>
              <a:t> Identifiers on Export Declarations</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There will be validation on the use of </a:t>
            </a:r>
            <a:r>
              <a:rPr kumimoji="0" lang="en-GB" sz="1200" b="0" i="0" u="none" strike="noStrike" kern="1200" cap="none" spc="0" normalizeH="0" baseline="0" noProof="0" err="1">
                <a:ln>
                  <a:noFill/>
                </a:ln>
                <a:solidFill>
                  <a:prstClr val="black"/>
                </a:solidFill>
                <a:effectLst/>
                <a:uLnTx/>
                <a:uFillTx/>
                <a:latin typeface="Calibri" panose="020F0502020204030204"/>
                <a:ea typeface="Calibri" panose="020F0502020204030204"/>
                <a:cs typeface="Calibri" panose="020F0502020204030204"/>
              </a:rPr>
              <a:t>AbD</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 for Outward Processing procedures.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rPr>
              <a:t>Pre-requisite</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rPr>
              <a:t>A Type A or D Import declaration has been submitted, amended or arrived (Applicable to Procedure Category B2).</a:t>
            </a:r>
            <a:endParaRPr kumimoji="0" lang="en-US"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rPr>
              <a:t>Acceptance Criteria</a:t>
            </a:r>
            <a:endParaRPr kumimoji="0" lang="en-US" sz="1200" b="1" i="0" u="none" strike="noStrike" kern="1200" cap="none" spc="0" normalizeH="0" baseline="0" noProof="0">
              <a:ln>
                <a:noFill/>
              </a:ln>
              <a:solidFill>
                <a:srgbClr val="000000"/>
              </a:solidFill>
              <a:effectLst/>
              <a:uLnTx/>
              <a:uFillTx/>
              <a:latin typeface="Calibri" panose="020F0502020204030204"/>
              <a:ea typeface="Calibri"/>
              <a:cs typeface="Calibri"/>
            </a:endParaRP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rPr>
              <a:t>Where a trader declares Requested Procedure Code 22 in DE 1/10, CDS will ensure that AI code ABDIN is declared in DE 2/2 on the same goods item, unless one or more of the following exceptions applies:</a:t>
            </a:r>
            <a:endParaRPr kumimoji="0" lang="en-US"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Sans-Serif"/>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rPr>
              <a:t>Declaration of Authorisation Document Code C019 in DE 2/3 on the same goods item.</a:t>
            </a:r>
            <a:endParaRPr kumimoji="0" lang="en-US"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Sans-Serif"/>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rPr>
              <a:t>Declaration of AI Code OPVAT in DE 2/2 on the same goods item.</a:t>
            </a:r>
            <a:endParaRPr kumimoji="0" lang="en-US"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rPr>
              <a:t>Where one or more of the above acceptance criteria is not met, CDS will reject the declaration and send a DMSREJ notification to the submitter.</a:t>
            </a:r>
            <a:endParaRPr kumimoji="0" lang="en-US"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Mandating an Importer EORI with use of </a:t>
            </a:r>
            <a:r>
              <a:rPr kumimoji="0" lang="en-GB" sz="1200" b="1" i="0" u="sng" strike="noStrike" kern="1200" cap="none" spc="0" normalizeH="0" baseline="0" noProof="0" err="1">
                <a:ln>
                  <a:noFill/>
                </a:ln>
                <a:solidFill>
                  <a:srgbClr val="000000"/>
                </a:solidFill>
                <a:effectLst/>
                <a:uLnTx/>
                <a:uFillTx/>
                <a:latin typeface="Calibri" panose="020F0502020204030204"/>
                <a:ea typeface="+mn-ea"/>
                <a:cs typeface="+mn-cs"/>
              </a:rPr>
              <a:t>AbD</a:t>
            </a: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 on Import Declarations</a:t>
            </a:r>
            <a:endParaRPr kumimoji="0" lang="en-GB" sz="18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Traders will need to declare an EORI when using </a:t>
            </a:r>
            <a:r>
              <a:rPr kumimoji="0" lang="en-GB" sz="1200" b="0" i="0" u="none" strike="noStrike" kern="1200" cap="none" spc="0" normalizeH="0" baseline="0" noProof="0" err="1">
                <a:ln>
                  <a:noFill/>
                </a:ln>
                <a:solidFill>
                  <a:prstClr val="black"/>
                </a:solidFill>
                <a:effectLst/>
                <a:uLnTx/>
                <a:uFillTx/>
                <a:latin typeface="Calibri" panose="020F0502020204030204"/>
                <a:ea typeface="Calibri" panose="020F0502020204030204"/>
                <a:cs typeface="Calibri" panose="020F0502020204030204"/>
              </a:rPr>
              <a:t>AbD</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 for certain special procedures.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A or D Import declaration has been submitted, amended or arrived (Applicable to Procedure Categories: H1, H4)</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declaration of AI Code ABDIN in DE 2/2 at item level on one of the below Requested Procedures in DE 1/10 at item level on the same goods item.</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declared one of the following Requested Procedure Codes; 51, 44, CDS will mandate the declaration of an importer EORI at header level in DE 3/16.</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declared one of the following Requested Procedure Codes; 51, 44  and has not supplied an importer EORI at header level in DE 3/16,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3" name="Straight Connector 17">
            <a:extLst>
              <a:ext uri="{FF2B5EF4-FFF2-40B4-BE49-F238E27FC236}">
                <a16:creationId xmlns:a16="http://schemas.microsoft.com/office/drawing/2014/main" id="{2DCCE52C-B241-831F-88ED-4C83A15C133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D371E1A1-60A9-360F-CA17-BF3644A82E6B}"/>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C9AAB77C-922D-DA19-5E40-F8A43C466666}"/>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Rectangle 7">
            <a:extLst>
              <a:ext uri="{FF2B5EF4-FFF2-40B4-BE49-F238E27FC236}">
                <a16:creationId xmlns:a16="http://schemas.microsoft.com/office/drawing/2014/main" id="{832FBABD-4686-FE26-A1B4-DD67229D4E72}"/>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4" name="Footer Placeholder 1">
            <a:extLst>
              <a:ext uri="{FF2B5EF4-FFF2-40B4-BE49-F238E27FC236}">
                <a16:creationId xmlns:a16="http://schemas.microsoft.com/office/drawing/2014/main" id="{78CB26FB-F0FD-2522-2091-57FC6D87DAE3}"/>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r>
              <a:rPr kumimoji="0" lang="en-GB" sz="900" b="0" i="0" u="none" strike="noStrike" kern="0" cap="none" spc="0" normalizeH="0" baseline="0" noProof="0">
                <a:ln>
                  <a:noFill/>
                </a:ln>
                <a:solidFill>
                  <a:srgbClr val="3B3A3D"/>
                </a:solidFill>
                <a:effectLst/>
                <a:uLnTx/>
                <a:uFillTx/>
                <a:latin typeface="Calibri"/>
                <a:ea typeface="Geneva"/>
                <a:cs typeface="Arial"/>
              </a:rPr>
              <a:t> </a:t>
            </a:r>
            <a:r>
              <a:rPr kumimoji="0" lang="en-GB" sz="1200" b="0" i="0" u="none" strike="noStrike" kern="0" cap="none" spc="0" normalizeH="0" baseline="0" noProof="0">
                <a:ln>
                  <a:noFill/>
                </a:ln>
                <a:solidFill>
                  <a:srgbClr val="A5A5A5"/>
                </a:solidFill>
                <a:effectLst/>
                <a:uLnTx/>
                <a:uFillTx/>
                <a:latin typeface="Calibri"/>
                <a:ea typeface="Geneva"/>
                <a:cs typeface="Arial"/>
              </a:rPr>
              <a:t>13</a:t>
            </a:r>
            <a:endParaRPr kumimoji="0" lang="en-GB" sz="1200" b="1" i="0" u="none" strike="noStrike" kern="1200" cap="none" spc="0" normalizeH="0" baseline="0" noProof="0">
              <a:ln>
                <a:noFill/>
              </a:ln>
              <a:solidFill>
                <a:srgbClr val="A5A5A5"/>
              </a:solidFill>
              <a:effectLst/>
              <a:uLnTx/>
              <a:uFillTx/>
              <a:latin typeface="Calibri"/>
              <a:ea typeface="Geneva"/>
              <a:cs typeface="Arial"/>
            </a:endParaRPr>
          </a:p>
        </p:txBody>
      </p:sp>
    </p:spTree>
    <p:extLst>
      <p:ext uri="{BB962C8B-B14F-4D97-AF65-F5344CB8AC3E}">
        <p14:creationId xmlns:p14="http://schemas.microsoft.com/office/powerpoint/2010/main" val="189920511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CFAD82-4E92-FF9F-F668-DBADEA082C83}"/>
            </a:ext>
          </a:extLst>
        </p:cNvPr>
        <p:cNvGrpSpPr/>
        <p:nvPr/>
      </p:nvGrpSpPr>
      <p:grpSpPr>
        <a:xfrm>
          <a:off x="0" y="0"/>
          <a:ext cx="0" cy="0"/>
          <a:chOff x="0" y="0"/>
          <a:chExt cx="0" cy="0"/>
        </a:xfrm>
      </p:grpSpPr>
      <p:sp>
        <p:nvSpPr>
          <p:cNvPr id="11" name="TextBox 10">
            <a:extLst>
              <a:ext uri="{FF2B5EF4-FFF2-40B4-BE49-F238E27FC236}">
                <a16:creationId xmlns:a16="http://schemas.microsoft.com/office/drawing/2014/main" id="{3E5DF95B-A89F-CB6B-5CA6-318339C8E1BF}"/>
              </a:ext>
            </a:extLst>
          </p:cNvPr>
          <p:cNvSpPr txBox="1"/>
          <p:nvPr/>
        </p:nvSpPr>
        <p:spPr>
          <a:xfrm>
            <a:off x="249705" y="844304"/>
            <a:ext cx="11852368" cy="329320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0000"/>
                </a:solidFill>
                <a:effectLst/>
                <a:uLnTx/>
                <a:uFillTx/>
                <a:latin typeface="Calibri" panose="020F0502020204030204"/>
                <a:ea typeface="+mn-ea"/>
                <a:cs typeface="+mn-cs"/>
              </a:rPr>
              <a:t>Validation of </a:t>
            </a:r>
            <a:r>
              <a:rPr kumimoji="0" lang="en-GB" sz="1400" b="1" i="0" u="none" strike="noStrike" kern="1200" cap="none" spc="0" normalizeH="0" baseline="0" noProof="0" err="1">
                <a:ln>
                  <a:noFill/>
                </a:ln>
                <a:solidFill>
                  <a:srgbClr val="000000"/>
                </a:solidFill>
                <a:effectLst/>
                <a:uLnTx/>
                <a:uFillTx/>
                <a:latin typeface="Calibri" panose="020F0502020204030204"/>
                <a:ea typeface="+mn-ea"/>
                <a:cs typeface="+mn-cs"/>
              </a:rPr>
              <a:t>AbD</a:t>
            </a:r>
            <a:r>
              <a:rPr kumimoji="0" lang="en-GB" sz="1400" b="1" i="0" u="none" strike="noStrike" kern="1200" cap="none" spc="0" normalizeH="0" baseline="0" noProof="0">
                <a:ln>
                  <a:noFill/>
                </a:ln>
                <a:solidFill>
                  <a:srgbClr val="000000"/>
                </a:solidFill>
                <a:effectLst/>
                <a:uLnTx/>
                <a:uFillTx/>
                <a:latin typeface="Calibri" panose="020F0502020204030204"/>
                <a:ea typeface="+mn-ea"/>
                <a:cs typeface="+mn-cs"/>
              </a:rPr>
              <a:t> Identifiers (continuation)</a:t>
            </a:r>
            <a:endPar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Mandating an Exporter EORI with use of </a:t>
            </a:r>
            <a:r>
              <a:rPr kumimoji="0" lang="en-GB" sz="1200" b="1" i="0" u="sng" strike="noStrike" kern="1200" cap="none" spc="0" normalizeH="0" baseline="0" noProof="0" err="1">
                <a:ln>
                  <a:noFill/>
                </a:ln>
                <a:solidFill>
                  <a:srgbClr val="000000"/>
                </a:solidFill>
                <a:effectLst/>
                <a:uLnTx/>
                <a:uFillTx/>
                <a:latin typeface="Calibri" panose="020F0502020204030204"/>
                <a:ea typeface="+mn-ea"/>
                <a:cs typeface="+mn-cs"/>
              </a:rPr>
              <a:t>AbD</a:t>
            </a: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 on Export Declarations</a:t>
            </a: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Traders will need to declare an EORI when using </a:t>
            </a:r>
            <a:r>
              <a:rPr kumimoji="0" lang="en-GB" sz="1200" b="0" i="0" u="none" strike="noStrike" kern="1200" cap="none" spc="0" normalizeH="0" baseline="0" noProof="0" err="1">
                <a:ln>
                  <a:noFill/>
                </a:ln>
                <a:solidFill>
                  <a:prstClr val="black"/>
                </a:solidFill>
                <a:effectLst/>
                <a:uLnTx/>
                <a:uFillTx/>
                <a:latin typeface="Calibri" panose="020F0502020204030204"/>
                <a:ea typeface="Calibri" panose="020F0502020204030204"/>
                <a:cs typeface="Calibri" panose="020F0502020204030204"/>
              </a:rPr>
              <a:t>AbD</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 for certain special procedures.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A or D Export declaration has been submitted, amended or arrived (Applicable to Procedure Categories: B2,).</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declaration of AI Code ABDIN in DE 2/2 at item level on one of the below Requested Procedures in DE 1/10 at item level on the same goods item.</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sng"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declared one of the following Requested Procedure Codes; 21,22, CDS will mandate the declaration of an exporter EORI at header level in DE 3/2.</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Tx/>
              <a:buAutoNum type="arabicPeriod"/>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declared one of the following Requested Procedure Codes; 21, 22 and has not supplied an exporter EORI at header level in DE 3/2,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3" name="Straight Connector 17">
            <a:extLst>
              <a:ext uri="{FF2B5EF4-FFF2-40B4-BE49-F238E27FC236}">
                <a16:creationId xmlns:a16="http://schemas.microsoft.com/office/drawing/2014/main" id="{6AC6D183-D914-310B-8CF4-ECCF7914F2E6}"/>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0D897B05-DF0F-EBF9-80A2-CA5A58EB9C2D}"/>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B79BB009-34DE-9296-D819-615E04C6FFB0}"/>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Rectangle 7">
            <a:extLst>
              <a:ext uri="{FF2B5EF4-FFF2-40B4-BE49-F238E27FC236}">
                <a16:creationId xmlns:a16="http://schemas.microsoft.com/office/drawing/2014/main" id="{74D93B78-0411-C207-7D20-2770B0A22D19}"/>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9" name="Footer Placeholder 1">
            <a:extLst>
              <a:ext uri="{FF2B5EF4-FFF2-40B4-BE49-F238E27FC236}">
                <a16:creationId xmlns:a16="http://schemas.microsoft.com/office/drawing/2014/main" id="{974C5F6D-1924-721D-6435-48DCBE4D4148}"/>
              </a:ext>
            </a:extLst>
          </p:cNvPr>
          <p:cNvSpPr txBox="1"/>
          <p:nvPr/>
        </p:nvSpPr>
        <p:spPr>
          <a:xfrm>
            <a:off x="2998230"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r>
              <a:rPr kumimoji="0" lang="en-GB" sz="900" b="0" i="0" u="none" strike="noStrike" kern="0" cap="none" spc="0" normalizeH="0" baseline="0" noProof="0">
                <a:ln>
                  <a:noFill/>
                </a:ln>
                <a:solidFill>
                  <a:srgbClr val="3B3A3D"/>
                </a:solidFill>
                <a:effectLst/>
                <a:uLnTx/>
                <a:uFillTx/>
                <a:latin typeface="Calibri"/>
                <a:ea typeface="Geneva"/>
                <a:cs typeface="Arial"/>
              </a:rPr>
              <a:t> </a:t>
            </a:r>
            <a:r>
              <a:rPr kumimoji="0" lang="en-GB" sz="1200" b="0" i="0" u="none" strike="noStrike" kern="0" cap="none" spc="0" normalizeH="0" baseline="0" noProof="0">
                <a:ln>
                  <a:noFill/>
                </a:ln>
                <a:solidFill>
                  <a:srgbClr val="A5A5A5"/>
                </a:solidFill>
                <a:effectLst/>
                <a:uLnTx/>
                <a:uFillTx/>
                <a:latin typeface="Calibri"/>
                <a:ea typeface="Geneva"/>
                <a:cs typeface="Arial"/>
              </a:rPr>
              <a:t>14</a:t>
            </a:r>
            <a:endParaRPr kumimoji="0" lang="en-GB" sz="1200" b="1" i="0" u="none" strike="noStrike" kern="0" cap="none" spc="0" normalizeH="0" baseline="0" noProof="0">
              <a:ln>
                <a:noFill/>
              </a:ln>
              <a:solidFill>
                <a:srgbClr val="A5A5A5"/>
              </a:solidFill>
              <a:effectLst/>
              <a:uLnTx/>
              <a:uFillTx/>
              <a:latin typeface="Calibri"/>
              <a:ea typeface="Geneva"/>
              <a:cs typeface="Arial"/>
            </a:endParaRPr>
          </a:p>
        </p:txBody>
      </p:sp>
    </p:spTree>
    <p:extLst>
      <p:ext uri="{BB962C8B-B14F-4D97-AF65-F5344CB8AC3E}">
        <p14:creationId xmlns:p14="http://schemas.microsoft.com/office/powerpoint/2010/main" val="376065170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32C44D5-C190-6FD3-7FC0-0423A50ED7C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3B84814-EA36-2F42-D790-B034D5A25C58}"/>
              </a:ext>
            </a:extLst>
          </p:cNvPr>
          <p:cNvCxnSpPr/>
          <p:nvPr/>
        </p:nvCxnSpPr>
        <p:spPr>
          <a:xfrm>
            <a:off x="322838" y="-24121"/>
            <a:ext cx="0" cy="422049"/>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F02F9C5E-5CC7-F7F1-744D-CA35B02C0956}"/>
              </a:ext>
            </a:extLst>
          </p:cNvPr>
          <p:cNvSpPr txBox="1"/>
          <p:nvPr/>
        </p:nvSpPr>
        <p:spPr>
          <a:xfrm>
            <a:off x="339635" y="90150"/>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5" name="Rectangle 7">
            <a:extLst>
              <a:ext uri="{FF2B5EF4-FFF2-40B4-BE49-F238E27FC236}">
                <a16:creationId xmlns:a16="http://schemas.microsoft.com/office/drawing/2014/main" id="{8FC86668-7F39-F007-7AAD-C32A59E38BA9}"/>
              </a:ext>
            </a:extLst>
          </p:cNvPr>
          <p:cNvSpPr/>
          <p:nvPr/>
        </p:nvSpPr>
        <p:spPr>
          <a:xfrm>
            <a:off x="339635" y="397928"/>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6" name="Rectangle 3">
            <a:extLst>
              <a:ext uri="{FF2B5EF4-FFF2-40B4-BE49-F238E27FC236}">
                <a16:creationId xmlns:a16="http://schemas.microsoft.com/office/drawing/2014/main" id="{EBEB5878-3201-812A-D0A8-4A4E90E6C327}"/>
              </a:ext>
            </a:extLst>
          </p:cNvPr>
          <p:cNvSpPr/>
          <p:nvPr/>
        </p:nvSpPr>
        <p:spPr>
          <a:xfrm>
            <a:off x="592183" y="4358734"/>
            <a:ext cx="64" cy="242352"/>
          </a:xfrm>
          <a:prstGeom prst="rect">
            <a:avLst/>
          </a:prstGeom>
          <a:solidFill>
            <a:srgbClr val="FFFFFF"/>
          </a:solidFill>
          <a:ln cap="flat">
            <a:noFill/>
            <a:prstDash val="solid"/>
          </a:ln>
        </p:spPr>
        <p:txBody>
          <a:bodyPr vert="horz" wrap="none" lIns="0" tIns="57131" rIns="0" bIns="0" anchor="ctr" anchorCtr="0" compatLnSpc="1">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
        <p:nvSpPr>
          <p:cNvPr id="7" name="TextBox 9">
            <a:extLst>
              <a:ext uri="{FF2B5EF4-FFF2-40B4-BE49-F238E27FC236}">
                <a16:creationId xmlns:a16="http://schemas.microsoft.com/office/drawing/2014/main" id="{466AB5D2-3E01-D8D2-4E52-759519DB8AC5}"/>
              </a:ext>
            </a:extLst>
          </p:cNvPr>
          <p:cNvSpPr txBox="1"/>
          <p:nvPr/>
        </p:nvSpPr>
        <p:spPr>
          <a:xfrm>
            <a:off x="322838" y="871801"/>
            <a:ext cx="6096003" cy="523220"/>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Country of Destination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sng" strike="noStrike" kern="1200" cap="none" spc="0" normalizeH="0" baseline="0" noProof="0">
              <a:ln>
                <a:noFill/>
              </a:ln>
              <a:solidFill>
                <a:srgbClr val="172B4D"/>
              </a:solidFill>
              <a:effectLst/>
              <a:uLnTx/>
              <a:uFillTx/>
              <a:latin typeface="Calibri"/>
              <a:ea typeface="+mn-ea"/>
              <a:cs typeface="+mn-cs"/>
            </a:endParaRPr>
          </a:p>
        </p:txBody>
      </p:sp>
      <p:sp>
        <p:nvSpPr>
          <p:cNvPr id="8" name="TextBox 11">
            <a:extLst>
              <a:ext uri="{FF2B5EF4-FFF2-40B4-BE49-F238E27FC236}">
                <a16:creationId xmlns:a16="http://schemas.microsoft.com/office/drawing/2014/main" id="{0DEF1625-4F6C-D624-BD09-05BAC62801EF}"/>
              </a:ext>
            </a:extLst>
          </p:cNvPr>
          <p:cNvSpPr txBox="1"/>
          <p:nvPr/>
        </p:nvSpPr>
        <p:spPr>
          <a:xfrm>
            <a:off x="322838" y="1242351"/>
            <a:ext cx="11947541" cy="2123658"/>
          </a:xfrm>
          <a:prstGeom prst="rect">
            <a:avLst/>
          </a:prstGeom>
          <a:noFill/>
          <a:ln cap="flat">
            <a:noFill/>
          </a:ln>
        </p:spPr>
        <p:txBody>
          <a:bodyPr vert="horz" wrap="square" lIns="91440" tIns="45720" rIns="91440" bIns="45720" anchor="t" anchorCtr="0" compatLnSpc="1">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rPr>
              <a:t>This feature will enable CDS to align with the EU format for applicable country codes.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rPr>
              <a:t>This feature will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rPr>
              <a:t>Prohibit the use of "EU" in country of destination (DE 5/8)</a:t>
            </a: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endParaRPr kumimoji="0" lang="en-US" altLang="en-US"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p:txBody>
      </p:sp>
      <p:sp>
        <p:nvSpPr>
          <p:cNvPr id="12" name="Rectangle 3">
            <a:extLst>
              <a:ext uri="{FF2B5EF4-FFF2-40B4-BE49-F238E27FC236}">
                <a16:creationId xmlns:a16="http://schemas.microsoft.com/office/drawing/2014/main" id="{EB7451D5-1732-F441-271E-89DB6B730AA4}"/>
              </a:ext>
            </a:extLst>
          </p:cNvPr>
          <p:cNvSpPr>
            <a:spLocks noChangeArrowheads="1"/>
          </p:cNvSpPr>
          <p:nvPr/>
        </p:nvSpPr>
        <p:spPr bwMode="auto">
          <a:xfrm>
            <a:off x="0" y="-167344"/>
            <a:ext cx="65" cy="33468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7132"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0" name="Table 9">
            <a:extLst>
              <a:ext uri="{FF2B5EF4-FFF2-40B4-BE49-F238E27FC236}">
                <a16:creationId xmlns:a16="http://schemas.microsoft.com/office/drawing/2014/main" id="{F297D3BC-F5A4-2BEE-7560-CDF893B17DA7}"/>
              </a:ext>
            </a:extLst>
          </p:cNvPr>
          <p:cNvGraphicFramePr>
            <a:graphicFrameLocks noGrp="1"/>
          </p:cNvGraphicFramePr>
          <p:nvPr/>
        </p:nvGraphicFramePr>
        <p:xfrm>
          <a:off x="984371" y="2251836"/>
          <a:ext cx="10234611" cy="1553909"/>
        </p:xfrm>
        <a:graphic>
          <a:graphicData uri="http://schemas.openxmlformats.org/drawingml/2006/table">
            <a:tbl>
              <a:tblPr bandRow="1">
                <a:tableStyleId>{93296810-A885-4BE3-A3E7-6D5BEEA58F35}</a:tableStyleId>
              </a:tblPr>
              <a:tblGrid>
                <a:gridCol w="2447924">
                  <a:extLst>
                    <a:ext uri="{9D8B030D-6E8A-4147-A177-3AD203B41FA5}">
                      <a16:colId xmlns:a16="http://schemas.microsoft.com/office/drawing/2014/main" val="4025059657"/>
                    </a:ext>
                  </a:extLst>
                </a:gridCol>
                <a:gridCol w="3600450">
                  <a:extLst>
                    <a:ext uri="{9D8B030D-6E8A-4147-A177-3AD203B41FA5}">
                      <a16:colId xmlns:a16="http://schemas.microsoft.com/office/drawing/2014/main" val="3127932511"/>
                    </a:ext>
                  </a:extLst>
                </a:gridCol>
                <a:gridCol w="4186237">
                  <a:extLst>
                    <a:ext uri="{9D8B030D-6E8A-4147-A177-3AD203B41FA5}">
                      <a16:colId xmlns:a16="http://schemas.microsoft.com/office/drawing/2014/main" val="1798419639"/>
                    </a:ext>
                  </a:extLst>
                </a:gridCol>
              </a:tblGrid>
              <a:tr h="581025">
                <a:tc>
                  <a:txBody>
                    <a:bodyPr/>
                    <a:lstStyle/>
                    <a:p>
                      <a:pPr algn="ctr" fontAlgn="base">
                        <a:lnSpc>
                          <a:spcPts val="1275"/>
                        </a:lnSpc>
                        <a:buNone/>
                      </a:pPr>
                      <a:r>
                        <a:rPr lang="en-GB" sz="1200" b="1">
                          <a:solidFill>
                            <a:srgbClr val="FFFFFF"/>
                          </a:solidFill>
                          <a:effectLst/>
                        </a:rPr>
                        <a:t>Functional Categories </a:t>
                      </a:r>
                    </a:p>
                  </a:txBody>
                  <a:tcPr marL="68580" marR="68580">
                    <a:solidFill>
                      <a:srgbClr val="009999"/>
                    </a:solidFill>
                  </a:tcPr>
                </a:tc>
                <a:tc>
                  <a:txBody>
                    <a:bodyPr/>
                    <a:lstStyle/>
                    <a:p>
                      <a:pPr algn="ctr" fontAlgn="base">
                        <a:lnSpc>
                          <a:spcPts val="1275"/>
                        </a:lnSpc>
                        <a:buNone/>
                      </a:pPr>
                      <a:r>
                        <a:rPr lang="en-GB" sz="1200" b="1">
                          <a:solidFill>
                            <a:srgbClr val="FFFFFF"/>
                          </a:solidFill>
                          <a:effectLst/>
                        </a:rPr>
                        <a:t>Pre-requisite</a:t>
                      </a:r>
                    </a:p>
                  </a:txBody>
                  <a:tcPr marL="68580" marR="68580">
                    <a:solidFill>
                      <a:srgbClr val="009999"/>
                    </a:solidFill>
                  </a:tcPr>
                </a:tc>
                <a:tc>
                  <a:txBody>
                    <a:bodyPr/>
                    <a:lstStyle/>
                    <a:p>
                      <a:pPr algn="ctr" fontAlgn="base">
                        <a:lnSpc>
                          <a:spcPts val="1275"/>
                        </a:lnSpc>
                        <a:buNone/>
                      </a:pPr>
                      <a:r>
                        <a:rPr lang="en-GB" sz="1200" b="1">
                          <a:solidFill>
                            <a:srgbClr val="FFFFFF"/>
                          </a:solidFill>
                          <a:effectLst/>
                        </a:rPr>
                        <a:t>Acceptance Criteria </a:t>
                      </a:r>
                    </a:p>
                  </a:txBody>
                  <a:tcPr marL="68580" marR="68580">
                    <a:solidFill>
                      <a:srgbClr val="009999"/>
                    </a:solidFill>
                  </a:tcPr>
                </a:tc>
                <a:extLst>
                  <a:ext uri="{0D108BD9-81ED-4DB2-BD59-A6C34878D82A}">
                    <a16:rowId xmlns:a16="http://schemas.microsoft.com/office/drawing/2014/main" val="2259645918"/>
                  </a:ext>
                </a:extLst>
              </a:tr>
              <a:tr h="942975">
                <a:tc>
                  <a:txBody>
                    <a:bodyPr/>
                    <a:lstStyle/>
                    <a:p>
                      <a:pPr algn="l" fontAlgn="base">
                        <a:lnSpc>
                          <a:spcPts val="1425"/>
                        </a:lnSpc>
                        <a:buNone/>
                      </a:pPr>
                      <a:r>
                        <a:rPr lang="en-GB" sz="1100">
                          <a:solidFill>
                            <a:srgbClr val="000000"/>
                          </a:solidFill>
                          <a:effectLst/>
                        </a:rPr>
                        <a:t>Prohibition of "EU" in DE 5/8- </a:t>
                      </a:r>
                    </a:p>
                    <a:p>
                      <a:pPr lvl="0" algn="l">
                        <a:lnSpc>
                          <a:spcPts val="1425"/>
                        </a:lnSpc>
                        <a:buNone/>
                      </a:pPr>
                      <a:r>
                        <a:rPr lang="en-GB" sz="1100">
                          <a:solidFill>
                            <a:srgbClr val="000000"/>
                          </a:solidFill>
                          <a:effectLst/>
                        </a:rPr>
                        <a:t> Traders will be </a:t>
                      </a:r>
                      <a:r>
                        <a:rPr lang="en-GB" sz="1100" u="none" strike="noStrike" noProof="0">
                          <a:solidFill>
                            <a:srgbClr val="000000"/>
                          </a:solidFill>
                          <a:effectLst/>
                        </a:rPr>
                        <a:t>prohibited  from declaring "EU" as a country of destination in DE 5/8 on an import and export declaration.</a:t>
                      </a:r>
                      <a:endParaRPr lang="en-GB" sz="1100">
                        <a:solidFill>
                          <a:srgbClr val="000000"/>
                        </a:solidFill>
                        <a:effectLst/>
                      </a:endParaRPr>
                    </a:p>
                  </a:txBody>
                  <a:tcPr marL="68580" marR="68580"/>
                </a:tc>
                <a:tc>
                  <a:txBody>
                    <a:bodyPr/>
                    <a:lstStyle/>
                    <a:p>
                      <a:pPr algn="l" fontAlgn="base">
                        <a:lnSpc>
                          <a:spcPts val="1425"/>
                        </a:lnSpc>
                        <a:buNone/>
                      </a:pPr>
                      <a:r>
                        <a:rPr lang="en-GB" sz="1100">
                          <a:solidFill>
                            <a:srgbClr val="000000"/>
                          </a:solidFill>
                          <a:effectLst/>
                        </a:rPr>
                        <a:t>Applicable to all declaration types and procedure categories. </a:t>
                      </a:r>
                    </a:p>
                  </a:txBody>
                  <a:tcPr marL="68580" marR="68580"/>
                </a:tc>
                <a:tc>
                  <a:txBody>
                    <a:bodyPr/>
                    <a:lstStyle/>
                    <a:p>
                      <a:pPr algn="l" fontAlgn="base">
                        <a:lnSpc>
                          <a:spcPts val="1425"/>
                        </a:lnSpc>
                        <a:buNone/>
                      </a:pPr>
                      <a:r>
                        <a:rPr lang="en-GB" sz="1100" dirty="0">
                          <a:solidFill>
                            <a:srgbClr val="000000"/>
                          </a:solidFill>
                          <a:effectLst/>
                        </a:rPr>
                        <a:t>Where a trader declares "EU" in DE 5/8 at item/header level, CDS will reject the declaration and send a DMSREJ notification to the submitter. </a:t>
                      </a:r>
                    </a:p>
                  </a:txBody>
                  <a:tcPr marL="68580" marR="68580"/>
                </a:tc>
                <a:extLst>
                  <a:ext uri="{0D108BD9-81ED-4DB2-BD59-A6C34878D82A}">
                    <a16:rowId xmlns:a16="http://schemas.microsoft.com/office/drawing/2014/main" val="3951416324"/>
                  </a:ext>
                </a:extLst>
              </a:tr>
            </a:tbl>
          </a:graphicData>
        </a:graphic>
      </p:graphicFrame>
      <p:sp>
        <p:nvSpPr>
          <p:cNvPr id="11" name="Footer Placeholder 1">
            <a:extLst>
              <a:ext uri="{FF2B5EF4-FFF2-40B4-BE49-F238E27FC236}">
                <a16:creationId xmlns:a16="http://schemas.microsoft.com/office/drawing/2014/main" id="{30ED59FA-CB28-F1CD-64D8-310F76447A25}"/>
              </a:ext>
            </a:extLst>
          </p:cNvPr>
          <p:cNvSpPr txBox="1"/>
          <p:nvPr/>
        </p:nvSpPr>
        <p:spPr>
          <a:xfrm>
            <a:off x="2989158"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a:ln>
                  <a:noFill/>
                </a:ln>
                <a:solidFill>
                  <a:srgbClr val="3B3A3D"/>
                </a:solidFill>
                <a:effectLst/>
                <a:uLnTx/>
                <a:uFillTx/>
                <a:latin typeface="Calibri"/>
                <a:ea typeface="Geneva"/>
                <a:cs typeface="Arial"/>
              </a:rPr>
              <a:t>OFFICIAL | CDS External Release Scope Guidance Document |</a:t>
            </a:r>
            <a:r>
              <a:rPr kumimoji="0" lang="en-GB" sz="900" b="0" i="0" u="none" strike="noStrike" kern="0" cap="none" spc="0" normalizeH="0" baseline="0" noProof="0">
                <a:ln>
                  <a:noFill/>
                </a:ln>
                <a:solidFill>
                  <a:srgbClr val="3B3A3D"/>
                </a:solidFill>
                <a:effectLst/>
                <a:uLnTx/>
                <a:uFillTx/>
                <a:latin typeface="Calibri"/>
                <a:ea typeface="Geneva"/>
                <a:cs typeface="Arial"/>
              </a:rPr>
              <a:t> </a:t>
            </a:r>
            <a:r>
              <a:rPr kumimoji="0" lang="en-GB" sz="1200" b="0" i="0" u="none" strike="noStrike" kern="0" cap="none" spc="0" normalizeH="0" baseline="0" noProof="0">
                <a:ln>
                  <a:noFill/>
                </a:ln>
                <a:solidFill>
                  <a:srgbClr val="A5A5A5"/>
                </a:solidFill>
                <a:effectLst/>
                <a:uLnTx/>
                <a:uFillTx/>
                <a:latin typeface="Calibri"/>
                <a:ea typeface="Geneva"/>
                <a:cs typeface="Arial"/>
              </a:rPr>
              <a:t>15</a:t>
            </a:r>
          </a:p>
        </p:txBody>
      </p:sp>
    </p:spTree>
    <p:extLst>
      <p:ext uri="{BB962C8B-B14F-4D97-AF65-F5344CB8AC3E}">
        <p14:creationId xmlns:p14="http://schemas.microsoft.com/office/powerpoint/2010/main" val="402631150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a:extLst>
              <a:ext uri="{FF2B5EF4-FFF2-40B4-BE49-F238E27FC236}">
                <a16:creationId xmlns:a16="http://schemas.microsoft.com/office/drawing/2014/main" id="{9105E830-6E06-4C30-9D12-A474D0A940A1}"/>
              </a:ext>
            </a:extLst>
          </p:cNvPr>
          <p:cNvSpPr/>
          <p:nvPr/>
        </p:nvSpPr>
        <p:spPr>
          <a:xfrm>
            <a:off x="363967" y="2644747"/>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extLst>
              <p:ext uri="{D42A27DB-BD31-4B8C-83A1-F6EECF244321}">
                <p14:modId xmlns:p14="http://schemas.microsoft.com/office/powerpoint/2010/main" val="3563116141"/>
              </p:ext>
            </p:extLst>
          </p:nvPr>
        </p:nvGraphicFramePr>
        <p:xfrm>
          <a:off x="469412" y="3438525"/>
          <a:ext cx="11378564" cy="585390"/>
        </p:xfrm>
        <a:graphic>
          <a:graphicData uri="http://schemas.openxmlformats.org/drawingml/2006/table">
            <a:tbl>
              <a:tblPr firstRow="1" bandRow="1">
                <a:effectLst/>
                <a:tableStyleId>{5C22544A-7EE6-4342-B048-85BDC9FD1C3A}</a:tableStyleId>
              </a:tblPr>
              <a:tblGrid>
                <a:gridCol w="11378564">
                  <a:extLst>
                    <a:ext uri="{9D8B030D-6E8A-4147-A177-3AD203B41FA5}">
                      <a16:colId xmlns:a16="http://schemas.microsoft.com/office/drawing/2014/main" val="3681585703"/>
                    </a:ext>
                  </a:extLst>
                </a:gridCol>
              </a:tblGrid>
              <a:tr h="271292">
                <a:tc>
                  <a:txBody>
                    <a:bodyPr/>
                    <a:lstStyle/>
                    <a:p>
                      <a:pPr lvl="0" algn="ctr"/>
                      <a:r>
                        <a:rPr lang="en-GB" sz="1200" dirty="0"/>
                        <a:t>TTM30.0 (CDS 4.8.0)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05/06/2025,</a:t>
                      </a:r>
                      <a:r>
                        <a:rPr lang="en-GB" sz="1200" b="0" dirty="0">
                          <a:solidFill>
                            <a:srgbClr val="000000"/>
                          </a:solidFill>
                        </a:rPr>
                        <a:t> </a:t>
                      </a:r>
                      <a:r>
                        <a:rPr lang="en-GB" sz="1200" b="1" dirty="0">
                          <a:solidFill>
                            <a:srgbClr val="000000"/>
                          </a:solidFill>
                        </a:rPr>
                        <a:t>TDR: 17/06/2025,</a:t>
                      </a:r>
                      <a:r>
                        <a:rPr lang="en-GB" sz="1200" b="0" dirty="0">
                          <a:solidFill>
                            <a:srgbClr val="000000"/>
                          </a:solidFill>
                        </a:rPr>
                        <a:t> </a:t>
                      </a:r>
                      <a:r>
                        <a:rPr lang="en-GB" sz="1200" b="1" dirty="0">
                          <a:solidFill>
                            <a:srgbClr val="000000"/>
                          </a:solidFill>
                        </a:rPr>
                        <a:t>Live: 14/06/2025</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69412" y="4079039"/>
          <a:ext cx="11397328" cy="1651686"/>
        </p:xfrm>
        <a:graphic>
          <a:graphicData uri="http://schemas.openxmlformats.org/drawingml/2006/table">
            <a:tbl>
              <a:tblPr firstRow="1" bandRow="1">
                <a:effectLst/>
                <a:tableStyleId>{5C22544A-7EE6-4342-B048-85BDC9FD1C3A}</a:tableStyleId>
              </a:tblPr>
              <a:tblGrid>
                <a:gridCol w="2849332">
                  <a:extLst>
                    <a:ext uri="{9D8B030D-6E8A-4147-A177-3AD203B41FA5}">
                      <a16:colId xmlns:a16="http://schemas.microsoft.com/office/drawing/2014/main" val="2226360519"/>
                    </a:ext>
                  </a:extLst>
                </a:gridCol>
                <a:gridCol w="2849332">
                  <a:extLst>
                    <a:ext uri="{9D8B030D-6E8A-4147-A177-3AD203B41FA5}">
                      <a16:colId xmlns:a16="http://schemas.microsoft.com/office/drawing/2014/main" val="763822440"/>
                    </a:ext>
                  </a:extLst>
                </a:gridCol>
                <a:gridCol w="2849332">
                  <a:extLst>
                    <a:ext uri="{9D8B030D-6E8A-4147-A177-3AD203B41FA5}">
                      <a16:colId xmlns:a16="http://schemas.microsoft.com/office/drawing/2014/main" val="3390581973"/>
                    </a:ext>
                  </a:extLst>
                </a:gridCol>
                <a:gridCol w="2849332">
                  <a:extLst>
                    <a:ext uri="{9D8B030D-6E8A-4147-A177-3AD203B41FA5}">
                      <a16:colId xmlns:a16="http://schemas.microsoft.com/office/drawing/2014/main" val="2084145098"/>
                    </a:ext>
                  </a:extLst>
                </a:gridCol>
              </a:tblGrid>
              <a:tr h="550562">
                <a:tc>
                  <a:txBody>
                    <a:bodyPr/>
                    <a:lstStyle/>
                    <a:p>
                      <a:pPr marL="171450" indent="-171450">
                        <a:buFont typeface="Arial" panose="020B0604020202020204" pitchFamily="34" charset="0"/>
                        <a:buChar char="•"/>
                      </a:pPr>
                      <a:endParaRPr lang="en-GB" sz="1050" b="0" i="0" u="none" strike="noStrike" noProof="0">
                        <a:solidFill>
                          <a:schemeClr val="tx1"/>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indent="0" algn="l">
                        <a:buFont typeface="Arial" panose="020B0604020202020204" pitchFamily="34" charset="0"/>
                        <a:buNone/>
                      </a:pPr>
                      <a:r>
                        <a:rPr lang="en-GB" sz="1200" b="0" i="0" u="none">
                          <a:solidFill>
                            <a:schemeClr val="tx1"/>
                          </a:solidFill>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Tx/>
                        <a:buNone/>
                      </a:pPr>
                      <a:endParaRPr lang="en-GB" sz="1100" b="0" i="0" u="none" strike="noStrike" noProof="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kern="1200" dirty="0">
                        <a:solidFill>
                          <a:schemeClr val="dk1"/>
                        </a:solidFill>
                        <a:effectLst/>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dirty="0">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550562">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a:effectLst/>
                        </a:rPr>
                        <a:t>     </a:t>
                      </a:r>
                    </a:p>
                    <a:p>
                      <a:pPr marL="0" marR="0" lvl="0" indent="0" algn="l" rtl="0" eaLnBrk="1" fontAlgn="auto" latinLnBrk="0" hangingPunct="1">
                        <a:lnSpc>
                          <a:spcPct val="100000"/>
                        </a:lnSpc>
                        <a:spcBef>
                          <a:spcPts val="0"/>
                        </a:spcBef>
                        <a:spcAft>
                          <a:spcPts val="0"/>
                        </a:spcAft>
                        <a:buClrTx/>
                        <a:buSzPct val="100000"/>
                        <a:buNone/>
                      </a:pPr>
                      <a:endParaRPr lang="en-GB" sz="1200" b="0" i="0" u="none" strike="noStrike" noProof="0">
                        <a:solidFill>
                          <a:srgbClr val="000000"/>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effectLst/>
                        </a:rPr>
                        <a:t> </a:t>
                      </a:r>
                    </a:p>
                    <a:p>
                      <a:pPr marL="0" marR="0" lvl="0" indent="0" algn="l" rtl="0" eaLnBrk="1" fontAlgn="auto" latinLnBrk="0" hangingPunct="1">
                        <a:lnSpc>
                          <a:spcPct val="100000"/>
                        </a:lnSpc>
                        <a:spcBef>
                          <a:spcPts val="0"/>
                        </a:spcBef>
                        <a:spcAft>
                          <a:spcPts val="0"/>
                        </a:spcAft>
                        <a:buClrTx/>
                        <a:buSzPct val="100000"/>
                        <a:buNone/>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solidFill>
                            <a:schemeClr val="tx1"/>
                          </a:solidFill>
                          <a:effectLst/>
                        </a:rPr>
                        <a:t> </a:t>
                      </a:r>
                    </a:p>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fr-FR" sz="1200" b="0" u="none">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noProof="0" dirty="0">
                          <a:solidFill>
                            <a:schemeClr val="tx1"/>
                          </a:solidFill>
                          <a:effectLst/>
                          <a:latin typeface="Calibri"/>
                        </a:rPr>
                        <a:t>   </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dirty="0">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550562">
                <a:tc>
                  <a:txBody>
                    <a:bodyPr/>
                    <a:lstStyle/>
                    <a:p>
                      <a:pPr marL="0" marR="0" lvl="0" indent="0" algn="l" rtl="0" eaLnBrk="1" fontAlgn="auto" latinLnBrk="0" hangingPunct="1">
                        <a:lnSpc>
                          <a:spcPct val="100000"/>
                        </a:lnSpc>
                        <a:spcBef>
                          <a:spcPts val="0"/>
                        </a:spcBef>
                        <a:spcAft>
                          <a:spcPts val="0"/>
                        </a:spcAft>
                        <a:buClrTx/>
                        <a:buSzPct val="100000"/>
                        <a:buNone/>
                      </a:pPr>
                      <a:endParaRPr lang="en-GB" sz="1200" b="0" i="0" u="none" strike="noStrike" noProof="0">
                        <a:solidFill>
                          <a:srgbClr val="000000"/>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fr-FR" sz="1200" b="0" u="none" dirty="0">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dirty="0">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475014943"/>
                  </a:ext>
                </a:extLst>
              </a:tr>
            </a:tbl>
          </a:graphicData>
        </a:graphic>
      </p:graphicFrame>
      <p:grpSp>
        <p:nvGrpSpPr>
          <p:cNvPr id="17" name="Group 7">
            <a:extLst>
              <a:ext uri="{FF2B5EF4-FFF2-40B4-BE49-F238E27FC236}">
                <a16:creationId xmlns:a16="http://schemas.microsoft.com/office/drawing/2014/main" id="{41E1EFAA-BD97-4E2D-BB61-16E87384F3A2}"/>
              </a:ext>
            </a:extLst>
          </p:cNvPr>
          <p:cNvGrpSpPr/>
          <p:nvPr/>
        </p:nvGrpSpPr>
        <p:grpSpPr>
          <a:xfrm>
            <a:off x="6161416" y="1800986"/>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09837" y="1112388"/>
            <a:ext cx="11280111" cy="1538883"/>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The purpose of this document is to provide </a:t>
            </a:r>
            <a:r>
              <a:rPr kumimoji="0" lang="en-GB" sz="1400" b="0" i="0" u="none" strike="noStrike" kern="0" cap="none" spc="0" normalizeH="0" baseline="0" noProof="0" dirty="0">
                <a:ln>
                  <a:noFill/>
                </a:ln>
                <a:solidFill>
                  <a:srgbClr val="000000"/>
                </a:solidFill>
                <a:effectLst/>
                <a:uLnTx/>
                <a:uFillTx/>
                <a:latin typeface="Calibri"/>
                <a:ea typeface="Calibri"/>
                <a:cs typeface="Calibri"/>
              </a:rPr>
              <a:t>External Developers</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hlinkClick r:id="rId3"/>
              </a:rPr>
              <a:t>Technical Documentation</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1400" b="0" i="0" u="none" strike="noStrike" kern="1200" cap="none" spc="0" normalizeH="0" baseline="0" noProof="0" dirty="0">
                <a:ln>
                  <a:noFill/>
                </a:ln>
                <a:solidFill>
                  <a:srgbClr val="252423"/>
                </a:solidFill>
                <a:effectLst/>
                <a:uLnTx/>
                <a:uFillTx/>
                <a:latin typeface="Calibri" panose="020F0502020204030204"/>
                <a:ea typeface="+mn-ea"/>
                <a:cs typeface="+mn-cs"/>
              </a:rPr>
              <a:t>section of the Customs Declaration Service end-to-end service guide within the HMRC Developer Hub</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a:t>
            </a: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 </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dirty="0">
                <a:ln>
                  <a:noFill/>
                </a:ln>
                <a:solidFill>
                  <a:srgbClr val="000000"/>
                </a:solidFill>
                <a:effectLst/>
                <a:uLnTx/>
                <a:uFillTx/>
                <a:latin typeface="Calibri"/>
                <a:ea typeface="Calibri"/>
                <a:cs typeface="Calibri"/>
                <a:hlinkClick r:id="rId4"/>
              </a:rPr>
              <a:t>SDSTeam@hmrc.gov.uk</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a:t>
            </a: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450836" y="6400034"/>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20" name="Footer Placeholder 1">
            <a:extLst>
              <a:ext uri="{FF2B5EF4-FFF2-40B4-BE49-F238E27FC236}">
                <a16:creationId xmlns:a16="http://schemas.microsoft.com/office/drawing/2014/main" id="{A21A1122-B829-80FE-C15B-A27655C0ABE8}"/>
              </a:ext>
            </a:extLst>
          </p:cNvPr>
          <p:cNvSpPr txBox="1"/>
          <p:nvPr/>
        </p:nvSpPr>
        <p:spPr>
          <a:xfrm>
            <a:off x="2961869" y="651081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grpSp>
        <p:nvGrpSpPr>
          <p:cNvPr id="2" name="Group 1">
            <a:extLst>
              <a:ext uri="{FF2B5EF4-FFF2-40B4-BE49-F238E27FC236}">
                <a16:creationId xmlns:a16="http://schemas.microsoft.com/office/drawing/2014/main" id="{874DC40D-C241-796E-C6DF-D8BC6E5C8296}"/>
              </a:ext>
            </a:extLst>
          </p:cNvPr>
          <p:cNvGrpSpPr/>
          <p:nvPr/>
        </p:nvGrpSpPr>
        <p:grpSpPr>
          <a:xfrm>
            <a:off x="469412" y="3034496"/>
            <a:ext cx="8527215" cy="331808"/>
            <a:chOff x="474672" y="3064839"/>
            <a:chExt cx="8527215" cy="331808"/>
          </a:xfrm>
        </p:grpSpPr>
        <p:sp>
          <p:nvSpPr>
            <p:cNvPr id="3" name="Rectangle 10">
              <a:extLst>
                <a:ext uri="{FF2B5EF4-FFF2-40B4-BE49-F238E27FC236}">
                  <a16:creationId xmlns:a16="http://schemas.microsoft.com/office/drawing/2014/main" id="{94168FC7-34EF-4114-A530-1D726C05FA50}"/>
                </a:ext>
              </a:extLst>
            </p:cNvPr>
            <p:cNvSpPr/>
            <p:nvPr/>
          </p:nvSpPr>
          <p:spPr>
            <a:xfrm>
              <a:off x="474672" y="3064839"/>
              <a:ext cx="849961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60989" y="3092244"/>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13" name="Group 4">
              <a:extLst>
                <a:ext uri="{FF2B5EF4-FFF2-40B4-BE49-F238E27FC236}">
                  <a16:creationId xmlns:a16="http://schemas.microsoft.com/office/drawing/2014/main" id="{A92579FC-9F94-41B6-AA6C-7D87C27C7DEC}"/>
                </a:ext>
              </a:extLst>
            </p:cNvPr>
            <p:cNvGrpSpPr/>
            <p:nvPr/>
          </p:nvGrpSpPr>
          <p:grpSpPr>
            <a:xfrm>
              <a:off x="2685253" y="3092244"/>
              <a:ext cx="325875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74672" y="3065425"/>
              <a:ext cx="49231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sp>
          <p:nvSpPr>
            <p:cNvPr id="21" name="TextBox 7">
              <a:extLst>
                <a:ext uri="{FF2B5EF4-FFF2-40B4-BE49-F238E27FC236}">
                  <a16:creationId xmlns:a16="http://schemas.microsoft.com/office/drawing/2014/main" id="{3F5C3486-6149-AFCB-2DB7-5E9BC3A0AE18}"/>
                </a:ext>
              </a:extLst>
            </p:cNvPr>
            <p:cNvSpPr txBox="1"/>
            <p:nvPr/>
          </p:nvSpPr>
          <p:spPr>
            <a:xfrm>
              <a:off x="5743135" y="3092244"/>
              <a:ext cx="325875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TDR only</a:t>
              </a:r>
            </a:p>
          </p:txBody>
        </p:sp>
        <p:sp>
          <p:nvSpPr>
            <p:cNvPr id="22" name="Oval 16">
              <a:extLst>
                <a:ext uri="{FF2B5EF4-FFF2-40B4-BE49-F238E27FC236}">
                  <a16:creationId xmlns:a16="http://schemas.microsoft.com/office/drawing/2014/main" id="{82CB8AD1-6F50-514F-71B5-D9DB42ECC32E}"/>
                </a:ext>
              </a:extLst>
            </p:cNvPr>
            <p:cNvSpPr/>
            <p:nvPr/>
          </p:nvSpPr>
          <p:spPr>
            <a:xfrm>
              <a:off x="5743135" y="3160248"/>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Oval 16">
            <a:extLst>
              <a:ext uri="{FF2B5EF4-FFF2-40B4-BE49-F238E27FC236}">
                <a16:creationId xmlns:a16="http://schemas.microsoft.com/office/drawing/2014/main" id="{D5CE33A1-37DB-5AC2-DB6B-709B450FD08D}"/>
              </a:ext>
            </a:extLst>
          </p:cNvPr>
          <p:cNvSpPr/>
          <p:nvPr/>
        </p:nvSpPr>
        <p:spPr>
          <a:xfrm>
            <a:off x="568094" y="4260089"/>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Oval 16">
            <a:extLst>
              <a:ext uri="{FF2B5EF4-FFF2-40B4-BE49-F238E27FC236}">
                <a16:creationId xmlns:a16="http://schemas.microsoft.com/office/drawing/2014/main" id="{3A059077-8C81-15DB-1DFA-8A13EA1F8F13}"/>
              </a:ext>
            </a:extLst>
          </p:cNvPr>
          <p:cNvSpPr/>
          <p:nvPr/>
        </p:nvSpPr>
        <p:spPr>
          <a:xfrm>
            <a:off x="3409232" y="4260089"/>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16">
            <a:extLst>
              <a:ext uri="{FF2B5EF4-FFF2-40B4-BE49-F238E27FC236}">
                <a16:creationId xmlns:a16="http://schemas.microsoft.com/office/drawing/2014/main" id="{763B8886-CF7A-9C79-3651-93BF6B9F0307}"/>
              </a:ext>
            </a:extLst>
          </p:cNvPr>
          <p:cNvSpPr/>
          <p:nvPr/>
        </p:nvSpPr>
        <p:spPr>
          <a:xfrm>
            <a:off x="3409232" y="4824246"/>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16">
            <a:extLst>
              <a:ext uri="{FF2B5EF4-FFF2-40B4-BE49-F238E27FC236}">
                <a16:creationId xmlns:a16="http://schemas.microsoft.com/office/drawing/2014/main" id="{8937ACEB-405B-F8D6-F479-E4E794DDFE45}"/>
              </a:ext>
            </a:extLst>
          </p:cNvPr>
          <p:cNvSpPr/>
          <p:nvPr/>
        </p:nvSpPr>
        <p:spPr>
          <a:xfrm>
            <a:off x="6274624" y="4824246"/>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16">
            <a:extLst>
              <a:ext uri="{FF2B5EF4-FFF2-40B4-BE49-F238E27FC236}">
                <a16:creationId xmlns:a16="http://schemas.microsoft.com/office/drawing/2014/main" id="{0FA71EDD-5405-240E-9D5F-95977EA5632E}"/>
              </a:ext>
            </a:extLst>
          </p:cNvPr>
          <p:cNvSpPr/>
          <p:nvPr/>
        </p:nvSpPr>
        <p:spPr>
          <a:xfrm>
            <a:off x="9127046" y="4260089"/>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335EEDCE-B0CD-95C3-7CF5-F87C2784B67F}"/>
              </a:ext>
            </a:extLst>
          </p:cNvPr>
          <p:cNvSpPr txBox="1"/>
          <p:nvPr/>
        </p:nvSpPr>
        <p:spPr>
          <a:xfrm>
            <a:off x="6459090" y="4655317"/>
            <a:ext cx="2233238"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Geneva"/>
                <a:cs typeface="Calibri"/>
              </a:rPr>
              <a:t>Windsor Framework:  Changes to NIQUO and NIIMP &amp; NIQUO</a:t>
            </a:r>
            <a:endParaRPr kumimoji="0" lang="en-GB"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58" name="TextBox 57">
            <a:extLst>
              <a:ext uri="{FF2B5EF4-FFF2-40B4-BE49-F238E27FC236}">
                <a16:creationId xmlns:a16="http://schemas.microsoft.com/office/drawing/2014/main" id="{A6AE8ABC-236F-8780-876F-2F4A4BA83E40}"/>
              </a:ext>
            </a:extLst>
          </p:cNvPr>
          <p:cNvSpPr txBox="1"/>
          <p:nvPr/>
        </p:nvSpPr>
        <p:spPr>
          <a:xfrm>
            <a:off x="9328744" y="4655317"/>
            <a:ext cx="2233238"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a:cs typeface="Arial"/>
              </a:rPr>
              <a:t>Windsor Framework: </a:t>
            </a:r>
            <a:r>
              <a:rPr kumimoji="0" lang="en-GB" sz="1200" b="0" i="0" u="none" strike="noStrike" kern="1200" cap="none" spc="0" normalizeH="0" baseline="0" noProof="0">
                <a:ln>
                  <a:noFill/>
                </a:ln>
                <a:solidFill>
                  <a:srgbClr val="000000"/>
                </a:solidFill>
                <a:effectLst/>
                <a:uLnTx/>
                <a:uFillTx/>
                <a:latin typeface="Calibri" panose="020F0502020204030204"/>
                <a:ea typeface="Geneva"/>
                <a:cs typeface="Calibri"/>
              </a:rPr>
              <a:t>XI VAT No. Validation for OSR Claims </a:t>
            </a:r>
          </a:p>
        </p:txBody>
      </p:sp>
      <p:sp>
        <p:nvSpPr>
          <p:cNvPr id="59" name="TextBox 58">
            <a:extLst>
              <a:ext uri="{FF2B5EF4-FFF2-40B4-BE49-F238E27FC236}">
                <a16:creationId xmlns:a16="http://schemas.microsoft.com/office/drawing/2014/main" id="{3F9FFAF5-CA66-514B-C5E3-DF65E9C81EB6}"/>
              </a:ext>
            </a:extLst>
          </p:cNvPr>
          <p:cNvSpPr txBox="1"/>
          <p:nvPr/>
        </p:nvSpPr>
        <p:spPr>
          <a:xfrm>
            <a:off x="3591237" y="4091160"/>
            <a:ext cx="2494410"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panose="020F0502020204030204" pitchFamily="34" charset="0"/>
                <a:cs typeface="Arial"/>
              </a:rPr>
              <a:t>Excise: Duty Override for Composite Goods with Mineral Oil</a:t>
            </a:r>
          </a:p>
        </p:txBody>
      </p:sp>
      <p:sp>
        <p:nvSpPr>
          <p:cNvPr id="60" name="TextBox 59">
            <a:extLst>
              <a:ext uri="{FF2B5EF4-FFF2-40B4-BE49-F238E27FC236}">
                <a16:creationId xmlns:a16="http://schemas.microsoft.com/office/drawing/2014/main" id="{AB660DEB-8923-26B2-A944-53E6EE162F1E}"/>
              </a:ext>
            </a:extLst>
          </p:cNvPr>
          <p:cNvSpPr txBox="1"/>
          <p:nvPr/>
        </p:nvSpPr>
        <p:spPr>
          <a:xfrm>
            <a:off x="3591237" y="4754126"/>
            <a:ext cx="2122392" cy="28123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panose="020F0502020204030204" pitchFamily="34" charset="0"/>
                <a:cs typeface="Arial"/>
              </a:rPr>
              <a:t>Tariff: Error Handling Codes</a:t>
            </a:r>
          </a:p>
        </p:txBody>
      </p:sp>
      <p:sp>
        <p:nvSpPr>
          <p:cNvPr id="61" name="TextBox 60">
            <a:extLst>
              <a:ext uri="{FF2B5EF4-FFF2-40B4-BE49-F238E27FC236}">
                <a16:creationId xmlns:a16="http://schemas.microsoft.com/office/drawing/2014/main" id="{4F11A9AE-5E68-DFC7-EC50-B34317953424}"/>
              </a:ext>
            </a:extLst>
          </p:cNvPr>
          <p:cNvSpPr txBox="1"/>
          <p:nvPr/>
        </p:nvSpPr>
        <p:spPr>
          <a:xfrm>
            <a:off x="9328744" y="4091160"/>
            <a:ext cx="2233238"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PVA: Full Validation of VAT No. for PVA Usage</a:t>
            </a:r>
          </a:p>
        </p:txBody>
      </p:sp>
      <p:sp>
        <p:nvSpPr>
          <p:cNvPr id="67" name="TextBox 66">
            <a:extLst>
              <a:ext uri="{FF2B5EF4-FFF2-40B4-BE49-F238E27FC236}">
                <a16:creationId xmlns:a16="http://schemas.microsoft.com/office/drawing/2014/main" id="{8A62237D-EBF8-ACCC-29A4-533D5667BD70}"/>
              </a:ext>
            </a:extLst>
          </p:cNvPr>
          <p:cNvSpPr txBox="1"/>
          <p:nvPr/>
        </p:nvSpPr>
        <p:spPr>
          <a:xfrm>
            <a:off x="745167" y="4099752"/>
            <a:ext cx="253314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CERTEX: Check Availability with/without Quantity Reservation</a:t>
            </a:r>
          </a:p>
        </p:txBody>
      </p:sp>
      <p:sp>
        <p:nvSpPr>
          <p:cNvPr id="37" name="Oval 16">
            <a:extLst>
              <a:ext uri="{FF2B5EF4-FFF2-40B4-BE49-F238E27FC236}">
                <a16:creationId xmlns:a16="http://schemas.microsoft.com/office/drawing/2014/main" id="{B6062471-62D2-3DCA-C6E0-051EDA73081F}"/>
              </a:ext>
            </a:extLst>
          </p:cNvPr>
          <p:cNvSpPr/>
          <p:nvPr/>
        </p:nvSpPr>
        <p:spPr>
          <a:xfrm>
            <a:off x="6276044" y="426008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Oval 16">
            <a:extLst>
              <a:ext uri="{FF2B5EF4-FFF2-40B4-BE49-F238E27FC236}">
                <a16:creationId xmlns:a16="http://schemas.microsoft.com/office/drawing/2014/main" id="{EFB285EC-AD21-C68E-0A62-DD8A4F162511}"/>
              </a:ext>
            </a:extLst>
          </p:cNvPr>
          <p:cNvSpPr/>
          <p:nvPr/>
        </p:nvSpPr>
        <p:spPr>
          <a:xfrm>
            <a:off x="9128466" y="482424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FFED5F9E-3846-F284-ACF9-76027232AEAE}"/>
              </a:ext>
            </a:extLst>
          </p:cNvPr>
          <p:cNvSpPr txBox="1"/>
          <p:nvPr/>
        </p:nvSpPr>
        <p:spPr>
          <a:xfrm>
            <a:off x="6459090" y="4091160"/>
            <a:ext cx="2482422"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Exports: </a:t>
            </a:r>
            <a:r>
              <a:rPr kumimoji="0" lang="en-GB" sz="1200" b="0" i="0" u="none" strike="noStrike" kern="1200" cap="none" spc="0" normalizeH="0" baseline="0" noProof="0">
                <a:ln>
                  <a:noFill/>
                </a:ln>
                <a:solidFill>
                  <a:prstClr val="black"/>
                </a:solidFill>
                <a:effectLst/>
                <a:uLnTx/>
                <a:uFillTx/>
                <a:latin typeface="Calibri" panose="020F0502020204030204"/>
                <a:ea typeface="Geneva"/>
                <a:cs typeface="Calibri"/>
              </a:rPr>
              <a:t>CR045 MUCR Reuse after 365 Days</a:t>
            </a:r>
            <a:endParaRPr kumimoji="0" lang="en-GB" sz="1200" b="0" i="0" u="none" strike="noStrike" kern="1200" cap="none" spc="0" normalizeH="0" baseline="0" noProof="0">
              <a:ln>
                <a:noFill/>
              </a:ln>
              <a:solidFill>
                <a:srgbClr val="000000"/>
              </a:solidFill>
              <a:effectLst/>
              <a:uLnTx/>
              <a:uFillTx/>
              <a:latin typeface="Calibri" panose="020F0502020204030204"/>
              <a:ea typeface="Geneva"/>
              <a:cs typeface="Calibri"/>
            </a:endParaRPr>
          </a:p>
        </p:txBody>
      </p:sp>
      <p:sp>
        <p:nvSpPr>
          <p:cNvPr id="8" name="Oval 16">
            <a:extLst>
              <a:ext uri="{FF2B5EF4-FFF2-40B4-BE49-F238E27FC236}">
                <a16:creationId xmlns:a16="http://schemas.microsoft.com/office/drawing/2014/main" id="{7FBE43A4-DB3A-F588-4131-5C1802022021}"/>
              </a:ext>
            </a:extLst>
          </p:cNvPr>
          <p:cNvSpPr/>
          <p:nvPr/>
        </p:nvSpPr>
        <p:spPr>
          <a:xfrm>
            <a:off x="569514" y="534595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A80BD74B-EC8F-0EE0-EF14-6B4E6DA025D0}"/>
              </a:ext>
            </a:extLst>
          </p:cNvPr>
          <p:cNvSpPr txBox="1"/>
          <p:nvPr/>
        </p:nvSpPr>
        <p:spPr>
          <a:xfrm>
            <a:off x="745167" y="5275836"/>
            <a:ext cx="2233238" cy="28123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dirty="0">
                <a:ln>
                  <a:noFill/>
                </a:ln>
                <a:solidFill>
                  <a:prstClr val="black"/>
                </a:solidFill>
                <a:effectLst/>
                <a:uLnTx/>
                <a:uFillTx/>
                <a:latin typeface="Calibri"/>
                <a:ea typeface="Calibri"/>
                <a:cs typeface="Arial"/>
              </a:rPr>
              <a:t>Business Rule Changes</a:t>
            </a:r>
            <a:endParaRPr kumimoji="0" lang="en-GB" sz="1200" b="0" i="0" u="none" strike="noStrike" kern="1200" cap="none" spc="0" normalizeH="0" baseline="0" noProof="0" dirty="0">
              <a:ln>
                <a:noFill/>
              </a:ln>
              <a:solidFill>
                <a:srgbClr val="000000"/>
              </a:solidFill>
              <a:effectLst/>
              <a:uLnTx/>
              <a:uFillTx/>
              <a:latin typeface="Calibri" panose="020F0502020204030204"/>
              <a:ea typeface="Geneva"/>
              <a:cs typeface="Calibri"/>
            </a:endParaRPr>
          </a:p>
        </p:txBody>
      </p:sp>
      <p:sp>
        <p:nvSpPr>
          <p:cNvPr id="34" name="Oval 16">
            <a:extLst>
              <a:ext uri="{FF2B5EF4-FFF2-40B4-BE49-F238E27FC236}">
                <a16:creationId xmlns:a16="http://schemas.microsoft.com/office/drawing/2014/main" id="{4774636E-A3F0-6AAF-734B-C110BE3317D6}"/>
              </a:ext>
            </a:extLst>
          </p:cNvPr>
          <p:cNvSpPr/>
          <p:nvPr/>
        </p:nvSpPr>
        <p:spPr>
          <a:xfrm>
            <a:off x="568094" y="4824246"/>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B69B4CCF-5AFB-23E0-202D-A778DC431FD9}"/>
              </a:ext>
            </a:extLst>
          </p:cNvPr>
          <p:cNvSpPr txBox="1"/>
          <p:nvPr/>
        </p:nvSpPr>
        <p:spPr>
          <a:xfrm>
            <a:off x="745167" y="4655317"/>
            <a:ext cx="2122392"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panose="020F0502020204030204" pitchFamily="34" charset="0"/>
                <a:cs typeface="Arial"/>
              </a:rPr>
              <a:t>Tariff: Addition of Validation for Selected Document Codes</a:t>
            </a:r>
          </a:p>
        </p:txBody>
      </p:sp>
      <p:pic>
        <p:nvPicPr>
          <p:cNvPr id="38" name="Picture 106" descr="57% HMRCppt logo">
            <a:extLst>
              <a:ext uri="{FF2B5EF4-FFF2-40B4-BE49-F238E27FC236}">
                <a16:creationId xmlns:a16="http://schemas.microsoft.com/office/drawing/2014/main" id="{11FD7A00-E995-4006-1474-C982C289F9F8}"/>
              </a:ext>
            </a:extLst>
          </p:cNvPr>
          <p:cNvPicPr>
            <a:picLocks noChangeAspect="1"/>
          </p:cNvPicPr>
          <p:nvPr/>
        </p:nvPicPr>
        <p:blipFill>
          <a:blip r:embed="rId5"/>
          <a:srcRect/>
          <a:stretch>
            <a:fillRect/>
          </a:stretch>
        </p:blipFill>
        <p:spPr>
          <a:xfrm>
            <a:off x="208287" y="6259936"/>
            <a:ext cx="813834" cy="500826"/>
          </a:xfrm>
          <a:prstGeom prst="rect">
            <a:avLst/>
          </a:prstGeom>
          <a:noFill/>
          <a:ln cap="flat">
            <a:noFill/>
          </a:ln>
        </p:spPr>
      </p:pic>
    </p:spTree>
    <p:extLst>
      <p:ext uri="{BB962C8B-B14F-4D97-AF65-F5344CB8AC3E}">
        <p14:creationId xmlns:p14="http://schemas.microsoft.com/office/powerpoint/2010/main" val="359995283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9" name="Rectangle 8">
            <a:extLst>
              <a:ext uri="{FF2B5EF4-FFF2-40B4-BE49-F238E27FC236}">
                <a16:creationId xmlns:a16="http://schemas.microsoft.com/office/drawing/2014/main" id="{082F93A3-93CB-CEBE-5540-139322F47BBE}"/>
              </a:ext>
            </a:extLst>
          </p:cNvPr>
          <p:cNvSpPr/>
          <p:nvPr/>
        </p:nvSpPr>
        <p:spPr>
          <a:xfrm>
            <a:off x="315463" y="4966273"/>
            <a:ext cx="11484000" cy="114576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249367" y="823916"/>
            <a:ext cx="11561071" cy="6140142"/>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CERTEX: Check Availability with/without Quantity Reservation (1/3)</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Under the new Windsor Framework, HMRC must conform to the Union Customs Code (UCC) and therefore the EU’s Multi Annual Strategic Plan (MASP) which delivers the system changes for UCC. The European Union (EU) has introduced new legislation and regulation, establishing a centralised system known as the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EU Customs Single Window Certificate Exchange System</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(EU CSW-CERTEX) for licence data.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CERTEX allows the exchange of information not only on certificates, licences, permits, and statements, but also to check registration requirements, control authorisation or quota consumption and monitor exemption thresholds.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HMRC (and other Member States' Declaration systems) are required to validate licence data using this new centralised service for imports and exports. Transit movements are not in-scope of the CDS delivery for CERTEX. This implementation of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CERTEX will allow HMRC to validate licence data within declarations by facilitating the exchange of messages between the customs</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(HMRC)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and non-customs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(DEFRA/DAERA)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systems</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The following Partner Competent Authorities (PCA) Documents are in scope: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Note that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deployment of this functionality into External Test environments will differ from Production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The Trade Test and Trader Dress Rehearsal environments do not have connectivity to case management, and the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case emulator will be uplifted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to allow for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automatic raising of CERTEX control types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for the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happy path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scenario’. I.e. if a declaration is submitted with CERTEX attributes, then the CERTEX control will be cleared. In Production, </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CDS will create DMSQRY notifications based on the licence check responses from the EU. If a CERTEX case cannot be automatically progressed, then a manual ‘CERTEX Document Check’ case will be created. </a:t>
            </a: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Note that </a:t>
            </a: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DMSDOC notifications will not be sent for manual CERTEX cases</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 CERTEX will be carrying out separate trade engagements in the near future.</a:t>
            </a: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2" name="Table 11">
            <a:extLst>
              <a:ext uri="{FF2B5EF4-FFF2-40B4-BE49-F238E27FC236}">
                <a16:creationId xmlns:a16="http://schemas.microsoft.com/office/drawing/2014/main" id="{4B4A821E-16E8-34CD-D753-980366CFE779}"/>
              </a:ext>
            </a:extLst>
          </p:cNvPr>
          <p:cNvGraphicFramePr>
            <a:graphicFrameLocks noGrp="1"/>
          </p:cNvGraphicFramePr>
          <p:nvPr>
            <p:extLst>
              <p:ext uri="{D42A27DB-BD31-4B8C-83A1-F6EECF244321}">
                <p14:modId xmlns:p14="http://schemas.microsoft.com/office/powerpoint/2010/main" val="3023132405"/>
              </p:ext>
            </p:extLst>
          </p:nvPr>
        </p:nvGraphicFramePr>
        <p:xfrm>
          <a:off x="372613" y="3059657"/>
          <a:ext cx="7191270" cy="1836193"/>
        </p:xfrm>
        <a:graphic>
          <a:graphicData uri="http://schemas.openxmlformats.org/drawingml/2006/table">
            <a:tbl>
              <a:tblPr firstRow="1" bandRow="1">
                <a:tableStyleId>{93296810-A885-4BE3-A3E7-6D5BEEA58F35}</a:tableStyleId>
              </a:tblPr>
              <a:tblGrid>
                <a:gridCol w="3888000">
                  <a:extLst>
                    <a:ext uri="{9D8B030D-6E8A-4147-A177-3AD203B41FA5}">
                      <a16:colId xmlns:a16="http://schemas.microsoft.com/office/drawing/2014/main" val="3369006579"/>
                    </a:ext>
                  </a:extLst>
                </a:gridCol>
                <a:gridCol w="3303270">
                  <a:extLst>
                    <a:ext uri="{9D8B030D-6E8A-4147-A177-3AD203B41FA5}">
                      <a16:colId xmlns:a16="http://schemas.microsoft.com/office/drawing/2014/main" val="3720369463"/>
                    </a:ext>
                  </a:extLst>
                </a:gridCol>
              </a:tblGrid>
              <a:tr h="370840">
                <a:tc>
                  <a:txBody>
                    <a:bodyPr/>
                    <a:lstStyle/>
                    <a:p>
                      <a:pPr algn="ctr">
                        <a:lnSpc>
                          <a:spcPct val="107000"/>
                        </a:lnSpc>
                        <a:spcBef>
                          <a:spcPts val="375"/>
                        </a:spcBef>
                        <a:spcAft>
                          <a:spcPts val="375"/>
                        </a:spcAft>
                      </a:pPr>
                      <a:r>
                        <a:rPr lang="en-GB" sz="1200" b="1" kern="0">
                          <a:effectLst/>
                          <a:latin typeface="+mn-lt"/>
                          <a:ea typeface="Times New Roman" panose="02020603050405020304" pitchFamily="18" charset="0"/>
                          <a:cs typeface="Times New Roman" panose="02020603050405020304" pitchFamily="18" charset="0"/>
                        </a:rPr>
                        <a:t>PCA (OGD) Document Type</a:t>
                      </a:r>
                      <a:endParaRPr lang="en-GB" sz="1100" b="1" kern="100">
                        <a:effectLst/>
                        <a:latin typeface="+mn-lt"/>
                        <a:ea typeface="Calibri" panose="020F0502020204030204" pitchFamily="34" charset="0"/>
                        <a:cs typeface="Times New Roman" panose="02020603050405020304" pitchFamily="18" charset="0"/>
                      </a:endParaRPr>
                    </a:p>
                  </a:txBody>
                  <a:tcPr marL="38100" marR="38100" marT="28575" marB="28575" anchor="ctr">
                    <a:solidFill>
                      <a:srgbClr val="009999"/>
                    </a:solidFill>
                  </a:tcPr>
                </a:tc>
                <a:tc>
                  <a:txBody>
                    <a:bodyPr/>
                    <a:lstStyle/>
                    <a:p>
                      <a:pPr algn="ctr">
                        <a:lnSpc>
                          <a:spcPct val="107000"/>
                        </a:lnSpc>
                        <a:spcBef>
                          <a:spcPts val="375"/>
                        </a:spcBef>
                        <a:spcAft>
                          <a:spcPts val="375"/>
                        </a:spcAft>
                      </a:pPr>
                      <a:r>
                        <a:rPr lang="en-GB" sz="1200" b="1" kern="0" dirty="0">
                          <a:effectLst/>
                          <a:latin typeface="+mn-lt"/>
                          <a:ea typeface="Times New Roman" panose="02020603050405020304" pitchFamily="18" charset="0"/>
                          <a:cs typeface="Times New Roman" panose="02020603050405020304" pitchFamily="18" charset="0"/>
                        </a:rPr>
                        <a:t>Document Code (DE 2/3)</a:t>
                      </a:r>
                      <a:endParaRPr lang="en-GB" sz="1100" b="1" kern="100" dirty="0">
                        <a:effectLst/>
                        <a:latin typeface="+mn-lt"/>
                        <a:ea typeface="Calibri" panose="020F0502020204030204" pitchFamily="34" charset="0"/>
                        <a:cs typeface="Times New Roman" panose="02020603050405020304" pitchFamily="18" charset="0"/>
                      </a:endParaRPr>
                    </a:p>
                  </a:txBody>
                  <a:tcPr marL="38100" marR="38100" marT="28575" marB="28575" anchor="ctr">
                    <a:solidFill>
                      <a:srgbClr val="009999"/>
                    </a:solidFill>
                  </a:tcPr>
                </a:tc>
                <a:extLst>
                  <a:ext uri="{0D108BD9-81ED-4DB2-BD59-A6C34878D82A}">
                    <a16:rowId xmlns:a16="http://schemas.microsoft.com/office/drawing/2014/main" val="37114418"/>
                  </a:ext>
                </a:extLst>
              </a:tr>
              <a:tr h="288000">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ODS (Ozone Depleting Substances) Imports</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L100</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extLst>
                  <a:ext uri="{0D108BD9-81ED-4DB2-BD59-A6C34878D82A}">
                    <a16:rowId xmlns:a16="http://schemas.microsoft.com/office/drawing/2014/main" val="3705165530"/>
                  </a:ext>
                </a:extLst>
              </a:tr>
              <a:tr h="288000">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ODS Exports</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E013</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extLst>
                  <a:ext uri="{0D108BD9-81ED-4DB2-BD59-A6C34878D82A}">
                    <a16:rowId xmlns:a16="http://schemas.microsoft.com/office/drawing/2014/main" val="924677240"/>
                  </a:ext>
                </a:extLst>
              </a:tr>
              <a:tr h="288000">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FGAS (Fluorinated Gases) Imports</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C057, C082, Y951, Y986, Y120, Y123, Y124, Y125</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extLst>
                  <a:ext uri="{0D108BD9-81ED-4DB2-BD59-A6C34878D82A}">
                    <a16:rowId xmlns:a16="http://schemas.microsoft.com/office/drawing/2014/main" val="1272023573"/>
                  </a:ext>
                </a:extLst>
              </a:tr>
              <a:tr h="288000">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COI (Certificate of Inspection for Organic Products) Imports</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tc>
                  <a:txBody>
                    <a:bodyPr/>
                    <a:lstStyle/>
                    <a:p>
                      <a:pPr>
                        <a:lnSpc>
                          <a:spcPct val="107000"/>
                        </a:lnSpc>
                        <a:spcBef>
                          <a:spcPts val="375"/>
                        </a:spcBef>
                        <a:spcAft>
                          <a:spcPts val="375"/>
                        </a:spcAft>
                      </a:pPr>
                      <a:r>
                        <a:rPr lang="en-GB" sz="1200" kern="0">
                          <a:effectLst/>
                          <a:latin typeface="+mn-lt"/>
                          <a:ea typeface="Times New Roman" panose="02020603050405020304" pitchFamily="18" charset="0"/>
                          <a:cs typeface="Times New Roman" panose="02020603050405020304" pitchFamily="18" charset="0"/>
                        </a:rPr>
                        <a:t>C644</a:t>
                      </a:r>
                      <a:endParaRPr lang="en-GB" sz="1100" kern="100">
                        <a:effectLst/>
                        <a:latin typeface="+mn-lt"/>
                        <a:ea typeface="Calibri" panose="020F0502020204030204" pitchFamily="34" charset="0"/>
                        <a:cs typeface="Times New Roman" panose="02020603050405020304" pitchFamily="18" charset="0"/>
                      </a:endParaRPr>
                    </a:p>
                  </a:txBody>
                  <a:tcPr marL="38100" marR="38100" marT="28575" marB="28575" anchor="ctr"/>
                </a:tc>
                <a:extLst>
                  <a:ext uri="{0D108BD9-81ED-4DB2-BD59-A6C34878D82A}">
                    <a16:rowId xmlns:a16="http://schemas.microsoft.com/office/drawing/2014/main" val="495679776"/>
                  </a:ext>
                </a:extLst>
              </a:tr>
              <a:tr h="313353">
                <a:tc>
                  <a:txBody>
                    <a:bodyPr/>
                    <a:lstStyle/>
                    <a:p>
                      <a:pPr>
                        <a:lnSpc>
                          <a:spcPct val="107000"/>
                        </a:lnSpc>
                        <a:spcBef>
                          <a:spcPts val="375"/>
                        </a:spcBef>
                        <a:spcAft>
                          <a:spcPts val="375"/>
                        </a:spcAft>
                      </a:pPr>
                      <a:r>
                        <a:rPr lang="en-GB" sz="1200" kern="0" dirty="0">
                          <a:effectLst/>
                          <a:latin typeface="+mn-lt"/>
                          <a:ea typeface="Times New Roman" panose="02020603050405020304" pitchFamily="18" charset="0"/>
                          <a:cs typeface="Times New Roman" panose="02020603050405020304" pitchFamily="18" charset="0"/>
                        </a:rPr>
                        <a:t>CHED (Common Health Entry Document) Imports</a:t>
                      </a:r>
                      <a:endParaRPr lang="en-GB" sz="1100" kern="100" dirty="0">
                        <a:effectLst/>
                        <a:latin typeface="+mn-lt"/>
                        <a:ea typeface="Calibri" panose="020F0502020204030204" pitchFamily="34" charset="0"/>
                        <a:cs typeface="Times New Roman" panose="02020603050405020304" pitchFamily="18" charset="0"/>
                      </a:endParaRPr>
                    </a:p>
                  </a:txBody>
                  <a:tcPr marL="38100" marR="38100" marT="28575" marB="28575" anchor="ctr"/>
                </a:tc>
                <a:tc>
                  <a:txBody>
                    <a:bodyPr/>
                    <a:lstStyle/>
                    <a:p>
                      <a:pPr>
                        <a:lnSpc>
                          <a:spcPct val="107000"/>
                        </a:lnSpc>
                        <a:spcBef>
                          <a:spcPts val="375"/>
                        </a:spcBef>
                        <a:spcAft>
                          <a:spcPts val="375"/>
                        </a:spcAft>
                      </a:pPr>
                      <a:r>
                        <a:rPr lang="en-GB" sz="1200" kern="0" dirty="0">
                          <a:effectLst/>
                          <a:latin typeface="+mn-lt"/>
                          <a:ea typeface="Times New Roman" panose="02020603050405020304" pitchFamily="18" charset="0"/>
                          <a:cs typeface="Times New Roman" panose="02020603050405020304" pitchFamily="18" charset="0"/>
                        </a:rPr>
                        <a:t>C678, C640, N853, C085</a:t>
                      </a:r>
                      <a:endParaRPr lang="en-GB" sz="1100" kern="100" dirty="0">
                        <a:effectLst/>
                        <a:latin typeface="+mn-lt"/>
                        <a:ea typeface="Calibri" panose="020F0502020204030204" pitchFamily="34" charset="0"/>
                        <a:cs typeface="Times New Roman" panose="02020603050405020304" pitchFamily="18" charset="0"/>
                      </a:endParaRPr>
                    </a:p>
                  </a:txBody>
                  <a:tcPr marL="38100" marR="38100" marT="28575" marB="28575" anchor="ctr"/>
                </a:tc>
                <a:extLst>
                  <a:ext uri="{0D108BD9-81ED-4DB2-BD59-A6C34878D82A}">
                    <a16:rowId xmlns:a16="http://schemas.microsoft.com/office/drawing/2014/main" val="3804514202"/>
                  </a:ext>
                </a:extLst>
              </a:tr>
            </a:tbl>
          </a:graphicData>
        </a:graphic>
      </p:graphicFrame>
      <p:pic>
        <p:nvPicPr>
          <p:cNvPr id="6" name="Picture 106" descr="57% HMRCppt logo">
            <a:extLst>
              <a:ext uri="{FF2B5EF4-FFF2-40B4-BE49-F238E27FC236}">
                <a16:creationId xmlns:a16="http://schemas.microsoft.com/office/drawing/2014/main" id="{97771565-9DDF-332E-5B19-4CF6D317160E}"/>
              </a:ext>
            </a:extLst>
          </p:cNvPr>
          <p:cNvPicPr>
            <a:picLocks noChangeAspect="1"/>
          </p:cNvPicPr>
          <p:nvPr/>
        </p:nvPicPr>
        <p:blipFill>
          <a:blip r:embed="rId3"/>
          <a:srcRect/>
          <a:stretch>
            <a:fillRect/>
          </a:stretch>
        </p:blipFill>
        <p:spPr>
          <a:xfrm>
            <a:off x="208287" y="6259936"/>
            <a:ext cx="813834" cy="500826"/>
          </a:xfrm>
          <a:prstGeom prst="rect">
            <a:avLst/>
          </a:prstGeom>
          <a:noFill/>
          <a:ln cap="flat">
            <a:noFill/>
          </a:ln>
        </p:spPr>
      </p:pic>
    </p:spTree>
    <p:extLst>
      <p:ext uri="{BB962C8B-B14F-4D97-AF65-F5344CB8AC3E}">
        <p14:creationId xmlns:p14="http://schemas.microsoft.com/office/powerpoint/2010/main" val="298140603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able 12">
            <a:extLst>
              <a:ext uri="{FF2B5EF4-FFF2-40B4-BE49-F238E27FC236}">
                <a16:creationId xmlns:a16="http://schemas.microsoft.com/office/drawing/2014/main" id="{659B3BCE-082B-0930-739E-7AD2563336A0}"/>
              </a:ext>
            </a:extLst>
          </p:cNvPr>
          <p:cNvGraphicFramePr>
            <a:graphicFrameLocks noGrp="1"/>
          </p:cNvGraphicFramePr>
          <p:nvPr/>
        </p:nvGraphicFramePr>
        <p:xfrm>
          <a:off x="363615" y="1321620"/>
          <a:ext cx="11412000" cy="403860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1944000">
                  <a:extLst>
                    <a:ext uri="{9D8B030D-6E8A-4147-A177-3AD203B41FA5}">
                      <a16:colId xmlns:a16="http://schemas.microsoft.com/office/drawing/2014/main" val="73482823"/>
                    </a:ext>
                  </a:extLst>
                </a:gridCol>
                <a:gridCol w="756000">
                  <a:extLst>
                    <a:ext uri="{9D8B030D-6E8A-4147-A177-3AD203B41FA5}">
                      <a16:colId xmlns:a16="http://schemas.microsoft.com/office/drawing/2014/main" val="140611446"/>
                    </a:ext>
                  </a:extLst>
                </a:gridCol>
                <a:gridCol w="3888000">
                  <a:extLst>
                    <a:ext uri="{9D8B030D-6E8A-4147-A177-3AD203B41FA5}">
                      <a16:colId xmlns:a16="http://schemas.microsoft.com/office/drawing/2014/main" val="3761716030"/>
                    </a:ext>
                  </a:extLst>
                </a:gridCol>
                <a:gridCol w="3888000">
                  <a:extLst>
                    <a:ext uri="{9D8B030D-6E8A-4147-A177-3AD203B41FA5}">
                      <a16:colId xmlns:a16="http://schemas.microsoft.com/office/drawing/2014/main" val="1219594046"/>
                    </a:ext>
                  </a:extLst>
                </a:gridCol>
              </a:tblGrid>
              <a:tr h="457200">
                <a:tc>
                  <a:txBody>
                    <a:bodyPr/>
                    <a:lstStyle/>
                    <a:p>
                      <a:pPr algn="ctr"/>
                      <a:r>
                        <a:rPr lang="en-GB" sz="1200"/>
                        <a:t>Declaration</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Description </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Dec. Level</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XI Import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XI Export</a:t>
                      </a:r>
                    </a:p>
                  </a:txBody>
                  <a:tcPr marL="45720" marR="45720" anchor="ctr">
                    <a:lnL w="9525" cap="flat" cmpd="sng" algn="ctr">
                      <a:solidFill>
                        <a:schemeClr val="bg1"/>
                      </a:solidFill>
                      <a:prstDash val="solid"/>
                      <a:round/>
                      <a:headEnd type="none" w="med" len="med"/>
                      <a:tailEnd type="none" w="med" len="med"/>
                    </a:lnL>
                    <a:lnR w="12700" cmpd="sng">
                      <a:noFill/>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extLst>
                  <a:ext uri="{0D108BD9-81ED-4DB2-BD59-A6C34878D82A}">
                    <a16:rowId xmlns:a16="http://schemas.microsoft.com/office/drawing/2014/main" val="4219019049"/>
                  </a:ext>
                </a:extLst>
              </a:tr>
              <a:tr h="216000">
                <a:tc rowSpan="5">
                  <a:txBody>
                    <a:bodyPr/>
                    <a:lstStyle/>
                    <a:p>
                      <a:r>
                        <a:rPr lang="en-GB" sz="1100"/>
                        <a:t>Submission</a:t>
                      </a:r>
                      <a:endParaRPr sz="1100"/>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solidFill>
                            <a:schemeClr val="tx1"/>
                          </a:solidFill>
                        </a:rPr>
                        <a:t>Declaration Category</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H1, H2, H3, H4, H5, H7, I1 C&amp;F, I1 B&amp;E</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B1, B2, B4, C1 C&amp;F, C1 B&amp;E</a:t>
                      </a:r>
                    </a:p>
                  </a:txBody>
                  <a:tcPr marL="45720" marR="45720" anchor="ctr">
                    <a:lnL w="952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2159070"/>
                  </a:ext>
                </a:extLst>
              </a:tr>
              <a:tr h="216000">
                <a:tc vMerge="1">
                  <a:txBody>
                    <a:bodyPr/>
                    <a:lstStyle/>
                    <a:p>
                      <a:endParaRPr/>
                    </a:p>
                  </a:txBody>
                  <a:tcPr anchor="ctr">
                    <a:lnL w="6350" cap="flat" cmpd="sng" algn="ctr">
                      <a:solidFill>
                        <a:schemeClr val="tx1"/>
                      </a:solidFill>
                      <a:prstDash val="solid"/>
                      <a:round/>
                      <a:headEnd type="none" w="med" len="med"/>
                      <a:tailEnd type="none" w="med" len="med"/>
                    </a:lnL>
                  </a:tcPr>
                </a:tc>
                <a:tc>
                  <a:txBody>
                    <a:bodyPr/>
                    <a:lstStyle/>
                    <a:p>
                      <a:r>
                        <a:rPr lang="en-GB" sz="1100"/>
                        <a:t>DE 5/23 (Location of Goods)</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Header</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r>
                        <a:rPr lang="en-GB" sz="1100"/>
                        <a:t>(NI Location Code – Air or Maritime)</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GB" sz="1100"/>
                    </a:p>
                  </a:txBody>
                  <a:tcPr marL="45720" marR="45720" anchor="ctr"/>
                </a:tc>
                <a:extLst>
                  <a:ext uri="{0D108BD9-81ED-4DB2-BD59-A6C34878D82A}">
                    <a16:rowId xmlns:a16="http://schemas.microsoft.com/office/drawing/2014/main" val="614425959"/>
                  </a:ext>
                </a:extLst>
              </a:tr>
              <a:tr h="216000">
                <a:tc vMerge="1">
                  <a:txBody>
                    <a:bodyPr/>
                    <a:lstStyle/>
                    <a:p>
                      <a:endParaRPr lang="en-GB" sz="1100"/>
                    </a:p>
                  </a:txBody>
                  <a:tcPr anchor="ctr"/>
                </a:tc>
                <a:tc>
                  <a:txBody>
                    <a:bodyPr/>
                    <a:lstStyle/>
                    <a:p>
                      <a:r>
                        <a:rPr lang="en-GB" sz="1100" dirty="0"/>
                        <a:t>DE 2/2 (Additional Information)</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Item</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NIIMP or NIDOM</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NIEXP</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73183839"/>
                  </a:ext>
                </a:extLst>
              </a:tr>
              <a:tr h="396000">
                <a:tc vMerge="1">
                  <a:txBody>
                    <a:bodyPr/>
                    <a:lstStyle/>
                    <a:p>
                      <a:endParaRPr lang="en-GB" sz="1100"/>
                    </a:p>
                  </a:txBody>
                  <a:tcPr anchor="ctr"/>
                </a:tc>
                <a:tc>
                  <a:txBody>
                    <a:bodyPr/>
                    <a:lstStyle/>
                    <a:p>
                      <a:r>
                        <a:rPr lang="en-GB" sz="1100"/>
                        <a:t>DE 2/3 (Additional Document)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Item</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L100, </a:t>
                      </a:r>
                      <a:r>
                        <a:rPr lang="es-ES" sz="1100"/>
                        <a:t>C057, C082, Y951, Y986, Y120, Y123, Y124, Y125, </a:t>
                      </a:r>
                    </a:p>
                    <a:p>
                      <a:pPr algn="ctr"/>
                      <a:r>
                        <a:rPr lang="es-ES" sz="1100"/>
                        <a:t>C644, C678, C640, N853, C085</a:t>
                      </a:r>
                      <a:endParaRPr lang="en-GB" sz="1100"/>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E013</a:t>
                      </a:r>
                    </a:p>
                  </a:txBody>
                  <a:tcPr marL="45720" marR="45720"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68589189"/>
                  </a:ext>
                </a:extLst>
              </a:tr>
              <a:tr h="216000">
                <a:tc vMerge="1">
                  <a:txBody>
                    <a:bodyPr/>
                    <a:lstStyle/>
                    <a:p>
                      <a:endParaRPr sz="1100"/>
                    </a:p>
                  </a:txBody>
                  <a:tcPr anchor="ctr">
                    <a:lnL w="6350" cap="flat" cmpd="sng" algn="ctr">
                      <a:solidFill>
                        <a:schemeClr val="tx1"/>
                      </a:solidFill>
                      <a:prstDash val="solid"/>
                      <a:round/>
                      <a:headEnd type="none" w="med" len="med"/>
                      <a:tailEnd type="none" w="med" len="med"/>
                    </a:lnL>
                  </a:tcPr>
                </a:tc>
                <a:tc>
                  <a:txBody>
                    <a:bodyPr/>
                    <a:lstStyle/>
                    <a:p>
                      <a:r>
                        <a:rPr lang="en-GB" sz="1100">
                          <a:solidFill>
                            <a:schemeClr val="tx1"/>
                          </a:solidFill>
                        </a:rPr>
                        <a:t>DE 1/10 (Procedure Code)</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Item</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01, 07, 40, 42, 44, 51, 53, 61, 71</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solidFill>
                            <a:schemeClr val="tx1"/>
                          </a:solidFill>
                        </a:rPr>
                        <a:t>10, 11, 21, 22, 23, 31</a:t>
                      </a:r>
                    </a:p>
                  </a:txBody>
                  <a:tcPr marL="45720" marR="45720"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35473399"/>
                  </a:ext>
                </a:extLst>
              </a:tr>
              <a:tr h="216000">
                <a:tc>
                  <a:txBody>
                    <a:bodyPr/>
                    <a:lstStyle/>
                    <a:p>
                      <a:r>
                        <a:rPr lang="en-GB" sz="1100"/>
                        <a:t>Validation</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t>Declaration</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r>
                        <a:rPr lang="en-GB" sz="1100"/>
                        <a:t>Declaration or amended declaration passes validation</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GB" sz="1100"/>
                    </a:p>
                  </a:txBody>
                  <a:tcPr marL="45720" marR="45720" anchor="ctr"/>
                </a:tc>
                <a:extLst>
                  <a:ext uri="{0D108BD9-81ED-4DB2-BD59-A6C34878D82A}">
                    <a16:rowId xmlns:a16="http://schemas.microsoft.com/office/drawing/2014/main" val="302984438"/>
                  </a:ext>
                </a:extLst>
              </a:tr>
              <a:tr h="720000">
                <a:tc>
                  <a:txBody>
                    <a:bodyPr/>
                    <a:lstStyle/>
                    <a:p>
                      <a:r>
                        <a:rPr lang="en-GB" sz="1100"/>
                        <a:t>Checks</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t>CERTEX</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r>
                        <a:rPr lang="en-GB" sz="1100"/>
                        <a:t>When an NI Import or Export has been declared and it contains a CERTEX Additional Document code listed above, </a:t>
                      </a:r>
                    </a:p>
                    <a:p>
                      <a:pPr algn="ctr"/>
                      <a:r>
                        <a:rPr lang="en-GB" sz="1100"/>
                        <a:t>CDS will identify if a CERTEX </a:t>
                      </a:r>
                      <a:r>
                        <a:rPr lang="en-GB" sz="1100" b="1"/>
                        <a:t>Availability Check </a:t>
                      </a:r>
                      <a:r>
                        <a:rPr lang="en-GB" sz="1100"/>
                        <a:t>only request or </a:t>
                      </a:r>
                      <a:r>
                        <a:rPr lang="en-GB" sz="1100" b="1"/>
                        <a:t>Availability Check with Quantity Reservation </a:t>
                      </a:r>
                      <a:r>
                        <a:rPr lang="en-GB" sz="1100"/>
                        <a:t>request is required: </a:t>
                      </a:r>
                    </a:p>
                    <a:p>
                      <a:pPr algn="ctr"/>
                      <a:r>
                        <a:rPr lang="en-GB" sz="1100"/>
                        <a:t>This will be determined by the combination of the Declaration Category, Procedure Code (DE 1/10), </a:t>
                      </a:r>
                    </a:p>
                    <a:p>
                      <a:pPr algn="ctr"/>
                      <a:r>
                        <a:rPr lang="en-GB" sz="1100"/>
                        <a:t>and CERTEX Document Code (DE 2/3). If the declaration is pre-lodged then only an Availability Check will be performed.</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GB"/>
                    </a:p>
                  </a:txBody>
                  <a:tcPr/>
                </a:tc>
                <a:extLst>
                  <a:ext uri="{0D108BD9-81ED-4DB2-BD59-A6C34878D82A}">
                    <a16:rowId xmlns:a16="http://schemas.microsoft.com/office/drawing/2014/main" val="2346577694"/>
                  </a:ext>
                </a:extLst>
              </a:tr>
              <a:tr h="396000">
                <a:tc rowSpan="2">
                  <a:txBody>
                    <a:bodyPr/>
                    <a:lstStyle/>
                    <a:p>
                      <a:r>
                        <a:rPr lang="en-GB" sz="1100"/>
                        <a:t>Controls</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t>CERTEX</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r>
                        <a:rPr lang="en-GB" sz="1100"/>
                        <a:t>Declarations under </a:t>
                      </a:r>
                      <a:r>
                        <a:rPr lang="en-GB" sz="1100" b="1"/>
                        <a:t>CERTEX controls</a:t>
                      </a:r>
                      <a:r>
                        <a:rPr lang="en-GB" sz="1100"/>
                        <a:t> will trigger an </a:t>
                      </a:r>
                      <a:r>
                        <a:rPr lang="en-GB" sz="1100" b="1"/>
                        <a:t>ROE / </a:t>
                      </a:r>
                      <a:r>
                        <a:rPr lang="en-GB" sz="1100" b="1" err="1"/>
                        <a:t>masterSOE</a:t>
                      </a:r>
                      <a:r>
                        <a:rPr lang="en-GB" sz="1100" b="1"/>
                        <a:t> of O</a:t>
                      </a:r>
                      <a:r>
                        <a:rPr lang="en-GB" sz="1100"/>
                        <a:t>. </a:t>
                      </a:r>
                    </a:p>
                    <a:p>
                      <a:pPr algn="ctr"/>
                      <a:r>
                        <a:rPr lang="en-GB" sz="1100"/>
                        <a:t>This control type will be applicable where triggered for both MUCRs and DUCRs.</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GB"/>
                    </a:p>
                  </a:txBody>
                  <a:tcPr/>
                </a:tc>
                <a:extLst>
                  <a:ext uri="{0D108BD9-81ED-4DB2-BD59-A6C34878D82A}">
                    <a16:rowId xmlns:a16="http://schemas.microsoft.com/office/drawing/2014/main" val="184771315"/>
                  </a:ext>
                </a:extLst>
              </a:tr>
              <a:tr h="648000">
                <a:tc vMerge="1">
                  <a:txBody>
                    <a:bodyPr/>
                    <a:lstStyle/>
                    <a:p>
                      <a:endParaRPr lang="en-GB"/>
                    </a:p>
                  </a:txBody>
                  <a:tcPr/>
                </a:tc>
                <a:tc>
                  <a:txBody>
                    <a:bodyPr/>
                    <a:lstStyle/>
                    <a:p>
                      <a:r>
                        <a:rPr lang="en-GB" sz="1100"/>
                        <a:t>All</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spcBef>
                          <a:spcPts val="300"/>
                        </a:spcBef>
                      </a:pPr>
                      <a:r>
                        <a:rPr lang="en-GB" sz="1100" dirty="0"/>
                        <a:t>‘</a:t>
                      </a:r>
                      <a:r>
                        <a:rPr lang="en-GB" sz="1100" b="1" dirty="0"/>
                        <a:t>Under control</a:t>
                      </a:r>
                      <a:r>
                        <a:rPr lang="en-GB" sz="1100" dirty="0"/>
                        <a:t>’ scenarios will be replaced with </a:t>
                      </a:r>
                      <a:r>
                        <a:rPr lang="en-GB" sz="1100" b="1" dirty="0"/>
                        <a:t>ROE A</a:t>
                      </a:r>
                      <a:r>
                        <a:rPr lang="en-GB" sz="1100" dirty="0"/>
                        <a:t> – this is an intermediate state and not reflective of final routing.</a:t>
                      </a:r>
                    </a:p>
                    <a:p>
                      <a:pPr algn="ctr">
                        <a:spcBef>
                          <a:spcPts val="300"/>
                        </a:spcBef>
                      </a:pPr>
                      <a:r>
                        <a:rPr lang="en-GB" sz="1100" dirty="0"/>
                        <a:t>There will be no change to ‘H’ prefixing.</a:t>
                      </a:r>
                    </a:p>
                    <a:p>
                      <a:pPr algn="ctr">
                        <a:spcBef>
                          <a:spcPts val="300"/>
                        </a:spcBef>
                      </a:pPr>
                      <a:r>
                        <a:rPr lang="en-GB" sz="1100" dirty="0"/>
                        <a:t>CDS will not allow the goods to be released until all blocking controls (both CERTEX and non-CERTEX controls) are resolved. </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GB"/>
                    </a:p>
                  </a:txBody>
                  <a:tcPr/>
                </a:tc>
                <a:extLst>
                  <a:ext uri="{0D108BD9-81ED-4DB2-BD59-A6C34878D82A}">
                    <a16:rowId xmlns:a16="http://schemas.microsoft.com/office/drawing/2014/main" val="3434162344"/>
                  </a:ext>
                </a:extLst>
              </a:tr>
            </a:tbl>
          </a:graphicData>
        </a:graphic>
      </p:graphicFrame>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6146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492443"/>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CERTEX: Check Availability with/without Quantity Reservation (2/3)</a:t>
            </a: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NI declarations and amendments with CERTEX document codes will be processed as shown in the table below:</a:t>
            </a:r>
          </a:p>
        </p:txBody>
      </p:sp>
      <p:sp>
        <p:nvSpPr>
          <p:cNvPr id="12" name="Footer Placeholder 1">
            <a:extLst>
              <a:ext uri="{FF2B5EF4-FFF2-40B4-BE49-F238E27FC236}">
                <a16:creationId xmlns:a16="http://schemas.microsoft.com/office/drawing/2014/main" id="{A301BFDD-8573-3246-DC7F-F9E33A695ED9}"/>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Tree>
    <p:extLst>
      <p:ext uri="{BB962C8B-B14F-4D97-AF65-F5344CB8AC3E}">
        <p14:creationId xmlns:p14="http://schemas.microsoft.com/office/powerpoint/2010/main" val="8373654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4185761"/>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CERTEX: Check Availability with/without Quantity Reservation (3/3)</a:t>
            </a: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NI declarations and amendments with CERTEX document codes will be processed as shown in the table below:</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1. The following text is used for the DMSQRY notifications: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“CERTEX Check:” [Document Type / Document Reference Number] [Trader Information/Advice Text]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“CERTEX Information Only:” [Document Type / Document Reference Number] [Trader Information/Advice Text]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3" name="Table 12">
            <a:extLst>
              <a:ext uri="{FF2B5EF4-FFF2-40B4-BE49-F238E27FC236}">
                <a16:creationId xmlns:a16="http://schemas.microsoft.com/office/drawing/2014/main" id="{659B3BCE-082B-0930-739E-7AD2563336A0}"/>
              </a:ext>
            </a:extLst>
          </p:cNvPr>
          <p:cNvGraphicFramePr>
            <a:graphicFrameLocks noGrp="1"/>
          </p:cNvGraphicFramePr>
          <p:nvPr/>
        </p:nvGraphicFramePr>
        <p:xfrm>
          <a:off x="363615" y="1322808"/>
          <a:ext cx="11412000" cy="268986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1944000">
                  <a:extLst>
                    <a:ext uri="{9D8B030D-6E8A-4147-A177-3AD203B41FA5}">
                      <a16:colId xmlns:a16="http://schemas.microsoft.com/office/drawing/2014/main" val="73482823"/>
                    </a:ext>
                  </a:extLst>
                </a:gridCol>
                <a:gridCol w="756000">
                  <a:extLst>
                    <a:ext uri="{9D8B030D-6E8A-4147-A177-3AD203B41FA5}">
                      <a16:colId xmlns:a16="http://schemas.microsoft.com/office/drawing/2014/main" val="140611446"/>
                    </a:ext>
                  </a:extLst>
                </a:gridCol>
                <a:gridCol w="3888000">
                  <a:extLst>
                    <a:ext uri="{9D8B030D-6E8A-4147-A177-3AD203B41FA5}">
                      <a16:colId xmlns:a16="http://schemas.microsoft.com/office/drawing/2014/main" val="3761716030"/>
                    </a:ext>
                  </a:extLst>
                </a:gridCol>
                <a:gridCol w="3888000">
                  <a:extLst>
                    <a:ext uri="{9D8B030D-6E8A-4147-A177-3AD203B41FA5}">
                      <a16:colId xmlns:a16="http://schemas.microsoft.com/office/drawing/2014/main" val="1219594046"/>
                    </a:ext>
                  </a:extLst>
                </a:gridCol>
              </a:tblGrid>
              <a:tr h="457200">
                <a:tc>
                  <a:txBody>
                    <a:bodyPr/>
                    <a:lstStyle/>
                    <a:p>
                      <a:pPr algn="ctr"/>
                      <a:r>
                        <a:rPr lang="en-GB" sz="1200"/>
                        <a:t>Declaration</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Description </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dirty="0"/>
                        <a:t>Dec. Level</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XI Import</a:t>
                      </a:r>
                    </a:p>
                  </a:txBody>
                  <a:tcPr marL="45720" marR="45720" anchor="ctr">
                    <a:lnL w="9525" cap="flat" cmpd="sng" algn="ctr">
                      <a:solidFill>
                        <a:schemeClr val="bg1"/>
                      </a:solidFill>
                      <a:prstDash val="solid"/>
                      <a:round/>
                      <a:headEnd type="none" w="med" len="med"/>
                      <a:tailEnd type="none" w="med" len="med"/>
                    </a:lnL>
                    <a:lnR w="12700" cmpd="sng">
                      <a:noFill/>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tc>
                  <a:txBody>
                    <a:bodyPr/>
                    <a:lstStyle/>
                    <a:p>
                      <a:pPr algn="ctr"/>
                      <a:r>
                        <a:rPr lang="en-GB" sz="1200"/>
                        <a:t>XI Export</a:t>
                      </a:r>
                    </a:p>
                  </a:txBody>
                  <a:tcPr marL="45720" marR="45720" anchor="ctr">
                    <a:lnL w="12700" cmpd="sng">
                      <a:noFill/>
                    </a:lnL>
                    <a:lnR w="12700" cmpd="sng">
                      <a:noFill/>
                    </a:lnR>
                    <a:lnT w="635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999"/>
                    </a:solidFill>
                  </a:tcPr>
                </a:tc>
                <a:extLst>
                  <a:ext uri="{0D108BD9-81ED-4DB2-BD59-A6C34878D82A}">
                    <a16:rowId xmlns:a16="http://schemas.microsoft.com/office/drawing/2014/main" val="4219019049"/>
                  </a:ext>
                </a:extLst>
              </a:tr>
              <a:tr h="576000">
                <a:tc rowSpan="2">
                  <a:txBody>
                    <a:bodyPr/>
                    <a:lstStyle/>
                    <a:p>
                      <a:r>
                        <a:rPr lang="en-GB" sz="1100"/>
                        <a:t>Case Management</a:t>
                      </a:r>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t>Case Emulator </a:t>
                      </a:r>
                    </a:p>
                    <a:p>
                      <a:r>
                        <a:rPr lang="en-GB" sz="1100"/>
                        <a:t>(External Test only)</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dirty="0"/>
                        <a:t>The case emulator will be uplifted in the Trade Test and Trader Dress Rehearsal environments to </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b="1" dirty="0"/>
                        <a:t>allow for automatic raising of CERTEX control</a:t>
                      </a:r>
                      <a:r>
                        <a:rPr lang="en-GB" sz="1100" dirty="0"/>
                        <a:t> types for the ‘</a:t>
                      </a:r>
                      <a:r>
                        <a:rPr lang="en-GB" sz="1100" b="1" dirty="0"/>
                        <a:t>happy path</a:t>
                      </a:r>
                      <a:r>
                        <a:rPr lang="en-GB" sz="1100" dirty="0"/>
                        <a:t>’ scenario’. </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dirty="0"/>
                        <a:t>I.e. if a declaration is submitted with CERTEX attributes, then the CERTEX control will be cleared.</a:t>
                      </a:r>
                    </a:p>
                  </a:txBody>
                  <a:tcPr marL="45720" marR="45720" anchor="ctr">
                    <a:lnL w="952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GB"/>
                    </a:p>
                  </a:txBody>
                  <a:tcPr/>
                </a:tc>
                <a:extLst>
                  <a:ext uri="{0D108BD9-81ED-4DB2-BD59-A6C34878D82A}">
                    <a16:rowId xmlns:a16="http://schemas.microsoft.com/office/drawing/2014/main" val="1408252708"/>
                  </a:ext>
                </a:extLst>
              </a:tr>
              <a:tr h="396000">
                <a:tc vMerge="1">
                  <a:txBody>
                    <a:bodyPr/>
                    <a:lstStyle/>
                    <a:p>
                      <a:endParaRPr lang="en-GB" sz="1100"/>
                    </a:p>
                  </a:txBody>
                  <a:tcPr marL="45720" marR="45720" anchor="ctr">
                    <a:lnL w="63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a:t>Case Management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100"/>
                        <a:t>(Production only)</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b="0"/>
                        <a:t>If the response from the EU requires a follow action by the trader, CDS will create a DMSQRY notification. </a:t>
                      </a:r>
                    </a:p>
                    <a:p>
                      <a:pPr marL="0" marR="0" lvl="0" indent="0" algn="ctr" defTabSz="914400" rtl="0" eaLnBrk="1" fontAlgn="auto" latinLnBrk="0" hangingPunct="1">
                        <a:lnSpc>
                          <a:spcPct val="100000"/>
                        </a:lnSpc>
                        <a:spcBef>
                          <a:spcPts val="300"/>
                        </a:spcBef>
                        <a:spcAft>
                          <a:spcPts val="0"/>
                        </a:spcAft>
                        <a:buClrTx/>
                        <a:buSzTx/>
                        <a:buFontTx/>
                        <a:buNone/>
                        <a:tabLst/>
                        <a:defRPr/>
                      </a:pPr>
                      <a:r>
                        <a:rPr lang="en-GB" sz="1100"/>
                        <a:t>If a CERTEX case cannot be automatically progressed by CDS, then a manual ‘CERTEX Document Check’ case will be created .</a:t>
                      </a:r>
                    </a:p>
                  </a:txBody>
                  <a:tcPr marL="45720" marR="45720" anchor="ctr">
                    <a:lnL w="9525" cap="flat" cmpd="sng" algn="ctr">
                      <a:solidFill>
                        <a:schemeClr val="bg1"/>
                      </a:solid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GB"/>
                    </a:p>
                  </a:txBody>
                  <a:tcPr/>
                </a:tc>
                <a:extLst>
                  <a:ext uri="{0D108BD9-81ED-4DB2-BD59-A6C34878D82A}">
                    <a16:rowId xmlns:a16="http://schemas.microsoft.com/office/drawing/2014/main" val="3041558847"/>
                  </a:ext>
                </a:extLst>
              </a:tr>
              <a:tr h="792000">
                <a:tc>
                  <a:txBody>
                    <a:bodyPr/>
                    <a:lstStyle/>
                    <a:p>
                      <a:r>
                        <a:rPr lang="en-GB" sz="1100"/>
                        <a:t>Notification</a:t>
                      </a:r>
                      <a:endParaRPr sz="1100"/>
                    </a:p>
                  </a:txBody>
                  <a:tcPr marL="45720" marR="45720" anchor="ctr">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100"/>
                        <a:t>Trader Notifications</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100"/>
                        <a:t>-</a:t>
                      </a:r>
                    </a:p>
                  </a:txBody>
                  <a:tcPr marL="45720" marR="4572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dirty="0"/>
                        <a:t>(Production only) When CDS creates a DMSQRY notification, this will be prefixed with “CERTEX”</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dirty="0"/>
                        <a:t>and provide sufficient information to allow the Trader to take necessary corrective action</a:t>
                      </a:r>
                      <a:r>
                        <a:rPr lang="en-GB" sz="1100" baseline="0" dirty="0"/>
                        <a:t>.</a:t>
                      </a:r>
                      <a:r>
                        <a:rPr lang="en-GB" sz="1100" baseline="30000" dirty="0"/>
                        <a:t>1</a:t>
                      </a:r>
                      <a:endParaRPr lang="en-GB" sz="1100" dirty="0"/>
                    </a:p>
                    <a:p>
                      <a:pPr algn="ctr">
                        <a:spcBef>
                          <a:spcPts val="300"/>
                        </a:spcBef>
                      </a:pPr>
                      <a:r>
                        <a:rPr lang="en-GB" sz="1100" dirty="0"/>
                        <a:t>(Production only) If a CERTEX case is manually intervened, Traders will receive an outcome notification </a:t>
                      </a:r>
                    </a:p>
                    <a:p>
                      <a:pPr algn="ctr">
                        <a:spcBef>
                          <a:spcPts val="0"/>
                        </a:spcBef>
                      </a:pPr>
                      <a:r>
                        <a:rPr lang="en-GB" sz="1100" dirty="0"/>
                        <a:t>once the CERTEX case has been resolved. </a:t>
                      </a:r>
                    </a:p>
                    <a:p>
                      <a:pPr algn="ctr">
                        <a:spcBef>
                          <a:spcPts val="300"/>
                        </a:spcBef>
                      </a:pPr>
                      <a:r>
                        <a:rPr lang="en-GB" sz="1100" dirty="0"/>
                        <a:t>(External Test and Production) When a declaration has had goods released, then CDS will send an automated notification to the trader, </a:t>
                      </a:r>
                    </a:p>
                    <a:p>
                      <a:pPr algn="ctr"/>
                      <a:r>
                        <a:rPr lang="en-GB" sz="1100" dirty="0"/>
                        <a:t>indicating the release or clearance of the goods </a:t>
                      </a:r>
                    </a:p>
                  </a:txBody>
                  <a:tcPr marL="45720" marR="45720"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GB" sz="1100"/>
                    </a:p>
                  </a:txBody>
                  <a:tcPr marL="45720" marR="45720" anchor="ctr">
                    <a:lnL w="190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99027658"/>
                  </a:ext>
                </a:extLst>
              </a:tr>
            </a:tbl>
          </a:graphicData>
        </a:graphic>
      </p:graphicFrame>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12" name="Footer Placeholder 1">
            <a:extLst>
              <a:ext uri="{FF2B5EF4-FFF2-40B4-BE49-F238E27FC236}">
                <a16:creationId xmlns:a16="http://schemas.microsoft.com/office/drawing/2014/main" id="{85575F9B-427A-4F9E-68A5-EE108596BECE}"/>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Tree>
    <p:extLst>
      <p:ext uri="{BB962C8B-B14F-4D97-AF65-F5344CB8AC3E}">
        <p14:creationId xmlns:p14="http://schemas.microsoft.com/office/powerpoint/2010/main" val="138732338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2062103"/>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Excise: Duty </a:t>
            </a:r>
            <a:r>
              <a:rPr kumimoji="0" lang="en-GB" sz="1400" b="1" i="0" u="none" strike="noStrike" kern="1200" cap="none" spc="0" normalizeH="0" baseline="0" noProof="0">
                <a:ln>
                  <a:noFill/>
                </a:ln>
                <a:solidFill>
                  <a:srgbClr val="000000"/>
                </a:solidFill>
                <a:effectLst/>
                <a:uLnTx/>
                <a:uFillTx/>
                <a:latin typeface="Calibri"/>
                <a:ea typeface="Calibri"/>
                <a:cs typeface="Calibri"/>
              </a:rPr>
              <a:t>Override for Composite Goods with Mineral Oil</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Commodity codes can either be excisable or non-excisable depending on the scenario but are currently marked as excisable in all cases in CDS. Currently, traders use a general override code when declaring non-excisable goods to avoid being charged excise duty. The issue with this manual override process is that it places a burden on the trader as they must calculate the customs duty and VAT themselves, leading to potential miscalculations or incorrectly inputting excise as zero for an excisable good, posing a large compliance and reputational risk.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This functionality introduces a </a:t>
            </a:r>
            <a:r>
              <a:rPr kumimoji="0" lang="en-GB" sz="1200" b="1" i="0" u="none" strike="noStrike" kern="1200" cap="none" spc="0" normalizeH="0" baseline="0" noProof="0">
                <a:ln>
                  <a:noFill/>
                </a:ln>
                <a:solidFill>
                  <a:srgbClr val="000000"/>
                </a:solidFill>
                <a:effectLst/>
                <a:uLnTx/>
                <a:uFillTx/>
                <a:latin typeface="-apple-system"/>
                <a:ea typeface="+mn-ea"/>
                <a:cs typeface="+mn-cs"/>
              </a:rPr>
              <a:t>new excise override AI code (COMNE) to be used for composite goods with mineral oil that are not excisable</a:t>
            </a:r>
            <a:r>
              <a:rPr kumimoji="0" lang="en-GB" sz="1200" b="0" i="0" u="none" strike="noStrike" kern="1200" cap="none" spc="0" normalizeH="0" baseline="0" noProof="0">
                <a:ln>
                  <a:noFill/>
                </a:ln>
                <a:solidFill>
                  <a:srgbClr val="000000"/>
                </a:solidFill>
                <a:effectLst/>
                <a:uLnTx/>
                <a:uFillTx/>
                <a:latin typeface="-apple-system"/>
                <a:ea typeface="+mn-ea"/>
                <a:cs typeface="+mn-cs"/>
              </a:rPr>
              <a:t>, so that excise duty is not charged and only customs duty and VAT is charged to the trader. This manual override code allows the trader to </a:t>
            </a:r>
            <a:r>
              <a:rPr kumimoji="0" lang="en-GB" sz="1200" b="1" i="0" u="none" strike="noStrike" kern="1200" cap="none" spc="0" normalizeH="0" baseline="0" noProof="0">
                <a:ln>
                  <a:noFill/>
                </a:ln>
                <a:solidFill>
                  <a:srgbClr val="000000"/>
                </a:solidFill>
                <a:effectLst/>
                <a:uLnTx/>
                <a:uFillTx/>
                <a:latin typeface="-apple-system"/>
                <a:ea typeface="+mn-ea"/>
                <a:cs typeface="+mn-cs"/>
              </a:rPr>
              <a:t>override the calculation for excise to £0.00 when goods are not excisable</a:t>
            </a:r>
            <a:r>
              <a:rPr kumimoji="0" lang="en-GB" sz="1200" b="0" i="0" u="none" strike="noStrike" kern="1200" cap="none" spc="0" normalizeH="0" baseline="0" noProof="0">
                <a:ln>
                  <a:noFill/>
                </a:ln>
                <a:solidFill>
                  <a:srgbClr val="000000"/>
                </a:solidFill>
                <a:effectLst/>
                <a:uLnTx/>
                <a:uFillTx/>
                <a:latin typeface="-apple-system"/>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80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Declarations will be processed as shown in the table below:</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2" name="Table 11">
            <a:extLst>
              <a:ext uri="{FF2B5EF4-FFF2-40B4-BE49-F238E27FC236}">
                <a16:creationId xmlns:a16="http://schemas.microsoft.com/office/drawing/2014/main" id="{197BD8C6-96C9-05CE-E983-59F750595294}"/>
              </a:ext>
            </a:extLst>
          </p:cNvPr>
          <p:cNvGraphicFramePr>
            <a:graphicFrameLocks noGrp="1"/>
          </p:cNvGraphicFramePr>
          <p:nvPr/>
        </p:nvGraphicFramePr>
        <p:xfrm>
          <a:off x="404498" y="2669901"/>
          <a:ext cx="10078814" cy="307340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2698814">
                  <a:extLst>
                    <a:ext uri="{9D8B030D-6E8A-4147-A177-3AD203B41FA5}">
                      <a16:colId xmlns:a16="http://schemas.microsoft.com/office/drawing/2014/main" val="73482823"/>
                    </a:ext>
                  </a:extLst>
                </a:gridCol>
                <a:gridCol w="828000">
                  <a:extLst>
                    <a:ext uri="{9D8B030D-6E8A-4147-A177-3AD203B41FA5}">
                      <a16:colId xmlns:a16="http://schemas.microsoft.com/office/drawing/2014/main" val="140611446"/>
                    </a:ext>
                  </a:extLst>
                </a:gridCol>
                <a:gridCol w="1872000">
                  <a:extLst>
                    <a:ext uri="{9D8B030D-6E8A-4147-A177-3AD203B41FA5}">
                      <a16:colId xmlns:a16="http://schemas.microsoft.com/office/drawing/2014/main" val="3761716030"/>
                    </a:ext>
                  </a:extLst>
                </a:gridCol>
                <a:gridCol w="1872000">
                  <a:extLst>
                    <a:ext uri="{9D8B030D-6E8A-4147-A177-3AD203B41FA5}">
                      <a16:colId xmlns:a16="http://schemas.microsoft.com/office/drawing/2014/main" val="1219594046"/>
                    </a:ext>
                  </a:extLst>
                </a:gridCol>
                <a:gridCol w="1872000">
                  <a:extLst>
                    <a:ext uri="{9D8B030D-6E8A-4147-A177-3AD203B41FA5}">
                      <a16:colId xmlns:a16="http://schemas.microsoft.com/office/drawing/2014/main" val="4237524482"/>
                    </a:ext>
                  </a:extLst>
                </a:gridCol>
              </a:tblGrid>
              <a:tr h="370840">
                <a:tc>
                  <a:txBody>
                    <a:bodyPr/>
                    <a:lstStyle/>
                    <a:p>
                      <a:pPr algn="ctr"/>
                      <a:r>
                        <a:rPr lang="en-GB" sz="1200"/>
                        <a:t>Declaration</a:t>
                      </a:r>
                    </a:p>
                  </a:txBody>
                  <a:tcPr anchor="ctr">
                    <a:lnL w="6350" cap="flat" cmpd="sng" algn="ctr">
                      <a:no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Description </a:t>
                      </a:r>
                    </a:p>
                  </a:txBody>
                  <a:tcPr anchor="ctr">
                    <a:lnT w="6350" cap="flat" cmpd="sng" algn="ctr">
                      <a:noFill/>
                      <a:prstDash val="solid"/>
                      <a:round/>
                      <a:headEnd type="none" w="med" len="med"/>
                      <a:tailEnd type="none" w="med" len="med"/>
                    </a:lnT>
                    <a:solidFill>
                      <a:srgbClr val="009999"/>
                    </a:solidFill>
                  </a:tcPr>
                </a:tc>
                <a:tc>
                  <a:txBody>
                    <a:bodyPr/>
                    <a:lstStyle/>
                    <a:p>
                      <a:pPr algn="ctr"/>
                      <a:r>
                        <a:rPr lang="en-GB" sz="1200"/>
                        <a:t>Dec. Level</a:t>
                      </a:r>
                    </a:p>
                  </a:txBody>
                  <a:tcPr anchor="ctr">
                    <a:lnR w="190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tc>
                  <a:txBody>
                    <a:bodyPr/>
                    <a:lstStyle/>
                    <a:p>
                      <a:pPr algn="ctr"/>
                      <a:r>
                        <a:rPr lang="en-GB" sz="1200"/>
                        <a:t>No Override Declared</a:t>
                      </a:r>
                    </a:p>
                  </a:txBody>
                  <a:tcPr anchor="ctr">
                    <a:lnL w="19050" cap="flat" cmpd="sng" algn="ctr">
                      <a:solidFill>
                        <a:schemeClr val="bg1"/>
                      </a:solid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Override Declared</a:t>
                      </a:r>
                    </a:p>
                  </a:txBody>
                  <a:tcPr anchor="ctr">
                    <a:lnT w="6350" cap="flat" cmpd="sng" algn="ctr">
                      <a:noFill/>
                      <a:prstDash val="solid"/>
                      <a:round/>
                      <a:headEnd type="none" w="med" len="med"/>
                      <a:tailEnd type="none" w="med" len="med"/>
                    </a:lnT>
                    <a:solidFill>
                      <a:srgbClr val="009999"/>
                    </a:solidFill>
                  </a:tcPr>
                </a:tc>
                <a:tc>
                  <a:txBody>
                    <a:bodyPr/>
                    <a:lstStyle/>
                    <a:p>
                      <a:pPr algn="ctr"/>
                      <a:r>
                        <a:rPr lang="en-GB" sz="1200"/>
                        <a:t>Override Declared But Conditions Not Met</a:t>
                      </a:r>
                    </a:p>
                  </a:txBody>
                  <a:tcPr anchor="ctr">
                    <a:lnR w="6350" cap="flat" cmpd="sng" algn="ctr">
                      <a:no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4219019049"/>
                  </a:ext>
                </a:extLst>
              </a:tr>
              <a:tr h="370840">
                <a:tc rowSpan="3">
                  <a:txBody>
                    <a:bodyPr/>
                    <a:lstStyle/>
                    <a:p>
                      <a:r>
                        <a:rPr lang="en-GB" sz="1100"/>
                        <a:t>Submission</a:t>
                      </a:r>
                    </a:p>
                  </a:txBody>
                  <a:tcPr anchor="ctr">
                    <a:lnL w="6350" cap="flat" cmpd="sng" algn="ctr">
                      <a:noFill/>
                      <a:prstDash val="solid"/>
                      <a:round/>
                      <a:headEnd type="none" w="med" len="med"/>
                      <a:tailEnd type="none" w="med" len="med"/>
                    </a:lnL>
                  </a:tcPr>
                </a:tc>
                <a:tc>
                  <a:txBody>
                    <a:bodyPr/>
                    <a:lstStyle/>
                    <a:p>
                      <a:r>
                        <a:rPr lang="en-GB" sz="1100"/>
                        <a:t>DE 6/14 (Combined Nomenclature Code)</a:t>
                      </a:r>
                    </a:p>
                    <a:p>
                      <a:r>
                        <a:rPr lang="en-GB" sz="1100" b="1"/>
                        <a:t>and</a:t>
                      </a:r>
                      <a:r>
                        <a:rPr lang="en-GB" sz="1100"/>
                        <a:t> DE 6/15 (TARIC Code)</a:t>
                      </a:r>
                    </a:p>
                  </a:txBody>
                  <a:tcPr anchor="ctr"/>
                </a:tc>
                <a:tc>
                  <a:txBody>
                    <a:bodyPr/>
                    <a:lstStyle/>
                    <a:p>
                      <a:pPr algn="ctr"/>
                      <a:r>
                        <a:rPr lang="en-GB" sz="1100"/>
                        <a:t>Item</a:t>
                      </a:r>
                    </a:p>
                  </a:txBody>
                  <a:tcPr anchor="ctr">
                    <a:lnR w="19050" cap="flat" cmpd="sng" algn="ctr">
                      <a:solidFill>
                        <a:schemeClr val="bg1"/>
                      </a:solidFill>
                      <a:prstDash val="solid"/>
                      <a:round/>
                      <a:headEnd type="none" w="med" len="med"/>
                      <a:tailEnd type="none" w="med" len="med"/>
                    </a:lnR>
                  </a:tcPr>
                </a:tc>
                <a:tc gridSpan="2">
                  <a:txBody>
                    <a:bodyPr/>
                    <a:lstStyle/>
                    <a:p>
                      <a:pPr algn="ctr"/>
                      <a:r>
                        <a:rPr lang="en-GB" sz="1100"/>
                        <a:t>Composite goods with mineral oil</a:t>
                      </a:r>
                    </a:p>
                  </a:txBody>
                  <a:tcPr anchor="ctr">
                    <a:lnL w="19050" cap="flat" cmpd="sng" algn="ctr">
                      <a:solidFill>
                        <a:schemeClr val="bg1"/>
                      </a:solidFill>
                      <a:prstDash val="solid"/>
                      <a:round/>
                      <a:headEnd type="none" w="med" len="med"/>
                      <a:tailEnd type="none" w="med" len="med"/>
                    </a:lnL>
                  </a:tcPr>
                </a:tc>
                <a:tc hMerge="1">
                  <a:txBody>
                    <a:bodyPr/>
                    <a:lstStyle/>
                    <a:p>
                      <a:endParaRPr lang="en-GB"/>
                    </a:p>
                  </a:txBody>
                  <a:tcPr/>
                </a:tc>
                <a:tc rowSpan="2">
                  <a:txBody>
                    <a:bodyPr/>
                    <a:lstStyle/>
                    <a:p>
                      <a:pPr algn="ctr"/>
                      <a:r>
                        <a:rPr lang="en-GB" sz="1100"/>
                        <a:t>Other values</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614425959"/>
                  </a:ext>
                </a:extLst>
              </a:tr>
              <a:tr h="370840">
                <a:tc vMerge="1">
                  <a:txBody>
                    <a:bodyPr/>
                    <a:lstStyle/>
                    <a:p>
                      <a:endParaRPr lang="en-GB" sz="1100"/>
                    </a:p>
                  </a:txBody>
                  <a:tcPr anchor="ctr"/>
                </a:tc>
                <a:tc>
                  <a:txBody>
                    <a:bodyPr/>
                    <a:lstStyle/>
                    <a:p>
                      <a:r>
                        <a:rPr lang="en-GB" sz="1100"/>
                        <a:t>DE 6/16 (TARIC Additional Code)</a:t>
                      </a:r>
                    </a:p>
                    <a:p>
                      <a:r>
                        <a:rPr lang="en-GB" sz="1100" b="1"/>
                        <a:t>or</a:t>
                      </a:r>
                      <a:r>
                        <a:rPr lang="en-GB" sz="1100"/>
                        <a:t> DE 6/17 (National Additional Code)</a:t>
                      </a:r>
                    </a:p>
                  </a:txBody>
                  <a:tcPr anchor="ctr"/>
                </a:tc>
                <a:tc>
                  <a:txBody>
                    <a:bodyPr/>
                    <a:lstStyle/>
                    <a:p>
                      <a:pPr algn="ctr"/>
                      <a:r>
                        <a:rPr lang="en-GB" sz="1100"/>
                        <a:t>Item</a:t>
                      </a:r>
                    </a:p>
                  </a:txBody>
                  <a:tcPr anchor="ctr">
                    <a:lnR w="19050" cap="flat" cmpd="sng" algn="ctr">
                      <a:solidFill>
                        <a:schemeClr val="bg1"/>
                      </a:solidFill>
                      <a:prstDash val="solid"/>
                      <a:round/>
                      <a:headEnd type="none" w="med" len="med"/>
                      <a:tailEnd type="none" w="med" len="med"/>
                    </a:lnR>
                  </a:tcPr>
                </a:tc>
                <a:tc gridSpan="2">
                  <a:txBody>
                    <a:bodyPr/>
                    <a:lstStyle/>
                    <a:p>
                      <a:pPr algn="ctr"/>
                      <a:r>
                        <a:rPr lang="en-GB" sz="1100">
                          <a:solidFill>
                            <a:srgbClr val="000000"/>
                          </a:solidFill>
                        </a:rPr>
                        <a:t>X520, X521, X522, X541, X542, X551, </a:t>
                      </a:r>
                    </a:p>
                    <a:p>
                      <a:pPr algn="ctr"/>
                      <a:r>
                        <a:rPr lang="en-GB" sz="1100">
                          <a:solidFill>
                            <a:srgbClr val="000000"/>
                          </a:solidFill>
                        </a:rPr>
                        <a:t>X556, X561, X570, X571, X572, or X589</a:t>
                      </a:r>
                      <a:endParaRPr lang="en-GB" sz="1100"/>
                    </a:p>
                  </a:txBody>
                  <a:tcPr anchor="ctr">
                    <a:lnL w="19050" cap="flat" cmpd="sng" algn="ctr">
                      <a:solidFill>
                        <a:schemeClr val="bg1"/>
                      </a:solidFill>
                      <a:prstDash val="solid"/>
                      <a:round/>
                      <a:headEnd type="none" w="med" len="med"/>
                      <a:tailEnd type="none" w="med" len="med"/>
                    </a:lnL>
                  </a:tcPr>
                </a:tc>
                <a:tc hMerge="1">
                  <a:txBody>
                    <a:bodyPr/>
                    <a:lstStyle/>
                    <a:p>
                      <a:endParaRPr lang="en-GB"/>
                    </a:p>
                  </a:txBody>
                  <a:tcPr/>
                </a:tc>
                <a:tc vMerge="1">
                  <a:txBody>
                    <a:bodyPr/>
                    <a:lstStyle/>
                    <a:p>
                      <a:endParaRPr/>
                    </a:p>
                  </a:txBody>
                  <a:tcPr anchor="ctr">
                    <a:lnR w="3175" cap="flat" cmpd="sng" algn="ctr">
                      <a:solidFill>
                        <a:srgbClr val="000000"/>
                      </a:solidFill>
                      <a:prstDash val="solid"/>
                      <a:round/>
                      <a:headEnd type="none" w="med" len="med"/>
                      <a:tailEnd type="none" w="med" len="med"/>
                    </a:lnR>
                  </a:tcPr>
                </a:tc>
                <a:extLst>
                  <a:ext uri="{0D108BD9-81ED-4DB2-BD59-A6C34878D82A}">
                    <a16:rowId xmlns:a16="http://schemas.microsoft.com/office/drawing/2014/main" val="3273183839"/>
                  </a:ext>
                </a:extLst>
              </a:tr>
              <a:tr h="370840">
                <a:tc vMerge="1">
                  <a:txBody>
                    <a:bodyPr/>
                    <a:lstStyle/>
                    <a:p>
                      <a:endParaRPr lang="en-GB" sz="1100"/>
                    </a:p>
                  </a:txBody>
                  <a:tcPr anchor="ctr"/>
                </a:tc>
                <a:tc>
                  <a:txBody>
                    <a:bodyPr/>
                    <a:lstStyle/>
                    <a:p>
                      <a:r>
                        <a:rPr lang="en-GB" sz="1100"/>
                        <a:t>DE 2/2 (Additional Information)</a:t>
                      </a:r>
                    </a:p>
                  </a:txBody>
                  <a:tcPr anchor="ctr"/>
                </a:tc>
                <a:tc>
                  <a:txBody>
                    <a:bodyPr/>
                    <a:lstStyle/>
                    <a:p>
                      <a:pPr algn="ctr"/>
                      <a:r>
                        <a:rPr lang="en-GB" sz="1100"/>
                        <a:t>Item</a:t>
                      </a:r>
                    </a:p>
                  </a:txBody>
                  <a:tcPr anchor="ctr">
                    <a:lnR w="19050" cap="flat" cmpd="sng" algn="ctr">
                      <a:solidFill>
                        <a:schemeClr val="bg1"/>
                      </a:solidFill>
                      <a:prstDash val="solid"/>
                      <a:round/>
                      <a:headEnd type="none" w="med" len="med"/>
                      <a:tailEnd type="none" w="med" len="med"/>
                    </a:lnR>
                  </a:tcPr>
                </a:tc>
                <a:tc>
                  <a:txBody>
                    <a:bodyPr/>
                    <a:lstStyle/>
                    <a:p>
                      <a:pPr algn="ctr"/>
                      <a:r>
                        <a:rPr lang="en-GB" sz="1100"/>
                        <a:t>-</a:t>
                      </a:r>
                    </a:p>
                  </a:txBody>
                  <a:tcPr anchor="ctr">
                    <a:lnL w="19050" cap="flat" cmpd="sng" algn="ctr">
                      <a:solidFill>
                        <a:schemeClr val="bg1"/>
                      </a:solidFill>
                      <a:prstDash val="solid"/>
                      <a:round/>
                      <a:headEnd type="none" w="med" len="med"/>
                      <a:tailEnd type="none" w="med" len="med"/>
                    </a:lnL>
                  </a:tcPr>
                </a:tc>
                <a:tc>
                  <a:txBody>
                    <a:bodyPr/>
                    <a:lstStyle/>
                    <a:p>
                      <a:pPr algn="ctr"/>
                      <a:r>
                        <a:rPr lang="en-GB" sz="1100"/>
                        <a:t>‘COMNE’</a:t>
                      </a:r>
                    </a:p>
                  </a:txBody>
                  <a:tcPr anchor="ctr"/>
                </a:tc>
                <a:tc>
                  <a:txBody>
                    <a:bodyPr/>
                    <a:lstStyle/>
                    <a:p>
                      <a:pPr algn="ctr"/>
                      <a:r>
                        <a:rPr lang="en-GB" sz="1100"/>
                        <a:t>‘COMNE’</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768589189"/>
                  </a:ext>
                </a:extLst>
              </a:tr>
              <a:tr h="370840">
                <a:tc>
                  <a:txBody>
                    <a:bodyPr/>
                    <a:lstStyle/>
                    <a:p>
                      <a:r>
                        <a:rPr lang="en-GB" sz="1100"/>
                        <a:t>Validation</a:t>
                      </a:r>
                    </a:p>
                  </a:txBody>
                  <a:tcPr anchor="ctr">
                    <a:lnL w="6350" cap="flat" cmpd="sng" algn="ctr">
                      <a:noFill/>
                      <a:prstDash val="solid"/>
                      <a:round/>
                      <a:headEnd type="none" w="med" len="med"/>
                      <a:tailEnd type="none" w="med" len="med"/>
                    </a:lnL>
                  </a:tcPr>
                </a:tc>
                <a:tc>
                  <a:txBody>
                    <a:bodyPr/>
                    <a:lstStyle/>
                    <a:p>
                      <a:r>
                        <a:rPr lang="en-GB" sz="1100"/>
                        <a:t>Status</a:t>
                      </a:r>
                    </a:p>
                  </a:txBody>
                  <a:tcPr anchor="ctr"/>
                </a:tc>
                <a:tc>
                  <a:txBody>
                    <a:bodyPr/>
                    <a:lstStyle/>
                    <a:p>
                      <a:pPr algn="ctr"/>
                      <a:r>
                        <a:rPr lang="en-GB" sz="1100"/>
                        <a:t>-</a:t>
                      </a:r>
                    </a:p>
                  </a:txBody>
                  <a:tcPr anchor="ctr">
                    <a:lnR w="19050" cap="flat" cmpd="sng" algn="ctr">
                      <a:solidFill>
                        <a:schemeClr val="bg1"/>
                      </a:solidFill>
                      <a:prstDash val="solid"/>
                      <a:round/>
                      <a:headEnd type="none" w="med" len="med"/>
                      <a:tailEnd type="none" w="med" len="med"/>
                    </a:ln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dirty="0"/>
                        <a:t>Accepted</a:t>
                      </a:r>
                    </a:p>
                  </a:txBody>
                  <a:tcPr anchor="ctr">
                    <a:lnL w="19050" cap="flat" cmpd="sng" algn="ctr">
                      <a:solidFill>
                        <a:schemeClr val="bg1"/>
                      </a:solidFill>
                      <a:prstDash val="solid"/>
                      <a:round/>
                      <a:headEnd type="none" w="med" len="med"/>
                      <a:tailEnd type="none" w="med" len="med"/>
                    </a:lnL>
                  </a:tcPr>
                </a:tc>
                <a:tc hMerge="1">
                  <a:txBody>
                    <a:bodyPr/>
                    <a:lstStyle/>
                    <a:p>
                      <a:endParaRPr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a:t>Rejected</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3676042096"/>
                  </a:ext>
                </a:extLst>
              </a:tr>
              <a:tr h="370840">
                <a:tc>
                  <a:txBody>
                    <a:bodyPr/>
                    <a:lstStyle/>
                    <a:p>
                      <a:r>
                        <a:rPr lang="en-GB" sz="1100"/>
                        <a:t>Calculation</a:t>
                      </a:r>
                    </a:p>
                  </a:txBody>
                  <a:tcPr anchor="ctr">
                    <a:lnL w="6350" cap="flat" cmpd="sng" algn="ctr">
                      <a:noFill/>
                      <a:prstDash val="solid"/>
                      <a:round/>
                      <a:headEnd type="none" w="med" len="med"/>
                      <a:tailEnd type="none" w="med" len="med"/>
                    </a:lnL>
                  </a:tcPr>
                </a:tc>
                <a:tc>
                  <a:txBody>
                    <a:bodyPr/>
                    <a:lstStyle/>
                    <a:p>
                      <a:r>
                        <a:rPr lang="en-GB" sz="1100"/>
                        <a:t>Charges</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a:t>-</a:t>
                      </a:r>
                    </a:p>
                  </a:txBody>
                  <a:tcPr anchor="ctr">
                    <a:lnR w="19050" cap="flat" cmpd="sng" algn="ctr">
                      <a:solidFill>
                        <a:schemeClr val="bg1"/>
                      </a:solidFill>
                      <a:prstDash val="solid"/>
                      <a:round/>
                      <a:headEnd type="none" w="med" len="med"/>
                      <a:tailEnd type="none" w="med" len="med"/>
                    </a:lnR>
                  </a:tcPr>
                </a:tc>
                <a:tc>
                  <a:txBody>
                    <a:bodyPr/>
                    <a:lstStyle/>
                    <a:p>
                      <a:pPr algn="ctr"/>
                      <a:r>
                        <a:rPr lang="en-GB" sz="1100"/>
                        <a:t>Customs duty</a:t>
                      </a:r>
                    </a:p>
                    <a:p>
                      <a:pPr algn="ctr"/>
                      <a:r>
                        <a:rPr lang="en-GB" sz="1100"/>
                        <a:t>Excise duty</a:t>
                      </a:r>
                    </a:p>
                    <a:p>
                      <a:pPr algn="ctr"/>
                      <a:r>
                        <a:rPr lang="en-GB" sz="1100"/>
                        <a:t>VAT</a:t>
                      </a:r>
                    </a:p>
                  </a:txBody>
                  <a:tcPr anchor="ctr">
                    <a:lnL w="19050" cap="flat" cmpd="sng" algn="ctr">
                      <a:solidFill>
                        <a:schemeClr val="bg1"/>
                      </a:solidFill>
                      <a:prstDash val="solid"/>
                      <a:round/>
                      <a:headEnd type="none" w="med" len="med"/>
                      <a:tailEnd type="none" w="med" len="med"/>
                    </a:lnL>
                  </a:tcPr>
                </a:tc>
                <a:tc>
                  <a:txBody>
                    <a:bodyPr/>
                    <a:lstStyle/>
                    <a:p>
                      <a:pPr algn="ctr"/>
                      <a:r>
                        <a:rPr lang="en-GB" sz="1100"/>
                        <a:t>Customs duty</a:t>
                      </a:r>
                    </a:p>
                    <a:p>
                      <a:pPr algn="ctr"/>
                      <a:r>
                        <a:rPr lang="en-GB" sz="1100" b="1"/>
                        <a:t>No</a:t>
                      </a:r>
                      <a:r>
                        <a:rPr lang="en-GB" sz="1100"/>
                        <a:t> excise duty</a:t>
                      </a:r>
                    </a:p>
                    <a:p>
                      <a:pPr algn="ctr"/>
                      <a:r>
                        <a:rPr lang="en-GB" sz="1100"/>
                        <a:t>VAT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a:t>-</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1577805662"/>
                  </a:ext>
                </a:extLst>
              </a:tr>
              <a:tr h="370840">
                <a:tc>
                  <a:txBody>
                    <a:bodyPr/>
                    <a:lstStyle/>
                    <a:p>
                      <a:r>
                        <a:rPr lang="en-GB" sz="1100"/>
                        <a:t>Notification</a:t>
                      </a:r>
                    </a:p>
                  </a:txBody>
                  <a:tcPr anchor="ctr">
                    <a:lnL w="6350" cap="flat" cmpd="sng" algn="ctr">
                      <a:noFill/>
                      <a:prstDash val="solid"/>
                      <a:round/>
                      <a:headEnd type="none" w="med" len="med"/>
                      <a:tailEnd type="none" w="med" len="med"/>
                    </a:lnL>
                    <a:lnB w="6350" cap="flat" cmpd="sng" algn="ctr">
                      <a:noFill/>
                      <a:prstDash val="solid"/>
                      <a:round/>
                      <a:headEnd type="none" w="med" len="med"/>
                      <a:tailEnd type="none" w="med" len="med"/>
                    </a:lnB>
                  </a:tcPr>
                </a:tc>
                <a:tc>
                  <a:txBody>
                    <a:bodyPr/>
                    <a:lstStyle/>
                    <a:p>
                      <a:r>
                        <a:rPr lang="en-GB" sz="1100"/>
                        <a:t>Trader Notifications</a:t>
                      </a:r>
                    </a:p>
                  </a:txBody>
                  <a:tcPr anchor="ctr">
                    <a:lnB w="6350" cap="flat" cmpd="sng" algn="ctr">
                      <a:noFill/>
                      <a:prstDash val="solid"/>
                      <a:round/>
                      <a:headEnd type="none" w="med" len="med"/>
                      <a:tailEnd type="none" w="med" len="med"/>
                    </a:lnB>
                  </a:tcPr>
                </a:tc>
                <a:tc>
                  <a:txBody>
                    <a:bodyPr/>
                    <a:lstStyle/>
                    <a:p>
                      <a:pPr algn="ctr"/>
                      <a:r>
                        <a:rPr lang="en-GB" sz="1100"/>
                        <a:t>-</a:t>
                      </a:r>
                    </a:p>
                  </a:txBody>
                  <a:tcPr anchor="ctr">
                    <a:lnR w="19050" cap="flat" cmpd="sng" algn="ctr">
                      <a:solidFill>
                        <a:schemeClr val="bg1"/>
                      </a:solidFill>
                      <a:prstDash val="solid"/>
                      <a:round/>
                      <a:headEnd type="none" w="med" len="med"/>
                      <a:tailEnd type="none" w="med" len="med"/>
                    </a:lnR>
                    <a:lnB w="6350" cap="flat" cmpd="sng" algn="ctr">
                      <a:noFill/>
                      <a:prstDash val="solid"/>
                      <a:round/>
                      <a:headEnd type="none" w="med" len="med"/>
                      <a:tailEnd type="none" w="med" len="med"/>
                    </a:lnB>
                  </a:tcPr>
                </a:tc>
                <a:tc>
                  <a:txBody>
                    <a:bodyPr/>
                    <a:lstStyle/>
                    <a:p>
                      <a:pPr algn="ctr"/>
                      <a:r>
                        <a:rPr lang="en-GB" sz="1100"/>
                        <a:t>DMSTAX </a:t>
                      </a:r>
                    </a:p>
                    <a:p>
                      <a:pPr algn="ctr"/>
                      <a:r>
                        <a:rPr lang="en-GB" sz="1100"/>
                        <a:t>(and DMSRCV/DMSACC)</a:t>
                      </a:r>
                    </a:p>
                  </a:txBody>
                  <a:tcPr anchor="ctr">
                    <a:lnL w="19050" cap="flat" cmpd="sng" algn="ctr">
                      <a:solidFill>
                        <a:schemeClr val="bg1"/>
                      </a:solidFill>
                      <a:prstDash val="solid"/>
                      <a:round/>
                      <a:headEnd type="none" w="med" len="med"/>
                      <a:tailEnd type="none" w="med" len="med"/>
                    </a:lnL>
                    <a:lnB w="6350" cap="flat" cmpd="sng" algn="ctr">
                      <a:noFill/>
                      <a:prstDash val="solid"/>
                      <a:round/>
                      <a:headEnd type="none" w="med" len="med"/>
                      <a:tailEnd type="none" w="med" len="med"/>
                    </a:lnB>
                  </a:tcPr>
                </a:tc>
                <a:tc>
                  <a:txBody>
                    <a:bodyPr/>
                    <a:lstStyle/>
                    <a:p>
                      <a:pPr algn="ctr"/>
                      <a:r>
                        <a:rPr lang="en-GB" sz="1100"/>
                        <a:t>DMSTAX</a:t>
                      </a:r>
                    </a:p>
                    <a:p>
                      <a:pPr algn="ctr"/>
                      <a:r>
                        <a:rPr lang="en-GB" sz="1100"/>
                        <a:t>(and DMSRCV/DMSACC)</a:t>
                      </a:r>
                    </a:p>
                  </a:txBody>
                  <a:tcPr anchor="ctr">
                    <a:lnB w="6350" cap="flat" cmpd="sng" algn="ctr">
                      <a:noFill/>
                      <a:prstDash val="solid"/>
                      <a:round/>
                      <a:headEnd type="none" w="med" len="med"/>
                      <a:tailEnd type="none" w="med" len="med"/>
                    </a:lnB>
                  </a:tcPr>
                </a:tc>
                <a:tc>
                  <a:txBody>
                    <a:bodyPr/>
                    <a:lstStyle/>
                    <a:p>
                      <a:pPr algn="ctr"/>
                      <a:r>
                        <a:rPr lang="en-GB" sz="1100" dirty="0"/>
                        <a:t>DMSREJ</a:t>
                      </a:r>
                    </a:p>
                  </a:txBody>
                  <a:tcPr anchor="ctr">
                    <a:lnR w="6350" cap="flat" cmpd="sng" algn="ctr">
                      <a:noFill/>
                      <a:prstDash val="solid"/>
                      <a:round/>
                      <a:headEnd type="none" w="med" len="med"/>
                      <a:tailEnd type="none" w="med" len="med"/>
                    </a:lnR>
                    <a:lnB w="6350" cap="flat" cmpd="sng" algn="ctr">
                      <a:noFill/>
                      <a:prstDash val="solid"/>
                      <a:round/>
                      <a:headEnd type="none" w="med" len="med"/>
                      <a:tailEnd type="none" w="med" len="med"/>
                    </a:lnB>
                  </a:tcPr>
                </a:tc>
                <a:extLst>
                  <a:ext uri="{0D108BD9-81ED-4DB2-BD59-A6C34878D82A}">
                    <a16:rowId xmlns:a16="http://schemas.microsoft.com/office/drawing/2014/main" val="2593559874"/>
                  </a:ext>
                </a:extLst>
              </a:tr>
            </a:tbl>
          </a:graphicData>
        </a:graphic>
      </p:graphicFrame>
    </p:spTree>
    <p:extLst>
      <p:ext uri="{BB962C8B-B14F-4D97-AF65-F5344CB8AC3E}">
        <p14:creationId xmlns:p14="http://schemas.microsoft.com/office/powerpoint/2010/main" val="351728786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F9A44C6-03B2-FEC5-4FB9-05EB995894D5}"/>
              </a:ext>
            </a:extLst>
          </p:cNvPr>
          <p:cNvSpPr/>
          <p:nvPr/>
        </p:nvSpPr>
        <p:spPr>
          <a:xfrm>
            <a:off x="315463" y="4039768"/>
            <a:ext cx="11484000" cy="9000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4255011"/>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Exports: CR045 MUCR reuse after 365 days (1/3)</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This functionality allows</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 any user, regardless of their previous history with a MUCR, be able to reuse it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The change has been introduced as CSPs in the air environment recycle MUCRs every 12-24 months. This is key for these CSPs as the MUCR reference they use correlates directly to the Master Air Waybill which is a fixed commercial reference.</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Previously: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CDS would not permit the re-use of MUCRs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Inventory Linking Exports’ functionality prohibited the association of DUCRs by declaration and restricted the association of DUCRs by EAC for shut MUCRs.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Associations into a shut MUCR could only be achieved by the user who submitted the CST request against the MUCR, or the user who submitted the last EAL against that MUCR.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The new functionality changes exports processing such that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once a MUCR has reached 365 days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from its creation,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it will be emptied and ready for re-use by any CSP</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not just those who had previously submitted the last EAL movement or shut the MUCR.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Note that, due to the progression of related functionality, </a:t>
            </a: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this will enable a MUCR to be recycled and reused only once. </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It will not be recycled again until further changes are made to CDS.</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Definitions of terms used: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'Recycled</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MUCR - Upon a MUCR becoming at least 365 days old (from its creation date), all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DUCRs/MUCRs will be dissociated from the MUCR</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allowing the MUCR to be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ready for re-use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by the trade.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Reused</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MUCR - A MUCR that was recycled, and which has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now been used again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by the trade for an Exports movement.</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Note that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deployment of this functionality into the External Test environments will differ from Production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as the MUCR recycling job will only be run once for each environment at the time of the release. Therefore,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only MUCRs older than 365 days before the following releases will be recycled</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TDR</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4.6.3</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for Trader Dress Rehearsal, on 1st April 2025.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TTM30.0</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for Trade Test, in May 2025 (TBC).</a:t>
            </a:r>
            <a:endParaRPr kumimoji="0" lang="en-GB" sz="1200" b="0" i="0" u="sng"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246726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2385268"/>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Exports: CR045 MUCR reuse after 365 days (2/3)</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Recycling of MUCRs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at least 365 days old: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Where a MUCR has a creation date of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at least 365 days old</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CDS will do the following irrespective of the MUCR being shut or not shut: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Dissociate any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underlying</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DUCRs and/or MUCRs from the MUCR.</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Dissociate the MUCR where it is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underneath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another MUCR within a MUCR tree (any level)</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Allowing any party to be able to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reuse a MUCR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once it has been recycled: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Where the MUCR has been successfully recycled (as above),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upon the first reuse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of the recycled MUCR, CDS will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allow any party</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to have the capability to use (associating and/or dissociating a DUCR/MUCR into or out of) the MUCR:</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The existing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restrictions for only the last EAL submitter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or consolidation submitter for this capability will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no longer apply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for a MUCR which was recycled.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For all MUCRs which have been recycled as above,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existing movement and consolidation functionality will still be applied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as per BAU.</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Association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into MUCRs will be processed as below:</a:t>
            </a:r>
          </a:p>
        </p:txBody>
      </p:sp>
      <p:graphicFrame>
        <p:nvGraphicFramePr>
          <p:cNvPr id="9" name="Table 8">
            <a:extLst>
              <a:ext uri="{FF2B5EF4-FFF2-40B4-BE49-F238E27FC236}">
                <a16:creationId xmlns:a16="http://schemas.microsoft.com/office/drawing/2014/main" id="{1927EAB6-A29F-A364-D72F-DF98DF35BA2F}"/>
              </a:ext>
            </a:extLst>
          </p:cNvPr>
          <p:cNvGraphicFramePr>
            <a:graphicFrameLocks noGrp="1"/>
          </p:cNvGraphicFramePr>
          <p:nvPr/>
        </p:nvGraphicFramePr>
        <p:xfrm>
          <a:off x="393525" y="3213665"/>
          <a:ext cx="10980000" cy="2062480"/>
        </p:xfrm>
        <a:graphic>
          <a:graphicData uri="http://schemas.openxmlformats.org/drawingml/2006/table">
            <a:tbl>
              <a:tblPr firstRow="1" bandRow="1">
                <a:tableStyleId>{93296810-A885-4BE3-A3E7-6D5BEEA58F35}</a:tableStyleId>
              </a:tblPr>
              <a:tblGrid>
                <a:gridCol w="1476000">
                  <a:extLst>
                    <a:ext uri="{9D8B030D-6E8A-4147-A177-3AD203B41FA5}">
                      <a16:colId xmlns:a16="http://schemas.microsoft.com/office/drawing/2014/main" val="1934135002"/>
                    </a:ext>
                  </a:extLst>
                </a:gridCol>
                <a:gridCol w="4752000">
                  <a:extLst>
                    <a:ext uri="{9D8B030D-6E8A-4147-A177-3AD203B41FA5}">
                      <a16:colId xmlns:a16="http://schemas.microsoft.com/office/drawing/2014/main" val="3879431830"/>
                    </a:ext>
                  </a:extLst>
                </a:gridCol>
                <a:gridCol w="4752000">
                  <a:extLst>
                    <a:ext uri="{9D8B030D-6E8A-4147-A177-3AD203B41FA5}">
                      <a16:colId xmlns:a16="http://schemas.microsoft.com/office/drawing/2014/main" val="3879999041"/>
                    </a:ext>
                  </a:extLst>
                </a:gridCol>
              </a:tblGrid>
              <a:tr h="370840">
                <a:tc>
                  <a:txBody>
                    <a:bodyPr/>
                    <a:lstStyle/>
                    <a:p>
                      <a:pPr algn="ctr"/>
                      <a:r>
                        <a:rPr lang="en-GB" sz="1200" baseline="0"/>
                        <a:t>Association via</a:t>
                      </a:r>
                    </a:p>
                  </a:txBody>
                  <a:tcPr anchor="ctr">
                    <a:solidFill>
                      <a:srgbClr val="009999"/>
                    </a:solidFill>
                  </a:tcPr>
                </a:tc>
                <a:tc>
                  <a:txBody>
                    <a:bodyPr/>
                    <a:lstStyle/>
                    <a:p>
                      <a:pPr algn="ctr"/>
                      <a:r>
                        <a:rPr lang="en-GB" sz="1200" baseline="0" dirty="0"/>
                        <a:t>Into a shut MUCR less than 365 days old</a:t>
                      </a:r>
                    </a:p>
                  </a:txBody>
                  <a:tcPr anchor="ctr">
                    <a:solidFill>
                      <a:srgbClr val="009999"/>
                    </a:solidFill>
                  </a:tcPr>
                </a:tc>
                <a:tc>
                  <a:txBody>
                    <a:bodyPr/>
                    <a:lstStyle/>
                    <a:p>
                      <a:pPr algn="ctr"/>
                      <a:r>
                        <a:rPr lang="en-GB" sz="1200" baseline="0"/>
                        <a:t>Into a recycled MUCR</a:t>
                      </a:r>
                    </a:p>
                  </a:txBody>
                  <a:tcPr anchor="ctr">
                    <a:solidFill>
                      <a:srgbClr val="009999"/>
                    </a:solidFill>
                  </a:tcPr>
                </a:tc>
                <a:extLst>
                  <a:ext uri="{0D108BD9-81ED-4DB2-BD59-A6C34878D82A}">
                    <a16:rowId xmlns:a16="http://schemas.microsoft.com/office/drawing/2014/main" val="3522081146"/>
                  </a:ext>
                </a:extLst>
              </a:tr>
              <a:tr h="370840">
                <a:tc>
                  <a:txBody>
                    <a:bodyPr/>
                    <a:lstStyle/>
                    <a:p>
                      <a:r>
                        <a:rPr lang="en-GB" sz="1100"/>
                        <a:t>EAC</a:t>
                      </a:r>
                    </a:p>
                  </a:txBody>
                  <a:tcPr anchor="ctr"/>
                </a:tc>
                <a:tc>
                  <a:txBody>
                    <a:bodyPr/>
                    <a:lstStyle/>
                    <a:p>
                      <a:r>
                        <a:rPr lang="en-GB" sz="1100" dirty="0"/>
                        <a:t>CDS will:</a:t>
                      </a:r>
                    </a:p>
                    <a:p>
                      <a:pPr marL="171450" indent="-171450">
                        <a:buFont typeface="Arial" panose="020B0604020202020204" pitchFamily="34" charset="0"/>
                        <a:buChar char="•"/>
                      </a:pPr>
                      <a:r>
                        <a:rPr lang="en-GB" sz="1100" b="1" dirty="0"/>
                        <a:t>Stop</a:t>
                      </a:r>
                      <a:r>
                        <a:rPr lang="en-GB" sz="1100" b="0" dirty="0"/>
                        <a:t> the MUCR from being re-used.</a:t>
                      </a:r>
                    </a:p>
                    <a:p>
                      <a:pPr marL="171450" indent="-171450">
                        <a:buFont typeface="Arial" panose="020B0604020202020204" pitchFamily="34" charset="0"/>
                        <a:buChar char="•"/>
                      </a:pPr>
                      <a:r>
                        <a:rPr lang="en-GB" sz="1100" b="1" dirty="0"/>
                        <a:t>Not allow </a:t>
                      </a:r>
                      <a:r>
                        <a:rPr lang="en-GB" sz="1100" b="0" dirty="0"/>
                        <a:t>the DUCR/MUCR to be associated into the MUCR.</a:t>
                      </a:r>
                    </a:p>
                    <a:p>
                      <a:pPr marL="171450" indent="-171450">
                        <a:buFont typeface="Arial" panose="020B0604020202020204" pitchFamily="34" charset="0"/>
                        <a:buChar char="•"/>
                      </a:pPr>
                      <a:r>
                        <a:rPr lang="en-GB" sz="1100" b="1" dirty="0"/>
                        <a:t>Reject</a:t>
                      </a:r>
                      <a:r>
                        <a:rPr lang="en-GB" sz="1100" b="0" dirty="0"/>
                        <a:t> the received </a:t>
                      </a:r>
                      <a:r>
                        <a:rPr lang="en-GB" sz="1100" b="1" dirty="0"/>
                        <a:t>EAC</a:t>
                      </a:r>
                      <a:r>
                        <a:rPr lang="en-GB" sz="1100" b="0" dirty="0"/>
                        <a:t> message and return a </a:t>
                      </a:r>
                      <a:r>
                        <a:rPr lang="en-GB" sz="1100" b="1" dirty="0"/>
                        <a:t>UKCTRL NAK</a:t>
                      </a:r>
                      <a:r>
                        <a:rPr lang="en-GB" sz="1100" b="0" dirty="0"/>
                        <a:t> (error code 35) to the consolidation message submitter.</a:t>
                      </a:r>
                    </a:p>
                  </a:txBody>
                  <a:tcPr anchor="ctr"/>
                </a:tc>
                <a:tc>
                  <a:txBody>
                    <a:bodyPr/>
                    <a:lstStyle/>
                    <a:p>
                      <a:r>
                        <a:rPr lang="en-GB" sz="1100" b="0" dirty="0"/>
                        <a:t>CDS will:</a:t>
                      </a:r>
                    </a:p>
                    <a:p>
                      <a:pPr marL="171450" indent="-171450">
                        <a:buFont typeface="Arial" panose="020B0604020202020204" pitchFamily="34" charset="0"/>
                        <a:buChar char="•"/>
                      </a:pPr>
                      <a:r>
                        <a:rPr lang="en-GB" sz="1100" b="1" dirty="0"/>
                        <a:t>Allow</a:t>
                      </a:r>
                      <a:r>
                        <a:rPr lang="en-GB" sz="1100" b="0" dirty="0"/>
                        <a:t> the DUCR/MUCR to be associated into the MUCR.</a:t>
                      </a:r>
                    </a:p>
                    <a:p>
                      <a:pPr marL="171450" indent="-171450">
                        <a:buFont typeface="Arial" panose="020B0604020202020204" pitchFamily="34" charset="0"/>
                        <a:buChar char="•"/>
                      </a:pPr>
                      <a:r>
                        <a:rPr lang="en-GB" sz="1100" b="1" dirty="0"/>
                        <a:t>Return</a:t>
                      </a:r>
                      <a:r>
                        <a:rPr lang="en-GB" sz="1100" b="0" dirty="0"/>
                        <a:t> a </a:t>
                      </a:r>
                      <a:r>
                        <a:rPr lang="en-GB" sz="1100" b="1" dirty="0"/>
                        <a:t>UKCTRL ACK</a:t>
                      </a:r>
                      <a:r>
                        <a:rPr lang="en-GB" sz="1100" b="0" dirty="0"/>
                        <a:t> to the consolidation message submitter.</a:t>
                      </a:r>
                    </a:p>
                  </a:txBody>
                  <a:tcPr anchor="ctr"/>
                </a:tc>
                <a:extLst>
                  <a:ext uri="{0D108BD9-81ED-4DB2-BD59-A6C34878D82A}">
                    <a16:rowId xmlns:a16="http://schemas.microsoft.com/office/drawing/2014/main" val="1422628758"/>
                  </a:ext>
                </a:extLst>
              </a:tr>
              <a:tr h="370840">
                <a:tc>
                  <a:txBody>
                    <a:bodyPr/>
                    <a:lstStyle/>
                    <a:p>
                      <a:r>
                        <a:rPr lang="en-GB" sz="1100"/>
                        <a:t>Declaration</a:t>
                      </a:r>
                    </a:p>
                  </a:txBody>
                  <a:tcPr anchor="ctr"/>
                </a:tc>
                <a:tc>
                  <a:txBody>
                    <a:bodyPr/>
                    <a:lstStyle/>
                    <a:p>
                      <a:r>
                        <a:rPr lang="en-GB" sz="1100" b="0" dirty="0"/>
                        <a:t>CDS will:</a:t>
                      </a:r>
                    </a:p>
                    <a:p>
                      <a:pPr marL="171450" indent="-171450">
                        <a:buFont typeface="Arial" panose="020B0604020202020204" pitchFamily="34" charset="0"/>
                        <a:buChar char="•"/>
                      </a:pPr>
                      <a:r>
                        <a:rPr lang="en-GB" sz="1100" b="1" dirty="0"/>
                        <a:t>Stop</a:t>
                      </a:r>
                      <a:r>
                        <a:rPr lang="en-GB" sz="1100" b="0" dirty="0"/>
                        <a:t> the MUCR from being re-used.</a:t>
                      </a:r>
                    </a:p>
                    <a:p>
                      <a:pPr marL="171450" indent="-171450">
                        <a:buFont typeface="Arial" panose="020B0604020202020204" pitchFamily="34" charset="0"/>
                        <a:buChar char="•"/>
                      </a:pPr>
                      <a:r>
                        <a:rPr lang="en-GB" sz="1100" b="1" dirty="0"/>
                        <a:t>Not allow </a:t>
                      </a:r>
                      <a:r>
                        <a:rPr lang="en-GB" sz="1100" b="0" dirty="0"/>
                        <a:t>the DUCR/MUCR to be associated into the MUCR.</a:t>
                      </a:r>
                    </a:p>
                    <a:p>
                      <a:pPr marL="171450" indent="-171450">
                        <a:buFont typeface="Arial" panose="020B0604020202020204" pitchFamily="34" charset="0"/>
                        <a:buChar char="•"/>
                      </a:pPr>
                      <a:r>
                        <a:rPr lang="en-GB" sz="1100" b="1" dirty="0"/>
                        <a:t>Reject</a:t>
                      </a:r>
                      <a:r>
                        <a:rPr lang="en-GB" sz="1100" b="0" dirty="0"/>
                        <a:t> the declaration and return a </a:t>
                      </a:r>
                      <a:r>
                        <a:rPr lang="en-GB" sz="1100" b="1" dirty="0"/>
                        <a:t>DMSREJ</a:t>
                      </a:r>
                      <a:r>
                        <a:rPr lang="en-GB" sz="1100" b="0" dirty="0"/>
                        <a:t> to the declaration submitter.</a:t>
                      </a:r>
                    </a:p>
                  </a:txBody>
                  <a:tcPr anchor="ctr"/>
                </a:tc>
                <a:tc>
                  <a:txBody>
                    <a:bodyPr/>
                    <a:lstStyle/>
                    <a:p>
                      <a:r>
                        <a:rPr lang="en-GB" sz="1100" b="0" dirty="0"/>
                        <a:t>CDS will:</a:t>
                      </a:r>
                    </a:p>
                    <a:p>
                      <a:pPr marL="171450" indent="-171450">
                        <a:buFont typeface="Arial" panose="020B0604020202020204" pitchFamily="34" charset="0"/>
                        <a:buChar char="•"/>
                      </a:pPr>
                      <a:r>
                        <a:rPr lang="en-GB" sz="1100" b="1" dirty="0"/>
                        <a:t>Allow</a:t>
                      </a:r>
                      <a:r>
                        <a:rPr lang="en-GB" sz="1100" b="0" dirty="0"/>
                        <a:t> the DUCR/MUCR to be associated into the MUCR.</a:t>
                      </a:r>
                    </a:p>
                    <a:p>
                      <a:pPr marL="171450" indent="-171450">
                        <a:buFont typeface="Arial" panose="020B0604020202020204" pitchFamily="34" charset="0"/>
                        <a:buChar char="•"/>
                      </a:pPr>
                      <a:r>
                        <a:rPr lang="en-GB" sz="1100" b="1" dirty="0"/>
                        <a:t>Allow</a:t>
                      </a:r>
                      <a:r>
                        <a:rPr lang="en-GB" sz="1100" b="0" dirty="0"/>
                        <a:t> the declaration to continue through BAU validation and processing.</a:t>
                      </a:r>
                    </a:p>
                  </a:txBody>
                  <a:tcPr anchor="ctr"/>
                </a:tc>
                <a:extLst>
                  <a:ext uri="{0D108BD9-81ED-4DB2-BD59-A6C34878D82A}">
                    <a16:rowId xmlns:a16="http://schemas.microsoft.com/office/drawing/2014/main" val="1703807365"/>
                  </a:ext>
                </a:extLst>
              </a:tr>
            </a:tbl>
          </a:graphicData>
        </a:graphic>
      </p:graphicFrame>
    </p:spTree>
    <p:extLst>
      <p:ext uri="{BB962C8B-B14F-4D97-AF65-F5344CB8AC3E}">
        <p14:creationId xmlns:p14="http://schemas.microsoft.com/office/powerpoint/2010/main" val="30520017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569387"/>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Exports: CR045 MUCR reuse after 365 days (3/3)</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Recycled and reused MUCRs will generate the following </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responses</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to actions from CSPs:</a:t>
            </a:r>
          </a:p>
        </p:txBody>
      </p:sp>
      <p:sp>
        <p:nvSpPr>
          <p:cNvPr id="6" name="Rectangle 1">
            <a:extLst>
              <a:ext uri="{FF2B5EF4-FFF2-40B4-BE49-F238E27FC236}">
                <a16:creationId xmlns:a16="http://schemas.microsoft.com/office/drawing/2014/main" id="{57E53B70-A460-1E5A-6F80-E5148FD9916F}"/>
              </a:ext>
            </a:extLst>
          </p:cNvPr>
          <p:cNvSpPr>
            <a:spLocks noChangeArrowheads="1"/>
          </p:cNvSpPr>
          <p:nvPr/>
        </p:nvSpPr>
        <p:spPr bwMode="auto">
          <a:xfrm>
            <a:off x="0" y="0"/>
            <a:ext cx="12192000" cy="45720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1" i="0" u="none" strike="noStrike" kern="1200" cap="none" spc="0" normalizeH="0" baseline="0" noProof="0">
                <a:ln>
                  <a:noFill/>
                </a:ln>
                <a:solidFill>
                  <a:srgbClr val="172B4D"/>
                </a:solidFill>
                <a:effectLst/>
                <a:uLnTx/>
                <a:uFillTx/>
                <a:latin typeface="-apple-system"/>
                <a:ea typeface="+mn-ea"/>
                <a:cs typeface="+mn-cs"/>
              </a:rPr>
              <a:t>Recycling MUCRs at least 365 days old)</a:t>
            </a:r>
            <a:r>
              <a:rPr kumimoji="0" lang="en-US" altLang="en-US" sz="800" b="0" i="0" u="none" strike="noStrike" kern="1200" cap="none" spc="0" normalizeH="0" baseline="0" noProof="0">
                <a:ln>
                  <a:noFill/>
                </a:ln>
                <a:solidFill>
                  <a:prstClr val="black"/>
                </a:solidFill>
                <a:effectLst/>
                <a:uLnTx/>
                <a:uFillTx/>
                <a:latin typeface="Calibri" panose="020F0502020204030204"/>
                <a:ea typeface="+mn-ea"/>
                <a:cs typeface="+mn-cs"/>
              </a:rPr>
              <a:t> </a:t>
            </a: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9" name="Table 8">
            <a:extLst>
              <a:ext uri="{FF2B5EF4-FFF2-40B4-BE49-F238E27FC236}">
                <a16:creationId xmlns:a16="http://schemas.microsoft.com/office/drawing/2014/main" id="{0FF0E243-1F40-2F56-E010-AB56059BEEEF}"/>
              </a:ext>
            </a:extLst>
          </p:cNvPr>
          <p:cNvGraphicFramePr>
            <a:graphicFrameLocks noGrp="1"/>
          </p:cNvGraphicFramePr>
          <p:nvPr/>
        </p:nvGraphicFramePr>
        <p:xfrm>
          <a:off x="393525" y="1411506"/>
          <a:ext cx="11196000" cy="3251200"/>
        </p:xfrm>
        <a:graphic>
          <a:graphicData uri="http://schemas.openxmlformats.org/drawingml/2006/table">
            <a:tbl>
              <a:tblPr firstRow="1" bandRow="1">
                <a:tableStyleId>{93296810-A885-4BE3-A3E7-6D5BEEA58F35}</a:tableStyleId>
              </a:tblPr>
              <a:tblGrid>
                <a:gridCol w="2163296">
                  <a:extLst>
                    <a:ext uri="{9D8B030D-6E8A-4147-A177-3AD203B41FA5}">
                      <a16:colId xmlns:a16="http://schemas.microsoft.com/office/drawing/2014/main" val="4279161841"/>
                    </a:ext>
                  </a:extLst>
                </a:gridCol>
                <a:gridCol w="9032704">
                  <a:extLst>
                    <a:ext uri="{9D8B030D-6E8A-4147-A177-3AD203B41FA5}">
                      <a16:colId xmlns:a16="http://schemas.microsoft.com/office/drawing/2014/main" val="542067479"/>
                    </a:ext>
                  </a:extLst>
                </a:gridCol>
              </a:tblGrid>
              <a:tr h="370840">
                <a:tc>
                  <a:txBody>
                    <a:bodyPr/>
                    <a:lstStyle/>
                    <a:p>
                      <a:pPr algn="ctr"/>
                      <a:r>
                        <a:rPr lang="en-GB" sz="1200"/>
                        <a:t>CSP Action</a:t>
                      </a:r>
                    </a:p>
                  </a:txBody>
                  <a:tcPr anchor="ctr">
                    <a:solidFill>
                      <a:srgbClr val="009999"/>
                    </a:solidFill>
                  </a:tcPr>
                </a:tc>
                <a:tc>
                  <a:txBody>
                    <a:bodyPr/>
                    <a:lstStyle/>
                    <a:p>
                      <a:pPr algn="ctr"/>
                      <a:r>
                        <a:rPr lang="en-GB" sz="1200"/>
                        <a:t>CDS Response</a:t>
                      </a:r>
                    </a:p>
                  </a:txBody>
                  <a:tcPr anchor="ctr">
                    <a:solidFill>
                      <a:srgbClr val="009999"/>
                    </a:solidFill>
                  </a:tcPr>
                </a:tc>
                <a:extLst>
                  <a:ext uri="{0D108BD9-81ED-4DB2-BD59-A6C34878D82A}">
                    <a16:rowId xmlns:a16="http://schemas.microsoft.com/office/drawing/2014/main" val="2381253783"/>
                  </a:ext>
                </a:extLst>
              </a:tr>
              <a:tr h="395771">
                <a:tc>
                  <a:txBody>
                    <a:bodyPr/>
                    <a:lstStyle/>
                    <a:p>
                      <a:r>
                        <a:rPr lang="en-GB" sz="1100"/>
                        <a:t>Shutting of a reused MUCR via a CST</a:t>
                      </a:r>
                    </a:p>
                  </a:txBody>
                  <a:tcPr anchor="ctr"/>
                </a:tc>
                <a:tc>
                  <a:txBody>
                    <a:bodyPr/>
                    <a:lstStyle/>
                    <a:p>
                      <a:r>
                        <a:rPr lang="en-GB" sz="1100" dirty="0"/>
                        <a:t>Where a Consolidation Shut Transaction (CST) has been received for a re-used MUCR and successfully been processed, and the re-used MUCR has been shut, CDS will send:</a:t>
                      </a:r>
                    </a:p>
                    <a:p>
                      <a:pPr marL="171450" indent="-171450">
                        <a:buFont typeface="Arial" panose="020B0604020202020204" pitchFamily="34" charset="0"/>
                        <a:buChar char="•"/>
                      </a:pPr>
                      <a:r>
                        <a:rPr lang="en-GB" sz="1100" dirty="0"/>
                        <a:t>A </a:t>
                      </a:r>
                      <a:r>
                        <a:rPr lang="en-GB" sz="1100" b="1" dirty="0"/>
                        <a:t>UKCTRL</a:t>
                      </a:r>
                      <a:r>
                        <a:rPr lang="en-GB" sz="1100" dirty="0"/>
                        <a:t> </a:t>
                      </a:r>
                      <a:r>
                        <a:rPr lang="en-GB" sz="1100" b="1" dirty="0"/>
                        <a:t>ACK</a:t>
                      </a:r>
                      <a:r>
                        <a:rPr lang="en-GB" sz="1100" dirty="0"/>
                        <a:t> to the consolidation shut message submitter.</a:t>
                      </a:r>
                    </a:p>
                    <a:p>
                      <a:pPr marL="171450" indent="-171450">
                        <a:buFont typeface="Arial" panose="020B0604020202020204" pitchFamily="34" charset="0"/>
                        <a:buChar char="•"/>
                      </a:pPr>
                      <a:r>
                        <a:rPr lang="en-GB" sz="1100" dirty="0"/>
                        <a:t>Where applicable, an </a:t>
                      </a:r>
                      <a:r>
                        <a:rPr lang="en-GB" sz="1100" b="1" dirty="0"/>
                        <a:t>EMR</a:t>
                      </a:r>
                      <a:r>
                        <a:rPr lang="en-GB" sz="1100" dirty="0"/>
                        <a:t>.</a:t>
                      </a:r>
                    </a:p>
                    <a:p>
                      <a:r>
                        <a:rPr lang="en-GB" sz="1100" dirty="0"/>
                        <a:t>Where a Consolidation Shut Transaction (CST) has been received for a re-used MUCR but not been processed, CDS will send:</a:t>
                      </a:r>
                    </a:p>
                    <a:p>
                      <a:pPr marL="171450" indent="-171450">
                        <a:buFont typeface="Arial" panose="020B0604020202020204" pitchFamily="34" charset="0"/>
                        <a:buChar char="•"/>
                      </a:pPr>
                      <a:r>
                        <a:rPr lang="en-GB" sz="1100" dirty="0"/>
                        <a:t>A</a:t>
                      </a:r>
                      <a:r>
                        <a:rPr lang="en-GB" sz="1100" b="1" dirty="0"/>
                        <a:t> UKCTRL NACK</a:t>
                      </a:r>
                      <a:r>
                        <a:rPr lang="en-GB" sz="1100" dirty="0"/>
                        <a:t> to the consolidation shut message submitter.</a:t>
                      </a:r>
                    </a:p>
                  </a:txBody>
                  <a:tcPr/>
                </a:tc>
                <a:extLst>
                  <a:ext uri="{0D108BD9-81ED-4DB2-BD59-A6C34878D82A}">
                    <a16:rowId xmlns:a16="http://schemas.microsoft.com/office/drawing/2014/main" val="1555940194"/>
                  </a:ext>
                </a:extLst>
              </a:tr>
              <a:tr h="370840">
                <a:tc>
                  <a:txBody>
                    <a:bodyPr/>
                    <a:lstStyle/>
                    <a:p>
                      <a:r>
                        <a:rPr lang="en-GB" sz="1100"/>
                        <a:t>Movement responses (EMRs) for a recycled MUCR</a:t>
                      </a:r>
                    </a:p>
                  </a:txBody>
                  <a:tcPr anchor="ctr"/>
                </a:tc>
                <a:tc>
                  <a:txBody>
                    <a:bodyPr/>
                    <a:lstStyle/>
                    <a:p>
                      <a:pPr marL="0" indent="0">
                        <a:buFont typeface="Arial" panose="020B0604020202020204" pitchFamily="34" charset="0"/>
                        <a:buNone/>
                      </a:pPr>
                      <a:r>
                        <a:rPr lang="en-GB" sz="1100" dirty="0"/>
                        <a:t>CDS will return movement responses (EMRs) for all movement messages received for the recycled MUCR to identified parties involved in the current MUCR movement only. Where the received movement message was:</a:t>
                      </a:r>
                    </a:p>
                    <a:p>
                      <a:pPr marL="171450" indent="-171450">
                        <a:buFont typeface="Arial" panose="020B0604020202020204" pitchFamily="34" charset="0"/>
                        <a:buChar char="•"/>
                      </a:pPr>
                      <a:r>
                        <a:rPr lang="en-GB" sz="1100" dirty="0"/>
                        <a:t>An </a:t>
                      </a:r>
                      <a:r>
                        <a:rPr lang="en-GB" sz="1100" b="1" dirty="0"/>
                        <a:t>EAA</a:t>
                      </a:r>
                      <a:r>
                        <a:rPr lang="en-GB" sz="1100" b="0" dirty="0"/>
                        <a:t> or </a:t>
                      </a:r>
                      <a:r>
                        <a:rPr lang="en-GB" sz="1100" b="1" dirty="0"/>
                        <a:t>EAL</a:t>
                      </a:r>
                      <a:r>
                        <a:rPr lang="en-GB" sz="1100" dirty="0"/>
                        <a:t>, the </a:t>
                      </a:r>
                      <a:r>
                        <a:rPr lang="en-GB" sz="1100" b="1" dirty="0"/>
                        <a:t>EMR</a:t>
                      </a:r>
                      <a:r>
                        <a:rPr lang="en-GB" sz="1100" dirty="0"/>
                        <a:t> will be returned to the movement message submitter (current MUCR movement only) in response will contain the current recycled MUCR status.</a:t>
                      </a:r>
                    </a:p>
                    <a:p>
                      <a:pPr marL="171450" indent="-171450">
                        <a:buFont typeface="Arial" panose="020B0604020202020204" pitchFamily="34" charset="0"/>
                        <a:buChar char="•"/>
                      </a:pPr>
                      <a:r>
                        <a:rPr lang="en-GB" sz="1100" dirty="0"/>
                        <a:t>An </a:t>
                      </a:r>
                      <a:r>
                        <a:rPr lang="en-GB" sz="1100" b="1" dirty="0"/>
                        <a:t>EDL</a:t>
                      </a:r>
                      <a:r>
                        <a:rPr lang="en-GB" sz="1100" dirty="0"/>
                        <a:t>, the </a:t>
                      </a:r>
                      <a:r>
                        <a:rPr lang="en-GB" sz="1100" b="1" dirty="0"/>
                        <a:t>UKCTRL ACK </a:t>
                      </a:r>
                      <a:r>
                        <a:rPr lang="en-GB" sz="1100" dirty="0"/>
                        <a:t>will be returned to the movement message submitter (current MUCR movement only) as per BAU.</a:t>
                      </a:r>
                    </a:p>
                  </a:txBody>
                  <a:tcPr/>
                </a:tc>
                <a:extLst>
                  <a:ext uri="{0D108BD9-81ED-4DB2-BD59-A6C34878D82A}">
                    <a16:rowId xmlns:a16="http://schemas.microsoft.com/office/drawing/2014/main" val="2265010969"/>
                  </a:ext>
                </a:extLst>
              </a:tr>
              <a:tr h="370840">
                <a:tc>
                  <a:txBody>
                    <a:bodyPr/>
                    <a:lstStyle/>
                    <a:p>
                      <a:r>
                        <a:rPr lang="en-GB" sz="1100"/>
                        <a:t>Status (SOE) of a recycled MUCR</a:t>
                      </a:r>
                    </a:p>
                  </a:txBody>
                  <a:tcPr anchor="ctr"/>
                </a:tc>
                <a:tc>
                  <a:txBody>
                    <a:bodyPr/>
                    <a:lstStyle/>
                    <a:p>
                      <a:r>
                        <a:rPr lang="en-GB" sz="1100"/>
                        <a:t>The </a:t>
                      </a:r>
                      <a:r>
                        <a:rPr lang="en-GB" sz="1100" b="1"/>
                        <a:t>MUCR status </a:t>
                      </a:r>
                      <a:r>
                        <a:rPr lang="en-GB" sz="1100"/>
                        <a:t>which will be returned in movement responses for the recycled MUCR </a:t>
                      </a:r>
                      <a:r>
                        <a:rPr lang="en-GB" sz="1100" b="1"/>
                        <a:t>is reflective of only the new DUCRs/MUCRs </a:t>
                      </a:r>
                      <a:r>
                        <a:rPr lang="en-GB" sz="1100"/>
                        <a:t>which have been associated to the recycled MUCR.</a:t>
                      </a:r>
                    </a:p>
                  </a:txBody>
                  <a:tcPr/>
                </a:tc>
                <a:extLst>
                  <a:ext uri="{0D108BD9-81ED-4DB2-BD59-A6C34878D82A}">
                    <a16:rowId xmlns:a16="http://schemas.microsoft.com/office/drawing/2014/main" val="1182879321"/>
                  </a:ext>
                </a:extLst>
              </a:tr>
              <a:tr h="370840">
                <a:tc>
                  <a:txBody>
                    <a:bodyPr/>
                    <a:lstStyle/>
                    <a:p>
                      <a:r>
                        <a:rPr lang="en-GB" sz="1100"/>
                        <a:t>ILE query for a recycled/reused MUCR</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t>The </a:t>
                      </a:r>
                      <a:r>
                        <a:rPr lang="en-GB" sz="1100" b="1" dirty="0"/>
                        <a:t>MUCR status </a:t>
                      </a:r>
                      <a:r>
                        <a:rPr lang="en-GB" sz="1100" dirty="0"/>
                        <a:t>which will be returned in the inventory linking query responses for a recycled/reused MUCR </a:t>
                      </a:r>
                      <a:r>
                        <a:rPr lang="en-GB" sz="1100" b="1" dirty="0"/>
                        <a:t>is reflective of only the new DUCRs </a:t>
                      </a:r>
                      <a:r>
                        <a:rPr lang="en-GB" sz="1100" dirty="0"/>
                        <a:t>which have been associated to the recycled/reused MUCR.</a:t>
                      </a:r>
                    </a:p>
                  </a:txBody>
                  <a:tcPr/>
                </a:tc>
                <a:extLst>
                  <a:ext uri="{0D108BD9-81ED-4DB2-BD59-A6C34878D82A}">
                    <a16:rowId xmlns:a16="http://schemas.microsoft.com/office/drawing/2014/main" val="1403313755"/>
                  </a:ext>
                </a:extLst>
              </a:tr>
            </a:tbl>
          </a:graphicData>
        </a:graphic>
      </p:graphicFrame>
    </p:spTree>
    <p:extLst>
      <p:ext uri="{BB962C8B-B14F-4D97-AF65-F5344CB8AC3E}">
        <p14:creationId xmlns:p14="http://schemas.microsoft.com/office/powerpoint/2010/main" val="143183104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Business Rule Changes</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5463" y="838715"/>
            <a:ext cx="11460152" cy="146193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Postponed VAT Accounting (PVA): Full Validation of VAT Registration for PVA Usage</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PVA allows postponement of the payment of VAT on import declarations. Where the import qualifies for PVA, it enables a declaration to be cleared without payment of the import VAT at this stage. Businesses can instead postpone VAT on their import declarations and then declare and reclaim this as the same time on their VAT return.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This functionality for CDS will </a:t>
            </a:r>
            <a:r>
              <a:rPr kumimoji="0" lang="en-GB" sz="1200" b="1" i="0" u="none" strike="noStrike" kern="1200" cap="none" spc="0" normalizeH="0" baseline="0" noProof="0">
                <a:ln>
                  <a:noFill/>
                </a:ln>
                <a:solidFill>
                  <a:srgbClr val="000000"/>
                </a:solidFill>
                <a:effectLst/>
                <a:uLnTx/>
                <a:uFillTx/>
                <a:latin typeface="-apple-system"/>
                <a:ea typeface="+mn-ea"/>
                <a:cs typeface="+mn-cs"/>
              </a:rPr>
              <a:t>validate that the EORI declared in DE 3/16 is wholly owned or is a member of the VAT group represented by the VAT Registration Number (VRN) declared in DE 3/40</a:t>
            </a:r>
            <a:r>
              <a:rPr kumimoji="0" lang="en-GB" sz="1200" b="0" i="0" u="none" strike="noStrike" kern="1200" cap="none" spc="0" normalizeH="0" baseline="0" noProof="0">
                <a:ln>
                  <a:noFill/>
                </a:ln>
                <a:solidFill>
                  <a:srgbClr val="000000"/>
                </a:solidFill>
                <a:effectLst/>
                <a:uLnTx/>
                <a:uFillTx/>
                <a:latin typeface="-apple-system"/>
                <a:ea typeface="+mn-ea"/>
                <a:cs typeface="+mn-cs"/>
              </a:rPr>
              <a:t>. If this validation fails, then CDS will reject the declaration.</a:t>
            </a:r>
            <a:endParaRPr kumimoji="0" lang="en-GB" sz="1200" b="0"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VAT registration for PVA usage as shown in the table below: </a:t>
            </a:r>
          </a:p>
        </p:txBody>
      </p:sp>
      <p:graphicFrame>
        <p:nvGraphicFramePr>
          <p:cNvPr id="8" name="Table 7">
            <a:extLst>
              <a:ext uri="{FF2B5EF4-FFF2-40B4-BE49-F238E27FC236}">
                <a16:creationId xmlns:a16="http://schemas.microsoft.com/office/drawing/2014/main" id="{13A7AB68-8485-45C0-21E6-9EA28FAB6531}"/>
              </a:ext>
            </a:extLst>
          </p:cNvPr>
          <p:cNvGraphicFramePr>
            <a:graphicFrameLocks noGrp="1"/>
          </p:cNvGraphicFramePr>
          <p:nvPr/>
        </p:nvGraphicFramePr>
        <p:xfrm>
          <a:off x="391218" y="2289357"/>
          <a:ext cx="11304000" cy="327084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2196000">
                  <a:extLst>
                    <a:ext uri="{9D8B030D-6E8A-4147-A177-3AD203B41FA5}">
                      <a16:colId xmlns:a16="http://schemas.microsoft.com/office/drawing/2014/main" val="73482823"/>
                    </a:ext>
                  </a:extLst>
                </a:gridCol>
                <a:gridCol w="756000">
                  <a:extLst>
                    <a:ext uri="{9D8B030D-6E8A-4147-A177-3AD203B41FA5}">
                      <a16:colId xmlns:a16="http://schemas.microsoft.com/office/drawing/2014/main" val="140611446"/>
                    </a:ext>
                  </a:extLst>
                </a:gridCol>
                <a:gridCol w="7416000">
                  <a:extLst>
                    <a:ext uri="{9D8B030D-6E8A-4147-A177-3AD203B41FA5}">
                      <a16:colId xmlns:a16="http://schemas.microsoft.com/office/drawing/2014/main" val="3942346971"/>
                    </a:ext>
                  </a:extLst>
                </a:gridCol>
              </a:tblGrid>
              <a:tr h="360000">
                <a:tc>
                  <a:txBody>
                    <a:bodyPr/>
                    <a:lstStyle/>
                    <a:p>
                      <a:pPr algn="ctr"/>
                      <a:r>
                        <a:rPr lang="en-GB" sz="1200"/>
                        <a:t>Declaration</a:t>
                      </a:r>
                    </a:p>
                  </a:txBody>
                  <a:tcPr marL="45720" marR="4572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solidFill>
                      <a:srgbClr val="009999"/>
                    </a:solidFill>
                  </a:tcPr>
                </a:tc>
                <a:tc>
                  <a:txBody>
                    <a:bodyPr/>
                    <a:lstStyle/>
                    <a:p>
                      <a:pPr algn="ctr"/>
                      <a:r>
                        <a:rPr lang="en-GB" sz="1200"/>
                        <a:t>Description </a:t>
                      </a:r>
                    </a:p>
                  </a:txBody>
                  <a:tcPr marL="45720" marR="45720" anchor="ctr">
                    <a:lnT w="12700" cap="flat" cmpd="sng" algn="ctr">
                      <a:noFill/>
                      <a:prstDash val="solid"/>
                      <a:round/>
                      <a:headEnd type="none" w="med" len="med"/>
                      <a:tailEnd type="none" w="med" len="med"/>
                    </a:lnT>
                    <a:solidFill>
                      <a:srgbClr val="009999"/>
                    </a:solidFill>
                  </a:tcPr>
                </a:tc>
                <a:tc>
                  <a:txBody>
                    <a:bodyPr/>
                    <a:lstStyle/>
                    <a:p>
                      <a:pPr algn="ctr"/>
                      <a:r>
                        <a:rPr lang="en-GB" sz="1200"/>
                        <a:t>Dec. Level</a:t>
                      </a:r>
                    </a:p>
                  </a:txBody>
                  <a:tcPr marL="45720" marR="45720" anchor="ctr">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solidFill>
                      <a:srgbClr val="009999"/>
                    </a:solidFill>
                  </a:tcPr>
                </a:tc>
                <a:tc>
                  <a:txBody>
                    <a:bodyPr/>
                    <a:lstStyle/>
                    <a:p>
                      <a:pPr algn="ctr"/>
                      <a:r>
                        <a:rPr lang="en-GB" sz="1200"/>
                        <a:t>VRN Supplied for PVA Purposes</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4219019049"/>
                  </a:ext>
                </a:extLst>
              </a:tr>
              <a:tr h="396000">
                <a:tc rowSpan="3">
                  <a:txBody>
                    <a:bodyPr/>
                    <a:lstStyle/>
                    <a:p>
                      <a:r>
                        <a:rPr lang="en-GB" sz="1200"/>
                        <a:t>Submission</a:t>
                      </a:r>
                      <a:endParaRPr sz="1200"/>
                    </a:p>
                  </a:txBody>
                  <a:tcPr anchor="ctr">
                    <a:lnL w="12700" cap="flat" cmpd="sng" algn="ctr">
                      <a:noFill/>
                      <a:prstDash val="solid"/>
                      <a:round/>
                      <a:headEnd type="none" w="med" len="med"/>
                      <a:tailEnd type="none" w="med" len="med"/>
                    </a:lnL>
                  </a:tcPr>
                </a:tc>
                <a:tc>
                  <a:txBody>
                    <a:bodyPr/>
                    <a:lstStyle/>
                    <a:p>
                      <a:r>
                        <a:rPr lang="en-GB" sz="1100"/>
                        <a:t>DE 3/40 (Additional Fiscal References – Role Code)</a:t>
                      </a:r>
                    </a:p>
                  </a:txBody>
                  <a:tcPr marL="45720" marR="45720" anchor="ct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‘FR1’, or no role code</a:t>
                      </a:r>
                    </a:p>
                    <a:p>
                      <a:pPr algn="ctr"/>
                      <a:r>
                        <a:rPr lang="en-GB" sz="1100"/>
                        <a:t>(PVA is not compatible with role codes FR2, FR3 and FR5)</a:t>
                      </a:r>
                    </a:p>
                  </a:txBody>
                  <a:tcPr marL="45720" marR="45720" anchor="ctr">
                    <a:lnL w="190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tcPr>
                </a:tc>
                <a:extLst>
                  <a:ext uri="{0D108BD9-81ED-4DB2-BD59-A6C34878D82A}">
                    <a16:rowId xmlns:a16="http://schemas.microsoft.com/office/drawing/2014/main" val="614425959"/>
                  </a:ext>
                </a:extLst>
              </a:tr>
              <a:tr h="396000">
                <a:tc vMerge="1">
                  <a:txBody>
                    <a:bodyPr/>
                    <a:lstStyle/>
                    <a:p>
                      <a:endParaRPr lang="en-GB" sz="1100"/>
                    </a:p>
                  </a:txBody>
                  <a:tcPr anchor="ctr"/>
                </a:tc>
                <a:tc>
                  <a:txBody>
                    <a:bodyPr/>
                    <a:lstStyle/>
                    <a:p>
                      <a:r>
                        <a:rPr lang="en-GB" sz="1100"/>
                        <a:t>DE 3/40 (Additional Fiscal References – Id. No.)</a:t>
                      </a:r>
                    </a:p>
                  </a:txBody>
                  <a:tcPr marL="45720" marR="45720" anchor="ct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GB or XI VRN</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3273183839"/>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a:txBody>
                    <a:bodyPr/>
                    <a:lstStyle/>
                    <a:p>
                      <a:r>
                        <a:rPr lang="en-GB" sz="1100"/>
                        <a:t>DE 3/16 (Importer Id. No.)</a:t>
                      </a:r>
                    </a:p>
                  </a:txBody>
                  <a:tcPr marL="45720" marR="45720" anchor="ct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Importer EORI</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1099105842"/>
                  </a:ext>
                </a:extLst>
              </a:tr>
              <a:tr h="252000">
                <a:tc rowSpan="4">
                  <a:txBody>
                    <a:bodyPr/>
                    <a:lstStyle/>
                    <a:p>
                      <a:r>
                        <a:rPr lang="en-GB" sz="1100"/>
                        <a:t>Validation</a:t>
                      </a:r>
                    </a:p>
                  </a:txBody>
                  <a:tcPr marL="45720" marR="45720" anchor="ctr">
                    <a:lnL w="12700" cap="flat" cmpd="sng" algn="ctr">
                      <a:noFill/>
                      <a:prstDash val="solid"/>
                      <a:round/>
                      <a:headEnd type="none" w="med" len="med"/>
                      <a:tailEnd type="none" w="med" len="med"/>
                    </a:lnL>
                  </a:tcPr>
                </a:tc>
                <a:tc>
                  <a:txBody>
                    <a:bodyPr/>
                    <a:lstStyle/>
                    <a:p>
                      <a:r>
                        <a:rPr lang="en-GB" sz="1100"/>
                        <a:t>DE 3/16 (Importer Id. No.)</a:t>
                      </a:r>
                    </a:p>
                  </a:txBody>
                  <a:tcPr marL="45720" marR="45720"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DE 3/16 EORI is wholly owned or a member of the VAT group represented by the VRN in DE 3/40</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302984438"/>
                  </a:ext>
                </a:extLst>
              </a:tr>
              <a:tr h="252000">
                <a:tc vMerge="1">
                  <a:txBody>
                    <a:bodyPr/>
                    <a:lstStyle/>
                    <a:p>
                      <a:endParaRPr lang="en-GB" sz="1100"/>
                    </a:p>
                  </a:txBody>
                  <a:tcPr anchor="ctr"/>
                </a:tc>
                <a:tc rowSpan="3">
                  <a:txBody>
                    <a:bodyPr/>
                    <a:lstStyle/>
                    <a:p>
                      <a:r>
                        <a:rPr lang="en-GB" sz="1100"/>
                        <a:t>DE 3/40 (Additional Fiscal References – Id. No.)</a:t>
                      </a:r>
                    </a:p>
                  </a:txBody>
                  <a:tcPr marL="45720" marR="45720"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VRN must be valid for PVA purposes: </a:t>
                      </a:r>
                      <a:r>
                        <a:rPr lang="en-GB" sz="1100">
                          <a:solidFill>
                            <a:srgbClr val="000000"/>
                          </a:solidFill>
                        </a:rPr>
                        <a:t>VRN has a GB or XI prefix; and the VAT number (without prefix) exists in the UK-owned VRN list (i.e., it does not matter whether the trader has declared with a GB or XI prefix, provided the 9 numeric characters match)</a:t>
                      </a:r>
                      <a:endParaRPr lang="en-GB" sz="1100"/>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1037883969"/>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vMerge="1">
                  <a:txBody>
                    <a:bodyPr/>
                    <a:lstStyle/>
                    <a:p>
                      <a:endParaRPr lang="en-GB" sz="1100"/>
                    </a:p>
                  </a:txBody>
                  <a:tcPr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solidFill>
                            <a:srgbClr val="000000"/>
                          </a:solidFill>
                        </a:rPr>
                        <a:t>VRN must be valid on the reference date provided: </a:t>
                      </a:r>
                    </a:p>
                    <a:p>
                      <a:pPr algn="ctr"/>
                      <a:r>
                        <a:rPr lang="en-GB" sz="1100">
                          <a:solidFill>
                            <a:srgbClr val="000000"/>
                          </a:solidFill>
                        </a:rPr>
                        <a:t>This is the Customs Acceptance Date where available, if not this is the Declaration Submission Date</a:t>
                      </a:r>
                      <a:endParaRPr lang="en-GB" sz="1100"/>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1957584697"/>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vMerge="1">
                  <a:txBody>
                    <a:bodyPr/>
                    <a:lstStyle/>
                    <a:p>
                      <a:endParaRPr lang="en-GB" sz="1100"/>
                    </a:p>
                  </a:txBody>
                  <a:tcPr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VRN must </a:t>
                      </a:r>
                      <a:r>
                        <a:rPr lang="en-GB" sz="1100" b="0"/>
                        <a:t>not</a:t>
                      </a:r>
                      <a:r>
                        <a:rPr lang="en-GB" sz="1100"/>
                        <a:t> be linked to a missing Trader on the declaration submission date</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tcPr>
                </a:tc>
                <a:extLst>
                  <a:ext uri="{0D108BD9-81ED-4DB2-BD59-A6C34878D82A}">
                    <a16:rowId xmlns:a16="http://schemas.microsoft.com/office/drawing/2014/main" val="4079719485"/>
                  </a:ext>
                </a:extLst>
              </a:tr>
              <a:tr h="396000">
                <a:tc>
                  <a:txBody>
                    <a:bodyPr/>
                    <a:lstStyle/>
                    <a:p>
                      <a:r>
                        <a:rPr lang="en-GB" sz="1100"/>
                        <a:t>Notification</a:t>
                      </a:r>
                    </a:p>
                  </a:txBody>
                  <a:tcPr marL="45720" marR="45720" anchor="ctr">
                    <a:lnL w="12700" cap="flat" cmpd="sng" algn="ctr">
                      <a:noFill/>
                      <a:prstDash val="solid"/>
                      <a:round/>
                      <a:headEnd type="none" w="med" len="med"/>
                      <a:tailEnd type="none" w="med" len="med"/>
                    </a:lnL>
                    <a:lnB w="12700" cap="flat" cmpd="sng" algn="ctr">
                      <a:noFill/>
                      <a:prstDash val="solid"/>
                      <a:round/>
                      <a:headEnd type="none" w="med" len="med"/>
                      <a:tailEnd type="none" w="med" len="med"/>
                    </a:lnB>
                  </a:tcPr>
                </a:tc>
                <a:tc>
                  <a:txBody>
                    <a:bodyPr/>
                    <a:lstStyle/>
                    <a:p>
                      <a:r>
                        <a:rPr lang="en-GB" sz="1100"/>
                        <a:t>Trader Notifications</a:t>
                      </a:r>
                    </a:p>
                  </a:txBody>
                  <a:tcPr marL="45720" marR="45720" anchor="ctr">
                    <a:lnB w="12700" cap="flat" cmpd="sng" algn="ctr">
                      <a:noFill/>
                      <a:prstDash val="solid"/>
                      <a:round/>
                      <a:headEnd type="none" w="med" len="med"/>
                      <a:tailEnd type="none" w="med" len="med"/>
                    </a:lnB>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lnB w="12700" cap="flat" cmpd="sng" algn="ctr">
                      <a:noFill/>
                      <a:prstDash val="solid"/>
                      <a:round/>
                      <a:headEnd type="none" w="med" len="med"/>
                      <a:tailEnd type="none" w="med" len="med"/>
                    </a:lnB>
                  </a:tcPr>
                </a:tc>
                <a:tc>
                  <a:txBody>
                    <a:bodyPr/>
                    <a:lstStyle/>
                    <a:p>
                      <a:pPr algn="ctr"/>
                      <a:r>
                        <a:rPr lang="en-GB" sz="1100" dirty="0"/>
                        <a:t>Where the above criteria are </a:t>
                      </a:r>
                      <a:r>
                        <a:rPr lang="en-GB" sz="1100" b="1" dirty="0"/>
                        <a:t>not</a:t>
                      </a:r>
                      <a:r>
                        <a:rPr lang="en-GB" sz="1100" dirty="0"/>
                        <a:t> met, CDS will reject the declaration and return a DMSREJ notification to the Trader, </a:t>
                      </a:r>
                    </a:p>
                    <a:p>
                      <a:pPr algn="ctr"/>
                      <a:r>
                        <a:rPr lang="en-GB" sz="1100" dirty="0"/>
                        <a:t>with an appropriate error message indicating the reason for rejection</a:t>
                      </a:r>
                    </a:p>
                  </a:txBody>
                  <a:tcPr marL="45720" marR="45720"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tcPr>
                </a:tc>
                <a:extLst>
                  <a:ext uri="{0D108BD9-81ED-4DB2-BD59-A6C34878D82A}">
                    <a16:rowId xmlns:a16="http://schemas.microsoft.com/office/drawing/2014/main" val="3799027658"/>
                  </a:ext>
                </a:extLst>
              </a:tr>
            </a:tbl>
          </a:graphicData>
        </a:graphic>
      </p:graphicFrame>
    </p:spTree>
    <p:extLst>
      <p:ext uri="{BB962C8B-B14F-4D97-AF65-F5344CB8AC3E}">
        <p14:creationId xmlns:p14="http://schemas.microsoft.com/office/powerpoint/2010/main" val="39290837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5047536"/>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Tariff: Addition of Validation </a:t>
            </a:r>
            <a:r>
              <a:rPr kumimoji="0" lang="en-GB" sz="1400" b="1" i="0" u="none" strike="noStrike" kern="1200" cap="none" spc="0" normalizeH="0" baseline="0" noProof="0">
                <a:ln>
                  <a:noFill/>
                </a:ln>
                <a:solidFill>
                  <a:prstClr val="black"/>
                </a:solidFill>
                <a:effectLst/>
                <a:uLnTx/>
                <a:uFillTx/>
                <a:latin typeface="Calibri"/>
                <a:ea typeface="Calibri"/>
                <a:cs typeface="Calibri"/>
              </a:rPr>
              <a:t>for Selected Document </a:t>
            </a:r>
            <a:r>
              <a:rPr kumimoji="0" lang="en-GB" sz="1400" b="1" i="0" u="none" strike="noStrike" kern="1200" cap="none" spc="0" normalizeH="0" baseline="0" noProof="0" dirty="0">
                <a:ln>
                  <a:noFill/>
                </a:ln>
                <a:solidFill>
                  <a:prstClr val="black"/>
                </a:solidFill>
                <a:effectLst/>
                <a:uLnTx/>
                <a:uFillTx/>
                <a:latin typeface="Calibri"/>
                <a:ea typeface="Calibri"/>
                <a:cs typeface="Calibri"/>
              </a:rPr>
              <a:t>Codes</a:t>
            </a:r>
            <a:endParaRPr kumimoji="0" lang="en-GB" sz="1200" b="1" i="0" u="none" strike="noStrike" kern="1200" cap="none" spc="0" normalizeH="0" baseline="0" noProof="0" dirty="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a:cs typeface="Calibri"/>
              </a:rPr>
              <a:t>Addition of </a:t>
            </a:r>
            <a:r>
              <a:rPr kumimoji="0" lang="en-GB" sz="1200" b="1" i="0" u="none" strike="noStrike" kern="1200" cap="none" spc="0" normalizeH="0" baseline="0" noProof="0" dirty="0">
                <a:ln>
                  <a:noFill/>
                </a:ln>
                <a:solidFill>
                  <a:prstClr val="black"/>
                </a:solidFill>
                <a:effectLst/>
                <a:uLnTx/>
                <a:uFillTx/>
                <a:latin typeface="Calibri"/>
                <a:ea typeface="Calibri"/>
                <a:cs typeface="Calibri"/>
              </a:rPr>
              <a:t>validation for document codes listed </a:t>
            </a:r>
            <a:r>
              <a:rPr kumimoji="0" lang="en-GB" sz="1200" b="0" i="0" u="none" strike="noStrike" kern="1200" cap="none" spc="0" normalizeH="0" baseline="0" noProof="0" dirty="0">
                <a:ln>
                  <a:noFill/>
                </a:ln>
                <a:solidFill>
                  <a:prstClr val="black"/>
                </a:solidFill>
                <a:effectLst/>
                <a:uLnTx/>
                <a:uFillTx/>
                <a:latin typeface="Calibri"/>
                <a:ea typeface="Calibri"/>
                <a:cs typeface="Calibri"/>
              </a:rPr>
              <a:t>in the following table, so they can be used </a:t>
            </a:r>
            <a:r>
              <a:rPr kumimoji="0" lang="en-GB" sz="1200" b="1" i="0" u="none" strike="noStrike" kern="1200" cap="none" spc="0" normalizeH="0" baseline="0" noProof="0" dirty="0">
                <a:ln>
                  <a:noFill/>
                </a:ln>
                <a:solidFill>
                  <a:prstClr val="black"/>
                </a:solidFill>
                <a:effectLst/>
                <a:uLnTx/>
                <a:uFillTx/>
                <a:latin typeface="Calibri"/>
                <a:ea typeface="Calibri"/>
                <a:cs typeface="Calibri"/>
              </a:rPr>
              <a:t>to validate quota or non-quota preferential duty </a:t>
            </a:r>
            <a:r>
              <a:rPr kumimoji="0" lang="en-GB" sz="1200" b="0" i="0" u="none" strike="noStrike" kern="1200" cap="none" spc="0" normalizeH="0" baseline="0" noProof="0" dirty="0">
                <a:ln>
                  <a:noFill/>
                </a:ln>
                <a:solidFill>
                  <a:prstClr val="black"/>
                </a:solidFill>
                <a:effectLst/>
                <a:uLnTx/>
                <a:uFillTx/>
                <a:latin typeface="Calibri"/>
                <a:ea typeface="Calibri"/>
                <a:cs typeface="Calibri"/>
              </a:rPr>
              <a:t>on import declarations: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Where a trader declares one of </a:t>
            </a: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document codes U078, U101, U113, U114, U115, U116, I117, U118, U119, U177 or U178</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 on an import declaration, </a:t>
            </a: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CDS will not reject the declaration </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because of it, and can </a:t>
            </a: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use the declared document code to validate quota or non-quota preferential requirements</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 as applicable to the declaration.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*New document code to be added (release TBC).</a:t>
            </a:r>
          </a:p>
        </p:txBody>
      </p:sp>
      <p:graphicFrame>
        <p:nvGraphicFramePr>
          <p:cNvPr id="9" name="Table 8">
            <a:extLst>
              <a:ext uri="{FF2B5EF4-FFF2-40B4-BE49-F238E27FC236}">
                <a16:creationId xmlns:a16="http://schemas.microsoft.com/office/drawing/2014/main" id="{86E34347-B21E-29FE-9C15-21C68B02B169}"/>
              </a:ext>
            </a:extLst>
          </p:cNvPr>
          <p:cNvGraphicFramePr>
            <a:graphicFrameLocks noGrp="1"/>
          </p:cNvGraphicFramePr>
          <p:nvPr/>
        </p:nvGraphicFramePr>
        <p:xfrm>
          <a:off x="416384" y="1378541"/>
          <a:ext cx="11036249" cy="3724910"/>
        </p:xfrm>
        <a:graphic>
          <a:graphicData uri="http://schemas.openxmlformats.org/drawingml/2006/table">
            <a:tbl>
              <a:tblPr firstRow="1" bandRow="1">
                <a:tableStyleId>{93296810-A885-4BE3-A3E7-6D5BEEA58F35}</a:tableStyleId>
              </a:tblPr>
              <a:tblGrid>
                <a:gridCol w="1008155">
                  <a:extLst>
                    <a:ext uri="{9D8B030D-6E8A-4147-A177-3AD203B41FA5}">
                      <a16:colId xmlns:a16="http://schemas.microsoft.com/office/drawing/2014/main" val="3542442645"/>
                    </a:ext>
                  </a:extLst>
                </a:gridCol>
                <a:gridCol w="10028094">
                  <a:extLst>
                    <a:ext uri="{9D8B030D-6E8A-4147-A177-3AD203B41FA5}">
                      <a16:colId xmlns:a16="http://schemas.microsoft.com/office/drawing/2014/main" val="3786641881"/>
                    </a:ext>
                  </a:extLst>
                </a:gridCol>
              </a:tblGrid>
              <a:tr h="370840">
                <a:tc>
                  <a:txBody>
                    <a:bodyPr/>
                    <a:lstStyle/>
                    <a:p>
                      <a:pPr algn="ctr" fontAlgn="b"/>
                      <a:r>
                        <a:rPr lang="en-GB" sz="1200" b="1" i="0" u="none" strike="noStrike">
                          <a:solidFill>
                            <a:schemeClr val="bg1"/>
                          </a:solidFill>
                          <a:effectLst/>
                          <a:latin typeface="+mn-lt"/>
                        </a:rPr>
                        <a:t>Document Code</a:t>
                      </a:r>
                    </a:p>
                  </a:txBody>
                  <a:tcPr marL="6350" marR="6350" marT="6350" marB="0" anchor="ctr">
                    <a:lnL w="6350" cap="flat" cmpd="sng" algn="ctr">
                      <a:no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fontAlgn="b"/>
                      <a:r>
                        <a:rPr lang="en-GB" sz="1200" b="1" i="0" u="none" strike="noStrike">
                          <a:solidFill>
                            <a:schemeClr val="bg1"/>
                          </a:solidFill>
                          <a:effectLst/>
                          <a:latin typeface="+mn-lt"/>
                        </a:rPr>
                        <a:t>Description</a:t>
                      </a:r>
                    </a:p>
                  </a:txBody>
                  <a:tcPr marL="6350" marR="6350" marT="6350" marB="0" anchor="ctr">
                    <a:lnR w="6350" cap="flat" cmpd="sng" algn="ctr">
                      <a:no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2296428052"/>
                  </a:ext>
                </a:extLst>
              </a:tr>
              <a:tr h="216000">
                <a:tc>
                  <a:txBody>
                    <a:bodyPr/>
                    <a:lstStyle/>
                    <a:p>
                      <a:pPr algn="ctr" fontAlgn="b"/>
                      <a:r>
                        <a:rPr lang="en-GB" sz="1100" b="0" i="0" u="none" strike="noStrike">
                          <a:solidFill>
                            <a:srgbClr val="000000"/>
                          </a:solidFill>
                          <a:effectLst/>
                          <a:latin typeface="+mn-lt"/>
                        </a:rPr>
                        <a:t>U078*</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Movement certificate EUR. 1 bearing the following statement in English in Box 7: "REVISED RULES“.</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456725875"/>
                  </a:ext>
                </a:extLst>
              </a:tr>
              <a:tr h="216000">
                <a:tc>
                  <a:txBody>
                    <a:bodyPr/>
                    <a:lstStyle/>
                    <a:p>
                      <a:pPr algn="ctr" fontAlgn="b"/>
                      <a:r>
                        <a:rPr lang="en-GB" sz="1100" b="0" i="0" u="none" strike="noStrike">
                          <a:solidFill>
                            <a:srgbClr val="000000"/>
                          </a:solidFill>
                          <a:effectLst/>
                          <a:latin typeface="+mn-lt"/>
                        </a:rPr>
                        <a:t>U101*</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made out by an exporter registered in Singapore.</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682662544"/>
                  </a:ext>
                </a:extLst>
              </a:tr>
              <a:tr h="216000">
                <a:tc>
                  <a:txBody>
                    <a:bodyPr/>
                    <a:lstStyle/>
                    <a:p>
                      <a:pPr algn="ctr" fontAlgn="b"/>
                      <a:r>
                        <a:rPr lang="en-GB" sz="1100" b="0" i="0" u="none" strike="noStrike">
                          <a:solidFill>
                            <a:srgbClr val="000000"/>
                          </a:solidFill>
                          <a:effectLst/>
                          <a:latin typeface="+mn-lt"/>
                        </a:rPr>
                        <a:t>U113</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made out by a Registered Exporter in the framework of Overseas Association Decision (OAD) for a total value of originating products consigned not exceeding €10,000.</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391189593"/>
                  </a:ext>
                </a:extLst>
              </a:tr>
              <a:tr h="216000">
                <a:tc>
                  <a:txBody>
                    <a:bodyPr/>
                    <a:lstStyle/>
                    <a:p>
                      <a:pPr algn="ctr" fontAlgn="b"/>
                      <a:r>
                        <a:rPr lang="en-GB" sz="1100" b="0" i="0" u="none" strike="noStrike">
                          <a:solidFill>
                            <a:srgbClr val="000000"/>
                          </a:solidFill>
                          <a:effectLst/>
                          <a:latin typeface="+mn-lt"/>
                        </a:rPr>
                        <a:t>U114</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made out by a Registered Exporter in the framework of OAD for a total value of originating products consigned exceeding €10,000.</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915356039"/>
                  </a:ext>
                </a:extLst>
              </a:tr>
              <a:tr h="216000">
                <a:tc>
                  <a:txBody>
                    <a:bodyPr/>
                    <a:lstStyle/>
                    <a:p>
                      <a:pPr algn="ctr" fontAlgn="b"/>
                      <a:r>
                        <a:rPr lang="en-GB" sz="1100" b="0" i="0" u="none" strike="noStrike">
                          <a:solidFill>
                            <a:srgbClr val="000000"/>
                          </a:solidFill>
                          <a:effectLst/>
                          <a:latin typeface="+mn-lt"/>
                        </a:rPr>
                        <a:t>U115</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made out by a Non-Registered Exporter in the framework of OAD for a total value of originating products consigned not exceeding €10,000.</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2154929792"/>
                  </a:ext>
                </a:extLst>
              </a:tr>
              <a:tr h="216000">
                <a:tc>
                  <a:txBody>
                    <a:bodyPr/>
                    <a:lstStyle/>
                    <a:p>
                      <a:pPr algn="ctr" fontAlgn="b"/>
                      <a:r>
                        <a:rPr lang="en-GB" sz="1100" b="0" i="0" u="none" strike="noStrike">
                          <a:solidFill>
                            <a:srgbClr val="000000"/>
                          </a:solidFill>
                          <a:effectLst/>
                          <a:latin typeface="+mn-lt"/>
                        </a:rPr>
                        <a:t>U116</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(Article 56 (4) point (a) of the EU-UK TCA).</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91139724"/>
                  </a:ext>
                </a:extLst>
              </a:tr>
              <a:tr h="216000">
                <a:tc>
                  <a:txBody>
                    <a:bodyPr/>
                    <a:lstStyle/>
                    <a:p>
                      <a:pPr algn="ctr" fontAlgn="b"/>
                      <a:r>
                        <a:rPr lang="en-GB" sz="1100" b="0" i="0" u="none" strike="noStrike">
                          <a:solidFill>
                            <a:srgbClr val="000000"/>
                          </a:solidFill>
                          <a:effectLst/>
                          <a:latin typeface="+mn-lt"/>
                        </a:rPr>
                        <a:t>U117</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Importer’s knowledge (Article 58 of the EU-UK TCA).</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874786536"/>
                  </a:ext>
                </a:extLst>
              </a:tr>
              <a:tr h="216000">
                <a:tc>
                  <a:txBody>
                    <a:bodyPr/>
                    <a:lstStyle/>
                    <a:p>
                      <a:pPr algn="ctr" fontAlgn="b"/>
                      <a:r>
                        <a:rPr lang="en-GB" sz="1100" b="0" i="0" u="none" strike="noStrike">
                          <a:solidFill>
                            <a:srgbClr val="000000"/>
                          </a:solidFill>
                          <a:effectLst/>
                          <a:latin typeface="+mn-lt"/>
                        </a:rPr>
                        <a:t>U118</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for multiple shipments of identical products (Article 56 (4) point (b) of the EU-UK TCA).</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2764469830"/>
                  </a:ext>
                </a:extLst>
              </a:tr>
              <a:tr h="216000">
                <a:tc>
                  <a:txBody>
                    <a:bodyPr/>
                    <a:lstStyle/>
                    <a:p>
                      <a:pPr algn="ctr" fontAlgn="b"/>
                      <a:r>
                        <a:rPr lang="en-GB" sz="1100" b="0" i="0" u="none" strike="noStrike">
                          <a:solidFill>
                            <a:srgbClr val="000000"/>
                          </a:solidFill>
                          <a:effectLst/>
                          <a:latin typeface="+mn-lt"/>
                        </a:rPr>
                        <a:t>U119</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Statement on origin (‘Derogation – Commission Implementing Regulation (EU) 2024/1288’).</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685897035"/>
                  </a:ext>
                </a:extLst>
              </a:tr>
              <a:tr h="0">
                <a:tc>
                  <a:txBody>
                    <a:bodyPr/>
                    <a:lstStyle/>
                    <a:p>
                      <a:pPr algn="ctr" fontAlgn="b"/>
                      <a:r>
                        <a:rPr lang="en-GB" sz="1100" b="0" i="0" u="none" strike="noStrike">
                          <a:solidFill>
                            <a:srgbClr val="000000"/>
                          </a:solidFill>
                          <a:effectLst/>
                          <a:latin typeface="+mn-lt"/>
                        </a:rPr>
                        <a:t>U177</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Proof of origin containing the following statement in English: 'Derogation — Annex B (a) of Protocol Concerning the definition of the concept of ‘originating products’ and methods of administrative cooperation of the EU-Singapore FTA'. Proof of origin for EU and The Republic of Singapore FTA (Official Journal L294 14/11/2019).</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184066706"/>
                  </a:ext>
                </a:extLst>
              </a:tr>
              <a:tr h="216000">
                <a:tc>
                  <a:txBody>
                    <a:bodyPr/>
                    <a:lstStyle/>
                    <a:p>
                      <a:pPr algn="ctr" fontAlgn="b"/>
                      <a:r>
                        <a:rPr lang="en-GB" sz="1100" b="0" i="0" u="none" strike="noStrike">
                          <a:solidFill>
                            <a:srgbClr val="000000"/>
                          </a:solidFill>
                          <a:effectLst/>
                          <a:latin typeface="+mn-lt"/>
                        </a:rPr>
                        <a:t>U178</a:t>
                      </a:r>
                    </a:p>
                  </a:txBody>
                  <a:tcPr marL="45720" marR="45720" anchor="ctr">
                    <a:lnL w="6350" cap="flat" cmpd="sng" algn="ctr">
                      <a:noFill/>
                      <a:prstDash val="solid"/>
                      <a:round/>
                      <a:headEnd type="none" w="med" len="med"/>
                      <a:tailEnd type="none" w="med" len="med"/>
                    </a:lnL>
                  </a:tcPr>
                </a:tc>
                <a:tc>
                  <a:txBody>
                    <a:bodyPr/>
                    <a:lstStyle/>
                    <a:p>
                      <a:pPr algn="l" fontAlgn="b"/>
                      <a:r>
                        <a:rPr lang="en-GB" sz="1100" b="0" i="0" u="none" strike="noStrike" dirty="0">
                          <a:solidFill>
                            <a:srgbClr val="000000"/>
                          </a:solidFill>
                          <a:effectLst/>
                          <a:latin typeface="+mn-lt"/>
                        </a:rPr>
                        <a:t>Proof of origin containing the following statement in English: "Origin quotas – Product originating in accordance with Annex 4”. Annex 4 Trade and Cooperation Agreement between the European Union and the European Atomic Energy Community, of the one part, and the United Kingdom of Great Britain and Northern Ireland, of the other part."</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511900021"/>
                  </a:ext>
                </a:extLst>
              </a:tr>
            </a:tbl>
          </a:graphicData>
        </a:graphic>
      </p:graphicFrame>
    </p:spTree>
    <p:extLst>
      <p:ext uri="{BB962C8B-B14F-4D97-AF65-F5344CB8AC3E}">
        <p14:creationId xmlns:p14="http://schemas.microsoft.com/office/powerpoint/2010/main" val="323107962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120032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prstClr val="black"/>
                </a:solidFill>
                <a:effectLst/>
                <a:uLnTx/>
                <a:uFillTx/>
                <a:latin typeface="Calibri"/>
                <a:ea typeface="Calibri"/>
                <a:cs typeface="Calibri"/>
              </a:rPr>
              <a:t>Tariff: Error Handling Codes (1/2)</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This functionality</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 ensures that appropriate action is taken where specific measure conditions have not been fulfilled</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such that the</a:t>
            </a: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 trader can resubmit the declaration with updated details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and will not receive the same error. The DMSREJ is a notification sent to traders to inform them that their declaration has failed CDS validation and will list all the errors that have been identified, hence enabling traders to check for errors to correct and resubmit the declaration for processing.</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Action will be taken when a measure condition is not fulfilled for the following condition codes:</a:t>
            </a:r>
          </a:p>
        </p:txBody>
      </p:sp>
      <p:graphicFrame>
        <p:nvGraphicFramePr>
          <p:cNvPr id="9" name="Table 8">
            <a:extLst>
              <a:ext uri="{FF2B5EF4-FFF2-40B4-BE49-F238E27FC236}">
                <a16:creationId xmlns:a16="http://schemas.microsoft.com/office/drawing/2014/main" id="{3F0C6EF2-CA64-6E89-4655-2875B1A43B6E}"/>
              </a:ext>
            </a:extLst>
          </p:cNvPr>
          <p:cNvGraphicFramePr>
            <a:graphicFrameLocks noGrp="1"/>
          </p:cNvGraphicFramePr>
          <p:nvPr/>
        </p:nvGraphicFramePr>
        <p:xfrm>
          <a:off x="405910" y="2024435"/>
          <a:ext cx="8373467" cy="3304128"/>
        </p:xfrm>
        <a:graphic>
          <a:graphicData uri="http://schemas.openxmlformats.org/drawingml/2006/table">
            <a:tbl>
              <a:tblPr firstRow="1" bandRow="1">
                <a:tableStyleId>{93296810-A885-4BE3-A3E7-6D5BEEA58F35}</a:tableStyleId>
              </a:tblPr>
              <a:tblGrid>
                <a:gridCol w="1137467">
                  <a:extLst>
                    <a:ext uri="{9D8B030D-6E8A-4147-A177-3AD203B41FA5}">
                      <a16:colId xmlns:a16="http://schemas.microsoft.com/office/drawing/2014/main" val="2768527962"/>
                    </a:ext>
                  </a:extLst>
                </a:gridCol>
                <a:gridCol w="7236000">
                  <a:extLst>
                    <a:ext uri="{9D8B030D-6E8A-4147-A177-3AD203B41FA5}">
                      <a16:colId xmlns:a16="http://schemas.microsoft.com/office/drawing/2014/main" val="3895966752"/>
                    </a:ext>
                  </a:extLst>
                </a:gridCol>
              </a:tblGrid>
              <a:tr h="324000">
                <a:tc>
                  <a:txBody>
                    <a:bodyPr/>
                    <a:lstStyle/>
                    <a:p>
                      <a:pPr algn="ctr"/>
                      <a:r>
                        <a:rPr lang="en-GB" sz="1200"/>
                        <a:t>Measure Condition Code</a:t>
                      </a:r>
                    </a:p>
                  </a:txBody>
                  <a:tcPr anchor="ctr">
                    <a:solidFill>
                      <a:srgbClr val="009999"/>
                    </a:solidFill>
                  </a:tcPr>
                </a:tc>
                <a:tc>
                  <a:txBody>
                    <a:bodyPr/>
                    <a:lstStyle/>
                    <a:p>
                      <a:pPr algn="ctr"/>
                      <a:r>
                        <a:rPr lang="en-GB" sz="1200" dirty="0"/>
                        <a:t>Description</a:t>
                      </a:r>
                    </a:p>
                  </a:txBody>
                  <a:tcPr anchor="ctr">
                    <a:solidFill>
                      <a:srgbClr val="009999"/>
                    </a:solidFill>
                  </a:tcPr>
                </a:tc>
                <a:extLst>
                  <a:ext uri="{0D108BD9-81ED-4DB2-BD59-A6C34878D82A}">
                    <a16:rowId xmlns:a16="http://schemas.microsoft.com/office/drawing/2014/main" val="2969469825"/>
                  </a:ext>
                </a:extLst>
              </a:tr>
              <a:tr h="252000">
                <a:tc>
                  <a:txBody>
                    <a:bodyPr/>
                    <a:lstStyle/>
                    <a:p>
                      <a:pPr algn="ctr" fontAlgn="b"/>
                      <a:r>
                        <a:rPr lang="en-GB" sz="1100" b="0" i="0" u="none" strike="noStrike">
                          <a:solidFill>
                            <a:srgbClr val="000000"/>
                          </a:solidFill>
                          <a:effectLst/>
                          <a:latin typeface="Calibri" panose="020F0502020204030204" pitchFamily="34" charset="0"/>
                        </a:rPr>
                        <a:t>F</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The net free at frontier price before duty must be equal to or greater than the minimum price.</a:t>
                      </a:r>
                    </a:p>
                  </a:txBody>
                  <a:tcPr marL="45720" marR="45720" anchor="ctr"/>
                </a:tc>
                <a:extLst>
                  <a:ext uri="{0D108BD9-81ED-4DB2-BD59-A6C34878D82A}">
                    <a16:rowId xmlns:a16="http://schemas.microsoft.com/office/drawing/2014/main" val="3701832631"/>
                  </a:ext>
                </a:extLst>
              </a:tr>
              <a:tr h="294067">
                <a:tc>
                  <a:txBody>
                    <a:bodyPr/>
                    <a:lstStyle/>
                    <a:p>
                      <a:pPr algn="ctr" fontAlgn="b"/>
                      <a:r>
                        <a:rPr lang="en-GB" sz="1100" b="0" i="0" u="none" strike="noStrike">
                          <a:solidFill>
                            <a:srgbClr val="000000"/>
                          </a:solidFill>
                          <a:effectLst/>
                          <a:latin typeface="Calibri" panose="020F0502020204030204" pitchFamily="34" charset="0"/>
                        </a:rPr>
                        <a:t>G</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The Cost, Insurance, and Freight (CIF) price plus the duty to be paid/ton must be equal to or greater than the minimum price.</a:t>
                      </a:r>
                    </a:p>
                  </a:txBody>
                  <a:tcPr marL="45720" marR="45720" anchor="ctr"/>
                </a:tc>
                <a:extLst>
                  <a:ext uri="{0D108BD9-81ED-4DB2-BD59-A6C34878D82A}">
                    <a16:rowId xmlns:a16="http://schemas.microsoft.com/office/drawing/2014/main" val="1020708685"/>
                  </a:ext>
                </a:extLst>
              </a:tr>
              <a:tr h="252000">
                <a:tc>
                  <a:txBody>
                    <a:bodyPr/>
                    <a:lstStyle/>
                    <a:p>
                      <a:pPr algn="ctr" fontAlgn="b"/>
                      <a:r>
                        <a:rPr lang="en-GB" sz="1100" b="0" i="0" u="none" strike="noStrike">
                          <a:solidFill>
                            <a:srgbClr val="000000"/>
                          </a:solidFill>
                          <a:effectLst/>
                          <a:latin typeface="Calibri" panose="020F0502020204030204" pitchFamily="34" charset="0"/>
                        </a:rPr>
                        <a:t>J</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Declared net mass (DE 6/1) higher than the condition components.</a:t>
                      </a:r>
                    </a:p>
                  </a:txBody>
                  <a:tcPr marL="45720" marR="45720" anchor="ctr"/>
                </a:tc>
                <a:extLst>
                  <a:ext uri="{0D108BD9-81ED-4DB2-BD59-A6C34878D82A}">
                    <a16:rowId xmlns:a16="http://schemas.microsoft.com/office/drawing/2014/main" val="1609806482"/>
                  </a:ext>
                </a:extLst>
              </a:tr>
              <a:tr h="252000">
                <a:tc>
                  <a:txBody>
                    <a:bodyPr/>
                    <a:lstStyle/>
                    <a:p>
                      <a:pPr algn="ctr" fontAlgn="b"/>
                      <a:r>
                        <a:rPr lang="en-GB" sz="1100" b="0" i="0" u="none" strike="noStrike">
                          <a:solidFill>
                            <a:srgbClr val="000000"/>
                          </a:solidFill>
                          <a:effectLst/>
                          <a:latin typeface="Calibri" panose="020F0502020204030204" pitchFamily="34" charset="0"/>
                        </a:rPr>
                        <a:t>L</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Also applicable simultaneously with tariff quota shown in the field "certificates”.</a:t>
                      </a:r>
                    </a:p>
                  </a:txBody>
                  <a:tcPr marL="45720" marR="45720" anchor="ctr"/>
                </a:tc>
                <a:extLst>
                  <a:ext uri="{0D108BD9-81ED-4DB2-BD59-A6C34878D82A}">
                    <a16:rowId xmlns:a16="http://schemas.microsoft.com/office/drawing/2014/main" val="1491073057"/>
                  </a:ext>
                </a:extLst>
              </a:tr>
              <a:tr h="252000">
                <a:tc>
                  <a:txBody>
                    <a:bodyPr/>
                    <a:lstStyle/>
                    <a:p>
                      <a:pPr algn="ctr" fontAlgn="b"/>
                      <a:r>
                        <a:rPr lang="en-GB" sz="1100" b="0" i="0" u="none" strike="noStrike">
                          <a:solidFill>
                            <a:srgbClr val="000000"/>
                          </a:solidFill>
                          <a:effectLst/>
                          <a:latin typeface="Calibri" panose="020F0502020204030204" pitchFamily="34" charset="0"/>
                        </a:rPr>
                        <a:t>K</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CIF price must be higher than the minimum price.</a:t>
                      </a:r>
                    </a:p>
                  </a:txBody>
                  <a:tcPr marL="45720" marR="45720" anchor="ctr"/>
                </a:tc>
                <a:extLst>
                  <a:ext uri="{0D108BD9-81ED-4DB2-BD59-A6C34878D82A}">
                    <a16:rowId xmlns:a16="http://schemas.microsoft.com/office/drawing/2014/main" val="82602500"/>
                  </a:ext>
                </a:extLst>
              </a:tr>
              <a:tr h="252000">
                <a:tc>
                  <a:txBody>
                    <a:bodyPr/>
                    <a:lstStyle/>
                    <a:p>
                      <a:pPr algn="ctr" fontAlgn="b"/>
                      <a:r>
                        <a:rPr lang="en-GB" sz="1100" b="0" i="0" u="none" strike="noStrike">
                          <a:solidFill>
                            <a:srgbClr val="000000"/>
                          </a:solidFill>
                          <a:effectLst/>
                          <a:latin typeface="Calibri" panose="020F0502020204030204" pitchFamily="34" charset="0"/>
                        </a:rPr>
                        <a:t>N</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The CIF price before duty must be equal to or greater than the minimum price.</a:t>
                      </a:r>
                    </a:p>
                  </a:txBody>
                  <a:tcPr marL="45720" marR="45720" anchor="ctr"/>
                </a:tc>
                <a:extLst>
                  <a:ext uri="{0D108BD9-81ED-4DB2-BD59-A6C34878D82A}">
                    <a16:rowId xmlns:a16="http://schemas.microsoft.com/office/drawing/2014/main" val="3979473706"/>
                  </a:ext>
                </a:extLst>
              </a:tr>
              <a:tr h="297341">
                <a:tc>
                  <a:txBody>
                    <a:bodyPr/>
                    <a:lstStyle/>
                    <a:p>
                      <a:pPr algn="ctr" fontAlgn="b"/>
                      <a:r>
                        <a:rPr lang="en-GB" sz="1100" b="0" i="0" u="none" strike="noStrike">
                          <a:solidFill>
                            <a:srgbClr val="000000"/>
                          </a:solidFill>
                          <a:effectLst/>
                          <a:latin typeface="Calibri" panose="020F0502020204030204" pitchFamily="34" charset="0"/>
                        </a:rPr>
                        <a:t>P</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Only particular ingredients are eligible for export refund.</a:t>
                      </a:r>
                    </a:p>
                  </a:txBody>
                  <a:tcPr marL="45720" marR="45720" anchor="ctr"/>
                </a:tc>
                <a:extLst>
                  <a:ext uri="{0D108BD9-81ED-4DB2-BD59-A6C34878D82A}">
                    <a16:rowId xmlns:a16="http://schemas.microsoft.com/office/drawing/2014/main" val="4028682345"/>
                  </a:ext>
                </a:extLst>
              </a:tr>
              <a:tr h="252000">
                <a:tc>
                  <a:txBody>
                    <a:bodyPr/>
                    <a:lstStyle/>
                    <a:p>
                      <a:pPr algn="ctr" fontAlgn="b"/>
                      <a:r>
                        <a:rPr lang="en-GB" sz="1100" b="0" i="0" u="none" strike="noStrike">
                          <a:solidFill>
                            <a:srgbClr val="000000"/>
                          </a:solidFill>
                          <a:effectLst/>
                          <a:latin typeface="Calibri" panose="020F0502020204030204" pitchFamily="34" charset="0"/>
                        </a:rPr>
                        <a:t>V</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Import price must be equal to or greater than the entry price.</a:t>
                      </a:r>
                    </a:p>
                  </a:txBody>
                  <a:tcPr marL="45720" marR="45720" anchor="ctr"/>
                </a:tc>
                <a:extLst>
                  <a:ext uri="{0D108BD9-81ED-4DB2-BD59-A6C34878D82A}">
                    <a16:rowId xmlns:a16="http://schemas.microsoft.com/office/drawing/2014/main" val="1856534526"/>
                  </a:ext>
                </a:extLst>
              </a:tr>
              <a:tr h="252000">
                <a:tc>
                  <a:txBody>
                    <a:bodyPr/>
                    <a:lstStyle/>
                    <a:p>
                      <a:pPr algn="ctr" fontAlgn="b"/>
                      <a:r>
                        <a:rPr lang="en-GB" sz="1100" b="0" i="0" u="none" strike="noStrike">
                          <a:solidFill>
                            <a:srgbClr val="000000"/>
                          </a:solidFill>
                          <a:effectLst/>
                          <a:latin typeface="Calibri" panose="020F0502020204030204" pitchFamily="34" charset="0"/>
                        </a:rPr>
                        <a:t>W</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Washington Convention.</a:t>
                      </a:r>
                    </a:p>
                  </a:txBody>
                  <a:tcPr marL="45720" marR="45720" anchor="ctr"/>
                </a:tc>
                <a:extLst>
                  <a:ext uri="{0D108BD9-81ED-4DB2-BD59-A6C34878D82A}">
                    <a16:rowId xmlns:a16="http://schemas.microsoft.com/office/drawing/2014/main" val="3012395708"/>
                  </a:ext>
                </a:extLst>
              </a:tr>
              <a:tr h="252000">
                <a:tc>
                  <a:txBody>
                    <a:bodyPr/>
                    <a:lstStyle/>
                    <a:p>
                      <a:pPr algn="ctr" fontAlgn="b"/>
                      <a:r>
                        <a:rPr lang="en-GB" sz="1100" b="0" i="0" u="none" strike="noStrike">
                          <a:solidFill>
                            <a:srgbClr val="000000"/>
                          </a:solidFill>
                          <a:effectLst/>
                          <a:latin typeface="Calibri" panose="020F0502020204030204" pitchFamily="34" charset="0"/>
                        </a:rPr>
                        <a:t>X</a:t>
                      </a:r>
                    </a:p>
                  </a:txBody>
                  <a:tcPr marL="45720" marR="45720" anchor="ctr"/>
                </a:tc>
                <a:tc>
                  <a:txBody>
                    <a:bodyPr/>
                    <a:lstStyle/>
                    <a:p>
                      <a:pPr algn="l" fontAlgn="b"/>
                      <a:r>
                        <a:rPr lang="en-GB" sz="1100" b="0" i="0" u="none" strike="noStrike" dirty="0">
                          <a:solidFill>
                            <a:srgbClr val="000000"/>
                          </a:solidFill>
                          <a:effectLst/>
                          <a:latin typeface="Calibri" panose="020F0502020204030204" pitchFamily="34" charset="0"/>
                        </a:rPr>
                        <a:t>Declared number of supplementary units (DE 6/2) higher than the condition components.</a:t>
                      </a:r>
                    </a:p>
                  </a:txBody>
                  <a:tcPr marL="45720" marR="45720" anchor="ctr"/>
                </a:tc>
                <a:extLst>
                  <a:ext uri="{0D108BD9-81ED-4DB2-BD59-A6C34878D82A}">
                    <a16:rowId xmlns:a16="http://schemas.microsoft.com/office/drawing/2014/main" val="128875687"/>
                  </a:ext>
                </a:extLst>
              </a:tr>
            </a:tbl>
          </a:graphicData>
        </a:graphic>
      </p:graphicFrame>
    </p:spTree>
    <p:extLst>
      <p:ext uri="{BB962C8B-B14F-4D97-AF65-F5344CB8AC3E}">
        <p14:creationId xmlns:p14="http://schemas.microsoft.com/office/powerpoint/2010/main" val="156522020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3970318"/>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Tariff: Error Handling Codes (2/2)</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When a measure condition is not fulfilled, CDS will return a DMSREJ notification as shown in the table below:</a:t>
            </a: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228600" marR="0" lvl="0" indent="-228600" algn="l" defTabSz="914400" rtl="0" eaLnBrk="1" fontAlgn="auto" latinLnBrk="0" hangingPunct="1">
              <a:lnSpc>
                <a:spcPct val="100000"/>
              </a:lnSpc>
              <a:spcBef>
                <a:spcPts val="60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example of the format is shown in the CDS 03 Declaration Submission Service Design, Section 6.3.4 Tariff Measure Validation Failures, with </a:t>
            </a:r>
            <a:r>
              <a:rPr kumimoji="0" lang="en-GB" sz="1200" b="0" i="0" u="none" strike="noStrike" kern="1200" cap="none" spc="0" normalizeH="0" baseline="0" noProof="0" err="1">
                <a:ln>
                  <a:noFill/>
                </a:ln>
                <a:solidFill>
                  <a:srgbClr val="000000"/>
                </a:solidFill>
                <a:effectLst/>
                <a:uLnTx/>
                <a:uFillTx/>
                <a:latin typeface="Calibri" panose="020F0502020204030204"/>
                <a:ea typeface="+mn-ea"/>
                <a:cs typeface="+mn-cs"/>
              </a:rPr>
              <a:t>StatementTypeCode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 7.</a:t>
            </a:r>
          </a:p>
          <a:p>
            <a:pPr marL="228600" marR="0" lvl="0" indent="-228600" algn="l" defTabSz="914400" rtl="0" eaLnBrk="1" fontAlgn="auto" latinLnBrk="0" hangingPunct="1">
              <a:lnSpc>
                <a:spcPct val="100000"/>
              </a:lnSpc>
              <a:spcBef>
                <a:spcPts val="600"/>
              </a:spcBef>
              <a:spcAft>
                <a:spcPts val="0"/>
              </a:spcAft>
              <a:buClrTx/>
              <a:buSzTx/>
              <a:buFontTx/>
              <a:buAutoNum type="arabicPeriod"/>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example of the format is shown in the CDS 03 Declaration Submission Service Design, Section 6.3.4 Tariff Measure Validation Failures, with </a:t>
            </a:r>
            <a:r>
              <a:rPr kumimoji="0" lang="en-GB" sz="1200" b="0" i="0" u="none" strike="noStrike" kern="1200" cap="none" spc="0" normalizeH="0" baseline="0" noProof="0" err="1">
                <a:ln>
                  <a:noFill/>
                </a:ln>
                <a:solidFill>
                  <a:srgbClr val="000000"/>
                </a:solidFill>
                <a:effectLst/>
                <a:uLnTx/>
                <a:uFillTx/>
                <a:latin typeface="Calibri" panose="020F0502020204030204"/>
                <a:ea typeface="+mn-ea"/>
                <a:cs typeface="+mn-cs"/>
              </a:rPr>
              <a:t>StatementTypeCode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 6.</a:t>
            </a:r>
          </a:p>
        </p:txBody>
      </p:sp>
      <p:graphicFrame>
        <p:nvGraphicFramePr>
          <p:cNvPr id="12" name="Table 11">
            <a:extLst>
              <a:ext uri="{FF2B5EF4-FFF2-40B4-BE49-F238E27FC236}">
                <a16:creationId xmlns:a16="http://schemas.microsoft.com/office/drawing/2014/main" id="{9FCD74D0-D85D-EAE7-2665-24B61469F3FD}"/>
              </a:ext>
            </a:extLst>
          </p:cNvPr>
          <p:cNvGraphicFramePr>
            <a:graphicFrameLocks noGrp="1"/>
          </p:cNvGraphicFramePr>
          <p:nvPr/>
        </p:nvGraphicFramePr>
        <p:xfrm>
          <a:off x="416385" y="1377890"/>
          <a:ext cx="9252000" cy="272176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360175209"/>
                    </a:ext>
                  </a:extLst>
                </a:gridCol>
                <a:gridCol w="1548000">
                  <a:extLst>
                    <a:ext uri="{9D8B030D-6E8A-4147-A177-3AD203B41FA5}">
                      <a16:colId xmlns:a16="http://schemas.microsoft.com/office/drawing/2014/main" val="1096008774"/>
                    </a:ext>
                  </a:extLst>
                </a:gridCol>
                <a:gridCol w="3384000">
                  <a:extLst>
                    <a:ext uri="{9D8B030D-6E8A-4147-A177-3AD203B41FA5}">
                      <a16:colId xmlns:a16="http://schemas.microsoft.com/office/drawing/2014/main" val="3212707075"/>
                    </a:ext>
                  </a:extLst>
                </a:gridCol>
                <a:gridCol w="3384000">
                  <a:extLst>
                    <a:ext uri="{9D8B030D-6E8A-4147-A177-3AD203B41FA5}">
                      <a16:colId xmlns:a16="http://schemas.microsoft.com/office/drawing/2014/main" val="2448608882"/>
                    </a:ext>
                  </a:extLst>
                </a:gridCol>
              </a:tblGrid>
              <a:tr h="324000">
                <a:tc>
                  <a:txBody>
                    <a:bodyPr/>
                    <a:lstStyle/>
                    <a:p>
                      <a:pPr algn="ctr"/>
                      <a:r>
                        <a:rPr lang="en-GB" sz="1200"/>
                        <a:t>Declaration</a:t>
                      </a:r>
                    </a:p>
                  </a:txBody>
                  <a:tcPr anchor="ctr">
                    <a:lnL w="6350" cap="flat" cmpd="sng" algn="ctr">
                      <a:no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Description</a:t>
                      </a:r>
                    </a:p>
                  </a:txBody>
                  <a:tcPr anchor="ctr">
                    <a:lnR w="190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tc>
                  <a:txBody>
                    <a:bodyPr/>
                    <a:lstStyle/>
                    <a:p>
                      <a:pPr algn="ctr"/>
                      <a:r>
                        <a:rPr lang="en-GB" sz="1200"/>
                        <a:t>Condition Not Fulfilled</a:t>
                      </a:r>
                    </a:p>
                  </a:txBody>
                  <a:tcPr anchor="ctr">
                    <a:lnL w="19050" cap="flat" cmpd="sng" algn="ctr">
                      <a:solidFill>
                        <a:schemeClr val="bg1"/>
                      </a:solid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Condition With No Mapping</a:t>
                      </a:r>
                    </a:p>
                  </a:txBody>
                  <a:tcPr anchor="ctr">
                    <a:lnR w="6350" cap="flat" cmpd="sng" algn="ctr">
                      <a:no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1014270793"/>
                  </a:ext>
                </a:extLst>
              </a:tr>
              <a:tr h="370840">
                <a:tc>
                  <a:txBody>
                    <a:bodyPr/>
                    <a:lstStyle/>
                    <a:p>
                      <a:r>
                        <a:rPr lang="en-GB" sz="1100"/>
                        <a:t>Validation</a:t>
                      </a:r>
                    </a:p>
                  </a:txBody>
                  <a:tcPr anchor="ctr">
                    <a:lnL w="6350" cap="flat" cmpd="sng" algn="ctr">
                      <a:noFill/>
                      <a:prstDash val="solid"/>
                      <a:round/>
                      <a:headEnd type="none" w="med" len="med"/>
                      <a:tailEnd type="none" w="med" len="med"/>
                    </a:lnL>
                  </a:tcPr>
                </a:tc>
                <a:tc>
                  <a:txBody>
                    <a:bodyPr/>
                    <a:lstStyle/>
                    <a:p>
                      <a:r>
                        <a:rPr lang="en-GB" sz="1100"/>
                        <a:t>Measure Condition</a:t>
                      </a:r>
                    </a:p>
                  </a:txBody>
                  <a:tcPr anchor="ctr">
                    <a:lnR w="19050" cap="flat" cmpd="sng" algn="ctr">
                      <a:solidFill>
                        <a:schemeClr val="bg1"/>
                      </a:solidFill>
                      <a:prstDash val="solid"/>
                      <a:round/>
                      <a:headEnd type="none" w="med" len="med"/>
                      <a:tailEnd type="none" w="med" len="med"/>
                    </a:lnR>
                  </a:tcPr>
                </a:tc>
                <a:tc>
                  <a:txBody>
                    <a:bodyPr/>
                    <a:lstStyle/>
                    <a:p>
                      <a:r>
                        <a:rPr lang="en-GB" sz="1100" dirty="0"/>
                        <a:t>Measure condition (listed in previous table) not fulfilled</a:t>
                      </a:r>
                    </a:p>
                  </a:txBody>
                  <a:tcPr anchor="ctr">
                    <a:lnL w="19050" cap="flat" cmpd="sng" algn="ctr">
                      <a:solidFill>
                        <a:schemeClr val="bg1"/>
                      </a:solidFill>
                      <a:prstDash val="solid"/>
                      <a:round/>
                      <a:headEnd type="none" w="med" len="med"/>
                      <a:tailEnd type="none" w="med" len="med"/>
                    </a:lnL>
                  </a:tcPr>
                </a:tc>
                <a:tc>
                  <a:txBody>
                    <a:bodyPr/>
                    <a:lstStyle/>
                    <a:p>
                      <a:r>
                        <a:rPr lang="en-GB" sz="1100" dirty="0"/>
                        <a:t>New measure condition with no defined mapping rule</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1884195587"/>
                  </a:ext>
                </a:extLst>
              </a:tr>
              <a:tr h="370840">
                <a:tc rowSpan="2">
                  <a:txBody>
                    <a:bodyPr/>
                    <a:lstStyle/>
                    <a:p>
                      <a:r>
                        <a:rPr lang="en-GB" sz="1100"/>
                        <a:t>Notification</a:t>
                      </a:r>
                    </a:p>
                  </a:txBody>
                  <a:tcPr anchor="ctr">
                    <a:lnL w="6350" cap="flat" cmpd="sng" algn="ctr">
                      <a:noFill/>
                      <a:prstDash val="solid"/>
                      <a:round/>
                      <a:headEnd type="none" w="med" len="med"/>
                      <a:tailEnd type="none" w="med" len="med"/>
                    </a:lnL>
                    <a:lnB w="6350" cap="flat" cmpd="sng" algn="ctr">
                      <a:noFill/>
                      <a:prstDash val="solid"/>
                      <a:round/>
                      <a:headEnd type="none" w="med" len="med"/>
                      <a:tailEnd type="none" w="med" len="med"/>
                    </a:lnB>
                  </a:tcPr>
                </a:tc>
                <a:tc rowSpan="2">
                  <a:txBody>
                    <a:bodyPr/>
                    <a:lstStyle/>
                    <a:p>
                      <a:r>
                        <a:rPr lang="en-GB" sz="1100"/>
                        <a:t>Trader Notifications</a:t>
                      </a:r>
                    </a:p>
                  </a:txBody>
                  <a:tcPr anchor="ctr">
                    <a:lnR w="19050" cap="flat" cmpd="sng" algn="ctr">
                      <a:solidFill>
                        <a:schemeClr val="bg1"/>
                      </a:solidFill>
                      <a:prstDash val="solid"/>
                      <a:round/>
                      <a:headEnd type="none" w="med" len="med"/>
                      <a:tailEnd type="none" w="med" len="med"/>
                    </a:lnR>
                    <a:lnB w="6350" cap="flat" cmpd="sng" algn="ctr">
                      <a:no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000000"/>
                          </a:solidFill>
                        </a:rPr>
                        <a:t>DMSREJ error description will provide details of values required to fulfil the measure condition.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100" dirty="0">
                        <a:solidFill>
                          <a:srgbClr val="000000"/>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000000"/>
                          </a:solidFill>
                        </a:rPr>
                        <a:t>N.B. The values required to fulfil the measure condition will include either the minimum price/net mass/supplementary unit which would fulfil the measure, or the range of ratios which will fulfil the measure condition.</a:t>
                      </a:r>
                    </a:p>
                  </a:txBody>
                  <a:tcPr anchor="ctr">
                    <a:lnL w="19050" cap="flat" cmpd="sng" algn="ctr">
                      <a:solidFill>
                        <a:schemeClr val="bg1"/>
                      </a:solidFill>
                      <a:prstDash val="solid"/>
                      <a:round/>
                      <a:headEnd type="none" w="med" len="med"/>
                      <a:tailEnd type="none" w="med" len="med"/>
                    </a:ln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000000"/>
                          </a:solidFill>
                        </a:rPr>
                        <a:t>DMSREJ error description will provide details stating that 'Commodity code [Commodity Code] has conditions against measure condition code [Condition Code] under measure type [Measure Type ID]. Mapping not defined for new condition code’.</a:t>
                      </a:r>
                    </a:p>
                  </a:txBody>
                  <a:tcPr anchor="ctr">
                    <a:lnR w="6350" cap="flat" cmpd="sng" algn="ctr">
                      <a:noFill/>
                      <a:prstDash val="solid"/>
                      <a:round/>
                      <a:headEnd type="none" w="med" len="med"/>
                      <a:tailEnd type="none" w="med" len="med"/>
                    </a:lnR>
                  </a:tcPr>
                </a:tc>
                <a:extLst>
                  <a:ext uri="{0D108BD9-81ED-4DB2-BD59-A6C34878D82A}">
                    <a16:rowId xmlns:a16="http://schemas.microsoft.com/office/drawing/2014/main" val="2897152562"/>
                  </a:ext>
                </a:extLst>
              </a:tr>
              <a:tr h="370840">
                <a:tc vMerge="1">
                  <a:txBody>
                    <a:bodyPr/>
                    <a:lstStyle/>
                    <a:p>
                      <a:endParaRPr lang="en-GB" sz="1200"/>
                    </a:p>
                  </a:txBody>
                  <a:tcPr anchor="ctr"/>
                </a:tc>
                <a:tc vMerge="1">
                  <a:txBody>
                    <a:bodyPr/>
                    <a:lstStyle/>
                    <a:p>
                      <a:endParaRPr lang="en-GB" sz="1200"/>
                    </a:p>
                  </a:txBody>
                  <a:tcPr anchor="ctr"/>
                </a:tc>
                <a:tc gridSpan="2">
                  <a:txBody>
                    <a:bodyPr/>
                    <a:lstStyle/>
                    <a:p>
                      <a:pPr marL="1828800" marR="0" lvl="4"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000000"/>
                          </a:solidFill>
                        </a:rPr>
                        <a:t>DMSREJ will include additional information objects for:</a:t>
                      </a:r>
                    </a:p>
                    <a:p>
                      <a:pPr marL="2000250" marR="0" lvl="4"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dirty="0">
                          <a:solidFill>
                            <a:srgbClr val="000000"/>
                          </a:solidFill>
                        </a:rPr>
                        <a:t>The measure type and commodity code</a:t>
                      </a:r>
                      <a:r>
                        <a:rPr lang="en-GB" sz="1100" baseline="30000" dirty="0">
                          <a:solidFill>
                            <a:srgbClr val="000000"/>
                          </a:solidFill>
                        </a:rPr>
                        <a:t>1</a:t>
                      </a:r>
                      <a:endParaRPr lang="en-GB" sz="1100" dirty="0">
                        <a:solidFill>
                          <a:srgbClr val="000000"/>
                        </a:solidFill>
                      </a:endParaRPr>
                    </a:p>
                    <a:p>
                      <a:pPr marL="2000250" marR="0" lvl="4"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dirty="0">
                          <a:solidFill>
                            <a:srgbClr val="000000"/>
                          </a:solidFill>
                        </a:rPr>
                        <a:t>The measure condition code and action code</a:t>
                      </a:r>
                      <a:r>
                        <a:rPr lang="en-GB" sz="1100" baseline="30000" dirty="0">
                          <a:solidFill>
                            <a:srgbClr val="000000"/>
                          </a:solidFill>
                        </a:rPr>
                        <a:t>2</a:t>
                      </a:r>
                      <a:endParaRPr lang="en-GB" sz="1100" dirty="0">
                        <a:solidFill>
                          <a:srgbClr val="000000"/>
                        </a:solidFill>
                      </a:endParaRPr>
                    </a:p>
                  </a:txBody>
                  <a:tcPr anchor="ctr">
                    <a:lnL w="190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tcPr>
                </a:tc>
                <a:tc hMerge="1">
                  <a:txBody>
                    <a:bodyPr/>
                    <a:lstStyle/>
                    <a:p>
                      <a:endParaRPr lang="en-GB"/>
                    </a:p>
                  </a:txBody>
                  <a:tcPr/>
                </a:tc>
                <a:extLst>
                  <a:ext uri="{0D108BD9-81ED-4DB2-BD59-A6C34878D82A}">
                    <a16:rowId xmlns:a16="http://schemas.microsoft.com/office/drawing/2014/main" val="2931070901"/>
                  </a:ext>
                </a:extLst>
              </a:tr>
            </a:tbl>
          </a:graphicData>
        </a:graphic>
      </p:graphicFrame>
    </p:spTree>
    <p:extLst>
      <p:ext uri="{BB962C8B-B14F-4D97-AF65-F5344CB8AC3E}">
        <p14:creationId xmlns:p14="http://schemas.microsoft.com/office/powerpoint/2010/main" val="34858108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2200602"/>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Windsor Framework: CDSNI_CR680 Changes to NIQUO, and NIIMP and NIQUO (1/2)</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CDSNI_CR680 was raised in response to an unforeseen use case for the AI code NIQUO, which was introduced as part of the UKIMS CDS changes that went live on 24</a:t>
            </a:r>
            <a:r>
              <a:rPr kumimoji="0" lang="en-GB" sz="1200" b="0" i="0" u="none" strike="noStrike" kern="1200" cap="none" spc="0" normalizeH="0" baseline="30000" noProof="0">
                <a:ln>
                  <a:noFill/>
                </a:ln>
                <a:solidFill>
                  <a:srgbClr val="000000"/>
                </a:solidFill>
                <a:effectLst/>
                <a:uLnTx/>
                <a:uFillTx/>
                <a:latin typeface="-apple-system"/>
                <a:ea typeface="+mn-ea"/>
                <a:cs typeface="+mn-cs"/>
              </a:rPr>
              <a:t>th</a:t>
            </a:r>
            <a:r>
              <a:rPr kumimoji="0" lang="en-GB" sz="1200" b="0" i="0" u="none" strike="noStrike" kern="1200" cap="none" spc="0" normalizeH="0" baseline="0" noProof="0">
                <a:ln>
                  <a:noFill/>
                </a:ln>
                <a:solidFill>
                  <a:srgbClr val="000000"/>
                </a:solidFill>
                <a:effectLst/>
                <a:uLnTx/>
                <a:uFillTx/>
                <a:latin typeface="-apple-system"/>
                <a:ea typeface="+mn-ea"/>
                <a:cs typeface="+mn-cs"/>
              </a:rPr>
              <a:t> March 2024. Traders reported that they are unable to make declarations when, for certain commodities, there is an EU safeguard measure and a corresponding quota available, but no UK safeguard measure and therefore no UK quota.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pple-system"/>
                <a:ea typeface="+mn-ea"/>
                <a:cs typeface="+mn-cs"/>
              </a:rPr>
              <a:t>In this scenario, given there is an EU safeguard measure in place, the tariff rate would be significantly higher than the UK equivalent. This specifically affects trade in NI with regards to certain steel goods from Turkey and Taiwan. </a:t>
            </a:r>
            <a:r>
              <a:rPr kumimoji="0" lang="en-GB" sz="1200" b="1" i="0" u="none" strike="noStrike" kern="1200" cap="none" spc="0" normalizeH="0" baseline="0" noProof="0">
                <a:ln>
                  <a:noFill/>
                </a:ln>
                <a:solidFill>
                  <a:srgbClr val="000000"/>
                </a:solidFill>
                <a:effectLst/>
                <a:uLnTx/>
                <a:uFillTx/>
                <a:latin typeface="-apple-system"/>
                <a:ea typeface="+mn-ea"/>
                <a:cs typeface="+mn-cs"/>
              </a:rPr>
              <a:t>Traders are declaring NIIMP + NIQUO but rightly do not have a UK quota to put in DE 8/1 and the declaration is being rejected</a:t>
            </a:r>
            <a:r>
              <a:rPr kumimoji="0" lang="en-GB" sz="1200" b="0" i="0" u="none" strike="noStrike" kern="1200" cap="none" spc="0" normalizeH="0" baseline="0" noProof="0">
                <a:ln>
                  <a:noFill/>
                </a:ln>
                <a:solidFill>
                  <a:srgbClr val="000000"/>
                </a:solidFill>
                <a:effectLst/>
                <a:uLnTx/>
                <a:uFillTx/>
                <a:latin typeface="-apple-system"/>
                <a:ea typeface="+mn-ea"/>
                <a:cs typeface="+mn-cs"/>
              </a:rPr>
              <a:t>. The issue arises due to a CDS business rule which mandates DE 8/1 be populated when NIIMP + NIQUO is declared.</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This functionality will resolve the two main issues surrounding AI Code NIQUO: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allow the declaration of NIIMP with NIQUO</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for an Import declaration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without a UK quota </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(DE 8/1) being populated.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the above conditions are met, then the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duties will be calculated and charged correctly </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for that respective goods item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according to the UK Tariff Rate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a:t>
            </a:r>
          </a:p>
        </p:txBody>
      </p:sp>
    </p:spTree>
    <p:extLst>
      <p:ext uri="{BB962C8B-B14F-4D97-AF65-F5344CB8AC3E}">
        <p14:creationId xmlns:p14="http://schemas.microsoft.com/office/powerpoint/2010/main" val="29891309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569387"/>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Windsor Framework: CDSNI_CR680 Changes to NIQUO, and NIIMP and NIQUO (2/2)</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validate claims to Tariff Quota and charge duty as shown in the following table:</a:t>
            </a:r>
          </a:p>
        </p:txBody>
      </p:sp>
      <p:graphicFrame>
        <p:nvGraphicFramePr>
          <p:cNvPr id="9" name="Table 8">
            <a:extLst>
              <a:ext uri="{FF2B5EF4-FFF2-40B4-BE49-F238E27FC236}">
                <a16:creationId xmlns:a16="http://schemas.microsoft.com/office/drawing/2014/main" id="{333B4208-1A85-C16C-0B49-4F950ADD2710}"/>
              </a:ext>
            </a:extLst>
          </p:cNvPr>
          <p:cNvGraphicFramePr>
            <a:graphicFrameLocks noGrp="1"/>
          </p:cNvGraphicFramePr>
          <p:nvPr/>
        </p:nvGraphicFramePr>
        <p:xfrm>
          <a:off x="416385" y="1431309"/>
          <a:ext cx="10595565" cy="439352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1044000">
                  <a:extLst>
                    <a:ext uri="{9D8B030D-6E8A-4147-A177-3AD203B41FA5}">
                      <a16:colId xmlns:a16="http://schemas.microsoft.com/office/drawing/2014/main" val="73482823"/>
                    </a:ext>
                  </a:extLst>
                </a:gridCol>
                <a:gridCol w="1307565">
                  <a:extLst>
                    <a:ext uri="{9D8B030D-6E8A-4147-A177-3AD203B41FA5}">
                      <a16:colId xmlns:a16="http://schemas.microsoft.com/office/drawing/2014/main" val="3122952976"/>
                    </a:ext>
                  </a:extLst>
                </a:gridCol>
                <a:gridCol w="756000">
                  <a:extLst>
                    <a:ext uri="{9D8B030D-6E8A-4147-A177-3AD203B41FA5}">
                      <a16:colId xmlns:a16="http://schemas.microsoft.com/office/drawing/2014/main" val="140611446"/>
                    </a:ext>
                  </a:extLst>
                </a:gridCol>
                <a:gridCol w="3276000">
                  <a:extLst>
                    <a:ext uri="{9D8B030D-6E8A-4147-A177-3AD203B41FA5}">
                      <a16:colId xmlns:a16="http://schemas.microsoft.com/office/drawing/2014/main" val="3761716030"/>
                    </a:ext>
                  </a:extLst>
                </a:gridCol>
                <a:gridCol w="3276000">
                  <a:extLst>
                    <a:ext uri="{9D8B030D-6E8A-4147-A177-3AD203B41FA5}">
                      <a16:colId xmlns:a16="http://schemas.microsoft.com/office/drawing/2014/main" val="1219594046"/>
                    </a:ext>
                  </a:extLst>
                </a:gridCol>
              </a:tblGrid>
              <a:tr h="360000">
                <a:tc>
                  <a:txBody>
                    <a:bodyPr/>
                    <a:lstStyle/>
                    <a:p>
                      <a:pPr algn="ctr"/>
                      <a:r>
                        <a:rPr lang="en-GB" sz="1200"/>
                        <a:t>Declaration</a:t>
                      </a:r>
                    </a:p>
                  </a:txBody>
                  <a:tcPr marL="45720" marR="45720" anchor="ctr">
                    <a:lnL w="6350" cap="flat" cmpd="sng" algn="ctr">
                      <a:no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gridSpan="2">
                  <a:txBody>
                    <a:bodyPr/>
                    <a:lstStyle/>
                    <a:p>
                      <a:pPr algn="ctr"/>
                      <a:r>
                        <a:rPr lang="en-GB" sz="1200"/>
                        <a:t>Description </a:t>
                      </a:r>
                    </a:p>
                  </a:txBody>
                  <a:tcPr marL="45720" marR="45720" anchor="ctr">
                    <a:lnT w="6350" cap="flat" cmpd="sng" algn="ctr">
                      <a:noFill/>
                      <a:prstDash val="solid"/>
                      <a:round/>
                      <a:headEnd type="none" w="med" len="med"/>
                      <a:tailEnd type="none" w="med" len="med"/>
                    </a:lnT>
                    <a:solidFill>
                      <a:srgbClr val="009999"/>
                    </a:solidFill>
                  </a:tcPr>
                </a:tc>
                <a:tc hMerge="1">
                  <a:txBody>
                    <a:bodyPr/>
                    <a:lstStyle/>
                    <a:p>
                      <a:endParaRPr lang="en-GB"/>
                    </a:p>
                  </a:txBody>
                  <a:tcPr/>
                </a:tc>
                <a:tc>
                  <a:txBody>
                    <a:bodyPr/>
                    <a:lstStyle/>
                    <a:p>
                      <a:pPr algn="ctr"/>
                      <a:r>
                        <a:rPr lang="en-GB" sz="1200"/>
                        <a:t>Dec. Level</a:t>
                      </a:r>
                    </a:p>
                  </a:txBody>
                  <a:tcPr marL="45720" marR="45720" anchor="ctr">
                    <a:lnR w="190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tc>
                  <a:txBody>
                    <a:bodyPr/>
                    <a:lstStyle/>
                    <a:p>
                      <a:pPr algn="ctr"/>
                      <a:r>
                        <a:rPr lang="en-GB" sz="1200"/>
                        <a:t>UK Quota Order Number Not Declared</a:t>
                      </a:r>
                    </a:p>
                  </a:txBody>
                  <a:tcPr marL="45720" marR="45720" anchor="ctr">
                    <a:lnL w="19050" cap="flat" cmpd="sng" algn="ctr">
                      <a:solidFill>
                        <a:schemeClr val="bg1"/>
                      </a:solid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UK Quota Order Number Declared</a:t>
                      </a:r>
                    </a:p>
                  </a:txBody>
                  <a:tcPr marL="45720" marR="45720" anchor="ctr">
                    <a:lnT w="635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4219019049"/>
                  </a:ext>
                </a:extLst>
              </a:tr>
              <a:tr h="216000">
                <a:tc rowSpan="6">
                  <a:txBody>
                    <a:bodyPr/>
                    <a:lstStyle/>
                    <a:p>
                      <a:r>
                        <a:rPr lang="en-GB" sz="1100"/>
                        <a:t>Submission</a:t>
                      </a:r>
                    </a:p>
                  </a:txBody>
                  <a:tcPr marL="45720" marR="45720" anchor="ctr">
                    <a:lnL w="6350" cap="flat" cmpd="sng" algn="ctr">
                      <a:noFill/>
                      <a:prstDash val="solid"/>
                      <a:round/>
                      <a:headEnd type="none" w="med" len="med"/>
                      <a:tailEnd type="none" w="med" len="med"/>
                    </a:lnL>
                  </a:tcPr>
                </a:tc>
                <a:tc gridSpan="2">
                  <a:txBody>
                    <a:bodyPr/>
                    <a:lstStyle/>
                    <a:p>
                      <a:r>
                        <a:rPr lang="en-GB" sz="1100"/>
                        <a:t>Data set(s)</a:t>
                      </a:r>
                    </a:p>
                  </a:txBody>
                  <a:tcPr marL="45720" marR="45720" anchor="ctr"/>
                </a:tc>
                <a:tc hMerge="1">
                  <a:txBody>
                    <a:bodyPr/>
                    <a:lstStyle/>
                    <a:p>
                      <a:endParaRPr lang="en-GB"/>
                    </a:p>
                  </a:txBody>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H1</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anchor="ctr">
                    <a:lnR w="635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2138022678"/>
                  </a:ext>
                </a:extLst>
              </a:tr>
              <a:tr h="252000">
                <a:tc vMerge="1">
                  <a:txBody>
                    <a:bodyPr/>
                    <a:lstStyle/>
                    <a:p>
                      <a:endParaRPr lang="en-GB"/>
                    </a:p>
                  </a:txBody>
                  <a:tcPr/>
                </a:tc>
                <a:tc gridSpan="2">
                  <a:txBody>
                    <a:bodyPr/>
                    <a:lstStyle/>
                    <a:p>
                      <a:r>
                        <a:rPr lang="en-GB" sz="1100"/>
                        <a:t>DE 1/10 (Dec. Type)</a:t>
                      </a:r>
                    </a:p>
                  </a:txBody>
                  <a:tcPr marL="45720" marR="45720" anchor="ctr"/>
                </a:tc>
                <a:tc hMerge="1">
                  <a:txBody>
                    <a:bodyPr/>
                    <a:lstStyle/>
                    <a:p>
                      <a:endParaRPr lang="en-GB"/>
                    </a:p>
                  </a:txBody>
                  <a:tcP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Import type A, D, Y or Z</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marL="45720" marR="45720" anchor="ctr"/>
                </a:tc>
                <a:extLst>
                  <a:ext uri="{0D108BD9-81ED-4DB2-BD59-A6C34878D82A}">
                    <a16:rowId xmlns:a16="http://schemas.microsoft.com/office/drawing/2014/main" val="1101203974"/>
                  </a:ext>
                </a:extLst>
              </a:tr>
              <a:tr h="252000">
                <a:tc vMerge="1">
                  <a:txBody>
                    <a:bodyPr/>
                    <a:lstStyle/>
                    <a:p>
                      <a:endParaRPr lang="en-GB"/>
                    </a:p>
                  </a:txBody>
                  <a:tcPr/>
                </a:tc>
                <a:tc gridSpan="2">
                  <a:txBody>
                    <a:bodyPr/>
                    <a:lstStyle/>
                    <a:p>
                      <a:r>
                        <a:rPr lang="en-GB" sz="1100"/>
                        <a:t>DE 2/2 (AI Code)</a:t>
                      </a:r>
                    </a:p>
                  </a:txBody>
                  <a:tcPr marL="45720" marR="45720" anchor="ctr"/>
                </a:tc>
                <a:tc hMerge="1">
                  <a:txBody>
                    <a:bodyPr/>
                    <a:lstStyle/>
                    <a:p>
                      <a:endParaRPr lang="en-GB"/>
                    </a:p>
                  </a:txBody>
                  <a:tcPr/>
                </a:tc>
                <a:tc>
                  <a:txBody>
                    <a:bodyPr/>
                    <a:lstStyle/>
                    <a:p>
                      <a:pPr algn="ctr"/>
                      <a:r>
                        <a:rPr lang="en-GB" sz="1100"/>
                        <a:t>Item</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‘NIIMP’</a:t>
                      </a:r>
                    </a:p>
                  </a:txBody>
                  <a:tcPr marL="45720" marR="45720" anchor="ctr">
                    <a:lnL w="19050" cap="flat" cmpd="sng" algn="ctr">
                      <a:solidFill>
                        <a:schemeClr val="bg1"/>
                      </a:solidFill>
                      <a:prstDash val="solid"/>
                      <a:round/>
                      <a:headEnd type="none" w="med" len="med"/>
                      <a:tailEnd type="none" w="med" len="med"/>
                    </a:lnL>
                  </a:tcPr>
                </a:tc>
                <a:tc hMerge="1">
                  <a:txBody>
                    <a:bodyPr/>
                    <a:lstStyle/>
                    <a:p>
                      <a:endParaRPr lang="en-GB"/>
                    </a:p>
                  </a:txBody>
                  <a:tcPr/>
                </a:tc>
                <a:extLst>
                  <a:ext uri="{0D108BD9-81ED-4DB2-BD59-A6C34878D82A}">
                    <a16:rowId xmlns:a16="http://schemas.microsoft.com/office/drawing/2014/main" val="951800429"/>
                  </a:ext>
                </a:extLst>
              </a:tr>
              <a:tr h="252000">
                <a:tc vMerge="1">
                  <a:txBody>
                    <a:bodyPr/>
                    <a:lstStyle/>
                    <a:p>
                      <a:endParaRPr/>
                    </a:p>
                  </a:txBody>
                  <a:tcPr anchor="ctr">
                    <a:lnL w="6350" cap="flat" cmpd="sng" algn="ctr">
                      <a:solidFill>
                        <a:schemeClr val="tx1"/>
                      </a:solidFill>
                      <a:prstDash val="solid"/>
                      <a:round/>
                      <a:headEnd type="none" w="med" len="med"/>
                      <a:tailEnd type="none" w="med" len="med"/>
                    </a:lnL>
                  </a:tcPr>
                </a:tc>
                <a:tc rowSpan="2">
                  <a:txBody>
                    <a:bodyPr/>
                    <a:lstStyle/>
                    <a:p>
                      <a:r>
                        <a:rPr lang="en-GB" sz="1100"/>
                        <a:t>DE 2/2 (AI Code)</a:t>
                      </a:r>
                    </a:p>
                  </a:txBody>
                  <a:tcPr marL="45720" marR="45720" anchor="ctr"/>
                </a:tc>
                <a:tc>
                  <a:txBody>
                    <a:bodyPr/>
                    <a:lstStyle/>
                    <a:p>
                      <a:r>
                        <a:rPr lang="en-GB" sz="1100"/>
                        <a:t>Union/National Code</a:t>
                      </a:r>
                    </a:p>
                  </a:txBody>
                  <a:tcPr marL="45720" marR="45720" anchor="ctr"/>
                </a:tc>
                <a:tc rowSpan="2">
                  <a:txBody>
                    <a:bodyPr/>
                    <a:lstStyle/>
                    <a:p>
                      <a:pPr algn="ctr"/>
                      <a:r>
                        <a:rPr lang="en-GB" sz="1100"/>
                        <a:t>Item</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‘NIQUO’</a:t>
                      </a:r>
                    </a:p>
                  </a:txBody>
                  <a:tcPr marL="45720" marR="45720" anchor="ctr">
                    <a:lnL w="19050" cap="flat" cmpd="sng" algn="ctr">
                      <a:solidFill>
                        <a:schemeClr val="bg1"/>
                      </a:solidFill>
                      <a:prstDash val="solid"/>
                      <a:round/>
                      <a:headEnd type="none" w="med" len="med"/>
                      <a:tailEnd type="none" w="med" len="med"/>
                    </a:lnL>
                  </a:tcPr>
                </a:tc>
                <a:tc hMerge="1">
                  <a:txBody>
                    <a:bodyPr/>
                    <a:lstStyle/>
                    <a:p>
                      <a:endParaRPr/>
                    </a:p>
                  </a:txBody>
                  <a:tcPr marL="45720" marR="45720" anchor="ctr"/>
                </a:tc>
                <a:extLst>
                  <a:ext uri="{0D108BD9-81ED-4DB2-BD59-A6C34878D82A}">
                    <a16:rowId xmlns:a16="http://schemas.microsoft.com/office/drawing/2014/main" val="614425959"/>
                  </a:ext>
                </a:extLst>
              </a:tr>
              <a:tr h="396000">
                <a:tc vMerge="1">
                  <a:txBody>
                    <a:bodyPr/>
                    <a:lstStyle/>
                    <a:p>
                      <a:endParaRPr lang="en-GB"/>
                    </a:p>
                  </a:txBody>
                  <a:tcPr/>
                </a:tc>
                <a:tc vMerge="1">
                  <a:txBody>
                    <a:bodyPr/>
                    <a:lstStyle/>
                    <a:p>
                      <a:endParaRPr lang="en-GB" sz="1100"/>
                    </a:p>
                  </a:txBody>
                  <a:tcPr marL="45720" marR="45720" anchor="ctr"/>
                </a:tc>
                <a:tc>
                  <a:txBody>
                    <a:bodyPr/>
                    <a:lstStyle/>
                    <a:p>
                      <a:r>
                        <a:rPr lang="en-GB" sz="1100"/>
                        <a:t>Free Text Information</a:t>
                      </a:r>
                    </a:p>
                  </a:txBody>
                  <a:tcPr marL="45720" marR="45720" anchor="ctr"/>
                </a:tc>
                <a:tc vMerge="1">
                  <a:txBody>
                    <a:bodyPr/>
                    <a:lstStyle/>
                    <a:p>
                      <a:pPr algn="ctr"/>
                      <a:endParaRPr lang="en-GB" sz="1100"/>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Free text information</a:t>
                      </a:r>
                    </a:p>
                    <a:p>
                      <a:pPr algn="ctr"/>
                      <a:r>
                        <a:rPr lang="en-GB" sz="1100"/>
                        <a:t>(Guidance is provided in the CDS Import Declaration Completion Guide)</a:t>
                      </a:r>
                    </a:p>
                  </a:txBody>
                  <a:tcPr marL="45720" marR="45720" anchor="ctr">
                    <a:lnL w="19050" cap="flat" cmpd="sng" algn="ctr">
                      <a:solidFill>
                        <a:schemeClr val="bg1"/>
                      </a:solidFill>
                      <a:prstDash val="solid"/>
                      <a:round/>
                      <a:headEnd type="none" w="med" len="med"/>
                      <a:tailEnd type="none" w="med" len="med"/>
                    </a:lnL>
                  </a:tcPr>
                </a:tc>
                <a:tc hMerge="1">
                  <a:txBody>
                    <a:bodyPr/>
                    <a:lstStyle/>
                    <a:p>
                      <a:endParaRPr/>
                    </a:p>
                  </a:txBody>
                  <a:tcPr marL="45720" marR="45720" anchor="ctr"/>
                </a:tc>
                <a:extLst>
                  <a:ext uri="{0D108BD9-81ED-4DB2-BD59-A6C34878D82A}">
                    <a16:rowId xmlns:a16="http://schemas.microsoft.com/office/drawing/2014/main" val="2223813444"/>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gridSpan="2">
                  <a:txBody>
                    <a:bodyPr/>
                    <a:lstStyle/>
                    <a:p>
                      <a:r>
                        <a:rPr lang="en-GB" sz="1100"/>
                        <a:t>DE 8/1 (Quota Number)</a:t>
                      </a:r>
                    </a:p>
                  </a:txBody>
                  <a:tcPr marL="45720" marR="45720" anchor="ctr"/>
                </a:tc>
                <a:tc hMerge="1">
                  <a:txBody>
                    <a:bodyPr/>
                    <a:lstStyle/>
                    <a:p>
                      <a:endParaRPr lang="en-GB"/>
                    </a:p>
                  </a:txBody>
                  <a:tcP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a:t>
                      </a:r>
                    </a:p>
                    <a:p>
                      <a:pPr algn="ctr"/>
                      <a:r>
                        <a:rPr lang="en-GB" sz="1100"/>
                        <a:t>(No quota order number required)</a:t>
                      </a:r>
                    </a:p>
                  </a:txBody>
                  <a:tcPr marL="45720" marR="45720" anchor="ctr">
                    <a:lnL w="19050" cap="flat" cmpd="sng" algn="ctr">
                      <a:solidFill>
                        <a:schemeClr val="bg1"/>
                      </a:solidFill>
                      <a:prstDash val="solid"/>
                      <a:round/>
                      <a:headEnd type="none" w="med" len="med"/>
                      <a:tailEnd type="none" w="med" len="med"/>
                    </a:lnL>
                  </a:tcPr>
                </a:tc>
                <a:tc>
                  <a:txBody>
                    <a:bodyPr/>
                    <a:lstStyle/>
                    <a:p>
                      <a:pPr algn="ctr"/>
                      <a:r>
                        <a:rPr lang="en-GB" sz="1100"/>
                        <a:t>Order number of the tariff quota</a:t>
                      </a:r>
                    </a:p>
                    <a:p>
                      <a:pPr algn="ctr"/>
                      <a:r>
                        <a:rPr lang="en-GB" sz="1100"/>
                        <a:t>(Guidance is provided in the CDS Import </a:t>
                      </a:r>
                    </a:p>
                    <a:p>
                      <a:pPr algn="ctr"/>
                      <a:r>
                        <a:rPr lang="en-GB" sz="1100"/>
                        <a:t>Declaration Completion Guide)</a:t>
                      </a:r>
                    </a:p>
                  </a:txBody>
                  <a:tcPr marL="45720" marR="45720" anchor="ctr"/>
                </a:tc>
                <a:extLst>
                  <a:ext uri="{0D108BD9-81ED-4DB2-BD59-A6C34878D82A}">
                    <a16:rowId xmlns:a16="http://schemas.microsoft.com/office/drawing/2014/main" val="1773938648"/>
                  </a:ext>
                </a:extLst>
              </a:tr>
              <a:tr h="252000">
                <a:tc>
                  <a:txBody>
                    <a:bodyPr/>
                    <a:lstStyle/>
                    <a:p>
                      <a:r>
                        <a:rPr lang="en-GB" sz="1100"/>
                        <a:t>Validation</a:t>
                      </a:r>
                    </a:p>
                  </a:txBody>
                  <a:tcPr marL="45720" marR="45720" anchor="ctr">
                    <a:lnL w="6350" cap="flat" cmpd="sng" algn="ctr">
                      <a:noFill/>
                      <a:prstDash val="solid"/>
                      <a:round/>
                      <a:headEnd type="none" w="med" len="med"/>
                      <a:tailEnd type="none" w="med" len="med"/>
                    </a:lnL>
                  </a:tcPr>
                </a:tc>
                <a:tc gridSpan="2">
                  <a:txBody>
                    <a:bodyPr/>
                    <a:lstStyle/>
                    <a:p>
                      <a:r>
                        <a:rPr lang="en-GB" sz="1100"/>
                        <a:t>DE 2/2 (AI Code – Free Text Information)</a:t>
                      </a:r>
                    </a:p>
                  </a:txBody>
                  <a:tcPr marL="45720" marR="45720" anchor="ctr"/>
                </a:tc>
                <a:tc hMerge="1">
                  <a:txBody>
                    <a:bodyPr/>
                    <a:lstStyle/>
                    <a:p>
                      <a:endParaRPr lang="en-GB"/>
                    </a:p>
                  </a:txBody>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Where AI Code ‘NIQUO’ is declared in DE 2/2 at item level, </a:t>
                      </a:r>
                    </a:p>
                    <a:p>
                      <a:pPr algn="ctr"/>
                      <a:r>
                        <a:rPr lang="en-GB" sz="1100"/>
                        <a:t>the free text description must be completed</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marL="45720" marR="45720" anchor="ctr"/>
                </a:tc>
                <a:extLst>
                  <a:ext uri="{0D108BD9-81ED-4DB2-BD59-A6C34878D82A}">
                    <a16:rowId xmlns:a16="http://schemas.microsoft.com/office/drawing/2014/main" val="302984438"/>
                  </a:ext>
                </a:extLst>
              </a:tr>
              <a:tr h="0">
                <a:tc>
                  <a:txBody>
                    <a:bodyPr/>
                    <a:lstStyle/>
                    <a:p>
                      <a:r>
                        <a:rPr lang="en-GB" sz="1100"/>
                        <a:t>Calculation</a:t>
                      </a:r>
                    </a:p>
                  </a:txBody>
                  <a:tcPr marL="45720" marR="45720" anchor="ctr">
                    <a:lnL w="6350" cap="flat" cmpd="sng" algn="ctr">
                      <a:noFill/>
                      <a:prstDash val="solid"/>
                      <a:round/>
                      <a:headEnd type="none" w="med" len="med"/>
                      <a:tailEnd type="none" w="med" len="med"/>
                    </a:lnL>
                  </a:tcPr>
                </a:tc>
                <a:tc gridSpan="2">
                  <a:txBody>
                    <a:bodyPr/>
                    <a:lstStyle/>
                    <a:p>
                      <a:r>
                        <a:rPr lang="en-GB" sz="1100"/>
                        <a:t>Charges</a:t>
                      </a:r>
                    </a:p>
                  </a:txBody>
                  <a:tcPr marL="45720" marR="45720" anchor="ctr"/>
                </a:tc>
                <a:tc hMerge="1">
                  <a:txBody>
                    <a:bodyPr/>
                    <a:lstStyle/>
                    <a:p>
                      <a:endParaRPr lang="en-GB"/>
                    </a:p>
                  </a:txBody>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CDS will charge duty according to the UK Tariff rate</a:t>
                      </a:r>
                    </a:p>
                  </a:txBody>
                  <a:tcPr marL="45720" marR="45720" anchor="ctr">
                    <a:lnL w="19050" cap="flat" cmpd="sng" algn="ctr">
                      <a:solidFill>
                        <a:schemeClr val="bg1"/>
                      </a:solidFill>
                      <a:prstDash val="solid"/>
                      <a:round/>
                      <a:headEnd type="none" w="med" len="med"/>
                      <a:tailEnd type="none" w="med" len="med"/>
                    </a:lnL>
                  </a:tcPr>
                </a:tc>
                <a:tc>
                  <a:txBody>
                    <a:bodyPr/>
                    <a:lstStyle/>
                    <a:p>
                      <a:pPr algn="ctr"/>
                      <a:r>
                        <a:rPr lang="en-GB" sz="1100"/>
                        <a:t>CDS will charge duty according to the UK Tariff rate, subject to any quota request present on the declaration </a:t>
                      </a:r>
                    </a:p>
                    <a:p>
                      <a:pPr algn="ctr">
                        <a:spcBef>
                          <a:spcPts val="200"/>
                        </a:spcBef>
                      </a:pPr>
                      <a:r>
                        <a:rPr lang="en-GB" sz="1100"/>
                        <a:t>Where this condition is met, subject to any quota request being listed on a declaration, the UK First Come First Serve Quota Validation and Provisional Calculation process will be followed</a:t>
                      </a:r>
                    </a:p>
                  </a:txBody>
                  <a:tcPr marL="45720" marR="45720" anchor="ctr"/>
                </a:tc>
                <a:extLst>
                  <a:ext uri="{0D108BD9-81ED-4DB2-BD59-A6C34878D82A}">
                    <a16:rowId xmlns:a16="http://schemas.microsoft.com/office/drawing/2014/main" val="1049963062"/>
                  </a:ext>
                </a:extLst>
              </a:tr>
              <a:tr h="396000">
                <a:tc>
                  <a:txBody>
                    <a:bodyPr/>
                    <a:lstStyle/>
                    <a:p>
                      <a:r>
                        <a:rPr lang="en-GB" sz="1100"/>
                        <a:t>Notification</a:t>
                      </a:r>
                    </a:p>
                  </a:txBody>
                  <a:tcPr marL="45720" marR="45720" anchor="ctr">
                    <a:lnL w="6350" cap="flat" cmpd="sng" algn="ctr">
                      <a:noFill/>
                      <a:prstDash val="solid"/>
                      <a:round/>
                      <a:headEnd type="none" w="med" len="med"/>
                      <a:tailEnd type="none" w="med" len="med"/>
                    </a:lnL>
                    <a:lnB w="6350" cap="flat" cmpd="sng" algn="ctr">
                      <a:noFill/>
                      <a:prstDash val="solid"/>
                      <a:round/>
                      <a:headEnd type="none" w="med" len="med"/>
                      <a:tailEnd type="none" w="med" len="med"/>
                    </a:lnB>
                  </a:tcPr>
                </a:tc>
                <a:tc gridSpan="2">
                  <a:txBody>
                    <a:bodyPr/>
                    <a:lstStyle/>
                    <a:p>
                      <a:r>
                        <a:rPr lang="en-GB" sz="1100"/>
                        <a:t>Trader Notifications</a:t>
                      </a:r>
                    </a:p>
                  </a:txBody>
                  <a:tcPr marL="45720" marR="45720" anchor="ctr">
                    <a:lnB w="6350" cap="flat" cmpd="sng" algn="ctr">
                      <a:noFill/>
                      <a:prstDash val="solid"/>
                      <a:round/>
                      <a:headEnd type="none" w="med" len="med"/>
                      <a:tailEnd type="none" w="med" len="med"/>
                    </a:lnB>
                  </a:tcPr>
                </a:tc>
                <a:tc hMerge="1">
                  <a:txBody>
                    <a:bodyPr/>
                    <a:lstStyle/>
                    <a:p>
                      <a:endParaRPr lang="en-GB"/>
                    </a:p>
                  </a:txBody>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lnB w="6350" cap="flat" cmpd="sng" algn="ctr">
                      <a:noFill/>
                      <a:prstDash val="solid"/>
                      <a:round/>
                      <a:headEnd type="none" w="med" len="med"/>
                      <a:tailEnd type="none" w="med" len="med"/>
                    </a:lnB>
                  </a:tcPr>
                </a:tc>
                <a:tc gridSpan="2">
                  <a:txBody>
                    <a:bodyPr/>
                    <a:lstStyle/>
                    <a:p>
                      <a:pPr algn="ctr"/>
                      <a:r>
                        <a:rPr lang="en-GB" sz="1100" dirty="0"/>
                        <a:t>Where ‘NIQUO’ is declared in D.E. 2/2 at item level and is </a:t>
                      </a:r>
                      <a:r>
                        <a:rPr lang="en-GB" sz="1100" b="1" dirty="0"/>
                        <a:t>not</a:t>
                      </a:r>
                      <a:r>
                        <a:rPr lang="en-GB" sz="1100" dirty="0"/>
                        <a:t> followed by the free text information, </a:t>
                      </a:r>
                    </a:p>
                    <a:p>
                      <a:pPr algn="ctr"/>
                      <a:r>
                        <a:rPr lang="en-GB" sz="1100" dirty="0"/>
                        <a:t>CDS will reject the declaration and return a DMSREJ notification to the submitter</a:t>
                      </a:r>
                    </a:p>
                  </a:txBody>
                  <a:tcPr marL="45720" marR="45720" anchor="ctr">
                    <a:lnL w="190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B w="6350" cap="flat" cmpd="sng" algn="ctr">
                      <a:noFill/>
                      <a:prstDash val="solid"/>
                      <a:round/>
                      <a:headEnd type="none" w="med" len="med"/>
                      <a:tailEnd type="none" w="med" len="med"/>
                    </a:lnB>
                  </a:tcPr>
                </a:tc>
                <a:tc hMerge="1">
                  <a:txBody>
                    <a:bodyPr/>
                    <a:lstStyle/>
                    <a:p>
                      <a:pPr algn="ctr"/>
                      <a:endParaRPr lang="en-GB" sz="1100"/>
                    </a:p>
                  </a:txBody>
                  <a:tcPr anchor="ctr"/>
                </a:tc>
                <a:extLst>
                  <a:ext uri="{0D108BD9-81ED-4DB2-BD59-A6C34878D82A}">
                    <a16:rowId xmlns:a16="http://schemas.microsoft.com/office/drawing/2014/main" val="3799027658"/>
                  </a:ext>
                </a:extLst>
              </a:tr>
            </a:tbl>
          </a:graphicData>
        </a:graphic>
      </p:graphicFrame>
    </p:spTree>
    <p:extLst>
      <p:ext uri="{BB962C8B-B14F-4D97-AF65-F5344CB8AC3E}">
        <p14:creationId xmlns:p14="http://schemas.microsoft.com/office/powerpoint/2010/main" val="445432636"/>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2600712"/>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Windsor Framework: XI VAT No. Validation for Onward Supply Relief (OSR) Claims (1/2)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OSR involves putting the goods into free circulation in Northern Ireland, for onward movement to a final destination in another EU member state. This is done by paying any applicable Customs Duty in Northern Ireland, and using OSR to claim relief from the immediate payment of import VAT. VAT is then accounted for by the recipient of the goods in the final EU destination country.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importer is eligible to operate under the terms of NIP/Windsor Framework (WF) where: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importer's goods are</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 located in Northern Ireland at the time of sale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importer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receives goods in Northern Ireland from VAT-registered EU businesses for business purposes</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importer </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sells or moves goods from Northern Ireland to an EU country</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importer indicates the intention to claim for OSR using Requested Procedure Code 42 in DE 1/10 (Requested and Previous Procedure Codes). The VRN must be declared in DE 3/40, against the codes FR1, FR2 and FR3. These codes allow the user to indicate which parties are involved in the onward supply, e.g. importer, customer, appointed agent.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functionality provides validation to ensure that OSR can only be claimed where an importer is registered to use VAT for WF purposes.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 b="0" i="0" u="sng" strike="noStrike" kern="1200" cap="none" spc="0" normalizeH="0" baseline="0" noProof="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65129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62D7DCE0-14C2-7E23-E328-46CC88230C91}"/>
              </a:ext>
            </a:extLst>
          </p:cNvPr>
          <p:cNvSpPr txBox="1"/>
          <p:nvPr/>
        </p:nvSpPr>
        <p:spPr>
          <a:xfrm>
            <a:off x="315463" y="838715"/>
            <a:ext cx="11460152" cy="661720"/>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a:ea typeface="Calibri"/>
                <a:cs typeface="Calibri"/>
              </a:rPr>
              <a:t>Windsor Framework: XI VAT No. Validation for Onward Supply Relief (OSR) Claims (2/2)</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a:cs typeface="Calibri"/>
              </a:rPr>
              <a:t>CDS will validate OSR claims, as shown in the table below:</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 b="1" i="0" u="none" strike="noStrike" kern="120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2" name="Table 11">
            <a:extLst>
              <a:ext uri="{FF2B5EF4-FFF2-40B4-BE49-F238E27FC236}">
                <a16:creationId xmlns:a16="http://schemas.microsoft.com/office/drawing/2014/main" id="{2FAA871B-10A5-4609-EEB9-A6DC6079238C}"/>
              </a:ext>
            </a:extLst>
          </p:cNvPr>
          <p:cNvGraphicFramePr>
            <a:graphicFrameLocks noGrp="1"/>
          </p:cNvGraphicFramePr>
          <p:nvPr/>
        </p:nvGraphicFramePr>
        <p:xfrm>
          <a:off x="363615" y="1408270"/>
          <a:ext cx="11520000" cy="4215720"/>
        </p:xfrm>
        <a:graphic>
          <a:graphicData uri="http://schemas.openxmlformats.org/drawingml/2006/table">
            <a:tbl>
              <a:tblPr firstRow="1" bandRow="1">
                <a:tableStyleId>{93296810-A885-4BE3-A3E7-6D5BEEA58F35}</a:tableStyleId>
              </a:tblPr>
              <a:tblGrid>
                <a:gridCol w="936000">
                  <a:extLst>
                    <a:ext uri="{9D8B030D-6E8A-4147-A177-3AD203B41FA5}">
                      <a16:colId xmlns:a16="http://schemas.microsoft.com/office/drawing/2014/main" val="3735089033"/>
                    </a:ext>
                  </a:extLst>
                </a:gridCol>
                <a:gridCol w="1944000">
                  <a:extLst>
                    <a:ext uri="{9D8B030D-6E8A-4147-A177-3AD203B41FA5}">
                      <a16:colId xmlns:a16="http://schemas.microsoft.com/office/drawing/2014/main" val="73482823"/>
                    </a:ext>
                  </a:extLst>
                </a:gridCol>
                <a:gridCol w="756000">
                  <a:extLst>
                    <a:ext uri="{9D8B030D-6E8A-4147-A177-3AD203B41FA5}">
                      <a16:colId xmlns:a16="http://schemas.microsoft.com/office/drawing/2014/main" val="140611446"/>
                    </a:ext>
                  </a:extLst>
                </a:gridCol>
                <a:gridCol w="2628000">
                  <a:extLst>
                    <a:ext uri="{9D8B030D-6E8A-4147-A177-3AD203B41FA5}">
                      <a16:colId xmlns:a16="http://schemas.microsoft.com/office/drawing/2014/main" val="3761716030"/>
                    </a:ext>
                  </a:extLst>
                </a:gridCol>
                <a:gridCol w="2628000">
                  <a:extLst>
                    <a:ext uri="{9D8B030D-6E8A-4147-A177-3AD203B41FA5}">
                      <a16:colId xmlns:a16="http://schemas.microsoft.com/office/drawing/2014/main" val="1219594046"/>
                    </a:ext>
                  </a:extLst>
                </a:gridCol>
                <a:gridCol w="2628000">
                  <a:extLst>
                    <a:ext uri="{9D8B030D-6E8A-4147-A177-3AD203B41FA5}">
                      <a16:colId xmlns:a16="http://schemas.microsoft.com/office/drawing/2014/main" val="3942346971"/>
                    </a:ext>
                  </a:extLst>
                </a:gridCol>
              </a:tblGrid>
              <a:tr h="360000">
                <a:tc>
                  <a:txBody>
                    <a:bodyPr/>
                    <a:lstStyle/>
                    <a:p>
                      <a:pPr algn="ctr"/>
                      <a:r>
                        <a:rPr lang="en-GB" sz="1200"/>
                        <a:t>Declaration</a:t>
                      </a:r>
                    </a:p>
                  </a:txBody>
                  <a:tcPr marL="45720" marR="45720" anchor="ctr">
                    <a:lnL w="6350" cap="flat" cmpd="sng" algn="ctr">
                      <a:no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Description </a:t>
                      </a:r>
                    </a:p>
                  </a:txBody>
                  <a:tcPr marL="45720" marR="45720" anchor="ctr">
                    <a:lnT w="6350" cap="flat" cmpd="sng" algn="ctr">
                      <a:noFill/>
                      <a:prstDash val="solid"/>
                      <a:round/>
                      <a:headEnd type="none" w="med" len="med"/>
                      <a:tailEnd type="none" w="med" len="med"/>
                    </a:lnT>
                    <a:solidFill>
                      <a:srgbClr val="009999"/>
                    </a:solidFill>
                  </a:tcPr>
                </a:tc>
                <a:tc>
                  <a:txBody>
                    <a:bodyPr/>
                    <a:lstStyle/>
                    <a:p>
                      <a:pPr algn="ctr"/>
                      <a:r>
                        <a:rPr lang="en-GB" sz="1200"/>
                        <a:t>Dec. Level</a:t>
                      </a:r>
                    </a:p>
                  </a:txBody>
                  <a:tcPr marL="45720" marR="45720" anchor="ctr">
                    <a:lnR w="190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tc>
                  <a:txBody>
                    <a:bodyPr/>
                    <a:lstStyle/>
                    <a:p>
                      <a:pPr algn="ctr"/>
                      <a:r>
                        <a:rPr lang="en-GB" sz="1200"/>
                        <a:t>Importer Role (FR1)</a:t>
                      </a:r>
                    </a:p>
                  </a:txBody>
                  <a:tcPr marL="45720" marR="45720" anchor="ctr">
                    <a:lnL w="19050" cap="flat" cmpd="sng" algn="ctr">
                      <a:solidFill>
                        <a:schemeClr val="bg1"/>
                      </a:solidFill>
                      <a:prstDash val="solid"/>
                      <a:round/>
                      <a:headEnd type="none" w="med" len="med"/>
                      <a:tailEnd type="none" w="med" len="med"/>
                    </a:lnL>
                    <a:lnT w="6350" cap="flat" cmpd="sng" algn="ctr">
                      <a:noFill/>
                      <a:prstDash val="solid"/>
                      <a:round/>
                      <a:headEnd type="none" w="med" len="med"/>
                      <a:tailEnd type="none" w="med" len="med"/>
                    </a:lnT>
                    <a:solidFill>
                      <a:srgbClr val="009999"/>
                    </a:solidFill>
                  </a:tcPr>
                </a:tc>
                <a:tc>
                  <a:txBody>
                    <a:bodyPr/>
                    <a:lstStyle/>
                    <a:p>
                      <a:pPr algn="ctr"/>
                      <a:r>
                        <a:rPr lang="en-GB" sz="1200"/>
                        <a:t>Tax Representative Role (FR3)</a:t>
                      </a:r>
                    </a:p>
                  </a:txBody>
                  <a:tcPr marL="45720" marR="45720" anchor="ctr">
                    <a:lnT w="6350" cap="flat" cmpd="sng" algn="ctr">
                      <a:noFill/>
                      <a:prstDash val="solid"/>
                      <a:round/>
                      <a:headEnd type="none" w="med" len="med"/>
                      <a:tailEnd type="none" w="med" len="med"/>
                    </a:lnT>
                    <a:solidFill>
                      <a:srgbClr val="009999"/>
                    </a:solidFill>
                  </a:tcPr>
                </a:tc>
                <a:tc>
                  <a:txBody>
                    <a:bodyPr/>
                    <a:lstStyle/>
                    <a:p>
                      <a:pPr algn="ctr"/>
                      <a:r>
                        <a:rPr lang="en-GB" sz="1200"/>
                        <a:t>Customer Role (FR2)</a:t>
                      </a:r>
                    </a:p>
                  </a:txBody>
                  <a:tcPr marL="45720" marR="45720" anchor="ctr">
                    <a:lnR w="6350" cap="flat" cmpd="sng" algn="ctr">
                      <a:noFill/>
                      <a:prstDash val="solid"/>
                      <a:round/>
                      <a:headEnd type="none" w="med" len="med"/>
                      <a:tailEnd type="none" w="med" len="med"/>
                    </a:lnR>
                    <a:lnT w="6350" cap="flat" cmpd="sng" algn="ctr">
                      <a:noFill/>
                      <a:prstDash val="solid"/>
                      <a:round/>
                      <a:headEnd type="none" w="med" len="med"/>
                      <a:tailEnd type="none" w="med" len="med"/>
                    </a:lnT>
                    <a:solidFill>
                      <a:srgbClr val="009999"/>
                    </a:solidFill>
                  </a:tcPr>
                </a:tc>
                <a:extLst>
                  <a:ext uri="{0D108BD9-81ED-4DB2-BD59-A6C34878D82A}">
                    <a16:rowId xmlns:a16="http://schemas.microsoft.com/office/drawing/2014/main" val="4219019049"/>
                  </a:ext>
                </a:extLst>
              </a:tr>
              <a:tr h="216000">
                <a:tc rowSpan="5">
                  <a:txBody>
                    <a:bodyPr/>
                    <a:lstStyle/>
                    <a:p>
                      <a:r>
                        <a:rPr lang="en-GB" sz="1100"/>
                        <a:t>Submission</a:t>
                      </a:r>
                    </a:p>
                  </a:txBody>
                  <a:tcPr marL="45720" marR="45720" anchor="ctr">
                    <a:lnL w="6350" cap="flat" cmpd="sng" algn="ctr">
                      <a:noFill/>
                      <a:prstDash val="solid"/>
                      <a:round/>
                      <a:headEnd type="none" w="med" len="med"/>
                      <a:tailEnd type="none" w="med" len="med"/>
                    </a:lnL>
                  </a:tcPr>
                </a:tc>
                <a:tc>
                  <a:txBody>
                    <a:bodyPr/>
                    <a:lstStyle/>
                    <a:p>
                      <a:r>
                        <a:rPr lang="en-GB" sz="1100"/>
                        <a:t>Data set(s)</a:t>
                      </a:r>
                    </a:p>
                  </a:txBody>
                  <a:tcPr marL="45720" marR="45720"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H1, H5 and I1</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anchor="ctr">
                    <a:lnR w="6350" cap="flat" cmpd="sng" algn="ctr">
                      <a:solidFill>
                        <a:schemeClr val="tx1"/>
                      </a:solidFill>
                      <a:prstDash val="solid"/>
                      <a:round/>
                      <a:headEnd type="none" w="med" len="med"/>
                      <a:tailEnd type="none" w="med" len="med"/>
                    </a:lnR>
                  </a:tcPr>
                </a:tc>
                <a:tc>
                  <a:txBody>
                    <a:bodyPr/>
                    <a:lstStyle/>
                    <a:p>
                      <a:pPr algn="ctr"/>
                      <a:r>
                        <a:rPr lang="en-GB" sz="1100"/>
                        <a:t>H1</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2138022678"/>
                  </a:ext>
                </a:extLst>
              </a:tr>
              <a:tr h="396000">
                <a:tc vMerge="1">
                  <a:txBody>
                    <a:bodyPr/>
                    <a:lstStyle/>
                    <a:p>
                      <a:endParaRPr/>
                    </a:p>
                  </a:txBody>
                  <a:tcPr anchor="ctr">
                    <a:lnL w="6350" cap="flat" cmpd="sng" algn="ctr">
                      <a:solidFill>
                        <a:schemeClr val="tx1"/>
                      </a:solidFill>
                      <a:prstDash val="solid"/>
                      <a:round/>
                      <a:headEnd type="none" w="med" len="med"/>
                      <a:tailEnd type="none" w="med" len="med"/>
                    </a:lnL>
                  </a:tcPr>
                </a:tc>
                <a:tc>
                  <a:txBody>
                    <a:bodyPr/>
                    <a:lstStyle/>
                    <a:p>
                      <a:r>
                        <a:rPr lang="en-GB" sz="1100"/>
                        <a:t>DE 3/40 (Additional Fiscal References – Role Code)</a:t>
                      </a:r>
                    </a:p>
                  </a:txBody>
                  <a:tcPr marL="45720" marR="45720" anchor="ctr"/>
                </a:tc>
                <a:tc>
                  <a:txBody>
                    <a:bodyPr/>
                    <a:lstStyle/>
                    <a:p>
                      <a:pPr algn="ctr"/>
                      <a:r>
                        <a:rPr lang="en-GB" sz="1100"/>
                        <a:t>Item</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FR1</a:t>
                      </a:r>
                    </a:p>
                  </a:txBody>
                  <a:tcPr marL="45720" marR="45720" anchor="ctr">
                    <a:lnL w="19050" cap="flat" cmpd="sng" algn="ctr">
                      <a:solidFill>
                        <a:schemeClr val="bg1"/>
                      </a:solidFill>
                      <a:prstDash val="solid"/>
                      <a:round/>
                      <a:headEnd type="none" w="med" len="med"/>
                      <a:tailEnd type="none" w="med" len="med"/>
                    </a:lnL>
                  </a:tcPr>
                </a:tc>
                <a:tc>
                  <a:txBody>
                    <a:bodyPr/>
                    <a:lstStyle/>
                    <a:p>
                      <a:pPr algn="ctr"/>
                      <a:r>
                        <a:rPr lang="en-GB" sz="1100"/>
                        <a:t>FR3</a:t>
                      </a:r>
                    </a:p>
                  </a:txBody>
                  <a:tcPr marL="45720" marR="45720" anchor="ctr"/>
                </a:tc>
                <a:tc>
                  <a:txBody>
                    <a:bodyPr/>
                    <a:lstStyle/>
                    <a:p>
                      <a:pPr algn="ctr"/>
                      <a:r>
                        <a:rPr lang="en-GB" sz="1100"/>
                        <a:t>FR2</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614425959"/>
                  </a:ext>
                </a:extLst>
              </a:tr>
              <a:tr h="396000">
                <a:tc vMerge="1">
                  <a:txBody>
                    <a:bodyPr/>
                    <a:lstStyle/>
                    <a:p>
                      <a:endParaRPr lang="en-GB" sz="1100"/>
                    </a:p>
                  </a:txBody>
                  <a:tcPr anchor="ctr"/>
                </a:tc>
                <a:tc>
                  <a:txBody>
                    <a:bodyPr/>
                    <a:lstStyle/>
                    <a:p>
                      <a:r>
                        <a:rPr lang="en-GB" sz="1100"/>
                        <a:t>DE 3/40 (Additional Fiscal References – Id. No.)</a:t>
                      </a:r>
                    </a:p>
                  </a:txBody>
                  <a:tcPr marL="45720" marR="45720" anchor="ct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solidFill>
                            <a:srgbClr val="000000"/>
                          </a:solidFill>
                        </a:rPr>
                        <a:t>GB or XI VRN</a:t>
                      </a:r>
                      <a:endParaRPr lang="en-GB" sz="1100"/>
                    </a:p>
                  </a:txBody>
                  <a:tcPr marL="45720" marR="45720" anchor="ctr">
                    <a:lnL w="19050" cap="flat" cmpd="sng" algn="ctr">
                      <a:solidFill>
                        <a:schemeClr val="bg1"/>
                      </a:solidFill>
                      <a:prstDash val="solid"/>
                      <a:round/>
                      <a:headEnd type="none" w="med" len="med"/>
                      <a:tailEnd type="none" w="med" len="med"/>
                    </a:lnL>
                  </a:tcPr>
                </a:tc>
                <a:tc hMerge="1">
                  <a:txBody>
                    <a:bodyPr/>
                    <a:lstStyle/>
                    <a:p>
                      <a:endParaRPr lang="en-GB"/>
                    </a:p>
                  </a:txBody>
                  <a:tcPr/>
                </a:tc>
                <a:tc>
                  <a:txBody>
                    <a:bodyPr/>
                    <a:lstStyle/>
                    <a:p>
                      <a:pPr algn="ctr"/>
                      <a:r>
                        <a:rPr lang="en-GB" sz="1100"/>
                        <a:t>OMS (Other Member State) VRN</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273183839"/>
                  </a:ext>
                </a:extLst>
              </a:tr>
              <a:tr h="252000">
                <a:tc vMerge="1">
                  <a:txBody>
                    <a:bodyPr/>
                    <a:lstStyle/>
                    <a:p>
                      <a:endParaRPr lang="en-GB" sz="1100"/>
                    </a:p>
                  </a:txBody>
                  <a:tcPr anchor="ctr"/>
                </a:tc>
                <a:tc>
                  <a:txBody>
                    <a:bodyPr/>
                    <a:lstStyle/>
                    <a:p>
                      <a:r>
                        <a:rPr lang="en-GB" sz="1100"/>
                        <a:t>DE 1/10 (Procedure Code – Requested)</a:t>
                      </a:r>
                    </a:p>
                  </a:txBody>
                  <a:tcPr marL="45720" marR="45720" anchor="ctr"/>
                </a:tc>
                <a:tc>
                  <a:txBody>
                    <a:bodyPr/>
                    <a:lstStyle/>
                    <a:p>
                      <a:pPr algn="ctr"/>
                      <a:r>
                        <a:rPr lang="en-GB" sz="1100"/>
                        <a:t>Item</a:t>
                      </a:r>
                    </a:p>
                  </a:txBody>
                  <a:tcPr marL="45720" marR="45720" anchor="ctr">
                    <a:lnR w="19050" cap="flat" cmpd="sng" algn="ctr">
                      <a:solidFill>
                        <a:schemeClr val="bg1"/>
                      </a:solidFill>
                      <a:prstDash val="solid"/>
                      <a:round/>
                      <a:headEnd type="none" w="med" len="med"/>
                      <a:tailEnd type="none" w="med" len="med"/>
                    </a:lnR>
                  </a:tcPr>
                </a:tc>
                <a:tc gridSpan="3">
                  <a:txBody>
                    <a:bodyPr/>
                    <a:lstStyle/>
                    <a:p>
                      <a:pPr algn="ctr"/>
                      <a:r>
                        <a:rPr lang="en-GB" sz="1100"/>
                        <a:t>42</a:t>
                      </a:r>
                    </a:p>
                  </a:txBody>
                  <a:tcPr marL="45720" marR="45720" anchor="ctr">
                    <a:lnL w="190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tcPr>
                </a:tc>
                <a:tc hMerge="1">
                  <a:txBody>
                    <a:bodyPr/>
                    <a:lstStyle/>
                    <a:p>
                      <a:endParaRPr/>
                    </a:p>
                  </a:txBody>
                  <a:tcPr anchor="ctr"/>
                </a:tc>
                <a:tc hMerge="1">
                  <a:txBody>
                    <a:bodyPr/>
                    <a:lstStyle/>
                    <a:p>
                      <a:endParaRPr/>
                    </a:p>
                  </a:txBody>
                  <a:tcPr marL="45720" marR="45720" anchor="ctr">
                    <a:lnR w="635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768589189"/>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a:txBody>
                    <a:bodyPr/>
                    <a:lstStyle/>
                    <a:p>
                      <a:r>
                        <a:rPr lang="en-GB" sz="1100"/>
                        <a:t>DE 3/16 (Importer Id. No.)</a:t>
                      </a:r>
                    </a:p>
                  </a:txBody>
                  <a:tcPr marL="45720" marR="45720" anchor="ctr"/>
                </a:tc>
                <a:tc>
                  <a:txBody>
                    <a:bodyPr/>
                    <a:lstStyle/>
                    <a:p>
                      <a:pPr algn="ctr"/>
                      <a:r>
                        <a:rPr lang="en-GB" sz="1100"/>
                        <a:t>Header</a:t>
                      </a:r>
                    </a:p>
                  </a:txBody>
                  <a:tcPr marL="45720" marR="45720" anchor="ctr">
                    <a:lnR w="19050" cap="flat" cmpd="sng" algn="ctr">
                      <a:solidFill>
                        <a:schemeClr val="bg1"/>
                      </a:solidFill>
                      <a:prstDash val="solid"/>
                      <a:round/>
                      <a:headEnd type="none" w="med" len="med"/>
                      <a:tailEnd type="none" w="med" len="med"/>
                    </a:lnR>
                  </a:tcPr>
                </a:tc>
                <a:tc>
                  <a:txBody>
                    <a:bodyPr/>
                    <a:lstStyle/>
                    <a:p>
                      <a:pPr algn="ctr"/>
                      <a:r>
                        <a:rPr lang="en-GB" sz="1100"/>
                        <a:t>Importer EORI</a:t>
                      </a:r>
                    </a:p>
                  </a:txBody>
                  <a:tcPr marL="45720" marR="45720" anchor="ctr">
                    <a:lnL w="19050" cap="flat" cmpd="sng" algn="ctr">
                      <a:solidFill>
                        <a:schemeClr val="bg1"/>
                      </a:solidFill>
                      <a:prstDash val="solid"/>
                      <a:round/>
                      <a:headEnd type="none" w="med" len="med"/>
                      <a:tailEnd type="none" w="med" len="med"/>
                    </a:lnL>
                  </a:tcPr>
                </a:tc>
                <a:tc>
                  <a:txBody>
                    <a:bodyPr/>
                    <a:lstStyle/>
                    <a:p>
                      <a:pPr algn="ctr"/>
                      <a:r>
                        <a:rPr lang="en-GB" sz="1100"/>
                        <a:t>Representative EORI</a:t>
                      </a:r>
                    </a:p>
                  </a:txBody>
                  <a:tcPr marL="45720" marR="45720" anchor="ctr"/>
                </a:tc>
                <a:tc>
                  <a:txBody>
                    <a:bodyPr/>
                    <a:lstStyle/>
                    <a:p>
                      <a:pPr algn="ctr"/>
                      <a:r>
                        <a:rPr lang="en-GB" sz="1100"/>
                        <a:t>(Out of scope for new functionality)</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099105842"/>
                  </a:ext>
                </a:extLst>
              </a:tr>
              <a:tr h="252000">
                <a:tc rowSpan="5">
                  <a:txBody>
                    <a:bodyPr/>
                    <a:lstStyle/>
                    <a:p>
                      <a:r>
                        <a:rPr lang="en-GB" sz="1100"/>
                        <a:t>Validation</a:t>
                      </a:r>
                    </a:p>
                  </a:txBody>
                  <a:tcPr marL="45720" marR="45720" anchor="ctr">
                    <a:lnL w="6350" cap="flat" cmpd="sng" algn="ctr">
                      <a:noFill/>
                      <a:prstDash val="solid"/>
                      <a:round/>
                      <a:headEnd type="none" w="med" len="med"/>
                      <a:tailEnd type="none" w="med" len="med"/>
                    </a:lnL>
                  </a:tcPr>
                </a:tc>
                <a:tc rowSpan="2">
                  <a:txBody>
                    <a:bodyPr/>
                    <a:lstStyle/>
                    <a:p>
                      <a:r>
                        <a:rPr lang="en-GB" sz="1100"/>
                        <a:t>DE 3/16 (Importer Id. No.)</a:t>
                      </a:r>
                    </a:p>
                  </a:txBody>
                  <a:tcPr marL="45720" marR="45720"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DE 3/16 EORI is valid</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marL="45720" marR="45720" anchor="ctr"/>
                </a:tc>
                <a:tc>
                  <a:txBody>
                    <a:bodyPr/>
                    <a:lstStyle/>
                    <a:p>
                      <a:pPr algn="ctr"/>
                      <a:r>
                        <a:rPr lang="en-GB" sz="1100"/>
                        <a:t>-</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02984438"/>
                  </a:ext>
                </a:extLst>
              </a:tr>
              <a:tr h="0">
                <a:tc vMerge="1">
                  <a:txBody>
                    <a:bodyPr/>
                    <a:lstStyle/>
                    <a:p>
                      <a:endParaRPr lang="en-GB" sz="1100"/>
                    </a:p>
                  </a:txBody>
                  <a:tcPr anchor="ctr"/>
                </a:tc>
                <a:tc vMerge="1">
                  <a:txBody>
                    <a:bodyPr/>
                    <a:lstStyle/>
                    <a:p>
                      <a:endParaRPr/>
                    </a:p>
                  </a:txBody>
                  <a:tcPr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dirty="0"/>
                        <a:t>DE 3/16 EORI is wholly owned or a member of </a:t>
                      </a:r>
                    </a:p>
                    <a:p>
                      <a:pPr algn="ctr"/>
                      <a:r>
                        <a:rPr lang="en-GB" sz="1100" dirty="0"/>
                        <a:t>the VAT group represented by the VRN in DE 3/40</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marL="45720" marR="45720" anchor="ctr"/>
                </a:tc>
                <a:tc>
                  <a:txBody>
                    <a:bodyPr/>
                    <a:lstStyle/>
                    <a:p>
                      <a:pPr algn="ctr"/>
                      <a:r>
                        <a:rPr lang="en-GB" sz="1100"/>
                        <a:t>-</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3996733000"/>
                  </a:ext>
                </a:extLst>
              </a:tr>
              <a:tr h="252000">
                <a:tc vMerge="1">
                  <a:txBody>
                    <a:bodyPr/>
                    <a:lstStyle/>
                    <a:p>
                      <a:endParaRPr lang="en-GB" sz="1100"/>
                    </a:p>
                  </a:txBody>
                  <a:tcPr anchor="ctr"/>
                </a:tc>
                <a:tc rowSpan="3">
                  <a:txBody>
                    <a:bodyPr/>
                    <a:lstStyle/>
                    <a:p>
                      <a:r>
                        <a:rPr lang="en-GB" sz="1100"/>
                        <a:t>DE 3/40 (Additional Fiscal References – Id. No.)</a:t>
                      </a:r>
                    </a:p>
                  </a:txBody>
                  <a:tcPr marL="45720" marR="45720"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Where Trader declares VRN with XI or GB prefix, </a:t>
                      </a:r>
                    </a:p>
                    <a:p>
                      <a:pPr algn="ctr"/>
                      <a:r>
                        <a:rPr lang="en-GB" sz="1100"/>
                        <a:t>it must be registered for Windsor Framework purposes</a:t>
                      </a:r>
                    </a:p>
                  </a:txBody>
                  <a:tcPr marL="45720" marR="45720" anchor="ctr">
                    <a:lnL w="19050" cap="flat" cmpd="sng" algn="ctr">
                      <a:solidFill>
                        <a:schemeClr val="bg1"/>
                      </a:solidFill>
                      <a:prstDash val="solid"/>
                      <a:round/>
                      <a:headEnd type="none" w="med" len="med"/>
                      <a:tailEnd type="none" w="med" len="med"/>
                    </a:lnL>
                  </a:tcPr>
                </a:tc>
                <a:tc hMerge="1">
                  <a:txBody>
                    <a:bodyPr/>
                    <a:lstStyle/>
                    <a:p>
                      <a:endParaRPr/>
                    </a:p>
                  </a:txBody>
                  <a:tcPr anchor="ctr"/>
                </a:tc>
                <a:tc>
                  <a:txBody>
                    <a:bodyPr/>
                    <a:lstStyle/>
                    <a:p>
                      <a:pPr algn="ctr"/>
                      <a:r>
                        <a:rPr lang="en-GB" sz="1100"/>
                        <a:t>VRN must not be prefixed with GB or XI</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037883969"/>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vMerge="1">
                  <a:txBody>
                    <a:bodyPr/>
                    <a:lstStyle/>
                    <a:p>
                      <a:endParaRPr lang="en-GB" sz="1100"/>
                    </a:p>
                  </a:txBody>
                  <a:tcPr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VAT registration status must indicate Importer/Agent is VAT registered on acceptance date</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anchor="ctr"/>
                </a:tc>
                <a:tc>
                  <a:txBody>
                    <a:bodyPr/>
                    <a:lstStyle/>
                    <a:p>
                      <a:pPr algn="ctr"/>
                      <a:r>
                        <a:rPr lang="en-GB" sz="1100"/>
                        <a:t>-</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1957584697"/>
                  </a:ext>
                </a:extLst>
              </a:tr>
              <a:tr h="252000">
                <a:tc vMerge="1">
                  <a:txBody>
                    <a:bodyPr/>
                    <a:lstStyle/>
                    <a:p>
                      <a:endParaRPr lang="en-GB" sz="1100"/>
                    </a:p>
                  </a:txBody>
                  <a:tcPr anchor="ctr">
                    <a:lnL w="3175" cap="flat" cmpd="sng" algn="ctr">
                      <a:solidFill>
                        <a:srgbClr val="000000"/>
                      </a:solidFill>
                      <a:prstDash val="solid"/>
                      <a:round/>
                      <a:headEnd type="none" w="med" len="med"/>
                      <a:tailEnd type="none" w="med" len="med"/>
                    </a:lnL>
                  </a:tcPr>
                </a:tc>
                <a:tc vMerge="1">
                  <a:txBody>
                    <a:bodyPr/>
                    <a:lstStyle/>
                    <a:p>
                      <a:endParaRPr lang="en-GB" sz="1100"/>
                    </a:p>
                  </a:txBody>
                  <a:tcPr anchor="ct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tcPr>
                </a:tc>
                <a:tc gridSpan="2">
                  <a:txBody>
                    <a:bodyPr/>
                    <a:lstStyle/>
                    <a:p>
                      <a:pPr algn="ctr"/>
                      <a:r>
                        <a:rPr lang="en-GB" sz="1100"/>
                        <a:t>VRN must not be linked to a missing Trader</a:t>
                      </a:r>
                    </a:p>
                  </a:txBody>
                  <a:tcPr marL="45720" marR="45720" anchor="ctr">
                    <a:lnL w="19050" cap="flat" cmpd="sng" algn="ctr">
                      <a:solidFill>
                        <a:schemeClr val="bg1"/>
                      </a:solidFill>
                      <a:prstDash val="solid"/>
                      <a:round/>
                      <a:headEnd type="none" w="med" len="med"/>
                      <a:tailEnd type="none" w="med" len="med"/>
                    </a:lnL>
                  </a:tcPr>
                </a:tc>
                <a:tc hMerge="1">
                  <a:txBody>
                    <a:bodyPr/>
                    <a:lstStyle/>
                    <a:p>
                      <a:pPr algn="ctr"/>
                      <a:endParaRPr lang="en-GB" sz="1100"/>
                    </a:p>
                  </a:txBody>
                  <a:tcPr anchor="ctr"/>
                </a:tc>
                <a:tc>
                  <a:txBody>
                    <a:bodyPr/>
                    <a:lstStyle/>
                    <a:p>
                      <a:pPr algn="ctr"/>
                      <a:r>
                        <a:rPr lang="en-GB" sz="1100"/>
                        <a:t>-</a:t>
                      </a:r>
                    </a:p>
                  </a:txBody>
                  <a:tcPr marL="45720" marR="45720" anchor="ctr">
                    <a:lnR w="6350" cap="flat" cmpd="sng" algn="ctr">
                      <a:noFill/>
                      <a:prstDash val="solid"/>
                      <a:round/>
                      <a:headEnd type="none" w="med" len="med"/>
                      <a:tailEnd type="none" w="med" len="med"/>
                    </a:lnR>
                  </a:tcPr>
                </a:tc>
                <a:extLst>
                  <a:ext uri="{0D108BD9-81ED-4DB2-BD59-A6C34878D82A}">
                    <a16:rowId xmlns:a16="http://schemas.microsoft.com/office/drawing/2014/main" val="4079719485"/>
                  </a:ext>
                </a:extLst>
              </a:tr>
              <a:tr h="396000">
                <a:tc>
                  <a:txBody>
                    <a:bodyPr/>
                    <a:lstStyle/>
                    <a:p>
                      <a:r>
                        <a:rPr lang="en-GB" sz="1100"/>
                        <a:t>Notification</a:t>
                      </a:r>
                    </a:p>
                  </a:txBody>
                  <a:tcPr marL="45720" marR="45720" anchor="ctr">
                    <a:lnL w="6350" cap="flat" cmpd="sng" algn="ctr">
                      <a:noFill/>
                      <a:prstDash val="solid"/>
                      <a:round/>
                      <a:headEnd type="none" w="med" len="med"/>
                      <a:tailEnd type="none" w="med" len="med"/>
                    </a:lnL>
                    <a:lnB w="6350" cap="flat" cmpd="sng" algn="ctr">
                      <a:noFill/>
                      <a:prstDash val="solid"/>
                      <a:round/>
                      <a:headEnd type="none" w="med" len="med"/>
                      <a:tailEnd type="none" w="med" len="med"/>
                    </a:lnB>
                  </a:tcPr>
                </a:tc>
                <a:tc>
                  <a:txBody>
                    <a:bodyPr/>
                    <a:lstStyle/>
                    <a:p>
                      <a:r>
                        <a:rPr lang="en-GB" sz="1100"/>
                        <a:t>Trader Notifications</a:t>
                      </a:r>
                    </a:p>
                  </a:txBody>
                  <a:tcPr marL="45720" marR="45720" anchor="ctr">
                    <a:lnB w="6350" cap="flat" cmpd="sng" algn="ctr">
                      <a:noFill/>
                      <a:prstDash val="solid"/>
                      <a:round/>
                      <a:headEnd type="none" w="med" len="med"/>
                      <a:tailEnd type="none" w="med" len="med"/>
                    </a:lnB>
                  </a:tcPr>
                </a:tc>
                <a:tc>
                  <a:txBody>
                    <a:bodyPr/>
                    <a:lstStyle/>
                    <a:p>
                      <a:pPr algn="ctr"/>
                      <a:r>
                        <a:rPr lang="en-GB" sz="1100"/>
                        <a:t>-</a:t>
                      </a:r>
                    </a:p>
                  </a:txBody>
                  <a:tcPr marL="45720" marR="45720" anchor="ctr">
                    <a:lnR w="19050" cap="flat" cmpd="sng" algn="ctr">
                      <a:solidFill>
                        <a:schemeClr val="bg1"/>
                      </a:solidFill>
                      <a:prstDash val="solid"/>
                      <a:round/>
                      <a:headEnd type="none" w="med" len="med"/>
                      <a:tailEnd type="none" w="med" len="med"/>
                    </a:lnR>
                    <a:lnB w="6350" cap="flat" cmpd="sng" algn="ctr">
                      <a:noFill/>
                      <a:prstDash val="solid"/>
                      <a:round/>
                      <a:headEnd type="none" w="med" len="med"/>
                      <a:tailEnd type="none" w="med" len="med"/>
                    </a:lnB>
                  </a:tcPr>
                </a:tc>
                <a:tc gridSpan="3">
                  <a:txBody>
                    <a:bodyPr/>
                    <a:lstStyle/>
                    <a:p>
                      <a:pPr algn="ctr"/>
                      <a:r>
                        <a:rPr lang="en-GB" sz="1100" dirty="0"/>
                        <a:t>Where the above validation criteria are </a:t>
                      </a:r>
                      <a:r>
                        <a:rPr lang="en-GB" sz="1100" b="1" dirty="0"/>
                        <a:t>not</a:t>
                      </a:r>
                      <a:r>
                        <a:rPr lang="en-GB" sz="1100" dirty="0"/>
                        <a:t> met, </a:t>
                      </a:r>
                    </a:p>
                    <a:p>
                      <a:pPr algn="ctr"/>
                      <a:r>
                        <a:rPr lang="en-GB" sz="1100" dirty="0"/>
                        <a:t>CDS will reject the declaration and return a DMSREJ notification to the Submitter</a:t>
                      </a:r>
                    </a:p>
                  </a:txBody>
                  <a:tcPr marL="45720" marR="45720" anchor="ctr">
                    <a:lnL w="190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B w="6350" cap="flat" cmpd="sng" algn="ctr">
                      <a:noFill/>
                      <a:prstDash val="solid"/>
                      <a:round/>
                      <a:headEnd type="none" w="med" len="med"/>
                      <a:tailEnd type="none" w="med" len="med"/>
                    </a:lnB>
                  </a:tcPr>
                </a:tc>
                <a:tc hMerge="1">
                  <a:txBody>
                    <a:bodyPr/>
                    <a:lstStyle/>
                    <a:p>
                      <a:pPr algn="ctr"/>
                      <a:endParaRPr lang="en-GB" sz="1100"/>
                    </a:p>
                  </a:txBody>
                  <a:tcPr anchor="ctr"/>
                </a:tc>
                <a:tc hMerge="1">
                  <a:txBody>
                    <a:bodyPr/>
                    <a:lstStyle/>
                    <a:p>
                      <a:pPr algn="ctr"/>
                      <a:endParaRPr lang="en-GB" sz="1100"/>
                    </a:p>
                  </a:txBody>
                  <a:tcPr anchor="ctr">
                    <a:lnR w="6350" cap="flat" cmpd="sng" algn="ctr">
                      <a:solidFill>
                        <a:schemeClr val="tx1"/>
                      </a:solidFill>
                      <a:prstDash val="solid"/>
                      <a:round/>
                      <a:headEnd type="none" w="med" len="med"/>
                      <a:tailEnd type="none" w="med" len="med"/>
                    </a:lnR>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9027658"/>
                  </a:ext>
                </a:extLst>
              </a:tr>
            </a:tbl>
          </a:graphicData>
        </a:graphic>
      </p:graphicFrame>
    </p:spTree>
    <p:extLst>
      <p:ext uri="{BB962C8B-B14F-4D97-AF65-F5344CB8AC3E}">
        <p14:creationId xmlns:p14="http://schemas.microsoft.com/office/powerpoint/2010/main" val="67107316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a:extLst>
              <a:ext uri="{FF2B5EF4-FFF2-40B4-BE49-F238E27FC236}">
                <a16:creationId xmlns:a16="http://schemas.microsoft.com/office/drawing/2014/main" id="{9105E830-6E06-4C30-9D12-A474D0A940A1}"/>
              </a:ext>
            </a:extLst>
          </p:cNvPr>
          <p:cNvSpPr/>
          <p:nvPr/>
        </p:nvSpPr>
        <p:spPr>
          <a:xfrm>
            <a:off x="363967" y="2644747"/>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extLst>
              <p:ext uri="{D42A27DB-BD31-4B8C-83A1-F6EECF244321}">
                <p14:modId xmlns:p14="http://schemas.microsoft.com/office/powerpoint/2010/main" val="16782578"/>
              </p:ext>
            </p:extLst>
          </p:nvPr>
        </p:nvGraphicFramePr>
        <p:xfrm>
          <a:off x="469412" y="3438525"/>
          <a:ext cx="11378564" cy="585390"/>
        </p:xfrm>
        <a:graphic>
          <a:graphicData uri="http://schemas.openxmlformats.org/drawingml/2006/table">
            <a:tbl>
              <a:tblPr firstRow="1" bandRow="1">
                <a:effectLst/>
                <a:tableStyleId>{5C22544A-7EE6-4342-B048-85BDC9FD1C3A}</a:tableStyleId>
              </a:tblPr>
              <a:tblGrid>
                <a:gridCol w="11378564">
                  <a:extLst>
                    <a:ext uri="{9D8B030D-6E8A-4147-A177-3AD203B41FA5}">
                      <a16:colId xmlns:a16="http://schemas.microsoft.com/office/drawing/2014/main" val="3681585703"/>
                    </a:ext>
                  </a:extLst>
                </a:gridCol>
              </a:tblGrid>
              <a:tr h="271292">
                <a:tc>
                  <a:txBody>
                    <a:bodyPr/>
                    <a:lstStyle/>
                    <a:p>
                      <a:pPr lvl="0" algn="ctr"/>
                      <a:r>
                        <a:rPr lang="en-GB" sz="1200" dirty="0"/>
                        <a:t>TTM29.0 (CDS 4.7.0)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17/12/2024</a:t>
                      </a:r>
                      <a:r>
                        <a:rPr lang="en-GB" sz="1200" b="0" dirty="0">
                          <a:solidFill>
                            <a:srgbClr val="000000"/>
                          </a:solidFill>
                        </a:rPr>
                        <a:t>  </a:t>
                      </a:r>
                      <a:r>
                        <a:rPr lang="en-GB" sz="1200" b="1" dirty="0">
                          <a:solidFill>
                            <a:srgbClr val="000000"/>
                          </a:solidFill>
                        </a:rPr>
                        <a:t>TDR: 17/06/2025</a:t>
                      </a:r>
                      <a:r>
                        <a:rPr lang="en-GB" sz="1200" b="0" dirty="0">
                          <a:solidFill>
                            <a:srgbClr val="000000"/>
                          </a:solidFill>
                        </a:rPr>
                        <a:t>  </a:t>
                      </a:r>
                      <a:r>
                        <a:rPr lang="en-GB" sz="1200" b="1" dirty="0">
                          <a:solidFill>
                            <a:srgbClr val="000000"/>
                          </a:solidFill>
                        </a:rPr>
                        <a:t>Live: 14/06/2025</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69412" y="4052023"/>
          <a:ext cx="11397327" cy="2398291"/>
        </p:xfrm>
        <a:graphic>
          <a:graphicData uri="http://schemas.openxmlformats.org/drawingml/2006/table">
            <a:tbl>
              <a:tblPr firstRow="1" bandRow="1">
                <a:effectLst/>
                <a:tableStyleId>{5C22544A-7EE6-4342-B048-85BDC9FD1C3A}</a:tableStyleId>
              </a:tblPr>
              <a:tblGrid>
                <a:gridCol w="2624451">
                  <a:extLst>
                    <a:ext uri="{9D8B030D-6E8A-4147-A177-3AD203B41FA5}">
                      <a16:colId xmlns:a16="http://schemas.microsoft.com/office/drawing/2014/main" val="2226360519"/>
                    </a:ext>
                  </a:extLst>
                </a:gridCol>
                <a:gridCol w="3010351">
                  <a:extLst>
                    <a:ext uri="{9D8B030D-6E8A-4147-A177-3AD203B41FA5}">
                      <a16:colId xmlns:a16="http://schemas.microsoft.com/office/drawing/2014/main" val="763822440"/>
                    </a:ext>
                  </a:extLst>
                </a:gridCol>
                <a:gridCol w="2838233">
                  <a:extLst>
                    <a:ext uri="{9D8B030D-6E8A-4147-A177-3AD203B41FA5}">
                      <a16:colId xmlns:a16="http://schemas.microsoft.com/office/drawing/2014/main" val="3390581973"/>
                    </a:ext>
                  </a:extLst>
                </a:gridCol>
                <a:gridCol w="2924292">
                  <a:extLst>
                    <a:ext uri="{9D8B030D-6E8A-4147-A177-3AD203B41FA5}">
                      <a16:colId xmlns:a16="http://schemas.microsoft.com/office/drawing/2014/main" val="2084145098"/>
                    </a:ext>
                  </a:extLst>
                </a:gridCol>
              </a:tblGrid>
              <a:tr h="463378">
                <a:tc>
                  <a:txBody>
                    <a:bodyPr/>
                    <a:lstStyle/>
                    <a:p>
                      <a:pPr marL="171450" indent="-171450">
                        <a:buFont typeface="Arial" panose="020B0604020202020204" pitchFamily="34" charset="0"/>
                        <a:buChar char="•"/>
                      </a:pPr>
                      <a:endParaRPr lang="en-GB" sz="1050" b="0" i="0" u="none" strike="noStrike" noProof="0">
                        <a:solidFill>
                          <a:schemeClr val="tx1"/>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indent="0" algn="l">
                        <a:buFont typeface="Arial" panose="020B0604020202020204" pitchFamily="34" charset="0"/>
                        <a:buNone/>
                      </a:pPr>
                      <a:r>
                        <a:rPr lang="en-GB" sz="1200" b="0" i="0" u="none" dirty="0">
                          <a:solidFill>
                            <a:schemeClr val="tx1"/>
                          </a:solidFill>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Tx/>
                        <a:buNone/>
                      </a:pPr>
                      <a:endParaRPr lang="en-GB" sz="1100" b="0" i="0" u="none" strike="noStrike" noProof="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kern="1200">
                        <a:solidFill>
                          <a:schemeClr val="dk1"/>
                        </a:solidFill>
                        <a:effectLst/>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597243">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a:effectLst/>
                        </a:rPr>
                        <a:t>     </a:t>
                      </a:r>
                    </a:p>
                    <a:p>
                      <a:pPr marL="0" marR="0" lvl="0" indent="0" algn="l" rtl="0" eaLnBrk="1" fontAlgn="auto" latinLnBrk="0" hangingPunct="1">
                        <a:lnSpc>
                          <a:spcPct val="100000"/>
                        </a:lnSpc>
                        <a:spcBef>
                          <a:spcPts val="0"/>
                        </a:spcBef>
                        <a:spcAft>
                          <a:spcPts val="0"/>
                        </a:spcAft>
                        <a:buClrTx/>
                        <a:buSzPct val="100000"/>
                        <a:buNone/>
                      </a:pPr>
                      <a:endParaRPr lang="en-GB" sz="1200" b="0" i="0" u="none" strike="noStrike" noProof="0">
                        <a:solidFill>
                          <a:srgbClr val="000000"/>
                        </a:solidFill>
                        <a:effectLst/>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effectLst/>
                        </a:rPr>
                        <a:t> </a:t>
                      </a:r>
                    </a:p>
                    <a:p>
                      <a:pPr marL="0" marR="0" lvl="0" indent="0" algn="l" rtl="0" eaLnBrk="1" fontAlgn="auto" latinLnBrk="0" hangingPunct="1">
                        <a:lnSpc>
                          <a:spcPct val="100000"/>
                        </a:lnSpc>
                        <a:spcBef>
                          <a:spcPts val="0"/>
                        </a:spcBef>
                        <a:spcAft>
                          <a:spcPts val="0"/>
                        </a:spcAft>
                        <a:buClrTx/>
                        <a:buSzPct val="100000"/>
                        <a:buNone/>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solidFill>
                            <a:schemeClr val="tx1"/>
                          </a:solidFill>
                          <a:effectLst/>
                        </a:rPr>
                        <a:t> </a:t>
                      </a:r>
                    </a:p>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fr-FR" sz="1200" b="0" u="none">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strike="noStrike" noProof="0">
                          <a:solidFill>
                            <a:schemeClr val="tx1"/>
                          </a:solidFill>
                          <a:effectLst/>
                          <a:latin typeface="Calibri"/>
                        </a:rPr>
                        <a:t>   </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619500">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b="0" u="none">
                          <a:solidFill>
                            <a:srgbClr val="000000"/>
                          </a:solidFill>
                          <a:ea typeface="Geneva"/>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None/>
                      </a:pPr>
                      <a:r>
                        <a:rPr lang="en-GB" sz="1200" b="0" i="0" u="none">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0" u="none"/>
                        <a:t>     </a:t>
                      </a:r>
                      <a:r>
                        <a:rPr lang="en-GB" sz="1200" b="0" i="0" u="none">
                          <a:solidFill>
                            <a:schemeClr val="tx1"/>
                          </a:solidFill>
                          <a:effectLst/>
                        </a:rPr>
                        <a: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0" i="0" u="none">
                          <a:solidFill>
                            <a:schemeClr val="dk1"/>
                          </a:solidFill>
                          <a:effectLst/>
                        </a:rPr>
                        <a:t>    </a:t>
                      </a:r>
                      <a:endParaRPr lang="en-GB" sz="1200" b="0" i="0" u="none">
                        <a:solidFill>
                          <a:srgbClr val="000000"/>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658940015"/>
                  </a:ext>
                </a:extLst>
              </a:tr>
              <a:tr h="718170">
                <a:tc gridSpan="4">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0" i="0" u="none" dirty="0">
                          <a:effectLst/>
                        </a:rPr>
                        <a:t>    </a:t>
                      </a:r>
                    </a:p>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1" u="none" dirty="0"/>
                        <a:t>* </a:t>
                      </a:r>
                      <a:r>
                        <a:rPr lang="en-GB" sz="1200" b="0" u="none" dirty="0"/>
                        <a:t>Please note: These two features were delivered as a part of CDS4.6.1 release.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hMerge="1">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none"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hMerge="1">
                  <a:txBody>
                    <a:bodyPr/>
                    <a:lstStyle/>
                    <a:p>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hMerge="1">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21295576"/>
                  </a:ext>
                </a:extLst>
              </a:tr>
            </a:tbl>
          </a:graphicData>
        </a:graphic>
      </p:graphicFrame>
      <p:grpSp>
        <p:nvGrpSpPr>
          <p:cNvPr id="17" name="Group 7">
            <a:extLst>
              <a:ext uri="{FF2B5EF4-FFF2-40B4-BE49-F238E27FC236}">
                <a16:creationId xmlns:a16="http://schemas.microsoft.com/office/drawing/2014/main" id="{41E1EFAA-BD97-4E2D-BB61-16E87384F3A2}"/>
              </a:ext>
            </a:extLst>
          </p:cNvPr>
          <p:cNvGrpSpPr/>
          <p:nvPr/>
        </p:nvGrpSpPr>
        <p:grpSpPr>
          <a:xfrm>
            <a:off x="6161416" y="1800986"/>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09837" y="1112388"/>
            <a:ext cx="11280111" cy="1538883"/>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The purpose of this document is to provide </a:t>
            </a:r>
            <a:r>
              <a:rPr kumimoji="0" lang="en-GB" sz="1400" b="0" i="0" u="none" strike="noStrike" kern="0" cap="none" spc="0" normalizeH="0" baseline="0" noProof="0">
                <a:ln>
                  <a:noFill/>
                </a:ln>
                <a:solidFill>
                  <a:srgbClr val="000000"/>
                </a:solidFill>
                <a:effectLst/>
                <a:uLnTx/>
                <a:uFillTx/>
                <a:latin typeface="Calibri"/>
                <a:ea typeface="Calibri"/>
                <a:cs typeface="Calibri"/>
              </a:rPr>
              <a:t>External Developers</a:t>
            </a:r>
            <a:r>
              <a:rPr kumimoji="0" lang="en-GB" sz="1400" b="0" i="0" u="none" strike="noStrike" kern="1200" cap="none" spc="0" normalizeH="0" baseline="0" noProof="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6264A7"/>
                </a:solidFill>
                <a:effectLst/>
                <a:uLnTx/>
                <a:uFillTx/>
                <a:latin typeface="Calibri" panose="020F0502020204030204"/>
                <a:ea typeface="+mn-ea"/>
                <a:cs typeface="+mn-cs"/>
                <a:hlinkClick r:id="rId3"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a:ea typeface="Calibri"/>
                <a:cs typeface="Calibri"/>
                <a:hlinkClick r:id="rId4"/>
              </a:rPr>
              <a:t>SDSTeam@hmrc.gov.uk</a:t>
            </a:r>
            <a:r>
              <a:rPr kumimoji="0" lang="en-GB" sz="1400" b="0" i="0" u="none" strike="noStrike" kern="1200" cap="none" spc="0" normalizeH="0" baseline="0" noProof="0">
                <a:ln>
                  <a:noFill/>
                </a:ln>
                <a:solidFill>
                  <a:srgbClr val="000000"/>
                </a:solidFill>
                <a:effectLst/>
                <a:uLnTx/>
                <a:uFillTx/>
                <a:latin typeface="Calibri"/>
                <a:ea typeface="Calibri"/>
                <a:cs typeface="Calibri"/>
              </a:rPr>
              <a:t>.</a:t>
            </a: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376409" y="6410667"/>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20" name="Footer Placeholder 1">
            <a:extLst>
              <a:ext uri="{FF2B5EF4-FFF2-40B4-BE49-F238E27FC236}">
                <a16:creationId xmlns:a16="http://schemas.microsoft.com/office/drawing/2014/main" id="{A21A1122-B829-80FE-C15B-A27655C0ABE8}"/>
              </a:ext>
            </a:extLst>
          </p:cNvPr>
          <p:cNvSpPr txBox="1"/>
          <p:nvPr/>
        </p:nvSpPr>
        <p:spPr>
          <a:xfrm>
            <a:off x="2961869" y="6518767"/>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grpSp>
        <p:nvGrpSpPr>
          <p:cNvPr id="2" name="Group 1">
            <a:extLst>
              <a:ext uri="{FF2B5EF4-FFF2-40B4-BE49-F238E27FC236}">
                <a16:creationId xmlns:a16="http://schemas.microsoft.com/office/drawing/2014/main" id="{874DC40D-C241-796E-C6DF-D8BC6E5C8296}"/>
              </a:ext>
            </a:extLst>
          </p:cNvPr>
          <p:cNvGrpSpPr/>
          <p:nvPr/>
        </p:nvGrpSpPr>
        <p:grpSpPr>
          <a:xfrm>
            <a:off x="469412" y="3064839"/>
            <a:ext cx="8527215" cy="331808"/>
            <a:chOff x="474672" y="3064839"/>
            <a:chExt cx="8527215" cy="331808"/>
          </a:xfrm>
        </p:grpSpPr>
        <p:sp>
          <p:nvSpPr>
            <p:cNvPr id="3" name="Rectangle 10">
              <a:extLst>
                <a:ext uri="{FF2B5EF4-FFF2-40B4-BE49-F238E27FC236}">
                  <a16:creationId xmlns:a16="http://schemas.microsoft.com/office/drawing/2014/main" id="{94168FC7-34EF-4114-A530-1D726C05FA50}"/>
                </a:ext>
              </a:extLst>
            </p:cNvPr>
            <p:cNvSpPr/>
            <p:nvPr/>
          </p:nvSpPr>
          <p:spPr>
            <a:xfrm>
              <a:off x="474672" y="3064839"/>
              <a:ext cx="849961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60989" y="3092244"/>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13" name="Group 4">
              <a:extLst>
                <a:ext uri="{FF2B5EF4-FFF2-40B4-BE49-F238E27FC236}">
                  <a16:creationId xmlns:a16="http://schemas.microsoft.com/office/drawing/2014/main" id="{A92579FC-9F94-41B6-AA6C-7D87C27C7DEC}"/>
                </a:ext>
              </a:extLst>
            </p:cNvPr>
            <p:cNvGrpSpPr/>
            <p:nvPr/>
          </p:nvGrpSpPr>
          <p:grpSpPr>
            <a:xfrm>
              <a:off x="2685253" y="3092244"/>
              <a:ext cx="325875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74672" y="3076855"/>
              <a:ext cx="49231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sp>
          <p:nvSpPr>
            <p:cNvPr id="21" name="TextBox 7">
              <a:extLst>
                <a:ext uri="{FF2B5EF4-FFF2-40B4-BE49-F238E27FC236}">
                  <a16:creationId xmlns:a16="http://schemas.microsoft.com/office/drawing/2014/main" id="{3F5C3486-6149-AFCB-2DB7-5E9BC3A0AE18}"/>
                </a:ext>
              </a:extLst>
            </p:cNvPr>
            <p:cNvSpPr txBox="1"/>
            <p:nvPr/>
          </p:nvSpPr>
          <p:spPr>
            <a:xfrm>
              <a:off x="5743135" y="3092244"/>
              <a:ext cx="325875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TDR only</a:t>
              </a:r>
            </a:p>
          </p:txBody>
        </p:sp>
        <p:sp>
          <p:nvSpPr>
            <p:cNvPr id="22" name="Oval 16">
              <a:extLst>
                <a:ext uri="{FF2B5EF4-FFF2-40B4-BE49-F238E27FC236}">
                  <a16:creationId xmlns:a16="http://schemas.microsoft.com/office/drawing/2014/main" id="{82CB8AD1-6F50-514F-71B5-D9DB42ECC32E}"/>
                </a:ext>
              </a:extLst>
            </p:cNvPr>
            <p:cNvSpPr/>
            <p:nvPr/>
          </p:nvSpPr>
          <p:spPr>
            <a:xfrm>
              <a:off x="5743135" y="3160248"/>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Oval 16">
            <a:extLst>
              <a:ext uri="{FF2B5EF4-FFF2-40B4-BE49-F238E27FC236}">
                <a16:creationId xmlns:a16="http://schemas.microsoft.com/office/drawing/2014/main" id="{D5CE33A1-37DB-5AC2-DB6B-709B450FD08D}"/>
              </a:ext>
            </a:extLst>
          </p:cNvPr>
          <p:cNvSpPr/>
          <p:nvPr/>
        </p:nvSpPr>
        <p:spPr>
          <a:xfrm>
            <a:off x="568987" y="4250595"/>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Oval 16">
            <a:extLst>
              <a:ext uri="{FF2B5EF4-FFF2-40B4-BE49-F238E27FC236}">
                <a16:creationId xmlns:a16="http://schemas.microsoft.com/office/drawing/2014/main" id="{3A059077-8C81-15DB-1DFA-8A13EA1F8F13}"/>
              </a:ext>
            </a:extLst>
          </p:cNvPr>
          <p:cNvSpPr/>
          <p:nvPr/>
        </p:nvSpPr>
        <p:spPr>
          <a:xfrm>
            <a:off x="570067" y="4745191"/>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16">
            <a:extLst>
              <a:ext uri="{FF2B5EF4-FFF2-40B4-BE49-F238E27FC236}">
                <a16:creationId xmlns:a16="http://schemas.microsoft.com/office/drawing/2014/main" id="{763B8886-CF7A-9C79-3651-93BF6B9F0307}"/>
              </a:ext>
            </a:extLst>
          </p:cNvPr>
          <p:cNvSpPr/>
          <p:nvPr/>
        </p:nvSpPr>
        <p:spPr>
          <a:xfrm>
            <a:off x="3190803" y="4745191"/>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16">
            <a:extLst>
              <a:ext uri="{FF2B5EF4-FFF2-40B4-BE49-F238E27FC236}">
                <a16:creationId xmlns:a16="http://schemas.microsoft.com/office/drawing/2014/main" id="{8937ACEB-405B-F8D6-F479-E4E794DDFE45}"/>
              </a:ext>
            </a:extLst>
          </p:cNvPr>
          <p:cNvSpPr/>
          <p:nvPr/>
        </p:nvSpPr>
        <p:spPr>
          <a:xfrm>
            <a:off x="3187680" y="533642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Oval 16">
            <a:extLst>
              <a:ext uri="{FF2B5EF4-FFF2-40B4-BE49-F238E27FC236}">
                <a16:creationId xmlns:a16="http://schemas.microsoft.com/office/drawing/2014/main" id="{73233D8E-4FC4-964F-FE9C-4F87836CABD8}"/>
              </a:ext>
            </a:extLst>
          </p:cNvPr>
          <p:cNvSpPr/>
          <p:nvPr/>
        </p:nvSpPr>
        <p:spPr>
          <a:xfrm>
            <a:off x="3190089" y="4250595"/>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16">
            <a:extLst>
              <a:ext uri="{FF2B5EF4-FFF2-40B4-BE49-F238E27FC236}">
                <a16:creationId xmlns:a16="http://schemas.microsoft.com/office/drawing/2014/main" id="{0FA71EDD-5405-240E-9D5F-95977EA5632E}"/>
              </a:ext>
            </a:extLst>
          </p:cNvPr>
          <p:cNvSpPr/>
          <p:nvPr/>
        </p:nvSpPr>
        <p:spPr>
          <a:xfrm>
            <a:off x="568729" y="533642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335EEDCE-B0CD-95C3-7CF5-F87C2784B67F}"/>
              </a:ext>
            </a:extLst>
          </p:cNvPr>
          <p:cNvSpPr txBox="1"/>
          <p:nvPr/>
        </p:nvSpPr>
        <p:spPr>
          <a:xfrm>
            <a:off x="9250057" y="4071506"/>
            <a:ext cx="2233238"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Querying at the Office of Export (XI)</a:t>
            </a:r>
          </a:p>
        </p:txBody>
      </p:sp>
      <p:sp>
        <p:nvSpPr>
          <p:cNvPr id="58" name="TextBox 57">
            <a:extLst>
              <a:ext uri="{FF2B5EF4-FFF2-40B4-BE49-F238E27FC236}">
                <a16:creationId xmlns:a16="http://schemas.microsoft.com/office/drawing/2014/main" id="{A6AE8ABC-236F-8780-876F-2F4A4BA83E40}"/>
              </a:ext>
            </a:extLst>
          </p:cNvPr>
          <p:cNvSpPr txBox="1"/>
          <p:nvPr/>
        </p:nvSpPr>
        <p:spPr>
          <a:xfrm>
            <a:off x="9250057" y="4676438"/>
            <a:ext cx="2233238" cy="28123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err="1">
                <a:ln>
                  <a:noFill/>
                </a:ln>
                <a:solidFill>
                  <a:prstClr val="black"/>
                </a:solidFill>
                <a:effectLst/>
                <a:uLnTx/>
                <a:uFillTx/>
                <a:latin typeface="Calibri"/>
                <a:ea typeface="Calibri"/>
                <a:cs typeface="Arial"/>
              </a:rPr>
              <a:t>Codelist</a:t>
            </a:r>
            <a:r>
              <a:rPr kumimoji="0" lang="en-GB" sz="1200" b="0" i="0" u="none" strike="noStrike" kern="100" cap="none" spc="0" normalizeH="0" baseline="0" noProof="0">
                <a:ln>
                  <a:noFill/>
                </a:ln>
                <a:solidFill>
                  <a:prstClr val="black"/>
                </a:solidFill>
                <a:effectLst/>
                <a:uLnTx/>
                <a:uFillTx/>
                <a:latin typeface="Calibri"/>
                <a:ea typeface="Calibri"/>
                <a:cs typeface="Arial"/>
              </a:rPr>
              <a:t> Delta</a:t>
            </a:r>
          </a:p>
        </p:txBody>
      </p:sp>
      <p:sp>
        <p:nvSpPr>
          <p:cNvPr id="59" name="TextBox 58">
            <a:extLst>
              <a:ext uri="{FF2B5EF4-FFF2-40B4-BE49-F238E27FC236}">
                <a16:creationId xmlns:a16="http://schemas.microsoft.com/office/drawing/2014/main" id="{3F9FFAF5-CA66-514B-C5E3-DF65E9C81EB6}"/>
              </a:ext>
            </a:extLst>
          </p:cNvPr>
          <p:cNvSpPr txBox="1"/>
          <p:nvPr/>
        </p:nvSpPr>
        <p:spPr>
          <a:xfrm>
            <a:off x="6336497" y="4180475"/>
            <a:ext cx="2647191" cy="28123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panose="020F0502020204030204" pitchFamily="34" charset="0"/>
                <a:cs typeface="Arial"/>
              </a:rPr>
              <a:t>Invalidations at the Office of Export (XI)</a:t>
            </a:r>
          </a:p>
        </p:txBody>
      </p:sp>
      <p:sp>
        <p:nvSpPr>
          <p:cNvPr id="60" name="TextBox 59">
            <a:extLst>
              <a:ext uri="{FF2B5EF4-FFF2-40B4-BE49-F238E27FC236}">
                <a16:creationId xmlns:a16="http://schemas.microsoft.com/office/drawing/2014/main" id="{AB660DEB-8923-26B2-A944-53E6EE162F1E}"/>
              </a:ext>
            </a:extLst>
          </p:cNvPr>
          <p:cNvSpPr txBox="1"/>
          <p:nvPr/>
        </p:nvSpPr>
        <p:spPr>
          <a:xfrm>
            <a:off x="6336497" y="5167493"/>
            <a:ext cx="2746983"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Calibri" panose="020F0502020204030204" pitchFamily="34" charset="0"/>
                <a:cs typeface="Arial"/>
              </a:rPr>
              <a:t>Post-Arrival Processing at XI (Office of Exit)</a:t>
            </a:r>
            <a:endParaRPr kumimoji="0" lang="en-GB" sz="1200" b="0" i="0" u="none" strike="noStrike" kern="100" cap="none" spc="0" normalizeH="0" baseline="0" noProof="0" dirty="0">
              <a:ln>
                <a:noFill/>
              </a:ln>
              <a:solidFill>
                <a:prstClr val="black"/>
              </a:solidFill>
              <a:effectLst/>
              <a:uLnTx/>
              <a:uFillTx/>
              <a:latin typeface="Calibri"/>
              <a:ea typeface="Calibri" panose="020F0502020204030204" pitchFamily="34" charset="0"/>
              <a:cs typeface="Arial"/>
            </a:endParaRPr>
          </a:p>
        </p:txBody>
      </p:sp>
      <p:sp>
        <p:nvSpPr>
          <p:cNvPr id="61" name="TextBox 60">
            <a:extLst>
              <a:ext uri="{FF2B5EF4-FFF2-40B4-BE49-F238E27FC236}">
                <a16:creationId xmlns:a16="http://schemas.microsoft.com/office/drawing/2014/main" id="{4F11A9AE-5E68-DFC7-EC50-B34317953424}"/>
              </a:ext>
            </a:extLst>
          </p:cNvPr>
          <p:cNvSpPr txBox="1"/>
          <p:nvPr/>
        </p:nvSpPr>
        <p:spPr>
          <a:xfrm>
            <a:off x="6336497" y="4576262"/>
            <a:ext cx="2233238"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Functional Timers for IE501 and IE518 Processing</a:t>
            </a:r>
          </a:p>
        </p:txBody>
      </p:sp>
      <p:sp>
        <p:nvSpPr>
          <p:cNvPr id="62" name="TextBox 61">
            <a:extLst>
              <a:ext uri="{FF2B5EF4-FFF2-40B4-BE49-F238E27FC236}">
                <a16:creationId xmlns:a16="http://schemas.microsoft.com/office/drawing/2014/main" id="{002A1BB2-6E29-A4F1-8BBB-389ABD677B3D}"/>
              </a:ext>
            </a:extLst>
          </p:cNvPr>
          <p:cNvSpPr txBox="1"/>
          <p:nvPr/>
        </p:nvSpPr>
        <p:spPr>
          <a:xfrm>
            <a:off x="3339687" y="4576262"/>
            <a:ext cx="2578165"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Electronic cigarettes and similar personal electric vaporising devices</a:t>
            </a:r>
            <a:r>
              <a:rPr kumimoji="0" lang="en-GB" sz="1200" b="1"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t>
            </a:r>
          </a:p>
        </p:txBody>
      </p:sp>
      <p:sp>
        <p:nvSpPr>
          <p:cNvPr id="63" name="TextBox 62">
            <a:extLst>
              <a:ext uri="{FF2B5EF4-FFF2-40B4-BE49-F238E27FC236}">
                <a16:creationId xmlns:a16="http://schemas.microsoft.com/office/drawing/2014/main" id="{ADF5E89D-9EF8-60E8-E97F-AC96A8ED0BA1}"/>
              </a:ext>
            </a:extLst>
          </p:cNvPr>
          <p:cNvSpPr txBox="1"/>
          <p:nvPr/>
        </p:nvSpPr>
        <p:spPr>
          <a:xfrm>
            <a:off x="731301" y="4576262"/>
            <a:ext cx="2233238"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panose="020F0502020204030204" pitchFamily="34" charset="0"/>
                <a:cs typeface="Arial"/>
              </a:rPr>
              <a:t>UKIMS EIDR Authorisation Validation</a:t>
            </a:r>
          </a:p>
        </p:txBody>
      </p:sp>
      <p:sp>
        <p:nvSpPr>
          <p:cNvPr id="64" name="TextBox 63">
            <a:extLst>
              <a:ext uri="{FF2B5EF4-FFF2-40B4-BE49-F238E27FC236}">
                <a16:creationId xmlns:a16="http://schemas.microsoft.com/office/drawing/2014/main" id="{14B307D6-0D08-F4A4-CB19-C4C150766BF9}"/>
              </a:ext>
            </a:extLst>
          </p:cNvPr>
          <p:cNvSpPr txBox="1"/>
          <p:nvPr/>
        </p:nvSpPr>
        <p:spPr>
          <a:xfrm>
            <a:off x="3339687" y="4081666"/>
            <a:ext cx="2233238" cy="478849"/>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Windsor Framework: Preventing use of GB Location Codes</a:t>
            </a:r>
            <a:endParaRPr kumimoji="0" lang="en-GB"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5" name="TextBox 64">
            <a:extLst>
              <a:ext uri="{FF2B5EF4-FFF2-40B4-BE49-F238E27FC236}">
                <a16:creationId xmlns:a16="http://schemas.microsoft.com/office/drawing/2014/main" id="{E98F7517-E73F-0CE7-3765-1618BA264DA5}"/>
              </a:ext>
            </a:extLst>
          </p:cNvPr>
          <p:cNvSpPr txBox="1"/>
          <p:nvPr/>
        </p:nvSpPr>
        <p:spPr>
          <a:xfrm>
            <a:off x="731301" y="4081666"/>
            <a:ext cx="2233238"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a:ea typeface="Calibri"/>
                <a:cs typeface="Calibri"/>
              </a:rPr>
              <a:t>Green Lane Specific Procedure Code Validation</a:t>
            </a:r>
          </a:p>
        </p:txBody>
      </p:sp>
      <p:sp>
        <p:nvSpPr>
          <p:cNvPr id="66" name="TextBox 65">
            <a:extLst>
              <a:ext uri="{FF2B5EF4-FFF2-40B4-BE49-F238E27FC236}">
                <a16:creationId xmlns:a16="http://schemas.microsoft.com/office/drawing/2014/main" id="{12A5C340-2181-9ADA-DA6D-E3B132DEDA52}"/>
              </a:ext>
            </a:extLst>
          </p:cNvPr>
          <p:cNvSpPr txBox="1"/>
          <p:nvPr/>
        </p:nvSpPr>
        <p:spPr>
          <a:xfrm>
            <a:off x="3339687" y="5266302"/>
            <a:ext cx="2233238" cy="281231"/>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Validation of CPTPP Measures</a:t>
            </a:r>
            <a:r>
              <a:rPr kumimoji="0" lang="en-GB" sz="12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t>
            </a:r>
            <a:r>
              <a:rPr kumimoji="0" lang="en-GB"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endParaRPr kumimoji="0" lang="en-GB" sz="1200"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7" name="TextBox 66">
            <a:extLst>
              <a:ext uri="{FF2B5EF4-FFF2-40B4-BE49-F238E27FC236}">
                <a16:creationId xmlns:a16="http://schemas.microsoft.com/office/drawing/2014/main" id="{8A62237D-EBF8-ACCC-29A4-533D5667BD70}"/>
              </a:ext>
            </a:extLst>
          </p:cNvPr>
          <p:cNvSpPr txBox="1"/>
          <p:nvPr/>
        </p:nvSpPr>
        <p:spPr>
          <a:xfrm>
            <a:off x="9250057" y="5083752"/>
            <a:ext cx="2533143"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CR119 - CDS change to accept consolidated DUCRs for departure (Prod Only)</a:t>
            </a:r>
          </a:p>
        </p:txBody>
      </p:sp>
      <p:sp>
        <p:nvSpPr>
          <p:cNvPr id="68" name="Oval 16">
            <a:extLst>
              <a:ext uri="{FF2B5EF4-FFF2-40B4-BE49-F238E27FC236}">
                <a16:creationId xmlns:a16="http://schemas.microsoft.com/office/drawing/2014/main" id="{D2E5E6DD-B1C6-92F7-DD2F-22F0E9B8D597}"/>
              </a:ext>
            </a:extLst>
          </p:cNvPr>
          <p:cNvSpPr/>
          <p:nvPr/>
        </p:nvSpPr>
        <p:spPr>
          <a:xfrm>
            <a:off x="9001887" y="533642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TextBox 7">
            <a:extLst>
              <a:ext uri="{FF2B5EF4-FFF2-40B4-BE49-F238E27FC236}">
                <a16:creationId xmlns:a16="http://schemas.microsoft.com/office/drawing/2014/main" id="{C213882B-4446-C049-653B-B6FA64539AF4}"/>
              </a:ext>
            </a:extLst>
          </p:cNvPr>
          <p:cNvSpPr txBox="1"/>
          <p:nvPr/>
        </p:nvSpPr>
        <p:spPr>
          <a:xfrm>
            <a:off x="731301" y="5167493"/>
            <a:ext cx="2233238" cy="47884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prstClr val="black"/>
                </a:solidFill>
                <a:effectLst/>
                <a:uLnTx/>
                <a:uFillTx/>
                <a:latin typeface="Calibri"/>
                <a:ea typeface="Calibri" panose="020F0502020204030204" pitchFamily="34" charset="0"/>
                <a:cs typeface="Arial"/>
              </a:rPr>
              <a:t>UKIMS EIDR Additional Validation</a:t>
            </a:r>
          </a:p>
        </p:txBody>
      </p:sp>
      <p:sp>
        <p:nvSpPr>
          <p:cNvPr id="33" name="Oval 16">
            <a:extLst>
              <a:ext uri="{FF2B5EF4-FFF2-40B4-BE49-F238E27FC236}">
                <a16:creationId xmlns:a16="http://schemas.microsoft.com/office/drawing/2014/main" id="{1F056A8A-5DB6-18B2-7F2E-BE4BEE6CF282}"/>
              </a:ext>
            </a:extLst>
          </p:cNvPr>
          <p:cNvSpPr/>
          <p:nvPr/>
        </p:nvSpPr>
        <p:spPr>
          <a:xfrm>
            <a:off x="9001887" y="469155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Oval 16">
            <a:extLst>
              <a:ext uri="{FF2B5EF4-FFF2-40B4-BE49-F238E27FC236}">
                <a16:creationId xmlns:a16="http://schemas.microsoft.com/office/drawing/2014/main" id="{DAB069A7-91B9-5A84-50BA-53D5ADBA9892}"/>
              </a:ext>
            </a:extLst>
          </p:cNvPr>
          <p:cNvSpPr/>
          <p:nvPr/>
        </p:nvSpPr>
        <p:spPr>
          <a:xfrm>
            <a:off x="9001887" y="418050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16">
            <a:extLst>
              <a:ext uri="{FF2B5EF4-FFF2-40B4-BE49-F238E27FC236}">
                <a16:creationId xmlns:a16="http://schemas.microsoft.com/office/drawing/2014/main" id="{11855203-165D-0B00-8774-F24B39BC49C1}"/>
              </a:ext>
            </a:extLst>
          </p:cNvPr>
          <p:cNvSpPr/>
          <p:nvPr/>
        </p:nvSpPr>
        <p:spPr>
          <a:xfrm>
            <a:off x="6152054" y="526734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Oval 16">
            <a:extLst>
              <a:ext uri="{FF2B5EF4-FFF2-40B4-BE49-F238E27FC236}">
                <a16:creationId xmlns:a16="http://schemas.microsoft.com/office/drawing/2014/main" id="{B6062471-62D2-3DCA-C6E0-051EDA73081F}"/>
              </a:ext>
            </a:extLst>
          </p:cNvPr>
          <p:cNvSpPr/>
          <p:nvPr/>
        </p:nvSpPr>
        <p:spPr>
          <a:xfrm>
            <a:off x="6152054" y="469155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Oval 16">
            <a:extLst>
              <a:ext uri="{FF2B5EF4-FFF2-40B4-BE49-F238E27FC236}">
                <a16:creationId xmlns:a16="http://schemas.microsoft.com/office/drawing/2014/main" id="{EFB285EC-AD21-C68E-0A62-DD8A4F162511}"/>
              </a:ext>
            </a:extLst>
          </p:cNvPr>
          <p:cNvSpPr/>
          <p:nvPr/>
        </p:nvSpPr>
        <p:spPr>
          <a:xfrm>
            <a:off x="6152054" y="424297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23979035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5463" y="838715"/>
            <a:ext cx="11460152" cy="559383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a:ea typeface="Calibri"/>
                <a:cs typeface="Calibri"/>
              </a:rPr>
              <a:t>Green Lane Specific Procedure Code Validation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This feature will implement procedure code validation specific to SPIMM, ensuring that declarations for H8, GL I1 C&amp;F, GL EIDR NOP, and GL C21i follows the required completion guidelines and meets the expected behaviour of declaration completion instructions. It will also provide key benefits as follows:</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Ensuring the UK Government meets its commitments under the Windsor Framework.</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Allowing traders who are authorised under the UKIMS/UKC authorisation scheme, to benefit from streamlined requirements and reduced administrative burdens through clearer SPIMM declaration processes.</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dirty="0">
                <a:ln>
                  <a:noFill/>
                </a:ln>
                <a:solidFill>
                  <a:srgbClr val="000000"/>
                </a:solidFill>
                <a:effectLst/>
                <a:uLnTx/>
                <a:uFillTx/>
                <a:latin typeface="Calibri" panose="020F0502020204030204"/>
                <a:ea typeface="+mn-ea"/>
                <a:cs typeface="+mn-cs"/>
              </a:rPr>
              <a:t>Procedure Code and Declaration Type </a:t>
            </a:r>
            <a:r>
              <a:rPr kumimoji="0" lang="en-GB" sz="1200" b="0" i="0" u="sng" strike="noStrike" kern="1200" cap="none" spc="0" normalizeH="0" baseline="0" noProof="0" dirty="0">
                <a:ln>
                  <a:noFill/>
                </a:ln>
                <a:solidFill>
                  <a:prstClr val="black"/>
                </a:solidFill>
                <a:effectLst/>
                <a:uLnTx/>
                <a:uFillTx/>
                <a:latin typeface="Calibri" panose="020F0502020204030204"/>
                <a:ea typeface="+mn-ea"/>
                <a:cs typeface="+mn-cs"/>
              </a:rPr>
              <a:t>Validation</a:t>
            </a:r>
            <a:r>
              <a:rPr kumimoji="0" lang="en-GB" sz="1200" b="0" i="0" u="sng" strike="noStrike" kern="1200" cap="none" spc="0" normalizeH="0" baseline="0" noProof="0" dirty="0">
                <a:ln>
                  <a:noFill/>
                </a:ln>
                <a:solidFill>
                  <a:srgbClr val="000000"/>
                </a:solidFill>
                <a:effectLst/>
                <a:uLnTx/>
                <a:uFillTx/>
                <a:latin typeface="Calibri" panose="020F0502020204030204"/>
                <a:ea typeface="+mn-ea"/>
                <a:cs typeface="+mn-cs"/>
              </a:rPr>
              <a:t> for H8 Declarations</a:t>
            </a:r>
            <a:endParaRPr kumimoji="0" lang="en-GB" sz="1200" b="0" i="0" u="sng"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CDS will implement </a:t>
            </a: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an additional validation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to ensure only certain combinations of Procedure Codes and Additional Declaration Types are allowed on H8 declarations. This is part of maintaining compliance with the Windsor Framework and ensuring that customs procedures are accurately followed.</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Pre-requisite:</a:t>
            </a: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 H8 declaration has been derived.  </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Acceptance Criteria:</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0751 is declared in DE 1/10 (at the item level), the Additional Declaration Type in DE 1/2 (at the header level) must be 'A'.</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0751 is declared in DE 1/10 without Additional Declaration Type 'A' in DE 1/2, the declaration will be rejected, and a DMSREJ notification will be sent.</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0771 is declared in DE 1/10, the Additional Declaration Type in DE 1/2 must be 'A'.</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0771 is declared in DE 1/10 without Additional Declaration Type 'A' in DE 1/2, the declaration will be rejected, and a DMSREJ notification will be sent.</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4051 is declared in DE 1/10, the Additional Declaration Type in DE 1/2 must be 'A' or 'Z'.</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4051 is declared in DE 1/10 without Additional Declaration Type 'A' or 'Z' in DE 1/2, the declaration will be rejected, and a DMSREJ notification will be sent.</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4071 is declared in DE 1/10, the Additional Declaration Type in DE 1/2 must be 'A' or 'Z'.</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If Procedure Code 4071 is declared in DE 1/10 without Additional Declaration Type 'A' or 'Z' in DE 1/2, the declaration will be rejected, and a DMSREJ notification will be sent.</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srgbClr val="172B4D"/>
              </a:solidFill>
              <a:effectLst/>
              <a:uLnTx/>
              <a:uFillTx/>
              <a:latin typeface="-apple-system"/>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487416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6502" y="863138"/>
            <a:ext cx="11460152" cy="540147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Green Lane Specific Procedure Code Validation cont.</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Procedure Code and Warehouse Type Validation for H8 Declarations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To comply with the Windsor Framework, CDS will </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ensure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only specific combinations of Procedure Codes and Warehouse Types are used on H8 declarations. </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H8 declaration has been derived.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Procedure Code 4071 is declared in DE 1/10 (at the item level), the Warehouse Type in DE 2/7 (at the header level) must be 'R' or 'U'.</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Procedure Code 4071 is declared in DE 1/10 without Warehouse Type 'R' or 'U' in DE 2/7, the declaration will be rejected, and a DMSREJ notification will be sent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Mandating Direct Transport Codes on SPIMM Declarations</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enforce the mandatory inclusion of Direct Transport Codes on SPIMM declarations to ensure compliance with the Windsor Framework.</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declaration must have been derived from one of the SPIMM datasets  (H8, GL I1 C&amp;F, GL EIDR NOP or GL C21i).</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any of the following Additional Procedure Codes are declared in DE 1/11 at the item level: '1SG', '1EL', '1EN', '1LG', '61G', '62G', '63G', '71G', CDS will require at least one of the following Document Codes in DE 2/3 on the same goods item:</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'N703', 'N704', 'N705', 'N710', 'N714', 'N720', 'N722', 'N730', 'N740', 'N741', 'N750', 'N760', 'N785', 'N787', 'N820', 'N821', 'N933'.</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any of the Additional Procedure Codes listed above are declared in DE 1/11 without the required Document Codes in DE 2/3, CDS will reject the declaration and issue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172B4D"/>
              </a:solidFill>
              <a:effectLst/>
              <a:uLnTx/>
              <a:uFillTx/>
              <a:latin typeface="-apple-system"/>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92488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3928" y="828486"/>
            <a:ext cx="11460152" cy="369331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Green Lane Specific Procedure Code Validation cont.</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Mandating Additional Procedure Code ‘1SP’ with Certain Previous Procedure Codes on SPIMM Declarations</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To comply with the Windsor Framework, CDS will ensure that only certain combinations of Additional Procedure Codes (APCs) and Previous Procedure Codes are allowed on SPIMM declarations.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One of the following declaration categories must be used: H8, GL I1 C&amp;F, GL EIDR NOP.</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trader declares any of the following Additional Procedure Codes in DE 1/11 at the item level: '1EL', '1EN', '1LG', '1SG', along with Previous Procedure Code '51', '71', or '78' in DE 1/10 on the same goods item, CDS will require Additional Procedure Code '1SP' in DE 1/11 for the same goods item.</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Additional Procedure Code '1SP' is not declared alongside Previous Procedure Codes '51', '71', or '78' for the same goods item on a SPIMM declaration, CDS will reject the declaration and issue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Please Note:</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This rule applies only to SPIMM declarations, as APC '1SP' must be declared with one of the following codes: '1SG', '1EL', '1EN', '1LG’ when goods exit one of the above-mentioned special procedures.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172B4D"/>
              </a:solidFill>
              <a:effectLst/>
              <a:uLnTx/>
              <a:uFillTx/>
              <a:latin typeface="-apple-system"/>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172B4D"/>
              </a:solidFill>
              <a:effectLst/>
              <a:uLnTx/>
              <a:uFillTx/>
              <a:latin typeface="-apple-system"/>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284851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4450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3928" y="839119"/>
            <a:ext cx="11460152" cy="4555093"/>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UKIMS-EIDR Authorisation Validation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functionality would ensure that only authorised traders can declare the EIDR (Entry In Declarants Road) document code ('C514') on either SPIMM or Non-SPIMM declarations.    In order to do so, they must hold a valid Full EIDR or UKIMS-EIDR authorisation. The purpose is to restrict the use of the EIDR process to authorised traders only, maintaining compliance with customs regulations. </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Additionally, it would prevent the use of UKIMS-EIDR authorisation for movements that are not classified as "Not At Risk" when transferring goods from Great Britain to Northern Ireland via Direct Transport. Ensuring the "Not At Risk" status is determined solely by authorised UKIMS traders, in alignment with the Windsor Framework as agreed with the EU.</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Validating EIDR/UKIMS-EIDR Authorisations</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validate that only authorised traders can declare using the EIDR document code ('C514') on SPIMM or Non-SPIMM  declarations. Authorised traders are those that hold a valid Full EIDR or UKIMS-EIDR authorisation.</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'J', 'K', or 'Z' import declaration (Procedure Categories H1, H8, C21i EIDR NOP) has been submitted, amended, or arrived in line with standard processes.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Document Code 'C514' is declared in DE 2/3 at the item level, CDS will validate that the Document Identifier declared in DE 2/3 belongs to a valid EIDR or UKIMS-EIDR authorisation held in CDS.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the Document Identifier is not valid a EIDR or UKIMS-EDR reference, CDS will reject the declaration and send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Other validation that already applies to the use of full EIDR will also apply to UKIMS-EIDR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 1</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The Document Identifier must be a valid EIDR/UKIMS-EIDR Document Identifier, rather than any authorisation (for example, IP, CW etc.)</a:t>
            </a:r>
            <a:endParaRPr kumimoji="0" lang="en-GB" sz="1200" b="1" i="0" u="none" strike="noStrike" kern="1200" cap="none" spc="0" normalizeH="0" baseline="0" noProof="0">
              <a:ln>
                <a:noFill/>
              </a:ln>
              <a:solidFill>
                <a:srgbClr val="000000"/>
              </a:solidFill>
              <a:effectLst/>
              <a:highlight>
                <a:srgbClr val="FFFF00"/>
              </a:highligh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365237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6502" y="834149"/>
            <a:ext cx="11460152" cy="4162678"/>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UKIMS-EIDR Authorisation Validation cont.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srgbClr val="000000"/>
                </a:solidFill>
                <a:effectLst/>
                <a:uLnTx/>
                <a:uFillTx/>
                <a:latin typeface="Calibri" panose="020F0502020204030204"/>
                <a:ea typeface="+mn-ea"/>
                <a:cs typeface="+mn-cs"/>
              </a:rPr>
              <a:t>Validating the Declaration of UKIMS-EIDR Authorisations</a:t>
            </a:r>
            <a:endParaRPr kumimoji="0" lang="en-GB" sz="1200" b="0" i="0" u="sng"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ensure that authorised traders with UKIMS-EIDR authorisation only use it for goods classified as "Not At Risk" when moving from Great Britain to Northern Ireland via Direct Transport. This protects the proper use of UKIMS-EIDR authorisation in line with the Windsor Framework.</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Pre-requisite:</a:t>
            </a:r>
            <a:endParaRPr kumimoji="0" lang="en-GB" sz="1200" b="1"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 Type 'J', 'K', or 'Z' import declaration (Procedure Categories H1, H8, C21i EIDR NOP) has been submitted, amended, or arrived as per standard procedures.</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Acceptance Criteria:</a:t>
            </a:r>
            <a:endParaRPr kumimoji="0" lang="en-GB" sz="1200" b="1"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the trader has declared "C514" as a Document Type and a valid UKIMS-EIDR authorisation as a Document Identifier in DE 2/3 at item level, CDS will ensure the following details are declared at the item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AI Codes ‘NIDOM’ and ‘NIREM’ in DE 2/2.</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Document Code '1UKI’ in DE 2/3.</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One or more of the following Document Codes in DE 2/3: 'N703', 'N704', 'N705', 'N710', 'N714', 'N720', 'N722', 'N730', 'N740', 'N741', 'N750', 'N760', 'N785', 'N787', 'N820', 'N821', 'N933’.</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any of these criteria are missing or not met, CDS will reject the declaration and issue a DMSREJ notification.</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For any declaration where Document Code '1UKI' is present, CDS will validate the UKIMS Authorisation.</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These rules only apply to traders using UKIMS-EIDR, not those using the regular Full EIDR process.</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124548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298562" y="916730"/>
            <a:ext cx="11460152" cy="5932393"/>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panose="020F0502020204030204"/>
                <a:ea typeface="+mn-ea"/>
                <a:cs typeface="+mn-cs"/>
              </a:rPr>
              <a:t>UKIMS-EIDR Additional Validation</a:t>
            </a:r>
            <a:endParaRPr kumimoji="0" lang="en-GB" sz="1200" b="1" i="0" u="sng" strike="noStrike" kern="1200" cap="none" spc="0" normalizeH="0" baseline="0" noProof="0" dirty="0">
              <a:ln>
                <a:noFill/>
              </a:ln>
              <a:solidFill>
                <a:prstClr val="black"/>
              </a:solidFill>
              <a:effectLst/>
              <a:highlight>
                <a:srgbClr val="00FF00"/>
              </a:highligh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This feature ensures that when traders declare the EIDR document code ('C514') on SPIMM or Non-SPIMM declarations under the UKIMS-EIDR (Green Lane Entry in Declarants Record) authorisation, they will follow the correct procedure. It will mandate the traders to declare a permissible Procedure Code and a valid importer EORI, ensuring that the UKIMS-EIDR process is used appropriately. Furthermore, it validates that only authorised traders are allowed to use their UKIMS-EIDR authorisation within certain Procedure Categories.</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Calibri" panose="020F0502020204030204"/>
              </a:rPr>
              <a:t>Please Note: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Calibri" panose="020F0502020204030204"/>
              </a:rPr>
              <a:t>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his feature only includes changes to UKIMS-EIDR functionality. No changes to ‘normal’ full EIDR are included in this feature.</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dirty="0">
                <a:ln>
                  <a:noFill/>
                </a:ln>
                <a:solidFill>
                  <a:prstClr val="black"/>
                </a:solidFill>
                <a:effectLst/>
                <a:uLnTx/>
                <a:uFillTx/>
                <a:latin typeface="Calibri" panose="020F0502020204030204"/>
                <a:ea typeface="+mn-ea"/>
                <a:cs typeface="+mn-cs"/>
              </a:rPr>
              <a:t>Additional Validation for UKIMS EIDR Authorisations</a:t>
            </a:r>
            <a:endParaRPr kumimoji="0" lang="en-GB" sz="1200" b="0" i="0" u="sng"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CDS must ensure that when UKIMS-EIDR authorisation is used in a declaration, all relevant validations are in place, including verifying the correct requested Procedure Codes, Previous Procedure Codes, and Procedure Categories, as well as the trader’s EORI, to ensure compliance with the Windsor Framework.</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Pre-requisites:</a:t>
            </a:r>
            <a:endPar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An import declaration has been submitted, amended, or arrived.</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Document Code 'C514' has been declared in DE 2/3 at the item level.</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Acceptance Criteria:</a:t>
            </a:r>
            <a:endPar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Where a trader has declared a  valid UKIMS EIDR authorisation number as the Document Identifier against "C514" in D.E. 2/3 at item level , then CDS will ensure that all of the below conditions are met.</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The Requested Procedure Code declared in DE 1/10 at the item level must be '40’.</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The Previous Procedure Code declared in DE 1/10 at the item level must be one of the following: '00', '51', '71', or '78’.</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A valid EORI must be declared in DE 3/16 at the header level (this validation is supported by existing rules).</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The Procedure Category derived from the declaration must be one of the following H1, H8, C21i EIDR NOP. </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If any of the above conditions are not met, CDS will reject the declaration and issue a DMSREJ notification.</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panose="020F0502020204030204"/>
            </a:endParaRPr>
          </a:p>
          <a:p>
            <a:pPr marL="171450" marR="0" lvl="0" indent="-171450" algn="just" defTabSz="914400" rtl="0" eaLnBrk="1" fontAlgn="auto" latinLnBrk="0" hangingPunct="1">
              <a:lnSpc>
                <a:spcPct val="100000"/>
              </a:lnSpc>
              <a:spcBef>
                <a:spcPts val="0"/>
              </a:spcBef>
              <a:spcAft>
                <a:spcPts val="0"/>
              </a:spcAft>
              <a:buClrTx/>
              <a:buSzTx/>
              <a:buFont typeface="Arial"/>
              <a:buChar char="•"/>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panose="020F0502020204030204"/>
            </a:endParaRPr>
          </a:p>
          <a:p>
            <a:pPr marL="171450" marR="0" lvl="0" indent="-171450" algn="just" defTabSz="914400" rtl="0" eaLnBrk="1" fontAlgn="auto" latinLnBrk="0" hangingPunct="1">
              <a:lnSpc>
                <a:spcPct val="100000"/>
              </a:lnSpc>
              <a:spcBef>
                <a:spcPts val="0"/>
              </a:spcBef>
              <a:spcAft>
                <a:spcPts val="0"/>
              </a:spcAft>
              <a:buClrTx/>
              <a:buSzTx/>
              <a:buFont typeface="Arial"/>
              <a:buChar char="•"/>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panose="020F0502020204030204"/>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1" i="0" u="sng"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1" i="0" u="sng"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012477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6502" y="834149"/>
            <a:ext cx="11460152" cy="519372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Windsor Framework: Preventing use of GB Location Codes in DE 5/23 on GB-NI, </a:t>
            </a:r>
            <a:r>
              <a:rPr kumimoji="0" lang="en-GB" sz="1200" b="1" i="0" u="sng" strike="noStrike" kern="1200" cap="none" spc="0" normalizeH="0" baseline="0" noProof="0" err="1">
                <a:ln>
                  <a:noFill/>
                </a:ln>
                <a:solidFill>
                  <a:prstClr val="black"/>
                </a:solidFill>
                <a:effectLst/>
                <a:uLnTx/>
                <a:uFillTx/>
                <a:latin typeface="Calibri" panose="020F0502020204030204"/>
                <a:ea typeface="+mn-ea"/>
                <a:cs typeface="+mn-cs"/>
              </a:rPr>
              <a:t>RoW</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-NI declarations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This feature ensures that when traders declare Northern Ireland (NI) AI Codes on import declarations, the corresponding NI Goods Location Code must also be provided. This is crucial to comply with the Windsor Framework and to comply with the introduction of the Simplified Process for Internal Market Movements (SPIMM).</a:t>
            </a: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Therefore, this new functionality will ensure that goods entering Northern Ireland from Great Britain (GB-NI) or from the Rest of the World (</a:t>
            </a:r>
            <a:r>
              <a:rPr kumimoji="0" lang="en-GB" sz="1200" b="0" i="0" u="none" strike="noStrike" kern="1200" cap="none" spc="0" normalizeH="0" baseline="0" noProof="0" err="1">
                <a:ln>
                  <a:noFill/>
                </a:ln>
                <a:solidFill>
                  <a:srgbClr val="000000"/>
                </a:solidFill>
                <a:effectLst/>
                <a:uLnTx/>
                <a:uFillTx/>
                <a:latin typeface="Calibri" panose="020F0502020204030204"/>
                <a:ea typeface="+mn-ea"/>
                <a:cs typeface="+mn-cs"/>
              </a:rPr>
              <a:t>RoW</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-NI) must declare the correct NI Goods Location Code, unless exempted under specific special procedures.</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srgbClr val="000000"/>
                </a:solidFill>
                <a:effectLst/>
                <a:uLnTx/>
                <a:uFillTx/>
                <a:latin typeface="Calibri" panose="020F0502020204030204"/>
                <a:ea typeface="+mn-ea"/>
                <a:cs typeface="+mn-cs"/>
              </a:rPr>
              <a:t>NI Goods Location Codes</a:t>
            </a:r>
            <a:endParaRPr kumimoji="0" lang="en-GB" sz="1200" b="0" i="0" u="sng"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To be compliant with Windsor framework guidelines, CDS will ensure that when a trader declares an NI AI Code on an import declaration for goods moving from Great Britain to Northern Ireland (GB-NI) or from the Rest of the World to Northern Ireland (</a:t>
            </a:r>
            <a:r>
              <a:rPr kumimoji="0" lang="en-GB" sz="1200" b="0" i="0" u="none" strike="noStrike" kern="1200" cap="none" spc="0" normalizeH="0" baseline="0" noProof="0" err="1">
                <a:ln>
                  <a:noFill/>
                </a:ln>
                <a:solidFill>
                  <a:prstClr val="black"/>
                </a:solidFill>
                <a:effectLst/>
                <a:uLnTx/>
                <a:uFillTx/>
                <a:latin typeface="Calibri" panose="020F0502020204030204"/>
                <a:ea typeface="+mn-ea"/>
                <a:cs typeface="+mn-cs"/>
              </a:rPr>
              <a:t>RoW</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-NI), a valid NI Goods Location Code must be provided.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 import declaration has been submitted, amended, or arrived under one of the following types: A, B, C, D, E, F, J, K, Y, or Z (all Procedure Categories).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trader has declared one of the following AI Codes in DE 2/2 at the item level: ‘NIDOM’ or ‘NIIMP’.</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validate that the Goods Location Code declared in DE 5/23 at the header level is one of the approved NI Location Codes (with a GB prefix), unless an exemption applies.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the 3rd character of the Goods Location Code in DE 5/23 is 'B', CDS will not enforce the validation requiring the code to be an NI Location (GB prefix) declared in DE 5/23 at header level.</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trader declares a Goods Location Code that is not one of the approved NI Location Codes (with a GB prefix) and no exemption applies, CDS will reject the declaration and issue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rPr>
              <a:t>Note</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 </a:t>
            </a: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Please find attached excel document containing list of NI Location Codes. Please refer to the online gov.uk link within the document for location code additions / amendments.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9" name="Object 8">
            <a:extLst>
              <a:ext uri="{FF2B5EF4-FFF2-40B4-BE49-F238E27FC236}">
                <a16:creationId xmlns:a16="http://schemas.microsoft.com/office/drawing/2014/main" id="{1257C44C-FEF3-BCFA-28C3-95933CF7FDDB}"/>
              </a:ext>
            </a:extLst>
          </p:cNvPr>
          <p:cNvGraphicFramePr>
            <a:graphicFrameLocks noChangeAspect="1"/>
          </p:cNvGraphicFramePr>
          <p:nvPr/>
        </p:nvGraphicFramePr>
        <p:xfrm>
          <a:off x="10828338" y="5414963"/>
          <a:ext cx="790575" cy="698500"/>
        </p:xfrm>
        <a:graphic>
          <a:graphicData uri="http://schemas.openxmlformats.org/presentationml/2006/ole">
            <mc:AlternateContent xmlns:mc="http://schemas.openxmlformats.org/markup-compatibility/2006">
              <mc:Choice xmlns:v="urn:schemas-microsoft-com:vml" Requires="v">
                <p:oleObj name="Worksheet" showAsIcon="1" r:id="rId3" imgW="791280" imgH="698400" progId="Excel.Sheet.12">
                  <p:embed/>
                </p:oleObj>
              </mc:Choice>
              <mc:Fallback>
                <p:oleObj name="Worksheet" showAsIcon="1" r:id="rId3" imgW="791280" imgH="698400" progId="Excel.Sheet.12">
                  <p:embed/>
                  <p:pic>
                    <p:nvPicPr>
                      <p:cNvPr id="9" name="Object 8">
                        <a:extLst>
                          <a:ext uri="{FF2B5EF4-FFF2-40B4-BE49-F238E27FC236}">
                            <a16:creationId xmlns:a16="http://schemas.microsoft.com/office/drawing/2014/main" id="{1257C44C-FEF3-BCFA-28C3-95933CF7FDDB}"/>
                          </a:ext>
                        </a:extLst>
                      </p:cNvPr>
                      <p:cNvPicPr/>
                      <p:nvPr/>
                    </p:nvPicPr>
                    <p:blipFill>
                      <a:blip r:embed="rId4"/>
                      <a:stretch>
                        <a:fillRect/>
                      </a:stretch>
                    </p:blipFill>
                    <p:spPr>
                      <a:xfrm>
                        <a:off x="10828338" y="5414963"/>
                        <a:ext cx="790575" cy="698500"/>
                      </a:xfrm>
                      <a:prstGeom prst="rect">
                        <a:avLst/>
                      </a:prstGeom>
                    </p:spPr>
                  </p:pic>
                </p:oleObj>
              </mc:Fallback>
            </mc:AlternateContent>
          </a:graphicData>
        </a:graphic>
      </p:graphicFrame>
    </p:spTree>
    <p:extLst>
      <p:ext uri="{BB962C8B-B14F-4D97-AF65-F5344CB8AC3E}">
        <p14:creationId xmlns:p14="http://schemas.microsoft.com/office/powerpoint/2010/main" val="341685161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26528" y="834149"/>
            <a:ext cx="11633942" cy="526297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Electronic cigarettes and similar personal electric vaporising devices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ensures that the correct excise duties and tax treatments are applied when traders import electronic cigarettes and similar vaporizing devices without tobacco under commodity code ‘8543400000’. It introduces new tax type ’640’ and national additional code ’X640 - Electronic Device – Not an Excise Product’ and new tobacco measurement units ‘KTC’ and ‘CTG’. It is essential that traders declare the appropriate tax types and national additional codes to ensure compliance with UK customs requirement e.g. ‘X633’ must be declared when the product is imported with tobacco and ‘X640’ must be declared when the electronic device is imported without tobacco. The measurement units must also be declared for this commodity when ‘X633’ is declared. Incorrect declarations will be rejected if the allowed codes and excise measurement units are not correctly applied. It will also ensure proper calculation and collection of excise duties and taxes for imported electronic cigarettes and similar products to prevent errors in tax submissions.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Validation for Declaring Tax Types and National Additional Codes</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must validate that the correct tax type ‘633’ (</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tobacco for heating</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‘640’ (electronic device – not an excise product) and national additional codes (‘X633’ or ‘X640’) are declared for electronic cigarettes and similar vaporizing devices under commodity code ‘8543400000’. This ensures accurate excise tax calculations and processing.</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trader is importing electronic cigarettes or similar devices under commodity code ‘8543400000’.</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Tax type ‘633’ (</a:t>
            </a: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tobacco for heating</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or ‘640’ (electronic device – not an excise product) is declared in DE 4/3.</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National additional code ‘X633’ (tobacco for heating) or ‘X640’ (for non-excise products) is declared in DE 6/17.</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Measurement units ‘KTC’ or ‘CTG’ is declared with X633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(tobacco for heating) </a:t>
            </a: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as appropriate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a trader enters tax type ‘633’ or ‘640’ in DE 4/3, CDS will allow the declaration to be processed.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a trader enters national additional code X633 or X640 in DE 6/17, CDS will allow the declaration to be processed.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‘X633’ is declared in DE 6/17 with commodity code 8543400000 in DE 6/14 and 6/15, CDS will mandate the additional measurement unit ‘KTC’/’CTG’ in DE 4/4.</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‘X640’ is declared, ‘KTC’/’CTG’ must not be declared in DE 4/4.</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‘KTC’/’CTG’ is declared, it must have a value greater than ‘0’ and ‘X633’ must also be declared regardless of the commodity code.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the above conditions are not met, CDS will reject the declaration with a DMSREJ notification.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rPr>
              <a:t>Please Note:</a:t>
            </a:r>
            <a:endParaRPr kumimoji="0" lang="en-GB" sz="105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p:txBody>
      </p:sp>
      <p:sp>
        <p:nvSpPr>
          <p:cNvPr id="9" name="TextBox 8">
            <a:extLst>
              <a:ext uri="{FF2B5EF4-FFF2-40B4-BE49-F238E27FC236}">
                <a16:creationId xmlns:a16="http://schemas.microsoft.com/office/drawing/2014/main" id="{7928F64D-7FDC-4568-8E29-6633E69EF1B3}"/>
              </a:ext>
            </a:extLst>
          </p:cNvPr>
          <p:cNvSpPr txBox="1"/>
          <p:nvPr/>
        </p:nvSpPr>
        <p:spPr>
          <a:xfrm>
            <a:off x="1054652" y="5786956"/>
            <a:ext cx="9552244"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CTG – Content gram (Tobacco gram), KTC – Kilogram of tobacco (K = Kilogram, TC = ISO code for Tobacco), following KGM of specific items e.g. KSH = Kilogram of sodium hydroxide (caustic soda). The measure will be configured on KTC and correlation provided to CTG. </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654055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6502" y="834149"/>
            <a:ext cx="11460152" cy="3600986"/>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Electronic cigarettes and similar personal electric vaporising devices cont.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Calculation of Excise Duty for X633 and X640</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ensure that the appropriate excise duty is calculated when national additional codes ‘X633’ or ‘X640’ are declared for commodity code ‘8543400000’. The correct excise duty must be applied based on whether the product contains tobacco.</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commodity code ‘8543400000’ is declared in DE 6/14 and 6/15.</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National additional codes ‘X633’ (tobacco for heating) or ‘X640’ (electronic device – not an excise product) are declared in DE 6/17.</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Trader declares ‘KTC’/’CTG’ measurement unit in DE 4/4.</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‘X640’ is declared with commodity code ‘8543400000’, CDS will not charge the trader any excise duty as there is no tobacco.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‘X633’ (tobacco for heating) is declared with ‘KTC’/’CTG’ for commodity code ‘8543400000’, CDS will calculate excise duty using the ‘KTC’/’CTG’ quantity of tobacco declared.</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‘X633’ (tobacco for heating) is declared with ‘KTC’/’CTG’ on a commodity other than ‘8543400000’, CDS will ignore the KTC/CTG tobacco quantity but will calculate the excise duty based on the net mass as applicable.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calculate VAT on excise for ‘X633’ (tobacco for heating) but not for ‘X640’ (Electronic Device – not an excise product).</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return a DMSTAX notification to the trader, detailing the calculated excise duty, VAT, and other applicable charges.</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718339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35552" y="834149"/>
            <a:ext cx="11460152" cy="452431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Validation of CPTPP Measures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introduces the functionality required for traders to claim Comprehensive and Progressive Agreement for Trans-Pacific Partnership (CPTPP) preferential rates when applicable. It includes validation to ensure that Document Code ‘9081’ is declared, along with the necessary Proof of Origin codes, and that the correct CPTPP rates are applied when the declaration meets the requirements. This functionality would ensure that traders can take advantage of CPTPP rates where applicable and submit correct documentation to comply with the CPTPP agreement.</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sng" strike="noStrike" kern="1200" cap="none" spc="0" normalizeH="0" baseline="0" noProof="0">
                <a:ln>
                  <a:noFill/>
                </a:ln>
                <a:solidFill>
                  <a:prstClr val="black"/>
                </a:solidFill>
                <a:effectLst/>
                <a:uLnTx/>
                <a:uFillTx/>
                <a:latin typeface="Calibri" panose="020F0502020204030204"/>
                <a:ea typeface="+mn-ea"/>
                <a:cs typeface="+mn-cs"/>
              </a:rPr>
              <a:t>Validation for Document Code ‘9081’</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introduce validation to ensure that when Document Code ‘9081’ is declared, the necessary Proof of Origin Document Code is also declared, ensuring correct processing under CPTPP.</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Type ‘A’, ‘D’, ‘Y’, ‘Z’ Import Declaration (Procedure Category ‘H1’, ‘H3’, ‘H4’, ‘H5’) has been submitted, arrived, or amended.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Functionality being introduced: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a trader declares Document Code ‘9081’ in DE 2/3  at item level, CDS will require the declaration of one of the following Proof of Origin Document Codes in DE 2/3 for the same goods item: ‘U110’, ‘U111’, ‘U112’, ‘9U01’, ‘9U02’, ‘9U03’.</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does not declare one of the above Proof of Origin Document Codes with Document Code ‘9081’,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300 Series Preference Code (‘300’,’310’,’315’,’318’,’320’,’323’,’325’,’340’ and ‘350’) is declared in DE 4/17 and a Country of Preferential Origin is not declared in DE 5/16, CDS will reject the declaration with a DMSREJ notification.</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not declared a 300 Series Preference Code (‘300’,’310’,’315’,’318’,’320’,’323’,’325’,’340’ and ‘350’) and has not declared a Country of Preferential Origin in DE 5/16, CDS will not reject the declaration for this reason.</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99808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26027" y="838715"/>
            <a:ext cx="11460152" cy="3231654"/>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Validation of CPTPP Measures cont.</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Granting CPTPP Preferential Rates</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ensure that CPTPP rates are granted when applicable, allowing traders to benefit from CPTPP preferential measures when the correct conditions are met.</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of Document Code ‘9081’ in DE 2/3 at item level.</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of a Country of Preferential Origin in DE 5/16.</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of a 300 Series Preference Code in DE 4/17 (e.g., ‘300’, ‘310’, ‘315’, ‘318’, ‘320’, ‘323’, ‘325’, ‘340’, ‘350’).</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Validation of Document Code ‘9081’ (from previous slide) has passed.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Functionality being introduced: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CPTPP Preferential Measure exists for the Commodity Code/Country of Origin combination declared, CDS will grant the CPTPP Preferential Measure.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CPTPP Preferential Measure does not exist but a non-CPTPP Preferential Measure exists, CDS will grant the non-CPTPP Preferential Measure.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neither a CPTPP nor non-CPTPP Preferential Measure exists,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473220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21894" y="824338"/>
            <a:ext cx="11460152" cy="3046988"/>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Validation of CPTPP Measures cont.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Validation against Proof of Origin Document Codes</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ensure that traders can declare the appropriate Proof of Origin Document Codes (‘9U01’, ‘9U02’, ‘9U03’) alongside Document Code ‘9081’ to process declarations according to completion instructions.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Functionality being introduced: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now permit the declaration for the following document codes ‘9U01’, ‘9U02’, ‘9U03’  in DE 2/3 at item level.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Where one of document codes ‘9U01’, ‘9U02’, ‘9U03’ is declared in DE 2/3 at item level, CDS will apply the following validation:</a:t>
            </a: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Traders must declare one of the following status codes against the document codes: ‘AE’, ‘AG’, ‘AP’, ‘AS’, ‘JE’, ‘JP’, ‘LE’, ‘LP’, ‘UA’, ‘UE’, ‘UP’, ‘XB’</a:t>
            </a: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Traders must declare a document ID, where the status code is ‘AE’, ‘AG’, ‘AP’, ‘AS’, ‘JE’, ‘JP’, ‘LE’, ‘LP’, ‘UA’, ‘UE’, ‘UP’</a:t>
            </a: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Where the status code is XB, a document ID is not required.</a:t>
            </a: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Traders are not required to declare a reason.</a:t>
            </a: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Courier New" panose="020B0604020202020204" pitchFamily="34" charset="0"/>
              <a:buChar char="o"/>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Tree>
    <p:extLst>
      <p:ext uri="{BB962C8B-B14F-4D97-AF65-F5344CB8AC3E}">
        <p14:creationId xmlns:p14="http://schemas.microsoft.com/office/powerpoint/2010/main" val="359317962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25937" y="671545"/>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9116" y="1186583"/>
            <a:ext cx="11460152" cy="3816429"/>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Invalidations at the Office of Export (XI) (Prod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focuses on the UK’s implementation of the Automated Export System (AES) to align with EU compliance regulations under the Union Customs Code (UCC). The AES aims to simplify and automate export procedures and exit formalities, ensuring the UK's obligations are met. Although this functionality is legally required for the UK, the current delivery is limited to Northern Ireland (XI) customs. The feature will deliver the functionality for the invalidation of the AER (IE501) through trader request via the IE510 message and the processing of the IE591 message in both a positive and a negative case.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Processing Export Invalidation Requests</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must process export invalidation notifications and acknowledge invalidation messages sent to and received from the Customs Office of Exit (OMS), allowing indirect export declarations to be invalidated as needed.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valid AER for an export declaration details will be sent and received to EU (IE501) from the Customs Office of Exit (OMS).</a:t>
            </a: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negative ‘IE591’ invalidation acknowledgment is received, CDS will inform the Declarant/Representative via an ‘IE556 (DMSREQ)’ message, stating "Invalidation request rejected by Customs Office of Exit" along with the Customs Office of Exit reference number.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884633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6502" y="834149"/>
            <a:ext cx="11460152" cy="3600986"/>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Functional Timers for IE501 and IE518 Processing (Prod Only)</a:t>
            </a: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Managing Timers for Indirect Export Movements</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must start and stop functional timers for an indirect export movement to ensure that consignment exit is managed in line with UCC requirements.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valid AER (IE501) has been sent to the Customs Office of Exit (OMS).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 </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Upon sending the AER (IE501), CDS will start the 90-day timer for receiving exit results and the 150-day timer for certifying exit.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the IE518 Exit Result message is received from the Customs Office of Exit, CDS will stop both the 90-day and 150-day timers.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no valid exit result message is received after 150 days (and the declaration has not been re-arrived), CDS will not invalidate the declaration but must send an IE510 to the latest Customs Office of Exit.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positive IE591 is received, CDS will invalidate the declaration and send a DMSINV notification.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negative IE591 is received, the declaration must remain valid with no changes to the movement state.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rPr>
              <a:t>Please Note: </a:t>
            </a: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The functionality being introduced is changing the process and there won’t be any change required from external software providers.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Tree>
    <p:extLst>
      <p:ext uri="{BB962C8B-B14F-4D97-AF65-F5344CB8AC3E}">
        <p14:creationId xmlns:p14="http://schemas.microsoft.com/office/powerpoint/2010/main" val="138935962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4324" y="874218"/>
            <a:ext cx="11460152" cy="3600986"/>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Post-Arrival Processing at XI (Office of Exit) for Indirect Exports (Prod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would streamline communication between the Declarant/Representative and customs systems, allowing efficient processing of export movements. For AES Release 1 it will focus on handling post-arrival processing for indirect export movements where Northern Ireland (NI) is the Office of Exit. It covers managing arrival messages, rejections, amendments, and invalidation requests for Indirect Export Customs Clearance Requests (CCRs). The feature ensures that all customs formalities comply with both UK and EU regulations, preventing any infringements ensuring the validation of movements and data association of declarations will be correctly tracked and processed movements.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Processing Arrival Messages for Pre-Lodged C21e (Type K) Indirect Export CCRs</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must process arrival messages for Pre-lodged C21e (Type K) Indirect Export CCRs to notify customs of the goods’ presentation and handle them at the frontier.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valid Pre-lodged C21e (Type K) Indirect Export CCR with "18I" declared in D.E. 1/11 (Additional Procedure).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 NI Office of Exit code declared in D.E. 5/12.</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For indirect exports, CDS will not allow EACs (new DUCR additions) or RETs (retrospective arrivals) to be submitted. If either is submitted, ILE would send an ‘NAK’ response.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478022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4324" y="874218"/>
            <a:ext cx="11460152" cy="452431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Post-Arrival Processing at XI (Office of Exit) for Indirect Exports cont. (Prod Only)</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Rejecting Straight-to-Arrived C21e (Type J) Indirect Export CCRs</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reject straight-to-arrived C21e (Type J) Indirect Export CCRs to prevent the movement from proceeding for indirect export out of the EU Customs Union.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straight-to-arrived C21e (Type J) Indirect Export CCR has been submitted with "18I" declared in D.E. 1/11.</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When a straight-to-arrived C21e (Type J) CCR is submitted, CDS will reject the CCR and return a DMSREJ notification with the SOE set to "5" (Declaration Rejected).</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an amendment request is submitted to add "18I" to a straight-to-arrived C21e CCR, CDS will reject the request, and the procedure code must not be applied.</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Handling Amendment Requests for Arrived C21e (Type J) Indirect Export CCRs</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process and apply amendment requests for Arrived C21e (Type J) Indirect Export CCRs to allow amendments to be made before departure.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 Indirect Export C21e has been successfully arrived after pre-lodgement.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reject any amendment requests to change the EU MRN or change the NI Office of Exit code to a non-NI code.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102575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561767"/>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45165" y="966700"/>
            <a:ext cx="11282159" cy="409342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Querying at the Office of Export (XI) (Prod Only)</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Calibri"/>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feature enhances CDS’s compliance with UCC and EUCDM regulations while supporting seamless trade operations across the EU Customs Territory.</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 It would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focus on CDS handling export queries from the Customs Office of Exit (OMS) regarding movements originating from the Office of Export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sngStrike" kern="1200" cap="none" spc="0" normalizeH="0" baseline="0" noProof="0">
              <a:ln>
                <a:noFill/>
              </a:ln>
              <a:solidFill>
                <a:prstClr val="black"/>
              </a:solidFill>
              <a:effectLst/>
              <a:highlight>
                <a:srgbClr val="00FF00"/>
              </a:highligh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Codelist Requirements for Indirect Export Declarations</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must prevent non-permitted codelist values from being declared on export declarations to avoid rejections when responding to export queries.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declarant submits with a non-permitted values in D.E 7/15 (refer to note 1) it would reject the declaration and return a DMSREJ notification.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rPr>
              <a:t>Please Note 1</a:t>
            </a: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 - EU (European Community), QP (High Seas), QQ (Stores and Provisions), QR (Stores and provisions intra-Comm), QS (Stores and provisions 3rd countries, QV (Countries not spec </a:t>
            </a:r>
            <a:r>
              <a:rPr kumimoji="0" lang="en-GB" sz="1200" b="0" i="0" u="none" strike="noStrike" kern="1200" cap="none" spc="0" normalizeH="0" baseline="0" noProof="0" err="1">
                <a:ln>
                  <a:noFill/>
                </a:ln>
                <a:solidFill>
                  <a:prstClr val="black"/>
                </a:solidFill>
                <a:effectLst/>
                <a:uLnTx/>
                <a:uFillTx/>
                <a:latin typeface="Calibri" panose="020F0502020204030204"/>
                <a:ea typeface="Calibri"/>
                <a:cs typeface="Calibri"/>
              </a:rPr>
              <a:t>inta</a:t>
            </a: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-Comm), QW (Countries not spec 3rd countries), QX (Countries not spec com/mil reasons), QY (Countries not spec com/mil intra-Comm) and QZ (Countries not spec com/mil 3rd countries).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sngStrike" kern="1200" cap="none" spc="0" normalizeH="0" baseline="0" noProof="0">
              <a:ln>
                <a:noFill/>
              </a:ln>
              <a:solidFill>
                <a:prstClr val="black"/>
              </a:solidFill>
              <a:effectLst/>
              <a:highlight>
                <a:srgbClr val="00FF00"/>
              </a:highlight>
              <a:uLnTx/>
              <a:uFillTx/>
              <a:latin typeface="Calibri" panose="020F0502020204030204"/>
              <a:ea typeface="Calibri"/>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988454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468903" y="1200615"/>
            <a:ext cx="11460152" cy="3323987"/>
          </a:xfrm>
          <a:prstGeom prst="rect">
            <a:avLst/>
          </a:prstGeom>
          <a:noFill/>
        </p:spPr>
        <p:txBody>
          <a:bodyPr wrap="square" lIns="91440" tIns="45720" rIns="91440" bIns="4572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Codelist Delta (Prod Only)</a:t>
            </a:r>
            <a:endParaRPr kumimoji="0" lang="en-GB" sz="1200" b="1" i="0" u="sng" strike="noStrike" kern="1200" cap="none" spc="0" normalizeH="0" baseline="0" noProof="0">
              <a:ln>
                <a:noFill/>
              </a:ln>
              <a:solidFill>
                <a:prstClr val="black"/>
              </a:solidFill>
              <a:effectLst/>
              <a:highlight>
                <a:srgbClr val="00FF00"/>
              </a:highligh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will allow CDS to prevent invalid values from a codelist being used on indirect export declarations, ensuring that the AER (IE501) is not rejected by the Customs Office of Exit (OMS) when processed. Changes is being made to CDS codelists through the additions/removals of codes to ensure alignment with EU.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a:t>
            </a: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 indirect export declaration has been submitted, following the required process for pre-lodged and arrived declarations.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 Declarant/Representative submits an indirect export declaration and CDS prepares to send the AER (IE501) to the Customs Office of Exit, CDS must check for specific values in D.E 7/15. If any of these values are declared, CDS will reject the declaration and send a DMSREJ notification to the submitter.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Add or retain or removal of the values:</a:t>
            </a: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04E56DA5-555D-C670-EA63-ABA52387BDD7}"/>
              </a:ext>
            </a:extLst>
          </p:cNvPr>
          <p:cNvGraphicFramePr>
            <a:graphicFrameLocks noGrp="1"/>
          </p:cNvGraphicFramePr>
          <p:nvPr/>
        </p:nvGraphicFramePr>
        <p:xfrm>
          <a:off x="446099" y="4239076"/>
          <a:ext cx="11272927" cy="1649543"/>
        </p:xfrm>
        <a:graphic>
          <a:graphicData uri="http://schemas.openxmlformats.org/drawingml/2006/table">
            <a:tbl>
              <a:tblPr firstRow="1" bandRow="1">
                <a:tableStyleId>{5C22544A-7EE6-4342-B048-85BDC9FD1C3A}</a:tableStyleId>
              </a:tblPr>
              <a:tblGrid>
                <a:gridCol w="3167509">
                  <a:extLst>
                    <a:ext uri="{9D8B030D-6E8A-4147-A177-3AD203B41FA5}">
                      <a16:colId xmlns:a16="http://schemas.microsoft.com/office/drawing/2014/main" val="3837587197"/>
                    </a:ext>
                  </a:extLst>
                </a:gridCol>
                <a:gridCol w="8105418">
                  <a:extLst>
                    <a:ext uri="{9D8B030D-6E8A-4147-A177-3AD203B41FA5}">
                      <a16:colId xmlns:a16="http://schemas.microsoft.com/office/drawing/2014/main" val="574208599"/>
                    </a:ext>
                  </a:extLst>
                </a:gridCol>
              </a:tblGrid>
              <a:tr h="197016">
                <a:tc>
                  <a:txBody>
                    <a:bodyPr/>
                    <a:lstStyle/>
                    <a:p>
                      <a:r>
                        <a:rPr lang="en-GB" sz="1200"/>
                        <a:t>Condition</a:t>
                      </a:r>
                    </a:p>
                  </a:txBody>
                  <a:tcPr>
                    <a:solidFill>
                      <a:srgbClr val="009999"/>
                    </a:solidFill>
                  </a:tcPr>
                </a:tc>
                <a:tc>
                  <a:txBody>
                    <a:bodyPr/>
                    <a:lstStyle/>
                    <a:p>
                      <a:r>
                        <a:rPr lang="en-GB" sz="1200"/>
                        <a:t>Requirements</a:t>
                      </a:r>
                    </a:p>
                  </a:txBody>
                  <a:tcPr>
                    <a:solidFill>
                      <a:srgbClr val="009999"/>
                    </a:solidFill>
                  </a:tcPr>
                </a:tc>
                <a:extLst>
                  <a:ext uri="{0D108BD9-81ED-4DB2-BD59-A6C34878D82A}">
                    <a16:rowId xmlns:a16="http://schemas.microsoft.com/office/drawing/2014/main" val="1881507151"/>
                  </a:ext>
                </a:extLst>
              </a:tr>
              <a:tr h="6458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CDS will add and retain values to a codelist  which are permissible.</a:t>
                      </a:r>
                      <a:endParaRPr lang="en-GB" sz="1200">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a:p>
                  </a:txBody>
                  <a:tcPr>
                    <a:solidFill>
                      <a:srgbClr val="CBDCDB"/>
                    </a:solidFill>
                  </a:tcPr>
                </a:tc>
                <a:tc>
                  <a:txBody>
                    <a:bodyPr/>
                    <a:lstStyle/>
                    <a:p>
                      <a:pPr marL="171450" indent="-171450" algn="just">
                        <a:buFont typeface="Arial" panose="020B0604020202020204" pitchFamily="34" charset="0"/>
                        <a:buChar char="•"/>
                      </a:pPr>
                      <a:r>
                        <a:rPr lang="en-GB" sz="1200" b="0" i="0">
                          <a:effectLst/>
                        </a:rPr>
                        <a:t>CDS will add the value 'VES' (Venezuela Bolívar Soberano) to the CurrencyTypes Codelist.</a:t>
                      </a:r>
                      <a:endParaRPr lang="en-GB" sz="1200" b="0" i="0">
                        <a:solidFill>
                          <a:srgbClr val="000000"/>
                        </a:solidFill>
                        <a:effectLst/>
                      </a:endParaRPr>
                    </a:p>
                  </a:txBody>
                  <a:tcPr>
                    <a:solidFill>
                      <a:srgbClr val="CBDCDB"/>
                    </a:solidFill>
                  </a:tcPr>
                </a:tc>
                <a:extLst>
                  <a:ext uri="{0D108BD9-81ED-4DB2-BD59-A6C34878D82A}">
                    <a16:rowId xmlns:a16="http://schemas.microsoft.com/office/drawing/2014/main" val="220780970"/>
                  </a:ext>
                </a:extLst>
              </a:tr>
              <a:tr h="72936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cs typeface="Calibri" panose="020F0502020204030204"/>
                        </a:rPr>
                        <a:t>CDS will remove values from a Codelist which no longer permissible for imports and exports.</a:t>
                      </a:r>
                      <a:endParaRPr lang="en-GB" sz="1200"/>
                    </a:p>
                  </a:txBody>
                  <a:tcPr>
                    <a:solidFill>
                      <a:srgbClr val="E7EEEE"/>
                    </a:solidFill>
                  </a:tcPr>
                </a:tc>
                <a:tc>
                  <a:txBody>
                    <a:bodyPr/>
                    <a:lstStyle/>
                    <a:p>
                      <a:pPr marL="171450" indent="-171450" algn="just">
                        <a:buFont typeface="Arial" panose="020B0604020202020204" pitchFamily="34" charset="0"/>
                        <a:buChar char="•"/>
                      </a:pPr>
                      <a:r>
                        <a:rPr lang="en-GB" sz="1200" dirty="0">
                          <a:cs typeface="Calibri" panose="020F0502020204030204"/>
                        </a:rPr>
                        <a:t>CDS will remove the value 'XS' (Serbia) from </a:t>
                      </a:r>
                      <a:r>
                        <a:rPr lang="en-GB" sz="1200" dirty="0" err="1">
                          <a:cs typeface="Calibri" panose="020F0502020204030204"/>
                        </a:rPr>
                        <a:t>EuCountries</a:t>
                      </a:r>
                      <a:r>
                        <a:rPr lang="en-GB" sz="1200" dirty="0">
                          <a:cs typeface="Calibri" panose="020F0502020204030204"/>
                        </a:rPr>
                        <a:t> </a:t>
                      </a:r>
                      <a:r>
                        <a:rPr lang="en-GB" sz="1200" dirty="0" err="1">
                          <a:cs typeface="Calibri" panose="020F0502020204030204"/>
                        </a:rPr>
                        <a:t>Codelist</a:t>
                      </a:r>
                      <a:r>
                        <a:rPr lang="en-GB" sz="1200" dirty="0">
                          <a:cs typeface="Calibri" panose="020F0502020204030204"/>
                        </a:rPr>
                        <a:t>. </a:t>
                      </a:r>
                      <a:endParaRPr lang="en-GB" sz="1200" dirty="0">
                        <a:ea typeface="Calibri"/>
                        <a:cs typeface="Calibri" panose="020F0502020204030204"/>
                      </a:endParaRPr>
                    </a:p>
                    <a:p>
                      <a:pPr marL="171450" indent="-171450" algn="just">
                        <a:buFont typeface="Arial" panose="020B0604020202020204" pitchFamily="34" charset="0"/>
                        <a:buChar char="•"/>
                      </a:pPr>
                      <a:r>
                        <a:rPr lang="en-GB" sz="1200" dirty="0">
                          <a:cs typeface="Calibri" panose="020F0502020204030204"/>
                        </a:rPr>
                        <a:t>CDS will remove the value 'YUM' (Yugoslavian Dollar) from </a:t>
                      </a:r>
                      <a:r>
                        <a:rPr lang="en-GB" sz="1200" dirty="0" err="1">
                          <a:cs typeface="Calibri" panose="020F0502020204030204"/>
                        </a:rPr>
                        <a:t>CurrencyTypes</a:t>
                      </a:r>
                      <a:r>
                        <a:rPr lang="en-GB" sz="1200" dirty="0">
                          <a:cs typeface="Calibri" panose="020F0502020204030204"/>
                        </a:rPr>
                        <a:t> </a:t>
                      </a:r>
                      <a:r>
                        <a:rPr lang="en-GB" sz="1200" dirty="0" err="1">
                          <a:cs typeface="Calibri" panose="020F0502020204030204"/>
                        </a:rPr>
                        <a:t>Codelist</a:t>
                      </a:r>
                      <a:r>
                        <a:rPr lang="en-GB" sz="1200" dirty="0">
                          <a:cs typeface="Calibri" panose="020F0502020204030204"/>
                        </a:rPr>
                        <a:t>. </a:t>
                      </a:r>
                      <a:endParaRPr lang="en-GB" sz="1200" dirty="0">
                        <a:ea typeface="Calibri"/>
                        <a:cs typeface="Calibri" panose="020F0502020204030204"/>
                      </a:endParaRPr>
                    </a:p>
                    <a:p>
                      <a:pPr marL="171450" indent="-171450" algn="just">
                        <a:buFont typeface="Arial" panose="020B0604020202020204" pitchFamily="34" charset="0"/>
                        <a:buChar char="•"/>
                      </a:pPr>
                      <a:r>
                        <a:rPr lang="en-GB" sz="1200" dirty="0">
                          <a:cs typeface="Calibri" panose="020F0502020204030204"/>
                        </a:rPr>
                        <a:t>CDS will remove the value 'VEF' (Venezuela Bolívar) from </a:t>
                      </a:r>
                      <a:r>
                        <a:rPr lang="en-GB" sz="1200" dirty="0" err="1">
                          <a:cs typeface="Calibri" panose="020F0502020204030204"/>
                        </a:rPr>
                        <a:t>CurrencyTypes</a:t>
                      </a:r>
                      <a:r>
                        <a:rPr lang="en-GB" sz="1200" dirty="0">
                          <a:cs typeface="Calibri" panose="020F0502020204030204"/>
                        </a:rPr>
                        <a:t> </a:t>
                      </a:r>
                      <a:r>
                        <a:rPr lang="en-GB" sz="1200" dirty="0" err="1">
                          <a:cs typeface="Calibri" panose="020F0502020204030204"/>
                        </a:rPr>
                        <a:t>Codelist</a:t>
                      </a:r>
                      <a:r>
                        <a:rPr lang="en-GB" sz="1200" dirty="0">
                          <a:cs typeface="Calibri" panose="020F0502020204030204"/>
                        </a:rPr>
                        <a:t>. </a:t>
                      </a:r>
                      <a:endParaRPr lang="en-GB" sz="1200" b="1" i="0" dirty="0">
                        <a:effectLst/>
                      </a:endParaRPr>
                    </a:p>
                  </a:txBody>
                  <a:tcPr>
                    <a:solidFill>
                      <a:srgbClr val="E7EEEE"/>
                    </a:solidFill>
                  </a:tcPr>
                </a:tc>
                <a:extLst>
                  <a:ext uri="{0D108BD9-81ED-4DB2-BD59-A6C34878D82A}">
                    <a16:rowId xmlns:a16="http://schemas.microsoft.com/office/drawing/2014/main" val="2626705667"/>
                  </a:ext>
                </a:extLst>
              </a:tr>
            </a:tbl>
          </a:graphicData>
        </a:graphic>
      </p:graphicFrame>
    </p:spTree>
    <p:extLst>
      <p:ext uri="{BB962C8B-B14F-4D97-AF65-F5344CB8AC3E}">
        <p14:creationId xmlns:p14="http://schemas.microsoft.com/office/powerpoint/2010/main" val="316543012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15463" y="13082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332758" y="43860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315463" y="876383"/>
            <a:ext cx="11460152" cy="138499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CR119 - CDS change to accept consolidated DUCRs for departure (Prod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enables CDS to automatically dissociate a DUCR from a MUCR when it receives an arrival message from a GVMS location. This ensures that the DUCR can be processed independently and successfully departed from a GVMS location. No EMR or ERS notifications will be sent following the auto-dissociation.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continue processing the DUCR as usual for </a:t>
            </a:r>
            <a:r>
              <a:rPr kumimoji="0" lang="en-GB" sz="1200" b="0" i="0" u="none" strike="noStrike" kern="1200" cap="none" spc="0" normalizeH="0" baseline="0" noProof="0" err="1">
                <a:ln>
                  <a:noFill/>
                </a:ln>
                <a:solidFill>
                  <a:prstClr val="black"/>
                </a:solidFill>
                <a:effectLst/>
                <a:uLnTx/>
                <a:uFillTx/>
                <a:latin typeface="Calibri" panose="020F0502020204030204"/>
                <a:ea typeface="+mn-ea"/>
                <a:cs typeface="+mn-cs"/>
              </a:rPr>
              <a:t>RoRo</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operations, allowing smooth interaction between GVMS and C</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DS (It would accept only if the departure location code originates from a GVMS location and matches the arrival location).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Also, it will accept all the DUCR's and ensure it is not rejected the during GVMS movements.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p:txBody>
      </p:sp>
    </p:spTree>
    <p:extLst>
      <p:ext uri="{BB962C8B-B14F-4D97-AF65-F5344CB8AC3E}">
        <p14:creationId xmlns:p14="http://schemas.microsoft.com/office/powerpoint/2010/main" val="184976643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085808"/>
            <a:ext cx="849961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644747"/>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497689"/>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a:t>TTM28.0 (CDS 4.6.0)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September </a:t>
                      </a:r>
                      <a:r>
                        <a:rPr lang="en-GB" sz="1200" b="1" dirty="0">
                          <a:solidFill>
                            <a:srgbClr val="000000"/>
                          </a:solidFill>
                        </a:rPr>
                        <a:t>TDR: </a:t>
                      </a:r>
                      <a:r>
                        <a:rPr lang="en-GB" sz="1200" b="0" dirty="0">
                          <a:solidFill>
                            <a:srgbClr val="000000"/>
                          </a:solidFill>
                        </a:rPr>
                        <a:t>October  </a:t>
                      </a:r>
                      <a:r>
                        <a:rPr lang="en-GB" sz="1200" b="1" dirty="0">
                          <a:solidFill>
                            <a:srgbClr val="000000"/>
                          </a:solidFill>
                        </a:rPr>
                        <a:t>Live: </a:t>
                      </a:r>
                      <a:r>
                        <a:rPr lang="en-GB" sz="1200" b="0" dirty="0">
                          <a:solidFill>
                            <a:srgbClr val="000000"/>
                          </a:solidFill>
                        </a:rPr>
                        <a:t>September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471107"/>
            <a:ext cx="11397328" cy="2827001"/>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102486"/>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24446" y="4032092"/>
          <a:ext cx="11397327" cy="2821290"/>
        </p:xfrm>
        <a:graphic>
          <a:graphicData uri="http://schemas.openxmlformats.org/drawingml/2006/table">
            <a:tbl>
              <a:tblPr firstRow="1" bandRow="1">
                <a:effectLst/>
                <a:tableStyleId>{5C22544A-7EE6-4342-B048-85BDC9FD1C3A}</a:tableStyleId>
              </a:tblPr>
              <a:tblGrid>
                <a:gridCol w="2624451">
                  <a:extLst>
                    <a:ext uri="{9D8B030D-6E8A-4147-A177-3AD203B41FA5}">
                      <a16:colId xmlns:a16="http://schemas.microsoft.com/office/drawing/2014/main" val="2226360519"/>
                    </a:ext>
                  </a:extLst>
                </a:gridCol>
                <a:gridCol w="3010351">
                  <a:extLst>
                    <a:ext uri="{9D8B030D-6E8A-4147-A177-3AD203B41FA5}">
                      <a16:colId xmlns:a16="http://schemas.microsoft.com/office/drawing/2014/main" val="763822440"/>
                    </a:ext>
                  </a:extLst>
                </a:gridCol>
                <a:gridCol w="2838233">
                  <a:extLst>
                    <a:ext uri="{9D8B030D-6E8A-4147-A177-3AD203B41FA5}">
                      <a16:colId xmlns:a16="http://schemas.microsoft.com/office/drawing/2014/main" val="3390581973"/>
                    </a:ext>
                  </a:extLst>
                </a:gridCol>
                <a:gridCol w="2924292">
                  <a:extLst>
                    <a:ext uri="{9D8B030D-6E8A-4147-A177-3AD203B41FA5}">
                      <a16:colId xmlns:a16="http://schemas.microsoft.com/office/drawing/2014/main" val="2084145098"/>
                    </a:ext>
                  </a:extLst>
                </a:gridCol>
              </a:tblGrid>
              <a:tr h="442500">
                <a:tc>
                  <a:txBody>
                    <a:bodyPr/>
                    <a:lstStyle/>
                    <a:p>
                      <a:pPr marL="171450" indent="-171450">
                        <a:buFont typeface="Arial" panose="020B0604020202020204" pitchFamily="34" charset="0"/>
                        <a:buChar char="•"/>
                      </a:pPr>
                      <a:r>
                        <a:rPr lang="en-GB" sz="1200" b="0" u="none">
                          <a:solidFill>
                            <a:schemeClr val="tx1"/>
                          </a:solidFill>
                          <a:hlinkClick r:id="rId3" action="ppaction://hlinksldjump"/>
                        </a:rPr>
                        <a:t>S</a:t>
                      </a:r>
                      <a:r>
                        <a:rPr lang="en-GB" sz="1200" b="0" i="0" u="none">
                          <a:solidFill>
                            <a:schemeClr val="tx1"/>
                          </a:solidFill>
                          <a:effectLst/>
                          <a:hlinkClick r:id="rId3" action="ppaction://hlinksldjump"/>
                        </a:rPr>
                        <a:t>urveillance Errors - Measure Type 484</a:t>
                      </a:r>
                      <a:endParaRPr lang="en-GB" sz="1200" b="0" i="0" u="none">
                        <a:solidFill>
                          <a:schemeClr val="tx1"/>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indent="-171450" algn="l">
                        <a:buFont typeface="Arial" panose="020B0604020202020204" pitchFamily="34" charset="0"/>
                        <a:buChar char="•"/>
                      </a:pPr>
                      <a:r>
                        <a:rPr lang="en-GB" sz="1200" b="0" i="0" u="none">
                          <a:solidFill>
                            <a:schemeClr val="tx1"/>
                          </a:solidFill>
                          <a:effectLst/>
                          <a:hlinkClick r:id="rId4" action="ppaction://hlinksldjump"/>
                        </a:rPr>
                        <a:t>High Value Payments (HVP) (Prod Only)</a:t>
                      </a:r>
                      <a:endParaRPr lang="en-GB" sz="1200" b="0" i="0" u="none">
                        <a:solidFill>
                          <a:schemeClr val="tx1"/>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u="none">
                          <a:solidFill>
                            <a:schemeClr val="tx1"/>
                          </a:solidFill>
                          <a:hlinkClick r:id="rId5" action="ppaction://hlinksldjump"/>
                        </a:rPr>
                        <a:t>Goods Arriving From – but not Originating From – Guernsey and Jersey</a:t>
                      </a:r>
                      <a:endParaRPr lang="en-GB" sz="1200" b="0" i="0" u="none">
                        <a:solidFill>
                          <a:schemeClr val="tx1"/>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none" kern="1200">
                          <a:solidFill>
                            <a:schemeClr val="dk1"/>
                          </a:solidFill>
                          <a:effectLst/>
                          <a:latin typeface="+mn-lt"/>
                          <a:ea typeface="+mn-ea"/>
                          <a:cs typeface="+mn-cs"/>
                        </a:rPr>
                        <a:t>CR132 EMR Messages not sent to CSPs in TDR</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442500">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none" strike="noStrike">
                          <a:effectLst/>
                        </a:rPr>
                        <a:t>CHIEF Decommissioning Phase 1 - Exports Dual Running</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none">
                          <a:effectLst/>
                        </a:rPr>
                        <a:t>Chewing Tobacco and Snuff</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none">
                          <a:solidFill>
                            <a:schemeClr val="tx1"/>
                          </a:solidFill>
                          <a:effectLst/>
                        </a:rPr>
                        <a:t>Declaring a C21i for GB-NI Parcel Journeys</a:t>
                      </a:r>
                    </a:p>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fr-FR" sz="1200" b="0" u="none">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none">
                          <a:solidFill>
                            <a:srgbClr val="000000"/>
                          </a:solidFill>
                          <a:effectLst/>
                        </a:rPr>
                        <a:t>IOSS Currency Conversion Windsor Framework Post &amp; Parcels Programme</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619500">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u="none">
                          <a:solidFill>
                            <a:srgbClr val="000000"/>
                          </a:solidFill>
                          <a:latin typeface="+mn-lt"/>
                          <a:ea typeface="Geneva"/>
                        </a:rPr>
                        <a:t>Signing Up For a New Direct Debit Instructions (DDI) Usin</a:t>
                      </a:r>
                      <a:r>
                        <a:rPr lang="en-GB" sz="1200" b="0" u="none">
                          <a:solidFill>
                            <a:srgbClr val="000000"/>
                          </a:solidFill>
                          <a:ea typeface="Geneva"/>
                        </a:rPr>
                        <a:t>g Same Bank Account Details (Prod Only)</a:t>
                      </a:r>
                      <a:endParaRPr lang="en-GB" sz="1200" b="0" u="none">
                        <a:solidFill>
                          <a:srgbClr val="000000"/>
                        </a:solidFill>
                        <a:latin typeface="+mn-lt"/>
                        <a:ea typeface="Geneva"/>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none">
                          <a:effectLst/>
                        </a:rPr>
                        <a:t>Deriving a SPIMM Dataset –   SPIMM I1 C&amp;F, SPIMM EIDR NOP and SPIMM C21i</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0" u="none"/>
                        <a:t>     SPIMM and Non-SPIMM Declarations</a:t>
                      </a:r>
                    </a:p>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i="0" u="none">
                        <a:solidFill>
                          <a:schemeClr val="tx1"/>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u="none"/>
                        <a:t>Windsor Framework GB-NI SPIMM Movements – Extending Functionality to Additional Datasets</a:t>
                      </a: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none">
                        <a:solidFill>
                          <a:srgbClr val="000000"/>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658940015"/>
                  </a:ext>
                </a:extLst>
              </a:tr>
              <a:tr h="718170">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i="0" u="none">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fr-FR" sz="1200" b="0" u="none">
                          <a:solidFill>
                            <a:srgbClr val="000000"/>
                          </a:solidFill>
                        </a:rPr>
                        <a:t>Non-SPIMM RoW-GB, RoW-NI, GB-NI </a:t>
                      </a:r>
                      <a:r>
                        <a:rPr lang="en-GB" sz="1200" b="0" u="none">
                          <a:solidFill>
                            <a:srgbClr val="000000"/>
                          </a:solidFill>
                        </a:rPr>
                        <a:t>Movements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0" i="0" u="none">
                          <a:effectLst/>
                        </a:rPr>
                        <a:t>    Declaration and Validation of UK Carrier     (UKC) Authorisation</a:t>
                      </a:r>
                    </a:p>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none"/>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none"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21295576"/>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109436"/>
            <a:ext cx="325875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082324"/>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6161416" y="1800986"/>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354217"/>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The purpose of this document is to provide </a:t>
            </a:r>
            <a:r>
              <a:rPr kumimoji="0" lang="en-GB" sz="1200" b="0" i="0" u="none" strike="noStrike" kern="0" cap="none" spc="0" normalizeH="0" baseline="0" noProof="0">
                <a:ln>
                  <a:noFill/>
                </a:ln>
                <a:solidFill>
                  <a:srgbClr val="000000"/>
                </a:solidFill>
                <a:effectLst/>
                <a:uLnTx/>
                <a:uFillTx/>
                <a:latin typeface="Calibri"/>
                <a:ea typeface="Calibri"/>
                <a:cs typeface="Calibri"/>
              </a:rPr>
              <a:t>External Developers</a:t>
            </a:r>
            <a:r>
              <a:rPr kumimoji="0" lang="en-GB" sz="1200" b="0" i="0" u="none" strike="noStrike" kern="1200" cap="none" spc="0" normalizeH="0" baseline="0" noProof="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200" b="0" i="0" u="none" strike="noStrike" kern="1200" cap="none" spc="0" normalizeH="0" baseline="0" noProof="0">
                <a:ln>
                  <a:noFill/>
                </a:ln>
                <a:solidFill>
                  <a:srgbClr val="6264A7"/>
                </a:solidFill>
                <a:effectLst/>
                <a:uLnTx/>
                <a:uFillTx/>
                <a:latin typeface="Calibri" panose="020F0502020204030204"/>
                <a:ea typeface="+mn-ea"/>
                <a:cs typeface="+mn-cs"/>
                <a:hlinkClick r:id="rId6"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2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Calibri"/>
                <a:cs typeface="Calibri"/>
              </a:rPr>
              <a:t>If you have any questions regarding this release, please send your query to </a:t>
            </a:r>
            <a:r>
              <a:rPr kumimoji="0" lang="en-GB" sz="1200" b="0" i="0" u="none" strike="noStrike" kern="1200" cap="none" spc="0" normalizeH="0" baseline="0" noProof="0">
                <a:ln>
                  <a:noFill/>
                </a:ln>
                <a:solidFill>
                  <a:srgbClr val="000000"/>
                </a:solidFill>
                <a:effectLst/>
                <a:uLnTx/>
                <a:uFillTx/>
                <a:latin typeface="Calibri"/>
                <a:ea typeface="Calibri"/>
                <a:cs typeface="Calibri"/>
                <a:hlinkClick r:id="rId7"/>
              </a:rPr>
              <a:t>SDSTeam@hmrc.gov.uk</a:t>
            </a:r>
            <a:r>
              <a:rPr kumimoji="0" lang="en-GB" sz="1200" b="0" i="0" u="none" strike="noStrike" kern="1200" cap="none" spc="0" normalizeH="0" baseline="0" noProof="0">
                <a:ln>
                  <a:noFill/>
                </a:ln>
                <a:solidFill>
                  <a:srgbClr val="000000"/>
                </a:solidFill>
                <a:effectLst/>
                <a:uLnTx/>
                <a:uFillTx/>
                <a:latin typeface="Calibri"/>
                <a:ea typeface="Calibri"/>
                <a:cs typeface="Calibri"/>
              </a:rPr>
              <a:t>.</a:t>
            </a: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450836" y="642130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20" name="Footer Placeholder 1">
            <a:extLst>
              <a:ext uri="{FF2B5EF4-FFF2-40B4-BE49-F238E27FC236}">
                <a16:creationId xmlns:a16="http://schemas.microsoft.com/office/drawing/2014/main" id="{A21A1122-B829-80FE-C15B-A27655C0ABE8}"/>
              </a:ext>
            </a:extLst>
          </p:cNvPr>
          <p:cNvSpPr txBox="1"/>
          <p:nvPr/>
        </p:nvSpPr>
        <p:spPr>
          <a:xfrm>
            <a:off x="2961869" y="6518767"/>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32" name="Oval 16">
            <a:extLst>
              <a:ext uri="{FF2B5EF4-FFF2-40B4-BE49-F238E27FC236}">
                <a16:creationId xmlns:a16="http://schemas.microsoft.com/office/drawing/2014/main" id="{40640912-CDA6-EAD6-2E70-001A6B7A94D0}"/>
              </a:ext>
            </a:extLst>
          </p:cNvPr>
          <p:cNvSpPr/>
          <p:nvPr/>
        </p:nvSpPr>
        <p:spPr>
          <a:xfrm>
            <a:off x="3173049" y="411310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Oval 16">
            <a:extLst>
              <a:ext uri="{FF2B5EF4-FFF2-40B4-BE49-F238E27FC236}">
                <a16:creationId xmlns:a16="http://schemas.microsoft.com/office/drawing/2014/main" id="{AAC3ADB2-C26C-61BB-79EC-106D8585D6A0}"/>
              </a:ext>
            </a:extLst>
          </p:cNvPr>
          <p:cNvSpPr/>
          <p:nvPr/>
        </p:nvSpPr>
        <p:spPr>
          <a:xfrm>
            <a:off x="554902" y="534467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TextBox 7">
            <a:extLst>
              <a:ext uri="{FF2B5EF4-FFF2-40B4-BE49-F238E27FC236}">
                <a16:creationId xmlns:a16="http://schemas.microsoft.com/office/drawing/2014/main" id="{3F5C3486-6149-AFCB-2DB7-5E9BC3A0AE18}"/>
              </a:ext>
            </a:extLst>
          </p:cNvPr>
          <p:cNvSpPr txBox="1"/>
          <p:nvPr/>
        </p:nvSpPr>
        <p:spPr>
          <a:xfrm>
            <a:off x="5693862" y="3114477"/>
            <a:ext cx="325875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TDR only</a:t>
            </a:r>
          </a:p>
        </p:txBody>
      </p:sp>
      <p:sp>
        <p:nvSpPr>
          <p:cNvPr id="22" name="Oval 16">
            <a:extLst>
              <a:ext uri="{FF2B5EF4-FFF2-40B4-BE49-F238E27FC236}">
                <a16:creationId xmlns:a16="http://schemas.microsoft.com/office/drawing/2014/main" id="{82CB8AD1-6F50-514F-71B5-D9DB42ECC32E}"/>
              </a:ext>
            </a:extLst>
          </p:cNvPr>
          <p:cNvSpPr/>
          <p:nvPr/>
        </p:nvSpPr>
        <p:spPr>
          <a:xfrm>
            <a:off x="5721465" y="3182510"/>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16">
            <a:extLst>
              <a:ext uri="{FF2B5EF4-FFF2-40B4-BE49-F238E27FC236}">
                <a16:creationId xmlns:a16="http://schemas.microsoft.com/office/drawing/2014/main" id="{9DF276F3-99C2-A3EC-FE16-16636C59073F}"/>
              </a:ext>
            </a:extLst>
          </p:cNvPr>
          <p:cNvSpPr/>
          <p:nvPr/>
        </p:nvSpPr>
        <p:spPr>
          <a:xfrm>
            <a:off x="8979824" y="412223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B050"/>
          </a:solidFill>
          <a:ln w="12701" cap="flat">
            <a:solidFill>
              <a:srgbClr val="00B05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Oval 16">
            <a:extLst>
              <a:ext uri="{FF2B5EF4-FFF2-40B4-BE49-F238E27FC236}">
                <a16:creationId xmlns:a16="http://schemas.microsoft.com/office/drawing/2014/main" id="{D5CE33A1-37DB-5AC2-DB6B-709B450FD08D}"/>
              </a:ext>
            </a:extLst>
          </p:cNvPr>
          <p:cNvSpPr/>
          <p:nvPr/>
        </p:nvSpPr>
        <p:spPr>
          <a:xfrm>
            <a:off x="568987" y="4111071"/>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Oval 16">
            <a:extLst>
              <a:ext uri="{FF2B5EF4-FFF2-40B4-BE49-F238E27FC236}">
                <a16:creationId xmlns:a16="http://schemas.microsoft.com/office/drawing/2014/main" id="{3A059077-8C81-15DB-1DFA-8A13EA1F8F13}"/>
              </a:ext>
            </a:extLst>
          </p:cNvPr>
          <p:cNvSpPr/>
          <p:nvPr/>
        </p:nvSpPr>
        <p:spPr>
          <a:xfrm>
            <a:off x="553529" y="4777277"/>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16">
            <a:extLst>
              <a:ext uri="{FF2B5EF4-FFF2-40B4-BE49-F238E27FC236}">
                <a16:creationId xmlns:a16="http://schemas.microsoft.com/office/drawing/2014/main" id="{763B8886-CF7A-9C79-3651-93BF6B9F0307}"/>
              </a:ext>
            </a:extLst>
          </p:cNvPr>
          <p:cNvSpPr/>
          <p:nvPr/>
        </p:nvSpPr>
        <p:spPr>
          <a:xfrm>
            <a:off x="3121621" y="473829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16">
            <a:extLst>
              <a:ext uri="{FF2B5EF4-FFF2-40B4-BE49-F238E27FC236}">
                <a16:creationId xmlns:a16="http://schemas.microsoft.com/office/drawing/2014/main" id="{5ECB5A97-3D9C-966F-E1DD-E9F6381BD0DA}"/>
              </a:ext>
            </a:extLst>
          </p:cNvPr>
          <p:cNvSpPr/>
          <p:nvPr/>
        </p:nvSpPr>
        <p:spPr>
          <a:xfrm>
            <a:off x="6158551" y="4111071"/>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16">
            <a:extLst>
              <a:ext uri="{FF2B5EF4-FFF2-40B4-BE49-F238E27FC236}">
                <a16:creationId xmlns:a16="http://schemas.microsoft.com/office/drawing/2014/main" id="{8EDBC92B-0CC8-9577-D404-749F1F0401BA}"/>
              </a:ext>
            </a:extLst>
          </p:cNvPr>
          <p:cNvSpPr/>
          <p:nvPr/>
        </p:nvSpPr>
        <p:spPr>
          <a:xfrm>
            <a:off x="3156095" y="619029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16">
            <a:extLst>
              <a:ext uri="{FF2B5EF4-FFF2-40B4-BE49-F238E27FC236}">
                <a16:creationId xmlns:a16="http://schemas.microsoft.com/office/drawing/2014/main" id="{8937ACEB-405B-F8D6-F479-E4E794DDFE45}"/>
              </a:ext>
            </a:extLst>
          </p:cNvPr>
          <p:cNvSpPr/>
          <p:nvPr/>
        </p:nvSpPr>
        <p:spPr>
          <a:xfrm>
            <a:off x="3156095" y="5406300"/>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Oval 16">
            <a:extLst>
              <a:ext uri="{FF2B5EF4-FFF2-40B4-BE49-F238E27FC236}">
                <a16:creationId xmlns:a16="http://schemas.microsoft.com/office/drawing/2014/main" id="{57D0A06F-1D30-47F5-BA30-2FF6CCF052C9}"/>
              </a:ext>
            </a:extLst>
          </p:cNvPr>
          <p:cNvSpPr/>
          <p:nvPr/>
        </p:nvSpPr>
        <p:spPr>
          <a:xfrm>
            <a:off x="6146057" y="4738292"/>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16">
            <a:extLst>
              <a:ext uri="{FF2B5EF4-FFF2-40B4-BE49-F238E27FC236}">
                <a16:creationId xmlns:a16="http://schemas.microsoft.com/office/drawing/2014/main" id="{D8931929-FB80-A037-1F21-7B5FA94A2B1B}"/>
              </a:ext>
            </a:extLst>
          </p:cNvPr>
          <p:cNvSpPr/>
          <p:nvPr/>
        </p:nvSpPr>
        <p:spPr>
          <a:xfrm>
            <a:off x="6180899" y="5393505"/>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16">
            <a:extLst>
              <a:ext uri="{FF2B5EF4-FFF2-40B4-BE49-F238E27FC236}">
                <a16:creationId xmlns:a16="http://schemas.microsoft.com/office/drawing/2014/main" id="{4374509E-1368-C66B-AF91-7AE161708DA7}"/>
              </a:ext>
            </a:extLst>
          </p:cNvPr>
          <p:cNvSpPr/>
          <p:nvPr/>
        </p:nvSpPr>
        <p:spPr>
          <a:xfrm>
            <a:off x="8969462" y="4777277"/>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Oval 16">
            <a:extLst>
              <a:ext uri="{FF2B5EF4-FFF2-40B4-BE49-F238E27FC236}">
                <a16:creationId xmlns:a16="http://schemas.microsoft.com/office/drawing/2014/main" id="{2F389DE4-F5C3-ED38-6E35-D3F5A903DE1B}"/>
              </a:ext>
            </a:extLst>
          </p:cNvPr>
          <p:cNvSpPr/>
          <p:nvPr/>
        </p:nvSpPr>
        <p:spPr>
          <a:xfrm>
            <a:off x="9012364" y="5393136"/>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Oval 16">
            <a:extLst>
              <a:ext uri="{FF2B5EF4-FFF2-40B4-BE49-F238E27FC236}">
                <a16:creationId xmlns:a16="http://schemas.microsoft.com/office/drawing/2014/main" id="{D61B5160-CA4B-DF9B-2E73-ACA463F21693}"/>
              </a:ext>
            </a:extLst>
          </p:cNvPr>
          <p:cNvSpPr/>
          <p:nvPr/>
        </p:nvSpPr>
        <p:spPr>
          <a:xfrm>
            <a:off x="6180899" y="6202763"/>
            <a:ext cx="155598"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516224067"/>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descr="A white background with black text&#10;&#10;Description automatically generated">
            <a:extLst>
              <a:ext uri="{FF2B5EF4-FFF2-40B4-BE49-F238E27FC236}">
                <a16:creationId xmlns:a16="http://schemas.microsoft.com/office/drawing/2014/main" id="{0F9E38A1-5962-41E3-507A-45A70A8017AE}"/>
              </a:ext>
            </a:extLst>
          </p:cNvPr>
          <p:cNvPicPr>
            <a:picLocks noChangeAspect="1"/>
          </p:cNvPicPr>
          <p:nvPr/>
        </p:nvPicPr>
        <p:blipFill>
          <a:blip r:embed="rId3"/>
          <a:stretch>
            <a:fillRect/>
          </a:stretch>
        </p:blipFill>
        <p:spPr>
          <a:xfrm>
            <a:off x="1524000" y="5116406"/>
            <a:ext cx="7375585" cy="1435592"/>
          </a:xfrm>
          <a:prstGeom prst="rect">
            <a:avLst/>
          </a:prstGeom>
        </p:spPr>
      </p:pic>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B6F0FE1-52A3-A200-D5F9-B4AFEE91B861}"/>
              </a:ext>
            </a:extLst>
          </p:cNvPr>
          <p:cNvSpPr txBox="1"/>
          <p:nvPr/>
        </p:nvSpPr>
        <p:spPr>
          <a:xfrm>
            <a:off x="421278" y="1267290"/>
            <a:ext cx="11460152" cy="4708981"/>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dirty="0">
                <a:ln>
                  <a:noFill/>
                </a:ln>
                <a:solidFill>
                  <a:prstClr val="black"/>
                </a:solidFill>
                <a:effectLst/>
                <a:uLnTx/>
                <a:uFillTx/>
                <a:latin typeface="Calibri" panose="020F0502020204030204"/>
                <a:ea typeface="+mn-ea"/>
                <a:cs typeface="+mn-cs"/>
              </a:rPr>
              <a:t>Surveillance Errors - Measure Type 484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sng"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Measure Type 484 is a measure created by the EU after Brexit. This feature turns visibility of measure type 484 “ON", such that CDS will reject declarations that fail measure condition 484. This applies to declaration types that go through tariff validation A,B,C,D,E,F,Y,Z.</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This functionality will ensure that declarations are correctly processed for a commodity against Measure Type 484, to ensure declarations are processed/rejected correctly as per measure type condition. Commodities affected by this Measure Type can be found in the attached excel sheet.</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Pre-requisites: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Either "NIDOM", "NIIMP", or "NIEXP, has been declared in DE 2/2 for any goods item on a declaration.</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Neither "1SV" has been declared nor "NIQUO" declared against the same goods item.</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rPr>
              <a:t>Commodities currently affected by this measure can be found in the attached Excel. </a:t>
            </a:r>
            <a:r>
              <a:rPr kumimoji="0" lang="en-GB" sz="1200" b="0" i="1" u="none" strike="noStrike" kern="1200" cap="none" spc="0" normalizeH="0" baseline="0" noProof="0" dirty="0">
                <a:ln>
                  <a:noFill/>
                </a:ln>
                <a:solidFill>
                  <a:prstClr val="black"/>
                </a:solidFill>
                <a:effectLst/>
                <a:uLnTx/>
                <a:uFillTx/>
                <a:latin typeface="Calibri" panose="020F0502020204030204"/>
                <a:ea typeface="+mn-ea"/>
                <a:cs typeface="Calibri"/>
              </a:rPr>
              <a:t>Please be advised that measures can be applied/removed from commodities by the Union, and therefore declarants should check the Online Tariff Tool for the most up-to-date information. </a:t>
            </a:r>
            <a:endParaRPr kumimoji="0" lang="en-GB" sz="1200" b="0" i="1" u="none" strike="noStrike" kern="1200" cap="none" spc="0" normalizeH="0" baseline="0" noProof="0" dirty="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rPr>
              <a:t>The net mass and supplementary unit fields declared must be within the set range, prescribed by the conditions listed on the Online Tariff Tool. If this condition is not met, CDS will reject the declaration and issue a DMSREJ notification to the submitter. </a:t>
            </a:r>
            <a:endParaRPr kumimoji="0" lang="en-GB" sz="1200" b="0" i="0" u="none" strike="noStrike" kern="1200" cap="none" spc="0" normalizeH="0" baseline="0" noProof="0" dirty="0">
              <a:ln>
                <a:noFill/>
              </a:ln>
              <a:solidFill>
                <a:prstClr val="black"/>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Calibri"/>
              </a:rPr>
              <a:t>N.B. This set range differs per commodity code, please then refer to the Online Tariff Tool for the conditions required, as screenshotted below</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2" name="Object 11">
            <a:extLst>
              <a:ext uri="{FF2B5EF4-FFF2-40B4-BE49-F238E27FC236}">
                <a16:creationId xmlns:a16="http://schemas.microsoft.com/office/drawing/2014/main" id="{90EA1C46-DEF4-1A7B-844C-F03F40776106}"/>
              </a:ext>
            </a:extLst>
          </p:cNvPr>
          <p:cNvGraphicFramePr>
            <a:graphicFrameLocks noChangeAspect="1"/>
          </p:cNvGraphicFramePr>
          <p:nvPr/>
        </p:nvGraphicFramePr>
        <p:xfrm>
          <a:off x="10783888" y="646113"/>
          <a:ext cx="793750" cy="698500"/>
        </p:xfrm>
        <a:graphic>
          <a:graphicData uri="http://schemas.openxmlformats.org/presentationml/2006/ole">
            <mc:AlternateContent xmlns:mc="http://schemas.openxmlformats.org/markup-compatibility/2006">
              <mc:Choice xmlns:v="urn:schemas-microsoft-com:vml" Requires="v">
                <p:oleObj name="Worksheet" showAsIcon="1" r:id="rId4" imgW="793800" imgH="698400" progId="Excel.Sheet.12">
                  <p:embed/>
                </p:oleObj>
              </mc:Choice>
              <mc:Fallback>
                <p:oleObj name="Worksheet" showAsIcon="1" r:id="rId4" imgW="793800" imgH="698400" progId="Excel.Sheet.12">
                  <p:embed/>
                  <p:pic>
                    <p:nvPicPr>
                      <p:cNvPr id="12" name="Object 11">
                        <a:extLst>
                          <a:ext uri="{FF2B5EF4-FFF2-40B4-BE49-F238E27FC236}">
                            <a16:creationId xmlns:a16="http://schemas.microsoft.com/office/drawing/2014/main" id="{90EA1C46-DEF4-1A7B-844C-F03F40776106}"/>
                          </a:ext>
                        </a:extLst>
                      </p:cNvPr>
                      <p:cNvPicPr/>
                      <p:nvPr/>
                    </p:nvPicPr>
                    <p:blipFill>
                      <a:blip r:embed="rId5"/>
                      <a:stretch>
                        <a:fillRect/>
                      </a:stretch>
                    </p:blipFill>
                    <p:spPr>
                      <a:xfrm>
                        <a:off x="10783888" y="646113"/>
                        <a:ext cx="793750" cy="698500"/>
                      </a:xfrm>
                      <a:prstGeom prst="rect">
                        <a:avLst/>
                      </a:prstGeom>
                    </p:spPr>
                  </p:pic>
                </p:oleObj>
              </mc:Fallback>
            </mc:AlternateContent>
          </a:graphicData>
        </a:graphic>
      </p:graphicFrame>
    </p:spTree>
    <p:extLst>
      <p:ext uri="{BB962C8B-B14F-4D97-AF65-F5344CB8AC3E}">
        <p14:creationId xmlns:p14="http://schemas.microsoft.com/office/powerpoint/2010/main" val="6553596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0BBD1F3C-113E-4F63-C04D-4F1371BA900F}"/>
              </a:ext>
            </a:extLst>
          </p:cNvPr>
          <p:cNvSpPr txBox="1"/>
          <p:nvPr/>
        </p:nvSpPr>
        <p:spPr>
          <a:xfrm>
            <a:off x="446099" y="1272464"/>
            <a:ext cx="11460152" cy="1569660"/>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High Value Payments (HVP) (Prod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From CDS 4.6.0, CDS will recognise High Value Payments (HVP) as a payment method from banks and will handle payments received via the HVP scheme automatically within the same SLAs as other methods (BACS, CHAPS, Faster Payments).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makes a payment, process via the HVP reference, it will be recognised by CDS and reflected as such on downstream systems. Duty/VAT/Excise will be collected if a payment is made through the HVP scheme and received by CDS. The payment can be processed via an Immediate Payment, a Deferment Account, or a Cash Account to pay for the duties due.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Tree>
    <p:extLst>
      <p:ext uri="{BB962C8B-B14F-4D97-AF65-F5344CB8AC3E}">
        <p14:creationId xmlns:p14="http://schemas.microsoft.com/office/powerpoint/2010/main" val="122268875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15498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Goods Arriving From – but not Originating From – Guernsey and Jersey</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Guernsey and Jersey are part of the UK’s customs territory, but not VAT territory. As such, goods imported into the UK from Guernsey and Jersey should not be charged customs duties, but VAT/Excise should be charged. </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When a </a:t>
            </a: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good</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is moved from non-suspensive customs procedures in Guernsey or Jersey to the mainland UK, customs duty is suppressed and only VAT/Excise are charged. From CDS4.6.0, this will apply even where the goods originate from outside Jersey and Guernsey.</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Free Circulation</a:t>
            </a:r>
            <a:endParaRPr kumimoji="0" lang="en-GB" sz="12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When goods originating from a third country have entered free circulation in Guernsey and Jersey, and have moved to GB, then:</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CDS Tariff will validate the import declaration against the UK Tariff using Guernsey and Jersey.</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Where the declaration type D.E.1/1 is “CO”, additional procedure code (DE 1/11)  is 'F15’, the country of origin (D.E. 5/15) is a third country, and the country of dispatch (D.E. 5/14) is either “GG” or “JE”, customs duty will not be charged, but VAT/Excise will still be charged.</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CDS will send a trader notification (DMSTAX) with the duties outlined.</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mn-cs"/>
              </a:rPr>
              <a:t>Not in Free Circulation</a:t>
            </a:r>
            <a:endParaRPr kumimoji="0" lang="en-GB" sz="1200" b="0" i="0" u="sng"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When goods originating from a third country have entered Guernsey and Jersey, but not in free circulation, and have moved to GB, then:</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CDS Tariff will validate the import declaration against the UK Tariff using a third country.</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Where the declaration type (D.E 1/1) is "IM", the country of origin (D.E. 5/15) is a third country, and the country of dispatch (D.E 5/14) is either "GG" or "JE", customs duty will be charged as well as VAT/Excise (as per BAU).</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CDS will send a trader notification (DMSTAX) with the duties outlined.</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054968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09088" y="64860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33965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sng" strike="noStrike" kern="0" cap="none" spc="0" normalizeH="0" baseline="0" noProof="0" dirty="0">
                <a:ln>
                  <a:noFill/>
                </a:ln>
                <a:solidFill>
                  <a:srgbClr val="000000"/>
                </a:solidFill>
                <a:effectLst/>
                <a:uLnTx/>
                <a:uFillTx/>
                <a:latin typeface="Calibri" panose="020F0502020204030204"/>
                <a:ea typeface="Calibri"/>
                <a:cs typeface="Calibri"/>
              </a:rPr>
              <a:t>Goods originating from third country, entering Guernsey &amp; Jersey, then moving to NI</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From TTM28.0 when a good from a third country is moved into Guernsey or Jersey to the Northern Ireland (</a:t>
            </a:r>
            <a:r>
              <a:rPr kumimoji="0" lang="en-GB" sz="1200" b="0" i="0" u="none" strike="noStrike" kern="0" cap="none" spc="0" normalizeH="0" baseline="0" noProof="0" dirty="0" err="1">
                <a:ln>
                  <a:noFill/>
                </a:ln>
                <a:solidFill>
                  <a:srgbClr val="000000"/>
                </a:solidFill>
                <a:effectLst/>
                <a:uLnTx/>
                <a:uFillTx/>
                <a:latin typeface="Calibri" panose="020F0502020204030204"/>
                <a:ea typeface="Calibri"/>
                <a:cs typeface="Calibri"/>
              </a:rPr>
              <a:t>RoW</a:t>
            </a: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&gt;G&amp;J&gt;NI):</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mn-ea"/>
                <a:cs typeface="Calibri"/>
              </a:rPr>
              <a:t>Correct customs duty is charged based on Risking Rules that are applicable under the Windsor Framework for At Risk goods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mn-ea"/>
                <a:cs typeface="Calibri"/>
              </a:rPr>
              <a:t>No customs duty will be charged for goods that are deemed Not at Risk and are in free circulation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mn-ea"/>
                <a:cs typeface="Calibri"/>
              </a:rPr>
              <a:t>Manual Override should be used by trader to supply duty calculation for goods that are not in free circulation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dirty="0">
                <a:ln>
                  <a:noFill/>
                </a:ln>
                <a:solidFill>
                  <a:srgbClr val="000000"/>
                </a:solidFill>
                <a:effectLst/>
                <a:uLnTx/>
                <a:uFillTx/>
                <a:latin typeface="Calibri" panose="020F0502020204030204"/>
                <a:ea typeface="+mn-ea"/>
                <a:cs typeface="+mn-cs"/>
              </a:rPr>
              <a:t>Validation of Declaration for goods arriving from but not originating from Guernsey and Jersey, then move to Northern Ireland: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mn-ea"/>
                <a:cs typeface="+mn-cs"/>
              </a:rPr>
              <a:t>CDS will validate the declaration for the movement of goods that originate from a third country, have entered Guernsey and Jersey, and have then moved to NI.</a:t>
            </a:r>
            <a:endPar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dirty="0">
                <a:ln>
                  <a:noFill/>
                </a:ln>
                <a:solidFill>
                  <a:srgbClr val="000000"/>
                </a:solidFill>
                <a:effectLst/>
                <a:uLnTx/>
                <a:uFillTx/>
                <a:latin typeface="Calibri" panose="020F0502020204030204"/>
                <a:ea typeface="Calibri"/>
                <a:cs typeface="Calibri"/>
              </a:rPr>
              <a:t>Pre-requisites: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Country of origin declared in DE 5/15 is a third country (i.e. not "GB", "GG" or "JE")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Country of dispatch declared in DE 5/14 is Guernsey "GG" or Jersey "JE"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Additional Procedure Code "F15" is declared in DE 1/11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Additional Information Code "NIIMP" is declared in DE 2/2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Additional Information Override Code 'OVR07' is not declared in DE 2/2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dirty="0">
                <a:ln>
                  <a:noFill/>
                </a:ln>
                <a:solidFill>
                  <a:srgbClr val="000000"/>
                </a:solidFill>
                <a:effectLst/>
                <a:uLnTx/>
                <a:uFillTx/>
                <a:latin typeface="Calibri" panose="020F0502020204030204"/>
                <a:ea typeface="Calibri"/>
                <a:cs typeface="Calibri"/>
              </a:rPr>
              <a:t>Declaration Type "IM" is declared in DE 1/1</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1"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a:ea typeface="+mn-ea"/>
                <a:cs typeface="+mn-cs"/>
              </a:rPr>
              <a:t>Acceptance Criteria:</a:t>
            </a:r>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Where a trader has declared 'NIQUO' in D.E 2/2 at goods item level on any goods item in the declaration, CDS will reject the declaration and return a DMSREJ notification to the submitter.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CDS Tariff will validate the import declaration against the UK Tariff using the country of dispatch ('GG'/ JE') and against the EU Tariff using GB (as GG/JE are not valid country codes in the EU Tariff).</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1" u="none" strike="noStrike" kern="0" cap="none" spc="0" normalizeH="0" baseline="0" noProof="0" dirty="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531860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87822"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70898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a:cs typeface="Calibri"/>
              </a:rPr>
              <a:t>Calculation of Duties - goods arriving from but not originating from Guernsey and Jersey then moving  to Northern Ireland (override is not used):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a:cs typeface="Calibri"/>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Validation on the previous slide has passed.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CDS will charge all A series customs duty according to existing UKIMS risking functionality, (Only if the goods are deemed 'At risk')</a:t>
            </a:r>
            <a:endParaRPr kumimoji="0" lang="en-GB" sz="1200" b="0" i="0" u="none" strike="noStrike" kern="0" cap="none" spc="0" normalizeH="0" baseline="0" noProof="0">
              <a:ln>
                <a:noFill/>
              </a:ln>
              <a:solidFill>
                <a:srgbClr val="333333"/>
              </a:solidFill>
              <a:effectLst/>
              <a:uLnTx/>
              <a:uFillTx/>
              <a:latin typeface="Calibri" panose="020F0502020204030204"/>
              <a:ea typeface="Calibri"/>
              <a:cs typeface="Segoe U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CDS will charge VAT/Excise due on the goods as per BAU.</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Where the goods are deemed ‘Not at Risk’:</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CDS will not charge all A series customs duty</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CDS will charge VAT/Excise due on the goods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Calculation of Duties - goods arriving from but not originating from Guernsey and Jersey, then move to Northern Ireland (override is used as goods are not in free circulation):</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Charges must be manually calculated by the Trader (and therefore manually entered onto the declaration) at the rate applicable to the actual country of despatch of the goods rather than that applicable to goods of Channel Islands origin. CDS Tariff will validate the import declaration against the UK Tariff using the country of dispatch (‘GG’ / ‘JE’) and against the EU Tariff using GB (as GG/JE are not valid country codes in the EU Tariff).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Where AI Code OVR07 is declared in DE 2/2 for the manual calculation of import charges, the following conditions must be met:</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Country of origin declared in DE 5/15 is a third country (i.e. not "GB", "GG" or "JE")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Country of dispatch declared in DE 5/14 is either Guernsey "GG" or Jersey "JE"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Additional Procedure Code "F15" is declared in DE 1/11 (See Note 1)</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Additional Information Code is "NIIMP" is declared in DE 2/2</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Type "IM" is declared in DE 1/1</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Additional Information Override Code 'OVR01' is declared in DE 2/2 on the same goods item</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any of the above conditions are not met, CDS will reject the declaration and return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99283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46099" y="54835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FA02928-C098-7E04-51DB-0D3A0D921FC6}"/>
              </a:ext>
            </a:extLst>
          </p:cNvPr>
          <p:cNvSpPr/>
          <p:nvPr/>
        </p:nvSpPr>
        <p:spPr>
          <a:xfrm>
            <a:off x="325937" y="951849"/>
            <a:ext cx="11689455" cy="507831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CHIEF Decommissioning Phase 1 - Exports Dual Running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From CDS 4.6.0, movement messages will not be sent to or received from CHIEF with respect to Exports Dual Running (EDR).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For all message types (EAA, EAL, EDL, EAC, CST) received for exports movement: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send a response back to the relevant actor with no communication with CHIEF.</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response provided will be the expected message response specific to the business scenario.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will occur in the conditions outlined below: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Message types include: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Anticipated Arrival (EAA)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Arrival (EAL)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Departure (EDL)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Consolidation (EAC)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Consolidation Shut (CST)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4.6.0 will also facilitate the disconnection of Dual Running linking internal electronic licensing between CDS and CHIEF. Once CHIEF has been decommissioned it will stop syncing deferment liabilities to CHIEF.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graphicFrame>
        <p:nvGraphicFramePr>
          <p:cNvPr id="12" name="Table 11">
            <a:extLst>
              <a:ext uri="{FF2B5EF4-FFF2-40B4-BE49-F238E27FC236}">
                <a16:creationId xmlns:a16="http://schemas.microsoft.com/office/drawing/2014/main" id="{0161287E-4522-090D-A803-15E33509459E}"/>
              </a:ext>
            </a:extLst>
          </p:cNvPr>
          <p:cNvGraphicFramePr>
            <a:graphicFrameLocks noGrp="1"/>
          </p:cNvGraphicFramePr>
          <p:nvPr/>
        </p:nvGraphicFramePr>
        <p:xfrm>
          <a:off x="446099" y="2415764"/>
          <a:ext cx="10648147" cy="1223999"/>
        </p:xfrm>
        <a:graphic>
          <a:graphicData uri="http://schemas.openxmlformats.org/drawingml/2006/table">
            <a:tbl>
              <a:tblPr firstRow="1" bandRow="1">
                <a:tableStyleId>{5C22544A-7EE6-4342-B048-85BDC9FD1C3A}</a:tableStyleId>
              </a:tblPr>
              <a:tblGrid>
                <a:gridCol w="4006838">
                  <a:extLst>
                    <a:ext uri="{9D8B030D-6E8A-4147-A177-3AD203B41FA5}">
                      <a16:colId xmlns:a16="http://schemas.microsoft.com/office/drawing/2014/main" val="3837587197"/>
                    </a:ext>
                  </a:extLst>
                </a:gridCol>
                <a:gridCol w="6641309">
                  <a:extLst>
                    <a:ext uri="{9D8B030D-6E8A-4147-A177-3AD203B41FA5}">
                      <a16:colId xmlns:a16="http://schemas.microsoft.com/office/drawing/2014/main" val="574208599"/>
                    </a:ext>
                  </a:extLst>
                </a:gridCol>
              </a:tblGrid>
              <a:tr h="287111">
                <a:tc>
                  <a:txBody>
                    <a:bodyPr/>
                    <a:lstStyle/>
                    <a:p>
                      <a:r>
                        <a:rPr lang="en-GB" sz="1200"/>
                        <a:t>Condition</a:t>
                      </a:r>
                    </a:p>
                  </a:txBody>
                  <a:tcPr>
                    <a:solidFill>
                      <a:srgbClr val="009999"/>
                    </a:solidFill>
                  </a:tcPr>
                </a:tc>
                <a:tc>
                  <a:txBody>
                    <a:bodyPr/>
                    <a:lstStyle/>
                    <a:p>
                      <a:r>
                        <a:rPr lang="en-GB" sz="1200"/>
                        <a:t>Response</a:t>
                      </a:r>
                    </a:p>
                  </a:txBody>
                  <a:tcPr>
                    <a:solidFill>
                      <a:srgbClr val="009999"/>
                    </a:solidFill>
                  </a:tcPr>
                </a:tc>
                <a:extLst>
                  <a:ext uri="{0D108BD9-81ED-4DB2-BD59-A6C34878D82A}">
                    <a16:rowId xmlns:a16="http://schemas.microsoft.com/office/drawing/2014/main" val="1881507151"/>
                  </a:ext>
                </a:extLst>
              </a:tr>
              <a:tr h="234222">
                <a:tc>
                  <a:txBody>
                    <a:bodyPr/>
                    <a:lstStyle/>
                    <a:p>
                      <a:r>
                        <a:rPr lang="en-GB" sz="1200"/>
                        <a:t>MUCR with positive internal response</a:t>
                      </a:r>
                      <a:endParaRPr lang="en-GB" sz="1200" b="0">
                        <a:effectLst/>
                      </a:endParaRPr>
                    </a:p>
                  </a:txBody>
                  <a:tcPr marL="25400" marR="25400" marT="19050" marB="19050" anchor="ctr">
                    <a:solidFill>
                      <a:srgbClr val="CBDCDB"/>
                    </a:solidFill>
                  </a:tcPr>
                </a:tc>
                <a:tc rowSpan="4">
                  <a:txBody>
                    <a:bodyPr/>
                    <a:lstStyle/>
                    <a:p>
                      <a:r>
                        <a:rPr lang="en-GB" sz="1200" b="0" i="0" kern="1200">
                          <a:solidFill>
                            <a:schemeClr val="dk1"/>
                          </a:solidFill>
                          <a:effectLst/>
                          <a:latin typeface="+mn-lt"/>
                          <a:ea typeface="+mn-ea"/>
                          <a:cs typeface="+mn-cs"/>
                        </a:rPr>
                        <a:t>CDS will send a response back to the relevant actor where the response provided is the expected message response specific to the business scenario.</a:t>
                      </a:r>
                      <a:endParaRPr lang="en-GB" sz="1200">
                        <a:effectLst/>
                      </a:endParaRPr>
                    </a:p>
                  </a:txBody>
                  <a:tcPr marL="25400" marR="25400" marT="19050" marB="19050" anchor="ctr">
                    <a:solidFill>
                      <a:srgbClr val="CBDCDB"/>
                    </a:solidFill>
                  </a:tcPr>
                </a:tc>
                <a:extLst>
                  <a:ext uri="{0D108BD9-81ED-4DB2-BD59-A6C34878D82A}">
                    <a16:rowId xmlns:a16="http://schemas.microsoft.com/office/drawing/2014/main" val="220780970"/>
                  </a:ext>
                </a:extLst>
              </a:tr>
              <a:tr h="234222">
                <a:tc>
                  <a:txBody>
                    <a:bodyPr/>
                    <a:lstStyle/>
                    <a:p>
                      <a:r>
                        <a:rPr lang="en-GB" sz="1200"/>
                        <a:t>DUCR with positive internal response</a:t>
                      </a:r>
                      <a:endParaRPr lang="en-GB" sz="1200" b="0">
                        <a:effectLst/>
                      </a:endParaRPr>
                    </a:p>
                  </a:txBody>
                  <a:tcPr marL="25400" marR="25400" marT="19050" marB="19050" anchor="ctr">
                    <a:solidFill>
                      <a:srgbClr val="E7EEEE"/>
                    </a:solidFill>
                  </a:tcPr>
                </a:tc>
                <a:tc vMerge="1">
                  <a:txBody>
                    <a:bodyPr/>
                    <a:lstStyle/>
                    <a:p>
                      <a:endParaRPr lang="en-GB" sz="1300">
                        <a:effectLst/>
                      </a:endParaRPr>
                    </a:p>
                  </a:txBody>
                  <a:tcPr marL="25400" marR="25400" marT="19050" marB="19050" anchor="ctr">
                    <a:solidFill>
                      <a:srgbClr val="CBDCDB"/>
                    </a:solidFill>
                  </a:tcPr>
                </a:tc>
                <a:extLst>
                  <a:ext uri="{0D108BD9-81ED-4DB2-BD59-A6C34878D82A}">
                    <a16:rowId xmlns:a16="http://schemas.microsoft.com/office/drawing/2014/main" val="2626705667"/>
                  </a:ext>
                </a:extLst>
              </a:tr>
              <a:tr h="234222">
                <a:tc>
                  <a:txBody>
                    <a:bodyPr/>
                    <a:lstStyle/>
                    <a:p>
                      <a:r>
                        <a:rPr lang="en-GB" sz="1200"/>
                        <a:t>UCR (MUCR or DUCR) with negative internal response</a:t>
                      </a:r>
                      <a:endParaRPr lang="en-GB" sz="1200" b="0">
                        <a:effectLst/>
                      </a:endParaRPr>
                    </a:p>
                  </a:txBody>
                  <a:tcPr marL="25400" marR="25400" marT="19050" marB="19050" anchor="ctr">
                    <a:solidFill>
                      <a:srgbClr val="CBDCDB"/>
                    </a:solidFill>
                  </a:tcPr>
                </a:tc>
                <a:tc vMerge="1">
                  <a:txBody>
                    <a:bodyPr/>
                    <a:lstStyle/>
                    <a:p>
                      <a:endParaRPr lang="en-GB" sz="1300">
                        <a:effectLst/>
                      </a:endParaRPr>
                    </a:p>
                  </a:txBody>
                  <a:tcPr marL="25400" marR="25400" marT="19050" marB="19050" anchor="ctr">
                    <a:solidFill>
                      <a:srgbClr val="CBDCDB"/>
                    </a:solidFill>
                  </a:tcPr>
                </a:tc>
                <a:extLst>
                  <a:ext uri="{0D108BD9-81ED-4DB2-BD59-A6C34878D82A}">
                    <a16:rowId xmlns:a16="http://schemas.microsoft.com/office/drawing/2014/main" val="974203679"/>
                  </a:ext>
                </a:extLst>
              </a:tr>
              <a:tr h="234222">
                <a:tc>
                  <a:txBody>
                    <a:bodyPr/>
                    <a:lstStyle/>
                    <a:p>
                      <a:r>
                        <a:rPr lang="en-GB" sz="1200" dirty="0"/>
                        <a:t>MUCR with negative internal response (only for CST)</a:t>
                      </a:r>
                      <a:endParaRPr lang="en-GB" sz="1200" b="0" dirty="0">
                        <a:effectLst/>
                      </a:endParaRPr>
                    </a:p>
                  </a:txBody>
                  <a:tcPr marL="25400" marR="25400" marT="19050" marB="19050" anchor="ctr">
                    <a:solidFill>
                      <a:srgbClr val="E7EEEE"/>
                    </a:solidFill>
                  </a:tcPr>
                </a:tc>
                <a:tc vMerge="1">
                  <a:txBody>
                    <a:bodyPr/>
                    <a:lstStyle/>
                    <a:p>
                      <a:endParaRPr lang="en-GB" sz="1300">
                        <a:effectLst/>
                      </a:endParaRPr>
                    </a:p>
                  </a:txBody>
                  <a:tcPr marL="25400" marR="25400" marT="19050" marB="19050" anchor="ctr">
                    <a:solidFill>
                      <a:srgbClr val="E7EEEE"/>
                    </a:solidFill>
                  </a:tcPr>
                </a:tc>
                <a:extLst>
                  <a:ext uri="{0D108BD9-81ED-4DB2-BD59-A6C34878D82A}">
                    <a16:rowId xmlns:a16="http://schemas.microsoft.com/office/drawing/2014/main" val="1048859969"/>
                  </a:ext>
                </a:extLst>
              </a:tr>
            </a:tbl>
          </a:graphicData>
        </a:graphic>
      </p:graphicFrame>
    </p:spTree>
    <p:extLst>
      <p:ext uri="{BB962C8B-B14F-4D97-AF65-F5344CB8AC3E}">
        <p14:creationId xmlns:p14="http://schemas.microsoft.com/office/powerpoint/2010/main" val="115222658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51620" y="6486053"/>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022"/>
            <a:ext cx="11138053" cy="39703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Chewing Tobacco and Snuff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is importing a commodity containing alcohol, tobacco or oil, the UK imposes an additional Excise Duty on these commodities. Chewing tobacco is liable to this excise duty, whereas nasal snuff is not. The two commodities cannot be processed under the same goods item entry.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rPr>
              <a:t>Pre-Requisite: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"For commodity code 2403991000 (Chewing tobacco and snuff), the following tax types and national additional codes apply: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Tax type 627 and National Additional Code X627 have been developed for Chewing Tobacco (excise duty due at the relevant rate)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Tax type 639 and National Additional Code X639 has been developed for Snuff – Not an Excise Product (zero excise duty applicable)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For NI imports, UKIMS logic has been applied to the relevant scenarios as per declared AI code."</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Data Completion</a:t>
            </a: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enters commodity code 2403991000 (Chewing tobacco and snuff) in DE 6/14 *and* DE 6/15 then the trader must enter one of the following"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Tax type 627 in DE 4/3 and the corresponding national additional code X627 in DE 6/17 to denote chewing tobacco or</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Tax type 639 in DE 4/3 and the corresponding national additional code X639 in DE 6/17 to denote nasal snuff.</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the above combinations are not used, then the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declaration</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will</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be</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rejected</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and a DMSREJ notification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will</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be</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issued</a:t>
            </a:r>
            <a:r>
              <a:rPr kumimoji="0" lang="fr-FR" sz="1200" b="0" i="0" u="none" strike="noStrike" kern="0" cap="none" spc="0" normalizeH="0" baseline="0" noProof="0">
                <a:ln>
                  <a:noFill/>
                </a:ln>
                <a:solidFill>
                  <a:prstClr val="black"/>
                </a:solidFill>
                <a:effectLst/>
                <a:uLnTx/>
                <a:uFillTx/>
                <a:latin typeface="Calibri" panose="020F0502020204030204"/>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All other duty &amp; VAT calculations remain unchanged from R4.5 processes</a:t>
            </a:r>
            <a:endParaRPr kumimoji="0" lang="fr-FR" sz="1200" b="0" i="0" u="none" strike="noStrike" kern="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718659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51620" y="6486053"/>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0469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CR132 EMR Messages not sent to CSPs in TDR</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will cover the functionality that will allow traders to complete movement journeys in TDR for the following scenarios: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Trader wants to create/close/arrive/depart/consolidate a CDS MUCR on TDR.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Trader wants to arrive an unknown DUCR which doesn't exist on CDS or CHIEF.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Messages for a MUCR in TDR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CDA receives an internal positive or an internal negative response for an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Exports Anticipated Arrival (EAA), Exports Arrival at Location (EAL),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Export Associate Consignments (EACs), Consolidation Shut Transactions (CSTs), </a:t>
            </a:r>
            <a:r>
              <a:rPr kumimoji="0" lang="en-GB" sz="1200" b="0" i="0" u="none" strike="noStrike" kern="0" cap="none" spc="0" normalizeH="0" baseline="0" noProof="0">
                <a:ln>
                  <a:noFill/>
                </a:ln>
                <a:solidFill>
                  <a:prstClr val="black"/>
                </a:solidFill>
                <a:effectLst/>
                <a:uLnTx/>
                <a:uFillTx/>
                <a:latin typeface="Calibri" panose="020F0502020204030204"/>
                <a:ea typeface="+mn-ea"/>
                <a:cs typeface="+mn-cs"/>
              </a:rPr>
              <a:t>Export Departure Location (EDL) messages submitted for a MUCR in TDR, CDS will send a response back to the relevant actor where the response provided is the expected message response specific to the business scenario.</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a:cs typeface="Calibri"/>
              </a:rPr>
              <a:t>Messages for a DUCR that does not exist in TDR</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rPr>
              <a:t>Where CDA receives an internal response for an EAA or EAL message submitted for a DUCR that doesn’t exist in TDR, CDS will send a response back to the relevant actor where the response provided is the expected message response specific to the business scenario.</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78768"/>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974792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193899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sng" strike="noStrike" kern="0" cap="none" spc="0" normalizeH="0" baseline="0" noProof="0">
                <a:ln>
                  <a:noFill/>
                </a:ln>
                <a:solidFill>
                  <a:srgbClr val="000000"/>
                </a:solidFill>
                <a:effectLst/>
                <a:uLnTx/>
                <a:uFillTx/>
                <a:latin typeface="Calibri" panose="020F0502020204030204"/>
                <a:ea typeface="Geneva"/>
                <a:cs typeface="+mn-cs"/>
              </a:rPr>
              <a:t>Signing Up For a New Direct Debit Instructions (DDI) Using Same Bank Account Details (Prod Only)</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sng"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From CDS.4.6.0, traders will be able to sign up for a new DDI using the same bank account details (prior to or following the expiration of their current DDI) using the paper-based submission route and the digital route.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Genev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Dormant DDI: Traders with dormant DDIs can sign up for a new DDI using their existing bank details.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Active DDI: Traders with active DDIs can also sign up for a new DDI using their current bank details.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New DDI Reference: A unique DDI reference will be generated for each new DDI sign-up.</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Communication: Traders will continue to receive notifications in their secure inbox.</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Traders will be informed through the Finance UI about unread messages in their secure inbox.</a:t>
            </a:r>
            <a:endParaRPr kumimoji="0" lang="en-GB" sz="1200" b="0" i="0" u="none" strike="noStrike" kern="0" cap="none" spc="0" normalizeH="0" baseline="0" noProof="0">
              <a:ln>
                <a:noFill/>
              </a:ln>
              <a:solidFill>
                <a:srgbClr val="000000"/>
              </a:solidFill>
              <a:effectLst/>
              <a:uLnTx/>
              <a:uFillTx/>
              <a:latin typeface="Calibri" panose="020F0502020204030204"/>
              <a:ea typeface="Genev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7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954836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04E56DA5-555D-C670-EA63-ABA52387BDD7}"/>
              </a:ext>
            </a:extLst>
          </p:cNvPr>
          <p:cNvGraphicFramePr>
            <a:graphicFrameLocks noGrp="1"/>
          </p:cNvGraphicFramePr>
          <p:nvPr/>
        </p:nvGraphicFramePr>
        <p:xfrm>
          <a:off x="465155" y="2670019"/>
          <a:ext cx="11563684" cy="1764000"/>
        </p:xfrm>
        <a:graphic>
          <a:graphicData uri="http://schemas.openxmlformats.org/drawingml/2006/table">
            <a:tbl>
              <a:tblPr firstRow="1" bandRow="1">
                <a:tableStyleId>{5C22544A-7EE6-4342-B048-85BDC9FD1C3A}</a:tableStyleId>
              </a:tblPr>
              <a:tblGrid>
                <a:gridCol w="2450436">
                  <a:extLst>
                    <a:ext uri="{9D8B030D-6E8A-4147-A177-3AD203B41FA5}">
                      <a16:colId xmlns:a16="http://schemas.microsoft.com/office/drawing/2014/main" val="3837587197"/>
                    </a:ext>
                  </a:extLst>
                </a:gridCol>
                <a:gridCol w="2886075">
                  <a:extLst>
                    <a:ext uri="{9D8B030D-6E8A-4147-A177-3AD203B41FA5}">
                      <a16:colId xmlns:a16="http://schemas.microsoft.com/office/drawing/2014/main" val="574208599"/>
                    </a:ext>
                  </a:extLst>
                </a:gridCol>
                <a:gridCol w="3171825">
                  <a:extLst>
                    <a:ext uri="{9D8B030D-6E8A-4147-A177-3AD203B41FA5}">
                      <a16:colId xmlns:a16="http://schemas.microsoft.com/office/drawing/2014/main" val="2973525332"/>
                    </a:ext>
                  </a:extLst>
                </a:gridCol>
                <a:gridCol w="3055348">
                  <a:extLst>
                    <a:ext uri="{9D8B030D-6E8A-4147-A177-3AD203B41FA5}">
                      <a16:colId xmlns:a16="http://schemas.microsoft.com/office/drawing/2014/main" val="2361956760"/>
                    </a:ext>
                  </a:extLst>
                </a:gridCol>
              </a:tblGrid>
              <a:tr h="276992">
                <a:tc>
                  <a:txBody>
                    <a:bodyPr/>
                    <a:lstStyle/>
                    <a:p>
                      <a:r>
                        <a:rPr lang="en-GB" sz="1200"/>
                        <a:t>Category</a:t>
                      </a:r>
                    </a:p>
                  </a:txBody>
                  <a:tcPr>
                    <a:solidFill>
                      <a:srgbClr val="009999"/>
                    </a:solidFill>
                  </a:tcPr>
                </a:tc>
                <a:tc>
                  <a:txBody>
                    <a:bodyPr/>
                    <a:lstStyle/>
                    <a:p>
                      <a:r>
                        <a:rPr lang="en-GB" sz="1200"/>
                        <a:t>SPIMM I1 C&amp;F</a:t>
                      </a:r>
                    </a:p>
                  </a:txBody>
                  <a:tcPr>
                    <a:solidFill>
                      <a:srgbClr val="009999"/>
                    </a:solidFill>
                  </a:tcPr>
                </a:tc>
                <a:tc>
                  <a:txBody>
                    <a:bodyPr/>
                    <a:lstStyle/>
                    <a:p>
                      <a:r>
                        <a:rPr lang="en-GB" sz="1200"/>
                        <a:t>SPIMM EIDR NOP</a:t>
                      </a:r>
                    </a:p>
                  </a:txBody>
                  <a:tcPr>
                    <a:solidFill>
                      <a:srgbClr val="009999"/>
                    </a:solidFill>
                  </a:tcPr>
                </a:tc>
                <a:tc>
                  <a:txBody>
                    <a:bodyPr/>
                    <a:lstStyle/>
                    <a:p>
                      <a:r>
                        <a:rPr lang="en-GB" sz="1200"/>
                        <a:t>SPIMM C21i</a:t>
                      </a:r>
                    </a:p>
                  </a:txBody>
                  <a:tcPr>
                    <a:solidFill>
                      <a:srgbClr val="009999"/>
                    </a:solidFill>
                  </a:tcPr>
                </a:tc>
                <a:extLst>
                  <a:ext uri="{0D108BD9-81ED-4DB2-BD59-A6C34878D82A}">
                    <a16:rowId xmlns:a16="http://schemas.microsoft.com/office/drawing/2014/main" val="1881507151"/>
                  </a:ext>
                </a:extLst>
              </a:tr>
              <a:tr h="27699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Declaration Types (DE 1/11)</a:t>
                      </a:r>
                    </a:p>
                  </a:txBody>
                  <a:tcPr>
                    <a:solidFill>
                      <a:srgbClr val="CBDCDB"/>
                    </a:solidFill>
                  </a:tcPr>
                </a:tc>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200" b="0" i="0">
                          <a:solidFill>
                            <a:srgbClr val="000000"/>
                          </a:solidFill>
                          <a:effectLst/>
                        </a:rPr>
                        <a:t>‘IM’</a:t>
                      </a:r>
                    </a:p>
                  </a:txBody>
                  <a:tcPr>
                    <a:solidFill>
                      <a:srgbClr val="CBDCDB"/>
                    </a:solidFill>
                  </a:tcPr>
                </a:tc>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200" b="0" i="0">
                          <a:solidFill>
                            <a:srgbClr val="000000"/>
                          </a:solidFill>
                          <a:effectLst/>
                        </a:rPr>
                        <a:t>‘IM’</a:t>
                      </a:r>
                    </a:p>
                  </a:txBody>
                  <a:tcPr>
                    <a:solidFill>
                      <a:srgbClr val="CBDCDB"/>
                    </a:solidFill>
                  </a:tcPr>
                </a:tc>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200" b="0" i="0">
                          <a:solidFill>
                            <a:srgbClr val="000000"/>
                          </a:solidFill>
                          <a:effectLst/>
                        </a:rPr>
                        <a:t>‘IM’</a:t>
                      </a:r>
                    </a:p>
                  </a:txBody>
                  <a:tcPr>
                    <a:solidFill>
                      <a:srgbClr val="CBDCDB"/>
                    </a:solidFill>
                  </a:tcPr>
                </a:tc>
                <a:extLst>
                  <a:ext uri="{0D108BD9-81ED-4DB2-BD59-A6C34878D82A}">
                    <a16:rowId xmlns:a16="http://schemas.microsoft.com/office/drawing/2014/main" val="220780970"/>
                  </a:ext>
                </a:extLst>
              </a:tr>
              <a:tr h="46651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Additional Declaration Types (DE 1/2)</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‘C’ or ‘F’</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‘J’ or ‘K’</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b="0" i="0" kern="1200">
                          <a:solidFill>
                            <a:schemeClr val="dk1"/>
                          </a:solidFill>
                          <a:effectLst/>
                          <a:latin typeface="+mn-lt"/>
                          <a:ea typeface="+mn-ea"/>
                          <a:cs typeface="+mn-cs"/>
                        </a:rPr>
                        <a:t>‘J’ or ‘K’</a:t>
                      </a:r>
                    </a:p>
                    <a:p>
                      <a:pPr marL="0" indent="0">
                        <a:buFont typeface="Arial" panose="020B0604020202020204" pitchFamily="34" charset="0"/>
                        <a:buNone/>
                      </a:pPr>
                      <a:endParaRPr lang="en-GB" sz="1200" b="0" i="0" kern="1200">
                        <a:solidFill>
                          <a:schemeClr val="dk1"/>
                        </a:solidFill>
                        <a:effectLst/>
                        <a:latin typeface="+mn-lt"/>
                        <a:ea typeface="+mn-ea"/>
                        <a:cs typeface="+mn-cs"/>
                      </a:endParaRPr>
                    </a:p>
                  </a:txBody>
                  <a:tcPr>
                    <a:solidFill>
                      <a:srgbClr val="E7EEEE"/>
                    </a:solidFill>
                  </a:tcPr>
                </a:tc>
                <a:extLst>
                  <a:ext uri="{0D108BD9-81ED-4DB2-BD59-A6C34878D82A}">
                    <a16:rowId xmlns:a16="http://schemas.microsoft.com/office/drawing/2014/main" val="2626705667"/>
                  </a:ext>
                </a:extLst>
              </a:tr>
              <a:tr h="27699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Codes (DE 1/10)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One of: ‘0700’, ‘0778’, ‘4000’, ‘4078’</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One of: ‘4000, 4078’</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One of: ‘0006’, ‘0007’, ‘0024’</a:t>
                      </a:r>
                    </a:p>
                  </a:txBody>
                  <a:tcPr>
                    <a:solidFill>
                      <a:srgbClr val="CBDCDB"/>
                    </a:solidFill>
                  </a:tcPr>
                </a:tc>
                <a:extLst>
                  <a:ext uri="{0D108BD9-81ED-4DB2-BD59-A6C34878D82A}">
                    <a16:rowId xmlns:a16="http://schemas.microsoft.com/office/drawing/2014/main" val="974203679"/>
                  </a:ext>
                </a:extLst>
              </a:tr>
              <a:tr h="46651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Additional Procedure Codes (DE 1/11)</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One of: ‘1SG’, 1LG’, ‘1EN’, ‘1EL’</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One of: ‘1SG’, ‘1EN’</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dirty="0"/>
                        <a:t>One of: ’61G’, ’62G’, ’63G’, ’71G’, ’24G’</a:t>
                      </a:r>
                    </a:p>
                  </a:txBody>
                  <a:tcPr>
                    <a:solidFill>
                      <a:srgbClr val="E7EEEE"/>
                    </a:solidFill>
                  </a:tcPr>
                </a:tc>
                <a:extLst>
                  <a:ext uri="{0D108BD9-81ED-4DB2-BD59-A6C34878D82A}">
                    <a16:rowId xmlns:a16="http://schemas.microsoft.com/office/drawing/2014/main" val="1761623984"/>
                  </a:ext>
                </a:extLst>
              </a:tr>
            </a:tbl>
          </a:graphicData>
        </a:graphic>
      </p:graphicFrame>
      <p:sp>
        <p:nvSpPr>
          <p:cNvPr id="6" name="Rectangle 5">
            <a:extLst>
              <a:ext uri="{FF2B5EF4-FFF2-40B4-BE49-F238E27FC236}">
                <a16:creationId xmlns:a16="http://schemas.microsoft.com/office/drawing/2014/main" id="{E330BA09-19EA-A3AE-9777-DD71D90352D4}"/>
              </a:ext>
            </a:extLst>
          </p:cNvPr>
          <p:cNvSpPr/>
          <p:nvPr/>
        </p:nvSpPr>
        <p:spPr>
          <a:xfrm>
            <a:off x="407065" y="1264845"/>
            <a:ext cx="11282159" cy="424731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Deriving a Simplified Process for Internal Market Movements (SPIMM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  Dataset – </a:t>
            </a:r>
            <a:r>
              <a:rPr kumimoji="0" lang="en-GB" sz="1200" b="1" i="0" u="sng"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 I1 C&amp;F</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 </a:t>
            </a:r>
            <a:r>
              <a:rPr kumimoji="0" lang="en-GB" sz="1200" b="1" i="0" u="sng"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 EIDR NOP</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 and </a:t>
            </a:r>
            <a:r>
              <a:rPr kumimoji="0" lang="en-GB" sz="1200" b="1" i="0" u="sng"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 C21i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functionality will allow the differentiation between SPIMM and other NI goods movements I1 C&amp;F, EIDR NOP and C21i so that SCDP and UKIMS authorised traders can benefit from a reduced dataset for GB-NI Not-at-Risk goods movements eligible for SPIMM.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rPr>
              <a:t>Please note: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NIAPP is only to be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used by traders only on instruction by HMRC. Traders may experience additional compliance action should the code be used without prior approval.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following table shows how to derive a SPIMM Dataset –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I1 C&amp;F,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EIDR NOP and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above criteria are met, CDS will enforce the completion rules for data elements present on the respective SPIMM datasets (I1 C&amp;F, EIDR NOP, C21i) as a minimum, as outlined in the attached documents. If the completion rules are not followed, the declaration will be rejected, and a DMSREJ notification will be issued. Note: this information can also be found in the Technical Completion Matrix, located on the Developer Hub.</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a:endParaRPr>
          </a:p>
        </p:txBody>
      </p:sp>
      <p:graphicFrame>
        <p:nvGraphicFramePr>
          <p:cNvPr id="8" name="Object 7">
            <a:extLst>
              <a:ext uri="{FF2B5EF4-FFF2-40B4-BE49-F238E27FC236}">
                <a16:creationId xmlns:a16="http://schemas.microsoft.com/office/drawing/2014/main" id="{7F4A6242-196F-C330-163A-6BDE70EAFFC4}"/>
              </a:ext>
            </a:extLst>
          </p:cNvPr>
          <p:cNvGraphicFramePr>
            <a:graphicFrameLocks noChangeAspect="1"/>
          </p:cNvGraphicFramePr>
          <p:nvPr/>
        </p:nvGraphicFramePr>
        <p:xfrm>
          <a:off x="11056348" y="248844"/>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8" name="Object 7">
                        <a:extLst>
                          <a:ext uri="{FF2B5EF4-FFF2-40B4-BE49-F238E27FC236}">
                            <a16:creationId xmlns:a16="http://schemas.microsoft.com/office/drawing/2014/main" id="{7F4A6242-196F-C330-163A-6BDE70EAFFC4}"/>
                          </a:ext>
                        </a:extLst>
                      </p:cNvPr>
                      <p:cNvPicPr/>
                      <p:nvPr/>
                    </p:nvPicPr>
                    <p:blipFill>
                      <a:blip r:embed="rId4"/>
                      <a:stretch>
                        <a:fillRect/>
                      </a:stretch>
                    </p:blipFill>
                    <p:spPr>
                      <a:xfrm>
                        <a:off x="11056348" y="248844"/>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365171906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0469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Acceptance Criteria (cont.):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For all datasets (I1 C&amp;F, EIDR NOP, C21i), where permitted Procedure Code and Additional Procedure Code combinations are entered in DE 1/10 and 1/11 (indicated by 'Y' on the attached documents), the declaration will be processed. Where an invalid combination of Procedure codes and Additional procedure codes is declared in DE 1/10 and 1/11, CDS will reject the declaration and send a DMSREJ notification to the submitter.</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an Additional Procedure Code on the respective APC List (I1 C&amp;F, EIDR NOP, C21i) in the attached documents is declared in DE 1/11, the declaration will be processed. Where an Additional Procedure Code that is not on the list is declared, the declaration will be rejected, and a DMSREJ notification will be issued.</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 data field not present on the respective completion matrices (I1 C&amp;F, EIDR NOP, C21i), existing business validation will apply to those fields. Fields that appear on the datasets will ensure that all business rules that apply to non-SPIMM declarations are adhered to, unless a specific SPIMM requirement takes precedence over current rules.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ensure that for each dataset: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All business rules that apply to a non-SPIMM dataset also apply to the SPIMM dataset, unless a specific requirement for the SPIMM dataset takes precedence.</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All business rules that apply to all procedure categories also apply to the SPIMM dataset, unless a specific SPIMM requirement takes precedence over the current rules.</a:t>
            </a:r>
            <a:endParaRPr kumimoji="0" lang="en-GB" sz="1200" b="0" i="0" u="none" strike="noStrike" kern="120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Validation has been met as per 'Slide 45'.</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0" cap="none" spc="0" normalizeH="0" baseline="0" noProof="0">
              <a:ln>
                <a:noFill/>
              </a:ln>
              <a:solidFill>
                <a:srgbClr val="172B4D"/>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marR="0" lvl="1"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457200" marR="0" lvl="1" indent="0" algn="r" defTabSz="914400" rtl="0" eaLnBrk="1" fontAlgn="auto" latinLnBrk="0" hangingPunct="1">
                <a:lnSpc>
                  <a:spcPct val="100000"/>
                </a:lnSpc>
                <a:spcBef>
                  <a:spcPts val="0"/>
                </a:spcBef>
                <a:spcAft>
                  <a:spcPts val="0"/>
                </a:spcAft>
                <a:buClrTx/>
                <a:buSzTx/>
                <a:buFontTx/>
                <a:buNone/>
                <a:tabLst/>
                <a:defRPr/>
              </a:pPr>
              <a:t>121</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6" name="Object 5">
            <a:extLst>
              <a:ext uri="{FF2B5EF4-FFF2-40B4-BE49-F238E27FC236}">
                <a16:creationId xmlns:a16="http://schemas.microsoft.com/office/drawing/2014/main" id="{ECDF18AA-C470-E08E-249B-64BDD0F8D333}"/>
              </a:ext>
            </a:extLst>
          </p:cNvPr>
          <p:cNvGraphicFramePr>
            <a:graphicFrameLocks noChangeAspect="1"/>
          </p:cNvGraphicFramePr>
          <p:nvPr/>
        </p:nvGraphicFramePr>
        <p:xfrm>
          <a:off x="11056348" y="248844"/>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6" name="Object 5">
                        <a:extLst>
                          <a:ext uri="{FF2B5EF4-FFF2-40B4-BE49-F238E27FC236}">
                            <a16:creationId xmlns:a16="http://schemas.microsoft.com/office/drawing/2014/main" id="{ECDF18AA-C470-E08E-249B-64BDD0F8D333}"/>
                          </a:ext>
                        </a:extLst>
                      </p:cNvPr>
                      <p:cNvPicPr/>
                      <p:nvPr/>
                    </p:nvPicPr>
                    <p:blipFill>
                      <a:blip r:embed="rId4"/>
                      <a:stretch>
                        <a:fillRect/>
                      </a:stretch>
                    </p:blipFill>
                    <p:spPr>
                      <a:xfrm>
                        <a:off x="11056348" y="248844"/>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55343209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97031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Acceptance Criteria (cont.):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SPIMM dataset (I1 C&amp;F, EIDR NOP, C21i) will not be derived in the following scenarios: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SPIMM I1 C&amp;F:</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Declaration Type is not ‘C’ or ‘F’.</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Procedure Code declared in DE 1/11 does not include at least one of the following: '1SG', '1LG', '1EN', or '1EL' (the declaration will instead be processed as per H1 completion rules).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Procedure Code declared in DE 1/10 is not one of the following: '0700’, '0778', '4000’, or '4078' (the declaration will instead be processed as per BAU).</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SPIMM EIDR NOP:</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Declaration Type is not ‘J’ or ‘K’.</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Procedure Code declared in DE 1/11 does not include at least one of the following: '1SG’ or '1EN' (the declaration will instead be processed as per H1 completion rules).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Procedure Code declared in DE 1/10 is not one of the following: '4000’ or '4078' (the declaration will instead be processed as per BAU).</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SPIMM C21i:</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Declaration Type is not ‘J’ or ‘K’.</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Additional Procedure Code declared in DE 1/11 does not include at least one of the following: '61G’, '62G’, '63G’, '71G’, or '24G' (the declaration will instead be processed as per H1 completion rules).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the Procedure Code declared in DE 1/10 is not one of the following: '0006’, '0007’, or '0024' (the declaration will instead be processed as per BAU).</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Object 5">
            <a:extLst>
              <a:ext uri="{FF2B5EF4-FFF2-40B4-BE49-F238E27FC236}">
                <a16:creationId xmlns:a16="http://schemas.microsoft.com/office/drawing/2014/main" id="{ECDF18AA-C470-E08E-249B-64BDD0F8D333}"/>
              </a:ext>
            </a:extLst>
          </p:cNvPr>
          <p:cNvGraphicFramePr>
            <a:graphicFrameLocks noChangeAspect="1"/>
          </p:cNvGraphicFramePr>
          <p:nvPr/>
        </p:nvGraphicFramePr>
        <p:xfrm>
          <a:off x="11056348" y="248844"/>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6" name="Object 5">
                        <a:extLst>
                          <a:ext uri="{FF2B5EF4-FFF2-40B4-BE49-F238E27FC236}">
                            <a16:creationId xmlns:a16="http://schemas.microsoft.com/office/drawing/2014/main" id="{ECDF18AA-C470-E08E-249B-64BDD0F8D333}"/>
                          </a:ext>
                        </a:extLst>
                      </p:cNvPr>
                      <p:cNvPicPr/>
                      <p:nvPr/>
                    </p:nvPicPr>
                    <p:blipFill>
                      <a:blip r:embed="rId4"/>
                      <a:stretch>
                        <a:fillRect/>
                      </a:stretch>
                    </p:blipFill>
                    <p:spPr>
                      <a:xfrm>
                        <a:off x="11056348" y="248844"/>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3406059002"/>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28397"/>
            <a:ext cx="11282159" cy="397031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Authorisation Validation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UKIMS Authorisation validation or declaration of override AI Code 'NIAPP' will occur for all datasets, as detailed in TTM27.0 Scope Guidance*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SDP Authorisation validation will occur for SPIMM I1 C&amp;F datasets.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EIDR and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Authorisation validation will occur for EIDR NOP datasets.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CDS will ensure other Authorisation validation occurs for a non-SPIMM dataset unless superseded by validation detailed in the TTM27.0 Scope Guidance.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Processing SPIMM Declarations</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Pre-requisite: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The relevant SPIMM dataset (I1 C&amp;F, EIDR NOP, or C21i) has been derived as per slide 12.</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Common Processing Rules:</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All SPIMM declarations will follow the same BAU processes as their non-SPIMM counterparts for amendments, invalidations, goods presentation/arrival notices, electronic license validation (where applicable), and subsequent license processing. If a SPIMM declaration includes a MUCR in DE 2/1 at the header level, BAU validation should be met by trader completion. If BAU validation fails, CDS will reject the declaration and send a DMSREJ notification to the submitter. Standard Inventory Linking Imports processing will apply to declarations with a MUCR in DE 2/1 at the header level, as per BAU. CDS will ensure that the declaration is amendable by the trader during the dwell time period.</a:t>
            </a:r>
            <a:b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b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t>
            </a:r>
            <a:r>
              <a:rPr kumimoji="0" lang="en-GB" sz="1200" b="0" i="1" u="none" strike="noStrike" kern="0" cap="none" spc="0" normalizeH="0" baseline="0" noProof="0">
                <a:ln>
                  <a:noFill/>
                </a:ln>
                <a:solidFill>
                  <a:srgbClr val="000000"/>
                </a:solidFill>
                <a:effectLst/>
                <a:uLnTx/>
                <a:uFillTx/>
                <a:latin typeface="Calibri" panose="020F0502020204030204"/>
                <a:ea typeface="+mn-ea"/>
                <a:cs typeface="Calibri"/>
              </a:rPr>
              <a:t>NIAPP is only to be </a:t>
            </a:r>
            <a:r>
              <a:rPr kumimoji="0" lang="en-GB" sz="1200" b="0" i="1" u="none" strike="noStrike" kern="1200" cap="none" spc="0" normalizeH="0" baseline="0" noProof="0">
                <a:ln>
                  <a:noFill/>
                </a:ln>
                <a:solidFill>
                  <a:prstClr val="black"/>
                </a:solidFill>
                <a:effectLst/>
                <a:uLnTx/>
                <a:uFillTx/>
                <a:latin typeface="Calibri" panose="020F0502020204030204"/>
                <a:ea typeface="+mn-ea"/>
                <a:cs typeface="+mn-cs"/>
              </a:rPr>
              <a:t>used by traders only on instruction by HMRC. Traders may experience additional compliance action should the code be used without prior approval.</a:t>
            </a:r>
            <a:r>
              <a:rPr kumimoji="0" lang="en-GB" sz="1200" b="0" i="1" u="none" strike="noStrike" kern="0" cap="none" spc="0" normalizeH="0" baseline="0" noProof="0">
                <a:ln>
                  <a:noFill/>
                </a:ln>
                <a:solidFill>
                  <a:prstClr val="black"/>
                </a:solidFill>
                <a:effectLst/>
                <a:uLnTx/>
                <a:uFillTx/>
                <a:latin typeface="Calibri" panose="020F0502020204030204"/>
                <a:ea typeface="+mn-ea"/>
                <a:cs typeface="+mn-cs"/>
              </a:rPr>
              <a:t> </a:t>
            </a:r>
            <a:endParaRPr kumimoji="0" lang="en-GB" sz="1200" b="0" i="1"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ple-system"/>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476760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28397"/>
            <a:ext cx="11282159" cy="30469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SPIMM I1 C&amp;F:</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calculate or charge any customs duties, VAT, or excise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allow trader use of manual override functionality on duties.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send a DMSTAX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SPIMM EIDR NOP:</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send a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EIDR NOP for Tariff validation.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calculate or charge any customs duties, VAT, or excise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send a DMSTAX notification to the submitter, indicating no customs duties, VAT, or excise have been charged.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SPIMM C21i:</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send a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 for Tariff validation.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calculate or charge any customs duties, VAT, or excise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not allow trader use of manual override codes (‘OVRXX’).</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send a DMSTAX notification to the submitter, indicating  no customs duties, VAT, or excise have been charged.</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apple-system"/>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248234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41632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Declaring a C21i for GB-NI Parcel Journeys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As part of the Windsor Framework, a new Authorisation - the UK Carrier (UKC) Authorisation - is being introduced to CDS functionality so that only UKC authorisation holders can clear Consumer to Consumer (C2C), Consumer to Business (C2B), and Business to Consumer (B2C) parcels moving from GB to NI by submitting a C21i.</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This feature introduces CDS functionality to mandate that C21is submitted for consumer parcel (C2C, C2B and B2C) movements from GB-NI have the correct authorisations (UKC) and accompanying codes declared.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b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b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Permitting New Post &amp; Parcels Codes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New consumer parcel codes will be introduced so that carriers can clear C2C, C2B and B2C parcels moving from GB-NI with a C21i.</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 permit the below declarations: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Procedure Code '0024' at goods item level in D.E. 1/10 with Additional Declaration Type 'J' or 'K' in D.E. 1/2.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Additional Procedure Code (APC) '24G' at goods item level in D.E. 1/11.</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Additional Information Code 'NIPAP' at goods item level in D.E. 2/2.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Additional Information Code 'NIPNR' at goods item level in D.E. 2/2.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Additional Information Code 'NIUKC' at goods item level in D.E. 2/2.</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1571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9244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Validating Post Parcels C21is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04E56DA5-555D-C670-EA63-ABA52387BDD7}"/>
              </a:ext>
            </a:extLst>
          </p:cNvPr>
          <p:cNvGraphicFramePr>
            <a:graphicFrameLocks noGrp="1"/>
          </p:cNvGraphicFramePr>
          <p:nvPr/>
        </p:nvGraphicFramePr>
        <p:xfrm>
          <a:off x="465156" y="1562446"/>
          <a:ext cx="11216250" cy="4356000"/>
        </p:xfrm>
        <a:graphic>
          <a:graphicData uri="http://schemas.openxmlformats.org/drawingml/2006/table">
            <a:tbl>
              <a:tblPr firstRow="1" bandRow="1">
                <a:tableStyleId>{5C22544A-7EE6-4342-B048-85BDC9FD1C3A}</a:tableStyleId>
              </a:tblPr>
              <a:tblGrid>
                <a:gridCol w="1914150">
                  <a:extLst>
                    <a:ext uri="{9D8B030D-6E8A-4147-A177-3AD203B41FA5}">
                      <a16:colId xmlns:a16="http://schemas.microsoft.com/office/drawing/2014/main" val="3837587197"/>
                    </a:ext>
                  </a:extLst>
                </a:gridCol>
                <a:gridCol w="9302100">
                  <a:extLst>
                    <a:ext uri="{9D8B030D-6E8A-4147-A177-3AD203B41FA5}">
                      <a16:colId xmlns:a16="http://schemas.microsoft.com/office/drawing/2014/main" val="574208599"/>
                    </a:ext>
                  </a:extLst>
                </a:gridCol>
              </a:tblGrid>
              <a:tr h="287375">
                <a:tc>
                  <a:txBody>
                    <a:bodyPr/>
                    <a:lstStyle/>
                    <a:p>
                      <a:r>
                        <a:rPr lang="en-GB" sz="1200"/>
                        <a:t>Condition</a:t>
                      </a:r>
                    </a:p>
                  </a:txBody>
                  <a:tcPr>
                    <a:solidFill>
                      <a:srgbClr val="009999"/>
                    </a:solidFill>
                  </a:tcPr>
                </a:tc>
                <a:tc>
                  <a:txBody>
                    <a:bodyPr/>
                    <a:lstStyle/>
                    <a:p>
                      <a:r>
                        <a:rPr lang="en-GB" sz="1200"/>
                        <a:t>Requirements</a:t>
                      </a:r>
                    </a:p>
                  </a:txBody>
                  <a:tcPr>
                    <a:solidFill>
                      <a:srgbClr val="009999"/>
                    </a:solidFill>
                  </a:tcPr>
                </a:tc>
                <a:extLst>
                  <a:ext uri="{0D108BD9-81ED-4DB2-BD59-A6C34878D82A}">
                    <a16:rowId xmlns:a16="http://schemas.microsoft.com/office/drawing/2014/main" val="1881507151"/>
                  </a:ext>
                </a:extLst>
              </a:tr>
              <a:tr h="18603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i="0">
                          <a:solidFill>
                            <a:srgbClr val="000000"/>
                          </a:solidFill>
                          <a:effectLst/>
                          <a:cs typeface="Calibri" panose="020F0502020204030204"/>
                        </a:rPr>
                        <a:t>Where APC '24G' is declared in D.E. 1/11 and a 'SPIMM C21i' (SPIMM C21i) is derived.</a:t>
                      </a:r>
                      <a:endParaRPr lang="en-GB" sz="1200"/>
                    </a:p>
                  </a:txBody>
                  <a:tcPr>
                    <a:solidFill>
                      <a:srgbClr val="CBDCDB"/>
                    </a:solidFill>
                  </a:tcPr>
                </a:tc>
                <a:tc>
                  <a:txBody>
                    <a:bodyPr/>
                    <a:lstStyle/>
                    <a:p>
                      <a:pPr marL="285750" indent="-285750">
                        <a:buFont typeface="Arial" panose="020B0604020202020204" pitchFamily="34" charset="0"/>
                        <a:buChar char="•"/>
                        <a:defRPr sz="1800" b="0" i="0" u="none" strike="noStrike" kern="0" cap="none" spc="0" baseline="0">
                          <a:solidFill>
                            <a:srgbClr val="000000"/>
                          </a:solidFill>
                          <a:uFillTx/>
                        </a:defRPr>
                      </a:pPr>
                      <a:r>
                        <a:rPr lang="en-GB" sz="1200" b="0" i="0">
                          <a:solidFill>
                            <a:srgbClr val="000000"/>
                          </a:solidFill>
                          <a:effectLst/>
                        </a:rPr>
                        <a:t>Procedure Code '0024' must be declared in D.E. 1/10 at item level on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200" i="0">
                          <a:solidFill>
                            <a:srgbClr val="000000"/>
                          </a:solidFill>
                          <a:effectLst/>
                          <a:cs typeface="Calibri" panose="020F0502020204030204"/>
                        </a:rPr>
                        <a:t>Either one of the below must be true:</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200" i="0">
                          <a:solidFill>
                            <a:srgbClr val="000000"/>
                          </a:solidFill>
                          <a:effectLst/>
                          <a:cs typeface="Calibri" panose="020F0502020204030204"/>
                        </a:rPr>
                        <a:t>Document Code '1PPS' is declared in D.E. 2/3 at item level on the same goods item and validation passed.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200" i="0">
                          <a:solidFill>
                            <a:srgbClr val="000000"/>
                          </a:solidFill>
                          <a:effectLst/>
                          <a:cs typeface="Calibri" panose="020F0502020204030204"/>
                        </a:rPr>
                        <a:t>AI code 'NIUKC' is declared in D.E. 2/2 at item level on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200" i="0">
                          <a:solidFill>
                            <a:srgbClr val="000000"/>
                          </a:solidFill>
                          <a:effectLst/>
                          <a:cs typeface="Calibri" panose="020F0502020204030204"/>
                        </a:rPr>
                        <a:t>Document Code '1PPS' in D.E. 2/3 and AI code 'NIUKC' in D.E. 2/2 must not be declared against the same goods item on a declaration.</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200" b="0" i="0">
                          <a:solidFill>
                            <a:srgbClr val="000000"/>
                          </a:solidFill>
                          <a:effectLst/>
                        </a:rPr>
                        <a:t>At least one of the following Document Codes in D.E. 2/3 must be declared against the same goods item: 'N703', 'N704', 'N705', 'N710', 'N714', 'N720', 'N722', 'N730', 'N740', 'N741', 'N750', 'N760', 'N785', 'N787', 'N820', 'N821' or 'N933'. (Note: Document Identifier and Document Status Code are required, as per BAU).</a:t>
                      </a:r>
                    </a:p>
                  </a:txBody>
                  <a:tcPr>
                    <a:solidFill>
                      <a:srgbClr val="CBDCDB"/>
                    </a:solidFill>
                  </a:tcPr>
                </a:tc>
                <a:extLst>
                  <a:ext uri="{0D108BD9-81ED-4DB2-BD59-A6C34878D82A}">
                    <a16:rowId xmlns:a16="http://schemas.microsoft.com/office/drawing/2014/main" val="220780970"/>
                  </a:ext>
                </a:extLst>
              </a:tr>
              <a:tr h="12705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Where Procedure Code '0024' is declared in D.E. 1/10</a:t>
                      </a:r>
                    </a:p>
                  </a:txBody>
                  <a:tcPr>
                    <a:solidFill>
                      <a:srgbClr val="E7EEEE"/>
                    </a:solidFill>
                  </a:tcPr>
                </a:tc>
                <a:tc>
                  <a:txBody>
                    <a:bodyPr/>
                    <a:lstStyle/>
                    <a:p>
                      <a:pPr marL="285750" indent="-285750">
                        <a:buFont typeface="Arial" panose="020B0604020202020204" pitchFamily="34" charset="0"/>
                        <a:buChar char="•"/>
                      </a:pPr>
                      <a:r>
                        <a:rPr lang="en-GB" sz="1200" b="0" i="0" kern="1200">
                          <a:solidFill>
                            <a:schemeClr val="dk1"/>
                          </a:solidFill>
                          <a:effectLst/>
                          <a:latin typeface="+mn-lt"/>
                          <a:ea typeface="+mn-ea"/>
                          <a:cs typeface="+mn-cs"/>
                        </a:rPr>
                        <a:t>Declaration Type 'IM' must be declared in D.E. 1/1 at header level.</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Additional Declaration Type 'J' or 'K' must be declared in D.E. 1/2 at header level.</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APC '24G' must be declared in D.E. 1/11 at item level on the same goods item.</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Document Code 'C512' must not be declared in D.E. 2/3 at item level on the same goods item.</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Document Code 'C514' must not be declared in D.E. 2/3 at item level on the same goods item.</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The following AI Codes must be declared in D.E. 2/2 at item level on the same goods item: ‘NIPAP’, ‘NIPNR’, ‘NIUKC’.</a:t>
                      </a:r>
                    </a:p>
                  </a:txBody>
                  <a:tcPr>
                    <a:solidFill>
                      <a:srgbClr val="E7EEEE"/>
                    </a:solidFill>
                  </a:tcPr>
                </a:tc>
                <a:extLst>
                  <a:ext uri="{0D108BD9-81ED-4DB2-BD59-A6C34878D82A}">
                    <a16:rowId xmlns:a16="http://schemas.microsoft.com/office/drawing/2014/main" val="2626705667"/>
                  </a:ext>
                </a:extLst>
              </a:tr>
              <a:tr h="93775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'0024' declared in D.E. 1/10 and AI Code 'RRS01' not declared in D.E. 2/2</a:t>
                      </a:r>
                    </a:p>
                  </a:txBody>
                  <a:tcPr>
                    <a:solidFill>
                      <a:srgbClr val="CBDCDB"/>
                    </a:solidFill>
                  </a:tcP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dirty="0"/>
                        <a:t>'Z' in "Document Category" sub-field of D.E. 2/1 </a:t>
                      </a:r>
                      <a:r>
                        <a:rPr lang="en-GB" sz="1200" b="0" i="0" kern="1200" dirty="0">
                          <a:solidFill>
                            <a:schemeClr val="dk1"/>
                          </a:solidFill>
                          <a:effectLst/>
                          <a:latin typeface="+mn-lt"/>
                          <a:ea typeface="+mn-ea"/>
                          <a:cs typeface="+mn-cs"/>
                        </a:rPr>
                        <a:t>at header level on the same declaration</a:t>
                      </a:r>
                      <a:endParaRPr lang="en-GB" sz="120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dirty="0"/>
                        <a:t>'MCR' in "Previous Document Type" sub-field of D.E. 2/1 </a:t>
                      </a:r>
                      <a:r>
                        <a:rPr lang="en-GB" sz="1200" b="0" i="0" kern="1200" dirty="0">
                          <a:solidFill>
                            <a:schemeClr val="dk1"/>
                          </a:solidFill>
                          <a:effectLst/>
                          <a:latin typeface="+mn-lt"/>
                          <a:ea typeface="+mn-ea"/>
                          <a:cs typeface="+mn-cs"/>
                        </a:rPr>
                        <a:t>at header level on the same declaration</a:t>
                      </a:r>
                      <a:endParaRPr lang="en-GB" sz="1200" dirty="0"/>
                    </a:p>
                  </a:txBody>
                  <a:tcPr>
                    <a:solidFill>
                      <a:srgbClr val="CBDCDB"/>
                    </a:solidFill>
                  </a:tcPr>
                </a:tc>
                <a:extLst>
                  <a:ext uri="{0D108BD9-81ED-4DB2-BD59-A6C34878D82A}">
                    <a16:rowId xmlns:a16="http://schemas.microsoft.com/office/drawing/2014/main" val="974203679"/>
                  </a:ext>
                </a:extLst>
              </a:tr>
            </a:tbl>
          </a:graphicData>
        </a:graphic>
      </p:graphicFrame>
    </p:spTree>
    <p:extLst>
      <p:ext uri="{BB962C8B-B14F-4D97-AF65-F5344CB8AC3E}">
        <p14:creationId xmlns:p14="http://schemas.microsoft.com/office/powerpoint/2010/main" val="237668068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6166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Validating Post Parcels C21is (cont.)</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04E56DA5-555D-C670-EA63-ABA52387BDD7}"/>
              </a:ext>
            </a:extLst>
          </p:cNvPr>
          <p:cNvGraphicFramePr>
            <a:graphicFrameLocks noGrp="1"/>
          </p:cNvGraphicFramePr>
          <p:nvPr/>
        </p:nvGraphicFramePr>
        <p:xfrm>
          <a:off x="407064" y="1540633"/>
          <a:ext cx="11282159" cy="2990594"/>
        </p:xfrm>
        <a:graphic>
          <a:graphicData uri="http://schemas.openxmlformats.org/drawingml/2006/table">
            <a:tbl>
              <a:tblPr firstRow="1" bandRow="1">
                <a:tableStyleId>{5C22544A-7EE6-4342-B048-85BDC9FD1C3A}</a:tableStyleId>
              </a:tblPr>
              <a:tblGrid>
                <a:gridCol w="1880147">
                  <a:extLst>
                    <a:ext uri="{9D8B030D-6E8A-4147-A177-3AD203B41FA5}">
                      <a16:colId xmlns:a16="http://schemas.microsoft.com/office/drawing/2014/main" val="3837587197"/>
                    </a:ext>
                  </a:extLst>
                </a:gridCol>
                <a:gridCol w="9402012">
                  <a:extLst>
                    <a:ext uri="{9D8B030D-6E8A-4147-A177-3AD203B41FA5}">
                      <a16:colId xmlns:a16="http://schemas.microsoft.com/office/drawing/2014/main" val="574208599"/>
                    </a:ext>
                  </a:extLst>
                </a:gridCol>
              </a:tblGrid>
              <a:tr h="282210">
                <a:tc>
                  <a:txBody>
                    <a:bodyPr/>
                    <a:lstStyle/>
                    <a:p>
                      <a:r>
                        <a:rPr lang="en-GB" sz="1200"/>
                        <a:t>Condition</a:t>
                      </a:r>
                    </a:p>
                  </a:txBody>
                  <a:tcPr>
                    <a:solidFill>
                      <a:srgbClr val="009999"/>
                    </a:solidFill>
                  </a:tcPr>
                </a:tc>
                <a:tc>
                  <a:txBody>
                    <a:bodyPr/>
                    <a:lstStyle/>
                    <a:p>
                      <a:r>
                        <a:rPr lang="en-GB" sz="1200"/>
                        <a:t>Requirements</a:t>
                      </a:r>
                    </a:p>
                  </a:txBody>
                  <a:tcPr>
                    <a:solidFill>
                      <a:srgbClr val="009999"/>
                    </a:solidFill>
                  </a:tcPr>
                </a:tc>
                <a:extLst>
                  <a:ext uri="{0D108BD9-81ED-4DB2-BD59-A6C34878D82A}">
                    <a16:rowId xmlns:a16="http://schemas.microsoft.com/office/drawing/2014/main" val="1881507151"/>
                  </a:ext>
                </a:extLst>
              </a:tr>
              <a:tr h="8614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'0024' declared in D.E. 1/10 and Document Code '1PPS' declared in D.E. 2/3</a:t>
                      </a:r>
                    </a:p>
                  </a:txBody>
                  <a:tcPr>
                    <a:solidFill>
                      <a:srgbClr val="CBDCDB"/>
                    </a:solidFill>
                  </a:tcPr>
                </a:tc>
                <a:tc>
                  <a:txBody>
                    <a:bodyPr/>
                    <a:lstStyle/>
                    <a:p>
                      <a:pPr marL="285750" indent="-285750">
                        <a:buFont typeface="Arial" panose="020B0604020202020204" pitchFamily="34" charset="0"/>
                        <a:buChar char="•"/>
                        <a:defRPr sz="1800" b="0" i="0" u="none" strike="noStrike" kern="0" cap="none" spc="0" baseline="0">
                          <a:solidFill>
                            <a:srgbClr val="000000"/>
                          </a:solidFill>
                          <a:uFillTx/>
                        </a:defRPr>
                      </a:pPr>
                      <a:r>
                        <a:rPr lang="en-GB" sz="1200" b="0" i="0" u="none" strike="noStrike" kern="1200" cap="none" baseline="0">
                          <a:solidFill>
                            <a:schemeClr val="dk1"/>
                          </a:solidFill>
                          <a:latin typeface="+mn-lt"/>
                          <a:ea typeface="+mn-ea"/>
                          <a:cs typeface="+mn-cs"/>
                        </a:rPr>
                        <a:t>GBBEL004' entered in D.E. 5/27 </a:t>
                      </a:r>
                      <a:r>
                        <a:rPr lang="en-GB" sz="1200" b="0" i="0" u="none" strike="noStrike" kern="1200" cap="none" baseline="0">
                          <a:solidFill>
                            <a:schemeClr val="dk1"/>
                          </a:solidFill>
                          <a:effectLst/>
                          <a:latin typeface="+mn-lt"/>
                          <a:ea typeface="+mn-ea"/>
                          <a:cs typeface="+mn-cs"/>
                        </a:rPr>
                        <a:t>at header level on the same declaration.</a:t>
                      </a:r>
                      <a:endParaRPr lang="en-GB" sz="1200" b="0" i="0">
                        <a:solidFill>
                          <a:srgbClr val="000000"/>
                        </a:solidFill>
                        <a:effectLst/>
                      </a:endParaRPr>
                    </a:p>
                  </a:txBody>
                  <a:tcPr>
                    <a:solidFill>
                      <a:srgbClr val="CBDCDB"/>
                    </a:solidFill>
                  </a:tcPr>
                </a:tc>
                <a:extLst>
                  <a:ext uri="{0D108BD9-81ED-4DB2-BD59-A6C34878D82A}">
                    <a16:rowId xmlns:a16="http://schemas.microsoft.com/office/drawing/2014/main" val="220780970"/>
                  </a:ext>
                </a:extLst>
              </a:tr>
              <a:tr h="4753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it-IT" sz="1200"/>
                        <a:t>AI Code 'NIPAP' declared in D.E. 2/2</a:t>
                      </a:r>
                      <a:endParaRPr lang="en-GB" sz="1200"/>
                    </a:p>
                  </a:txBody>
                  <a:tcPr>
                    <a:solidFill>
                      <a:srgbClr val="E7EEEE"/>
                    </a:solidFill>
                  </a:tcPr>
                </a:tc>
                <a:tc>
                  <a:txBody>
                    <a:bodyPr/>
                    <a:lstStyle/>
                    <a:p>
                      <a:pPr marL="285750" indent="-285750">
                        <a:buFont typeface="Arial" panose="020B0604020202020204" pitchFamily="34" charset="0"/>
                        <a:buChar char="•"/>
                      </a:pPr>
                      <a:r>
                        <a:rPr lang="en-GB" sz="1200" b="0" i="0" kern="1200">
                          <a:solidFill>
                            <a:schemeClr val="dk1"/>
                          </a:solidFill>
                          <a:effectLst/>
                          <a:latin typeface="+mn-lt"/>
                          <a:ea typeface="+mn-ea"/>
                          <a:cs typeface="+mn-cs"/>
                        </a:rPr>
                        <a:t>Procedure Code '0024' is declared in D.E. 1/10 at item level on the same goods item.</a:t>
                      </a:r>
                    </a:p>
                    <a:p>
                      <a:pPr marL="285750" indent="-285750">
                        <a:buFont typeface="Arial" panose="020B0604020202020204" pitchFamily="34" charset="0"/>
                        <a:buChar char="•"/>
                      </a:pPr>
                      <a:r>
                        <a:rPr lang="en-GB" sz="1200" b="0" i="0" kern="1200">
                          <a:solidFill>
                            <a:schemeClr val="dk1"/>
                          </a:solidFill>
                          <a:effectLst/>
                          <a:latin typeface="+mn-lt"/>
                          <a:ea typeface="+mn-ea"/>
                          <a:cs typeface="+mn-cs"/>
                        </a:rPr>
                        <a:t>The AI Code 'NIPAP' in D.E 2/2 must be followed by the free text information.</a:t>
                      </a:r>
                    </a:p>
                  </a:txBody>
                  <a:tcPr>
                    <a:solidFill>
                      <a:srgbClr val="E7EEEE"/>
                    </a:solidFill>
                  </a:tcPr>
                </a:tc>
                <a:extLst>
                  <a:ext uri="{0D108BD9-81ED-4DB2-BD59-A6C34878D82A}">
                    <a16:rowId xmlns:a16="http://schemas.microsoft.com/office/drawing/2014/main" val="2626705667"/>
                  </a:ext>
                </a:extLst>
              </a:tr>
              <a:tr h="4524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it-IT" sz="1200"/>
                        <a:t>AI Code 'NIPNR' declared in D.E. 2/2</a:t>
                      </a:r>
                      <a:endParaRPr lang="en-GB" sz="1200"/>
                    </a:p>
                  </a:txBody>
                  <a:tcPr>
                    <a:solidFill>
                      <a:srgbClr val="CBDCDB"/>
                    </a:solidFill>
                  </a:tcP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a:t>Procedure Code '0024' in D.E. 1/10 </a:t>
                      </a:r>
                      <a:r>
                        <a:rPr lang="en-GB" sz="1200" b="0" i="0" kern="1200">
                          <a:solidFill>
                            <a:schemeClr val="dk1"/>
                          </a:solidFill>
                          <a:effectLst/>
                          <a:latin typeface="+mn-lt"/>
                          <a:ea typeface="+mn-ea"/>
                          <a:cs typeface="+mn-cs"/>
                        </a:rPr>
                        <a:t>at item level on the same goods item.</a:t>
                      </a:r>
                      <a:endParaRPr lang="en-GB" sz="1200"/>
                    </a:p>
                  </a:txBody>
                  <a:tcPr>
                    <a:solidFill>
                      <a:srgbClr val="CBDCDB"/>
                    </a:solidFill>
                  </a:tcPr>
                </a:tc>
                <a:extLst>
                  <a:ext uri="{0D108BD9-81ED-4DB2-BD59-A6C34878D82A}">
                    <a16:rowId xmlns:a16="http://schemas.microsoft.com/office/drawing/2014/main" val="974203679"/>
                  </a:ext>
                </a:extLst>
              </a:tr>
              <a:tr h="4185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it-IT" sz="1200"/>
                        <a:t>AI Code 'NIUKC' declared in D.E. 2/2</a:t>
                      </a:r>
                      <a:endParaRPr lang="en-GB" sz="1200"/>
                    </a:p>
                  </a:txBody>
                  <a:tcPr>
                    <a:solidFill>
                      <a:srgbClr val="E7EEEE"/>
                    </a:solidFill>
                  </a:tcP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a:t>Procedure Code '0024' in D.E. 1/10 </a:t>
                      </a:r>
                      <a:r>
                        <a:rPr lang="en-GB" sz="1200" b="0" i="0" kern="1200">
                          <a:solidFill>
                            <a:schemeClr val="dk1"/>
                          </a:solidFill>
                          <a:effectLst/>
                          <a:latin typeface="+mn-lt"/>
                          <a:ea typeface="+mn-ea"/>
                          <a:cs typeface="+mn-cs"/>
                        </a:rPr>
                        <a:t>at item level on the same goods item.</a:t>
                      </a:r>
                      <a:endParaRPr lang="en-GB" sz="1200"/>
                    </a:p>
                  </a:txBody>
                  <a:tcPr>
                    <a:solidFill>
                      <a:srgbClr val="E7EEEE"/>
                    </a:solidFill>
                  </a:tcPr>
                </a:tc>
                <a:extLst>
                  <a:ext uri="{0D108BD9-81ED-4DB2-BD59-A6C34878D82A}">
                    <a16:rowId xmlns:a16="http://schemas.microsoft.com/office/drawing/2014/main" val="1077478783"/>
                  </a:ext>
                </a:extLst>
              </a:tr>
              <a:tr h="4185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Any field in '</a:t>
                      </a:r>
                      <a:r>
                        <a:rPr lang="en-GB" sz="1200">
                          <a:effectLst/>
                          <a:latin typeface="Calibri"/>
                          <a:ea typeface="Times New Roman" panose="02020603050405020304" pitchFamily="18" charset="0"/>
                        </a:rPr>
                        <a:t>SPIMM</a:t>
                      </a:r>
                      <a:r>
                        <a:rPr lang="en-GB" sz="1200"/>
                        <a:t> C21i' is populated</a:t>
                      </a:r>
                    </a:p>
                  </a:txBody>
                  <a:tcPr>
                    <a:solidFill>
                      <a:srgbClr val="CBDCDB"/>
                    </a:solidFill>
                  </a:tcP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dirty="0"/>
                        <a:t>All business rules for non-SPIMM C21i apply unless </a:t>
                      </a:r>
                      <a:r>
                        <a:rPr lang="en-GB" sz="1200" kern="1200" dirty="0">
                          <a:solidFill>
                            <a:schemeClr val="dk1"/>
                          </a:solidFill>
                          <a:effectLst/>
                          <a:latin typeface="+mn-lt"/>
                          <a:ea typeface="+mn-ea"/>
                          <a:cs typeface="+mn-cs"/>
                        </a:rPr>
                        <a:t>one of the rules already mentioned contradict the existing validation scenario.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GB" sz="1200" dirty="0"/>
                    </a:p>
                  </a:txBody>
                  <a:tcPr>
                    <a:solidFill>
                      <a:srgbClr val="CBDCDB"/>
                    </a:solidFill>
                  </a:tcPr>
                </a:tc>
                <a:extLst>
                  <a:ext uri="{0D108BD9-81ED-4DB2-BD59-A6C34878D82A}">
                    <a16:rowId xmlns:a16="http://schemas.microsoft.com/office/drawing/2014/main" val="3406573643"/>
                  </a:ext>
                </a:extLst>
              </a:tr>
            </a:tbl>
          </a:graphicData>
        </a:graphic>
      </p:graphicFrame>
      <p:sp>
        <p:nvSpPr>
          <p:cNvPr id="14" name="TextBox 13">
            <a:extLst>
              <a:ext uri="{FF2B5EF4-FFF2-40B4-BE49-F238E27FC236}">
                <a16:creationId xmlns:a16="http://schemas.microsoft.com/office/drawing/2014/main" id="{A74E5A1E-1D10-3319-0C1C-AE26CD2DDE4A}"/>
              </a:ext>
            </a:extLst>
          </p:cNvPr>
          <p:cNvSpPr txBox="1"/>
          <p:nvPr/>
        </p:nvSpPr>
        <p:spPr>
          <a:xfrm>
            <a:off x="325937" y="4718558"/>
            <a:ext cx="10667171"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Please Note:</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Where any of these conditions are not met CDS will reject the declaration and return a DMSREJ notification to the submitter.</a:t>
            </a:r>
          </a:p>
        </p:txBody>
      </p:sp>
    </p:spTree>
    <p:extLst>
      <p:ext uri="{BB962C8B-B14F-4D97-AF65-F5344CB8AC3E}">
        <p14:creationId xmlns:p14="http://schemas.microsoft.com/office/powerpoint/2010/main" val="297411158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97031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Processing a Post &amp; Parcels </a:t>
            </a:r>
            <a:r>
              <a:rPr kumimoji="0" lang="en-GB" sz="1200" b="0" i="0" u="sng" strike="noStrike" kern="1200" cap="none" spc="0" normalizeH="0" baseline="0" noProof="0">
                <a:ln>
                  <a:noFill/>
                </a:ln>
                <a:solidFill>
                  <a:prstClr val="black"/>
                </a:solidFill>
                <a:effectLst/>
                <a:uLnTx/>
                <a:uFillTx/>
                <a:latin typeface="Calibri" panose="020F0502020204030204" pitchFamily="34" charset="0"/>
                <a:ea typeface="Times New Roman" panose="02020603050405020304" pitchFamily="18" charset="0"/>
                <a:cs typeface="+mn-cs"/>
              </a:rPr>
              <a:t>SPIMM</a:t>
            </a: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 C21i</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 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 dataset has been derived with the presence of APC '24G'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BAU Processing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 will follow BAU processing as per the non-SPIMM C21i with regards to Amendments, Invalidations and Goods Presentation/Arrival Notices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AI code ‘RRS01’ has been declared in D.E. 2/2 at header level, import declaration submission rules will apply, the declaration data will be passed to GVMS which will be able to arrive the declaration as per BAU.</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 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 declaration contains a MUCR in D.E. 2/1 at header level, BAU validation should be met by trader completion. Where BAU Validation fails, CDS must reject the declaration for this reason and, send a DMSREJ notification to the submitter.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declaration contains a MUCR in D.E. 2/1 at header level, CDS must ensure that standard Inventory Linking Imports processing must apply as per BAU.</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 not:</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Send a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 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C21i' for Tariff validation as per BAU.</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Calculate or charge any customs duties, VAT or excise to the submitter</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Allow trader use of manual override codes ('OVRXX’) </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Allow declaration data to be able to be queried by Declaration status, Declaration Summary, Declaration Version and Full Declaration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Ensure that the declaration is amendable by the trader during the dwell time period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Send a DMSTAX notification to the submitter as per BAU (N.B. This notification will show no customs duties, VAT or excise to be charged to the submitter.</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5551715"/>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8474" y="1271599"/>
            <a:ext cx="11347427" cy="452431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Declaration and Validation of UK Carrier (UKC) Authorisation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As part of the Windsor Framework, a new Authorisation - the UK Carrier (UKC) Authorisation - is being introduced to CDS functionality to permit UKC holders to clear consumer to consumer (C2C), consumer to business (C2B), and business to consumer (B2C) parcels moving from GB to NI through an inventory linked port (ILP) by submitting a C21i. Without this authorisation, a carrier will not be able to clear these goods moving from GB to NI with the submission of a C21i.</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Pre-requisite: Additional Declaration Types, J, K Import Declaration has been submitted, amended or arrived as per BAU.</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srgbClr val="000000"/>
                </a:solidFill>
                <a:effectLst/>
                <a:uLnTx/>
                <a:uFillTx/>
                <a:latin typeface="Calibri" panose="020F0502020204030204"/>
                <a:ea typeface="+mn-ea"/>
                <a:cs typeface="+mn-cs"/>
              </a:rPr>
              <a:t>Data Elements</a:t>
            </a:r>
            <a:endPar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permit the declaration of Document Code '1PPS' in D.E. 2/3 at goods item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permit the declaration of Authorisation Type Code 'PUKC' in D.E. 3/39 at header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a trader has declared Document Code '1PPS' in D.E. 2/3 at goods item level (Documents Produced, Certificates, Authorisations) CDS will mandate the declaration of:</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 value in the corresponding "Document Identifier" sub-field (D.E. 2/3).</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EORI declared in D.E. 3/16 (Importer Identification Number) that is valid at header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'PUKC' in the 'Authorisation Type Code' sub-field of D.E. 3/39 at header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An EORI number in the 'Identifier' sub-field of D.E. 3/39 (Holder of the Authorisation Identification Number) at header level.</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any of the above conditions are not met, CDS will reject the declaration and return a DMSREJ notification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Authorisation Type Code 'PUKC' is declared in D.E. 3/39, then Document Code '1PPS' must be declared in D.E. 2/3. Where a trader has declared Authorisation Type Code 'PUKC' in D.E. 3/39 at header level and has not declared '1PPS' in D.E. 2/3 at item level on the same declaration, CDS will reject the declaration and return a DMSREJ notification to the submitter.</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document code '1PPS' is declared, the only other subfield in D.E. 2/3 that is mandated is document identifier. The other sub-fields are not required with document code '1PPS’.</a:t>
            </a: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649006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8474" y="1271599"/>
            <a:ext cx="11347427" cy="30469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srgbClr val="000000"/>
                </a:solidFill>
                <a:effectLst/>
                <a:uLnTx/>
                <a:uFillTx/>
                <a:latin typeface="Calibri" panose="020F0502020204030204"/>
                <a:ea typeface="+mn-ea"/>
                <a:cs typeface="+mn-cs"/>
              </a:rPr>
              <a:t>Validation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CDS will conduct validation on those carriers declaring a UKC authorisation.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Pre-requisite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the conditions on the previous slide for the declaration of the UKC authorisation have been met.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Where a trader has declared Document Code '1PPS' in D.E. 2/3 at a goods item level, CDS will ensure that:</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Authorisation Number provided in the corresponding "Document Identifier" sub-field of D.E. 2/3 is valid at the validation reference date according to HMRC's trader authorisation records.*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Authorisation Number provided in the corresponding "Document Identifier" sub-field of D.E. 2/3 is owned by the importer's EORI (D.E. 3/16).</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The EORI number declared in D.E. 3/39 (Holder of the Authorisation Identification Number) is valid at the validation reference date according to HMRC's trader information records.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b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If any of the above conditions are not passed, CDS reject the declaration and return a DMSREJ notification to the submitter.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200" b="1" i="0" u="none" strike="noStrike" kern="1200" cap="none" spc="0" normalizeH="0" baseline="0" noProof="0">
                <a:ln>
                  <a:noFill/>
                </a:ln>
                <a:solidFill>
                  <a:srgbClr val="000000"/>
                </a:solidFill>
                <a:effectLst/>
                <a:uLnTx/>
                <a:uFillTx/>
                <a:latin typeface="Calibri" panose="020F0502020204030204"/>
                <a:ea typeface="+mn-ea"/>
                <a:cs typeface="+mn-cs"/>
              </a:rPr>
              <a:t>Please note:</a:t>
            </a:r>
            <a:r>
              <a:rPr kumimoji="0" lang="en-GB" sz="1200" b="0" i="0" u="none" strike="noStrike" kern="1200" cap="none" spc="0" normalizeH="0" baseline="0" noProof="0">
                <a:ln>
                  <a:noFill/>
                </a:ln>
                <a:solidFill>
                  <a:srgbClr val="000000"/>
                </a:solidFill>
                <a:effectLst/>
                <a:uLnTx/>
                <a:uFillTx/>
                <a:latin typeface="Calibri" panose="020F0502020204030204"/>
                <a:ea typeface="+mn-ea"/>
                <a:cs typeface="+mn-cs"/>
              </a:rPr>
              <a:t> the validation reference date of the declaration is the submission date (for pre-lodged - Additional Declaration Types (ADT) 'D','E','F', and 'K' - and straight-to-arrived declarations - ADT 'A','B','C', and 'J'), the arrival date (for an arrived declaration that was previously pre-lodged - ADT 'A','B','C' ,and 'J'), and the acceptance date provided by the declarant or their software provider (for supplementary declarations - ADT 'Y' and 'Z’).  </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512347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57003585-6738-E050-2A06-C021527A8BC8}"/>
              </a:ext>
            </a:extLst>
          </p:cNvPr>
          <p:cNvSpPr/>
          <p:nvPr/>
        </p:nvSpPr>
        <p:spPr>
          <a:xfrm>
            <a:off x="446099" y="1271599"/>
            <a:ext cx="11689455" cy="452431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IOSS Currency Conversion Windsor Framework Post &amp; Parcels Programme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From CDS 4.6.0, Import One Stop Shop (IOSS) declarations will be able to be made in any recognised currency on relevant Northern Ireland declaration types. This will ensure that when the new Post &amp; Parcel declaration process is introduced under the Windsor Framework, NI Traders will be able to fairly benefit from the IOSS Scheme, without needing to pay higher costs for a currency conversion.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Please note the monetary limit for goods eligible to be declared under IOSS must still be observed - the consignment must still have an equivalent sterling value of £135 or less even if declared in a foreign currency, as shown here: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hlinkClick r:id="rId3" tooltip="https://www.gov.uk/government/collections/vat-import-one-stop-shop-scheme"/>
              </a:rPr>
              <a:t>https://www.gov.uk/government/collections/vat-import-one-stop-shop-scheme</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VAT Import One Stop Shop Scheme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Find out if you can register and use the VAT Import One Stop Shop (IOSS) Scheme to report and pay VAT on imports of low value goods to consumers in the EU, Northern Ireland, or both.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Full or Simplified Customs Declaration</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accept and process IOSS submissions on full and simplified customs declarations in any recognised currency </a:t>
            </a:r>
            <a:endParaRPr kumimoji="0" lang="en-GB" sz="1200" b="0" i="0" u="none" strike="sng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 Requirements: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category H1 is requested on a Type A, D or Y declaration, or</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category I1 is requested on a Type B or E declaration.</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submitted an IOSS declaration (Role Code = "FR5" in DE 3/40), CDS will permit that the item price entered in DE 4/14 for the goods can be in any currency recognised by CDS.</a:t>
            </a: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p:txBody>
      </p:sp>
    </p:spTree>
    <p:extLst>
      <p:ext uri="{BB962C8B-B14F-4D97-AF65-F5344CB8AC3E}">
        <p14:creationId xmlns:p14="http://schemas.microsoft.com/office/powerpoint/2010/main" val="5755715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88D7600B-1510-8322-9A57-97A47B84207F}"/>
              </a:ext>
            </a:extLst>
          </p:cNvPr>
          <p:cNvSpPr txBox="1"/>
          <p:nvPr/>
        </p:nvSpPr>
        <p:spPr>
          <a:xfrm>
            <a:off x="375449" y="1262040"/>
            <a:ext cx="11441101" cy="2492990"/>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SRDS Declaration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CDS will accept and process IOSS submissions on SRDS declarations in any recognised currency</a:t>
            </a:r>
            <a:r>
              <a:rPr kumimoji="0" lang="en-GB" sz="1200" b="0" i="0" u="none" strike="noStrike" kern="1200" cap="none" spc="0" normalizeH="0" baseline="0" noProof="0">
                <a:ln>
                  <a:noFill/>
                </a:ln>
                <a:solidFill>
                  <a:srgbClr val="FF0000"/>
                </a:solidFill>
                <a:effectLst/>
                <a:uLnTx/>
                <a:uFillTx/>
                <a:latin typeface="Calibri" panose="020F0502020204030204"/>
                <a:ea typeface="+mn-ea"/>
                <a:cs typeface="+mn-cs"/>
              </a:rPr>
              <a:t> </a:t>
            </a:r>
            <a:endParaRPr kumimoji="0" lang="en-GB" sz="1200" b="0" i="0" u="none" strike="sngStrike" kern="1200" cap="none" spc="0" normalizeH="0" baseline="0" noProof="0">
              <a:ln>
                <a:noFill/>
              </a:ln>
              <a:solidFill>
                <a:srgbClr val="FF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Prerequisite Requirements:</a:t>
            </a: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Declaration category Super Reduced Data Sets (SRDS) is requested on a Type A or D declaration.</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SRDS declaration submission business rules have been met. </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has submitted an IOSS declaration (Role Code = "FR5" in DE 3/40), CDS will permit that the item price entered in DE 4/18 and DE 4/19 for the goods can be in any currency recognised by CDS.</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8495902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19721"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87692" y="1264723"/>
            <a:ext cx="11138053" cy="4955203"/>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UKIMS Additional Requirement: Subsidy Processing Functionality (ROW-NI) NIIMP, 'At Risk</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This feature ensures that when a goods item is "At Risk" in a ROW-NI good movement, and the EU tariff is charged and higher than the UK tariff, subsidy must still be permitted under certain conditions. Specifically, if at least one of the A Series Type EU duty calculations is less than the corresponding UK tariff duty calculation, and the trader has declared ‘NIAID,’ the subsidy must cover the overall difference between the UK and EU tariffs. This is allowed as long as all the necessary Subsidy Compliance checks are passed.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a:t>
            </a:r>
            <a:r>
              <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rPr>
              <a:t>Please Note:</a:t>
            </a: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 This excludes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Provisional Anti-Dumping Duty-PADD and Provisional Counter-vailing Duty-PCVD.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rPr>
              <a:t>Example: </a:t>
            </a:r>
            <a:endPar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rPr>
              <a:t>Pre-Requisites:</a:t>
            </a:r>
            <a:endPar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AI Codes ‘NIIMP’ and ‘NIAID’ have both been declared for the goods item in question (DE 2/2).</a:t>
            </a:r>
            <a:endPar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UKIMS </a:t>
            </a:r>
            <a:r>
              <a:rPr kumimoji="0" lang="en-US" altLang="en-US" sz="1200" b="0" i="0" u="none" strike="noStrike" kern="1200" cap="none" spc="0" normalizeH="0" baseline="0" noProof="0" err="1">
                <a:ln>
                  <a:noFill/>
                </a:ln>
                <a:solidFill>
                  <a:srgbClr val="000000"/>
                </a:solidFill>
                <a:effectLst/>
                <a:uLnTx/>
                <a:uFillTx/>
                <a:latin typeface="Calibri" panose="020F0502020204030204"/>
                <a:ea typeface="+mn-ea"/>
                <a:cs typeface="+mn-cs"/>
              </a:rPr>
              <a:t>authorisation</a:t>
            </a: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 validation has been passed.</a:t>
            </a:r>
            <a:endPar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CDS has determined which Tariff rate should be applied and has determined the total EU duty due &gt; the total UK duty due for the goods item in questions.</a:t>
            </a:r>
            <a:endPar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No other declaration submission conditions that would inhibit subsidy processing have been met.</a:t>
            </a: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4D5B472B-149D-77DE-AC99-DEC9B29940A4}"/>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5" name="Picture 14">
            <a:extLst>
              <a:ext uri="{FF2B5EF4-FFF2-40B4-BE49-F238E27FC236}">
                <a16:creationId xmlns:a16="http://schemas.microsoft.com/office/drawing/2014/main" id="{3D780850-5895-6CE3-BC29-64DFB6BB9397}"/>
              </a:ext>
            </a:extLst>
          </p:cNvPr>
          <p:cNvPicPr>
            <a:picLocks noChangeAspect="1"/>
          </p:cNvPicPr>
          <p:nvPr/>
        </p:nvPicPr>
        <p:blipFill>
          <a:blip r:embed="rId5"/>
          <a:stretch>
            <a:fillRect/>
          </a:stretch>
        </p:blipFill>
        <p:spPr>
          <a:xfrm>
            <a:off x="1229554" y="2961303"/>
            <a:ext cx="5514146" cy="1585613"/>
          </a:xfrm>
          <a:prstGeom prst="rect">
            <a:avLst/>
          </a:prstGeom>
        </p:spPr>
      </p:pic>
    </p:spTree>
    <p:extLst>
      <p:ext uri="{BB962C8B-B14F-4D97-AF65-F5344CB8AC3E}">
        <p14:creationId xmlns:p14="http://schemas.microsoft.com/office/powerpoint/2010/main" val="240324433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98455" y="650731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72099" y="6400034"/>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04800" y="1277762"/>
            <a:ext cx="11138053" cy="3323987"/>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a:ln>
                  <a:noFill/>
                </a:ln>
                <a:solidFill>
                  <a:srgbClr val="000000"/>
                </a:solidFill>
                <a:effectLst/>
                <a:uLnTx/>
                <a:uFillTx/>
                <a:latin typeface="Calibri" panose="020F0502020204030204"/>
                <a:ea typeface="+mn-ea"/>
                <a:cs typeface="+mn-cs"/>
              </a:rPr>
              <a:t>Acceptance Criteria:</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Where it has been determined that the goods item is “At Risk” and if the overall EU Tariff is higher than the UK Tariff then, CDS will compare each duty by tax type.</a:t>
            </a:r>
          </a:p>
          <a:p>
            <a:pPr marL="628650" marR="0" lvl="1"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at least one of the A Series Type (apart from Provisional Anti-Dumping Duty-PADD and Provisional Counter-vailing Duty-PCVD) EU duty calculations is less than the UK Tariff duty calculation for the corresponding UK Tax Type, then the Subsidy claim must be validated as per BAU.</a:t>
            </a:r>
          </a:p>
          <a:p>
            <a:pPr marL="628650" marR="0" lvl="1"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Where the subsidy claim is allowed, then the subsidy claim will be processed using the below method of defragmentation:</a:t>
            </a:r>
          </a:p>
          <a:p>
            <a:pPr marL="1085850" marR="0" lvl="2"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For any UK Tax Type that is higher than the equivalent EU Tax Type (apart from Provisional Anti-Dumping Duty-PADD and Provisional Counter-vailing Duty-PCVD), then CDS will determine the differential amount per tax line and decrement the Tax Type with the negative differential amount from Tax Types with a positive differential amount as possible.</a:t>
            </a:r>
          </a:p>
          <a:p>
            <a:pPr marL="1085850" marR="0" lvl="2"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Where the subsidy claim is NOT allowed, then CDS will not process the subsidy claim any further and the full EU Tariff must be applied under BAU payment processing as per BAU.</a:t>
            </a:r>
          </a:p>
          <a:p>
            <a:pPr marL="628650" marR="0" lvl="1"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t>CDS will notify the trader of the liabilities that were calculated and charged as per BAU. </a:t>
            </a:r>
            <a:br>
              <a:rPr kumimoji="0" lang="en-US" altLang="en-US" sz="1200" b="0" i="0" u="none" strike="noStrike" kern="1200" cap="none" spc="0" normalizeH="0" baseline="0" noProof="0">
                <a:ln>
                  <a:noFill/>
                </a:ln>
                <a:solidFill>
                  <a:srgbClr val="000000"/>
                </a:solidFill>
                <a:effectLst/>
                <a:uLnTx/>
                <a:uFillTx/>
                <a:latin typeface="Calibri" panose="020F0502020204030204"/>
                <a:ea typeface="+mn-ea"/>
                <a:cs typeface="+mn-cs"/>
              </a:rPr>
            </a:b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Ordering of Tax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Types for the scenario where at least one UK Tax Type &gt; EU Tax Type equivalent:</a:t>
            </a:r>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4D5B472B-149D-77DE-AC99-DEC9B29940A4}"/>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AD99E113-DB95-7FD9-C405-D50C246C50E7}"/>
              </a:ext>
            </a:extLst>
          </p:cNvPr>
          <p:cNvGraphicFramePr>
            <a:graphicFrameLocks noGrp="1"/>
          </p:cNvGraphicFramePr>
          <p:nvPr/>
        </p:nvGraphicFramePr>
        <p:xfrm>
          <a:off x="1211825" y="3986461"/>
          <a:ext cx="9324001" cy="1620000"/>
        </p:xfrm>
        <a:graphic>
          <a:graphicData uri="http://schemas.openxmlformats.org/drawingml/2006/table">
            <a:tbl>
              <a:tblPr firstRow="1" bandRow="1">
                <a:tableStyleId>{5C22544A-7EE6-4342-B048-85BDC9FD1C3A}</a:tableStyleId>
              </a:tblPr>
              <a:tblGrid>
                <a:gridCol w="847549">
                  <a:extLst>
                    <a:ext uri="{9D8B030D-6E8A-4147-A177-3AD203B41FA5}">
                      <a16:colId xmlns:a16="http://schemas.microsoft.com/office/drawing/2014/main" val="3837587197"/>
                    </a:ext>
                  </a:extLst>
                </a:gridCol>
                <a:gridCol w="4238226">
                  <a:extLst>
                    <a:ext uri="{9D8B030D-6E8A-4147-A177-3AD203B41FA5}">
                      <a16:colId xmlns:a16="http://schemas.microsoft.com/office/drawing/2014/main" val="574208599"/>
                    </a:ext>
                  </a:extLst>
                </a:gridCol>
                <a:gridCol w="4238226">
                  <a:extLst>
                    <a:ext uri="{9D8B030D-6E8A-4147-A177-3AD203B41FA5}">
                      <a16:colId xmlns:a16="http://schemas.microsoft.com/office/drawing/2014/main" val="3480623894"/>
                    </a:ext>
                  </a:extLst>
                </a:gridCol>
              </a:tblGrid>
              <a:tr h="480000">
                <a:tc>
                  <a:txBody>
                    <a:bodyPr/>
                    <a:lstStyle/>
                    <a:p>
                      <a:r>
                        <a:rPr lang="en-GB" sz="1200"/>
                        <a:t>Tax Type Order</a:t>
                      </a:r>
                    </a:p>
                  </a:txBody>
                  <a:tcPr>
                    <a:solidFill>
                      <a:srgbClr val="009999"/>
                    </a:solidFill>
                  </a:tcPr>
                </a:tc>
                <a:tc>
                  <a:txBody>
                    <a:bodyPr/>
                    <a:lstStyle/>
                    <a:p>
                      <a:r>
                        <a:rPr lang="en-GB" sz="1200"/>
                        <a:t>Tax Type</a:t>
                      </a:r>
                    </a:p>
                  </a:txBody>
                  <a:tcPr>
                    <a:solidFill>
                      <a:srgbClr val="009999"/>
                    </a:solidFill>
                  </a:tcPr>
                </a:tc>
                <a:tc>
                  <a:txBody>
                    <a:bodyPr/>
                    <a:lstStyle/>
                    <a:p>
                      <a:r>
                        <a:rPr lang="en-GB" sz="1200"/>
                        <a:t>Tax Code</a:t>
                      </a:r>
                    </a:p>
                  </a:txBody>
                  <a:tcPr>
                    <a:solidFill>
                      <a:srgbClr val="009999"/>
                    </a:solidFill>
                  </a:tcPr>
                </a:tc>
                <a:extLst>
                  <a:ext uri="{0D108BD9-81ED-4DB2-BD59-A6C34878D82A}">
                    <a16:rowId xmlns:a16="http://schemas.microsoft.com/office/drawing/2014/main" val="1881507151"/>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1</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Customs Duties</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A50</a:t>
                      </a:r>
                    </a:p>
                  </a:txBody>
                  <a:tcPr>
                    <a:solidFill>
                      <a:srgbClr val="E7EEEE"/>
                    </a:solidFill>
                  </a:tcPr>
                </a:tc>
                <a:extLst>
                  <a:ext uri="{0D108BD9-81ED-4DB2-BD59-A6C34878D82A}">
                    <a16:rowId xmlns:a16="http://schemas.microsoft.com/office/drawing/2014/main" val="2626705667"/>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2</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Additional Duties</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A70</a:t>
                      </a:r>
                    </a:p>
                  </a:txBody>
                  <a:tcPr>
                    <a:solidFill>
                      <a:srgbClr val="CBDCDB"/>
                    </a:solidFill>
                  </a:tcPr>
                </a:tc>
                <a:extLst>
                  <a:ext uri="{0D108BD9-81ED-4DB2-BD59-A6C34878D82A}">
                    <a16:rowId xmlns:a16="http://schemas.microsoft.com/office/drawing/2014/main" val="974203679"/>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3</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Definitive Anti-Dumping Duty</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A80</a:t>
                      </a:r>
                    </a:p>
                  </a:txBody>
                  <a:tcPr>
                    <a:solidFill>
                      <a:srgbClr val="E7EEEE"/>
                    </a:solidFill>
                  </a:tcPr>
                </a:tc>
                <a:extLst>
                  <a:ext uri="{0D108BD9-81ED-4DB2-BD59-A6C34878D82A}">
                    <a16:rowId xmlns:a16="http://schemas.microsoft.com/office/drawing/2014/main" val="1077478783"/>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4</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Definitive Countervailing Duties</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dirty="0"/>
                        <a:t>A90</a:t>
                      </a:r>
                    </a:p>
                  </a:txBody>
                  <a:tcPr>
                    <a:solidFill>
                      <a:srgbClr val="CBDCDB"/>
                    </a:solidFill>
                  </a:tcPr>
                </a:tc>
                <a:extLst>
                  <a:ext uri="{0D108BD9-81ED-4DB2-BD59-A6C34878D82A}">
                    <a16:rowId xmlns:a16="http://schemas.microsoft.com/office/drawing/2014/main" val="3406573643"/>
                  </a:ext>
                </a:extLst>
              </a:tr>
            </a:tbl>
          </a:graphicData>
        </a:graphic>
      </p:graphicFrame>
    </p:spTree>
    <p:extLst>
      <p:ext uri="{BB962C8B-B14F-4D97-AF65-F5344CB8AC3E}">
        <p14:creationId xmlns:p14="http://schemas.microsoft.com/office/powerpoint/2010/main" val="219825780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19721"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04800" y="1277762"/>
            <a:ext cx="11138053" cy="4708981"/>
          </a:xfrm>
          <a:prstGeom prst="rect">
            <a:avLst/>
          </a:prstGeom>
          <a:noFill/>
        </p:spPr>
        <p:txBody>
          <a:bodyPr wrap="square" lIns="91440" tIns="45720" rIns="91440" bIns="45720" rtlCol="0" anchor="t">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rPr>
              <a:t>Example: </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Subsidy calculation where overall EU Tax&gt;UK Tax, but one UK Tax Type&gt;EU Tax Type</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lt"/>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lt"/>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lt"/>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lt"/>
                <a:cs typeface="Calibri" panose="020F0502020204030204"/>
              </a:rPr>
              <a:t>The negative £8 balance has been deducted from the positive £15 balance to give an overall subsidy granted of £7 against A30, with deductions made as per the ordering in the table, starting from A00 and working through to A40 </a:t>
            </a:r>
            <a:endParaRPr kumimoji="0" lang="en-GB" sz="1200" b="0" i="0" u="none" strike="sng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sng" strike="noStrike" kern="1200" cap="none" spc="0" normalizeH="0" baseline="0" noProof="0">
              <a:ln>
                <a:noFill/>
              </a:ln>
              <a:solidFill>
                <a:srgbClr val="172B4D"/>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4D5B472B-149D-77DE-AC99-DEC9B29940A4}"/>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AD99E113-DB95-7FD9-C405-D50C246C50E7}"/>
              </a:ext>
            </a:extLst>
          </p:cNvPr>
          <p:cNvGraphicFramePr>
            <a:graphicFrameLocks noGrp="1"/>
          </p:cNvGraphicFramePr>
          <p:nvPr/>
        </p:nvGraphicFramePr>
        <p:xfrm>
          <a:off x="490744" y="1577441"/>
          <a:ext cx="11138054" cy="2775240"/>
        </p:xfrm>
        <a:graphic>
          <a:graphicData uri="http://schemas.openxmlformats.org/drawingml/2006/table">
            <a:tbl>
              <a:tblPr firstRow="1" bandRow="1">
                <a:tableStyleId>{5C22544A-7EE6-4342-B048-85BDC9FD1C3A}</a:tableStyleId>
              </a:tblPr>
              <a:tblGrid>
                <a:gridCol w="1399016">
                  <a:extLst>
                    <a:ext uri="{9D8B030D-6E8A-4147-A177-3AD203B41FA5}">
                      <a16:colId xmlns:a16="http://schemas.microsoft.com/office/drawing/2014/main" val="3837587197"/>
                    </a:ext>
                  </a:extLst>
                </a:gridCol>
                <a:gridCol w="1353312">
                  <a:extLst>
                    <a:ext uri="{9D8B030D-6E8A-4147-A177-3AD203B41FA5}">
                      <a16:colId xmlns:a16="http://schemas.microsoft.com/office/drawing/2014/main" val="574208599"/>
                    </a:ext>
                  </a:extLst>
                </a:gridCol>
                <a:gridCol w="1353312">
                  <a:extLst>
                    <a:ext uri="{9D8B030D-6E8A-4147-A177-3AD203B41FA5}">
                      <a16:colId xmlns:a16="http://schemas.microsoft.com/office/drawing/2014/main" val="3480623894"/>
                    </a:ext>
                  </a:extLst>
                </a:gridCol>
                <a:gridCol w="1414272">
                  <a:extLst>
                    <a:ext uri="{9D8B030D-6E8A-4147-A177-3AD203B41FA5}">
                      <a16:colId xmlns:a16="http://schemas.microsoft.com/office/drawing/2014/main" val="3785410572"/>
                    </a:ext>
                  </a:extLst>
                </a:gridCol>
                <a:gridCol w="1267968">
                  <a:extLst>
                    <a:ext uri="{9D8B030D-6E8A-4147-A177-3AD203B41FA5}">
                      <a16:colId xmlns:a16="http://schemas.microsoft.com/office/drawing/2014/main" val="2503523458"/>
                    </a:ext>
                  </a:extLst>
                </a:gridCol>
                <a:gridCol w="1463040">
                  <a:extLst>
                    <a:ext uri="{9D8B030D-6E8A-4147-A177-3AD203B41FA5}">
                      <a16:colId xmlns:a16="http://schemas.microsoft.com/office/drawing/2014/main" val="432132321"/>
                    </a:ext>
                  </a:extLst>
                </a:gridCol>
                <a:gridCol w="1340177">
                  <a:extLst>
                    <a:ext uri="{9D8B030D-6E8A-4147-A177-3AD203B41FA5}">
                      <a16:colId xmlns:a16="http://schemas.microsoft.com/office/drawing/2014/main" val="2805330054"/>
                    </a:ext>
                  </a:extLst>
                </a:gridCol>
                <a:gridCol w="1546957">
                  <a:extLst>
                    <a:ext uri="{9D8B030D-6E8A-4147-A177-3AD203B41FA5}">
                      <a16:colId xmlns:a16="http://schemas.microsoft.com/office/drawing/2014/main" val="2540215319"/>
                    </a:ext>
                  </a:extLst>
                </a:gridCol>
              </a:tblGrid>
              <a:tr h="480000">
                <a:tc>
                  <a:txBody>
                    <a:bodyPr/>
                    <a:lstStyle/>
                    <a:p>
                      <a:r>
                        <a:rPr lang="en-GB" sz="1200"/>
                        <a:t>Tax Type </a:t>
                      </a:r>
                    </a:p>
                  </a:txBody>
                  <a:tcPr>
                    <a:solidFill>
                      <a:srgbClr val="009999"/>
                    </a:solidFill>
                  </a:tcPr>
                </a:tc>
                <a:tc>
                  <a:txBody>
                    <a:bodyPr/>
                    <a:lstStyle/>
                    <a:p>
                      <a:r>
                        <a:rPr lang="en-GB" sz="1200"/>
                        <a:t>EU Duties Calculated</a:t>
                      </a:r>
                    </a:p>
                  </a:txBody>
                  <a:tcPr>
                    <a:solidFill>
                      <a:srgbClr val="009999"/>
                    </a:solidFill>
                  </a:tcPr>
                </a:tc>
                <a:tc>
                  <a:txBody>
                    <a:bodyPr/>
                    <a:lstStyle/>
                    <a:p>
                      <a:r>
                        <a:rPr lang="en-GB" sz="1200"/>
                        <a:t>EU Tax Code</a:t>
                      </a:r>
                    </a:p>
                  </a:txBody>
                  <a:tcPr>
                    <a:solidFill>
                      <a:srgbClr val="009999"/>
                    </a:solidFill>
                  </a:tcPr>
                </a:tc>
                <a:tc>
                  <a:txBody>
                    <a:bodyPr/>
                    <a:lstStyle/>
                    <a:p>
                      <a:r>
                        <a:rPr lang="en-GB" sz="1200"/>
                        <a:t>UK Duties Calculated</a:t>
                      </a:r>
                    </a:p>
                  </a:txBody>
                  <a:tcPr>
                    <a:solidFill>
                      <a:srgbClr val="009999"/>
                    </a:solidFill>
                  </a:tcPr>
                </a:tc>
                <a:tc>
                  <a:txBody>
                    <a:bodyPr/>
                    <a:lstStyle/>
                    <a:p>
                      <a:r>
                        <a:rPr lang="en-GB" sz="1200"/>
                        <a:t>UK Tax Code</a:t>
                      </a:r>
                    </a:p>
                  </a:txBody>
                  <a:tcPr>
                    <a:solidFill>
                      <a:srgbClr val="009999"/>
                    </a:solidFill>
                  </a:tcPr>
                </a:tc>
                <a:tc>
                  <a:txBody>
                    <a:bodyPr/>
                    <a:lstStyle/>
                    <a:p>
                      <a:r>
                        <a:rPr lang="en-GB" sz="1200"/>
                        <a:t>Differential Amount</a:t>
                      </a:r>
                    </a:p>
                  </a:txBody>
                  <a:tcPr>
                    <a:solidFill>
                      <a:srgbClr val="009999"/>
                    </a:solidFill>
                  </a:tcPr>
                </a:tc>
                <a:tc>
                  <a:txBody>
                    <a:bodyPr/>
                    <a:lstStyle/>
                    <a:p>
                      <a:r>
                        <a:rPr lang="en-GB" sz="1200"/>
                        <a:t>Subsidy Amount (After Applying Logic)</a:t>
                      </a:r>
                    </a:p>
                  </a:txBody>
                  <a:tcPr>
                    <a:solidFill>
                      <a:srgbClr val="009999"/>
                    </a:solidFill>
                  </a:tcPr>
                </a:tc>
                <a:tc>
                  <a:txBody>
                    <a:bodyPr/>
                    <a:lstStyle/>
                    <a:p>
                      <a:r>
                        <a:rPr lang="en-GB" sz="1200"/>
                        <a:t>Given Amount (What Trader Pays)</a:t>
                      </a:r>
                    </a:p>
                  </a:txBody>
                  <a:tcPr>
                    <a:solidFill>
                      <a:srgbClr val="009999"/>
                    </a:solidFill>
                  </a:tcPr>
                </a:tc>
                <a:extLst>
                  <a:ext uri="{0D108BD9-81ED-4DB2-BD59-A6C34878D82A}">
                    <a16:rowId xmlns:a16="http://schemas.microsoft.com/office/drawing/2014/main" val="1881507151"/>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kern="1200">
                          <a:solidFill>
                            <a:schemeClr val="dk1"/>
                          </a:solidFill>
                          <a:effectLst/>
                          <a:latin typeface="+mn-lt"/>
                          <a:ea typeface="+mn-ea"/>
                          <a:cs typeface="+mn-cs"/>
                        </a:rPr>
                        <a:t>Customs Duties</a:t>
                      </a:r>
                      <a:endParaRPr lang="en-GB" sz="1200"/>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£50</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A50</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£45</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A00</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£0</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£0</a:t>
                      </a:r>
                    </a:p>
                  </a:txBody>
                  <a:tcPr>
                    <a:solidFill>
                      <a:srgbClr val="E7EEEE"/>
                    </a:solidFill>
                  </a:tcPr>
                </a:tc>
                <a:tc>
                  <a:txBody>
                    <a:bodyPr/>
                    <a:lstStyle/>
                    <a:p>
                      <a:pPr marL="0" indent="0">
                        <a:buFont typeface="Arial" panose="020B0604020202020204" pitchFamily="34" charset="0"/>
                        <a:buNone/>
                      </a:pPr>
                      <a:r>
                        <a:rPr lang="en-GB" sz="1200" b="0" i="0" kern="1200">
                          <a:solidFill>
                            <a:schemeClr val="dk1"/>
                          </a:solidFill>
                          <a:effectLst/>
                          <a:latin typeface="+mn-lt"/>
                          <a:ea typeface="+mn-ea"/>
                          <a:cs typeface="+mn-cs"/>
                        </a:rPr>
                        <a:t>£50</a:t>
                      </a:r>
                    </a:p>
                  </a:txBody>
                  <a:tcPr>
                    <a:solidFill>
                      <a:srgbClr val="E7EEEE"/>
                    </a:solidFill>
                  </a:tcPr>
                </a:tc>
                <a:extLst>
                  <a:ext uri="{0D108BD9-81ED-4DB2-BD59-A6C34878D82A}">
                    <a16:rowId xmlns:a16="http://schemas.microsoft.com/office/drawing/2014/main" val="2626705667"/>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Additional Duties</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A70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£15</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A20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CBDCDB"/>
                    </a:solidFill>
                  </a:tcPr>
                </a:tc>
                <a:extLst>
                  <a:ext uri="{0D108BD9-81ED-4DB2-BD59-A6C34878D82A}">
                    <a16:rowId xmlns:a16="http://schemas.microsoft.com/office/drawing/2014/main" val="974203679"/>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Definitive Anti-Dumping Duty (ADD)</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£40</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A80</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£30</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A30</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£33</a:t>
                      </a:r>
                    </a:p>
                  </a:txBody>
                  <a:tcPr>
                    <a:solidFill>
                      <a:srgbClr val="E7EEEE"/>
                    </a:solidFill>
                  </a:tcPr>
                </a:tc>
                <a:extLst>
                  <a:ext uri="{0D108BD9-81ED-4DB2-BD59-A6C34878D82A}">
                    <a16:rowId xmlns:a16="http://schemas.microsoft.com/office/drawing/2014/main" val="1077478783"/>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Definitive Countervailing Duty (CVD)</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A90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A40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£0</a:t>
                      </a:r>
                    </a:p>
                  </a:txBody>
                  <a:tcPr>
                    <a:solidFill>
                      <a:srgbClr val="CBDCDB"/>
                    </a:solidFill>
                  </a:tcPr>
                </a:tc>
                <a:extLst>
                  <a:ext uri="{0D108BD9-81ED-4DB2-BD59-A6C34878D82A}">
                    <a16:rowId xmlns:a16="http://schemas.microsoft.com/office/drawing/2014/main" val="3406573643"/>
                  </a:ext>
                </a:extLst>
              </a:tr>
              <a:tr h="285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Total</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£97</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£90</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a:t>£7</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dirty="0"/>
                        <a:t>£90</a:t>
                      </a:r>
                    </a:p>
                  </a:txBody>
                  <a:tcPr>
                    <a:solidFill>
                      <a:srgbClr val="E7EEEE"/>
                    </a:solidFill>
                  </a:tcPr>
                </a:tc>
                <a:extLst>
                  <a:ext uri="{0D108BD9-81ED-4DB2-BD59-A6C34878D82A}">
                    <a16:rowId xmlns:a16="http://schemas.microsoft.com/office/drawing/2014/main" val="1946552978"/>
                  </a:ext>
                </a:extLst>
              </a:tr>
            </a:tbl>
          </a:graphicData>
        </a:graphic>
      </p:graphicFrame>
    </p:spTree>
    <p:extLst>
      <p:ext uri="{BB962C8B-B14F-4D97-AF65-F5344CB8AC3E}">
        <p14:creationId xmlns:p14="http://schemas.microsoft.com/office/powerpoint/2010/main" val="2641184568"/>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19721"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79276" y="1274010"/>
            <a:ext cx="11138053" cy="3785652"/>
          </a:xfrm>
          <a:prstGeom prst="rect">
            <a:avLst/>
          </a:prstGeom>
          <a:noFill/>
        </p:spPr>
        <p:txBody>
          <a:bodyPr wrap="square" lIns="91440" tIns="45720" rIns="91440" bIns="45720" rtlCol="0" anchor="t">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FR" sz="1200" b="1" i="0" u="sng" strike="noStrike" kern="1200" cap="none" spc="0" normalizeH="0" baseline="0" noProof="0">
                <a:ln>
                  <a:noFill/>
                </a:ln>
                <a:solidFill>
                  <a:srgbClr val="000000"/>
                </a:solidFill>
                <a:effectLst/>
                <a:uLnTx/>
                <a:uFillTx/>
                <a:latin typeface="Calibri" panose="020F0502020204030204"/>
                <a:ea typeface="+mn-ea"/>
                <a:cs typeface="+mn-cs"/>
              </a:rPr>
              <a:t>Non-SPIMM </a:t>
            </a:r>
            <a:r>
              <a:rPr kumimoji="0" lang="fr-FR" sz="1200" b="1" i="0" u="sng" strike="noStrike" kern="1200" cap="none" spc="0" normalizeH="0" baseline="0" noProof="0" err="1">
                <a:ln>
                  <a:noFill/>
                </a:ln>
                <a:solidFill>
                  <a:srgbClr val="000000"/>
                </a:solidFill>
                <a:effectLst/>
                <a:uLnTx/>
                <a:uFillTx/>
                <a:latin typeface="Calibri" panose="020F0502020204030204"/>
                <a:ea typeface="+mn-ea"/>
                <a:cs typeface="+mn-cs"/>
              </a:rPr>
              <a:t>RoW</a:t>
            </a:r>
            <a:r>
              <a:rPr kumimoji="0" lang="fr-FR" sz="1200" b="1" i="0" u="sng" strike="noStrike" kern="1200" cap="none" spc="0" normalizeH="0" baseline="0" noProof="0">
                <a:ln>
                  <a:noFill/>
                </a:ln>
                <a:solidFill>
                  <a:srgbClr val="000000"/>
                </a:solidFill>
                <a:effectLst/>
                <a:uLnTx/>
                <a:uFillTx/>
                <a:latin typeface="Calibri" panose="020F0502020204030204"/>
                <a:ea typeface="+mn-ea"/>
                <a:cs typeface="+mn-cs"/>
              </a:rPr>
              <a:t>-GB, </a:t>
            </a:r>
            <a:r>
              <a:rPr kumimoji="0" lang="fr-FR" sz="1200" b="1" i="0" u="sng" strike="noStrike" kern="1200" cap="none" spc="0" normalizeH="0" baseline="0" noProof="0" err="1">
                <a:ln>
                  <a:noFill/>
                </a:ln>
                <a:solidFill>
                  <a:srgbClr val="000000"/>
                </a:solidFill>
                <a:effectLst/>
                <a:uLnTx/>
                <a:uFillTx/>
                <a:latin typeface="Calibri" panose="020F0502020204030204"/>
                <a:ea typeface="+mn-ea"/>
                <a:cs typeface="+mn-cs"/>
              </a:rPr>
              <a:t>RoW</a:t>
            </a:r>
            <a:r>
              <a:rPr kumimoji="0" lang="fr-FR" sz="1200" b="1" i="0" u="sng" strike="noStrike" kern="1200" cap="none" spc="0" normalizeH="0" baseline="0" noProof="0">
                <a:ln>
                  <a:noFill/>
                </a:ln>
                <a:solidFill>
                  <a:srgbClr val="000000"/>
                </a:solidFill>
                <a:effectLst/>
                <a:uLnTx/>
                <a:uFillTx/>
                <a:latin typeface="Calibri" panose="020F0502020204030204"/>
                <a:ea typeface="+mn-ea"/>
                <a:cs typeface="+mn-cs"/>
              </a:rPr>
              <a:t>-NI, GB-NI </a:t>
            </a:r>
            <a:r>
              <a:rPr kumimoji="0" lang="en-GB" sz="1200" b="1" i="0" u="sng" strike="noStrike" kern="1200" cap="none" spc="0" normalizeH="0" baseline="0" noProof="0">
                <a:ln>
                  <a:noFill/>
                </a:ln>
                <a:solidFill>
                  <a:srgbClr val="000000"/>
                </a:solidFill>
                <a:effectLst/>
                <a:uLnTx/>
                <a:uFillTx/>
                <a:latin typeface="Calibri" panose="020F0502020204030204"/>
                <a:ea typeface="+mn-ea"/>
                <a:cs typeface="+mn-cs"/>
              </a:rPr>
              <a:t>Movements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1" i="0" u="sng"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Not all movements into Northern Ireland will be eligible for the SPIMM, including the following:</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GB-NI Goods that are ‘at risk’ of onward movement to the EU</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Category 1 goods are not prohibited from entry into Northern Ireland. Category 1 goods are those subject to:</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Restrictions enforced by Article 215 of The Treaty on the Functioning of the European Union (TFEU).</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Total bans or prohibitions</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Trade defence measures</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Quotas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Trader has not declared a UKIMS authorisation or has not provided AI code ‘NIAPP’</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Goods originating from the Rest of the World (</a:t>
            </a:r>
            <a:r>
              <a:rPr kumimoji="0" lang="en-GB" sz="1200" b="0" i="0" u="none" strike="noStrike" kern="1200" cap="none" spc="0" normalizeH="0" baseline="0" noProof="0" err="1">
                <a:ln>
                  <a:noFill/>
                </a:ln>
                <a:solidFill>
                  <a:prstClr val="black"/>
                </a:solidFill>
                <a:effectLst/>
                <a:uLnTx/>
                <a:uFillTx/>
                <a:latin typeface="Calibri" panose="020F0502020204030204"/>
                <a:ea typeface="+mn-ea"/>
                <a:cs typeface="+mn-cs"/>
              </a:rPr>
              <a:t>RoW</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or the Channel Islands (Guernsey &amp; Jersey)</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From CDS 4.6.0, changes will be introduced for Non-SPIMM Movements into Northern Ireland, including developing new Additional Procedure Codes, AI codes, and adding specific data elements to the C21i EIDR NOP dataset. With the exception of ‘1AR’, the new Additional Procedure Codes for Non-SPIMM movements will be made available for SPIMM Data Sets: The following APCs can also be used for Non-SPIMM movements in the respective journeys: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GB and NI Imports: 1AG, 1RD, A10, F46 </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NI Imports only: 1AR, 1NR, 1RM, </a:t>
            </a:r>
            <a:b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Validations will be introduced relevant to these Additional Procedure Codes for SPIMM &amp; Non-SPIMM, as well as validations exclusively for Non-SPIMM Movements.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78421817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51620" y="6443521"/>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Release Scope Guidance Document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6" name="Picture 5" descr="A logo with a crown and text&#10;&#10;Description automatically generated">
            <a:extLst>
              <a:ext uri="{FF2B5EF4-FFF2-40B4-BE49-F238E27FC236}">
                <a16:creationId xmlns:a16="http://schemas.microsoft.com/office/drawing/2014/main" id="{81C7EF87-5E63-2A1A-A65B-9986D01992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7692" y="6101718"/>
            <a:ext cx="1050692" cy="630415"/>
          </a:xfrm>
          <a:prstGeom prst="rect">
            <a:avLst/>
          </a:prstGeom>
        </p:spPr>
      </p:pic>
      <p:sp>
        <p:nvSpPr>
          <p:cNvPr id="5" name="TextBox 4">
            <a:extLst>
              <a:ext uri="{FF2B5EF4-FFF2-40B4-BE49-F238E27FC236}">
                <a16:creationId xmlns:a16="http://schemas.microsoft.com/office/drawing/2014/main" id="{68FE5357-1177-435D-2875-01AF74653426}"/>
              </a:ext>
            </a:extLst>
          </p:cNvPr>
          <p:cNvSpPr txBox="1"/>
          <p:nvPr/>
        </p:nvSpPr>
        <p:spPr>
          <a:xfrm>
            <a:off x="348159" y="1253995"/>
            <a:ext cx="1113805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Code Descriptions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4"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D53F2594-FE7B-8A52-2C57-282D8B35759B}"/>
              </a:ext>
            </a:extLst>
          </p:cNvPr>
          <p:cNvGraphicFramePr>
            <a:graphicFrameLocks noGrp="1"/>
          </p:cNvGraphicFramePr>
          <p:nvPr/>
        </p:nvGraphicFramePr>
        <p:xfrm>
          <a:off x="304800" y="1514456"/>
          <a:ext cx="11568084" cy="5394960"/>
        </p:xfrm>
        <a:graphic>
          <a:graphicData uri="http://schemas.openxmlformats.org/drawingml/2006/table">
            <a:tbl>
              <a:tblPr firstRow="1" bandRow="1">
                <a:tableStyleId>{5C22544A-7EE6-4342-B048-85BDC9FD1C3A}</a:tableStyleId>
              </a:tblPr>
              <a:tblGrid>
                <a:gridCol w="1202025">
                  <a:extLst>
                    <a:ext uri="{9D8B030D-6E8A-4147-A177-3AD203B41FA5}">
                      <a16:colId xmlns:a16="http://schemas.microsoft.com/office/drawing/2014/main" val="3837587197"/>
                    </a:ext>
                  </a:extLst>
                </a:gridCol>
                <a:gridCol w="10366059">
                  <a:extLst>
                    <a:ext uri="{9D8B030D-6E8A-4147-A177-3AD203B41FA5}">
                      <a16:colId xmlns:a16="http://schemas.microsoft.com/office/drawing/2014/main" val="574208599"/>
                    </a:ext>
                  </a:extLst>
                </a:gridCol>
              </a:tblGrid>
              <a:tr h="239410">
                <a:tc>
                  <a:txBody>
                    <a:bodyPr/>
                    <a:lstStyle/>
                    <a:p>
                      <a:r>
                        <a:rPr lang="en-GB" sz="1200"/>
                        <a:t>Code</a:t>
                      </a:r>
                    </a:p>
                  </a:txBody>
                  <a:tcPr>
                    <a:solidFill>
                      <a:srgbClr val="009999"/>
                    </a:solidFill>
                  </a:tcPr>
                </a:tc>
                <a:tc>
                  <a:txBody>
                    <a:bodyPr/>
                    <a:lstStyle/>
                    <a:p>
                      <a:r>
                        <a:rPr lang="en-GB" sz="1200"/>
                        <a:t>Description</a:t>
                      </a:r>
                    </a:p>
                  </a:txBody>
                  <a:tcPr>
                    <a:solidFill>
                      <a:srgbClr val="009999"/>
                    </a:solidFill>
                  </a:tcPr>
                </a:tc>
                <a:extLst>
                  <a:ext uri="{0D108BD9-81ED-4DB2-BD59-A6C34878D82A}">
                    <a16:rowId xmlns:a16="http://schemas.microsoft.com/office/drawing/2014/main" val="1881507151"/>
                  </a:ext>
                </a:extLst>
              </a:tr>
              <a:tr h="399017">
                <a:tc>
                  <a:txBody>
                    <a:bodyPr/>
                    <a:lstStyle/>
                    <a:p>
                      <a:r>
                        <a:rPr lang="en-GB" sz="1200" b="0" i="0" kern="1200">
                          <a:solidFill>
                            <a:schemeClr val="dk1"/>
                          </a:solidFill>
                          <a:effectLst/>
                          <a:latin typeface="+mn-lt"/>
                          <a:ea typeface="+mn-ea"/>
                          <a:cs typeface="+mn-cs"/>
                        </a:rPr>
                        <a:t>AGGTA</a:t>
                      </a:r>
                      <a:endParaRPr lang="en-GB" sz="1200"/>
                    </a:p>
                  </a:txBody>
                  <a:tcPr>
                    <a:solidFill>
                      <a:srgbClr val="CBDCDB"/>
                    </a:solidFill>
                  </a:tcPr>
                </a:tc>
                <a:tc>
                  <a:txBody>
                    <a:bodyPr/>
                    <a:lstStyle/>
                    <a:p>
                      <a:r>
                        <a:rPr lang="en-GB" sz="1200" b="0" i="0" kern="1200">
                          <a:solidFill>
                            <a:schemeClr val="dk1"/>
                          </a:solidFill>
                          <a:effectLst/>
                          <a:latin typeface="+mn-lt"/>
                          <a:ea typeface="+mn-ea"/>
                          <a:cs typeface="+mn-cs"/>
                        </a:rPr>
                        <a:t>AI Code: Goods entered to Temporary Admission (TA) where the individually released products are being declared as a single goods item on an Aggregated Supplementary Declaration.</a:t>
                      </a:r>
                      <a:endParaRPr lang="en-GB" sz="1200"/>
                    </a:p>
                  </a:txBody>
                  <a:tcPr>
                    <a:solidFill>
                      <a:srgbClr val="CBDCDB"/>
                    </a:solidFill>
                  </a:tcPr>
                </a:tc>
                <a:extLst>
                  <a:ext uri="{0D108BD9-81ED-4DB2-BD59-A6C34878D82A}">
                    <a16:rowId xmlns:a16="http://schemas.microsoft.com/office/drawing/2014/main" val="676372353"/>
                  </a:ext>
                </a:extLst>
              </a:tr>
              <a:tr h="239410">
                <a:tc>
                  <a:txBody>
                    <a:bodyPr/>
                    <a:lstStyle/>
                    <a:p>
                      <a:r>
                        <a:rPr lang="en-GB" sz="1200" b="0" i="0" kern="1200">
                          <a:solidFill>
                            <a:schemeClr val="dk1"/>
                          </a:solidFill>
                          <a:effectLst/>
                          <a:latin typeface="+mn-lt"/>
                          <a:ea typeface="+mn-ea"/>
                          <a:cs typeface="+mn-cs"/>
                        </a:rPr>
                        <a:t>ARPEN</a:t>
                      </a:r>
                      <a:endParaRPr lang="en-GB" sz="1200"/>
                    </a:p>
                  </a:txBody>
                  <a:tcPr>
                    <a:solidFill>
                      <a:srgbClr val="E7EEEE"/>
                    </a:solidFill>
                  </a:tcPr>
                </a:tc>
                <a:tc>
                  <a:txBody>
                    <a:bodyPr/>
                    <a:lstStyle/>
                    <a:p>
                      <a:r>
                        <a:rPr lang="en-GB" sz="1200"/>
                        <a:t>AI Code: </a:t>
                      </a:r>
                      <a:r>
                        <a:rPr lang="en-GB" sz="1200" b="0" i="0" kern="1200">
                          <a:solidFill>
                            <a:schemeClr val="dk1"/>
                          </a:solidFill>
                          <a:effectLst/>
                          <a:latin typeface="+mn-lt"/>
                          <a:ea typeface="+mn-ea"/>
                          <a:cs typeface="+mn-cs"/>
                        </a:rPr>
                        <a:t>Free Circulation goods entered into Temporary Admission (TA) in Northern Ireland (NI) whilst the ‘At Risk’ status of the goods is being determined.</a:t>
                      </a:r>
                      <a:endParaRPr lang="en-GB" sz="1200"/>
                    </a:p>
                  </a:txBody>
                  <a:tcPr>
                    <a:solidFill>
                      <a:srgbClr val="E7EEEE"/>
                    </a:solidFill>
                  </a:tcPr>
                </a:tc>
                <a:extLst>
                  <a:ext uri="{0D108BD9-81ED-4DB2-BD59-A6C34878D82A}">
                    <a16:rowId xmlns:a16="http://schemas.microsoft.com/office/drawing/2014/main" val="1003652622"/>
                  </a:ext>
                </a:extLst>
              </a:tr>
              <a:tr h="399017">
                <a:tc>
                  <a:txBody>
                    <a:bodyPr/>
                    <a:lstStyle/>
                    <a:p>
                      <a:r>
                        <a:rPr lang="en-GB" sz="1200" b="0" i="0" kern="1200">
                          <a:solidFill>
                            <a:schemeClr val="dk1"/>
                          </a:solidFill>
                          <a:effectLst/>
                          <a:latin typeface="+mn-lt"/>
                          <a:ea typeface="+mn-ea"/>
                          <a:cs typeface="+mn-cs"/>
                        </a:rPr>
                        <a:t>RSDTA</a:t>
                      </a:r>
                      <a:endParaRPr lang="en-GB" sz="1200" b="1"/>
                    </a:p>
                  </a:txBody>
                  <a:tcPr>
                    <a:solidFill>
                      <a:srgbClr val="CBDCDB"/>
                    </a:solidFill>
                  </a:tcPr>
                </a:tc>
                <a:tc>
                  <a:txBody>
                    <a:bodyPr/>
                    <a:lstStyle/>
                    <a:p>
                      <a:r>
                        <a:rPr lang="en-GB" sz="1200"/>
                        <a:t>AI Code: </a:t>
                      </a:r>
                      <a:r>
                        <a:rPr lang="en-GB" sz="1200" b="0" i="0" kern="1200">
                          <a:solidFill>
                            <a:schemeClr val="dk1"/>
                          </a:solidFill>
                          <a:effectLst/>
                          <a:latin typeface="+mn-lt"/>
                          <a:ea typeface="+mn-ea"/>
                          <a:cs typeface="+mn-cs"/>
                        </a:rPr>
                        <a:t>Goods entered to a Temporary Admission (TA) where the individually released products are being declared as separate goods items on a single Recapitulative Supplementary Declaration.</a:t>
                      </a:r>
                      <a:endParaRPr lang="en-GB" sz="1200"/>
                    </a:p>
                  </a:txBody>
                  <a:tcPr>
                    <a:solidFill>
                      <a:srgbClr val="CBDCDB"/>
                    </a:solidFill>
                  </a:tcPr>
                </a:tc>
                <a:extLst>
                  <a:ext uri="{0D108BD9-81ED-4DB2-BD59-A6C34878D82A}">
                    <a16:rowId xmlns:a16="http://schemas.microsoft.com/office/drawing/2014/main" val="1108568355"/>
                  </a:ext>
                </a:extLst>
              </a:tr>
              <a:tr h="239410">
                <a:tc>
                  <a:txBody>
                    <a:bodyPr/>
                    <a:lstStyle/>
                    <a:p>
                      <a:r>
                        <a:rPr lang="en-GB" sz="1200" b="0" i="0" kern="1200">
                          <a:solidFill>
                            <a:schemeClr val="dk1"/>
                          </a:solidFill>
                          <a:effectLst/>
                          <a:latin typeface="+mn-lt"/>
                          <a:ea typeface="+mn-ea"/>
                          <a:cs typeface="+mn-cs"/>
                        </a:rPr>
                        <a:t>A10</a:t>
                      </a:r>
                      <a:endParaRPr lang="en-GB" sz="1200"/>
                    </a:p>
                  </a:txBody>
                  <a:tcPr>
                    <a:solidFill>
                      <a:srgbClr val="E7EEEE"/>
                    </a:solidFill>
                  </a:tcPr>
                </a:tc>
                <a:tc>
                  <a:txBody>
                    <a:bodyPr/>
                    <a:lstStyle/>
                    <a:p>
                      <a:r>
                        <a:rPr lang="en-GB" sz="1200"/>
                        <a:t>APC: </a:t>
                      </a:r>
                      <a:r>
                        <a:rPr lang="en-GB" sz="1200" b="0" i="0" kern="1200">
                          <a:solidFill>
                            <a:schemeClr val="dk1"/>
                          </a:solidFill>
                          <a:effectLst/>
                          <a:latin typeface="+mn-lt"/>
                          <a:ea typeface="+mn-ea"/>
                          <a:cs typeface="+mn-cs"/>
                        </a:rPr>
                        <a:t>Destruction of Goods under Inward Processing. (Note: available for GB-NI SPIMM &amp; GB and NI Non-SPIMM Movements)</a:t>
                      </a:r>
                      <a:endParaRPr lang="en-GB" sz="1200"/>
                    </a:p>
                  </a:txBody>
                  <a:tcPr>
                    <a:solidFill>
                      <a:srgbClr val="E7EEEE"/>
                    </a:solidFill>
                  </a:tcPr>
                </a:tc>
                <a:extLst>
                  <a:ext uri="{0D108BD9-81ED-4DB2-BD59-A6C34878D82A}">
                    <a16:rowId xmlns:a16="http://schemas.microsoft.com/office/drawing/2014/main" val="1247559883"/>
                  </a:ext>
                </a:extLst>
              </a:tr>
              <a:tr h="399017">
                <a:tc>
                  <a:txBody>
                    <a:bodyPr/>
                    <a:lstStyle/>
                    <a:p>
                      <a:r>
                        <a:rPr lang="en-GB" sz="1200" b="0" i="0" kern="1200">
                          <a:solidFill>
                            <a:schemeClr val="dk1"/>
                          </a:solidFill>
                          <a:effectLst/>
                          <a:latin typeface="+mn-lt"/>
                          <a:ea typeface="+mn-ea"/>
                          <a:cs typeface="+mn-cs"/>
                        </a:rPr>
                        <a:t>F46</a:t>
                      </a:r>
                      <a:endParaRPr lang="en-GB" sz="1200"/>
                    </a:p>
                  </a:txBody>
                  <a:tcPr>
                    <a:solidFill>
                      <a:srgbClr val="E7EEEE"/>
                    </a:solidFill>
                  </a:tcPr>
                </a:tc>
                <a:tc>
                  <a:txBody>
                    <a:bodyPr/>
                    <a:lstStyle/>
                    <a:p>
                      <a:r>
                        <a:rPr lang="en-GB" sz="1200" dirty="0"/>
                        <a:t>APC: </a:t>
                      </a:r>
                      <a:r>
                        <a:rPr lang="en-GB" sz="1200" b="0" i="0" kern="1200" dirty="0">
                          <a:solidFill>
                            <a:schemeClr val="dk1"/>
                          </a:solidFill>
                          <a:effectLst/>
                          <a:latin typeface="+mn-lt"/>
                          <a:ea typeface="+mn-ea"/>
                          <a:cs typeface="+mn-cs"/>
                        </a:rPr>
                        <a:t> Use of the Original Tariff Classification of the Goods in Situations Provided for in Article 86(2) of the Code. (Note: available for GB-NI SPIMM &amp; GB and NI Non-SPIMM Movements)</a:t>
                      </a:r>
                      <a:endParaRPr lang="en-GB" sz="1200" dirty="0"/>
                    </a:p>
                  </a:txBody>
                  <a:tcPr>
                    <a:solidFill>
                      <a:srgbClr val="E7EEEE"/>
                    </a:solidFill>
                  </a:tcPr>
                </a:tc>
                <a:extLst>
                  <a:ext uri="{0D108BD9-81ED-4DB2-BD59-A6C34878D82A}">
                    <a16:rowId xmlns:a16="http://schemas.microsoft.com/office/drawing/2014/main" val="1031449668"/>
                  </a:ext>
                </a:extLst>
              </a:tr>
              <a:tr h="239410">
                <a:tc>
                  <a:txBody>
                    <a:bodyPr/>
                    <a:lstStyle/>
                    <a:p>
                      <a:r>
                        <a:rPr lang="en-GB" sz="1200"/>
                        <a:t>1AG</a:t>
                      </a:r>
                    </a:p>
                  </a:txBody>
                  <a:tcPr>
                    <a:solidFill>
                      <a:srgbClr val="E7EEEE"/>
                    </a:solidFill>
                  </a:tcPr>
                </a:tc>
                <a:tc>
                  <a:txBody>
                    <a:bodyPr/>
                    <a:lstStyle/>
                    <a:p>
                      <a:r>
                        <a:rPr lang="en-GB" sz="1200" b="0" i="0" kern="1200">
                          <a:solidFill>
                            <a:schemeClr val="dk1"/>
                          </a:solidFill>
                          <a:effectLst/>
                          <a:latin typeface="+mn-lt"/>
                          <a:ea typeface="+mn-ea"/>
                          <a:cs typeface="+mn-cs"/>
                        </a:rPr>
                        <a:t>APC: Aggregated H8 Supplementary Declaration (Note: available for GB-NI SPIMM &amp; GB and NI Non-SPIMM Movements)</a:t>
                      </a:r>
                      <a:endParaRPr lang="en-GB" sz="1200"/>
                    </a:p>
                  </a:txBody>
                  <a:tcPr>
                    <a:solidFill>
                      <a:srgbClr val="E7EEEE"/>
                    </a:solidFill>
                  </a:tcPr>
                </a:tc>
                <a:extLst>
                  <a:ext uri="{0D108BD9-81ED-4DB2-BD59-A6C34878D82A}">
                    <a16:rowId xmlns:a16="http://schemas.microsoft.com/office/drawing/2014/main" val="397497512"/>
                  </a:ext>
                </a:extLst>
              </a:tr>
              <a:tr h="239410">
                <a:tc>
                  <a:txBody>
                    <a:bodyPr/>
                    <a:lstStyle/>
                    <a:p>
                      <a:r>
                        <a:rPr lang="en-GB" sz="1200"/>
                        <a:t>1RD</a:t>
                      </a:r>
                    </a:p>
                  </a:txBody>
                  <a:tcPr>
                    <a:solidFill>
                      <a:srgbClr val="E7EEEE"/>
                    </a:solidFill>
                  </a:tcPr>
                </a:tc>
                <a:tc>
                  <a:txBody>
                    <a:bodyPr/>
                    <a:lstStyle/>
                    <a:p>
                      <a:r>
                        <a:rPr lang="en-GB" sz="1200"/>
                        <a:t>APC: </a:t>
                      </a:r>
                      <a:r>
                        <a:rPr lang="en-GB" sz="1200" b="0" i="0" kern="1200">
                          <a:solidFill>
                            <a:schemeClr val="dk1"/>
                          </a:solidFill>
                          <a:effectLst/>
                          <a:latin typeface="+mn-lt"/>
                          <a:ea typeface="+mn-ea"/>
                          <a:cs typeface="+mn-cs"/>
                        </a:rPr>
                        <a:t>Recapitulative H8 Supplementary Declaration (Note: available for GB-NI SPIMM &amp; GB and NI Non-SPIMM Movements)</a:t>
                      </a:r>
                      <a:endParaRPr lang="en-GB" sz="1200"/>
                    </a:p>
                  </a:txBody>
                  <a:tcPr>
                    <a:solidFill>
                      <a:srgbClr val="E7EEEE"/>
                    </a:solidFill>
                  </a:tcPr>
                </a:tc>
                <a:extLst>
                  <a:ext uri="{0D108BD9-81ED-4DB2-BD59-A6C34878D82A}">
                    <a16:rowId xmlns:a16="http://schemas.microsoft.com/office/drawing/2014/main" val="1369282827"/>
                  </a:ext>
                </a:extLst>
              </a:tr>
              <a:tr h="399017">
                <a:tc>
                  <a:txBody>
                    <a:bodyPr/>
                    <a:lstStyle/>
                    <a:p>
                      <a:r>
                        <a:rPr lang="en-GB" sz="1200"/>
                        <a:t>1NR</a:t>
                      </a:r>
                    </a:p>
                  </a:txBody>
                  <a:tcPr>
                    <a:solidFill>
                      <a:srgbClr val="E7EEEE"/>
                    </a:solidFill>
                  </a:tcPr>
                </a:tc>
                <a:tc>
                  <a:txBody>
                    <a:bodyPr/>
                    <a:lstStyle/>
                    <a:p>
                      <a:r>
                        <a:rPr lang="en-GB" sz="1200"/>
                        <a:t>APC: </a:t>
                      </a:r>
                      <a:r>
                        <a:rPr lang="en-GB" sz="1200" b="0" i="0" kern="1200">
                          <a:solidFill>
                            <a:schemeClr val="dk1"/>
                          </a:solidFill>
                          <a:effectLst/>
                          <a:latin typeface="+mn-lt"/>
                          <a:ea typeface="+mn-ea"/>
                          <a:cs typeface="+mn-cs"/>
                        </a:rPr>
                        <a:t>Release to Free Circulation on Diversion from a Special Procedure in NI following confirmation that the Goods are ‘Not at Risk’ (Note: available for GB-NI SPIMM and NI Non-SPIMM Movements)</a:t>
                      </a:r>
                      <a:endParaRPr lang="en-GB" sz="1200"/>
                    </a:p>
                  </a:txBody>
                  <a:tcPr>
                    <a:solidFill>
                      <a:srgbClr val="E7EEEE"/>
                    </a:solidFill>
                  </a:tcPr>
                </a:tc>
                <a:extLst>
                  <a:ext uri="{0D108BD9-81ED-4DB2-BD59-A6C34878D82A}">
                    <a16:rowId xmlns:a16="http://schemas.microsoft.com/office/drawing/2014/main" val="3541021617"/>
                  </a:ext>
                </a:extLst>
              </a:tr>
              <a:tr h="239410">
                <a:tc>
                  <a:txBody>
                    <a:bodyPr/>
                    <a:lstStyle/>
                    <a:p>
                      <a:r>
                        <a:rPr lang="en-GB" sz="1200"/>
                        <a:t>1RM</a:t>
                      </a:r>
                    </a:p>
                  </a:txBody>
                  <a:tcPr>
                    <a:solidFill>
                      <a:srgbClr val="E7EEEE"/>
                    </a:solidFill>
                  </a:tcPr>
                </a:tc>
                <a:tc>
                  <a:txBody>
                    <a:bodyPr/>
                    <a:lstStyle/>
                    <a:p>
                      <a:r>
                        <a:rPr lang="en-GB" sz="1200"/>
                        <a:t>APC: </a:t>
                      </a:r>
                      <a:r>
                        <a:rPr lang="en-GB" sz="1200" b="0" i="0" kern="1200">
                          <a:solidFill>
                            <a:schemeClr val="dk1"/>
                          </a:solidFill>
                          <a:effectLst/>
                          <a:latin typeface="+mn-lt"/>
                          <a:ea typeface="+mn-ea"/>
                          <a:cs typeface="+mn-cs"/>
                        </a:rPr>
                        <a:t>Northern Ireland Retail Movement Scheme (NIRMS) (Note: available for GB-NI SPIMM and NI Non-SPIMM Movements)</a:t>
                      </a:r>
                      <a:endParaRPr lang="en-GB" sz="1200"/>
                    </a:p>
                  </a:txBody>
                  <a:tcPr>
                    <a:solidFill>
                      <a:srgbClr val="E7EEEE"/>
                    </a:solidFill>
                  </a:tcPr>
                </a:tc>
                <a:extLst>
                  <a:ext uri="{0D108BD9-81ED-4DB2-BD59-A6C34878D82A}">
                    <a16:rowId xmlns:a16="http://schemas.microsoft.com/office/drawing/2014/main" val="3029701837"/>
                  </a:ext>
                </a:extLst>
              </a:tr>
              <a:tr h="399017">
                <a:tc>
                  <a:txBody>
                    <a:bodyPr/>
                    <a:lstStyle/>
                    <a:p>
                      <a:r>
                        <a:rPr lang="en-GB" sz="1200"/>
                        <a:t>1AR</a:t>
                      </a:r>
                    </a:p>
                  </a:txBody>
                  <a:tcPr>
                    <a:solidFill>
                      <a:srgbClr val="E7EEEE"/>
                    </a:solidFill>
                  </a:tcPr>
                </a:tc>
                <a:tc>
                  <a:txBody>
                    <a:bodyPr/>
                    <a:lstStyle/>
                    <a:p>
                      <a:r>
                        <a:rPr lang="en-GB" sz="1200"/>
                        <a:t>APC: </a:t>
                      </a:r>
                      <a:r>
                        <a:rPr lang="en-GB" sz="1200" b="0" i="0" kern="1200">
                          <a:solidFill>
                            <a:schemeClr val="dk1"/>
                          </a:solidFill>
                          <a:effectLst/>
                          <a:latin typeface="+mn-lt"/>
                          <a:ea typeface="+mn-ea"/>
                          <a:cs typeface="+mn-cs"/>
                        </a:rPr>
                        <a:t>Release to Free Circulation on Diversion from a Special Procedure in NI following confirmation that the Goods are ‘Not At Risk’. (Note: available for GB-NI SPIMM and NI Non-SPIMM Movements)</a:t>
                      </a:r>
                      <a:endParaRPr lang="en-GB" sz="1200"/>
                    </a:p>
                  </a:txBody>
                  <a:tcPr>
                    <a:solidFill>
                      <a:srgbClr val="E7EEEE"/>
                    </a:solidFill>
                  </a:tcPr>
                </a:tc>
                <a:extLst>
                  <a:ext uri="{0D108BD9-81ED-4DB2-BD59-A6C34878D82A}">
                    <a16:rowId xmlns:a16="http://schemas.microsoft.com/office/drawing/2014/main" val="736411370"/>
                  </a:ext>
                </a:extLst>
              </a:tr>
              <a:tr h="399017">
                <a:tc>
                  <a:txBody>
                    <a:bodyPr/>
                    <a:lstStyle/>
                    <a:p>
                      <a:r>
                        <a:rPr lang="en-GB" sz="1200"/>
                        <a:t>AGGSD</a:t>
                      </a:r>
                    </a:p>
                  </a:txBody>
                  <a:tcPr>
                    <a:solidFill>
                      <a:srgbClr val="E7EEEE"/>
                    </a:solidFill>
                  </a:tcPr>
                </a:tc>
                <a:tc>
                  <a:txBody>
                    <a:bodyPr/>
                    <a:lstStyle/>
                    <a:p>
                      <a:r>
                        <a:rPr lang="en-GB" sz="1200" b="0" i="0" kern="1200">
                          <a:solidFill>
                            <a:schemeClr val="dk1"/>
                          </a:solidFill>
                          <a:effectLst/>
                          <a:latin typeface="+mn-lt"/>
                          <a:ea typeface="+mn-ea"/>
                          <a:cs typeface="+mn-cs"/>
                        </a:rPr>
                        <a:t>Provide a total for the number of initial declarations being aggregated into the supplementary declaration, e.g., 15 I1 C&amp;Fs. Note: AI code AGGSD is only required on a single goods item </a:t>
                      </a:r>
                      <a:endParaRPr lang="en-GB" sz="1200"/>
                    </a:p>
                  </a:txBody>
                  <a:tcPr>
                    <a:solidFill>
                      <a:srgbClr val="E7EEEE"/>
                    </a:solidFill>
                  </a:tcPr>
                </a:tc>
                <a:extLst>
                  <a:ext uri="{0D108BD9-81ED-4DB2-BD59-A6C34878D82A}">
                    <a16:rowId xmlns:a16="http://schemas.microsoft.com/office/drawing/2014/main" val="3649687099"/>
                  </a:ext>
                </a:extLst>
              </a:tr>
              <a:tr h="239410">
                <a:tc>
                  <a:txBody>
                    <a:bodyPr/>
                    <a:lstStyle/>
                    <a:p>
                      <a:r>
                        <a:rPr lang="en-GB" sz="1200"/>
                        <a:t>DESRE</a:t>
                      </a:r>
                    </a:p>
                  </a:txBody>
                  <a:tcPr>
                    <a:solidFill>
                      <a:srgbClr val="E7EEEE"/>
                    </a:solidFill>
                  </a:tcPr>
                </a:tc>
                <a:tc>
                  <a:txBody>
                    <a:bodyPr/>
                    <a:lstStyle/>
                    <a:p>
                      <a:r>
                        <a:rPr lang="en-GB" sz="1200"/>
                        <a:t>AI Code: </a:t>
                      </a:r>
                      <a:r>
                        <a:rPr lang="en-GB" sz="1200" b="0" i="0" kern="1200">
                          <a:solidFill>
                            <a:schemeClr val="dk1"/>
                          </a:solidFill>
                          <a:effectLst/>
                          <a:latin typeface="+mn-lt"/>
                          <a:ea typeface="+mn-ea"/>
                          <a:cs typeface="+mn-cs"/>
                        </a:rPr>
                        <a:t>Provide details of why the goods had to be destroyed.</a:t>
                      </a:r>
                      <a:endParaRPr lang="en-GB" sz="1200"/>
                    </a:p>
                  </a:txBody>
                  <a:tcPr>
                    <a:solidFill>
                      <a:srgbClr val="E7EEEE"/>
                    </a:solidFill>
                  </a:tcPr>
                </a:tc>
                <a:extLst>
                  <a:ext uri="{0D108BD9-81ED-4DB2-BD59-A6C34878D82A}">
                    <a16:rowId xmlns:a16="http://schemas.microsoft.com/office/drawing/2014/main" val="3313983721"/>
                  </a:ext>
                </a:extLst>
              </a:tr>
              <a:tr h="239410">
                <a:tc>
                  <a:txBody>
                    <a:bodyPr/>
                    <a:lstStyle/>
                    <a:p>
                      <a:r>
                        <a:rPr lang="en-GB" sz="1200"/>
                        <a:t>DESAD</a:t>
                      </a:r>
                    </a:p>
                  </a:txBody>
                  <a:tcPr>
                    <a:solidFill>
                      <a:srgbClr val="E7EEEE"/>
                    </a:solidFill>
                  </a:tcPr>
                </a:tc>
                <a:tc>
                  <a:txBody>
                    <a:bodyPr/>
                    <a:lstStyle/>
                    <a:p>
                      <a:r>
                        <a:rPr lang="en-GB" sz="1200"/>
                        <a:t>AI Code: </a:t>
                      </a:r>
                      <a:r>
                        <a:rPr lang="en-GB" sz="1200" b="0" i="0" kern="1200">
                          <a:solidFill>
                            <a:schemeClr val="dk1"/>
                          </a:solidFill>
                          <a:effectLst/>
                          <a:latin typeface="+mn-lt"/>
                          <a:ea typeface="+mn-ea"/>
                          <a:cs typeface="+mn-cs"/>
                        </a:rPr>
                        <a:t>Details of the address in NI where the destruction of the IP goods take place.</a:t>
                      </a:r>
                      <a:endParaRPr lang="en-GB" sz="1200"/>
                    </a:p>
                  </a:txBody>
                  <a:tcPr>
                    <a:solidFill>
                      <a:srgbClr val="E7EEEE"/>
                    </a:solidFill>
                  </a:tcPr>
                </a:tc>
                <a:extLst>
                  <a:ext uri="{0D108BD9-81ED-4DB2-BD59-A6C34878D82A}">
                    <a16:rowId xmlns:a16="http://schemas.microsoft.com/office/drawing/2014/main" val="3307283"/>
                  </a:ext>
                </a:extLst>
              </a:tr>
              <a:tr h="399017">
                <a:tc>
                  <a:txBody>
                    <a:bodyPr/>
                    <a:lstStyle/>
                    <a:p>
                      <a:r>
                        <a:rPr lang="en-GB" sz="1200"/>
                        <a:t>RSDSD</a:t>
                      </a:r>
                    </a:p>
                  </a:txBody>
                  <a:tcPr>
                    <a:solidFill>
                      <a:srgbClr val="E7EEEE"/>
                    </a:solidFill>
                  </a:tcPr>
                </a:tc>
                <a:tc>
                  <a:txBody>
                    <a:bodyPr/>
                    <a:lstStyle/>
                    <a:p>
                      <a:r>
                        <a:rPr lang="en-GB" sz="1200" b="0" i="0" kern="1200" dirty="0">
                          <a:solidFill>
                            <a:schemeClr val="dk1"/>
                          </a:solidFill>
                          <a:effectLst/>
                          <a:latin typeface="+mn-lt"/>
                          <a:ea typeface="+mn-ea"/>
                          <a:cs typeface="+mn-cs"/>
                        </a:rPr>
                        <a:t>Provide a total for the number of individual goods movements being included on the recapitulative declaration, e.g., 15 I1 C&amp;Fs. Note: AI code RSDSD is only required on a single goods item </a:t>
                      </a:r>
                      <a:endParaRPr lang="en-GB" sz="1200" dirty="0"/>
                    </a:p>
                  </a:txBody>
                  <a:tcPr>
                    <a:solidFill>
                      <a:srgbClr val="E7EEEE"/>
                    </a:solidFill>
                  </a:tcPr>
                </a:tc>
                <a:extLst>
                  <a:ext uri="{0D108BD9-81ED-4DB2-BD59-A6C34878D82A}">
                    <a16:rowId xmlns:a16="http://schemas.microsoft.com/office/drawing/2014/main" val="530523649"/>
                  </a:ext>
                </a:extLst>
              </a:tr>
            </a:tbl>
          </a:graphicData>
        </a:graphic>
      </p:graphicFrame>
    </p:spTree>
    <p:extLst>
      <p:ext uri="{BB962C8B-B14F-4D97-AF65-F5344CB8AC3E}">
        <p14:creationId xmlns:p14="http://schemas.microsoft.com/office/powerpoint/2010/main" val="167883856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5290"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47089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Introduction of a New AI Codes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following table outlines the conditions and requirements for declaring specific AI Codes and Procedure Codes</a:t>
            </a: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If any of the above requirements are not met, the declaration will be rejected and a DMSREJ notification issued.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4C1886A5-DBD8-83F4-FEF3-41C4899B7662}"/>
              </a:ext>
            </a:extLst>
          </p:cNvPr>
          <p:cNvGraphicFramePr>
            <a:graphicFrameLocks noGrp="1"/>
          </p:cNvGraphicFramePr>
          <p:nvPr/>
        </p:nvGraphicFramePr>
        <p:xfrm>
          <a:off x="516000" y="2084206"/>
          <a:ext cx="11160000" cy="3096003"/>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145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503656">
                <a:tc>
                  <a:txBody>
                    <a:bodyPr/>
                    <a:lstStyle/>
                    <a:p>
                      <a:r>
                        <a:rPr lang="en-GB" sz="1200" b="1"/>
                        <a:t>AI Codes in DE 2/2 at item level:</a:t>
                      </a:r>
                      <a:r>
                        <a:rPr lang="en-GB" sz="1200"/>
                        <a:t> 'AGGTA', 'ARPEN', 'RSDTA'</a:t>
                      </a:r>
                    </a:p>
                  </a:txBody>
                  <a:tcPr>
                    <a:solidFill>
                      <a:srgbClr val="CBDCDB"/>
                    </a:solidFill>
                  </a:tcPr>
                </a:tc>
                <a:tc>
                  <a:txBody>
                    <a:bodyPr/>
                    <a:lstStyle/>
                    <a:p>
                      <a:r>
                        <a:rPr lang="en-GB" sz="1200"/>
                        <a:t>Procedure Code in DE 1/10 at item level must be one of: '5300', '5351', '5353', '5371', '5378'</a:t>
                      </a:r>
                    </a:p>
                  </a:txBody>
                  <a:tcPr>
                    <a:solidFill>
                      <a:srgbClr val="CBDCDB"/>
                    </a:solidFill>
                  </a:tcPr>
                </a:tc>
                <a:extLst>
                  <a:ext uri="{0D108BD9-81ED-4DB2-BD59-A6C34878D82A}">
                    <a16:rowId xmlns:a16="http://schemas.microsoft.com/office/drawing/2014/main" val="676372353"/>
                  </a:ext>
                </a:extLst>
              </a:tr>
              <a:tr h="296268">
                <a:tc>
                  <a:txBody>
                    <a:bodyPr/>
                    <a:lstStyle/>
                    <a:p>
                      <a:r>
                        <a:rPr lang="en-GB" sz="1200" b="1"/>
                        <a:t>AI Codes in DE 2/2 at item level:</a:t>
                      </a:r>
                      <a:r>
                        <a:rPr lang="en-GB" sz="1200"/>
                        <a:t> 'AGGTA', 'ARPEN', 'RSDTA'</a:t>
                      </a:r>
                    </a:p>
                  </a:txBody>
                  <a:tcPr>
                    <a:solidFill>
                      <a:srgbClr val="E7EEEE"/>
                    </a:solidFill>
                  </a:tcPr>
                </a:tc>
                <a:tc>
                  <a:txBody>
                    <a:bodyPr/>
                    <a:lstStyle/>
                    <a:p>
                      <a:r>
                        <a:rPr lang="en-GB" sz="1200"/>
                        <a:t>AI Code must be followed by free text information</a:t>
                      </a:r>
                    </a:p>
                  </a:txBody>
                  <a:tcPr>
                    <a:solidFill>
                      <a:srgbClr val="E7EEEE"/>
                    </a:solidFill>
                  </a:tcPr>
                </a:tc>
                <a:extLst>
                  <a:ext uri="{0D108BD9-81ED-4DB2-BD59-A6C34878D82A}">
                    <a16:rowId xmlns:a16="http://schemas.microsoft.com/office/drawing/2014/main" val="1003652622"/>
                  </a:ext>
                </a:extLst>
              </a:tr>
              <a:tr h="503656">
                <a:tc>
                  <a:txBody>
                    <a:bodyPr/>
                    <a:lstStyle/>
                    <a:p>
                      <a:r>
                        <a:rPr lang="en-GB" sz="1200" b="1"/>
                        <a:t>AI Code 'ARPEN' in DE 2/2 at item level</a:t>
                      </a:r>
                    </a:p>
                  </a:txBody>
                  <a:tcPr>
                    <a:solidFill>
                      <a:srgbClr val="CBDCDB"/>
                    </a:solidFill>
                  </a:tcPr>
                </a:tc>
                <a:tc>
                  <a:txBody>
                    <a:bodyPr/>
                    <a:lstStyle/>
                    <a:p>
                      <a:r>
                        <a:rPr lang="en-GB" sz="1200"/>
                        <a:t>AI Code 'NIDOM' must also be declared in DE 2/2 at item level on the same goods item</a:t>
                      </a:r>
                    </a:p>
                  </a:txBody>
                  <a:tcPr>
                    <a:solidFill>
                      <a:srgbClr val="CBDCDB"/>
                    </a:solidFill>
                  </a:tcPr>
                </a:tc>
                <a:extLst>
                  <a:ext uri="{0D108BD9-81ED-4DB2-BD59-A6C34878D82A}">
                    <a16:rowId xmlns:a16="http://schemas.microsoft.com/office/drawing/2014/main" val="1108568355"/>
                  </a:ext>
                </a:extLst>
              </a:tr>
              <a:tr h="503656">
                <a:tc>
                  <a:txBody>
                    <a:bodyPr/>
                    <a:lstStyle/>
                    <a:p>
                      <a:r>
                        <a:rPr lang="en-GB" sz="1200" b="1"/>
                        <a:t>AI Codes in DE 2/2 at item level:</a:t>
                      </a:r>
                      <a:r>
                        <a:rPr lang="en-GB" sz="1200"/>
                        <a:t> 'AGGTA', 'RSDTA' and Procedure Code in DE 1/10 is '5300'</a:t>
                      </a:r>
                    </a:p>
                  </a:txBody>
                  <a:tcPr>
                    <a:solidFill>
                      <a:srgbClr val="E7EEEE"/>
                    </a:solidFill>
                  </a:tcPr>
                </a:tc>
                <a:tc>
                  <a:txBody>
                    <a:bodyPr/>
                    <a:lstStyle/>
                    <a:p>
                      <a:r>
                        <a:rPr lang="en-GB" sz="1200"/>
                        <a:t>Additional Declaration Type in DE 1/2 at header level must be ‘Y’ or ‘Z’</a:t>
                      </a:r>
                    </a:p>
                  </a:txBody>
                  <a:tcPr>
                    <a:solidFill>
                      <a:srgbClr val="E7EEEE"/>
                    </a:solidFill>
                  </a:tcPr>
                </a:tc>
                <a:extLst>
                  <a:ext uri="{0D108BD9-81ED-4DB2-BD59-A6C34878D82A}">
                    <a16:rowId xmlns:a16="http://schemas.microsoft.com/office/drawing/2014/main" val="1247559883"/>
                  </a:ext>
                </a:extLst>
              </a:tr>
              <a:tr h="503656">
                <a:tc>
                  <a:txBody>
                    <a:bodyPr/>
                    <a:lstStyle/>
                    <a:p>
                      <a:r>
                        <a:rPr lang="en-GB" sz="1200" b="1"/>
                        <a:t>AI Codes in DE 2/2 at item level:</a:t>
                      </a:r>
                      <a:r>
                        <a:rPr lang="en-GB" sz="1200"/>
                        <a:t> 'AGGTA', 'RSDTA' and Procedure Code in DE 1/10 is '5378'</a:t>
                      </a:r>
                    </a:p>
                  </a:txBody>
                  <a:tcPr>
                    <a:solidFill>
                      <a:srgbClr val="CBDCDB"/>
                    </a:solidFill>
                  </a:tcPr>
                </a:tc>
                <a:tc>
                  <a:txBody>
                    <a:bodyPr/>
                    <a:lstStyle/>
                    <a:p>
                      <a:r>
                        <a:rPr lang="en-GB" sz="1200"/>
                        <a:t>Additional Declaration Type in DE 1/2 at header level must be ‘Y’</a:t>
                      </a:r>
                    </a:p>
                  </a:txBody>
                  <a:tcPr>
                    <a:solidFill>
                      <a:srgbClr val="CBDCDB"/>
                    </a:solidFill>
                  </a:tcPr>
                </a:tc>
                <a:extLst>
                  <a:ext uri="{0D108BD9-81ED-4DB2-BD59-A6C34878D82A}">
                    <a16:rowId xmlns:a16="http://schemas.microsoft.com/office/drawing/2014/main" val="3742923611"/>
                  </a:ext>
                </a:extLst>
              </a:tr>
              <a:tr h="503656">
                <a:tc>
                  <a:txBody>
                    <a:bodyPr/>
                    <a:lstStyle/>
                    <a:p>
                      <a:r>
                        <a:rPr lang="en-GB" sz="1200" b="1"/>
                        <a:t>AI Codes in DE 2/2 at item level:</a:t>
                      </a:r>
                      <a:r>
                        <a:rPr lang="en-GB" sz="1200"/>
                        <a:t> 'AGGTA', 'RSDTA' and Procedure Code in DE 1/10 is '5351', '5353', '5371'</a:t>
                      </a:r>
                    </a:p>
                  </a:txBody>
                  <a:tcPr>
                    <a:solidFill>
                      <a:srgbClr val="E7EEEE"/>
                    </a:solidFill>
                  </a:tcPr>
                </a:tc>
                <a:tc>
                  <a:txBody>
                    <a:bodyPr/>
                    <a:lstStyle/>
                    <a:p>
                      <a:r>
                        <a:rPr lang="en-GB" sz="1200" dirty="0"/>
                        <a:t>Additional Declaration Type in DE 1/2 at header level must be ‘Z’</a:t>
                      </a:r>
                    </a:p>
                  </a:txBody>
                  <a:tcPr>
                    <a:solidFill>
                      <a:srgbClr val="E7EEEE"/>
                    </a:solidFill>
                  </a:tcPr>
                </a:tc>
                <a:extLst>
                  <a:ext uri="{0D108BD9-81ED-4DB2-BD59-A6C34878D82A}">
                    <a16:rowId xmlns:a16="http://schemas.microsoft.com/office/drawing/2014/main" val="750958867"/>
                  </a:ext>
                </a:extLst>
              </a:tr>
            </a:tbl>
          </a:graphicData>
        </a:graphic>
      </p:graphicFrame>
    </p:spTree>
    <p:extLst>
      <p:ext uri="{BB962C8B-B14F-4D97-AF65-F5344CB8AC3E}">
        <p14:creationId xmlns:p14="http://schemas.microsoft.com/office/powerpoint/2010/main" val="36088538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5290"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3600986"/>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EIDR NOP Dataset Changes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Additional data elements will be made available on the C21i EIDR NOP dataset for all GB and NI import declarations so that the non-SPIMM EIDR NOP is aligned to the SPIMM EIDR.</a:t>
            </a: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following additional Data Elements will be available on the C21i EIDR NOP declaration category for all GB-NI, </a:t>
            </a:r>
            <a:r>
              <a:rPr kumimoji="0" lang="en-GB" sz="1200" b="0" i="0" u="none" strike="noStrike" kern="1200" cap="none" spc="0" normalizeH="0" baseline="0" noProof="0" err="1">
                <a:ln>
                  <a:noFill/>
                </a:ln>
                <a:solidFill>
                  <a:prstClr val="black"/>
                </a:solidFill>
                <a:effectLst/>
                <a:uLnTx/>
                <a:uFillTx/>
                <a:latin typeface="Calibri" panose="020F0502020204030204"/>
                <a:ea typeface="+mn-ea"/>
                <a:cs typeface="+mn-cs"/>
              </a:rPr>
              <a:t>RoW</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-GB Import Declarations: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 3/15 – Importer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DE 6/8 – Goods description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C21i EIDR NOP declaration category has been derived, the completion rules for DE 3/15 and DE 6/8 in the attached Wider Imports Matrix (</a:t>
            </a:r>
            <a:r>
              <a:rPr kumimoji="0" lang="da-DK" sz="1200" b="0" i="0" u="none" strike="noStrike" kern="1200" cap="none" spc="0" normalizeH="0" baseline="0" noProof="0">
                <a:ln>
                  <a:noFill/>
                </a:ln>
                <a:solidFill>
                  <a:prstClr val="black"/>
                </a:solidFill>
                <a:effectLst/>
                <a:uLnTx/>
                <a:uFillTx/>
                <a:latin typeface="Calibri" panose="020F0502020204030204"/>
                <a:ea typeface="+mn-ea"/>
                <a:cs typeface="+mn-cs"/>
              </a:rPr>
              <a:t>DE 3-15 &amp; DE 6-8' to DE 3/15 and DE 6/8</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will be enforced. If the completion rules are not followed, CDS will reject the declaration and send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neither ‘1SG’ or ‘1EN’ have been declared in DE 1/11 at item level, CDS will ensure that all business rules that apply to DE 3/15 and DE 6/8 for all procedure categories apply to DE 3/15 and DE 6/8 for C21i EIDR NOP, unless a specific C21i EIDR NOP requirement takes precedence over current rules that apply specifically to all procedure categories.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sng" strike="noStrike" kern="1200" cap="none" spc="0" normalizeH="0" baseline="0" noProof="0">
                <a:ln>
                  <a:noFill/>
                </a:ln>
                <a:solidFill>
                  <a:prstClr val="black"/>
                </a:solidFill>
                <a:effectLst/>
                <a:uLnTx/>
                <a:uFillTx/>
                <a:latin typeface="Calibri" panose="020F0502020204030204"/>
                <a:ea typeface="+mn-ea"/>
                <a:cs typeface="+mn-cs"/>
              </a:rPr>
              <a:t>Introduction of SPIMM &amp; Other BI Goods Movements Additional Procedure Codes: A10, F46, 1AG, 1AR, 1NR, 1RD and 1RM</a:t>
            </a:r>
            <a:endParaRPr kumimoji="0" lang="en-GB"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Additional Procedure Codes 'A10', 'F46', '1AG', '1AR', '1NR', '1RD' or '1RM' are declared in DE 1/11 at item level, CDS will ensure that the procedure code declared in DE 1/10 at item level on the same goods item is as per the permitted combination list indicated by ‘Y’ on the attached PC-APC Matrix.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an invalid combination of Procedure codes and Additional Procedure Codes are declared at item level on the same goods item in DE 1/10 and 1/11, CDS will reject the declaration and send a DMSREJ notification to the submitter.</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9" name="Object 18">
            <a:extLst>
              <a:ext uri="{FF2B5EF4-FFF2-40B4-BE49-F238E27FC236}">
                <a16:creationId xmlns:a16="http://schemas.microsoft.com/office/drawing/2014/main" id="{2533916E-2115-DCA5-C955-B98CB388F63F}"/>
              </a:ext>
            </a:extLst>
          </p:cNvPr>
          <p:cNvGraphicFramePr>
            <a:graphicFrameLocks noChangeAspect="1"/>
          </p:cNvGraphicFramePr>
          <p:nvPr/>
        </p:nvGraphicFramePr>
        <p:xfrm>
          <a:off x="10154094" y="386516"/>
          <a:ext cx="914400" cy="806450"/>
        </p:xfrm>
        <a:graphic>
          <a:graphicData uri="http://schemas.openxmlformats.org/presentationml/2006/ole">
            <mc:AlternateContent xmlns:mc="http://schemas.openxmlformats.org/markup-compatibility/2006">
              <mc:Choice xmlns:v="urn:schemas-microsoft-com:vml" Requires="v">
                <p:oleObj name="Worksheet" showAsIcon="1" r:id="rId5" imgW="914400" imgH="806335" progId="Excel.Sheet.12">
                  <p:embed/>
                </p:oleObj>
              </mc:Choice>
              <mc:Fallback>
                <p:oleObj name="Worksheet" showAsIcon="1" r:id="rId5" imgW="914400" imgH="806335" progId="Excel.Sheet.12">
                  <p:embed/>
                  <p:pic>
                    <p:nvPicPr>
                      <p:cNvPr id="19" name="Object 18">
                        <a:extLst>
                          <a:ext uri="{FF2B5EF4-FFF2-40B4-BE49-F238E27FC236}">
                            <a16:creationId xmlns:a16="http://schemas.microsoft.com/office/drawing/2014/main" id="{2533916E-2115-DCA5-C955-B98CB388F63F}"/>
                          </a:ext>
                        </a:extLst>
                      </p:cNvPr>
                      <p:cNvPicPr/>
                      <p:nvPr/>
                    </p:nvPicPr>
                    <p:blipFill>
                      <a:blip r:embed="rId6"/>
                      <a:stretch>
                        <a:fillRect/>
                      </a:stretch>
                    </p:blipFill>
                    <p:spPr>
                      <a:xfrm>
                        <a:off x="10154094" y="386516"/>
                        <a:ext cx="914400" cy="806450"/>
                      </a:xfrm>
                      <a:prstGeom prst="rect">
                        <a:avLst/>
                      </a:prstGeom>
                    </p:spPr>
                  </p:pic>
                </p:oleObj>
              </mc:Fallback>
            </mc:AlternateContent>
          </a:graphicData>
        </a:graphic>
      </p:graphicFrame>
      <p:graphicFrame>
        <p:nvGraphicFramePr>
          <p:cNvPr id="21" name="Object 20">
            <a:extLst>
              <a:ext uri="{FF2B5EF4-FFF2-40B4-BE49-F238E27FC236}">
                <a16:creationId xmlns:a16="http://schemas.microsoft.com/office/drawing/2014/main" id="{4A8BD234-B26A-5B4F-C0EA-1439135212A2}"/>
              </a:ext>
            </a:extLst>
          </p:cNvPr>
          <p:cNvGraphicFramePr>
            <a:graphicFrameLocks noChangeAspect="1"/>
          </p:cNvGraphicFramePr>
          <p:nvPr/>
        </p:nvGraphicFramePr>
        <p:xfrm>
          <a:off x="11056348" y="436339"/>
          <a:ext cx="914400" cy="806450"/>
        </p:xfrm>
        <a:graphic>
          <a:graphicData uri="http://schemas.openxmlformats.org/presentationml/2006/ole">
            <mc:AlternateContent xmlns:mc="http://schemas.openxmlformats.org/markup-compatibility/2006">
              <mc:Choice xmlns:v="urn:schemas-microsoft-com:vml" Requires="v">
                <p:oleObj name="Worksheet" showAsIcon="1" r:id="rId7" imgW="914400" imgH="806335" progId="Excel.Sheet.12">
                  <p:embed/>
                </p:oleObj>
              </mc:Choice>
              <mc:Fallback>
                <p:oleObj name="Worksheet" showAsIcon="1" r:id="rId7" imgW="914400" imgH="806335" progId="Excel.Sheet.12">
                  <p:embed/>
                  <p:pic>
                    <p:nvPicPr>
                      <p:cNvPr id="21" name="Object 20">
                        <a:extLst>
                          <a:ext uri="{FF2B5EF4-FFF2-40B4-BE49-F238E27FC236}">
                            <a16:creationId xmlns:a16="http://schemas.microsoft.com/office/drawing/2014/main" id="{4A8BD234-B26A-5B4F-C0EA-1439135212A2}"/>
                          </a:ext>
                        </a:extLst>
                      </p:cNvPr>
                      <p:cNvPicPr/>
                      <p:nvPr/>
                    </p:nvPicPr>
                    <p:blipFill>
                      <a:blip r:embed="rId8"/>
                      <a:stretch>
                        <a:fillRect/>
                      </a:stretch>
                    </p:blipFill>
                    <p:spPr>
                      <a:xfrm>
                        <a:off x="11056348" y="436339"/>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63694639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55923"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470898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A10 (SPIMM &amp; Non-SPIMM)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Additional Procedure Code A10 (DE 1/11)</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so that traders can discharge scrap products from Inward Processing following the destruction of the IP goods.</a:t>
            </a: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 </a:t>
            </a:r>
            <a:endParaRPr kumimoji="0" lang="it-IT"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endParaRPr kumimoji="0" lang="it-IT" sz="1200" b="1" i="0" u="none" strike="noStrike" kern="1200" cap="none" spc="0" normalizeH="0" baseline="0" noProof="0">
              <a:ln>
                <a:noFill/>
              </a:ln>
              <a:solidFill>
                <a:prstClr val="black"/>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above requirements are not met, the declaration will be rejected and a DMSREJ notification issued.</a:t>
            </a: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'A10' and 'F47' at item level on the same goods item in DE 1/11, the declaration will be rejected and a DMSREJ notification issued.</a:t>
            </a:r>
            <a:endPar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87692" y="2548143"/>
          <a:ext cx="11160000" cy="2249623"/>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145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503656">
                <a:tc>
                  <a:txBody>
                    <a:bodyPr/>
                    <a:lstStyle/>
                    <a:p>
                      <a:r>
                        <a:rPr lang="en-GB" sz="1200"/>
                        <a:t>Additional Procedure Code 'A10' in DE 1/11 at item level on Type B, C, D, E, F, J, K, Y, or Z declaration</a:t>
                      </a:r>
                    </a:p>
                  </a:txBody>
                  <a:tcPr>
                    <a:solidFill>
                      <a:srgbClr val="CBDCDB"/>
                    </a:solidFill>
                  </a:tcPr>
                </a:tc>
                <a:tc>
                  <a:txBody>
                    <a:bodyPr/>
                    <a:lstStyle/>
                    <a:p>
                      <a:r>
                        <a:rPr lang="en-GB" sz="1200"/>
                        <a:t>Must declare one of the following Additional Procedure Codes in DE 1/11: '1SG', '1LG', '1EN', '1EL'</a:t>
                      </a:r>
                    </a:p>
                  </a:txBody>
                  <a:tcPr>
                    <a:solidFill>
                      <a:srgbClr val="CBDCDB"/>
                    </a:solidFill>
                  </a:tcPr>
                </a:tc>
                <a:extLst>
                  <a:ext uri="{0D108BD9-81ED-4DB2-BD59-A6C34878D82A}">
                    <a16:rowId xmlns:a16="http://schemas.microsoft.com/office/drawing/2014/main" val="676372353"/>
                  </a:ext>
                </a:extLst>
              </a:tr>
              <a:tr h="296268">
                <a:tc>
                  <a:txBody>
                    <a:bodyPr/>
                    <a:lstStyle/>
                    <a:p>
                      <a:r>
                        <a:rPr lang="en-GB" sz="1200"/>
                        <a:t>Additional Procedure Code 'A10' in DE 1/11 at item level</a:t>
                      </a:r>
                    </a:p>
                  </a:txBody>
                  <a:tcPr>
                    <a:solidFill>
                      <a:srgbClr val="E7EEEE"/>
                    </a:solidFill>
                  </a:tcPr>
                </a:tc>
                <a:tc>
                  <a:txBody>
                    <a:bodyPr/>
                    <a:lstStyle/>
                    <a:p>
                      <a:r>
                        <a:rPr lang="en-GB" sz="1200"/>
                        <a:t>Must declare both AI Codes 'DESRE' and 'DESAD' in DE 2/2 at item level on the same goods item</a:t>
                      </a:r>
                    </a:p>
                  </a:txBody>
                  <a:tcPr>
                    <a:solidFill>
                      <a:srgbClr val="E7EEEE"/>
                    </a:solidFill>
                  </a:tcPr>
                </a:tc>
                <a:extLst>
                  <a:ext uri="{0D108BD9-81ED-4DB2-BD59-A6C34878D82A}">
                    <a16:rowId xmlns:a16="http://schemas.microsoft.com/office/drawing/2014/main" val="1003652622"/>
                  </a:ext>
                </a:extLst>
              </a:tr>
              <a:tr h="1007312">
                <a:tc>
                  <a:txBody>
                    <a:bodyPr/>
                    <a:lstStyle/>
                    <a:p>
                      <a:r>
                        <a:rPr lang="en-GB" sz="1200"/>
                        <a:t>AI Codes 'DESRE' or 'DESAD' in DE 2/2 at item level</a:t>
                      </a:r>
                    </a:p>
                    <a:p>
                      <a:endParaRPr lang="en-GB" sz="1200"/>
                    </a:p>
                  </a:txBody>
                  <a:tcPr>
                    <a:solidFill>
                      <a:srgbClr val="CBDCDB"/>
                    </a:solidFill>
                  </a:tcPr>
                </a:tc>
                <a:tc>
                  <a:txBody>
                    <a:bodyPr/>
                    <a:lstStyle/>
                    <a:p>
                      <a:pPr marL="285750" indent="-285750">
                        <a:buFont typeface="Arial" panose="020B0604020202020204" pitchFamily="34" charset="0"/>
                        <a:buChar char="•"/>
                      </a:pPr>
                      <a:r>
                        <a:rPr lang="en-GB" sz="1200" dirty="0"/>
                        <a:t>AI Code must be followed by free text information</a:t>
                      </a:r>
                    </a:p>
                    <a:p>
                      <a:pPr marL="285750" indent="-285750">
                        <a:buFont typeface="Arial" panose="020B0604020202020204" pitchFamily="34" charset="0"/>
                        <a:buChar char="•"/>
                      </a:pPr>
                      <a:r>
                        <a:rPr lang="en-GB" sz="1200" dirty="0"/>
                        <a:t>Must declare Additional Procedure Code 'A10' in DE 1/11 at item level on the same goods item</a:t>
                      </a:r>
                    </a:p>
                  </a:txBody>
                  <a:tcPr>
                    <a:solidFill>
                      <a:srgbClr val="CBDCDB"/>
                    </a:solidFill>
                  </a:tcPr>
                </a:tc>
                <a:extLst>
                  <a:ext uri="{0D108BD9-81ED-4DB2-BD59-A6C34878D82A}">
                    <a16:rowId xmlns:a16="http://schemas.microsoft.com/office/drawing/2014/main" val="1108568355"/>
                  </a:ext>
                </a:extLst>
              </a:tr>
            </a:tbl>
          </a:graphicData>
        </a:graphic>
      </p:graphicFrame>
    </p:spTree>
    <p:extLst>
      <p:ext uri="{BB962C8B-B14F-4D97-AF65-F5344CB8AC3E}">
        <p14:creationId xmlns:p14="http://schemas.microsoft.com/office/powerpoint/2010/main" val="351098185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13393"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7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63967" y="1322138"/>
            <a:ext cx="11138053" cy="34163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F46 (SPIMM &amp; Non-SPIMM)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Additional Procedure Code F46 (DE 1/11).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1" i="0" u="none" strike="noStrike" kern="1200" cap="none" spc="0" normalizeH="0" baseline="0" noProof="0">
                <a:ln>
                  <a:noFill/>
                </a:ln>
                <a:solidFill>
                  <a:prstClr val="black"/>
                </a:solidFill>
                <a:effectLst/>
                <a:uLnTx/>
                <a:uFillTx/>
                <a:latin typeface="Calibri" panose="020F0502020204030204"/>
                <a:ea typeface="+mn-ea"/>
                <a:cs typeface="+mn-cs"/>
              </a:rPr>
              <a:t>Acceptance Criteria: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In the following scenarios, the declaration will be rejected and a DMSREJ notificaiton issued: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above requirements are not met.</a:t>
            </a: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Codes ‘F46’ and ‘F47’ in DE 1/11 at item level on the same goods item.</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‘F46’ in DE 1/11 at item level and Additional Declaration Type in DE 1/2 at header level is 'B' or 'E’.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96928" y="2303862"/>
          <a:ext cx="11160000" cy="1425191"/>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145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503656">
                <a:tc>
                  <a:txBody>
                    <a:bodyPr/>
                    <a:lstStyle/>
                    <a:p>
                      <a:r>
                        <a:rPr lang="en-GB" sz="1200"/>
                        <a:t>Additional Procedure Code 'F46' in DE 1/11 at item level</a:t>
                      </a:r>
                    </a:p>
                  </a:txBody>
                  <a:tcPr>
                    <a:solidFill>
                      <a:srgbClr val="CBDCDB"/>
                    </a:solidFill>
                  </a:tcPr>
                </a:tc>
                <a:tc>
                  <a:txBody>
                    <a:bodyPr/>
                    <a:lstStyle/>
                    <a:p>
                      <a:r>
                        <a:rPr lang="en-GB" sz="1200"/>
                        <a:t>Must declare AI Code ‘GEN86’ in DE 2/2 at item level on the same goods item</a:t>
                      </a:r>
                    </a:p>
                  </a:txBody>
                  <a:tcPr>
                    <a:solidFill>
                      <a:srgbClr val="CBDCDB"/>
                    </a:solidFill>
                  </a:tcPr>
                </a:tc>
                <a:extLst>
                  <a:ext uri="{0D108BD9-81ED-4DB2-BD59-A6C34878D82A}">
                    <a16:rowId xmlns:a16="http://schemas.microsoft.com/office/drawing/2014/main" val="676372353"/>
                  </a:ext>
                </a:extLst>
              </a:tr>
              <a:tr h="296268">
                <a:tc>
                  <a:txBody>
                    <a:bodyPr/>
                    <a:lstStyle/>
                    <a:p>
                      <a:r>
                        <a:rPr lang="en-GB" sz="1200"/>
                        <a:t>Additional Procedure Code 'F46' in DE 1/11 and one of the following Procedure Codes in DE 1/10 at item level: ‘0151’, ‘0154’, ‘0751’, ‘0754’, ‘4051’, ‘4054’, ‘4251’, ‘4254’, ‘4451’, ‘4454’, ‘6111’</a:t>
                      </a:r>
                    </a:p>
                  </a:txBody>
                  <a:tcPr>
                    <a:solidFill>
                      <a:srgbClr val="E7EEEE"/>
                    </a:solidFill>
                  </a:tcPr>
                </a:tc>
                <a:tc>
                  <a:txBody>
                    <a:bodyPr/>
                    <a:lstStyle/>
                    <a:p>
                      <a:r>
                        <a:rPr lang="en-GB" sz="1200" dirty="0"/>
                        <a:t>Must declare Document Code ‘9WKS’ in DE 2/3 at item level on the same goods item</a:t>
                      </a:r>
                    </a:p>
                  </a:txBody>
                  <a:tcPr>
                    <a:solidFill>
                      <a:srgbClr val="E7EEEE"/>
                    </a:solidFill>
                  </a:tcPr>
                </a:tc>
                <a:extLst>
                  <a:ext uri="{0D108BD9-81ED-4DB2-BD59-A6C34878D82A}">
                    <a16:rowId xmlns:a16="http://schemas.microsoft.com/office/drawing/2014/main" val="1003652622"/>
                  </a:ext>
                </a:extLst>
              </a:tr>
            </a:tbl>
          </a:graphicData>
        </a:graphic>
      </p:graphicFrame>
    </p:spTree>
    <p:extLst>
      <p:ext uri="{BB962C8B-B14F-4D97-AF65-F5344CB8AC3E}">
        <p14:creationId xmlns:p14="http://schemas.microsoft.com/office/powerpoint/2010/main" val="158759867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34657" y="650731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4339650"/>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'1AG' and '1RD' (RoW-GB, GB-NI RL, GB-NI SPIMM)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Additional Procedure Codes ‘1AG’ and ‘1RD’ so that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traders can submit aggregated and recapitulative supplementary declarations.</a:t>
            </a: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APC ‘1AG’ or ‘1RD’ in DE 1/11 at item level, CDS will ensure one of the following authorisation validations is met: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EIDR and UKIMS-EIDR Authorisation validation should occur as per BAU.</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SDP Authorisation validation should occur as per BAU.</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In the following scenarios, the declaration will be rejected and a DMSREJ notification issued:</a:t>
            </a:r>
            <a:endParaRPr kumimoji="0" lang="it-IT"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rPr>
              <a:t>If neither of the above validations of the requirements in the table are met, the below notification will be issued.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‘1AG’ or ‘1RD’ in DE 1/11 at item level and has declared Previous Document Type ‘CLE’ and ‘SDE’ in DE 2/1 on the same declaration.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‘1AG’ or ‘1RD’ in DE 1/11 at item level and has declared Authorisation Type Codes ‘EIR’ and ‘SDE’ in DE 3/39 on the same declaration.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Additional Procedure Codes ‘1AG’ and ‘1RD’ are declared on the same declaration.</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87692" y="1796724"/>
          <a:ext cx="11160000" cy="1469278"/>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739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302521">
                <a:tc>
                  <a:txBody>
                    <a:bodyPr/>
                    <a:lstStyle/>
                    <a:p>
                      <a:r>
                        <a:rPr lang="en-GB" sz="1200"/>
                        <a:t>Additional Procedure Code ‘1AG’ in DE 1/11 at item level</a:t>
                      </a:r>
                    </a:p>
                  </a:txBody>
                  <a:tcPr>
                    <a:solidFill>
                      <a:srgbClr val="CBDCDB"/>
                    </a:solidFill>
                  </a:tcPr>
                </a:tc>
                <a:tc>
                  <a:txBody>
                    <a:bodyPr/>
                    <a:lstStyle/>
                    <a:p>
                      <a:r>
                        <a:rPr lang="en-GB" sz="1200"/>
                        <a:t>Must declare AI Code 'AGGSD' in DE 2/2 at item level on any goods item</a:t>
                      </a:r>
                    </a:p>
                  </a:txBody>
                  <a:tcPr>
                    <a:solidFill>
                      <a:srgbClr val="CBDCDB"/>
                    </a:solidFill>
                  </a:tcPr>
                </a:tc>
                <a:extLst>
                  <a:ext uri="{0D108BD9-81ED-4DB2-BD59-A6C34878D82A}">
                    <a16:rowId xmlns:a16="http://schemas.microsoft.com/office/drawing/2014/main" val="676372353"/>
                  </a:ext>
                </a:extLst>
              </a:tr>
              <a:tr h="302521">
                <a:tc>
                  <a:txBody>
                    <a:bodyPr/>
                    <a:lstStyle/>
                    <a:p>
                      <a:r>
                        <a:rPr lang="en-GB" sz="1200"/>
                        <a:t>Additional Procedure Code ‘1RD’ in DE 1/11 at item level</a:t>
                      </a:r>
                    </a:p>
                  </a:txBody>
                  <a:tcPr>
                    <a:solidFill>
                      <a:srgbClr val="E7EEEE"/>
                    </a:solidFill>
                  </a:tcPr>
                </a:tc>
                <a:tc>
                  <a:txBody>
                    <a:bodyPr/>
                    <a:lstStyle/>
                    <a:p>
                      <a:r>
                        <a:rPr lang="en-GB" sz="1200"/>
                        <a:t>Must declare AI Code 'RSDSD' in DE 2/2 at item level on any goods item</a:t>
                      </a:r>
                    </a:p>
                  </a:txBody>
                  <a:tcPr>
                    <a:solidFill>
                      <a:srgbClr val="E7EEEE"/>
                    </a:solidFill>
                  </a:tcPr>
                </a:tc>
                <a:extLst>
                  <a:ext uri="{0D108BD9-81ED-4DB2-BD59-A6C34878D82A}">
                    <a16:rowId xmlns:a16="http://schemas.microsoft.com/office/drawing/2014/main" val="1003652622"/>
                  </a:ext>
                </a:extLst>
              </a:tr>
              <a:tr h="302521">
                <a:tc>
                  <a:txBody>
                    <a:bodyPr/>
                    <a:lstStyle/>
                    <a:p>
                      <a:r>
                        <a:rPr lang="en-GB" sz="1200"/>
                        <a:t>AI Codes 'AGGSD' or 'RSDSD' in DE 2/2 at item level</a:t>
                      </a:r>
                    </a:p>
                  </a:txBody>
                  <a:tcPr>
                    <a:solidFill>
                      <a:srgbClr val="CBDCDB"/>
                    </a:solidFill>
                  </a:tcPr>
                </a:tc>
                <a:tc>
                  <a:txBody>
                    <a:bodyPr/>
                    <a:lstStyle/>
                    <a:p>
                      <a:r>
                        <a:rPr lang="en-GB" sz="1200"/>
                        <a:t>AI Code must be followed by free text information</a:t>
                      </a:r>
                    </a:p>
                  </a:txBody>
                  <a:tcPr>
                    <a:solidFill>
                      <a:srgbClr val="CBDCDB"/>
                    </a:solidFill>
                  </a:tcPr>
                </a:tc>
                <a:extLst>
                  <a:ext uri="{0D108BD9-81ED-4DB2-BD59-A6C34878D82A}">
                    <a16:rowId xmlns:a16="http://schemas.microsoft.com/office/drawing/2014/main" val="3448516837"/>
                  </a:ext>
                </a:extLst>
              </a:tr>
              <a:tr h="245929">
                <a:tc>
                  <a:txBody>
                    <a:bodyPr/>
                    <a:lstStyle/>
                    <a:p>
                      <a:r>
                        <a:rPr lang="en-GB" sz="1200"/>
                        <a:t>Additional Procedure Code '1AG' or '1RD' in DE 1/11 at item level</a:t>
                      </a:r>
                    </a:p>
                  </a:txBody>
                  <a:tcPr>
                    <a:solidFill>
                      <a:srgbClr val="E7EEEE"/>
                    </a:solidFill>
                  </a:tcPr>
                </a:tc>
                <a:tc>
                  <a:txBody>
                    <a:bodyPr/>
                    <a:lstStyle/>
                    <a:p>
                      <a:r>
                        <a:rPr lang="en-GB" sz="1200" dirty="0"/>
                        <a:t>Additional Declaration Type in DE 1/2 at header level must be ‘Y’ or ‘Z’</a:t>
                      </a:r>
                    </a:p>
                  </a:txBody>
                  <a:tcPr>
                    <a:solidFill>
                      <a:srgbClr val="E7EEEE"/>
                    </a:solidFill>
                  </a:tcPr>
                </a:tc>
                <a:extLst>
                  <a:ext uri="{0D108BD9-81ED-4DB2-BD59-A6C34878D82A}">
                    <a16:rowId xmlns:a16="http://schemas.microsoft.com/office/drawing/2014/main" val="494890619"/>
                  </a:ext>
                </a:extLst>
              </a:tr>
            </a:tbl>
          </a:graphicData>
        </a:graphic>
      </p:graphicFrame>
    </p:spTree>
    <p:extLst>
      <p:ext uri="{BB962C8B-B14F-4D97-AF65-F5344CB8AC3E}">
        <p14:creationId xmlns:p14="http://schemas.microsoft.com/office/powerpoint/2010/main" val="326926131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5292" y="649668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4370427"/>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1NR (SPIMM &amp; Non-SPIMM, GB-NI Only)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Additional Procedure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Code 1NR (DE 1/11)</a:t>
            </a:r>
            <a:endParaRPr kumimoji="0" lang="it-IT" sz="11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In the following scenarios, the declaration will be rejected and a DMSREJ notificaiton issued:</a:t>
            </a:r>
            <a:endParaRPr kumimoji="0" lang="it-IT"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requirements in the table above are not met.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‘1NR’ in DE 1/11 at item level and Additional Declaration Type 'B' or 'E' in DE 1/2 at header level.</a:t>
            </a: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1RM (SPIMM &amp; Non-SPIMM, GB-NI Only)</a:t>
            </a:r>
            <a:endParaRPr kumimoji="0" lang="it-IT" sz="1200" b="0" i="0" u="sng"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In the following scenarios, the declaration will be rejected and a DMSREJ notificaiton issued:</a:t>
            </a:r>
            <a:endParaRPr kumimoji="0" lang="it-IT"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requirements in the table above are not met.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Declaration Types 'B' or 'E' in DE 1/2</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Document Code '1RMS' is the only Document Code declared on the same goods item</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87692" y="1798745"/>
          <a:ext cx="11160000" cy="82296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52000">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252000">
                <a:tc>
                  <a:txBody>
                    <a:bodyPr/>
                    <a:lstStyle/>
                    <a:p>
                      <a:r>
                        <a:rPr lang="en-GB" sz="1200"/>
                        <a:t>Additional Procedure Code '1NR' in DE 1/11 at item level</a:t>
                      </a:r>
                    </a:p>
                  </a:txBody>
                  <a:tcPr>
                    <a:solidFill>
                      <a:srgbClr val="CBDCDB"/>
                    </a:solidFill>
                  </a:tcPr>
                </a:tc>
                <a:tc>
                  <a:txBody>
                    <a:bodyPr/>
                    <a:lstStyle/>
                    <a:p>
                      <a:r>
                        <a:rPr lang="en-GB" sz="1200"/>
                        <a:t>Must declare Declaration Type 'IM' in DE 1/1 at header level</a:t>
                      </a:r>
                    </a:p>
                  </a:txBody>
                  <a:tcPr>
                    <a:solidFill>
                      <a:srgbClr val="CBDCDB"/>
                    </a:solidFill>
                  </a:tcPr>
                </a:tc>
                <a:extLst>
                  <a:ext uri="{0D108BD9-81ED-4DB2-BD59-A6C34878D82A}">
                    <a16:rowId xmlns:a16="http://schemas.microsoft.com/office/drawing/2014/main" val="676372353"/>
                  </a:ext>
                </a:extLst>
              </a:tr>
              <a:tr h="252000">
                <a:tc>
                  <a:txBody>
                    <a:bodyPr/>
                    <a:lstStyle/>
                    <a:p>
                      <a:r>
                        <a:rPr lang="en-GB" sz="1200"/>
                        <a:t>Additional Procedure Code '1NR' in DE 1/11 at item level</a:t>
                      </a:r>
                    </a:p>
                  </a:txBody>
                  <a:tcPr>
                    <a:solidFill>
                      <a:srgbClr val="E7EEEE"/>
                    </a:solidFill>
                  </a:tcPr>
                </a:tc>
                <a:tc>
                  <a:txBody>
                    <a:bodyPr/>
                    <a:lstStyle/>
                    <a:p>
                      <a:r>
                        <a:rPr lang="en-GB" sz="1200" dirty="0"/>
                        <a:t>Must declare AI Code 'NIDOM' in DE 2/2 at item level on the same goods items</a:t>
                      </a:r>
                    </a:p>
                  </a:txBody>
                  <a:tcPr>
                    <a:solidFill>
                      <a:srgbClr val="E7EEEE"/>
                    </a:solidFill>
                  </a:tcPr>
                </a:tc>
                <a:extLst>
                  <a:ext uri="{0D108BD9-81ED-4DB2-BD59-A6C34878D82A}">
                    <a16:rowId xmlns:a16="http://schemas.microsoft.com/office/drawing/2014/main" val="1003652622"/>
                  </a:ext>
                </a:extLst>
              </a:tr>
            </a:tbl>
          </a:graphicData>
        </a:graphic>
      </p:graphicFrame>
      <p:graphicFrame>
        <p:nvGraphicFramePr>
          <p:cNvPr id="18" name="Table 17">
            <a:extLst>
              <a:ext uri="{FF2B5EF4-FFF2-40B4-BE49-F238E27FC236}">
                <a16:creationId xmlns:a16="http://schemas.microsoft.com/office/drawing/2014/main" id="{19941BF2-63F3-B412-8F9E-969628D8E891}"/>
              </a:ext>
            </a:extLst>
          </p:cNvPr>
          <p:cNvGraphicFramePr>
            <a:graphicFrameLocks noGrp="1"/>
          </p:cNvGraphicFramePr>
          <p:nvPr/>
        </p:nvGraphicFramePr>
        <p:xfrm>
          <a:off x="406585" y="3618137"/>
          <a:ext cx="11160000" cy="1147362"/>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56312">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873042">
                <a:tc>
                  <a:txBody>
                    <a:bodyPr/>
                    <a:lstStyle/>
                    <a:p>
                      <a:r>
                        <a:rPr lang="en-GB" sz="1200"/>
                        <a:t>Additional Procedure Code '1RM' in DE 1/11 at item level</a:t>
                      </a:r>
                    </a:p>
                  </a:txBody>
                  <a:tcPr>
                    <a:solidFill>
                      <a:srgbClr val="CBDCDB"/>
                    </a:solidFill>
                  </a:tcPr>
                </a:tc>
                <a:tc>
                  <a:txBody>
                    <a:bodyPr/>
                    <a:lstStyle/>
                    <a:p>
                      <a:pPr marL="285750" indent="-285750">
                        <a:buFont typeface="Arial" panose="020B0604020202020204" pitchFamily="34" charset="0"/>
                        <a:buChar char="•"/>
                      </a:pPr>
                      <a:r>
                        <a:rPr lang="en-GB" sz="1200" dirty="0"/>
                        <a:t>Must declare Declaration Type 'IM' in DE 1/1 at header level</a:t>
                      </a:r>
                    </a:p>
                    <a:p>
                      <a:pPr marL="285750" indent="-285750">
                        <a:buFont typeface="Arial" panose="020B0604020202020204" pitchFamily="34" charset="0"/>
                        <a:buChar char="•"/>
                      </a:pPr>
                      <a:r>
                        <a:rPr lang="en-GB" sz="1200" dirty="0"/>
                        <a:t>Must declare AI Code 'NIDOM' in DE 2/2 at item level on the same goods item</a:t>
                      </a:r>
                    </a:p>
                    <a:p>
                      <a:pPr marL="285750" indent="-285750">
                        <a:buFont typeface="Arial" panose="020B0604020202020204" pitchFamily="34" charset="0"/>
                        <a:buChar char="•"/>
                      </a:pPr>
                      <a:r>
                        <a:rPr lang="en-GB" sz="1200" dirty="0"/>
                        <a:t>Must declare Document Code '1RMS' in DE 2/3 at item level on the same goods item</a:t>
                      </a:r>
                    </a:p>
                  </a:txBody>
                  <a:tcPr>
                    <a:solidFill>
                      <a:srgbClr val="CBDCDB"/>
                    </a:solidFill>
                  </a:tcPr>
                </a:tc>
                <a:extLst>
                  <a:ext uri="{0D108BD9-81ED-4DB2-BD59-A6C34878D82A}">
                    <a16:rowId xmlns:a16="http://schemas.microsoft.com/office/drawing/2014/main" val="676372353"/>
                  </a:ext>
                </a:extLst>
              </a:tr>
            </a:tbl>
          </a:graphicData>
        </a:graphic>
      </p:graphicFrame>
    </p:spTree>
    <p:extLst>
      <p:ext uri="{BB962C8B-B14F-4D97-AF65-F5344CB8AC3E}">
        <p14:creationId xmlns:p14="http://schemas.microsoft.com/office/powerpoint/2010/main" val="371336618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5290"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7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3785652"/>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Document Code: 1RMS (GB-NI Declarations Only)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Document Code 1RMS (DE 2/3) so that authorised traders can benefit from facilitations granted under the Northern Ireland Retail Movement Scheme (NIRMS).</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requirements in the table above are not met, </a:t>
            </a: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the declaration will be rejected and a DMSREJ notificaiton issued.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87692" y="1913060"/>
          <a:ext cx="11160000" cy="2232001"/>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8490">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1943511">
                <a:tc>
                  <a:txBody>
                    <a:bodyPr/>
                    <a:lstStyle/>
                    <a:p>
                      <a:r>
                        <a:rPr lang="en-GB" sz="1200" b="0" i="0" kern="1200">
                          <a:solidFill>
                            <a:schemeClr val="dk1"/>
                          </a:solidFill>
                          <a:effectLst/>
                          <a:latin typeface="+mn-lt"/>
                          <a:ea typeface="+mn-ea"/>
                          <a:cs typeface="+mn-cs"/>
                        </a:rPr>
                        <a:t>Document Code ‘1RMS’ in DE 2/3 at goods items level</a:t>
                      </a:r>
                    </a:p>
                    <a:p>
                      <a:endParaRPr lang="en-GB" sz="1200"/>
                    </a:p>
                  </a:txBody>
                  <a:tcPr>
                    <a:solidFill>
                      <a:srgbClr val="CBDCDB"/>
                    </a:solidFill>
                  </a:tcPr>
                </a:tc>
                <a:tc>
                  <a:txBody>
                    <a:bodyPr/>
                    <a:lstStyle/>
                    <a:p>
                      <a:pPr marL="285750" indent="-285750">
                        <a:buFont typeface="Arial" panose="020B0604020202020204" pitchFamily="34" charset="0"/>
                        <a:buChar char="•"/>
                      </a:pPr>
                      <a:r>
                        <a:rPr lang="en-GB" sz="1200" b="0" i="0" kern="1200" dirty="0">
                          <a:solidFill>
                            <a:schemeClr val="dk1"/>
                          </a:solidFill>
                          <a:effectLst/>
                          <a:latin typeface="+mn-lt"/>
                          <a:ea typeface="+mn-ea"/>
                          <a:cs typeface="+mn-cs"/>
                        </a:rPr>
                        <a:t>Declaration of a "Document Identifier" in sub-field (DE 2/3) against the Document Code ‘1RMS’ in DE 2/3. (Note: Document Status Code and Document Reason are not required).</a:t>
                      </a:r>
                    </a:p>
                    <a:p>
                      <a:pPr marL="285750" indent="-285750">
                        <a:buFont typeface="Arial" panose="020B0604020202020204" pitchFamily="34" charset="0"/>
                        <a:buChar char="•"/>
                      </a:pPr>
                      <a:r>
                        <a:rPr lang="en-GB" sz="1200" b="0" i="0" kern="1200" dirty="0">
                          <a:solidFill>
                            <a:schemeClr val="dk1"/>
                          </a:solidFill>
                          <a:effectLst/>
                          <a:latin typeface="+mn-lt"/>
                          <a:ea typeface="+mn-ea"/>
                          <a:cs typeface="+mn-cs"/>
                        </a:rPr>
                        <a:t>An EORI is declared in DE 3/16 (Importer Identification Number) at header level.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kern="1200" dirty="0">
                          <a:solidFill>
                            <a:schemeClr val="dk1"/>
                          </a:solidFill>
                          <a:effectLst/>
                          <a:latin typeface="+mn-lt"/>
                          <a:ea typeface="+mn-ea"/>
                          <a:cs typeface="+mn-cs"/>
                        </a:rPr>
                        <a:t>DE 3/15 is not populated.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kern="1200" dirty="0">
                          <a:solidFill>
                            <a:schemeClr val="dk1"/>
                          </a:solidFill>
                          <a:effectLst/>
                          <a:latin typeface="+mn-lt"/>
                          <a:ea typeface="+mn-ea"/>
                          <a:cs typeface="+mn-cs"/>
                        </a:rPr>
                        <a:t>Declaration of Authorisation type code 'NIRM', followed by an EORI (Holder of the Authorisation Identification Number) in DE 3/39 at header level.</a:t>
                      </a:r>
                    </a:p>
                  </a:txBody>
                  <a:tcPr>
                    <a:solidFill>
                      <a:srgbClr val="CBDCDB"/>
                    </a:solidFill>
                  </a:tcPr>
                </a:tc>
                <a:extLst>
                  <a:ext uri="{0D108BD9-81ED-4DB2-BD59-A6C34878D82A}">
                    <a16:rowId xmlns:a16="http://schemas.microsoft.com/office/drawing/2014/main" val="676372353"/>
                  </a:ext>
                </a:extLst>
              </a:tr>
            </a:tbl>
          </a:graphicData>
        </a:graphic>
      </p:graphicFrame>
    </p:spTree>
    <p:extLst>
      <p:ext uri="{BB962C8B-B14F-4D97-AF65-F5344CB8AC3E}">
        <p14:creationId xmlns:p14="http://schemas.microsoft.com/office/powerpoint/2010/main" val="88481957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3747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83099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SPIMM Specific </a:t>
            </a:r>
            <a:r>
              <a:rPr kumimoji="0" lang="en-GB" sz="12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Validation for APC  (1RM)</a:t>
            </a: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SPIMM specific validation will take place for APCs that can be used for </a:t>
            </a:r>
            <a:r>
              <a:rPr kumimoji="0" lang="en-GB" sz="1200" b="0" i="0" u="none" strike="noStrike" kern="0" cap="none" spc="0" normalizeH="0" baseline="0" noProof="0" err="1">
                <a:ln>
                  <a:noFill/>
                </a:ln>
                <a:solidFill>
                  <a:srgbClr val="000000"/>
                </a:solidFill>
                <a:effectLst/>
                <a:uLnTx/>
                <a:uFillTx/>
                <a:latin typeface="Calibri" panose="020F0502020204030204"/>
                <a:ea typeface="Calibri" panose="020F0502020204030204"/>
                <a:cs typeface="Calibri" panose="020F0502020204030204"/>
              </a:rPr>
              <a:t>RoW</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-GB, </a:t>
            </a:r>
            <a:r>
              <a:rPr kumimoji="0" lang="en-GB" sz="1200" b="0" i="0" u="none" strike="noStrike" kern="0" cap="none" spc="0" normalizeH="0" baseline="0" noProof="0" err="1">
                <a:ln>
                  <a:noFill/>
                </a:ln>
                <a:solidFill>
                  <a:srgbClr val="000000"/>
                </a:solidFill>
                <a:effectLst/>
                <a:uLnTx/>
                <a:uFillTx/>
                <a:latin typeface="Calibri" panose="020F0502020204030204"/>
                <a:ea typeface="Calibri" panose="020F0502020204030204"/>
                <a:cs typeface="Calibri" panose="020F0502020204030204"/>
              </a:rPr>
              <a:t>RoW</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-NI, GB-NI journeys as appropriate.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pitchFamily="34" charset="0"/>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or </a:t>
            </a:r>
            <a:r>
              <a:rPr kumimoji="0" lang="en-GB" sz="1200" b="0" i="0" u="none" strike="noStrike" kern="0" cap="none" spc="0" normalizeH="0" baseline="0" noProof="0">
                <a:ln>
                  <a:noFill/>
                </a:ln>
                <a:solidFill>
                  <a:srgbClr val="000000"/>
                </a:solidFill>
                <a:effectLst/>
                <a:uLnTx/>
                <a:uFillTx/>
                <a:latin typeface="Calibri" panose="020F0502020204030204" pitchFamily="34" charset="0"/>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560A5B54-EEB0-EB6F-23D8-02694A277297}"/>
              </a:ext>
            </a:extLst>
          </p:cNvPr>
          <p:cNvGraphicFramePr>
            <a:graphicFrameLocks noGrp="1"/>
          </p:cNvGraphicFramePr>
          <p:nvPr/>
        </p:nvGraphicFramePr>
        <p:xfrm>
          <a:off x="486420" y="2353318"/>
          <a:ext cx="11160000" cy="710656"/>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3387">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272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Trader declares APC '1RM'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APC 1SG must be declared in DE 1/11 at item level on the same goods item. </a:t>
                      </a:r>
                    </a:p>
                  </a:txBody>
                  <a:tcPr>
                    <a:solidFill>
                      <a:srgbClr val="CBDCDB"/>
                    </a:solidFill>
                  </a:tcPr>
                </a:tc>
                <a:extLst>
                  <a:ext uri="{0D108BD9-81ED-4DB2-BD59-A6C34878D82A}">
                    <a16:rowId xmlns:a16="http://schemas.microsoft.com/office/drawing/2014/main" val="220780970"/>
                  </a:ext>
                </a:extLst>
              </a:tr>
            </a:tbl>
          </a:graphicData>
        </a:graphic>
      </p:graphicFrame>
      <p:sp>
        <p:nvSpPr>
          <p:cNvPr id="9" name="TextBox 8">
            <a:extLst>
              <a:ext uri="{FF2B5EF4-FFF2-40B4-BE49-F238E27FC236}">
                <a16:creationId xmlns:a16="http://schemas.microsoft.com/office/drawing/2014/main" id="{C18F7497-3906-4099-315C-3B419ACF121C}"/>
              </a:ext>
            </a:extLst>
          </p:cNvPr>
          <p:cNvSpPr txBox="1"/>
          <p:nvPr/>
        </p:nvSpPr>
        <p:spPr>
          <a:xfrm>
            <a:off x="470818" y="3044267"/>
            <a:ext cx="11138263"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8" name="Table 7">
            <a:extLst>
              <a:ext uri="{FF2B5EF4-FFF2-40B4-BE49-F238E27FC236}">
                <a16:creationId xmlns:a16="http://schemas.microsoft.com/office/drawing/2014/main" id="{F3987734-1C69-D3B4-A86C-016392957DEC}"/>
              </a:ext>
            </a:extLst>
          </p:cNvPr>
          <p:cNvGraphicFramePr>
            <a:graphicFrameLocks noGrp="1"/>
          </p:cNvGraphicFramePr>
          <p:nvPr/>
        </p:nvGraphicFramePr>
        <p:xfrm>
          <a:off x="486420" y="3574585"/>
          <a:ext cx="11160000" cy="56400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969563906"/>
                    </a:ext>
                  </a:extLst>
                </a:gridCol>
              </a:tblGrid>
              <a:tr h="282000">
                <a:tc>
                  <a:txBody>
                    <a:bodyPr/>
                    <a:lstStyle/>
                    <a:p>
                      <a:r>
                        <a:rPr lang="en-GB" sz="1200"/>
                        <a:t>Additional Conditions That Will Cause a Rejection:</a:t>
                      </a:r>
                    </a:p>
                  </a:txBody>
                  <a:tcPr>
                    <a:solidFill>
                      <a:srgbClr val="009999"/>
                    </a:solidFill>
                  </a:tcPr>
                </a:tc>
                <a:extLst>
                  <a:ext uri="{0D108BD9-81ED-4DB2-BD59-A6C34878D82A}">
                    <a16:rowId xmlns:a16="http://schemas.microsoft.com/office/drawing/2014/main" val="1166717996"/>
                  </a:ext>
                </a:extLst>
              </a:tr>
              <a:tr h="282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ea typeface="Calibri" panose="020F0502020204030204"/>
                          <a:cs typeface="Calibri" panose="020F0502020204030204"/>
                        </a:rPr>
                        <a:t>Trader declares one of the following Additional Procedure Codes at item level on the same goods item: '1LG', '1EL', '1EN', at item level on the same goods item as APC '1RM'.</a:t>
                      </a:r>
                    </a:p>
                  </a:txBody>
                  <a:tcPr>
                    <a:solidFill>
                      <a:srgbClr val="E7EEEE"/>
                    </a:solidFill>
                  </a:tcPr>
                </a:tc>
                <a:extLst>
                  <a:ext uri="{0D108BD9-81ED-4DB2-BD59-A6C34878D82A}">
                    <a16:rowId xmlns:a16="http://schemas.microsoft.com/office/drawing/2014/main" val="1823881163"/>
                  </a:ext>
                </a:extLst>
              </a:tr>
            </a:tbl>
          </a:graphicData>
        </a:graphic>
      </p:graphicFrame>
    </p:spTree>
    <p:extLst>
      <p:ext uri="{BB962C8B-B14F-4D97-AF65-F5344CB8AC3E}">
        <p14:creationId xmlns:p14="http://schemas.microsoft.com/office/powerpoint/2010/main" val="361585853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24024"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3231654"/>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sng" strike="noStrike" kern="1200" cap="none" spc="0" normalizeH="0" baseline="0" noProof="0">
                <a:ln>
                  <a:noFill/>
                </a:ln>
                <a:solidFill>
                  <a:prstClr val="black"/>
                </a:solidFill>
                <a:effectLst/>
                <a:uLnTx/>
                <a:uFillTx/>
                <a:latin typeface="Calibri" panose="020F0502020204030204"/>
                <a:ea typeface="+mn-ea"/>
                <a:cs typeface="+mn-cs"/>
              </a:rPr>
              <a:t>Additional Procedure Code: 1AR (Non-SPIMM, GB-NI Declarations Only)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Validation will be introduced against Additional Procedure Code ‘1AR’ (DE 1/11) so that authorised traders can enter Special Procedures in NI where the ‘At Risk’ status of the Goods are to be determined. </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t-IT"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In the following scenarios, the declaration will be rejected and a DMSREJ notificaiton issued:</a:t>
            </a:r>
            <a:endParaRPr kumimoji="0" lang="it-IT"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it-IT" sz="1200" b="0" i="0" u="none" strike="noStrike" kern="1200" cap="none" spc="0" normalizeH="0" baseline="0" noProof="0">
                <a:ln>
                  <a:noFill/>
                </a:ln>
                <a:solidFill>
                  <a:prstClr val="black"/>
                </a:solidFill>
                <a:effectLst/>
                <a:uLnTx/>
                <a:uFillTx/>
                <a:latin typeface="Calibri" panose="020F0502020204030204"/>
                <a:ea typeface="+mn-ea"/>
                <a:cs typeface="+mn-cs"/>
              </a:rPr>
              <a:t>If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any of the requirements in the table above are not met.</a:t>
            </a:r>
            <a:endParaRPr kumimoji="0"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 trader declares Additional Procedure Code ‘1AR’ in DE 1/11 at item level and Additional Declaration Type 'B' or 'E' in DE 1/2 at header level.</a:t>
            </a:r>
            <a:endPar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7" name="Table 16">
            <a:extLst>
              <a:ext uri="{FF2B5EF4-FFF2-40B4-BE49-F238E27FC236}">
                <a16:creationId xmlns:a16="http://schemas.microsoft.com/office/drawing/2014/main" id="{542FAE00-B640-2D04-A9B6-6B8FCFAF0835}"/>
              </a:ext>
            </a:extLst>
          </p:cNvPr>
          <p:cNvGraphicFramePr>
            <a:graphicFrameLocks noGrp="1"/>
          </p:cNvGraphicFramePr>
          <p:nvPr/>
        </p:nvGraphicFramePr>
        <p:xfrm>
          <a:off x="387692" y="1913060"/>
          <a:ext cx="11160000" cy="126131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8490">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683265">
                <a:tc>
                  <a:txBody>
                    <a:bodyPr/>
                    <a:lstStyle/>
                    <a:p>
                      <a:r>
                        <a:rPr lang="en-GB" sz="1200"/>
                        <a:t>Additional Procedure Code ‘1AR’ in DE 1/11 at item level</a:t>
                      </a:r>
                    </a:p>
                  </a:txBody>
                  <a:tcPr>
                    <a:solidFill>
                      <a:srgbClr val="CBDCDB"/>
                    </a:solidFill>
                  </a:tcPr>
                </a:tc>
                <a:tc>
                  <a:txBody>
                    <a:bodyPr/>
                    <a:lstStyle/>
                    <a:p>
                      <a:r>
                        <a:rPr lang="en-GB" sz="1200"/>
                        <a:t>Must declare Declaration Type 'IM' in DE 1/1 at header level</a:t>
                      </a:r>
                      <a:endParaRPr lang="en-GB" sz="1200" b="0" i="0" kern="1200">
                        <a:solidFill>
                          <a:schemeClr val="dk1"/>
                        </a:solidFill>
                        <a:effectLst/>
                        <a:latin typeface="+mn-lt"/>
                        <a:ea typeface="+mn-ea"/>
                        <a:cs typeface="+mn-cs"/>
                      </a:endParaRPr>
                    </a:p>
                  </a:txBody>
                  <a:tcPr>
                    <a:solidFill>
                      <a:srgbClr val="CBDCDB"/>
                    </a:solidFill>
                  </a:tcPr>
                </a:tc>
                <a:extLst>
                  <a:ext uri="{0D108BD9-81ED-4DB2-BD59-A6C34878D82A}">
                    <a16:rowId xmlns:a16="http://schemas.microsoft.com/office/drawing/2014/main" val="676372353"/>
                  </a:ext>
                </a:extLst>
              </a:tr>
              <a:tr h="288490">
                <a:tc>
                  <a:txBody>
                    <a:bodyPr/>
                    <a:lstStyle/>
                    <a:p>
                      <a:r>
                        <a:rPr lang="en-GB" sz="1200"/>
                        <a:t>Additional Procedure Code ‘1AR’ in DE 1/11 at item level</a:t>
                      </a:r>
                    </a:p>
                  </a:txBody>
                  <a:tcPr>
                    <a:solidFill>
                      <a:srgbClr val="E7EEEE"/>
                    </a:solidFill>
                  </a:tcPr>
                </a:tc>
                <a:tc>
                  <a:txBody>
                    <a:bodyPr/>
                    <a:lstStyle/>
                    <a:p>
                      <a:r>
                        <a:rPr lang="en-GB" sz="1200" dirty="0"/>
                        <a:t>Must declare AI Code 'NIDOM' in DE 2/2 at item level on the same goods items</a:t>
                      </a:r>
                      <a:endParaRPr lang="en-GB" sz="1200" b="0" i="0" kern="1200" dirty="0">
                        <a:solidFill>
                          <a:schemeClr val="dk1"/>
                        </a:solidFill>
                        <a:effectLst/>
                        <a:latin typeface="+mn-lt"/>
                        <a:ea typeface="+mn-ea"/>
                        <a:cs typeface="+mn-cs"/>
                      </a:endParaRPr>
                    </a:p>
                  </a:txBody>
                  <a:tcPr>
                    <a:solidFill>
                      <a:srgbClr val="E7EEEE"/>
                    </a:solidFill>
                  </a:tcPr>
                </a:tc>
                <a:extLst>
                  <a:ext uri="{0D108BD9-81ED-4DB2-BD59-A6C34878D82A}">
                    <a16:rowId xmlns:a16="http://schemas.microsoft.com/office/drawing/2014/main" val="1003652622"/>
                  </a:ext>
                </a:extLst>
              </a:tr>
            </a:tbl>
          </a:graphicData>
        </a:graphic>
      </p:graphicFrame>
    </p:spTree>
    <p:extLst>
      <p:ext uri="{BB962C8B-B14F-4D97-AF65-F5344CB8AC3E}">
        <p14:creationId xmlns:p14="http://schemas.microsoft.com/office/powerpoint/2010/main" val="79036621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5290"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4154984"/>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sng" strike="noStrike" kern="1200" cap="none" spc="0" normalizeH="0" baseline="0" noProof="0" err="1">
                <a:ln>
                  <a:noFill/>
                </a:ln>
                <a:solidFill>
                  <a:prstClr val="black"/>
                </a:solidFill>
                <a:effectLst/>
                <a:uLnTx/>
                <a:uFillTx/>
                <a:latin typeface="Calibri" panose="020F0502020204030204"/>
                <a:ea typeface="+mn-ea"/>
                <a:cs typeface="+mn-cs"/>
              </a:rPr>
              <a:t>Spimm</a:t>
            </a: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 and Non-SPIMM Declarations</a:t>
            </a:r>
          </a:p>
          <a:p>
            <a:pPr marL="0" marR="0" lvl="0" indent="0" algn="l" defTabSz="914400" rtl="0" eaLnBrk="0" fontAlgn="base" latinLnBrk="0" hangingPunct="0">
              <a:lnSpc>
                <a:spcPct val="100000"/>
              </a:lnSpc>
              <a:spcBef>
                <a:spcPct val="0"/>
              </a:spcBef>
              <a:spcAft>
                <a:spcPct val="0"/>
              </a:spcAft>
              <a:buClrTx/>
              <a:buSzTx/>
              <a:buFontTx/>
              <a:buNone/>
              <a:tabLst/>
              <a:defRPr/>
            </a:pPr>
            <a:b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altLang="en-US" sz="1200" b="0" i="0" u="sng" strike="noStrike" kern="1200" cap="none" spc="0" normalizeH="0" baseline="0" noProof="0">
                <a:ln>
                  <a:noFill/>
                </a:ln>
                <a:solidFill>
                  <a:prstClr val="black"/>
                </a:solidFill>
                <a:effectLst/>
                <a:uLnTx/>
                <a:uFillTx/>
                <a:latin typeface="Calibri" panose="020F0502020204030204"/>
                <a:ea typeface="+mn-ea"/>
                <a:cs typeface="+mn-cs"/>
              </a:rPr>
              <a:t>Commodity Code Length</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sng" strike="noStrike" kern="1200" cap="none" spc="0" normalizeH="0" baseline="0" noProof="0">
                <a:ln>
                  <a:noFill/>
                </a:ln>
                <a:solidFill>
                  <a:prstClr val="black"/>
                </a:solidFill>
                <a:effectLst/>
                <a:uLnTx/>
                <a:uFillTx/>
                <a:latin typeface="Calibri" panose="020F0502020204030204"/>
                <a:ea typeface="+mn-ea"/>
                <a:cs typeface="+mn-cs"/>
              </a:rPr>
              <a:t>Tariff Validation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SPIMM Declarations will not be sent to the Tariff for validation. Where a trader has declared AI Code 1SG, 1LG, 1EL or 1EN in DE 1/11 at goods item level, CDS will not send the declaration to Tariff for validation.</a:t>
            </a:r>
            <a:b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 </a:t>
            </a: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endParaRPr kumimoji="0" lang="fr-FR" sz="1200" b="0" i="0" u="none" strike="noStrike" kern="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7" name="Rectangle 1">
            <a:extLst>
              <a:ext uri="{FF2B5EF4-FFF2-40B4-BE49-F238E27FC236}">
                <a16:creationId xmlns:a16="http://schemas.microsoft.com/office/drawing/2014/main" id="{CC798EE8-E44F-ABA8-11A6-5477B28A53AA}"/>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8" name="Table 17">
            <a:extLst>
              <a:ext uri="{FF2B5EF4-FFF2-40B4-BE49-F238E27FC236}">
                <a16:creationId xmlns:a16="http://schemas.microsoft.com/office/drawing/2014/main" id="{81C4EBD4-A89F-E9B2-E307-6BAB64749548}"/>
              </a:ext>
            </a:extLst>
          </p:cNvPr>
          <p:cNvGraphicFramePr>
            <a:graphicFrameLocks noGrp="1"/>
          </p:cNvGraphicFramePr>
          <p:nvPr/>
        </p:nvGraphicFramePr>
        <p:xfrm>
          <a:off x="387692" y="1959240"/>
          <a:ext cx="11160000" cy="1548735"/>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8490">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683265">
                <a:tc>
                  <a:txBody>
                    <a:bodyPr/>
                    <a:lstStyle/>
                    <a:p>
                      <a:r>
                        <a:rPr lang="en-GB" sz="1200"/>
                        <a:t>Declaration Type 'A', 'D', 'Y', 'Z' in DE 1/2 and APC '1SG' in DE 1/11</a:t>
                      </a:r>
                    </a:p>
                  </a:txBody>
                  <a:tcPr>
                    <a:solidFill>
                      <a:srgbClr val="CBDCDB"/>
                    </a:solidFill>
                  </a:tcPr>
                </a:tc>
                <a:tc>
                  <a:txBody>
                    <a:bodyPr/>
                    <a:lstStyle/>
                    <a:p>
                      <a:r>
                        <a:rPr lang="en-GB" sz="1200"/>
                        <a:t>Must declare a Commodity Code in DE 6/14 with a minimum of six digits</a:t>
                      </a:r>
                      <a:endParaRPr lang="en-GB" sz="1200" b="0" i="0" kern="1200">
                        <a:solidFill>
                          <a:schemeClr val="dk1"/>
                        </a:solidFill>
                        <a:effectLst/>
                        <a:latin typeface="+mn-lt"/>
                        <a:ea typeface="+mn-ea"/>
                        <a:cs typeface="+mn-cs"/>
                      </a:endParaRPr>
                    </a:p>
                  </a:txBody>
                  <a:tcPr>
                    <a:solidFill>
                      <a:srgbClr val="CBDCDB"/>
                    </a:solidFill>
                  </a:tcPr>
                </a:tc>
                <a:extLst>
                  <a:ext uri="{0D108BD9-81ED-4DB2-BD59-A6C34878D82A}">
                    <a16:rowId xmlns:a16="http://schemas.microsoft.com/office/drawing/2014/main" val="676372353"/>
                  </a:ext>
                </a:extLst>
              </a:tr>
              <a:tr h="288490">
                <a:tc>
                  <a:txBody>
                    <a:bodyPr/>
                    <a:lstStyle/>
                    <a:p>
                      <a:r>
                        <a:rPr lang="en-GB" sz="1200"/>
                        <a:t>Declaration Type 'A', 'C', 'D', 'F', 'Y' in DE 1/2 and APC '1LG' or '1EL' in DE 1/11</a:t>
                      </a:r>
                    </a:p>
                  </a:txBody>
                  <a:tcPr>
                    <a:solidFill>
                      <a:srgbClr val="E7EEEE"/>
                    </a:solidFill>
                  </a:tcPr>
                </a:tc>
                <a:tc>
                  <a:txBody>
                    <a:bodyPr/>
                    <a:lstStyle/>
                    <a:p>
                      <a:r>
                        <a:rPr lang="en-GB" sz="1200"/>
                        <a:t>Must declare a Commodity Code in DE 6/14 with a minimum of eight digits</a:t>
                      </a:r>
                      <a:endParaRPr lang="en-GB" sz="1200" b="0" i="0" kern="1200">
                        <a:solidFill>
                          <a:schemeClr val="dk1"/>
                        </a:solidFill>
                        <a:effectLst/>
                        <a:latin typeface="+mn-lt"/>
                        <a:ea typeface="+mn-ea"/>
                        <a:cs typeface="+mn-cs"/>
                      </a:endParaRPr>
                    </a:p>
                  </a:txBody>
                  <a:tcPr>
                    <a:solidFill>
                      <a:srgbClr val="E7EEEE"/>
                    </a:solidFill>
                  </a:tcPr>
                </a:tc>
                <a:extLst>
                  <a:ext uri="{0D108BD9-81ED-4DB2-BD59-A6C34878D82A}">
                    <a16:rowId xmlns:a16="http://schemas.microsoft.com/office/drawing/2014/main" val="1003652622"/>
                  </a:ext>
                </a:extLst>
              </a:tr>
              <a:tr h="288490">
                <a:tc>
                  <a:txBody>
                    <a:bodyPr/>
                    <a:lstStyle/>
                    <a:p>
                      <a:r>
                        <a:rPr lang="en-GB" sz="1200"/>
                        <a:t>Declaration Type 'A', 'C', 'D', 'F', 'J', 'K', 'Y', 'Z' in DE 1/2 and APC '1EN' in DE 1/11</a:t>
                      </a:r>
                    </a:p>
                  </a:txBody>
                  <a:tcPr>
                    <a:solidFill>
                      <a:srgbClr val="E7EEEE"/>
                    </a:solidFill>
                  </a:tcPr>
                </a:tc>
                <a:tc>
                  <a:txBody>
                    <a:bodyPr/>
                    <a:lstStyle/>
                    <a:p>
                      <a:r>
                        <a:rPr lang="en-GB" sz="1200" dirty="0"/>
                        <a:t>Must declare a Commodity Code in DE 6/14 with a minimum of eight digits</a:t>
                      </a:r>
                      <a:endParaRPr lang="en-GB" sz="1200" b="0" i="0" kern="1200" dirty="0">
                        <a:solidFill>
                          <a:schemeClr val="dk1"/>
                        </a:solidFill>
                        <a:effectLst/>
                        <a:latin typeface="+mn-lt"/>
                        <a:ea typeface="+mn-ea"/>
                        <a:cs typeface="+mn-cs"/>
                      </a:endParaRPr>
                    </a:p>
                  </a:txBody>
                  <a:tcPr>
                    <a:solidFill>
                      <a:srgbClr val="E7EEEE"/>
                    </a:solidFill>
                  </a:tcPr>
                </a:tc>
                <a:extLst>
                  <a:ext uri="{0D108BD9-81ED-4DB2-BD59-A6C34878D82A}">
                    <a16:rowId xmlns:a16="http://schemas.microsoft.com/office/drawing/2014/main" val="4252939373"/>
                  </a:ext>
                </a:extLst>
              </a:tr>
            </a:tbl>
          </a:graphicData>
        </a:graphic>
      </p:graphicFrame>
    </p:spTree>
    <p:extLst>
      <p:ext uri="{BB962C8B-B14F-4D97-AF65-F5344CB8AC3E}">
        <p14:creationId xmlns:p14="http://schemas.microsoft.com/office/powerpoint/2010/main" val="231546690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34657"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138499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sng" strike="noStrike" kern="1200" cap="none" spc="0" normalizeH="0" baseline="0" noProof="0">
                <a:ln>
                  <a:noFill/>
                </a:ln>
                <a:solidFill>
                  <a:prstClr val="black"/>
                </a:solidFill>
                <a:effectLst/>
                <a:uLnTx/>
                <a:uFillTx/>
                <a:latin typeface="Calibri" panose="020F0502020204030204"/>
                <a:ea typeface="+mn-ea"/>
                <a:cs typeface="+mn-cs"/>
              </a:rPr>
              <a:t>Windsor Framework GB-NI SPIMM Movements – Extending Functionality to Additional Datasets</a:t>
            </a:r>
          </a:p>
          <a:p>
            <a:pPr marL="0" marR="0" lvl="0" indent="0" algn="l" defTabSz="914400" rtl="0" eaLnBrk="0" fontAlgn="base" latinLnBrk="0" hangingPunct="0">
              <a:lnSpc>
                <a:spcPct val="100000"/>
              </a:lnSpc>
              <a:spcBef>
                <a:spcPct val="0"/>
              </a:spcBef>
              <a:spcAft>
                <a:spcPct val="0"/>
              </a:spcAft>
              <a:buClrTx/>
              <a:buSzTx/>
              <a:buFontTx/>
              <a:buNone/>
              <a:tabLst/>
              <a:defRPr/>
            </a:pPr>
            <a:b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mn-cs"/>
              </a:rPr>
              <a:t>H8 GB-NI SPIMM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Movements functionality was made available to test in Trade Test and Trader Dress Rehearsal from TTM27.0/TDR4.5.0 before use in Production from TTM28.0/CDS 4.6.0; TTM27.0 can be found in the Technical Documentation zip file on the Developer Hub.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a:rPr>
              <a:t>The H8 dataset is part of a full Windsor Framework package. From CDS 4.6.0, some of this functionality will be extended to include the remaining datasets: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 I1 C&amp;F,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 EIDR NOP, </a:t>
            </a:r>
            <a:r>
              <a:rPr kumimoji="0" lang="en-GB" sz="1200" b="0" i="0" u="none" strike="noStrike" kern="1200" cap="none" spc="0" normalizeH="0" baseline="0" noProof="0">
                <a:ln>
                  <a:noFill/>
                </a:ln>
                <a:solidFill>
                  <a:prstClr val="black"/>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 C21i. </a:t>
            </a:r>
            <a:endParaRPr kumimoji="0" lang="fr-FR" sz="1200" b="0" i="0" u="none" strike="noStrike" kern="0" cap="none" spc="0" normalizeH="0" baseline="0" noProof="0">
              <a:ln>
                <a:noFill/>
              </a:ln>
              <a:solidFill>
                <a:prstClr val="black"/>
              </a:solidFill>
              <a:effectLst/>
              <a:uLnTx/>
              <a:uFillTx/>
              <a:latin typeface="Calibri" panose="020F0502020204030204"/>
              <a:ea typeface="+mn-ea"/>
              <a:cs typeface="Calibri" panose="020F0502020204030204"/>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7" name="Rectangle 1">
            <a:extLst>
              <a:ext uri="{FF2B5EF4-FFF2-40B4-BE49-F238E27FC236}">
                <a16:creationId xmlns:a16="http://schemas.microsoft.com/office/drawing/2014/main" id="{CC798EE8-E44F-ABA8-11A6-5477B28A53AA}"/>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1997666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24025" y="6496684"/>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1200329"/>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FR" sz="1200" b="0" i="0" u="sng" strike="noStrike" kern="0" cap="none" spc="0" normalizeH="0" baseline="0" noProof="0" err="1">
                <a:ln>
                  <a:noFill/>
                </a:ln>
                <a:solidFill>
                  <a:prstClr val="black"/>
                </a:solidFill>
                <a:effectLst/>
                <a:uLnTx/>
                <a:uFillTx/>
                <a:latin typeface="Calibri" panose="020F0502020204030204"/>
                <a:ea typeface="+mn-ea"/>
                <a:cs typeface="Calibri" panose="020F0502020204030204"/>
              </a:rPr>
              <a:t>Deriving</a:t>
            </a:r>
            <a:r>
              <a:rPr kumimoji="0" lang="fr-FR" sz="1200" b="0" i="0" u="sng" strike="noStrike" kern="0" cap="none" spc="0" normalizeH="0" baseline="0" noProof="0">
                <a:ln>
                  <a:noFill/>
                </a:ln>
                <a:solidFill>
                  <a:prstClr val="black"/>
                </a:solidFill>
                <a:effectLst/>
                <a:uLnTx/>
                <a:uFillTx/>
                <a:latin typeface="Calibri" panose="020F0502020204030204"/>
                <a:ea typeface="+mn-ea"/>
                <a:cs typeface="Calibri" panose="020F0502020204030204"/>
              </a:rPr>
              <a:t> SPIMM </a:t>
            </a:r>
            <a:r>
              <a:rPr kumimoji="0" lang="fr-FR" sz="1200" b="0" i="0" u="sng" strike="noStrike" kern="0" cap="none" spc="0" normalizeH="0" baseline="0" noProof="0" err="1">
                <a:ln>
                  <a:noFill/>
                </a:ln>
                <a:solidFill>
                  <a:prstClr val="black"/>
                </a:solidFill>
                <a:effectLst/>
                <a:uLnTx/>
                <a:uFillTx/>
                <a:latin typeface="Calibri" panose="020F0502020204030204"/>
                <a:ea typeface="+mn-ea"/>
                <a:cs typeface="Calibri" panose="020F0502020204030204"/>
              </a:rPr>
              <a:t>APCs</a:t>
            </a:r>
            <a:r>
              <a:rPr kumimoji="0" lang="fr-FR" sz="1200" b="0" i="0" u="sng" strike="noStrike" kern="0" cap="none" spc="0" normalizeH="0" baseline="0" noProof="0">
                <a:ln>
                  <a:noFill/>
                </a:ln>
                <a:solidFill>
                  <a:prstClr val="black"/>
                </a:solidFill>
                <a:effectLst/>
                <a:uLnTx/>
                <a:uFillTx/>
                <a:latin typeface="Calibri" panose="020F0502020204030204"/>
                <a:ea typeface="+mn-ea"/>
                <a:cs typeface="Calibri" panose="020F0502020204030204"/>
              </a:rPr>
              <a:t>: 61G, 62G, 63G</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SPIMM APC ‘61G, ‘62G’ or ’63G’ (DE 1/11).</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Pre-requisite:</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Trader has declared at least one of APCs: ‘61G’, ‘62G’ or ‘63G’ in DE 1/11 at goods item level for Additional Declaration Type J, K.</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172B4D"/>
              </a:solidFill>
              <a:effectLst/>
              <a:uLnTx/>
              <a:uFillTx/>
              <a:latin typeface="-apple-system"/>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7" name="Rectangle 1">
            <a:extLst>
              <a:ext uri="{FF2B5EF4-FFF2-40B4-BE49-F238E27FC236}">
                <a16:creationId xmlns:a16="http://schemas.microsoft.com/office/drawing/2014/main" id="{CC798EE8-E44F-ABA8-11A6-5477B28A53AA}"/>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9" name="Table 18">
            <a:extLst>
              <a:ext uri="{FF2B5EF4-FFF2-40B4-BE49-F238E27FC236}">
                <a16:creationId xmlns:a16="http://schemas.microsoft.com/office/drawing/2014/main" id="{6B34AB1A-CF01-290D-BB14-BB98F7C46B04}"/>
              </a:ext>
            </a:extLst>
          </p:cNvPr>
          <p:cNvGraphicFramePr>
            <a:graphicFrameLocks noGrp="1"/>
          </p:cNvGraphicFramePr>
          <p:nvPr/>
        </p:nvGraphicFramePr>
        <p:xfrm>
          <a:off x="463874" y="2180668"/>
          <a:ext cx="11160000" cy="1917124"/>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0537">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556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APC '61G', ‘62G’ or ‘63G’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Procedure Code ‘0006’ in DE 1/10 at item level on the same goods item</a:t>
                      </a:r>
                    </a:p>
                  </a:txBody>
                  <a:tcPr>
                    <a:solidFill>
                      <a:srgbClr val="CBDCDB"/>
                    </a:solidFill>
                  </a:tcPr>
                </a:tc>
                <a:extLst>
                  <a:ext uri="{0D108BD9-81ED-4DB2-BD59-A6C34878D82A}">
                    <a16:rowId xmlns:a16="http://schemas.microsoft.com/office/drawing/2014/main" val="220780970"/>
                  </a:ext>
                </a:extLst>
              </a:tr>
              <a:tr h="4556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APC ‘61G’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APC ‘62G’ or ‘63G’ in DE 1/11 at item level on the same goods item</a:t>
                      </a:r>
                    </a:p>
                  </a:txBody>
                  <a:tcPr>
                    <a:solidFill>
                      <a:srgbClr val="CBDCDB"/>
                    </a:solidFill>
                  </a:tcPr>
                </a:tc>
                <a:extLst>
                  <a:ext uri="{0D108BD9-81ED-4DB2-BD59-A6C34878D82A}">
                    <a16:rowId xmlns:a16="http://schemas.microsoft.com/office/drawing/2014/main" val="3503769129"/>
                  </a:ext>
                </a:extLst>
              </a:tr>
              <a:tr h="27053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APC '61G', ‘62G’ or ‘63G’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Authorised Consignee Document Code ‘C522’ in DE 2/3</a:t>
                      </a:r>
                    </a:p>
                  </a:txBody>
                  <a:tcPr>
                    <a:solidFill>
                      <a:srgbClr val="CBDCDB"/>
                    </a:solidFill>
                  </a:tcPr>
                </a:tc>
                <a:extLst>
                  <a:ext uri="{0D108BD9-81ED-4DB2-BD59-A6C34878D82A}">
                    <a16:rowId xmlns:a16="http://schemas.microsoft.com/office/drawing/2014/main" val="1336671759"/>
                  </a:ext>
                </a:extLst>
              </a:tr>
              <a:tr h="4556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Document Code 'C522' in DE 2/3 at item level on the same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Must provide the Document Identifier sub-field of DE 2/3 as the identifier for Document Code 'C522'</a:t>
                      </a:r>
                    </a:p>
                  </a:txBody>
                  <a:tcPr>
                    <a:solidFill>
                      <a:srgbClr val="CBDCDB"/>
                    </a:solidFill>
                  </a:tcPr>
                </a:tc>
                <a:extLst>
                  <a:ext uri="{0D108BD9-81ED-4DB2-BD59-A6C34878D82A}">
                    <a16:rowId xmlns:a16="http://schemas.microsoft.com/office/drawing/2014/main" val="1887658335"/>
                  </a:ext>
                </a:extLst>
              </a:tr>
            </a:tbl>
          </a:graphicData>
        </a:graphic>
      </p:graphicFrame>
      <p:sp>
        <p:nvSpPr>
          <p:cNvPr id="20" name="TextBox 19">
            <a:extLst>
              <a:ext uri="{FF2B5EF4-FFF2-40B4-BE49-F238E27FC236}">
                <a16:creationId xmlns:a16="http://schemas.microsoft.com/office/drawing/2014/main" id="{62A139B9-FC90-6073-4E32-67520FF5BC3A}"/>
              </a:ext>
            </a:extLst>
          </p:cNvPr>
          <p:cNvSpPr txBox="1"/>
          <p:nvPr/>
        </p:nvSpPr>
        <p:spPr>
          <a:xfrm>
            <a:off x="363967" y="4097792"/>
            <a:ext cx="11138263"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22" name="Table 21">
            <a:extLst>
              <a:ext uri="{FF2B5EF4-FFF2-40B4-BE49-F238E27FC236}">
                <a16:creationId xmlns:a16="http://schemas.microsoft.com/office/drawing/2014/main" id="{E94244B1-5799-6D12-FD06-8FBDC2E79E9A}"/>
              </a:ext>
            </a:extLst>
          </p:cNvPr>
          <p:cNvGraphicFramePr>
            <a:graphicFrameLocks noGrp="1"/>
          </p:cNvGraphicFramePr>
          <p:nvPr/>
        </p:nvGraphicFramePr>
        <p:xfrm>
          <a:off x="485682" y="4394986"/>
          <a:ext cx="11160000" cy="5486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52000">
                <a:tc>
                  <a:txBody>
                    <a:bodyPr/>
                    <a:lstStyle/>
                    <a:p>
                      <a:r>
                        <a:rPr lang="en-GB" sz="1200"/>
                        <a:t>Additional Conditions That Will Cause a Rejection:</a:t>
                      </a:r>
                    </a:p>
                  </a:txBody>
                  <a:tcPr>
                    <a:solidFill>
                      <a:srgbClr val="009999"/>
                    </a:solidFill>
                  </a:tcPr>
                </a:tc>
                <a:extLst>
                  <a:ext uri="{0D108BD9-81ED-4DB2-BD59-A6C34878D82A}">
                    <a16:rowId xmlns:a16="http://schemas.microsoft.com/office/drawing/2014/main" val="1881507151"/>
                  </a:ext>
                </a:extLst>
              </a:tr>
              <a:tr h="252000">
                <a:tc>
                  <a:txBody>
                    <a:bodyPr/>
                    <a:lstStyle/>
                    <a:p>
                      <a:r>
                        <a:rPr lang="en-GB" sz="1200" dirty="0"/>
                        <a:t>Trader declares </a:t>
                      </a:r>
                      <a:r>
                        <a:rPr lang="en-GB" sz="1200" b="0" i="0" kern="1200" dirty="0">
                          <a:solidFill>
                            <a:schemeClr val="dk1"/>
                          </a:solidFill>
                          <a:effectLst/>
                          <a:latin typeface="+mn-lt"/>
                          <a:ea typeface="+mn-ea"/>
                          <a:cs typeface="+mn-cs"/>
                        </a:rPr>
                        <a:t>Additional Declaration Type ‘A’, 'B', ‘C’, ‘D’, 'E', ‘F’, ‘Y’ or ‘Z’ in DE 1/2</a:t>
                      </a:r>
                      <a:endParaRPr lang="en-GB" sz="1200" dirty="0"/>
                    </a:p>
                  </a:txBody>
                  <a:tcPr>
                    <a:solidFill>
                      <a:srgbClr val="CBDCDB"/>
                    </a:solidFill>
                  </a:tcPr>
                </a:tc>
                <a:extLst>
                  <a:ext uri="{0D108BD9-81ED-4DB2-BD59-A6C34878D82A}">
                    <a16:rowId xmlns:a16="http://schemas.microsoft.com/office/drawing/2014/main" val="2643637942"/>
                  </a:ext>
                </a:extLst>
              </a:tr>
            </a:tbl>
          </a:graphicData>
        </a:graphic>
      </p:graphicFrame>
      <p:sp>
        <p:nvSpPr>
          <p:cNvPr id="23" name="TextBox 22">
            <a:extLst>
              <a:ext uri="{FF2B5EF4-FFF2-40B4-BE49-F238E27FC236}">
                <a16:creationId xmlns:a16="http://schemas.microsoft.com/office/drawing/2014/main" id="{AE95460E-41CA-8E72-2E5F-E3655737B1F8}"/>
              </a:ext>
            </a:extLst>
          </p:cNvPr>
          <p:cNvSpPr txBox="1"/>
          <p:nvPr/>
        </p:nvSpPr>
        <p:spPr>
          <a:xfrm>
            <a:off x="463874" y="4962196"/>
            <a:ext cx="11359790" cy="120032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Calibri" panose="020F0502020204030204"/>
                <a:ea typeface="+mn-ea"/>
                <a:cs typeface="Calibri" panose="020F0502020204030204"/>
              </a:rPr>
              <a:t>Please Note:</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rPr>
              <a:t> CDS will allow </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traders to declare any combination of following APCs in DE 1/11 at item level on the same goods item: ‘61G’, '62G' or '63G’.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The existing business rules that apply to APC ‘61T’ in DE 1/11 will be applied to APC ’61G’ in DE 1/11. The existing business rules that apply to ’62T’ in DE 1/11 will be applied to APC ’62G’ in DE 1/11. The existing business rules that apply to APC ‘63T’ in DE 1/11 will be applied to APC ‘63G’ in DE 1/11. This is the case unless superseded by </a:t>
            </a:r>
            <a:r>
              <a:rPr kumimoji="0" lang="en-GB" sz="1200" b="0" i="0" u="none" strike="noStrike" kern="1200" cap="none" spc="0" normalizeH="0" baseline="0" noProof="0">
                <a:ln>
                  <a:noFill/>
                </a:ln>
                <a:solidFill>
                  <a:prstClr val="black"/>
                </a:solidFill>
                <a:effectLst/>
                <a:uLnTx/>
                <a:uFillTx/>
                <a:latin typeface="Calibri" panose="020F0502020204030204" pitchFamily="34" charset="0"/>
                <a:ea typeface="Times New Roman" panose="02020603050405020304" pitchFamily="18" charset="0"/>
                <a:cs typeface="+mn-cs"/>
              </a:rPr>
              <a:t>SPIMM</a:t>
            </a: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 C21i-specific validation.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t>Where Authorised Consignee Document Code ‘C522’ is declared in DE 2/3, validation against Authorised Consignee Document Code ‘C522’ will occur as per BAU.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endParaRPr>
          </a:p>
        </p:txBody>
      </p:sp>
    </p:spTree>
    <p:extLst>
      <p:ext uri="{BB962C8B-B14F-4D97-AF65-F5344CB8AC3E}">
        <p14:creationId xmlns:p14="http://schemas.microsoft.com/office/powerpoint/2010/main" val="166186385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34660" y="64860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68FE5357-1177-435D-2875-01AF74653426}"/>
              </a:ext>
            </a:extLst>
          </p:cNvPr>
          <p:cNvSpPr txBox="1"/>
          <p:nvPr/>
        </p:nvSpPr>
        <p:spPr>
          <a:xfrm>
            <a:off x="319116" y="1322138"/>
            <a:ext cx="11138053" cy="6463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FR" sz="1200" b="0" i="0" u="sng" strike="noStrike" kern="0" cap="none" spc="0" normalizeH="0" baseline="0" noProof="0" err="1">
                <a:ln>
                  <a:noFill/>
                </a:ln>
                <a:solidFill>
                  <a:prstClr val="black"/>
                </a:solidFill>
                <a:effectLst/>
                <a:uLnTx/>
                <a:uFillTx/>
                <a:latin typeface="Calibri" panose="020F0502020204030204"/>
                <a:ea typeface="+mn-ea"/>
                <a:cs typeface="Calibri" panose="020F0502020204030204"/>
              </a:rPr>
              <a:t>Deriving</a:t>
            </a:r>
            <a:r>
              <a:rPr kumimoji="0" lang="fr-FR" sz="1200" b="0" i="0" u="sng" strike="noStrike" kern="0" cap="none" spc="0" normalizeH="0" baseline="0" noProof="0">
                <a:ln>
                  <a:noFill/>
                </a:ln>
                <a:solidFill>
                  <a:prstClr val="black"/>
                </a:solidFill>
                <a:effectLst/>
                <a:uLnTx/>
                <a:uFillTx/>
                <a:latin typeface="Calibri" panose="020F0502020204030204"/>
                <a:ea typeface="+mn-ea"/>
                <a:cs typeface="Calibri" panose="020F0502020204030204"/>
              </a:rPr>
              <a:t> SPIMM APC: 71G</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SPIMM APC ’71G’ (DE 1/11).</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Pre-requisite:</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Trader has declared APC ‘71G’in DE 1/11 at goods item level for Additional Declaration Type J, K.</a:t>
            </a:r>
            <a:endParaRPr kumimoji="0" lang="en-GB" sz="1200" b="0" i="0" u="none" strike="noStrike" kern="0" cap="none" spc="0" normalizeH="0" baseline="0" noProof="0">
              <a:ln>
                <a:noFill/>
              </a:ln>
              <a:solidFill>
                <a:srgbClr val="172B4D"/>
              </a:solidFill>
              <a:effectLst/>
              <a:uLnTx/>
              <a:uFillTx/>
              <a:latin typeface="-apple-system"/>
              <a:ea typeface="+mn-ea"/>
              <a:cs typeface="+mn-cs"/>
            </a:endParaRPr>
          </a:p>
        </p:txBody>
      </p:sp>
      <p:sp>
        <p:nvSpPr>
          <p:cNvPr id="13" name="Rectangle 3">
            <a:extLst>
              <a:ext uri="{FF2B5EF4-FFF2-40B4-BE49-F238E27FC236}">
                <a16:creationId xmlns:a16="http://schemas.microsoft.com/office/drawing/2014/main" id="{97E6896C-8135-A0FF-49B0-19520407A0A1}"/>
              </a:ext>
            </a:extLst>
          </p:cNvPr>
          <p:cNvSpPr>
            <a:spLocks noChangeArrowheads="1"/>
          </p:cNvSpPr>
          <p:nvPr/>
        </p:nvSpPr>
        <p:spPr bwMode="auto">
          <a:xfrm>
            <a:off x="0" y="-1705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4" name="Rectangle 4">
            <a:extLst>
              <a:ext uri="{FF2B5EF4-FFF2-40B4-BE49-F238E27FC236}">
                <a16:creationId xmlns:a16="http://schemas.microsoft.com/office/drawing/2014/main" id="{92BE9C2A-67EB-41D2-6D23-A461970A755F}"/>
              </a:ext>
            </a:extLst>
          </p:cNvPr>
          <p:cNvSpPr>
            <a:spLocks noChangeArrowheads="1"/>
          </p:cNvSpPr>
          <p:nvPr/>
        </p:nvSpPr>
        <p:spPr bwMode="auto">
          <a:xfrm>
            <a:off x="152400" y="-18149"/>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81249239-26F5-0368-F6EC-0D45B5852786}"/>
              </a:ext>
            </a:extLst>
          </p:cNvPr>
          <p:cNvSpPr>
            <a:spLocks noChangeArrowheads="1"/>
          </p:cNvSpPr>
          <p:nvPr/>
        </p:nvSpPr>
        <p:spPr bwMode="auto">
          <a:xfrm>
            <a:off x="304800" y="134251"/>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031" name="Picture 7">
            <a:hlinkClick r:id="rId3" tooltip="Northern Ireland GLC COL V2.xlsx attached to CDSNIP-667"/>
            <a:extLst>
              <a:ext uri="{FF2B5EF4-FFF2-40B4-BE49-F238E27FC236}">
                <a16:creationId xmlns:a16="http://schemas.microsoft.com/office/drawing/2014/main" id="{F0D014EE-4989-E1E1-CF93-244A18A2E4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8050" y="-533400"/>
            <a:ext cx="66675" cy="6667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
            <a:extLst>
              <a:ext uri="{FF2B5EF4-FFF2-40B4-BE49-F238E27FC236}">
                <a16:creationId xmlns:a16="http://schemas.microsoft.com/office/drawing/2014/main" id="{F6175C15-8556-F8BC-F58E-4B8ED9F80172}"/>
              </a:ext>
            </a:extLst>
          </p:cNvPr>
          <p:cNvSpPr>
            <a:spLocks noChangeArrowheads="1"/>
          </p:cNvSpPr>
          <p:nvPr/>
        </p:nvSpPr>
        <p:spPr bwMode="auto">
          <a:xfrm>
            <a:off x="0" y="-138499"/>
            <a:ext cx="65" cy="2769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Rectangle 1">
            <a:extLst>
              <a:ext uri="{FF2B5EF4-FFF2-40B4-BE49-F238E27FC236}">
                <a16:creationId xmlns:a16="http://schemas.microsoft.com/office/drawing/2014/main" id="{89242444-5200-FF4B-9ECB-7BB08CDCD0BB}"/>
              </a:ext>
            </a:extLst>
          </p:cNvPr>
          <p:cNvSpPr>
            <a:spLocks noChangeArrowheads="1"/>
          </p:cNvSpPr>
          <p:nvPr/>
        </p:nvSpPr>
        <p:spPr bwMode="auto">
          <a:xfrm>
            <a:off x="0" y="-309049"/>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1">
            <a:extLst>
              <a:ext uri="{FF2B5EF4-FFF2-40B4-BE49-F238E27FC236}">
                <a16:creationId xmlns:a16="http://schemas.microsoft.com/office/drawing/2014/main" id="{0F52E6EE-8680-6A5D-07AA-6062188A9CF3}"/>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 name="Rectangle 1">
            <a:extLst>
              <a:ext uri="{FF2B5EF4-FFF2-40B4-BE49-F238E27FC236}">
                <a16:creationId xmlns:a16="http://schemas.microsoft.com/office/drawing/2014/main" id="{0AD3519E-6736-EA00-049A-41D69497BBB8}"/>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7" name="Rectangle 1">
            <a:extLst>
              <a:ext uri="{FF2B5EF4-FFF2-40B4-BE49-F238E27FC236}">
                <a16:creationId xmlns:a16="http://schemas.microsoft.com/office/drawing/2014/main" id="{CC798EE8-E44F-ABA8-11A6-5477B28A53AA}"/>
              </a:ext>
            </a:extLst>
          </p:cNvPr>
          <p:cNvSpPr>
            <a:spLocks noChangeArrowheads="1"/>
          </p:cNvSpPr>
          <p:nvPr/>
        </p:nvSpPr>
        <p:spPr bwMode="auto">
          <a:xfrm>
            <a:off x="0" y="58050"/>
            <a:ext cx="65" cy="34109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19" name="Table 18">
            <a:extLst>
              <a:ext uri="{FF2B5EF4-FFF2-40B4-BE49-F238E27FC236}">
                <a16:creationId xmlns:a16="http://schemas.microsoft.com/office/drawing/2014/main" id="{6B34AB1A-CF01-290D-BB14-BB98F7C46B04}"/>
              </a:ext>
            </a:extLst>
          </p:cNvPr>
          <p:cNvGraphicFramePr>
            <a:graphicFrameLocks noGrp="1"/>
          </p:cNvGraphicFramePr>
          <p:nvPr/>
        </p:nvGraphicFramePr>
        <p:xfrm>
          <a:off x="516000" y="1995226"/>
          <a:ext cx="11160000" cy="248400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439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621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APC '71G'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Procedure Code ‘0007’ in DE 1/10 at item level on the same goods item</a:t>
                      </a:r>
                    </a:p>
                  </a:txBody>
                  <a:tcPr>
                    <a:solidFill>
                      <a:srgbClr val="CBDCDB"/>
                    </a:solidFill>
                  </a:tcPr>
                </a:tc>
                <a:extLst>
                  <a:ext uri="{0D108BD9-81ED-4DB2-BD59-A6C34878D82A}">
                    <a16:rowId xmlns:a16="http://schemas.microsoft.com/office/drawing/2014/main" val="220780970"/>
                  </a:ext>
                </a:extLst>
              </a:tr>
              <a:tr h="4621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‘0007’ in DE 1/10 at item level on the same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AI Codes ‘MOVE1’, ‘TSGEE’, and ‘TSPER’ in DE 2/2 at item level on the same goods item</a:t>
                      </a:r>
                    </a:p>
                  </a:txBody>
                  <a:tcPr>
                    <a:solidFill>
                      <a:srgbClr val="CBDCDB"/>
                    </a:solidFill>
                  </a:tcPr>
                </a:tc>
                <a:extLst>
                  <a:ext uri="{0D108BD9-81ED-4DB2-BD59-A6C34878D82A}">
                    <a16:rowId xmlns:a16="http://schemas.microsoft.com/office/drawing/2014/main" val="3503769129"/>
                  </a:ext>
                </a:extLst>
              </a:tr>
              <a:tr h="274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AI Code ‘TSGEE’ in DE 2/2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be followed by free text information</a:t>
                      </a:r>
                    </a:p>
                  </a:txBody>
                  <a:tcPr>
                    <a:solidFill>
                      <a:srgbClr val="CBDCDB"/>
                    </a:solidFill>
                  </a:tcPr>
                </a:tc>
                <a:extLst>
                  <a:ext uri="{0D108BD9-81ED-4DB2-BD59-A6C34878D82A}">
                    <a16:rowId xmlns:a16="http://schemas.microsoft.com/office/drawing/2014/main" val="1336671759"/>
                  </a:ext>
                </a:extLst>
              </a:tr>
              <a:tr h="274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‘0007’ in DE 1/10 at item level on the same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Document Code ‘C509’ in DE 2/3 on the same goods item</a:t>
                      </a:r>
                    </a:p>
                  </a:txBody>
                  <a:tcPr>
                    <a:solidFill>
                      <a:srgbClr val="CBDCDB"/>
                    </a:solidFill>
                  </a:tcPr>
                </a:tc>
                <a:extLst>
                  <a:ext uri="{0D108BD9-81ED-4DB2-BD59-A6C34878D82A}">
                    <a16:rowId xmlns:a16="http://schemas.microsoft.com/office/drawing/2014/main" val="1887658335"/>
                  </a:ext>
                </a:extLst>
              </a:tr>
              <a:tr h="4621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‘0007’ in DE 1/10 at item level with Document Code 'C509' in DE 2/3 at item level on the same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provide the Document Identifier sub-field of DE 2/3 as the identifier for Document Code 'C509'</a:t>
                      </a:r>
                    </a:p>
                  </a:txBody>
                  <a:tcPr>
                    <a:solidFill>
                      <a:srgbClr val="CBDCDB"/>
                    </a:solidFill>
                  </a:tcPr>
                </a:tc>
                <a:extLst>
                  <a:ext uri="{0D108BD9-81ED-4DB2-BD59-A6C34878D82A}">
                    <a16:rowId xmlns:a16="http://schemas.microsoft.com/office/drawing/2014/main" val="936066667"/>
                  </a:ext>
                </a:extLst>
              </a:tr>
              <a:tr h="274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‘0007’ in DE 1/10 at item level on the same goods item</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Must declare Authorisation Type Code ‘TST’ in DE 3/39 at header level</a:t>
                      </a:r>
                    </a:p>
                  </a:txBody>
                  <a:tcPr>
                    <a:solidFill>
                      <a:srgbClr val="CBDCDB"/>
                    </a:solidFill>
                  </a:tcPr>
                </a:tc>
                <a:extLst>
                  <a:ext uri="{0D108BD9-81ED-4DB2-BD59-A6C34878D82A}">
                    <a16:rowId xmlns:a16="http://schemas.microsoft.com/office/drawing/2014/main" val="2427042861"/>
                  </a:ext>
                </a:extLst>
              </a:tr>
            </a:tbl>
          </a:graphicData>
        </a:graphic>
      </p:graphicFrame>
      <p:sp>
        <p:nvSpPr>
          <p:cNvPr id="20" name="TextBox 19">
            <a:extLst>
              <a:ext uri="{FF2B5EF4-FFF2-40B4-BE49-F238E27FC236}">
                <a16:creationId xmlns:a16="http://schemas.microsoft.com/office/drawing/2014/main" id="{62A139B9-FC90-6073-4E32-67520FF5BC3A}"/>
              </a:ext>
            </a:extLst>
          </p:cNvPr>
          <p:cNvSpPr txBox="1"/>
          <p:nvPr/>
        </p:nvSpPr>
        <p:spPr>
          <a:xfrm>
            <a:off x="304800" y="4572401"/>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22" name="Table 21">
            <a:extLst>
              <a:ext uri="{FF2B5EF4-FFF2-40B4-BE49-F238E27FC236}">
                <a16:creationId xmlns:a16="http://schemas.microsoft.com/office/drawing/2014/main" id="{E94244B1-5799-6D12-FD06-8FBDC2E79E9A}"/>
              </a:ext>
            </a:extLst>
          </p:cNvPr>
          <p:cNvGraphicFramePr>
            <a:graphicFrameLocks noGrp="1"/>
          </p:cNvGraphicFramePr>
          <p:nvPr/>
        </p:nvGraphicFramePr>
        <p:xfrm>
          <a:off x="485682" y="4898838"/>
          <a:ext cx="11160000" cy="57912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52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52000">
                <a:tc>
                  <a:txBody>
                    <a:bodyPr/>
                    <a:lstStyle/>
                    <a:p>
                      <a:r>
                        <a:rPr lang="en-GB" sz="1300" dirty="0"/>
                        <a:t>Trader declares </a:t>
                      </a:r>
                      <a:r>
                        <a:rPr lang="en-GB" sz="1300" b="0" i="0" kern="1200" dirty="0">
                          <a:solidFill>
                            <a:schemeClr val="dk1"/>
                          </a:solidFill>
                          <a:effectLst/>
                          <a:latin typeface="+mn-lt"/>
                          <a:ea typeface="+mn-ea"/>
                          <a:cs typeface="+mn-cs"/>
                        </a:rPr>
                        <a:t>Additional Declaration Type ‘A’, 'B', ‘C’, ‘D’, 'E', ‘F’, ‘Y’ or ‘Z’ in DE 1/2</a:t>
                      </a:r>
                      <a:endParaRPr lang="en-GB" sz="1300" dirty="0"/>
                    </a:p>
                  </a:txBody>
                  <a:tcPr>
                    <a:solidFill>
                      <a:srgbClr val="CBDCDB"/>
                    </a:solidFill>
                  </a:tcPr>
                </a:tc>
                <a:extLst>
                  <a:ext uri="{0D108BD9-81ED-4DB2-BD59-A6C34878D82A}">
                    <a16:rowId xmlns:a16="http://schemas.microsoft.com/office/drawing/2014/main" val="2643637942"/>
                  </a:ext>
                </a:extLst>
              </a:tr>
            </a:tbl>
          </a:graphicData>
        </a:graphic>
      </p:graphicFrame>
      <p:sp>
        <p:nvSpPr>
          <p:cNvPr id="23" name="TextBox 22">
            <a:extLst>
              <a:ext uri="{FF2B5EF4-FFF2-40B4-BE49-F238E27FC236}">
                <a16:creationId xmlns:a16="http://schemas.microsoft.com/office/drawing/2014/main" id="{AE95460E-41CA-8E72-2E5F-E3655737B1F8}"/>
              </a:ext>
            </a:extLst>
          </p:cNvPr>
          <p:cNvSpPr txBox="1"/>
          <p:nvPr/>
        </p:nvSpPr>
        <p:spPr>
          <a:xfrm>
            <a:off x="463874" y="5568684"/>
            <a:ext cx="11359790"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rPr>
              <a:t>Note: </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The existing business rules that apply to APC ‘71M’ DE 1/11 should be applied to APC ’71G’ in DE 1/11, unless superseded by </a:t>
            </a: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Times New Roman" panose="02020603050405020304" pitchFamily="18" charset="0"/>
                <a:cs typeface="+mn-cs"/>
              </a:rPr>
              <a:t>SPIMM</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C21i-specific validation.</a:t>
            </a:r>
          </a:p>
        </p:txBody>
      </p:sp>
    </p:spTree>
    <p:extLst>
      <p:ext uri="{BB962C8B-B14F-4D97-AF65-F5344CB8AC3E}">
        <p14:creationId xmlns:p14="http://schemas.microsoft.com/office/powerpoint/2010/main" val="390796429"/>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794943" y="650140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41632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Mandating Declaration Type 'IM' for Deriving APCs</a:t>
            </a:r>
            <a:b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b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The Declaration Type 'IM' will be enforced for deriving APCs.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Acceptance Criteria: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trader has declared APC '1SG', '1EL', '1EN', '1LG', '61G', '62G', '63G' or '71G' in DE 1/11 at goods item level, Declaration Type 'IM' must be declared in DE 1/1 at header level. If this criteria is not met, the declaration will be rejected and a DMSREJ notification issued.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SPIMM APC Declared Against SPIMM Declarations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Every goods item on a SPIMM Declaration must have a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Calibri"/>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APC declared against it.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Acceptance Criteria: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Calibri"/>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dataset has been derived, every goods item on the declaration must have one of the following APC's declared in DE 1/11: '1SG', '1EN', '1LG' or '1EL'.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the above criteria is not met, the declaration will be rejected and a DMSREJ notification issued.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highlight>
                <a:srgbClr val="FF00FF"/>
              </a:highligh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869269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05574"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8565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Identification of Warehouse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must supply a Warehouse Identification when moving into and out of certain storage procedures.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or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 and processed.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Supervising Customs Office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must supply a</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Supervising Customs Office when moving into and out of certain authorised Procedures</a:t>
            </a:r>
            <a:endParaRPr kumimoji="0" lang="en-GB" sz="1200" b="0" i="0" u="none" strike="noStrike" kern="0" cap="none" spc="0" normalizeH="0" baseline="0" noProof="0">
              <a:ln>
                <a:noFill/>
              </a:ln>
              <a:solidFill>
                <a:srgbClr val="000000"/>
              </a:solidFill>
              <a:effectLst/>
              <a:highlight>
                <a:srgbClr val="FF00FF"/>
              </a:highligh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C21i or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 and processed.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2142384A-ED88-8436-EE0E-34BAE0FA8F56}"/>
              </a:ext>
            </a:extLst>
          </p:cNvPr>
          <p:cNvGraphicFramePr>
            <a:graphicFrameLocks noGrp="1"/>
          </p:cNvGraphicFramePr>
          <p:nvPr/>
        </p:nvGraphicFramePr>
        <p:xfrm>
          <a:off x="465155" y="2080191"/>
          <a:ext cx="11160000" cy="1459924"/>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0537">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556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Requested Procedure Code '07’ (including 0700, 0751, 0771, 0778)</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Warehouse Type Code ‘Y’ in DE 2/7 at header level</a:t>
                      </a:r>
                    </a:p>
                  </a:txBody>
                  <a:tcPr>
                    <a:solidFill>
                      <a:srgbClr val="CBDCDB"/>
                    </a:solidFill>
                  </a:tcPr>
                </a:tc>
                <a:extLst>
                  <a:ext uri="{0D108BD9-81ED-4DB2-BD59-A6C34878D82A}">
                    <a16:rowId xmlns:a16="http://schemas.microsoft.com/office/drawing/2014/main" val="220780970"/>
                  </a:ext>
                </a:extLst>
              </a:tr>
              <a:tr h="4556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4071</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either Warehouse Type Code ‘R’ or ‘U’</a:t>
                      </a:r>
                    </a:p>
                  </a:txBody>
                  <a:tcPr>
                    <a:solidFill>
                      <a:srgbClr val="CBDCDB"/>
                    </a:solidFill>
                  </a:tcPr>
                </a:tc>
                <a:extLst>
                  <a:ext uri="{0D108BD9-81ED-4DB2-BD59-A6C34878D82A}">
                    <a16:rowId xmlns:a16="http://schemas.microsoft.com/office/drawing/2014/main" val="3503769129"/>
                  </a:ext>
                </a:extLst>
              </a:tr>
              <a:tr h="15005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Procedure Code 4078</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Must declare Warehouse Type Code ‘Z’</a:t>
                      </a:r>
                    </a:p>
                  </a:txBody>
                  <a:tcPr>
                    <a:solidFill>
                      <a:srgbClr val="CBDCDB"/>
                    </a:solidFill>
                  </a:tcPr>
                </a:tc>
                <a:extLst>
                  <a:ext uri="{0D108BD9-81ED-4DB2-BD59-A6C34878D82A}">
                    <a16:rowId xmlns:a16="http://schemas.microsoft.com/office/drawing/2014/main" val="1336671759"/>
                  </a:ext>
                </a:extLst>
              </a:tr>
            </a:tbl>
          </a:graphicData>
        </a:graphic>
      </p:graphicFrame>
      <p:graphicFrame>
        <p:nvGraphicFramePr>
          <p:cNvPr id="8" name="Table 7">
            <a:extLst>
              <a:ext uri="{FF2B5EF4-FFF2-40B4-BE49-F238E27FC236}">
                <a16:creationId xmlns:a16="http://schemas.microsoft.com/office/drawing/2014/main" id="{E854177F-9912-F0D9-E017-EDD471676809}"/>
              </a:ext>
            </a:extLst>
          </p:cNvPr>
          <p:cNvGraphicFramePr>
            <a:graphicFrameLocks noGrp="1"/>
          </p:cNvGraphicFramePr>
          <p:nvPr/>
        </p:nvGraphicFramePr>
        <p:xfrm>
          <a:off x="419501" y="4756716"/>
          <a:ext cx="11160000" cy="113485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55470">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302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Requested Procedure Code '07' in DE 1/10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Must declare 'GBBEL004' as Supervising Customs Office in DE 5/27 at header level</a:t>
                      </a:r>
                    </a:p>
                  </a:txBody>
                  <a:tcPr>
                    <a:solidFill>
                      <a:srgbClr val="CBDCDB"/>
                    </a:solidFill>
                  </a:tcPr>
                </a:tc>
                <a:extLst>
                  <a:ext uri="{0D108BD9-81ED-4DB2-BD59-A6C34878D82A}">
                    <a16:rowId xmlns:a16="http://schemas.microsoft.com/office/drawing/2014/main" val="220780970"/>
                  </a:ext>
                </a:extLst>
              </a:tr>
              <a:tr h="4302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Previous Procedure Codes '51', '71', or '78' in DE 1/10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Must declare 'GBBEL004' as Supervising Customs Office in DE 5/27 at header level</a:t>
                      </a:r>
                    </a:p>
                  </a:txBody>
                  <a:tcPr>
                    <a:solidFill>
                      <a:srgbClr val="CBDCDB"/>
                    </a:solidFill>
                  </a:tcPr>
                </a:tc>
                <a:extLst>
                  <a:ext uri="{0D108BD9-81ED-4DB2-BD59-A6C34878D82A}">
                    <a16:rowId xmlns:a16="http://schemas.microsoft.com/office/drawing/2014/main" val="3503769129"/>
                  </a:ext>
                </a:extLst>
              </a:tr>
            </a:tbl>
          </a:graphicData>
        </a:graphic>
      </p:graphicFrame>
    </p:spTree>
    <p:extLst>
      <p:ext uri="{BB962C8B-B14F-4D97-AF65-F5344CB8AC3E}">
        <p14:creationId xmlns:p14="http://schemas.microsoft.com/office/powerpoint/2010/main" val="387987774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13395" y="6499730"/>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15498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Geneva"/>
                <a:cs typeface="+mn-cs"/>
              </a:rPr>
              <a:t>Declaration of UKIMS Authorisation or UKIMS Override</a:t>
            </a:r>
            <a:endParaRPr kumimoji="0" lang="en-GB" sz="1200" b="0" i="0" u="sng" strike="noStrike" kern="0" cap="none" spc="0" normalizeH="0" baseline="0" noProof="0">
              <a:ln>
                <a:noFill/>
              </a:ln>
              <a:solidFill>
                <a:srgbClr val="000000"/>
              </a:solidFill>
              <a:effectLst/>
              <a:uLnTx/>
              <a:uFillTx/>
              <a:latin typeface="Calibri" panose="020F0502020204030204"/>
              <a:ea typeface="Genev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This functionality will ensure that traders provide the correct data elements when declaring a UKIMS Authorisation or traders using the AI Code NIAPP on a SPIMM Declaration.</a:t>
            </a: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 </a:t>
            </a: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C21i or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 and processed.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Please Note:</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Where Document Code '1UKI' has been declared in DE 2/3 at item level, the validation of UKIMS Authorisation will be carried out.</a:t>
            </a: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If any of the above criteria is not met, then the declaration will be rejected and the DMSREJ notification will be issued.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NIAPP is only to be used by traders only on instruction by HMRC. Traders may experience additional compliance action should the code be used without prior approval. </a:t>
            </a: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F2E9487B-D9C1-66EF-E20B-2D367863E1A1}"/>
              </a:ext>
            </a:extLst>
          </p:cNvPr>
          <p:cNvGraphicFramePr>
            <a:graphicFrameLocks noGrp="1"/>
          </p:cNvGraphicFramePr>
          <p:nvPr/>
        </p:nvGraphicFramePr>
        <p:xfrm>
          <a:off x="465155" y="1859506"/>
          <a:ext cx="11444414" cy="2331570"/>
        </p:xfrm>
        <a:graphic>
          <a:graphicData uri="http://schemas.openxmlformats.org/drawingml/2006/table">
            <a:tbl>
              <a:tblPr firstRow="1" bandRow="1">
                <a:tableStyleId>{5C22544A-7EE6-4342-B048-85BDC9FD1C3A}</a:tableStyleId>
              </a:tblPr>
              <a:tblGrid>
                <a:gridCol w="5722207">
                  <a:extLst>
                    <a:ext uri="{9D8B030D-6E8A-4147-A177-3AD203B41FA5}">
                      <a16:colId xmlns:a16="http://schemas.microsoft.com/office/drawing/2014/main" val="3837587197"/>
                    </a:ext>
                  </a:extLst>
                </a:gridCol>
                <a:gridCol w="5722207">
                  <a:extLst>
                    <a:ext uri="{9D8B030D-6E8A-4147-A177-3AD203B41FA5}">
                      <a16:colId xmlns:a16="http://schemas.microsoft.com/office/drawing/2014/main" val="574208599"/>
                    </a:ext>
                  </a:extLst>
                </a:gridCol>
              </a:tblGrid>
              <a:tr h="25784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342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a:t>SPIMM dataset has been derived</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AI Code 'NIDOM' must be declared in DE 2/2 at goods item level on every item on the declaration. </a:t>
                      </a:r>
                    </a:p>
                  </a:txBody>
                  <a:tcPr>
                    <a:solidFill>
                      <a:srgbClr val="CBDCDB"/>
                    </a:solidFill>
                  </a:tcPr>
                </a:tc>
                <a:extLst>
                  <a:ext uri="{0D108BD9-81ED-4DB2-BD59-A6C34878D82A}">
                    <a16:rowId xmlns:a16="http://schemas.microsoft.com/office/drawing/2014/main" val="676372353"/>
                  </a:ext>
                </a:extLst>
              </a:tr>
              <a:tr h="4342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a:t>SPIMM dataset has been derived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b="0"/>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Either AI Code 'NIAPP' or 'NIREM' must be declared in DE 2/2 at item level on all goods items declared.</a:t>
                      </a:r>
                    </a:p>
                  </a:txBody>
                  <a:tcPr>
                    <a:solidFill>
                      <a:srgbClr val="E7EEEE"/>
                    </a:solidFill>
                  </a:tcPr>
                </a:tc>
                <a:extLst>
                  <a:ext uri="{0D108BD9-81ED-4DB2-BD59-A6C34878D82A}">
                    <a16:rowId xmlns:a16="http://schemas.microsoft.com/office/drawing/2014/main" val="4078905317"/>
                  </a:ext>
                </a:extLst>
              </a:tr>
              <a:tr h="434265">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200"/>
                        <a:t>Trader declares AI Code 'NIREM' has been declared (DE 2/2)</a:t>
                      </a:r>
                      <a:endParaRPr lang="en-GB" sz="1200" kern="0">
                        <a:solidFill>
                          <a:srgbClr val="000000"/>
                        </a:solidFill>
                        <a:latin typeface="+mn-lt"/>
                        <a:ea typeface="Calibri"/>
                        <a:cs typeface="Calibri" panose="020F0502020204030204"/>
                      </a:endParaRP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Document Code '1UKI' must be declared in DE 2/3 at item level on the same goods item. </a:t>
                      </a:r>
                      <a:endParaRPr lang="en-GB" sz="1200">
                        <a:ea typeface="Calibri"/>
                        <a:cs typeface="Calibri"/>
                      </a:endParaRPr>
                    </a:p>
                  </a:txBody>
                  <a:tcPr>
                    <a:solidFill>
                      <a:srgbClr val="CBDCDB"/>
                    </a:solidFill>
                  </a:tcPr>
                </a:tc>
                <a:extLst>
                  <a:ext uri="{0D108BD9-81ED-4DB2-BD59-A6C34878D82A}">
                    <a16:rowId xmlns:a16="http://schemas.microsoft.com/office/drawing/2014/main" val="560831040"/>
                  </a:ext>
                </a:extLst>
              </a:tr>
              <a:tr h="257845">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200"/>
                        <a:t>Trader declares Document Code '1UKI' in DE 2/3</a:t>
                      </a:r>
                      <a:endParaRPr lang="en-GB" sz="1200">
                        <a:ea typeface="Calibri" panose="020F0502020204030204"/>
                        <a:cs typeface="Calibri" panose="020F0502020204030204"/>
                      </a:endParaRP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AI Code 'NIREM' (DE 2/2) must be declared at item level on the same goods item.</a:t>
                      </a:r>
                      <a:endParaRPr lang="en-GB" sz="1200" kern="0">
                        <a:solidFill>
                          <a:srgbClr val="000000"/>
                        </a:solidFill>
                        <a:latin typeface="+mn-lt"/>
                        <a:ea typeface="Calibri"/>
                        <a:cs typeface="Calibri" panose="020F0502020204030204"/>
                      </a:endParaRPr>
                    </a:p>
                  </a:txBody>
                  <a:tcPr>
                    <a:solidFill>
                      <a:srgbClr val="E7EEEE"/>
                    </a:solidFill>
                  </a:tcPr>
                </a:tc>
                <a:extLst>
                  <a:ext uri="{0D108BD9-81ED-4DB2-BD59-A6C34878D82A}">
                    <a16:rowId xmlns:a16="http://schemas.microsoft.com/office/drawing/2014/main" val="1108568355"/>
                  </a:ext>
                </a:extLst>
              </a:tr>
              <a:tr h="4342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Traders declares Authorisation Type Code  'UKIM' in DE 3/39 at header level</a:t>
                      </a:r>
                      <a:endParaRPr lang="en-GB" sz="1200">
                        <a:ea typeface="Calibri"/>
                        <a:cs typeface="Calibri"/>
                      </a:endParaRP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Document Code '1UKI' must be declared in DE 2/3 at item level on every goods item. </a:t>
                      </a:r>
                      <a:endParaRPr lang="en-GB" sz="1200" kern="0" dirty="0">
                        <a:solidFill>
                          <a:srgbClr val="000000"/>
                        </a:solidFill>
                        <a:latin typeface="+mn-lt"/>
                        <a:ea typeface="Calibri"/>
                        <a:cs typeface="Calibri" panose="020F0502020204030204"/>
                      </a:endParaRPr>
                    </a:p>
                  </a:txBody>
                  <a:tcPr>
                    <a:solidFill>
                      <a:srgbClr val="CBDCDB"/>
                    </a:solidFill>
                  </a:tcPr>
                </a:tc>
                <a:extLst>
                  <a:ext uri="{0D108BD9-81ED-4DB2-BD59-A6C34878D82A}">
                    <a16:rowId xmlns:a16="http://schemas.microsoft.com/office/drawing/2014/main" val="1247559883"/>
                  </a:ext>
                </a:extLst>
              </a:tr>
            </a:tbl>
          </a:graphicData>
        </a:graphic>
      </p:graphicFrame>
      <p:graphicFrame>
        <p:nvGraphicFramePr>
          <p:cNvPr id="8" name="Table 7">
            <a:extLst>
              <a:ext uri="{FF2B5EF4-FFF2-40B4-BE49-F238E27FC236}">
                <a16:creationId xmlns:a16="http://schemas.microsoft.com/office/drawing/2014/main" id="{51AE475E-A07C-5E3B-86E5-4DC38CA4734B}"/>
              </a:ext>
            </a:extLst>
          </p:cNvPr>
          <p:cNvGraphicFramePr>
            <a:graphicFrameLocks noGrp="1"/>
          </p:cNvGraphicFramePr>
          <p:nvPr/>
        </p:nvGraphicFramePr>
        <p:xfrm>
          <a:off x="465154" y="4785737"/>
          <a:ext cx="11444415" cy="1272504"/>
        </p:xfrm>
        <a:graphic>
          <a:graphicData uri="http://schemas.openxmlformats.org/drawingml/2006/table">
            <a:tbl>
              <a:tblPr firstRow="1" bandRow="1">
                <a:tableStyleId>{5C22544A-7EE6-4342-B048-85BDC9FD1C3A}</a:tableStyleId>
              </a:tblPr>
              <a:tblGrid>
                <a:gridCol w="11444415">
                  <a:extLst>
                    <a:ext uri="{9D8B030D-6E8A-4147-A177-3AD203B41FA5}">
                      <a16:colId xmlns:a16="http://schemas.microsoft.com/office/drawing/2014/main" val="3837587197"/>
                    </a:ext>
                  </a:extLst>
                </a:gridCol>
              </a:tblGrid>
              <a:tr h="318126">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318126">
                <a:tc>
                  <a:txBody>
                    <a:bodyPr/>
                    <a:lstStyle/>
                    <a:p>
                      <a:pPr>
                        <a:defRPr sz="1800" b="0" i="0" u="none" strike="noStrike" kern="0" cap="none" spc="0" baseline="0">
                          <a:solidFill>
                            <a:srgbClr val="000000"/>
                          </a:solidFill>
                          <a:uFillTx/>
                        </a:defRPr>
                      </a:pPr>
                      <a:r>
                        <a:rPr lang="en-GB" sz="1200">
                          <a:latin typeface="+mn-lt"/>
                          <a:ea typeface="Calibri" panose="020F0502020204030204"/>
                          <a:cs typeface="Calibri" panose="020F0502020204030204"/>
                        </a:rPr>
                        <a:t>T</a:t>
                      </a:r>
                      <a:r>
                        <a:rPr lang="en-GB" sz="1200" b="0" i="0">
                          <a:effectLst/>
                          <a:latin typeface="+mn-lt"/>
                          <a:ea typeface="Calibri" panose="020F0502020204030204"/>
                          <a:cs typeface="Calibri" panose="020F0502020204030204"/>
                        </a:rPr>
                        <a:t>rader has declared AI code 'NIAPP' and 'NIREM' (DE 2/2) on any goods items on the same declaration (even if on different items).</a:t>
                      </a:r>
                      <a:endParaRPr lang="en-GB" sz="1200">
                        <a:latin typeface="+mn-lt"/>
                        <a:ea typeface="Calibri" panose="020F0502020204030204"/>
                        <a:cs typeface="Calibri" panose="020F0502020204030204"/>
                      </a:endParaRPr>
                    </a:p>
                  </a:txBody>
                  <a:tcPr>
                    <a:solidFill>
                      <a:srgbClr val="E7EEEE"/>
                    </a:solidFill>
                  </a:tcPr>
                </a:tc>
                <a:extLst>
                  <a:ext uri="{0D108BD9-81ED-4DB2-BD59-A6C34878D82A}">
                    <a16:rowId xmlns:a16="http://schemas.microsoft.com/office/drawing/2014/main" val="244645981"/>
                  </a:ext>
                </a:extLst>
              </a:tr>
              <a:tr h="31812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Trader has declared AI Code 'NIAPP' in DE 2/2 and declared Document Code '1UKI' in DE 2/3 on any goods items on the same declaration (even if on different items).</a:t>
                      </a:r>
                      <a:endParaRPr lang="en-GB" sz="1200">
                        <a:ea typeface="Calibri"/>
                        <a:cs typeface="Calibri"/>
                      </a:endParaRPr>
                    </a:p>
                  </a:txBody>
                  <a:tcPr>
                    <a:solidFill>
                      <a:srgbClr val="CBDCDB"/>
                    </a:solidFill>
                  </a:tcPr>
                </a:tc>
                <a:extLst>
                  <a:ext uri="{0D108BD9-81ED-4DB2-BD59-A6C34878D82A}">
                    <a16:rowId xmlns:a16="http://schemas.microsoft.com/office/drawing/2014/main" val="676372353"/>
                  </a:ext>
                </a:extLst>
              </a:tr>
              <a:tr h="31812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Trader has declared AI Code 'NIAPP' in DE 2/2 at item level on any goods item and Authorisation Type Code 'UKIM' is declared in DE 3/39 at header level.</a:t>
                      </a:r>
                      <a:endParaRPr lang="en-GB" sz="1200" dirty="0">
                        <a:ea typeface="Calibri"/>
                        <a:cs typeface="Calibri"/>
                      </a:endParaRPr>
                    </a:p>
                  </a:txBody>
                  <a:tcPr>
                    <a:solidFill>
                      <a:srgbClr val="E7EEEE"/>
                    </a:solidFill>
                  </a:tcPr>
                </a:tc>
                <a:extLst>
                  <a:ext uri="{0D108BD9-81ED-4DB2-BD59-A6C34878D82A}">
                    <a16:rowId xmlns:a16="http://schemas.microsoft.com/office/drawing/2014/main" val="1003652622"/>
                  </a:ext>
                </a:extLst>
              </a:tr>
            </a:tbl>
          </a:graphicData>
        </a:graphic>
      </p:graphicFrame>
    </p:spTree>
    <p:extLst>
      <p:ext uri="{BB962C8B-B14F-4D97-AF65-F5344CB8AC3E}">
        <p14:creationId xmlns:p14="http://schemas.microsoft.com/office/powerpoint/2010/main" val="305079988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48106"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33965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Geneva"/>
                <a:cs typeface="+mn-cs"/>
              </a:rPr>
              <a:t>Changes to Codes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Geneva"/>
                <a:cs typeface="+mn-cs"/>
              </a:rPr>
              <a:t>The introduction of SPIMM GB-NI SPIMM Movements</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will bring changes to which codes will be accepted and prohibited. </a:t>
            </a: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Pre-requisite:</a:t>
            </a:r>
            <a:endParaRPr kumimoji="0" lang="en-GB" sz="1200" b="1"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Calibri"/>
              </a:rPr>
              <a:t>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I1 C&amp;F,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Calibri"/>
              </a:rPr>
              <a:t>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EIDR NOP,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Calibri"/>
              </a:rPr>
              <a:t>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C21i</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SPIMM C21i with the presence of APCs '61G', '62G', '63G', '71G' or '24G’) </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dataset has been derived and processed as per the associated completion matrix.</a:t>
            </a:r>
            <a:endPar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Acceptance criteria:</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'banned' code is declared in the following DEs as per the attached SPIMM Banned Codes document, CDS will reject the declaration and a DMSREJ notification will be issued. This applies to the following DEs: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2/1 Simplified Declaration/Previous Documents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2/2 Additional Information (as per the document above)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2/3 Document Code (as per the document above)</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3/39 Holder of the Authorisation Identification Number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'new' code is declared in the following DEs as per the attached SPIMM New Codes document, CDS will allow the declaration to be processed and not be rejected for this reason. This applies to the following DEs: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2/2 Additional Information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2/3 Document Code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3/39 Holder of the Authorisation Identification Number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For all other codes, validation will continue as per BAU.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*All 'new' codes are additional to the existing permitted codes.</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Object 5">
            <a:extLst>
              <a:ext uri="{FF2B5EF4-FFF2-40B4-BE49-F238E27FC236}">
                <a16:creationId xmlns:a16="http://schemas.microsoft.com/office/drawing/2014/main" id="{84D2C549-9969-E2C2-F642-1D6FCEE2AB57}"/>
              </a:ext>
            </a:extLst>
          </p:cNvPr>
          <p:cNvGraphicFramePr>
            <a:graphicFrameLocks noChangeAspect="1"/>
          </p:cNvGraphicFramePr>
          <p:nvPr/>
        </p:nvGraphicFramePr>
        <p:xfrm>
          <a:off x="10141948" y="312163"/>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6" name="Object 5">
                        <a:extLst>
                          <a:ext uri="{FF2B5EF4-FFF2-40B4-BE49-F238E27FC236}">
                            <a16:creationId xmlns:a16="http://schemas.microsoft.com/office/drawing/2014/main" id="{84D2C549-9969-E2C2-F642-1D6FCEE2AB57}"/>
                          </a:ext>
                        </a:extLst>
                      </p:cNvPr>
                      <p:cNvPicPr/>
                      <p:nvPr/>
                    </p:nvPicPr>
                    <p:blipFill>
                      <a:blip r:embed="rId4"/>
                      <a:stretch>
                        <a:fillRect/>
                      </a:stretch>
                    </p:blipFill>
                    <p:spPr>
                      <a:xfrm>
                        <a:off x="10141948" y="312163"/>
                        <a:ext cx="914400" cy="806450"/>
                      </a:xfrm>
                      <a:prstGeom prst="rect">
                        <a:avLst/>
                      </a:prstGeom>
                    </p:spPr>
                  </p:pic>
                </p:oleObj>
              </mc:Fallback>
            </mc:AlternateContent>
          </a:graphicData>
        </a:graphic>
      </p:graphicFrame>
      <p:graphicFrame>
        <p:nvGraphicFramePr>
          <p:cNvPr id="13" name="Object 12">
            <a:extLst>
              <a:ext uri="{FF2B5EF4-FFF2-40B4-BE49-F238E27FC236}">
                <a16:creationId xmlns:a16="http://schemas.microsoft.com/office/drawing/2014/main" id="{2A4CDF76-B6DB-6E83-153C-81969059BB29}"/>
              </a:ext>
            </a:extLst>
          </p:cNvPr>
          <p:cNvGraphicFramePr>
            <a:graphicFrameLocks noChangeAspect="1"/>
          </p:cNvGraphicFramePr>
          <p:nvPr/>
        </p:nvGraphicFramePr>
        <p:xfrm>
          <a:off x="11056348" y="312163"/>
          <a:ext cx="914400" cy="806450"/>
        </p:xfrm>
        <a:graphic>
          <a:graphicData uri="http://schemas.openxmlformats.org/presentationml/2006/ole">
            <mc:AlternateContent xmlns:mc="http://schemas.openxmlformats.org/markup-compatibility/2006">
              <mc:Choice xmlns:v="urn:schemas-microsoft-com:vml" Requires="v">
                <p:oleObj name="Worksheet" showAsIcon="1" r:id="rId5" imgW="914400" imgH="806335" progId="Excel.Sheet.12">
                  <p:embed/>
                </p:oleObj>
              </mc:Choice>
              <mc:Fallback>
                <p:oleObj name="Worksheet" showAsIcon="1" r:id="rId5" imgW="914400" imgH="806335" progId="Excel.Sheet.12">
                  <p:embed/>
                  <p:pic>
                    <p:nvPicPr>
                      <p:cNvPr id="13" name="Object 12">
                        <a:extLst>
                          <a:ext uri="{FF2B5EF4-FFF2-40B4-BE49-F238E27FC236}">
                            <a16:creationId xmlns:a16="http://schemas.microsoft.com/office/drawing/2014/main" id="{2A4CDF76-B6DB-6E83-153C-81969059BB29}"/>
                          </a:ext>
                        </a:extLst>
                      </p:cNvPr>
                      <p:cNvPicPr/>
                      <p:nvPr/>
                    </p:nvPicPr>
                    <p:blipFill>
                      <a:blip r:embed="rId6"/>
                      <a:stretch>
                        <a:fillRect/>
                      </a:stretch>
                    </p:blipFill>
                    <p:spPr>
                      <a:xfrm>
                        <a:off x="11056348" y="312163"/>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223838438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69370"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27901"/>
            <a:ext cx="11282159" cy="101566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mn-cs"/>
              </a:rPr>
              <a:t>Validation for 7 New </a:t>
            </a:r>
            <a:r>
              <a:rPr kumimoji="0" lang="en-GB" sz="1200" b="0" i="0" u="sng"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sng" strike="noStrike" kern="0" cap="none" spc="0" normalizeH="0" baseline="0" noProof="0">
                <a:ln>
                  <a:noFill/>
                </a:ln>
                <a:solidFill>
                  <a:srgbClr val="000000"/>
                </a:solidFill>
                <a:effectLst/>
                <a:uLnTx/>
                <a:uFillTx/>
                <a:latin typeface="Calibri" panose="020F0502020204030204"/>
                <a:ea typeface="+mn-ea"/>
                <a:cs typeface="+mn-cs"/>
              </a:rPr>
              <a:t> APCs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for 7 new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APCs: '1CO', '1GO', '1GP', '1PN', '1SP', '1SR', '1TB’.</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or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65155" y="2054765"/>
          <a:ext cx="11160000" cy="3636001"/>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4296">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78815">
                <a:tc>
                  <a:txBody>
                    <a:bodyPr/>
                    <a:lstStyle/>
                    <a:p>
                      <a:r>
                        <a:rPr lang="en-GB" sz="1200"/>
                        <a:t>Trader has declared APC '1CO' in DE 1/11 at item level.</a:t>
                      </a:r>
                    </a:p>
                  </a:txBody>
                  <a:tcPr>
                    <a:solidFill>
                      <a:srgbClr val="CBDCDB"/>
                    </a:solidFill>
                  </a:tcPr>
                </a:tc>
                <a:tc>
                  <a:txBody>
                    <a:bodyPr/>
                    <a:lstStyle/>
                    <a:p>
                      <a:r>
                        <a:rPr lang="en-GB" sz="1200">
                          <a:latin typeface="+mn-lt"/>
                        </a:rPr>
                        <a:t>Document Code 'Y222' must be declared in DE 2/3 at item level on the same goods item.</a:t>
                      </a:r>
                    </a:p>
                  </a:txBody>
                  <a:tcPr>
                    <a:solidFill>
                      <a:srgbClr val="CBDCDB"/>
                    </a:solidFill>
                  </a:tcPr>
                </a:tc>
                <a:extLst>
                  <a:ext uri="{0D108BD9-81ED-4DB2-BD59-A6C34878D82A}">
                    <a16:rowId xmlns:a16="http://schemas.microsoft.com/office/drawing/2014/main" val="2740674943"/>
                  </a:ext>
                </a:extLst>
              </a:tr>
              <a:tr h="478815">
                <a:tc>
                  <a:txBody>
                    <a:bodyPr/>
                    <a:lstStyle/>
                    <a:p>
                      <a:r>
                        <a:rPr lang="en-GB" sz="1200"/>
                        <a:t>Trader has declared APC '1GO' in DE 1/11 at item level.</a:t>
                      </a:r>
                    </a:p>
                  </a:txBody>
                  <a:tcPr>
                    <a:solidFill>
                      <a:srgbClr val="E7EEEE"/>
                    </a:solidFill>
                  </a:tcPr>
                </a:tc>
                <a:tc>
                  <a:txBody>
                    <a:bodyPr/>
                    <a:lstStyle/>
                    <a:p>
                      <a:r>
                        <a:rPr lang="en-GB" sz="1200">
                          <a:latin typeface="+mn-lt"/>
                        </a:rPr>
                        <a:t>AI Statement Code '</a:t>
                      </a:r>
                      <a:r>
                        <a:rPr lang="en-GB" sz="1200">
                          <a:effectLst/>
                          <a:latin typeface="+mn-lt"/>
                          <a:ea typeface="Times New Roman" panose="02020603050405020304" pitchFamily="18" charset="0"/>
                        </a:rPr>
                        <a:t>SPIMM</a:t>
                      </a:r>
                      <a:r>
                        <a:rPr lang="en-GB" sz="1200">
                          <a:latin typeface="+mn-lt"/>
                        </a:rPr>
                        <a:t>OGD' must be declared in DE 2/2 at item level on the same goods item.</a:t>
                      </a:r>
                    </a:p>
                  </a:txBody>
                  <a:tcPr>
                    <a:solidFill>
                      <a:srgbClr val="E7EEEE"/>
                    </a:solidFill>
                  </a:tcPr>
                </a:tc>
                <a:extLst>
                  <a:ext uri="{0D108BD9-81ED-4DB2-BD59-A6C34878D82A}">
                    <a16:rowId xmlns:a16="http://schemas.microsoft.com/office/drawing/2014/main" val="1206194863"/>
                  </a:ext>
                </a:extLst>
              </a:tr>
              <a:tr h="478815">
                <a:tc>
                  <a:txBody>
                    <a:bodyPr/>
                    <a:lstStyle/>
                    <a:p>
                      <a:r>
                        <a:rPr lang="en-GB" sz="1200"/>
                        <a:t>Trader has declared APC '1GP' in DE 1/11 at item level</a:t>
                      </a:r>
                    </a:p>
                  </a:txBody>
                  <a:tcPr>
                    <a:solidFill>
                      <a:srgbClr val="CBDCDB"/>
                    </a:solidFill>
                  </a:tcPr>
                </a:tc>
                <a:tc>
                  <a:txBody>
                    <a:bodyPr/>
                    <a:lstStyle/>
                    <a:p>
                      <a:r>
                        <a:rPr lang="en-GB" sz="1200">
                          <a:latin typeface="+mn-lt"/>
                        </a:rPr>
                        <a:t>AI Statement Code '</a:t>
                      </a:r>
                      <a:r>
                        <a:rPr lang="en-GB" sz="1200">
                          <a:effectLst/>
                          <a:latin typeface="+mn-lt"/>
                          <a:ea typeface="Times New Roman" panose="02020603050405020304" pitchFamily="18" charset="0"/>
                        </a:rPr>
                        <a:t>SPIMM</a:t>
                      </a:r>
                      <a:r>
                        <a:rPr lang="en-GB" sz="1200">
                          <a:latin typeface="+mn-lt"/>
                        </a:rPr>
                        <a:t>GPD' must be declared in DE 2/2 at item level on the same goods item</a:t>
                      </a:r>
                    </a:p>
                  </a:txBody>
                  <a:tcPr>
                    <a:solidFill>
                      <a:srgbClr val="CBDCDB"/>
                    </a:solidFill>
                  </a:tcPr>
                </a:tc>
                <a:extLst>
                  <a:ext uri="{0D108BD9-81ED-4DB2-BD59-A6C34878D82A}">
                    <a16:rowId xmlns:a16="http://schemas.microsoft.com/office/drawing/2014/main" val="676372353"/>
                  </a:ext>
                </a:extLst>
              </a:tr>
              <a:tr h="478815">
                <a:tc>
                  <a:txBody>
                    <a:bodyPr/>
                    <a:lstStyle/>
                    <a:p>
                      <a:r>
                        <a:rPr lang="en-GB" sz="1200"/>
                        <a:t>Trader has declared APC '1GO', '1GP', '1PN', '1TB' or '1SR' in DE 1/11 at item level</a:t>
                      </a:r>
                    </a:p>
                  </a:txBody>
                  <a:tcPr>
                    <a:solidFill>
                      <a:srgbClr val="E7EEEE"/>
                    </a:solidFill>
                  </a:tcPr>
                </a:tc>
                <a:tc>
                  <a:txBody>
                    <a:bodyPr/>
                    <a:lstStyle/>
                    <a:p>
                      <a:r>
                        <a:rPr lang="en-GB" sz="1200">
                          <a:latin typeface="+mn-lt"/>
                        </a:rPr>
                        <a:t>Either APC '1SG' or '1EN' must be declared at item level on the same goods item</a:t>
                      </a:r>
                    </a:p>
                  </a:txBody>
                  <a:tcPr>
                    <a:solidFill>
                      <a:srgbClr val="E7EEEE"/>
                    </a:solidFill>
                  </a:tcPr>
                </a:tc>
                <a:extLst>
                  <a:ext uri="{0D108BD9-81ED-4DB2-BD59-A6C34878D82A}">
                    <a16:rowId xmlns:a16="http://schemas.microsoft.com/office/drawing/2014/main" val="1003652622"/>
                  </a:ext>
                </a:extLst>
              </a:tr>
              <a:tr h="478815">
                <a:tc>
                  <a:txBody>
                    <a:bodyPr/>
                    <a:lstStyle/>
                    <a:p>
                      <a:r>
                        <a:rPr lang="en-GB" sz="1200"/>
                        <a:t>Trader has declared APC '1SP' in DE 1/11 at item level</a:t>
                      </a:r>
                    </a:p>
                  </a:txBody>
                  <a:tcPr>
                    <a:solidFill>
                      <a:srgbClr val="CBDCDB"/>
                    </a:solidFill>
                  </a:tcPr>
                </a:tc>
                <a:tc>
                  <a:txBody>
                    <a:bodyPr/>
                    <a:lstStyle/>
                    <a:p>
                      <a:r>
                        <a:rPr lang="en-GB" sz="1200">
                          <a:latin typeface="+mn-lt"/>
                        </a:rPr>
                        <a:t>Either APC '1SG', '1EL', '1LG' or '1EN' must be declared at item level on the same goods item</a:t>
                      </a:r>
                    </a:p>
                  </a:txBody>
                  <a:tcPr>
                    <a:solidFill>
                      <a:srgbClr val="CBDCDB"/>
                    </a:solidFill>
                  </a:tcPr>
                </a:tc>
                <a:extLst>
                  <a:ext uri="{0D108BD9-81ED-4DB2-BD59-A6C34878D82A}">
                    <a16:rowId xmlns:a16="http://schemas.microsoft.com/office/drawing/2014/main" val="1108568355"/>
                  </a:ext>
                </a:extLst>
              </a:tr>
              <a:tr h="478815">
                <a:tc>
                  <a:txBody>
                    <a:bodyPr/>
                    <a:lstStyle/>
                    <a:p>
                      <a:r>
                        <a:rPr lang="en-GB" sz="1200"/>
                        <a:t>Trader has declared APC '1GP' or '1PN' and the Additional Declaration Type declared in DE 1/2 is 'Y' or 'Z'</a:t>
                      </a:r>
                    </a:p>
                  </a:txBody>
                  <a:tcPr>
                    <a:solidFill>
                      <a:srgbClr val="E7EEEE"/>
                    </a:solidFill>
                  </a:tcPr>
                </a:tc>
                <a:tc>
                  <a:txBody>
                    <a:bodyPr/>
                    <a:lstStyle/>
                    <a:p>
                      <a:r>
                        <a:rPr lang="en-GB" sz="1200">
                          <a:latin typeface="+mn-lt"/>
                        </a:rPr>
                        <a:t>The Representative Code in DE 3/21 must be '3'</a:t>
                      </a:r>
                    </a:p>
                  </a:txBody>
                  <a:tcPr>
                    <a:solidFill>
                      <a:srgbClr val="E7EEEE"/>
                    </a:solidFill>
                  </a:tcPr>
                </a:tc>
                <a:extLst>
                  <a:ext uri="{0D108BD9-81ED-4DB2-BD59-A6C34878D82A}">
                    <a16:rowId xmlns:a16="http://schemas.microsoft.com/office/drawing/2014/main" val="1247559883"/>
                  </a:ext>
                </a:extLst>
              </a:tr>
              <a:tr h="478815">
                <a:tc>
                  <a:txBody>
                    <a:bodyPr/>
                    <a:lstStyle/>
                    <a:p>
                      <a:r>
                        <a:rPr lang="en-GB" sz="1200"/>
                        <a:t>Trader has declared APC '1PN' in DE 1/11 at item level.</a:t>
                      </a:r>
                    </a:p>
                  </a:txBody>
                  <a:tcPr>
                    <a:solidFill>
                      <a:srgbClr val="CBDCDB"/>
                    </a:solidFill>
                  </a:tcPr>
                </a:tc>
                <a:tc>
                  <a:txBody>
                    <a:bodyPr/>
                    <a:lstStyle/>
                    <a:p>
                      <a:r>
                        <a:rPr lang="en-GB" sz="1200" dirty="0">
                          <a:latin typeface="+mn-lt"/>
                        </a:rPr>
                        <a:t>At least one of the following AI Statement Codes '</a:t>
                      </a:r>
                      <a:r>
                        <a:rPr lang="en-GB" sz="1200" dirty="0">
                          <a:effectLst/>
                          <a:latin typeface="+mn-lt"/>
                          <a:ea typeface="Times New Roman" panose="02020603050405020304" pitchFamily="18" charset="0"/>
                        </a:rPr>
                        <a:t>SPIMM</a:t>
                      </a:r>
                      <a:r>
                        <a:rPr lang="en-GB" sz="1200" dirty="0">
                          <a:latin typeface="+mn-lt"/>
                        </a:rPr>
                        <a:t>NCN', '</a:t>
                      </a:r>
                      <a:r>
                        <a:rPr lang="en-GB" sz="1200" dirty="0">
                          <a:effectLst/>
                          <a:latin typeface="+mn-lt"/>
                          <a:ea typeface="Times New Roman" panose="02020603050405020304" pitchFamily="18" charset="0"/>
                        </a:rPr>
                        <a:t>SPIMM</a:t>
                      </a:r>
                      <a:r>
                        <a:rPr lang="en-GB" sz="1200" dirty="0">
                          <a:latin typeface="+mn-lt"/>
                        </a:rPr>
                        <a:t>PRO' or '</a:t>
                      </a:r>
                      <a:r>
                        <a:rPr lang="en-GB" sz="1200" dirty="0">
                          <a:effectLst/>
                          <a:latin typeface="+mn-lt"/>
                          <a:ea typeface="Times New Roman" panose="02020603050405020304" pitchFamily="18" charset="0"/>
                        </a:rPr>
                        <a:t>SPIMM</a:t>
                      </a:r>
                      <a:r>
                        <a:rPr lang="en-GB" sz="1200" dirty="0">
                          <a:latin typeface="+mn-lt"/>
                        </a:rPr>
                        <a:t>FNA' must be declared in DE 2/2 at item level on the same goods item.</a:t>
                      </a:r>
                    </a:p>
                  </a:txBody>
                  <a:tcPr>
                    <a:solidFill>
                      <a:srgbClr val="CBDCDB"/>
                    </a:solidFill>
                  </a:tcPr>
                </a:tc>
                <a:extLst>
                  <a:ext uri="{0D108BD9-81ED-4DB2-BD59-A6C34878D82A}">
                    <a16:rowId xmlns:a16="http://schemas.microsoft.com/office/drawing/2014/main" val="3073976193"/>
                  </a:ext>
                </a:extLst>
              </a:tr>
            </a:tbl>
          </a:graphicData>
        </a:graphic>
      </p:graphicFrame>
    </p:spTree>
    <p:extLst>
      <p:ext uri="{BB962C8B-B14F-4D97-AF65-F5344CB8AC3E}">
        <p14:creationId xmlns:p14="http://schemas.microsoft.com/office/powerpoint/2010/main" val="304636628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58737"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Table 5">
            <a:extLst>
              <a:ext uri="{FF2B5EF4-FFF2-40B4-BE49-F238E27FC236}">
                <a16:creationId xmlns:a16="http://schemas.microsoft.com/office/drawing/2014/main" id="{0C622A18-D207-F31A-4CFF-38BB6C54C90A}"/>
              </a:ext>
            </a:extLst>
          </p:cNvPr>
          <p:cNvGraphicFramePr>
            <a:graphicFrameLocks noGrp="1"/>
          </p:cNvGraphicFramePr>
          <p:nvPr/>
        </p:nvGraphicFramePr>
        <p:xfrm>
          <a:off x="465155" y="3829870"/>
          <a:ext cx="11160000" cy="109728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59200">
                <a:tc>
                  <a:txBody>
                    <a:bodyPr/>
                    <a:lstStyle/>
                    <a:p>
                      <a:r>
                        <a:rPr lang="en-GB" sz="1200"/>
                        <a:t>Additional Conditions That Will Cause a Rejection:</a:t>
                      </a:r>
                    </a:p>
                  </a:txBody>
                  <a:tcPr>
                    <a:solidFill>
                      <a:srgbClr val="009999"/>
                    </a:solidFill>
                  </a:tcPr>
                </a:tc>
                <a:extLst>
                  <a:ext uri="{0D108BD9-81ED-4DB2-BD59-A6C34878D82A}">
                    <a16:rowId xmlns:a16="http://schemas.microsoft.com/office/drawing/2014/main" val="1881507151"/>
                  </a:ext>
                </a:extLst>
              </a:tr>
              <a:tr h="259200">
                <a:tc>
                  <a:txBody>
                    <a:bodyPr/>
                    <a:lstStyle/>
                    <a:p>
                      <a:r>
                        <a:rPr lang="en-GB" sz="1200"/>
                        <a:t>A trader has declared APC '1GO' in DE 1/11 at item level and declared APC '1GP' in DE 1/11 at item level on the same goods item.</a:t>
                      </a:r>
                    </a:p>
                  </a:txBody>
                  <a:tcPr>
                    <a:solidFill>
                      <a:srgbClr val="E7EEEE"/>
                    </a:solidFill>
                  </a:tcPr>
                </a:tc>
                <a:extLst>
                  <a:ext uri="{0D108BD9-81ED-4DB2-BD59-A6C34878D82A}">
                    <a16:rowId xmlns:a16="http://schemas.microsoft.com/office/drawing/2014/main" val="244645981"/>
                  </a:ext>
                </a:extLst>
              </a:tr>
              <a:tr h="259200">
                <a:tc>
                  <a:txBody>
                    <a:bodyPr/>
                    <a:lstStyle/>
                    <a:p>
                      <a:r>
                        <a:rPr lang="en-GB" sz="1200"/>
                        <a:t>A trader has declared APC '1GP' in DE 1/11 at item level and declared APC '1GO' in DE 1/11 at item level on the same goods item.</a:t>
                      </a:r>
                    </a:p>
                  </a:txBody>
                  <a:tcPr>
                    <a:solidFill>
                      <a:srgbClr val="CBDCDB"/>
                    </a:solidFill>
                  </a:tcPr>
                </a:tc>
                <a:extLst>
                  <a:ext uri="{0D108BD9-81ED-4DB2-BD59-A6C34878D82A}">
                    <a16:rowId xmlns:a16="http://schemas.microsoft.com/office/drawing/2014/main" val="676372353"/>
                  </a:ext>
                </a:extLst>
              </a:tr>
              <a:tr h="259200">
                <a:tc>
                  <a:txBody>
                    <a:bodyPr/>
                    <a:lstStyle/>
                    <a:p>
                      <a:r>
                        <a:rPr lang="en-GB" sz="1200" dirty="0"/>
                        <a:t>A trader has declared APC '1PN' in DE 1/11 at item level and declared APC '1SR' or '1TB' in DE 1/11 at item level on the same goods item.</a:t>
                      </a:r>
                    </a:p>
                  </a:txBody>
                  <a:tcPr>
                    <a:solidFill>
                      <a:srgbClr val="E7EEEE"/>
                    </a:solidFill>
                  </a:tcPr>
                </a:tc>
                <a:extLst>
                  <a:ext uri="{0D108BD9-81ED-4DB2-BD59-A6C34878D82A}">
                    <a16:rowId xmlns:a16="http://schemas.microsoft.com/office/drawing/2014/main" val="1108568355"/>
                  </a:ext>
                </a:extLst>
              </a:tr>
            </a:tbl>
          </a:graphicData>
        </a:graphic>
      </p:graphicFrame>
      <p:graphicFrame>
        <p:nvGraphicFramePr>
          <p:cNvPr id="9" name="Table 8">
            <a:extLst>
              <a:ext uri="{FF2B5EF4-FFF2-40B4-BE49-F238E27FC236}">
                <a16:creationId xmlns:a16="http://schemas.microsoft.com/office/drawing/2014/main" id="{31949279-699C-C68C-DF21-ACBC3E9C5055}"/>
              </a:ext>
            </a:extLst>
          </p:cNvPr>
          <p:cNvGraphicFramePr>
            <a:graphicFrameLocks noGrp="1"/>
          </p:cNvGraphicFramePr>
          <p:nvPr/>
        </p:nvGraphicFramePr>
        <p:xfrm>
          <a:off x="419183" y="1443015"/>
          <a:ext cx="11160000" cy="1992312"/>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93991">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83767">
                <a:tc>
                  <a:txBody>
                    <a:bodyPr/>
                    <a:lstStyle/>
                    <a:p>
                      <a:r>
                        <a:rPr lang="en-GB" sz="1200">
                          <a:latin typeface="+mn-lt"/>
                        </a:rPr>
                        <a:t>Trader has declared APC '1SP' in DE 1/11 at item level.</a:t>
                      </a:r>
                    </a:p>
                  </a:txBody>
                  <a:tcPr>
                    <a:solidFill>
                      <a:srgbClr val="E7EEEE"/>
                    </a:solidFill>
                  </a:tcPr>
                </a:tc>
                <a:tc>
                  <a:txBody>
                    <a:bodyPr/>
                    <a:lstStyle/>
                    <a:p>
                      <a:r>
                        <a:rPr lang="en-GB" sz="1200"/>
                        <a:t> APC '1NR'  must be declared at item level on the same goods item.</a:t>
                      </a:r>
                    </a:p>
                  </a:txBody>
                  <a:tcPr>
                    <a:solidFill>
                      <a:srgbClr val="E7EEEE"/>
                    </a:solidFill>
                  </a:tcPr>
                </a:tc>
                <a:extLst>
                  <a:ext uri="{0D108BD9-81ED-4DB2-BD59-A6C34878D82A}">
                    <a16:rowId xmlns:a16="http://schemas.microsoft.com/office/drawing/2014/main" val="522366468"/>
                  </a:ext>
                </a:extLst>
              </a:tr>
              <a:tr h="287237">
                <a:tc>
                  <a:txBody>
                    <a:bodyPr/>
                    <a:lstStyle/>
                    <a:p>
                      <a:r>
                        <a:rPr lang="en-GB" sz="1200">
                          <a:latin typeface="+mn-lt"/>
                        </a:rPr>
                        <a:t>Trader has declared APC '1SR' in DE 1/11 at item level.</a:t>
                      </a:r>
                    </a:p>
                  </a:txBody>
                  <a:tcPr>
                    <a:solidFill>
                      <a:srgbClr val="CBDCDB"/>
                    </a:solidFill>
                  </a:tcPr>
                </a:tc>
                <a:tc>
                  <a:txBody>
                    <a:bodyPr/>
                    <a:lstStyle/>
                    <a:p>
                      <a:r>
                        <a:rPr lang="en-GB" sz="1200"/>
                        <a:t>AI Code 'GLEMS' must be declared in DE 2/2.</a:t>
                      </a:r>
                    </a:p>
                  </a:txBody>
                  <a:tcPr>
                    <a:solidFill>
                      <a:srgbClr val="CBDCDB"/>
                    </a:solidFill>
                  </a:tcPr>
                </a:tc>
                <a:extLst>
                  <a:ext uri="{0D108BD9-81ED-4DB2-BD59-A6C34878D82A}">
                    <a16:rowId xmlns:a16="http://schemas.microsoft.com/office/drawing/2014/main" val="3462893249"/>
                  </a:ext>
                </a:extLst>
              </a:tr>
              <a:tr h="287237">
                <a:tc>
                  <a:txBody>
                    <a:bodyPr/>
                    <a:lstStyle/>
                    <a:p>
                      <a:r>
                        <a:rPr lang="en-GB" sz="1200">
                          <a:latin typeface="+mn-lt"/>
                        </a:rPr>
                        <a:t>Trader has declared APC '1TB' in DE 1/11 at item level.</a:t>
                      </a:r>
                    </a:p>
                  </a:txBody>
                  <a:tcPr>
                    <a:solidFill>
                      <a:srgbClr val="E7EEEE"/>
                    </a:solidFill>
                  </a:tcPr>
                </a:tc>
                <a:tc>
                  <a:txBody>
                    <a:bodyPr/>
                    <a:lstStyle/>
                    <a:p>
                      <a:r>
                        <a:rPr lang="en-GB" sz="1200"/>
                        <a:t>AI Code 'GLTBO' in DE 2/2 at item level on the same goods item.</a:t>
                      </a:r>
                    </a:p>
                  </a:txBody>
                  <a:tcPr>
                    <a:solidFill>
                      <a:srgbClr val="E7EEEE"/>
                    </a:solidFill>
                  </a:tcPr>
                </a:tc>
                <a:extLst>
                  <a:ext uri="{0D108BD9-81ED-4DB2-BD59-A6C34878D82A}">
                    <a16:rowId xmlns:a16="http://schemas.microsoft.com/office/drawing/2014/main" val="1830899261"/>
                  </a:ext>
                </a:extLst>
              </a:tr>
              <a:tr h="483767">
                <a:tc>
                  <a:txBody>
                    <a:bodyPr/>
                    <a:lstStyle/>
                    <a:p>
                      <a:r>
                        <a:rPr lang="en-GB" sz="1200">
                          <a:latin typeface="+mn-lt"/>
                        </a:rPr>
                        <a:t>Trader has declared one of the AI Codes '</a:t>
                      </a:r>
                      <a:r>
                        <a:rPr lang="en-GB" sz="1200">
                          <a:effectLst/>
                          <a:latin typeface="+mn-lt"/>
                          <a:ea typeface="Times New Roman" panose="02020603050405020304" pitchFamily="18" charset="0"/>
                        </a:rPr>
                        <a:t>SPIMM</a:t>
                      </a:r>
                      <a:r>
                        <a:rPr lang="en-GB" sz="1200">
                          <a:latin typeface="+mn-lt"/>
                        </a:rPr>
                        <a:t>OGD', ‘</a:t>
                      </a:r>
                      <a:r>
                        <a:rPr lang="en-GB" sz="1200">
                          <a:effectLst/>
                          <a:latin typeface="+mn-lt"/>
                          <a:ea typeface="Times New Roman" panose="02020603050405020304" pitchFamily="18" charset="0"/>
                        </a:rPr>
                        <a:t>SPIMM</a:t>
                      </a:r>
                      <a:r>
                        <a:rPr lang="en-GB" sz="1200">
                          <a:latin typeface="+mn-lt"/>
                        </a:rPr>
                        <a:t>GPD', '</a:t>
                      </a:r>
                      <a:r>
                        <a:rPr lang="en-GB" sz="1200">
                          <a:effectLst/>
                          <a:latin typeface="+mn-lt"/>
                          <a:ea typeface="Times New Roman" panose="02020603050405020304" pitchFamily="18" charset="0"/>
                        </a:rPr>
                        <a:t>SPIMM</a:t>
                      </a:r>
                      <a:r>
                        <a:rPr lang="en-GB" sz="1200">
                          <a:latin typeface="+mn-lt"/>
                        </a:rPr>
                        <a:t>NCN', 'GLPRO', '</a:t>
                      </a:r>
                      <a:r>
                        <a:rPr lang="en-GB" sz="1200">
                          <a:effectLst/>
                          <a:latin typeface="+mn-lt"/>
                          <a:ea typeface="Times New Roman" panose="02020603050405020304" pitchFamily="18" charset="0"/>
                        </a:rPr>
                        <a:t>SPIMM</a:t>
                      </a:r>
                      <a:r>
                        <a:rPr lang="en-GB" sz="1200">
                          <a:latin typeface="+mn-lt"/>
                        </a:rPr>
                        <a:t>FNA', '</a:t>
                      </a:r>
                      <a:r>
                        <a:rPr lang="en-GB" sz="1200">
                          <a:effectLst/>
                          <a:latin typeface="+mn-lt"/>
                          <a:ea typeface="Times New Roman" panose="02020603050405020304" pitchFamily="18" charset="0"/>
                        </a:rPr>
                        <a:t>SPIMM</a:t>
                      </a:r>
                      <a:r>
                        <a:rPr lang="en-GB" sz="1200">
                          <a:latin typeface="+mn-lt"/>
                        </a:rPr>
                        <a:t>EMS', '</a:t>
                      </a:r>
                      <a:r>
                        <a:rPr lang="en-GB" sz="1200">
                          <a:effectLst/>
                          <a:latin typeface="+mn-lt"/>
                          <a:ea typeface="Times New Roman" panose="02020603050405020304" pitchFamily="18" charset="0"/>
                        </a:rPr>
                        <a:t>SPIMM</a:t>
                      </a:r>
                      <a:r>
                        <a:rPr lang="en-GB" sz="1200">
                          <a:latin typeface="+mn-lt"/>
                        </a:rPr>
                        <a:t>TBO', '</a:t>
                      </a:r>
                      <a:r>
                        <a:rPr lang="en-GB" sz="1200">
                          <a:effectLst/>
                          <a:latin typeface="+mn-lt"/>
                          <a:ea typeface="Times New Roman" panose="02020603050405020304" pitchFamily="18" charset="0"/>
                        </a:rPr>
                        <a:t>SPIMM</a:t>
                      </a:r>
                      <a:r>
                        <a:rPr lang="en-GB" sz="1200">
                          <a:latin typeface="+mn-lt"/>
                        </a:rPr>
                        <a:t>HYO', '</a:t>
                      </a:r>
                      <a:r>
                        <a:rPr lang="en-GB" sz="1200">
                          <a:effectLst/>
                          <a:latin typeface="+mn-lt"/>
                          <a:ea typeface="Times New Roman" panose="02020603050405020304" pitchFamily="18" charset="0"/>
                        </a:rPr>
                        <a:t>SPIMM</a:t>
                      </a:r>
                      <a:r>
                        <a:rPr lang="en-GB" sz="1200">
                          <a:latin typeface="+mn-lt"/>
                        </a:rPr>
                        <a:t>CCL' or '</a:t>
                      </a:r>
                      <a:r>
                        <a:rPr lang="en-GB" sz="1200">
                          <a:effectLst/>
                          <a:latin typeface="+mn-lt"/>
                          <a:ea typeface="Times New Roman" panose="02020603050405020304" pitchFamily="18" charset="0"/>
                        </a:rPr>
                        <a:t>SPIMM</a:t>
                      </a:r>
                      <a:r>
                        <a:rPr lang="en-GB" sz="1200">
                          <a:latin typeface="+mn-lt"/>
                        </a:rPr>
                        <a:t>OIL' in DE 2/2</a:t>
                      </a:r>
                    </a:p>
                  </a:txBody>
                  <a:tcPr>
                    <a:solidFill>
                      <a:srgbClr val="CBDCDB"/>
                    </a:solidFill>
                  </a:tcPr>
                </a:tc>
                <a:tc>
                  <a:txBody>
                    <a:bodyPr/>
                    <a:lstStyle/>
                    <a:p>
                      <a:r>
                        <a:rPr lang="en-GB" sz="1200" dirty="0"/>
                        <a:t>The AI Code must be followed by the free text information.</a:t>
                      </a:r>
                    </a:p>
                  </a:txBody>
                  <a:tcPr>
                    <a:solidFill>
                      <a:srgbClr val="CBDCDB"/>
                    </a:solidFill>
                  </a:tcPr>
                </a:tc>
                <a:extLst>
                  <a:ext uri="{0D108BD9-81ED-4DB2-BD59-A6C34878D82A}">
                    <a16:rowId xmlns:a16="http://schemas.microsoft.com/office/drawing/2014/main" val="750958867"/>
                  </a:ext>
                </a:extLst>
              </a:tr>
            </a:tbl>
          </a:graphicData>
        </a:graphic>
      </p:graphicFrame>
      <p:sp>
        <p:nvSpPr>
          <p:cNvPr id="13" name="TextBox 12">
            <a:extLst>
              <a:ext uri="{FF2B5EF4-FFF2-40B4-BE49-F238E27FC236}">
                <a16:creationId xmlns:a16="http://schemas.microsoft.com/office/drawing/2014/main" id="{D460B6EC-7D0B-6E47-072B-65CB559F04E0}"/>
              </a:ext>
            </a:extLst>
          </p:cNvPr>
          <p:cNvSpPr txBox="1"/>
          <p:nvPr/>
        </p:nvSpPr>
        <p:spPr>
          <a:xfrm>
            <a:off x="387692" y="3429000"/>
            <a:ext cx="11138263"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7644EA7B-CB67-FC35-7360-B632DA0A1AC3}"/>
              </a:ext>
            </a:extLst>
          </p:cNvPr>
          <p:cNvSpPr txBox="1"/>
          <p:nvPr/>
        </p:nvSpPr>
        <p:spPr>
          <a:xfrm>
            <a:off x="460804" y="4930603"/>
            <a:ext cx="6048375"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Calibri"/>
                <a:cs typeface="Calibri"/>
              </a:rPr>
              <a:t>*</a:t>
            </a:r>
            <a:r>
              <a:rPr kumimoji="0" lang="en-US" sz="1200" b="0" i="0" u="none" strike="noStrike" kern="1200" cap="none" spc="0" normalizeH="0" baseline="0" noProof="0">
                <a:ln>
                  <a:noFill/>
                </a:ln>
                <a:solidFill>
                  <a:prstClr val="black"/>
                </a:solidFill>
                <a:effectLst/>
                <a:uLnTx/>
                <a:uFillTx/>
                <a:latin typeface="Calibri" panose="020F0502020204030204"/>
                <a:ea typeface="+mn-lt"/>
                <a:cs typeface="Calibri" panose="020F0502020204030204"/>
              </a:rPr>
              <a:t>A SPIMM declaration type cannot be derived on a Type B or E declaration</a:t>
            </a: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198148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37473"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117F9721-A5AC-FF29-1B2B-4E505A75F8C2}"/>
              </a:ext>
            </a:extLst>
          </p:cNvPr>
          <p:cNvGraphicFramePr>
            <a:graphicFrameLocks noGrp="1"/>
          </p:cNvGraphicFramePr>
          <p:nvPr/>
        </p:nvGraphicFramePr>
        <p:xfrm>
          <a:off x="465155" y="1604406"/>
          <a:ext cx="11160000" cy="111600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9000">
                <a:tc>
                  <a:txBody>
                    <a:bodyPr/>
                    <a:lstStyle/>
                    <a:p>
                      <a:r>
                        <a:rPr lang="en-GB" sz="1200"/>
                        <a:t>Additional Conditions That Will Cause a Rejection:</a:t>
                      </a:r>
                    </a:p>
                  </a:txBody>
                  <a:tcPr>
                    <a:solidFill>
                      <a:srgbClr val="009999"/>
                    </a:solidFill>
                  </a:tcPr>
                </a:tc>
                <a:extLst>
                  <a:ext uri="{0D108BD9-81ED-4DB2-BD59-A6C34878D82A}">
                    <a16:rowId xmlns:a16="http://schemas.microsoft.com/office/drawing/2014/main" val="1881507151"/>
                  </a:ext>
                </a:extLst>
              </a:tr>
              <a:tr h="279000">
                <a:tc>
                  <a:txBody>
                    <a:bodyPr/>
                    <a:lstStyle/>
                    <a:p>
                      <a:r>
                        <a:rPr lang="en-GB" sz="1200"/>
                        <a:t>A trader has declared APC '1SR' in DE 1/11 at item level and has not declared AI Code 'GLEMS' in DE 2/2 at item level on the same goods item.</a:t>
                      </a:r>
                    </a:p>
                  </a:txBody>
                  <a:tcPr>
                    <a:solidFill>
                      <a:srgbClr val="E7EEEE"/>
                    </a:solidFill>
                  </a:tcPr>
                </a:tc>
                <a:extLst>
                  <a:ext uri="{0D108BD9-81ED-4DB2-BD59-A6C34878D82A}">
                    <a16:rowId xmlns:a16="http://schemas.microsoft.com/office/drawing/2014/main" val="4124246833"/>
                  </a:ext>
                </a:extLst>
              </a:tr>
              <a:tr h="279000">
                <a:tc>
                  <a:txBody>
                    <a:bodyPr/>
                    <a:lstStyle/>
                    <a:p>
                      <a:r>
                        <a:rPr lang="en-GB" sz="1200"/>
                        <a:t>A trader has declared APC '1SR' in DE 1/11 at item level and declared APC '1PN' or '1TB' in DE 1/11 at item level on the same goods item.</a:t>
                      </a:r>
                    </a:p>
                  </a:txBody>
                  <a:tcPr>
                    <a:solidFill>
                      <a:srgbClr val="CBDCDB"/>
                    </a:solidFill>
                  </a:tcPr>
                </a:tc>
                <a:extLst>
                  <a:ext uri="{0D108BD9-81ED-4DB2-BD59-A6C34878D82A}">
                    <a16:rowId xmlns:a16="http://schemas.microsoft.com/office/drawing/2014/main" val="1834086329"/>
                  </a:ext>
                </a:extLst>
              </a:tr>
              <a:tr h="279000">
                <a:tc>
                  <a:txBody>
                    <a:bodyPr/>
                    <a:lstStyle/>
                    <a:p>
                      <a:r>
                        <a:rPr lang="en-GB" sz="1200" dirty="0"/>
                        <a:t>A trader has declared APC ‘1TB' in DE 1/11 at item level and declared APC '1PN' or '1SR' in DE 1/11 at item level on the same goods item.</a:t>
                      </a:r>
                    </a:p>
                  </a:txBody>
                  <a:tcPr>
                    <a:solidFill>
                      <a:srgbClr val="E7EEEE"/>
                    </a:solidFill>
                  </a:tcPr>
                </a:tc>
                <a:extLst>
                  <a:ext uri="{0D108BD9-81ED-4DB2-BD59-A6C34878D82A}">
                    <a16:rowId xmlns:a16="http://schemas.microsoft.com/office/drawing/2014/main" val="3574574305"/>
                  </a:ext>
                </a:extLst>
              </a:tr>
            </a:tbl>
          </a:graphicData>
        </a:graphic>
      </p:graphicFrame>
    </p:spTree>
    <p:extLst>
      <p:ext uri="{BB962C8B-B14F-4D97-AF65-F5344CB8AC3E}">
        <p14:creationId xmlns:p14="http://schemas.microsoft.com/office/powerpoint/2010/main" val="223766517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16209"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8981" y="1225026"/>
            <a:ext cx="11260993" cy="120032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mn-cs"/>
              </a:rPr>
              <a:t>Existing APCs for Use in the SPIMM</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specific validation will be introduced for existing APCs that will be made available in the SPIMM ('F06', 'F44', 'F47', '1NV', '1SC’).</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pitchFamily="34" charset="0"/>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or </a:t>
            </a:r>
            <a:r>
              <a:rPr kumimoji="0" lang="en-GB" sz="1200" b="0" i="0" u="none" strike="noStrike" kern="0" cap="none" spc="0" normalizeH="0" baseline="0" noProof="0">
                <a:ln>
                  <a:noFill/>
                </a:ln>
                <a:solidFill>
                  <a:srgbClr val="000000"/>
                </a:solidFill>
                <a:effectLst/>
                <a:uLnTx/>
                <a:uFillTx/>
                <a:latin typeface="Calibri" panose="020F0502020204030204" pitchFamily="34" charset="0"/>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a:t>
            </a: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86322" y="2403433"/>
          <a:ext cx="11160000" cy="3168001"/>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7382">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467171">
                <a:tc>
                  <a:txBody>
                    <a:bodyPr/>
                    <a:lstStyle/>
                    <a:p>
                      <a:r>
                        <a:rPr lang="en-GB" sz="1200"/>
                        <a:t>Trader has declared APC '1SC' in DE 1/11 at item level.</a:t>
                      </a:r>
                    </a:p>
                  </a:txBody>
                  <a:tcPr>
                    <a:solidFill>
                      <a:srgbClr val="CBDCDB"/>
                    </a:solidFill>
                  </a:tcPr>
                </a:tc>
                <a:tc>
                  <a:txBody>
                    <a:bodyPr/>
                    <a:lstStyle/>
                    <a:p>
                      <a:r>
                        <a:rPr lang="en-GB" sz="1200"/>
                        <a:t>AI code 'SCF01' must be declared in DE 2/2 at item level on the same goods item</a:t>
                      </a:r>
                    </a:p>
                  </a:txBody>
                  <a:tcPr>
                    <a:solidFill>
                      <a:srgbClr val="CBDCDB"/>
                    </a:solidFill>
                  </a:tcPr>
                </a:tc>
                <a:extLst>
                  <a:ext uri="{0D108BD9-81ED-4DB2-BD59-A6C34878D82A}">
                    <a16:rowId xmlns:a16="http://schemas.microsoft.com/office/drawing/2014/main" val="676372353"/>
                  </a:ext>
                </a:extLst>
              </a:tr>
              <a:tr h="277382">
                <a:tc>
                  <a:txBody>
                    <a:bodyPr/>
                    <a:lstStyle/>
                    <a:p>
                      <a:r>
                        <a:rPr lang="en-GB" sz="1200"/>
                        <a:t>Trader has declared AI Code 'SCF01' in DE 2/2</a:t>
                      </a:r>
                    </a:p>
                  </a:txBody>
                  <a:tcPr>
                    <a:solidFill>
                      <a:srgbClr val="E7EEEE"/>
                    </a:solidFill>
                  </a:tcPr>
                </a:tc>
                <a:tc>
                  <a:txBody>
                    <a:bodyPr/>
                    <a:lstStyle/>
                    <a:p>
                      <a:r>
                        <a:rPr lang="en-GB" sz="1200"/>
                        <a:t>AI code must be followed by the free text information</a:t>
                      </a:r>
                    </a:p>
                  </a:txBody>
                  <a:tcPr>
                    <a:solidFill>
                      <a:srgbClr val="E7EEEE"/>
                    </a:solidFill>
                  </a:tcPr>
                </a:tc>
                <a:extLst>
                  <a:ext uri="{0D108BD9-81ED-4DB2-BD59-A6C34878D82A}">
                    <a16:rowId xmlns:a16="http://schemas.microsoft.com/office/drawing/2014/main" val="1003652622"/>
                  </a:ext>
                </a:extLst>
              </a:tr>
              <a:tr h="467171">
                <a:tc>
                  <a:txBody>
                    <a:bodyPr/>
                    <a:lstStyle/>
                    <a:p>
                      <a:r>
                        <a:rPr lang="en-GB" sz="1200"/>
                        <a:t>Trader has declared APC '1SC' in DE 1/11 at item level.</a:t>
                      </a:r>
                    </a:p>
                  </a:txBody>
                  <a:tcPr>
                    <a:solidFill>
                      <a:srgbClr val="CBDCDB"/>
                    </a:solidFill>
                  </a:tcPr>
                </a:tc>
                <a:tc>
                  <a:txBody>
                    <a:bodyPr/>
                    <a:lstStyle/>
                    <a:p>
                      <a:r>
                        <a:rPr lang="en-GB" sz="1200"/>
                        <a:t>Document Codes 'N271' and '1SCF' in DE 2/3 at item level on the same goods item.</a:t>
                      </a:r>
                    </a:p>
                  </a:txBody>
                  <a:tcPr>
                    <a:solidFill>
                      <a:srgbClr val="CBDCDB"/>
                    </a:solidFill>
                  </a:tcPr>
                </a:tc>
                <a:extLst>
                  <a:ext uri="{0D108BD9-81ED-4DB2-BD59-A6C34878D82A}">
                    <a16:rowId xmlns:a16="http://schemas.microsoft.com/office/drawing/2014/main" val="560831040"/>
                  </a:ext>
                </a:extLst>
              </a:tr>
              <a:tr h="467171">
                <a:tc>
                  <a:txBody>
                    <a:bodyPr/>
                    <a:lstStyle/>
                    <a:p>
                      <a:r>
                        <a:rPr lang="en-GB" sz="1200"/>
                        <a:t>Trader has declared APC '1SC' in DE 1/11 at item level with Document Code 'N271' or '1SCF' in DE 2/3 at item level on the same goods item.</a:t>
                      </a:r>
                    </a:p>
                  </a:txBody>
                  <a:tcPr>
                    <a:solidFill>
                      <a:srgbClr val="E7EEEE"/>
                    </a:solidFill>
                  </a:tcPr>
                </a:tc>
                <a:tc>
                  <a:txBody>
                    <a:bodyPr/>
                    <a:lstStyle/>
                    <a:p>
                      <a:r>
                        <a:rPr lang="en-GB" sz="1200"/>
                        <a:t>The Document Identifier sub-field of DE 2/3 must be provided on the same goods item</a:t>
                      </a:r>
                    </a:p>
                  </a:txBody>
                  <a:tcPr>
                    <a:solidFill>
                      <a:srgbClr val="E7EEEE"/>
                    </a:solidFill>
                  </a:tcPr>
                </a:tc>
                <a:extLst>
                  <a:ext uri="{0D108BD9-81ED-4DB2-BD59-A6C34878D82A}">
                    <a16:rowId xmlns:a16="http://schemas.microsoft.com/office/drawing/2014/main" val="1108568355"/>
                  </a:ext>
                </a:extLst>
              </a:tr>
              <a:tr h="277382">
                <a:tc>
                  <a:txBody>
                    <a:bodyPr/>
                    <a:lstStyle/>
                    <a:p>
                      <a:r>
                        <a:rPr lang="en-GB" sz="1200"/>
                        <a:t>Trader has declared APC '1SC' in DE 1/11 at item level.</a:t>
                      </a:r>
                    </a:p>
                  </a:txBody>
                  <a:tcPr>
                    <a:solidFill>
                      <a:srgbClr val="CBDCDB"/>
                    </a:solidFill>
                  </a:tcPr>
                </a:tc>
                <a:tc>
                  <a:txBody>
                    <a:bodyPr/>
                    <a:lstStyle/>
                    <a:p>
                      <a:r>
                        <a:rPr lang="en-GB" sz="1200"/>
                        <a:t>APC '1SG' must be declared in DE 1/11 at item level on the same goods item.</a:t>
                      </a:r>
                    </a:p>
                  </a:txBody>
                  <a:tcPr>
                    <a:solidFill>
                      <a:srgbClr val="CBDCDB"/>
                    </a:solidFill>
                  </a:tcPr>
                </a:tc>
                <a:extLst>
                  <a:ext uri="{0D108BD9-81ED-4DB2-BD59-A6C34878D82A}">
                    <a16:rowId xmlns:a16="http://schemas.microsoft.com/office/drawing/2014/main" val="1247559883"/>
                  </a:ext>
                </a:extLst>
              </a:tr>
              <a:tr h="467171">
                <a:tc>
                  <a:txBody>
                    <a:bodyPr/>
                    <a:lstStyle/>
                    <a:p>
                      <a:r>
                        <a:rPr lang="en-GB" sz="1200"/>
                        <a:t>Trader has declared APC 'F06' in DE 1/11 at item level</a:t>
                      </a:r>
                    </a:p>
                  </a:txBody>
                  <a:tcPr>
                    <a:solidFill>
                      <a:srgbClr val="E7EEEE"/>
                    </a:solidFill>
                  </a:tcPr>
                </a:tc>
                <a:tc>
                  <a:txBody>
                    <a:bodyPr/>
                    <a:lstStyle/>
                    <a:p>
                      <a:r>
                        <a:rPr lang="en-GB" sz="1200"/>
                        <a:t>APC '1EL' or '1EN' must be declared in DE 1/11 at item level on the same goods item</a:t>
                      </a:r>
                    </a:p>
                  </a:txBody>
                  <a:tcPr>
                    <a:solidFill>
                      <a:srgbClr val="E7EEEE"/>
                    </a:solidFill>
                  </a:tcPr>
                </a:tc>
                <a:extLst>
                  <a:ext uri="{0D108BD9-81ED-4DB2-BD59-A6C34878D82A}">
                    <a16:rowId xmlns:a16="http://schemas.microsoft.com/office/drawing/2014/main" val="750958867"/>
                  </a:ext>
                </a:extLst>
              </a:tr>
              <a:tr h="467171">
                <a:tc>
                  <a:txBody>
                    <a:bodyPr/>
                    <a:lstStyle/>
                    <a:p>
                      <a:r>
                        <a:rPr lang="en-GB" sz="1200"/>
                        <a:t>Trader has declared APC 'F47' in DE 1/11 at item level</a:t>
                      </a:r>
                    </a:p>
                  </a:txBody>
                  <a:tcPr>
                    <a:solidFill>
                      <a:srgbClr val="CBDCDB"/>
                    </a:solidFill>
                  </a:tcPr>
                </a:tc>
                <a:tc>
                  <a:txBody>
                    <a:bodyPr/>
                    <a:lstStyle/>
                    <a:p>
                      <a:r>
                        <a:rPr lang="en-GB" sz="1200" dirty="0"/>
                        <a:t>CDS will mandate that one of APCs '1SG' or '1EN' is declared at item level on the same goods item</a:t>
                      </a:r>
                    </a:p>
                  </a:txBody>
                  <a:tcPr>
                    <a:solidFill>
                      <a:srgbClr val="CBDCDB"/>
                    </a:solidFill>
                  </a:tcPr>
                </a:tc>
                <a:extLst>
                  <a:ext uri="{0D108BD9-81ED-4DB2-BD59-A6C34878D82A}">
                    <a16:rowId xmlns:a16="http://schemas.microsoft.com/office/drawing/2014/main" val="3634547927"/>
                  </a:ext>
                </a:extLst>
              </a:tr>
            </a:tbl>
          </a:graphicData>
        </a:graphic>
      </p:graphicFrame>
    </p:spTree>
    <p:extLst>
      <p:ext uri="{BB962C8B-B14F-4D97-AF65-F5344CB8AC3E}">
        <p14:creationId xmlns:p14="http://schemas.microsoft.com/office/powerpoint/2010/main" val="94830182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05572"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387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23891" y="1904730"/>
          <a:ext cx="11192025" cy="2097784"/>
        </p:xfrm>
        <a:graphic>
          <a:graphicData uri="http://schemas.openxmlformats.org/drawingml/2006/table">
            <a:tbl>
              <a:tblPr firstRow="1" bandRow="1">
                <a:tableStyleId>{5C22544A-7EE6-4342-B048-85BDC9FD1C3A}</a:tableStyleId>
              </a:tblPr>
              <a:tblGrid>
                <a:gridCol w="5612026">
                  <a:extLst>
                    <a:ext uri="{9D8B030D-6E8A-4147-A177-3AD203B41FA5}">
                      <a16:colId xmlns:a16="http://schemas.microsoft.com/office/drawing/2014/main" val="3837587197"/>
                    </a:ext>
                  </a:extLst>
                </a:gridCol>
                <a:gridCol w="5579999">
                  <a:extLst>
                    <a:ext uri="{9D8B030D-6E8A-4147-A177-3AD203B41FA5}">
                      <a16:colId xmlns:a16="http://schemas.microsoft.com/office/drawing/2014/main" val="574208599"/>
                    </a:ext>
                  </a:extLst>
                </a:gridCol>
              </a:tblGrid>
              <a:tr h="122975">
                <a:tc>
                  <a:txBody>
                    <a:bodyPr/>
                    <a:lstStyle/>
                    <a:p>
                      <a:r>
                        <a:rPr lang="en-GB" sz="1200"/>
                        <a:t>Condition</a:t>
                      </a:r>
                    </a:p>
                  </a:txBody>
                  <a:tcPr>
                    <a:solidFill>
                      <a:srgbClr val="009999"/>
                    </a:solidFill>
                  </a:tcPr>
                </a:tc>
                <a:tc>
                  <a:txBody>
                    <a:bodyPr/>
                    <a:lstStyle/>
                    <a:p>
                      <a:r>
                        <a:rPr lang="en-GB" sz="1200"/>
                        <a:t>Validation Requirements</a:t>
                      </a:r>
                    </a:p>
                  </a:txBody>
                  <a:tcPr>
                    <a:solidFill>
                      <a:srgbClr val="009999"/>
                    </a:solidFill>
                  </a:tcPr>
                </a:tc>
                <a:extLst>
                  <a:ext uri="{0D108BD9-81ED-4DB2-BD59-A6C34878D82A}">
                    <a16:rowId xmlns:a16="http://schemas.microsoft.com/office/drawing/2014/main" val="1881507151"/>
                  </a:ext>
                </a:extLst>
              </a:tr>
              <a:tr h="672589">
                <a:tc>
                  <a:txBody>
                    <a:bodyPr/>
                    <a:lstStyle/>
                    <a:p>
                      <a:r>
                        <a:rPr lang="en-GB" sz="1200"/>
                        <a:t>Trader has declared APC '1EN' or '1EL' in DE 1/11 at item level and has declared APC 'F06' at item level on the same goods item and Additional Declaration Type 'Y' in DE 1/2 at header level</a:t>
                      </a:r>
                    </a:p>
                  </a:txBody>
                  <a:tcPr>
                    <a:solidFill>
                      <a:srgbClr val="CBDCDB"/>
                    </a:solidFill>
                  </a:tcPr>
                </a:tc>
                <a:tc>
                  <a:txBody>
                    <a:bodyPr/>
                    <a:lstStyle/>
                    <a:p>
                      <a:r>
                        <a:rPr lang="en-GB" sz="1200"/>
                        <a:t>The Requested Procedure Code declared in DE 1/10 at item level on the same goods item must be '07'</a:t>
                      </a:r>
                    </a:p>
                  </a:txBody>
                  <a:tcPr>
                    <a:solidFill>
                      <a:srgbClr val="CBDCDB"/>
                    </a:solidFill>
                  </a:tcPr>
                </a:tc>
                <a:extLst>
                  <a:ext uri="{0D108BD9-81ED-4DB2-BD59-A6C34878D82A}">
                    <a16:rowId xmlns:a16="http://schemas.microsoft.com/office/drawing/2014/main" val="676372353"/>
                  </a:ext>
                </a:extLst>
              </a:tr>
              <a:tr h="672589">
                <a:tc>
                  <a:txBody>
                    <a:bodyPr/>
                    <a:lstStyle/>
                    <a:p>
                      <a:r>
                        <a:rPr lang="en-GB" sz="1200"/>
                        <a:t>Trader has declared APC '1EN' or '1EL' in DE 1/11 at item level and has declared APC 'F06' at item level on the same goods item and Additional Declaration Type 'Y' in DE 1/2 at header level</a:t>
                      </a:r>
                    </a:p>
                  </a:txBody>
                  <a:tcPr>
                    <a:solidFill>
                      <a:srgbClr val="E7EEEE"/>
                    </a:solidFill>
                  </a:tcPr>
                </a:tc>
                <a:tc>
                  <a:txBody>
                    <a:bodyPr/>
                    <a:lstStyle/>
                    <a:p>
                      <a:r>
                        <a:rPr lang="en-GB" sz="1200"/>
                        <a:t>The Previous Procedure Code declared in DE 1/10 at item level on the same goods item must be one of '00' or '78' </a:t>
                      </a:r>
                    </a:p>
                  </a:txBody>
                  <a:tcPr>
                    <a:solidFill>
                      <a:srgbClr val="E7EEEE"/>
                    </a:solidFill>
                  </a:tcPr>
                </a:tc>
                <a:extLst>
                  <a:ext uri="{0D108BD9-81ED-4DB2-BD59-A6C34878D82A}">
                    <a16:rowId xmlns:a16="http://schemas.microsoft.com/office/drawing/2014/main" val="1003652622"/>
                  </a:ext>
                </a:extLst>
              </a:tr>
              <a:tr h="478286">
                <a:tc>
                  <a:txBody>
                    <a:bodyPr/>
                    <a:lstStyle/>
                    <a:p>
                      <a:r>
                        <a:rPr lang="en-GB" sz="1200"/>
                        <a:t>Trader has declared APC 'F06' in DE 1/11 at item level</a:t>
                      </a:r>
                    </a:p>
                  </a:txBody>
                  <a:tcPr>
                    <a:solidFill>
                      <a:srgbClr val="CBDCDB"/>
                    </a:solidFill>
                  </a:tcPr>
                </a:tc>
                <a:tc>
                  <a:txBody>
                    <a:bodyPr/>
                    <a:lstStyle/>
                    <a:p>
                      <a:r>
                        <a:rPr lang="en-GB" sz="1200" dirty="0"/>
                        <a:t>The trader has declared AI code 'ECONR' in DE 2/2 at item level on the same goods item</a:t>
                      </a:r>
                    </a:p>
                  </a:txBody>
                  <a:tcPr>
                    <a:solidFill>
                      <a:srgbClr val="CBDCDB"/>
                    </a:solidFill>
                  </a:tcPr>
                </a:tc>
                <a:extLst>
                  <a:ext uri="{0D108BD9-81ED-4DB2-BD59-A6C34878D82A}">
                    <a16:rowId xmlns:a16="http://schemas.microsoft.com/office/drawing/2014/main" val="1108568355"/>
                  </a:ext>
                </a:extLst>
              </a:tr>
            </a:tbl>
          </a:graphicData>
        </a:graphic>
      </p:graphicFrame>
      <p:sp>
        <p:nvSpPr>
          <p:cNvPr id="13" name="TextBox 12">
            <a:extLst>
              <a:ext uri="{FF2B5EF4-FFF2-40B4-BE49-F238E27FC236}">
                <a16:creationId xmlns:a16="http://schemas.microsoft.com/office/drawing/2014/main" id="{D5B14057-D6D0-A629-8497-80641D18BE07}"/>
              </a:ext>
            </a:extLst>
          </p:cNvPr>
          <p:cNvSpPr txBox="1"/>
          <p:nvPr/>
        </p:nvSpPr>
        <p:spPr>
          <a:xfrm>
            <a:off x="416267" y="4440669"/>
            <a:ext cx="11138263"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181533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05576"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Table 5">
            <a:extLst>
              <a:ext uri="{FF2B5EF4-FFF2-40B4-BE49-F238E27FC236}">
                <a16:creationId xmlns:a16="http://schemas.microsoft.com/office/drawing/2014/main" id="{0C622A18-D207-F31A-4CFF-38BB6C54C90A}"/>
              </a:ext>
            </a:extLst>
          </p:cNvPr>
          <p:cNvGraphicFramePr>
            <a:graphicFrameLocks noGrp="1"/>
          </p:cNvGraphicFramePr>
          <p:nvPr/>
        </p:nvGraphicFramePr>
        <p:xfrm>
          <a:off x="465155" y="1556285"/>
          <a:ext cx="11160000" cy="82296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0000">
                <a:tc>
                  <a:txBody>
                    <a:bodyPr/>
                    <a:lstStyle/>
                    <a:p>
                      <a:r>
                        <a:rPr lang="en-GB" sz="1200"/>
                        <a:t>Additional Conditions That Will Cause a Rejection:</a:t>
                      </a:r>
                    </a:p>
                  </a:txBody>
                  <a:tcPr>
                    <a:solidFill>
                      <a:srgbClr val="009999"/>
                    </a:solidFill>
                  </a:tcPr>
                </a:tc>
                <a:extLst>
                  <a:ext uri="{0D108BD9-81ED-4DB2-BD59-A6C34878D82A}">
                    <a16:rowId xmlns:a16="http://schemas.microsoft.com/office/drawing/2014/main" val="1881507151"/>
                  </a:ext>
                </a:extLst>
              </a:tr>
              <a:tr h="27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A trader has declared APC '1EN' or '1EL' in DE 1/11 at item level on a Type 'Z' declaration and Requested Procedure Code '07' at item level on the same goods item.</a:t>
                      </a:r>
                    </a:p>
                  </a:txBody>
                  <a:tcPr>
                    <a:solidFill>
                      <a:srgbClr val="E7EEEE"/>
                    </a:solidFill>
                  </a:tcPr>
                </a:tc>
                <a:extLst>
                  <a:ext uri="{0D108BD9-81ED-4DB2-BD59-A6C34878D82A}">
                    <a16:rowId xmlns:a16="http://schemas.microsoft.com/office/drawing/2014/main" val="3893304146"/>
                  </a:ext>
                </a:extLst>
              </a:tr>
              <a:tr h="27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A trader has declared one of APCs '1NV' or 'F06' in DE 1/11 at item level and the Additional Declaration Type is 'Z' in DE 1/2.</a:t>
                      </a:r>
                    </a:p>
                  </a:txBody>
                  <a:tcPr>
                    <a:solidFill>
                      <a:srgbClr val="CBDCDB"/>
                    </a:solidFill>
                  </a:tcPr>
                </a:tc>
                <a:extLst>
                  <a:ext uri="{0D108BD9-81ED-4DB2-BD59-A6C34878D82A}">
                    <a16:rowId xmlns:a16="http://schemas.microsoft.com/office/drawing/2014/main" val="3682829106"/>
                  </a:ext>
                </a:extLst>
              </a:tr>
            </a:tbl>
          </a:graphicData>
        </a:graphic>
      </p:graphicFrame>
      <p:sp>
        <p:nvSpPr>
          <p:cNvPr id="5" name="Rectangle 4">
            <a:extLst>
              <a:ext uri="{FF2B5EF4-FFF2-40B4-BE49-F238E27FC236}">
                <a16:creationId xmlns:a16="http://schemas.microsoft.com/office/drawing/2014/main" id="{11762BA3-E84E-1243-89DB-BED216B9D4D0}"/>
              </a:ext>
            </a:extLst>
          </p:cNvPr>
          <p:cNvSpPr/>
          <p:nvPr/>
        </p:nvSpPr>
        <p:spPr>
          <a:xfrm>
            <a:off x="383480" y="2631258"/>
            <a:ext cx="11282159" cy="175432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sng" strike="noStrike" kern="0" cap="none" spc="0" normalizeH="0" baseline="0" noProof="0">
                <a:ln>
                  <a:noFill/>
                </a:ln>
                <a:solidFill>
                  <a:srgbClr val="000000"/>
                </a:solidFill>
                <a:effectLst/>
                <a:uLnTx/>
                <a:uFillTx/>
                <a:latin typeface="Calibri" panose="020F0502020204030204"/>
                <a:ea typeface="+mn-ea"/>
                <a:cs typeface="+mn-cs"/>
              </a:rPr>
              <a:t>SPIMM APC: 1SP</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i1 C&amp;F or </a:t>
            </a:r>
            <a:r>
              <a:rPr kumimoji="0" lang="en-GB" sz="1200" b="0" i="0" u="none" strike="noStrike" kern="0" cap="none" spc="0" normalizeH="0" baseline="0" noProof="0">
                <a:ln>
                  <a:noFill/>
                </a:ln>
                <a:solidFill>
                  <a:srgbClr val="000000"/>
                </a:solidFill>
                <a:effectLst/>
                <a:uLnTx/>
                <a:uFillTx/>
                <a:latin typeface="Calibri" panose="020F0502020204030204"/>
                <a:ea typeface="Times New Roman" panose="02020603050405020304" pitchFamily="18" charset="0"/>
                <a:cs typeface="+mn-cs"/>
              </a:rPr>
              <a:t>SPIMM</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 EIDR NOP has been derived and processed.</a:t>
            </a:r>
            <a:r>
              <a:rPr kumimoji="0" lang="en-GB" sz="1200" b="0" i="0" u="none" strike="noStrike" kern="0" cap="none" spc="0" normalizeH="0" baseline="0" noProof="0">
                <a:ln>
                  <a:noFill/>
                </a:ln>
                <a:solidFill>
                  <a:srgbClr val="000000"/>
                </a:solidFill>
                <a:effectLst/>
                <a:uLnTx/>
                <a:uFillTx/>
                <a:latin typeface="Calibri" panose="020F0502020204030204"/>
                <a:ea typeface="+mn-ea"/>
                <a:cs typeface="+mn-cs"/>
              </a:rPr>
              <a:t> </a:t>
            </a: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must exit a Special Procedure when using Additional Procedure Code 1SP.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1"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1" i="0" u="none" strike="noStrike" kern="0" cap="none" spc="0" normalizeH="0" baseline="0" noProof="0">
                <a:ln>
                  <a:noFill/>
                </a:ln>
                <a:solidFill>
                  <a:srgbClr val="000000"/>
                </a:solidFill>
                <a:effectLst/>
                <a:uLnTx/>
                <a:uFillTx/>
                <a:latin typeface="Calibri" panose="020F0502020204030204"/>
                <a:ea typeface="+mn-ea"/>
                <a:cs typeface="+mn-cs"/>
              </a:rPr>
              <a:t>Acceptance Criteria:</a:t>
            </a:r>
            <a:endPar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2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trader has declared Additional Procedure Code '1SP' in DE 1/11 at item level, Previous Procedure Code '51' '71', or '78' must be declared in DE 1/10 at item level on the same goods item. Where a Special Procedure is not declared, the declaration will be rejected and a DMSREJ notification issued.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sng"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200" b="0" i="0" u="none" strike="noStrike" kern="0" cap="none" spc="0" normalizeH="0" baseline="0" noProof="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414616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674972"/>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a:t>TTM27.0 (CDS 4.5.0)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June </a:t>
                      </a:r>
                      <a:r>
                        <a:rPr lang="en-GB" sz="1200" b="1" dirty="0">
                          <a:solidFill>
                            <a:srgbClr val="000000"/>
                          </a:solidFill>
                        </a:rPr>
                        <a:t>TDR: </a:t>
                      </a:r>
                      <a:r>
                        <a:rPr lang="en-GB" sz="1200" b="0" dirty="0">
                          <a:solidFill>
                            <a:srgbClr val="000000"/>
                          </a:solidFill>
                        </a:rPr>
                        <a:t>July  </a:t>
                      </a:r>
                      <a:r>
                        <a:rPr lang="en-GB" sz="1200" b="1" dirty="0">
                          <a:solidFill>
                            <a:srgbClr val="000000"/>
                          </a:solidFill>
                        </a:rPr>
                        <a:t>Live: </a:t>
                      </a:r>
                      <a:r>
                        <a:rPr lang="en-GB" sz="1200" b="0" dirty="0">
                          <a:solidFill>
                            <a:srgbClr val="000000"/>
                          </a:solidFill>
                        </a:rPr>
                        <a:t>June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648391"/>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53763" y="4257704"/>
          <a:ext cx="11213805" cy="1618519"/>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4">
                  <a:extLst>
                    <a:ext uri="{9D8B030D-6E8A-4147-A177-3AD203B41FA5}">
                      <a16:colId xmlns:a16="http://schemas.microsoft.com/office/drawing/2014/main" val="2084145098"/>
                    </a:ext>
                  </a:extLst>
                </a:gridCol>
              </a:tblGrid>
              <a:tr h="3972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lang="en-GB" sz="1200" u="none">
                          <a:solidFill>
                            <a:srgbClr val="000000"/>
                          </a:solidFill>
                          <a:latin typeface="+mn-lt"/>
                          <a:ea typeface="Geneva"/>
                        </a:rPr>
                        <a:t>    </a:t>
                      </a:r>
                      <a:r>
                        <a:rPr lang="en-GB" sz="1200" u="none">
                          <a:solidFill>
                            <a:srgbClr val="000000"/>
                          </a:solidFill>
                          <a:latin typeface="+mn-lt"/>
                          <a:ea typeface="Geneva"/>
                          <a:hlinkClick r:id="rId3" action="ppaction://hlinksldjump"/>
                        </a:rPr>
                        <a:t>Excise Relief on Denatured Alcohol</a:t>
                      </a:r>
                      <a:endParaRPr kumimoji="0" lang="en-GB" sz="1200" b="0" i="0" u="none" strike="noStrike" kern="1200" cap="none" spc="0" normalizeH="0" baseline="0" noProof="0">
                        <a:ln>
                          <a:noFill/>
                        </a:ln>
                        <a:solidFill>
                          <a:srgbClr val="000000"/>
                        </a:solidFill>
                        <a:effectLst/>
                        <a:uLnTx/>
                        <a:uFillTx/>
                        <a:latin typeface="+mn-lt"/>
                        <a:ea typeface="Geneva"/>
                        <a:cs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lang="en-GB" sz="1200" b="0" u="none"/>
                        <a:t>    </a:t>
                      </a:r>
                      <a:r>
                        <a:rPr lang="en-GB" sz="1200" b="0" u="sng">
                          <a:hlinkClick r:id="rId4" action="ppaction://hlinksldjump"/>
                        </a:rPr>
                        <a:t>CR296 Auto-disassociation of rejected DUCRs from a MUCR</a:t>
                      </a:r>
                      <a:endParaRPr kumimoji="0" lang="en-GB" sz="1200" b="0" i="0" u="none" strike="noStrike" kern="1200" cap="none" spc="0" normalizeH="0" baseline="0" noProof="0">
                        <a:ln>
                          <a:noFill/>
                        </a:ln>
                        <a:solidFill>
                          <a:srgbClr val="000000"/>
                        </a:solidFill>
                        <a:effectLst/>
                        <a:uLnTx/>
                        <a:uFillTx/>
                        <a:latin typeface="+mn-lt"/>
                        <a:ea typeface="Geneva"/>
                        <a:cs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200" b="0">
                          <a:solidFill>
                            <a:srgbClr val="000000"/>
                          </a:solidFill>
                          <a:latin typeface="+mn-lt"/>
                          <a:ea typeface="Geneva"/>
                        </a:rPr>
                        <a:t>     </a:t>
                      </a:r>
                      <a:r>
                        <a:rPr lang="en-GB" sz="1200" b="0" u="none"/>
                        <a:t> </a:t>
                      </a:r>
                      <a:r>
                        <a:rPr lang="en-GB" sz="1200" b="0">
                          <a:solidFill>
                            <a:srgbClr val="000000"/>
                          </a:solidFill>
                          <a:latin typeface="+mn-lt"/>
                          <a:ea typeface="Geneva"/>
                          <a:hlinkClick r:id="rId5" action="ppaction://hlinksldjump"/>
                        </a:rPr>
                        <a:t>Windsor Framework: H8 GB-NI SPIMM Movements</a:t>
                      </a: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sng">
                        <a:cs typeface="Calibri" panose="020F050202020403020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556119">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none"/>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i="0" u="sng">
                        <a:effectLst/>
                        <a:latin typeface="-apple-system"/>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605200">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sng"/>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658940015"/>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The purpose of this document is to provide </a:t>
            </a:r>
            <a:r>
              <a:rPr kumimoji="0" lang="en-GB" sz="1400" b="0" i="0" u="none" strike="noStrike" kern="0" cap="none" spc="0" normalizeH="0" baseline="0" noProof="0">
                <a:ln>
                  <a:noFill/>
                </a:ln>
                <a:solidFill>
                  <a:srgbClr val="000000"/>
                </a:solidFill>
                <a:effectLst/>
                <a:uLnTx/>
                <a:uFillTx/>
                <a:latin typeface="Calibri"/>
                <a:ea typeface="Calibri"/>
                <a:cs typeface="Calibri"/>
              </a:rPr>
              <a:t>External Developers</a:t>
            </a:r>
            <a:r>
              <a:rPr kumimoji="0" lang="en-GB" sz="1400" b="0" i="0" u="none" strike="noStrike" kern="1200" cap="none" spc="0" normalizeH="0" baseline="0" noProof="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6264A7"/>
                </a:solidFill>
                <a:effectLst/>
                <a:uLnTx/>
                <a:uFillTx/>
                <a:latin typeface="Calibri" panose="020F0502020204030204"/>
                <a:ea typeface="+mn-ea"/>
                <a:cs typeface="+mn-cs"/>
                <a:hlinkClick r:id="rId6"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a:ea typeface="Calibri"/>
                <a:cs typeface="Calibri"/>
                <a:hlinkClick r:id="rId7"/>
              </a:rPr>
              <a:t>SDSTeam@hmrc.gov.uk</a:t>
            </a:r>
            <a:r>
              <a:rPr kumimoji="0" lang="en-GB" sz="1400" b="0" i="0" u="none" strike="noStrike" kern="1200" cap="none" spc="0" normalizeH="0" baseline="0" noProof="0">
                <a:ln>
                  <a:noFill/>
                </a:ln>
                <a:solidFill>
                  <a:srgbClr val="000000"/>
                </a:solidFill>
                <a:effectLst/>
                <a:uLnTx/>
                <a:uFillTx/>
                <a:latin typeface="Calibri"/>
                <a:ea typeface="Calibri"/>
                <a:cs typeface="Calibri"/>
              </a:rPr>
              <a:t>.</a:t>
            </a: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27008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
        <p:nvSpPr>
          <p:cNvPr id="20" name="Footer Placeholder 1">
            <a:extLst>
              <a:ext uri="{FF2B5EF4-FFF2-40B4-BE49-F238E27FC236}">
                <a16:creationId xmlns:a16="http://schemas.microsoft.com/office/drawing/2014/main" id="{A21A1122-B829-80FE-C15B-A27655C0ABE8}"/>
              </a:ext>
            </a:extLst>
          </p:cNvPr>
          <p:cNvSpPr txBox="1"/>
          <p:nvPr/>
        </p:nvSpPr>
        <p:spPr>
          <a:xfrm>
            <a:off x="2752412"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22" name="Oval 16">
            <a:extLst>
              <a:ext uri="{FF2B5EF4-FFF2-40B4-BE49-F238E27FC236}">
                <a16:creationId xmlns:a16="http://schemas.microsoft.com/office/drawing/2014/main" id="{36151979-819C-C16F-F9D4-85DB868D1FE9}"/>
              </a:ext>
            </a:extLst>
          </p:cNvPr>
          <p:cNvSpPr/>
          <p:nvPr/>
        </p:nvSpPr>
        <p:spPr>
          <a:xfrm>
            <a:off x="6202697" y="432842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Oval 16">
            <a:extLst>
              <a:ext uri="{FF2B5EF4-FFF2-40B4-BE49-F238E27FC236}">
                <a16:creationId xmlns:a16="http://schemas.microsoft.com/office/drawing/2014/main" id="{ECCAFA4D-97E4-4B03-E1B7-3B866C4AF5E7}"/>
              </a:ext>
            </a:extLst>
          </p:cNvPr>
          <p:cNvSpPr/>
          <p:nvPr/>
        </p:nvSpPr>
        <p:spPr>
          <a:xfrm>
            <a:off x="575500" y="432271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Oval 16">
            <a:extLst>
              <a:ext uri="{FF2B5EF4-FFF2-40B4-BE49-F238E27FC236}">
                <a16:creationId xmlns:a16="http://schemas.microsoft.com/office/drawing/2014/main" id="{5ACF4560-8E66-DDA5-9C2C-5DDAC413920D}"/>
              </a:ext>
            </a:extLst>
          </p:cNvPr>
          <p:cNvSpPr/>
          <p:nvPr/>
        </p:nvSpPr>
        <p:spPr>
          <a:xfrm>
            <a:off x="3173390" y="433689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52428556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13395" y="649668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04753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sng" strike="noStrike" kern="1200" cap="none" spc="0" normalizeH="0" baseline="0" noProof="0">
                <a:ln>
                  <a:noFill/>
                </a:ln>
                <a:solidFill>
                  <a:prstClr val="black"/>
                </a:solidFill>
                <a:effectLst/>
                <a:uLnTx/>
                <a:uFillTx/>
                <a:latin typeface="Calibri" panose="020F0502020204030204"/>
                <a:ea typeface="+mn-ea"/>
                <a:cs typeface="+mn-cs"/>
              </a:rPr>
              <a:t>Excise Relief on Denatured Alcohol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Denatured alcohol refers to any alcohol that has been made unsuitable for drinking by the addition of approved denaturants. Imports of denatured alcohol for use in manufacturing a product not for human consumption must meet one of the UK denatured alcohol formulations.</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Classes of denatured alcohol include:</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Completely Denatured Alcohol (CDA): </a:t>
            </a:r>
            <a:r>
              <a:rPr kumimoji="0" lang="en-GB" sz="1400" b="0" i="0" u="none" strike="noStrike" kern="1200" cap="none" spc="0" normalizeH="0" baseline="0" noProof="0">
                <a:ln>
                  <a:noFill/>
                </a:ln>
                <a:solidFill>
                  <a:prstClr val="black"/>
                </a:solidFill>
                <a:effectLst/>
                <a:uLnTx/>
                <a:uFillTx/>
                <a:latin typeface="Calibri"/>
                <a:ea typeface="Calibri"/>
                <a:cs typeface="Calibri"/>
              </a:rPr>
              <a:t>CDA is the most heavily denatured alcohol. </a:t>
            </a:r>
            <a:endParaRPr kumimoji="0" lang="en-GB" sz="1400" b="0" i="0" u="none" strike="noStrike" kern="0" cap="none" spc="0" normalizeH="0" baseline="0" noProof="0">
              <a:ln>
                <a:noFill/>
              </a:ln>
              <a:solidFill>
                <a:prstClr val="black"/>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Industrial Denatured Alcohol (IDA): </a:t>
            </a:r>
            <a:r>
              <a:rPr kumimoji="0" lang="en-GB" sz="1400" b="0" i="0" u="none" strike="noStrike" kern="1200" cap="none" spc="0" normalizeH="0" baseline="0" noProof="0">
                <a:ln>
                  <a:noFill/>
                </a:ln>
                <a:solidFill>
                  <a:prstClr val="black"/>
                </a:solidFill>
                <a:effectLst/>
                <a:uLnTx/>
                <a:uFillTx/>
                <a:latin typeface="Calibri"/>
                <a:ea typeface="Calibri"/>
                <a:cs typeface="Calibri"/>
              </a:rPr>
              <a:t>IDA is the grade of denatured alcohol designed for industrial use.</a:t>
            </a:r>
            <a:endParaRPr kumimoji="0" lang="en-GB" sz="1400" b="0" i="0" u="none" strike="noStrike" kern="0" cap="none" spc="0" normalizeH="0" baseline="0" noProof="0">
              <a:ln>
                <a:noFill/>
              </a:ln>
              <a:solidFill>
                <a:prstClr val="black"/>
              </a:solidFill>
              <a:effectLst/>
              <a:uLnTx/>
              <a:uFillTx/>
              <a:latin typeface="Calibri"/>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a:ln>
                  <a:noFill/>
                </a:ln>
                <a:solidFill>
                  <a:prstClr val="black"/>
                </a:solidFill>
                <a:effectLst/>
                <a:uLnTx/>
                <a:uFillTx/>
                <a:latin typeface="Calibri" panose="020F0502020204030204"/>
                <a:ea typeface="+mn-ea"/>
                <a:cs typeface="Calibri" panose="020F0502020204030204"/>
              </a:rPr>
              <a:t>Trade Specific Denatured Alcohol (TSDA): </a:t>
            </a:r>
            <a:r>
              <a:rPr kumimoji="0" lang="en-GB" sz="1400" b="0" i="0" u="none" strike="noStrike" kern="1200" cap="none" spc="0" normalizeH="0" baseline="0" noProof="0">
                <a:ln>
                  <a:noFill/>
                </a:ln>
                <a:solidFill>
                  <a:prstClr val="black"/>
                </a:solidFill>
                <a:effectLst/>
                <a:uLnTx/>
                <a:uFillTx/>
                <a:latin typeface="Calibri"/>
                <a:ea typeface="Calibri"/>
                <a:cs typeface="Calibri"/>
              </a:rPr>
              <a:t>There are, at the time this notice was published, 12 approved formulations of TSDA, all with different specific approved uses.</a:t>
            </a:r>
            <a:endParaRPr kumimoji="0" lang="en-GB" sz="1400" b="0" i="0" u="none" strike="noStrike" kern="0" cap="none" spc="0" normalizeH="0" baseline="0" noProof="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You can find details of the UK denatured alcohol formulations and how to import them in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hlinkClick r:id="rId3"/>
              </a:rPr>
              <a:t>Excise Notice 473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and additional information can be found in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hlinkClick r:id="rId4"/>
              </a:rPr>
              <a:t>Excise Notice 64</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a:ea typeface="Calibri"/>
                <a:cs typeface="Calibri"/>
              </a:rPr>
              <a:t>CDAs can either go first into a Customs or Excise Warehouse, or straight into free circulation whereas TSDAs and IDAs must go into a Customs or Excise Warehouse.</a:t>
            </a:r>
            <a:endParaRPr kumimoji="0" lang="en-GB" sz="1400" b="0" i="0" u="none" strike="noStrike" kern="0" cap="none" spc="0" normalizeH="0" baseline="0" noProof="0">
              <a:ln>
                <a:noFill/>
              </a:ln>
              <a:solidFill>
                <a:prstClr val="black"/>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Denatured alcohol commodity types CDA, IDA &amp; TDSA will not be liable for excise duty, and so excise will be suppressed. The process will be as follows: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CDS will calculate Customs Duty, Excise and VAT and apply relevant subsidies.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trader has declared a denatured alcohol commodity type of CDA, IDA or TDSA, CDS will not calculate or charge any Excise Duty calculated as due for these denatured alcohol types.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A DMSTAX notification will be returned to the trader of all duties (Customs Duties and VAT) as applicable and any securities that are liable on their declaration.</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4881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08659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773678" y="650140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
                <a:ea typeface="+mn-ea"/>
                <a:cs typeface="+mn-cs"/>
              </a:rPr>
              <a:t>Data Element Completion:</a:t>
            </a:r>
            <a:endParaRPr kumimoji="0" lang="en-GB" sz="1400" b="0" i="0" u="none" strike="noStrike" kern="1200" cap="none" spc="0" normalizeH="0" baseline="0" noProof="0">
              <a:ln>
                <a:noFill/>
              </a:ln>
              <a:solidFill>
                <a:prstClr val="black"/>
              </a:solidFill>
              <a:effectLst/>
              <a:uLnTx/>
              <a:uFillTx/>
              <a:latin typeface="Calibri  "/>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333333"/>
                </a:solidFill>
                <a:effectLst/>
                <a:uLnTx/>
                <a:uFillTx/>
                <a:latin typeface="Calibri  "/>
                <a:ea typeface="+mn-ea"/>
                <a:cs typeface="+mn-cs"/>
              </a:rPr>
              <a:t>Traders will need to denote that a commodity declared is denatured alcohol type CDA, IDA or TDSA. For the declaration to be processed as denatured alcohol,</a:t>
            </a:r>
            <a:r>
              <a:rPr kumimoji="0" lang="en-GB" sz="1400" b="0" i="0" u="none" strike="noStrike" kern="1200" cap="none" spc="0" normalizeH="0" baseline="0" noProof="0">
                <a:ln>
                  <a:noFill/>
                </a:ln>
                <a:solidFill>
                  <a:srgbClr val="ED7D31"/>
                </a:solidFill>
                <a:effectLst/>
                <a:uLnTx/>
                <a:uFillTx/>
                <a:latin typeface="Calibri  "/>
                <a:ea typeface="+mn-ea"/>
                <a:cs typeface="+mn-cs"/>
              </a:rPr>
              <a:t> </a:t>
            </a:r>
            <a:r>
              <a:rPr kumimoji="0" lang="en-GB" sz="1400" b="0" i="0" u="none" strike="noStrike" kern="1200" cap="none" spc="0" normalizeH="0" baseline="0" noProof="0">
                <a:ln>
                  <a:noFill/>
                </a:ln>
                <a:solidFill>
                  <a:prstClr val="black"/>
                </a:solidFill>
                <a:effectLst/>
                <a:uLnTx/>
                <a:uFillTx/>
                <a:latin typeface="Calibri  "/>
                <a:ea typeface="+mn-ea"/>
                <a:cs typeface="+mn-cs"/>
              </a:rPr>
              <a:t>w</a:t>
            </a:r>
            <a:r>
              <a:rPr kumimoji="0" lang="en-GB" sz="1400" b="0" i="0" u="none" strike="noStrike" kern="1200" cap="none" spc="0" normalizeH="0" baseline="0" noProof="0">
                <a:ln>
                  <a:noFill/>
                </a:ln>
                <a:solidFill>
                  <a:prstClr val="black"/>
                </a:solidFill>
                <a:effectLst/>
                <a:uLnTx/>
                <a:uFillTx/>
                <a:latin typeface="Calibri  "/>
                <a:ea typeface="Calibri"/>
                <a:cs typeface="Calibri"/>
              </a:rPr>
              <a:t>here a trader declares an alcohol commodity code in DE 6/14 &amp; DE 6/15 at item level, they should also declare AI Code </a:t>
            </a:r>
            <a:r>
              <a:rPr kumimoji="0" lang="en-GB" sz="1400" b="0" i="0" u="none" strike="noStrike" kern="1200" cap="none" spc="0" normalizeH="0" baseline="0" noProof="0">
                <a:ln>
                  <a:noFill/>
                </a:ln>
                <a:solidFill>
                  <a:prstClr val="black"/>
                </a:solidFill>
                <a:effectLst/>
                <a:uLnTx/>
                <a:uFillTx/>
                <a:latin typeface="Calibri  "/>
                <a:ea typeface="+mn-ea"/>
                <a:cs typeface="+mn-cs"/>
              </a:rPr>
              <a:t>CDAUK, IDAUK, or TDAUK in DE 2/2 of the same item.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
                <a:ea typeface="Calibri"/>
                <a:cs typeface="Calibri"/>
              </a:rPr>
              <a:t>If the alcohol commodity declared in DE 6/14 &amp; DE 6/15 is not declared with the above AI Codes, then CDS will process the commodity as per BAU (not as denatured alcohol).</a:t>
            </a:r>
            <a:endParaRPr kumimoji="0" lang="en-GB" sz="1400" b="1" i="0" u="none" strike="noStrike" kern="1200" cap="none" spc="0" normalizeH="0" baseline="0" noProof="0">
              <a:ln>
                <a:noFill/>
              </a:ln>
              <a:solidFill>
                <a:prstClr val="black"/>
              </a:solidFill>
              <a:effectLst/>
              <a:uLnTx/>
              <a:uFillTx/>
              <a:latin typeface="Calibri  "/>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
                <a:ea typeface="Calibri"/>
                <a:cs typeface="Calibri"/>
              </a:rPr>
              <a:t>In addition to the AI Codes referenced above, the trader must also declare the following data elements: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
                <a:ea typeface="Calibri"/>
                <a:cs typeface="Calibri"/>
              </a:rPr>
              <a:t>DE 4/3, when declared for excise duty, must be completed with '315', '325', '335', or '345' and no other excise tax types.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
                <a:ea typeface="Calibri"/>
                <a:cs typeface="Calibri"/>
              </a:rPr>
              <a:t>DE 6/16 or DE 6/17, when declared for excise duty, must be completed with 'X315', 'X325', 'X335', or 'X345' and no other excise additional codes.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
                <a:ea typeface="Calibri"/>
                <a:cs typeface="Calibri"/>
              </a:rPr>
              <a:t>The CPC should be completed as per the attached Denatured Alcohol CPC Mapping document.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
                <a:ea typeface="Calibri"/>
                <a:cs typeface="Calibri"/>
              </a:rPr>
              <a:t>If the above criteria are not met, the declaration will be rejected, and the declarant will be issued a DMSREJ notification.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
                <a:ea typeface="+mn-ea"/>
                <a:cs typeface="+mn-cs"/>
              </a:rPr>
              <a:t>Please note: </a:t>
            </a:r>
            <a:r>
              <a:rPr kumimoji="0" lang="en-GB" sz="1400" b="0" i="0" u="none" strike="noStrike" kern="0" cap="none" spc="0" normalizeH="0" baseline="0" noProof="0">
                <a:ln>
                  <a:noFill/>
                </a:ln>
                <a:solidFill>
                  <a:srgbClr val="000000"/>
                </a:solidFill>
                <a:effectLst/>
                <a:uLnTx/>
                <a:uFillTx/>
                <a:latin typeface="Calibri  "/>
                <a:ea typeface="+mn-ea"/>
                <a:cs typeface="+mn-cs"/>
              </a:rPr>
              <a:t>this functionality covers the following journeys: </a:t>
            </a:r>
            <a:r>
              <a:rPr kumimoji="0" lang="en-GB" sz="1400" b="0" i="0" u="none" strike="noStrike" kern="0" cap="none" spc="0" normalizeH="0" baseline="0" noProof="0" err="1">
                <a:ln>
                  <a:noFill/>
                </a:ln>
                <a:solidFill>
                  <a:srgbClr val="000000"/>
                </a:solidFill>
                <a:effectLst/>
                <a:uLnTx/>
                <a:uFillTx/>
                <a:latin typeface="Calibri  "/>
                <a:ea typeface="+mn-ea"/>
                <a:cs typeface="+mn-cs"/>
              </a:rPr>
              <a:t>RoW</a:t>
            </a:r>
            <a:r>
              <a:rPr kumimoji="0" lang="en-GB" sz="1400" b="0" i="0" u="none" strike="noStrike" kern="0" cap="none" spc="0" normalizeH="0" baseline="0" noProof="0">
                <a:ln>
                  <a:noFill/>
                </a:ln>
                <a:solidFill>
                  <a:srgbClr val="000000"/>
                </a:solidFill>
                <a:effectLst/>
                <a:uLnTx/>
                <a:uFillTx/>
                <a:latin typeface="Calibri  "/>
                <a:ea typeface="+mn-ea"/>
                <a:cs typeface="+mn-cs"/>
              </a:rPr>
              <a:t>-GB, </a:t>
            </a:r>
            <a:r>
              <a:rPr kumimoji="0" lang="en-GB" sz="1400" b="0" i="0" u="none" strike="noStrike" kern="0" cap="none" spc="0" normalizeH="0" baseline="0" noProof="0" err="1">
                <a:ln>
                  <a:noFill/>
                </a:ln>
                <a:solidFill>
                  <a:srgbClr val="000000"/>
                </a:solidFill>
                <a:effectLst/>
                <a:uLnTx/>
                <a:uFillTx/>
                <a:latin typeface="Calibri  "/>
                <a:ea typeface="+mn-ea"/>
                <a:cs typeface="+mn-cs"/>
              </a:rPr>
              <a:t>RoW</a:t>
            </a:r>
            <a:r>
              <a:rPr kumimoji="0" lang="en-GB" sz="1400" b="0" i="0" u="none" strike="noStrike" kern="0" cap="none" spc="0" normalizeH="0" baseline="0" noProof="0">
                <a:ln>
                  <a:noFill/>
                </a:ln>
                <a:solidFill>
                  <a:srgbClr val="000000"/>
                </a:solidFill>
                <a:effectLst/>
                <a:uLnTx/>
                <a:uFillTx/>
                <a:latin typeface="Calibri  "/>
                <a:ea typeface="+mn-ea"/>
                <a:cs typeface="+mn-cs"/>
              </a:rPr>
              <a:t>-NI (NIIMP) and GB-NI (NIDOM).</a:t>
            </a:r>
            <a:endParaRPr kumimoji="0" lang="en-GB" sz="1400" b="0" i="0" u="none" strike="noStrike" kern="0" cap="none" spc="0" normalizeH="0" baseline="0" noProof="0">
              <a:ln>
                <a:noFill/>
              </a:ln>
              <a:solidFill>
                <a:srgbClr val="000000"/>
              </a:solidFill>
              <a:effectLst/>
              <a:uLnTx/>
              <a:uFillTx/>
              <a:latin typeface="Calibri  "/>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Object 4">
            <a:extLst>
              <a:ext uri="{FF2B5EF4-FFF2-40B4-BE49-F238E27FC236}">
                <a16:creationId xmlns:a16="http://schemas.microsoft.com/office/drawing/2014/main" id="{F4320D4B-3410-D95E-898C-31881C50F10A}"/>
              </a:ext>
            </a:extLst>
          </p:cNvPr>
          <p:cNvGraphicFramePr>
            <a:graphicFrameLocks noChangeAspect="1"/>
          </p:cNvGraphicFramePr>
          <p:nvPr/>
        </p:nvGraphicFramePr>
        <p:xfrm>
          <a:off x="10951663" y="176779"/>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5" name="Object 4">
                        <a:extLst>
                          <a:ext uri="{FF2B5EF4-FFF2-40B4-BE49-F238E27FC236}">
                            <a16:creationId xmlns:a16="http://schemas.microsoft.com/office/drawing/2014/main" id="{F4320D4B-3410-D95E-898C-31881C50F10A}"/>
                          </a:ext>
                        </a:extLst>
                      </p:cNvPr>
                      <p:cNvPicPr/>
                      <p:nvPr/>
                    </p:nvPicPr>
                    <p:blipFill>
                      <a:blip r:embed="rId4"/>
                      <a:stretch>
                        <a:fillRect/>
                      </a:stretch>
                    </p:blipFill>
                    <p:spPr>
                      <a:xfrm>
                        <a:off x="10951663" y="176779"/>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013336855"/>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26841" y="650140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26297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dirty="0">
                <a:ln>
                  <a:noFill/>
                </a:ln>
                <a:solidFill>
                  <a:srgbClr val="000000"/>
                </a:solidFill>
                <a:effectLst/>
                <a:uLnTx/>
                <a:uFillTx/>
                <a:latin typeface="Calibri" panose="020F0502020204030204"/>
                <a:ea typeface="+mn-ea"/>
                <a:cs typeface="+mn-cs"/>
              </a:rPr>
              <a:t>CR296 Auto-disassociation of rejected DUCRs from a MUCR</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From CDS4.4.0, once a declaration linked to a DUCR is rejected (SOE 5 or 11), the DUCR will be automatically disassociated from the MUCR. This is to ensure that MUCRs are not locked, and CSPs can progress other (or add new) DUCRs within the MUCR. Where a DUCR is automatically disassociated from a MUCR for SOEs 4, 5, 6 or 11 - an EMR (for the MUCR) and an ERS (for the DUCR) will be returned to all valid EAL requestors, and where there is no EAL, the EMR (for the MUCR) and ERS (for the DUCR) will be sent to the last EAA requestor.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rgbClr val="000000"/>
                </a:solidFill>
                <a:effectLst/>
                <a:uLnTx/>
                <a:uFillTx/>
                <a:latin typeface="Calibri" panose="020F0502020204030204"/>
                <a:ea typeface="+mn-ea"/>
                <a:cs typeface="+mn-cs"/>
              </a:rPr>
              <a:t>Please note: </a:t>
            </a: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if no EAA or EAL has been received, no EMR or ERS will be sent, and the declaration submitter will receive either a DMSREJ notification for pre-lodged declarations with SOE 5, 4 (ICS 3) or 11, or a DMSINV for arrived declarations with SOE 5, 4 (ICS 3), 4 (ICS 6), 6 or 11.</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rgbClr val="000000"/>
                </a:solidFill>
                <a:effectLst/>
                <a:uLnTx/>
                <a:uFillTx/>
                <a:latin typeface="Calibri" panose="020F0502020204030204"/>
                <a:ea typeface="+mn-ea"/>
                <a:cs typeface="+mn-cs"/>
              </a:rPr>
              <a:t>Acceptance Criteria: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Where an export declaration is assigned a declaration SOE of 5 or 11, CDS will automatically disassociate the linked DUCR from the MUCR.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Where an export declaration has received a SOE of 4, 5, 6, or 11 and the linked DUCR has been automatically disassociated from a MUCR, CDS will send an EMR for the top-level MUCR and an ERS for the DUCR to all valid EAL requesters.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Where there is no valid EAL and the auto-disassociation of the DUCR from the MUCR has occurred (for SOEs 4, 5, 6 &amp; 11), CDS will send the EMR and ERS responses to the last EAA requestor.</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400034"/>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Table 8">
            <a:extLst>
              <a:ext uri="{FF2B5EF4-FFF2-40B4-BE49-F238E27FC236}">
                <a16:creationId xmlns:a16="http://schemas.microsoft.com/office/drawing/2014/main" id="{59FFA58D-6AE3-956F-BEF7-336672FE4457}"/>
              </a:ext>
            </a:extLst>
          </p:cNvPr>
          <p:cNvGraphicFramePr>
            <a:graphicFrameLocks noGrp="1"/>
          </p:cNvGraphicFramePr>
          <p:nvPr/>
        </p:nvGraphicFramePr>
        <p:xfrm>
          <a:off x="2032000" y="4848093"/>
          <a:ext cx="8128000" cy="1508760"/>
        </p:xfrm>
        <a:graphic>
          <a:graphicData uri="http://schemas.openxmlformats.org/drawingml/2006/table">
            <a:tbl>
              <a:tblPr firstRow="1" bandRow="1">
                <a:tableStyleId>{5C22544A-7EE6-4342-B048-85BDC9FD1C3A}</a:tableStyleId>
              </a:tblPr>
              <a:tblGrid>
                <a:gridCol w="2423042">
                  <a:extLst>
                    <a:ext uri="{9D8B030D-6E8A-4147-A177-3AD203B41FA5}">
                      <a16:colId xmlns:a16="http://schemas.microsoft.com/office/drawing/2014/main" val="1537903639"/>
                    </a:ext>
                  </a:extLst>
                </a:gridCol>
                <a:gridCol w="5704958">
                  <a:extLst>
                    <a:ext uri="{9D8B030D-6E8A-4147-A177-3AD203B41FA5}">
                      <a16:colId xmlns:a16="http://schemas.microsoft.com/office/drawing/2014/main" val="863719230"/>
                    </a:ext>
                  </a:extLst>
                </a:gridCol>
              </a:tblGrid>
              <a:tr h="216000">
                <a:tc>
                  <a:txBody>
                    <a:bodyPr/>
                    <a:lstStyle/>
                    <a:p>
                      <a:pPr marL="0" algn="ctr" defTabSz="914400" rtl="0" eaLnBrk="1" latinLnBrk="0" hangingPunct="1"/>
                      <a:r>
                        <a:rPr lang="en-GB" sz="1400" b="1" kern="1200">
                          <a:solidFill>
                            <a:schemeClr val="lt1"/>
                          </a:solidFill>
                          <a:effectLst/>
                          <a:latin typeface="+mn-lt"/>
                          <a:ea typeface="+mn-ea"/>
                          <a:cs typeface="+mn-cs"/>
                        </a:rPr>
                        <a:t>SOE</a:t>
                      </a:r>
                    </a:p>
                  </a:txBody>
                  <a:tcPr marL="25400" marR="25400" marT="19050" marB="19050" anchor="ctr">
                    <a:solidFill>
                      <a:srgbClr val="009999"/>
                    </a:solidFill>
                  </a:tcPr>
                </a:tc>
                <a:tc>
                  <a:txBody>
                    <a:bodyPr/>
                    <a:lstStyle/>
                    <a:p>
                      <a:pPr marL="0" algn="ctr" defTabSz="914400" rtl="0" eaLnBrk="1" latinLnBrk="0" hangingPunct="1"/>
                      <a:r>
                        <a:rPr lang="en-GB" sz="1400" b="1" kern="1200">
                          <a:solidFill>
                            <a:schemeClr val="lt1"/>
                          </a:solidFill>
                          <a:effectLst/>
                          <a:latin typeface="+mn-lt"/>
                          <a:ea typeface="+mn-ea"/>
                          <a:cs typeface="+mn-cs"/>
                        </a:rPr>
                        <a:t>Description</a:t>
                      </a:r>
                    </a:p>
                  </a:txBody>
                  <a:tcPr marL="25400" marR="25400" marT="19050" marB="19050" anchor="ctr">
                    <a:solidFill>
                      <a:srgbClr val="009999"/>
                    </a:solidFill>
                  </a:tcPr>
                </a:tc>
                <a:extLst>
                  <a:ext uri="{0D108BD9-81ED-4DB2-BD59-A6C34878D82A}">
                    <a16:rowId xmlns:a16="http://schemas.microsoft.com/office/drawing/2014/main" val="1272491910"/>
                  </a:ext>
                </a:extLst>
              </a:tr>
              <a:tr h="216000">
                <a:tc>
                  <a:txBody>
                    <a:bodyPr/>
                    <a:lstStyle/>
                    <a:p>
                      <a:r>
                        <a:rPr lang="en-GB" sz="1400">
                          <a:effectLst/>
                        </a:rPr>
                        <a:t>4 (ICS 3)</a:t>
                      </a:r>
                    </a:p>
                  </a:txBody>
                  <a:tcPr marL="25400" marR="25400" marT="19050" marB="19050" anchor="ctr">
                    <a:solidFill>
                      <a:srgbClr val="CBDCDB"/>
                    </a:solidFill>
                  </a:tcPr>
                </a:tc>
                <a:tc>
                  <a:txBody>
                    <a:bodyPr/>
                    <a:lstStyle/>
                    <a:p>
                      <a:r>
                        <a:rPr lang="en-GB" sz="1400">
                          <a:effectLst/>
                        </a:rPr>
                        <a:t>Declaration Invalidated (at trader's request)</a:t>
                      </a:r>
                    </a:p>
                  </a:txBody>
                  <a:tcPr marL="25400" marR="25400" marT="19050" marB="19050" anchor="ctr">
                    <a:solidFill>
                      <a:srgbClr val="CBDCDB"/>
                    </a:solidFill>
                  </a:tcPr>
                </a:tc>
                <a:extLst>
                  <a:ext uri="{0D108BD9-81ED-4DB2-BD59-A6C34878D82A}">
                    <a16:rowId xmlns:a16="http://schemas.microsoft.com/office/drawing/2014/main" val="1318215555"/>
                  </a:ext>
                </a:extLst>
              </a:tr>
              <a:tr h="216000">
                <a:tc>
                  <a:txBody>
                    <a:bodyPr/>
                    <a:lstStyle/>
                    <a:p>
                      <a:r>
                        <a:rPr lang="en-GB" sz="1400">
                          <a:effectLst/>
                        </a:rPr>
                        <a:t>4 (ICS 6)</a:t>
                      </a:r>
                    </a:p>
                  </a:txBody>
                  <a:tcPr marL="25400" marR="25400" marT="19050" marB="19050" anchor="ctr">
                    <a:solidFill>
                      <a:srgbClr val="E7EEEE"/>
                    </a:solidFill>
                  </a:tcPr>
                </a:tc>
                <a:tc>
                  <a:txBody>
                    <a:bodyPr/>
                    <a:lstStyle/>
                    <a:p>
                      <a:r>
                        <a:rPr lang="en-GB" sz="1400">
                          <a:effectLst/>
                        </a:rPr>
                        <a:t>Declaration Invalidated (by customs due to major discrepancies)</a:t>
                      </a:r>
                    </a:p>
                  </a:txBody>
                  <a:tcPr marL="25400" marR="25400" marT="19050" marB="19050" anchor="ctr">
                    <a:solidFill>
                      <a:srgbClr val="E7EEEE"/>
                    </a:solidFill>
                  </a:tcPr>
                </a:tc>
                <a:extLst>
                  <a:ext uri="{0D108BD9-81ED-4DB2-BD59-A6C34878D82A}">
                    <a16:rowId xmlns:a16="http://schemas.microsoft.com/office/drawing/2014/main" val="3788370391"/>
                  </a:ext>
                </a:extLst>
              </a:tr>
              <a:tr h="216000">
                <a:tc>
                  <a:txBody>
                    <a:bodyPr/>
                    <a:lstStyle/>
                    <a:p>
                      <a:r>
                        <a:rPr lang="en-GB" sz="1400">
                          <a:effectLst/>
                        </a:rPr>
                        <a:t>5</a:t>
                      </a:r>
                    </a:p>
                  </a:txBody>
                  <a:tcPr marL="25400" marR="25400" marT="19050" marB="19050" anchor="ctr">
                    <a:solidFill>
                      <a:srgbClr val="CBDCDB"/>
                    </a:solidFill>
                  </a:tcPr>
                </a:tc>
                <a:tc>
                  <a:txBody>
                    <a:bodyPr/>
                    <a:lstStyle/>
                    <a:p>
                      <a:r>
                        <a:rPr lang="en-GB" sz="1400">
                          <a:effectLst/>
                        </a:rPr>
                        <a:t>Declaration Rejected</a:t>
                      </a:r>
                    </a:p>
                  </a:txBody>
                  <a:tcPr marL="25400" marR="25400" marT="19050" marB="19050" anchor="ctr">
                    <a:solidFill>
                      <a:srgbClr val="CBDCDB"/>
                    </a:solidFill>
                  </a:tcPr>
                </a:tc>
                <a:extLst>
                  <a:ext uri="{0D108BD9-81ED-4DB2-BD59-A6C34878D82A}">
                    <a16:rowId xmlns:a16="http://schemas.microsoft.com/office/drawing/2014/main" val="3099119680"/>
                  </a:ext>
                </a:extLst>
              </a:tr>
              <a:tr h="216000">
                <a:tc>
                  <a:txBody>
                    <a:bodyPr/>
                    <a:lstStyle/>
                    <a:p>
                      <a:r>
                        <a:rPr lang="en-GB" sz="1400">
                          <a:effectLst/>
                        </a:rPr>
                        <a:t>6</a:t>
                      </a:r>
                    </a:p>
                  </a:txBody>
                  <a:tcPr marL="25400" marR="25400" marT="19050" marB="19050" anchor="ctr">
                    <a:solidFill>
                      <a:srgbClr val="E7EEEE"/>
                    </a:solidFill>
                  </a:tcPr>
                </a:tc>
                <a:tc>
                  <a:txBody>
                    <a:bodyPr/>
                    <a:lstStyle/>
                    <a:p>
                      <a:r>
                        <a:rPr lang="en-GB" sz="1400">
                          <a:effectLst/>
                        </a:rPr>
                        <a:t>Declaration Handled Externally</a:t>
                      </a:r>
                    </a:p>
                  </a:txBody>
                  <a:tcPr marL="25400" marR="25400" marT="19050" marB="19050" anchor="ctr">
                    <a:solidFill>
                      <a:srgbClr val="E7EEEE"/>
                    </a:solidFill>
                  </a:tcPr>
                </a:tc>
                <a:extLst>
                  <a:ext uri="{0D108BD9-81ED-4DB2-BD59-A6C34878D82A}">
                    <a16:rowId xmlns:a16="http://schemas.microsoft.com/office/drawing/2014/main" val="3437528843"/>
                  </a:ext>
                </a:extLst>
              </a:tr>
              <a:tr h="216000">
                <a:tc>
                  <a:txBody>
                    <a:bodyPr/>
                    <a:lstStyle/>
                    <a:p>
                      <a:r>
                        <a:rPr lang="en-GB" sz="1400">
                          <a:effectLst/>
                        </a:rPr>
                        <a:t>11</a:t>
                      </a:r>
                    </a:p>
                  </a:txBody>
                  <a:tcPr marL="25400" marR="25400" marT="19050" marB="19050" anchor="ctr">
                    <a:solidFill>
                      <a:srgbClr val="CBDCDB"/>
                    </a:solidFill>
                  </a:tcPr>
                </a:tc>
                <a:tc>
                  <a:txBody>
                    <a:bodyPr/>
                    <a:lstStyle/>
                    <a:p>
                      <a:r>
                        <a:rPr lang="en-GB" sz="1400" dirty="0">
                          <a:effectLst/>
                        </a:rPr>
                        <a:t>Declaration Rejection at Goods Arrival</a:t>
                      </a:r>
                    </a:p>
                  </a:txBody>
                  <a:tcPr marL="25400" marR="25400" marT="19050" marB="19050" anchor="ctr">
                    <a:solidFill>
                      <a:srgbClr val="CBDCDB"/>
                    </a:solidFill>
                  </a:tcPr>
                </a:tc>
                <a:extLst>
                  <a:ext uri="{0D108BD9-81ED-4DB2-BD59-A6C34878D82A}">
                    <a16:rowId xmlns:a16="http://schemas.microsoft.com/office/drawing/2014/main" val="3571995865"/>
                  </a:ext>
                </a:extLst>
              </a:tr>
            </a:tbl>
          </a:graphicData>
        </a:graphic>
      </p:graphicFrame>
    </p:spTree>
    <p:extLst>
      <p:ext uri="{BB962C8B-B14F-4D97-AF65-F5344CB8AC3E}">
        <p14:creationId xmlns:p14="http://schemas.microsoft.com/office/powerpoint/2010/main" val="293813587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805576" y="650140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10909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a:ln>
                  <a:noFill/>
                </a:ln>
                <a:solidFill>
                  <a:srgbClr val="000000"/>
                </a:solidFill>
                <a:effectLst/>
                <a:uLnTx/>
                <a:uFillTx/>
                <a:latin typeface="Calibri" panose="020F0502020204030204"/>
                <a:ea typeface="Geneva"/>
                <a:cs typeface="+mn-cs"/>
              </a:rPr>
              <a:t>Windsor Framework: H8 GB-NI SPIMM Movements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900" b="1" i="0" u="sng"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The UK Internal Market Scheme (UKIMS) will grant traders access to the following new functionality to be introduced in Production from September 2024*:</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SPIMM (Simplified Process for Internal Market Movements) will be available for UK-destined goods moved by authorised traders. This will mean that goods being sold in Northern Ireland will be freed of unnecessary paperwork, checks and duties, using only ordinary commercial information rather than customs processes or complex certification requirements for Agrifood.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EU-destined goods movements (i.e. At Risk) or goods moved by traders not in the UKIMS authorised trader scheme will be subject to normal third country processes and requirements, including full checks, controls and full customs procedures.</a:t>
            </a:r>
            <a:endParaRPr kumimoji="0" lang="en-GB" sz="1400" b="1" i="0" u="sng" strike="noStrike" kern="120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1" i="0" u="sng"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To facilitate the above GB-NI SPIMM movements, a simplified declaration procedure will be introduced via a new declaration type (the H8) to be submitted for movements into free circulation in Northern Ireland, for 'Not At Risk' goods moved from GB by trusted traders. The H8 will be inserted into the UCC DR and be utilised by UKIMS authorised traders, removing the need for a full declaration and introducing a simplified dataset. The H8 declaration will be usable at both Inventory Linked Ports (ILP) and non-ILP/GVMS ports. Where goods and traders are not eligible for the SPIMM, the normal import procedures is expected to be used.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The H8 Dataset will be introduced into CDS for 'Not At Risk' imports into NI from GB. As such, the necessary processing required for the H8 Declaration dataset will also be introduced.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The SPIMM Declaration Completion Instructions can be located in the Technical Documentation zip file on the Developer Hub. This guidance will aim to cover the functional changes being delivered in CDS to support these requirements.</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*Please note: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H8 GB-NI SPIMM Movements functionality be available to test in Trade Test and Trader Dress Rehearsal from TTM27.0/TDR4.5.0 before use in Production from September 2024.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rPr>
              <a:t>The H8 dataset is part of a full Windsor Framework package, with other datasets (GL I1 C&amp;F, GL EIDR NOP, GL C21i) scheduled for delivery in a future FY24 release. This guidance only covers the H8 dataset.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0" i="0" u="none" strike="noStrike" kern="0" cap="none" spc="0" normalizeH="0" baseline="0" noProof="0">
              <a:ln>
                <a:noFill/>
              </a:ln>
              <a:solidFill>
                <a:srgbClr val="000000"/>
              </a:solidFill>
              <a:effectLst/>
              <a:uLnTx/>
              <a:uFillTx/>
              <a:latin typeface="Calibri" panose="020F0502020204030204"/>
              <a:ea typeface="+mn-ea"/>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227548" y="6400034"/>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7951516"/>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4630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dirty="0">
                <a:ln>
                  <a:noFill/>
                </a:ln>
                <a:solidFill>
                  <a:srgbClr val="000000"/>
                </a:solidFill>
                <a:effectLst/>
                <a:uLnTx/>
                <a:uFillTx/>
                <a:latin typeface="Calibri" panose="020F0502020204030204"/>
                <a:ea typeface="+mn-ea"/>
                <a:cs typeface="+mn-cs"/>
              </a:rPr>
              <a:t>Introducing the H8 Dataset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1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This functionality will allow the derivation of an H8 Dataset so that UKIMS Authorised traders, as well as traders using the AI override Code NIAPP*, can benefit from a reduced** dataset for GB-NI Not-at-Risk goods movements eligible for SPIMM.</a:t>
            </a:r>
            <a:endParaRPr kumimoji="0" lang="en-GB" sz="1400" b="0"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600" b="1"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rgbClr val="000000"/>
                </a:solidFill>
                <a:effectLst/>
                <a:uLnTx/>
                <a:uFillTx/>
                <a:latin typeface="Calibri" panose="020F0502020204030204"/>
                <a:ea typeface="+mn-ea"/>
                <a:cs typeface="Calibri"/>
              </a:rPr>
              <a:t>Please note:</a:t>
            </a:r>
            <a:endParaRPr kumimoji="0" lang="en-GB" sz="1400" b="1"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1" u="none" strike="noStrike" kern="0" cap="none" spc="0" normalizeH="0" baseline="0" noProof="0" dirty="0">
                <a:ln>
                  <a:noFill/>
                </a:ln>
                <a:solidFill>
                  <a:srgbClr val="000000"/>
                </a:solidFill>
                <a:effectLst/>
                <a:uLnTx/>
                <a:uFillTx/>
                <a:latin typeface="Calibri" panose="020F0502020204030204"/>
                <a:ea typeface="+mn-ea"/>
                <a:cs typeface="Calibri"/>
              </a:rPr>
              <a:t>*NIAPP is only to be </a:t>
            </a:r>
            <a:r>
              <a:rPr kumimoji="0" lang="en-GB" sz="1400" b="0" i="1" u="none" strike="noStrike" kern="1200" cap="none" spc="0" normalizeH="0" baseline="0" noProof="0" dirty="0">
                <a:ln>
                  <a:noFill/>
                </a:ln>
                <a:solidFill>
                  <a:prstClr val="black"/>
                </a:solidFill>
                <a:effectLst/>
                <a:uLnTx/>
                <a:uFillTx/>
                <a:latin typeface="Calibri" panose="020F0502020204030204"/>
                <a:ea typeface="+mn-ea"/>
                <a:cs typeface="+mn-cs"/>
              </a:rPr>
              <a:t>used by traders only on instruction by HMRC. Traders may experience additional compliance action should the code be used without prior approval.</a:t>
            </a:r>
            <a:r>
              <a:rPr kumimoji="0" lang="en-GB" sz="1400" b="0" i="1" u="none" strike="noStrike" kern="0" cap="none" spc="0" normalizeH="0" baseline="0" noProof="0" dirty="0">
                <a:ln>
                  <a:noFill/>
                </a:ln>
                <a:solidFill>
                  <a:prstClr val="black"/>
                </a:solidFill>
                <a:effectLst/>
                <a:uLnTx/>
                <a:uFillTx/>
                <a:latin typeface="Calibri" panose="020F0502020204030204"/>
                <a:ea typeface="+mn-ea"/>
                <a:cs typeface="+mn-cs"/>
              </a:rPr>
              <a:t> </a:t>
            </a:r>
            <a:endParaRPr kumimoji="0" lang="en-GB" sz="1400" b="0" i="1"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1" u="none" strike="noStrike" kern="0" cap="none" spc="0" normalizeH="0" baseline="0" noProof="0" dirty="0">
                <a:ln>
                  <a:noFill/>
                </a:ln>
                <a:solidFill>
                  <a:srgbClr val="000000"/>
                </a:solidFill>
                <a:effectLst/>
                <a:uLnTx/>
                <a:uFillTx/>
                <a:latin typeface="Calibri" panose="020F0502020204030204"/>
                <a:ea typeface="+mn-ea"/>
                <a:cs typeface="+mn-cs"/>
              </a:rPr>
              <a:t>**Traders using the H8 Supplementary Type 'Y', will also be required to provide an SDP authorisation and, traders using the H8 Supplementary Type 'Z' will also be required to provide an EIDR/UKIMS EIDR Authorisation. Note that the H8 supplementary declaration (Y, Z) is being delivered as part of TTM27.0. However, the SPIMM version of the I1 C&amp;F and EIDR NOP will not be delivered until TTM28.0/CDS4.6.0.</a:t>
            </a: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600" b="1"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rgbClr val="000000"/>
                </a:solidFill>
                <a:effectLst/>
                <a:uLnTx/>
                <a:uFillTx/>
                <a:latin typeface="Calibri" panose="020F0502020204030204"/>
                <a:ea typeface="+mn-ea"/>
                <a:cs typeface="+mn-cs"/>
              </a:rPr>
              <a:t>Acceptance Criteria:</a:t>
            </a:r>
            <a:endParaRPr kumimoji="0" lang="en-GB" sz="1400" b="1"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As per the attached Consolidated H8 document, CDS will derive the H8 Dataset where the following combination of data elements is declared:</a:t>
            </a: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Calibri" panose="020F0502020204030204"/>
                <a:ea typeface="+mn-ea"/>
                <a:cs typeface="+mn-cs"/>
              </a:rPr>
              <a:t>Declaration type 'IM ' in DE 1/1 at header level</a:t>
            </a:r>
            <a:endParaRPr kumimoji="0" lang="en-GB" sz="1400" b="0" i="0" u="none" strike="noStrike" kern="0" cap="none" spc="0" normalizeH="0" baseline="0" noProof="0" dirty="0">
              <a:ln>
                <a:noFill/>
              </a:ln>
              <a:solidFill>
                <a:prstClr val="black"/>
              </a:solidFill>
              <a:effectLst/>
              <a:uLnTx/>
              <a:uFillTx/>
              <a:latin typeface="Calibri" panose="020F0502020204030204"/>
              <a:ea typeface="+mn-ea"/>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Calibri" panose="020F0502020204030204"/>
                <a:ea typeface="+mn-ea"/>
                <a:cs typeface="+mn-cs"/>
              </a:rPr>
              <a:t>Additional declaration type 'A', 'D', 'Y', or 'Z' in DE 1/2 at header level</a:t>
            </a:r>
            <a:endParaRPr kumimoji="0" lang="en-GB" sz="1400" b="0" i="0" u="none" strike="noStrike" kern="0" cap="none" spc="0" normalizeH="0" baseline="0" noProof="0" dirty="0">
              <a:ln>
                <a:noFill/>
              </a:ln>
              <a:solidFill>
                <a:prstClr val="black"/>
              </a:solidFill>
              <a:effectLst/>
              <a:uLnTx/>
              <a:uFillTx/>
              <a:latin typeface="Calibri" panose="020F0502020204030204"/>
              <a:ea typeface="+mn-ea"/>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Calibri" panose="020F0502020204030204"/>
                <a:ea typeface="+mn-ea"/>
                <a:cs typeface="+mn-cs"/>
              </a:rPr>
              <a:t>One of the Procedure Codes '0700', '0751', '0771', '0778', '4000', '4051', '4071' or '4078' in DE 1/10 at item level</a:t>
            </a:r>
            <a:endParaRPr kumimoji="0" lang="en-GB" sz="1400" b="0" i="0" u="none" strike="noStrike" kern="0" cap="none" spc="0" normalizeH="0" baseline="0" noProof="0" dirty="0">
              <a:ln>
                <a:noFill/>
              </a:ln>
              <a:solidFill>
                <a:prstClr val="black"/>
              </a:solidFill>
              <a:effectLst/>
              <a:uLnTx/>
              <a:uFillTx/>
              <a:latin typeface="Calibri" panose="020F0502020204030204"/>
              <a:ea typeface="+mn-ea"/>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Calibri" panose="020F0502020204030204"/>
                <a:ea typeface="+mn-ea"/>
                <a:cs typeface="+mn-cs"/>
              </a:rPr>
              <a:t>One of the Additional Procedure Codes '1SG', '1LG', '1EN' or '1EL' in DE 1/11 at item level.</a:t>
            </a:r>
            <a:endParaRPr kumimoji="0" lang="en-GB" sz="1400" b="0" i="0" u="none" strike="noStrike" kern="0" cap="none" spc="0" normalizeH="0" baseline="0" noProof="0" dirty="0">
              <a:ln>
                <a:noFill/>
              </a:ln>
              <a:solidFill>
                <a:prstClr val="black"/>
              </a:solidFill>
              <a:effectLst/>
              <a:uLnTx/>
              <a:uFillTx/>
              <a:latin typeface="Calibri" panose="020F0502020204030204"/>
              <a:ea typeface="+mn-ea"/>
              <a:cs typeface="Calibri"/>
            </a:endParaRPr>
          </a:p>
          <a:p>
            <a:pPr marL="457200" marR="0" lvl="1"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Calibri" panose="020F0502020204030204"/>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Where the above criteria is met, CDS will enforce the H8 completion rules for data elements present on the H8 dataset as a minimum on the 'GL H8 Completion Matrix' tab of the Consolidated H8 Document. If the completion rules are not followed, the declaration will be rejected and a DMSREJ notification issued. Note: this information can also be found in the Technical Completion Matrix, located on the Developer Hub.</a:t>
            </a: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Where permitted Procedure Code and Additional Procedure Code combinations are entered in DE 1/10 and 1/11 (indicated by 'Y' on the</a:t>
            </a:r>
            <a:r>
              <a:rPr kumimoji="0" lang="en-GB" sz="1400" b="0" i="0" u="none" strike="noStrike" kern="0" cap="none" spc="0" normalizeH="0" baseline="0" noProof="0" dirty="0">
                <a:ln>
                  <a:noFill/>
                </a:ln>
                <a:solidFill>
                  <a:srgbClr val="000000"/>
                </a:solidFill>
                <a:effectLst/>
                <a:uLnTx/>
                <a:uFillTx/>
                <a:latin typeface="-apple-system"/>
                <a:ea typeface="+mn-ea"/>
                <a:cs typeface="+mn-cs"/>
              </a:rPr>
              <a:t> </a:t>
            </a:r>
            <a:r>
              <a:rPr kumimoji="0" lang="en-GB" sz="1400" b="0" i="0" u="none" strike="noStrike" kern="0" cap="none" spc="0" normalizeH="0" baseline="0" noProof="0" dirty="0">
                <a:ln>
                  <a:noFill/>
                </a:ln>
                <a:solidFill>
                  <a:srgbClr val="000000"/>
                </a:solidFill>
                <a:effectLst/>
                <a:uLnTx/>
                <a:uFillTx/>
                <a:latin typeface="-apple-system"/>
                <a:ea typeface="Calibri"/>
                <a:cs typeface="Calibri"/>
              </a:rPr>
              <a:t>'</a:t>
            </a:r>
            <a:r>
              <a:rPr kumimoji="0" lang="en-GB" sz="1400" b="0" i="0" u="none" strike="noStrike" kern="0" cap="none" spc="0" normalizeH="0" baseline="0" noProof="0" dirty="0">
                <a:ln>
                  <a:noFill/>
                </a:ln>
                <a:solidFill>
                  <a:srgbClr val="000000"/>
                </a:solidFill>
                <a:effectLst/>
                <a:uLnTx/>
                <a:uFillTx/>
                <a:latin typeface="Calibri"/>
                <a:ea typeface="Calibri"/>
                <a:cs typeface="Calibri"/>
              </a:rPr>
              <a:t>H8 PC-APC Matrix' tab of the</a:t>
            </a: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 Consolidated H8 document), the declaration will be processed. Where an invalid combination of Procedure codes and Additional procedure codes for the H8 are declared.</a:t>
            </a:r>
            <a:endParaRPr kumimoji="0" lang="en-GB" sz="1400" b="0" i="0" u="none" strike="noStrike" kern="0" cap="none" spc="0" normalizeH="0" baseline="0" noProof="0" dirty="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387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Object 4">
            <a:extLst>
              <a:ext uri="{FF2B5EF4-FFF2-40B4-BE49-F238E27FC236}">
                <a16:creationId xmlns:a16="http://schemas.microsoft.com/office/drawing/2014/main" id="{3CEE6022-55D0-B797-645A-352FCFF4B96D}"/>
              </a:ext>
            </a:extLst>
          </p:cNvPr>
          <p:cNvGraphicFramePr>
            <a:graphicFrameLocks noChangeAspect="1"/>
          </p:cNvGraphicFramePr>
          <p:nvPr/>
        </p:nvGraphicFramePr>
        <p:xfrm>
          <a:off x="10958484" y="264000"/>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5" name="Object 4">
                        <a:extLst>
                          <a:ext uri="{FF2B5EF4-FFF2-40B4-BE49-F238E27FC236}">
                            <a16:creationId xmlns:a16="http://schemas.microsoft.com/office/drawing/2014/main" id="{3CEE6022-55D0-B797-645A-352FCFF4B96D}"/>
                          </a:ext>
                        </a:extLst>
                      </p:cNvPr>
                      <p:cNvPicPr/>
                      <p:nvPr/>
                    </p:nvPicPr>
                    <p:blipFill>
                      <a:blip r:embed="rId4"/>
                      <a:stretch>
                        <a:fillRect/>
                      </a:stretch>
                    </p:blipFill>
                    <p:spPr>
                      <a:xfrm>
                        <a:off x="10958484" y="264000"/>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02305369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01269"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11603" y="1260874"/>
            <a:ext cx="11282159" cy="526297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Acceptance Criteria (cont.):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an Additional Procedure Code on the 'H8 APC List' tab in the Consolidated H8 document is declared in DE 1/11 on an H8 declaration, the declaration will be processed.  Where an Additional Procedure Code that is </a:t>
            </a:r>
            <a:r>
              <a:rPr kumimoji="0" lang="en-GB" sz="1400" b="1" i="0" u="sng" strike="noStrike" kern="0" cap="none" spc="0" normalizeH="0" baseline="0" noProof="0">
                <a:ln>
                  <a:noFill/>
                </a:ln>
                <a:solidFill>
                  <a:srgbClr val="000000"/>
                </a:solidFill>
                <a:effectLst/>
                <a:uLnTx/>
                <a:uFillTx/>
                <a:latin typeface="Calibri" panose="020F0502020204030204"/>
                <a:ea typeface="+mn-ea"/>
                <a:cs typeface="+mn-cs"/>
              </a:rPr>
              <a:t>not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on the ‘H8 APC List' tab is declared, the declaration will be rejected and a DMSREJ notification issued.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field that appears on the H1 but does not appear on the GL H8 Completion Matrix is populated, existing business validation will apply against the field.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rPr>
              <a:t>Where a field on the H8 is populated, CDS will ensure that all business rules that apply to an H1 apply to the H8, unless that will contradict a specific H8 requirement. (Note</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normal declaration rules must be observed unless a relaxation is permitted under the H8).</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Where a field on the H8 is populated, CDS will ensure that all business rules that apply to all procedure categories apply to the H8, unless an H8 specific requirement takes precedence over current rules that apply specifically to all procedure categories.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Where a trader has populated DE 8/1 (Quota Order Number) on an H8,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the declaration will be rejected and a DMSREJ notification issued.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rPr>
              <a:t>Where a H8 has been derived, CDS will ensure that the criteria outlined on slide 14 has been met. Where this has not been met, the declaration will be rejected and a DMSREJ notification issued.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An H8 dataset will not be derived in the following scenarios: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the Additional Declaration Type is not 'A', 'D', 'Y' or 'Z' in DE 1/2</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the Additional Procedure Code declared in DE 1/11 does not include at least one of the following: '1SG', '1LG', '1EN' or '1EL' (the declaration will instead be processed as per H1 completion rules)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the Procedure Code declared in DE 1/10 is not one of the following: '0700', '0751', '0771', '0778', '4000', '4051', '4071' or '4078' (the declaration will instead be processed as per BAU)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172B4D"/>
              </a:solidFill>
              <a:effectLst/>
              <a:uLnTx/>
              <a:uFillTx/>
              <a:latin typeface="-apple-system"/>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0197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4608497"/>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61664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Functionality Extended to Include H8 Dataset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From CDS 4.5.0, existing functionality will be extended to ensure that it applies to the H8 Dataset. This functionality is not expected to create a software change, and the information provided is for awareness only.</a:t>
            </a:r>
            <a:r>
              <a:rPr kumimoji="0" lang="en-GB" sz="1400" b="1" i="0" u="none" strike="noStrike" kern="0" cap="none" spc="0" normalizeH="0" baseline="0" noProof="0">
                <a:ln>
                  <a:noFill/>
                </a:ln>
                <a:solidFill>
                  <a:prstClr val="black"/>
                </a:solidFill>
                <a:effectLst/>
                <a:uLnTx/>
                <a:uFillTx/>
                <a:latin typeface="Calibri  "/>
                <a:ea typeface="+mn-ea"/>
                <a:cs typeface="+mn-cs"/>
              </a:rPr>
              <a:t> </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Declaration Functionality</a:t>
            </a:r>
            <a:endParaRPr kumimoji="0" lang="en-GB" sz="14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Allow trader use of the following functionality: Amendments, Invalidations and Goods Presentation/Arrival Notices.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Allow the declaration to be amendable by the trader during the dwell time period.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Allow up to 99x goods items to be declared on an H8 declaration.</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 not:</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Calculate or charge any customs duties, VAT or excise to the submitter.</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Allow trader use of manual override functionality on duties.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Send the declaration to Tariff for validation.</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Send a DMSTAX notification to the submitter.</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172B4D"/>
              </a:solidFill>
              <a:effectLst/>
              <a:uLnTx/>
              <a:uFillTx/>
              <a:latin typeface="-apple-system"/>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172B4D"/>
              </a:solidFill>
              <a:effectLst/>
              <a:uLnTx/>
              <a:uFillTx/>
              <a:latin typeface="-apple-system"/>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2060803"/>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26297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Declaring Postponed VAT Accounting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From CDS 4.5.0, CDS will allow the declaration of Postponed VAT Accounting (PVA) and prevent downstream processing of PVA for an H8 declaration. Declaration of IOSS and OSR/OSD on H8 declarations will also be prevented.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the above criteria is not met,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the declaration will be rejected and a DMSREJ notification issued. </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Please note:</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has declared any of 'FR1', 'FR2', 'FR3', 'FR4' or 'FR5' in DE 3/40 at item level </a:t>
            </a: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or</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'FR2', 'FR3', 'FR4' or 'FR5' in DE 3/40 at header level</a:t>
            </a:r>
            <a:r>
              <a:rPr kumimoji="0" lang="en-GB" sz="1400" b="0" i="0" u="none" strike="noStrike" kern="0" cap="none" spc="0" normalizeH="0" baseline="0" noProof="0">
                <a:ln>
                  <a:noFill/>
                </a:ln>
                <a:solidFill>
                  <a:srgbClr val="ED7D31"/>
                </a:solidFill>
                <a:effectLst/>
                <a:uLnTx/>
                <a:uFillTx/>
                <a:latin typeface="Calibri" panose="020F0502020204030204"/>
                <a:ea typeface="+mn-ea"/>
                <a:cs typeface="Calibri" panose="020F0502020204030204"/>
              </a:rPr>
              <a:t>,</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CDS will reject the declaration and send a DMSREJ notification to the submitter.</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has declared a VRN in DE 3/40 at header level, CDS will not transfer VAT or carry out any downstream VAT transfer processing.</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has declared a VRN in DE 3/40 at header level, CDS will ensure the VRN is valid as per BAU.</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3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CA7ADC72-805D-88A9-7E27-6345C56852E0}"/>
              </a:ext>
            </a:extLst>
          </p:cNvPr>
          <p:cNvGraphicFramePr>
            <a:graphicFrameLocks noGrp="1"/>
          </p:cNvGraphicFramePr>
          <p:nvPr/>
        </p:nvGraphicFramePr>
        <p:xfrm>
          <a:off x="465155" y="2200127"/>
          <a:ext cx="11160000" cy="2331720"/>
        </p:xfrm>
        <a:graphic>
          <a:graphicData uri="http://schemas.openxmlformats.org/drawingml/2006/table">
            <a:tbl>
              <a:tblPr firstRow="1" bandRow="1">
                <a:tableStyleId>{5C22544A-7EE6-4342-B048-85BDC9FD1C3A}</a:tableStyleId>
              </a:tblPr>
              <a:tblGrid>
                <a:gridCol w="4504410">
                  <a:extLst>
                    <a:ext uri="{9D8B030D-6E8A-4147-A177-3AD203B41FA5}">
                      <a16:colId xmlns:a16="http://schemas.microsoft.com/office/drawing/2014/main" val="3837587197"/>
                    </a:ext>
                  </a:extLst>
                </a:gridCol>
                <a:gridCol w="6655590">
                  <a:extLst>
                    <a:ext uri="{9D8B030D-6E8A-4147-A177-3AD203B41FA5}">
                      <a16:colId xmlns:a16="http://schemas.microsoft.com/office/drawing/2014/main" val="574208599"/>
                    </a:ext>
                  </a:extLst>
                </a:gridCol>
              </a:tblGrid>
              <a:tr h="275321">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275321">
                <a:tc>
                  <a:txBody>
                    <a:bodyPr/>
                    <a:lstStyle/>
                    <a:p>
                      <a:r>
                        <a:rPr lang="en-GB" sz="1300"/>
                        <a:t>Trader has populated DE 3/40 at header level</a:t>
                      </a:r>
                    </a:p>
                  </a:txBody>
                  <a:tcPr>
                    <a:solidFill>
                      <a:srgbClr val="CBDCDB"/>
                    </a:solidFill>
                  </a:tcPr>
                </a:tc>
                <a:tc>
                  <a:txBody>
                    <a:bodyPr/>
                    <a:lstStyle/>
                    <a:p>
                      <a:r>
                        <a:rPr lang="en-GB" sz="1300"/>
                        <a:t>At least one instance of APC </a:t>
                      </a:r>
                      <a:r>
                        <a:rPr lang="en-GB" sz="1300" kern="0">
                          <a:solidFill>
                            <a:srgbClr val="000000"/>
                          </a:solidFill>
                          <a:latin typeface="+mn-lt"/>
                          <a:cs typeface="Calibri" panose="020F0502020204030204"/>
                        </a:rPr>
                        <a:t>'A04' or '1VW’ must be declared in DE 1/11 at goods item level. </a:t>
                      </a:r>
                      <a:endParaRPr lang="en-GB" sz="1300"/>
                    </a:p>
                  </a:txBody>
                  <a:tcPr>
                    <a:solidFill>
                      <a:srgbClr val="CBDCDB"/>
                    </a:solidFill>
                  </a:tcPr>
                </a:tc>
                <a:extLst>
                  <a:ext uri="{0D108BD9-81ED-4DB2-BD59-A6C34878D82A}">
                    <a16:rowId xmlns:a16="http://schemas.microsoft.com/office/drawing/2014/main" val="676372353"/>
                  </a:ext>
                </a:extLst>
              </a:tr>
              <a:tr h="463698">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300" kern="0">
                          <a:solidFill>
                            <a:srgbClr val="000000"/>
                          </a:solidFill>
                          <a:latin typeface="+mn-lt"/>
                          <a:cs typeface="Calibri" panose="020F0502020204030204"/>
                        </a:rPr>
                        <a:t>Trader has declared one instance of APC 'A04' or '1VW' in DE 1/11 at goods item level</a:t>
                      </a:r>
                      <a:endParaRPr lang="en-GB" sz="1300" kern="0">
                        <a:solidFill>
                          <a:srgbClr val="000000"/>
                        </a:solidFill>
                        <a:latin typeface="+mn-lt"/>
                        <a:ea typeface="Calibri"/>
                        <a:cs typeface="Calibri" panose="020F0502020204030204"/>
                      </a:endParaRPr>
                    </a:p>
                  </a:txBody>
                  <a:tcPr>
                    <a:solidFill>
                      <a:srgbClr val="E7EEEE"/>
                    </a:solidFill>
                  </a:tcPr>
                </a:tc>
                <a:tc>
                  <a:txBody>
                    <a:bodyPr/>
                    <a:lstStyle/>
                    <a:p>
                      <a:r>
                        <a:rPr lang="en-GB" sz="1300" kern="0">
                          <a:solidFill>
                            <a:srgbClr val="000000"/>
                          </a:solidFill>
                          <a:latin typeface="+mn-lt"/>
                          <a:cs typeface="Calibri" panose="020F0502020204030204"/>
                        </a:rPr>
                        <a:t>DE 3/40 must be populated at header level. </a:t>
                      </a:r>
                      <a:endParaRPr lang="en-GB" sz="1300"/>
                    </a:p>
                  </a:txBody>
                  <a:tcPr>
                    <a:solidFill>
                      <a:srgbClr val="E7EEEE"/>
                    </a:solidFill>
                  </a:tcPr>
                </a:tc>
                <a:extLst>
                  <a:ext uri="{0D108BD9-81ED-4DB2-BD59-A6C34878D82A}">
                    <a16:rowId xmlns:a16="http://schemas.microsoft.com/office/drawing/2014/main" val="1003652622"/>
                  </a:ext>
                </a:extLst>
              </a:tr>
              <a:tr h="275321">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300" kern="0">
                          <a:solidFill>
                            <a:srgbClr val="000000"/>
                          </a:solidFill>
                          <a:latin typeface="+mn-lt"/>
                          <a:cs typeface="Calibri" panose="020F0502020204030204"/>
                        </a:rPr>
                        <a:t>Trader has declared a VRN in DE 3/40 at header level</a:t>
                      </a:r>
                      <a:endParaRPr lang="en-GB" sz="1300" kern="0">
                        <a:solidFill>
                          <a:srgbClr val="000000"/>
                        </a:solidFill>
                        <a:latin typeface="+mn-lt"/>
                        <a:ea typeface="Calibri"/>
                        <a:cs typeface="Calibri" panose="020F0502020204030204"/>
                      </a:endParaRPr>
                    </a:p>
                  </a:txBody>
                  <a:tcPr>
                    <a:solidFill>
                      <a:srgbClr val="CBDCDB"/>
                    </a:solidFill>
                  </a:tcPr>
                </a:tc>
                <a:tc>
                  <a:txBody>
                    <a:bodyPr/>
                    <a:lstStyle/>
                    <a:p>
                      <a:r>
                        <a:rPr lang="en-GB" sz="1300" kern="0">
                          <a:solidFill>
                            <a:srgbClr val="000000"/>
                          </a:solidFill>
                          <a:latin typeface="+mn-lt"/>
                          <a:cs typeface="Calibri" panose="020F0502020204030204"/>
                        </a:rPr>
                        <a:t>AI Code 'PVA01’ must be declared in DE 2/2.</a:t>
                      </a:r>
                      <a:endParaRPr lang="en-GB" sz="1300"/>
                    </a:p>
                  </a:txBody>
                  <a:tcPr>
                    <a:solidFill>
                      <a:srgbClr val="CBDCDB"/>
                    </a:solidFill>
                  </a:tcPr>
                </a:tc>
                <a:extLst>
                  <a:ext uri="{0D108BD9-81ED-4DB2-BD59-A6C34878D82A}">
                    <a16:rowId xmlns:a16="http://schemas.microsoft.com/office/drawing/2014/main" val="560831040"/>
                  </a:ext>
                </a:extLst>
              </a:tr>
              <a:tr h="463698">
                <a:tc>
                  <a:txBody>
                    <a:bodyPr/>
                    <a:lstStyle/>
                    <a:p>
                      <a:pPr marL="0" indent="0">
                        <a:buFont typeface="Arial" panose="020B0604020202020204" pitchFamily="34" charset="0"/>
                        <a:buNone/>
                        <a:defRPr sz="1800" b="0" i="0" u="none" strike="noStrike" kern="0" cap="none" spc="0" baseline="0">
                          <a:solidFill>
                            <a:srgbClr val="000000"/>
                          </a:solidFill>
                          <a:uFillTx/>
                        </a:defRPr>
                      </a:pPr>
                      <a:r>
                        <a:rPr lang="en-GB" sz="1300" kern="0">
                          <a:solidFill>
                            <a:srgbClr val="000000"/>
                          </a:solidFill>
                          <a:latin typeface="+mn-lt"/>
                          <a:cs typeface="Calibri" panose="020F0502020204030204"/>
                        </a:rPr>
                        <a:t>Trader has declared AI Code 'PVA01' in DE 2/2</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a:solidFill>
                            <a:srgbClr val="000000"/>
                          </a:solidFill>
                          <a:latin typeface="+mn-lt"/>
                          <a:cs typeface="Calibri" panose="020F0502020204030204"/>
                        </a:rPr>
                        <a:t>A VRN must be declared in DE 3/40 at header level.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a:solidFill>
                            <a:srgbClr val="000000"/>
                          </a:solidFill>
                          <a:latin typeface="+mn-lt"/>
                          <a:cs typeface="Calibri" panose="020F0502020204030204"/>
                        </a:rPr>
                        <a:t>APC 'A04' or '1VW’ must be declared in DE 1/11 at item level on the same goods item.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a:solidFill>
                            <a:srgbClr val="000000"/>
                          </a:solidFill>
                          <a:latin typeface="+mn-lt"/>
                          <a:cs typeface="Calibri" panose="020F0502020204030204"/>
                        </a:rPr>
                        <a:t>An entry must be made in the AI free text field. </a:t>
                      </a:r>
                      <a:endParaRPr lang="en-GB" sz="1300"/>
                    </a:p>
                  </a:txBody>
                  <a:tcPr>
                    <a:solidFill>
                      <a:srgbClr val="E7EEEE"/>
                    </a:solidFill>
                  </a:tcPr>
                </a:tc>
                <a:extLst>
                  <a:ext uri="{0D108BD9-81ED-4DB2-BD59-A6C34878D82A}">
                    <a16:rowId xmlns:a16="http://schemas.microsoft.com/office/drawing/2014/main" val="1108568355"/>
                  </a:ext>
                </a:extLst>
              </a:tr>
              <a:tr h="27532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a:solidFill>
                            <a:srgbClr val="000000"/>
                          </a:solidFill>
                          <a:latin typeface="+mn-lt"/>
                          <a:cs typeface="Calibri" panose="020F0502020204030204"/>
                        </a:rPr>
                        <a:t>Trader has declared APC 'A04' or '1VW' at item level in DE 1/11</a:t>
                      </a:r>
                      <a:endParaRPr lang="en-GB" sz="1300"/>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dirty="0">
                          <a:solidFill>
                            <a:srgbClr val="000000"/>
                          </a:solidFill>
                          <a:latin typeface="+mn-lt"/>
                          <a:cs typeface="Calibri" panose="020F0502020204030204"/>
                        </a:rPr>
                        <a:t>AI Code 'PVA01’ must be declared in DE 2/2 at item level on the same goods item. </a:t>
                      </a:r>
                      <a:endParaRPr lang="en-GB" sz="1300" kern="0" dirty="0">
                        <a:solidFill>
                          <a:srgbClr val="000000"/>
                        </a:solidFill>
                        <a:latin typeface="+mn-lt"/>
                        <a:ea typeface="Calibri"/>
                        <a:cs typeface="Calibri" panose="020F0502020204030204"/>
                      </a:endParaRPr>
                    </a:p>
                  </a:txBody>
                  <a:tcPr>
                    <a:solidFill>
                      <a:srgbClr val="CBDCDB"/>
                    </a:solidFill>
                  </a:tcPr>
                </a:tc>
                <a:extLst>
                  <a:ext uri="{0D108BD9-81ED-4DB2-BD59-A6C34878D82A}">
                    <a16:rowId xmlns:a16="http://schemas.microsoft.com/office/drawing/2014/main" val="1247559883"/>
                  </a:ext>
                </a:extLst>
              </a:tr>
            </a:tbl>
          </a:graphicData>
        </a:graphic>
      </p:graphicFrame>
    </p:spTree>
    <p:extLst>
      <p:ext uri="{BB962C8B-B14F-4D97-AF65-F5344CB8AC3E}">
        <p14:creationId xmlns:p14="http://schemas.microsoft.com/office/powerpoint/2010/main" val="297019712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40120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Non-ALVS Electronic Licences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When declaring an H8 Declaration for a GB-NI movement, electronic licences will be validated and decremented appropriately.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Acceptance Criteria:</a:t>
            </a:r>
            <a:endParaRPr kumimoji="0" lang="en-GB" sz="1400" b="1"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declares an electronic licence in DE 2/3, licence validation will occur as per BAU.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declares an internal electronic licence on an H8, and the licence has been defined by OGD with a commodity code of 10 digits, the licence validation will still pass so long as the first 8 digits declared by the trader match the first 8 digits of the commodity code. Where the first 8 digits do not match or fewer than 8 digits has been declared,</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the declaration will be rejected and a DMSREJ notification issued</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Note: DE 6/14 is the only mandatory DE for H8 and therefore this validation will be driven off Classification Type 'TSP'.</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trader declares an electronic licence in DE 2/3 and the Commodity Code supplied in DE 6/14 is 6 digits,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the declaration will be rejected and a DMSREJ notification issued. </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rPr>
              <a:t>Where a Trader has declared a Commodity Code to a minimum of 8 digits in DE 6/14 and has not supplied DE 6/15, CDS will still process the licence validation.</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 licence passes validation checks listed in bullets 1 and 2, subsequent licence processing (</a:t>
            </a:r>
            <a:r>
              <a:rPr kumimoji="0" lang="en-GB" sz="1400" b="0" i="0" u="none" strike="noStrike" kern="0" cap="none" spc="0" normalizeH="0" baseline="0" noProof="0" err="1">
                <a:ln>
                  <a:noFill/>
                </a:ln>
                <a:solidFill>
                  <a:srgbClr val="000000"/>
                </a:solidFill>
                <a:effectLst/>
                <a:uLnTx/>
                <a:uFillTx/>
                <a:latin typeface="Calibri" panose="020F0502020204030204"/>
                <a:ea typeface="+mn-ea"/>
                <a:cs typeface="Calibri" panose="020F0502020204030204"/>
              </a:rPr>
              <a:t>decrementation</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usage reporting) will occur as per BAU.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457200" marR="0" lvl="1"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172B4D"/>
              </a:solidFill>
              <a:effectLst/>
              <a:uLnTx/>
              <a:uFillTx/>
              <a:latin typeface="-apple-system"/>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70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845867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15059" y="1262335"/>
            <a:ext cx="11282159" cy="440120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Submitting H8 Declaration Data moving via GVMS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When a GB-NI movement derives an H8 dataset, the declaration data will be sent and updated for the Goods Vehicle Movement Service (GVMS).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 allow the AI code 'RRS01' to be entered in DE 2/2 at header level on the H8.</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AI code 'RRS01' has been declared in DE 2/2 at header level, import declaration submission rules will apply as per BAU.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AI code 'RRS01' has been declared in DE 2/2 at header level, the declaration data will be passed to GVMS and declaration status updates for any H8 declarations will be sent to GVMS.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GVMS will be able to arrive an H8 declaration as per BAU.</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Allowing Inventory Linking for H8</a:t>
            </a:r>
            <a:endParaRPr kumimoji="0" lang="en-GB" sz="14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When a GB-NI or RoW-NI parcel is imported using H8, the inventory linking code will be able to be declared.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CDS will allow a MUCR ICR  (Inventory Consignment Reference) to be entered in DE 2/1 at header level (Type 'MCR').</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an H8 declaration contains a MUCR in DE 2/1 at header level, BAU validation will be met by trader completion. Where BAU validation fails, the declaration will be rejected and a DMSREJ notification issued.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Where an H8 declaration contains a MUCR in DE 2/1 at header level, standard Inventory Linking Imports processing will apply as per BAU.</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a:ea typeface="Times New Roman" panose="02020603050405020304" pitchFamily="18" charset="0"/>
                <a:cs typeface="Calibri"/>
              </a:rPr>
              <a:t>As per BAU, H8 Data will be able to be accessed in the DMS UI, and so able to be queried by Declaration status, Declaration Summary, Declaration Version and Full Declaration.</a:t>
            </a:r>
            <a:endParaRPr kumimoji="0" lang="en-GB" sz="1400" b="0" i="0" u="none" strike="noStrike" kern="0" cap="none" spc="0" normalizeH="0" baseline="0" noProof="0">
              <a:ln>
                <a:noFill/>
              </a:ln>
              <a:solidFill>
                <a:srgbClr val="000000"/>
              </a:solidFill>
              <a:effectLst/>
              <a:uLnTx/>
              <a:uFillTx/>
              <a:latin typeface="Calibri"/>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a:ea typeface="+mn-ea"/>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6284238"/>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Authorisation Validation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UKIMS Authorisation validation or declaration of override AI Code 'NIAPP' will occur, as detailed in Slide 14.</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GL EIDR and EIDR Authorisation Validation will occur on a H8 declaration.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SDP Authorisation validation will occur on a H8 declaration.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CDS will ensure other Authorisation validation occurs unless superseded by validation detailed in Slide 14.</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H8 Supplementary Declarations</a:t>
            </a:r>
            <a:endParaRPr kumimoji="0" lang="en-GB" sz="14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Validation will occur against DE 5/23 on H8 supplementary declarations.</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Where a trader has declared Additional Procedure Codes '1AG' or '1RD' with declaration type 'Y' or 'Z' in DE 1/2, CDS will ensure that the following conditions are met:</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'Type of location' sub-field of DE 5/23 must be 'B'</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'Qualifier' sub-field of DE 5/23 must be 'Y'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rPr>
              <a:t>If any of the above requirements are not met, the declaration will be rejected and a DMSREJ issued.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3760814"/>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69386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a:ln>
                  <a:noFill/>
                </a:ln>
                <a:solidFill>
                  <a:srgbClr val="000000"/>
                </a:solidFill>
                <a:effectLst/>
                <a:uLnTx/>
                <a:uFillTx/>
                <a:latin typeface="Calibri" panose="020F0502020204030204"/>
                <a:ea typeface="Geneva"/>
                <a:cs typeface="+mn-cs"/>
              </a:rPr>
              <a:t>Validating SPIMM Dataset</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sng"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Geneva"/>
                <a:cs typeface="+mn-cs"/>
              </a:rPr>
              <a:t>Declaration of UKIMS Authorisation or UKIMS Override</a:t>
            </a:r>
            <a:endParaRPr kumimoji="0" lang="en-GB" sz="1400" b="0" i="0" u="sng" strike="noStrike" kern="0" cap="none" spc="0" normalizeH="0" baseline="0" noProof="0">
              <a:ln>
                <a:noFill/>
              </a:ln>
              <a:solidFill>
                <a:srgbClr val="000000"/>
              </a:solidFill>
              <a:effectLst/>
              <a:uLnTx/>
              <a:uFillTx/>
              <a:latin typeface="Calibri" panose="020F0502020204030204"/>
              <a:ea typeface="Genev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This functionality will ensure that traders provide the correct data elements when declaring a UKIMS Authorisation or traders using the AI Code NIAPP on a SPIMM Declaration.</a:t>
            </a: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Pre-requisite: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H8 dataset has been derived and processed.</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Note: Where Document Code '1UKI' has been declared in DE 2/3 at item level, the validation of UKIMS Authorisation will be carried out.</a:t>
            </a: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If any of the above criteria is not met, then the declaration will be rejected and the DMSREJ notification will be issued.</a:t>
            </a: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9" name="Table 8">
            <a:extLst>
              <a:ext uri="{FF2B5EF4-FFF2-40B4-BE49-F238E27FC236}">
                <a16:creationId xmlns:a16="http://schemas.microsoft.com/office/drawing/2014/main" id="{F2E9487B-D9C1-66EF-E20B-2D367863E1A1}"/>
              </a:ext>
            </a:extLst>
          </p:cNvPr>
          <p:cNvGraphicFramePr>
            <a:graphicFrameLocks noGrp="1"/>
          </p:cNvGraphicFramePr>
          <p:nvPr/>
        </p:nvGraphicFramePr>
        <p:xfrm>
          <a:off x="325937" y="2667075"/>
          <a:ext cx="11160000" cy="272796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16000">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a:t>H8 dataset has been derived</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AI Code 'NIDOM' must be declared in DE 2/2 at goods item level on every item on the declaration. </a:t>
                      </a:r>
                    </a:p>
                  </a:txBody>
                  <a:tcPr>
                    <a:solidFill>
                      <a:srgbClr val="CBDCDB"/>
                    </a:solidFill>
                  </a:tcPr>
                </a:tc>
                <a:extLst>
                  <a:ext uri="{0D108BD9-81ED-4DB2-BD59-A6C34878D82A}">
                    <a16:rowId xmlns:a16="http://schemas.microsoft.com/office/drawing/2014/main" val="67637235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a:t>H8 dataset has been derived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300" b="0"/>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Either AI Code 'NIAPP' or 'NIREM' must be declared in DE 2/2 at item level on all goods items declared.</a:t>
                      </a:r>
                    </a:p>
                  </a:txBody>
                  <a:tcPr>
                    <a:solidFill>
                      <a:srgbClr val="E7EEEE"/>
                    </a:solidFill>
                  </a:tcPr>
                </a:tc>
                <a:extLst>
                  <a:ext uri="{0D108BD9-81ED-4DB2-BD59-A6C34878D82A}">
                    <a16:rowId xmlns:a16="http://schemas.microsoft.com/office/drawing/2014/main" val="4078905317"/>
                  </a:ext>
                </a:extLst>
              </a:tr>
              <a:tr h="0">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300"/>
                        <a:t>Trader declares AI Code 'NIREM' has been declared (DE 2/2)</a:t>
                      </a:r>
                      <a:endParaRPr lang="en-GB" sz="1300" kern="0">
                        <a:solidFill>
                          <a:srgbClr val="000000"/>
                        </a:solidFill>
                        <a:latin typeface="+mn-lt"/>
                        <a:ea typeface="Calibri"/>
                        <a:cs typeface="Calibri" panose="020F0502020204030204"/>
                      </a:endParaRP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Document Code '1UKI' must be declared in DE 2/3 at item level on the same goods item. </a:t>
                      </a:r>
                      <a:endParaRPr lang="en-GB" sz="1300">
                        <a:ea typeface="Calibri"/>
                        <a:cs typeface="Calibri"/>
                      </a:endParaRPr>
                    </a:p>
                  </a:txBody>
                  <a:tcPr>
                    <a:solidFill>
                      <a:srgbClr val="CBDCDB"/>
                    </a:solidFill>
                  </a:tcPr>
                </a:tc>
                <a:extLst>
                  <a:ext uri="{0D108BD9-81ED-4DB2-BD59-A6C34878D82A}">
                    <a16:rowId xmlns:a16="http://schemas.microsoft.com/office/drawing/2014/main" val="560831040"/>
                  </a:ext>
                </a:extLst>
              </a:tr>
              <a:tr h="0">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300"/>
                        <a:t>Trader declares Document Code '1UKI' in DE 2/3</a:t>
                      </a:r>
                      <a:endParaRPr lang="en-GB" sz="1300">
                        <a:ea typeface="Calibri" panose="020F0502020204030204"/>
                        <a:cs typeface="Calibri" panose="020F0502020204030204"/>
                      </a:endParaRP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AI Code 'NIREM' (DE 2/2) must be declared at item level on the same goods item.</a:t>
                      </a:r>
                      <a:endParaRPr lang="en-GB" sz="1300" kern="0">
                        <a:solidFill>
                          <a:srgbClr val="000000"/>
                        </a:solidFill>
                        <a:latin typeface="+mn-lt"/>
                        <a:ea typeface="Calibri"/>
                        <a:cs typeface="Calibri" panose="020F0502020204030204"/>
                      </a:endParaRPr>
                    </a:p>
                  </a:txBody>
                  <a:tcPr>
                    <a:solidFill>
                      <a:srgbClr val="E7EEEE"/>
                    </a:solidFill>
                  </a:tcPr>
                </a:tc>
                <a:extLst>
                  <a:ext uri="{0D108BD9-81ED-4DB2-BD59-A6C34878D82A}">
                    <a16:rowId xmlns:a16="http://schemas.microsoft.com/office/drawing/2014/main" val="110856835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Traders declares Authorisation Type Code  'UKIM' in DE 3/39 at header level</a:t>
                      </a:r>
                      <a:endParaRPr lang="en-GB" sz="1300">
                        <a:ea typeface="Calibri"/>
                        <a:cs typeface="Calibri"/>
                      </a:endParaRP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t>Document Code '1UKI' must be declared in DE 2/3 at item level on every goods item. </a:t>
                      </a:r>
                      <a:endParaRPr lang="en-GB" sz="1300" kern="0" dirty="0">
                        <a:solidFill>
                          <a:srgbClr val="000000"/>
                        </a:solidFill>
                        <a:latin typeface="+mn-lt"/>
                        <a:ea typeface="Calibri"/>
                        <a:cs typeface="Calibri" panose="020F0502020204030204"/>
                      </a:endParaRPr>
                    </a:p>
                  </a:txBody>
                  <a:tcPr>
                    <a:solidFill>
                      <a:srgbClr val="CBDCDB"/>
                    </a:solidFill>
                  </a:tcPr>
                </a:tc>
                <a:extLst>
                  <a:ext uri="{0D108BD9-81ED-4DB2-BD59-A6C34878D82A}">
                    <a16:rowId xmlns:a16="http://schemas.microsoft.com/office/drawing/2014/main" val="1247559883"/>
                  </a:ext>
                </a:extLst>
              </a:tr>
            </a:tbl>
          </a:graphicData>
        </a:graphic>
      </p:graphicFrame>
      <p:graphicFrame>
        <p:nvGraphicFramePr>
          <p:cNvPr id="5" name="Object 4">
            <a:extLst>
              <a:ext uri="{FF2B5EF4-FFF2-40B4-BE49-F238E27FC236}">
                <a16:creationId xmlns:a16="http://schemas.microsoft.com/office/drawing/2014/main" id="{3945DFAE-4119-D208-E5E8-803C374B56FF}"/>
              </a:ext>
            </a:extLst>
          </p:cNvPr>
          <p:cNvGraphicFramePr>
            <a:graphicFrameLocks noChangeAspect="1"/>
          </p:cNvGraphicFramePr>
          <p:nvPr/>
        </p:nvGraphicFramePr>
        <p:xfrm>
          <a:off x="10958484" y="264000"/>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5" name="Object 4">
                        <a:extLst>
                          <a:ext uri="{FF2B5EF4-FFF2-40B4-BE49-F238E27FC236}">
                            <a16:creationId xmlns:a16="http://schemas.microsoft.com/office/drawing/2014/main" id="{3945DFAE-4119-D208-E5E8-803C374B56FF}"/>
                          </a:ext>
                        </a:extLst>
                      </p:cNvPr>
                      <p:cNvPicPr/>
                      <p:nvPr/>
                    </p:nvPicPr>
                    <p:blipFill>
                      <a:blip r:embed="rId4"/>
                      <a:stretch>
                        <a:fillRect/>
                      </a:stretch>
                    </p:blipFill>
                    <p:spPr>
                      <a:xfrm>
                        <a:off x="10958484" y="264000"/>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2949048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295FE033-8D29-0FA9-DC0D-41A5F45D5F20}"/>
              </a:ext>
            </a:extLst>
          </p:cNvPr>
          <p:cNvGraphicFramePr>
            <a:graphicFrameLocks noGrp="1"/>
          </p:cNvGraphicFramePr>
          <p:nvPr/>
        </p:nvGraphicFramePr>
        <p:xfrm>
          <a:off x="465155" y="1523315"/>
          <a:ext cx="11160000" cy="135636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61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61000">
                <a:tc>
                  <a:txBody>
                    <a:bodyPr/>
                    <a:lstStyle/>
                    <a:p>
                      <a:pPr>
                        <a:defRPr sz="1800" b="0" i="0" u="none" strike="noStrike" kern="0" cap="none" spc="0" baseline="0">
                          <a:solidFill>
                            <a:srgbClr val="000000"/>
                          </a:solidFill>
                          <a:uFillTx/>
                        </a:defRPr>
                      </a:pPr>
                      <a:r>
                        <a:rPr lang="en-GB" sz="1300">
                          <a:latin typeface="+mn-lt"/>
                          <a:ea typeface="Calibri" panose="020F0502020204030204"/>
                          <a:cs typeface="Calibri" panose="020F0502020204030204"/>
                        </a:rPr>
                        <a:t>T</a:t>
                      </a:r>
                      <a:r>
                        <a:rPr lang="en-GB" sz="1300" b="0" i="0">
                          <a:effectLst/>
                          <a:latin typeface="+mn-lt"/>
                          <a:ea typeface="Calibri" panose="020F0502020204030204"/>
                          <a:cs typeface="Calibri" panose="020F0502020204030204"/>
                        </a:rPr>
                        <a:t>rader has declared AI code 'NIAPP' and 'NIREM' (DE 2/2) on any goods items on the same declaration (even if on different items).</a:t>
                      </a:r>
                      <a:endParaRPr lang="en-GB" sz="1300">
                        <a:latin typeface="+mn-lt"/>
                        <a:ea typeface="Calibri" panose="020F0502020204030204"/>
                        <a:cs typeface="Calibri" panose="020F0502020204030204"/>
                      </a:endParaRPr>
                    </a:p>
                  </a:txBody>
                  <a:tcPr>
                    <a:solidFill>
                      <a:srgbClr val="E7EEEE"/>
                    </a:solidFill>
                  </a:tcPr>
                </a:tc>
                <a:extLst>
                  <a:ext uri="{0D108BD9-81ED-4DB2-BD59-A6C34878D82A}">
                    <a16:rowId xmlns:a16="http://schemas.microsoft.com/office/drawing/2014/main" val="244645981"/>
                  </a:ext>
                </a:extLst>
              </a:tr>
              <a:tr h="26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has declared AI Code 'NIAPP' in DE 2/2 and declared Document Code '1UKI' in DE 2/3 on any goods items on the same declaration (even if on different items).</a:t>
                      </a:r>
                      <a:endParaRPr lang="en-GB" sz="1300">
                        <a:ea typeface="Calibri"/>
                        <a:cs typeface="Calibri"/>
                      </a:endParaRPr>
                    </a:p>
                  </a:txBody>
                  <a:tcPr>
                    <a:solidFill>
                      <a:srgbClr val="CBDCDB"/>
                    </a:solidFill>
                  </a:tcPr>
                </a:tc>
                <a:extLst>
                  <a:ext uri="{0D108BD9-81ED-4DB2-BD59-A6C34878D82A}">
                    <a16:rowId xmlns:a16="http://schemas.microsoft.com/office/drawing/2014/main" val="676372353"/>
                  </a:ext>
                </a:extLst>
              </a:tr>
              <a:tr h="26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t>Trader has declared AI Code 'NIAPP' in DE 2/2 at item level on any goods item and Authorisation Type Code 'UKIM' is declared in DE 3/39 at header level.</a:t>
                      </a:r>
                      <a:endParaRPr lang="en-GB" sz="1300" dirty="0">
                        <a:ea typeface="Calibri"/>
                        <a:cs typeface="Calibri"/>
                      </a:endParaRPr>
                    </a:p>
                  </a:txBody>
                  <a:tcPr>
                    <a:solidFill>
                      <a:srgbClr val="E7EEEE"/>
                    </a:solidFill>
                  </a:tcPr>
                </a:tc>
                <a:extLst>
                  <a:ext uri="{0D108BD9-81ED-4DB2-BD59-A6C34878D82A}">
                    <a16:rowId xmlns:a16="http://schemas.microsoft.com/office/drawing/2014/main" val="1003652622"/>
                  </a:ext>
                </a:extLst>
              </a:tr>
            </a:tbl>
          </a:graphicData>
        </a:graphic>
      </p:graphicFrame>
      <p:graphicFrame>
        <p:nvGraphicFramePr>
          <p:cNvPr id="9" name="Object 8">
            <a:extLst>
              <a:ext uri="{FF2B5EF4-FFF2-40B4-BE49-F238E27FC236}">
                <a16:creationId xmlns:a16="http://schemas.microsoft.com/office/drawing/2014/main" id="{BE1C41F8-B9BB-7A04-9329-6D98158B2628}"/>
              </a:ext>
            </a:extLst>
          </p:cNvPr>
          <p:cNvGraphicFramePr>
            <a:graphicFrameLocks noChangeAspect="1"/>
          </p:cNvGraphicFramePr>
          <p:nvPr/>
        </p:nvGraphicFramePr>
        <p:xfrm>
          <a:off x="10958484" y="264000"/>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9" name="Object 8">
                        <a:extLst>
                          <a:ext uri="{FF2B5EF4-FFF2-40B4-BE49-F238E27FC236}">
                            <a16:creationId xmlns:a16="http://schemas.microsoft.com/office/drawing/2014/main" id="{BE1C41F8-B9BB-7A04-9329-6D98158B2628}"/>
                          </a:ext>
                        </a:extLst>
                      </p:cNvPr>
                      <p:cNvPicPr/>
                      <p:nvPr/>
                    </p:nvPicPr>
                    <p:blipFill>
                      <a:blip r:embed="rId4"/>
                      <a:stretch>
                        <a:fillRect/>
                      </a:stretch>
                    </p:blipFill>
                    <p:spPr>
                      <a:xfrm>
                        <a:off x="10958484" y="264000"/>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3618265277"/>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83209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Geneva"/>
                <a:cs typeface="+mn-cs"/>
              </a:rPr>
              <a:t>Changes to Codes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Geneva"/>
                <a:cs typeface="+mn-cs"/>
              </a:rPr>
              <a:t>The introduction of H8 GB-NI SPIMM Movements</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 will bring changes to which codes will be accepted and prohibited. </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Pre-requisite:</a:t>
            </a:r>
            <a:endParaRPr kumimoji="0" lang="en-GB" sz="1400" b="1" i="0" u="none" strike="noStrike" kern="0" cap="none" spc="0" normalizeH="0" baseline="0" noProof="0">
              <a:ln>
                <a:noFill/>
              </a:ln>
              <a:solidFill>
                <a:srgbClr val="000000"/>
              </a:solidFill>
              <a:effectLst/>
              <a:uLnTx/>
              <a:uFillTx/>
              <a:latin typeface="Calibri" panose="020F0502020204030204"/>
              <a:ea typeface="Calibri"/>
              <a:cs typeface="Calibri" panose="020F0502020204030204"/>
            </a:endParaRP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H8 dataset has been derived and processed as per the associated completion matrix.</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Acceptance criteria:</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'banned' code is declared in the following DEs as per the attached SPIMM Banned Codes document, CDS will reject the declaration and a DMSREJ notification will be issued. This applies to the following DEs: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2/1 Simplified Declaration/Previous Documents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2/2 Additional Information (as per the document above)</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2/3 Document Code (as per the document above)</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3/39 Holder of the Authorisation Identification Number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'new' code is declared in the following DEs as per the attached SPIMM New Codes document, CDS will allow the declaration to be processed and not be rejected for this reason. This applies to the following DEs: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2/2 Additional Information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2/3 Document Code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 3/39 Holder of the Authorisation Identification Number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For all other codes, validation will continue as per BAU.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*All 'new' codes are additional to the existing permitted codes.</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6" name="Object 5">
            <a:extLst>
              <a:ext uri="{FF2B5EF4-FFF2-40B4-BE49-F238E27FC236}">
                <a16:creationId xmlns:a16="http://schemas.microsoft.com/office/drawing/2014/main" id="{84D2C549-9969-E2C2-F642-1D6FCEE2AB57}"/>
              </a:ext>
            </a:extLst>
          </p:cNvPr>
          <p:cNvGraphicFramePr>
            <a:graphicFrameLocks noChangeAspect="1"/>
          </p:cNvGraphicFramePr>
          <p:nvPr/>
        </p:nvGraphicFramePr>
        <p:xfrm>
          <a:off x="10141948" y="312163"/>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6" name="Object 5">
                        <a:extLst>
                          <a:ext uri="{FF2B5EF4-FFF2-40B4-BE49-F238E27FC236}">
                            <a16:creationId xmlns:a16="http://schemas.microsoft.com/office/drawing/2014/main" id="{84D2C549-9969-E2C2-F642-1D6FCEE2AB57}"/>
                          </a:ext>
                        </a:extLst>
                      </p:cNvPr>
                      <p:cNvPicPr/>
                      <p:nvPr/>
                    </p:nvPicPr>
                    <p:blipFill>
                      <a:blip r:embed="rId4"/>
                      <a:stretch>
                        <a:fillRect/>
                      </a:stretch>
                    </p:blipFill>
                    <p:spPr>
                      <a:xfrm>
                        <a:off x="10141948" y="312163"/>
                        <a:ext cx="914400" cy="806450"/>
                      </a:xfrm>
                      <a:prstGeom prst="rect">
                        <a:avLst/>
                      </a:prstGeom>
                    </p:spPr>
                  </p:pic>
                </p:oleObj>
              </mc:Fallback>
            </mc:AlternateContent>
          </a:graphicData>
        </a:graphic>
      </p:graphicFrame>
      <p:graphicFrame>
        <p:nvGraphicFramePr>
          <p:cNvPr id="13" name="Object 12">
            <a:extLst>
              <a:ext uri="{FF2B5EF4-FFF2-40B4-BE49-F238E27FC236}">
                <a16:creationId xmlns:a16="http://schemas.microsoft.com/office/drawing/2014/main" id="{2A4CDF76-B6DB-6E83-153C-81969059BB29}"/>
              </a:ext>
            </a:extLst>
          </p:cNvPr>
          <p:cNvGraphicFramePr>
            <a:graphicFrameLocks noChangeAspect="1"/>
          </p:cNvGraphicFramePr>
          <p:nvPr/>
        </p:nvGraphicFramePr>
        <p:xfrm>
          <a:off x="11056348" y="312163"/>
          <a:ext cx="914400" cy="806450"/>
        </p:xfrm>
        <a:graphic>
          <a:graphicData uri="http://schemas.openxmlformats.org/presentationml/2006/ole">
            <mc:AlternateContent xmlns:mc="http://schemas.openxmlformats.org/markup-compatibility/2006">
              <mc:Choice xmlns:v="urn:schemas-microsoft-com:vml" Requires="v">
                <p:oleObj name="Worksheet" showAsIcon="1" r:id="rId5" imgW="914400" imgH="806335" progId="Excel.Sheet.12">
                  <p:embed/>
                </p:oleObj>
              </mc:Choice>
              <mc:Fallback>
                <p:oleObj name="Worksheet" showAsIcon="1" r:id="rId5" imgW="914400" imgH="806335" progId="Excel.Sheet.12">
                  <p:embed/>
                  <p:pic>
                    <p:nvPicPr>
                      <p:cNvPr id="13" name="Object 12">
                        <a:extLst>
                          <a:ext uri="{FF2B5EF4-FFF2-40B4-BE49-F238E27FC236}">
                            <a16:creationId xmlns:a16="http://schemas.microsoft.com/office/drawing/2014/main" id="{2A4CDF76-B6DB-6E83-153C-81969059BB29}"/>
                          </a:ext>
                        </a:extLst>
                      </p:cNvPr>
                      <p:cNvPicPr/>
                      <p:nvPr/>
                    </p:nvPicPr>
                    <p:blipFill>
                      <a:blip r:embed="rId6"/>
                      <a:stretch>
                        <a:fillRect/>
                      </a:stretch>
                    </p:blipFill>
                    <p:spPr>
                      <a:xfrm>
                        <a:off x="11056348" y="312163"/>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237249499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87692" y="1229202"/>
            <a:ext cx="11282159" cy="181588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a:ln>
                  <a:noFill/>
                </a:ln>
                <a:solidFill>
                  <a:srgbClr val="000000"/>
                </a:solidFill>
                <a:effectLst/>
                <a:uLnTx/>
                <a:uFillTx/>
                <a:latin typeface="Calibri" panose="020F0502020204030204"/>
                <a:ea typeface="Geneva"/>
                <a:cs typeface="+mn-cs"/>
              </a:rPr>
              <a:t>Validating SPIMM Additional Procedure Codes</a:t>
            </a:r>
            <a:endParaRPr kumimoji="0" lang="en-GB" sz="1400" b="0" i="0" u="sng" strike="noStrike" kern="0" cap="none" spc="0" normalizeH="0" baseline="0" noProof="0">
              <a:ln>
                <a:noFill/>
              </a:ln>
              <a:solidFill>
                <a:srgbClr val="000000"/>
              </a:solidFill>
              <a:effectLst/>
              <a:uLnTx/>
              <a:uFillTx/>
              <a:latin typeface="Calibri" panose="020F0502020204030204"/>
              <a:ea typeface="Genev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Geneva"/>
                <a:cs typeface="+mn-cs"/>
              </a:rPr>
              <a:t>CDS 4.5.0 introduces the appropriate validation for Procedure Codes and Additional Procedure Codes that can be declared on a SPIMM dataset.</a:t>
            </a:r>
            <a:endParaRPr kumimoji="0" lang="en-GB" sz="1400" b="0" i="0" u="none" strike="noStrike" kern="0" cap="none" spc="0" normalizeH="0" baseline="0" noProof="0">
              <a:ln>
                <a:noFill/>
              </a:ln>
              <a:solidFill>
                <a:srgbClr val="000000"/>
              </a:solidFill>
              <a:effectLst/>
              <a:uLnTx/>
              <a:uFillTx/>
              <a:latin typeface="Calibri" panose="020F0502020204030204"/>
              <a:ea typeface="Genev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Geneva"/>
                <a:cs typeface="+mn-cs"/>
              </a:rPr>
              <a:t>The following SPIMM specific validation will be introduced, as per the declaration completion instructions:</a:t>
            </a:r>
            <a:endParaRPr kumimoji="0" lang="en-GB" sz="1400" b="0" i="0" u="none" strike="noStrike" kern="0" cap="none" spc="0" normalizeH="0" baseline="0" noProof="0">
              <a:ln>
                <a:noFill/>
              </a:ln>
              <a:solidFill>
                <a:srgbClr val="000000"/>
              </a:solidFill>
              <a:effectLst/>
              <a:uLnTx/>
              <a:uFillTx/>
              <a:latin typeface="Calibri" panose="020F0502020204030204"/>
              <a:ea typeface="Genev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Geneva"/>
                <a:cs typeface="+mn-cs"/>
              </a:rPr>
              <a:t>CDS will ensure that a trader supplies a certain Warehouse Type Code and Supervising Customs Office Codes when moving into and out of certain authorised Procedures.</a:t>
            </a:r>
            <a:endParaRPr kumimoji="0" lang="en-GB" sz="1400" b="0" i="0" u="none" strike="noStrike" kern="0" cap="none" spc="0" normalizeH="0" baseline="0" noProof="0">
              <a:ln>
                <a:noFill/>
              </a:ln>
              <a:solidFill>
                <a:srgbClr val="000000"/>
              </a:solidFill>
              <a:effectLst/>
              <a:uLnTx/>
              <a:uFillTx/>
              <a:latin typeface="Calibri" panose="020F0502020204030204"/>
              <a:ea typeface="Genev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Geneva"/>
                <a:cs typeface="+mn-cs"/>
              </a:rPr>
              <a:t>CDS will ensure that traders are exiting a Special Procedure when using Additional Procedure Code '1SP' (DE 1/11).</a:t>
            </a:r>
            <a:endParaRPr kumimoji="0" lang="en-GB" sz="1400" b="0" i="0" u="none" strike="noStrike" kern="0" cap="none" spc="0" normalizeH="0" baseline="0" noProof="0">
              <a:ln>
                <a:noFill/>
              </a:ln>
              <a:solidFill>
                <a:srgbClr val="000000"/>
              </a:solidFill>
              <a:effectLst/>
              <a:uLnTx/>
              <a:uFillTx/>
              <a:latin typeface="Calibri" panose="020F0502020204030204"/>
              <a:ea typeface="Genev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27F33C45-3657-EC06-E5EC-ADD9BF1A4296}"/>
              </a:ext>
            </a:extLst>
          </p:cNvPr>
          <p:cNvSpPr txBox="1"/>
          <p:nvPr/>
        </p:nvSpPr>
        <p:spPr>
          <a:xfrm>
            <a:off x="387692" y="2643602"/>
            <a:ext cx="11138263"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Deriving SPIMM APC: 1SG</a:t>
            </a:r>
            <a:endParaRPr kumimoji="0" lang="en-GB" sz="1400" b="0" i="0" u="sng"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deriving SPIMM APC Code 1SG (DE 1/11).</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Pre-requisite</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Trader has declared APC '1SG' in in DE 1/11 at goods item level.</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rPr>
              <a:t>Validation as listed in previous slides must be met in order to use APC '1SG' (DE 1/11).</a:t>
            </a:r>
          </a:p>
        </p:txBody>
      </p:sp>
      <p:graphicFrame>
        <p:nvGraphicFramePr>
          <p:cNvPr id="9" name="Table 4">
            <a:extLst>
              <a:ext uri="{FF2B5EF4-FFF2-40B4-BE49-F238E27FC236}">
                <a16:creationId xmlns:a16="http://schemas.microsoft.com/office/drawing/2014/main" id="{80C0FFD3-ADF8-06F1-2778-0C490DA71075}"/>
              </a:ext>
            </a:extLst>
          </p:cNvPr>
          <p:cNvGraphicFramePr>
            <a:graphicFrameLocks noGrp="1"/>
          </p:cNvGraphicFramePr>
          <p:nvPr/>
        </p:nvGraphicFramePr>
        <p:xfrm>
          <a:off x="465155" y="3722669"/>
          <a:ext cx="11160000" cy="777240"/>
        </p:xfrm>
        <a:graphic>
          <a:graphicData uri="http://schemas.openxmlformats.org/drawingml/2006/table">
            <a:tbl>
              <a:tblPr firstRow="1" bandRow="1">
                <a:tableStyleId>{5C22544A-7EE6-4342-B048-85BDC9FD1C3A}</a:tableStyleId>
              </a:tblPr>
              <a:tblGrid>
                <a:gridCol w="5163291">
                  <a:extLst>
                    <a:ext uri="{9D8B030D-6E8A-4147-A177-3AD203B41FA5}">
                      <a16:colId xmlns:a16="http://schemas.microsoft.com/office/drawing/2014/main" val="3837587197"/>
                    </a:ext>
                  </a:extLst>
                </a:gridCol>
                <a:gridCol w="5996709">
                  <a:extLst>
                    <a:ext uri="{9D8B030D-6E8A-4147-A177-3AD203B41FA5}">
                      <a16:colId xmlns:a16="http://schemas.microsoft.com/office/drawing/2014/main" val="574208599"/>
                    </a:ext>
                  </a:extLst>
                </a:gridCol>
              </a:tblGrid>
              <a:tr h="265433">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47045">
                <a:tc>
                  <a:txBody>
                    <a:bodyPr/>
                    <a:lstStyle/>
                    <a:p>
                      <a:r>
                        <a:rPr lang="en-GB" sz="1300"/>
                        <a:t>Procedure Code entered in DE 1/10.</a:t>
                      </a:r>
                    </a:p>
                  </a:txBody>
                  <a:tcPr>
                    <a:solidFill>
                      <a:srgbClr val="CBDCDB"/>
                    </a:solidFill>
                  </a:tcPr>
                </a:tc>
                <a:tc>
                  <a:txBody>
                    <a:bodyPr/>
                    <a:lstStyle/>
                    <a:p>
                      <a:r>
                        <a:rPr lang="en-GB" sz="1300" dirty="0"/>
                        <a:t>One of the following Procedure Codes must be declared in DE 1/10 at item level on the same goods item: '4000', '4051', '4071', '4078'.</a:t>
                      </a:r>
                    </a:p>
                  </a:txBody>
                  <a:tcPr>
                    <a:solidFill>
                      <a:srgbClr val="CBDCDB"/>
                    </a:solidFill>
                  </a:tcPr>
                </a:tc>
                <a:extLst>
                  <a:ext uri="{0D108BD9-81ED-4DB2-BD59-A6C34878D82A}">
                    <a16:rowId xmlns:a16="http://schemas.microsoft.com/office/drawing/2014/main" val="676372353"/>
                  </a:ext>
                </a:extLst>
              </a:tr>
            </a:tbl>
          </a:graphicData>
        </a:graphic>
      </p:graphicFrame>
      <p:sp>
        <p:nvSpPr>
          <p:cNvPr id="13" name="TextBox 12">
            <a:extLst>
              <a:ext uri="{FF2B5EF4-FFF2-40B4-BE49-F238E27FC236}">
                <a16:creationId xmlns:a16="http://schemas.microsoft.com/office/drawing/2014/main" id="{1EF65BE7-79D7-49B2-2D74-E0C6D6CA178E}"/>
              </a:ext>
            </a:extLst>
          </p:cNvPr>
          <p:cNvSpPr txBox="1"/>
          <p:nvPr/>
        </p:nvSpPr>
        <p:spPr>
          <a:xfrm>
            <a:off x="435958" y="4468785"/>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14" name="Table 13">
            <a:extLst>
              <a:ext uri="{FF2B5EF4-FFF2-40B4-BE49-F238E27FC236}">
                <a16:creationId xmlns:a16="http://schemas.microsoft.com/office/drawing/2014/main" id="{261F3031-AA16-10B3-5D0F-934856C48730}"/>
              </a:ext>
            </a:extLst>
          </p:cNvPr>
          <p:cNvGraphicFramePr>
            <a:graphicFrameLocks noGrp="1"/>
          </p:cNvGraphicFramePr>
          <p:nvPr/>
        </p:nvGraphicFramePr>
        <p:xfrm>
          <a:off x="465155" y="4752067"/>
          <a:ext cx="11160000" cy="1305492"/>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80068">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338644">
                <a:tc>
                  <a:txBody>
                    <a:bodyPr/>
                    <a:lstStyle/>
                    <a:p>
                      <a:r>
                        <a:rPr lang="en-GB" sz="1300"/>
                        <a:t>Trader declares one of the following APCs in DE 1/11:'1EL','1EN','1LG' at item level on the same goods item as APC 1SG.</a:t>
                      </a:r>
                    </a:p>
                  </a:txBody>
                  <a:tcPr>
                    <a:solidFill>
                      <a:srgbClr val="CBDCDB"/>
                    </a:solidFill>
                  </a:tcPr>
                </a:tc>
                <a:extLst>
                  <a:ext uri="{0D108BD9-81ED-4DB2-BD59-A6C34878D82A}">
                    <a16:rowId xmlns:a16="http://schemas.microsoft.com/office/drawing/2014/main" val="1003652622"/>
                  </a:ext>
                </a:extLst>
              </a:tr>
              <a:tr h="338644">
                <a:tc>
                  <a:txBody>
                    <a:bodyPr/>
                    <a:lstStyle/>
                    <a:p>
                      <a:r>
                        <a:rPr lang="en-GB" sz="1300"/>
                        <a:t>APC 1SG is declared in DE 1/11 at item level on the same goods item as any other APC </a:t>
                      </a:r>
                      <a:r>
                        <a:rPr lang="en-GB" sz="1300" u="sng"/>
                        <a:t>not</a:t>
                      </a:r>
                      <a:r>
                        <a:rPr lang="en-GB" sz="1300"/>
                        <a:t> included in the DE 1/11 APC Restrictions (Tab 1SG).</a:t>
                      </a:r>
                    </a:p>
                  </a:txBody>
                  <a:tcPr>
                    <a:solidFill>
                      <a:srgbClr val="E7EEEE"/>
                    </a:solidFill>
                  </a:tcPr>
                </a:tc>
                <a:extLst>
                  <a:ext uri="{0D108BD9-81ED-4DB2-BD59-A6C34878D82A}">
                    <a16:rowId xmlns:a16="http://schemas.microsoft.com/office/drawing/2014/main" val="1108568355"/>
                  </a:ext>
                </a:extLst>
              </a:tr>
              <a:tr h="338644">
                <a:tc>
                  <a:txBody>
                    <a:bodyPr/>
                    <a:lstStyle/>
                    <a:p>
                      <a:r>
                        <a:rPr lang="en-GB" sz="1300" dirty="0"/>
                        <a:t>Trader has declared a Licence Document Code in DE 2/3 at item level on the same goods item as APC 1SG.</a:t>
                      </a:r>
                    </a:p>
                  </a:txBody>
                  <a:tcPr>
                    <a:solidFill>
                      <a:srgbClr val="CBDCDB"/>
                    </a:solidFill>
                  </a:tcPr>
                </a:tc>
                <a:extLst>
                  <a:ext uri="{0D108BD9-81ED-4DB2-BD59-A6C34878D82A}">
                    <a16:rowId xmlns:a16="http://schemas.microsoft.com/office/drawing/2014/main" val="692331384"/>
                  </a:ext>
                </a:extLst>
              </a:tr>
            </a:tbl>
          </a:graphicData>
        </a:graphic>
      </p:graphicFrame>
      <p:graphicFrame>
        <p:nvGraphicFramePr>
          <p:cNvPr id="15" name="Object 14">
            <a:extLst>
              <a:ext uri="{FF2B5EF4-FFF2-40B4-BE49-F238E27FC236}">
                <a16:creationId xmlns:a16="http://schemas.microsoft.com/office/drawing/2014/main" id="{69FFC878-96DB-649F-90E5-D164D2A1CE52}"/>
              </a:ext>
            </a:extLst>
          </p:cNvPr>
          <p:cNvGraphicFramePr>
            <a:graphicFrameLocks noChangeAspect="1"/>
          </p:cNvGraphicFramePr>
          <p:nvPr/>
        </p:nvGraphicFramePr>
        <p:xfrm>
          <a:off x="11068755" y="273352"/>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15" name="Object 14">
                        <a:extLst>
                          <a:ext uri="{FF2B5EF4-FFF2-40B4-BE49-F238E27FC236}">
                            <a16:creationId xmlns:a16="http://schemas.microsoft.com/office/drawing/2014/main" id="{69FFC878-96DB-649F-90E5-D164D2A1CE52}"/>
                          </a:ext>
                        </a:extLst>
                      </p:cNvPr>
                      <p:cNvPicPr/>
                      <p:nvPr/>
                    </p:nvPicPr>
                    <p:blipFill>
                      <a:blip r:embed="rId4"/>
                      <a:stretch>
                        <a:fillRect/>
                      </a:stretch>
                    </p:blipFill>
                    <p:spPr>
                      <a:xfrm>
                        <a:off x="11068755" y="273352"/>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190762088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87692" y="1223820"/>
            <a:ext cx="11282159"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Deriving SPIMM APC: 1LG</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a:t>
            </a: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SPIMM APC Code 1LG (DE 1/11). </a:t>
            </a:r>
            <a:endParaRPr kumimoji="0" lang="en-GB" sz="18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Pre-requisite: Trader has declared APC '1LG' in DE 1/11 at goods item level.</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rPr>
              <a:t>Validation as listed in previous slides must be met in order to use APC '1LG' (DE 1/11).</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65155" y="2423842"/>
          <a:ext cx="11160000" cy="204216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5851">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81433">
                <a:tc>
                  <a:txBody>
                    <a:bodyPr/>
                    <a:lstStyle/>
                    <a:p>
                      <a:r>
                        <a:rPr lang="en-GB" sz="1300"/>
                        <a:t>Procedure Code entered in DE 1/10.</a:t>
                      </a:r>
                    </a:p>
                  </a:txBody>
                  <a:tcPr>
                    <a:solidFill>
                      <a:srgbClr val="CBDCDB"/>
                    </a:solidFill>
                  </a:tcPr>
                </a:tc>
                <a:tc>
                  <a:txBody>
                    <a:bodyPr/>
                    <a:lstStyle/>
                    <a:p>
                      <a:r>
                        <a:rPr lang="en-GB" sz="1300"/>
                        <a:t>One of the following Procedure Codes must be declared in DE 1/10 at item level on the same goods item: '4000', '4051', '4071', '4078'.</a:t>
                      </a:r>
                    </a:p>
                  </a:txBody>
                  <a:tcPr>
                    <a:solidFill>
                      <a:srgbClr val="CBDCDB"/>
                    </a:solidFill>
                  </a:tcPr>
                </a:tc>
                <a:extLst>
                  <a:ext uri="{0D108BD9-81ED-4DB2-BD59-A6C34878D82A}">
                    <a16:rowId xmlns:a16="http://schemas.microsoft.com/office/drawing/2014/main" val="676372353"/>
                  </a:ext>
                </a:extLst>
              </a:tr>
              <a:tr h="481433">
                <a:tc>
                  <a:txBody>
                    <a:bodyPr/>
                    <a:lstStyle/>
                    <a:p>
                      <a:r>
                        <a:rPr lang="en-GB" sz="1300"/>
                        <a:t>Trader declares Additional Declaration Type A or D in DE 1/2 and an electronic licence is DE 2/3.</a:t>
                      </a:r>
                    </a:p>
                  </a:txBody>
                  <a:tcPr>
                    <a:solidFill>
                      <a:srgbClr val="E7EEEE"/>
                    </a:solidFill>
                  </a:tcPr>
                </a:tc>
                <a:tc>
                  <a:txBody>
                    <a:bodyPr/>
                    <a:lstStyle/>
                    <a:p>
                      <a:r>
                        <a:rPr lang="en-GB" sz="1300"/>
                        <a:t>DUCR (DE 2/1) must be declared at header level.</a:t>
                      </a:r>
                    </a:p>
                  </a:txBody>
                  <a:tcPr>
                    <a:solidFill>
                      <a:srgbClr val="E7EEEE"/>
                    </a:solidFill>
                  </a:tcPr>
                </a:tc>
                <a:extLst>
                  <a:ext uri="{0D108BD9-81ED-4DB2-BD59-A6C34878D82A}">
                    <a16:rowId xmlns:a16="http://schemas.microsoft.com/office/drawing/2014/main" val="1003652622"/>
                  </a:ext>
                </a:extLst>
              </a:tr>
              <a:tr h="481433">
                <a:tc>
                  <a:txBody>
                    <a:bodyPr/>
                    <a:lstStyle/>
                    <a:p>
                      <a:r>
                        <a:rPr lang="en-GB" sz="1300"/>
                        <a:t>Trader declares Additional Declaration Type A or D in DE 1/2.</a:t>
                      </a:r>
                    </a:p>
                  </a:txBody>
                  <a:tcPr>
                    <a:solidFill>
                      <a:srgbClr val="CBDCDB"/>
                    </a:solidFill>
                  </a:tcPr>
                </a:tc>
                <a:tc>
                  <a:txBody>
                    <a:bodyPr/>
                    <a:lstStyle/>
                    <a:p>
                      <a:r>
                        <a:rPr lang="en-GB" sz="1300"/>
                        <a:t>Document Code in DE 2/3 must be other than '1UKI' or 'C512' at item level on same goods item.</a:t>
                      </a:r>
                    </a:p>
                  </a:txBody>
                  <a:tcPr>
                    <a:solidFill>
                      <a:srgbClr val="CBDCDB"/>
                    </a:solidFill>
                  </a:tcPr>
                </a:tc>
                <a:extLst>
                  <a:ext uri="{0D108BD9-81ED-4DB2-BD59-A6C34878D82A}">
                    <a16:rowId xmlns:a16="http://schemas.microsoft.com/office/drawing/2014/main" val="1108568355"/>
                  </a:ext>
                </a:extLst>
              </a:tr>
              <a:tr h="285851">
                <a:tc>
                  <a:txBody>
                    <a:bodyPr/>
                    <a:lstStyle/>
                    <a:p>
                      <a:r>
                        <a:rPr lang="en-GB" sz="1300"/>
                        <a:t>Trader declares Additional Declaration Type A or D in DE 1/2.</a:t>
                      </a:r>
                    </a:p>
                  </a:txBody>
                  <a:tcPr>
                    <a:solidFill>
                      <a:srgbClr val="E7EEEE"/>
                    </a:solidFill>
                  </a:tcPr>
                </a:tc>
                <a:tc>
                  <a:txBody>
                    <a:bodyPr/>
                    <a:lstStyle/>
                    <a:p>
                      <a:r>
                        <a:rPr lang="en-GB" sz="1300" dirty="0"/>
                        <a:t>DE 6/1 (Net Mass) must be populated at item level. </a:t>
                      </a:r>
                    </a:p>
                  </a:txBody>
                  <a:tcPr>
                    <a:solidFill>
                      <a:srgbClr val="E7EEEE"/>
                    </a:solidFill>
                  </a:tcPr>
                </a:tc>
                <a:extLst>
                  <a:ext uri="{0D108BD9-81ED-4DB2-BD59-A6C34878D82A}">
                    <a16:rowId xmlns:a16="http://schemas.microsoft.com/office/drawing/2014/main" val="1247559883"/>
                  </a:ext>
                </a:extLst>
              </a:tr>
            </a:tbl>
          </a:graphicData>
        </a:graphic>
      </p:graphicFrame>
      <p:graphicFrame>
        <p:nvGraphicFramePr>
          <p:cNvPr id="9" name="Table 8">
            <a:extLst>
              <a:ext uri="{FF2B5EF4-FFF2-40B4-BE49-F238E27FC236}">
                <a16:creationId xmlns:a16="http://schemas.microsoft.com/office/drawing/2014/main" id="{FB1EC1C5-1AA9-1990-B33B-67AA52D9F60F}"/>
              </a:ext>
            </a:extLst>
          </p:cNvPr>
          <p:cNvGraphicFramePr>
            <a:graphicFrameLocks noGrp="1"/>
          </p:cNvGraphicFramePr>
          <p:nvPr/>
        </p:nvGraphicFramePr>
        <p:xfrm>
          <a:off x="465155" y="4830260"/>
          <a:ext cx="11160000" cy="11582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9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79000">
                <a:tc>
                  <a:txBody>
                    <a:bodyPr/>
                    <a:lstStyle/>
                    <a:p>
                      <a:r>
                        <a:rPr lang="en-GB" sz="1300"/>
                        <a:t>Trader declares Declaration Type 'Z' in DE 1/2.</a:t>
                      </a:r>
                    </a:p>
                  </a:txBody>
                  <a:tcPr>
                    <a:solidFill>
                      <a:srgbClr val="CBDCDB"/>
                    </a:solidFill>
                  </a:tcPr>
                </a:tc>
                <a:extLst>
                  <a:ext uri="{0D108BD9-81ED-4DB2-BD59-A6C34878D82A}">
                    <a16:rowId xmlns:a16="http://schemas.microsoft.com/office/drawing/2014/main" val="676372353"/>
                  </a:ext>
                </a:extLst>
              </a:tr>
              <a:tr h="279000">
                <a:tc>
                  <a:txBody>
                    <a:bodyPr/>
                    <a:lstStyle/>
                    <a:p>
                      <a:r>
                        <a:rPr lang="en-GB" sz="1300"/>
                        <a:t>Trader declares one of the following APCs in DE 1/11: 1EL, 1EN, 1SG at item level on the same goods item as APC 1LG.</a:t>
                      </a:r>
                    </a:p>
                  </a:txBody>
                  <a:tcPr>
                    <a:solidFill>
                      <a:srgbClr val="E7EEEE"/>
                    </a:solidFill>
                  </a:tcPr>
                </a:tc>
                <a:extLst>
                  <a:ext uri="{0D108BD9-81ED-4DB2-BD59-A6C34878D82A}">
                    <a16:rowId xmlns:a16="http://schemas.microsoft.com/office/drawing/2014/main" val="1003652622"/>
                  </a:ext>
                </a:extLst>
              </a:tr>
              <a:tr h="279000">
                <a:tc>
                  <a:txBody>
                    <a:bodyPr/>
                    <a:lstStyle/>
                    <a:p>
                      <a:r>
                        <a:rPr lang="en-GB" sz="1300" dirty="0"/>
                        <a:t>APC 1LG is declared in DE 1/11 at item level on the same goods item as any other APC </a:t>
                      </a:r>
                      <a:r>
                        <a:rPr lang="en-GB" sz="1300" u="sng" dirty="0"/>
                        <a:t>not</a:t>
                      </a:r>
                      <a:r>
                        <a:rPr lang="en-GB" sz="1300" dirty="0"/>
                        <a:t> included in the DE 1/11 APC Restrictions (Tab 1LG).</a:t>
                      </a:r>
                    </a:p>
                  </a:txBody>
                  <a:tcPr>
                    <a:solidFill>
                      <a:srgbClr val="CBDCDB"/>
                    </a:solidFill>
                  </a:tcPr>
                </a:tc>
                <a:extLst>
                  <a:ext uri="{0D108BD9-81ED-4DB2-BD59-A6C34878D82A}">
                    <a16:rowId xmlns:a16="http://schemas.microsoft.com/office/drawing/2014/main" val="1108568355"/>
                  </a:ext>
                </a:extLst>
              </a:tr>
            </a:tbl>
          </a:graphicData>
        </a:graphic>
      </p:graphicFrame>
      <p:sp>
        <p:nvSpPr>
          <p:cNvPr id="13" name="TextBox 12">
            <a:extLst>
              <a:ext uri="{FF2B5EF4-FFF2-40B4-BE49-F238E27FC236}">
                <a16:creationId xmlns:a16="http://schemas.microsoft.com/office/drawing/2014/main" id="{D5B14057-D6D0-A629-8497-80641D18BE07}"/>
              </a:ext>
            </a:extLst>
          </p:cNvPr>
          <p:cNvSpPr txBox="1"/>
          <p:nvPr/>
        </p:nvSpPr>
        <p:spPr>
          <a:xfrm>
            <a:off x="416102" y="4529613"/>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14" name="Object 13">
            <a:extLst>
              <a:ext uri="{FF2B5EF4-FFF2-40B4-BE49-F238E27FC236}">
                <a16:creationId xmlns:a16="http://schemas.microsoft.com/office/drawing/2014/main" id="{8CD08172-C100-4953-538F-082CE52C2FB3}"/>
              </a:ext>
            </a:extLst>
          </p:cNvPr>
          <p:cNvGraphicFramePr>
            <a:graphicFrameLocks noChangeAspect="1"/>
          </p:cNvGraphicFramePr>
          <p:nvPr/>
        </p:nvGraphicFramePr>
        <p:xfrm>
          <a:off x="11068755" y="273352"/>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14" name="Object 13">
                        <a:extLst>
                          <a:ext uri="{FF2B5EF4-FFF2-40B4-BE49-F238E27FC236}">
                            <a16:creationId xmlns:a16="http://schemas.microsoft.com/office/drawing/2014/main" id="{8CD08172-C100-4953-538F-082CE52C2FB3}"/>
                          </a:ext>
                        </a:extLst>
                      </p:cNvPr>
                      <p:cNvPicPr/>
                      <p:nvPr/>
                    </p:nvPicPr>
                    <p:blipFill>
                      <a:blip r:embed="rId4"/>
                      <a:stretch>
                        <a:fillRect/>
                      </a:stretch>
                    </p:blipFill>
                    <p:spPr>
                      <a:xfrm>
                        <a:off x="11068755" y="273352"/>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290462745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87692" y="1224052"/>
            <a:ext cx="11274340"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SPIMM APC: 1EL</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a:t>
            </a: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SPIMM APC Code 1EL (DE 1/11).</a:t>
            </a:r>
            <a:endParaRPr kumimoji="0" lang="en-GB" sz="18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Pre-requisite: Trader has declared APC '1EL' in in DE 1/11 at goods item level.</a:t>
            </a: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4B13E992-2AD2-2129-7E16-1F260F81B8EC}"/>
              </a:ext>
            </a:extLst>
          </p:cNvPr>
          <p:cNvGraphicFramePr>
            <a:graphicFrameLocks noGrp="1"/>
          </p:cNvGraphicFramePr>
          <p:nvPr/>
        </p:nvGraphicFramePr>
        <p:xfrm>
          <a:off x="465155" y="2133600"/>
          <a:ext cx="11160000" cy="224028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4531">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650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Procedure Code entered in DE 1/10.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One of the following Procedure Codes must be declared in DE 1/10 at item level on the same goods item: '0700', '0751', '0771', '0778', '4000', '4051', '4071', '4078'.</a:t>
                      </a:r>
                    </a:p>
                  </a:txBody>
                  <a:tcPr>
                    <a:solidFill>
                      <a:srgbClr val="CBDCDB"/>
                    </a:solidFill>
                  </a:tcPr>
                </a:tc>
                <a:extLst>
                  <a:ext uri="{0D108BD9-81ED-4DB2-BD59-A6C34878D82A}">
                    <a16:rowId xmlns:a16="http://schemas.microsoft.com/office/drawing/2014/main" val="1855176925"/>
                  </a:ext>
                </a:extLst>
              </a:tr>
              <a:tr h="462367">
                <a:tc>
                  <a:txBody>
                    <a:bodyPr/>
                    <a:lstStyle/>
                    <a:p>
                      <a:r>
                        <a:rPr lang="en-GB" sz="1300"/>
                        <a:t>Trader declares Additional Declaration Type 'A' or 'D' in DE 1/2 and an electronic licence in DE 2/3</a:t>
                      </a:r>
                    </a:p>
                  </a:txBody>
                  <a:tcPr>
                    <a:solidFill>
                      <a:srgbClr val="E7EEEE"/>
                    </a:solidFill>
                  </a:tcPr>
                </a:tc>
                <a:tc>
                  <a:txBody>
                    <a:bodyPr/>
                    <a:lstStyle/>
                    <a:p>
                      <a:r>
                        <a:rPr lang="en-GB" sz="1300"/>
                        <a:t>DUCR (DE 2/1) must be declared at header level.</a:t>
                      </a:r>
                    </a:p>
                  </a:txBody>
                  <a:tcPr>
                    <a:solidFill>
                      <a:srgbClr val="E7EEEE"/>
                    </a:solidFill>
                  </a:tcPr>
                </a:tc>
                <a:extLst>
                  <a:ext uri="{0D108BD9-81ED-4DB2-BD59-A6C34878D82A}">
                    <a16:rowId xmlns:a16="http://schemas.microsoft.com/office/drawing/2014/main" val="676372353"/>
                  </a:ext>
                </a:extLst>
              </a:tr>
              <a:tr h="462367">
                <a:tc>
                  <a:txBody>
                    <a:bodyPr/>
                    <a:lstStyle/>
                    <a:p>
                      <a:r>
                        <a:rPr lang="en-GB" sz="1300"/>
                        <a:t>Trader declares Additional Declaration Type 'A' or 'D' in DE 1/2</a:t>
                      </a:r>
                    </a:p>
                  </a:txBody>
                  <a:tcPr>
                    <a:solidFill>
                      <a:srgbClr val="CBDCDB"/>
                    </a:solidFill>
                  </a:tcPr>
                </a:tc>
                <a:tc>
                  <a:txBody>
                    <a:bodyPr/>
                    <a:lstStyle/>
                    <a:p>
                      <a:r>
                        <a:rPr lang="en-GB" sz="1300"/>
                        <a:t>Document code other than '1UKI' or 'C512' must be declared in DE 2/3 at item level on the same goods item</a:t>
                      </a:r>
                    </a:p>
                  </a:txBody>
                  <a:tcPr>
                    <a:solidFill>
                      <a:srgbClr val="CBDCDB"/>
                    </a:solidFill>
                  </a:tcPr>
                </a:tc>
                <a:extLst>
                  <a:ext uri="{0D108BD9-81ED-4DB2-BD59-A6C34878D82A}">
                    <a16:rowId xmlns:a16="http://schemas.microsoft.com/office/drawing/2014/main" val="1003652622"/>
                  </a:ext>
                </a:extLst>
              </a:tr>
              <a:tr h="274531">
                <a:tc>
                  <a:txBody>
                    <a:bodyPr/>
                    <a:lstStyle/>
                    <a:p>
                      <a:r>
                        <a:rPr lang="en-GB" sz="1300"/>
                        <a:t>Trader declares Additional Declaration Type 'A' or 'D' in DE 1/2</a:t>
                      </a:r>
                    </a:p>
                  </a:txBody>
                  <a:tcPr>
                    <a:solidFill>
                      <a:srgbClr val="E7EEEE"/>
                    </a:solidFill>
                  </a:tcPr>
                </a:tc>
                <a:tc>
                  <a:txBody>
                    <a:bodyPr/>
                    <a:lstStyle/>
                    <a:p>
                      <a:r>
                        <a:rPr lang="en-GB" sz="1300" dirty="0"/>
                        <a:t>6/1 (Net Mass) must be populated at item level on the same goods item.</a:t>
                      </a:r>
                    </a:p>
                  </a:txBody>
                  <a:tcPr>
                    <a:solidFill>
                      <a:srgbClr val="E7EEEE"/>
                    </a:solidFill>
                  </a:tcPr>
                </a:tc>
                <a:extLst>
                  <a:ext uri="{0D108BD9-81ED-4DB2-BD59-A6C34878D82A}">
                    <a16:rowId xmlns:a16="http://schemas.microsoft.com/office/drawing/2014/main" val="1108568355"/>
                  </a:ext>
                </a:extLst>
              </a:tr>
            </a:tbl>
          </a:graphicData>
        </a:graphic>
      </p:graphicFrame>
      <p:graphicFrame>
        <p:nvGraphicFramePr>
          <p:cNvPr id="8" name="Table 7">
            <a:extLst>
              <a:ext uri="{FF2B5EF4-FFF2-40B4-BE49-F238E27FC236}">
                <a16:creationId xmlns:a16="http://schemas.microsoft.com/office/drawing/2014/main" id="{C97E05DB-3D46-A0B9-C1AE-3E6CFFA63DE8}"/>
              </a:ext>
            </a:extLst>
          </p:cNvPr>
          <p:cNvGraphicFramePr>
            <a:graphicFrameLocks noGrp="1"/>
          </p:cNvGraphicFramePr>
          <p:nvPr/>
        </p:nvGraphicFramePr>
        <p:xfrm>
          <a:off x="464236" y="4689621"/>
          <a:ext cx="11160000" cy="11582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9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79000">
                <a:tc>
                  <a:txBody>
                    <a:bodyPr/>
                    <a:lstStyle/>
                    <a:p>
                      <a:r>
                        <a:rPr lang="en-GB" sz="1300"/>
                        <a:t>Trader declares Declaration Type 'Z' in DE 1/2.</a:t>
                      </a:r>
                    </a:p>
                  </a:txBody>
                  <a:tcPr>
                    <a:solidFill>
                      <a:srgbClr val="CBDCDB"/>
                    </a:solidFill>
                  </a:tcPr>
                </a:tc>
                <a:extLst>
                  <a:ext uri="{0D108BD9-81ED-4DB2-BD59-A6C34878D82A}">
                    <a16:rowId xmlns:a16="http://schemas.microsoft.com/office/drawing/2014/main" val="676372353"/>
                  </a:ext>
                </a:extLst>
              </a:tr>
              <a:tr h="279000">
                <a:tc>
                  <a:txBody>
                    <a:bodyPr/>
                    <a:lstStyle/>
                    <a:p>
                      <a:r>
                        <a:rPr lang="en-GB" sz="1300"/>
                        <a:t>Trader declares one of the following APCs in DE 1/11: 1LG, 1EN, 1SG at item level on the same goods item as APC 1EL.</a:t>
                      </a:r>
                    </a:p>
                  </a:txBody>
                  <a:tcPr>
                    <a:solidFill>
                      <a:srgbClr val="E7EEEE"/>
                    </a:solidFill>
                  </a:tcPr>
                </a:tc>
                <a:extLst>
                  <a:ext uri="{0D108BD9-81ED-4DB2-BD59-A6C34878D82A}">
                    <a16:rowId xmlns:a16="http://schemas.microsoft.com/office/drawing/2014/main" val="1108568355"/>
                  </a:ext>
                </a:extLst>
              </a:tr>
              <a:tr h="279000">
                <a:tc>
                  <a:txBody>
                    <a:bodyPr/>
                    <a:lstStyle/>
                    <a:p>
                      <a:r>
                        <a:rPr lang="en-GB" sz="1300" dirty="0"/>
                        <a:t>APC 1EL is declared in DE 1/11 at item level on the same goods item as any other APC </a:t>
                      </a:r>
                      <a:r>
                        <a:rPr lang="en-GB" sz="1300" u="sng" dirty="0"/>
                        <a:t>not</a:t>
                      </a:r>
                      <a:r>
                        <a:rPr lang="en-GB" sz="1300" dirty="0"/>
                        <a:t> included in the DE 1/11 APC Restrictions (Tab 1EL).</a:t>
                      </a:r>
                    </a:p>
                  </a:txBody>
                  <a:tcPr>
                    <a:solidFill>
                      <a:srgbClr val="CBDCDB"/>
                    </a:solidFill>
                  </a:tcPr>
                </a:tc>
                <a:extLst>
                  <a:ext uri="{0D108BD9-81ED-4DB2-BD59-A6C34878D82A}">
                    <a16:rowId xmlns:a16="http://schemas.microsoft.com/office/drawing/2014/main" val="692331384"/>
                  </a:ext>
                </a:extLst>
              </a:tr>
            </a:tbl>
          </a:graphicData>
        </a:graphic>
      </p:graphicFrame>
      <p:sp>
        <p:nvSpPr>
          <p:cNvPr id="9" name="TextBox 8">
            <a:extLst>
              <a:ext uri="{FF2B5EF4-FFF2-40B4-BE49-F238E27FC236}">
                <a16:creationId xmlns:a16="http://schemas.microsoft.com/office/drawing/2014/main" id="{76B7C310-6823-8DF7-0219-4FAE041E3D04}"/>
              </a:ext>
            </a:extLst>
          </p:cNvPr>
          <p:cNvSpPr txBox="1"/>
          <p:nvPr/>
        </p:nvSpPr>
        <p:spPr>
          <a:xfrm>
            <a:off x="445204" y="5851295"/>
            <a:ext cx="11359790"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rPr>
              <a:t>Note: CDS will allow AI Codes 'GLOIL' and 'GLCCL' to be declared in DE 2/2 at goods item level.</a:t>
            </a:r>
          </a:p>
        </p:txBody>
      </p:sp>
      <p:sp>
        <p:nvSpPr>
          <p:cNvPr id="13" name="TextBox 12">
            <a:extLst>
              <a:ext uri="{FF2B5EF4-FFF2-40B4-BE49-F238E27FC236}">
                <a16:creationId xmlns:a16="http://schemas.microsoft.com/office/drawing/2014/main" id="{D040B7FF-890F-5FCC-49B6-37C574616F6F}"/>
              </a:ext>
            </a:extLst>
          </p:cNvPr>
          <p:cNvSpPr txBox="1"/>
          <p:nvPr/>
        </p:nvSpPr>
        <p:spPr>
          <a:xfrm>
            <a:off x="416102" y="4386360"/>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720153"/>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87692" y="1237887"/>
            <a:ext cx="11282159" cy="138499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Deriving SPIMM APC: 1EN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against </a:t>
            </a: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deriving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SPIMM APC Code 1EN (DE 1/11).</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Pre-requisite: Trader has declared APC '1EN' in in DE 1/11 at goods item level.</a:t>
            </a: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843C8282-4134-D840-7B6A-ABC3CCD45C3A}"/>
              </a:ext>
            </a:extLst>
          </p:cNvPr>
          <p:cNvGraphicFramePr>
            <a:graphicFrameLocks noGrp="1"/>
          </p:cNvGraphicFramePr>
          <p:nvPr/>
        </p:nvGraphicFramePr>
        <p:xfrm>
          <a:off x="463874" y="2163556"/>
          <a:ext cx="11160000" cy="97536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3371">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7725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Procedure Code entered in DE 1/10.</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t>One of the following Procedure Codes must be declared in DE 1/10 at item level on the same goods item: '4000', '4051', '4071', '4078', '0700', '0751', '0771', '0778' must be declared at item level on the same goods item.</a:t>
                      </a:r>
                    </a:p>
                  </a:txBody>
                  <a:tcPr>
                    <a:solidFill>
                      <a:srgbClr val="CBDCDB"/>
                    </a:solidFill>
                  </a:tcPr>
                </a:tc>
                <a:extLst>
                  <a:ext uri="{0D108BD9-81ED-4DB2-BD59-A6C34878D82A}">
                    <a16:rowId xmlns:a16="http://schemas.microsoft.com/office/drawing/2014/main" val="220780970"/>
                  </a:ext>
                </a:extLst>
              </a:tr>
            </a:tbl>
          </a:graphicData>
        </a:graphic>
      </p:graphicFrame>
      <p:graphicFrame>
        <p:nvGraphicFramePr>
          <p:cNvPr id="8" name="Table 7">
            <a:extLst>
              <a:ext uri="{FF2B5EF4-FFF2-40B4-BE49-F238E27FC236}">
                <a16:creationId xmlns:a16="http://schemas.microsoft.com/office/drawing/2014/main" id="{20347614-BC85-2114-FC75-3EC147BC2556}"/>
              </a:ext>
            </a:extLst>
          </p:cNvPr>
          <p:cNvGraphicFramePr>
            <a:graphicFrameLocks noGrp="1"/>
          </p:cNvGraphicFramePr>
          <p:nvPr/>
        </p:nvGraphicFramePr>
        <p:xfrm>
          <a:off x="463874" y="3490761"/>
          <a:ext cx="11160000" cy="2223782"/>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54635">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513778">
                <a:tc>
                  <a:txBody>
                    <a:bodyPr/>
                    <a:lstStyle/>
                    <a:p>
                      <a:r>
                        <a:rPr lang="en-GB" sz="1300"/>
                        <a:t>Trader declares Declaration Type Z in DE 1/2 and declares one of the following Procedure Codes (DE 1/10) at item level on any goods item: '0700', '0751', '0771' or '0778'</a:t>
                      </a:r>
                    </a:p>
                  </a:txBody>
                  <a:tcPr>
                    <a:solidFill>
                      <a:srgbClr val="CBDCDB"/>
                    </a:solidFill>
                  </a:tcPr>
                </a:tc>
                <a:extLst>
                  <a:ext uri="{0D108BD9-81ED-4DB2-BD59-A6C34878D82A}">
                    <a16:rowId xmlns:a16="http://schemas.microsoft.com/office/drawing/2014/main" val="2643637942"/>
                  </a:ext>
                </a:extLst>
              </a:tr>
              <a:tr h="513778">
                <a:tc>
                  <a:txBody>
                    <a:bodyPr/>
                    <a:lstStyle/>
                    <a:p>
                      <a:r>
                        <a:rPr lang="en-GB" sz="1300"/>
                        <a:t>'1EN' is declared in DE 1/11 with any other Procedure Code that is not one of '4000', '4051', '4071', '4078', '0700', '0751', '0771', '0778' at item level on the same goods item.</a:t>
                      </a:r>
                    </a:p>
                  </a:txBody>
                  <a:tcPr>
                    <a:solidFill>
                      <a:srgbClr val="E7EEEE"/>
                    </a:solidFill>
                  </a:tcPr>
                </a:tc>
                <a:extLst>
                  <a:ext uri="{0D108BD9-81ED-4DB2-BD59-A6C34878D82A}">
                    <a16:rowId xmlns:a16="http://schemas.microsoft.com/office/drawing/2014/main" val="1003652622"/>
                  </a:ext>
                </a:extLst>
              </a:tr>
              <a:tr h="302222">
                <a:tc>
                  <a:txBody>
                    <a:bodyPr/>
                    <a:lstStyle/>
                    <a:p>
                      <a:r>
                        <a:rPr lang="en-GB" sz="1300"/>
                        <a:t>Trader declares one of the following APCs in DE 1/11: 1LG, 1EL, 1SG at item level on the same goods item as APC 1EN.</a:t>
                      </a:r>
                    </a:p>
                  </a:txBody>
                  <a:tcPr>
                    <a:solidFill>
                      <a:srgbClr val="CBDCDB"/>
                    </a:solidFill>
                  </a:tcPr>
                </a:tc>
                <a:extLst>
                  <a:ext uri="{0D108BD9-81ED-4DB2-BD59-A6C34878D82A}">
                    <a16:rowId xmlns:a16="http://schemas.microsoft.com/office/drawing/2014/main" val="1108568355"/>
                  </a:ext>
                </a:extLst>
              </a:tr>
              <a:tr h="302222">
                <a:tc>
                  <a:txBody>
                    <a:bodyPr/>
                    <a:lstStyle/>
                    <a:p>
                      <a:r>
                        <a:rPr lang="fr-FR" sz="1300"/>
                        <a:t>Trader declares a Licence Document Code in DE 2/3 at item level on the same goods item as APC '1EN'.</a:t>
                      </a:r>
                      <a:endParaRPr lang="en-GB" sz="1300"/>
                    </a:p>
                  </a:txBody>
                  <a:tcPr>
                    <a:solidFill>
                      <a:srgbClr val="E7EEEE"/>
                    </a:solidFill>
                  </a:tcPr>
                </a:tc>
                <a:extLst>
                  <a:ext uri="{0D108BD9-81ED-4DB2-BD59-A6C34878D82A}">
                    <a16:rowId xmlns:a16="http://schemas.microsoft.com/office/drawing/2014/main" val="692331384"/>
                  </a:ext>
                </a:extLst>
              </a:tr>
              <a:tr h="302222">
                <a:tc>
                  <a:txBody>
                    <a:bodyPr/>
                    <a:lstStyle/>
                    <a:p>
                      <a:r>
                        <a:rPr lang="en-GB" sz="1300" dirty="0"/>
                        <a:t>APC 1EL is declared in DE 1/11 at item level on the same goods item as any other APC not included in the DE 1/11 APC Restrictions (Tab 1EN).</a:t>
                      </a:r>
                    </a:p>
                  </a:txBody>
                  <a:tcPr>
                    <a:solidFill>
                      <a:srgbClr val="CBDCDB"/>
                    </a:solidFill>
                  </a:tcPr>
                </a:tc>
                <a:extLst>
                  <a:ext uri="{0D108BD9-81ED-4DB2-BD59-A6C34878D82A}">
                    <a16:rowId xmlns:a16="http://schemas.microsoft.com/office/drawing/2014/main" val="3616479537"/>
                  </a:ext>
                </a:extLst>
              </a:tr>
            </a:tbl>
          </a:graphicData>
        </a:graphic>
      </p:graphicFrame>
      <p:sp>
        <p:nvSpPr>
          <p:cNvPr id="9" name="TextBox 8">
            <a:extLst>
              <a:ext uri="{FF2B5EF4-FFF2-40B4-BE49-F238E27FC236}">
                <a16:creationId xmlns:a16="http://schemas.microsoft.com/office/drawing/2014/main" id="{7B851B0E-C294-25FB-85C8-1E0813117E6F}"/>
              </a:ext>
            </a:extLst>
          </p:cNvPr>
          <p:cNvSpPr txBox="1"/>
          <p:nvPr/>
        </p:nvSpPr>
        <p:spPr>
          <a:xfrm>
            <a:off x="451834" y="5782507"/>
            <a:ext cx="11359790"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Calibri" panose="020F0502020204030204"/>
              </a:rPr>
              <a:t>Note: CDS will allow AI Codes 'GLOIL' and 'GLCCL' to be declared in DE 2/2 at goods item level.</a:t>
            </a:r>
          </a:p>
        </p:txBody>
      </p:sp>
      <p:sp>
        <p:nvSpPr>
          <p:cNvPr id="13" name="TextBox 12">
            <a:extLst>
              <a:ext uri="{FF2B5EF4-FFF2-40B4-BE49-F238E27FC236}">
                <a16:creationId xmlns:a16="http://schemas.microsoft.com/office/drawing/2014/main" id="{D6584508-A231-A00D-DED9-98545428929A}"/>
              </a:ext>
            </a:extLst>
          </p:cNvPr>
          <p:cNvSpPr txBox="1"/>
          <p:nvPr/>
        </p:nvSpPr>
        <p:spPr>
          <a:xfrm>
            <a:off x="377060" y="3156271"/>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8272350"/>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Mandating Declaration Type 'IM' for Deriving APCs</a:t>
            </a:r>
            <a:b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b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The Declaration Type 'IM' will be enforced for deriving APCs.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Acceptance Criteria: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trader has declared APC '1SG', '1EL', '1EN', '1LG', '61G', '62G', '63G' or '71G' in DE 1/11 at goods item level, Declaration Type 'IM' must be declared in DE 1/1 at header level. If this criteria is not met, the declaration will be rejected and a DMSREJ notification issued.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GL APC Declared Against SPIMM Declarations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Every goods item on a SPIMM Declaration must have a GL APC declared against it.</a:t>
            </a:r>
            <a:endParaRPr kumimoji="0" lang="en-GB" sz="18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Acceptance Criteria: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an H8 dataset has been derived, every goods item on the declaration must have one of the following APC's declared in DE 1/11: '1SG', '1EN', '1LG' or '1EL'.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the above criteria is not met, the declaration will be rejected and a DMSREJ notification issued.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highlight>
                <a:srgbClr val="FF00FF"/>
              </a:highligh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1841608"/>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95410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SPIMM Specific </a:t>
            </a:r>
            <a:r>
              <a:rPr kumimoji="0" lang="en-GB" sz="1400" b="0" i="0" u="sng" strike="noStrike" kern="0" cap="none" spc="0" normalizeH="0" baseline="0" noProof="0">
                <a:ln>
                  <a:noFill/>
                </a:ln>
                <a:solidFill>
                  <a:srgbClr val="000000"/>
                </a:solidFill>
                <a:effectLst/>
                <a:uLnTx/>
                <a:uFillTx/>
                <a:latin typeface="Calibri" panose="020F0502020204030204"/>
                <a:ea typeface="+mn-ea"/>
                <a:cs typeface="Calibri" panose="020F0502020204030204"/>
              </a:rPr>
              <a:t>Validation for APCs  (A10, F46, 1AG, 1NR, 1RD, 1RM)</a:t>
            </a: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SPIMM specific validation will take place for APCs that can be used for RoW-GB, RoW-NI, GB-NI journeys as appropriate.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Pre-requisite: </a:t>
            </a: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H8 dataset has been derived.</a:t>
            </a:r>
            <a:endParaRPr kumimoji="0" lang="en-GB" sz="1400" b="1"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560A5B54-EEB0-EB6F-23D8-02694A277297}"/>
              </a:ext>
            </a:extLst>
          </p:cNvPr>
          <p:cNvGraphicFramePr>
            <a:graphicFrameLocks noGrp="1"/>
          </p:cNvGraphicFramePr>
          <p:nvPr/>
        </p:nvGraphicFramePr>
        <p:xfrm>
          <a:off x="486420" y="2009871"/>
          <a:ext cx="11160000" cy="2271309"/>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3387">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272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APC '1RM'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APC 1SG must be declared in DE 1/11 at item level on the same goods item. </a:t>
                      </a:r>
                    </a:p>
                  </a:txBody>
                  <a:tcPr>
                    <a:solidFill>
                      <a:srgbClr val="CBDCDB"/>
                    </a:solidFill>
                  </a:tcPr>
                </a:tc>
                <a:extLst>
                  <a:ext uri="{0D108BD9-81ED-4DB2-BD59-A6C34878D82A}">
                    <a16:rowId xmlns:a16="http://schemas.microsoft.com/office/drawing/2014/main" val="220780970"/>
                  </a:ext>
                </a:extLst>
              </a:tr>
              <a:tr h="47728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APC 'A10' in DE 1/11 at item level.</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APC '1SP' and '1NR' must be declared in DE 1/11 at item level on the same goods item. </a:t>
                      </a:r>
                    </a:p>
                  </a:txBody>
                  <a:tcPr>
                    <a:solidFill>
                      <a:srgbClr val="E7EEEE"/>
                    </a:solidFill>
                  </a:tcPr>
                </a:tc>
                <a:extLst>
                  <a:ext uri="{0D108BD9-81ED-4DB2-BD59-A6C34878D82A}">
                    <a16:rowId xmlns:a16="http://schemas.microsoft.com/office/drawing/2014/main" val="2626705667"/>
                  </a:ext>
                </a:extLst>
              </a:tr>
              <a:tr h="28338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APC 'F46'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APC '1SP' is declared in DE 1/11 at item level on the same goods item.</a:t>
                      </a:r>
                    </a:p>
                  </a:txBody>
                  <a:tcPr>
                    <a:solidFill>
                      <a:srgbClr val="CBDCDB"/>
                    </a:solidFill>
                  </a:tcPr>
                </a:tc>
                <a:extLst>
                  <a:ext uri="{0D108BD9-81ED-4DB2-BD59-A6C34878D82A}">
                    <a16:rowId xmlns:a16="http://schemas.microsoft.com/office/drawing/2014/main" val="974203679"/>
                  </a:ext>
                </a:extLst>
              </a:tr>
              <a:tr h="47728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APC 'F46' in DE 1/11 at item level.</a:t>
                      </a:r>
                    </a:p>
                  </a:txBody>
                  <a:tcP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Either APC 'A04' or '1NR' must be declared in DE 1/11 at item level on the same goods item.</a:t>
                      </a:r>
                    </a:p>
                  </a:txBody>
                  <a:tcPr>
                    <a:solidFill>
                      <a:srgbClr val="E7EEEE"/>
                    </a:solidFill>
                  </a:tcPr>
                </a:tc>
                <a:extLst>
                  <a:ext uri="{0D108BD9-81ED-4DB2-BD59-A6C34878D82A}">
                    <a16:rowId xmlns:a16="http://schemas.microsoft.com/office/drawing/2014/main" val="2553376484"/>
                  </a:ext>
                </a:extLst>
              </a:tr>
              <a:tr h="28338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APC '1AG' or '1RD'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t>Mode of Transport '9' must be declared in DE 7/4.</a:t>
                      </a:r>
                    </a:p>
                  </a:txBody>
                  <a:tcPr>
                    <a:solidFill>
                      <a:srgbClr val="CBDCDB"/>
                    </a:solidFill>
                  </a:tcPr>
                </a:tc>
                <a:extLst>
                  <a:ext uri="{0D108BD9-81ED-4DB2-BD59-A6C34878D82A}">
                    <a16:rowId xmlns:a16="http://schemas.microsoft.com/office/drawing/2014/main" val="1448453544"/>
                  </a:ext>
                </a:extLst>
              </a:tr>
            </a:tbl>
          </a:graphicData>
        </a:graphic>
      </p:graphicFrame>
      <p:sp>
        <p:nvSpPr>
          <p:cNvPr id="9" name="TextBox 8">
            <a:extLst>
              <a:ext uri="{FF2B5EF4-FFF2-40B4-BE49-F238E27FC236}">
                <a16:creationId xmlns:a16="http://schemas.microsoft.com/office/drawing/2014/main" id="{C18F7497-3906-4099-315C-3B419ACF121C}"/>
              </a:ext>
            </a:extLst>
          </p:cNvPr>
          <p:cNvSpPr txBox="1"/>
          <p:nvPr/>
        </p:nvSpPr>
        <p:spPr>
          <a:xfrm>
            <a:off x="387692" y="4353293"/>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7836134"/>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957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117F9721-A5AC-FF29-1B2B-4E505A75F8C2}"/>
              </a:ext>
            </a:extLst>
          </p:cNvPr>
          <p:cNvGraphicFramePr>
            <a:graphicFrameLocks noGrp="1"/>
          </p:cNvGraphicFramePr>
          <p:nvPr/>
        </p:nvGraphicFramePr>
        <p:xfrm>
          <a:off x="465155" y="1351742"/>
          <a:ext cx="11160000" cy="22250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82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82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ea typeface="Calibri" panose="020F0502020204030204"/>
                          <a:cs typeface="Calibri" panose="020F0502020204030204"/>
                        </a:rPr>
                        <a:t>Trader declares one of the following Additional Procedure Codes at item level on the same goods item: '1LG', '1EL', '1EN', at item level on the same goods item as APC '1RM'.</a:t>
                      </a:r>
                    </a:p>
                  </a:txBody>
                  <a:tcPr>
                    <a:solidFill>
                      <a:srgbClr val="E7EEEE"/>
                    </a:solidFill>
                  </a:tcPr>
                </a:tc>
                <a:extLst>
                  <a:ext uri="{0D108BD9-81ED-4DB2-BD59-A6C34878D82A}">
                    <a16:rowId xmlns:a16="http://schemas.microsoft.com/office/drawing/2014/main" val="3818445913"/>
                  </a:ext>
                </a:extLst>
              </a:tr>
              <a:tr h="282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Trader declares Additional Procedure Code 'A10' in DE 1/11 on a 'Y' type declaration (DE 1/2).</a:t>
                      </a:r>
                    </a:p>
                  </a:txBody>
                  <a:tcPr>
                    <a:solidFill>
                      <a:srgbClr val="CBDCDB"/>
                    </a:solidFill>
                  </a:tcPr>
                </a:tc>
                <a:extLst>
                  <a:ext uri="{0D108BD9-81ED-4DB2-BD59-A6C34878D82A}">
                    <a16:rowId xmlns:a16="http://schemas.microsoft.com/office/drawing/2014/main" val="285014812"/>
                  </a:ext>
                </a:extLst>
              </a:tr>
              <a:tr h="282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1200">
                          <a:solidFill>
                            <a:schemeClr val="dk1"/>
                          </a:solidFill>
                          <a:latin typeface="+mn-lt"/>
                          <a:ea typeface="+mn-ea"/>
                          <a:cs typeface="+mn-cs"/>
                        </a:rPr>
                        <a:t>Trader declares APC ‘A10’ in DE 1/11 at item level and APC ‘A04’ or ‘F47’ in DE 1/11 at item level on the same goods item. </a:t>
                      </a:r>
                    </a:p>
                  </a:txBody>
                  <a:tcPr>
                    <a:solidFill>
                      <a:srgbClr val="E7EEEE"/>
                    </a:solidFill>
                  </a:tcPr>
                </a:tc>
                <a:extLst>
                  <a:ext uri="{0D108BD9-81ED-4DB2-BD59-A6C34878D82A}">
                    <a16:rowId xmlns:a16="http://schemas.microsoft.com/office/drawing/2014/main" val="1556985484"/>
                  </a:ext>
                </a:extLst>
              </a:tr>
              <a:tr h="282000">
                <a:tc>
                  <a:txBody>
                    <a:bodyPr/>
                    <a:lstStyle/>
                    <a:p>
                      <a:r>
                        <a:rPr lang="en-GB" sz="1300"/>
                        <a:t>Trader declares APC 'F46' in DE 1/11 at item level and APC 'F47' is declared in DE 1/11 at item level on the same goods item.</a:t>
                      </a:r>
                    </a:p>
                  </a:txBody>
                  <a:tcPr>
                    <a:solidFill>
                      <a:srgbClr val="CBDCDB"/>
                    </a:solidFill>
                  </a:tcPr>
                </a:tc>
                <a:extLst>
                  <a:ext uri="{0D108BD9-81ED-4DB2-BD59-A6C34878D82A}">
                    <a16:rowId xmlns:a16="http://schemas.microsoft.com/office/drawing/2014/main" val="1117133862"/>
                  </a:ext>
                </a:extLst>
              </a:tr>
              <a:tr h="282000">
                <a:tc>
                  <a:txBody>
                    <a:bodyPr/>
                    <a:lstStyle/>
                    <a:p>
                      <a:r>
                        <a:rPr lang="en-GB" sz="1300"/>
                        <a:t>Trader declares Additional Procedure Code 'F46' in DE 1/11 on a 'Y' type declaration (DE 1/2).</a:t>
                      </a:r>
                    </a:p>
                  </a:txBody>
                  <a:tcPr>
                    <a:solidFill>
                      <a:srgbClr val="E7EEEE"/>
                    </a:solidFill>
                  </a:tcPr>
                </a:tc>
                <a:extLst>
                  <a:ext uri="{0D108BD9-81ED-4DB2-BD59-A6C34878D82A}">
                    <a16:rowId xmlns:a16="http://schemas.microsoft.com/office/drawing/2014/main" val="3986299048"/>
                  </a:ext>
                </a:extLst>
              </a:tr>
              <a:tr h="282000">
                <a:tc>
                  <a:txBody>
                    <a:bodyPr/>
                    <a:lstStyle/>
                    <a:p>
                      <a:r>
                        <a:rPr lang="en-GB" sz="1300" dirty="0"/>
                        <a:t>A trader has declared APC '1AG' or '1RD' at item level and a trader declares Additional Information Code 'RRS01' in DE 2/2 at header level.</a:t>
                      </a:r>
                    </a:p>
                  </a:txBody>
                  <a:tcPr>
                    <a:solidFill>
                      <a:srgbClr val="CBDCDB"/>
                    </a:solidFill>
                  </a:tcPr>
                </a:tc>
                <a:extLst>
                  <a:ext uri="{0D108BD9-81ED-4DB2-BD59-A6C34878D82A}">
                    <a16:rowId xmlns:a16="http://schemas.microsoft.com/office/drawing/2014/main" val="1123850454"/>
                  </a:ext>
                </a:extLst>
              </a:tr>
            </a:tbl>
          </a:graphicData>
        </a:graphic>
      </p:graphicFrame>
    </p:spTree>
    <p:extLst>
      <p:ext uri="{BB962C8B-B14F-4D97-AF65-F5344CB8AC3E}">
        <p14:creationId xmlns:p14="http://schemas.microsoft.com/office/powerpoint/2010/main" val="3014752673"/>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27901"/>
            <a:ext cx="11282159" cy="95410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Validation for 7 New GL APCs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Validation will be introduced for 7 new GL APCs: '1CO', '1GO', '1GP', '1PN', '1SP', '1SR', '1TB'.</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Pre-requisite: H8 dataset has been derived.</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65155" y="2054765"/>
          <a:ext cx="11160000" cy="370332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4296">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78815">
                <a:tc>
                  <a:txBody>
                    <a:bodyPr/>
                    <a:lstStyle/>
                    <a:p>
                      <a:r>
                        <a:rPr lang="en-GB" sz="1300"/>
                        <a:t>Trader has declared APC '1CO' in DE 1/11 at item level.</a:t>
                      </a:r>
                    </a:p>
                  </a:txBody>
                  <a:tcPr>
                    <a:solidFill>
                      <a:srgbClr val="CBDCDB"/>
                    </a:solidFill>
                  </a:tcPr>
                </a:tc>
                <a:tc>
                  <a:txBody>
                    <a:bodyPr/>
                    <a:lstStyle/>
                    <a:p>
                      <a:r>
                        <a:rPr lang="en-GB" sz="1300"/>
                        <a:t>Document Code 'Y222' must be declared in DE 2/3 at item level on the same goods item.</a:t>
                      </a:r>
                    </a:p>
                  </a:txBody>
                  <a:tcPr>
                    <a:solidFill>
                      <a:srgbClr val="CBDCDB"/>
                    </a:solidFill>
                  </a:tcPr>
                </a:tc>
                <a:extLst>
                  <a:ext uri="{0D108BD9-81ED-4DB2-BD59-A6C34878D82A}">
                    <a16:rowId xmlns:a16="http://schemas.microsoft.com/office/drawing/2014/main" val="2740674943"/>
                  </a:ext>
                </a:extLst>
              </a:tr>
              <a:tr h="478815">
                <a:tc>
                  <a:txBody>
                    <a:bodyPr/>
                    <a:lstStyle/>
                    <a:p>
                      <a:r>
                        <a:rPr lang="en-GB" sz="1300"/>
                        <a:t>Trader has declared APC '1GO' in DE 1/11 at item level.</a:t>
                      </a:r>
                    </a:p>
                  </a:txBody>
                  <a:tcPr>
                    <a:solidFill>
                      <a:srgbClr val="E7EEEE"/>
                    </a:solidFill>
                  </a:tcPr>
                </a:tc>
                <a:tc>
                  <a:txBody>
                    <a:bodyPr/>
                    <a:lstStyle/>
                    <a:p>
                      <a:r>
                        <a:rPr lang="en-GB" sz="1300"/>
                        <a:t>AI Statement Code 'GLOGD' must be declared in DE 2/2 at item level on the same goods item.</a:t>
                      </a:r>
                    </a:p>
                  </a:txBody>
                  <a:tcPr>
                    <a:solidFill>
                      <a:srgbClr val="E7EEEE"/>
                    </a:solidFill>
                  </a:tcPr>
                </a:tc>
                <a:extLst>
                  <a:ext uri="{0D108BD9-81ED-4DB2-BD59-A6C34878D82A}">
                    <a16:rowId xmlns:a16="http://schemas.microsoft.com/office/drawing/2014/main" val="1206194863"/>
                  </a:ext>
                </a:extLst>
              </a:tr>
              <a:tr h="478815">
                <a:tc>
                  <a:txBody>
                    <a:bodyPr/>
                    <a:lstStyle/>
                    <a:p>
                      <a:r>
                        <a:rPr lang="en-GB" sz="1300"/>
                        <a:t>Trader has declared APC '1GP' in DE 1/11 at item level</a:t>
                      </a:r>
                    </a:p>
                  </a:txBody>
                  <a:tcPr>
                    <a:solidFill>
                      <a:srgbClr val="CBDCDB"/>
                    </a:solidFill>
                  </a:tcPr>
                </a:tc>
                <a:tc>
                  <a:txBody>
                    <a:bodyPr/>
                    <a:lstStyle/>
                    <a:p>
                      <a:r>
                        <a:rPr lang="en-GB" sz="1300"/>
                        <a:t>AI Statement Code 'GLGPD' must be declared in DE 2/2 at item level on the same goods item</a:t>
                      </a:r>
                    </a:p>
                  </a:txBody>
                  <a:tcPr>
                    <a:solidFill>
                      <a:srgbClr val="CBDCDB"/>
                    </a:solidFill>
                  </a:tcPr>
                </a:tc>
                <a:extLst>
                  <a:ext uri="{0D108BD9-81ED-4DB2-BD59-A6C34878D82A}">
                    <a16:rowId xmlns:a16="http://schemas.microsoft.com/office/drawing/2014/main" val="676372353"/>
                  </a:ext>
                </a:extLst>
              </a:tr>
              <a:tr h="478815">
                <a:tc>
                  <a:txBody>
                    <a:bodyPr/>
                    <a:lstStyle/>
                    <a:p>
                      <a:r>
                        <a:rPr lang="en-GB" sz="1300"/>
                        <a:t>Trader has declared APC '1GO', '1GP', '1PN', '1TB' or '1SR' in DE 1/11 at item level</a:t>
                      </a:r>
                    </a:p>
                  </a:txBody>
                  <a:tcPr>
                    <a:solidFill>
                      <a:srgbClr val="E7EEEE"/>
                    </a:solidFill>
                  </a:tcPr>
                </a:tc>
                <a:tc>
                  <a:txBody>
                    <a:bodyPr/>
                    <a:lstStyle/>
                    <a:p>
                      <a:r>
                        <a:rPr lang="en-GB" sz="1300"/>
                        <a:t>Either APC '1SG' or '1EN' must be declared at item level on the same goods item</a:t>
                      </a:r>
                    </a:p>
                  </a:txBody>
                  <a:tcPr>
                    <a:solidFill>
                      <a:srgbClr val="E7EEEE"/>
                    </a:solidFill>
                  </a:tcPr>
                </a:tc>
                <a:extLst>
                  <a:ext uri="{0D108BD9-81ED-4DB2-BD59-A6C34878D82A}">
                    <a16:rowId xmlns:a16="http://schemas.microsoft.com/office/drawing/2014/main" val="1003652622"/>
                  </a:ext>
                </a:extLst>
              </a:tr>
              <a:tr h="478815">
                <a:tc>
                  <a:txBody>
                    <a:bodyPr/>
                    <a:lstStyle/>
                    <a:p>
                      <a:r>
                        <a:rPr lang="en-GB" sz="1300"/>
                        <a:t>Trader has declared APC '1SP' in DE 1/11 at item level</a:t>
                      </a:r>
                    </a:p>
                  </a:txBody>
                  <a:tcPr>
                    <a:solidFill>
                      <a:srgbClr val="CBDCDB"/>
                    </a:solidFill>
                  </a:tcPr>
                </a:tc>
                <a:tc>
                  <a:txBody>
                    <a:bodyPr/>
                    <a:lstStyle/>
                    <a:p>
                      <a:r>
                        <a:rPr lang="en-GB" sz="1300"/>
                        <a:t>Either APC '1SG', '1EL', '1LG' or '1EN' must be declared at item level on the same goods item</a:t>
                      </a:r>
                    </a:p>
                  </a:txBody>
                  <a:tcPr>
                    <a:solidFill>
                      <a:srgbClr val="CBDCDB"/>
                    </a:solidFill>
                  </a:tcPr>
                </a:tc>
                <a:extLst>
                  <a:ext uri="{0D108BD9-81ED-4DB2-BD59-A6C34878D82A}">
                    <a16:rowId xmlns:a16="http://schemas.microsoft.com/office/drawing/2014/main" val="1108568355"/>
                  </a:ext>
                </a:extLst>
              </a:tr>
              <a:tr h="478815">
                <a:tc>
                  <a:txBody>
                    <a:bodyPr/>
                    <a:lstStyle/>
                    <a:p>
                      <a:r>
                        <a:rPr lang="en-GB" sz="1300"/>
                        <a:t>Trader has declared APC '1GP' or '1PN' and the Additional Declaration Type declared in DE 1/2 is 'Y' or 'Z'</a:t>
                      </a:r>
                    </a:p>
                  </a:txBody>
                  <a:tcPr>
                    <a:solidFill>
                      <a:srgbClr val="E7EEEE"/>
                    </a:solidFill>
                  </a:tcPr>
                </a:tc>
                <a:tc>
                  <a:txBody>
                    <a:bodyPr/>
                    <a:lstStyle/>
                    <a:p>
                      <a:r>
                        <a:rPr lang="en-GB" sz="1300"/>
                        <a:t>The Representative Code in DE 3/21 must be '3'</a:t>
                      </a:r>
                    </a:p>
                  </a:txBody>
                  <a:tcPr>
                    <a:solidFill>
                      <a:srgbClr val="E7EEEE"/>
                    </a:solidFill>
                  </a:tcPr>
                </a:tc>
                <a:extLst>
                  <a:ext uri="{0D108BD9-81ED-4DB2-BD59-A6C34878D82A}">
                    <a16:rowId xmlns:a16="http://schemas.microsoft.com/office/drawing/2014/main" val="1247559883"/>
                  </a:ext>
                </a:extLst>
              </a:tr>
              <a:tr h="478815">
                <a:tc>
                  <a:txBody>
                    <a:bodyPr/>
                    <a:lstStyle/>
                    <a:p>
                      <a:r>
                        <a:rPr lang="en-GB" sz="1300"/>
                        <a:t>Trader has declared APC '1PN' in DE 1/11 at item level.</a:t>
                      </a:r>
                    </a:p>
                  </a:txBody>
                  <a:tcPr>
                    <a:solidFill>
                      <a:srgbClr val="CBDCDB"/>
                    </a:solidFill>
                  </a:tcPr>
                </a:tc>
                <a:tc>
                  <a:txBody>
                    <a:bodyPr/>
                    <a:lstStyle/>
                    <a:p>
                      <a:r>
                        <a:rPr lang="en-GB" sz="1300" dirty="0"/>
                        <a:t>At least one of the following AI Statement Codes 'GLNCN', 'GLPRO' or 'GLFNA' must be declared in DE 2/2 at item level on the same goods item.</a:t>
                      </a:r>
                    </a:p>
                  </a:txBody>
                  <a:tcPr>
                    <a:solidFill>
                      <a:srgbClr val="CBDCDB"/>
                    </a:solidFill>
                  </a:tcPr>
                </a:tc>
                <a:extLst>
                  <a:ext uri="{0D108BD9-81ED-4DB2-BD59-A6C34878D82A}">
                    <a16:rowId xmlns:a16="http://schemas.microsoft.com/office/drawing/2014/main" val="3073976193"/>
                  </a:ext>
                </a:extLst>
              </a:tr>
            </a:tbl>
          </a:graphicData>
        </a:graphic>
      </p:graphicFrame>
    </p:spTree>
    <p:extLst>
      <p:ext uri="{BB962C8B-B14F-4D97-AF65-F5344CB8AC3E}">
        <p14:creationId xmlns:p14="http://schemas.microsoft.com/office/powerpoint/2010/main" val="375320958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93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6" name="Table 5">
            <a:extLst>
              <a:ext uri="{FF2B5EF4-FFF2-40B4-BE49-F238E27FC236}">
                <a16:creationId xmlns:a16="http://schemas.microsoft.com/office/drawing/2014/main" id="{0C622A18-D207-F31A-4CFF-38BB6C54C90A}"/>
              </a:ext>
            </a:extLst>
          </p:cNvPr>
          <p:cNvGraphicFramePr>
            <a:graphicFrameLocks noGrp="1"/>
          </p:cNvGraphicFramePr>
          <p:nvPr/>
        </p:nvGraphicFramePr>
        <p:xfrm>
          <a:off x="465155" y="3829870"/>
          <a:ext cx="11160000" cy="144780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592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59200">
                <a:tc>
                  <a:txBody>
                    <a:bodyPr/>
                    <a:lstStyle/>
                    <a:p>
                      <a:r>
                        <a:rPr lang="en-GB" sz="1300"/>
                        <a:t>A trader has declared APC '1GO' in DE 1/11 at item level and declared APC '1GP' in DE 1/11 at item level on the same goods item.</a:t>
                      </a:r>
                    </a:p>
                  </a:txBody>
                  <a:tcPr>
                    <a:solidFill>
                      <a:srgbClr val="E7EEEE"/>
                    </a:solidFill>
                  </a:tcPr>
                </a:tc>
                <a:extLst>
                  <a:ext uri="{0D108BD9-81ED-4DB2-BD59-A6C34878D82A}">
                    <a16:rowId xmlns:a16="http://schemas.microsoft.com/office/drawing/2014/main" val="244645981"/>
                  </a:ext>
                </a:extLst>
              </a:tr>
              <a:tr h="259200">
                <a:tc>
                  <a:txBody>
                    <a:bodyPr/>
                    <a:lstStyle/>
                    <a:p>
                      <a:r>
                        <a:rPr lang="en-GB" sz="1300"/>
                        <a:t>A trader has declared APC '1GP' in DE 1/11 at item level and declared APC '1GO' in DE 1/11 at item level on the same goods item.</a:t>
                      </a:r>
                    </a:p>
                  </a:txBody>
                  <a:tcPr>
                    <a:solidFill>
                      <a:srgbClr val="CBDCDB"/>
                    </a:solidFill>
                  </a:tcPr>
                </a:tc>
                <a:extLst>
                  <a:ext uri="{0D108BD9-81ED-4DB2-BD59-A6C34878D82A}">
                    <a16:rowId xmlns:a16="http://schemas.microsoft.com/office/drawing/2014/main" val="676372353"/>
                  </a:ext>
                </a:extLst>
              </a:tr>
              <a:tr h="259200">
                <a:tc>
                  <a:txBody>
                    <a:bodyPr/>
                    <a:lstStyle/>
                    <a:p>
                      <a:r>
                        <a:rPr lang="en-GB" sz="1300"/>
                        <a:t>A trader has declared APC '1PN' in DE 1/11 at item level and declared APC '1SR' or '1TB' in DE 1/11 at item level on the same goods item.</a:t>
                      </a:r>
                    </a:p>
                  </a:txBody>
                  <a:tcPr>
                    <a:solidFill>
                      <a:srgbClr val="E7EEEE"/>
                    </a:solidFill>
                  </a:tcPr>
                </a:tc>
                <a:extLst>
                  <a:ext uri="{0D108BD9-81ED-4DB2-BD59-A6C34878D82A}">
                    <a16:rowId xmlns:a16="http://schemas.microsoft.com/office/drawing/2014/main" val="1108568355"/>
                  </a:ext>
                </a:extLst>
              </a:tr>
              <a:tr h="259200">
                <a:tc>
                  <a:txBody>
                    <a:bodyPr/>
                    <a:lstStyle/>
                    <a:p>
                      <a:r>
                        <a:rPr lang="en-GB" sz="1300" dirty="0"/>
                        <a:t>A trader has declared any combination of APCs 'A04', '1NR' and '1VW' (DE 1/11) at item level on the same goods item.</a:t>
                      </a:r>
                    </a:p>
                  </a:txBody>
                  <a:tcPr>
                    <a:solidFill>
                      <a:srgbClr val="CBDCDB"/>
                    </a:solidFill>
                  </a:tcPr>
                </a:tc>
                <a:extLst>
                  <a:ext uri="{0D108BD9-81ED-4DB2-BD59-A6C34878D82A}">
                    <a16:rowId xmlns:a16="http://schemas.microsoft.com/office/drawing/2014/main" val="1427118547"/>
                  </a:ext>
                </a:extLst>
              </a:tr>
            </a:tbl>
          </a:graphicData>
        </a:graphic>
      </p:graphicFrame>
      <p:graphicFrame>
        <p:nvGraphicFramePr>
          <p:cNvPr id="9" name="Table 8">
            <a:extLst>
              <a:ext uri="{FF2B5EF4-FFF2-40B4-BE49-F238E27FC236}">
                <a16:creationId xmlns:a16="http://schemas.microsoft.com/office/drawing/2014/main" id="{31949279-699C-C68C-DF21-ACBC3E9C5055}"/>
              </a:ext>
            </a:extLst>
          </p:cNvPr>
          <p:cNvGraphicFramePr>
            <a:graphicFrameLocks noGrp="1"/>
          </p:cNvGraphicFramePr>
          <p:nvPr/>
        </p:nvGraphicFramePr>
        <p:xfrm>
          <a:off x="465155" y="1444391"/>
          <a:ext cx="11160000" cy="1848471"/>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93991">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83767">
                <a:tc>
                  <a:txBody>
                    <a:bodyPr/>
                    <a:lstStyle/>
                    <a:p>
                      <a:r>
                        <a:rPr lang="en-GB" sz="1300"/>
                        <a:t>Trader has declared APC '1SP' in DE 1/11 at item level.</a:t>
                      </a:r>
                    </a:p>
                  </a:txBody>
                  <a:tcPr>
                    <a:solidFill>
                      <a:srgbClr val="E7EEEE"/>
                    </a:solidFill>
                  </a:tcPr>
                </a:tc>
                <a:tc>
                  <a:txBody>
                    <a:bodyPr/>
                    <a:lstStyle/>
                    <a:p>
                      <a:r>
                        <a:rPr lang="en-GB" sz="1300"/>
                        <a:t>One of the following APCs 'A04', '1NR' or '1VW' must be declared at item level on the same goods item.</a:t>
                      </a:r>
                    </a:p>
                  </a:txBody>
                  <a:tcPr>
                    <a:solidFill>
                      <a:srgbClr val="E7EEEE"/>
                    </a:solidFill>
                  </a:tcPr>
                </a:tc>
                <a:extLst>
                  <a:ext uri="{0D108BD9-81ED-4DB2-BD59-A6C34878D82A}">
                    <a16:rowId xmlns:a16="http://schemas.microsoft.com/office/drawing/2014/main" val="522366468"/>
                  </a:ext>
                </a:extLst>
              </a:tr>
              <a:tr h="287237">
                <a:tc>
                  <a:txBody>
                    <a:bodyPr/>
                    <a:lstStyle/>
                    <a:p>
                      <a:r>
                        <a:rPr lang="en-GB" sz="1300"/>
                        <a:t>Trader has declared APC '1SR' in DE 1/11 at item level.</a:t>
                      </a:r>
                    </a:p>
                  </a:txBody>
                  <a:tcPr>
                    <a:solidFill>
                      <a:srgbClr val="CBDCDB"/>
                    </a:solidFill>
                  </a:tcPr>
                </a:tc>
                <a:tc>
                  <a:txBody>
                    <a:bodyPr/>
                    <a:lstStyle/>
                    <a:p>
                      <a:r>
                        <a:rPr lang="en-GB" sz="1300"/>
                        <a:t>AI Code 'GLEMS' must be declared in DE 2/2.</a:t>
                      </a:r>
                    </a:p>
                  </a:txBody>
                  <a:tcPr>
                    <a:solidFill>
                      <a:srgbClr val="CBDCDB"/>
                    </a:solidFill>
                  </a:tcPr>
                </a:tc>
                <a:extLst>
                  <a:ext uri="{0D108BD9-81ED-4DB2-BD59-A6C34878D82A}">
                    <a16:rowId xmlns:a16="http://schemas.microsoft.com/office/drawing/2014/main" val="3462893249"/>
                  </a:ext>
                </a:extLst>
              </a:tr>
              <a:tr h="287237">
                <a:tc>
                  <a:txBody>
                    <a:bodyPr/>
                    <a:lstStyle/>
                    <a:p>
                      <a:r>
                        <a:rPr lang="en-GB" sz="1300"/>
                        <a:t>Trader has declared APC '1TB' in DE 1/11 at item level.</a:t>
                      </a:r>
                    </a:p>
                  </a:txBody>
                  <a:tcPr>
                    <a:solidFill>
                      <a:srgbClr val="E7EEEE"/>
                    </a:solidFill>
                  </a:tcPr>
                </a:tc>
                <a:tc>
                  <a:txBody>
                    <a:bodyPr/>
                    <a:lstStyle/>
                    <a:p>
                      <a:r>
                        <a:rPr lang="en-GB" sz="1300"/>
                        <a:t>AI Code 'GLTBO' in DE 2/2 at item level on the same goods item.</a:t>
                      </a:r>
                    </a:p>
                  </a:txBody>
                  <a:tcPr>
                    <a:solidFill>
                      <a:srgbClr val="E7EEEE"/>
                    </a:solidFill>
                  </a:tcPr>
                </a:tc>
                <a:extLst>
                  <a:ext uri="{0D108BD9-81ED-4DB2-BD59-A6C34878D82A}">
                    <a16:rowId xmlns:a16="http://schemas.microsoft.com/office/drawing/2014/main" val="1830899261"/>
                  </a:ext>
                </a:extLst>
              </a:tr>
              <a:tr h="483767">
                <a:tc>
                  <a:txBody>
                    <a:bodyPr/>
                    <a:lstStyle/>
                    <a:p>
                      <a:r>
                        <a:rPr lang="en-GB" sz="1300"/>
                        <a:t>Trader has declared one of the AI Codes 'GLOGD', 'GLGPD', 'GLNCN', 'GLPRO', 'GLFNA', 'GLEMS', 'GLTBO', 'GLHYO', 'GLCCL' or 'GLOIL' in DE 2/2</a:t>
                      </a:r>
                    </a:p>
                  </a:txBody>
                  <a:tcPr>
                    <a:solidFill>
                      <a:srgbClr val="CBDCDB"/>
                    </a:solidFill>
                  </a:tcPr>
                </a:tc>
                <a:tc>
                  <a:txBody>
                    <a:bodyPr/>
                    <a:lstStyle/>
                    <a:p>
                      <a:r>
                        <a:rPr lang="en-GB" sz="1300" dirty="0"/>
                        <a:t>The AI Code must be followed by the free text information.</a:t>
                      </a:r>
                    </a:p>
                  </a:txBody>
                  <a:tcPr>
                    <a:solidFill>
                      <a:srgbClr val="CBDCDB"/>
                    </a:solidFill>
                  </a:tcPr>
                </a:tc>
                <a:extLst>
                  <a:ext uri="{0D108BD9-81ED-4DB2-BD59-A6C34878D82A}">
                    <a16:rowId xmlns:a16="http://schemas.microsoft.com/office/drawing/2014/main" val="750958867"/>
                  </a:ext>
                </a:extLst>
              </a:tr>
            </a:tbl>
          </a:graphicData>
        </a:graphic>
      </p:graphicFrame>
      <p:sp>
        <p:nvSpPr>
          <p:cNvPr id="13" name="TextBox 12">
            <a:extLst>
              <a:ext uri="{FF2B5EF4-FFF2-40B4-BE49-F238E27FC236}">
                <a16:creationId xmlns:a16="http://schemas.microsoft.com/office/drawing/2014/main" id="{D460B6EC-7D0B-6E47-072B-65CB559F04E0}"/>
              </a:ext>
            </a:extLst>
          </p:cNvPr>
          <p:cNvSpPr txBox="1"/>
          <p:nvPr/>
        </p:nvSpPr>
        <p:spPr>
          <a:xfrm>
            <a:off x="325937" y="3358858"/>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6602302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117F9721-A5AC-FF29-1B2B-4E505A75F8C2}"/>
              </a:ext>
            </a:extLst>
          </p:cNvPr>
          <p:cNvGraphicFramePr>
            <a:graphicFrameLocks noGrp="1"/>
          </p:cNvGraphicFramePr>
          <p:nvPr/>
        </p:nvGraphicFramePr>
        <p:xfrm>
          <a:off x="465155" y="1604406"/>
          <a:ext cx="11160000" cy="11582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9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79000">
                <a:tc>
                  <a:txBody>
                    <a:bodyPr/>
                    <a:lstStyle/>
                    <a:p>
                      <a:r>
                        <a:rPr lang="en-GB" sz="1300"/>
                        <a:t>A trader has declared APC '1SR' in DE 1/11 at item level and has not declared AI Code 'GLEMS' in DE 2/2 at item level on the same goods item.</a:t>
                      </a:r>
                    </a:p>
                  </a:txBody>
                  <a:tcPr>
                    <a:solidFill>
                      <a:srgbClr val="E7EEEE"/>
                    </a:solidFill>
                  </a:tcPr>
                </a:tc>
                <a:extLst>
                  <a:ext uri="{0D108BD9-81ED-4DB2-BD59-A6C34878D82A}">
                    <a16:rowId xmlns:a16="http://schemas.microsoft.com/office/drawing/2014/main" val="4124246833"/>
                  </a:ext>
                </a:extLst>
              </a:tr>
              <a:tr h="279000">
                <a:tc>
                  <a:txBody>
                    <a:bodyPr/>
                    <a:lstStyle/>
                    <a:p>
                      <a:r>
                        <a:rPr lang="en-GB" sz="1300"/>
                        <a:t>A trader has declared APC '1SR' in DE 1/11 at item level and declared APC '1PN' or '1TB' in DE 1/11 at item level on the same goods item.</a:t>
                      </a:r>
                    </a:p>
                  </a:txBody>
                  <a:tcPr>
                    <a:solidFill>
                      <a:srgbClr val="CBDCDB"/>
                    </a:solidFill>
                  </a:tcPr>
                </a:tc>
                <a:extLst>
                  <a:ext uri="{0D108BD9-81ED-4DB2-BD59-A6C34878D82A}">
                    <a16:rowId xmlns:a16="http://schemas.microsoft.com/office/drawing/2014/main" val="1834086329"/>
                  </a:ext>
                </a:extLst>
              </a:tr>
              <a:tr h="279000">
                <a:tc>
                  <a:txBody>
                    <a:bodyPr/>
                    <a:lstStyle/>
                    <a:p>
                      <a:r>
                        <a:rPr lang="en-GB" sz="1300" dirty="0"/>
                        <a:t>A trader has declared APC '1TB' in DE 1/11 at item level and declared APC '1PN' or '1SR' in DE 1/11 at item level on the same goods item.</a:t>
                      </a:r>
                    </a:p>
                  </a:txBody>
                  <a:tcPr>
                    <a:solidFill>
                      <a:srgbClr val="E7EEEE"/>
                    </a:solidFill>
                  </a:tcPr>
                </a:tc>
                <a:extLst>
                  <a:ext uri="{0D108BD9-81ED-4DB2-BD59-A6C34878D82A}">
                    <a16:rowId xmlns:a16="http://schemas.microsoft.com/office/drawing/2014/main" val="3574574305"/>
                  </a:ext>
                </a:extLst>
              </a:tr>
            </a:tbl>
          </a:graphicData>
        </a:graphic>
      </p:graphicFrame>
    </p:spTree>
    <p:extLst>
      <p:ext uri="{BB962C8B-B14F-4D97-AF65-F5344CB8AC3E}">
        <p14:creationId xmlns:p14="http://schemas.microsoft.com/office/powerpoint/2010/main" val="184693050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8981" y="1225026"/>
            <a:ext cx="11260993" cy="138499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Existing APCs for Use in the SPIMM</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GL specific validation will be introduced for existing APCs that will be made available in the SPIMM ('F06', 'F44', 'F47', '1NV', '1SC').</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Pre-requisite: H8 dataset has been derived.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402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86322" y="2403433"/>
          <a:ext cx="11160000" cy="330708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77382">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467171">
                <a:tc>
                  <a:txBody>
                    <a:bodyPr/>
                    <a:lstStyle/>
                    <a:p>
                      <a:r>
                        <a:rPr lang="en-GB" sz="1300"/>
                        <a:t>Trader has declared APC '1SC' in DE 1/11 at item level.</a:t>
                      </a:r>
                    </a:p>
                  </a:txBody>
                  <a:tcPr>
                    <a:solidFill>
                      <a:srgbClr val="CBDCDB"/>
                    </a:solidFill>
                  </a:tcPr>
                </a:tc>
                <a:tc>
                  <a:txBody>
                    <a:bodyPr/>
                    <a:lstStyle/>
                    <a:p>
                      <a:r>
                        <a:rPr lang="en-GB" sz="1300"/>
                        <a:t>AI code 'SCF01' must be declared in DE 2/2 at item level on the same goods item</a:t>
                      </a:r>
                    </a:p>
                  </a:txBody>
                  <a:tcPr>
                    <a:solidFill>
                      <a:srgbClr val="CBDCDB"/>
                    </a:solidFill>
                  </a:tcPr>
                </a:tc>
                <a:extLst>
                  <a:ext uri="{0D108BD9-81ED-4DB2-BD59-A6C34878D82A}">
                    <a16:rowId xmlns:a16="http://schemas.microsoft.com/office/drawing/2014/main" val="676372353"/>
                  </a:ext>
                </a:extLst>
              </a:tr>
              <a:tr h="277382">
                <a:tc>
                  <a:txBody>
                    <a:bodyPr/>
                    <a:lstStyle/>
                    <a:p>
                      <a:r>
                        <a:rPr lang="en-GB" sz="1300"/>
                        <a:t>Trader has declared AI Code 'SCF01' in DE 2/2</a:t>
                      </a:r>
                    </a:p>
                  </a:txBody>
                  <a:tcPr>
                    <a:solidFill>
                      <a:srgbClr val="E7EEEE"/>
                    </a:solidFill>
                  </a:tcPr>
                </a:tc>
                <a:tc>
                  <a:txBody>
                    <a:bodyPr/>
                    <a:lstStyle/>
                    <a:p>
                      <a:r>
                        <a:rPr lang="en-GB" sz="1300"/>
                        <a:t>AI code must be followed by the free text information</a:t>
                      </a:r>
                    </a:p>
                  </a:txBody>
                  <a:tcPr>
                    <a:solidFill>
                      <a:srgbClr val="E7EEEE"/>
                    </a:solidFill>
                  </a:tcPr>
                </a:tc>
                <a:extLst>
                  <a:ext uri="{0D108BD9-81ED-4DB2-BD59-A6C34878D82A}">
                    <a16:rowId xmlns:a16="http://schemas.microsoft.com/office/drawing/2014/main" val="1003652622"/>
                  </a:ext>
                </a:extLst>
              </a:tr>
              <a:tr h="467171">
                <a:tc>
                  <a:txBody>
                    <a:bodyPr/>
                    <a:lstStyle/>
                    <a:p>
                      <a:r>
                        <a:rPr lang="en-GB" sz="1300"/>
                        <a:t>Trader has declared APC '1SC' in DE 1/11 at item level.</a:t>
                      </a:r>
                    </a:p>
                  </a:txBody>
                  <a:tcPr>
                    <a:solidFill>
                      <a:srgbClr val="CBDCDB"/>
                    </a:solidFill>
                  </a:tcPr>
                </a:tc>
                <a:tc>
                  <a:txBody>
                    <a:bodyPr/>
                    <a:lstStyle/>
                    <a:p>
                      <a:r>
                        <a:rPr lang="en-GB" sz="1300"/>
                        <a:t>Document Codes 'N271' and '1SCF' in DE 2/3 at item level on the same goods item.</a:t>
                      </a:r>
                    </a:p>
                  </a:txBody>
                  <a:tcPr>
                    <a:solidFill>
                      <a:srgbClr val="CBDCDB"/>
                    </a:solidFill>
                  </a:tcPr>
                </a:tc>
                <a:extLst>
                  <a:ext uri="{0D108BD9-81ED-4DB2-BD59-A6C34878D82A}">
                    <a16:rowId xmlns:a16="http://schemas.microsoft.com/office/drawing/2014/main" val="560831040"/>
                  </a:ext>
                </a:extLst>
              </a:tr>
              <a:tr h="467171">
                <a:tc>
                  <a:txBody>
                    <a:bodyPr/>
                    <a:lstStyle/>
                    <a:p>
                      <a:r>
                        <a:rPr lang="en-GB" sz="1300"/>
                        <a:t>Trader has declared APC '1SC' in DE 1/11 at item level with Document Code 'N271' or '1SCF' in DE 2/3 at item level on the same goods item.</a:t>
                      </a:r>
                    </a:p>
                  </a:txBody>
                  <a:tcPr>
                    <a:solidFill>
                      <a:srgbClr val="E7EEEE"/>
                    </a:solidFill>
                  </a:tcPr>
                </a:tc>
                <a:tc>
                  <a:txBody>
                    <a:bodyPr/>
                    <a:lstStyle/>
                    <a:p>
                      <a:r>
                        <a:rPr lang="en-GB" sz="1300"/>
                        <a:t>The Document Identifier sub-field of DE 2/3 must be provided on the same goods item</a:t>
                      </a:r>
                    </a:p>
                  </a:txBody>
                  <a:tcPr>
                    <a:solidFill>
                      <a:srgbClr val="E7EEEE"/>
                    </a:solidFill>
                  </a:tcPr>
                </a:tc>
                <a:extLst>
                  <a:ext uri="{0D108BD9-81ED-4DB2-BD59-A6C34878D82A}">
                    <a16:rowId xmlns:a16="http://schemas.microsoft.com/office/drawing/2014/main" val="1108568355"/>
                  </a:ext>
                </a:extLst>
              </a:tr>
              <a:tr h="277382">
                <a:tc>
                  <a:txBody>
                    <a:bodyPr/>
                    <a:lstStyle/>
                    <a:p>
                      <a:r>
                        <a:rPr lang="en-GB" sz="1300"/>
                        <a:t>Trader has declared APC '1SC' in DE 1/11 at item level.</a:t>
                      </a:r>
                    </a:p>
                  </a:txBody>
                  <a:tcPr>
                    <a:solidFill>
                      <a:srgbClr val="CBDCDB"/>
                    </a:solidFill>
                  </a:tcPr>
                </a:tc>
                <a:tc>
                  <a:txBody>
                    <a:bodyPr/>
                    <a:lstStyle/>
                    <a:p>
                      <a:r>
                        <a:rPr lang="en-GB" sz="1300"/>
                        <a:t>APC '1SG' must be declared in DE 1/11 at item level on the same goods item.</a:t>
                      </a:r>
                    </a:p>
                  </a:txBody>
                  <a:tcPr>
                    <a:solidFill>
                      <a:srgbClr val="CBDCDB"/>
                    </a:solidFill>
                  </a:tcPr>
                </a:tc>
                <a:extLst>
                  <a:ext uri="{0D108BD9-81ED-4DB2-BD59-A6C34878D82A}">
                    <a16:rowId xmlns:a16="http://schemas.microsoft.com/office/drawing/2014/main" val="1247559883"/>
                  </a:ext>
                </a:extLst>
              </a:tr>
              <a:tr h="467171">
                <a:tc>
                  <a:txBody>
                    <a:bodyPr/>
                    <a:lstStyle/>
                    <a:p>
                      <a:r>
                        <a:rPr lang="en-GB" sz="1300"/>
                        <a:t>Trader has declared APC 'F06' in DE 1/11 at item level</a:t>
                      </a:r>
                    </a:p>
                  </a:txBody>
                  <a:tcPr>
                    <a:solidFill>
                      <a:srgbClr val="E7EEEE"/>
                    </a:solidFill>
                  </a:tcPr>
                </a:tc>
                <a:tc>
                  <a:txBody>
                    <a:bodyPr/>
                    <a:lstStyle/>
                    <a:p>
                      <a:r>
                        <a:rPr lang="en-GB" sz="1300"/>
                        <a:t>APC '1EL' or '1EN' must be declared in DE 1/11 at item level on the same goods item</a:t>
                      </a:r>
                    </a:p>
                  </a:txBody>
                  <a:tcPr>
                    <a:solidFill>
                      <a:srgbClr val="E7EEEE"/>
                    </a:solidFill>
                  </a:tcPr>
                </a:tc>
                <a:extLst>
                  <a:ext uri="{0D108BD9-81ED-4DB2-BD59-A6C34878D82A}">
                    <a16:rowId xmlns:a16="http://schemas.microsoft.com/office/drawing/2014/main" val="750958867"/>
                  </a:ext>
                </a:extLst>
              </a:tr>
              <a:tr h="467171">
                <a:tc>
                  <a:txBody>
                    <a:bodyPr/>
                    <a:lstStyle/>
                    <a:p>
                      <a:r>
                        <a:rPr lang="en-GB" sz="1300"/>
                        <a:t>Trader has declared APC 'F47' in DE 1/11 at item level</a:t>
                      </a:r>
                    </a:p>
                  </a:txBody>
                  <a:tcPr>
                    <a:solidFill>
                      <a:srgbClr val="CBDCDB"/>
                    </a:solidFill>
                  </a:tcPr>
                </a:tc>
                <a:tc>
                  <a:txBody>
                    <a:bodyPr/>
                    <a:lstStyle/>
                    <a:p>
                      <a:r>
                        <a:rPr lang="en-GB" sz="1300" dirty="0"/>
                        <a:t>CDS will mandate that one of APCs '1SG' or '1EN' is declared at item level on the same goods item</a:t>
                      </a:r>
                    </a:p>
                  </a:txBody>
                  <a:tcPr>
                    <a:solidFill>
                      <a:srgbClr val="CBDCDB"/>
                    </a:solidFill>
                  </a:tcPr>
                </a:tc>
                <a:extLst>
                  <a:ext uri="{0D108BD9-81ED-4DB2-BD59-A6C34878D82A}">
                    <a16:rowId xmlns:a16="http://schemas.microsoft.com/office/drawing/2014/main" val="3634547927"/>
                  </a:ext>
                </a:extLst>
              </a:tr>
            </a:tbl>
          </a:graphicData>
        </a:graphic>
      </p:graphicFrame>
    </p:spTree>
    <p:extLst>
      <p:ext uri="{BB962C8B-B14F-4D97-AF65-F5344CB8AC3E}">
        <p14:creationId xmlns:p14="http://schemas.microsoft.com/office/powerpoint/2010/main" val="176035129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830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E4CC887D-FC5F-72F2-BBBE-F1B8576FEB30}"/>
              </a:ext>
            </a:extLst>
          </p:cNvPr>
          <p:cNvGraphicFramePr>
            <a:graphicFrameLocks noGrp="1"/>
          </p:cNvGraphicFramePr>
          <p:nvPr/>
        </p:nvGraphicFramePr>
        <p:xfrm>
          <a:off x="465155" y="1590092"/>
          <a:ext cx="11160000" cy="3413760"/>
        </p:xfrm>
        <a:graphic>
          <a:graphicData uri="http://schemas.openxmlformats.org/drawingml/2006/table">
            <a:tbl>
              <a:tblPr firstRow="1" bandRow="1">
                <a:tableStyleId>{5C22544A-7EE6-4342-B048-85BDC9FD1C3A}</a:tableStyleId>
              </a:tblPr>
              <a:tblGrid>
                <a:gridCol w="5580000">
                  <a:extLst>
                    <a:ext uri="{9D8B030D-6E8A-4147-A177-3AD203B41FA5}">
                      <a16:colId xmlns:a16="http://schemas.microsoft.com/office/drawing/2014/main" val="3837587197"/>
                    </a:ext>
                  </a:extLst>
                </a:gridCol>
                <a:gridCol w="5580000">
                  <a:extLst>
                    <a:ext uri="{9D8B030D-6E8A-4147-A177-3AD203B41FA5}">
                      <a16:colId xmlns:a16="http://schemas.microsoft.com/office/drawing/2014/main" val="574208599"/>
                    </a:ext>
                  </a:extLst>
                </a:gridCol>
              </a:tblGrid>
              <a:tr h="283982">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672589">
                <a:tc>
                  <a:txBody>
                    <a:bodyPr/>
                    <a:lstStyle/>
                    <a:p>
                      <a:r>
                        <a:rPr lang="en-GB" sz="1300"/>
                        <a:t>Trader has declared APC '1EN' or '1EL' in DE 1/11 at item level and has declared APC 'F06' at item level on the same goods item and Additional Declaration Type 'Y' in DE 1/2 at header level</a:t>
                      </a:r>
                    </a:p>
                  </a:txBody>
                  <a:tcPr>
                    <a:solidFill>
                      <a:srgbClr val="CBDCDB"/>
                    </a:solidFill>
                  </a:tcPr>
                </a:tc>
                <a:tc>
                  <a:txBody>
                    <a:bodyPr/>
                    <a:lstStyle/>
                    <a:p>
                      <a:r>
                        <a:rPr lang="en-GB" sz="1300"/>
                        <a:t>The Requested Procedure Code declared in DE 1/10 at item level on the same goods item must be '07'</a:t>
                      </a:r>
                    </a:p>
                  </a:txBody>
                  <a:tcPr>
                    <a:solidFill>
                      <a:srgbClr val="CBDCDB"/>
                    </a:solidFill>
                  </a:tcPr>
                </a:tc>
                <a:extLst>
                  <a:ext uri="{0D108BD9-81ED-4DB2-BD59-A6C34878D82A}">
                    <a16:rowId xmlns:a16="http://schemas.microsoft.com/office/drawing/2014/main" val="676372353"/>
                  </a:ext>
                </a:extLst>
              </a:tr>
              <a:tr h="672589">
                <a:tc>
                  <a:txBody>
                    <a:bodyPr/>
                    <a:lstStyle/>
                    <a:p>
                      <a:r>
                        <a:rPr lang="en-GB" sz="1300"/>
                        <a:t>Trader has declared APC '1EN' or '1EL' in DE 1/11 at item level and has declared APC 'F06' at item level on the same goods item and Additional Declaration Type 'Y' in DE 1/2 at header level</a:t>
                      </a:r>
                    </a:p>
                  </a:txBody>
                  <a:tcPr>
                    <a:solidFill>
                      <a:srgbClr val="E7EEEE"/>
                    </a:solidFill>
                  </a:tcPr>
                </a:tc>
                <a:tc>
                  <a:txBody>
                    <a:bodyPr/>
                    <a:lstStyle/>
                    <a:p>
                      <a:r>
                        <a:rPr lang="en-GB" sz="1300"/>
                        <a:t>The Previous Procedure Code declared in DE 1/10 at item level on the same goods item must be one of '00' or '78' </a:t>
                      </a:r>
                    </a:p>
                  </a:txBody>
                  <a:tcPr>
                    <a:solidFill>
                      <a:srgbClr val="E7EEEE"/>
                    </a:solidFill>
                  </a:tcPr>
                </a:tc>
                <a:extLst>
                  <a:ext uri="{0D108BD9-81ED-4DB2-BD59-A6C34878D82A}">
                    <a16:rowId xmlns:a16="http://schemas.microsoft.com/office/drawing/2014/main" val="1003652622"/>
                  </a:ext>
                </a:extLst>
              </a:tr>
              <a:tr h="478286">
                <a:tc>
                  <a:txBody>
                    <a:bodyPr/>
                    <a:lstStyle/>
                    <a:p>
                      <a:r>
                        <a:rPr lang="en-GB" sz="1300"/>
                        <a:t>Trader has declared APC 'F06' in DE 1/11 at item level</a:t>
                      </a:r>
                    </a:p>
                  </a:txBody>
                  <a:tcPr>
                    <a:solidFill>
                      <a:srgbClr val="CBDCDB"/>
                    </a:solidFill>
                  </a:tcPr>
                </a:tc>
                <a:tc>
                  <a:txBody>
                    <a:bodyPr/>
                    <a:lstStyle/>
                    <a:p>
                      <a:r>
                        <a:rPr lang="en-GB" sz="1300"/>
                        <a:t>The trader has declared AI code 'ECONR' in DE 2/2 at item level on the same goods item</a:t>
                      </a:r>
                    </a:p>
                  </a:txBody>
                  <a:tcPr>
                    <a:solidFill>
                      <a:srgbClr val="CBDCDB"/>
                    </a:solidFill>
                  </a:tcPr>
                </a:tc>
                <a:extLst>
                  <a:ext uri="{0D108BD9-81ED-4DB2-BD59-A6C34878D82A}">
                    <a16:rowId xmlns:a16="http://schemas.microsoft.com/office/drawing/2014/main" val="1108568355"/>
                  </a:ext>
                </a:extLst>
              </a:tr>
              <a:tr h="283982">
                <a:tc>
                  <a:txBody>
                    <a:bodyPr/>
                    <a:lstStyle/>
                    <a:p>
                      <a:r>
                        <a:rPr lang="en-GB" sz="1300"/>
                        <a:t>Trader has declared APC 'F44' in DE 1/11 at item level</a:t>
                      </a:r>
                    </a:p>
                  </a:txBody>
                  <a:tcPr>
                    <a:solidFill>
                      <a:srgbClr val="E7EEEE"/>
                    </a:solidFill>
                  </a:tcPr>
                </a:tc>
                <a:tc>
                  <a:txBody>
                    <a:bodyPr/>
                    <a:lstStyle/>
                    <a:p>
                      <a:r>
                        <a:rPr lang="en-GB" sz="1300"/>
                        <a:t>APC '1SP' in DE 1/11 is declared at item level on the same goods item</a:t>
                      </a:r>
                    </a:p>
                  </a:txBody>
                  <a:tcPr>
                    <a:solidFill>
                      <a:srgbClr val="E7EEEE"/>
                    </a:solidFill>
                  </a:tcPr>
                </a:tc>
                <a:extLst>
                  <a:ext uri="{0D108BD9-81ED-4DB2-BD59-A6C34878D82A}">
                    <a16:rowId xmlns:a16="http://schemas.microsoft.com/office/drawing/2014/main" val="1247559883"/>
                  </a:ext>
                </a:extLst>
              </a:tr>
              <a:tr h="478286">
                <a:tc>
                  <a:txBody>
                    <a:bodyPr/>
                    <a:lstStyle/>
                    <a:p>
                      <a:r>
                        <a:rPr lang="en-GB" sz="1300"/>
                        <a:t>Trader has declared APC 'F44' in DE 1/11 at item level.</a:t>
                      </a:r>
                    </a:p>
                  </a:txBody>
                  <a:tcPr>
                    <a:solidFill>
                      <a:srgbClr val="CBDCDB"/>
                    </a:solidFill>
                  </a:tcPr>
                </a:tc>
                <a:tc>
                  <a:txBody>
                    <a:bodyPr/>
                    <a:lstStyle/>
                    <a:p>
                      <a:r>
                        <a:rPr lang="en-GB" sz="1300"/>
                        <a:t>At least one of APCs '1NR' or 'A04' must be declared in DE 1/11 at item level on the same goods item.</a:t>
                      </a:r>
                    </a:p>
                  </a:txBody>
                  <a:tcPr>
                    <a:solidFill>
                      <a:srgbClr val="CBDCDB"/>
                    </a:solidFill>
                  </a:tcPr>
                </a:tc>
                <a:extLst>
                  <a:ext uri="{0D108BD9-81ED-4DB2-BD59-A6C34878D82A}">
                    <a16:rowId xmlns:a16="http://schemas.microsoft.com/office/drawing/2014/main" val="3742923611"/>
                  </a:ext>
                </a:extLst>
              </a:tr>
              <a:tr h="478286">
                <a:tc>
                  <a:txBody>
                    <a:bodyPr/>
                    <a:lstStyle/>
                    <a:p>
                      <a:r>
                        <a:rPr lang="en-GB" sz="1300"/>
                        <a:t>Trader has declared one of APCs 'F44' or 'F46' in DE 1/11 at item level</a:t>
                      </a:r>
                    </a:p>
                  </a:txBody>
                  <a:tcPr>
                    <a:solidFill>
                      <a:srgbClr val="E7EEEE"/>
                    </a:solidFill>
                  </a:tcPr>
                </a:tc>
                <a:tc>
                  <a:txBody>
                    <a:bodyPr/>
                    <a:lstStyle/>
                    <a:p>
                      <a:r>
                        <a:rPr lang="en-GB" sz="1300" dirty="0"/>
                        <a:t>AI code 'GEN86' must be declared in DE 2/2 at item level on the same goods item</a:t>
                      </a:r>
                    </a:p>
                  </a:txBody>
                  <a:tcPr>
                    <a:solidFill>
                      <a:srgbClr val="E7EEEE"/>
                    </a:solidFill>
                  </a:tcPr>
                </a:tc>
                <a:extLst>
                  <a:ext uri="{0D108BD9-81ED-4DB2-BD59-A6C34878D82A}">
                    <a16:rowId xmlns:a16="http://schemas.microsoft.com/office/drawing/2014/main" val="750958867"/>
                  </a:ext>
                </a:extLst>
              </a:tr>
            </a:tbl>
          </a:graphicData>
        </a:graphic>
      </p:graphicFrame>
      <p:sp>
        <p:nvSpPr>
          <p:cNvPr id="13" name="TextBox 12">
            <a:extLst>
              <a:ext uri="{FF2B5EF4-FFF2-40B4-BE49-F238E27FC236}">
                <a16:creationId xmlns:a16="http://schemas.microsoft.com/office/drawing/2014/main" id="{D5B14057-D6D0-A629-8497-80641D18BE07}"/>
              </a:ext>
            </a:extLst>
          </p:cNvPr>
          <p:cNvSpPr txBox="1"/>
          <p:nvPr/>
        </p:nvSpPr>
        <p:spPr>
          <a:xfrm>
            <a:off x="387692" y="5069319"/>
            <a:ext cx="1113826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39006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GB" sz="12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aphicFrame>
        <p:nvGraphicFramePr>
          <p:cNvPr id="6" name="Table 5">
            <a:extLst>
              <a:ext uri="{FF2B5EF4-FFF2-40B4-BE49-F238E27FC236}">
                <a16:creationId xmlns:a16="http://schemas.microsoft.com/office/drawing/2014/main" id="{0C622A18-D207-F31A-4CFF-38BB6C54C90A}"/>
              </a:ext>
            </a:extLst>
          </p:cNvPr>
          <p:cNvGraphicFramePr>
            <a:graphicFrameLocks noGrp="1"/>
          </p:cNvGraphicFramePr>
          <p:nvPr/>
        </p:nvGraphicFramePr>
        <p:xfrm>
          <a:off x="465155" y="1591809"/>
          <a:ext cx="11160000" cy="173736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70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7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 trader has declared APC '1EN' or '1EL' in DE 1/11 at item level on a Type 'Z' declaration and Requested Procedure Code '07' at item level on the same goods item.</a:t>
                      </a:r>
                    </a:p>
                  </a:txBody>
                  <a:tcPr>
                    <a:solidFill>
                      <a:srgbClr val="E7EEEE"/>
                    </a:solidFill>
                  </a:tcPr>
                </a:tc>
                <a:extLst>
                  <a:ext uri="{0D108BD9-81ED-4DB2-BD59-A6C34878D82A}">
                    <a16:rowId xmlns:a16="http://schemas.microsoft.com/office/drawing/2014/main" val="3893304146"/>
                  </a:ext>
                </a:extLst>
              </a:tr>
              <a:tr h="27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a:t>A trader has declared one of APCs '1NV' or 'F06' in DE 1/11 at item level and the Additional Declaration Type is 'Z' in DE 1/2.</a:t>
                      </a:r>
                    </a:p>
                  </a:txBody>
                  <a:tcPr>
                    <a:solidFill>
                      <a:srgbClr val="CBDCDB"/>
                    </a:solidFill>
                  </a:tcPr>
                </a:tc>
                <a:extLst>
                  <a:ext uri="{0D108BD9-81ED-4DB2-BD59-A6C34878D82A}">
                    <a16:rowId xmlns:a16="http://schemas.microsoft.com/office/drawing/2014/main" val="3682829106"/>
                  </a:ext>
                </a:extLst>
              </a:tr>
              <a:tr h="270000">
                <a:tc>
                  <a:txBody>
                    <a:bodyPr/>
                    <a:lstStyle/>
                    <a:p>
                      <a:r>
                        <a:rPr lang="en-GB" sz="1300"/>
                        <a:t>A trader has declared APCs 'F44' and 'F47' in DE 1/11 at item level on the same goods item.</a:t>
                      </a:r>
                    </a:p>
                  </a:txBody>
                  <a:tcPr>
                    <a:solidFill>
                      <a:srgbClr val="E7EEEE"/>
                    </a:solidFill>
                  </a:tcPr>
                </a:tc>
                <a:extLst>
                  <a:ext uri="{0D108BD9-81ED-4DB2-BD59-A6C34878D82A}">
                    <a16:rowId xmlns:a16="http://schemas.microsoft.com/office/drawing/2014/main" val="244645981"/>
                  </a:ext>
                </a:extLst>
              </a:tr>
              <a:tr h="270000">
                <a:tc>
                  <a:txBody>
                    <a:bodyPr/>
                    <a:lstStyle/>
                    <a:p>
                      <a:r>
                        <a:rPr lang="en-GB" sz="1300"/>
                        <a:t>A trader has declared one of APCs 'F44' in DE 1/11 at item level and the Additional Declaration Type is 'Y' in DE 1/2.</a:t>
                      </a:r>
                    </a:p>
                  </a:txBody>
                  <a:tcPr>
                    <a:solidFill>
                      <a:srgbClr val="CBDCDB"/>
                    </a:solidFill>
                  </a:tcPr>
                </a:tc>
                <a:extLst>
                  <a:ext uri="{0D108BD9-81ED-4DB2-BD59-A6C34878D82A}">
                    <a16:rowId xmlns:a16="http://schemas.microsoft.com/office/drawing/2014/main" val="676372353"/>
                  </a:ext>
                </a:extLst>
              </a:tr>
              <a:tr h="270000">
                <a:tc>
                  <a:txBody>
                    <a:bodyPr/>
                    <a:lstStyle/>
                    <a:p>
                      <a:r>
                        <a:rPr lang="en-GB" sz="1300" dirty="0"/>
                        <a:t>A trader has declared APC 'F44' in DE 1/11 at item level without at least one of the APCs '1NR' or 'A04' declared in DE 1/11 at item level on the same goods item.</a:t>
                      </a:r>
                    </a:p>
                  </a:txBody>
                  <a:tcPr>
                    <a:solidFill>
                      <a:srgbClr val="E7EEEE"/>
                    </a:solidFill>
                  </a:tcPr>
                </a:tc>
                <a:extLst>
                  <a:ext uri="{0D108BD9-81ED-4DB2-BD59-A6C34878D82A}">
                    <a16:rowId xmlns:a16="http://schemas.microsoft.com/office/drawing/2014/main" val="1003652622"/>
                  </a:ext>
                </a:extLst>
              </a:tr>
            </a:tbl>
          </a:graphicData>
        </a:graphic>
      </p:graphicFrame>
    </p:spTree>
    <p:extLst>
      <p:ext uri="{BB962C8B-B14F-4D97-AF65-F5344CB8AC3E}">
        <p14:creationId xmlns:p14="http://schemas.microsoft.com/office/powerpoint/2010/main" val="535738583"/>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47484"/>
            <a:ext cx="11282159" cy="409342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Existing APCs for Use on an H8</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GL specific validation will be introduced against APCs 'A04', '1VW', and '1XW' that must be made available in the SPIMM.</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Calibri"/>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Pre- requisite: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H8 dataset has been derived.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Calibri" panose="020F0502020204030204"/>
                <a:cs typeface="Calibri" panose="020F0502020204030204"/>
              </a:rPr>
              <a:t>*If any of the above requirements are not met, the declaration will be rejected and a DMSREJ issued.</a:t>
            </a:r>
            <a:endParaRPr kumimoji="0" lang="en-GB" sz="1400" b="0" i="0" u="none" strike="noStrike" kern="1200" cap="none" spc="0" normalizeH="0" baseline="0" noProof="0">
              <a:ln>
                <a:noFill/>
              </a:ln>
              <a:solidFill>
                <a:prstClr val="black"/>
              </a:solidFill>
              <a:effectLst/>
              <a:uLnTx/>
              <a:uFillTx/>
              <a:latin typeface="Calibri"/>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400" b="0" i="0" u="sng"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F72D7986-2A05-D37A-C43A-4A201D887487}"/>
              </a:ext>
            </a:extLst>
          </p:cNvPr>
          <p:cNvGraphicFramePr>
            <a:graphicFrameLocks noGrp="1"/>
          </p:cNvGraphicFramePr>
          <p:nvPr/>
        </p:nvGraphicFramePr>
        <p:xfrm>
          <a:off x="516000" y="2241654"/>
          <a:ext cx="11160000" cy="1752600"/>
        </p:xfrm>
        <a:graphic>
          <a:graphicData uri="http://schemas.openxmlformats.org/drawingml/2006/table">
            <a:tbl>
              <a:tblPr firstRow="1" bandRow="1">
                <a:tableStyleId>{5C22544A-7EE6-4342-B048-85BDC9FD1C3A}</a:tableStyleId>
              </a:tblPr>
              <a:tblGrid>
                <a:gridCol w="5241530">
                  <a:extLst>
                    <a:ext uri="{9D8B030D-6E8A-4147-A177-3AD203B41FA5}">
                      <a16:colId xmlns:a16="http://schemas.microsoft.com/office/drawing/2014/main" val="3837587197"/>
                    </a:ext>
                  </a:extLst>
                </a:gridCol>
                <a:gridCol w="5918470">
                  <a:extLst>
                    <a:ext uri="{9D8B030D-6E8A-4147-A177-3AD203B41FA5}">
                      <a16:colId xmlns:a16="http://schemas.microsoft.com/office/drawing/2014/main" val="574208599"/>
                    </a:ext>
                  </a:extLst>
                </a:gridCol>
              </a:tblGrid>
              <a:tr h="285496">
                <a:tc>
                  <a:txBody>
                    <a:bodyPr/>
                    <a:lstStyle/>
                    <a:p>
                      <a:r>
                        <a:rPr lang="en-GB" sz="1300"/>
                        <a:t>Condition</a:t>
                      </a:r>
                    </a:p>
                  </a:txBody>
                  <a:tcPr>
                    <a:solidFill>
                      <a:srgbClr val="009999"/>
                    </a:solidFill>
                  </a:tcPr>
                </a:tc>
                <a:tc>
                  <a:txBody>
                    <a:bodyPr/>
                    <a:lstStyle/>
                    <a:p>
                      <a:r>
                        <a:rPr lang="en-GB" sz="1300"/>
                        <a:t>Validation Requirements</a:t>
                      </a:r>
                    </a:p>
                  </a:txBody>
                  <a:tcPr>
                    <a:solidFill>
                      <a:srgbClr val="009999"/>
                    </a:solidFill>
                  </a:tcPr>
                </a:tc>
                <a:extLst>
                  <a:ext uri="{0D108BD9-81ED-4DB2-BD59-A6C34878D82A}">
                    <a16:rowId xmlns:a16="http://schemas.microsoft.com/office/drawing/2014/main" val="1881507151"/>
                  </a:ext>
                </a:extLst>
              </a:tr>
              <a:tr h="28549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i="0">
                          <a:effectLst/>
                          <a:latin typeface="+mn-lt"/>
                          <a:ea typeface="Calibri"/>
                          <a:cs typeface="Calibri"/>
                        </a:rPr>
                        <a:t>Trader has declared APC '1VW' in DE 1/11 at item level</a:t>
                      </a:r>
                      <a:endParaRPr lang="en-GB" sz="1300" b="1"/>
                    </a:p>
                  </a:txBody>
                  <a:tcPr>
                    <a:solidFill>
                      <a:srgbClr val="CBDCDB"/>
                    </a:solidFill>
                  </a:tcPr>
                </a:tc>
                <a:tc>
                  <a:txBody>
                    <a:bodyPr/>
                    <a:lstStyle/>
                    <a:p>
                      <a:r>
                        <a:rPr lang="en-GB" sz="1300" b="0" i="0">
                          <a:effectLst/>
                          <a:latin typeface="+mn-lt"/>
                          <a:ea typeface="Calibri"/>
                          <a:cs typeface="Calibri"/>
                        </a:rPr>
                        <a:t>APC '1SP' must be declared in DE 1/11 at item level on the same goods item.</a:t>
                      </a:r>
                      <a:endParaRPr lang="en-GB" sz="1300" b="0"/>
                    </a:p>
                  </a:txBody>
                  <a:tcPr>
                    <a:solidFill>
                      <a:srgbClr val="CBDCDB"/>
                    </a:solidFill>
                  </a:tcPr>
                </a:tc>
                <a:extLst>
                  <a:ext uri="{0D108BD9-81ED-4DB2-BD59-A6C34878D82A}">
                    <a16:rowId xmlns:a16="http://schemas.microsoft.com/office/drawing/2014/main" val="676372353"/>
                  </a:ext>
                </a:extLst>
              </a:tr>
              <a:tr h="871513">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300" b="0" i="0">
                          <a:effectLst/>
                          <a:latin typeface="+mn-lt"/>
                          <a:ea typeface="Calibri"/>
                          <a:cs typeface="Calibri"/>
                        </a:rPr>
                        <a:t>Trader has declared APC '1XW' in DE 1/11 at item level</a:t>
                      </a:r>
                      <a:endParaRPr lang="en-GB" sz="1300" b="1"/>
                    </a:p>
                  </a:txBody>
                  <a:tcPr>
                    <a:solidFill>
                      <a:srgbClr val="E7EEEE"/>
                    </a:solidFill>
                  </a:tcPr>
                </a:tc>
                <a:tc>
                  <a:txBody>
                    <a:bodyPr/>
                    <a:lstStyle/>
                    <a:p>
                      <a:pPr marL="0" lvl="0" indent="0">
                        <a:buFont typeface="Arial" panose="020B0604020202020204" pitchFamily="34" charset="0"/>
                        <a:buNone/>
                      </a:pPr>
                      <a:r>
                        <a:rPr lang="en-GB" sz="1300" b="0" i="0">
                          <a:effectLst/>
                          <a:latin typeface="+mn-lt"/>
                          <a:ea typeface="Calibri"/>
                          <a:cs typeface="Calibri"/>
                        </a:rPr>
                        <a:t>APC '1SP' must be declared in DE 1/11 at item level on the same goods item.</a:t>
                      </a:r>
                      <a:r>
                        <a:rPr lang="en-GB" sz="1300">
                          <a:latin typeface="+mn-lt"/>
                          <a:ea typeface="Calibri"/>
                          <a:cs typeface="Calibri"/>
                        </a:rPr>
                        <a:t> </a:t>
                      </a:r>
                    </a:p>
                    <a:p>
                      <a:pPr marL="0" lvl="0" indent="0">
                        <a:buFont typeface="Arial" panose="020B0604020202020204" pitchFamily="34" charset="0"/>
                        <a:buNone/>
                      </a:pPr>
                      <a:r>
                        <a:rPr lang="en-GB" sz="1300" b="0" i="0">
                          <a:effectLst/>
                          <a:latin typeface="+mn-lt"/>
                          <a:ea typeface="Calibri"/>
                          <a:cs typeface="Calibri"/>
                        </a:rPr>
                        <a:t>AI Code 'GEN86' must be declared in DE 2/2 at item level on the same goods item.</a:t>
                      </a:r>
                      <a:r>
                        <a:rPr lang="en-GB" sz="1300">
                          <a:latin typeface="+mn-lt"/>
                          <a:ea typeface="Calibri"/>
                          <a:cs typeface="Calibri"/>
                        </a:rPr>
                        <a:t> </a:t>
                      </a:r>
                      <a:endParaRPr lang="en-GB" sz="1300" b="0" i="0">
                        <a:effectLst/>
                        <a:latin typeface="+mn-lt"/>
                        <a:ea typeface="Calibri"/>
                        <a:cs typeface="Calibri"/>
                      </a:endParaRPr>
                    </a:p>
                    <a:p>
                      <a:pPr marL="0" lvl="0" indent="0">
                        <a:buFont typeface="Arial" panose="020B0604020202020204" pitchFamily="34" charset="0"/>
                        <a:buNone/>
                      </a:pPr>
                      <a:r>
                        <a:rPr lang="en-GB" sz="1300" b="0" i="0">
                          <a:effectLst/>
                          <a:latin typeface="+mn-lt"/>
                          <a:ea typeface="Calibri"/>
                          <a:cs typeface="Calibri"/>
                        </a:rPr>
                        <a:t>APC '1VW' or '1NR' must be declared in DE 1/11 at item level on the same goods item</a:t>
                      </a:r>
                      <a:endParaRPr lang="en-GB" sz="1300">
                        <a:ea typeface="Calibri"/>
                        <a:cs typeface="Calibri"/>
                      </a:endParaRPr>
                    </a:p>
                  </a:txBody>
                  <a:tcPr>
                    <a:solidFill>
                      <a:srgbClr val="E7EEEE"/>
                    </a:solidFill>
                  </a:tcPr>
                </a:tc>
                <a:extLst>
                  <a:ext uri="{0D108BD9-81ED-4DB2-BD59-A6C34878D82A}">
                    <a16:rowId xmlns:a16="http://schemas.microsoft.com/office/drawing/2014/main" val="1003652622"/>
                  </a:ext>
                </a:extLst>
              </a:tr>
              <a:tr h="285496">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800" b="0" i="0" u="none" strike="noStrike" kern="0" cap="none" spc="0" baseline="0">
                          <a:solidFill>
                            <a:srgbClr val="000000"/>
                          </a:solidFill>
                          <a:uFillTx/>
                        </a:defRPr>
                      </a:pPr>
                      <a:r>
                        <a:rPr lang="en-GB" sz="1300" b="0" i="0">
                          <a:effectLst/>
                          <a:latin typeface="+mn-lt"/>
                          <a:ea typeface="Calibri"/>
                          <a:cs typeface="Calibri"/>
                        </a:rPr>
                        <a:t>Trader has declared APC 'A04' or 'F44' in DE 1/11 at item level</a:t>
                      </a:r>
                    </a:p>
                  </a:txBody>
                  <a:tcP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i="0" dirty="0">
                          <a:effectLst/>
                          <a:latin typeface="+mn-lt"/>
                          <a:ea typeface="Calibri"/>
                          <a:cs typeface="Calibri"/>
                        </a:rPr>
                        <a:t>APC '1SP' </a:t>
                      </a:r>
                      <a:r>
                        <a:rPr lang="en-GB" sz="1300" dirty="0">
                          <a:latin typeface="+mn-lt"/>
                          <a:ea typeface="Calibri"/>
                          <a:cs typeface="Calibri"/>
                        </a:rPr>
                        <a:t>must be </a:t>
                      </a:r>
                      <a:r>
                        <a:rPr lang="en-GB" sz="1300" b="0" i="0" dirty="0">
                          <a:effectLst/>
                          <a:latin typeface="+mn-lt"/>
                          <a:ea typeface="Calibri"/>
                          <a:cs typeface="Calibri"/>
                        </a:rPr>
                        <a:t>declared in DE 1/11 at item level on the same goods item.</a:t>
                      </a:r>
                      <a:endParaRPr lang="en-GB" sz="1300" dirty="0">
                        <a:ea typeface="Calibri"/>
                        <a:cs typeface="Calibri"/>
                      </a:endParaRPr>
                    </a:p>
                  </a:txBody>
                  <a:tcPr>
                    <a:solidFill>
                      <a:srgbClr val="CBDCDB"/>
                    </a:solidFill>
                  </a:tcPr>
                </a:tc>
                <a:extLst>
                  <a:ext uri="{0D108BD9-81ED-4DB2-BD59-A6C34878D82A}">
                    <a16:rowId xmlns:a16="http://schemas.microsoft.com/office/drawing/2014/main" val="560831040"/>
                  </a:ext>
                </a:extLst>
              </a:tr>
            </a:tbl>
          </a:graphicData>
        </a:graphic>
      </p:graphicFrame>
      <p:graphicFrame>
        <p:nvGraphicFramePr>
          <p:cNvPr id="8" name="Table 7">
            <a:extLst>
              <a:ext uri="{FF2B5EF4-FFF2-40B4-BE49-F238E27FC236}">
                <a16:creationId xmlns:a16="http://schemas.microsoft.com/office/drawing/2014/main" id="{721B87B8-EF1B-2859-2033-CCC78626EF2C}"/>
              </a:ext>
            </a:extLst>
          </p:cNvPr>
          <p:cNvGraphicFramePr>
            <a:graphicFrameLocks noGrp="1"/>
          </p:cNvGraphicFramePr>
          <p:nvPr/>
        </p:nvGraphicFramePr>
        <p:xfrm>
          <a:off x="523211" y="4465898"/>
          <a:ext cx="11160000" cy="1158240"/>
        </p:xfrm>
        <a:graphic>
          <a:graphicData uri="http://schemas.openxmlformats.org/drawingml/2006/table">
            <a:tbl>
              <a:tblPr firstRow="1" bandRow="1">
                <a:tableStyleId>{5C22544A-7EE6-4342-B048-85BDC9FD1C3A}</a:tableStyleId>
              </a:tblPr>
              <a:tblGrid>
                <a:gridCol w="11160000">
                  <a:extLst>
                    <a:ext uri="{9D8B030D-6E8A-4147-A177-3AD203B41FA5}">
                      <a16:colId xmlns:a16="http://schemas.microsoft.com/office/drawing/2014/main" val="3837587197"/>
                    </a:ext>
                  </a:extLst>
                </a:gridCol>
              </a:tblGrid>
              <a:tr h="261000">
                <a:tc>
                  <a:txBody>
                    <a:bodyPr/>
                    <a:lstStyle/>
                    <a:p>
                      <a:r>
                        <a:rPr lang="en-GB" sz="1300"/>
                        <a:t>Additional Conditions That Will Cause a Rejection:</a:t>
                      </a:r>
                    </a:p>
                  </a:txBody>
                  <a:tcPr>
                    <a:solidFill>
                      <a:srgbClr val="009999"/>
                    </a:solidFill>
                  </a:tcPr>
                </a:tc>
                <a:extLst>
                  <a:ext uri="{0D108BD9-81ED-4DB2-BD59-A6C34878D82A}">
                    <a16:rowId xmlns:a16="http://schemas.microsoft.com/office/drawing/2014/main" val="1881507151"/>
                  </a:ext>
                </a:extLst>
              </a:tr>
              <a:tr h="26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lang="en-GB" sz="1300" b="0" i="0">
                          <a:effectLst/>
                          <a:latin typeface="+mn-lt"/>
                          <a:ea typeface="Calibri"/>
                          <a:cs typeface="Calibri"/>
                        </a:rPr>
                        <a:t>Trader has declared APC '1VW' in DE 1/11 at item level and has declared APC 'F47' in DE 1/11 at item level on the same goods item.</a:t>
                      </a:r>
                    </a:p>
                  </a:txBody>
                  <a:tcPr>
                    <a:solidFill>
                      <a:srgbClr val="E7EEEE"/>
                    </a:solidFill>
                  </a:tcPr>
                </a:tc>
                <a:extLst>
                  <a:ext uri="{0D108BD9-81ED-4DB2-BD59-A6C34878D82A}">
                    <a16:rowId xmlns:a16="http://schemas.microsoft.com/office/drawing/2014/main" val="244645981"/>
                  </a:ext>
                </a:extLst>
              </a:tr>
              <a:tr h="261000">
                <a:tc>
                  <a:txBody>
                    <a:bodyPr/>
                    <a:lstStyle/>
                    <a:p>
                      <a:pPr marL="0" lvl="0" indent="0">
                        <a:buFont typeface="Arial" panose="020B0604020202020204" pitchFamily="34" charset="0"/>
                        <a:buNone/>
                      </a:pPr>
                      <a:r>
                        <a:rPr lang="en-GB" sz="1300" b="0" i="0">
                          <a:effectLst/>
                          <a:latin typeface="+mn-lt"/>
                          <a:ea typeface="Calibri"/>
                          <a:cs typeface="Calibri"/>
                        </a:rPr>
                        <a:t>Trader has declared one of the APCs 'A04', '1VW' or '1XW' in DE 1/11 at item level with Additional Declaration Type 'D' or 'Y' in DE 1/2.</a:t>
                      </a:r>
                    </a:p>
                  </a:txBody>
                  <a:tcPr>
                    <a:solidFill>
                      <a:srgbClr val="CBDCDB"/>
                    </a:solidFill>
                  </a:tcPr>
                </a:tc>
                <a:extLst>
                  <a:ext uri="{0D108BD9-81ED-4DB2-BD59-A6C34878D82A}">
                    <a16:rowId xmlns:a16="http://schemas.microsoft.com/office/drawing/2014/main" val="676372353"/>
                  </a:ext>
                </a:extLst>
              </a:tr>
              <a:tr h="26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i="0" dirty="0">
                          <a:effectLst/>
                          <a:latin typeface="+mn-lt"/>
                          <a:ea typeface="Calibri"/>
                          <a:cs typeface="Calibri"/>
                        </a:rPr>
                        <a:t>A trader had declared APC 'A04' or 'F44' in DE 1/11 at item level and APC 'A10' or 'F47' are declared in DE 1/11 at item level on the same goods item.</a:t>
                      </a:r>
                    </a:p>
                  </a:txBody>
                  <a:tcPr>
                    <a:solidFill>
                      <a:srgbClr val="E7EEEE"/>
                    </a:solidFill>
                  </a:tcPr>
                </a:tc>
                <a:extLst>
                  <a:ext uri="{0D108BD9-81ED-4DB2-BD59-A6C34878D82A}">
                    <a16:rowId xmlns:a16="http://schemas.microsoft.com/office/drawing/2014/main" val="1003652622"/>
                  </a:ext>
                </a:extLst>
              </a:tr>
            </a:tbl>
          </a:graphicData>
        </a:graphic>
      </p:graphicFrame>
    </p:spTree>
    <p:extLst>
      <p:ext uri="{BB962C8B-B14F-4D97-AF65-F5344CB8AC3E}">
        <p14:creationId xmlns:p14="http://schemas.microsoft.com/office/powerpoint/2010/main" val="251647068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73975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SPIMM APC: 1SP</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highlight>
                <a:srgbClr val="00FF00"/>
              </a:highligh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must exit a Special Procedure when using Additional Procedure Code 1SP.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Acceptance Criteria:</a:t>
            </a:r>
            <a:endPar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Where a trader has declared Additional Procedure Code '1SP' in DE 1/11 at item level, Previous Procedure Code '51' '71', or '78' must be declared in DE 1/10 at item level on the same goods item. Where a Special Procedure is not declared, the declaration will be rejected and a DMSREJ notification issued.</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0" i="0" u="sng"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mn-ea"/>
                <a:cs typeface="+mn-cs"/>
              </a:rPr>
              <a:t>Identification of Warehouse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sng" strike="noStrike" kern="0" cap="none" spc="0" normalizeH="0" baseline="0" noProof="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will be required to supply a Warehouse Identification when moving into and out of certain storage Procedures.</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Pre-requisite: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H8 dataset has been derived and processed as per the completion excels.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Acceptance Criteria:</a:t>
            </a: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trader has declared Requested Procedure Code '07' in DE 1/10 at item level, the Warehouse Type Code in DE 2/7 must be 'Y' at header level. Where this criteria is not met, the declaration will be rejected and a DMSREJ notification issued.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trader has declared one of Previous Procedure Codes '71' or '78' at item level and declared Warehouse Type Code ‘S’ or ‘T’ in DE 2/7 at header level, the declaration will be rejected and a DMSREJ notification issued. Where a trader has declared Previous Procedure Codes '71' or '78 in DE 1/10 at item level and the Warehouse Type Code declared in DE 2/7 is not ‘S’ or ‘T’ at header level, the declaration will not be rejected for this reason.</a:t>
            </a:r>
            <a:endParaRPr kumimoji="0" lang="en-GB" sz="8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							</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5957262"/>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OFFICIAL | CDS External TT TDR Release Scope Guidance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246221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sng"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Supervising Customs Office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Calibri" panose="020F0502020204030204"/>
                <a:cs typeface="Calibri" panose="020F0502020204030204"/>
              </a:rPr>
              <a:t>Traders will be required to supply a Supervising Customs Office when moving into and out of certain authorised Procedures.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Calibri" panose="020F0502020204030204"/>
              </a:rPr>
              <a:t>Pre- requisite: </a:t>
            </a: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H8 dataset has been derived and processed as per the completion excels</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solidFill>
                  <a:srgbClr val="000000"/>
                </a:solidFill>
                <a:effectLst/>
                <a:uLnTx/>
                <a:uFillTx/>
                <a:latin typeface="Calibri" panose="020F0502020204030204"/>
                <a:ea typeface="+mn-ea"/>
                <a:cs typeface="+mn-cs"/>
              </a:rPr>
              <a:t>Acceptance Criteria:</a:t>
            </a:r>
            <a:endParaRPr kumimoji="0" lang="en-GB" sz="1400" b="1" i="0" u="none" strike="noStrike" kern="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trader has declared Requested Procedure Code '00' or '07' in DE 1/10 at item level,  'GBBEL004' must be declared as Supervising Customs Office in DE 5/27 at header level. </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Where a trader has declared one of Previous Procedure Codes '51', '71' or '78' in DE 1/10 at item level, 'GBBEL004' must be declared as Supervising Customs Office in DE 5/27 at header level.</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a:ea typeface="+mn-ea"/>
                <a:cs typeface="+mn-cs"/>
              </a:rPr>
              <a:t>If any of the above criteria is not met, the declaration will be rejected and will return a DMSREJ notification to the submitter.								</a:t>
            </a: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B99F690-99B2-47C6-8EE8-079407C66237}" type="slidenum">
              <a:rPr kumimoji="0" lang="en-GB" sz="1200" b="0" i="0" u="none" strike="noStrike" kern="1200" cap="none" spc="0" normalizeH="0" baseline="0" noProof="0" smtClean="0">
                <a:ln>
                  <a:noFill/>
                </a:ln>
                <a:solidFill>
                  <a:schemeClr val="tx1"/>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GB"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221595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674972"/>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dirty="0"/>
                        <a:t>TTM26.0 (CDS4.4.0)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March TBC </a:t>
                      </a:r>
                      <a:r>
                        <a:rPr lang="en-GB" sz="1200" b="1" dirty="0">
                          <a:solidFill>
                            <a:srgbClr val="000000"/>
                          </a:solidFill>
                        </a:rPr>
                        <a:t>TDR: </a:t>
                      </a:r>
                      <a:r>
                        <a:rPr lang="en-GB" sz="1200" b="0" dirty="0">
                          <a:solidFill>
                            <a:srgbClr val="000000"/>
                          </a:solidFill>
                        </a:rPr>
                        <a:t>March TBC  </a:t>
                      </a:r>
                      <a:r>
                        <a:rPr lang="en-GB" sz="1200" b="1" dirty="0">
                          <a:solidFill>
                            <a:srgbClr val="000000"/>
                          </a:solidFill>
                        </a:rPr>
                        <a:t>Live: </a:t>
                      </a:r>
                      <a:r>
                        <a:rPr lang="en-GB" sz="1200" b="0" dirty="0">
                          <a:solidFill>
                            <a:srgbClr val="000000"/>
                          </a:solidFill>
                        </a:rPr>
                        <a:t>March TBC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648391"/>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42701" y="4260364"/>
          <a:ext cx="11213805" cy="1618519"/>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4">
                  <a:extLst>
                    <a:ext uri="{9D8B030D-6E8A-4147-A177-3AD203B41FA5}">
                      <a16:colId xmlns:a16="http://schemas.microsoft.com/office/drawing/2014/main" val="2084145098"/>
                    </a:ext>
                  </a:extLst>
                </a:gridCol>
              </a:tblGrid>
              <a:tr h="397228">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u="sng" dirty="0">
                          <a:solidFill>
                            <a:schemeClr val="tx1"/>
                          </a:solidFill>
                          <a:hlinkClick r:id="rId3" action="ppaction://hlinksldjump"/>
                        </a:rPr>
                        <a:t>Windsor Framework: UKIMS (UK Internal Market Scheme)</a:t>
                      </a:r>
                      <a:endParaRPr lang="en-GB" sz="1200" b="0" u="sng" dirty="0">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u="sng" dirty="0">
                          <a:hlinkClick r:id="rId4" action="ppaction://hlinksldjump"/>
                        </a:rPr>
                        <a:t>Use of AI Code OPVAT on Export Declarations</a:t>
                      </a: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u="sng" dirty="0">
                          <a:hlinkClick r:id="rId5" action="ppaction://hlinksldjump"/>
                        </a:rPr>
                        <a:t>Incorrect </a:t>
                      </a:r>
                      <a:r>
                        <a:rPr lang="en-GB" sz="1200" b="0" u="sng" dirty="0" err="1">
                          <a:hlinkClick r:id="rId5" action="ppaction://hlinksldjump"/>
                        </a:rPr>
                        <a:t>Mandation</a:t>
                      </a:r>
                      <a:r>
                        <a:rPr lang="en-GB" sz="1200" b="0" u="sng" dirty="0">
                          <a:hlinkClick r:id="rId5" action="ppaction://hlinksldjump"/>
                        </a:rPr>
                        <a:t> of DE 6/14 on C1</a:t>
                      </a: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u="sng" dirty="0">
                          <a:solidFill>
                            <a:schemeClr val="tx1"/>
                          </a:solidFill>
                          <a:hlinkClick r:id="rId6" action="ppaction://hlinksldjump"/>
                        </a:rPr>
                        <a:t>Validation of Authorisations</a:t>
                      </a:r>
                      <a:endParaRPr lang="en-GB" sz="1200" b="0" u="sng" dirty="0">
                        <a:solidFill>
                          <a:schemeClr val="tx1"/>
                        </a:solidFill>
                      </a:endParaRPr>
                    </a:p>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sng" dirty="0">
                        <a:cs typeface="Calibri" panose="020F050202020403020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556119">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u="sng" dirty="0">
                          <a:solidFill>
                            <a:schemeClr val="tx1"/>
                          </a:solidFill>
                          <a:hlinkClick r:id="rId7" action="ppaction://hlinksldjump"/>
                        </a:rPr>
                        <a:t>Authorisation By Declaration</a:t>
                      </a:r>
                      <a:endParaRPr lang="en-GB" sz="1200" b="0" u="sng" dirty="0">
                        <a:solidFill>
                          <a:schemeClr val="tx1"/>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u="none" dirty="0">
                          <a:hlinkClick r:id="rId8" action="ppaction://hlinksldjump"/>
                        </a:rPr>
                        <a:t>Document ID Against Type X Status Code</a:t>
                      </a:r>
                      <a:endParaRPr lang="en-GB" sz="1200" b="0" u="none"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u="sng" dirty="0">
                          <a:hlinkClick r:id="rId8" action="ppaction://hlinksldjump"/>
                        </a:rPr>
                        <a:t>Removal of Invalid Procedure Code Combinations</a:t>
                      </a: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dirty="0">
                          <a:effectLst/>
                          <a:latin typeface="-apple-system"/>
                          <a:hlinkClick r:id="rId9" action="ppaction://hlinksldjump"/>
                        </a:rPr>
                        <a:t>Excise Management &amp; Control System (EMCS)/CDS Circular Requirement</a:t>
                      </a:r>
                      <a:endParaRPr lang="en-GB" sz="1200" b="0" i="0" u="sng" dirty="0">
                        <a:effectLst/>
                        <a:latin typeface="-apple-system"/>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r h="605200">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u="sng" dirty="0">
                          <a:hlinkClick r:id="rId10" action="ppaction://hlinksldjump"/>
                        </a:rPr>
                        <a:t>Cumulative Duty Calculations for Goods in Temporary Admission </a:t>
                      </a: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lang="en-GB" sz="1200" b="0" u="sng" dirty="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658940015"/>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a:spcAft>
                <a:spcPts val="600"/>
              </a:spcAf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The purpose of this document is to provide </a:t>
            </a:r>
            <a:r>
              <a:rPr lang="en-GB" sz="1400" dirty="0">
                <a:solidFill>
                  <a:srgbClr val="000000"/>
                </a:solidFill>
                <a:latin typeface="Calibri"/>
                <a:ea typeface="Calibri"/>
                <a:cs typeface="Calibri"/>
              </a:rPr>
              <a:t>External Developers</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dirty="0">
                <a:ln>
                  <a:noFill/>
                </a:ln>
                <a:solidFill>
                  <a:srgbClr val="6264A7"/>
                </a:solidFill>
                <a:effectLst/>
                <a:uLnTx/>
                <a:uFillTx/>
                <a:latin typeface="Calibri" panose="020F0502020204030204"/>
                <a:ea typeface="+mn-ea"/>
                <a:cs typeface="+mn-cs"/>
                <a:hlinkClick r:id="rId11"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dirty="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a:t>
            </a:r>
            <a:r>
              <a:rPr lang="en-GB" sz="1400" dirty="0">
                <a:solidFill>
                  <a:srgbClr val="000000"/>
                </a:solidFill>
                <a:latin typeface="Calibri" panose="020F0502020204030204"/>
              </a:rPr>
              <a:t> </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endParaRPr lang="en-GB" sz="1400" b="0" i="0" u="none" strike="noStrike" kern="1200" cap="none" spc="0" normalizeH="0" baseline="0" noProof="0" dirty="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dirty="0">
                <a:ln>
                  <a:noFill/>
                </a:ln>
                <a:solidFill>
                  <a:srgbClr val="000000"/>
                </a:solidFill>
                <a:effectLst/>
                <a:uLnTx/>
                <a:uFillTx/>
                <a:latin typeface="Calibri"/>
                <a:ea typeface="Calibri"/>
                <a:cs typeface="Calibri"/>
                <a:hlinkClick r:id="rId12"/>
              </a:rPr>
              <a:t>SDSTeam@hmrc.gov.uk</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a:t>
            </a:r>
            <a:endParaRPr lang="en-GB" sz="1400" b="0" i="0" u="none" strike="noStrike" kern="1200" cap="none" spc="0" normalizeH="0" baseline="0" noProof="0" dirty="0">
              <a:ln>
                <a:noFill/>
              </a:ln>
              <a:solidFill>
                <a:srgbClr val="000000"/>
              </a:solidFill>
              <a:effectLst/>
              <a:uLnTx/>
              <a:uFillTx/>
              <a:latin typeface="Calibri"/>
              <a:ea typeface="Calibri"/>
              <a:cs typeface="Calibri"/>
            </a:endParaRPr>
          </a:p>
        </p:txBody>
      </p:sp>
      <p:sp>
        <p:nvSpPr>
          <p:cNvPr id="28" name="Oval 16">
            <a:extLst>
              <a:ext uri="{FF2B5EF4-FFF2-40B4-BE49-F238E27FC236}">
                <a16:creationId xmlns:a16="http://schemas.microsoft.com/office/drawing/2014/main" id="{F2743D23-87A9-4EC3-B431-F0BCFA2A490C}"/>
              </a:ext>
            </a:extLst>
          </p:cNvPr>
          <p:cNvSpPr/>
          <p:nvPr/>
        </p:nvSpPr>
        <p:spPr>
          <a:xfrm>
            <a:off x="583385" y="43428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34450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192</a:t>
            </a:fld>
            <a:endParaRPr lang="en-GB" dirty="0">
              <a:solidFill>
                <a:schemeClr val="tx1"/>
              </a:solidFill>
            </a:endParaRPr>
          </a:p>
        </p:txBody>
      </p:sp>
      <p:sp>
        <p:nvSpPr>
          <p:cNvPr id="26" name="Oval 16">
            <a:extLst>
              <a:ext uri="{FF2B5EF4-FFF2-40B4-BE49-F238E27FC236}">
                <a16:creationId xmlns:a16="http://schemas.microsoft.com/office/drawing/2014/main" id="{A64687E6-E45F-4F80-9EB3-98354B007F56}"/>
              </a:ext>
            </a:extLst>
          </p:cNvPr>
          <p:cNvSpPr/>
          <p:nvPr/>
        </p:nvSpPr>
        <p:spPr>
          <a:xfrm>
            <a:off x="3159068" y="43428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Oval 16">
            <a:extLst>
              <a:ext uri="{FF2B5EF4-FFF2-40B4-BE49-F238E27FC236}">
                <a16:creationId xmlns:a16="http://schemas.microsoft.com/office/drawing/2014/main" id="{AE092BE3-5C8F-2B93-2BFD-8FC4DA4270FB}"/>
              </a:ext>
            </a:extLst>
          </p:cNvPr>
          <p:cNvSpPr/>
          <p:nvPr/>
        </p:nvSpPr>
        <p:spPr>
          <a:xfrm>
            <a:off x="6130604" y="43428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16">
            <a:extLst>
              <a:ext uri="{FF2B5EF4-FFF2-40B4-BE49-F238E27FC236}">
                <a16:creationId xmlns:a16="http://schemas.microsoft.com/office/drawing/2014/main" id="{F0ED324F-A98A-A21A-6788-F0BA69D24CF7}"/>
              </a:ext>
            </a:extLst>
          </p:cNvPr>
          <p:cNvSpPr/>
          <p:nvPr/>
        </p:nvSpPr>
        <p:spPr>
          <a:xfrm>
            <a:off x="583385" y="480060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Oval 16">
            <a:extLst>
              <a:ext uri="{FF2B5EF4-FFF2-40B4-BE49-F238E27FC236}">
                <a16:creationId xmlns:a16="http://schemas.microsoft.com/office/drawing/2014/main" id="{B7D849EC-BEB6-1437-78D6-99054EE56AF7}"/>
              </a:ext>
            </a:extLst>
          </p:cNvPr>
          <p:cNvSpPr/>
          <p:nvPr/>
        </p:nvSpPr>
        <p:spPr>
          <a:xfrm>
            <a:off x="6130604" y="480060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16">
            <a:extLst>
              <a:ext uri="{FF2B5EF4-FFF2-40B4-BE49-F238E27FC236}">
                <a16:creationId xmlns:a16="http://schemas.microsoft.com/office/drawing/2014/main" id="{77AA7FFA-D9A2-7EC6-C7D1-1216EB6F87B9}"/>
              </a:ext>
            </a:extLst>
          </p:cNvPr>
          <p:cNvSpPr/>
          <p:nvPr/>
        </p:nvSpPr>
        <p:spPr>
          <a:xfrm>
            <a:off x="3159068" y="480060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16">
            <a:extLst>
              <a:ext uri="{FF2B5EF4-FFF2-40B4-BE49-F238E27FC236}">
                <a16:creationId xmlns:a16="http://schemas.microsoft.com/office/drawing/2014/main" id="{8946BDC3-8FAB-AB3E-0538-94522172CB3E}"/>
              </a:ext>
            </a:extLst>
          </p:cNvPr>
          <p:cNvSpPr/>
          <p:nvPr/>
        </p:nvSpPr>
        <p:spPr>
          <a:xfrm>
            <a:off x="8951473" y="480060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16">
            <a:extLst>
              <a:ext uri="{FF2B5EF4-FFF2-40B4-BE49-F238E27FC236}">
                <a16:creationId xmlns:a16="http://schemas.microsoft.com/office/drawing/2014/main" id="{E861337B-8981-FC48-6457-B7F4291B802A}"/>
              </a:ext>
            </a:extLst>
          </p:cNvPr>
          <p:cNvSpPr/>
          <p:nvPr/>
        </p:nvSpPr>
        <p:spPr>
          <a:xfrm>
            <a:off x="583385" y="534190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Oval 16">
            <a:extLst>
              <a:ext uri="{FF2B5EF4-FFF2-40B4-BE49-F238E27FC236}">
                <a16:creationId xmlns:a16="http://schemas.microsoft.com/office/drawing/2014/main" id="{8411AB2C-9FAD-D543-E5C6-FE4C4B72E788}"/>
              </a:ext>
            </a:extLst>
          </p:cNvPr>
          <p:cNvSpPr/>
          <p:nvPr/>
        </p:nvSpPr>
        <p:spPr>
          <a:xfrm>
            <a:off x="8945246" y="43428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923006020"/>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708981"/>
          </a:xfrm>
          <a:prstGeom prst="rect">
            <a:avLst/>
          </a:prstGeom>
          <a:noFill/>
          <a:ln cap="flat">
            <a:noFill/>
            <a:prstDash val="solid"/>
          </a:ln>
        </p:spPr>
        <p:txBody>
          <a:bodyPr vert="horz" wrap="square" lIns="91440" tIns="45720" rIns="91440" bIns="45720" anchor="t" anchorCtr="0" compatLnSpc="1">
            <a:spAutoFit/>
          </a:bodyPr>
          <a:lstStyle/>
          <a:p>
            <a:pPr algn="l"/>
            <a:r>
              <a:rPr lang="en-GB" sz="1400" b="1" u="sng" dirty="0"/>
              <a:t>Windsor Framework UKIMS (UK Internal Market Scheme)</a:t>
            </a:r>
          </a:p>
          <a:p>
            <a:pPr algn="l"/>
            <a:endParaRPr lang="en-GB" sz="1000" b="1" u="sng" kern="0" dirty="0"/>
          </a:p>
          <a:p>
            <a:pPr>
              <a:defRPr sz="1800" b="0" i="0" u="none" strike="noStrike" kern="0" cap="none" spc="0" baseline="0">
                <a:solidFill>
                  <a:srgbClr val="000000"/>
                </a:solidFill>
                <a:uFillTx/>
              </a:defRPr>
            </a:pPr>
            <a:r>
              <a:rPr lang="en-GB" sz="1400" kern="0" dirty="0">
                <a:solidFill>
                  <a:srgbClr val="000000"/>
                </a:solidFill>
              </a:rPr>
              <a:t>Under the Windsor Framework, goods entering Northern Ireland from either the Rest of World or Great Britain, will be classed as "At Risk" or "Not At Risk" of moving into the EU. Based on this risk status, different duty calculations will be applied to the goods.</a:t>
            </a:r>
          </a:p>
          <a:p>
            <a:pPr>
              <a:defRPr sz="1800" b="0" i="0" u="none" strike="noStrike" kern="0" cap="none" spc="0" baseline="0">
                <a:solidFill>
                  <a:srgbClr val="000000"/>
                </a:solidFill>
                <a:uFillTx/>
              </a:defRPr>
            </a:pPr>
            <a:endParaRPr lang="en-GB" sz="9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To facilitate the movement of goods into NI for trusted operators, the Windsor Framework introduces a new authorisation scheme called the "UK Internal Market Scheme" (UKIMS) for traders to use when moving goods into NI (RoW-NI or GB-NI). Traders who are authorised under this scheme will be able to "de-risk" their goods by declaring that a goods item that otherwise would be considered "At Risk" of moving into the EU, should instead be considered "Not At Risk". UKIMS Authorised traders can do so in a wider range of scenarios than non-UKIMS authorised traders.</a:t>
            </a:r>
          </a:p>
          <a:p>
            <a:pPr>
              <a:defRPr sz="1800" b="0" i="0" u="none" strike="noStrike" kern="0" cap="none" spc="0" baseline="0">
                <a:solidFill>
                  <a:srgbClr val="000000"/>
                </a:solidFill>
                <a:uFillTx/>
              </a:defRPr>
            </a:pPr>
            <a:endParaRPr lang="en-GB" sz="900" b="1" u="sng" dirty="0"/>
          </a:p>
          <a:p>
            <a:pPr>
              <a:defRPr sz="1800" b="0" i="0" u="none" strike="noStrike" kern="0" cap="none" spc="0" baseline="0">
                <a:solidFill>
                  <a:srgbClr val="000000"/>
                </a:solidFill>
                <a:uFillTx/>
              </a:defRPr>
            </a:pPr>
            <a:endParaRPr lang="en-GB" sz="700" kern="0" dirty="0">
              <a:solidFill>
                <a:srgbClr val="000000"/>
              </a:solidFill>
            </a:endParaRPr>
          </a:p>
          <a:p>
            <a:pPr>
              <a:defRPr sz="1800" b="0" i="0" u="none" strike="noStrike" kern="0" cap="none" spc="0" baseline="0">
                <a:solidFill>
                  <a:srgbClr val="000000"/>
                </a:solidFill>
                <a:uFillTx/>
              </a:defRPr>
            </a:pPr>
            <a:r>
              <a:rPr lang="en-GB" sz="1400" u="sng" kern="0" dirty="0">
                <a:solidFill>
                  <a:srgbClr val="000000"/>
                </a:solidFill>
              </a:rPr>
              <a:t>Rate Applied to Goods – </a:t>
            </a:r>
            <a:r>
              <a:rPr lang="en-GB" sz="1400" u="sng" kern="0" dirty="0" err="1">
                <a:solidFill>
                  <a:srgbClr val="000000"/>
                </a:solidFill>
              </a:rPr>
              <a:t>RoW</a:t>
            </a:r>
            <a:r>
              <a:rPr lang="en-GB" sz="1400" u="sng" kern="0" dirty="0">
                <a:solidFill>
                  <a:srgbClr val="000000"/>
                </a:solidFill>
              </a:rPr>
              <a:t>-NI Movements</a:t>
            </a:r>
          </a:p>
          <a:p>
            <a:pPr>
              <a:defRPr sz="1800" b="0" i="0" u="none" strike="noStrike" kern="0" cap="none" spc="0" baseline="0">
                <a:solidFill>
                  <a:srgbClr val="000000"/>
                </a:solidFill>
                <a:uFillTx/>
              </a:defRPr>
            </a:pPr>
            <a:endParaRPr lang="en-GB" sz="1000" u="sng" kern="0" dirty="0">
              <a:solidFill>
                <a:srgbClr val="000000"/>
              </a:solidFill>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 "Default Position" (i.e. with no Risk Status AI Code declared) is that whichever Tariff calculation (UK or EU) returns a higher rate, is the rate that will be applied.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If a trader determines (based on GOV.UK guidance) that their goods are "Not At Risk", then they may declare it so (see slide 10 for more information). If the full declaration criteria is met, then the UK Rate will apply. </a:t>
            </a:r>
            <a:br>
              <a:rPr lang="en-GB" sz="1400" kern="0" dirty="0">
                <a:solidFill>
                  <a:srgbClr val="000000"/>
                </a:solidFill>
              </a:rPr>
            </a:br>
            <a:r>
              <a:rPr lang="en-GB" sz="1400" kern="0" dirty="0">
                <a:solidFill>
                  <a:srgbClr val="000000"/>
                </a:solidFill>
              </a:rPr>
              <a:t>However, if any of the following statements are true, then the "Default Position" will apply:</a:t>
            </a:r>
          </a:p>
          <a:p>
            <a:pPr marL="914400" lvl="3"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There is an EU Trade Defence Measure* against the goods item.</a:t>
            </a:r>
          </a:p>
          <a:p>
            <a:pPr marL="914400" lvl="3"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 importer is not UKIMS Authorised or has not declared their UKIMS Authorisation on the declaration.</a:t>
            </a:r>
          </a:p>
          <a:p>
            <a:pPr marL="914400" lvl="3"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 EU rate is more than 3% of the Customs Value higher than the UK rate for the goods.</a:t>
            </a:r>
          </a:p>
          <a:p>
            <a:pPr>
              <a:defRPr sz="1800" b="0" i="0" u="none" strike="noStrike" kern="0" cap="none" spc="0" baseline="0">
                <a:solidFill>
                  <a:srgbClr val="000000"/>
                </a:solidFill>
                <a:uFillTx/>
              </a:defRPr>
            </a:pPr>
            <a:r>
              <a:rPr lang="en-GB" sz="1400" kern="0" dirty="0">
                <a:solidFill>
                  <a:srgbClr val="000000"/>
                </a:solidFill>
              </a:rPr>
              <a:t>*EU Trade Defence measures include Retaliatory Rates, Anti-Dumping Duty, Countervailing duty, and Safeguarding duty.</a:t>
            </a:r>
          </a:p>
          <a:p>
            <a:pPr>
              <a:defRPr sz="1800" b="0" i="0" u="none" strike="noStrike" kern="0" cap="none" spc="0" baseline="0">
                <a:solidFill>
                  <a:srgbClr val="000000"/>
                </a:solidFill>
                <a:uFillTx/>
              </a:defRPr>
            </a:pPr>
            <a:endParaRPr lang="en-GB" sz="1400" i="0" dirty="0">
              <a:effectLst/>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6406"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193</a:t>
            </a:fld>
            <a:endParaRPr lang="en-GB" dirty="0">
              <a:solidFill>
                <a:schemeClr val="tx1"/>
              </a:solidFill>
            </a:endParaRPr>
          </a:p>
        </p:txBody>
      </p:sp>
    </p:spTree>
    <p:extLst>
      <p:ext uri="{BB962C8B-B14F-4D97-AF65-F5344CB8AC3E}">
        <p14:creationId xmlns:p14="http://schemas.microsoft.com/office/powerpoint/2010/main" val="258714013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270843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kern="0" dirty="0">
                <a:solidFill>
                  <a:srgbClr val="000000"/>
                </a:solidFill>
              </a:rPr>
              <a:t>Rate Applied To Goods – GB-NI movements</a:t>
            </a:r>
          </a:p>
          <a:p>
            <a:pPr>
              <a:defRPr sz="1800" b="0" i="0" u="none" strike="noStrike" kern="0" cap="none" spc="0" baseline="0">
                <a:solidFill>
                  <a:srgbClr val="000000"/>
                </a:solidFill>
                <a:uFillTx/>
              </a:defRPr>
            </a:pPr>
            <a:endParaRPr lang="en-GB" sz="1000" u="sng" kern="0" dirty="0">
              <a:solidFill>
                <a:srgbClr val="000000"/>
              </a:solidFill>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 "Default Position" (i.e. with no Risk Status AI Code declared) is that the EU rate will be applied (Goods are "At Risk").</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If a trader determines (based on GOV.UK guidance) that their goods are "Not At Risk", then they may declare it so (see slide 10 for more information). If the full declaration criteria is met, then no duty will be charged. </a:t>
            </a:r>
            <a:br>
              <a:rPr lang="en-GB" sz="1400" kern="0" dirty="0">
                <a:solidFill>
                  <a:srgbClr val="000000"/>
                </a:solidFill>
              </a:rPr>
            </a:br>
            <a:r>
              <a:rPr lang="en-GB" sz="1400" kern="0" dirty="0">
                <a:solidFill>
                  <a:srgbClr val="000000"/>
                </a:solidFill>
              </a:rPr>
              <a:t>However, if any of the following statements are true, then the "Default Position" will apply:</a:t>
            </a:r>
          </a:p>
          <a:p>
            <a:pPr marL="914400" lvl="3"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There is an EU Trade Defence Measure* against the goods item.</a:t>
            </a:r>
          </a:p>
          <a:p>
            <a:pPr marL="914400" lvl="3"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The importer is not UKIMS Authorised or has not declared their UKIMS Authorisation on the declaration.</a:t>
            </a:r>
          </a:p>
          <a:p>
            <a:pPr>
              <a:defRPr sz="1800" b="0" i="0" u="none" strike="noStrike" kern="0" cap="none" spc="0" baseline="0">
                <a:solidFill>
                  <a:srgbClr val="000000"/>
                </a:solidFill>
                <a:uFillTx/>
              </a:defRPr>
            </a:pPr>
            <a:r>
              <a:rPr lang="en-GB" sz="1400" kern="0" dirty="0">
                <a:solidFill>
                  <a:srgbClr val="000000"/>
                </a:solidFill>
              </a:rPr>
              <a:t>*EU Trade Defence measures include Retaliatory Rates, Anti-Dumping Duty, Countervailing duty, and Safeguarding duty.</a:t>
            </a:r>
          </a:p>
          <a:p>
            <a:pPr>
              <a:defRPr sz="1800" b="0" i="0" u="none" strike="noStrike" kern="0" cap="none" spc="0" baseline="0">
                <a:solidFill>
                  <a:srgbClr val="000000"/>
                </a:solidFill>
                <a:uFillTx/>
              </a:defRPr>
            </a:pPr>
            <a:endParaRPr lang="en-GB" sz="6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Measure Types for EU Trade Defence Measures:</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i="0" dirty="0">
              <a:effectLst/>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38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194</a:t>
            </a:fld>
            <a:endParaRPr lang="en-GB" dirty="0">
              <a:solidFill>
                <a:schemeClr val="tx1"/>
              </a:solidFill>
            </a:endParaRPr>
          </a:p>
        </p:txBody>
      </p:sp>
      <p:graphicFrame>
        <p:nvGraphicFramePr>
          <p:cNvPr id="6" name="Table 8">
            <a:extLst>
              <a:ext uri="{FF2B5EF4-FFF2-40B4-BE49-F238E27FC236}">
                <a16:creationId xmlns:a16="http://schemas.microsoft.com/office/drawing/2014/main" id="{7B2AFAB5-D21D-80A9-5063-BB71A752C42C}"/>
              </a:ext>
            </a:extLst>
          </p:cNvPr>
          <p:cNvGraphicFramePr>
            <a:graphicFrameLocks noGrp="1"/>
          </p:cNvGraphicFramePr>
          <p:nvPr/>
        </p:nvGraphicFramePr>
        <p:xfrm>
          <a:off x="2200759" y="3542663"/>
          <a:ext cx="7775999" cy="2903220"/>
        </p:xfrm>
        <a:graphic>
          <a:graphicData uri="http://schemas.openxmlformats.org/drawingml/2006/table">
            <a:tbl>
              <a:tblPr firstRow="1" bandRow="1">
                <a:tableStyleId>{5C22544A-7EE6-4342-B048-85BDC9FD1C3A}</a:tableStyleId>
              </a:tblPr>
              <a:tblGrid>
                <a:gridCol w="985226">
                  <a:extLst>
                    <a:ext uri="{9D8B030D-6E8A-4147-A177-3AD203B41FA5}">
                      <a16:colId xmlns:a16="http://schemas.microsoft.com/office/drawing/2014/main" val="1997239383"/>
                    </a:ext>
                  </a:extLst>
                </a:gridCol>
                <a:gridCol w="3597587">
                  <a:extLst>
                    <a:ext uri="{9D8B030D-6E8A-4147-A177-3AD203B41FA5}">
                      <a16:colId xmlns:a16="http://schemas.microsoft.com/office/drawing/2014/main" val="1012285335"/>
                    </a:ext>
                  </a:extLst>
                </a:gridCol>
                <a:gridCol w="1605516">
                  <a:extLst>
                    <a:ext uri="{9D8B030D-6E8A-4147-A177-3AD203B41FA5}">
                      <a16:colId xmlns:a16="http://schemas.microsoft.com/office/drawing/2014/main" val="1634251541"/>
                    </a:ext>
                  </a:extLst>
                </a:gridCol>
                <a:gridCol w="1587670">
                  <a:extLst>
                    <a:ext uri="{9D8B030D-6E8A-4147-A177-3AD203B41FA5}">
                      <a16:colId xmlns:a16="http://schemas.microsoft.com/office/drawing/2014/main" val="776845178"/>
                    </a:ext>
                  </a:extLst>
                </a:gridCol>
              </a:tblGrid>
              <a:tr h="455339">
                <a:tc>
                  <a:txBody>
                    <a:bodyPr/>
                    <a:lstStyle/>
                    <a:p>
                      <a:pPr algn="ctr"/>
                      <a:r>
                        <a:rPr lang="en-GB" sz="1400" b="1">
                          <a:effectLst/>
                        </a:rPr>
                        <a:t>Measure ID</a:t>
                      </a:r>
                      <a:endParaRPr lang="en-GB" sz="1400" dirty="0">
                        <a:effectLst/>
                      </a:endParaRPr>
                    </a:p>
                  </a:txBody>
                  <a:tcPr marL="25400" marR="25400" marT="19050" marB="19050" anchor="ctr">
                    <a:solidFill>
                      <a:srgbClr val="009999"/>
                    </a:solidFill>
                  </a:tcPr>
                </a:tc>
                <a:tc>
                  <a:txBody>
                    <a:bodyPr/>
                    <a:lstStyle/>
                    <a:p>
                      <a:pPr algn="ctr"/>
                      <a:r>
                        <a:rPr lang="en-GB" sz="1400" b="1">
                          <a:effectLst/>
                        </a:rPr>
                        <a:t>Measure Description</a:t>
                      </a:r>
                      <a:endParaRPr lang="en-GB" sz="1400" dirty="0">
                        <a:effectLst/>
                      </a:endParaRPr>
                    </a:p>
                  </a:txBody>
                  <a:tcPr marL="25400" marR="25400" marT="19050" marB="19050" anchor="ctr">
                    <a:solidFill>
                      <a:srgbClr val="009999"/>
                    </a:solidFill>
                  </a:tcPr>
                </a:tc>
                <a:tc>
                  <a:txBody>
                    <a:bodyPr/>
                    <a:lstStyle/>
                    <a:p>
                      <a:pPr algn="ctr"/>
                      <a:r>
                        <a:rPr lang="en-GB" sz="1400" b="1">
                          <a:effectLst/>
                        </a:rPr>
                        <a:t>UK Tax Type Mapped to Measure</a:t>
                      </a:r>
                      <a:endParaRPr lang="en-GB" sz="1400" dirty="0">
                        <a:effectLst/>
                      </a:endParaRPr>
                    </a:p>
                  </a:txBody>
                  <a:tcPr marL="25400" marR="25400" marT="19050" marB="19050" anchor="ctr">
                    <a:solidFill>
                      <a:srgbClr val="009999"/>
                    </a:solidFill>
                  </a:tcPr>
                </a:tc>
                <a:tc>
                  <a:txBody>
                    <a:bodyPr/>
                    <a:lstStyle/>
                    <a:p>
                      <a:pPr algn="ctr"/>
                      <a:r>
                        <a:rPr lang="en-GB" sz="1400" b="1">
                          <a:effectLst/>
                        </a:rPr>
                        <a:t>EU Tax Type Mapped to Measure</a:t>
                      </a:r>
                      <a:endParaRPr lang="en-GB" sz="1400" dirty="0">
                        <a:effectLst/>
                      </a:endParaRPr>
                    </a:p>
                  </a:txBody>
                  <a:tcPr marL="25400" marR="25400" marT="19050" marB="19050" anchor="ctr">
                    <a:solidFill>
                      <a:srgbClr val="009999"/>
                    </a:solidFill>
                  </a:tcPr>
                </a:tc>
                <a:extLst>
                  <a:ext uri="{0D108BD9-81ED-4DB2-BD59-A6C34878D82A}">
                    <a16:rowId xmlns:a16="http://schemas.microsoft.com/office/drawing/2014/main" val="1440678393"/>
                  </a:ext>
                </a:extLst>
              </a:tr>
              <a:tr h="246331">
                <a:tc>
                  <a:txBody>
                    <a:bodyPr/>
                    <a:lstStyle/>
                    <a:p>
                      <a:pPr algn="ctr"/>
                      <a:r>
                        <a:rPr lang="en-GB" sz="1400">
                          <a:effectLst/>
                        </a:rPr>
                        <a:t>552</a:t>
                      </a:r>
                      <a:endParaRPr lang="en-GB" sz="1400" dirty="0">
                        <a:effectLst/>
                      </a:endParaRPr>
                    </a:p>
                  </a:txBody>
                  <a:tcPr marL="25400" marR="25400" marT="19050" marB="19050" anchor="ctr">
                    <a:solidFill>
                      <a:srgbClr val="CBDCDB"/>
                    </a:solidFill>
                  </a:tcPr>
                </a:tc>
                <a:tc>
                  <a:txBody>
                    <a:bodyPr/>
                    <a:lstStyle/>
                    <a:p>
                      <a:pPr algn="ctr"/>
                      <a:r>
                        <a:rPr lang="en-GB" sz="1400">
                          <a:effectLst/>
                        </a:rPr>
                        <a:t>Definitive Anti-Dumping Duty Measure</a:t>
                      </a:r>
                      <a:endParaRPr lang="en-GB" sz="1400" dirty="0">
                        <a:effectLst/>
                      </a:endParaRPr>
                    </a:p>
                  </a:txBody>
                  <a:tcPr marL="25400" marR="25400" marT="19050" marB="19050" anchor="ctr">
                    <a:solidFill>
                      <a:srgbClr val="CBDCDB"/>
                    </a:solidFill>
                  </a:tcPr>
                </a:tc>
                <a:tc>
                  <a:txBody>
                    <a:bodyPr/>
                    <a:lstStyle/>
                    <a:p>
                      <a:pPr algn="ctr"/>
                      <a:r>
                        <a:rPr lang="en-GB" sz="1400">
                          <a:effectLst/>
                        </a:rPr>
                        <a:t>A30</a:t>
                      </a:r>
                      <a:endParaRPr lang="en-GB" sz="1400" dirty="0">
                        <a:effectLst/>
                      </a:endParaRPr>
                    </a:p>
                  </a:txBody>
                  <a:tcPr marL="25400" marR="25400" marT="19050" marB="19050" anchor="ctr">
                    <a:solidFill>
                      <a:srgbClr val="CBDCDB"/>
                    </a:solidFill>
                  </a:tcPr>
                </a:tc>
                <a:tc>
                  <a:txBody>
                    <a:bodyPr/>
                    <a:lstStyle/>
                    <a:p>
                      <a:pPr algn="ctr"/>
                      <a:r>
                        <a:rPr lang="en-GB" sz="1400">
                          <a:effectLst/>
                        </a:rPr>
                        <a:t>A80</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272529701"/>
                  </a:ext>
                </a:extLst>
              </a:tr>
              <a:tr h="246331">
                <a:tc>
                  <a:txBody>
                    <a:bodyPr/>
                    <a:lstStyle/>
                    <a:p>
                      <a:pPr algn="ctr"/>
                      <a:r>
                        <a:rPr lang="en-GB" sz="1400">
                          <a:effectLst/>
                        </a:rPr>
                        <a:t>554</a:t>
                      </a:r>
                      <a:endParaRPr lang="en-GB" sz="1400" dirty="0">
                        <a:effectLst/>
                      </a:endParaRPr>
                    </a:p>
                  </a:txBody>
                  <a:tcPr marL="25400" marR="25400" marT="19050" marB="19050" anchor="ctr">
                    <a:solidFill>
                      <a:srgbClr val="E7EEEE"/>
                    </a:solidFill>
                  </a:tcPr>
                </a:tc>
                <a:tc>
                  <a:txBody>
                    <a:bodyPr/>
                    <a:lstStyle/>
                    <a:p>
                      <a:pPr algn="ctr"/>
                      <a:r>
                        <a:rPr lang="en-GB" sz="1400">
                          <a:effectLst/>
                        </a:rPr>
                        <a:t>Definitive Countervailing Duty Measure</a:t>
                      </a:r>
                      <a:endParaRPr lang="en-GB" sz="1400" dirty="0">
                        <a:effectLst/>
                      </a:endParaRPr>
                    </a:p>
                  </a:txBody>
                  <a:tcPr marL="25400" marR="25400" marT="19050" marB="19050" anchor="ctr">
                    <a:solidFill>
                      <a:srgbClr val="E7EEEE"/>
                    </a:solidFill>
                  </a:tcPr>
                </a:tc>
                <a:tc>
                  <a:txBody>
                    <a:bodyPr/>
                    <a:lstStyle/>
                    <a:p>
                      <a:pPr algn="ctr"/>
                      <a:r>
                        <a:rPr lang="en-GB" sz="1400">
                          <a:effectLst/>
                        </a:rPr>
                        <a:t>A40</a:t>
                      </a:r>
                      <a:endParaRPr lang="en-GB" sz="1400" dirty="0">
                        <a:effectLst/>
                      </a:endParaRPr>
                    </a:p>
                  </a:txBody>
                  <a:tcPr marL="25400" marR="25400" marT="19050" marB="19050" anchor="ctr">
                    <a:solidFill>
                      <a:srgbClr val="E7EEEE"/>
                    </a:solidFill>
                  </a:tcPr>
                </a:tc>
                <a:tc>
                  <a:txBody>
                    <a:bodyPr/>
                    <a:lstStyle/>
                    <a:p>
                      <a:pPr algn="ctr"/>
                      <a:r>
                        <a:rPr lang="en-GB" sz="1400">
                          <a:effectLst/>
                        </a:rPr>
                        <a:t>A90</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335521272"/>
                  </a:ext>
                </a:extLst>
              </a:tr>
              <a:tr h="246331">
                <a:tc>
                  <a:txBody>
                    <a:bodyPr/>
                    <a:lstStyle/>
                    <a:p>
                      <a:pPr algn="ctr"/>
                      <a:r>
                        <a:rPr lang="en-GB" sz="1400">
                          <a:effectLst/>
                        </a:rPr>
                        <a:t>551</a:t>
                      </a:r>
                      <a:endParaRPr lang="en-GB" sz="1400" dirty="0">
                        <a:effectLst/>
                      </a:endParaRPr>
                    </a:p>
                  </a:txBody>
                  <a:tcPr marL="25400" marR="25400" marT="19050" marB="19050" anchor="ctr">
                    <a:solidFill>
                      <a:srgbClr val="CBDCDB"/>
                    </a:solidFill>
                  </a:tcPr>
                </a:tc>
                <a:tc>
                  <a:txBody>
                    <a:bodyPr/>
                    <a:lstStyle/>
                    <a:p>
                      <a:pPr algn="ctr"/>
                      <a:r>
                        <a:rPr lang="en-GB" sz="1400">
                          <a:effectLst/>
                        </a:rPr>
                        <a:t>Provisional Anti-Dumping Duty Measure</a:t>
                      </a:r>
                      <a:endParaRPr lang="en-GB" sz="1400" dirty="0">
                        <a:effectLst/>
                      </a:endParaRPr>
                    </a:p>
                  </a:txBody>
                  <a:tcPr marL="25400" marR="25400" marT="19050" marB="19050" anchor="ctr">
                    <a:solidFill>
                      <a:srgbClr val="CBDCDB"/>
                    </a:solidFill>
                  </a:tcPr>
                </a:tc>
                <a:tc>
                  <a:txBody>
                    <a:bodyPr/>
                    <a:lstStyle/>
                    <a:p>
                      <a:pPr algn="ctr"/>
                      <a:r>
                        <a:rPr lang="en-GB" sz="1400">
                          <a:effectLst/>
                        </a:rPr>
                        <a:t>A35</a:t>
                      </a:r>
                      <a:endParaRPr lang="en-GB" sz="1400" dirty="0">
                        <a:effectLst/>
                      </a:endParaRPr>
                    </a:p>
                  </a:txBody>
                  <a:tcPr marL="25400" marR="25400" marT="19050" marB="19050" anchor="ctr">
                    <a:solidFill>
                      <a:srgbClr val="CBDCDB"/>
                    </a:solidFill>
                  </a:tcPr>
                </a:tc>
                <a:tc>
                  <a:txBody>
                    <a:bodyPr/>
                    <a:lstStyle/>
                    <a:p>
                      <a:pPr algn="ctr"/>
                      <a:r>
                        <a:rPr lang="en-GB" sz="1400">
                          <a:effectLst/>
                        </a:rPr>
                        <a:t>A85</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534045721"/>
                  </a:ext>
                </a:extLst>
              </a:tr>
              <a:tr h="246331">
                <a:tc>
                  <a:txBody>
                    <a:bodyPr/>
                    <a:lstStyle/>
                    <a:p>
                      <a:pPr algn="ctr"/>
                      <a:r>
                        <a:rPr lang="en-GB" sz="1400">
                          <a:effectLst/>
                        </a:rPr>
                        <a:t>553</a:t>
                      </a:r>
                      <a:endParaRPr lang="en-GB" sz="1400" dirty="0">
                        <a:effectLst/>
                      </a:endParaRPr>
                    </a:p>
                  </a:txBody>
                  <a:tcPr marL="25400" marR="25400" marT="19050" marB="19050" anchor="ctr">
                    <a:solidFill>
                      <a:srgbClr val="E7EEEE"/>
                    </a:solidFill>
                  </a:tcPr>
                </a:tc>
                <a:tc>
                  <a:txBody>
                    <a:bodyPr/>
                    <a:lstStyle/>
                    <a:p>
                      <a:pPr algn="ctr"/>
                      <a:r>
                        <a:rPr lang="de-DE" sz="1400">
                          <a:effectLst/>
                        </a:rPr>
                        <a:t>Provisional Countervailing Duty Measure</a:t>
                      </a:r>
                      <a:endParaRPr lang="de-DE" sz="1400" dirty="0">
                        <a:effectLst/>
                      </a:endParaRPr>
                    </a:p>
                  </a:txBody>
                  <a:tcPr marL="25400" marR="25400" marT="19050" marB="19050" anchor="ctr">
                    <a:solidFill>
                      <a:srgbClr val="E7EEEE"/>
                    </a:solidFill>
                  </a:tcPr>
                </a:tc>
                <a:tc>
                  <a:txBody>
                    <a:bodyPr/>
                    <a:lstStyle/>
                    <a:p>
                      <a:pPr algn="ctr"/>
                      <a:r>
                        <a:rPr lang="en-GB" sz="1400">
                          <a:effectLst/>
                        </a:rPr>
                        <a:t>A45</a:t>
                      </a:r>
                      <a:endParaRPr lang="en-GB" sz="1400" dirty="0">
                        <a:effectLst/>
                      </a:endParaRPr>
                    </a:p>
                  </a:txBody>
                  <a:tcPr marL="25400" marR="25400" marT="19050" marB="19050" anchor="ctr">
                    <a:solidFill>
                      <a:srgbClr val="E7EEEE"/>
                    </a:solidFill>
                  </a:tcPr>
                </a:tc>
                <a:tc>
                  <a:txBody>
                    <a:bodyPr/>
                    <a:lstStyle/>
                    <a:p>
                      <a:pPr algn="ctr"/>
                      <a:r>
                        <a:rPr lang="en-GB" sz="1400">
                          <a:effectLst/>
                        </a:rPr>
                        <a:t>A95</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428196002"/>
                  </a:ext>
                </a:extLst>
              </a:tr>
              <a:tr h="455339">
                <a:tc>
                  <a:txBody>
                    <a:bodyPr/>
                    <a:lstStyle/>
                    <a:p>
                      <a:pPr algn="ctr"/>
                      <a:r>
                        <a:rPr lang="en-GB" sz="1400">
                          <a:effectLst/>
                        </a:rPr>
                        <a:t>695</a:t>
                      </a:r>
                      <a:endParaRPr lang="en-GB" sz="1400" dirty="0">
                        <a:effectLst/>
                      </a:endParaRPr>
                    </a:p>
                  </a:txBody>
                  <a:tcPr marL="25400" marR="25400" marT="19050" marB="19050" anchor="ctr">
                    <a:solidFill>
                      <a:srgbClr val="CBDCDB"/>
                    </a:solidFill>
                  </a:tcPr>
                </a:tc>
                <a:tc>
                  <a:txBody>
                    <a:bodyPr/>
                    <a:lstStyle/>
                    <a:p>
                      <a:pPr algn="ctr"/>
                      <a:r>
                        <a:rPr lang="en-GB" sz="1400">
                          <a:effectLst/>
                        </a:rPr>
                        <a:t>Additional Duties (retaliatory rates, capturing the additional duties under the Byrd Agreement)</a:t>
                      </a:r>
                      <a:endParaRPr lang="en-GB" sz="1400" dirty="0">
                        <a:effectLst/>
                      </a:endParaRPr>
                    </a:p>
                  </a:txBody>
                  <a:tcPr marL="25400" marR="25400" marT="19050" marB="19050" anchor="ctr">
                    <a:solidFill>
                      <a:srgbClr val="CBDCDB"/>
                    </a:solidFill>
                  </a:tcPr>
                </a:tc>
                <a:tc>
                  <a:txBody>
                    <a:bodyPr/>
                    <a:lstStyle/>
                    <a:p>
                      <a:pPr algn="ctr"/>
                      <a:r>
                        <a:rPr lang="en-GB" sz="1400">
                          <a:effectLst/>
                        </a:rPr>
                        <a:t>A20</a:t>
                      </a:r>
                      <a:endParaRPr lang="en-GB" sz="1400" dirty="0">
                        <a:effectLst/>
                      </a:endParaRPr>
                    </a:p>
                  </a:txBody>
                  <a:tcPr marL="25400" marR="25400" marT="19050" marB="19050" anchor="ctr">
                    <a:solidFill>
                      <a:srgbClr val="CBDCDB"/>
                    </a:solidFill>
                  </a:tcPr>
                </a:tc>
                <a:tc>
                  <a:txBody>
                    <a:bodyPr/>
                    <a:lstStyle/>
                    <a:p>
                      <a:pPr algn="ctr"/>
                      <a:r>
                        <a:rPr lang="en-GB" sz="1400">
                          <a:effectLst/>
                        </a:rPr>
                        <a:t>A70</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827923601"/>
                  </a:ext>
                </a:extLst>
              </a:tr>
              <a:tr h="246331">
                <a:tc>
                  <a:txBody>
                    <a:bodyPr/>
                    <a:lstStyle/>
                    <a:p>
                      <a:pPr algn="ctr"/>
                      <a:r>
                        <a:rPr lang="en-GB" sz="1400">
                          <a:effectLst/>
                        </a:rPr>
                        <a:t>696</a:t>
                      </a:r>
                      <a:endParaRPr lang="en-GB" sz="1400" dirty="0">
                        <a:effectLst/>
                      </a:endParaRPr>
                    </a:p>
                  </a:txBody>
                  <a:tcPr marL="25400" marR="25400" marT="19050" marB="19050" anchor="ctr">
                    <a:solidFill>
                      <a:srgbClr val="E7EEEE"/>
                    </a:solidFill>
                  </a:tcPr>
                </a:tc>
                <a:tc>
                  <a:txBody>
                    <a:bodyPr/>
                    <a:lstStyle/>
                    <a:p>
                      <a:pPr algn="ctr"/>
                      <a:r>
                        <a:rPr lang="en-GB" sz="1400">
                          <a:effectLst/>
                        </a:rPr>
                        <a:t>Additional Duties (Safeguard)</a:t>
                      </a:r>
                      <a:endParaRPr lang="en-GB" sz="1400" dirty="0">
                        <a:effectLst/>
                      </a:endParaRPr>
                    </a:p>
                  </a:txBody>
                  <a:tcPr marL="25400" marR="25400" marT="19050" marB="19050" anchor="ctr">
                    <a:solidFill>
                      <a:srgbClr val="E7EEEE"/>
                    </a:solidFill>
                  </a:tcPr>
                </a:tc>
                <a:tc>
                  <a:txBody>
                    <a:bodyPr/>
                    <a:lstStyle/>
                    <a:p>
                      <a:pPr algn="ctr"/>
                      <a:r>
                        <a:rPr lang="en-GB" sz="1400">
                          <a:effectLst/>
                        </a:rPr>
                        <a:t>A20</a:t>
                      </a:r>
                      <a:endParaRPr lang="en-GB" sz="1400" dirty="0">
                        <a:effectLst/>
                      </a:endParaRPr>
                    </a:p>
                  </a:txBody>
                  <a:tcPr marL="25400" marR="25400" marT="19050" marB="19050" anchor="ctr">
                    <a:solidFill>
                      <a:srgbClr val="E7EEEE"/>
                    </a:solidFill>
                  </a:tcPr>
                </a:tc>
                <a:tc>
                  <a:txBody>
                    <a:bodyPr/>
                    <a:lstStyle/>
                    <a:p>
                      <a:pPr algn="ctr"/>
                      <a:r>
                        <a:rPr lang="en-GB" sz="1400">
                          <a:effectLst/>
                        </a:rPr>
                        <a:t>A70</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763926698"/>
                  </a:ext>
                </a:extLst>
              </a:tr>
              <a:tr h="246331">
                <a:tc>
                  <a:txBody>
                    <a:bodyPr/>
                    <a:lstStyle/>
                    <a:p>
                      <a:pPr algn="ctr"/>
                      <a:r>
                        <a:rPr lang="en-GB" sz="1400">
                          <a:effectLst/>
                        </a:rPr>
                        <a:t>652</a:t>
                      </a:r>
                      <a:endParaRPr lang="en-GB" sz="1400" dirty="0">
                        <a:effectLst/>
                      </a:endParaRPr>
                    </a:p>
                  </a:txBody>
                  <a:tcPr marL="25400" marR="25400" marT="19050" marB="19050" anchor="ctr">
                    <a:solidFill>
                      <a:srgbClr val="CBDCDB"/>
                    </a:solidFill>
                  </a:tcPr>
                </a:tc>
                <a:tc>
                  <a:txBody>
                    <a:bodyPr/>
                    <a:lstStyle/>
                    <a:p>
                      <a:pPr algn="ctr"/>
                      <a:r>
                        <a:rPr lang="en-GB" sz="1400">
                          <a:effectLst/>
                        </a:rPr>
                        <a:t>Additional Duty Based on CIF Price</a:t>
                      </a:r>
                      <a:endParaRPr lang="en-GB" sz="1400" dirty="0">
                        <a:effectLst/>
                      </a:endParaRPr>
                    </a:p>
                  </a:txBody>
                  <a:tcPr marL="25400" marR="25400" marT="19050" marB="19050" anchor="ctr">
                    <a:solidFill>
                      <a:srgbClr val="CBDCDB"/>
                    </a:solidFill>
                  </a:tcPr>
                </a:tc>
                <a:tc>
                  <a:txBody>
                    <a:bodyPr/>
                    <a:lstStyle/>
                    <a:p>
                      <a:pPr algn="ctr"/>
                      <a:r>
                        <a:rPr lang="en-GB" sz="1400">
                          <a:effectLst/>
                        </a:rPr>
                        <a:t>A20</a:t>
                      </a:r>
                      <a:endParaRPr lang="en-GB" sz="1400" dirty="0">
                        <a:effectLst/>
                      </a:endParaRPr>
                    </a:p>
                  </a:txBody>
                  <a:tcPr marL="25400" marR="25400" marT="19050" marB="19050" anchor="ctr">
                    <a:solidFill>
                      <a:srgbClr val="CBDCDB"/>
                    </a:solidFill>
                  </a:tcPr>
                </a:tc>
                <a:tc>
                  <a:txBody>
                    <a:bodyPr/>
                    <a:lstStyle/>
                    <a:p>
                      <a:pPr algn="ctr"/>
                      <a:r>
                        <a:rPr lang="en-GB" sz="1400">
                          <a:effectLst/>
                        </a:rPr>
                        <a:t>A70</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420373529"/>
                  </a:ext>
                </a:extLst>
              </a:tr>
              <a:tr h="455339">
                <a:tc>
                  <a:txBody>
                    <a:bodyPr/>
                    <a:lstStyle/>
                    <a:p>
                      <a:pPr algn="ctr"/>
                      <a:r>
                        <a:rPr lang="en-GB" sz="1400">
                          <a:effectLst/>
                        </a:rPr>
                        <a:t>654</a:t>
                      </a:r>
                      <a:endParaRPr lang="en-GB" sz="1400" dirty="0">
                        <a:effectLst/>
                      </a:endParaRPr>
                    </a:p>
                  </a:txBody>
                  <a:tcPr marL="25400" marR="25400" marT="19050" marB="19050" anchor="ctr">
                    <a:solidFill>
                      <a:srgbClr val="E7EEEE"/>
                    </a:solidFill>
                  </a:tcPr>
                </a:tc>
                <a:tc>
                  <a:txBody>
                    <a:bodyPr/>
                    <a:lstStyle/>
                    <a:p>
                      <a:pPr algn="ctr"/>
                      <a:r>
                        <a:rPr lang="en-GB" sz="1400">
                          <a:effectLst/>
                        </a:rPr>
                        <a:t>Additional Duty Based on CIF Price, Reduced Under the Benefit of a Tariff Quota</a:t>
                      </a:r>
                      <a:endParaRPr lang="en-GB" sz="1400" dirty="0">
                        <a:effectLst/>
                      </a:endParaRPr>
                    </a:p>
                  </a:txBody>
                  <a:tcPr marL="25400" marR="25400" marT="19050" marB="19050" anchor="ctr">
                    <a:solidFill>
                      <a:srgbClr val="E7EEEE"/>
                    </a:solidFill>
                  </a:tcPr>
                </a:tc>
                <a:tc>
                  <a:txBody>
                    <a:bodyPr/>
                    <a:lstStyle/>
                    <a:p>
                      <a:pPr algn="ctr"/>
                      <a:r>
                        <a:rPr lang="en-GB" sz="1400">
                          <a:effectLst/>
                        </a:rPr>
                        <a:t>A20</a:t>
                      </a:r>
                      <a:endParaRPr lang="en-GB" sz="1400" dirty="0">
                        <a:effectLst/>
                      </a:endParaRPr>
                    </a:p>
                  </a:txBody>
                  <a:tcPr marL="25400" marR="25400" marT="19050" marB="19050" anchor="ctr">
                    <a:solidFill>
                      <a:srgbClr val="E7EEEE"/>
                    </a:solidFill>
                  </a:tcPr>
                </a:tc>
                <a:tc>
                  <a:txBody>
                    <a:bodyPr/>
                    <a:lstStyle/>
                    <a:p>
                      <a:pPr algn="ctr"/>
                      <a:r>
                        <a:rPr lang="en-GB" sz="1400" dirty="0">
                          <a:effectLst/>
                        </a:rPr>
                        <a:t>A70</a:t>
                      </a:r>
                    </a:p>
                  </a:txBody>
                  <a:tcPr marL="25400" marR="25400" marT="19050" marB="19050" anchor="ctr">
                    <a:solidFill>
                      <a:srgbClr val="E7EEEE"/>
                    </a:solidFill>
                  </a:tcPr>
                </a:tc>
                <a:extLst>
                  <a:ext uri="{0D108BD9-81ED-4DB2-BD59-A6C34878D82A}">
                    <a16:rowId xmlns:a16="http://schemas.microsoft.com/office/drawing/2014/main" val="248895356"/>
                  </a:ext>
                </a:extLst>
              </a:tr>
            </a:tbl>
          </a:graphicData>
        </a:graphic>
      </p:graphicFrame>
    </p:spTree>
    <p:extLst>
      <p:ext uri="{BB962C8B-B14F-4D97-AF65-F5344CB8AC3E}">
        <p14:creationId xmlns:p14="http://schemas.microsoft.com/office/powerpoint/2010/main" val="175341235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8383" y="1264839"/>
            <a:ext cx="11282159" cy="481670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Declaration and Validation of Goods "At  Risk" Status Codes</a:t>
            </a:r>
          </a:p>
          <a:p>
            <a:pPr>
              <a:defRPr sz="1800" b="0" i="0" u="none" strike="noStrike" kern="0" cap="none" spc="0" baseline="0">
                <a:solidFill>
                  <a:srgbClr val="000000"/>
                </a:solidFill>
                <a:uFillTx/>
              </a:defRPr>
            </a:pPr>
            <a:endParaRPr lang="en-GB" sz="800" u="sng" dirty="0"/>
          </a:p>
          <a:p>
            <a:pPr>
              <a:defRPr sz="1800" b="0" i="0" u="none" strike="noStrike" kern="0" cap="none" spc="0" baseline="0">
                <a:solidFill>
                  <a:srgbClr val="000000"/>
                </a:solidFill>
                <a:uFillTx/>
              </a:defRPr>
            </a:pPr>
            <a:r>
              <a:rPr lang="en-GB" sz="1400" dirty="0"/>
              <a:t>Traders will be able to declare their UKIMS authorisation (1UKI) and Risking Additional Information (AI) codes to identify the nature of the goods being imported into NI. CDS will allow the declaration of one of the following Risking AI Statement Code combinations in DE 2/2 at goods item level (see table on slide 8 for additional detail on Risking AI Statement Codes):</a:t>
            </a:r>
          </a:p>
          <a:p>
            <a:pPr>
              <a:defRPr sz="1800" b="0" i="0" u="none" strike="noStrike" kern="0" cap="none" spc="0" baseline="0">
                <a:solidFill>
                  <a:srgbClr val="000000"/>
                </a:solidFill>
                <a:uFillTx/>
              </a:defRPr>
            </a:pPr>
            <a:endParaRPr lang="en-GB" sz="300" dirty="0">
              <a:cs typeface="Calibri"/>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NIOVR only</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NIPRO only</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NIREM only</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NIHIS may be optionally declared with any of the combinations above, or, as a standalone.</a:t>
            </a:r>
          </a:p>
          <a:p>
            <a:pPr>
              <a:defRPr sz="1800" b="0" i="0" u="none" strike="noStrike" kern="0" cap="none" spc="0" baseline="0">
                <a:solidFill>
                  <a:srgbClr val="000000"/>
                </a:solidFill>
                <a:uFillTx/>
              </a:defRPr>
            </a:pPr>
            <a:endParaRPr lang="en-GB" sz="800" dirty="0"/>
          </a:p>
          <a:p>
            <a:pPr>
              <a:defRPr sz="1800" b="0" i="0" u="none" strike="noStrike" kern="0" cap="none" spc="0" baseline="0">
                <a:solidFill>
                  <a:srgbClr val="000000"/>
                </a:solidFill>
                <a:uFillTx/>
              </a:defRPr>
            </a:pPr>
            <a:r>
              <a:rPr lang="en-GB" sz="1400" dirty="0"/>
              <a:t>CDS will reject the declaration where a trader has declared: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Any combination of the Risking AI Statement Codes that is not specified above for a single goods item, or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Any of the Risking AI Statement Codes above at header level, or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Any of the Risking AI Statement Codes above without NIIMP or NIDOM present in DE 2/2 for the same goods item.</a:t>
            </a:r>
          </a:p>
          <a:p>
            <a:pPr>
              <a:defRPr sz="1800" b="0" i="0" u="none" strike="noStrike" kern="0" cap="none" spc="0" baseline="0">
                <a:solidFill>
                  <a:srgbClr val="000000"/>
                </a:solidFill>
                <a:uFillTx/>
              </a:defRPr>
            </a:pPr>
            <a:endParaRPr lang="en-GB" sz="800" dirty="0"/>
          </a:p>
          <a:p>
            <a:pPr>
              <a:defRPr sz="1800" b="0" i="0" u="none" strike="noStrike" kern="0" cap="none" spc="0" baseline="0">
                <a:solidFill>
                  <a:srgbClr val="000000"/>
                </a:solidFill>
                <a:uFillTx/>
              </a:defRPr>
            </a:pPr>
            <a:r>
              <a:rPr lang="en-GB" sz="1400" dirty="0"/>
              <a:t>Where a trader has declared Document Code "1UKI" (UKIMS Authorisation) in DE 2/3 at goods item level (Documents Produced, Certificates, Authorisations), CDS will mandate the declaration of:</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 Authorisation number in the corresponding Document Identifier sub-filed (DE 2/3).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 EORI declared in DE 3/16 (Importer Identification Number) that is valid.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Authorisation Type Code UKIM in DE 3/39 at header level.</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An EORI number in DE 3/39 (Holder of the Authorisation Identification number) at header level.</a:t>
            </a:r>
          </a:p>
          <a:p>
            <a:pPr>
              <a:defRPr sz="1800" b="0" i="0" u="none" strike="noStrike" kern="0" cap="none" spc="0" baseline="0">
                <a:solidFill>
                  <a:srgbClr val="000000"/>
                </a:solidFill>
                <a:uFillTx/>
              </a:defRPr>
            </a:pPr>
            <a:r>
              <a:rPr lang="en-GB" sz="1400" dirty="0"/>
              <a:t>If any of the above data elements are not supplied, or completed as detailed above, the declaration will be rejected and a DMSREJ notification will be issued.</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514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195</a:t>
            </a:fld>
            <a:endParaRPr lang="en-GB" dirty="0">
              <a:solidFill>
                <a:schemeClr val="tx1"/>
              </a:solidFill>
            </a:endParaRPr>
          </a:p>
        </p:txBody>
      </p:sp>
      <p:sp>
        <p:nvSpPr>
          <p:cNvPr id="13" name="TextBox 12">
            <a:extLst>
              <a:ext uri="{FF2B5EF4-FFF2-40B4-BE49-F238E27FC236}">
                <a16:creationId xmlns:a16="http://schemas.microsoft.com/office/drawing/2014/main" id="{1B037478-E750-6D87-0269-7164E5E1E7E8}"/>
              </a:ext>
            </a:extLst>
          </p:cNvPr>
          <p:cNvSpPr txBox="1"/>
          <p:nvPr/>
        </p:nvSpPr>
        <p:spPr>
          <a:xfrm>
            <a:off x="2478360" y="2234836"/>
            <a:ext cx="6096000" cy="738664"/>
          </a:xfrm>
          <a:prstGeom prst="rect">
            <a:avLst/>
          </a:prstGeom>
          <a:noFill/>
        </p:spPr>
        <p:txBody>
          <a:bodyPr wrap="square">
            <a:spAutoFit/>
          </a:bodyPr>
          <a:lstStyle/>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NIAID only</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NIREM with NIAID only</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NIPRO with NIAID only</a:t>
            </a:r>
          </a:p>
        </p:txBody>
      </p:sp>
    </p:spTree>
    <p:extLst>
      <p:ext uri="{BB962C8B-B14F-4D97-AF65-F5344CB8AC3E}">
        <p14:creationId xmlns:p14="http://schemas.microsoft.com/office/powerpoint/2010/main" val="953007350"/>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767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196</a:t>
            </a:fld>
            <a:endParaRPr lang="en-GB" dirty="0">
              <a:solidFill>
                <a:schemeClr val="tx1"/>
              </a:solidFill>
            </a:endParaRPr>
          </a:p>
        </p:txBody>
      </p:sp>
      <p:sp>
        <p:nvSpPr>
          <p:cNvPr id="6" name="Rectangle 5">
            <a:extLst>
              <a:ext uri="{FF2B5EF4-FFF2-40B4-BE49-F238E27FC236}">
                <a16:creationId xmlns:a16="http://schemas.microsoft.com/office/drawing/2014/main" id="{D7892297-F216-CF57-021E-70DA828B8918}"/>
              </a:ext>
            </a:extLst>
          </p:cNvPr>
          <p:cNvSpPr/>
          <p:nvPr/>
        </p:nvSpPr>
        <p:spPr>
          <a:xfrm>
            <a:off x="406871" y="1264651"/>
            <a:ext cx="11282159" cy="412420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kern="0" dirty="0">
                <a:effectLst/>
              </a:rPr>
              <a:t>Declaring and Claiming Quota in NI</a:t>
            </a:r>
          </a:p>
          <a:p>
            <a:pPr>
              <a:defRPr sz="1800" b="0" i="0" u="none" strike="noStrike" kern="0" cap="none" spc="0" baseline="0">
                <a:solidFill>
                  <a:srgbClr val="000000"/>
                </a:solidFill>
                <a:uFillTx/>
              </a:defRPr>
            </a:pPr>
            <a:endParaRPr lang="en-GB" sz="1000" u="sng" kern="0" dirty="0"/>
          </a:p>
          <a:p>
            <a:pPr algn="l"/>
            <a:r>
              <a:rPr lang="en-GB" sz="1400" kern="0" dirty="0"/>
              <a:t>For NI declarations: </a:t>
            </a:r>
          </a:p>
          <a:p>
            <a:pPr marL="285750" indent="-285750">
              <a:buFont typeface="Arial" panose="020B0604020202020204" pitchFamily="34" charset="0"/>
              <a:buChar char="•"/>
            </a:pPr>
            <a:r>
              <a:rPr lang="en-GB" sz="1400" kern="0" dirty="0"/>
              <a:t>Where a trader has determined that their goods are eligible for UK Quota (RoW-NI imports only), and they are "Not At Risk", the trader can declare "NIQUO" in DE 2/2 against the goods item in question.</a:t>
            </a:r>
          </a:p>
          <a:p>
            <a:pPr marL="285750" indent="-285750" algn="l">
              <a:buFont typeface="Arial" panose="020B0604020202020204" pitchFamily="34" charset="0"/>
              <a:buChar char="•"/>
            </a:pPr>
            <a:r>
              <a:rPr lang="en-GB" sz="1400" kern="0" dirty="0"/>
              <a:t>Where a trader has determined that their goods are eligible to have no duty charged on a GB-NI movement, then the trader can declare "NIQUO" against the goods item in question.</a:t>
            </a:r>
          </a:p>
          <a:p>
            <a:pPr marL="285750" indent="-285750" algn="l">
              <a:buFont typeface="Arial" panose="020B0604020202020204" pitchFamily="34" charset="0"/>
              <a:buChar char="•"/>
            </a:pPr>
            <a:r>
              <a:rPr lang="en-GB" sz="1400" dirty="0"/>
              <a:t>Where a trader is seeking to benefit from the EU in-Quota rate when moving goods from GB-NI, then the trader can declare "NIQUO" against the goods item in question and populate free text field DE 2/2 with the EU Quota Order Number.  </a:t>
            </a:r>
            <a:endParaRPr lang="en-GB" sz="1400" kern="0" dirty="0"/>
          </a:p>
          <a:p>
            <a:pPr algn="l">
              <a:buFont typeface="+mj-lt"/>
              <a:buAutoNum type="arabicPeriod"/>
            </a:pPr>
            <a:endParaRPr lang="en-GB" sz="1400" kern="0" dirty="0">
              <a:latin typeface="-apple-system"/>
            </a:endParaRPr>
          </a:p>
          <a:p>
            <a:pPr algn="l"/>
            <a:r>
              <a:rPr lang="en-GB" sz="1400" b="1" kern="0" dirty="0">
                <a:latin typeface="-apple-system"/>
              </a:rPr>
              <a:t>Use of NIQUO: </a:t>
            </a:r>
            <a:r>
              <a:rPr lang="en-GB" sz="1400" kern="0" dirty="0"/>
              <a:t>"NIQUO" will be restricted to only NI Import declarations.</a:t>
            </a:r>
          </a:p>
          <a:p>
            <a:pPr marL="285750" indent="-285750" algn="l">
              <a:buFont typeface="Arial" panose="020B0604020202020204" pitchFamily="34" charset="0"/>
              <a:buChar char="•"/>
            </a:pPr>
            <a:r>
              <a:rPr lang="en-GB" sz="1400" kern="0" dirty="0"/>
              <a:t>Where a trader has declared AI Statement Code "NIQUO" in DE 2/2 at goods item level on a Type A, D, Y or Z import declaration, CDS will mandate the declaration of either AI Statement Code "NIIMP" or "NIDOM" against the same goods item.</a:t>
            </a:r>
          </a:p>
          <a:p>
            <a:pPr marL="285750" indent="-285750" algn="l">
              <a:buFont typeface="Arial" panose="020B0604020202020204" pitchFamily="34" charset="0"/>
              <a:buChar char="•"/>
            </a:pPr>
            <a:r>
              <a:rPr lang="en-GB" sz="1400" kern="0" dirty="0"/>
              <a:t>Where a trader has declared AI Statement Code "NIQUO" in DE 2/2 at goods item level on a Type B, C, E, F, J, or K import declaration, CDS will mandate the declaration of AI Statement Code "NIDOM" against the same goods item.</a:t>
            </a:r>
          </a:p>
          <a:p>
            <a:pPr marL="285750" indent="-285750" algn="l">
              <a:buFont typeface="Arial" panose="020B0604020202020204" pitchFamily="34" charset="0"/>
              <a:buChar char="•"/>
            </a:pPr>
            <a:r>
              <a:rPr lang="en-GB" sz="1400" kern="0" dirty="0"/>
              <a:t>Where a trader has declared AI Statement Code "NIQUO" in DE 2/2 at goods item level, CDS will prohibit the declaration of any of the other following AI Statement Codes against the same goods item: NIAID, NIPRO, NIOVR, NIREM.</a:t>
            </a:r>
          </a:p>
          <a:p>
            <a:pPr marL="285750" indent="-285750" algn="l">
              <a:buFont typeface="Arial" panose="020B0604020202020204" pitchFamily="34" charset="0"/>
              <a:buChar char="•"/>
            </a:pPr>
            <a:r>
              <a:rPr lang="en-GB" sz="1400" kern="0" dirty="0"/>
              <a:t>CDS will prohibit the declaration of "NIQUO" at header level.</a:t>
            </a:r>
          </a:p>
          <a:p>
            <a:pPr algn="l"/>
            <a:r>
              <a:rPr lang="en-GB" sz="1400" kern="0" dirty="0"/>
              <a:t>If any of the above conditions are not met, then the declaration will be rejected and a DMSREJ will be returned to the trader.</a:t>
            </a:r>
          </a:p>
        </p:txBody>
      </p:sp>
    </p:spTree>
    <p:extLst>
      <p:ext uri="{BB962C8B-B14F-4D97-AF65-F5344CB8AC3E}">
        <p14:creationId xmlns:p14="http://schemas.microsoft.com/office/powerpoint/2010/main" val="330059588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577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197</a:t>
            </a:fld>
            <a:endParaRPr lang="en-GB" dirty="0">
              <a:solidFill>
                <a:schemeClr val="tx1"/>
              </a:solidFill>
            </a:endParaRPr>
          </a:p>
        </p:txBody>
      </p:sp>
      <p:sp>
        <p:nvSpPr>
          <p:cNvPr id="6" name="Rectangle 5">
            <a:extLst>
              <a:ext uri="{FF2B5EF4-FFF2-40B4-BE49-F238E27FC236}">
                <a16:creationId xmlns:a16="http://schemas.microsoft.com/office/drawing/2014/main" id="{D7892297-F216-CF57-021E-70DA828B8918}"/>
              </a:ext>
            </a:extLst>
          </p:cNvPr>
          <p:cNvSpPr/>
          <p:nvPr/>
        </p:nvSpPr>
        <p:spPr>
          <a:xfrm>
            <a:off x="407065" y="1264845"/>
            <a:ext cx="11282159" cy="5262979"/>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kern="0" dirty="0">
                <a:effectLst/>
              </a:rPr>
              <a:t>RoW-NI Quota: </a:t>
            </a:r>
            <a:r>
              <a:rPr lang="en-GB" sz="1400" kern="0" dirty="0"/>
              <a:t>NI importers will be able to claim UK Quota on RoW-NI movements but will need to indicate code NIQUO when doing so in order to benefit from the UK Quota. </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kern="0" dirty="0"/>
              <a:t>Where NIIMP has been declared in DE 2/2 at goods item level:</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CDS will allow the declaration of "NIQUO" in DE 2/2 at goods item level on a Type A, D, Y and Z Import Declaration.</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If "NIQUO" is declared against the same goods item as "NIIMP" in DE 2/2 on a Type A, D, Y, or Z Import Declaration, then CDS will mandate the declaration of a valid UK Quota Order Number in DE 8/1 (Quota Order Number) for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If a UK Quota Order Number is declared in DE 8/1 against the same goods item as "NIIMP" in DE 2/2 on a Type A, D, Y. or Z Import Declaration, then CDS will mandate the declaration of "NIQUO" in DE 2/2 at the same goods item level.</a:t>
            </a:r>
          </a:p>
          <a:p>
            <a:pPr>
              <a:defRPr sz="1800" b="0" i="0" u="none" strike="noStrike" kern="0" cap="none" spc="0" baseline="0">
                <a:solidFill>
                  <a:srgbClr val="000000"/>
                </a:solidFill>
                <a:uFillTx/>
              </a:defRPr>
            </a:pPr>
            <a:r>
              <a:rPr lang="en-GB" sz="1400" kern="0" dirty="0"/>
              <a:t>If any of the conditions are not met, then the declaration will be rejected and a DMSREJ will be returned to the trader.</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1" kern="0" dirty="0"/>
              <a:t>GB-NI Quota</a:t>
            </a:r>
            <a:r>
              <a:rPr lang="en-GB" sz="1400" kern="0" dirty="0"/>
              <a:t>: NI importers will be able to declare they are using a workaround to avoid certain EU additional duties (anti-dumping/countervailing), and benefit from the EU in-Quota rate when moving goods from GB-NI. </a:t>
            </a:r>
            <a:r>
              <a:rPr lang="en-GB" sz="1400" b="0" i="0" dirty="0">
                <a:effectLst/>
              </a:rPr>
              <a:t>Where a trader has determined that their goods are eligible to have no duty charged on a GB-NI movement then the trader can declare "NIQUO" against the goods item in question. They will be expected to complete the EU Quota order number in the corresponding free text field in 2/2 against "NIQUO" not in DE 8/1. </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kern="0" dirty="0"/>
              <a:t>Where NIDOM has been declared in DE 2/2 at goods item level:</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CDS will allow the declaration of "NIQUO" in DE 2/2 at goods item level on a Type A, B, C, D, E, F, J, K, Y and Z Import Declaration. If "NIQUO" is declared on any other declaration type, then the declaration will be rejected and a DMSREJ will be returned to the trader.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Where "NIQUO" is declared against the same goods item as "NIDOM" in DE 2/2 on a Type A, D, Y, or Z Import Declaration, then CDS will prohibit the declaration of a UK Quota Order Number in DE 8/1 for the same goods item. If a UK Quota Order Number is declared in DE 8/1 for the same goods item, then the declaration will be rejected and a DMSREJ will be returned to the trader.</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endParaRPr lang="en-GB" sz="1400" kern="0" dirty="0"/>
          </a:p>
        </p:txBody>
      </p:sp>
    </p:spTree>
    <p:extLst>
      <p:ext uri="{BB962C8B-B14F-4D97-AF65-F5344CB8AC3E}">
        <p14:creationId xmlns:p14="http://schemas.microsoft.com/office/powerpoint/2010/main" val="345852747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4451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198</a:t>
            </a:fld>
            <a:endParaRPr lang="en-GB" dirty="0">
              <a:solidFill>
                <a:schemeClr val="tx1"/>
              </a:solidFill>
            </a:endParaRPr>
          </a:p>
        </p:txBody>
      </p:sp>
      <p:graphicFrame>
        <p:nvGraphicFramePr>
          <p:cNvPr id="14" name="Table 8">
            <a:extLst>
              <a:ext uri="{FF2B5EF4-FFF2-40B4-BE49-F238E27FC236}">
                <a16:creationId xmlns:a16="http://schemas.microsoft.com/office/drawing/2014/main" id="{300BAF6F-FEED-7D10-82F2-7C8C9A7DD3F0}"/>
              </a:ext>
            </a:extLst>
          </p:cNvPr>
          <p:cNvGraphicFramePr>
            <a:graphicFrameLocks noGrp="1"/>
          </p:cNvGraphicFramePr>
          <p:nvPr/>
        </p:nvGraphicFramePr>
        <p:xfrm>
          <a:off x="465155" y="1432262"/>
          <a:ext cx="11376000" cy="4107180"/>
        </p:xfrm>
        <a:graphic>
          <a:graphicData uri="http://schemas.openxmlformats.org/drawingml/2006/table">
            <a:tbl>
              <a:tblPr firstRow="1" bandRow="1">
                <a:tableStyleId>{5C22544A-7EE6-4342-B048-85BDC9FD1C3A}</a:tableStyleId>
              </a:tblPr>
              <a:tblGrid>
                <a:gridCol w="1073189">
                  <a:extLst>
                    <a:ext uri="{9D8B030D-6E8A-4147-A177-3AD203B41FA5}">
                      <a16:colId xmlns:a16="http://schemas.microsoft.com/office/drawing/2014/main" val="1997239383"/>
                    </a:ext>
                  </a:extLst>
                </a:gridCol>
                <a:gridCol w="9412941">
                  <a:extLst>
                    <a:ext uri="{9D8B030D-6E8A-4147-A177-3AD203B41FA5}">
                      <a16:colId xmlns:a16="http://schemas.microsoft.com/office/drawing/2014/main" val="1012285335"/>
                    </a:ext>
                  </a:extLst>
                </a:gridCol>
                <a:gridCol w="889870">
                  <a:extLst>
                    <a:ext uri="{9D8B030D-6E8A-4147-A177-3AD203B41FA5}">
                      <a16:colId xmlns:a16="http://schemas.microsoft.com/office/drawing/2014/main" val="1634251541"/>
                    </a:ext>
                  </a:extLst>
                </a:gridCol>
              </a:tblGrid>
              <a:tr h="426390">
                <a:tc>
                  <a:txBody>
                    <a:bodyPr/>
                    <a:lstStyle/>
                    <a:p>
                      <a:pPr algn="ctr"/>
                      <a:r>
                        <a:rPr lang="en-GB" sz="1300" b="1">
                          <a:effectLst/>
                        </a:rPr>
                        <a:t>AI Statement Codes (DE 2/2)</a:t>
                      </a:r>
                      <a:endParaRPr lang="en-GB" sz="1300" dirty="0">
                        <a:effectLst/>
                      </a:endParaRPr>
                    </a:p>
                  </a:txBody>
                  <a:tcPr marL="25400" marR="25400" marT="19050" marB="19050" anchor="ctr">
                    <a:solidFill>
                      <a:srgbClr val="009999"/>
                    </a:solidFill>
                  </a:tcPr>
                </a:tc>
                <a:tc>
                  <a:txBody>
                    <a:bodyPr/>
                    <a:lstStyle/>
                    <a:p>
                      <a:pPr algn="ctr"/>
                      <a:r>
                        <a:rPr lang="en-GB" sz="1300" b="1">
                          <a:effectLst/>
                        </a:rPr>
                        <a:t>Description</a:t>
                      </a:r>
                      <a:endParaRPr lang="en-GB" sz="1300" dirty="0">
                        <a:effectLst/>
                      </a:endParaRPr>
                    </a:p>
                  </a:txBody>
                  <a:tcPr marL="25400" marR="25400" marT="19050" marB="19050" anchor="ctr">
                    <a:solidFill>
                      <a:srgbClr val="009999"/>
                    </a:solidFill>
                  </a:tcPr>
                </a:tc>
                <a:tc>
                  <a:txBody>
                    <a:bodyPr/>
                    <a:lstStyle/>
                    <a:p>
                      <a:pPr algn="ctr"/>
                      <a:r>
                        <a:rPr lang="en-GB" sz="1300" b="1">
                          <a:effectLst/>
                        </a:rPr>
                        <a:t>Risk Status</a:t>
                      </a:r>
                      <a:endParaRPr lang="en-GB" sz="1300" dirty="0">
                        <a:effectLst/>
                      </a:endParaRPr>
                    </a:p>
                  </a:txBody>
                  <a:tcPr marL="25400" marR="25400" marT="19050" marB="19050" anchor="ctr">
                    <a:solidFill>
                      <a:srgbClr val="009999"/>
                    </a:solidFill>
                  </a:tcPr>
                </a:tc>
                <a:extLst>
                  <a:ext uri="{0D108BD9-81ED-4DB2-BD59-A6C34878D82A}">
                    <a16:rowId xmlns:a16="http://schemas.microsoft.com/office/drawing/2014/main" val="1440678393"/>
                  </a:ext>
                </a:extLst>
              </a:tr>
              <a:tr h="426390">
                <a:tc>
                  <a:txBody>
                    <a:bodyPr/>
                    <a:lstStyle/>
                    <a:p>
                      <a:pPr algn="ctr"/>
                      <a:r>
                        <a:rPr lang="en-GB" sz="1300">
                          <a:effectLst/>
                        </a:rPr>
                        <a:t>NIOVR</a:t>
                      </a:r>
                      <a:endParaRPr lang="en-GB" sz="1300" dirty="0">
                        <a:effectLst/>
                      </a:endParaRPr>
                    </a:p>
                  </a:txBody>
                  <a:tcPr marL="25400" marR="25400" marT="19050" marB="19050" anchor="ctr">
                    <a:solidFill>
                      <a:srgbClr val="CBDCDB"/>
                    </a:solidFill>
                  </a:tcPr>
                </a:tc>
                <a:tc>
                  <a:txBody>
                    <a:bodyPr/>
                    <a:lstStyle/>
                    <a:p>
                      <a:pPr algn="ctr"/>
                      <a:r>
                        <a:rPr lang="en-GB" sz="1300" b="0" i="0" kern="1200">
                          <a:solidFill>
                            <a:schemeClr val="dk1"/>
                          </a:solidFill>
                          <a:effectLst/>
                          <a:latin typeface="+mn-lt"/>
                          <a:ea typeface="+mn-ea"/>
                          <a:cs typeface="+mn-cs"/>
                        </a:rPr>
                        <a:t>This AI Statement Code is used by traders only on instruction by HMRC. Traders may experience additional compliance action should the code be used without prior approval. </a:t>
                      </a:r>
                      <a:endParaRPr lang="en-GB" sz="1300" dirty="0">
                        <a:effectLst/>
                      </a:endParaRPr>
                    </a:p>
                  </a:txBody>
                  <a:tcPr marL="25400" marR="25400" marT="19050" marB="19050" anchor="ctr">
                    <a:solidFill>
                      <a:srgbClr val="CBDCDB"/>
                    </a:solidFill>
                  </a:tcPr>
                </a:tc>
                <a:tc>
                  <a:txBody>
                    <a:bodyPr/>
                    <a:lstStyle/>
                    <a:p>
                      <a:pPr algn="ctr"/>
                      <a:r>
                        <a:rPr lang="en-GB" sz="1300">
                          <a:effectLst/>
                        </a:rPr>
                        <a:t>Not At Risk</a:t>
                      </a:r>
                      <a:endParaRPr lang="en-GB" sz="1300" dirty="0">
                        <a:effectLst/>
                      </a:endParaRPr>
                    </a:p>
                  </a:txBody>
                  <a:tcPr marL="25400" marR="25400" marT="19050" marB="19050" anchor="ctr">
                    <a:solidFill>
                      <a:srgbClr val="CBDCDB"/>
                    </a:solidFill>
                  </a:tcPr>
                </a:tc>
                <a:extLst>
                  <a:ext uri="{0D108BD9-81ED-4DB2-BD59-A6C34878D82A}">
                    <a16:rowId xmlns:a16="http://schemas.microsoft.com/office/drawing/2014/main" val="2272529701"/>
                  </a:ext>
                </a:extLst>
              </a:tr>
              <a:tr h="426390">
                <a:tc>
                  <a:txBody>
                    <a:bodyPr/>
                    <a:lstStyle/>
                    <a:p>
                      <a:pPr algn="ctr"/>
                      <a:r>
                        <a:rPr lang="en-GB" sz="1300">
                          <a:effectLst/>
                        </a:rPr>
                        <a:t>NIPRO</a:t>
                      </a:r>
                      <a:endParaRPr lang="en-GB" sz="1300" dirty="0">
                        <a:effectLst/>
                      </a:endParaRPr>
                    </a:p>
                  </a:txBody>
                  <a:tcPr marL="25400" marR="25400" marT="19050" marB="19050" anchor="ctr">
                    <a:solidFill>
                      <a:srgbClr val="E7EEEE"/>
                    </a:solidFill>
                  </a:tcPr>
                </a:tc>
                <a:tc>
                  <a:txBody>
                    <a:bodyPr/>
                    <a:lstStyle/>
                    <a:p>
                      <a:pPr algn="ctr"/>
                      <a:r>
                        <a:rPr lang="en-GB" sz="1300" b="0" i="0" kern="1200">
                          <a:solidFill>
                            <a:schemeClr val="dk1"/>
                          </a:solidFill>
                          <a:effectLst/>
                          <a:latin typeface="+mn-lt"/>
                          <a:ea typeface="+mn-ea"/>
                          <a:cs typeface="+mn-cs"/>
                        </a:rPr>
                        <a:t>This AI Statement Code is used where a trader is declaring that their goods are for commercial processing and not subject to any exception scenarios.</a:t>
                      </a:r>
                      <a:endParaRPr lang="en-GB" sz="1300" dirty="0">
                        <a:effectLst/>
                      </a:endParaRPr>
                    </a:p>
                  </a:txBody>
                  <a:tcPr marL="25400" marR="25400" marT="19050" marB="19050" anchor="ctr">
                    <a:solidFill>
                      <a:srgbClr val="E7EEEE"/>
                    </a:solidFill>
                  </a:tcPr>
                </a:tc>
                <a:tc>
                  <a:txBody>
                    <a:bodyPr/>
                    <a:lstStyle/>
                    <a:p>
                      <a:pPr algn="ctr"/>
                      <a:r>
                        <a:rPr lang="en-GB" sz="1300">
                          <a:effectLst/>
                        </a:rPr>
                        <a:t>At Risk</a:t>
                      </a:r>
                      <a:endParaRPr lang="en-GB" sz="1300" dirty="0">
                        <a:effectLst/>
                      </a:endParaRPr>
                    </a:p>
                  </a:txBody>
                  <a:tcPr marL="25400" marR="25400" marT="19050" marB="19050" anchor="ctr">
                    <a:solidFill>
                      <a:srgbClr val="E7EEEE"/>
                    </a:solidFill>
                  </a:tcPr>
                </a:tc>
                <a:extLst>
                  <a:ext uri="{0D108BD9-81ED-4DB2-BD59-A6C34878D82A}">
                    <a16:rowId xmlns:a16="http://schemas.microsoft.com/office/drawing/2014/main" val="3335521272"/>
                  </a:ext>
                </a:extLst>
              </a:tr>
              <a:tr h="231896">
                <a:tc>
                  <a:txBody>
                    <a:bodyPr/>
                    <a:lstStyle/>
                    <a:p>
                      <a:pPr algn="ctr"/>
                      <a:r>
                        <a:rPr lang="en-GB" sz="1300">
                          <a:effectLst/>
                        </a:rPr>
                        <a:t>NIREM</a:t>
                      </a:r>
                      <a:endParaRPr lang="en-GB" sz="1300" dirty="0">
                        <a:effectLst/>
                      </a:endParaRPr>
                    </a:p>
                  </a:txBody>
                  <a:tcPr marL="25400" marR="25400" marT="19050" marB="19050" anchor="ctr">
                    <a:solidFill>
                      <a:srgbClr val="CBDCDB"/>
                    </a:solidFill>
                  </a:tcPr>
                </a:tc>
                <a:tc>
                  <a:txBody>
                    <a:bodyPr/>
                    <a:lstStyle/>
                    <a:p>
                      <a:pPr algn="ctr"/>
                      <a:r>
                        <a:rPr lang="en-GB" sz="1300" b="0" i="0" kern="1200">
                          <a:solidFill>
                            <a:schemeClr val="dk1"/>
                          </a:solidFill>
                          <a:effectLst/>
                          <a:latin typeface="+mn-lt"/>
                          <a:ea typeface="+mn-ea"/>
                          <a:cs typeface="+mn-cs"/>
                        </a:rPr>
                        <a:t>This AI Statement Code is used where a trader has assessed their goods to be "Not At Risk".</a:t>
                      </a:r>
                      <a:endParaRPr lang="en-GB" sz="1300" dirty="0">
                        <a:effectLst/>
                      </a:endParaRPr>
                    </a:p>
                  </a:txBody>
                  <a:tcPr marL="25400" marR="25400" marT="19050" marB="19050" anchor="ctr">
                    <a:solidFill>
                      <a:srgbClr val="CBDCDB"/>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effectLst/>
                        </a:rPr>
                        <a:t>Not At Risk*</a:t>
                      </a:r>
                      <a:endParaRPr lang="en-GB" sz="1300" dirty="0">
                        <a:effectLst/>
                      </a:endParaRPr>
                    </a:p>
                  </a:txBody>
                  <a:tcPr marL="25400" marR="25400" marT="19050" marB="19050" anchor="ctr">
                    <a:solidFill>
                      <a:srgbClr val="CBDCDB"/>
                    </a:solidFill>
                  </a:tcPr>
                </a:tc>
                <a:extLst>
                  <a:ext uri="{0D108BD9-81ED-4DB2-BD59-A6C34878D82A}">
                    <a16:rowId xmlns:a16="http://schemas.microsoft.com/office/drawing/2014/main" val="3534045721"/>
                  </a:ext>
                </a:extLst>
              </a:tr>
              <a:tr h="426390">
                <a:tc>
                  <a:txBody>
                    <a:bodyPr/>
                    <a:lstStyle/>
                    <a:p>
                      <a:pPr algn="ctr"/>
                      <a:r>
                        <a:rPr lang="en-GB" sz="1300">
                          <a:effectLst/>
                        </a:rPr>
                        <a:t>NIQUO</a:t>
                      </a:r>
                      <a:endParaRPr lang="en-GB" sz="1300" dirty="0">
                        <a:effectLst/>
                      </a:endParaRPr>
                    </a:p>
                  </a:txBody>
                  <a:tcPr marL="25400" marR="25400" marT="19050" marB="19050" anchor="ctr">
                    <a:solidFill>
                      <a:srgbClr val="E7EEEE"/>
                    </a:solidFill>
                  </a:tcPr>
                </a:tc>
                <a:tc>
                  <a:txBody>
                    <a:bodyPr/>
                    <a:lstStyle/>
                    <a:p>
                      <a:pPr algn="ctr"/>
                      <a:r>
                        <a:rPr lang="en-GB" sz="1300" b="0" i="0" kern="1200">
                          <a:solidFill>
                            <a:schemeClr val="dk1"/>
                          </a:solidFill>
                          <a:effectLst/>
                          <a:latin typeface="+mn-lt"/>
                          <a:ea typeface="+mn-ea"/>
                          <a:cs typeface="+mn-cs"/>
                        </a:rPr>
                        <a:t>This AI Statement Code is used when a trader wishes to claim UK Quota on RoW-NI movements that they have determined to be "Not At Risk".</a:t>
                      </a:r>
                      <a:endParaRPr lang="de-DE" sz="1300" dirty="0">
                        <a:effectLst/>
                      </a:endParaRPr>
                    </a:p>
                  </a:txBody>
                  <a:tcPr marL="25400" marR="25400" marT="19050" marB="19050" anchor="ctr">
                    <a:solidFill>
                      <a:srgbClr val="E7EEE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effectLst/>
                        </a:rPr>
                        <a:t>Not At Risk</a:t>
                      </a:r>
                      <a:endParaRPr lang="en-GB" sz="1300" dirty="0">
                        <a:effectLst/>
                      </a:endParaRPr>
                    </a:p>
                  </a:txBody>
                  <a:tcPr marL="25400" marR="25400" marT="19050" marB="19050" anchor="ctr">
                    <a:solidFill>
                      <a:srgbClr val="E7EEEE"/>
                    </a:solidFill>
                  </a:tcPr>
                </a:tc>
                <a:extLst>
                  <a:ext uri="{0D108BD9-81ED-4DB2-BD59-A6C34878D82A}">
                    <a16:rowId xmlns:a16="http://schemas.microsoft.com/office/drawing/2014/main" val="428196002"/>
                  </a:ext>
                </a:extLst>
              </a:tr>
              <a:tr h="426390">
                <a:tc>
                  <a:txBody>
                    <a:bodyPr/>
                    <a:lstStyle/>
                    <a:p>
                      <a:pPr algn="ctr"/>
                      <a:r>
                        <a:rPr lang="en-GB" sz="1300">
                          <a:effectLst/>
                        </a:rPr>
                        <a:t>NIAID</a:t>
                      </a:r>
                      <a:endParaRPr lang="en-GB" sz="1300" dirty="0">
                        <a:effectLst/>
                      </a:endParaRPr>
                    </a:p>
                  </a:txBody>
                  <a:tcPr marL="25400" marR="25400" marT="19050" marB="19050" anchor="ctr">
                    <a:solidFill>
                      <a:srgbClr val="CBDCDB"/>
                    </a:solidFill>
                  </a:tcPr>
                </a:tc>
                <a:tc>
                  <a:txBody>
                    <a:bodyPr/>
                    <a:lstStyle/>
                    <a:p>
                      <a:pPr algn="ctr"/>
                      <a:r>
                        <a:rPr lang="en-GB" sz="1300" b="0" i="0" kern="1200">
                          <a:solidFill>
                            <a:schemeClr val="dk1"/>
                          </a:solidFill>
                          <a:effectLst/>
                          <a:latin typeface="+mn-lt"/>
                          <a:ea typeface="+mn-ea"/>
                          <a:cs typeface="+mn-cs"/>
                        </a:rPr>
                        <a:t>This AI Statement Code is used where a trader is claiming subsidy on their declaration, so that where their goods have been found to be "At Risk" then the subsidy claim is submitted on the difference between the UK and EU Tariff.</a:t>
                      </a:r>
                      <a:endParaRPr lang="en-GB" sz="1300" dirty="0">
                        <a:effectLst/>
                      </a:endParaRPr>
                    </a:p>
                  </a:txBody>
                  <a:tcPr marL="25400" marR="25400" marT="19050" marB="19050" anchor="ctr">
                    <a:solidFill>
                      <a:srgbClr val="CBDCDB"/>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effectLst/>
                        </a:rPr>
                        <a:t>At Risk</a:t>
                      </a:r>
                      <a:endParaRPr lang="en-GB" sz="1300" dirty="0">
                        <a:effectLst/>
                      </a:endParaRPr>
                    </a:p>
                  </a:txBody>
                  <a:tcPr marL="25400" marR="25400" marT="19050" marB="19050" anchor="ctr">
                    <a:solidFill>
                      <a:srgbClr val="CBDCDB"/>
                    </a:solidFill>
                  </a:tcPr>
                </a:tc>
                <a:extLst>
                  <a:ext uri="{0D108BD9-81ED-4DB2-BD59-A6C34878D82A}">
                    <a16:rowId xmlns:a16="http://schemas.microsoft.com/office/drawing/2014/main" val="2827923601"/>
                  </a:ext>
                </a:extLst>
              </a:tr>
              <a:tr h="426390">
                <a:tc>
                  <a:txBody>
                    <a:bodyPr/>
                    <a:lstStyle/>
                    <a:p>
                      <a:pPr algn="ctr"/>
                      <a:r>
                        <a:rPr lang="en-GB" sz="1300">
                          <a:effectLst/>
                        </a:rPr>
                        <a:t>NIREM with NIAID</a:t>
                      </a:r>
                      <a:endParaRPr lang="en-GB" sz="1300" dirty="0">
                        <a:effectLst/>
                      </a:endParaRPr>
                    </a:p>
                  </a:txBody>
                  <a:tcPr marL="25400" marR="25400" marT="19050" marB="19050" anchor="ctr">
                    <a:solidFill>
                      <a:srgbClr val="E7EEEE"/>
                    </a:solidFill>
                  </a:tcPr>
                </a:tc>
                <a:tc>
                  <a:txBody>
                    <a:bodyPr/>
                    <a:lstStyle/>
                    <a:p>
                      <a:pPr algn="ctr"/>
                      <a:r>
                        <a:rPr lang="en-GB" sz="1300" b="0" i="0" kern="1200">
                          <a:solidFill>
                            <a:schemeClr val="dk1"/>
                          </a:solidFill>
                          <a:effectLst/>
                          <a:latin typeface="+mn-lt"/>
                          <a:ea typeface="+mn-ea"/>
                          <a:cs typeface="+mn-cs"/>
                        </a:rPr>
                        <a:t>This combination of AI Statement Codes, is used where a trader has assessed their goods to be "Not At Risk" however if the goods are found to be "At Risk", then the subsidy claim is submitted on the difference between the UK and EU Tariff.</a:t>
                      </a:r>
                      <a:endParaRPr lang="en-GB" sz="1300" dirty="0">
                        <a:effectLst/>
                      </a:endParaRPr>
                    </a:p>
                  </a:txBody>
                  <a:tcPr marL="25400" marR="25400" marT="19050" marB="19050" anchor="ctr">
                    <a:solidFill>
                      <a:srgbClr val="E7EEE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effectLst/>
                        </a:rPr>
                        <a:t>At Risk</a:t>
                      </a:r>
                      <a:endParaRPr lang="en-GB" sz="1300" dirty="0">
                        <a:effectLst/>
                      </a:endParaRPr>
                    </a:p>
                  </a:txBody>
                  <a:tcPr marL="25400" marR="25400" marT="19050" marB="19050" anchor="ctr">
                    <a:solidFill>
                      <a:srgbClr val="E7EEEE"/>
                    </a:solidFill>
                  </a:tcPr>
                </a:tc>
                <a:extLst>
                  <a:ext uri="{0D108BD9-81ED-4DB2-BD59-A6C34878D82A}">
                    <a16:rowId xmlns:a16="http://schemas.microsoft.com/office/drawing/2014/main" val="3763926698"/>
                  </a:ext>
                </a:extLst>
              </a:tr>
              <a:tr h="426390">
                <a:tc>
                  <a:txBody>
                    <a:bodyPr/>
                    <a:lstStyle/>
                    <a:p>
                      <a:pPr algn="ctr"/>
                      <a:r>
                        <a:rPr lang="en-GB" sz="1300">
                          <a:effectLst/>
                        </a:rPr>
                        <a:t>NIPRO with NIAID</a:t>
                      </a:r>
                      <a:endParaRPr lang="en-GB" sz="1300" dirty="0">
                        <a:effectLst/>
                      </a:endParaRPr>
                    </a:p>
                  </a:txBody>
                  <a:tcPr marL="25400" marR="25400" marT="19050" marB="19050" anchor="ctr">
                    <a:solidFill>
                      <a:srgbClr val="CBDCDB"/>
                    </a:solidFill>
                  </a:tcPr>
                </a:tc>
                <a:tc>
                  <a:txBody>
                    <a:bodyPr/>
                    <a:lstStyle/>
                    <a:p>
                      <a:pPr algn="ctr"/>
                      <a:r>
                        <a:rPr lang="en-GB" sz="1300" b="0" i="0" kern="1200">
                          <a:solidFill>
                            <a:schemeClr val="dk1"/>
                          </a:solidFill>
                          <a:effectLst/>
                          <a:latin typeface="+mn-lt"/>
                          <a:ea typeface="+mn-ea"/>
                          <a:cs typeface="+mn-cs"/>
                        </a:rPr>
                        <a:t>This combination of AI Statement Codes, is used where a trader has assessed their goods be for commercial processing and not subject to any exception scenario and, therefore are "At Risk" the subsidy claim is submitted on the difference between the UK and EU Tariff.</a:t>
                      </a:r>
                      <a:endParaRPr lang="en-GB" sz="1300" dirty="0">
                        <a:effectLst/>
                      </a:endParaRPr>
                    </a:p>
                  </a:txBody>
                  <a:tcPr marL="25400" marR="25400" marT="19050" marB="19050" anchor="ctr">
                    <a:solidFill>
                      <a:srgbClr val="CBDCDB"/>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effectLst/>
                        </a:rPr>
                        <a:t>At Risk</a:t>
                      </a:r>
                      <a:endParaRPr lang="en-GB" sz="1300" dirty="0">
                        <a:effectLst/>
                      </a:endParaRPr>
                    </a:p>
                  </a:txBody>
                  <a:tcPr marL="25400" marR="25400" marT="19050" marB="19050" anchor="ctr">
                    <a:solidFill>
                      <a:srgbClr val="CBDCDB"/>
                    </a:solidFill>
                  </a:tcPr>
                </a:tc>
                <a:extLst>
                  <a:ext uri="{0D108BD9-81ED-4DB2-BD59-A6C34878D82A}">
                    <a16:rowId xmlns:a16="http://schemas.microsoft.com/office/drawing/2014/main" val="420373529"/>
                  </a:ext>
                </a:extLst>
              </a:tr>
              <a:tr h="815377">
                <a:tc>
                  <a:txBody>
                    <a:bodyPr/>
                    <a:lstStyle/>
                    <a:p>
                      <a:pPr algn="ctr"/>
                      <a:r>
                        <a:rPr lang="en-GB" sz="1300">
                          <a:effectLst/>
                        </a:rPr>
                        <a:t>NIHIS</a:t>
                      </a:r>
                      <a:endParaRPr lang="en-GB" sz="1300" dirty="0">
                        <a:effectLst/>
                      </a:endParaRPr>
                    </a:p>
                  </a:txBody>
                  <a:tcPr marL="25400" marR="25400" marT="19050" marB="19050" anchor="ctr">
                    <a:solidFill>
                      <a:srgbClr val="E7EEEE"/>
                    </a:solidFill>
                  </a:tcPr>
                </a:tc>
                <a:tc>
                  <a:txBody>
                    <a:bodyPr/>
                    <a:lstStyle/>
                    <a:p>
                      <a:pPr algn="ctr"/>
                      <a:r>
                        <a:rPr lang="en-GB" sz="1300">
                          <a:effectLst/>
                        </a:rPr>
                        <a:t>This AI Statement Code is used as an indicator that a trader is seeking to de-risk their goods in an apportionment scenario. This is a scenario in which a trader is not certain on their goods being "Not At Risk", but instead declares a projection of what amount of their goods will stay in Northern Ireland, then confirming or amending what amount/goods did indeed remain in Northern Ireland post-clearance. If this projection is not 100% of the goods of that type in the consignment, the trader must split the goods item.</a:t>
                      </a:r>
                      <a:endParaRPr lang="en-GB" sz="1300" dirty="0">
                        <a:effectLst/>
                      </a:endParaRPr>
                    </a:p>
                  </a:txBody>
                  <a:tcPr marL="25400" marR="25400" marT="19050" marB="19050" anchor="ctr">
                    <a:solidFill>
                      <a:srgbClr val="E7EEEE"/>
                    </a:solidFill>
                  </a:tcPr>
                </a:tc>
                <a:tc>
                  <a:txBody>
                    <a:bodyPr/>
                    <a:lstStyle/>
                    <a:p>
                      <a:pPr algn="ctr"/>
                      <a:r>
                        <a:rPr lang="en-GB" sz="1300" b="0" i="0" kern="1200" dirty="0">
                          <a:solidFill>
                            <a:schemeClr val="dk1"/>
                          </a:solidFill>
                          <a:effectLst/>
                          <a:latin typeface="+mn-lt"/>
                          <a:ea typeface="+mn-ea"/>
                          <a:cs typeface="+mn-cs"/>
                        </a:rPr>
                        <a:t>Used with NIREM = Not At Risk</a:t>
                      </a:r>
                      <a:endParaRPr lang="en-GB" sz="1300" dirty="0">
                        <a:effectLst/>
                      </a:endParaRPr>
                    </a:p>
                  </a:txBody>
                  <a:tcPr marL="25400" marR="25400" marT="19050" marB="19050" anchor="ctr">
                    <a:solidFill>
                      <a:srgbClr val="E7EEEE"/>
                    </a:solidFill>
                  </a:tcPr>
                </a:tc>
                <a:extLst>
                  <a:ext uri="{0D108BD9-81ED-4DB2-BD59-A6C34878D82A}">
                    <a16:rowId xmlns:a16="http://schemas.microsoft.com/office/drawing/2014/main" val="248895356"/>
                  </a:ext>
                </a:extLst>
              </a:tr>
            </a:tbl>
          </a:graphicData>
        </a:graphic>
      </p:graphicFrame>
      <p:sp>
        <p:nvSpPr>
          <p:cNvPr id="16" name="TextBox 15">
            <a:extLst>
              <a:ext uri="{FF2B5EF4-FFF2-40B4-BE49-F238E27FC236}">
                <a16:creationId xmlns:a16="http://schemas.microsoft.com/office/drawing/2014/main" id="{2D23B1CE-A4E5-5E12-2BDA-3CDC7FEAAD22}"/>
              </a:ext>
            </a:extLst>
          </p:cNvPr>
          <p:cNvSpPr txBox="1"/>
          <p:nvPr/>
        </p:nvSpPr>
        <p:spPr>
          <a:xfrm>
            <a:off x="399799" y="1190920"/>
            <a:ext cx="6097772"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lang="en-GB" sz="1400" kern="0" dirty="0">
                <a:solidFill>
                  <a:srgbClr val="000000"/>
                </a:solidFill>
                <a:latin typeface="Calibri" panose="020F0502020204030204"/>
              </a:rPr>
              <a:t>Risking AI Statement Codes:</a:t>
            </a:r>
            <a:endParaRPr kumimoji="0" lang="en-GB" sz="1400" b="0" i="0" strike="noStrike" kern="0" cap="none" spc="0" normalizeH="0" baseline="0" noProof="0" dirty="0">
              <a:ln>
                <a:noFill/>
              </a:ln>
              <a:solidFill>
                <a:srgbClr val="000000"/>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E5E8281F-1C61-4C31-642C-D2387CF4E428}"/>
              </a:ext>
            </a:extLst>
          </p:cNvPr>
          <p:cNvSpPr txBox="1"/>
          <p:nvPr/>
        </p:nvSpPr>
        <p:spPr>
          <a:xfrm>
            <a:off x="399799" y="5523731"/>
            <a:ext cx="11524649" cy="49244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lang="en-GB" sz="1300" kern="0" dirty="0">
                <a:solidFill>
                  <a:srgbClr val="000000"/>
                </a:solidFill>
                <a:latin typeface="Calibri" panose="020F0502020204030204"/>
              </a:rPr>
              <a:t>*</a:t>
            </a:r>
            <a:r>
              <a:rPr lang="en-GB" sz="1300" b="1" kern="0" dirty="0">
                <a:solidFill>
                  <a:srgbClr val="000000"/>
                </a:solidFill>
                <a:latin typeface="Calibri" panose="020F0502020204030204"/>
              </a:rPr>
              <a:t>Please note: </a:t>
            </a:r>
            <a:r>
              <a:rPr lang="en-GB" sz="1300" kern="0" dirty="0">
                <a:solidFill>
                  <a:srgbClr val="000000"/>
                </a:solidFill>
                <a:latin typeface="Calibri" panose="020F0502020204030204"/>
              </a:rPr>
              <a:t>Traders can use "NIREM" when they have assessed their goods to be "Not At Risk". However, NIREM alone does not de-risk the goods; the Risk Status will be determined by CDS.</a:t>
            </a:r>
            <a:endParaRPr kumimoji="0" lang="en-GB" sz="1300" b="0" i="0" strike="noStrike" kern="0" cap="none" spc="0" normalizeH="0" baseline="0" noProof="0" dirty="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239026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5779" y="1263122"/>
            <a:ext cx="11282159" cy="3585597"/>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Validation of UKIMS Authorisation</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kern="0" dirty="0">
                <a:solidFill>
                  <a:srgbClr val="000000"/>
                </a:solidFill>
              </a:rPr>
              <a:t>From CDS4.4.0, CDS will validate that those traders declaring a UKIMS Authorisation and accessing the associated benefits, are indeed authorised. </a:t>
            </a:r>
          </a:p>
          <a:p>
            <a:pPr>
              <a:defRPr sz="1800" b="0" i="0" u="none" strike="noStrike" kern="0" cap="none" spc="0" baseline="0">
                <a:solidFill>
                  <a:srgbClr val="000000"/>
                </a:solidFill>
                <a:uFillTx/>
              </a:defRPr>
            </a:pPr>
            <a:endParaRPr lang="en-GB" sz="1050" kern="0" dirty="0">
              <a:solidFill>
                <a:srgbClr val="000000"/>
              </a:solidFill>
            </a:endParaRPr>
          </a:p>
          <a:p>
            <a:pPr algn="l"/>
            <a:r>
              <a:rPr lang="en-GB" sz="1400" kern="0" dirty="0">
                <a:solidFill>
                  <a:srgbClr val="000000"/>
                </a:solidFill>
              </a:rPr>
              <a:t>Where a trader has declared Document Code "1UKI" (DE 2/3) at a goods item level, CDS will ensure that:</a:t>
            </a:r>
          </a:p>
          <a:p>
            <a:pPr marL="742950" lvl="1" indent="-285750" algn="l">
              <a:buFont typeface="Arial" panose="020B0604020202020204" pitchFamily="34" charset="0"/>
              <a:buChar char="•"/>
            </a:pPr>
            <a:r>
              <a:rPr lang="en-GB" sz="1400" kern="0" dirty="0">
                <a:solidFill>
                  <a:srgbClr val="000000"/>
                </a:solidFill>
              </a:rPr>
              <a:t>The Authorisation Number provided in the corresponding "Document Identifier" sub-field (DE 2/3) is valid at the tax point of the declaration. Note: the tax point of the declaration is the submission date (for pre-lodged and straight-to-arrived declarations), the arrival date (for an arrived declaration that was previously pre-lodged), and the acceptance date provided by the declarant or their software provider (for supplementary declarations).</a:t>
            </a:r>
          </a:p>
          <a:p>
            <a:pPr marL="742950" lvl="1" indent="-285750" algn="l">
              <a:buFont typeface="Arial" panose="020B0604020202020204" pitchFamily="34" charset="0"/>
              <a:buChar char="•"/>
            </a:pPr>
            <a:r>
              <a:rPr lang="en-GB" sz="1400" kern="0" dirty="0">
                <a:solidFill>
                  <a:srgbClr val="000000"/>
                </a:solidFill>
              </a:rPr>
              <a:t>The Authorisation Number provided in the corresponding "Document Identifier" sub-field of DE 2/3 is owned by the Importer’s EORI (DE 3/16).*</a:t>
            </a:r>
          </a:p>
          <a:p>
            <a:pPr marL="742950" lvl="1" indent="-285750" algn="l">
              <a:buFont typeface="Arial" panose="020B0604020202020204" pitchFamily="34" charset="0"/>
              <a:buChar char="•"/>
            </a:pPr>
            <a:r>
              <a:rPr lang="en-GB" sz="1400" kern="0" dirty="0">
                <a:solidFill>
                  <a:srgbClr val="000000"/>
                </a:solidFill>
              </a:rPr>
              <a:t>The EORI number declared in DE 3/39 (Holder of the Authorisation Identification Number) is valid and in-date for the tax point date (as above) according to HMRC's trader information records.</a:t>
            </a:r>
          </a:p>
          <a:p>
            <a:pPr marL="0" lvl="1"/>
            <a:endParaRPr lang="en-GB" sz="1050" kern="0" dirty="0">
              <a:solidFill>
                <a:srgbClr val="000000"/>
              </a:solidFill>
            </a:endParaRPr>
          </a:p>
          <a:p>
            <a:pPr marL="0" lvl="1"/>
            <a:r>
              <a:rPr lang="en-GB" sz="1400" b="1" dirty="0"/>
              <a:t>Please note</a:t>
            </a:r>
            <a:r>
              <a:rPr lang="en-GB" sz="1400" dirty="0"/>
              <a:t>: The owner EORI of the authorisation number must match the importer EORI declared in DE 3/16 including EORI prefix. This may mean that the EORI used is an XI EORI, and this may differ from an EORI used on GVMS to clear goods at the frontier when using EIDR. It is acceptable for a GB EORI to be used for GVMS and an XI EORI to be used on the corresponding CDS declaration, provided the EIDR holder quoted is the same legal entity.</a:t>
            </a:r>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22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199</a:t>
            </a:fld>
            <a:endParaRPr lang="en-GB" dirty="0">
              <a:solidFill>
                <a:schemeClr val="tx1"/>
              </a:solidFill>
            </a:endParaRPr>
          </a:p>
        </p:txBody>
      </p:sp>
    </p:spTree>
    <p:extLst>
      <p:ext uri="{BB962C8B-B14F-4D97-AF65-F5344CB8AC3E}">
        <p14:creationId xmlns:p14="http://schemas.microsoft.com/office/powerpoint/2010/main" val="2170130942"/>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9281" y="1265953"/>
            <a:ext cx="11282159" cy="5139869"/>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Determining "At Risk/Not At Risk" Status Based on UKIMS Codes and Tariff Calculations</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In some of the scenarios outlined below, CDS will use the tariff calculations in the EU and/or UK Tariff as part of applying the correct risk status. Where this occurs:</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NIIMP has been declared (DE 2/2), CDS will determine the sum of both the non-provisional, A-series payable duty types and provisional trade defence measures from both the EU and UK Tariffs to determine the Tariff to be applied if duty is applicable.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NIDOM has been declared (DE 2/2), CDS will only calculate the EU Tariff, and consider the UK Tariff as 0%.</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u="sng" dirty="0"/>
              <a:t>RoW-NI (NIIMP) Import Declarations With NIREM Supplied </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Goods will be assigned a risk status based on the tariff calculation, declared fields, and tariff measures.</a:t>
            </a:r>
          </a:p>
          <a:p>
            <a:pPr>
              <a:defRPr sz="1800" b="0" i="0" u="none" strike="noStrike" kern="0" cap="none" spc="0" baseline="0">
                <a:solidFill>
                  <a:srgbClr val="000000"/>
                </a:solidFill>
                <a:uFillTx/>
              </a:defRPr>
            </a:pPr>
            <a:r>
              <a:rPr lang="en-GB" sz="1400" b="1" dirty="0"/>
              <a:t>Pre-Requisite</a:t>
            </a:r>
            <a:r>
              <a:rPr lang="en-GB" sz="1400" dirty="0"/>
              <a:t>: </a:t>
            </a:r>
            <a:r>
              <a:rPr lang="en-GB" sz="1400" b="0" i="0" dirty="0">
                <a:effectLst/>
                <a:latin typeface="-apple-system"/>
              </a:rPr>
              <a:t>NIREM has been declared at goods item level (DE 2/2).</a:t>
            </a:r>
            <a:endParaRPr lang="en-GB" sz="1400" dirty="0"/>
          </a:p>
          <a:p>
            <a:pPr>
              <a:defRPr sz="1800" b="0" i="0" u="none" strike="noStrike" kern="0" cap="none" spc="0" baseline="0">
                <a:solidFill>
                  <a:srgbClr val="000000"/>
                </a:solidFill>
                <a:uFillTx/>
              </a:defRPr>
            </a:pPr>
            <a:r>
              <a:rPr lang="en-GB" sz="1400" dirty="0"/>
              <a:t>Where a valid UKIMS Authorisation </a:t>
            </a:r>
            <a:r>
              <a:rPr lang="en-GB" sz="1400" u="sng" dirty="0"/>
              <a:t>has</a:t>
            </a:r>
            <a:r>
              <a:rPr lang="en-GB" sz="1400" dirty="0"/>
              <a:t> been declared and the sum of tariff calculations for a goods item on a declaration has resulted in a scenario where the:</a:t>
            </a:r>
            <a:endParaRPr lang="en-GB" sz="1400" dirty="0">
              <a:cs typeface="Calibri"/>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UK Tariff is higher than or equal to the EU tariff, then:</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The "Not at Risk" logic will apply, and duty will be charged according to the UK Tariff rate.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EU Tariff is higher than the UK Tariff but is </a:t>
            </a:r>
            <a:r>
              <a:rPr lang="en-GB" sz="1400" b="1" dirty="0"/>
              <a:t>3% higher or less</a:t>
            </a:r>
            <a:r>
              <a:rPr lang="en-GB" sz="1400" dirty="0"/>
              <a:t>, then:</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If there is no EU trade defence measure against the commodity, then the "Not at Risk" logic will apply, and duty will be charged according to the UK Tariff rate.</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If there is an EU trade defence measure against the commodity, then the "At Risk" logic will apply, and the duty will be charged according to the EU Tariff rate.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EU Tariff is more than </a:t>
            </a:r>
            <a:r>
              <a:rPr lang="en-GB" sz="1400" b="1" dirty="0"/>
              <a:t>3% higher</a:t>
            </a:r>
            <a:r>
              <a:rPr lang="en-GB" sz="1400" dirty="0"/>
              <a:t> than UK Tariff, then:</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The "At Risk" logic will apply, and duty will be charged according to the EU Tariff rate.</a:t>
            </a:r>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4096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200</a:t>
            </a:fld>
            <a:endParaRPr lang="en-GB" dirty="0">
              <a:solidFill>
                <a:schemeClr val="tx1"/>
              </a:solidFill>
            </a:endParaRPr>
          </a:p>
        </p:txBody>
      </p:sp>
    </p:spTree>
    <p:extLst>
      <p:ext uri="{BB962C8B-B14F-4D97-AF65-F5344CB8AC3E}">
        <p14:creationId xmlns:p14="http://schemas.microsoft.com/office/powerpoint/2010/main" val="1585288601"/>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3479" y="1266550"/>
            <a:ext cx="11282159" cy="4924425"/>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RoW-NI (NIIMP) Import Declarations With NIREM Supplied (cont.)</a:t>
            </a:r>
          </a:p>
          <a:p>
            <a:pPr>
              <a:defRPr sz="1800" b="0" i="0" u="none" strike="noStrike" kern="0" cap="none" spc="0" baseline="0">
                <a:solidFill>
                  <a:srgbClr val="000000"/>
                </a:solidFill>
                <a:uFillTx/>
              </a:defRPr>
            </a:pPr>
            <a:endParaRPr lang="en-GB" sz="1000" u="sng" dirty="0"/>
          </a:p>
          <a:p>
            <a:r>
              <a:rPr lang="en-GB" sz="1400" kern="0" dirty="0">
                <a:solidFill>
                  <a:srgbClr val="000000"/>
                </a:solidFill>
              </a:rPr>
              <a:t>Where a valid UKIMS Authorisation has </a:t>
            </a:r>
            <a:r>
              <a:rPr lang="en-GB" sz="1400" u="sng" kern="0" dirty="0">
                <a:solidFill>
                  <a:srgbClr val="000000"/>
                </a:solidFill>
              </a:rPr>
              <a:t>not</a:t>
            </a:r>
            <a:r>
              <a:rPr lang="en-GB" sz="1400" kern="0" dirty="0">
                <a:solidFill>
                  <a:srgbClr val="000000"/>
                </a:solidFill>
              </a:rPr>
              <a:t> been declared and the sum of tariff calculations for a goods item on a declaration has resulted in a scenario where the:​</a:t>
            </a:r>
          </a:p>
          <a:p>
            <a:pPr marL="285750" indent="-285750">
              <a:buFont typeface="Arial" panose="020B0604020202020204" pitchFamily="34" charset="0"/>
              <a:buChar char="•"/>
            </a:pPr>
            <a:r>
              <a:rPr lang="en-GB" sz="1400" kern="0" dirty="0">
                <a:solidFill>
                  <a:srgbClr val="000000"/>
                </a:solidFill>
              </a:rPr>
              <a:t>UK Tariff is higher than or equal to the EU tariff, then:​</a:t>
            </a:r>
          </a:p>
          <a:p>
            <a:pPr marL="742950" lvl="1" indent="-285750">
              <a:buFont typeface="Arial" panose="020B0604020202020204" pitchFamily="34" charset="0"/>
              <a:buChar char="•"/>
            </a:pPr>
            <a:r>
              <a:rPr lang="en-GB" sz="1400" kern="0" dirty="0">
                <a:solidFill>
                  <a:srgbClr val="000000"/>
                </a:solidFill>
              </a:rPr>
              <a:t>The "Not at Risk" logic will apply, and duty will be charged according to the UK Tariff rate.​</a:t>
            </a:r>
          </a:p>
          <a:p>
            <a:pPr marL="285750" indent="-285750">
              <a:buFont typeface="Arial" panose="020B0604020202020204" pitchFamily="34" charset="0"/>
              <a:buChar char="•"/>
            </a:pPr>
            <a:r>
              <a:rPr lang="en-GB" sz="1400" kern="0" dirty="0">
                <a:solidFill>
                  <a:srgbClr val="000000"/>
                </a:solidFill>
              </a:rPr>
              <a:t>UK Tariff is lower than the EU Tariff, then:</a:t>
            </a:r>
          </a:p>
          <a:p>
            <a:pPr marL="742950" lvl="1" indent="-285750">
              <a:buFont typeface="Arial" panose="020B0604020202020204" pitchFamily="34" charset="0"/>
              <a:buChar char="•"/>
            </a:pPr>
            <a:r>
              <a:rPr lang="en-GB" sz="1400" kern="0" dirty="0">
                <a:solidFill>
                  <a:srgbClr val="000000"/>
                </a:solidFill>
              </a:rPr>
              <a:t>The "At Risk" logic will apply, and duty will be charged according to the EU Tariff rate.</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u="sng" dirty="0"/>
              <a:t>GB-NI (NIDOM) Import Declarations With NIREM Supplied</a:t>
            </a:r>
          </a:p>
          <a:p>
            <a:pPr>
              <a:defRPr sz="1800" b="0" i="0" u="none" strike="noStrike" kern="0" cap="none" spc="0" baseline="0">
                <a:solidFill>
                  <a:srgbClr val="000000"/>
                </a:solidFill>
                <a:uFillTx/>
              </a:defRPr>
            </a:pPr>
            <a:endParaRPr lang="en-GB" sz="1000" dirty="0"/>
          </a:p>
          <a:p>
            <a:pPr>
              <a:defRPr sz="1800" b="0" i="0" u="none" strike="noStrike" kern="0" cap="none" spc="0" baseline="0">
                <a:solidFill>
                  <a:srgbClr val="000000"/>
                </a:solidFill>
                <a:uFillTx/>
              </a:defRPr>
            </a:pPr>
            <a:r>
              <a:rPr lang="en-GB" sz="1400" dirty="0"/>
              <a:t>Goods will be assigned a risk status based on the tariff calculation, declared fields and tariff measures so that the EU tariff is only applied and charged where the de-risking criteria for goods are not met.</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b="1" dirty="0"/>
              <a:t>Pre-Requisite</a:t>
            </a:r>
            <a:r>
              <a:rPr lang="en-GB" sz="1400" dirty="0"/>
              <a:t>: </a:t>
            </a:r>
            <a:r>
              <a:rPr lang="en-GB" sz="1400" b="0" i="0" dirty="0">
                <a:effectLst/>
                <a:latin typeface="-apple-system"/>
              </a:rPr>
              <a:t>NIREM has been declared at goods item level (DE 2/2):</a:t>
            </a: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valid UKIMS authorisation has been declared and there is no EU trade defence measure against the goods item, then the goods item is "Not at Risk", and no duties will be applied.</a:t>
            </a:r>
            <a:endParaRPr lang="en-GB" sz="1400" dirty="0">
              <a:cs typeface="Calibri"/>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valid UKIMS authorisation has been declared and there is an EU trade defence measure against the goods item, then the goods item is "At Risk", and duty will be charged for that goods item according to the EU tariff calculation.</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In all cases where no valid UKIMS authorisation has been declared, then duty will be charged according to the EU Tariff rate calculated regardless of the presence or absence of any trade defence measures.</a:t>
            </a:r>
            <a:endParaRPr lang="en-GB" sz="1400" dirty="0">
              <a:cs typeface="Calibri"/>
            </a:endParaRP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i="0" dirty="0">
              <a:effectLst/>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476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201</a:t>
            </a:fld>
            <a:endParaRPr lang="en-GB" dirty="0">
              <a:solidFill>
                <a:schemeClr val="tx1"/>
              </a:solidFill>
            </a:endParaRPr>
          </a:p>
        </p:txBody>
      </p:sp>
    </p:spTree>
    <p:extLst>
      <p:ext uri="{BB962C8B-B14F-4D97-AF65-F5344CB8AC3E}">
        <p14:creationId xmlns:p14="http://schemas.microsoft.com/office/powerpoint/2010/main" val="353792810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41632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Use of NIOVR When Supplied With NIIMP or NIDOM </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b="1" dirty="0"/>
              <a:t>Pre-Requisite</a:t>
            </a:r>
            <a:r>
              <a:rPr lang="en-GB" sz="1400" dirty="0"/>
              <a:t>: NIIMP or NIDOM has been declared at goods item level in DE 2/2.</a:t>
            </a:r>
          </a:p>
          <a:p>
            <a:pPr>
              <a:defRPr sz="1800" b="0" i="0" u="none" strike="noStrike" kern="0" cap="none" spc="0" baseline="0">
                <a:solidFill>
                  <a:srgbClr val="000000"/>
                </a:solidFill>
                <a:uFillTx/>
              </a:defRPr>
            </a:pPr>
            <a:r>
              <a:rPr lang="en-GB" sz="1400" dirty="0"/>
              <a:t>AI Statement NIOVR must only be used in DE 2/2 when specifically instructed by HMRC to do so. </a:t>
            </a:r>
          </a:p>
          <a:p>
            <a:pPr>
              <a:defRPr sz="1800" b="0" i="0" u="none" strike="noStrike" kern="0" cap="none" spc="0" baseline="0">
                <a:solidFill>
                  <a:srgbClr val="000000"/>
                </a:solidFill>
                <a:uFillTx/>
              </a:defRPr>
            </a:pPr>
            <a:r>
              <a:rPr lang="en-GB" sz="1400" b="0" i="0" kern="1200" dirty="0">
                <a:solidFill>
                  <a:schemeClr val="dk1"/>
                </a:solidFill>
                <a:effectLst/>
                <a:latin typeface="+mn-lt"/>
                <a:ea typeface="+mn-ea"/>
                <a:cs typeface="+mn-cs"/>
              </a:rPr>
              <a:t>Traders may experience additional compliance action should this code be used without prior approval. </a:t>
            </a:r>
          </a:p>
          <a:p>
            <a:pPr>
              <a:defRPr sz="1800" b="0" i="0" u="none" strike="noStrike" kern="0" cap="none" spc="0" baseline="0">
                <a:solidFill>
                  <a:srgbClr val="000000"/>
                </a:solidFill>
                <a:uFillTx/>
              </a:defRPr>
            </a:pPr>
            <a:endParaRPr lang="en-GB" sz="1400" dirty="0">
              <a:solidFill>
                <a:schemeClr val="dk1"/>
              </a:solidFill>
            </a:endParaRPr>
          </a:p>
          <a:p>
            <a:pPr>
              <a:defRPr sz="1800" b="0" i="0" u="none" strike="noStrike" kern="0" cap="none" spc="0" baseline="0">
                <a:solidFill>
                  <a:srgbClr val="000000"/>
                </a:solidFill>
                <a:uFillTx/>
              </a:defRPr>
            </a:pPr>
            <a:r>
              <a:rPr lang="en-GB" sz="1400" u="sng" dirty="0"/>
              <a:t>Use of NIPRO When Supplied With NIIMP or NIDOM </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Goods will be processed as </a:t>
            </a:r>
            <a:r>
              <a:rPr lang="en-GB" sz="1400"/>
              <a:t>"</a:t>
            </a:r>
            <a:r>
              <a:rPr lang="en-GB" sz="1400" dirty="0"/>
              <a:t>At Risk</a:t>
            </a:r>
            <a:r>
              <a:rPr lang="en-GB" sz="1400"/>
              <a:t>" </a:t>
            </a:r>
            <a:r>
              <a:rPr lang="en-GB" sz="1400" dirty="0"/>
              <a:t>when the trader has declared that they are for Commercial Processing using this AI Statement. </a:t>
            </a:r>
          </a:p>
          <a:p>
            <a:pPr>
              <a:defRPr sz="1800" b="0" i="0" u="none" strike="noStrike" kern="0" cap="none" spc="0" baseline="0">
                <a:solidFill>
                  <a:srgbClr val="000000"/>
                </a:solidFill>
                <a:uFillTx/>
              </a:defRPr>
            </a:pPr>
            <a:r>
              <a:rPr lang="en-GB" sz="1400" dirty="0"/>
              <a:t>Where NIPRO is declared against a goods item in DE 2/2 on a RoW-NI (NIIMP) or a GB-NI (NIDOM) import declaration, then the </a:t>
            </a:r>
            <a:r>
              <a:rPr lang="en-GB" sz="1400"/>
              <a:t>"</a:t>
            </a:r>
            <a:r>
              <a:rPr lang="en-GB" sz="1400" dirty="0"/>
              <a:t>At Risk</a:t>
            </a:r>
            <a:r>
              <a:rPr lang="en-GB" sz="1400"/>
              <a:t>"</a:t>
            </a:r>
            <a:r>
              <a:rPr lang="en-GB" sz="1400" dirty="0"/>
              <a:t> logic will apply, and duty will be calculated for that goods item according to the EU Tariff.</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i="0" dirty="0">
              <a:effectLst/>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091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202</a:t>
            </a:fld>
            <a:endParaRPr lang="en-GB" dirty="0">
              <a:solidFill>
                <a:schemeClr val="tx1"/>
              </a:solidFill>
            </a:endParaRPr>
          </a:p>
        </p:txBody>
      </p:sp>
    </p:spTree>
    <p:extLst>
      <p:ext uri="{BB962C8B-B14F-4D97-AF65-F5344CB8AC3E}">
        <p14:creationId xmlns:p14="http://schemas.microsoft.com/office/powerpoint/2010/main" val="680533794"/>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908762"/>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RoW-NI (NIIMP) or GB-NI (NIDOM) Import Declarations Without Any New UKIMS AI Codes</a:t>
            </a:r>
          </a:p>
          <a:p>
            <a:pPr>
              <a:defRPr sz="1800" b="0" i="0" u="none" strike="noStrike" kern="0" cap="none" spc="0" baseline="0">
                <a:solidFill>
                  <a:srgbClr val="000000"/>
                </a:solidFill>
                <a:uFillTx/>
              </a:defRPr>
            </a:pPr>
            <a:endParaRPr lang="en-GB" sz="1000" dirty="0"/>
          </a:p>
          <a:p>
            <a:pPr>
              <a:defRPr sz="1800" b="0" i="0" u="none" strike="noStrike" kern="0" cap="none" spc="0" baseline="0">
                <a:solidFill>
                  <a:srgbClr val="000000"/>
                </a:solidFill>
                <a:uFillTx/>
              </a:defRPr>
            </a:pPr>
            <a:r>
              <a:rPr lang="en-GB" sz="1400" dirty="0"/>
              <a:t>Goods will be assigned a risk status based on the tariff calculation, declared fields and tariff measures for RoW-NI and GB-NI import declarations so that the higher tariff is applied and charged where the de-risking criteria for goods are not met.</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b="1" dirty="0"/>
              <a:t>RoW-NI: </a:t>
            </a:r>
            <a:r>
              <a:rPr lang="en-GB" sz="1400" dirty="0"/>
              <a:t>The following bullet points are applicable to scenarios where NIREM, NIQUO, NIOVR, NIPRO are not declared with NIIMP against a goods item in DE 2/2, regardless of the presence or absence of 1UKI. </a:t>
            </a:r>
          </a:p>
          <a:p>
            <a:pPr>
              <a:defRPr sz="1800" b="0" i="0" u="none" strike="noStrike" kern="0" cap="none" spc="0" baseline="0">
                <a:solidFill>
                  <a:srgbClr val="000000"/>
                </a:solidFill>
                <a:uFillTx/>
              </a:defRPr>
            </a:pPr>
            <a:r>
              <a:rPr lang="en-GB" sz="1400" dirty="0"/>
              <a:t>If the tariff calculation for the goods item results in a scenario where the:</a:t>
            </a:r>
          </a:p>
          <a:p>
            <a:pPr marL="285750" indent="-285750" algn="l">
              <a:buFont typeface="Arial" panose="020B0604020202020204" pitchFamily="34" charset="0"/>
              <a:buChar char="•"/>
            </a:pPr>
            <a:r>
              <a:rPr lang="en-GB" sz="1400" kern="0" dirty="0">
                <a:solidFill>
                  <a:srgbClr val="000000"/>
                </a:solidFill>
              </a:rPr>
              <a:t>UK Tariff is higher than or equal to the EU Tariff, then the goods item is "Not At Risk" and the duty will be charged according to the UK Tariff rate.</a:t>
            </a:r>
          </a:p>
          <a:p>
            <a:pPr marL="285750" indent="-285750" algn="l">
              <a:buFont typeface="Arial" panose="020B0604020202020204" pitchFamily="34" charset="0"/>
              <a:buChar char="•"/>
            </a:pPr>
            <a:r>
              <a:rPr lang="en-GB" sz="1400" kern="0" dirty="0">
                <a:solidFill>
                  <a:srgbClr val="000000"/>
                </a:solidFill>
              </a:rPr>
              <a:t>UK Tariff is lower than the EU Tariff, then the goods item is "At Risk" and the duty will be charged according to the EU Tariff rate.</a:t>
            </a:r>
          </a:p>
          <a:p>
            <a:pPr algn="l"/>
            <a:endParaRPr lang="en-GB" sz="1400" dirty="0"/>
          </a:p>
          <a:p>
            <a:pPr algn="l"/>
            <a:r>
              <a:rPr lang="en-GB" sz="1400" b="1" dirty="0"/>
              <a:t>GB-NI: </a:t>
            </a:r>
            <a:r>
              <a:rPr lang="en-GB" sz="1400" dirty="0"/>
              <a:t>The following bullet points are applicable to scenarios where NIREM, NIQUO, NIOVR, NIPRO are not declared with NIDOM against a goods item in DE 2/2, regardless of the presence or absence of 1UKI. </a:t>
            </a:r>
          </a:p>
          <a:p>
            <a:pPr algn="l"/>
            <a:r>
              <a:rPr lang="en-GB" sz="1400" dirty="0"/>
              <a:t>If the tariff calculation for the goods item results in a scenario where the:</a:t>
            </a:r>
          </a:p>
          <a:p>
            <a:pPr marL="285750" indent="-285750">
              <a:buFont typeface="Arial" panose="020B0604020202020204" pitchFamily="34" charset="0"/>
              <a:buChar char="•"/>
            </a:pPr>
            <a:r>
              <a:rPr lang="en-GB" sz="1400" dirty="0"/>
              <a:t>EU Tariff is greater than the UK Tariff*, then the goods item is "At Risk" and the duty will be charged according to the EU Tariff rate.</a:t>
            </a:r>
          </a:p>
          <a:p>
            <a:pPr marL="285750" indent="-285750">
              <a:buFont typeface="Arial" panose="020B0604020202020204" pitchFamily="34" charset="0"/>
              <a:buChar char="•"/>
            </a:pPr>
            <a:r>
              <a:rPr lang="en-GB" sz="1400" dirty="0"/>
              <a:t>EU Tariff is equal to the UK Tariff*, then the goods item is "Not At Risk" and no duties will be due for that import.</a:t>
            </a:r>
          </a:p>
          <a:p>
            <a:pPr>
              <a:defRPr sz="1800" b="0" i="0" u="none" strike="noStrike" kern="0" cap="none" spc="0" baseline="0">
                <a:solidFill>
                  <a:srgbClr val="000000"/>
                </a:solidFill>
                <a:uFillTx/>
              </a:defRPr>
            </a:pPr>
            <a:r>
              <a:rPr lang="en-GB" sz="1400" dirty="0"/>
              <a:t>*</a:t>
            </a:r>
            <a:r>
              <a:rPr lang="en-GB" sz="1400" b="1" dirty="0"/>
              <a:t>Please note: </a:t>
            </a:r>
            <a:r>
              <a:rPr lang="en-GB" sz="1400" dirty="0"/>
              <a:t>For GB-NI movements, the UK Tariff rate is always considered 0%.</a:t>
            </a:r>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886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203</a:t>
            </a:fld>
            <a:endParaRPr lang="en-GB" dirty="0">
              <a:solidFill>
                <a:schemeClr val="tx1"/>
              </a:solidFill>
            </a:endParaRPr>
          </a:p>
        </p:txBody>
      </p:sp>
    </p:spTree>
    <p:extLst>
      <p:ext uri="{BB962C8B-B14F-4D97-AF65-F5344CB8AC3E}">
        <p14:creationId xmlns:p14="http://schemas.microsoft.com/office/powerpoint/2010/main" val="5627113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204</a:t>
            </a:fld>
            <a:endParaRPr lang="en-GB" dirty="0">
              <a:solidFill>
                <a:schemeClr val="tx1"/>
              </a:solidFill>
            </a:endParaRPr>
          </a:p>
        </p:txBody>
      </p:sp>
      <p:sp>
        <p:nvSpPr>
          <p:cNvPr id="6" name="Rectangle 5">
            <a:extLst>
              <a:ext uri="{FF2B5EF4-FFF2-40B4-BE49-F238E27FC236}">
                <a16:creationId xmlns:a16="http://schemas.microsoft.com/office/drawing/2014/main" id="{D7892297-F216-CF57-021E-70DA828B8918}"/>
              </a:ext>
            </a:extLst>
          </p:cNvPr>
          <p:cNvSpPr/>
          <p:nvPr/>
        </p:nvSpPr>
        <p:spPr>
          <a:xfrm>
            <a:off x="407065" y="1264845"/>
            <a:ext cx="11282159" cy="412420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Use of NIQUO When Supplied With NIIMP or NIDOM </a:t>
            </a:r>
          </a:p>
          <a:p>
            <a:pPr>
              <a:defRPr sz="1800" b="0" i="0" u="none" strike="noStrike" kern="0" cap="none" spc="0" baseline="0">
                <a:solidFill>
                  <a:srgbClr val="000000"/>
                </a:solidFill>
                <a:uFillTx/>
              </a:defRPr>
            </a:pPr>
            <a:endParaRPr lang="en-GB" sz="1000" b="1" i="0" kern="0" dirty="0">
              <a:effectLst/>
            </a:endParaRPr>
          </a:p>
          <a:p>
            <a:pPr>
              <a:defRPr sz="1800" b="0" i="0" u="none" strike="noStrike" kern="0" cap="none" spc="0" baseline="0">
                <a:solidFill>
                  <a:srgbClr val="000000"/>
                </a:solidFill>
                <a:uFillTx/>
              </a:defRPr>
            </a:pPr>
            <a:r>
              <a:rPr lang="en-GB" sz="1400" b="1" i="0" kern="0" dirty="0">
                <a:effectLst/>
              </a:rPr>
              <a:t>RoW-NI "Not At Risk" Treatment: </a:t>
            </a:r>
            <a:r>
              <a:rPr lang="en-GB" sz="1400" kern="0" dirty="0"/>
              <a:t>Goods will be treated as "Not at Risk" when the trader has declared they should be treated as such for the purposes of claiming UK Quota on a RoW-NI movement.</a:t>
            </a:r>
          </a:p>
          <a:p>
            <a:pPr marL="285750" indent="-285750" algn="l">
              <a:buFont typeface="Arial" panose="020B0604020202020204" pitchFamily="34" charset="0"/>
              <a:buChar char="•"/>
            </a:pPr>
            <a:r>
              <a:rPr lang="en-GB" sz="1400" b="0" i="0" dirty="0">
                <a:effectLst/>
                <a:latin typeface="-apple-system"/>
              </a:rPr>
              <a:t>Where AI Statement Code "NIQUO" is declared in DE 2/2 against a goods item on a RoW-NI import declaration, then duty will be calculated for that goods item according to the UK Tariff, subject to any quota request present on the declaration.</a:t>
            </a:r>
          </a:p>
          <a:p>
            <a:pPr marL="285750" indent="-285750" algn="l">
              <a:buFont typeface="Arial" panose="020B0604020202020204" pitchFamily="34" charset="0"/>
              <a:buChar char="•"/>
            </a:pPr>
            <a:r>
              <a:rPr lang="en-GB" sz="1400" b="0" i="0" dirty="0">
                <a:effectLst/>
                <a:latin typeface="-apple-system"/>
              </a:rPr>
              <a:t>Subject to any quota request being listed on a declaration, the UK First Come First Serve Quota Validation and Provisional Calculation process will be followed.</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1" kern="0" dirty="0"/>
              <a:t>GB-NI "Not At Risk" Treatment: </a:t>
            </a:r>
            <a:r>
              <a:rPr lang="en-GB" sz="1400" kern="0" dirty="0"/>
              <a:t>Goods will be treated as "Not At Risk" when the trader has </a:t>
            </a:r>
            <a:r>
              <a:rPr lang="en-GB" sz="1400" b="0" i="0" dirty="0">
                <a:effectLst/>
                <a:latin typeface="-apple-system"/>
              </a:rPr>
              <a:t>declared they should be treated as such for the purposes of benefitting from an EU in-quota rate workaround on a GB-NI movement.</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dirty="0">
                <a:effectLst/>
                <a:latin typeface="-apple-system"/>
              </a:rPr>
              <a:t>Where AI Statement Code "NIQUO" is declared in DE 2/2 against a goods item on a GB-NI import declaration, then no duties will be due for that import.</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1" kern="0" dirty="0"/>
              <a:t>Handling of EUPRF: </a:t>
            </a:r>
            <a:r>
              <a:rPr lang="en-GB" sz="1400" kern="0" dirty="0"/>
              <a:t>Where an EUPRF value is supplied by a trader, the value will be ignored for quota functionality, where NIQUO is being declared.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dirty="0">
                <a:effectLst/>
                <a:latin typeface="-apple-system"/>
              </a:rPr>
              <a:t>Where a trader declares "NIQUO", "NIIMP", and EUPRF at the same goods item level on a declaration, CDS will ignore the EUPRF, and instead use the UK preference code provided in DE 4/17. The EUPRF is optional and will not be used for any validation.</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endParaRPr lang="en-GB" sz="1400" kern="0" dirty="0"/>
          </a:p>
        </p:txBody>
      </p:sp>
    </p:spTree>
    <p:extLst>
      <p:ext uri="{BB962C8B-B14F-4D97-AF65-F5344CB8AC3E}">
        <p14:creationId xmlns:p14="http://schemas.microsoft.com/office/powerpoint/2010/main" val="3668895746"/>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524315"/>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Subsidy Processing With UKIMS</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200" dirty="0"/>
              <a:t>In the scenario where the EU Tariff is charged and the EU Tariff is higher than the UK Tariff, then a trader will be able to claim subsidy on the difference between the UK and the EU Tariffs.</a:t>
            </a:r>
            <a:br>
              <a:rPr lang="en-GB" sz="1200" dirty="0">
                <a:cs typeface="Calibri"/>
              </a:rPr>
            </a:br>
            <a:r>
              <a:rPr lang="en-GB" sz="1200" b="1" dirty="0">
                <a:cs typeface="Calibri"/>
              </a:rPr>
              <a:t>Pre-Requisite:</a:t>
            </a:r>
            <a:r>
              <a:rPr lang="en-GB" sz="1200" dirty="0">
                <a:cs typeface="Calibri"/>
              </a:rPr>
              <a:t> NIAID has been declared in DE 2/2 to indicate subsidy is being claimed.</a:t>
            </a:r>
          </a:p>
          <a:p>
            <a:pPr>
              <a:defRPr sz="1800" b="0" i="0" u="none" strike="noStrike" kern="0" cap="none" spc="0" baseline="0">
                <a:solidFill>
                  <a:srgbClr val="000000"/>
                </a:solidFill>
                <a:uFillTx/>
              </a:defRPr>
            </a:pPr>
            <a:endParaRPr lang="en-GB" sz="1200" dirty="0"/>
          </a:p>
          <a:p>
            <a:pPr>
              <a:spcAft>
                <a:spcPts val="600"/>
              </a:spcAft>
              <a:defRPr sz="1800" b="0" i="0" u="none" strike="noStrike" kern="0" cap="none" spc="0" baseline="0">
                <a:solidFill>
                  <a:srgbClr val="000000"/>
                </a:solidFill>
                <a:uFillTx/>
              </a:defRPr>
            </a:pPr>
            <a:r>
              <a:rPr lang="en-GB" sz="1200" b="1" dirty="0"/>
              <a:t>GB-NI – "At Risk"</a:t>
            </a:r>
            <a:r>
              <a:rPr lang="en-GB" sz="1200" dirty="0"/>
              <a:t>: W</a:t>
            </a:r>
            <a:r>
              <a:rPr lang="en-GB" sz="1200" dirty="0">
                <a:effectLst/>
              </a:rPr>
              <a:t>here CDS has determined a domestic goods movement (GB-NI) to be "At </a:t>
            </a:r>
            <a:r>
              <a:rPr lang="en-GB" sz="1200" dirty="0"/>
              <a:t>R</a:t>
            </a:r>
            <a:r>
              <a:rPr lang="en-GB" sz="1200" dirty="0">
                <a:effectLst/>
              </a:rPr>
              <a:t>isk" as per slides 10-14, </a:t>
            </a:r>
            <a:r>
              <a:rPr lang="en-GB" sz="1200" dirty="0"/>
              <a:t>then the Subsidy claim will be validated where applicable. If the subsidy claim is allowed, it will be applied as per BAU. If the subsidy claim is not allowed, CDS will not process the subsidy claim any further and the EU Tariff will be applied to the trader’s declared Method of Payment without applying subsidy. </a:t>
            </a:r>
          </a:p>
          <a:p>
            <a:pPr>
              <a:spcAft>
                <a:spcPts val="600"/>
              </a:spcAft>
              <a:defRPr sz="1800" b="0" i="0" u="none" strike="noStrike" kern="0" cap="none" spc="0" baseline="0">
                <a:solidFill>
                  <a:srgbClr val="000000"/>
                </a:solidFill>
                <a:uFillTx/>
              </a:defRPr>
            </a:pPr>
            <a:r>
              <a:rPr lang="en-GB" sz="1200" b="1" dirty="0"/>
              <a:t>GB-NI – "Not at Risk"</a:t>
            </a:r>
            <a:r>
              <a:rPr lang="en-GB" sz="1200" dirty="0"/>
              <a:t>: Where CDS has determined a domestic goods movement (GB-NI) to be "Not At Risk" as per slides 10-14, then no duty is due, and CDS will not proceed with the subsidy claim. The UK Tariff will be applied with no Custom duty, Excise or VAT. </a:t>
            </a:r>
          </a:p>
          <a:p>
            <a:pPr>
              <a:defRPr sz="1800" b="0" i="0" u="none" strike="noStrike" kern="0" cap="none" spc="0" baseline="0">
                <a:solidFill>
                  <a:srgbClr val="000000"/>
                </a:solidFill>
                <a:uFillTx/>
              </a:defRPr>
            </a:pPr>
            <a:r>
              <a:rPr lang="en-GB" sz="1200" b="1" dirty="0"/>
              <a:t>RoW-NI – "At Risk"</a:t>
            </a:r>
            <a:r>
              <a:rPr lang="en-GB" sz="1200" dirty="0"/>
              <a:t>: Where CDS has determined a RoW-NI movement to be "At Risk" as per slides 10-14, and if the EU Tariff is higher than the UK Tariff, then CDS will compare each duty by tax type. If the EU Tariff is greater than or equal to the UK Tariff for all the series A Tax Types, then the Subsidy claim will be validated. If the subsidy claim is allowed, it will be applied as per BAU. If the subsidy claim is not allowed, it will not be processed any further and the full EU Tariff will be applied to the trader’s declared Method of Payment.</a:t>
            </a:r>
          </a:p>
          <a:p>
            <a:pPr>
              <a:spcAft>
                <a:spcPts val="600"/>
              </a:spcAft>
              <a:defRPr sz="1800" b="0" i="0" u="none" strike="noStrike" kern="0" cap="none" spc="0" baseline="0">
                <a:solidFill>
                  <a:srgbClr val="000000"/>
                </a:solidFill>
                <a:uFillTx/>
              </a:defRPr>
            </a:pPr>
            <a:r>
              <a:rPr lang="en-GB" sz="1200" dirty="0"/>
              <a:t>If the EU Tariff rate is due but at least one of the A series type EU duty calculations is less than the UK Tariff duty calculations for the corresponding UK Tax Type, the subsidy claim will not be processed any further and the full EU Tariff will be applied as above. </a:t>
            </a:r>
          </a:p>
          <a:p>
            <a:pPr>
              <a:defRPr sz="1800" b="0" i="0" u="none" strike="noStrike" kern="0" cap="none" spc="0" baseline="0">
                <a:solidFill>
                  <a:srgbClr val="000000"/>
                </a:solidFill>
                <a:uFillTx/>
              </a:defRPr>
            </a:pPr>
            <a:r>
              <a:rPr lang="en-GB" sz="1200" b="1" dirty="0"/>
              <a:t>RoW-NI – "Not At Risk"</a:t>
            </a:r>
            <a:r>
              <a:rPr lang="en-GB" sz="1200" dirty="0"/>
              <a:t>: Where CDS has determined a RoW-NI movement to be "Not At Risk" as per slides 10-14, CDS will not proceed with the subsidy claim. Instead, the UK Tarif will be applied to the f to the trader’s declared Method of Payment without applying subsidy. </a:t>
            </a:r>
          </a:p>
          <a:p>
            <a:pPr>
              <a:defRPr sz="1800" b="0" i="0" u="none" strike="noStrike" kern="0" cap="none" spc="0" baseline="0">
                <a:solidFill>
                  <a:srgbClr val="000000"/>
                </a:solidFill>
                <a:uFillTx/>
              </a:defRPr>
            </a:pPr>
            <a:endParaRPr lang="en-GB" sz="700" dirty="0"/>
          </a:p>
          <a:p>
            <a:pPr>
              <a:defRPr sz="1800" b="0" i="0" u="none" strike="noStrike" kern="0" cap="none" spc="0" baseline="0">
                <a:solidFill>
                  <a:srgbClr val="000000"/>
                </a:solidFill>
                <a:uFillTx/>
              </a:defRPr>
            </a:pPr>
            <a:r>
              <a:rPr lang="en-GB" sz="1200" b="1" dirty="0"/>
              <a:t>Please note: SAM will always return a positive result in TT &amp; TDR (when it has a euro exchange rate added) as it will not perform a check against the balance left in an EORI’s subsidy account. Therefore, users will not be able to experience the negative subsidy allocation outcome in TT &amp; TDR. </a:t>
            </a:r>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476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205</a:t>
            </a:fld>
            <a:endParaRPr lang="en-GB" dirty="0">
              <a:solidFill>
                <a:schemeClr val="tx1"/>
              </a:solidFill>
            </a:endParaRPr>
          </a:p>
        </p:txBody>
      </p:sp>
    </p:spTree>
    <p:extLst>
      <p:ext uri="{BB962C8B-B14F-4D97-AF65-F5344CB8AC3E}">
        <p14:creationId xmlns:p14="http://schemas.microsoft.com/office/powerpoint/2010/main" val="3003690213"/>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520142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Controlling When SIV/SPV Measures Can Be Used With UKIMS</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The rules governing when to charge the UK or EU Rate of duty for RoW-NI movements, as per slides 10-14, cannot apply when a trader is using Standard Import Values (SIV) or a Simplified Procedure Value (SPV) to derive the valuation of their good. This functionality will ensure that traders using SIV/SPV measures in Northern Ireland receive a result of duty calculation. CDS will restrict the At-Risk Status codes used by a trader when declaring certain Valuation-based Additional Procedure Codes to ensure that the trader does not request a status for their goods item that is incompatible with the Code declared.</a:t>
            </a:r>
          </a:p>
          <a:p>
            <a:pPr>
              <a:defRPr sz="1800" b="0" i="0" u="none" strike="noStrike" kern="0" cap="none" spc="0" baseline="0">
                <a:solidFill>
                  <a:srgbClr val="000000"/>
                </a:solidFill>
                <a:uFillTx/>
              </a:defRPr>
            </a:pPr>
            <a:r>
              <a:rPr lang="en-GB" sz="1400" b="1" kern="0" dirty="0">
                <a:solidFill>
                  <a:srgbClr val="000000"/>
                </a:solidFill>
              </a:rPr>
              <a:t>Pre-Requisites:</a:t>
            </a:r>
          </a:p>
          <a:p>
            <a:pPr marL="285750" indent="-285750" algn="l">
              <a:buFont typeface="Arial" panose="020B0604020202020204" pitchFamily="34" charset="0"/>
              <a:buChar char="•"/>
            </a:pPr>
            <a:r>
              <a:rPr lang="en-GB" sz="1400" kern="0" dirty="0">
                <a:solidFill>
                  <a:srgbClr val="000000"/>
                </a:solidFill>
              </a:rPr>
              <a:t>Either "NIDOM" or "NIIMP" has been declared in DE 2/2 for the goods item in question, identifying the declaration as an NI Import Declaration.</a:t>
            </a:r>
          </a:p>
          <a:p>
            <a:pPr marL="285750" indent="-285750" algn="l">
              <a:buFont typeface="Arial" panose="020B0604020202020204" pitchFamily="34" charset="0"/>
              <a:buChar char="•"/>
            </a:pPr>
            <a:r>
              <a:rPr lang="en-GB" sz="1400" kern="0" dirty="0">
                <a:solidFill>
                  <a:srgbClr val="000000"/>
                </a:solidFill>
              </a:rPr>
              <a:t>"4" has been declared in DE 4/16 (Valuation Method) for the goods item in question.</a:t>
            </a:r>
          </a:p>
          <a:p>
            <a:pPr marL="285750" indent="-285750" algn="l">
              <a:buFont typeface="Arial" panose="020B0604020202020204" pitchFamily="34" charset="0"/>
              <a:buChar char="•"/>
            </a:pPr>
            <a:r>
              <a:rPr lang="en-GB" sz="1400" kern="0" dirty="0">
                <a:solidFill>
                  <a:srgbClr val="000000"/>
                </a:solidFill>
              </a:rPr>
              <a:t>Any validation of the declared UKIMS AI Codes ("NIREM", "NIOVR", "NIPRO", "NIAID", "NIQUO") has been passed.</a:t>
            </a:r>
          </a:p>
          <a:p>
            <a:pPr algn="l"/>
            <a:endParaRPr lang="en-GB" sz="1400" kern="0" dirty="0">
              <a:solidFill>
                <a:srgbClr val="000000"/>
              </a:solidFill>
            </a:endParaRPr>
          </a:p>
          <a:p>
            <a:pPr>
              <a:defRPr sz="1800" b="0" i="0" u="none" strike="noStrike" kern="0" cap="none" spc="0" baseline="0">
                <a:solidFill>
                  <a:srgbClr val="000000"/>
                </a:solidFill>
                <a:uFillTx/>
              </a:defRPr>
            </a:pPr>
            <a:r>
              <a:rPr lang="en-GB" sz="1400" b="1" kern="0" dirty="0"/>
              <a:t>Acceptance Criteria:</a:t>
            </a:r>
          </a:p>
          <a:p>
            <a:pPr marL="285750" indent="-285750" algn="l">
              <a:buFont typeface="Arial" panose="020B0604020202020204" pitchFamily="34" charset="0"/>
              <a:buChar char="•"/>
            </a:pPr>
            <a:r>
              <a:rPr lang="en-GB" sz="1400" b="0" i="0" dirty="0">
                <a:effectLst/>
              </a:rPr>
              <a:t>If DE 1/11 contains either E01 or E02, then the following UKIMS AI Codes will </a:t>
            </a:r>
            <a:r>
              <a:rPr lang="en-GB" sz="1400" dirty="0"/>
              <a:t>be prohibited in DE 2/2 at a goods item level: </a:t>
            </a:r>
            <a:r>
              <a:rPr lang="en-GB" sz="1400" b="0" i="0" dirty="0">
                <a:effectLst/>
              </a:rPr>
              <a:t>"NIREM", "NIQUO" or "NIOVR".  If any of these AI Codes are declared, the declaration will be rejected and a DMSREJ notification issued.</a:t>
            </a:r>
          </a:p>
          <a:p>
            <a:pPr marL="285750" indent="-285750" algn="l">
              <a:buFont typeface="Arial" panose="020B0604020202020204" pitchFamily="34" charset="0"/>
              <a:buChar char="•"/>
            </a:pPr>
            <a:r>
              <a:rPr lang="en-GB" sz="1400" b="0" i="0" dirty="0">
                <a:effectLst/>
              </a:rPr>
              <a:t>Traders will be able to declare UKIMS AI Codes "NIPRO" in DE 2/2 in conjunction with valuation specific APCs E01 or E02 in DE 1/11 at a goods item level.</a:t>
            </a:r>
          </a:p>
          <a:p>
            <a:pPr marL="285750" indent="-285750">
              <a:buFont typeface="Arial" panose="020B0604020202020204" pitchFamily="34" charset="0"/>
              <a:buChar char="•"/>
            </a:pPr>
            <a:r>
              <a:rPr lang="en-GB" sz="1400" b="0" i="0" dirty="0">
                <a:effectLst/>
              </a:rPr>
              <a:t>CDS will prohibit the declaration of "1SV" in DE 1/11 in conjunction with "NIDOM" in DE 2/2 at a goods item level. If "1SV" is declared in this manner, the declaration will be rejected and a DMSREJ notification issued.</a:t>
            </a:r>
          </a:p>
          <a:p>
            <a:pPr marL="285750" indent="-285750">
              <a:buFont typeface="Arial" panose="020B0604020202020204" pitchFamily="34" charset="0"/>
              <a:buChar char="•"/>
            </a:pPr>
            <a:r>
              <a:rPr lang="en-GB" sz="1400" b="0" i="0" dirty="0">
                <a:effectLst/>
              </a:rPr>
              <a:t>If DE 1/11 contains 1SV and "NIIMP" in DE 2/2, then CDS will mandate that in DE 2/2 either "NIREM", "NIQUO" or "NIOVR" is declared at a goods item level. </a:t>
            </a:r>
            <a:r>
              <a:rPr lang="en-GB" sz="1400" dirty="0"/>
              <a:t>If none of these AI codes are declared, </a:t>
            </a:r>
            <a:r>
              <a:rPr lang="en-GB" sz="1400" b="0" i="0" dirty="0">
                <a:effectLst/>
              </a:rPr>
              <a:t>the declaration will be rejected and a DMSREJ notification issued.</a:t>
            </a:r>
          </a:p>
          <a:p>
            <a:pPr marL="285750" indent="-285750" algn="l">
              <a:buFont typeface="Arial" panose="020B0604020202020204" pitchFamily="34" charset="0"/>
              <a:buChar char="•"/>
            </a:pPr>
            <a:endParaRPr lang="en-GB" sz="1400" b="0" i="0" dirty="0">
              <a:effectLst/>
            </a:endParaRPr>
          </a:p>
          <a:p>
            <a:pPr marL="285750" indent="-285750" algn="l">
              <a:buFont typeface="Arial" panose="020B0604020202020204" pitchFamily="34" charset="0"/>
              <a:buChar char="•"/>
            </a:pPr>
            <a:endParaRPr lang="en-GB" sz="1400" kern="0" dirty="0">
              <a:solidFill>
                <a:srgbClr val="000000"/>
              </a:solidFill>
            </a:endParaRPr>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206</a:t>
            </a:fld>
            <a:endParaRPr lang="en-GB" dirty="0">
              <a:solidFill>
                <a:schemeClr val="tx1"/>
              </a:solidFill>
            </a:endParaRPr>
          </a:p>
        </p:txBody>
      </p:sp>
    </p:spTree>
    <p:extLst>
      <p:ext uri="{BB962C8B-B14F-4D97-AF65-F5344CB8AC3E}">
        <p14:creationId xmlns:p14="http://schemas.microsoft.com/office/powerpoint/2010/main" val="28885180"/>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86287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kern="0" dirty="0"/>
              <a:t>Acceptance Criteria (Cont.):</a:t>
            </a:r>
          </a:p>
          <a:p>
            <a:pPr marL="285750" indent="-285750" algn="l">
              <a:buFont typeface="Arial" panose="020B0604020202020204" pitchFamily="34" charset="0"/>
              <a:buChar char="•"/>
            </a:pPr>
            <a:r>
              <a:rPr lang="en-GB" sz="1400" b="0" i="0" dirty="0">
                <a:effectLst/>
              </a:rPr>
              <a:t>If a trader declares 1SV in DE 1/11 and "NIIMP" + "NIREM" in DE 2/2, then CDS will mandate the declaration of Document Code "1UKI" in DE 2/3 at a goods item level. </a:t>
            </a:r>
            <a:r>
              <a:rPr lang="en-GB" sz="1400" dirty="0"/>
              <a:t>If "1UKI" is not declared, then CDS will reject the declaration, and a DMSREJ trader notification will be issued.</a:t>
            </a:r>
            <a:endParaRPr lang="en-GB" sz="1400" b="0" i="0" dirty="0">
              <a:effectLst/>
            </a:endParaRPr>
          </a:p>
          <a:p>
            <a:pPr marL="285750" indent="-285750">
              <a:buFont typeface="Arial" panose="020B0604020202020204" pitchFamily="34" charset="0"/>
              <a:buChar char="•"/>
            </a:pPr>
            <a:r>
              <a:rPr lang="en-GB" sz="1400" b="0" i="0" dirty="0">
                <a:effectLst/>
              </a:rPr>
              <a:t>If DE 1/11 contains 1SV and "NIIMP" in DE 2/2, then CDS will prohibit "NIAID" from being declared in DE 2/2 at a goods item level. </a:t>
            </a:r>
            <a:endParaRPr lang="en-GB" sz="1400" dirty="0"/>
          </a:p>
          <a:p>
            <a:pPr marL="285750" indent="-285750">
              <a:buFont typeface="Arial" panose="020B0604020202020204" pitchFamily="34" charset="0"/>
              <a:buChar char="•"/>
            </a:pPr>
            <a:r>
              <a:rPr lang="en-GB" sz="1400" b="0" i="0" dirty="0">
                <a:effectLst/>
              </a:rPr>
              <a:t>If DE 1/11 contains either E01 or E02 and "NIIMP" in DE 2/2, then CDS </a:t>
            </a:r>
            <a:r>
              <a:rPr lang="en-GB" sz="1400" dirty="0"/>
              <a:t>will</a:t>
            </a:r>
            <a:r>
              <a:rPr lang="en-GB" sz="1400" b="0" i="0" dirty="0">
                <a:effectLst/>
              </a:rPr>
              <a:t> prohibit "NIAID" from being declared in DE 2/2 at a goods item level. </a:t>
            </a:r>
          </a:p>
          <a:p>
            <a:pPr marL="285750" indent="-285750" algn="l">
              <a:buFont typeface="Arial" panose="020B0604020202020204" pitchFamily="34" charset="0"/>
              <a:buChar char="•"/>
            </a:pPr>
            <a:r>
              <a:rPr lang="en-GB" sz="1400" dirty="0"/>
              <a:t>If "NIAID" is declared in either of the above 2 scenarios, then CDS will reject the declaration, and a DMSREJ trader notification will be issued.</a:t>
            </a:r>
            <a:endParaRPr lang="en-GB" sz="1400" b="0" i="0" dirty="0">
              <a:effectLst/>
            </a:endParaRPr>
          </a:p>
          <a:p>
            <a:pPr marL="285750" indent="-285750" algn="l">
              <a:buFont typeface="Arial" panose="020B0604020202020204" pitchFamily="34" charset="0"/>
              <a:buChar char="•"/>
            </a:pPr>
            <a:r>
              <a:rPr lang="en-GB" sz="1400" b="0" i="0" dirty="0">
                <a:effectLst/>
              </a:rPr>
              <a:t>CDS </a:t>
            </a:r>
            <a:r>
              <a:rPr lang="en-GB" sz="1400" dirty="0"/>
              <a:t>will</a:t>
            </a:r>
            <a:r>
              <a:rPr lang="en-GB" sz="1400" b="0" i="0" dirty="0">
                <a:effectLst/>
              </a:rPr>
              <a:t> allow a trader to declare "NIAID" in conjunction with either E01 or E02 in DE 1/11 with "NIDOM" in DE 2/2 at a goods item level.</a:t>
            </a:r>
          </a:p>
          <a:p>
            <a:pPr algn="l"/>
            <a:endParaRPr lang="en-GB" sz="1000" dirty="0"/>
          </a:p>
          <a:p>
            <a:pPr>
              <a:defRPr sz="1800" b="0" i="0" u="none" strike="noStrike" kern="0" cap="none" spc="0" baseline="0">
                <a:solidFill>
                  <a:srgbClr val="000000"/>
                </a:solidFill>
                <a:uFillTx/>
              </a:defRPr>
            </a:pPr>
            <a:r>
              <a:rPr lang="en-GB" sz="1400" b="0" i="0" u="sng" kern="0" dirty="0">
                <a:effectLst/>
              </a:rPr>
              <a:t>Calculation of Duties Where SIV/SPV are Used With UKIMS on </a:t>
            </a:r>
            <a:r>
              <a:rPr lang="en-GB" sz="1400" u="sng" kern="0" dirty="0"/>
              <a:t>a GB-NI Journey</a:t>
            </a:r>
          </a:p>
          <a:p>
            <a:pPr>
              <a:defRPr sz="1800" b="0" i="0" u="none" strike="noStrike" kern="0" cap="none" spc="0" baseline="0">
                <a:solidFill>
                  <a:srgbClr val="000000"/>
                </a:solidFill>
                <a:uFillTx/>
              </a:defRPr>
            </a:pPr>
            <a:endParaRPr lang="en-GB" sz="1000" u="sng" kern="0" dirty="0"/>
          </a:p>
          <a:p>
            <a:pPr>
              <a:defRPr sz="1800" b="0" i="0" u="none" strike="noStrike" kern="0" cap="none" spc="0" baseline="0">
                <a:solidFill>
                  <a:srgbClr val="000000"/>
                </a:solidFill>
                <a:uFillTx/>
              </a:defRPr>
            </a:pPr>
            <a:r>
              <a:rPr lang="en-GB" sz="1400" b="0" i="0" kern="0" dirty="0">
                <a:effectLst/>
              </a:rPr>
              <a:t>GB-NI </a:t>
            </a:r>
            <a:r>
              <a:rPr lang="en-GB" sz="1400" kern="0" dirty="0"/>
              <a:t>goods will be processed as "At Risk" when the trader declares a Valuation-specific APC indicating that they will derive valuation of their goods from a measure in the EU Tariff.</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Where </a:t>
            </a:r>
            <a:r>
              <a:rPr lang="en-GB" sz="1400" kern="0" dirty="0">
                <a:solidFill>
                  <a:srgbClr val="000000"/>
                </a:solidFill>
              </a:rPr>
              <a:t>"E01" or "E02" is declared on a GB-NI import in DE 1/11, then the trader will be charged the duty according to the EU measure.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In this scenario, the good will be considered as "At Risk" for the purposes of subsidy </a:t>
            </a:r>
            <a:r>
              <a:rPr lang="en-GB" sz="1400" kern="0" dirty="0"/>
              <a:t>processing for domestic movements GB-NI.</a:t>
            </a:r>
            <a:endParaRPr lang="en-GB" sz="1400" kern="0" dirty="0">
              <a:cs typeface="Calibri"/>
            </a:endParaRPr>
          </a:p>
          <a:p>
            <a:pPr algn="l"/>
            <a:endParaRPr lang="en-GB" sz="1400" kern="0" dirty="0">
              <a:solidFill>
                <a:srgbClr val="000000"/>
              </a:solidFill>
            </a:endParaRPr>
          </a:p>
          <a:p>
            <a:pPr algn="l"/>
            <a:r>
              <a:rPr lang="en-GB" sz="1400" u="sng" kern="0" dirty="0">
                <a:solidFill>
                  <a:srgbClr val="000000"/>
                </a:solidFill>
              </a:rPr>
              <a:t>Calculation of Duties Where Valuation Method 4 is Used But Item Price is Declared</a:t>
            </a:r>
          </a:p>
          <a:p>
            <a:pPr algn="l"/>
            <a:endParaRPr lang="en-GB" sz="1000" u="sng" kern="0" dirty="0">
              <a:solidFill>
                <a:srgbClr val="000000"/>
              </a:solidFill>
            </a:endParaRPr>
          </a:p>
          <a:p>
            <a:pPr algn="l"/>
            <a:r>
              <a:rPr lang="en-GB" sz="1400" kern="0" dirty="0">
                <a:solidFill>
                  <a:srgbClr val="000000"/>
                </a:solidFill>
              </a:rPr>
              <a:t>CDS will determine whether to process GB-NI goods as "At Risk" or "Not At Risk" based on UKIMS logic where the trader is declaring the value of their goods (DE 4/14 – Item Price).</a:t>
            </a:r>
            <a:endParaRPr lang="en-GB" sz="1400" dirty="0">
              <a:solidFill>
                <a:srgbClr val="172B4D"/>
              </a:solidFill>
              <a:latin typeface="-apple-system"/>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Where an item price is declared on a GB-NI import, CDS will use the declared item price (accounting for any declared additions or deductions) as the basis for valuation and will determine whether the good is "At Risk" or not based on the tariff logic for GB-NI Declarations.</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In the above scenario, if the trader has also declared "</a:t>
            </a:r>
            <a:r>
              <a:rPr lang="en-GB" sz="1400" kern="0" dirty="0"/>
              <a:t>NIAID" against the same goods item, then CDS will determine whether the subsidy claim can continue to be processed, based on the At-Risk determination made as per slides 10-14.</a:t>
            </a:r>
            <a:endParaRPr lang="en-GB" sz="1400" kern="0" dirty="0">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207</a:t>
            </a:fld>
            <a:endParaRPr lang="en-GB" dirty="0">
              <a:solidFill>
                <a:schemeClr val="tx1"/>
              </a:solidFill>
            </a:endParaRPr>
          </a:p>
        </p:txBody>
      </p:sp>
    </p:spTree>
    <p:extLst>
      <p:ext uri="{BB962C8B-B14F-4D97-AF65-F5344CB8AC3E}">
        <p14:creationId xmlns:p14="http://schemas.microsoft.com/office/powerpoint/2010/main" val="433540376"/>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208</a:t>
            </a:fld>
            <a:endParaRPr lang="en-GB" dirty="0">
              <a:solidFill>
                <a:schemeClr val="tx1"/>
              </a:solidFill>
            </a:endParaRPr>
          </a:p>
        </p:txBody>
      </p:sp>
      <p:sp>
        <p:nvSpPr>
          <p:cNvPr id="6" name="Rectangle 5">
            <a:extLst>
              <a:ext uri="{FF2B5EF4-FFF2-40B4-BE49-F238E27FC236}">
                <a16:creationId xmlns:a16="http://schemas.microsoft.com/office/drawing/2014/main" id="{D7892297-F216-CF57-021E-70DA828B8918}"/>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0" i="0" u="sng" kern="0" dirty="0">
                <a:effectLst/>
              </a:rPr>
              <a:t>Calculation of Duties Where SIV/SPV Are Used With UKIMS on </a:t>
            </a:r>
            <a:r>
              <a:rPr lang="en-GB" sz="1400" u="sng" kern="0" dirty="0"/>
              <a:t>a RoW-NI Journey</a:t>
            </a:r>
          </a:p>
          <a:p>
            <a:pPr algn="l"/>
            <a:endParaRPr lang="en-GB" sz="1000" u="sng" kern="0" dirty="0"/>
          </a:p>
          <a:p>
            <a:pPr algn="l"/>
            <a:r>
              <a:rPr lang="en-GB" sz="1400" kern="0" dirty="0">
                <a:latin typeface="-apple-system"/>
              </a:rPr>
              <a:t>RoW-NI Journeys will be processed as "At Risk" when the trader declared a Valuation-specific </a:t>
            </a:r>
            <a:r>
              <a:rPr lang="en-GB" sz="1400" b="0" i="0" dirty="0">
                <a:effectLst/>
                <a:latin typeface="-apple-system"/>
              </a:rPr>
              <a:t>APC indicating that they will derive valuation of their goods from a measure in the EU Tariff. Where "E01" or "E02" has been declared on a RoW-NI import in DE 1/11 for a goods item, then the trader will be charged the EU duty.</a:t>
            </a:r>
          </a:p>
          <a:p>
            <a:pPr algn="l"/>
            <a:endParaRPr lang="en-GB" sz="1400" dirty="0">
              <a:latin typeface="-apple-system"/>
            </a:endParaRPr>
          </a:p>
          <a:p>
            <a:pPr algn="l"/>
            <a:r>
              <a:rPr lang="en-GB" sz="1400" dirty="0">
                <a:latin typeface="-apple-system"/>
              </a:rPr>
              <a:t>RoW-NI goods will be processed as "Not At Risk" when the trader declares a  Valuation-specific APC indicating that they will derive valuation of their goods from a measure in the UK Tariff. Where "1SV" has been declared in DE 1/11 for a goods item, the trader will be charged the UK duty.</a:t>
            </a:r>
          </a:p>
          <a:p>
            <a:pPr algn="l"/>
            <a:endParaRPr lang="en-GB" sz="1400" dirty="0">
              <a:latin typeface="-apple-system"/>
            </a:endParaRPr>
          </a:p>
          <a:p>
            <a:r>
              <a:rPr lang="en-GB" sz="1400" u="sng" kern="0" dirty="0">
                <a:solidFill>
                  <a:srgbClr val="000000"/>
                </a:solidFill>
              </a:rPr>
              <a:t>Calculation of Duties Where Valuation Method 4 is Used But Item Price Is Declared</a:t>
            </a:r>
          </a:p>
          <a:p>
            <a:pPr algn="l"/>
            <a:endParaRPr lang="en-GB" sz="1400" dirty="0">
              <a:latin typeface="-apple-system"/>
            </a:endParaRPr>
          </a:p>
          <a:p>
            <a:pPr algn="l"/>
            <a:r>
              <a:rPr lang="en-GB" sz="1400" dirty="0">
                <a:latin typeface="-apple-system"/>
              </a:rPr>
              <a:t>CDS will determine whether to process RoW-NI goods as "At Risk" or "Not At Risk" based on UKIMS logic, where the trader has provided an item price in DE 4/14 (Item Price). Where an item price is declared on a RoW- NI import, CDS will calculate duties in both the UK and the EU Tariff, using the declared item price (accounting for any additions/deductions declared) as the basis for valuation and determine whether the good is "At Risk" or not based on the tariff logic for RoW-NI Declarations.</a:t>
            </a:r>
          </a:p>
          <a:p>
            <a:pPr algn="l"/>
            <a:r>
              <a:rPr lang="en-GB" sz="1400" dirty="0">
                <a:latin typeface="-apple-system"/>
              </a:rPr>
              <a:t>If, in this scenario, the trader has also declared "NIAID" against the same goods item, then CDS will determine whether the subsidy claim can continue to be processed, based on the "At Risk" determination made as per slides 10-14.</a:t>
            </a:r>
          </a:p>
        </p:txBody>
      </p:sp>
    </p:spTree>
    <p:extLst>
      <p:ext uri="{BB962C8B-B14F-4D97-AF65-F5344CB8AC3E}">
        <p14:creationId xmlns:p14="http://schemas.microsoft.com/office/powerpoint/2010/main" val="849377358"/>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382629" y="1265189"/>
            <a:ext cx="11282159" cy="464742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Use of AI Code OPVAT on Export Declarations </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cs typeface="Calibri" panose="020F0502020204030204"/>
              </a:rPr>
              <a:t>From CDS4.4.0, AI Code OPVAT will be available to traders for use instead of the Outward Processing (OP) Authorisation.</a:t>
            </a:r>
          </a:p>
          <a:p>
            <a:pPr>
              <a:defRPr sz="1800" b="0" i="0" u="none" strike="noStrike" kern="0" cap="none" spc="0" baseline="0">
                <a:solidFill>
                  <a:srgbClr val="000000"/>
                </a:solidFill>
                <a:uFillTx/>
              </a:defRPr>
            </a:pPr>
            <a:endParaRPr lang="en-GB" sz="1000" b="1"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Document code C019 for a full OP Authorisation (DE 2/3) is entered on an export declaration (B1, B2, B4, C1, C12E, C21EEIDR, B1MOU), CDS will ensure the Requested Procedure Code is one of 21 or 22.</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Requested Procedure Code of 21 is entered on an export declaration, CDS will mandate the entry of either authorisation code C019 in DE 2/3 or AI Code ABDIN in DE 2/2 (see slide 32).</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an AI Code of OPVAT (DE 2/2) is entered on an export declaration (B2 Dataset), CDS will ensure the Requested Procedure Code is 22.</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On a B2 Declaration, CDS will mandate entry of either ABDIN (see slide 33) or OPVAT in DE 2/2, where C019 is not declared in DE 2/3.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Requested Procedure Code of 22 is entered on an export declaration, CDS will mandate the entry of either C019 in DE 2/3 or AI code ABDIN in DE 2/2 (slide 32) or OPVAT in DE 2/2.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AI Code OPVAT will not be allowable on an import declaration. Where AI Code OPVAT is declared with IM Movement Type in DE 1/1, CDS will reject the declaration and send a DMSREJ to the submitter. </a:t>
            </a:r>
            <a:r>
              <a:rPr lang="en-GB" sz="1400" b="1" dirty="0">
                <a:cs typeface="Calibri" panose="020F0502020204030204"/>
              </a:rPr>
              <a:t>Note: </a:t>
            </a:r>
            <a:r>
              <a:rPr lang="en-GB" sz="1400" dirty="0">
                <a:cs typeface="Calibri" panose="020F0502020204030204"/>
              </a:rPr>
              <a:t>Traders are expected to declare Additional Procedure Code B06 in order to flag VAT only imports without an OP Authorisation.</a:t>
            </a:r>
          </a:p>
          <a:p>
            <a:pPr>
              <a:defRPr sz="1800" b="0" i="0" u="none" strike="noStrike" kern="0" cap="none" spc="0" baseline="0">
                <a:solidFill>
                  <a:srgbClr val="000000"/>
                </a:solidFill>
                <a:uFillTx/>
              </a:defRPr>
            </a:pPr>
            <a:endParaRPr lang="en-GB" sz="10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Please Note: </a:t>
            </a:r>
            <a:r>
              <a:rPr lang="en-GB" sz="1400" dirty="0">
                <a:cs typeface="Calibri" panose="020F0502020204030204"/>
              </a:rPr>
              <a:t>BAU Additional Procedure Code and Procedure Code combinations will apply, i.e.: APCs B53 and B54 are only allowable for use with Procedure Code 2200. Therefore, by default, AI Code OPVAT will only be allowable with APCs B53 and B54. Please also see slide 32 for the OP ABD changes in this release.</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476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209</a:t>
            </a:fld>
            <a:endParaRPr lang="en-GB" dirty="0">
              <a:solidFill>
                <a:schemeClr val="tx1"/>
              </a:solidFill>
            </a:endParaRPr>
          </a:p>
        </p:txBody>
      </p:sp>
      <p:sp>
        <p:nvSpPr>
          <p:cNvPr id="8" name="Rectangle 7">
            <a:extLst>
              <a:ext uri="{FF2B5EF4-FFF2-40B4-BE49-F238E27FC236}">
                <a16:creationId xmlns:a16="http://schemas.microsoft.com/office/drawing/2014/main" id="{ED9636A9-061A-5906-6F70-FD5E0D098884}"/>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2218960013"/>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216539"/>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a:t>Incorrect </a:t>
            </a:r>
            <a:r>
              <a:rPr lang="en-GB" sz="1400" b="1" u="sng" dirty="0"/>
              <a:t>Mandation of DE 6/14 on C1 Declarations for An Indirect Export</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kern="0" dirty="0">
                <a:solidFill>
                  <a:srgbClr val="000000"/>
                </a:solidFill>
              </a:rPr>
              <a:t>This </a:t>
            </a:r>
            <a:r>
              <a:rPr lang="en-GB" sz="1400" kern="0" dirty="0"/>
              <a:t>functionality will introduce validation to mandate the declaration of AI Code 'NIEXP' in DE 2/2 where an Indirect Export declaration (Types A, B, C, D, E, F) has been submitted, amended or arrived. An indirect export declaration is indicated by a non-GB or non-XI Office of Exit code in DE 5/12. </a:t>
            </a:r>
            <a:endParaRPr lang="en-GB" sz="1400" kern="0" dirty="0">
              <a:solidFill>
                <a:srgbClr val="000000"/>
              </a:solidFill>
            </a:endParaRPr>
          </a:p>
          <a:p>
            <a:pPr>
              <a:defRPr sz="1800" b="0" i="0" u="none" strike="noStrike" kern="0" cap="none" spc="0" baseline="0">
                <a:solidFill>
                  <a:srgbClr val="000000"/>
                </a:solidFill>
                <a:uFillTx/>
              </a:defRPr>
            </a:pPr>
            <a:endParaRPr lang="en-GB" sz="1400" b="1" kern="0" dirty="0">
              <a:highlight>
                <a:srgbClr val="FFFF00"/>
              </a:highlight>
            </a:endParaRPr>
          </a:p>
          <a:p>
            <a:pPr>
              <a:defRPr sz="1800" b="0" i="0" u="none" strike="noStrike" kern="0" cap="none" spc="0" baseline="0">
                <a:solidFill>
                  <a:srgbClr val="000000"/>
                </a:solidFill>
                <a:uFillTx/>
              </a:defRPr>
            </a:pPr>
            <a:r>
              <a:rPr lang="en-GB" sz="1400" b="1" kern="0" dirty="0"/>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dirty="0">
                <a:effectLst/>
                <a:latin typeface="-apple-system"/>
              </a:rPr>
              <a:t>Where an indirect export declaration is submitted, amended or arrived, CDS </a:t>
            </a:r>
            <a:r>
              <a:rPr lang="en-GB" sz="1400" dirty="0">
                <a:latin typeface="-apple-system"/>
              </a:rPr>
              <a:t>will </a:t>
            </a:r>
            <a:r>
              <a:rPr lang="en-GB" sz="1400" b="0" i="0" dirty="0">
                <a:effectLst/>
                <a:latin typeface="-apple-system"/>
              </a:rPr>
              <a:t>validate that "NIEXP" has been declared in DE 2/2. Where 'NIEXP' has not been declared in DE 2/2 for an export, CDS will reject the declaration and return a DMSREJ notification to the trader. E.g. a scenario where goods declared to the export procedure in Northern Ireland (XI) and leave the European Union via Dublin in the Republic of Ireland (IE)).</a:t>
            </a:r>
            <a:endParaRPr lang="en-GB" sz="1400" b="0" i="0" kern="0" dirty="0">
              <a:effectLst/>
              <a:latin typeface="-apple-system"/>
            </a:endParaRPr>
          </a:p>
          <a:p>
            <a:pPr>
              <a:defRPr sz="1800" b="0" i="0" u="none" strike="noStrike" kern="0" cap="none" spc="0" baseline="0">
                <a:solidFill>
                  <a:srgbClr val="000000"/>
                </a:solidFill>
                <a:uFillTx/>
              </a:defRPr>
            </a:pPr>
            <a:endParaRPr lang="en-GB" sz="1000" kern="0" dirty="0"/>
          </a:p>
          <a:p>
            <a:pPr>
              <a:defRPr sz="1800" b="0" i="0" u="none" strike="noStrike" kern="0" cap="none" spc="0" baseline="0">
                <a:solidFill>
                  <a:srgbClr val="000000"/>
                </a:solidFill>
                <a:uFillTx/>
              </a:defRPr>
            </a:pPr>
            <a:r>
              <a:rPr lang="en-GB" sz="1400" kern="0" dirty="0"/>
              <a:t>This functionality will also ensure that traders declare a Commodity Code in DE 6/14 (Classification Type TSP) on a Type C or F export declaration (procedure category C1), for an indirect export. Indirect exports have been identified through the entry of AI code ‘NIEXP’ in DE 2/2 and the Customs Office of Exit Code not commencing with a ‘GB’ or ‘XI’ prefix </a:t>
            </a:r>
            <a:r>
              <a:rPr lang="en-GB" sz="1400" kern="0" dirty="0">
                <a:solidFill>
                  <a:srgbClr val="000000"/>
                </a:solidFill>
              </a:rPr>
              <a:t>in DE 5/12.</a:t>
            </a:r>
          </a:p>
          <a:p>
            <a:pPr>
              <a:defRPr sz="1800" b="0" i="0" u="none" strike="noStrike" kern="0" cap="none" spc="0" baseline="0">
                <a:solidFill>
                  <a:srgbClr val="000000"/>
                </a:solidFill>
                <a:uFillTx/>
              </a:defRPr>
            </a:pPr>
            <a:endParaRPr lang="en-GB" sz="1400" b="1" dirty="0"/>
          </a:p>
          <a:p>
            <a:pPr>
              <a:defRPr sz="1800" b="0" i="0" u="none" strike="noStrike" kern="0" cap="none" spc="0" baseline="0">
                <a:solidFill>
                  <a:srgbClr val="000000"/>
                </a:solidFill>
                <a:uFillTx/>
              </a:defRPr>
            </a:pPr>
            <a:r>
              <a:rPr lang="en-GB" sz="1400" b="1" dirty="0"/>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trader populates DE 5/12 with a Customs Office of Exit Code that does not commence with ‘GB’ or ‘XI’ prefix and declares AI Code ‘NIEXP’ in DE 2/2 on a Type C or F export declaration (procedure category C1), CDS will mandate the declaration of a Commodity Code in DE 6/14 (Classification Type TSP).  If a Commodity Code is not declared in DE 6/14, CDS will reject the declaration and a DMSREJ notification will be issued to the trader.</a:t>
            </a:r>
          </a:p>
          <a:p>
            <a:pPr>
              <a:defRPr sz="1800" b="0" i="0" u="none" strike="noStrike" kern="0" cap="none" spc="0" baseline="0">
                <a:solidFill>
                  <a:srgbClr val="000000"/>
                </a:solidFill>
                <a:uFillTx/>
              </a:defRPr>
            </a:pPr>
            <a:endParaRPr lang="en-GB" sz="1000" dirty="0"/>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02477"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210</a:t>
            </a:fld>
            <a:endParaRPr lang="en-GB" dirty="0">
              <a:solidFill>
                <a:schemeClr val="tx1"/>
              </a:solidFill>
            </a:endParaRPr>
          </a:p>
        </p:txBody>
      </p:sp>
    </p:spTree>
    <p:extLst>
      <p:ext uri="{BB962C8B-B14F-4D97-AF65-F5344CB8AC3E}">
        <p14:creationId xmlns:p14="http://schemas.microsoft.com/office/powerpoint/2010/main" val="248427929"/>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124206"/>
          </a:xfrm>
          <a:prstGeom prst="rect">
            <a:avLst/>
          </a:prstGeom>
          <a:noFill/>
          <a:ln cap="flat">
            <a:noFill/>
            <a:prstDash val="solid"/>
          </a:ln>
        </p:spPr>
        <p:txBody>
          <a:bodyPr vert="horz" wrap="square" lIns="91440" tIns="45720" rIns="91440" bIns="45720" anchor="t" anchorCtr="0" compatLnSpc="1">
            <a:spAutoFit/>
          </a:bodyPr>
          <a:lstStyle/>
          <a:p>
            <a:pPr algn="l"/>
            <a:r>
              <a:rPr lang="en-GB" sz="1400" b="1" u="sng" dirty="0"/>
              <a:t>Validation of Authorisations: Special Procedures</a:t>
            </a:r>
          </a:p>
          <a:p>
            <a:pPr algn="l"/>
            <a:endParaRPr lang="en-GB" sz="1000" b="1" u="sng" dirty="0">
              <a:cs typeface="Calibri" panose="020F0502020204030204"/>
            </a:endParaRPr>
          </a:p>
          <a:p>
            <a:pPr algn="l"/>
            <a:r>
              <a:rPr lang="en-GB" sz="1400" dirty="0">
                <a:cs typeface="Calibri" panose="020F0502020204030204"/>
              </a:rPr>
              <a:t>This feature extends existing functionality to enforce validation against the use of Special Procedures Authorisation. </a:t>
            </a:r>
          </a:p>
          <a:p>
            <a:pPr algn="l"/>
            <a:r>
              <a:rPr lang="en-GB" sz="1400" dirty="0">
                <a:cs typeface="Calibri" panose="020F0502020204030204"/>
              </a:rPr>
              <a:t>From CDS4.4.0, a Trader’s Authorisation will be validated when they submit a declaration with goods that are under a special procedure to verify that the declarant has the required permissions to import goods under that special procedure. </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r>
              <a:rPr lang="en-GB" sz="1400" b="1" i="0" dirty="0">
                <a:effectLst/>
                <a:cs typeface="Calibri" panose="020F0502020204030204"/>
              </a:rPr>
              <a:t>Acc</a:t>
            </a:r>
            <a:r>
              <a:rPr lang="en-GB" sz="1400" b="1" dirty="0">
                <a:cs typeface="Calibri" panose="020F0502020204030204"/>
              </a:rPr>
              <a:t>eptance Criteria – Import Declarations</a:t>
            </a:r>
          </a:p>
          <a:p>
            <a:pPr>
              <a:defRPr sz="1800" b="0" i="0" u="none" strike="noStrike" kern="0" cap="none" spc="0" baseline="0">
                <a:solidFill>
                  <a:srgbClr val="000000"/>
                </a:solidFill>
                <a:uFillTx/>
              </a:defRPr>
            </a:pPr>
            <a:r>
              <a:rPr lang="en-GB" sz="1400" dirty="0">
                <a:cs typeface="Calibri" panose="020F0502020204030204"/>
              </a:rPr>
              <a:t>Where a trader declares one of the below listed special Procedure Codes in DE 1/10, CDS will mandate that one of the appropriate Authorisation Document Codes is supplied in DE 2/3 as per the table below:</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i="0" dirty="0">
                <a:effectLst/>
                <a:cs typeface="Calibri" panose="020F0502020204030204"/>
              </a:rPr>
              <a:t>Where a trader declares one of the below listed Requested Procedure Codes in DE 1/10 and Authorisation Document Code in DE 2/3, CDS </a:t>
            </a:r>
            <a:r>
              <a:rPr lang="en-GB" sz="1400" dirty="0">
                <a:cs typeface="Calibri" panose="020F0502020204030204"/>
              </a:rPr>
              <a:t>will</a:t>
            </a:r>
            <a:r>
              <a:rPr lang="en-GB" sz="1400" i="0" dirty="0">
                <a:effectLst/>
                <a:cs typeface="Calibri" panose="020F0502020204030204"/>
              </a:rPr>
              <a:t> mandate the appropriate Authorisation Type Code is declared in DE 3/39 followed by the EORI Number. </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211</a:t>
            </a:fld>
            <a:endParaRPr lang="en-GB" dirty="0">
              <a:solidFill>
                <a:schemeClr val="tx1"/>
              </a:solidFill>
            </a:endParaRPr>
          </a:p>
        </p:txBody>
      </p:sp>
      <p:sp>
        <p:nvSpPr>
          <p:cNvPr id="8" name="Rectangle 1">
            <a:extLst>
              <a:ext uri="{FF2B5EF4-FFF2-40B4-BE49-F238E27FC236}">
                <a16:creationId xmlns:a16="http://schemas.microsoft.com/office/drawing/2014/main" id="{C43C6296-E8F1-1B10-AA98-228048072F0F}"/>
              </a:ext>
            </a:extLst>
          </p:cNvPr>
          <p:cNvSpPr>
            <a:spLocks noChangeArrowheads="1"/>
          </p:cNvSpPr>
          <p:nvPr/>
        </p:nvSpPr>
        <p:spPr bwMode="auto">
          <a:xfrm>
            <a:off x="772886" y="359561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13" name="Table 13">
            <a:extLst>
              <a:ext uri="{FF2B5EF4-FFF2-40B4-BE49-F238E27FC236}">
                <a16:creationId xmlns:a16="http://schemas.microsoft.com/office/drawing/2014/main" id="{8755D4A6-BBFF-837F-1A55-FB8712233597}"/>
              </a:ext>
            </a:extLst>
          </p:cNvPr>
          <p:cNvGraphicFramePr>
            <a:graphicFrameLocks noGrp="1"/>
          </p:cNvGraphicFramePr>
          <p:nvPr/>
        </p:nvGraphicFramePr>
        <p:xfrm>
          <a:off x="2702910" y="3236315"/>
          <a:ext cx="6786180" cy="914400"/>
        </p:xfrm>
        <a:graphic>
          <a:graphicData uri="http://schemas.openxmlformats.org/drawingml/2006/table">
            <a:tbl>
              <a:tblPr firstRow="1" bandRow="1">
                <a:tableStyleId>{5C22544A-7EE6-4342-B048-85BDC9FD1C3A}</a:tableStyleId>
              </a:tblPr>
              <a:tblGrid>
                <a:gridCol w="3393090">
                  <a:extLst>
                    <a:ext uri="{9D8B030D-6E8A-4147-A177-3AD203B41FA5}">
                      <a16:colId xmlns:a16="http://schemas.microsoft.com/office/drawing/2014/main" val="3330539139"/>
                    </a:ext>
                  </a:extLst>
                </a:gridCol>
                <a:gridCol w="3393090">
                  <a:extLst>
                    <a:ext uri="{9D8B030D-6E8A-4147-A177-3AD203B41FA5}">
                      <a16:colId xmlns:a16="http://schemas.microsoft.com/office/drawing/2014/main" val="254441713"/>
                    </a:ext>
                  </a:extLst>
                </a:gridCol>
              </a:tblGrid>
              <a:tr h="264000">
                <a:tc>
                  <a:txBody>
                    <a:bodyPr/>
                    <a:lstStyle/>
                    <a:p>
                      <a:pPr algn="ctr"/>
                      <a:r>
                        <a:rPr lang="en-GB" sz="1400"/>
                        <a:t>RPC or PPC (DE 1/10)</a:t>
                      </a:r>
                      <a:endParaRPr lang="en-GB" sz="1400" dirty="0"/>
                    </a:p>
                  </a:txBody>
                  <a:tcPr>
                    <a:solidFill>
                      <a:srgbClr val="00928C"/>
                    </a:solidFill>
                  </a:tcPr>
                </a:tc>
                <a:tc>
                  <a:txBody>
                    <a:bodyPr/>
                    <a:lstStyle/>
                    <a:p>
                      <a:pPr algn="ctr"/>
                      <a:r>
                        <a:rPr lang="en-GB" sz="1400"/>
                        <a:t>Authorisation Document Code (DE 2/3)</a:t>
                      </a:r>
                      <a:endParaRPr lang="en-GB" sz="1400" dirty="0"/>
                    </a:p>
                  </a:txBody>
                  <a:tcPr>
                    <a:solidFill>
                      <a:srgbClr val="00928C"/>
                    </a:solidFill>
                  </a:tcPr>
                </a:tc>
                <a:extLst>
                  <a:ext uri="{0D108BD9-81ED-4DB2-BD59-A6C34878D82A}">
                    <a16:rowId xmlns:a16="http://schemas.microsoft.com/office/drawing/2014/main" val="255597352"/>
                  </a:ext>
                </a:extLst>
              </a:tr>
              <a:tr h="264000">
                <a:tc>
                  <a:txBody>
                    <a:bodyPr/>
                    <a:lstStyle/>
                    <a:p>
                      <a:pPr algn="ctr"/>
                      <a:r>
                        <a:rPr lang="en-GB" sz="1400"/>
                        <a:t>44 (RPC Only)</a:t>
                      </a:r>
                      <a:endParaRPr lang="en-GB" sz="1400" dirty="0"/>
                    </a:p>
                  </a:txBody>
                  <a:tcPr>
                    <a:solidFill>
                      <a:srgbClr val="E7EEEE"/>
                    </a:solidFill>
                  </a:tcPr>
                </a:tc>
                <a:tc>
                  <a:txBody>
                    <a:bodyPr/>
                    <a:lstStyle/>
                    <a:p>
                      <a:pPr algn="ctr"/>
                      <a:r>
                        <a:rPr lang="en-GB" sz="1400"/>
                        <a:t>N990</a:t>
                      </a:r>
                      <a:endParaRPr lang="en-GB" sz="1400" dirty="0"/>
                    </a:p>
                  </a:txBody>
                  <a:tcPr>
                    <a:solidFill>
                      <a:srgbClr val="E7EEEE"/>
                    </a:solidFill>
                  </a:tcPr>
                </a:tc>
                <a:extLst>
                  <a:ext uri="{0D108BD9-81ED-4DB2-BD59-A6C34878D82A}">
                    <a16:rowId xmlns:a16="http://schemas.microsoft.com/office/drawing/2014/main" val="831761982"/>
                  </a:ext>
                </a:extLst>
              </a:tr>
              <a:tr h="264000">
                <a:tc>
                  <a:txBody>
                    <a:bodyPr/>
                    <a:lstStyle/>
                    <a:p>
                      <a:pPr algn="ctr"/>
                      <a:r>
                        <a:rPr lang="en-GB" sz="1400"/>
                        <a:t>44 (RPC Only)</a:t>
                      </a:r>
                      <a:endParaRPr lang="en-GB" sz="1400" dirty="0"/>
                    </a:p>
                  </a:txBody>
                  <a:tcPr>
                    <a:solidFill>
                      <a:srgbClr val="CBDCDB"/>
                    </a:solidFill>
                  </a:tcPr>
                </a:tc>
                <a:tc>
                  <a:txBody>
                    <a:bodyPr/>
                    <a:lstStyle/>
                    <a:p>
                      <a:pPr algn="ctr"/>
                      <a:r>
                        <a:rPr lang="en-GB" sz="1400" dirty="0"/>
                        <a:t>C990</a:t>
                      </a:r>
                    </a:p>
                  </a:txBody>
                  <a:tcPr>
                    <a:solidFill>
                      <a:srgbClr val="CBDCDB"/>
                    </a:solidFill>
                  </a:tcPr>
                </a:tc>
                <a:extLst>
                  <a:ext uri="{0D108BD9-81ED-4DB2-BD59-A6C34878D82A}">
                    <a16:rowId xmlns:a16="http://schemas.microsoft.com/office/drawing/2014/main" val="451107358"/>
                  </a:ext>
                </a:extLst>
              </a:tr>
            </a:tbl>
          </a:graphicData>
        </a:graphic>
      </p:graphicFrame>
      <p:graphicFrame>
        <p:nvGraphicFramePr>
          <p:cNvPr id="6" name="Table 7">
            <a:extLst>
              <a:ext uri="{FF2B5EF4-FFF2-40B4-BE49-F238E27FC236}">
                <a16:creationId xmlns:a16="http://schemas.microsoft.com/office/drawing/2014/main" id="{53D9E0F1-2762-21F8-6232-09CB8D149C6C}"/>
              </a:ext>
            </a:extLst>
          </p:cNvPr>
          <p:cNvGraphicFramePr>
            <a:graphicFrameLocks noGrp="1"/>
          </p:cNvGraphicFramePr>
          <p:nvPr/>
        </p:nvGraphicFramePr>
        <p:xfrm>
          <a:off x="2032000" y="4845873"/>
          <a:ext cx="8127999" cy="1005840"/>
        </p:xfrm>
        <a:graphic>
          <a:graphicData uri="http://schemas.openxmlformats.org/drawingml/2006/table">
            <a:tbl>
              <a:tblPr firstRow="1" bandRow="1">
                <a:tableStyleId>{5C22544A-7EE6-4342-B048-85BDC9FD1C3A}</a:tableStyleId>
              </a:tblPr>
              <a:tblGrid>
                <a:gridCol w="1785058">
                  <a:extLst>
                    <a:ext uri="{9D8B030D-6E8A-4147-A177-3AD203B41FA5}">
                      <a16:colId xmlns:a16="http://schemas.microsoft.com/office/drawing/2014/main" val="3315812750"/>
                    </a:ext>
                  </a:extLst>
                </a:gridCol>
                <a:gridCol w="3179134">
                  <a:extLst>
                    <a:ext uri="{9D8B030D-6E8A-4147-A177-3AD203B41FA5}">
                      <a16:colId xmlns:a16="http://schemas.microsoft.com/office/drawing/2014/main" val="1839326602"/>
                    </a:ext>
                  </a:extLst>
                </a:gridCol>
                <a:gridCol w="3163807">
                  <a:extLst>
                    <a:ext uri="{9D8B030D-6E8A-4147-A177-3AD203B41FA5}">
                      <a16:colId xmlns:a16="http://schemas.microsoft.com/office/drawing/2014/main" val="3906109442"/>
                    </a:ext>
                  </a:extLst>
                </a:gridCol>
              </a:tblGrid>
              <a:tr h="223200">
                <a:tc>
                  <a:txBody>
                    <a:bodyPr/>
                    <a:lstStyle/>
                    <a:p>
                      <a:pPr algn="ctr"/>
                      <a:r>
                        <a:rPr lang="en-GB" sz="1400" b="1" dirty="0">
                          <a:effectLst/>
                        </a:rPr>
                        <a:t>RPC (DE 1/10)</a:t>
                      </a:r>
                      <a:endParaRPr lang="en-GB" sz="1400" dirty="0">
                        <a:effectLst/>
                      </a:endParaRPr>
                    </a:p>
                  </a:txBody>
                  <a:tcPr marL="25400" marR="25400" marT="19050" marB="19050" anchor="ctr">
                    <a:solidFill>
                      <a:srgbClr val="00928C"/>
                    </a:solidFill>
                  </a:tcPr>
                </a:tc>
                <a:tc>
                  <a:txBody>
                    <a:bodyPr/>
                    <a:lstStyle/>
                    <a:p>
                      <a:pPr algn="ctr"/>
                      <a:r>
                        <a:rPr lang="en-GB" sz="1400" i="0">
                          <a:effectLst/>
                          <a:cs typeface="Calibri" panose="020F0502020204030204"/>
                        </a:rPr>
                        <a:t>Authorisation</a:t>
                      </a:r>
                      <a:r>
                        <a:rPr lang="fr-FR" sz="1400" b="1">
                          <a:effectLst/>
                        </a:rPr>
                        <a:t> Document Code (DE 2/3)</a:t>
                      </a:r>
                      <a:endParaRPr lang="fr-FR" sz="1400" dirty="0">
                        <a:effectLst/>
                      </a:endParaRPr>
                    </a:p>
                  </a:txBody>
                  <a:tcPr marL="25400" marR="25400" marT="19050" marB="19050" anchor="ctr">
                    <a:solidFill>
                      <a:srgbClr val="00928C"/>
                    </a:solidFill>
                  </a:tcPr>
                </a:tc>
                <a:tc>
                  <a:txBody>
                    <a:bodyPr/>
                    <a:lstStyle/>
                    <a:p>
                      <a:pPr algn="ctr"/>
                      <a:r>
                        <a:rPr lang="fr-FR" sz="1400" b="1" dirty="0">
                          <a:effectLst/>
                        </a:rPr>
                        <a:t>Autorisation Document Type (DE 3/39)</a:t>
                      </a:r>
                      <a:endParaRPr lang="fr-FR" sz="1400" dirty="0">
                        <a:effectLst/>
                      </a:endParaRPr>
                    </a:p>
                  </a:txBody>
                  <a:tcPr marL="25400" marR="25400" marT="19050" marB="19050" anchor="ctr">
                    <a:solidFill>
                      <a:srgbClr val="00928C"/>
                    </a:solidFill>
                  </a:tcPr>
                </a:tc>
                <a:extLst>
                  <a:ext uri="{0D108BD9-81ED-4DB2-BD59-A6C34878D82A}">
                    <a16:rowId xmlns:a16="http://schemas.microsoft.com/office/drawing/2014/main" val="2341350774"/>
                  </a:ext>
                </a:extLst>
              </a:tr>
              <a:tr h="223200">
                <a:tc>
                  <a:txBody>
                    <a:bodyPr/>
                    <a:lstStyle/>
                    <a:p>
                      <a:pPr algn="ctr"/>
                      <a:r>
                        <a:rPr lang="en-GB" sz="1400">
                          <a:effectLst/>
                        </a:rPr>
                        <a:t>51</a:t>
                      </a:r>
                      <a:endParaRPr lang="en-GB" sz="1400" dirty="0">
                        <a:effectLst/>
                      </a:endParaRPr>
                    </a:p>
                  </a:txBody>
                  <a:tcPr marL="25400" marR="25400" marT="19050" marB="19050" anchor="ctr">
                    <a:solidFill>
                      <a:srgbClr val="CBDCDB"/>
                    </a:solidFill>
                  </a:tcPr>
                </a:tc>
                <a:tc>
                  <a:txBody>
                    <a:bodyPr/>
                    <a:lstStyle/>
                    <a:p>
                      <a:pPr algn="ctr"/>
                      <a:r>
                        <a:rPr lang="en-GB" sz="1400">
                          <a:effectLst/>
                        </a:rPr>
                        <a:t>C601</a:t>
                      </a:r>
                      <a:endParaRPr lang="en-GB" sz="1400" dirty="0">
                        <a:effectLst/>
                      </a:endParaRPr>
                    </a:p>
                  </a:txBody>
                  <a:tcPr marL="25400" marR="25400" marT="19050" marB="19050" anchor="ctr">
                    <a:solidFill>
                      <a:srgbClr val="CBDCDB"/>
                    </a:solidFill>
                  </a:tcPr>
                </a:tc>
                <a:tc>
                  <a:txBody>
                    <a:bodyPr/>
                    <a:lstStyle/>
                    <a:p>
                      <a:pPr algn="ctr"/>
                      <a:r>
                        <a:rPr lang="en-GB" sz="1400">
                          <a:effectLst/>
                        </a:rPr>
                        <a:t>IPO</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212775125"/>
                  </a:ext>
                </a:extLst>
              </a:tr>
              <a:tr h="223200">
                <a:tc>
                  <a:txBody>
                    <a:bodyPr/>
                    <a:lstStyle/>
                    <a:p>
                      <a:pPr algn="ctr"/>
                      <a:r>
                        <a:rPr lang="en-GB" sz="1400">
                          <a:effectLst/>
                        </a:rPr>
                        <a:t>53</a:t>
                      </a:r>
                      <a:endParaRPr lang="en-GB" sz="1400" dirty="0">
                        <a:effectLst/>
                      </a:endParaRPr>
                    </a:p>
                  </a:txBody>
                  <a:tcPr marL="25400" marR="25400" marT="19050" marB="19050" anchor="ctr">
                    <a:solidFill>
                      <a:srgbClr val="E7EEEE"/>
                    </a:solidFill>
                  </a:tcPr>
                </a:tc>
                <a:tc>
                  <a:txBody>
                    <a:bodyPr/>
                    <a:lstStyle/>
                    <a:p>
                      <a:pPr algn="ctr"/>
                      <a:r>
                        <a:rPr lang="en-GB" sz="1400">
                          <a:effectLst/>
                        </a:rPr>
                        <a:t>C516</a:t>
                      </a:r>
                      <a:endParaRPr lang="en-GB" sz="1400" dirty="0">
                        <a:effectLst/>
                      </a:endParaRPr>
                    </a:p>
                  </a:txBody>
                  <a:tcPr marL="25400" marR="25400" marT="19050" marB="19050" anchor="ctr">
                    <a:solidFill>
                      <a:srgbClr val="E7EEEE"/>
                    </a:solidFill>
                  </a:tcPr>
                </a:tc>
                <a:tc>
                  <a:txBody>
                    <a:bodyPr/>
                    <a:lstStyle/>
                    <a:p>
                      <a:pPr algn="ctr"/>
                      <a:r>
                        <a:rPr lang="en-GB" sz="1400">
                          <a:effectLst/>
                        </a:rPr>
                        <a:t>TEA, TEAH</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51969633"/>
                  </a:ext>
                </a:extLst>
              </a:tr>
              <a:tr h="223200">
                <a:tc>
                  <a:txBody>
                    <a:bodyPr/>
                    <a:lstStyle/>
                    <a:p>
                      <a:pPr algn="ctr"/>
                      <a:r>
                        <a:rPr lang="en-GB" sz="1400">
                          <a:effectLst/>
                        </a:rPr>
                        <a:t>44</a:t>
                      </a:r>
                      <a:endParaRPr lang="en-GB" sz="1400" dirty="0">
                        <a:effectLst/>
                      </a:endParaRPr>
                    </a:p>
                  </a:txBody>
                  <a:tcPr marL="25400" marR="25400" marT="19050" marB="19050" anchor="ctr">
                    <a:solidFill>
                      <a:srgbClr val="CBDCDB"/>
                    </a:solidFill>
                  </a:tcPr>
                </a:tc>
                <a:tc>
                  <a:txBody>
                    <a:bodyPr/>
                    <a:lstStyle/>
                    <a:p>
                      <a:pPr algn="ctr"/>
                      <a:r>
                        <a:rPr lang="en-GB" sz="1400">
                          <a:effectLst/>
                        </a:rPr>
                        <a:t>C990</a:t>
                      </a:r>
                      <a:endParaRPr lang="en-GB" sz="1400" dirty="0">
                        <a:effectLst/>
                      </a:endParaRPr>
                    </a:p>
                  </a:txBody>
                  <a:tcPr marL="25400" marR="25400" marT="19050" marB="19050" anchor="ctr">
                    <a:solidFill>
                      <a:srgbClr val="CBDCDB"/>
                    </a:solidFill>
                  </a:tcPr>
                </a:tc>
                <a:tc>
                  <a:txBody>
                    <a:bodyPr/>
                    <a:lstStyle/>
                    <a:p>
                      <a:pPr algn="ctr"/>
                      <a:r>
                        <a:rPr lang="en-GB" sz="1400" dirty="0">
                          <a:effectLst/>
                        </a:rPr>
                        <a:t>EUS</a:t>
                      </a:r>
                    </a:p>
                  </a:txBody>
                  <a:tcPr marL="25400" marR="25400" marT="19050" marB="19050" anchor="ctr">
                    <a:solidFill>
                      <a:srgbClr val="CBDCDB"/>
                    </a:solidFill>
                  </a:tcPr>
                </a:tc>
                <a:extLst>
                  <a:ext uri="{0D108BD9-81ED-4DB2-BD59-A6C34878D82A}">
                    <a16:rowId xmlns:a16="http://schemas.microsoft.com/office/drawing/2014/main" val="604442389"/>
                  </a:ext>
                </a:extLst>
              </a:tr>
            </a:tbl>
          </a:graphicData>
        </a:graphic>
      </p:graphicFrame>
    </p:spTree>
    <p:extLst>
      <p:ext uri="{BB962C8B-B14F-4D97-AF65-F5344CB8AC3E}">
        <p14:creationId xmlns:p14="http://schemas.microsoft.com/office/powerpoint/2010/main" val="1167833003"/>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i="0" dirty="0">
                <a:effectLst/>
                <a:cs typeface="Calibri" panose="020F0502020204030204"/>
              </a:rPr>
              <a:t>Acc</a:t>
            </a:r>
            <a:r>
              <a:rPr lang="en-GB" sz="1400" dirty="0">
                <a:cs typeface="Calibri" panose="020F0502020204030204"/>
              </a:rPr>
              <a:t>eptance Criteria – Import Declarations (Cont.)</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i="0" dirty="0">
                <a:effectLst/>
                <a:cs typeface="Calibri" panose="020F0502020204030204"/>
              </a:rPr>
              <a:t>Where a trader declares one of the below listed Requested Procedure Codes in DE 1/10 and Authorisation Document Code in 2/3, CDS </a:t>
            </a:r>
            <a:r>
              <a:rPr lang="en-GB" sz="1400" dirty="0">
                <a:cs typeface="Calibri" panose="020F0502020204030204"/>
              </a:rPr>
              <a:t>will</a:t>
            </a:r>
            <a:r>
              <a:rPr lang="en-GB" sz="1400" i="0" dirty="0">
                <a:effectLst/>
                <a:cs typeface="Calibri" panose="020F0502020204030204"/>
              </a:rPr>
              <a:t> ensure that </a:t>
            </a:r>
            <a:r>
              <a:rPr lang="en-GB" sz="1400" dirty="0">
                <a:cs typeface="Calibri" panose="020F0502020204030204"/>
              </a:rPr>
              <a:t>indirect representation cannot be used (i.e. </a:t>
            </a:r>
            <a:r>
              <a:rPr lang="en-GB" sz="1400" i="0" dirty="0">
                <a:effectLst/>
                <a:cs typeface="Calibri" panose="020F0502020204030204"/>
              </a:rPr>
              <a:t>if the Representation Status Code cannot be ‘3’ in DE 3/21). </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i="0" dirty="0">
                <a:effectLst/>
                <a:cs typeface="Calibri" panose="020F0502020204030204"/>
              </a:rPr>
              <a:t>Where a trader declares Previous Procedure Code 11 in DE 1/10, CDS </a:t>
            </a:r>
            <a:r>
              <a:rPr lang="en-GB" sz="1400" dirty="0">
                <a:cs typeface="Calibri" panose="020F0502020204030204"/>
              </a:rPr>
              <a:t>will</a:t>
            </a:r>
            <a:r>
              <a:rPr lang="en-GB" sz="1400" i="0" dirty="0">
                <a:effectLst/>
                <a:cs typeface="Calibri" panose="020F0502020204030204"/>
              </a:rPr>
              <a:t> mandate that Authorisation Document Code C601 is declared in DE 2/3.</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r>
              <a:rPr lang="en-GB" sz="1400" i="0" dirty="0">
                <a:effectLst/>
                <a:cs typeface="Calibri" panose="020F0502020204030204"/>
              </a:rPr>
              <a:t>If the above criteria is not met, the declaration will be rejected, and the declarant will be issued a DMSREJ notification.</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212</a:t>
            </a:fld>
            <a:endParaRPr lang="en-GB" dirty="0">
              <a:solidFill>
                <a:schemeClr val="tx1"/>
              </a:solidFill>
            </a:endParaRPr>
          </a:p>
        </p:txBody>
      </p:sp>
      <p:graphicFrame>
        <p:nvGraphicFramePr>
          <p:cNvPr id="8" name="Table 8">
            <a:extLst>
              <a:ext uri="{FF2B5EF4-FFF2-40B4-BE49-F238E27FC236}">
                <a16:creationId xmlns:a16="http://schemas.microsoft.com/office/drawing/2014/main" id="{0CD89D8D-7DD4-D2CD-E7EF-9B775347292F}"/>
              </a:ext>
            </a:extLst>
          </p:cNvPr>
          <p:cNvGraphicFramePr>
            <a:graphicFrameLocks noGrp="1"/>
          </p:cNvGraphicFramePr>
          <p:nvPr/>
        </p:nvGraphicFramePr>
        <p:xfrm>
          <a:off x="2032001" y="2386852"/>
          <a:ext cx="8127999" cy="1257300"/>
        </p:xfrm>
        <a:graphic>
          <a:graphicData uri="http://schemas.openxmlformats.org/drawingml/2006/table">
            <a:tbl>
              <a:tblPr firstRow="1" bandRow="1">
                <a:tableStyleId>{5C22544A-7EE6-4342-B048-85BDC9FD1C3A}</a:tableStyleId>
              </a:tblPr>
              <a:tblGrid>
                <a:gridCol w="1774425">
                  <a:extLst>
                    <a:ext uri="{9D8B030D-6E8A-4147-A177-3AD203B41FA5}">
                      <a16:colId xmlns:a16="http://schemas.microsoft.com/office/drawing/2014/main" val="2749779453"/>
                    </a:ext>
                  </a:extLst>
                </a:gridCol>
                <a:gridCol w="3189767">
                  <a:extLst>
                    <a:ext uri="{9D8B030D-6E8A-4147-A177-3AD203B41FA5}">
                      <a16:colId xmlns:a16="http://schemas.microsoft.com/office/drawing/2014/main" val="1453368175"/>
                    </a:ext>
                  </a:extLst>
                </a:gridCol>
                <a:gridCol w="3163807">
                  <a:extLst>
                    <a:ext uri="{9D8B030D-6E8A-4147-A177-3AD203B41FA5}">
                      <a16:colId xmlns:a16="http://schemas.microsoft.com/office/drawing/2014/main" val="3653543542"/>
                    </a:ext>
                  </a:extLst>
                </a:gridCol>
              </a:tblGrid>
              <a:tr h="244800">
                <a:tc>
                  <a:txBody>
                    <a:bodyPr/>
                    <a:lstStyle/>
                    <a:p>
                      <a:pPr algn="ctr"/>
                      <a:r>
                        <a:rPr lang="en-GB" sz="1400" b="1">
                          <a:effectLst/>
                        </a:rPr>
                        <a:t>RPC (DE 1/10)</a:t>
                      </a:r>
                      <a:endParaRPr lang="en-GB" sz="1400" dirty="0">
                        <a:effectLst/>
                      </a:endParaRPr>
                    </a:p>
                  </a:txBody>
                  <a:tcPr marL="25400" marR="25400" marT="19050" marB="19050" anchor="ctr">
                    <a:solidFill>
                      <a:srgbClr val="00928C"/>
                    </a:solidFill>
                  </a:tcPr>
                </a:tc>
                <a:tc>
                  <a:txBody>
                    <a:bodyPr/>
                    <a:lstStyle/>
                    <a:p>
                      <a:pPr algn="ctr"/>
                      <a:r>
                        <a:rPr lang="en-GB" sz="1400" i="0">
                          <a:effectLst/>
                          <a:cs typeface="Calibri" panose="020F0502020204030204"/>
                        </a:rPr>
                        <a:t>Authorisation</a:t>
                      </a:r>
                      <a:r>
                        <a:rPr lang="fr-FR" sz="1400" b="1">
                          <a:effectLst/>
                        </a:rPr>
                        <a:t> Document Code (DE 2/3)</a:t>
                      </a:r>
                      <a:endParaRPr lang="fr-FR" sz="1400" dirty="0">
                        <a:effectLst/>
                      </a:endParaRPr>
                    </a:p>
                  </a:txBody>
                  <a:tcPr marL="25400" marR="25400" marT="19050" marB="19050" anchor="ctr">
                    <a:solidFill>
                      <a:srgbClr val="00928C"/>
                    </a:solidFill>
                  </a:tcPr>
                </a:tc>
                <a:tc>
                  <a:txBody>
                    <a:bodyPr/>
                    <a:lstStyle/>
                    <a:p>
                      <a:pPr algn="ctr"/>
                      <a:r>
                        <a:rPr lang="en-GB" sz="1400" b="1">
                          <a:effectLst/>
                        </a:rPr>
                        <a:t>Special Procedure</a:t>
                      </a:r>
                      <a:endParaRPr lang="en-GB" sz="1400" dirty="0">
                        <a:effectLst/>
                      </a:endParaRPr>
                    </a:p>
                  </a:txBody>
                  <a:tcPr marL="25400" marR="25400" marT="19050" marB="19050" anchor="ctr">
                    <a:solidFill>
                      <a:srgbClr val="00928C"/>
                    </a:solidFill>
                  </a:tcPr>
                </a:tc>
                <a:extLst>
                  <a:ext uri="{0D108BD9-81ED-4DB2-BD59-A6C34878D82A}">
                    <a16:rowId xmlns:a16="http://schemas.microsoft.com/office/drawing/2014/main" val="3625476908"/>
                  </a:ext>
                </a:extLst>
              </a:tr>
              <a:tr h="244800">
                <a:tc>
                  <a:txBody>
                    <a:bodyPr/>
                    <a:lstStyle/>
                    <a:p>
                      <a:pPr algn="ctr"/>
                      <a:r>
                        <a:rPr lang="en-GB" sz="1400">
                          <a:effectLst/>
                        </a:rPr>
                        <a:t>51</a:t>
                      </a:r>
                      <a:endParaRPr lang="en-GB" sz="1400" dirty="0">
                        <a:effectLst/>
                      </a:endParaRPr>
                    </a:p>
                  </a:txBody>
                  <a:tcPr marL="25400" marR="25400" marT="19050" marB="19050" anchor="ctr">
                    <a:solidFill>
                      <a:srgbClr val="CBDCDB"/>
                    </a:solidFill>
                  </a:tcPr>
                </a:tc>
                <a:tc>
                  <a:txBody>
                    <a:bodyPr/>
                    <a:lstStyle/>
                    <a:p>
                      <a:pPr algn="ctr"/>
                      <a:r>
                        <a:rPr lang="en-GB" sz="1400">
                          <a:effectLst/>
                        </a:rPr>
                        <a:t>C601</a:t>
                      </a:r>
                      <a:endParaRPr lang="en-GB" sz="1400" dirty="0">
                        <a:effectLst/>
                      </a:endParaRPr>
                    </a:p>
                  </a:txBody>
                  <a:tcPr marL="25400" marR="25400" marT="19050" marB="19050" anchor="ctr">
                    <a:solidFill>
                      <a:srgbClr val="CBDCDB"/>
                    </a:solidFill>
                  </a:tcPr>
                </a:tc>
                <a:tc>
                  <a:txBody>
                    <a:bodyPr/>
                    <a:lstStyle/>
                    <a:p>
                      <a:pPr algn="ctr"/>
                      <a:r>
                        <a:rPr lang="en-GB" sz="1400">
                          <a:effectLst/>
                        </a:rPr>
                        <a:t>Inward Processing</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316848779"/>
                  </a:ext>
                </a:extLst>
              </a:tr>
              <a:tr h="244800">
                <a:tc>
                  <a:txBody>
                    <a:bodyPr/>
                    <a:lstStyle/>
                    <a:p>
                      <a:pPr algn="ctr"/>
                      <a:r>
                        <a:rPr lang="en-GB" sz="1400">
                          <a:effectLst/>
                        </a:rPr>
                        <a:t>53</a:t>
                      </a:r>
                      <a:endParaRPr lang="en-GB" sz="1400" dirty="0">
                        <a:effectLst/>
                      </a:endParaRPr>
                    </a:p>
                  </a:txBody>
                  <a:tcPr marL="25400" marR="25400" marT="19050" marB="19050" anchor="ctr">
                    <a:solidFill>
                      <a:srgbClr val="E7EEEE"/>
                    </a:solidFill>
                  </a:tcPr>
                </a:tc>
                <a:tc>
                  <a:txBody>
                    <a:bodyPr/>
                    <a:lstStyle/>
                    <a:p>
                      <a:pPr algn="ctr"/>
                      <a:r>
                        <a:rPr lang="en-GB" sz="1400">
                          <a:effectLst/>
                        </a:rPr>
                        <a:t>C516</a:t>
                      </a:r>
                      <a:endParaRPr lang="en-GB" sz="1400" dirty="0">
                        <a:effectLst/>
                      </a:endParaRPr>
                    </a:p>
                  </a:txBody>
                  <a:tcPr marL="25400" marR="25400" marT="19050" marB="19050" anchor="ctr">
                    <a:solidFill>
                      <a:srgbClr val="E7EEEE"/>
                    </a:solidFill>
                  </a:tcPr>
                </a:tc>
                <a:tc>
                  <a:txBody>
                    <a:bodyPr/>
                    <a:lstStyle/>
                    <a:p>
                      <a:pPr algn="ctr"/>
                      <a:r>
                        <a:rPr lang="en-GB" sz="1400">
                          <a:effectLst/>
                        </a:rPr>
                        <a:t>Temporary Admission</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430596809"/>
                  </a:ext>
                </a:extLst>
              </a:tr>
              <a:tr h="244800">
                <a:tc>
                  <a:txBody>
                    <a:bodyPr/>
                    <a:lstStyle/>
                    <a:p>
                      <a:pPr algn="ctr"/>
                      <a:r>
                        <a:rPr lang="en-GB" sz="1400">
                          <a:effectLst/>
                        </a:rPr>
                        <a:t>44</a:t>
                      </a:r>
                      <a:endParaRPr lang="en-GB" sz="1400" dirty="0">
                        <a:effectLst/>
                      </a:endParaRPr>
                    </a:p>
                  </a:txBody>
                  <a:tcPr marL="25400" marR="25400" marT="19050" marB="19050" anchor="ctr">
                    <a:solidFill>
                      <a:srgbClr val="CBDCDB"/>
                    </a:solidFill>
                  </a:tcPr>
                </a:tc>
                <a:tc>
                  <a:txBody>
                    <a:bodyPr/>
                    <a:lstStyle/>
                    <a:p>
                      <a:pPr algn="ctr"/>
                      <a:r>
                        <a:rPr lang="en-GB" sz="1400">
                          <a:effectLst/>
                        </a:rPr>
                        <a:t>N990</a:t>
                      </a:r>
                      <a:endParaRPr lang="en-GB" sz="1400" dirty="0">
                        <a:effectLst/>
                      </a:endParaRPr>
                    </a:p>
                  </a:txBody>
                  <a:tcPr marL="25400" marR="25400" marT="19050" marB="19050" anchor="ctr">
                    <a:solidFill>
                      <a:srgbClr val="CBDCDB"/>
                    </a:solidFill>
                  </a:tcPr>
                </a:tc>
                <a:tc>
                  <a:txBody>
                    <a:bodyPr/>
                    <a:lstStyle/>
                    <a:p>
                      <a:pPr algn="ctr"/>
                      <a:r>
                        <a:rPr lang="en-GB" sz="1400">
                          <a:effectLst/>
                        </a:rPr>
                        <a:t>Authorised Use</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4030017139"/>
                  </a:ext>
                </a:extLst>
              </a:tr>
              <a:tr h="244800">
                <a:tc>
                  <a:txBody>
                    <a:bodyPr/>
                    <a:lstStyle/>
                    <a:p>
                      <a:pPr algn="ctr"/>
                      <a:r>
                        <a:rPr lang="en-GB" sz="1400">
                          <a:effectLst/>
                        </a:rPr>
                        <a:t>44</a:t>
                      </a:r>
                      <a:endParaRPr lang="en-GB" sz="1400" dirty="0">
                        <a:effectLst/>
                      </a:endParaRPr>
                    </a:p>
                  </a:txBody>
                  <a:tcPr marL="25400" marR="25400" marT="19050" marB="19050" anchor="ctr">
                    <a:solidFill>
                      <a:srgbClr val="E7EEEE"/>
                    </a:solidFill>
                  </a:tcPr>
                </a:tc>
                <a:tc>
                  <a:txBody>
                    <a:bodyPr/>
                    <a:lstStyle/>
                    <a:p>
                      <a:pPr algn="ctr"/>
                      <a:r>
                        <a:rPr lang="en-GB" sz="1400">
                          <a:effectLst/>
                        </a:rPr>
                        <a:t>C990</a:t>
                      </a:r>
                      <a:endParaRPr lang="en-GB" sz="1400" dirty="0">
                        <a:effectLst/>
                      </a:endParaRPr>
                    </a:p>
                  </a:txBody>
                  <a:tcPr marL="25400" marR="25400" marT="19050" marB="19050" anchor="ctr">
                    <a:solidFill>
                      <a:srgbClr val="E7EEEE"/>
                    </a:solidFill>
                  </a:tcPr>
                </a:tc>
                <a:tc>
                  <a:txBody>
                    <a:bodyPr/>
                    <a:lstStyle/>
                    <a:p>
                      <a:pPr algn="ctr"/>
                      <a:r>
                        <a:rPr lang="en-GB" sz="1400" dirty="0">
                          <a:effectLst/>
                        </a:rPr>
                        <a:t>Authorised Use</a:t>
                      </a:r>
                    </a:p>
                  </a:txBody>
                  <a:tcPr marL="25400" marR="25400" marT="19050" marB="19050" anchor="ctr">
                    <a:solidFill>
                      <a:srgbClr val="E7EEEE"/>
                    </a:solidFill>
                  </a:tcPr>
                </a:tc>
                <a:extLst>
                  <a:ext uri="{0D108BD9-81ED-4DB2-BD59-A6C34878D82A}">
                    <a16:rowId xmlns:a16="http://schemas.microsoft.com/office/drawing/2014/main" val="1508671091"/>
                  </a:ext>
                </a:extLst>
              </a:tr>
            </a:tbl>
          </a:graphicData>
        </a:graphic>
      </p:graphicFrame>
    </p:spTree>
    <p:extLst>
      <p:ext uri="{BB962C8B-B14F-4D97-AF65-F5344CB8AC3E}">
        <p14:creationId xmlns:p14="http://schemas.microsoft.com/office/powerpoint/2010/main" val="44632983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49353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dirty="0">
                <a:effectLst/>
                <a:cs typeface="Calibri" panose="020F0502020204030204"/>
              </a:rPr>
              <a:t>Acc</a:t>
            </a:r>
            <a:r>
              <a:rPr lang="en-GB" sz="1400" b="1" dirty="0">
                <a:cs typeface="Calibri" panose="020F0502020204030204"/>
              </a:rPr>
              <a:t>eptance Criteria – Export Declarations</a:t>
            </a:r>
          </a:p>
          <a:p>
            <a:pPr>
              <a:defRPr sz="1800" b="0" i="0" u="none" strike="noStrike" kern="0" cap="none" spc="0" baseline="0">
                <a:solidFill>
                  <a:srgbClr val="000000"/>
                </a:solidFill>
                <a:uFillTx/>
              </a:defRPr>
            </a:pPr>
            <a:endParaRPr lang="en-GB" sz="1000" b="1" i="0" dirty="0">
              <a:effectLst/>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Where a trader declares one of the below listed Requested Procedure Codes in DE 1/10 and Authorisation Document Code in DE 2/3, CDS will mandate the appropriate Authorisation Type Code is declared in DE 3/39 followed by the EORI Number. </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0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Where a trader declares one of the below listed Requested Procedure Codes in DE 1/10 and Authorisation Document Code in DE 2/3, CDS will ensure that the Representation declared in DE 3/21 cannot be 3.</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r>
              <a:rPr lang="en-GB" sz="1400" kern="0" dirty="0">
                <a:solidFill>
                  <a:srgbClr val="000000"/>
                </a:solidFill>
                <a:cs typeface="Calibri" panose="020F0502020204030204"/>
              </a:rPr>
              <a:t>If the above criteria is not met, the declaration will be rejected, and the declarant will be issued a DMSREJ notification.</a:t>
            </a: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213</a:t>
            </a:fld>
            <a:endParaRPr lang="en-GB" dirty="0">
              <a:solidFill>
                <a:schemeClr val="tx1"/>
              </a:solidFill>
            </a:endParaRPr>
          </a:p>
        </p:txBody>
      </p:sp>
      <p:graphicFrame>
        <p:nvGraphicFramePr>
          <p:cNvPr id="8" name="Table 8">
            <a:extLst>
              <a:ext uri="{FF2B5EF4-FFF2-40B4-BE49-F238E27FC236}">
                <a16:creationId xmlns:a16="http://schemas.microsoft.com/office/drawing/2014/main" id="{FD9BA169-A79D-7E28-1BD4-DBE0A640103B}"/>
              </a:ext>
            </a:extLst>
          </p:cNvPr>
          <p:cNvGraphicFramePr>
            <a:graphicFrameLocks noGrp="1"/>
          </p:cNvGraphicFramePr>
          <p:nvPr/>
        </p:nvGraphicFramePr>
        <p:xfrm>
          <a:off x="2032001" y="2166880"/>
          <a:ext cx="8127999" cy="1005840"/>
        </p:xfrm>
        <a:graphic>
          <a:graphicData uri="http://schemas.openxmlformats.org/drawingml/2006/table">
            <a:tbl>
              <a:tblPr firstRow="1" bandRow="1">
                <a:tableStyleId>{5C22544A-7EE6-4342-B048-85BDC9FD1C3A}</a:tableStyleId>
              </a:tblPr>
              <a:tblGrid>
                <a:gridCol w="1780931">
                  <a:extLst>
                    <a:ext uri="{9D8B030D-6E8A-4147-A177-3AD203B41FA5}">
                      <a16:colId xmlns:a16="http://schemas.microsoft.com/office/drawing/2014/main" val="125554846"/>
                    </a:ext>
                  </a:extLst>
                </a:gridCol>
                <a:gridCol w="3200400">
                  <a:extLst>
                    <a:ext uri="{9D8B030D-6E8A-4147-A177-3AD203B41FA5}">
                      <a16:colId xmlns:a16="http://schemas.microsoft.com/office/drawing/2014/main" val="1536079424"/>
                    </a:ext>
                  </a:extLst>
                </a:gridCol>
                <a:gridCol w="3146668">
                  <a:extLst>
                    <a:ext uri="{9D8B030D-6E8A-4147-A177-3AD203B41FA5}">
                      <a16:colId xmlns:a16="http://schemas.microsoft.com/office/drawing/2014/main" val="3560308858"/>
                    </a:ext>
                  </a:extLst>
                </a:gridCol>
              </a:tblGrid>
              <a:tr h="198000">
                <a:tc>
                  <a:txBody>
                    <a:bodyPr/>
                    <a:lstStyle/>
                    <a:p>
                      <a:pPr algn="ctr"/>
                      <a:r>
                        <a:rPr lang="en-GB" sz="1400" b="1">
                          <a:effectLst/>
                        </a:rPr>
                        <a:t>PC (DE 1/10)</a:t>
                      </a:r>
                      <a:endParaRPr lang="en-GB" sz="1400" dirty="0">
                        <a:effectLst/>
                      </a:endParaRPr>
                    </a:p>
                  </a:txBody>
                  <a:tcPr marL="25400" marR="25400" marT="19050" marB="19050" anchor="ctr">
                    <a:solidFill>
                      <a:srgbClr val="00928C"/>
                    </a:solidFill>
                  </a:tcPr>
                </a:tc>
                <a:tc>
                  <a:txBody>
                    <a:bodyPr/>
                    <a:lstStyle/>
                    <a:p>
                      <a:pPr algn="ctr"/>
                      <a:r>
                        <a:rPr lang="fr-FR" sz="1400" b="1" dirty="0" err="1">
                          <a:effectLst/>
                        </a:rPr>
                        <a:t>Authorisation</a:t>
                      </a:r>
                      <a:r>
                        <a:rPr lang="fr-FR" sz="1400" b="1" dirty="0">
                          <a:effectLst/>
                        </a:rPr>
                        <a:t> Document Code (DE 2/3)</a:t>
                      </a:r>
                      <a:endParaRPr lang="fr-FR" sz="1400" dirty="0">
                        <a:effectLst/>
                      </a:endParaRPr>
                    </a:p>
                  </a:txBody>
                  <a:tcPr marL="25400" marR="25400" marT="19050" marB="19050" anchor="ctr">
                    <a:solidFill>
                      <a:srgbClr val="00928C"/>
                    </a:solidFill>
                  </a:tcPr>
                </a:tc>
                <a:tc>
                  <a:txBody>
                    <a:bodyPr/>
                    <a:lstStyle/>
                    <a:p>
                      <a:pPr algn="ctr"/>
                      <a:r>
                        <a:rPr lang="fr-FR" sz="1400" b="1">
                          <a:effectLst/>
                        </a:rPr>
                        <a:t>Authorisation Document Type (DE 3/39)</a:t>
                      </a:r>
                      <a:endParaRPr lang="fr-FR" sz="1400" dirty="0">
                        <a:effectLst/>
                      </a:endParaRPr>
                    </a:p>
                  </a:txBody>
                  <a:tcPr marL="25400" marR="25400" marT="19050" marB="19050" anchor="ctr">
                    <a:solidFill>
                      <a:srgbClr val="00928C"/>
                    </a:solidFill>
                  </a:tcPr>
                </a:tc>
                <a:extLst>
                  <a:ext uri="{0D108BD9-81ED-4DB2-BD59-A6C34878D82A}">
                    <a16:rowId xmlns:a16="http://schemas.microsoft.com/office/drawing/2014/main" val="2166333809"/>
                  </a:ext>
                </a:extLst>
              </a:tr>
              <a:tr h="198000">
                <a:tc>
                  <a:txBody>
                    <a:bodyPr/>
                    <a:lstStyle/>
                    <a:p>
                      <a:pPr algn="ctr"/>
                      <a:r>
                        <a:rPr lang="en-GB" sz="1400">
                          <a:effectLst/>
                        </a:rPr>
                        <a:t>11</a:t>
                      </a:r>
                      <a:endParaRPr lang="en-GB" sz="1400" dirty="0">
                        <a:effectLst/>
                      </a:endParaRPr>
                    </a:p>
                  </a:txBody>
                  <a:tcPr marL="25400" marR="25400" marT="19050" marB="19050" anchor="ctr">
                    <a:solidFill>
                      <a:srgbClr val="CBDCDB"/>
                    </a:solidFill>
                  </a:tcPr>
                </a:tc>
                <a:tc>
                  <a:txBody>
                    <a:bodyPr/>
                    <a:lstStyle/>
                    <a:p>
                      <a:pPr algn="ctr"/>
                      <a:r>
                        <a:rPr lang="en-GB" sz="1400">
                          <a:effectLst/>
                        </a:rPr>
                        <a:t>C601</a:t>
                      </a:r>
                      <a:endParaRPr lang="en-GB" sz="1400" dirty="0">
                        <a:effectLst/>
                      </a:endParaRPr>
                    </a:p>
                  </a:txBody>
                  <a:tcPr marL="25400" marR="25400" marT="19050" marB="19050" anchor="ctr">
                    <a:solidFill>
                      <a:srgbClr val="CBDCDB"/>
                    </a:solidFill>
                  </a:tcPr>
                </a:tc>
                <a:tc>
                  <a:txBody>
                    <a:bodyPr/>
                    <a:lstStyle/>
                    <a:p>
                      <a:pPr algn="ctr"/>
                      <a:r>
                        <a:rPr lang="en-GB" sz="1400">
                          <a:effectLst/>
                        </a:rPr>
                        <a:t>IPO</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636306900"/>
                  </a:ext>
                </a:extLst>
              </a:tr>
              <a:tr h="198000">
                <a:tc>
                  <a:txBody>
                    <a:bodyPr/>
                    <a:lstStyle/>
                    <a:p>
                      <a:pPr algn="ctr"/>
                      <a:r>
                        <a:rPr lang="en-GB" sz="1400">
                          <a:effectLst/>
                        </a:rPr>
                        <a:t>21</a:t>
                      </a:r>
                      <a:endParaRPr lang="en-GB" sz="1400" dirty="0">
                        <a:effectLst/>
                      </a:endParaRPr>
                    </a:p>
                  </a:txBody>
                  <a:tcPr marL="25400" marR="25400" marT="19050" marB="19050" anchor="ctr">
                    <a:solidFill>
                      <a:srgbClr val="E7EEEE"/>
                    </a:solidFill>
                  </a:tcPr>
                </a:tc>
                <a:tc>
                  <a:txBody>
                    <a:bodyPr/>
                    <a:lstStyle/>
                    <a:p>
                      <a:pPr algn="ctr"/>
                      <a:r>
                        <a:rPr lang="en-GB" sz="1400">
                          <a:effectLst/>
                        </a:rPr>
                        <a:t>C019</a:t>
                      </a:r>
                      <a:endParaRPr lang="en-GB" sz="1400" dirty="0">
                        <a:effectLst/>
                      </a:endParaRPr>
                    </a:p>
                  </a:txBody>
                  <a:tcPr marL="25400" marR="25400" marT="19050" marB="19050" anchor="ctr">
                    <a:solidFill>
                      <a:srgbClr val="E7EEEE"/>
                    </a:solidFill>
                  </a:tcPr>
                </a:tc>
                <a:tc>
                  <a:txBody>
                    <a:bodyPr/>
                    <a:lstStyle/>
                    <a:p>
                      <a:pPr algn="ctr"/>
                      <a:r>
                        <a:rPr lang="en-GB" sz="1400">
                          <a:effectLst/>
                        </a:rPr>
                        <a:t>OPO</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660585938"/>
                  </a:ext>
                </a:extLst>
              </a:tr>
              <a:tr h="198000">
                <a:tc>
                  <a:txBody>
                    <a:bodyPr/>
                    <a:lstStyle/>
                    <a:p>
                      <a:pPr algn="ctr"/>
                      <a:r>
                        <a:rPr lang="en-GB" sz="1400">
                          <a:effectLst/>
                        </a:rPr>
                        <a:t>22</a:t>
                      </a:r>
                      <a:endParaRPr lang="en-GB" sz="1400" dirty="0">
                        <a:effectLst/>
                      </a:endParaRPr>
                    </a:p>
                  </a:txBody>
                  <a:tcPr marL="25400" marR="25400" marT="19050" marB="19050" anchor="ctr">
                    <a:solidFill>
                      <a:srgbClr val="CBDCDB"/>
                    </a:solidFill>
                  </a:tcPr>
                </a:tc>
                <a:tc>
                  <a:txBody>
                    <a:bodyPr/>
                    <a:lstStyle/>
                    <a:p>
                      <a:pPr algn="ctr"/>
                      <a:r>
                        <a:rPr lang="en-GB" sz="1400">
                          <a:effectLst/>
                        </a:rPr>
                        <a:t>C019</a:t>
                      </a:r>
                      <a:endParaRPr lang="en-GB" sz="1400" dirty="0">
                        <a:effectLst/>
                      </a:endParaRPr>
                    </a:p>
                  </a:txBody>
                  <a:tcPr marL="25400" marR="25400" marT="19050" marB="19050" anchor="ctr">
                    <a:solidFill>
                      <a:srgbClr val="CBDCDB"/>
                    </a:solidFill>
                  </a:tcPr>
                </a:tc>
                <a:tc>
                  <a:txBody>
                    <a:bodyPr/>
                    <a:lstStyle/>
                    <a:p>
                      <a:pPr algn="ctr"/>
                      <a:r>
                        <a:rPr lang="en-GB" sz="1400" dirty="0">
                          <a:effectLst/>
                        </a:rPr>
                        <a:t>OPO</a:t>
                      </a:r>
                    </a:p>
                  </a:txBody>
                  <a:tcPr marL="25400" marR="25400" marT="19050" marB="19050" anchor="ctr">
                    <a:solidFill>
                      <a:srgbClr val="CBDCDB"/>
                    </a:solidFill>
                  </a:tcPr>
                </a:tc>
                <a:extLst>
                  <a:ext uri="{0D108BD9-81ED-4DB2-BD59-A6C34878D82A}">
                    <a16:rowId xmlns:a16="http://schemas.microsoft.com/office/drawing/2014/main" val="1936825881"/>
                  </a:ext>
                </a:extLst>
              </a:tr>
            </a:tbl>
          </a:graphicData>
        </a:graphic>
      </p:graphicFrame>
      <p:graphicFrame>
        <p:nvGraphicFramePr>
          <p:cNvPr id="14" name="Table 8">
            <a:extLst>
              <a:ext uri="{FF2B5EF4-FFF2-40B4-BE49-F238E27FC236}">
                <a16:creationId xmlns:a16="http://schemas.microsoft.com/office/drawing/2014/main" id="{65D0FC43-E3AD-564A-CED8-8A2051A5AEDA}"/>
              </a:ext>
            </a:extLst>
          </p:cNvPr>
          <p:cNvGraphicFramePr>
            <a:graphicFrameLocks noGrp="1"/>
          </p:cNvGraphicFramePr>
          <p:nvPr/>
        </p:nvGraphicFramePr>
        <p:xfrm>
          <a:off x="2032001" y="3880944"/>
          <a:ext cx="8127999" cy="1005840"/>
        </p:xfrm>
        <a:graphic>
          <a:graphicData uri="http://schemas.openxmlformats.org/drawingml/2006/table">
            <a:tbl>
              <a:tblPr firstRow="1" bandRow="1">
                <a:tableStyleId>{5C22544A-7EE6-4342-B048-85BDC9FD1C3A}</a:tableStyleId>
              </a:tblPr>
              <a:tblGrid>
                <a:gridCol w="1794189">
                  <a:extLst>
                    <a:ext uri="{9D8B030D-6E8A-4147-A177-3AD203B41FA5}">
                      <a16:colId xmlns:a16="http://schemas.microsoft.com/office/drawing/2014/main" val="125554846"/>
                    </a:ext>
                  </a:extLst>
                </a:gridCol>
                <a:gridCol w="3179134">
                  <a:extLst>
                    <a:ext uri="{9D8B030D-6E8A-4147-A177-3AD203B41FA5}">
                      <a16:colId xmlns:a16="http://schemas.microsoft.com/office/drawing/2014/main" val="1536079424"/>
                    </a:ext>
                  </a:extLst>
                </a:gridCol>
                <a:gridCol w="3154676">
                  <a:extLst>
                    <a:ext uri="{9D8B030D-6E8A-4147-A177-3AD203B41FA5}">
                      <a16:colId xmlns:a16="http://schemas.microsoft.com/office/drawing/2014/main" val="3560308858"/>
                    </a:ext>
                  </a:extLst>
                </a:gridCol>
              </a:tblGrid>
              <a:tr h="234000">
                <a:tc>
                  <a:txBody>
                    <a:bodyPr/>
                    <a:lstStyle/>
                    <a:p>
                      <a:pPr algn="ctr"/>
                      <a:r>
                        <a:rPr lang="en-GB" sz="1400" b="1">
                          <a:effectLst/>
                        </a:rPr>
                        <a:t>RPC (DE 1/10)</a:t>
                      </a:r>
                      <a:endParaRPr lang="en-GB" sz="1400" dirty="0">
                        <a:effectLst/>
                      </a:endParaRPr>
                    </a:p>
                  </a:txBody>
                  <a:tcPr marL="25400" marR="25400" marT="19050" marB="19050" anchor="ctr">
                    <a:solidFill>
                      <a:srgbClr val="00928C"/>
                    </a:solidFill>
                  </a:tcPr>
                </a:tc>
                <a:tc>
                  <a:txBody>
                    <a:bodyPr/>
                    <a:lstStyle/>
                    <a:p>
                      <a:pPr algn="ctr"/>
                      <a:r>
                        <a:rPr lang="fr-FR" sz="1400" b="1">
                          <a:effectLst/>
                        </a:rPr>
                        <a:t>Authorisation Document Code (DE 2/3)</a:t>
                      </a:r>
                      <a:endParaRPr lang="fr-FR" sz="1400" dirty="0">
                        <a:effectLst/>
                      </a:endParaRPr>
                    </a:p>
                  </a:txBody>
                  <a:tcPr marL="25400" marR="25400" marT="19050" marB="19050" anchor="ctr">
                    <a:solidFill>
                      <a:srgbClr val="00928C"/>
                    </a:solidFill>
                  </a:tcPr>
                </a:tc>
                <a:tc>
                  <a:txBody>
                    <a:bodyPr/>
                    <a:lstStyle/>
                    <a:p>
                      <a:pPr algn="ctr"/>
                      <a:r>
                        <a:rPr lang="en-GB" sz="1400" b="1">
                          <a:effectLst/>
                        </a:rPr>
                        <a:t>Special Procedure</a:t>
                      </a:r>
                      <a:endParaRPr lang="en-GB" sz="1400" dirty="0">
                        <a:effectLst/>
                      </a:endParaRPr>
                    </a:p>
                  </a:txBody>
                  <a:tcPr marL="25400" marR="25400" marT="19050" marB="19050" anchor="ctr">
                    <a:solidFill>
                      <a:srgbClr val="00928C"/>
                    </a:solidFill>
                  </a:tcPr>
                </a:tc>
                <a:extLst>
                  <a:ext uri="{0D108BD9-81ED-4DB2-BD59-A6C34878D82A}">
                    <a16:rowId xmlns:a16="http://schemas.microsoft.com/office/drawing/2014/main" val="2166333809"/>
                  </a:ext>
                </a:extLst>
              </a:tr>
              <a:tr h="234000">
                <a:tc>
                  <a:txBody>
                    <a:bodyPr/>
                    <a:lstStyle/>
                    <a:p>
                      <a:pPr algn="ctr"/>
                      <a:r>
                        <a:rPr lang="en-GB" sz="1400">
                          <a:effectLst/>
                        </a:rPr>
                        <a:t>21</a:t>
                      </a:r>
                      <a:endParaRPr lang="en-GB" sz="1400" dirty="0">
                        <a:effectLst/>
                      </a:endParaRPr>
                    </a:p>
                  </a:txBody>
                  <a:tcPr marL="25400" marR="25400" marT="19050" marB="19050" anchor="ctr">
                    <a:solidFill>
                      <a:srgbClr val="CBDCDB"/>
                    </a:solidFill>
                  </a:tcPr>
                </a:tc>
                <a:tc>
                  <a:txBody>
                    <a:bodyPr/>
                    <a:lstStyle/>
                    <a:p>
                      <a:pPr algn="ctr"/>
                      <a:r>
                        <a:rPr lang="en-GB" sz="1400">
                          <a:effectLst/>
                        </a:rPr>
                        <a:t>C019</a:t>
                      </a:r>
                      <a:endParaRPr lang="en-GB" sz="1400" dirty="0">
                        <a:effectLst/>
                      </a:endParaRPr>
                    </a:p>
                  </a:txBody>
                  <a:tcPr marL="25400" marR="25400" marT="19050" marB="19050" anchor="ctr">
                    <a:solidFill>
                      <a:srgbClr val="CBDCDB"/>
                    </a:solidFill>
                  </a:tcPr>
                </a:tc>
                <a:tc>
                  <a:txBody>
                    <a:bodyPr/>
                    <a:lstStyle/>
                    <a:p>
                      <a:pPr algn="ctr"/>
                      <a:r>
                        <a:rPr lang="en-GB" sz="1400">
                          <a:effectLst/>
                        </a:rPr>
                        <a:t>Outward Processing</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636306900"/>
                  </a:ext>
                </a:extLst>
              </a:tr>
              <a:tr h="234000">
                <a:tc>
                  <a:txBody>
                    <a:bodyPr/>
                    <a:lstStyle/>
                    <a:p>
                      <a:pPr algn="ctr"/>
                      <a:r>
                        <a:rPr lang="en-GB" sz="1400">
                          <a:effectLst/>
                        </a:rPr>
                        <a:t>11</a:t>
                      </a:r>
                      <a:endParaRPr lang="en-GB" sz="1400" dirty="0">
                        <a:effectLst/>
                      </a:endParaRPr>
                    </a:p>
                  </a:txBody>
                  <a:tcPr marL="25400" marR="25400" marT="19050" marB="19050" anchor="ctr">
                    <a:solidFill>
                      <a:srgbClr val="E7EEEE"/>
                    </a:solidFill>
                  </a:tcPr>
                </a:tc>
                <a:tc>
                  <a:txBody>
                    <a:bodyPr/>
                    <a:lstStyle/>
                    <a:p>
                      <a:pPr algn="ctr"/>
                      <a:r>
                        <a:rPr lang="en-GB" sz="1400">
                          <a:effectLst/>
                        </a:rPr>
                        <a:t>C601</a:t>
                      </a:r>
                      <a:endParaRPr lang="en-GB" sz="1400" dirty="0">
                        <a:effectLst/>
                      </a:endParaRPr>
                    </a:p>
                  </a:txBody>
                  <a:tcPr marL="25400" marR="25400" marT="19050" marB="19050" anchor="ctr">
                    <a:solidFill>
                      <a:srgbClr val="E7EEEE"/>
                    </a:solidFill>
                  </a:tcPr>
                </a:tc>
                <a:tc>
                  <a:txBody>
                    <a:bodyPr/>
                    <a:lstStyle/>
                    <a:p>
                      <a:pPr algn="ctr"/>
                      <a:r>
                        <a:rPr lang="en-GB" sz="1400">
                          <a:effectLst/>
                        </a:rPr>
                        <a:t>Inward Processing</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660585938"/>
                  </a:ext>
                </a:extLst>
              </a:tr>
              <a:tr h="234000">
                <a:tc>
                  <a:txBody>
                    <a:bodyPr/>
                    <a:lstStyle/>
                    <a:p>
                      <a:pPr algn="ctr"/>
                      <a:r>
                        <a:rPr lang="en-GB" sz="1400">
                          <a:effectLst/>
                        </a:rPr>
                        <a:t>22</a:t>
                      </a:r>
                      <a:endParaRPr lang="en-GB" sz="1400" dirty="0">
                        <a:effectLst/>
                      </a:endParaRPr>
                    </a:p>
                  </a:txBody>
                  <a:tcPr marL="25400" marR="25400" marT="19050" marB="19050" anchor="ctr">
                    <a:solidFill>
                      <a:srgbClr val="CBDCDB"/>
                    </a:solidFill>
                  </a:tcPr>
                </a:tc>
                <a:tc>
                  <a:txBody>
                    <a:bodyPr/>
                    <a:lstStyle/>
                    <a:p>
                      <a:pPr algn="ctr"/>
                      <a:r>
                        <a:rPr lang="en-GB" sz="1400">
                          <a:effectLst/>
                        </a:rPr>
                        <a:t>C019</a:t>
                      </a:r>
                      <a:endParaRPr lang="en-GB" sz="1400" dirty="0">
                        <a:effectLst/>
                      </a:endParaRPr>
                    </a:p>
                  </a:txBody>
                  <a:tcPr marL="25400" marR="25400" marT="19050" marB="19050" anchor="ctr">
                    <a:solidFill>
                      <a:srgbClr val="CBDCDB"/>
                    </a:solidFill>
                  </a:tcPr>
                </a:tc>
                <a:tc>
                  <a:txBody>
                    <a:bodyPr/>
                    <a:lstStyle/>
                    <a:p>
                      <a:pPr algn="ctr"/>
                      <a:r>
                        <a:rPr lang="en-GB" sz="1400" dirty="0">
                          <a:effectLst/>
                        </a:rPr>
                        <a:t>Outward Processing</a:t>
                      </a:r>
                    </a:p>
                  </a:txBody>
                  <a:tcPr marL="25400" marR="25400" marT="19050" marB="19050" anchor="ctr">
                    <a:solidFill>
                      <a:srgbClr val="CBDCDB"/>
                    </a:solidFill>
                  </a:tcPr>
                </a:tc>
                <a:extLst>
                  <a:ext uri="{0D108BD9-81ED-4DB2-BD59-A6C34878D82A}">
                    <a16:rowId xmlns:a16="http://schemas.microsoft.com/office/drawing/2014/main" val="1936825881"/>
                  </a:ext>
                </a:extLst>
              </a:tr>
            </a:tbl>
          </a:graphicData>
        </a:graphic>
      </p:graphicFrame>
    </p:spTree>
    <p:extLst>
      <p:ext uri="{BB962C8B-B14F-4D97-AF65-F5344CB8AC3E}">
        <p14:creationId xmlns:p14="http://schemas.microsoft.com/office/powerpoint/2010/main" val="398039943"/>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12" name="Rectangle 11">
            <a:extLst>
              <a:ext uri="{FF2B5EF4-FFF2-40B4-BE49-F238E27FC236}">
                <a16:creationId xmlns:a16="http://schemas.microsoft.com/office/drawing/2014/main" id="{6CCC46D6-F842-44BA-845A-27FA01C34081}"/>
              </a:ext>
            </a:extLst>
          </p:cNvPr>
          <p:cNvSpPr/>
          <p:nvPr/>
        </p:nvSpPr>
        <p:spPr>
          <a:xfrm>
            <a:off x="408711" y="1261285"/>
            <a:ext cx="11282159" cy="4185761"/>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Validation of Simplified Declaration Procedure (SDP) Authorisations on Type C, F, &amp; Y Declarations </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This feature expands on existing functionality to validate SDP Authorisations, to better guarantee that their use is legitimate. </a:t>
            </a:r>
          </a:p>
          <a:p>
            <a:pPr>
              <a:defRPr sz="1800" b="0" i="0" u="none" strike="noStrike" kern="0" cap="none" spc="0" baseline="0">
                <a:solidFill>
                  <a:srgbClr val="000000"/>
                </a:solidFill>
                <a:uFillTx/>
              </a:defRPr>
            </a:pPr>
            <a:r>
              <a:rPr lang="en-GB" sz="1400" dirty="0">
                <a:cs typeface="Calibri" panose="020F0502020204030204"/>
              </a:rPr>
              <a:t>From CDS4.4.0, further validations will be conducted on traders declaring a SCDP-SDE authorisation when a type C (Frontier), Type F (Pre-lodged) or Type Y (Supplementary) declaration is submitted, amended or arrived to ensure only authorised traders benefit from the SCDP-SDE process.</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CDS will mandate the declaration of Document Code ‘C512’ in DE 2/3.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Document Code ‘C512’ at item level in DE 2/3 and has declared a SCDP-SDE Authorisation Number in the "Document Identifier" sub-field of DE 2/3, CDS will ensure that the Authorisation is valid.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Document Code ‘C512’ at item level in DE 2/3, CDS will mandate the declaration of the Authorisation Type Code ‘SDE’ at header level in DE 3/39.</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Authorisation Type Code ‘SDE’ in DE 3/39 at header level, CDS will mandate the declaration of a valid EORI number in DE 3/39 (Holder of the Authorisation Identification Number) at header level, as per BAU.</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an EORI number against Authorisation Type Code ‘SDE’ in DE 3/39 (Holder of Authorisation Identification Number) at header level, CDS will ensure that the EORI owns the SCDP-SDE Authorisation declared in the "Document Identifier" subfield of DE 2/3.</a:t>
            </a:r>
          </a:p>
          <a:p>
            <a:pPr>
              <a:defRPr sz="1800" b="0" i="0" u="none" strike="noStrike" kern="0" cap="none" spc="0" baseline="0">
                <a:solidFill>
                  <a:srgbClr val="000000"/>
                </a:solidFill>
                <a:uFillTx/>
              </a:defRPr>
            </a:pPr>
            <a:r>
              <a:rPr lang="en-GB" sz="1400" i="0" dirty="0">
                <a:effectLst/>
                <a:cs typeface="Calibri" panose="020F0502020204030204"/>
              </a:rPr>
              <a:t>If any of the above criteria is not met, the declaration will be rejected, and the declarant will be issued a DMSREJ notification.</a:t>
            </a: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214</a:t>
            </a:fld>
            <a:endParaRPr lang="en-GB" dirty="0">
              <a:solidFill>
                <a:schemeClr val="tx1"/>
              </a:solidFill>
            </a:endParaRPr>
          </a:p>
        </p:txBody>
      </p:sp>
      <p:sp>
        <p:nvSpPr>
          <p:cNvPr id="8" name="Rectangle 7">
            <a:extLst>
              <a:ext uri="{FF2B5EF4-FFF2-40B4-BE49-F238E27FC236}">
                <a16:creationId xmlns:a16="http://schemas.microsoft.com/office/drawing/2014/main" id="{64468B36-97E8-A5A4-4681-908CD4EB2EFC}"/>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9" name="TextBox 12">
            <a:extLst>
              <a:ext uri="{FF2B5EF4-FFF2-40B4-BE49-F238E27FC236}">
                <a16:creationId xmlns:a16="http://schemas.microsoft.com/office/drawing/2014/main" id="{B78D5B76-CB36-0319-543B-7AF980E2FCB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3424182107"/>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7409" y="1266467"/>
            <a:ext cx="11282159" cy="256993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Validation of Customs Warehouse Authorisation</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cs typeface="Calibri" panose="020F0502020204030204"/>
              </a:rPr>
              <a:t>An authorisation validation will be carried out when a declarant brings goods into or takes goods out of a customs warehouse.</a:t>
            </a:r>
          </a:p>
          <a:p>
            <a:pPr>
              <a:defRPr sz="1800" b="0" i="0" u="none" strike="noStrike" kern="0" cap="none" spc="0" baseline="0">
                <a:solidFill>
                  <a:srgbClr val="000000"/>
                </a:solidFill>
                <a:uFillTx/>
              </a:defRPr>
            </a:pPr>
            <a:endParaRPr lang="en-GB" sz="10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 – Export Declarations:</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Warehouse Types R or U in DE 2/7, CDS will ensure that the appropriate Authorisation Type Code (see table below) is declared in DE 3/39 followed by the EORI Number.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Warehouse Type R in DE 2/7, CDS will ensure the EORI that follows the Authorisation Type Code CW1 in DE 3/39 is validated against the Authorisation Number in DE 2/3 (Identifier).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Warehouse Types U in DE 2/7, CDS will ensure the EORI that follows the Authorisation Type Code CWP in DE 3/39 is validated against the Authorisation Number in DE 2/3 (Identifier). </a:t>
            </a:r>
          </a:p>
          <a:p>
            <a:pPr>
              <a:defRPr sz="1800" b="0" i="0" u="none" strike="noStrike" kern="0" cap="none" spc="0" baseline="0">
                <a:solidFill>
                  <a:srgbClr val="000000"/>
                </a:solidFill>
                <a:uFillTx/>
              </a:defRPr>
            </a:pPr>
            <a:r>
              <a:rPr lang="en-GB" sz="1400" dirty="0">
                <a:cs typeface="Calibri" panose="020F0502020204030204"/>
              </a:rPr>
              <a:t>If any of the above validation checks fail, the declaration will be rejected and a DMSREJ notification will be issued to the trader. </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547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215</a:t>
            </a:fld>
            <a:endParaRPr lang="en-GB" dirty="0">
              <a:solidFill>
                <a:schemeClr val="tx1"/>
              </a:solidFill>
            </a:endParaRPr>
          </a:p>
        </p:txBody>
      </p:sp>
      <p:graphicFrame>
        <p:nvGraphicFramePr>
          <p:cNvPr id="6" name="Table 7">
            <a:extLst>
              <a:ext uri="{FF2B5EF4-FFF2-40B4-BE49-F238E27FC236}">
                <a16:creationId xmlns:a16="http://schemas.microsoft.com/office/drawing/2014/main" id="{C600116E-D077-82EC-7F4D-CC8604B5AF44}"/>
              </a:ext>
            </a:extLst>
          </p:cNvPr>
          <p:cNvGraphicFramePr>
            <a:graphicFrameLocks noGrp="1"/>
          </p:cNvGraphicFramePr>
          <p:nvPr/>
        </p:nvGraphicFramePr>
        <p:xfrm>
          <a:off x="2031600" y="4234618"/>
          <a:ext cx="8128800" cy="1508760"/>
        </p:xfrm>
        <a:graphic>
          <a:graphicData uri="http://schemas.openxmlformats.org/drawingml/2006/table">
            <a:tbl>
              <a:tblPr firstRow="1" bandRow="1">
                <a:tableStyleId>{5C22544A-7EE6-4342-B048-85BDC9FD1C3A}</a:tableStyleId>
              </a:tblPr>
              <a:tblGrid>
                <a:gridCol w="2032200">
                  <a:extLst>
                    <a:ext uri="{9D8B030D-6E8A-4147-A177-3AD203B41FA5}">
                      <a16:colId xmlns:a16="http://schemas.microsoft.com/office/drawing/2014/main" val="1974990642"/>
                    </a:ext>
                  </a:extLst>
                </a:gridCol>
                <a:gridCol w="2581549">
                  <a:extLst>
                    <a:ext uri="{9D8B030D-6E8A-4147-A177-3AD203B41FA5}">
                      <a16:colId xmlns:a16="http://schemas.microsoft.com/office/drawing/2014/main" val="18072921"/>
                    </a:ext>
                  </a:extLst>
                </a:gridCol>
                <a:gridCol w="1482851">
                  <a:extLst>
                    <a:ext uri="{9D8B030D-6E8A-4147-A177-3AD203B41FA5}">
                      <a16:colId xmlns:a16="http://schemas.microsoft.com/office/drawing/2014/main" val="3237444989"/>
                    </a:ext>
                  </a:extLst>
                </a:gridCol>
                <a:gridCol w="2032200">
                  <a:extLst>
                    <a:ext uri="{9D8B030D-6E8A-4147-A177-3AD203B41FA5}">
                      <a16:colId xmlns:a16="http://schemas.microsoft.com/office/drawing/2014/main" val="3026306781"/>
                    </a:ext>
                  </a:extLst>
                </a:gridCol>
              </a:tblGrid>
              <a:tr h="240000">
                <a:tc>
                  <a:txBody>
                    <a:bodyPr/>
                    <a:lstStyle/>
                    <a:p>
                      <a:pPr algn="ctr"/>
                      <a:r>
                        <a:rPr lang="en-GB" sz="1400" dirty="0">
                          <a:effectLst/>
                        </a:rPr>
                        <a:t>Warehouse Type Identifier</a:t>
                      </a:r>
                    </a:p>
                  </a:txBody>
                  <a:tcPr marL="25400" marR="25400" marT="19050" marB="19050" anchor="ctr">
                    <a:solidFill>
                      <a:srgbClr val="00928C"/>
                    </a:solidFill>
                  </a:tcPr>
                </a:tc>
                <a:tc>
                  <a:txBody>
                    <a:bodyPr/>
                    <a:lstStyle/>
                    <a:p>
                      <a:pPr algn="ctr"/>
                      <a:r>
                        <a:rPr lang="en-GB" sz="1400" dirty="0">
                          <a:effectLst/>
                        </a:rPr>
                        <a:t>Warehouse Type</a:t>
                      </a:r>
                    </a:p>
                  </a:txBody>
                  <a:tcPr marL="25400" marR="25400" marT="19050" marB="19050" anchor="ctr">
                    <a:solidFill>
                      <a:srgbClr val="00928C"/>
                    </a:solidFill>
                  </a:tcPr>
                </a:tc>
                <a:tc>
                  <a:txBody>
                    <a:bodyPr/>
                    <a:lstStyle/>
                    <a:p>
                      <a:pPr algn="ctr"/>
                      <a:r>
                        <a:rPr lang="en-GB" sz="1400">
                          <a:effectLst/>
                        </a:rPr>
                        <a:t>Document Code</a:t>
                      </a:r>
                    </a:p>
                  </a:txBody>
                  <a:tcPr marL="25400" marR="25400" marT="19050" marB="19050" anchor="ctr">
                    <a:solidFill>
                      <a:srgbClr val="00928C"/>
                    </a:solidFill>
                  </a:tcPr>
                </a:tc>
                <a:tc>
                  <a:txBody>
                    <a:bodyPr/>
                    <a:lstStyle/>
                    <a:p>
                      <a:pPr algn="ctr"/>
                      <a:r>
                        <a:rPr lang="en-GB" sz="1400" dirty="0">
                          <a:effectLst/>
                        </a:rPr>
                        <a:t>Authorisation Type Code</a:t>
                      </a:r>
                    </a:p>
                  </a:txBody>
                  <a:tcPr marL="25400" marR="25400" marT="19050" marB="19050" anchor="ctr">
                    <a:solidFill>
                      <a:srgbClr val="00928C"/>
                    </a:solidFill>
                  </a:tcPr>
                </a:tc>
                <a:extLst>
                  <a:ext uri="{0D108BD9-81ED-4DB2-BD59-A6C34878D82A}">
                    <a16:rowId xmlns:a16="http://schemas.microsoft.com/office/drawing/2014/main" val="4064226350"/>
                  </a:ext>
                </a:extLst>
              </a:tr>
              <a:tr h="240000">
                <a:tc>
                  <a:txBody>
                    <a:bodyPr/>
                    <a:lstStyle/>
                    <a:p>
                      <a:pPr algn="ctr"/>
                      <a:r>
                        <a:rPr lang="en-GB" sz="1400">
                          <a:effectLst/>
                        </a:rPr>
                        <a:t>R</a:t>
                      </a:r>
                      <a:endParaRPr lang="en-GB" sz="1400" dirty="0">
                        <a:effectLst/>
                      </a:endParaRPr>
                    </a:p>
                  </a:txBody>
                  <a:tcPr marL="25400" marR="25400" marT="19050" marB="19050" anchor="ctr">
                    <a:solidFill>
                      <a:srgbClr val="CBDCDB"/>
                    </a:solidFill>
                  </a:tcPr>
                </a:tc>
                <a:tc>
                  <a:txBody>
                    <a:bodyPr/>
                    <a:lstStyle/>
                    <a:p>
                      <a:pPr algn="ctr"/>
                      <a:r>
                        <a:rPr lang="en-GB" sz="1400">
                          <a:effectLst/>
                        </a:rPr>
                        <a:t>Public Customs Warehouse Type 1</a:t>
                      </a:r>
                      <a:endParaRPr lang="en-GB" sz="1400" dirty="0">
                        <a:effectLst/>
                      </a:endParaRPr>
                    </a:p>
                  </a:txBody>
                  <a:tcPr marL="25400" marR="25400" marT="19050" marB="19050" anchor="ctr">
                    <a:solidFill>
                      <a:srgbClr val="CBDCDB"/>
                    </a:solidFill>
                  </a:tcPr>
                </a:tc>
                <a:tc>
                  <a:txBody>
                    <a:bodyPr/>
                    <a:lstStyle/>
                    <a:p>
                      <a:pPr algn="ctr"/>
                      <a:r>
                        <a:rPr lang="en-GB" sz="1400">
                          <a:effectLst/>
                        </a:rPr>
                        <a:t>C518</a:t>
                      </a:r>
                      <a:endParaRPr lang="en-GB" sz="1400" dirty="0">
                        <a:effectLst/>
                      </a:endParaRPr>
                    </a:p>
                  </a:txBody>
                  <a:tcPr marL="25400" marR="25400" marT="19050" marB="19050" anchor="ctr">
                    <a:solidFill>
                      <a:srgbClr val="CBDCDB"/>
                    </a:solidFill>
                  </a:tcPr>
                </a:tc>
                <a:tc>
                  <a:txBody>
                    <a:bodyPr/>
                    <a:lstStyle/>
                    <a:p>
                      <a:pPr algn="ctr"/>
                      <a:r>
                        <a:rPr lang="en-GB" sz="1400">
                          <a:effectLst/>
                        </a:rPr>
                        <a:t>CW1</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895371645"/>
                  </a:ext>
                </a:extLst>
              </a:tr>
              <a:tr h="240000">
                <a:tc>
                  <a:txBody>
                    <a:bodyPr/>
                    <a:lstStyle/>
                    <a:p>
                      <a:pPr algn="ctr"/>
                      <a:r>
                        <a:rPr lang="en-GB" sz="1400">
                          <a:effectLst/>
                        </a:rPr>
                        <a:t>S</a:t>
                      </a:r>
                      <a:endParaRPr lang="en-GB" sz="1400" dirty="0">
                        <a:effectLst/>
                      </a:endParaRPr>
                    </a:p>
                  </a:txBody>
                  <a:tcPr marL="25400" marR="25400" marT="19050" marB="19050" anchor="ctr">
                    <a:solidFill>
                      <a:srgbClr val="E7EEEE"/>
                    </a:solidFill>
                  </a:tcPr>
                </a:tc>
                <a:tc>
                  <a:txBody>
                    <a:bodyPr/>
                    <a:lstStyle/>
                    <a:p>
                      <a:pPr algn="ctr"/>
                      <a:r>
                        <a:rPr lang="en-GB" sz="1400">
                          <a:effectLst/>
                        </a:rPr>
                        <a:t>Public Customs Warehouse Type 2</a:t>
                      </a:r>
                      <a:endParaRPr lang="en-GB" sz="1400" dirty="0">
                        <a:effectLst/>
                      </a:endParaRPr>
                    </a:p>
                  </a:txBody>
                  <a:tcPr marL="25400" marR="25400" marT="19050" marB="19050" anchor="ctr">
                    <a:solidFill>
                      <a:srgbClr val="E7EEEE"/>
                    </a:solidFill>
                  </a:tcPr>
                </a:tc>
                <a:tc>
                  <a:txBody>
                    <a:bodyPr/>
                    <a:lstStyle/>
                    <a:p>
                      <a:pPr algn="ctr"/>
                      <a:r>
                        <a:rPr lang="en-GB" sz="1400">
                          <a:effectLst/>
                        </a:rPr>
                        <a:t>C519</a:t>
                      </a:r>
                      <a:endParaRPr lang="en-GB" sz="1400" dirty="0">
                        <a:effectLst/>
                      </a:endParaRPr>
                    </a:p>
                  </a:txBody>
                  <a:tcPr marL="25400" marR="25400" marT="19050" marB="19050" anchor="ctr">
                    <a:solidFill>
                      <a:srgbClr val="E7EEEE"/>
                    </a:solidFill>
                  </a:tcPr>
                </a:tc>
                <a:tc>
                  <a:txBody>
                    <a:bodyPr/>
                    <a:lstStyle/>
                    <a:p>
                      <a:pPr algn="ctr"/>
                      <a:r>
                        <a:rPr lang="en-GB" sz="1400">
                          <a:effectLst/>
                        </a:rPr>
                        <a:t>CW2</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728146417"/>
                  </a:ext>
                </a:extLst>
              </a:tr>
              <a:tr h="240000">
                <a:tc>
                  <a:txBody>
                    <a:bodyPr/>
                    <a:lstStyle/>
                    <a:p>
                      <a:pPr algn="ctr"/>
                      <a:r>
                        <a:rPr lang="en-GB" sz="1400">
                          <a:effectLst/>
                        </a:rPr>
                        <a:t>U</a:t>
                      </a:r>
                      <a:endParaRPr lang="en-GB" sz="1400" dirty="0">
                        <a:effectLst/>
                      </a:endParaRPr>
                    </a:p>
                  </a:txBody>
                  <a:tcPr marL="25400" marR="25400" marT="19050" marB="19050" anchor="ctr">
                    <a:solidFill>
                      <a:srgbClr val="CBDCDB"/>
                    </a:solidFill>
                  </a:tcPr>
                </a:tc>
                <a:tc>
                  <a:txBody>
                    <a:bodyPr/>
                    <a:lstStyle/>
                    <a:p>
                      <a:pPr algn="ctr"/>
                      <a:r>
                        <a:rPr lang="en-GB" sz="1400">
                          <a:effectLst/>
                        </a:rPr>
                        <a:t>Private Customs Warehouse</a:t>
                      </a:r>
                      <a:endParaRPr lang="en-GB" sz="1400" dirty="0">
                        <a:effectLst/>
                      </a:endParaRPr>
                    </a:p>
                  </a:txBody>
                  <a:tcPr marL="25400" marR="25400" marT="19050" marB="19050" anchor="ctr">
                    <a:solidFill>
                      <a:srgbClr val="CBDCDB"/>
                    </a:solidFill>
                  </a:tcPr>
                </a:tc>
                <a:tc>
                  <a:txBody>
                    <a:bodyPr/>
                    <a:lstStyle/>
                    <a:p>
                      <a:pPr algn="ctr"/>
                      <a:r>
                        <a:rPr lang="en-GB" sz="1400">
                          <a:effectLst/>
                        </a:rPr>
                        <a:t>C517</a:t>
                      </a:r>
                      <a:endParaRPr lang="en-GB" sz="1400" dirty="0">
                        <a:effectLst/>
                      </a:endParaRPr>
                    </a:p>
                  </a:txBody>
                  <a:tcPr marL="25400" marR="25400" marT="19050" marB="19050" anchor="ctr">
                    <a:solidFill>
                      <a:srgbClr val="CBDCDB"/>
                    </a:solidFill>
                  </a:tcPr>
                </a:tc>
                <a:tc>
                  <a:txBody>
                    <a:bodyPr/>
                    <a:lstStyle/>
                    <a:p>
                      <a:pPr algn="ctr"/>
                      <a:r>
                        <a:rPr lang="en-GB" sz="1400">
                          <a:effectLst/>
                        </a:rPr>
                        <a:t>CWP</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425777909"/>
                  </a:ext>
                </a:extLst>
              </a:tr>
              <a:tr h="240000">
                <a:tc>
                  <a:txBody>
                    <a:bodyPr/>
                    <a:lstStyle/>
                    <a:p>
                      <a:pPr algn="ctr"/>
                      <a:r>
                        <a:rPr lang="en-GB" sz="1400">
                          <a:effectLst/>
                        </a:rPr>
                        <a:t>Y</a:t>
                      </a:r>
                      <a:endParaRPr lang="en-GB" sz="1400" dirty="0">
                        <a:effectLst/>
                      </a:endParaRPr>
                    </a:p>
                  </a:txBody>
                  <a:tcPr marL="25400" marR="25400" marT="19050" marB="19050" anchor="ctr">
                    <a:solidFill>
                      <a:srgbClr val="E7EEEE"/>
                    </a:solidFill>
                  </a:tcPr>
                </a:tc>
                <a:tc>
                  <a:txBody>
                    <a:bodyPr/>
                    <a:lstStyle/>
                    <a:p>
                      <a:pPr algn="ctr"/>
                      <a:r>
                        <a:rPr lang="en-GB" sz="1400">
                          <a:effectLst/>
                        </a:rPr>
                        <a:t>Non-Customs Warehouse</a:t>
                      </a:r>
                      <a:endParaRPr lang="en-GB" sz="1400" dirty="0">
                        <a:effectLst/>
                      </a:endParaRPr>
                    </a:p>
                  </a:txBody>
                  <a:tcPr marL="25400" marR="25400" marT="19050" marB="19050" anchor="ctr">
                    <a:solidFill>
                      <a:srgbClr val="E7EEEE"/>
                    </a:solidFill>
                  </a:tcPr>
                </a:tc>
                <a:tc>
                  <a:txBody>
                    <a:bodyPr/>
                    <a:lstStyle/>
                    <a:p>
                      <a:pPr algn="ctr"/>
                      <a:r>
                        <a:rPr lang="en-GB" sz="1400">
                          <a:effectLst/>
                        </a:rPr>
                        <a:t>C676</a:t>
                      </a:r>
                      <a:endParaRPr lang="en-GB" sz="1400" dirty="0">
                        <a:effectLst/>
                      </a:endParaRPr>
                    </a:p>
                  </a:txBody>
                  <a:tcPr marL="25400" marR="25400" marT="19050" marB="19050" anchor="ctr">
                    <a:solidFill>
                      <a:srgbClr val="E7EEEE"/>
                    </a:solidFill>
                  </a:tcPr>
                </a:tc>
                <a:tc>
                  <a:txBody>
                    <a:bodyPr/>
                    <a:lstStyle/>
                    <a:p>
                      <a:pPr algn="ctr"/>
                      <a:r>
                        <a:rPr lang="en-GB" sz="1400">
                          <a:effectLst/>
                        </a:rPr>
                        <a:t>EXW or EXWH</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2246993845"/>
                  </a:ext>
                </a:extLst>
              </a:tr>
              <a:tr h="240000">
                <a:tc>
                  <a:txBody>
                    <a:bodyPr/>
                    <a:lstStyle/>
                    <a:p>
                      <a:pPr algn="ctr"/>
                      <a:r>
                        <a:rPr lang="en-GB" sz="1400">
                          <a:effectLst/>
                        </a:rPr>
                        <a:t>Z</a:t>
                      </a:r>
                      <a:endParaRPr lang="en-GB" sz="1400" dirty="0">
                        <a:effectLst/>
                      </a:endParaRPr>
                    </a:p>
                  </a:txBody>
                  <a:tcPr marL="25400" marR="25400" marT="19050" marB="19050" anchor="ctr">
                    <a:solidFill>
                      <a:srgbClr val="CBDCDB"/>
                    </a:solidFill>
                  </a:tcPr>
                </a:tc>
                <a:tc>
                  <a:txBody>
                    <a:bodyPr/>
                    <a:lstStyle/>
                    <a:p>
                      <a:pPr algn="ctr"/>
                      <a:r>
                        <a:rPr lang="en-GB" sz="1400">
                          <a:effectLst/>
                        </a:rPr>
                        <a:t>Free Zone</a:t>
                      </a:r>
                      <a:endParaRPr lang="en-GB" sz="1400" dirty="0">
                        <a:effectLst/>
                      </a:endParaRPr>
                    </a:p>
                  </a:txBody>
                  <a:tcPr marL="25400" marR="25400" marT="19050" marB="19050" anchor="ctr">
                    <a:solidFill>
                      <a:srgbClr val="CBDCDB"/>
                    </a:solidFill>
                  </a:tcPr>
                </a:tc>
                <a:tc>
                  <a:txBody>
                    <a:bodyPr/>
                    <a:lstStyle/>
                    <a:p>
                      <a:pPr algn="ctr"/>
                      <a:r>
                        <a:rPr lang="en-GB" sz="1400">
                          <a:effectLst/>
                        </a:rPr>
                        <a:t>C600</a:t>
                      </a:r>
                      <a:endParaRPr lang="en-GB" sz="1400" dirty="0">
                        <a:effectLst/>
                      </a:endParaRPr>
                    </a:p>
                  </a:txBody>
                  <a:tcPr marL="25400" marR="25400" marT="19050" marB="19050" anchor="ctr">
                    <a:solidFill>
                      <a:srgbClr val="CBDCDB"/>
                    </a:solidFill>
                  </a:tcPr>
                </a:tc>
                <a:tc>
                  <a:txBody>
                    <a:bodyPr/>
                    <a:lstStyle/>
                    <a:p>
                      <a:pPr algn="ctr"/>
                      <a:r>
                        <a:rPr lang="en-GB" sz="1400" dirty="0">
                          <a:effectLst/>
                        </a:rPr>
                        <a:t>FZ</a:t>
                      </a:r>
                    </a:p>
                  </a:txBody>
                  <a:tcPr marL="25400" marR="25400" marT="19050" marB="19050" anchor="ctr">
                    <a:solidFill>
                      <a:srgbClr val="CBDCDB"/>
                    </a:solidFill>
                  </a:tcPr>
                </a:tc>
                <a:extLst>
                  <a:ext uri="{0D108BD9-81ED-4DB2-BD59-A6C34878D82A}">
                    <a16:rowId xmlns:a16="http://schemas.microsoft.com/office/drawing/2014/main" val="1943386967"/>
                  </a:ext>
                </a:extLst>
              </a:tr>
            </a:tbl>
          </a:graphicData>
        </a:graphic>
      </p:graphicFrame>
      <p:sp>
        <p:nvSpPr>
          <p:cNvPr id="9" name="Rectangle 8">
            <a:extLst>
              <a:ext uri="{FF2B5EF4-FFF2-40B4-BE49-F238E27FC236}">
                <a16:creationId xmlns:a16="http://schemas.microsoft.com/office/drawing/2014/main" id="{0A489CB8-BA00-B462-2D26-05A7E18A178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3907946733"/>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388609" y="1266467"/>
            <a:ext cx="11282159" cy="310854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dirty="0">
                <a:cs typeface="Calibri" panose="020F0502020204030204"/>
              </a:rPr>
              <a:t>Acceptance Criteria – Import Declarations:</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Requested Procedure Code 71 in DE 1/10 and warehouse type R or U* in DE 2/7, CDS will mandate for the appropriate Document Code in DE 2/3. If this check fails, CDS will reject the declaration and send a DMSREJ Notification to the trader.</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Document Code C517 in DE 2/3 on a H1, H2, H3, H4, H5, I1 or C21IEIDR type Import declaration, CDS will ensure the Authorisation Number declared in subfield 'Document Identifier' of DE 2/3 is a valid authorisation for warehousing. </a:t>
            </a:r>
          </a:p>
          <a:p>
            <a:pPr>
              <a:defRPr sz="1800" b="0" i="0" u="none" strike="noStrike" kern="0" cap="none" spc="0" baseline="0">
                <a:solidFill>
                  <a:srgbClr val="000000"/>
                </a:solidFill>
                <a:uFillTx/>
              </a:defRPr>
            </a:pPr>
            <a:r>
              <a:rPr lang="en-GB" sz="1400" dirty="0">
                <a:cs typeface="Calibri" panose="020F0502020204030204"/>
              </a:rPr>
              <a:t>If any of the above validation checks fail, the declaration will be rejected and a DMSREJ notification will be issued to the trader.</a:t>
            </a:r>
          </a:p>
          <a:p>
            <a:pPr>
              <a:defRPr sz="1800" b="0" i="0" u="none" strike="noStrike" kern="0" cap="none" spc="0" baseline="0">
                <a:solidFill>
                  <a:srgbClr val="000000"/>
                </a:solidFill>
                <a:uFillTx/>
              </a:defRPr>
            </a:pPr>
            <a:endParaRPr lang="en-GB" sz="1400" i="0" dirty="0">
              <a:effectLst/>
            </a:endParaRPr>
          </a:p>
          <a:p>
            <a:pPr>
              <a:defRPr sz="1800" b="0" i="0" u="none" strike="noStrike" kern="0" cap="none" spc="0" baseline="0">
                <a:solidFill>
                  <a:srgbClr val="000000"/>
                </a:solidFill>
                <a:uFillTx/>
              </a:defRPr>
            </a:pPr>
            <a:r>
              <a:rPr lang="en-GB" sz="1400" b="1" dirty="0">
                <a:cs typeface="Calibri" panose="020F0502020204030204"/>
              </a:rPr>
              <a:t>*Please note: </a:t>
            </a:r>
            <a:r>
              <a:rPr lang="en-GB" sz="1400" dirty="0">
                <a:cs typeface="Calibri" panose="020F0502020204030204"/>
              </a:rPr>
              <a:t>Procedure code 71 can also be used with Warehouse Types S &amp; T.</a:t>
            </a: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216</a:t>
            </a:fld>
            <a:endParaRPr lang="en-GB" dirty="0">
              <a:solidFill>
                <a:schemeClr val="tx1"/>
              </a:solidFill>
            </a:endParaRPr>
          </a:p>
        </p:txBody>
      </p:sp>
      <p:graphicFrame>
        <p:nvGraphicFramePr>
          <p:cNvPr id="6" name="Table 7">
            <a:extLst>
              <a:ext uri="{FF2B5EF4-FFF2-40B4-BE49-F238E27FC236}">
                <a16:creationId xmlns:a16="http://schemas.microsoft.com/office/drawing/2014/main" id="{D87B2CC6-F630-4F70-1CBE-E32FF9CDC9B4}"/>
              </a:ext>
            </a:extLst>
          </p:cNvPr>
          <p:cNvGraphicFramePr>
            <a:graphicFrameLocks noGrp="1"/>
          </p:cNvGraphicFramePr>
          <p:nvPr/>
        </p:nvGraphicFramePr>
        <p:xfrm>
          <a:off x="2032001" y="2135444"/>
          <a:ext cx="8127999" cy="754380"/>
        </p:xfrm>
        <a:graphic>
          <a:graphicData uri="http://schemas.openxmlformats.org/drawingml/2006/table">
            <a:tbl>
              <a:tblPr firstRow="1" bandRow="1">
                <a:tableStyleId>{5C22544A-7EE6-4342-B048-85BDC9FD1C3A}</a:tableStyleId>
              </a:tblPr>
              <a:tblGrid>
                <a:gridCol w="2709333">
                  <a:extLst>
                    <a:ext uri="{9D8B030D-6E8A-4147-A177-3AD203B41FA5}">
                      <a16:colId xmlns:a16="http://schemas.microsoft.com/office/drawing/2014/main" val="3996646519"/>
                    </a:ext>
                  </a:extLst>
                </a:gridCol>
                <a:gridCol w="2709333">
                  <a:extLst>
                    <a:ext uri="{9D8B030D-6E8A-4147-A177-3AD203B41FA5}">
                      <a16:colId xmlns:a16="http://schemas.microsoft.com/office/drawing/2014/main" val="2850686096"/>
                    </a:ext>
                  </a:extLst>
                </a:gridCol>
                <a:gridCol w="2709333">
                  <a:extLst>
                    <a:ext uri="{9D8B030D-6E8A-4147-A177-3AD203B41FA5}">
                      <a16:colId xmlns:a16="http://schemas.microsoft.com/office/drawing/2014/main" val="2469259286"/>
                    </a:ext>
                  </a:extLst>
                </a:gridCol>
              </a:tblGrid>
              <a:tr h="240000">
                <a:tc>
                  <a:txBody>
                    <a:bodyPr/>
                    <a:lstStyle/>
                    <a:p>
                      <a:pPr algn="ctr"/>
                      <a:r>
                        <a:rPr lang="en-GB" sz="1400" b="1">
                          <a:effectLst/>
                        </a:rPr>
                        <a:t>Description</a:t>
                      </a:r>
                      <a:endParaRPr lang="en-GB" sz="1400" dirty="0">
                        <a:effectLst/>
                      </a:endParaRPr>
                    </a:p>
                  </a:txBody>
                  <a:tcPr marL="25400" marR="25400" marT="19050" marB="19050" anchor="ctr">
                    <a:solidFill>
                      <a:srgbClr val="00928C"/>
                    </a:solidFill>
                  </a:tcPr>
                </a:tc>
                <a:tc>
                  <a:txBody>
                    <a:bodyPr/>
                    <a:lstStyle/>
                    <a:p>
                      <a:pPr algn="ctr"/>
                      <a:r>
                        <a:rPr lang="nl-NL" sz="1400" b="1">
                          <a:effectLst/>
                        </a:rPr>
                        <a:t>Warehouse Type ID (DE 2/7)</a:t>
                      </a:r>
                      <a:endParaRPr lang="nl-NL" sz="1400" dirty="0">
                        <a:effectLst/>
                      </a:endParaRPr>
                    </a:p>
                  </a:txBody>
                  <a:tcPr marL="25400" marR="25400" marT="19050" marB="19050" anchor="ctr">
                    <a:solidFill>
                      <a:srgbClr val="00928C"/>
                    </a:solidFill>
                  </a:tcPr>
                </a:tc>
                <a:tc>
                  <a:txBody>
                    <a:bodyPr/>
                    <a:lstStyle/>
                    <a:p>
                      <a:pPr algn="ctr"/>
                      <a:r>
                        <a:rPr lang="en-GB" sz="1400" b="1">
                          <a:effectLst/>
                        </a:rPr>
                        <a:t>Document Code (DE2/3)</a:t>
                      </a:r>
                      <a:endParaRPr lang="en-GB" sz="1400" dirty="0">
                        <a:effectLst/>
                      </a:endParaRPr>
                    </a:p>
                  </a:txBody>
                  <a:tcPr marL="25400" marR="25400" marT="19050" marB="19050" anchor="ctr">
                    <a:solidFill>
                      <a:srgbClr val="00928C"/>
                    </a:solidFill>
                  </a:tcPr>
                </a:tc>
                <a:extLst>
                  <a:ext uri="{0D108BD9-81ED-4DB2-BD59-A6C34878D82A}">
                    <a16:rowId xmlns:a16="http://schemas.microsoft.com/office/drawing/2014/main" val="90960188"/>
                  </a:ext>
                </a:extLst>
              </a:tr>
              <a:tr h="240000">
                <a:tc>
                  <a:txBody>
                    <a:bodyPr/>
                    <a:lstStyle/>
                    <a:p>
                      <a:pPr algn="ctr"/>
                      <a:r>
                        <a:rPr lang="en-GB" sz="1400">
                          <a:effectLst/>
                        </a:rPr>
                        <a:t>Public Customs Warehouse Type 1</a:t>
                      </a:r>
                      <a:endParaRPr lang="en-GB" sz="1400" dirty="0">
                        <a:effectLst/>
                      </a:endParaRPr>
                    </a:p>
                  </a:txBody>
                  <a:tcPr marL="25400" marR="25400" marT="19050" marB="19050" anchor="ctr">
                    <a:solidFill>
                      <a:srgbClr val="CBDCDB"/>
                    </a:solidFill>
                  </a:tcPr>
                </a:tc>
                <a:tc>
                  <a:txBody>
                    <a:bodyPr/>
                    <a:lstStyle/>
                    <a:p>
                      <a:pPr algn="ctr"/>
                      <a:r>
                        <a:rPr lang="en-GB" sz="1400">
                          <a:effectLst/>
                        </a:rPr>
                        <a:t>R</a:t>
                      </a:r>
                      <a:endParaRPr lang="en-GB" sz="1400" dirty="0">
                        <a:effectLst/>
                      </a:endParaRPr>
                    </a:p>
                  </a:txBody>
                  <a:tcPr marL="25400" marR="25400" marT="19050" marB="19050" anchor="ctr">
                    <a:solidFill>
                      <a:srgbClr val="CBDCDB"/>
                    </a:solidFill>
                  </a:tcPr>
                </a:tc>
                <a:tc>
                  <a:txBody>
                    <a:bodyPr/>
                    <a:lstStyle/>
                    <a:p>
                      <a:pPr algn="ctr"/>
                      <a:r>
                        <a:rPr lang="en-GB" sz="1400">
                          <a:effectLst/>
                        </a:rPr>
                        <a:t>C518</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1154995169"/>
                  </a:ext>
                </a:extLst>
              </a:tr>
              <a:tr h="240000">
                <a:tc>
                  <a:txBody>
                    <a:bodyPr/>
                    <a:lstStyle/>
                    <a:p>
                      <a:pPr algn="ctr"/>
                      <a:r>
                        <a:rPr lang="en-GB" sz="1400">
                          <a:effectLst/>
                        </a:rPr>
                        <a:t>Private Customs Warehouse</a:t>
                      </a:r>
                      <a:endParaRPr lang="en-GB" sz="1400" dirty="0">
                        <a:effectLst/>
                      </a:endParaRPr>
                    </a:p>
                  </a:txBody>
                  <a:tcPr marL="25400" marR="25400" marT="19050" marB="19050" anchor="ctr">
                    <a:solidFill>
                      <a:srgbClr val="E7EEEE"/>
                    </a:solidFill>
                  </a:tcPr>
                </a:tc>
                <a:tc>
                  <a:txBody>
                    <a:bodyPr/>
                    <a:lstStyle/>
                    <a:p>
                      <a:pPr algn="ctr"/>
                      <a:r>
                        <a:rPr lang="en-GB" sz="1400">
                          <a:effectLst/>
                        </a:rPr>
                        <a:t>U</a:t>
                      </a:r>
                      <a:endParaRPr lang="en-GB" sz="1400" dirty="0">
                        <a:effectLst/>
                      </a:endParaRPr>
                    </a:p>
                  </a:txBody>
                  <a:tcPr marL="25400" marR="25400" marT="19050" marB="19050" anchor="ctr">
                    <a:solidFill>
                      <a:srgbClr val="E7EEEE"/>
                    </a:solidFill>
                  </a:tcPr>
                </a:tc>
                <a:tc>
                  <a:txBody>
                    <a:bodyPr/>
                    <a:lstStyle/>
                    <a:p>
                      <a:pPr algn="ctr"/>
                      <a:r>
                        <a:rPr lang="en-GB" sz="1400" dirty="0">
                          <a:effectLst/>
                        </a:rPr>
                        <a:t>C517</a:t>
                      </a:r>
                    </a:p>
                  </a:txBody>
                  <a:tcPr marL="25400" marR="25400" marT="19050" marB="19050" anchor="ctr">
                    <a:solidFill>
                      <a:srgbClr val="E7EEEE"/>
                    </a:solidFill>
                  </a:tcPr>
                </a:tc>
                <a:extLst>
                  <a:ext uri="{0D108BD9-81ED-4DB2-BD59-A6C34878D82A}">
                    <a16:rowId xmlns:a16="http://schemas.microsoft.com/office/drawing/2014/main" val="3572771337"/>
                  </a:ext>
                </a:extLst>
              </a:tr>
            </a:tbl>
          </a:graphicData>
        </a:graphic>
      </p:graphicFrame>
      <p:sp>
        <p:nvSpPr>
          <p:cNvPr id="9" name="Rectangle 8">
            <a:extLst>
              <a:ext uri="{FF2B5EF4-FFF2-40B4-BE49-F238E27FC236}">
                <a16:creationId xmlns:a16="http://schemas.microsoft.com/office/drawing/2014/main" id="{FA7397FC-4FDB-5E15-F6EF-9FB920A7946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983447733"/>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7271" y="1267266"/>
            <a:ext cx="11282159" cy="3323987"/>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Validation of a Customs Comprehensive Guarantee (CCG)</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cs typeface="Calibri" panose="020F0502020204030204"/>
              </a:rPr>
              <a:t>This feature expands on existing functionality to validate a trader’s authorisation when they submit a declaration with a CCG to ensure that they have required permissions to use the CCG.</a:t>
            </a:r>
            <a:endParaRPr lang="en-GB" sz="1400" i="0" dirty="0">
              <a:effectLst/>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a:t>
            </a:r>
            <a:endParaRPr lang="en-GB" sz="1400" b="1" i="0" dirty="0">
              <a:effectLst/>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Guarantee Type code '0' or '1' in DE 8/2, CDS will mandate the declaration of 'Other Guarantee Reference' field at Header Level in DE 8/3.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the Document Code 'C505' without a Document Status Code in DE 2/3, CDS </a:t>
            </a:r>
            <a:r>
              <a:rPr lang="en-GB" sz="1400" dirty="0"/>
              <a:t>will</a:t>
            </a:r>
            <a:r>
              <a:rPr lang="en-GB" sz="1400" i="0" dirty="0">
                <a:effectLst/>
              </a:rPr>
              <a:t> ensure the Authorisation Decision Number in DE 2/3 is validated against the EORI number in DE 3/39 against code ‘CGU’.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Guarantee Type Code '0' or '1' in DE 8/2, CDS </a:t>
            </a:r>
            <a:r>
              <a:rPr lang="en-GB" sz="1400" dirty="0"/>
              <a:t>will</a:t>
            </a:r>
            <a:r>
              <a:rPr lang="en-GB" sz="1400" i="0" dirty="0">
                <a:effectLst/>
              </a:rPr>
              <a:t> mandate the entry of Authorisation Decision Number in the subfield ‘Document Identifier’ along with the Document Code 'C505' in DE 2/3.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Document Code 'C505' in DE 2/3, CDS </a:t>
            </a:r>
            <a:r>
              <a:rPr lang="en-GB" sz="1400" dirty="0"/>
              <a:t>will</a:t>
            </a:r>
            <a:r>
              <a:rPr lang="en-GB" sz="1400" i="0" dirty="0">
                <a:effectLst/>
              </a:rPr>
              <a:t> mandate the declaration of Authorisation Type Code ‘CGU’ in DE 3/39, except for when any of the following Guarantee Type Codes are declared in DE 8/2:</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217</a:t>
            </a:fld>
            <a:endParaRPr lang="en-GB" dirty="0">
              <a:solidFill>
                <a:schemeClr val="tx1"/>
              </a:solidFill>
            </a:endParaRPr>
          </a:p>
        </p:txBody>
      </p:sp>
      <p:sp>
        <p:nvSpPr>
          <p:cNvPr id="8" name="Rectangle 7">
            <a:extLst>
              <a:ext uri="{FF2B5EF4-FFF2-40B4-BE49-F238E27FC236}">
                <a16:creationId xmlns:a16="http://schemas.microsoft.com/office/drawing/2014/main" id="{4E072E70-0C67-3B45-C0C5-9CED5AA1B46E}"/>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graphicFrame>
        <p:nvGraphicFramePr>
          <p:cNvPr id="13" name="Table 8">
            <a:extLst>
              <a:ext uri="{FF2B5EF4-FFF2-40B4-BE49-F238E27FC236}">
                <a16:creationId xmlns:a16="http://schemas.microsoft.com/office/drawing/2014/main" id="{207C5622-1BB9-098B-F5C2-D6D2E97634CB}"/>
              </a:ext>
            </a:extLst>
          </p:cNvPr>
          <p:cNvGraphicFramePr>
            <a:graphicFrameLocks noGrp="1"/>
          </p:cNvGraphicFramePr>
          <p:nvPr/>
        </p:nvGraphicFramePr>
        <p:xfrm>
          <a:off x="2031600" y="4110047"/>
          <a:ext cx="8128800" cy="2263140"/>
        </p:xfrm>
        <a:graphic>
          <a:graphicData uri="http://schemas.openxmlformats.org/drawingml/2006/table">
            <a:tbl>
              <a:tblPr firstRow="1" bandRow="1">
                <a:tableStyleId>{5C22544A-7EE6-4342-B048-85BDC9FD1C3A}</a:tableStyleId>
              </a:tblPr>
              <a:tblGrid>
                <a:gridCol w="2374134">
                  <a:extLst>
                    <a:ext uri="{9D8B030D-6E8A-4147-A177-3AD203B41FA5}">
                      <a16:colId xmlns:a16="http://schemas.microsoft.com/office/drawing/2014/main" val="3098986883"/>
                    </a:ext>
                  </a:extLst>
                </a:gridCol>
                <a:gridCol w="5754666">
                  <a:extLst>
                    <a:ext uri="{9D8B030D-6E8A-4147-A177-3AD203B41FA5}">
                      <a16:colId xmlns:a16="http://schemas.microsoft.com/office/drawing/2014/main" val="3877869798"/>
                    </a:ext>
                  </a:extLst>
                </a:gridCol>
              </a:tblGrid>
              <a:tr h="244000">
                <a:tc>
                  <a:txBody>
                    <a:bodyPr/>
                    <a:lstStyle/>
                    <a:p>
                      <a:pPr algn="ctr"/>
                      <a:r>
                        <a:rPr lang="en-GB" sz="1400" dirty="0">
                          <a:effectLst/>
                        </a:rPr>
                        <a:t>Guarantee Type code (DE 8/2)</a:t>
                      </a:r>
                    </a:p>
                  </a:txBody>
                  <a:tcPr marL="25400" marR="25400" marT="19050" marB="19050" anchor="ctr">
                    <a:solidFill>
                      <a:srgbClr val="00928C"/>
                    </a:solidFill>
                  </a:tcPr>
                </a:tc>
                <a:tc>
                  <a:txBody>
                    <a:bodyPr/>
                    <a:lstStyle/>
                    <a:p>
                      <a:pPr algn="ctr"/>
                      <a:r>
                        <a:rPr lang="en-GB" sz="1400" dirty="0">
                          <a:effectLst/>
                        </a:rPr>
                        <a:t>Guarantee Waiver for</a:t>
                      </a:r>
                    </a:p>
                  </a:txBody>
                  <a:tcPr marL="25400" marR="25400" marT="19050" marB="19050" anchor="ctr">
                    <a:solidFill>
                      <a:srgbClr val="00928C"/>
                    </a:solidFill>
                  </a:tcPr>
                </a:tc>
                <a:extLst>
                  <a:ext uri="{0D108BD9-81ED-4DB2-BD59-A6C34878D82A}">
                    <a16:rowId xmlns:a16="http://schemas.microsoft.com/office/drawing/2014/main" val="818793581"/>
                  </a:ext>
                </a:extLst>
              </a:tr>
              <a:tr h="244000">
                <a:tc>
                  <a:txBody>
                    <a:bodyPr/>
                    <a:lstStyle/>
                    <a:p>
                      <a:pPr algn="ctr"/>
                      <a:r>
                        <a:rPr lang="en-GB" sz="1400">
                          <a:effectLst/>
                        </a:rPr>
                        <a:t>5</a:t>
                      </a:r>
                      <a:endParaRPr lang="en-GB" sz="1400" dirty="0">
                        <a:effectLst/>
                      </a:endParaRPr>
                    </a:p>
                  </a:txBody>
                  <a:tcPr marL="25400" marR="25400" marT="19050" marB="19050" anchor="ctr">
                    <a:solidFill>
                      <a:srgbClr val="CBDCDB"/>
                    </a:solidFill>
                  </a:tcPr>
                </a:tc>
                <a:tc>
                  <a:txBody>
                    <a:bodyPr/>
                    <a:lstStyle/>
                    <a:p>
                      <a:pPr algn="ctr"/>
                      <a:r>
                        <a:rPr lang="en-GB" sz="1400">
                          <a:effectLst/>
                        </a:rPr>
                        <a:t>Goods under statistical value threshold (Only for NI)</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429670387"/>
                  </a:ext>
                </a:extLst>
              </a:tr>
              <a:tr h="244000">
                <a:tc>
                  <a:txBody>
                    <a:bodyPr/>
                    <a:lstStyle/>
                    <a:p>
                      <a:pPr algn="ctr"/>
                      <a:r>
                        <a:rPr lang="en-GB" sz="1400">
                          <a:effectLst/>
                        </a:rPr>
                        <a:t>8</a:t>
                      </a:r>
                      <a:endParaRPr lang="en-GB" sz="1400" dirty="0">
                        <a:effectLst/>
                      </a:endParaRPr>
                    </a:p>
                  </a:txBody>
                  <a:tcPr marL="25400" marR="25400" marT="19050" marB="19050" anchor="ctr">
                    <a:solidFill>
                      <a:srgbClr val="E7EEEE"/>
                    </a:solidFill>
                  </a:tcPr>
                </a:tc>
                <a:tc>
                  <a:txBody>
                    <a:bodyPr/>
                    <a:lstStyle/>
                    <a:p>
                      <a:pPr algn="ctr"/>
                      <a:r>
                        <a:rPr lang="en-GB" sz="1400">
                          <a:effectLst/>
                        </a:rPr>
                        <a:t>OGDs and certain public bodies</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4048765518"/>
                  </a:ext>
                </a:extLst>
              </a:tr>
              <a:tr h="244000">
                <a:tc>
                  <a:txBody>
                    <a:bodyPr/>
                    <a:lstStyle/>
                    <a:p>
                      <a:pPr algn="ctr"/>
                      <a:r>
                        <a:rPr lang="en-GB" sz="1400">
                          <a:effectLst/>
                        </a:rPr>
                        <a:t>C</a:t>
                      </a:r>
                      <a:endParaRPr lang="en-GB" sz="1400" dirty="0">
                        <a:effectLst/>
                      </a:endParaRPr>
                    </a:p>
                  </a:txBody>
                  <a:tcPr marL="25400" marR="25400" marT="19050" marB="19050" anchor="ctr">
                    <a:solidFill>
                      <a:srgbClr val="CBDCDB"/>
                    </a:solidFill>
                  </a:tcPr>
                </a:tc>
                <a:tc>
                  <a:txBody>
                    <a:bodyPr/>
                    <a:lstStyle/>
                    <a:p>
                      <a:pPr algn="ctr"/>
                      <a:r>
                        <a:rPr lang="en-GB" sz="1400">
                          <a:effectLst/>
                        </a:rPr>
                        <a:t>Goods carried by fixed transport installations</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246452273"/>
                  </a:ext>
                </a:extLst>
              </a:tr>
              <a:tr h="244000">
                <a:tc>
                  <a:txBody>
                    <a:bodyPr/>
                    <a:lstStyle/>
                    <a:p>
                      <a:pPr algn="ctr"/>
                      <a:r>
                        <a:rPr lang="en-GB" sz="1400">
                          <a:effectLst/>
                        </a:rPr>
                        <a:t>D</a:t>
                      </a:r>
                      <a:endParaRPr lang="en-GB" sz="1400" dirty="0">
                        <a:effectLst/>
                      </a:endParaRPr>
                    </a:p>
                  </a:txBody>
                  <a:tcPr marL="25400" marR="25400" marT="19050" marB="19050" anchor="ctr">
                    <a:solidFill>
                      <a:srgbClr val="E7EEEE"/>
                    </a:solidFill>
                  </a:tcPr>
                </a:tc>
                <a:tc>
                  <a:txBody>
                    <a:bodyPr/>
                    <a:lstStyle/>
                    <a:p>
                      <a:pPr algn="ctr"/>
                      <a:r>
                        <a:rPr lang="en-GB" sz="1400">
                          <a:effectLst/>
                        </a:rPr>
                        <a:t>Goods placed under the temporary admission procedure (Article 81(a))</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644027256"/>
                  </a:ext>
                </a:extLst>
              </a:tr>
              <a:tr h="244000">
                <a:tc>
                  <a:txBody>
                    <a:bodyPr/>
                    <a:lstStyle/>
                    <a:p>
                      <a:pPr algn="ctr"/>
                      <a:r>
                        <a:rPr lang="en-GB" sz="1400">
                          <a:effectLst/>
                        </a:rPr>
                        <a:t>E</a:t>
                      </a:r>
                      <a:endParaRPr lang="en-GB" sz="1400" dirty="0">
                        <a:effectLst/>
                      </a:endParaRPr>
                    </a:p>
                  </a:txBody>
                  <a:tcPr marL="25400" marR="25400" marT="19050" marB="19050" anchor="ctr">
                    <a:solidFill>
                      <a:srgbClr val="CBDCDB"/>
                    </a:solidFill>
                  </a:tcPr>
                </a:tc>
                <a:tc>
                  <a:txBody>
                    <a:bodyPr/>
                    <a:lstStyle/>
                    <a:p>
                      <a:pPr algn="ctr"/>
                      <a:r>
                        <a:rPr lang="en-GB" sz="1400">
                          <a:effectLst/>
                        </a:rPr>
                        <a:t>Goods placed under the temporary admission procedure (Article 81(b))</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566100583"/>
                  </a:ext>
                </a:extLst>
              </a:tr>
              <a:tr h="244000">
                <a:tc>
                  <a:txBody>
                    <a:bodyPr/>
                    <a:lstStyle/>
                    <a:p>
                      <a:pPr algn="ctr"/>
                      <a:r>
                        <a:rPr lang="en-GB" sz="1400">
                          <a:effectLst/>
                        </a:rPr>
                        <a:t>F</a:t>
                      </a:r>
                      <a:endParaRPr lang="en-GB" sz="1400" dirty="0">
                        <a:effectLst/>
                      </a:endParaRPr>
                    </a:p>
                  </a:txBody>
                  <a:tcPr marL="25400" marR="25400" marT="19050" marB="19050" anchor="ctr">
                    <a:solidFill>
                      <a:srgbClr val="E7EEEE"/>
                    </a:solidFill>
                  </a:tcPr>
                </a:tc>
                <a:tc>
                  <a:txBody>
                    <a:bodyPr/>
                    <a:lstStyle/>
                    <a:p>
                      <a:pPr algn="ctr"/>
                      <a:r>
                        <a:rPr lang="en-GB" sz="1400">
                          <a:effectLst/>
                        </a:rPr>
                        <a:t>Goods placed under the temporary admission procedure (Article 81(c))</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1743069414"/>
                  </a:ext>
                </a:extLst>
              </a:tr>
              <a:tr h="244000">
                <a:tc>
                  <a:txBody>
                    <a:bodyPr/>
                    <a:lstStyle/>
                    <a:p>
                      <a:pPr algn="ctr"/>
                      <a:r>
                        <a:rPr lang="en-GB" sz="1400">
                          <a:effectLst/>
                        </a:rPr>
                        <a:t>G</a:t>
                      </a:r>
                      <a:endParaRPr lang="en-GB" sz="1400" dirty="0">
                        <a:effectLst/>
                      </a:endParaRPr>
                    </a:p>
                  </a:txBody>
                  <a:tcPr marL="25400" marR="25400" marT="19050" marB="19050" anchor="ctr">
                    <a:solidFill>
                      <a:srgbClr val="CBDCDB"/>
                    </a:solidFill>
                  </a:tcPr>
                </a:tc>
                <a:tc>
                  <a:txBody>
                    <a:bodyPr/>
                    <a:lstStyle/>
                    <a:p>
                      <a:pPr algn="ctr"/>
                      <a:r>
                        <a:rPr lang="en-GB" sz="1400">
                          <a:effectLst/>
                        </a:rPr>
                        <a:t>Goods placed under the temporary admission procedure (Article 81(d))</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715131024"/>
                  </a:ext>
                </a:extLst>
              </a:tr>
              <a:tr h="244000">
                <a:tc>
                  <a:txBody>
                    <a:bodyPr/>
                    <a:lstStyle/>
                    <a:p>
                      <a:pPr algn="ctr"/>
                      <a:r>
                        <a:rPr lang="en-GB" sz="1400">
                          <a:effectLst/>
                        </a:rPr>
                        <a:t>H</a:t>
                      </a:r>
                      <a:endParaRPr lang="en-GB" sz="1400" dirty="0">
                        <a:effectLst/>
                      </a:endParaRPr>
                    </a:p>
                  </a:txBody>
                  <a:tcPr marL="25400" marR="25400" marT="19050" marB="19050" anchor="ctr">
                    <a:solidFill>
                      <a:srgbClr val="CBDCDB"/>
                    </a:solidFill>
                  </a:tcPr>
                </a:tc>
                <a:tc>
                  <a:txBody>
                    <a:bodyPr/>
                    <a:lstStyle/>
                    <a:p>
                      <a:pPr algn="ctr"/>
                      <a:r>
                        <a:rPr lang="en-GB" sz="1400" dirty="0">
                          <a:effectLst/>
                        </a:rPr>
                        <a:t>Goods placed under the Union transit procedure</a:t>
                      </a:r>
                    </a:p>
                  </a:txBody>
                  <a:tcPr marL="25400" marR="25400" marT="19050" marB="19050" anchor="ctr">
                    <a:solidFill>
                      <a:srgbClr val="CBDCDB"/>
                    </a:solidFill>
                  </a:tcPr>
                </a:tc>
                <a:extLst>
                  <a:ext uri="{0D108BD9-81ED-4DB2-BD59-A6C34878D82A}">
                    <a16:rowId xmlns:a16="http://schemas.microsoft.com/office/drawing/2014/main" val="321756843"/>
                  </a:ext>
                </a:extLst>
              </a:tr>
            </a:tbl>
          </a:graphicData>
        </a:graphic>
      </p:graphicFrame>
    </p:spTree>
    <p:extLst>
      <p:ext uri="{BB962C8B-B14F-4D97-AF65-F5344CB8AC3E}">
        <p14:creationId xmlns:p14="http://schemas.microsoft.com/office/powerpoint/2010/main" val="3184388146"/>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388609" y="1227134"/>
            <a:ext cx="11282159" cy="5262979"/>
          </a:xfrm>
          <a:prstGeom prst="rect">
            <a:avLst/>
          </a:prstGeom>
          <a:noFill/>
          <a:ln cap="flat">
            <a:noFill/>
            <a:prstDash val="solid"/>
          </a:ln>
        </p:spPr>
        <p:txBody>
          <a:bodyPr vert="horz" wrap="square" lIns="91440" tIns="45720" rIns="91440" bIns="45720" anchor="t" anchorCtr="0" compatLnSpc="1">
            <a:spAutoFit/>
          </a:bodyPr>
          <a:lstStyle/>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Method of Payment Code ‘E’ or ‘R’ [deferment account] in DE 4/8 and one or more of the Tax Type Codes given in the table below in DE 4/3, CDS will mandate the declaration of Authorisation Type code ‘CGU’ at a header level in DE 3/39. </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a:defRPr sz="1800" b="0" i="0" u="none" strike="noStrike" kern="0" cap="none" spc="0" baseline="0">
                <a:solidFill>
                  <a:srgbClr val="000000"/>
                </a:solidFill>
                <a:uFillTx/>
              </a:defRPr>
            </a:pPr>
            <a:endParaRPr lang="en-GB" sz="105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Method of Payment Code ‘E’ or ‘R’ [deferment account] in DE 4/8 and one or more of the Tax Type Codes given in the table above in DE 4/3, CDS </a:t>
            </a:r>
            <a:r>
              <a:rPr lang="en-GB" sz="1400" dirty="0"/>
              <a:t>will</a:t>
            </a:r>
            <a:r>
              <a:rPr lang="en-GB" sz="1400" i="0" dirty="0">
                <a:effectLst/>
              </a:rPr>
              <a:t> mandate the Document Code 'C506' [Deferment Account] at a goods item level in DE 2/3.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Where a trader has declared the Document Code 'C506' in DE 2/3, CDS </a:t>
            </a:r>
            <a:r>
              <a:rPr lang="en-GB" sz="1400" dirty="0"/>
              <a:t>will mandate </a:t>
            </a:r>
            <a:r>
              <a:rPr lang="en-GB" sz="1400" i="0" dirty="0">
                <a:effectLst/>
              </a:rPr>
              <a:t>the Document Code 'C505' in DE 2/3. </a:t>
            </a:r>
          </a:p>
          <a:p>
            <a:pPr>
              <a:defRPr sz="1800" b="0" i="0" u="none" strike="noStrike" kern="0" cap="none" spc="0" baseline="0">
                <a:solidFill>
                  <a:srgbClr val="000000"/>
                </a:solidFill>
                <a:uFillTx/>
              </a:defRPr>
            </a:pPr>
            <a:r>
              <a:rPr lang="en-GB" sz="1400" i="0" dirty="0">
                <a:effectLst/>
                <a:cs typeface="Calibri" panose="020F0502020204030204"/>
              </a:rPr>
              <a:t>If any of the above criteria is not met, the declaration will be rejected, and the declarant will be issued a DMSREJ notification.</a:t>
            </a: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218</a:t>
            </a:fld>
            <a:endParaRPr lang="en-GB" dirty="0">
              <a:solidFill>
                <a:schemeClr val="tx1"/>
              </a:solidFill>
            </a:endParaRPr>
          </a:p>
        </p:txBody>
      </p:sp>
      <p:graphicFrame>
        <p:nvGraphicFramePr>
          <p:cNvPr id="8" name="Table 8">
            <a:extLst>
              <a:ext uri="{FF2B5EF4-FFF2-40B4-BE49-F238E27FC236}">
                <a16:creationId xmlns:a16="http://schemas.microsoft.com/office/drawing/2014/main" id="{3C9B4774-EC11-E33E-3317-1ABF8FE5ED34}"/>
              </a:ext>
            </a:extLst>
          </p:cNvPr>
          <p:cNvGraphicFramePr>
            <a:graphicFrameLocks noGrp="1"/>
          </p:cNvGraphicFramePr>
          <p:nvPr/>
        </p:nvGraphicFramePr>
        <p:xfrm>
          <a:off x="2031600" y="1751748"/>
          <a:ext cx="8128800" cy="3268980"/>
        </p:xfrm>
        <a:graphic>
          <a:graphicData uri="http://schemas.openxmlformats.org/drawingml/2006/table">
            <a:tbl>
              <a:tblPr firstRow="1" bandRow="1">
                <a:tableStyleId>{5C22544A-7EE6-4342-B048-85BDC9FD1C3A}</a:tableStyleId>
              </a:tblPr>
              <a:tblGrid>
                <a:gridCol w="2174992">
                  <a:extLst>
                    <a:ext uri="{9D8B030D-6E8A-4147-A177-3AD203B41FA5}">
                      <a16:colId xmlns:a16="http://schemas.microsoft.com/office/drawing/2014/main" val="3098986883"/>
                    </a:ext>
                  </a:extLst>
                </a:gridCol>
                <a:gridCol w="5953808">
                  <a:extLst>
                    <a:ext uri="{9D8B030D-6E8A-4147-A177-3AD203B41FA5}">
                      <a16:colId xmlns:a16="http://schemas.microsoft.com/office/drawing/2014/main" val="3877869798"/>
                    </a:ext>
                  </a:extLst>
                </a:gridCol>
              </a:tblGrid>
              <a:tr h="249231">
                <a:tc>
                  <a:txBody>
                    <a:bodyPr/>
                    <a:lstStyle/>
                    <a:p>
                      <a:pPr algn="ctr"/>
                      <a:r>
                        <a:rPr lang="fr-FR" sz="1400" dirty="0">
                          <a:effectLst/>
                        </a:rPr>
                        <a:t>Tax Type code (DE 4/3)</a:t>
                      </a:r>
                    </a:p>
                  </a:txBody>
                  <a:tcPr marL="25400" marR="25400" marT="19050" marB="19050" anchor="ctr">
                    <a:solidFill>
                      <a:srgbClr val="00928C"/>
                    </a:solidFill>
                  </a:tcPr>
                </a:tc>
                <a:tc>
                  <a:txBody>
                    <a:bodyPr/>
                    <a:lstStyle/>
                    <a:p>
                      <a:pPr algn="ctr"/>
                      <a:r>
                        <a:rPr lang="en-GB" sz="1400" dirty="0">
                          <a:effectLst/>
                        </a:rPr>
                        <a:t>Description</a:t>
                      </a:r>
                    </a:p>
                  </a:txBody>
                  <a:tcPr marL="25400" marR="25400" marT="19050" marB="19050" anchor="ctr">
                    <a:solidFill>
                      <a:srgbClr val="00928C"/>
                    </a:solidFill>
                  </a:tcPr>
                </a:tc>
                <a:extLst>
                  <a:ext uri="{0D108BD9-81ED-4DB2-BD59-A6C34878D82A}">
                    <a16:rowId xmlns:a16="http://schemas.microsoft.com/office/drawing/2014/main" val="818793581"/>
                  </a:ext>
                </a:extLst>
              </a:tr>
              <a:tr h="249231">
                <a:tc>
                  <a:txBody>
                    <a:bodyPr/>
                    <a:lstStyle/>
                    <a:p>
                      <a:pPr algn="ctr"/>
                      <a:r>
                        <a:rPr lang="en-GB" sz="1400">
                          <a:effectLst/>
                        </a:rPr>
                        <a:t>A00</a:t>
                      </a:r>
                      <a:endParaRPr lang="en-GB" sz="1400" dirty="0">
                        <a:effectLst/>
                      </a:endParaRPr>
                    </a:p>
                  </a:txBody>
                  <a:tcPr marL="25400" marR="25400" marT="19050" marB="19050" anchor="ctr">
                    <a:solidFill>
                      <a:srgbClr val="CBDCDB"/>
                    </a:solidFill>
                  </a:tcPr>
                </a:tc>
                <a:tc>
                  <a:txBody>
                    <a:bodyPr/>
                    <a:lstStyle/>
                    <a:p>
                      <a:pPr algn="ctr"/>
                      <a:r>
                        <a:rPr lang="en-GB" sz="1400">
                          <a:effectLst/>
                        </a:rPr>
                        <a:t>Customs Duties</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429670387"/>
                  </a:ext>
                </a:extLst>
              </a:tr>
              <a:tr h="249231">
                <a:tc>
                  <a:txBody>
                    <a:bodyPr/>
                    <a:lstStyle/>
                    <a:p>
                      <a:pPr algn="ctr"/>
                      <a:r>
                        <a:rPr lang="en-GB" sz="1400">
                          <a:effectLst/>
                        </a:rPr>
                        <a:t>A20</a:t>
                      </a:r>
                      <a:endParaRPr lang="en-GB" sz="1400" dirty="0">
                        <a:effectLst/>
                      </a:endParaRPr>
                    </a:p>
                  </a:txBody>
                  <a:tcPr marL="25400" marR="25400" marT="19050" marB="19050" anchor="ctr">
                    <a:solidFill>
                      <a:srgbClr val="E7EEEE"/>
                    </a:solidFill>
                  </a:tcPr>
                </a:tc>
                <a:tc>
                  <a:txBody>
                    <a:bodyPr/>
                    <a:lstStyle/>
                    <a:p>
                      <a:pPr algn="ctr"/>
                      <a:r>
                        <a:rPr lang="en-GB" sz="1400">
                          <a:effectLst/>
                        </a:rPr>
                        <a:t>Additional Duties</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4048765518"/>
                  </a:ext>
                </a:extLst>
              </a:tr>
              <a:tr h="249231">
                <a:tc>
                  <a:txBody>
                    <a:bodyPr/>
                    <a:lstStyle/>
                    <a:p>
                      <a:pPr algn="ctr"/>
                      <a:r>
                        <a:rPr lang="en-GB" sz="1400">
                          <a:effectLst/>
                        </a:rPr>
                        <a:t>A30</a:t>
                      </a:r>
                      <a:endParaRPr lang="en-GB" sz="1400" dirty="0">
                        <a:effectLst/>
                      </a:endParaRPr>
                    </a:p>
                  </a:txBody>
                  <a:tcPr marL="25400" marR="25400" marT="19050" marB="19050" anchor="ctr">
                    <a:solidFill>
                      <a:srgbClr val="CBDCDB"/>
                    </a:solidFill>
                  </a:tcPr>
                </a:tc>
                <a:tc>
                  <a:txBody>
                    <a:bodyPr/>
                    <a:lstStyle/>
                    <a:p>
                      <a:pPr algn="ctr"/>
                      <a:r>
                        <a:rPr lang="en-GB" sz="1400">
                          <a:effectLst/>
                        </a:rPr>
                        <a:t>Definitive Antidumping Duties (ADD)</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246452273"/>
                  </a:ext>
                </a:extLst>
              </a:tr>
              <a:tr h="249231">
                <a:tc>
                  <a:txBody>
                    <a:bodyPr/>
                    <a:lstStyle/>
                    <a:p>
                      <a:pPr algn="ctr"/>
                      <a:r>
                        <a:rPr lang="en-GB" sz="1400">
                          <a:effectLst/>
                        </a:rPr>
                        <a:t>A35</a:t>
                      </a:r>
                      <a:endParaRPr lang="en-GB" sz="1400" dirty="0">
                        <a:effectLst/>
                      </a:endParaRPr>
                    </a:p>
                  </a:txBody>
                  <a:tcPr marL="25400" marR="25400" marT="19050" marB="19050" anchor="ctr">
                    <a:solidFill>
                      <a:srgbClr val="E7EEEE"/>
                    </a:solidFill>
                  </a:tcPr>
                </a:tc>
                <a:tc>
                  <a:txBody>
                    <a:bodyPr/>
                    <a:lstStyle/>
                    <a:p>
                      <a:pPr algn="ctr"/>
                      <a:r>
                        <a:rPr lang="en-GB" sz="1400">
                          <a:effectLst/>
                        </a:rPr>
                        <a:t>Provisional Antidumping Duties (ADD)</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644027256"/>
                  </a:ext>
                </a:extLst>
              </a:tr>
              <a:tr h="249231">
                <a:tc>
                  <a:txBody>
                    <a:bodyPr/>
                    <a:lstStyle/>
                    <a:p>
                      <a:pPr algn="ctr"/>
                      <a:r>
                        <a:rPr lang="en-GB" sz="1400">
                          <a:effectLst/>
                        </a:rPr>
                        <a:t>A40</a:t>
                      </a:r>
                      <a:endParaRPr lang="en-GB" sz="1400" dirty="0">
                        <a:effectLst/>
                      </a:endParaRPr>
                    </a:p>
                  </a:txBody>
                  <a:tcPr marL="25400" marR="25400" marT="19050" marB="19050" anchor="ctr">
                    <a:solidFill>
                      <a:srgbClr val="CBDCDB"/>
                    </a:solidFill>
                  </a:tcPr>
                </a:tc>
                <a:tc>
                  <a:txBody>
                    <a:bodyPr/>
                    <a:lstStyle/>
                    <a:p>
                      <a:pPr algn="ctr"/>
                      <a:r>
                        <a:rPr lang="en-GB" sz="1400">
                          <a:effectLst/>
                        </a:rPr>
                        <a:t>Definitive Countervailing Duties</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566100583"/>
                  </a:ext>
                </a:extLst>
              </a:tr>
              <a:tr h="249231">
                <a:tc>
                  <a:txBody>
                    <a:bodyPr/>
                    <a:lstStyle/>
                    <a:p>
                      <a:pPr algn="ctr"/>
                      <a:r>
                        <a:rPr lang="en-GB" sz="1400">
                          <a:effectLst/>
                        </a:rPr>
                        <a:t>A45</a:t>
                      </a:r>
                      <a:endParaRPr lang="en-GB" sz="1400" dirty="0">
                        <a:effectLst/>
                      </a:endParaRPr>
                    </a:p>
                  </a:txBody>
                  <a:tcPr marL="25400" marR="25400" marT="19050" marB="19050" anchor="ctr">
                    <a:solidFill>
                      <a:srgbClr val="E7EEEE"/>
                    </a:solidFill>
                  </a:tcPr>
                </a:tc>
                <a:tc>
                  <a:txBody>
                    <a:bodyPr/>
                    <a:lstStyle/>
                    <a:p>
                      <a:pPr algn="ctr"/>
                      <a:r>
                        <a:rPr lang="en-GB" sz="1400">
                          <a:effectLst/>
                        </a:rPr>
                        <a:t>Provisional Countervailing Duties</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1743069414"/>
                  </a:ext>
                </a:extLst>
              </a:tr>
              <a:tr h="249231">
                <a:tc>
                  <a:txBody>
                    <a:bodyPr/>
                    <a:lstStyle/>
                    <a:p>
                      <a:pPr algn="ctr"/>
                      <a:r>
                        <a:rPr lang="en-GB" sz="1400">
                          <a:effectLst/>
                        </a:rPr>
                        <a:t>A50</a:t>
                      </a:r>
                      <a:endParaRPr lang="en-GB" sz="1400" dirty="0">
                        <a:effectLst/>
                      </a:endParaRPr>
                    </a:p>
                  </a:txBody>
                  <a:tcPr marL="25400" marR="25400" marT="19050" marB="19050" anchor="ctr">
                    <a:solidFill>
                      <a:srgbClr val="CBDCDB"/>
                    </a:solidFill>
                  </a:tcPr>
                </a:tc>
                <a:tc>
                  <a:txBody>
                    <a:bodyPr/>
                    <a:lstStyle/>
                    <a:p>
                      <a:pPr algn="ctr"/>
                      <a:r>
                        <a:rPr lang="en-GB" sz="1400">
                          <a:effectLst/>
                        </a:rPr>
                        <a:t>Customs Duty (EU Code for Use in NI Only)</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715131024"/>
                  </a:ext>
                </a:extLst>
              </a:tr>
              <a:tr h="249231">
                <a:tc>
                  <a:txBody>
                    <a:bodyPr/>
                    <a:lstStyle/>
                    <a:p>
                      <a:pPr algn="ctr"/>
                      <a:r>
                        <a:rPr lang="en-GB" sz="1400">
                          <a:effectLst/>
                        </a:rPr>
                        <a:t>A70</a:t>
                      </a:r>
                      <a:endParaRPr lang="en-GB" sz="1400" dirty="0">
                        <a:effectLst/>
                      </a:endParaRPr>
                    </a:p>
                  </a:txBody>
                  <a:tcPr marL="25400" marR="25400" marT="19050" marB="19050" anchor="ctr">
                    <a:solidFill>
                      <a:srgbClr val="E7EEEE"/>
                    </a:solidFill>
                  </a:tcPr>
                </a:tc>
                <a:tc>
                  <a:txBody>
                    <a:bodyPr/>
                    <a:lstStyle/>
                    <a:p>
                      <a:pPr algn="ctr"/>
                      <a:r>
                        <a:rPr lang="en-GB" sz="1400">
                          <a:effectLst/>
                        </a:rPr>
                        <a:t>Additional Duties (EU Code for use in NI Only)</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52248846"/>
                  </a:ext>
                </a:extLst>
              </a:tr>
              <a:tr h="249231">
                <a:tc>
                  <a:txBody>
                    <a:bodyPr/>
                    <a:lstStyle/>
                    <a:p>
                      <a:pPr algn="ctr"/>
                      <a:r>
                        <a:rPr lang="en-GB" sz="1400">
                          <a:effectLst/>
                        </a:rPr>
                        <a:t>A80</a:t>
                      </a:r>
                      <a:endParaRPr lang="en-GB" sz="1400" dirty="0">
                        <a:effectLst/>
                      </a:endParaRPr>
                    </a:p>
                  </a:txBody>
                  <a:tcPr marL="25400" marR="25400" marT="19050" marB="19050" anchor="ctr">
                    <a:solidFill>
                      <a:srgbClr val="CBDCDB"/>
                    </a:solidFill>
                  </a:tcPr>
                </a:tc>
                <a:tc>
                  <a:txBody>
                    <a:bodyPr/>
                    <a:lstStyle/>
                    <a:p>
                      <a:pPr algn="ctr"/>
                      <a:r>
                        <a:rPr lang="en-GB" sz="1400">
                          <a:effectLst/>
                        </a:rPr>
                        <a:t>Definitive Anti-Dumping Duties (ADD) (EU code for use in NI only)</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849109500"/>
                  </a:ext>
                </a:extLst>
              </a:tr>
              <a:tr h="249231">
                <a:tc>
                  <a:txBody>
                    <a:bodyPr/>
                    <a:lstStyle/>
                    <a:p>
                      <a:pPr algn="ctr"/>
                      <a:r>
                        <a:rPr lang="en-GB" sz="1400">
                          <a:effectLst/>
                        </a:rPr>
                        <a:t>A85</a:t>
                      </a:r>
                      <a:endParaRPr lang="en-GB" sz="1400" dirty="0">
                        <a:effectLst/>
                      </a:endParaRPr>
                    </a:p>
                  </a:txBody>
                  <a:tcPr marL="25400" marR="25400" marT="19050" marB="19050" anchor="ctr">
                    <a:solidFill>
                      <a:srgbClr val="E7EEEE"/>
                    </a:solidFill>
                  </a:tcPr>
                </a:tc>
                <a:tc>
                  <a:txBody>
                    <a:bodyPr/>
                    <a:lstStyle/>
                    <a:p>
                      <a:pPr algn="ctr"/>
                      <a:r>
                        <a:rPr lang="en-GB" sz="1400">
                          <a:effectLst/>
                        </a:rPr>
                        <a:t>Provisional Anti-Dumping Duties (ADD) (EU code for use in NI only)</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1075488250"/>
                  </a:ext>
                </a:extLst>
              </a:tr>
              <a:tr h="249231">
                <a:tc>
                  <a:txBody>
                    <a:bodyPr/>
                    <a:lstStyle/>
                    <a:p>
                      <a:pPr algn="ctr"/>
                      <a:r>
                        <a:rPr lang="en-GB" sz="1400">
                          <a:effectLst/>
                        </a:rPr>
                        <a:t>A90</a:t>
                      </a:r>
                      <a:endParaRPr lang="en-GB" sz="1400" dirty="0">
                        <a:effectLst/>
                      </a:endParaRPr>
                    </a:p>
                  </a:txBody>
                  <a:tcPr marL="25400" marR="25400" marT="19050" marB="19050" anchor="ctr">
                    <a:solidFill>
                      <a:srgbClr val="CBDCDB"/>
                    </a:solidFill>
                  </a:tcPr>
                </a:tc>
                <a:tc>
                  <a:txBody>
                    <a:bodyPr/>
                    <a:lstStyle/>
                    <a:p>
                      <a:pPr algn="ctr"/>
                      <a:r>
                        <a:rPr lang="en-GB" sz="1400">
                          <a:effectLst/>
                        </a:rPr>
                        <a:t>Definitive Countervailing Duties (EU code for use in NI only)</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173211262"/>
                  </a:ext>
                </a:extLst>
              </a:tr>
              <a:tr h="249231">
                <a:tc>
                  <a:txBody>
                    <a:bodyPr/>
                    <a:lstStyle/>
                    <a:p>
                      <a:pPr algn="ctr"/>
                      <a:r>
                        <a:rPr lang="en-GB" sz="1400">
                          <a:effectLst/>
                        </a:rPr>
                        <a:t>A95</a:t>
                      </a:r>
                      <a:endParaRPr lang="en-GB" sz="1400" dirty="0">
                        <a:effectLst/>
                      </a:endParaRPr>
                    </a:p>
                  </a:txBody>
                  <a:tcPr marL="25400" marR="25400" marT="19050" marB="19050" anchor="ctr">
                    <a:solidFill>
                      <a:srgbClr val="E7EEEE"/>
                    </a:solidFill>
                  </a:tcPr>
                </a:tc>
                <a:tc>
                  <a:txBody>
                    <a:bodyPr/>
                    <a:lstStyle/>
                    <a:p>
                      <a:pPr algn="ctr"/>
                      <a:r>
                        <a:rPr lang="en-GB" sz="1400" dirty="0">
                          <a:effectLst/>
                        </a:rPr>
                        <a:t>Provisional Countervailing Duties (EU code for use in NI only)</a:t>
                      </a:r>
                    </a:p>
                  </a:txBody>
                  <a:tcPr marL="25400" marR="25400" marT="19050" marB="19050" anchor="ctr">
                    <a:solidFill>
                      <a:srgbClr val="E7EEEE"/>
                    </a:solidFill>
                  </a:tcPr>
                </a:tc>
                <a:extLst>
                  <a:ext uri="{0D108BD9-81ED-4DB2-BD59-A6C34878D82A}">
                    <a16:rowId xmlns:a16="http://schemas.microsoft.com/office/drawing/2014/main" val="4062706782"/>
                  </a:ext>
                </a:extLst>
              </a:tr>
            </a:tbl>
          </a:graphicData>
        </a:graphic>
      </p:graphicFrame>
      <p:sp>
        <p:nvSpPr>
          <p:cNvPr id="9" name="Rectangle 8">
            <a:extLst>
              <a:ext uri="{FF2B5EF4-FFF2-40B4-BE49-F238E27FC236}">
                <a16:creationId xmlns:a16="http://schemas.microsoft.com/office/drawing/2014/main" id="{A5737A41-757B-DFA7-6FBD-689ACD3AC382}"/>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29917656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7271" y="1267267"/>
            <a:ext cx="11282159" cy="4770537"/>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Validate Entry in Declarant’s Records (EIDR) Authorisation </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cs typeface="Calibri" panose="020F0502020204030204"/>
              </a:rPr>
              <a:t>This feature expands on existing functionality to </a:t>
            </a:r>
            <a:r>
              <a:rPr lang="en-GB" sz="1400" b="0" i="0" dirty="0">
                <a:effectLst/>
                <a:latin typeface="-apple-system"/>
              </a:rPr>
              <a:t>better guarantee that the use of EIDR Authorisations is legitimate. </a:t>
            </a:r>
            <a:r>
              <a:rPr lang="en-GB" sz="1400" dirty="0">
                <a:cs typeface="Calibri" panose="020F0502020204030204"/>
              </a:rPr>
              <a:t>From CDS4.4.0, further validations will be conducted on a trader declaring a SCDP-EIR authorisation when a Type Z declaration is submitted or amended.</a:t>
            </a:r>
          </a:p>
          <a:p>
            <a:pPr>
              <a:defRPr sz="1800" b="0" i="0" u="none" strike="noStrike" kern="0" cap="none" spc="0" baseline="0">
                <a:solidFill>
                  <a:srgbClr val="000000"/>
                </a:solidFill>
                <a:uFillTx/>
              </a:defRPr>
            </a:pPr>
            <a:endParaRPr lang="en-GB" sz="10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Pre-requisites: </a:t>
            </a:r>
            <a:r>
              <a:rPr lang="en-GB" sz="1400" dirty="0">
                <a:cs typeface="Calibri" panose="020F0502020204030204"/>
              </a:rPr>
              <a:t>A Type Z (Procedure category H1, H3, H4 or H5) import declaration has been submitted or amended as per BAU.</a:t>
            </a:r>
          </a:p>
          <a:p>
            <a:pPr>
              <a:defRPr sz="1800" b="0" i="0" u="none" strike="noStrike" kern="0" cap="none" spc="0" baseline="0">
                <a:solidFill>
                  <a:srgbClr val="000000"/>
                </a:solidFill>
                <a:uFillTx/>
              </a:defRPr>
            </a:pPr>
            <a:r>
              <a:rPr lang="en-GB" sz="1400" kern="0" dirty="0">
                <a:solidFill>
                  <a:srgbClr val="000000"/>
                </a:solidFill>
                <a:cs typeface="Calibri" panose="020F0502020204030204"/>
              </a:rPr>
              <a:t>For Fixed Transport Installations the Procedure category is H1 only (Document Code 'C676’).</a:t>
            </a:r>
            <a:endParaRPr lang="en-GB" sz="14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CDS will ensure that one of the following Document Codes are declared in DE 2/3 at item level: ‘C514’ or 'C676'.</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not declared Document Code ‘C514’ at item level in DE 2/3, CDS will mandate at least one instance of Authorisation Type Code 'FTI' in DE 3/39 at header level. (</a:t>
            </a:r>
            <a:r>
              <a:rPr lang="en-GB" sz="1400" b="1" dirty="0">
                <a:cs typeface="Calibri" panose="020F0502020204030204"/>
              </a:rPr>
              <a:t>Note</a:t>
            </a:r>
            <a:r>
              <a:rPr lang="en-GB" sz="1400" dirty="0">
                <a:cs typeface="Calibri" panose="020F0502020204030204"/>
              </a:rPr>
              <a:t>: other Authorisation Type Codes are permitted on other goods items, provided there is at least one instance of 'FTI' declared).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Document Code ‘C514’ at item level in DE 2/3 and has declared a SCDP-EIR Authorisation Number in the "Document Identifier" sub-field of DE 2/3, CDS will ensure that the Authorisation is valid.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Document Code ‘C514’ at item level in DE 2/3, CDS will mandate the declaration of the Authorisation Type Code ‘EIR’ at header level in DE 3/39.</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Authorisation Type Code ‘EIR’ in DE 3/39 at header level, CDS will mandate the declaration of a valid EORI number in DE 3/39 (Holder of the Authorisation Identification Number) at header level (As per BAU).</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has declared an EORI number against Authorisation Type Code ‘EIR’ in DE 3/39 (Holder of Authorisation Identification Number) at header level, CDS will ensure that the EORI owns the SCDP-EIDR Authorisation declared in the "Document Identifier" subfield of DE 2/3.</a:t>
            </a:r>
          </a:p>
          <a:p>
            <a:pPr>
              <a:defRPr sz="1800" b="0" i="0" u="none" strike="noStrike" kern="0" cap="none" spc="0" baseline="0">
                <a:solidFill>
                  <a:srgbClr val="000000"/>
                </a:solidFill>
                <a:uFillTx/>
              </a:defRPr>
            </a:pPr>
            <a:r>
              <a:rPr lang="en-GB" sz="1400" i="0" dirty="0">
                <a:effectLst/>
                <a:cs typeface="Calibri" panose="020F0502020204030204"/>
              </a:rPr>
              <a:t>If any of the above criteria is not met, the declaration will be rejected, and the declarant will be issued a DMSREJ notification.</a:t>
            </a:r>
            <a:endParaRPr lang="en-GB" sz="1400" dirty="0">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219</a:t>
            </a:fld>
            <a:endParaRPr lang="en-GB" dirty="0">
              <a:solidFill>
                <a:schemeClr val="tx1"/>
              </a:solidFill>
            </a:endParaRPr>
          </a:p>
        </p:txBody>
      </p:sp>
      <p:sp>
        <p:nvSpPr>
          <p:cNvPr id="8" name="Rectangle 7">
            <a:extLst>
              <a:ext uri="{FF2B5EF4-FFF2-40B4-BE49-F238E27FC236}">
                <a16:creationId xmlns:a16="http://schemas.microsoft.com/office/drawing/2014/main" id="{BD213E08-D2FF-0E81-DFD7-679F31EA4A8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245961592"/>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7271" y="1257258"/>
            <a:ext cx="11282159" cy="4708981"/>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Authorisation by Declaration (AbD) </a:t>
            </a:r>
          </a:p>
          <a:p>
            <a:pPr>
              <a:defRPr sz="1800" b="0" i="0" u="none" strike="noStrike" kern="0" cap="none" spc="0" baseline="0">
                <a:solidFill>
                  <a:srgbClr val="000000"/>
                </a:solidFill>
                <a:uFillTx/>
              </a:defRPr>
            </a:pPr>
            <a:endParaRPr lang="en-GB" sz="600" u="sng" dirty="0"/>
          </a:p>
          <a:p>
            <a:pPr>
              <a:defRPr sz="1800" b="0" i="0" u="none" strike="noStrike" kern="0" cap="none" spc="0" baseline="0">
                <a:solidFill>
                  <a:srgbClr val="000000"/>
                </a:solidFill>
                <a:uFillTx/>
              </a:defRPr>
            </a:pPr>
            <a:r>
              <a:rPr lang="en-GB" sz="1400" u="sng" dirty="0"/>
              <a:t>Introduction &amp; Validation of AbD Identifiers</a:t>
            </a:r>
            <a:endParaRPr lang="en-GB" sz="1400" u="sng"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This feature expands on existing functionality to ensure that </a:t>
            </a:r>
            <a:r>
              <a:rPr lang="en-GB" sz="1400" b="0" i="0" dirty="0">
                <a:effectLst/>
                <a:latin typeface="-apple-system"/>
              </a:rPr>
              <a:t>movements entering and exiting AbD procedure are appropriately identified. Two new Additional Information Codes, ‘ABDIN’ and ‘ABDOU’, will be introduced, and CDS will ensure they are used with the correct Requested and Previous Procedures Codes.</a:t>
            </a:r>
            <a:endParaRPr lang="en-GB" sz="1400" dirty="0">
              <a:cs typeface="Calibri" panose="020F0502020204030204"/>
            </a:endParaRPr>
          </a:p>
          <a:p>
            <a:pPr>
              <a:defRPr sz="1800" b="0" i="0" u="none" strike="noStrike" kern="0" cap="none" spc="0" baseline="0">
                <a:solidFill>
                  <a:srgbClr val="000000"/>
                </a:solidFill>
                <a:uFillTx/>
              </a:defRPr>
            </a:pPr>
            <a:r>
              <a:rPr lang="en-GB" sz="1400" b="1" dirty="0">
                <a:cs typeface="Calibri" panose="020F0502020204030204"/>
              </a:rPr>
              <a:t>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AI code 00100 in DE 2/2, CDS will mandate at least one of AI codes: ABDIN, ABDOU in DE 2/2 for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AI codes: ABDIN, ABDOU in DE 2/2, CDS will mandate for AI code 00100 in DE 2/2 for the same goods item.</a:t>
            </a:r>
          </a:p>
          <a:p>
            <a:pPr>
              <a:defRPr sz="1800" b="0" i="0" u="none" strike="noStrike" kern="0" cap="none" spc="0" baseline="0">
                <a:solidFill>
                  <a:srgbClr val="000000"/>
                </a:solidFill>
                <a:uFillTx/>
              </a:defRPr>
            </a:pPr>
            <a:r>
              <a:rPr lang="en-GB" sz="1400" dirty="0">
                <a:cs typeface="Calibri" panose="020F0502020204030204"/>
              </a:rPr>
              <a:t>If either of the above conditions are not met, the declaration will be rejected and a DMSREJ notification will be returned to the trader.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AI codes: ABDIN or ABDOU have been declared in DE 2/2 more than once for the same goods item, CDS will not reject the declaration for this reason.</a:t>
            </a:r>
          </a:p>
          <a:p>
            <a:pPr>
              <a:defRPr sz="1800" b="0" i="0" u="none" strike="noStrike" kern="0" cap="none" spc="0" baseline="0">
                <a:solidFill>
                  <a:srgbClr val="000000"/>
                </a:solidFill>
                <a:uFillTx/>
              </a:defRPr>
            </a:pPr>
            <a:endParaRPr lang="en-GB" sz="600" dirty="0">
              <a:cs typeface="Calibri" panose="020F0502020204030204"/>
            </a:endParaRPr>
          </a:p>
          <a:p>
            <a:pPr>
              <a:defRPr sz="1800" b="0" i="0" u="none" strike="noStrike" kern="0" cap="none" spc="0" baseline="0">
                <a:solidFill>
                  <a:srgbClr val="000000"/>
                </a:solidFill>
                <a:uFillTx/>
              </a:defRPr>
            </a:pPr>
            <a:r>
              <a:rPr lang="en-GB" sz="1400" u="sng" dirty="0">
                <a:cs typeface="Calibri" panose="020F0502020204030204"/>
              </a:rPr>
              <a:t>Authorisation Document Code Usage With AbD UID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one of the Requested Procedure Codes from the table below in DE 1/10 and the corresponding Authorisation Document Code is not declared in DE 2/3 for the same goods item, CDS will ensure AI code ABDIN is declared in DE 2/2 on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one of the Previous Procedure Codes from the table below in DE 1/10 and the corresponding Authorisation Document Code is not declared in DE 2/3 for the same goods item, CDS will ensure AI code ABDOU is declared in DE 2/2 on the same goods item.</a:t>
            </a:r>
          </a:p>
          <a:p>
            <a:pPr>
              <a:defRPr sz="1800" b="0" i="0" u="none" strike="noStrike" kern="0" cap="none" spc="0" baseline="0">
                <a:solidFill>
                  <a:srgbClr val="000000"/>
                </a:solidFill>
                <a:uFillTx/>
              </a:defRPr>
            </a:pPr>
            <a:r>
              <a:rPr lang="en-GB" sz="1400" dirty="0">
                <a:cs typeface="Calibri" panose="020F0502020204030204"/>
              </a:rPr>
              <a:t>If the above criteria is not met, the declaration will be rejected, and the declarant will be issued a DMSREJ notification.</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u="sng" dirty="0">
              <a:cs typeface="Calibri" panose="020F0502020204030204"/>
            </a:endParaRPr>
          </a:p>
          <a:p>
            <a:pPr>
              <a:defRPr sz="1800" b="0" i="0" u="none" strike="noStrike" kern="0" cap="none" spc="0" baseline="0">
                <a:solidFill>
                  <a:srgbClr val="000000"/>
                </a:solidFill>
                <a:uFillTx/>
              </a:defRPr>
            </a:pPr>
            <a:endParaRPr lang="en-GB" sz="1400" u="sng" dirty="0">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220</a:t>
            </a:fld>
            <a:endParaRPr lang="en-GB" dirty="0">
              <a:solidFill>
                <a:schemeClr val="tx1"/>
              </a:solidFill>
            </a:endParaRPr>
          </a:p>
        </p:txBody>
      </p:sp>
      <p:sp>
        <p:nvSpPr>
          <p:cNvPr id="8" name="Rectangle 7">
            <a:extLst>
              <a:ext uri="{FF2B5EF4-FFF2-40B4-BE49-F238E27FC236}">
                <a16:creationId xmlns:a16="http://schemas.microsoft.com/office/drawing/2014/main" id="{9D01E645-DA5C-FE8F-BD18-B85056BDF10E}"/>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graphicFrame>
        <p:nvGraphicFramePr>
          <p:cNvPr id="14" name="Table 8">
            <a:extLst>
              <a:ext uri="{FF2B5EF4-FFF2-40B4-BE49-F238E27FC236}">
                <a16:creationId xmlns:a16="http://schemas.microsoft.com/office/drawing/2014/main" id="{BEB75394-7084-9E7B-9E13-1B3A44C09994}"/>
              </a:ext>
            </a:extLst>
          </p:cNvPr>
          <p:cNvGraphicFramePr>
            <a:graphicFrameLocks noGrp="1"/>
          </p:cNvGraphicFramePr>
          <p:nvPr/>
        </p:nvGraphicFramePr>
        <p:xfrm>
          <a:off x="1347784" y="5176326"/>
          <a:ext cx="4609324" cy="1082040"/>
        </p:xfrm>
        <a:graphic>
          <a:graphicData uri="http://schemas.openxmlformats.org/drawingml/2006/table">
            <a:tbl>
              <a:tblPr firstRow="1" bandRow="1">
                <a:tableStyleId>{5C22544A-7EE6-4342-B048-85BDC9FD1C3A}</a:tableStyleId>
              </a:tblPr>
              <a:tblGrid>
                <a:gridCol w="2304662">
                  <a:extLst>
                    <a:ext uri="{9D8B030D-6E8A-4147-A177-3AD203B41FA5}">
                      <a16:colId xmlns:a16="http://schemas.microsoft.com/office/drawing/2014/main" val="3366862094"/>
                    </a:ext>
                  </a:extLst>
                </a:gridCol>
                <a:gridCol w="2304662">
                  <a:extLst>
                    <a:ext uri="{9D8B030D-6E8A-4147-A177-3AD203B41FA5}">
                      <a16:colId xmlns:a16="http://schemas.microsoft.com/office/drawing/2014/main" val="2954843373"/>
                    </a:ext>
                  </a:extLst>
                </a:gridCol>
              </a:tblGrid>
              <a:tr h="261000">
                <a:tc>
                  <a:txBody>
                    <a:bodyPr/>
                    <a:lstStyle/>
                    <a:p>
                      <a:pPr algn="ctr"/>
                      <a:r>
                        <a:rPr lang="en-GB" sz="1400" b="1">
                          <a:solidFill>
                            <a:schemeClr val="bg1"/>
                          </a:solidFill>
                          <a:effectLst/>
                        </a:rPr>
                        <a:t>RPC</a:t>
                      </a:r>
                      <a:endParaRPr lang="en-GB" sz="1400" b="0" dirty="0">
                        <a:solidFill>
                          <a:schemeClr val="bg1"/>
                        </a:solidFill>
                        <a:effectLst/>
                      </a:endParaRPr>
                    </a:p>
                  </a:txBody>
                  <a:tcPr marL="38100" marR="38100" marT="28575" marB="28575" anchor="ctr">
                    <a:solidFill>
                      <a:srgbClr val="009999"/>
                    </a:solidFill>
                  </a:tcPr>
                </a:tc>
                <a:tc>
                  <a:txBody>
                    <a:bodyPr/>
                    <a:lstStyle/>
                    <a:p>
                      <a:pPr algn="ctr"/>
                      <a:r>
                        <a:rPr lang="en-GB" sz="1400" b="1">
                          <a:solidFill>
                            <a:schemeClr val="bg1"/>
                          </a:solidFill>
                          <a:effectLst/>
                        </a:rPr>
                        <a:t>Auth Doc Code</a:t>
                      </a:r>
                      <a:endParaRPr lang="en-GB" sz="1400" b="0" dirty="0">
                        <a:solidFill>
                          <a:schemeClr val="bg1"/>
                        </a:solidFill>
                        <a:effectLst/>
                      </a:endParaRPr>
                    </a:p>
                  </a:txBody>
                  <a:tcPr marL="38100" marR="38100" marT="28575" marB="28575" anchor="ctr">
                    <a:solidFill>
                      <a:srgbClr val="009999"/>
                    </a:solidFill>
                  </a:tcPr>
                </a:tc>
                <a:extLst>
                  <a:ext uri="{0D108BD9-81ED-4DB2-BD59-A6C34878D82A}">
                    <a16:rowId xmlns:a16="http://schemas.microsoft.com/office/drawing/2014/main" val="1125025359"/>
                  </a:ext>
                </a:extLst>
              </a:tr>
              <a:tr h="261000">
                <a:tc>
                  <a:txBody>
                    <a:bodyPr/>
                    <a:lstStyle/>
                    <a:p>
                      <a:pPr algn="ctr"/>
                      <a:r>
                        <a:rPr lang="en-GB" sz="1400">
                          <a:effectLst/>
                        </a:rPr>
                        <a:t>51</a:t>
                      </a:r>
                      <a:endParaRPr lang="en-GB" sz="1400" dirty="0">
                        <a:effectLst/>
                      </a:endParaRPr>
                    </a:p>
                  </a:txBody>
                  <a:tcPr marL="38100" marR="38100" marT="28575" marB="28575" anchor="ctr">
                    <a:solidFill>
                      <a:srgbClr val="CBDCDB"/>
                    </a:solidFill>
                  </a:tcPr>
                </a:tc>
                <a:tc>
                  <a:txBody>
                    <a:bodyPr/>
                    <a:lstStyle/>
                    <a:p>
                      <a:pPr algn="ctr"/>
                      <a:r>
                        <a:rPr lang="en-GB" sz="1400">
                          <a:effectLst/>
                        </a:rPr>
                        <a:t>C601</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22085304"/>
                  </a:ext>
                </a:extLst>
              </a:tr>
              <a:tr h="261000">
                <a:tc>
                  <a:txBody>
                    <a:bodyPr/>
                    <a:lstStyle/>
                    <a:p>
                      <a:pPr algn="ctr"/>
                      <a:r>
                        <a:rPr lang="en-GB" sz="1400">
                          <a:effectLst/>
                        </a:rPr>
                        <a:t>21</a:t>
                      </a:r>
                      <a:endParaRPr lang="en-GB" sz="1400" dirty="0">
                        <a:effectLst/>
                      </a:endParaRPr>
                    </a:p>
                  </a:txBody>
                  <a:tcPr marL="38100" marR="38100" marT="28575" marB="28575" anchor="ctr">
                    <a:solidFill>
                      <a:srgbClr val="E7EEEE"/>
                    </a:solidFill>
                  </a:tcPr>
                </a:tc>
                <a:tc>
                  <a:txBody>
                    <a:bodyPr/>
                    <a:lstStyle/>
                    <a:p>
                      <a:pPr algn="ctr"/>
                      <a:r>
                        <a:rPr lang="en-GB" sz="1400" dirty="0">
                          <a:effectLst/>
                        </a:rPr>
                        <a:t>C019</a:t>
                      </a:r>
                    </a:p>
                  </a:txBody>
                  <a:tcPr marL="38100" marR="38100" marT="28575" marB="28575" anchor="ctr">
                    <a:solidFill>
                      <a:srgbClr val="E7EEEE"/>
                    </a:solidFill>
                  </a:tcPr>
                </a:tc>
                <a:extLst>
                  <a:ext uri="{0D108BD9-81ED-4DB2-BD59-A6C34878D82A}">
                    <a16:rowId xmlns:a16="http://schemas.microsoft.com/office/drawing/2014/main" val="22877297"/>
                  </a:ext>
                </a:extLst>
              </a:tr>
              <a:tr h="261000">
                <a:tc>
                  <a:txBody>
                    <a:bodyPr/>
                    <a:lstStyle/>
                    <a:p>
                      <a:pPr algn="ctr"/>
                      <a:r>
                        <a:rPr lang="en-GB" sz="1400">
                          <a:effectLst/>
                        </a:rPr>
                        <a:t>53</a:t>
                      </a:r>
                      <a:endParaRPr lang="en-GB" sz="1400" dirty="0">
                        <a:effectLst/>
                      </a:endParaRPr>
                    </a:p>
                  </a:txBody>
                  <a:tcPr marL="38100" marR="38100" marT="28575" marB="28575" anchor="ctr">
                    <a:solidFill>
                      <a:srgbClr val="CBDCDB"/>
                    </a:solidFill>
                  </a:tcPr>
                </a:tc>
                <a:tc>
                  <a:txBody>
                    <a:bodyPr/>
                    <a:lstStyle/>
                    <a:p>
                      <a:pPr algn="ctr"/>
                      <a:r>
                        <a:rPr lang="en-GB" sz="1400" dirty="0">
                          <a:effectLst/>
                        </a:rPr>
                        <a:t>C516</a:t>
                      </a:r>
                    </a:p>
                  </a:txBody>
                  <a:tcPr marL="38100" marR="38100" marT="28575" marB="28575" anchor="ctr">
                    <a:solidFill>
                      <a:srgbClr val="CBDCDB"/>
                    </a:solidFill>
                  </a:tcPr>
                </a:tc>
                <a:extLst>
                  <a:ext uri="{0D108BD9-81ED-4DB2-BD59-A6C34878D82A}">
                    <a16:rowId xmlns:a16="http://schemas.microsoft.com/office/drawing/2014/main" val="1501709098"/>
                  </a:ext>
                </a:extLst>
              </a:tr>
            </a:tbl>
          </a:graphicData>
        </a:graphic>
      </p:graphicFrame>
      <p:graphicFrame>
        <p:nvGraphicFramePr>
          <p:cNvPr id="15" name="Table 8">
            <a:extLst>
              <a:ext uri="{FF2B5EF4-FFF2-40B4-BE49-F238E27FC236}">
                <a16:creationId xmlns:a16="http://schemas.microsoft.com/office/drawing/2014/main" id="{485ED6E4-972D-4704-C59C-45B7154705BA}"/>
              </a:ext>
            </a:extLst>
          </p:cNvPr>
          <p:cNvGraphicFramePr>
            <a:graphicFrameLocks noGrp="1"/>
          </p:cNvGraphicFramePr>
          <p:nvPr/>
        </p:nvGraphicFramePr>
        <p:xfrm>
          <a:off x="6469145" y="5176326"/>
          <a:ext cx="4609324" cy="1116000"/>
        </p:xfrm>
        <a:graphic>
          <a:graphicData uri="http://schemas.openxmlformats.org/drawingml/2006/table">
            <a:tbl>
              <a:tblPr firstRow="1" bandRow="1">
                <a:tableStyleId>{5C22544A-7EE6-4342-B048-85BDC9FD1C3A}</a:tableStyleId>
              </a:tblPr>
              <a:tblGrid>
                <a:gridCol w="2304662">
                  <a:extLst>
                    <a:ext uri="{9D8B030D-6E8A-4147-A177-3AD203B41FA5}">
                      <a16:colId xmlns:a16="http://schemas.microsoft.com/office/drawing/2014/main" val="3366862094"/>
                    </a:ext>
                  </a:extLst>
                </a:gridCol>
                <a:gridCol w="2304662">
                  <a:extLst>
                    <a:ext uri="{9D8B030D-6E8A-4147-A177-3AD203B41FA5}">
                      <a16:colId xmlns:a16="http://schemas.microsoft.com/office/drawing/2014/main" val="2954843373"/>
                    </a:ext>
                  </a:extLst>
                </a:gridCol>
              </a:tblGrid>
              <a:tr h="279000">
                <a:tc>
                  <a:txBody>
                    <a:bodyPr/>
                    <a:lstStyle/>
                    <a:p>
                      <a:pPr algn="ctr"/>
                      <a:r>
                        <a:rPr lang="en-GB" sz="1400" b="1">
                          <a:solidFill>
                            <a:schemeClr val="bg1"/>
                          </a:solidFill>
                          <a:effectLst/>
                        </a:rPr>
                        <a:t>PPC</a:t>
                      </a:r>
                      <a:endParaRPr lang="en-GB" sz="1400" b="0" dirty="0">
                        <a:solidFill>
                          <a:schemeClr val="bg1"/>
                        </a:solidFill>
                        <a:effectLst/>
                      </a:endParaRPr>
                    </a:p>
                  </a:txBody>
                  <a:tcPr marL="38100" marR="38100" marT="28575" marB="28575" anchor="ctr">
                    <a:solidFill>
                      <a:srgbClr val="009999"/>
                    </a:solidFill>
                  </a:tcPr>
                </a:tc>
                <a:tc>
                  <a:txBody>
                    <a:bodyPr/>
                    <a:lstStyle/>
                    <a:p>
                      <a:pPr algn="ctr"/>
                      <a:r>
                        <a:rPr lang="en-GB" sz="1400" b="1">
                          <a:solidFill>
                            <a:schemeClr val="bg1"/>
                          </a:solidFill>
                          <a:effectLst/>
                        </a:rPr>
                        <a:t>Auth Doc Code</a:t>
                      </a:r>
                      <a:endParaRPr lang="en-GB" sz="1400" b="0" dirty="0">
                        <a:solidFill>
                          <a:schemeClr val="bg1"/>
                        </a:solidFill>
                        <a:effectLst/>
                      </a:endParaRPr>
                    </a:p>
                  </a:txBody>
                  <a:tcPr marL="38100" marR="38100" marT="28575" marB="28575" anchor="ctr">
                    <a:solidFill>
                      <a:srgbClr val="009999"/>
                    </a:solidFill>
                  </a:tcPr>
                </a:tc>
                <a:extLst>
                  <a:ext uri="{0D108BD9-81ED-4DB2-BD59-A6C34878D82A}">
                    <a16:rowId xmlns:a16="http://schemas.microsoft.com/office/drawing/2014/main" val="1125025359"/>
                  </a:ext>
                </a:extLst>
              </a:tr>
              <a:tr h="279000">
                <a:tc>
                  <a:txBody>
                    <a:bodyPr/>
                    <a:lstStyle/>
                    <a:p>
                      <a:pPr algn="ctr"/>
                      <a:r>
                        <a:rPr lang="en-GB" sz="1400">
                          <a:effectLst/>
                        </a:rPr>
                        <a:t>51</a:t>
                      </a:r>
                      <a:endParaRPr lang="en-GB" sz="1400" dirty="0">
                        <a:effectLst/>
                      </a:endParaRPr>
                    </a:p>
                  </a:txBody>
                  <a:tcPr marL="38100" marR="38100" marT="28575" marB="28575" anchor="ctr">
                    <a:solidFill>
                      <a:srgbClr val="CBDCDB"/>
                    </a:solidFill>
                  </a:tcPr>
                </a:tc>
                <a:tc>
                  <a:txBody>
                    <a:bodyPr/>
                    <a:lstStyle/>
                    <a:p>
                      <a:pPr algn="ctr"/>
                      <a:r>
                        <a:rPr lang="en-GB" sz="1400">
                          <a:effectLst/>
                        </a:rPr>
                        <a:t>C601</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22085304"/>
                  </a:ext>
                </a:extLst>
              </a:tr>
              <a:tr h="279000">
                <a:tc>
                  <a:txBody>
                    <a:bodyPr/>
                    <a:lstStyle/>
                    <a:p>
                      <a:pPr algn="ctr"/>
                      <a:r>
                        <a:rPr lang="en-GB" sz="1400">
                          <a:effectLst/>
                        </a:rPr>
                        <a:t>21</a:t>
                      </a:r>
                      <a:endParaRPr lang="en-GB" sz="1400" dirty="0">
                        <a:effectLst/>
                      </a:endParaRPr>
                    </a:p>
                  </a:txBody>
                  <a:tcPr marL="38100" marR="38100" marT="28575" marB="28575" anchor="ctr">
                    <a:solidFill>
                      <a:srgbClr val="E7EEEE"/>
                    </a:solidFill>
                  </a:tcPr>
                </a:tc>
                <a:tc>
                  <a:txBody>
                    <a:bodyPr/>
                    <a:lstStyle/>
                    <a:p>
                      <a:pPr algn="ctr"/>
                      <a:r>
                        <a:rPr lang="en-GB" sz="1400">
                          <a:effectLst/>
                        </a:rPr>
                        <a:t>C019</a:t>
                      </a:r>
                      <a:endParaRPr lang="en-GB" sz="1400" dirty="0">
                        <a:effectLst/>
                      </a:endParaRPr>
                    </a:p>
                  </a:txBody>
                  <a:tcPr marL="38100" marR="38100" marT="28575" marB="28575" anchor="ctr">
                    <a:solidFill>
                      <a:srgbClr val="E7EEEE"/>
                    </a:solidFill>
                  </a:tcPr>
                </a:tc>
                <a:extLst>
                  <a:ext uri="{0D108BD9-81ED-4DB2-BD59-A6C34878D82A}">
                    <a16:rowId xmlns:a16="http://schemas.microsoft.com/office/drawing/2014/main" val="22877297"/>
                  </a:ext>
                </a:extLst>
              </a:tr>
              <a:tr h="279000">
                <a:tc>
                  <a:txBody>
                    <a:bodyPr/>
                    <a:lstStyle/>
                    <a:p>
                      <a:pPr algn="ctr"/>
                      <a:r>
                        <a:rPr lang="en-GB" sz="1400">
                          <a:effectLst/>
                        </a:rPr>
                        <a:t>53</a:t>
                      </a:r>
                      <a:endParaRPr lang="en-GB" sz="1400" dirty="0">
                        <a:effectLst/>
                      </a:endParaRPr>
                    </a:p>
                  </a:txBody>
                  <a:tcPr marL="38100" marR="38100" marT="28575" marB="28575" anchor="ctr">
                    <a:solidFill>
                      <a:srgbClr val="CBDCDB"/>
                    </a:solidFill>
                  </a:tcPr>
                </a:tc>
                <a:tc>
                  <a:txBody>
                    <a:bodyPr/>
                    <a:lstStyle/>
                    <a:p>
                      <a:pPr algn="ctr"/>
                      <a:r>
                        <a:rPr lang="en-GB" sz="1400" dirty="0">
                          <a:effectLst/>
                        </a:rPr>
                        <a:t>C516</a:t>
                      </a:r>
                    </a:p>
                  </a:txBody>
                  <a:tcPr marL="38100" marR="38100" marT="28575" marB="28575" anchor="ctr">
                    <a:solidFill>
                      <a:srgbClr val="CBDCDB"/>
                    </a:solidFill>
                  </a:tcPr>
                </a:tc>
                <a:extLst>
                  <a:ext uri="{0D108BD9-81ED-4DB2-BD59-A6C34878D82A}">
                    <a16:rowId xmlns:a16="http://schemas.microsoft.com/office/drawing/2014/main" val="1501709098"/>
                  </a:ext>
                </a:extLst>
              </a:tr>
            </a:tbl>
          </a:graphicData>
        </a:graphic>
      </p:graphicFrame>
    </p:spTree>
    <p:extLst>
      <p:ext uri="{BB962C8B-B14F-4D97-AF65-F5344CB8AC3E}">
        <p14:creationId xmlns:p14="http://schemas.microsoft.com/office/powerpoint/2010/main" val="315210017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6689" y="1053032"/>
            <a:ext cx="11282159" cy="4185761"/>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u="sng" dirty="0">
                <a:cs typeface="Calibri" panose="020F0502020204030204"/>
              </a:rPr>
              <a:t>Procedure Code Usage With AbD</a:t>
            </a:r>
          </a:p>
          <a:p>
            <a:pPr>
              <a:defRPr sz="1800" b="0" i="0" u="none" strike="noStrike" kern="0" cap="none" spc="0" baseline="0">
                <a:solidFill>
                  <a:srgbClr val="000000"/>
                </a:solidFill>
                <a:uFillTx/>
              </a:defRPr>
            </a:pPr>
            <a:endParaRPr lang="en-GB" sz="10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AI code ABDIN in DE 2/2, CDS will ensure the Requested Procedure Code declared in DE 1/10 is one of the following listed within the table below for the same goods item.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Where a trader declares AI code ABDOU in DE 2/2, CDS will ensure that the Previous Procedure Code declared in DE 1/10 is one of the following listed within the table below for the same goods item. </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If the above criteria is not met, the declaration will be rejected, and the declarant will be issued a DMSREJ notification.</a:t>
            </a:r>
          </a:p>
          <a:p>
            <a:pPr>
              <a:defRPr sz="1800" b="0" i="0" u="none" strike="noStrike" kern="0" cap="none" spc="0" baseline="0">
                <a:solidFill>
                  <a:srgbClr val="000000"/>
                </a:solidFill>
                <a:uFillTx/>
              </a:defRPr>
            </a:pPr>
            <a:endParaRPr lang="en-GB" sz="1400" dirty="0">
              <a:cs typeface="Calibri" panose="020F0502020204030204"/>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221</a:t>
            </a:fld>
            <a:endParaRPr lang="en-GB" dirty="0">
              <a:solidFill>
                <a:schemeClr val="tx1"/>
              </a:solidFill>
            </a:endParaRPr>
          </a:p>
        </p:txBody>
      </p:sp>
      <p:graphicFrame>
        <p:nvGraphicFramePr>
          <p:cNvPr id="8" name="Table 8">
            <a:extLst>
              <a:ext uri="{FF2B5EF4-FFF2-40B4-BE49-F238E27FC236}">
                <a16:creationId xmlns:a16="http://schemas.microsoft.com/office/drawing/2014/main" id="{20C9F169-37D1-C076-3018-FA606253082A}"/>
              </a:ext>
            </a:extLst>
          </p:cNvPr>
          <p:cNvGraphicFramePr>
            <a:graphicFrameLocks noGrp="1"/>
          </p:cNvGraphicFramePr>
          <p:nvPr/>
        </p:nvGraphicFramePr>
        <p:xfrm>
          <a:off x="1206228" y="2723766"/>
          <a:ext cx="4588830" cy="1623060"/>
        </p:xfrm>
        <a:graphic>
          <a:graphicData uri="http://schemas.openxmlformats.org/drawingml/2006/table">
            <a:tbl>
              <a:tblPr firstRow="1" bandRow="1">
                <a:tableStyleId>{5C22544A-7EE6-4342-B048-85BDC9FD1C3A}</a:tableStyleId>
              </a:tblPr>
              <a:tblGrid>
                <a:gridCol w="2294415">
                  <a:extLst>
                    <a:ext uri="{9D8B030D-6E8A-4147-A177-3AD203B41FA5}">
                      <a16:colId xmlns:a16="http://schemas.microsoft.com/office/drawing/2014/main" val="3366862094"/>
                    </a:ext>
                  </a:extLst>
                </a:gridCol>
                <a:gridCol w="2294415">
                  <a:extLst>
                    <a:ext uri="{9D8B030D-6E8A-4147-A177-3AD203B41FA5}">
                      <a16:colId xmlns:a16="http://schemas.microsoft.com/office/drawing/2014/main" val="2954843373"/>
                    </a:ext>
                  </a:extLst>
                </a:gridCol>
              </a:tblGrid>
              <a:tr h="264000">
                <a:tc>
                  <a:txBody>
                    <a:bodyPr/>
                    <a:lstStyle/>
                    <a:p>
                      <a:pPr algn="ctr"/>
                      <a:r>
                        <a:rPr lang="en-GB" sz="1400" b="1">
                          <a:solidFill>
                            <a:schemeClr val="bg1"/>
                          </a:solidFill>
                          <a:effectLst/>
                        </a:rPr>
                        <a:t>RPC</a:t>
                      </a:r>
                      <a:endParaRPr lang="en-GB" sz="1400" b="0" dirty="0">
                        <a:solidFill>
                          <a:schemeClr val="bg1"/>
                        </a:solidFill>
                        <a:effectLst/>
                      </a:endParaRPr>
                    </a:p>
                  </a:txBody>
                  <a:tcPr marL="38100" marR="38100" marT="28575" marB="28575" anchor="ctr">
                    <a:solidFill>
                      <a:srgbClr val="009999"/>
                    </a:solidFill>
                  </a:tcPr>
                </a:tc>
                <a:tc>
                  <a:txBody>
                    <a:bodyPr/>
                    <a:lstStyle/>
                    <a:p>
                      <a:pPr algn="ctr"/>
                      <a:r>
                        <a:rPr lang="en-GB" sz="1400" b="1">
                          <a:solidFill>
                            <a:schemeClr val="bg1"/>
                          </a:solidFill>
                          <a:effectLst/>
                        </a:rPr>
                        <a:t>Auth Type</a:t>
                      </a:r>
                      <a:endParaRPr lang="en-GB" sz="1400" b="0" dirty="0">
                        <a:solidFill>
                          <a:schemeClr val="bg1"/>
                        </a:solidFill>
                        <a:effectLst/>
                      </a:endParaRPr>
                    </a:p>
                  </a:txBody>
                  <a:tcPr marL="38100" marR="38100" marT="28575" marB="28575" anchor="ctr">
                    <a:solidFill>
                      <a:srgbClr val="009999"/>
                    </a:solidFill>
                  </a:tcPr>
                </a:tc>
                <a:extLst>
                  <a:ext uri="{0D108BD9-81ED-4DB2-BD59-A6C34878D82A}">
                    <a16:rowId xmlns:a16="http://schemas.microsoft.com/office/drawing/2014/main" val="3223203571"/>
                  </a:ext>
                </a:extLst>
              </a:tr>
              <a:tr h="264000">
                <a:tc>
                  <a:txBody>
                    <a:bodyPr/>
                    <a:lstStyle/>
                    <a:p>
                      <a:pPr algn="ctr"/>
                      <a:r>
                        <a:rPr lang="en-GB" sz="1400">
                          <a:effectLst/>
                        </a:rPr>
                        <a:t>53</a:t>
                      </a:r>
                      <a:endParaRPr lang="en-GB" sz="1400" dirty="0">
                        <a:effectLst/>
                      </a:endParaRPr>
                    </a:p>
                  </a:txBody>
                  <a:tcPr marL="38100" marR="38100" marT="28575" marB="28575" anchor="ctr">
                    <a:solidFill>
                      <a:srgbClr val="CBDCDB"/>
                    </a:solidFill>
                  </a:tcPr>
                </a:tc>
                <a:tc>
                  <a:txBody>
                    <a:bodyPr/>
                    <a:lstStyle/>
                    <a:p>
                      <a:pPr algn="ctr"/>
                      <a:r>
                        <a:rPr lang="en-GB" sz="1400">
                          <a:effectLst/>
                        </a:rPr>
                        <a:t>Temporary Admission</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22085304"/>
                  </a:ext>
                </a:extLst>
              </a:tr>
              <a:tr h="264000">
                <a:tc>
                  <a:txBody>
                    <a:bodyPr/>
                    <a:lstStyle/>
                    <a:p>
                      <a:pPr algn="ctr"/>
                      <a:r>
                        <a:rPr lang="en-GB" sz="1400">
                          <a:effectLst/>
                        </a:rPr>
                        <a:t>51</a:t>
                      </a:r>
                      <a:endParaRPr lang="en-GB" sz="1400" dirty="0">
                        <a:effectLst/>
                      </a:endParaRPr>
                    </a:p>
                  </a:txBody>
                  <a:tcPr marL="38100" marR="38100" marT="28575" marB="28575" anchor="ctr">
                    <a:solidFill>
                      <a:srgbClr val="E7EEEE"/>
                    </a:solidFill>
                  </a:tcPr>
                </a:tc>
                <a:tc>
                  <a:txBody>
                    <a:bodyPr/>
                    <a:lstStyle/>
                    <a:p>
                      <a:pPr algn="ctr"/>
                      <a:r>
                        <a:rPr lang="en-GB" sz="1400">
                          <a:effectLst/>
                        </a:rPr>
                        <a:t>Inward Processing</a:t>
                      </a:r>
                      <a:endParaRPr lang="en-GB" sz="1400" dirty="0">
                        <a:effectLst/>
                      </a:endParaRPr>
                    </a:p>
                  </a:txBody>
                  <a:tcPr marL="38100" marR="38100" marT="28575" marB="28575" anchor="ctr">
                    <a:solidFill>
                      <a:srgbClr val="E7EEEE"/>
                    </a:solidFill>
                  </a:tcPr>
                </a:tc>
                <a:extLst>
                  <a:ext uri="{0D108BD9-81ED-4DB2-BD59-A6C34878D82A}">
                    <a16:rowId xmlns:a16="http://schemas.microsoft.com/office/drawing/2014/main" val="22877297"/>
                  </a:ext>
                </a:extLst>
              </a:tr>
              <a:tr h="264000">
                <a:tc>
                  <a:txBody>
                    <a:bodyPr/>
                    <a:lstStyle/>
                    <a:p>
                      <a:pPr algn="ctr"/>
                      <a:r>
                        <a:rPr lang="en-GB" sz="1400">
                          <a:effectLst/>
                        </a:rPr>
                        <a:t>21</a:t>
                      </a:r>
                      <a:endParaRPr lang="en-GB" sz="1400" dirty="0">
                        <a:effectLst/>
                      </a:endParaRPr>
                    </a:p>
                  </a:txBody>
                  <a:tcPr marL="38100" marR="38100" marT="28575" marB="28575" anchor="ctr">
                    <a:solidFill>
                      <a:srgbClr val="CBDCDB"/>
                    </a:solidFill>
                  </a:tcPr>
                </a:tc>
                <a:tc>
                  <a:txBody>
                    <a:bodyPr/>
                    <a:lstStyle/>
                    <a:p>
                      <a:pPr algn="ctr"/>
                      <a:r>
                        <a:rPr lang="en-GB" sz="1400">
                          <a:effectLst/>
                        </a:rPr>
                        <a:t>Outward Processing</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1501709098"/>
                  </a:ext>
                </a:extLst>
              </a:tr>
              <a:tr h="264000">
                <a:tc>
                  <a:txBody>
                    <a:bodyPr/>
                    <a:lstStyle/>
                    <a:p>
                      <a:pPr algn="ctr"/>
                      <a:r>
                        <a:rPr lang="en-GB" sz="1400">
                          <a:effectLst/>
                        </a:rPr>
                        <a:t>22</a:t>
                      </a:r>
                      <a:endParaRPr lang="en-GB" sz="1400" dirty="0">
                        <a:effectLst/>
                      </a:endParaRPr>
                    </a:p>
                  </a:txBody>
                  <a:tcPr marL="38100" marR="38100" marT="28575" marB="28575" anchor="ctr">
                    <a:solidFill>
                      <a:srgbClr val="E7EEEE"/>
                    </a:solidFill>
                  </a:tcPr>
                </a:tc>
                <a:tc>
                  <a:txBody>
                    <a:bodyPr/>
                    <a:lstStyle/>
                    <a:p>
                      <a:pPr algn="ctr"/>
                      <a:r>
                        <a:rPr lang="en-GB" sz="1400">
                          <a:effectLst/>
                        </a:rPr>
                        <a:t>Outward Processing</a:t>
                      </a:r>
                      <a:endParaRPr lang="en-GB" sz="1400" dirty="0">
                        <a:effectLst/>
                      </a:endParaRPr>
                    </a:p>
                  </a:txBody>
                  <a:tcPr marL="38100" marR="38100" marT="28575" marB="28575" anchor="ctr">
                    <a:solidFill>
                      <a:srgbClr val="E7EEEE"/>
                    </a:solidFill>
                  </a:tcPr>
                </a:tc>
                <a:extLst>
                  <a:ext uri="{0D108BD9-81ED-4DB2-BD59-A6C34878D82A}">
                    <a16:rowId xmlns:a16="http://schemas.microsoft.com/office/drawing/2014/main" val="1230636107"/>
                  </a:ext>
                </a:extLst>
              </a:tr>
              <a:tr h="264000">
                <a:tc>
                  <a:txBody>
                    <a:bodyPr/>
                    <a:lstStyle/>
                    <a:p>
                      <a:pPr algn="ctr"/>
                      <a:r>
                        <a:rPr lang="en-GB" sz="1400">
                          <a:effectLst/>
                        </a:rPr>
                        <a:t>44</a:t>
                      </a:r>
                      <a:endParaRPr lang="en-GB" sz="1400" dirty="0">
                        <a:effectLst/>
                      </a:endParaRPr>
                    </a:p>
                  </a:txBody>
                  <a:tcPr marL="38100" marR="38100" marT="28575" marB="28575" anchor="ctr">
                    <a:solidFill>
                      <a:srgbClr val="CBDCDB"/>
                    </a:solidFill>
                  </a:tcPr>
                </a:tc>
                <a:tc>
                  <a:txBody>
                    <a:bodyPr/>
                    <a:lstStyle/>
                    <a:p>
                      <a:pPr algn="ctr"/>
                      <a:r>
                        <a:rPr lang="en-GB" sz="1400" dirty="0">
                          <a:effectLst/>
                        </a:rPr>
                        <a:t>End Use/Authorised Use</a:t>
                      </a:r>
                    </a:p>
                  </a:txBody>
                  <a:tcPr marL="38100" marR="38100" marT="28575" marB="28575" anchor="ctr">
                    <a:solidFill>
                      <a:srgbClr val="CBDCDB"/>
                    </a:solidFill>
                  </a:tcPr>
                </a:tc>
                <a:extLst>
                  <a:ext uri="{0D108BD9-81ED-4DB2-BD59-A6C34878D82A}">
                    <a16:rowId xmlns:a16="http://schemas.microsoft.com/office/drawing/2014/main" val="234489095"/>
                  </a:ext>
                </a:extLst>
              </a:tr>
            </a:tbl>
          </a:graphicData>
        </a:graphic>
      </p:graphicFrame>
      <p:sp>
        <p:nvSpPr>
          <p:cNvPr id="9" name="Rectangle 8">
            <a:extLst>
              <a:ext uri="{FF2B5EF4-FFF2-40B4-BE49-F238E27FC236}">
                <a16:creationId xmlns:a16="http://schemas.microsoft.com/office/drawing/2014/main" id="{739CFB19-BE3B-F4EB-725E-A2A23644F23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graphicFrame>
        <p:nvGraphicFramePr>
          <p:cNvPr id="15" name="Table 8">
            <a:extLst>
              <a:ext uri="{FF2B5EF4-FFF2-40B4-BE49-F238E27FC236}">
                <a16:creationId xmlns:a16="http://schemas.microsoft.com/office/drawing/2014/main" id="{7ACADDDE-2849-8625-ADCE-DF15675D1ED8}"/>
              </a:ext>
            </a:extLst>
          </p:cNvPr>
          <p:cNvGraphicFramePr>
            <a:graphicFrameLocks noGrp="1"/>
          </p:cNvGraphicFramePr>
          <p:nvPr/>
        </p:nvGraphicFramePr>
        <p:xfrm>
          <a:off x="6585452" y="2723766"/>
          <a:ext cx="4588830" cy="1623060"/>
        </p:xfrm>
        <a:graphic>
          <a:graphicData uri="http://schemas.openxmlformats.org/drawingml/2006/table">
            <a:tbl>
              <a:tblPr firstRow="1" bandRow="1">
                <a:tableStyleId>{5C22544A-7EE6-4342-B048-85BDC9FD1C3A}</a:tableStyleId>
              </a:tblPr>
              <a:tblGrid>
                <a:gridCol w="2294415">
                  <a:extLst>
                    <a:ext uri="{9D8B030D-6E8A-4147-A177-3AD203B41FA5}">
                      <a16:colId xmlns:a16="http://schemas.microsoft.com/office/drawing/2014/main" val="3366862094"/>
                    </a:ext>
                  </a:extLst>
                </a:gridCol>
                <a:gridCol w="2294415">
                  <a:extLst>
                    <a:ext uri="{9D8B030D-6E8A-4147-A177-3AD203B41FA5}">
                      <a16:colId xmlns:a16="http://schemas.microsoft.com/office/drawing/2014/main" val="2954843373"/>
                    </a:ext>
                  </a:extLst>
                </a:gridCol>
              </a:tblGrid>
              <a:tr h="264000">
                <a:tc>
                  <a:txBody>
                    <a:bodyPr/>
                    <a:lstStyle/>
                    <a:p>
                      <a:pPr algn="ctr"/>
                      <a:r>
                        <a:rPr lang="en-GB" sz="1400" b="1">
                          <a:solidFill>
                            <a:schemeClr val="bg1"/>
                          </a:solidFill>
                          <a:effectLst/>
                        </a:rPr>
                        <a:t>PPC</a:t>
                      </a:r>
                      <a:endParaRPr lang="en-GB" sz="1400" b="0" dirty="0">
                        <a:solidFill>
                          <a:schemeClr val="bg1"/>
                        </a:solidFill>
                        <a:effectLst/>
                      </a:endParaRPr>
                    </a:p>
                  </a:txBody>
                  <a:tcPr marL="38100" marR="38100" marT="28575" marB="28575" anchor="ctr">
                    <a:solidFill>
                      <a:srgbClr val="009999"/>
                    </a:solidFill>
                  </a:tcPr>
                </a:tc>
                <a:tc>
                  <a:txBody>
                    <a:bodyPr/>
                    <a:lstStyle/>
                    <a:p>
                      <a:pPr algn="ctr"/>
                      <a:r>
                        <a:rPr lang="en-GB" sz="1400" b="1">
                          <a:solidFill>
                            <a:schemeClr val="bg1"/>
                          </a:solidFill>
                          <a:effectLst/>
                        </a:rPr>
                        <a:t>Auth Type</a:t>
                      </a:r>
                      <a:endParaRPr lang="en-GB" sz="1400" b="0" dirty="0">
                        <a:solidFill>
                          <a:schemeClr val="bg1"/>
                        </a:solidFill>
                        <a:effectLst/>
                      </a:endParaRPr>
                    </a:p>
                  </a:txBody>
                  <a:tcPr marL="38100" marR="38100" marT="28575" marB="28575" anchor="ctr">
                    <a:solidFill>
                      <a:srgbClr val="009999"/>
                    </a:solidFill>
                  </a:tcPr>
                </a:tc>
                <a:extLst>
                  <a:ext uri="{0D108BD9-81ED-4DB2-BD59-A6C34878D82A}">
                    <a16:rowId xmlns:a16="http://schemas.microsoft.com/office/drawing/2014/main" val="3223203571"/>
                  </a:ext>
                </a:extLst>
              </a:tr>
              <a:tr h="264000">
                <a:tc>
                  <a:txBody>
                    <a:bodyPr/>
                    <a:lstStyle/>
                    <a:p>
                      <a:pPr algn="ctr"/>
                      <a:r>
                        <a:rPr lang="en-GB" sz="1400">
                          <a:effectLst/>
                        </a:rPr>
                        <a:t>53</a:t>
                      </a:r>
                      <a:endParaRPr lang="en-GB" sz="1400" dirty="0">
                        <a:effectLst/>
                      </a:endParaRPr>
                    </a:p>
                  </a:txBody>
                  <a:tcPr marL="38100" marR="38100" marT="28575" marB="28575" anchor="ctr">
                    <a:solidFill>
                      <a:srgbClr val="CBDCDB"/>
                    </a:solidFill>
                  </a:tcPr>
                </a:tc>
                <a:tc>
                  <a:txBody>
                    <a:bodyPr/>
                    <a:lstStyle/>
                    <a:p>
                      <a:pPr algn="ctr"/>
                      <a:r>
                        <a:rPr lang="en-GB" sz="1400">
                          <a:effectLst/>
                        </a:rPr>
                        <a:t>Temporary Admission</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22085304"/>
                  </a:ext>
                </a:extLst>
              </a:tr>
              <a:tr h="264000">
                <a:tc>
                  <a:txBody>
                    <a:bodyPr/>
                    <a:lstStyle/>
                    <a:p>
                      <a:pPr algn="ctr"/>
                      <a:r>
                        <a:rPr lang="en-GB" sz="1400">
                          <a:effectLst/>
                        </a:rPr>
                        <a:t>51</a:t>
                      </a:r>
                      <a:endParaRPr lang="en-GB" sz="1400" dirty="0">
                        <a:effectLst/>
                      </a:endParaRPr>
                    </a:p>
                  </a:txBody>
                  <a:tcPr marL="38100" marR="38100" marT="28575" marB="28575" anchor="ctr">
                    <a:solidFill>
                      <a:srgbClr val="E7EEEE"/>
                    </a:solidFill>
                  </a:tcPr>
                </a:tc>
                <a:tc>
                  <a:txBody>
                    <a:bodyPr/>
                    <a:lstStyle/>
                    <a:p>
                      <a:pPr algn="ctr"/>
                      <a:r>
                        <a:rPr lang="en-GB" sz="1400">
                          <a:effectLst/>
                        </a:rPr>
                        <a:t>Inward Processing</a:t>
                      </a:r>
                      <a:endParaRPr lang="en-GB" sz="1400" dirty="0">
                        <a:effectLst/>
                      </a:endParaRPr>
                    </a:p>
                  </a:txBody>
                  <a:tcPr marL="38100" marR="38100" marT="28575" marB="28575" anchor="ctr">
                    <a:solidFill>
                      <a:srgbClr val="E7EEEE"/>
                    </a:solidFill>
                  </a:tcPr>
                </a:tc>
                <a:extLst>
                  <a:ext uri="{0D108BD9-81ED-4DB2-BD59-A6C34878D82A}">
                    <a16:rowId xmlns:a16="http://schemas.microsoft.com/office/drawing/2014/main" val="22877297"/>
                  </a:ext>
                </a:extLst>
              </a:tr>
              <a:tr h="264000">
                <a:tc>
                  <a:txBody>
                    <a:bodyPr/>
                    <a:lstStyle/>
                    <a:p>
                      <a:pPr algn="ctr"/>
                      <a:r>
                        <a:rPr lang="en-GB" sz="1400">
                          <a:effectLst/>
                        </a:rPr>
                        <a:t>21</a:t>
                      </a:r>
                      <a:endParaRPr lang="en-GB" sz="1400" dirty="0">
                        <a:effectLst/>
                      </a:endParaRPr>
                    </a:p>
                  </a:txBody>
                  <a:tcPr marL="38100" marR="38100" marT="28575" marB="28575" anchor="ctr">
                    <a:solidFill>
                      <a:srgbClr val="CBDCDB"/>
                    </a:solidFill>
                  </a:tcPr>
                </a:tc>
                <a:tc>
                  <a:txBody>
                    <a:bodyPr/>
                    <a:lstStyle/>
                    <a:p>
                      <a:pPr algn="ctr"/>
                      <a:r>
                        <a:rPr lang="en-GB" sz="1400">
                          <a:effectLst/>
                        </a:rPr>
                        <a:t>Outward Processing</a:t>
                      </a:r>
                      <a:endParaRPr lang="en-GB" sz="1400" dirty="0">
                        <a:effectLst/>
                      </a:endParaRPr>
                    </a:p>
                  </a:txBody>
                  <a:tcPr marL="38100" marR="38100" marT="28575" marB="28575" anchor="ctr">
                    <a:solidFill>
                      <a:srgbClr val="CBDCDB"/>
                    </a:solidFill>
                  </a:tcPr>
                </a:tc>
                <a:extLst>
                  <a:ext uri="{0D108BD9-81ED-4DB2-BD59-A6C34878D82A}">
                    <a16:rowId xmlns:a16="http://schemas.microsoft.com/office/drawing/2014/main" val="1501709098"/>
                  </a:ext>
                </a:extLst>
              </a:tr>
              <a:tr h="264000">
                <a:tc>
                  <a:txBody>
                    <a:bodyPr/>
                    <a:lstStyle/>
                    <a:p>
                      <a:pPr algn="ctr"/>
                      <a:r>
                        <a:rPr lang="en-GB" sz="1400">
                          <a:effectLst/>
                        </a:rPr>
                        <a:t>22</a:t>
                      </a:r>
                      <a:endParaRPr lang="en-GB" sz="1400" dirty="0">
                        <a:effectLst/>
                      </a:endParaRPr>
                    </a:p>
                  </a:txBody>
                  <a:tcPr marL="38100" marR="38100" marT="28575" marB="28575" anchor="ctr">
                    <a:solidFill>
                      <a:srgbClr val="E7EEEE"/>
                    </a:solidFill>
                  </a:tcPr>
                </a:tc>
                <a:tc>
                  <a:txBody>
                    <a:bodyPr/>
                    <a:lstStyle/>
                    <a:p>
                      <a:pPr algn="ctr"/>
                      <a:r>
                        <a:rPr lang="en-GB" sz="1400">
                          <a:effectLst/>
                        </a:rPr>
                        <a:t>Outward Processing</a:t>
                      </a:r>
                      <a:endParaRPr lang="en-GB" sz="1400" dirty="0">
                        <a:effectLst/>
                      </a:endParaRPr>
                    </a:p>
                  </a:txBody>
                  <a:tcPr marL="38100" marR="38100" marT="28575" marB="28575" anchor="ctr">
                    <a:solidFill>
                      <a:srgbClr val="E7EEEE"/>
                    </a:solidFill>
                  </a:tcPr>
                </a:tc>
                <a:extLst>
                  <a:ext uri="{0D108BD9-81ED-4DB2-BD59-A6C34878D82A}">
                    <a16:rowId xmlns:a16="http://schemas.microsoft.com/office/drawing/2014/main" val="1230636107"/>
                  </a:ext>
                </a:extLst>
              </a:tr>
              <a:tr h="264000">
                <a:tc>
                  <a:txBody>
                    <a:bodyPr/>
                    <a:lstStyle/>
                    <a:p>
                      <a:pPr algn="ctr"/>
                      <a:r>
                        <a:rPr lang="en-GB" sz="1400">
                          <a:effectLst/>
                        </a:rPr>
                        <a:t>44</a:t>
                      </a:r>
                      <a:endParaRPr lang="en-GB" sz="1400" dirty="0">
                        <a:effectLst/>
                      </a:endParaRPr>
                    </a:p>
                  </a:txBody>
                  <a:tcPr marL="38100" marR="38100" marT="28575" marB="28575" anchor="ctr">
                    <a:solidFill>
                      <a:srgbClr val="CBDCDB"/>
                    </a:solidFill>
                  </a:tcPr>
                </a:tc>
                <a:tc>
                  <a:txBody>
                    <a:bodyPr/>
                    <a:lstStyle/>
                    <a:p>
                      <a:pPr algn="ctr"/>
                      <a:r>
                        <a:rPr lang="en-GB" sz="1400" dirty="0">
                          <a:effectLst/>
                        </a:rPr>
                        <a:t>End Use/Authorised Use</a:t>
                      </a:r>
                    </a:p>
                  </a:txBody>
                  <a:tcPr marL="38100" marR="38100" marT="28575" marB="28575" anchor="ctr">
                    <a:solidFill>
                      <a:srgbClr val="CBDCDB"/>
                    </a:solidFill>
                  </a:tcPr>
                </a:tc>
                <a:extLst>
                  <a:ext uri="{0D108BD9-81ED-4DB2-BD59-A6C34878D82A}">
                    <a16:rowId xmlns:a16="http://schemas.microsoft.com/office/drawing/2014/main" val="234489095"/>
                  </a:ext>
                </a:extLst>
              </a:tr>
            </a:tbl>
          </a:graphicData>
        </a:graphic>
      </p:graphicFrame>
    </p:spTree>
    <p:extLst>
      <p:ext uri="{BB962C8B-B14F-4D97-AF65-F5344CB8AC3E}">
        <p14:creationId xmlns:p14="http://schemas.microsoft.com/office/powerpoint/2010/main" val="4268464235"/>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6495" y="1257806"/>
            <a:ext cx="11282159" cy="4924425"/>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AbD Securities</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This functionality will ensure that </a:t>
            </a:r>
            <a:r>
              <a:rPr lang="en-GB" sz="1400" b="0" i="0" dirty="0">
                <a:effectLst/>
                <a:latin typeface="-apple-system"/>
              </a:rPr>
              <a:t>securities are obtained appropriately, and that validation occurs on the Method of Payments used when goods are entering and exiting AbD procedures.</a:t>
            </a:r>
          </a:p>
          <a:p>
            <a:pPr>
              <a:defRPr sz="1800" b="0" i="0" u="none" strike="noStrike" kern="0" cap="none" spc="0" baseline="0">
                <a:solidFill>
                  <a:srgbClr val="000000"/>
                </a:solidFill>
                <a:uFillTx/>
              </a:defRPr>
            </a:pPr>
            <a:endParaRPr lang="en-GB" sz="1000" dirty="0">
              <a:latin typeface="-apple-system"/>
            </a:endParaRPr>
          </a:p>
          <a:p>
            <a:pPr>
              <a:defRPr sz="1800" b="0" i="0" u="none" strike="noStrike" kern="0" cap="none" spc="0" baseline="0">
                <a:solidFill>
                  <a:srgbClr val="000000"/>
                </a:solidFill>
                <a:uFillTx/>
              </a:defRPr>
            </a:pPr>
            <a:r>
              <a:rPr lang="en-GB" sz="1400" b="1" dirty="0">
                <a:latin typeface="-apple-system"/>
              </a:rPr>
              <a:t>Pre-requisite: </a:t>
            </a:r>
            <a:r>
              <a:rPr lang="en-GB" sz="1400" dirty="0">
                <a:latin typeface="-apple-system"/>
              </a:rPr>
              <a:t>a trader has declared a Requested Procedure Code in DE 1/10, Additional Procedure Code in DE 1/11, and AI Code in DE 2/2 as per the table on slide 36.</a:t>
            </a:r>
          </a:p>
          <a:p>
            <a:pPr>
              <a:defRPr sz="1800" b="0" i="0" u="none" strike="noStrike" kern="0" cap="none" spc="0" baseline="0">
                <a:solidFill>
                  <a:srgbClr val="000000"/>
                </a:solidFill>
                <a:uFillTx/>
              </a:defRPr>
            </a:pPr>
            <a:endParaRPr lang="en-GB" sz="1000" dirty="0">
              <a:latin typeface="-apple-system"/>
            </a:endParaRPr>
          </a:p>
          <a:p>
            <a:pPr>
              <a:defRPr sz="1800" b="0" i="0" u="none" strike="noStrike" kern="0" cap="none" spc="0" baseline="0">
                <a:solidFill>
                  <a:srgbClr val="000000"/>
                </a:solidFill>
                <a:uFillTx/>
              </a:defRPr>
            </a:pPr>
            <a:r>
              <a:rPr lang="en-GB" sz="1400" dirty="0">
                <a:cs typeface="Calibri" panose="020F0502020204030204"/>
              </a:rPr>
              <a:t>Where a trader declares AI code ABDIN in DE 2/2, CDS will take a security deposit for the duties due for that goods item. However, as per BAU, CDS will not take security deposit for the duties due for a goods item where:</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Requested Procedure Code 51 in DE 1/10 and Additional Procedure Code 3HG in DE 1/11.</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Requested Procedure Code 53 in DE 1/10 and the Additional Procedure Code D06, D07 or D15 in DE 1/11.</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Requested Procedure Code 21 or 22 in DE 1/10.</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AI code ABDOU in DE 2/2 without AI code ABDIN.</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Additional Procedure Code 1SW in DE 1/11 and AI Code ABDOU in DE 2/2.</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Additional Procedure Code 2MO in DE 1/11 and AI Code ABDOU in DE 2/2.</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cs typeface="Calibri" panose="020F0502020204030204"/>
              </a:rPr>
              <a:t>A trader declares AI code ABDIN in DE 2/2 and Additional Procedure Code 2MO in DE 1/11.</a:t>
            </a:r>
          </a:p>
          <a:p>
            <a:pPr>
              <a:defRPr sz="1800" b="0" i="0" u="none" strike="noStrike" kern="0" cap="none" spc="0" baseline="0">
                <a:solidFill>
                  <a:srgbClr val="000000"/>
                </a:solidFill>
                <a:uFillTx/>
              </a:defRPr>
            </a:pPr>
            <a:r>
              <a:rPr lang="en-GB" sz="1400" dirty="0">
                <a:cs typeface="Calibri" panose="020F0502020204030204"/>
              </a:rPr>
              <a:t>Where a trader declares AI code ABDIN in DE 2/2 and a security has not been taken, suspension or relief is to be applied where applicable, as per BAU. </a:t>
            </a:r>
          </a:p>
          <a:p>
            <a:pPr>
              <a:defRPr sz="1800" b="0" i="0" u="none" strike="noStrike" kern="0" cap="none" spc="0" baseline="0">
                <a:solidFill>
                  <a:srgbClr val="000000"/>
                </a:solidFill>
                <a:uFillTx/>
              </a:defRPr>
            </a:pPr>
            <a:endParaRPr lang="en-GB" sz="1400" b="1" dirty="0">
              <a:latin typeface="-apple-system"/>
            </a:endParaRPr>
          </a:p>
          <a:p>
            <a:pPr>
              <a:defRPr sz="1800" b="0" i="0" u="none" strike="noStrike" kern="0" cap="none" spc="0" baseline="0">
                <a:solidFill>
                  <a:srgbClr val="000000"/>
                </a:solidFill>
                <a:uFillTx/>
              </a:defRPr>
            </a:pPr>
            <a:endParaRPr lang="en-GB" sz="1400" dirty="0">
              <a:latin typeface="-apple-system"/>
            </a:endParaRPr>
          </a:p>
          <a:p>
            <a:pPr>
              <a:defRPr sz="1800" b="0" i="0" u="none" strike="noStrike" kern="0" cap="none" spc="0" baseline="0">
                <a:solidFill>
                  <a:srgbClr val="000000"/>
                </a:solidFill>
                <a:uFillTx/>
              </a:defRPr>
            </a:pPr>
            <a:endParaRPr lang="en-GB" sz="1400" dirty="0">
              <a:latin typeface="-apple-system"/>
            </a:endParaRPr>
          </a:p>
          <a:p>
            <a:pPr>
              <a:defRPr sz="1800" b="0" i="0" u="none" strike="noStrike" kern="0" cap="none" spc="0" baseline="0">
                <a:solidFill>
                  <a:srgbClr val="000000"/>
                </a:solidFill>
                <a:uFillTx/>
              </a:defRPr>
            </a:pPr>
            <a:endParaRPr lang="en-GB" sz="1400" dirty="0">
              <a:latin typeface="-apple-system"/>
            </a:endParaRPr>
          </a:p>
          <a:p>
            <a:pPr>
              <a:defRPr sz="1800" b="0" i="0" u="none" strike="noStrike" kern="0" cap="none" spc="0" baseline="0">
                <a:solidFill>
                  <a:srgbClr val="000000"/>
                </a:solidFill>
                <a:uFillTx/>
              </a:defRPr>
            </a:pPr>
            <a:endParaRPr lang="en-GB" sz="1400" dirty="0">
              <a:latin typeface="-apple-system"/>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222</a:t>
            </a:fld>
            <a:endParaRPr lang="en-GB" dirty="0">
              <a:solidFill>
                <a:schemeClr val="tx1"/>
              </a:solidFill>
            </a:endParaRPr>
          </a:p>
        </p:txBody>
      </p:sp>
      <p:sp>
        <p:nvSpPr>
          <p:cNvPr id="9" name="Rectangle 8">
            <a:extLst>
              <a:ext uri="{FF2B5EF4-FFF2-40B4-BE49-F238E27FC236}">
                <a16:creationId xmlns:a16="http://schemas.microsoft.com/office/drawing/2014/main" id="{D358A5FA-97FA-E5F4-24B0-5EB9B29789FE}"/>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1801975524"/>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11">
            <a:extLst>
              <a:ext uri="{FF2B5EF4-FFF2-40B4-BE49-F238E27FC236}">
                <a16:creationId xmlns:a16="http://schemas.microsoft.com/office/drawing/2014/main" id="{6CCC46D6-F842-44BA-845A-27FA01C34081}"/>
              </a:ext>
            </a:extLst>
          </p:cNvPr>
          <p:cNvSpPr/>
          <p:nvPr/>
        </p:nvSpPr>
        <p:spPr>
          <a:xfrm>
            <a:off x="406495" y="1257806"/>
            <a:ext cx="11282159" cy="527836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dirty="0"/>
              <a:t>AbD Securities (cont.)</a:t>
            </a:r>
          </a:p>
          <a:p>
            <a:pPr>
              <a:defRPr sz="1800" b="0" i="0" u="none" strike="noStrike" kern="0" cap="none" spc="0" baseline="0">
                <a:solidFill>
                  <a:srgbClr val="000000"/>
                </a:solidFill>
                <a:uFillTx/>
              </a:defRPr>
            </a:pPr>
            <a:endParaRPr lang="en-GB" sz="10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 </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CDS will validate the Method of Payments used with movements entering special procedures using AbD. Where a trader declares AI code ABDIN in DE 2/2 and one of the following MOP codes: A, B, C, D, E, H, O, P, X are declared in DE 4/8 on the same good item, CDS will reject the declaration and send a DMSREJ to the submitter.</a:t>
            </a: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1400" dirty="0">
                <a:cs typeface="Calibri" panose="020F0502020204030204"/>
              </a:rPr>
              <a:t>From CDS4.4.0, Additional Procedure Code 1SW will not be able to be declared by traders when entering a special procedure using Authorisation by Declaration. If 1SW is entered in DE 1/11 alongside AI Code ABDIN in DE 2/2, the declaration will be rejected and a DMSREJ will be issued to the trader.</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endParaRPr lang="en-GB" sz="1400" dirty="0">
              <a:cs typeface="Calibri" panose="020F0502020204030204"/>
            </a:endParaRPr>
          </a:p>
          <a:p>
            <a:pPr>
              <a:defRPr sz="1800" b="0" i="0" u="none" strike="noStrike" kern="0" cap="none" spc="0" baseline="0">
                <a:solidFill>
                  <a:srgbClr val="000000"/>
                </a:solidFill>
                <a:uFillTx/>
              </a:defRPr>
            </a:pPr>
            <a:r>
              <a:rPr lang="en-GB" sz="500" dirty="0">
                <a:cs typeface="Calibri" panose="020F0502020204030204"/>
              </a:rPr>
              <a:t>.</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223</a:t>
            </a:fld>
            <a:endParaRPr lang="en-GB" dirty="0">
              <a:solidFill>
                <a:schemeClr val="tx1"/>
              </a:solidFill>
            </a:endParaRPr>
          </a:p>
        </p:txBody>
      </p:sp>
      <p:sp>
        <p:nvSpPr>
          <p:cNvPr id="9" name="Rectangle 8">
            <a:extLst>
              <a:ext uri="{FF2B5EF4-FFF2-40B4-BE49-F238E27FC236}">
                <a16:creationId xmlns:a16="http://schemas.microsoft.com/office/drawing/2014/main" id="{D358A5FA-97FA-E5F4-24B0-5EB9B29789FE}"/>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graphicFrame>
        <p:nvGraphicFramePr>
          <p:cNvPr id="11" name="Table 8">
            <a:extLst>
              <a:ext uri="{FF2B5EF4-FFF2-40B4-BE49-F238E27FC236}">
                <a16:creationId xmlns:a16="http://schemas.microsoft.com/office/drawing/2014/main" id="{BF696D6F-F193-7FD1-B89F-3AC7ED668623}"/>
              </a:ext>
            </a:extLst>
          </p:cNvPr>
          <p:cNvGraphicFramePr>
            <a:graphicFrameLocks noGrp="1"/>
          </p:cNvGraphicFramePr>
          <p:nvPr/>
        </p:nvGraphicFramePr>
        <p:xfrm>
          <a:off x="2031600" y="1632856"/>
          <a:ext cx="8128800" cy="2514600"/>
        </p:xfrm>
        <a:graphic>
          <a:graphicData uri="http://schemas.openxmlformats.org/drawingml/2006/table">
            <a:tbl>
              <a:tblPr firstRow="1" bandRow="1">
                <a:tableStyleId>{5C22544A-7EE6-4342-B048-85BDC9FD1C3A}</a:tableStyleId>
              </a:tblPr>
              <a:tblGrid>
                <a:gridCol w="2032200">
                  <a:extLst>
                    <a:ext uri="{9D8B030D-6E8A-4147-A177-3AD203B41FA5}">
                      <a16:colId xmlns:a16="http://schemas.microsoft.com/office/drawing/2014/main" val="1997239383"/>
                    </a:ext>
                  </a:extLst>
                </a:gridCol>
                <a:gridCol w="2032200">
                  <a:extLst>
                    <a:ext uri="{9D8B030D-6E8A-4147-A177-3AD203B41FA5}">
                      <a16:colId xmlns:a16="http://schemas.microsoft.com/office/drawing/2014/main" val="1012285335"/>
                    </a:ext>
                  </a:extLst>
                </a:gridCol>
                <a:gridCol w="2032200">
                  <a:extLst>
                    <a:ext uri="{9D8B030D-6E8A-4147-A177-3AD203B41FA5}">
                      <a16:colId xmlns:a16="http://schemas.microsoft.com/office/drawing/2014/main" val="1634251541"/>
                    </a:ext>
                  </a:extLst>
                </a:gridCol>
                <a:gridCol w="2032200">
                  <a:extLst>
                    <a:ext uri="{9D8B030D-6E8A-4147-A177-3AD203B41FA5}">
                      <a16:colId xmlns:a16="http://schemas.microsoft.com/office/drawing/2014/main" val="776845178"/>
                    </a:ext>
                  </a:extLst>
                </a:gridCol>
              </a:tblGrid>
              <a:tr h="241200">
                <a:tc>
                  <a:txBody>
                    <a:bodyPr/>
                    <a:lstStyle/>
                    <a:p>
                      <a:pPr algn="ctr"/>
                      <a:r>
                        <a:rPr lang="en-GB" sz="1400" b="1">
                          <a:effectLst/>
                        </a:rPr>
                        <a:t>RPC</a:t>
                      </a:r>
                      <a:endParaRPr lang="en-GB" sz="1400" dirty="0">
                        <a:effectLst/>
                      </a:endParaRPr>
                    </a:p>
                  </a:txBody>
                  <a:tcPr marL="25400" marR="25400" marT="19050" marB="19050" anchor="ctr">
                    <a:solidFill>
                      <a:srgbClr val="009999"/>
                    </a:solidFill>
                  </a:tcPr>
                </a:tc>
                <a:tc>
                  <a:txBody>
                    <a:bodyPr/>
                    <a:lstStyle/>
                    <a:p>
                      <a:pPr algn="ctr"/>
                      <a:r>
                        <a:rPr lang="en-GB" sz="1400" b="1">
                          <a:effectLst/>
                        </a:rPr>
                        <a:t>APC</a:t>
                      </a:r>
                      <a:endParaRPr lang="en-GB" sz="1400" dirty="0">
                        <a:effectLst/>
                      </a:endParaRPr>
                    </a:p>
                  </a:txBody>
                  <a:tcPr marL="25400" marR="25400" marT="19050" marB="19050" anchor="ctr">
                    <a:solidFill>
                      <a:srgbClr val="009999"/>
                    </a:solidFill>
                  </a:tcPr>
                </a:tc>
                <a:tc>
                  <a:txBody>
                    <a:bodyPr/>
                    <a:lstStyle/>
                    <a:p>
                      <a:pPr algn="ctr"/>
                      <a:r>
                        <a:rPr lang="en-GB" sz="1400" b="1">
                          <a:effectLst/>
                        </a:rPr>
                        <a:t>AI code</a:t>
                      </a:r>
                      <a:endParaRPr lang="en-GB" sz="1400" dirty="0">
                        <a:effectLst/>
                      </a:endParaRPr>
                    </a:p>
                  </a:txBody>
                  <a:tcPr marL="25400" marR="25400" marT="19050" marB="19050" anchor="ctr">
                    <a:solidFill>
                      <a:srgbClr val="009999"/>
                    </a:solidFill>
                  </a:tcPr>
                </a:tc>
                <a:tc>
                  <a:txBody>
                    <a:bodyPr/>
                    <a:lstStyle/>
                    <a:p>
                      <a:pPr algn="ctr"/>
                      <a:r>
                        <a:rPr lang="en-GB" sz="1400" b="1">
                          <a:effectLst/>
                        </a:rPr>
                        <a:t>Security Required?</a:t>
                      </a:r>
                      <a:endParaRPr lang="en-GB" sz="1400" dirty="0">
                        <a:effectLst/>
                      </a:endParaRPr>
                    </a:p>
                  </a:txBody>
                  <a:tcPr marL="25400" marR="25400" marT="19050" marB="19050" anchor="ctr">
                    <a:solidFill>
                      <a:srgbClr val="009999"/>
                    </a:solidFill>
                  </a:tcPr>
                </a:tc>
                <a:extLst>
                  <a:ext uri="{0D108BD9-81ED-4DB2-BD59-A6C34878D82A}">
                    <a16:rowId xmlns:a16="http://schemas.microsoft.com/office/drawing/2014/main" val="1440678393"/>
                  </a:ext>
                </a:extLst>
              </a:tr>
              <a:tr h="237873">
                <a:tc>
                  <a:txBody>
                    <a:bodyPr/>
                    <a:lstStyle/>
                    <a:p>
                      <a:pPr algn="ctr"/>
                      <a:r>
                        <a:rPr lang="en-GB" sz="1400">
                          <a:effectLst/>
                        </a:rPr>
                        <a:t>(Any / N.A.)</a:t>
                      </a:r>
                      <a:endParaRPr lang="en-GB" sz="1400" dirty="0">
                        <a:effectLst/>
                      </a:endParaRPr>
                    </a:p>
                  </a:txBody>
                  <a:tcPr marL="25400" marR="25400" marT="19050" marB="19050" anchor="ctr">
                    <a:solidFill>
                      <a:srgbClr val="CBDCDB"/>
                    </a:solidFill>
                  </a:tcPr>
                </a:tc>
                <a:tc>
                  <a:txBody>
                    <a:bodyPr/>
                    <a:lstStyle/>
                    <a:p>
                      <a:pPr algn="ctr"/>
                      <a:r>
                        <a:rPr lang="en-GB" sz="1400">
                          <a:effectLst/>
                        </a:rPr>
                        <a:t>(Any / N.A.)</a:t>
                      </a:r>
                      <a:endParaRPr lang="en-GB" sz="1400" dirty="0">
                        <a:effectLst/>
                      </a:endParaRPr>
                    </a:p>
                  </a:txBody>
                  <a:tcPr marL="25400" marR="25400" marT="19050" marB="19050" anchor="ctr">
                    <a:solidFill>
                      <a:srgbClr val="CBDCDB"/>
                    </a:solidFill>
                  </a:tcPr>
                </a:tc>
                <a:tc>
                  <a:txBody>
                    <a:bodyPr/>
                    <a:lstStyle/>
                    <a:p>
                      <a:pPr algn="ctr"/>
                      <a:r>
                        <a:rPr lang="en-GB" sz="1400">
                          <a:effectLst/>
                        </a:rPr>
                        <a:t>ABDOU</a:t>
                      </a:r>
                      <a:endParaRPr lang="en-GB" sz="1400" dirty="0">
                        <a:effectLst/>
                      </a:endParaRPr>
                    </a:p>
                  </a:txBody>
                  <a:tcPr marL="25400" marR="25400" marT="19050" marB="19050" anchor="ctr">
                    <a:solidFill>
                      <a:srgbClr val="CBDCDB"/>
                    </a:solidFill>
                  </a:tcPr>
                </a:tc>
                <a:tc>
                  <a:txBody>
                    <a:bodyPr/>
                    <a:lstStyle/>
                    <a:p>
                      <a:pPr algn="ctr"/>
                      <a:r>
                        <a:rPr lang="en-GB" sz="1400">
                          <a:effectLst/>
                        </a:rPr>
                        <a:t>No</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272529701"/>
                  </a:ext>
                </a:extLst>
              </a:tr>
              <a:tr h="241200">
                <a:tc>
                  <a:txBody>
                    <a:bodyPr/>
                    <a:lstStyle/>
                    <a:p>
                      <a:pPr algn="ctr"/>
                      <a:r>
                        <a:rPr lang="en-GB" sz="1400">
                          <a:effectLst/>
                        </a:rPr>
                        <a:t>51</a:t>
                      </a:r>
                      <a:endParaRPr lang="en-GB" sz="1400" dirty="0">
                        <a:effectLst/>
                      </a:endParaRPr>
                    </a:p>
                  </a:txBody>
                  <a:tcPr marL="25400" marR="25400" marT="19050" marB="19050" anchor="ctr">
                    <a:solidFill>
                      <a:srgbClr val="E7EEEE"/>
                    </a:solidFill>
                  </a:tcPr>
                </a:tc>
                <a:tc>
                  <a:txBody>
                    <a:bodyPr/>
                    <a:lstStyle/>
                    <a:p>
                      <a:pPr algn="ctr"/>
                      <a:r>
                        <a:rPr lang="en-GB" sz="1400">
                          <a:effectLst/>
                        </a:rPr>
                        <a:t>3HG</a:t>
                      </a:r>
                      <a:endParaRPr lang="en-GB" sz="1400" dirty="0">
                        <a:effectLst/>
                      </a:endParaRPr>
                    </a:p>
                  </a:txBody>
                  <a:tcPr marL="25400" marR="25400" marT="19050" marB="19050" anchor="ctr">
                    <a:solidFill>
                      <a:srgbClr val="E7EEEE"/>
                    </a:solidFill>
                  </a:tcPr>
                </a:tc>
                <a:tc>
                  <a:txBody>
                    <a:bodyPr/>
                    <a:lstStyle/>
                    <a:p>
                      <a:pPr algn="ctr"/>
                      <a:r>
                        <a:rPr lang="en-GB" sz="1400">
                          <a:effectLst/>
                        </a:rPr>
                        <a:t>ABDIN</a:t>
                      </a:r>
                      <a:endParaRPr lang="en-GB" sz="1400" dirty="0">
                        <a:effectLst/>
                      </a:endParaRPr>
                    </a:p>
                  </a:txBody>
                  <a:tcPr marL="25400" marR="25400" marT="19050" marB="19050" anchor="ctr">
                    <a:solidFill>
                      <a:srgbClr val="E7EEEE"/>
                    </a:solidFill>
                  </a:tcPr>
                </a:tc>
                <a:tc>
                  <a:txBody>
                    <a:bodyPr/>
                    <a:lstStyle/>
                    <a:p>
                      <a:pPr algn="ctr"/>
                      <a:r>
                        <a:rPr lang="en-GB" sz="1400">
                          <a:effectLst/>
                        </a:rPr>
                        <a:t>No</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335521272"/>
                  </a:ext>
                </a:extLst>
              </a:tr>
              <a:tr h="241200">
                <a:tc>
                  <a:txBody>
                    <a:bodyPr/>
                    <a:lstStyle/>
                    <a:p>
                      <a:pPr algn="ctr"/>
                      <a:r>
                        <a:rPr lang="en-GB" sz="1400">
                          <a:effectLst/>
                        </a:rPr>
                        <a:t>51</a:t>
                      </a:r>
                      <a:endParaRPr lang="en-GB" sz="1400" dirty="0">
                        <a:effectLst/>
                      </a:endParaRPr>
                    </a:p>
                  </a:txBody>
                  <a:tcPr marL="25400" marR="25400" marT="19050" marB="19050" anchor="ctr">
                    <a:solidFill>
                      <a:srgbClr val="CBDCDB"/>
                    </a:solidFill>
                  </a:tcPr>
                </a:tc>
                <a:tc>
                  <a:txBody>
                    <a:bodyPr/>
                    <a:lstStyle/>
                    <a:p>
                      <a:pPr algn="ctr"/>
                      <a:r>
                        <a:rPr lang="en-GB" sz="1400">
                          <a:effectLst/>
                        </a:rPr>
                        <a:t>Not 3HG</a:t>
                      </a:r>
                      <a:endParaRPr lang="en-GB" sz="1400" dirty="0">
                        <a:effectLst/>
                      </a:endParaRPr>
                    </a:p>
                  </a:txBody>
                  <a:tcPr marL="25400" marR="25400" marT="19050" marB="19050" anchor="ctr">
                    <a:solidFill>
                      <a:srgbClr val="CBDCDB"/>
                    </a:solidFill>
                  </a:tcPr>
                </a:tc>
                <a:tc>
                  <a:txBody>
                    <a:bodyPr/>
                    <a:lstStyle/>
                    <a:p>
                      <a:pPr algn="ctr"/>
                      <a:r>
                        <a:rPr lang="en-GB" sz="1400">
                          <a:effectLst/>
                        </a:rPr>
                        <a:t>ABDIN</a:t>
                      </a:r>
                      <a:endParaRPr lang="en-GB" sz="1400" dirty="0">
                        <a:effectLst/>
                      </a:endParaRPr>
                    </a:p>
                  </a:txBody>
                  <a:tcPr marL="25400" marR="25400" marT="19050" marB="19050" anchor="ctr">
                    <a:solidFill>
                      <a:srgbClr val="CBDCDB"/>
                    </a:solidFill>
                  </a:tcPr>
                </a:tc>
                <a:tc>
                  <a:txBody>
                    <a:bodyPr/>
                    <a:lstStyle/>
                    <a:p>
                      <a:pPr algn="ctr"/>
                      <a:r>
                        <a:rPr lang="en-GB" sz="1400">
                          <a:effectLst/>
                        </a:rPr>
                        <a:t>Yes</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3534045721"/>
                  </a:ext>
                </a:extLst>
              </a:tr>
              <a:tr h="241200">
                <a:tc>
                  <a:txBody>
                    <a:bodyPr/>
                    <a:lstStyle/>
                    <a:p>
                      <a:pPr algn="ctr"/>
                      <a:r>
                        <a:rPr lang="en-GB" sz="1400">
                          <a:effectLst/>
                        </a:rPr>
                        <a:t>53</a:t>
                      </a:r>
                      <a:endParaRPr lang="en-GB" sz="1400" dirty="0">
                        <a:effectLst/>
                      </a:endParaRPr>
                    </a:p>
                  </a:txBody>
                  <a:tcPr marL="25400" marR="25400" marT="19050" marB="19050" anchor="ctr">
                    <a:solidFill>
                      <a:srgbClr val="E7EEEE"/>
                    </a:solidFill>
                  </a:tcPr>
                </a:tc>
                <a:tc>
                  <a:txBody>
                    <a:bodyPr/>
                    <a:lstStyle/>
                    <a:p>
                      <a:pPr algn="ctr"/>
                      <a:r>
                        <a:rPr lang="de-DE" sz="1400">
                          <a:effectLst/>
                        </a:rPr>
                        <a:t>In List ..D06, D07, D15</a:t>
                      </a:r>
                      <a:endParaRPr lang="de-DE" sz="1400" dirty="0">
                        <a:effectLst/>
                      </a:endParaRPr>
                    </a:p>
                  </a:txBody>
                  <a:tcPr marL="25400" marR="25400" marT="19050" marB="19050" anchor="ctr">
                    <a:solidFill>
                      <a:srgbClr val="E7EEEE"/>
                    </a:solidFill>
                  </a:tcPr>
                </a:tc>
                <a:tc>
                  <a:txBody>
                    <a:bodyPr/>
                    <a:lstStyle/>
                    <a:p>
                      <a:pPr algn="ctr"/>
                      <a:r>
                        <a:rPr lang="en-GB" sz="1400">
                          <a:effectLst/>
                        </a:rPr>
                        <a:t>ABDIN</a:t>
                      </a:r>
                      <a:endParaRPr lang="en-GB" sz="1400" dirty="0">
                        <a:effectLst/>
                      </a:endParaRPr>
                    </a:p>
                  </a:txBody>
                  <a:tcPr marL="25400" marR="25400" marT="19050" marB="19050" anchor="ctr">
                    <a:solidFill>
                      <a:srgbClr val="E7EEEE"/>
                    </a:solidFill>
                  </a:tcPr>
                </a:tc>
                <a:tc>
                  <a:txBody>
                    <a:bodyPr/>
                    <a:lstStyle/>
                    <a:p>
                      <a:pPr algn="ctr"/>
                      <a:r>
                        <a:rPr lang="en-GB" sz="1400">
                          <a:effectLst/>
                        </a:rPr>
                        <a:t>No</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428196002"/>
                  </a:ext>
                </a:extLst>
              </a:tr>
              <a:tr h="241200">
                <a:tc>
                  <a:txBody>
                    <a:bodyPr/>
                    <a:lstStyle/>
                    <a:p>
                      <a:pPr algn="ctr"/>
                      <a:r>
                        <a:rPr lang="en-GB" sz="1400">
                          <a:effectLst/>
                        </a:rPr>
                        <a:t>53</a:t>
                      </a:r>
                      <a:endParaRPr lang="en-GB" sz="1400" dirty="0">
                        <a:effectLst/>
                      </a:endParaRPr>
                    </a:p>
                  </a:txBody>
                  <a:tcPr marL="25400" marR="25400" marT="19050" marB="19050" anchor="ctr">
                    <a:solidFill>
                      <a:srgbClr val="CBDCDB"/>
                    </a:solidFill>
                  </a:tcPr>
                </a:tc>
                <a:tc>
                  <a:txBody>
                    <a:bodyPr/>
                    <a:lstStyle/>
                    <a:p>
                      <a:pPr algn="ctr"/>
                      <a:r>
                        <a:rPr lang="en-GB" sz="1400">
                          <a:effectLst/>
                        </a:rPr>
                        <a:t>Not in List .. D06, D07, D15</a:t>
                      </a:r>
                      <a:endParaRPr lang="en-GB" sz="1400" dirty="0">
                        <a:effectLst/>
                      </a:endParaRPr>
                    </a:p>
                  </a:txBody>
                  <a:tcPr marL="25400" marR="25400" marT="19050" marB="19050" anchor="ctr">
                    <a:solidFill>
                      <a:srgbClr val="CBDCDB"/>
                    </a:solidFill>
                  </a:tcPr>
                </a:tc>
                <a:tc>
                  <a:txBody>
                    <a:bodyPr/>
                    <a:lstStyle/>
                    <a:p>
                      <a:pPr algn="ctr"/>
                      <a:r>
                        <a:rPr lang="en-GB" sz="1400">
                          <a:effectLst/>
                        </a:rPr>
                        <a:t>ABDIN</a:t>
                      </a:r>
                      <a:endParaRPr lang="en-GB" sz="1400" dirty="0">
                        <a:effectLst/>
                      </a:endParaRPr>
                    </a:p>
                  </a:txBody>
                  <a:tcPr marL="25400" marR="25400" marT="19050" marB="19050" anchor="ctr">
                    <a:solidFill>
                      <a:srgbClr val="CBDCDB"/>
                    </a:solidFill>
                  </a:tcPr>
                </a:tc>
                <a:tc>
                  <a:txBody>
                    <a:bodyPr/>
                    <a:lstStyle/>
                    <a:p>
                      <a:pPr algn="ctr"/>
                      <a:r>
                        <a:rPr lang="en-GB" sz="1400">
                          <a:effectLst/>
                        </a:rPr>
                        <a:t>Yes</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2827923601"/>
                  </a:ext>
                </a:extLst>
              </a:tr>
              <a:tr h="241200">
                <a:tc>
                  <a:txBody>
                    <a:bodyPr/>
                    <a:lstStyle/>
                    <a:p>
                      <a:pPr algn="ctr"/>
                      <a:r>
                        <a:rPr lang="en-GB" sz="1400">
                          <a:effectLst/>
                        </a:rPr>
                        <a:t>21</a:t>
                      </a:r>
                      <a:endParaRPr lang="en-GB" sz="1400" dirty="0">
                        <a:effectLst/>
                      </a:endParaRPr>
                    </a:p>
                  </a:txBody>
                  <a:tcPr marL="25400" marR="25400" marT="19050" marB="19050" anchor="ctr">
                    <a:solidFill>
                      <a:srgbClr val="E7EEEE"/>
                    </a:solidFill>
                  </a:tcPr>
                </a:tc>
                <a:tc>
                  <a:txBody>
                    <a:bodyPr/>
                    <a:lstStyle/>
                    <a:p>
                      <a:pPr algn="ctr"/>
                      <a:r>
                        <a:rPr lang="en-GB" sz="1400">
                          <a:effectLst/>
                        </a:rPr>
                        <a:t>(Any / N.A.)</a:t>
                      </a:r>
                      <a:endParaRPr lang="en-GB" sz="1400" dirty="0">
                        <a:effectLst/>
                      </a:endParaRPr>
                    </a:p>
                  </a:txBody>
                  <a:tcPr marL="25400" marR="25400" marT="19050" marB="19050" anchor="ctr">
                    <a:solidFill>
                      <a:srgbClr val="E7EEEE"/>
                    </a:solidFill>
                  </a:tcPr>
                </a:tc>
                <a:tc>
                  <a:txBody>
                    <a:bodyPr/>
                    <a:lstStyle/>
                    <a:p>
                      <a:pPr algn="ctr"/>
                      <a:r>
                        <a:rPr lang="en-GB" sz="1400">
                          <a:effectLst/>
                        </a:rPr>
                        <a:t>ABDIN</a:t>
                      </a:r>
                      <a:endParaRPr lang="en-GB" sz="1400" dirty="0">
                        <a:effectLst/>
                      </a:endParaRPr>
                    </a:p>
                  </a:txBody>
                  <a:tcPr marL="25400" marR="25400" marT="19050" marB="19050" anchor="ctr">
                    <a:solidFill>
                      <a:srgbClr val="E7EEEE"/>
                    </a:solidFill>
                  </a:tcPr>
                </a:tc>
                <a:tc>
                  <a:txBody>
                    <a:bodyPr/>
                    <a:lstStyle/>
                    <a:p>
                      <a:pPr algn="ctr"/>
                      <a:r>
                        <a:rPr lang="en-GB" sz="1400">
                          <a:effectLst/>
                        </a:rPr>
                        <a:t>No</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3763926698"/>
                  </a:ext>
                </a:extLst>
              </a:tr>
              <a:tr h="241200">
                <a:tc>
                  <a:txBody>
                    <a:bodyPr/>
                    <a:lstStyle/>
                    <a:p>
                      <a:pPr algn="ctr"/>
                      <a:r>
                        <a:rPr lang="en-GB" sz="1400">
                          <a:effectLst/>
                        </a:rPr>
                        <a:t>22</a:t>
                      </a:r>
                      <a:endParaRPr lang="en-GB" sz="1400" dirty="0">
                        <a:effectLst/>
                      </a:endParaRPr>
                    </a:p>
                  </a:txBody>
                  <a:tcPr marL="25400" marR="25400" marT="19050" marB="19050" anchor="ctr">
                    <a:solidFill>
                      <a:srgbClr val="CBDCDB"/>
                    </a:solidFill>
                  </a:tcPr>
                </a:tc>
                <a:tc>
                  <a:txBody>
                    <a:bodyPr/>
                    <a:lstStyle/>
                    <a:p>
                      <a:pPr algn="ctr"/>
                      <a:r>
                        <a:rPr lang="en-GB" sz="1400">
                          <a:effectLst/>
                        </a:rPr>
                        <a:t>(Any / N.A.)</a:t>
                      </a:r>
                      <a:endParaRPr lang="en-GB" sz="1400" dirty="0">
                        <a:effectLst/>
                      </a:endParaRPr>
                    </a:p>
                  </a:txBody>
                  <a:tcPr marL="25400" marR="25400" marT="19050" marB="19050" anchor="ctr">
                    <a:solidFill>
                      <a:srgbClr val="CBDCDB"/>
                    </a:solidFill>
                  </a:tcPr>
                </a:tc>
                <a:tc>
                  <a:txBody>
                    <a:bodyPr/>
                    <a:lstStyle/>
                    <a:p>
                      <a:pPr algn="ctr"/>
                      <a:r>
                        <a:rPr lang="en-GB" sz="1400">
                          <a:effectLst/>
                        </a:rPr>
                        <a:t>ABDIN</a:t>
                      </a:r>
                      <a:endParaRPr lang="en-GB" sz="1400" dirty="0">
                        <a:effectLst/>
                      </a:endParaRPr>
                    </a:p>
                  </a:txBody>
                  <a:tcPr marL="25400" marR="25400" marT="19050" marB="19050" anchor="ctr">
                    <a:solidFill>
                      <a:srgbClr val="CBDCDB"/>
                    </a:solidFill>
                  </a:tcPr>
                </a:tc>
                <a:tc>
                  <a:txBody>
                    <a:bodyPr/>
                    <a:lstStyle/>
                    <a:p>
                      <a:pPr algn="ctr"/>
                      <a:r>
                        <a:rPr lang="en-GB" sz="1400">
                          <a:effectLst/>
                        </a:rPr>
                        <a:t>No</a:t>
                      </a:r>
                      <a:endParaRPr lang="en-GB" sz="1400" dirty="0">
                        <a:effectLst/>
                      </a:endParaRPr>
                    </a:p>
                  </a:txBody>
                  <a:tcPr marL="25400" marR="25400" marT="19050" marB="19050" anchor="ctr">
                    <a:solidFill>
                      <a:srgbClr val="CBDCDB"/>
                    </a:solidFill>
                  </a:tcPr>
                </a:tc>
                <a:extLst>
                  <a:ext uri="{0D108BD9-81ED-4DB2-BD59-A6C34878D82A}">
                    <a16:rowId xmlns:a16="http://schemas.microsoft.com/office/drawing/2014/main" val="420373529"/>
                  </a:ext>
                </a:extLst>
              </a:tr>
              <a:tr h="241200">
                <a:tc>
                  <a:txBody>
                    <a:bodyPr/>
                    <a:lstStyle/>
                    <a:p>
                      <a:pPr algn="ctr"/>
                      <a:r>
                        <a:rPr lang="en-GB" sz="1400">
                          <a:effectLst/>
                        </a:rPr>
                        <a:t>44</a:t>
                      </a:r>
                      <a:endParaRPr lang="en-GB" sz="1400" dirty="0">
                        <a:effectLst/>
                      </a:endParaRPr>
                    </a:p>
                  </a:txBody>
                  <a:tcPr marL="25400" marR="25400" marT="19050" marB="19050" anchor="ctr">
                    <a:solidFill>
                      <a:srgbClr val="E7EEEE"/>
                    </a:solidFill>
                  </a:tcPr>
                </a:tc>
                <a:tc>
                  <a:txBody>
                    <a:bodyPr/>
                    <a:lstStyle/>
                    <a:p>
                      <a:pPr algn="ctr"/>
                      <a:r>
                        <a:rPr lang="en-GB" sz="1400">
                          <a:effectLst/>
                        </a:rPr>
                        <a:t>2MO</a:t>
                      </a:r>
                      <a:endParaRPr lang="en-GB" sz="1400" dirty="0">
                        <a:effectLst/>
                      </a:endParaRPr>
                    </a:p>
                  </a:txBody>
                  <a:tcPr marL="25400" marR="25400" marT="19050" marB="19050" anchor="ctr">
                    <a:solidFill>
                      <a:srgbClr val="E7EEEE"/>
                    </a:solidFill>
                  </a:tcPr>
                </a:tc>
                <a:tc>
                  <a:txBody>
                    <a:bodyPr/>
                    <a:lstStyle/>
                    <a:p>
                      <a:pPr algn="ctr"/>
                      <a:r>
                        <a:rPr lang="en-GB" sz="1400">
                          <a:effectLst/>
                        </a:rPr>
                        <a:t>ABDIN</a:t>
                      </a:r>
                      <a:endParaRPr lang="en-GB" sz="1400" dirty="0">
                        <a:effectLst/>
                      </a:endParaRPr>
                    </a:p>
                  </a:txBody>
                  <a:tcPr marL="25400" marR="25400" marT="19050" marB="19050" anchor="ctr">
                    <a:solidFill>
                      <a:srgbClr val="E7EEEE"/>
                    </a:solidFill>
                  </a:tcPr>
                </a:tc>
                <a:tc>
                  <a:txBody>
                    <a:bodyPr/>
                    <a:lstStyle/>
                    <a:p>
                      <a:pPr algn="ctr"/>
                      <a:r>
                        <a:rPr lang="en-GB" sz="1400">
                          <a:effectLst/>
                        </a:rPr>
                        <a:t>No</a:t>
                      </a:r>
                      <a:endParaRPr lang="en-GB" sz="1400" dirty="0">
                        <a:effectLst/>
                      </a:endParaRPr>
                    </a:p>
                  </a:txBody>
                  <a:tcPr marL="25400" marR="25400" marT="19050" marB="19050" anchor="ctr">
                    <a:solidFill>
                      <a:srgbClr val="E7EEEE"/>
                    </a:solidFill>
                  </a:tcPr>
                </a:tc>
                <a:extLst>
                  <a:ext uri="{0D108BD9-81ED-4DB2-BD59-A6C34878D82A}">
                    <a16:rowId xmlns:a16="http://schemas.microsoft.com/office/drawing/2014/main" val="248895356"/>
                  </a:ext>
                </a:extLst>
              </a:tr>
              <a:tr h="241200">
                <a:tc>
                  <a:txBody>
                    <a:bodyPr/>
                    <a:lstStyle/>
                    <a:p>
                      <a:pPr algn="ctr"/>
                      <a:r>
                        <a:rPr lang="en-GB" sz="1400">
                          <a:effectLst/>
                        </a:rPr>
                        <a:t>44</a:t>
                      </a:r>
                      <a:endParaRPr lang="en-GB" sz="1400" dirty="0">
                        <a:effectLst/>
                      </a:endParaRPr>
                    </a:p>
                  </a:txBody>
                  <a:tcPr marL="25400" marR="25400" marT="19050" marB="19050" anchor="ctr">
                    <a:solidFill>
                      <a:srgbClr val="CBDCDB"/>
                    </a:solidFill>
                  </a:tcPr>
                </a:tc>
                <a:tc>
                  <a:txBody>
                    <a:bodyPr/>
                    <a:lstStyle/>
                    <a:p>
                      <a:pPr algn="ctr"/>
                      <a:r>
                        <a:rPr lang="en-GB" sz="1400">
                          <a:effectLst/>
                        </a:rPr>
                        <a:t>Not 2MO</a:t>
                      </a:r>
                      <a:endParaRPr lang="en-GB" sz="1400" dirty="0">
                        <a:effectLst/>
                      </a:endParaRPr>
                    </a:p>
                  </a:txBody>
                  <a:tcPr marL="25400" marR="25400" marT="19050" marB="19050" anchor="ctr">
                    <a:solidFill>
                      <a:srgbClr val="CBDCDB"/>
                    </a:solidFill>
                  </a:tcPr>
                </a:tc>
                <a:tc>
                  <a:txBody>
                    <a:bodyPr/>
                    <a:lstStyle/>
                    <a:p>
                      <a:pPr algn="ctr"/>
                      <a:r>
                        <a:rPr lang="en-GB" sz="1400">
                          <a:effectLst/>
                        </a:rPr>
                        <a:t>ABDIN</a:t>
                      </a:r>
                      <a:endParaRPr lang="en-GB" sz="1400" dirty="0">
                        <a:effectLst/>
                      </a:endParaRPr>
                    </a:p>
                  </a:txBody>
                  <a:tcPr marL="25400" marR="25400" marT="19050" marB="19050" anchor="ctr">
                    <a:solidFill>
                      <a:srgbClr val="CBDCDB"/>
                    </a:solidFill>
                  </a:tcPr>
                </a:tc>
                <a:tc>
                  <a:txBody>
                    <a:bodyPr/>
                    <a:lstStyle/>
                    <a:p>
                      <a:pPr algn="ctr"/>
                      <a:r>
                        <a:rPr lang="en-GB" sz="1400" dirty="0">
                          <a:effectLst/>
                        </a:rPr>
                        <a:t>Yes</a:t>
                      </a:r>
                    </a:p>
                  </a:txBody>
                  <a:tcPr marL="25400" marR="25400" marT="19050" marB="19050" anchor="ctr">
                    <a:solidFill>
                      <a:srgbClr val="CBDCDB"/>
                    </a:solidFill>
                  </a:tcPr>
                </a:tc>
                <a:extLst>
                  <a:ext uri="{0D108BD9-81ED-4DB2-BD59-A6C34878D82A}">
                    <a16:rowId xmlns:a16="http://schemas.microsoft.com/office/drawing/2014/main" val="581824243"/>
                  </a:ext>
                </a:extLst>
              </a:tr>
            </a:tbl>
          </a:graphicData>
        </a:graphic>
      </p:graphicFrame>
    </p:spTree>
    <p:extLst>
      <p:ext uri="{BB962C8B-B14F-4D97-AF65-F5344CB8AC3E}">
        <p14:creationId xmlns:p14="http://schemas.microsoft.com/office/powerpoint/2010/main" val="755865175"/>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427809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Document ID Against Type X Status Code</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t>From CDS4.4.0, a Document ID will not be mandated when a waiver status code is declared. Where one of the following waiver status codes: XA, XB, XF, XU, XW is declared in DE 2/3 with a document code, CDS will not mandate the entry of a Document ID. There are several exceptions to this:</a:t>
            </a:r>
          </a:p>
          <a:p>
            <a:pPr marL="742950" lvl="1" indent="-285750">
              <a:buFont typeface="Arial" panose="020B0604020202020204" pitchFamily="34" charset="0"/>
              <a:buChar char="•"/>
            </a:pPr>
            <a:r>
              <a:rPr lang="en-GB" sz="1400" dirty="0">
                <a:effectLst/>
              </a:rPr>
              <a:t>Document Codes C505, 9005, 9100, 9101, 9104, 9105, 9106, I004, L001, L079, X001, X002, Y100 are marked as an exception to this change and will mandate Document ID regardless </a:t>
            </a:r>
            <a:r>
              <a:rPr lang="en-GB" sz="1400" dirty="0"/>
              <a:t>of waiver status codes: XA, XB, XF, XU, XW declared.</a:t>
            </a:r>
            <a:endParaRPr lang="en-GB" sz="1400" dirty="0">
              <a:ea typeface="Calibri"/>
              <a:cs typeface="Calibri"/>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Where the XW Status Code is used with AbD Document Codes (C516, C601, C019, N990 in DE 2/3), CDS will mandate the entry of Document ID for each instance of the Status Code/Document Code (please note the changes on slide </a:t>
            </a:r>
            <a:r>
              <a:rPr lang="en-GB" sz="1400"/>
              <a:t>32 though </a:t>
            </a:r>
            <a:r>
              <a:rPr lang="en-GB" sz="1400" dirty="0"/>
              <a:t>for the new process to declare ABD). </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t>Where a non-waiver status code is declared, CDS will continue to mandate the entry of a document ID.</a:t>
            </a:r>
          </a:p>
          <a:p>
            <a:pPr rtl="0"/>
            <a:endParaRPr lang="en-GB" sz="1400" dirty="0"/>
          </a:p>
          <a:p>
            <a:pPr rtl="0"/>
            <a:r>
              <a:rPr lang="en-GB" sz="1400" dirty="0"/>
              <a:t>Please note: </a:t>
            </a:r>
            <a:r>
              <a:rPr lang="en-GB" sz="1400" dirty="0">
                <a:effectLst/>
              </a:rPr>
              <a:t>Where Document Codes 9102 and 9011 are declared in DE 2/3 with one of the following Status Codes: XA, XB, XF, XU or XW, CDS will reject as per BAU.</a:t>
            </a:r>
            <a:endParaRPr lang="en-GB" sz="1400" dirty="0"/>
          </a:p>
          <a:p>
            <a:pPr marL="800100" lvl="1" indent="-342900">
              <a:buFont typeface="Arial" panose="020B0604020202020204" pitchFamily="34" charset="0"/>
              <a:buChar cha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b="1" u="sng" dirty="0"/>
              <a:t>Removal of Invalid Procedure Code Combinations</a:t>
            </a:r>
          </a:p>
          <a:p>
            <a:pPr>
              <a:defRPr sz="1800" b="0" i="0" u="none" strike="noStrike" kern="0" cap="none" spc="0" baseline="0">
                <a:solidFill>
                  <a:srgbClr val="000000"/>
                </a:solidFill>
                <a:uFillTx/>
              </a:defRPr>
            </a:pPr>
            <a:endParaRPr lang="en-GB" sz="1000" b="1" u="sng" dirty="0"/>
          </a:p>
          <a:p>
            <a:pPr>
              <a:defRPr sz="1800" b="0" i="0" u="none" strike="noStrike" kern="0" cap="none" spc="0" baseline="0">
                <a:solidFill>
                  <a:srgbClr val="000000"/>
                </a:solidFill>
                <a:uFillTx/>
              </a:defRPr>
            </a:pPr>
            <a:r>
              <a:rPr lang="en-GB" sz="1400" dirty="0">
                <a:cs typeface="Calibri" panose="020F0502020204030204"/>
              </a:rPr>
              <a:t>From CDS4.4.0, invalid Procedure Combinations will not be accepted within CDS. Traders will not be able to submit declarations that do not align with the Declaration Completion Instructions. Where a trader declares an invalid procedure code combination as per the attached list, the declaration will be rejected and a DMSREJ notification will be returned to the trader. </a:t>
            </a:r>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224</a:t>
            </a:fld>
            <a:endParaRPr lang="en-GB" dirty="0">
              <a:solidFill>
                <a:schemeClr val="tx1"/>
              </a:solidFill>
            </a:endParaRPr>
          </a:p>
        </p:txBody>
      </p:sp>
      <p:graphicFrame>
        <p:nvGraphicFramePr>
          <p:cNvPr id="8" name="Object 7">
            <a:extLst>
              <a:ext uri="{FF2B5EF4-FFF2-40B4-BE49-F238E27FC236}">
                <a16:creationId xmlns:a16="http://schemas.microsoft.com/office/drawing/2014/main" id="{6DC39D89-28D0-E565-FDFA-7A24EC2F7154}"/>
              </a:ext>
            </a:extLst>
          </p:cNvPr>
          <p:cNvGraphicFramePr>
            <a:graphicFrameLocks noChangeAspect="1"/>
          </p:cNvGraphicFramePr>
          <p:nvPr/>
        </p:nvGraphicFramePr>
        <p:xfrm>
          <a:off x="10599148" y="393425"/>
          <a:ext cx="914400" cy="806450"/>
        </p:xfrm>
        <a:graphic>
          <a:graphicData uri="http://schemas.openxmlformats.org/presentationml/2006/ole">
            <mc:AlternateContent xmlns:mc="http://schemas.openxmlformats.org/markup-compatibility/2006">
              <mc:Choice xmlns:v="urn:schemas-microsoft-com:vml" Requires="v">
                <p:oleObj name="Worksheet" showAsIcon="1" r:id="rId3" imgW="914400" imgH="806335" progId="Excel.Sheet.12">
                  <p:embed/>
                </p:oleObj>
              </mc:Choice>
              <mc:Fallback>
                <p:oleObj name="Worksheet" showAsIcon="1" r:id="rId3" imgW="914400" imgH="806335" progId="Excel.Sheet.12">
                  <p:embed/>
                  <p:pic>
                    <p:nvPicPr>
                      <p:cNvPr id="8" name="Object 7">
                        <a:extLst>
                          <a:ext uri="{FF2B5EF4-FFF2-40B4-BE49-F238E27FC236}">
                            <a16:creationId xmlns:a16="http://schemas.microsoft.com/office/drawing/2014/main" id="{6DC39D89-28D0-E565-FDFA-7A24EC2F7154}"/>
                          </a:ext>
                        </a:extLst>
                      </p:cNvPr>
                      <p:cNvPicPr/>
                      <p:nvPr/>
                    </p:nvPicPr>
                    <p:blipFill>
                      <a:blip r:embed="rId4"/>
                      <a:stretch>
                        <a:fillRect/>
                      </a:stretch>
                    </p:blipFill>
                    <p:spPr>
                      <a:xfrm>
                        <a:off x="10599148" y="393425"/>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504792352"/>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dirty="0">
                <a:effectLst/>
                <a:latin typeface="-apple-system"/>
              </a:rPr>
              <a:t>Excise Management &amp; Control System (EMCS)/CDS Circular Requirement</a:t>
            </a:r>
          </a:p>
          <a:p>
            <a:pPr>
              <a:defRPr sz="1800" b="0" i="0" u="none" strike="noStrike" kern="0" cap="none" spc="0" baseline="0">
                <a:solidFill>
                  <a:srgbClr val="000000"/>
                </a:solidFill>
                <a:uFillTx/>
              </a:defRPr>
            </a:pPr>
            <a:endParaRPr lang="en-GB" sz="1000" u="sng" dirty="0"/>
          </a:p>
          <a:p>
            <a:pPr>
              <a:defRPr sz="1800" b="0" i="0" u="none" strike="noStrike" kern="0" cap="none" spc="0" baseline="0">
                <a:solidFill>
                  <a:srgbClr val="000000"/>
                </a:solidFill>
                <a:uFillTx/>
              </a:defRPr>
            </a:pPr>
            <a:r>
              <a:rPr lang="en-GB" sz="1400" dirty="0"/>
              <a:t>From CDS4.4.0, an Electronic Administrative Document (e-AD) will be optional on an export declaration and will not be required on an import declaration. </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b="1" dirty="0"/>
              <a:t>Exports 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trader declares Previous Procedure Code 07 in DE 1/10, and CSE authorisation is not declared in DE 3/39, CDS will ensure that either Document Codes "C651" or "C658" is declared in DE 2/3.</a:t>
            </a:r>
            <a:r>
              <a:rPr lang="en-GB" sz="1400" b="1" dirty="0"/>
              <a:t> Please Note: </a:t>
            </a:r>
            <a:r>
              <a:rPr lang="en-GB" sz="1400" dirty="0"/>
              <a:t>this does not apply when using CSE Authorisation.</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trader declares Previous Procedure Code 07 in DE 1/10 and CSE authorisation is not declared in DE 3/39 and neither Document Codes "C651" or "C658" is declared in DE 2/3 CDS will reject the declaration and send a DMSREJ notification to the submitter.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trader declares Previous Procedure Code 07 in DE 1/10 and CSE authorisation is declared in DE 3/39, CDS will ensure that document code "C651" or "C658" is optional. </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b="1" dirty="0"/>
              <a:t>Imports Acceptance Criteria:</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For import declarations, CDS will not mandate either Document Code "C651" or "C658" to be declared in DE 2/3.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'ECONE' is declared in DE 2/2 on a Type A, B, C, D, E, F, J, K, Y, Z, Q import declaration (procedure category H1, H2, H3, H4, H5, H7, I1 C&amp;F, I1B&amp;E, C21i and C21iEIDR), CDS will not mandate Document Code C651 or C658 in DE 2/3.</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225</a:t>
            </a:fld>
            <a:endParaRPr lang="en-GB" dirty="0">
              <a:solidFill>
                <a:schemeClr val="tx1"/>
              </a:solidFill>
            </a:endParaRPr>
          </a:p>
        </p:txBody>
      </p:sp>
    </p:spTree>
    <p:extLst>
      <p:ext uri="{BB962C8B-B14F-4D97-AF65-F5344CB8AC3E}">
        <p14:creationId xmlns:p14="http://schemas.microsoft.com/office/powerpoint/2010/main" val="226162234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97031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Cumulative Duty Calculations for Goods in Temporary Admission </a:t>
            </a:r>
          </a:p>
          <a:p>
            <a:pPr>
              <a:defRPr sz="1800" b="0" i="0" u="none" strike="noStrike" kern="0" cap="none" spc="0" baseline="0">
                <a:solidFill>
                  <a:srgbClr val="000000"/>
                </a:solidFill>
                <a:uFillTx/>
              </a:defRPr>
            </a:pPr>
            <a:endParaRPr lang="en-GB" sz="1000" dirty="0"/>
          </a:p>
          <a:p>
            <a:pPr>
              <a:defRPr sz="1800" b="0" i="0" u="none" strike="noStrike" kern="0" cap="none" spc="0" baseline="0">
                <a:solidFill>
                  <a:srgbClr val="000000"/>
                </a:solidFill>
                <a:uFillTx/>
              </a:defRPr>
            </a:pPr>
            <a:r>
              <a:rPr lang="en-GB" sz="1400" dirty="0"/>
              <a:t>From CDS4.4.0, </a:t>
            </a:r>
            <a:r>
              <a:rPr lang="en-GB" sz="1400" b="0" i="0" dirty="0">
                <a:effectLst/>
                <a:latin typeface="-apple-system"/>
              </a:rPr>
              <a:t>traders will be able to receive partial relief through manual override when entering Temporary Admission (TA) using Additional Procedure Code D51. </a:t>
            </a:r>
          </a:p>
          <a:p>
            <a:pP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"D51" is declared in DE 1/11 on a H3 Import declaration, the trader must declare "OVR01" in DE 2/2 against the same goods item. In this scenario, relief of customs duty will be provided.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"D51" is declared in DE 1/11 on a H3 Import declaration and "OVR01" is not declared in DE 2/2 against the same goods item, no relief of customs duty will be provided.</a:t>
            </a:r>
          </a:p>
          <a:p>
            <a:pPr>
              <a:defRPr sz="1800" b="0" i="0" u="none" strike="noStrike" kern="0" cap="none" spc="0" baseline="0">
                <a:solidFill>
                  <a:srgbClr val="000000"/>
                </a:solidFill>
                <a:uFillTx/>
              </a:defRPr>
            </a:pPr>
            <a:endParaRPr lang="en-GB" sz="1400" b="0" i="0" dirty="0">
              <a:effectLst/>
              <a:latin typeface="-apple-system"/>
            </a:endParaRPr>
          </a:p>
          <a:p>
            <a:pPr>
              <a:defRPr sz="1800" b="0" i="0" u="none" strike="noStrike" kern="0" cap="none" spc="0" baseline="0">
                <a:solidFill>
                  <a:srgbClr val="000000"/>
                </a:solidFill>
                <a:uFillTx/>
              </a:defRPr>
            </a:pPr>
            <a:r>
              <a:rPr lang="en-GB" sz="1400" b="0" i="0" dirty="0">
                <a:effectLst/>
                <a:latin typeface="-apple-system"/>
              </a:rPr>
              <a:t>This feature will also enforce the use of AI code TAEXP when re-exporting goods previously imported to TA.</a:t>
            </a:r>
            <a:r>
              <a:rPr lang="en-GB" sz="1400" dirty="0"/>
              <a:t> </a:t>
            </a:r>
          </a:p>
          <a:p>
            <a:pP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Where a trader declares Previous Procedure code "53" in in DE 1/10 on a B1 or B4 Export declaration, "TAEXP" must be declared in DE 2/2 against the same goods item. Where Previous Procedure code "53" is declared in DE 1/10 and "TAEXP" is not declared in DE 2/2 against the same goods item, the declaration will be rejected, and a notification (DMSREJ) returned.</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1837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226</a:t>
            </a:fld>
            <a:endParaRPr lang="en-GB" dirty="0">
              <a:solidFill>
                <a:schemeClr val="tx1"/>
              </a:solidFill>
            </a:endParaRPr>
          </a:p>
        </p:txBody>
      </p:sp>
    </p:spTree>
    <p:extLst>
      <p:ext uri="{BB962C8B-B14F-4D97-AF65-F5344CB8AC3E}">
        <p14:creationId xmlns:p14="http://schemas.microsoft.com/office/powerpoint/2010/main" val="275130862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748712"/>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dirty="0"/>
                        <a:t>TTM25.0 (CDS4.3.0)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November (TBC) </a:t>
                      </a:r>
                      <a:r>
                        <a:rPr lang="en-GB" sz="1200" b="1" dirty="0">
                          <a:solidFill>
                            <a:srgbClr val="000000"/>
                          </a:solidFill>
                        </a:rPr>
                        <a:t>TDR: </a:t>
                      </a:r>
                      <a:r>
                        <a:rPr lang="en-GB" sz="1200" b="0" dirty="0">
                          <a:solidFill>
                            <a:srgbClr val="000000"/>
                          </a:solidFill>
                        </a:rPr>
                        <a:t>December (TBC) </a:t>
                      </a:r>
                      <a:r>
                        <a:rPr lang="en-GB" sz="1200" b="1" dirty="0">
                          <a:solidFill>
                            <a:srgbClr val="000000"/>
                          </a:solidFill>
                        </a:rPr>
                        <a:t>Live: </a:t>
                      </a:r>
                      <a:r>
                        <a:rPr lang="en-GB" sz="1200" b="0" dirty="0">
                          <a:solidFill>
                            <a:srgbClr val="000000"/>
                          </a:solidFill>
                        </a:rPr>
                        <a:t>December (TBC)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648391"/>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42701" y="4334102"/>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algn="l"/>
                      <a:r>
                        <a:rPr lang="en-GB" sz="1200" b="0" i="0" u="none" dirty="0">
                          <a:solidFill>
                            <a:srgbClr val="333333"/>
                          </a:solidFill>
                          <a:effectLst/>
                        </a:rPr>
                        <a:t>    </a:t>
                      </a:r>
                      <a:r>
                        <a:rPr lang="en-GB" sz="1200" b="0" i="0" u="sng" dirty="0">
                          <a:solidFill>
                            <a:srgbClr val="333333"/>
                          </a:solidFill>
                          <a:effectLst/>
                          <a:hlinkClick r:id="rId3" action="ppaction://hlinksldjump"/>
                        </a:rPr>
                        <a:t>Use of Additional Procedure Code 1PF with I1 Type B&amp;E Declarations</a:t>
                      </a:r>
                      <a:endParaRPr lang="en-GB" sz="1200" b="0" i="0" u="sng" dirty="0">
                        <a:solidFill>
                          <a:srgbClr val="333333"/>
                        </a:solidFill>
                        <a:effectLs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r>
                        <a:rPr lang="en-GB" sz="1200" b="0" i="0" u="none" strike="noStrike" kern="1200" cap="none" spc="0" baseline="0" dirty="0">
                          <a:solidFill>
                            <a:srgbClr val="000000"/>
                          </a:solidFill>
                          <a:uFillTx/>
                          <a:latin typeface="+mn-lt"/>
                        </a:rPr>
                        <a:t>      </a:t>
                      </a:r>
                      <a:r>
                        <a:rPr lang="en-GB" sz="1200" b="0" i="0" u="none" strike="noStrike" kern="1200" cap="none" spc="0" baseline="0" dirty="0">
                          <a:solidFill>
                            <a:srgbClr val="000000"/>
                          </a:solidFill>
                          <a:uFillTx/>
                          <a:latin typeface="+mn-lt"/>
                          <a:hlinkClick r:id="rId4" action="ppaction://hlinksldjump"/>
                        </a:rPr>
                        <a:t>CDS XI EORIs</a:t>
                      </a:r>
                      <a:endParaRPr lang="en-GB" sz="1200" b="0" i="0" u="sng"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u="none" dirty="0">
                          <a:solidFill>
                            <a:srgbClr val="000000"/>
                          </a:solidFill>
                          <a:latin typeface="+mn-lt"/>
                          <a:hlinkClick r:id="rId5" action="ppaction://hlinksldjump"/>
                        </a:rPr>
                        <a:t> </a:t>
                      </a:r>
                      <a:r>
                        <a:rPr lang="en-GB" sz="1200" b="0" u="none" dirty="0">
                          <a:solidFill>
                            <a:srgbClr val="000000"/>
                          </a:solidFill>
                          <a:latin typeface="+mn-lt"/>
                        </a:rPr>
                        <a:t>   </a:t>
                      </a: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eaLnBrk="1" fontAlgn="auto" latinLnBrk="0" hangingPunct="1">
                        <a:lnSpc>
                          <a:spcPct val="100000"/>
                        </a:lnSpc>
                        <a:spcBef>
                          <a:spcPts val="0"/>
                        </a:spcBef>
                        <a:spcAft>
                          <a:spcPts val="0"/>
                        </a:spcAft>
                        <a:buClrTx/>
                        <a:buSzPct val="100000"/>
                        <a:buFont typeface="Arial" panose="020B0604020202020204" pitchFamily="34" charset="0"/>
                        <a:buChar char="•"/>
                      </a:pPr>
                      <a:endParaRPr lang="en-GB" sz="1200" b="0" i="0" u="sng"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dirty="0">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a:spcAft>
                <a:spcPts val="600"/>
              </a:spcAf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The purpose of this document is to provide </a:t>
            </a:r>
            <a:r>
              <a:rPr lang="en-GB" sz="1400" dirty="0">
                <a:solidFill>
                  <a:srgbClr val="000000"/>
                </a:solidFill>
                <a:latin typeface="Calibri"/>
                <a:ea typeface="Calibri"/>
                <a:cs typeface="Calibri"/>
              </a:rPr>
              <a:t>External Developers</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 with an overview of new functionality being deployed into Production and External Test environments to support testing and assurance activities. The last</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dirty="0">
                <a:ln>
                  <a:noFill/>
                </a:ln>
                <a:solidFill>
                  <a:srgbClr val="6264A7"/>
                </a:solidFill>
                <a:effectLst/>
                <a:uLnTx/>
                <a:uFillTx/>
                <a:latin typeface="Calibri" panose="020F0502020204030204"/>
                <a:ea typeface="+mn-ea"/>
                <a:cs typeface="+mn-cs"/>
                <a:hlinkClick r:id="rId6"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dirty="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a:t>
            </a:r>
            <a:r>
              <a:rPr lang="en-GB" sz="1400" dirty="0">
                <a:solidFill>
                  <a:srgbClr val="000000"/>
                </a:solidFill>
                <a:latin typeface="Calibri" panose="020F0502020204030204"/>
              </a:rPr>
              <a:t> </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endParaRPr lang="en-GB" sz="1400" b="0" i="0" u="none" strike="noStrike" kern="1200" cap="none" spc="0" normalizeH="0" baseline="0" noProof="0" dirty="0">
              <a:ln>
                <a:noFill/>
              </a:ln>
              <a:solidFill>
                <a:srgbClr val="000000"/>
              </a:solidFill>
              <a:effectLst/>
              <a:uLnTx/>
              <a:uFillTx/>
              <a:latin typeface="Calibri"/>
              <a:ea typeface="Calibri"/>
              <a:cs typeface="Calibri"/>
            </a:endParaRP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Calibri"/>
                <a:cs typeface="Calibri"/>
              </a:rPr>
              <a:t>If you have any questions regarding this release, please send your query to </a:t>
            </a:r>
            <a:r>
              <a:rPr kumimoji="0" lang="en-GB" sz="1400" b="0" i="0" u="none" strike="noStrike" kern="1200" cap="none" spc="0" normalizeH="0" baseline="0" noProof="0" dirty="0">
                <a:ln>
                  <a:noFill/>
                </a:ln>
                <a:solidFill>
                  <a:srgbClr val="000000"/>
                </a:solidFill>
                <a:effectLst/>
                <a:uLnTx/>
                <a:uFillTx/>
                <a:latin typeface="Calibri"/>
                <a:ea typeface="Calibri"/>
                <a:cs typeface="Calibri"/>
                <a:hlinkClick r:id="rId7"/>
              </a:rPr>
              <a:t>SDSTeam@hmrc.gov.uk</a:t>
            </a:r>
            <a:r>
              <a:rPr kumimoji="0" lang="en-GB" sz="1400" b="0" i="0" u="none" strike="noStrike" kern="1200" cap="none" spc="0" normalizeH="0" baseline="0" noProof="0" dirty="0">
                <a:ln>
                  <a:noFill/>
                </a:ln>
                <a:solidFill>
                  <a:srgbClr val="000000"/>
                </a:solidFill>
                <a:effectLst/>
                <a:uLnTx/>
                <a:uFillTx/>
                <a:latin typeface="Calibri"/>
                <a:ea typeface="Calibri"/>
                <a:cs typeface="Calibri"/>
              </a:rPr>
              <a:t>.</a:t>
            </a:r>
            <a:endParaRPr lang="en-GB" sz="1400" b="0" i="0" u="none" strike="noStrike" kern="1200" cap="none" spc="0" normalizeH="0" baseline="0" noProof="0" dirty="0">
              <a:ln>
                <a:noFill/>
              </a:ln>
              <a:solidFill>
                <a:srgbClr val="000000"/>
              </a:solidFill>
              <a:effectLst/>
              <a:uLnTx/>
              <a:uFillTx/>
              <a:latin typeface="Calibri"/>
              <a:ea typeface="Calibri"/>
              <a:cs typeface="Calibri"/>
            </a:endParaRPr>
          </a:p>
        </p:txBody>
      </p:sp>
      <p:sp>
        <p:nvSpPr>
          <p:cNvPr id="28" name="Oval 16">
            <a:extLst>
              <a:ext uri="{FF2B5EF4-FFF2-40B4-BE49-F238E27FC236}">
                <a16:creationId xmlns:a16="http://schemas.microsoft.com/office/drawing/2014/main" id="{F2743D23-87A9-4EC3-B431-F0BCFA2A490C}"/>
              </a:ext>
            </a:extLst>
          </p:cNvPr>
          <p:cNvSpPr/>
          <p:nvPr/>
        </p:nvSpPr>
        <p:spPr>
          <a:xfrm>
            <a:off x="595023" y="43900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36271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227</a:t>
            </a:fld>
            <a:endParaRPr lang="en-GB" dirty="0">
              <a:solidFill>
                <a:schemeClr val="tx1"/>
              </a:solidFill>
            </a:endParaRPr>
          </a:p>
        </p:txBody>
      </p:sp>
      <p:sp>
        <p:nvSpPr>
          <p:cNvPr id="26" name="Oval 16">
            <a:extLst>
              <a:ext uri="{FF2B5EF4-FFF2-40B4-BE49-F238E27FC236}">
                <a16:creationId xmlns:a16="http://schemas.microsoft.com/office/drawing/2014/main" id="{A64687E6-E45F-4F80-9EB3-98354B007F56}"/>
              </a:ext>
            </a:extLst>
          </p:cNvPr>
          <p:cNvSpPr/>
          <p:nvPr/>
        </p:nvSpPr>
        <p:spPr>
          <a:xfrm>
            <a:off x="3219231" y="43900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071241937"/>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407065" y="1264845"/>
            <a:ext cx="11282159" cy="3539430"/>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Use of Additional Procedure Code 1PF with I1 Type B&amp;E Import Declarations</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0" i="0" dirty="0">
                <a:effectLst/>
              </a:rPr>
              <a:t>For the I1 B&amp;E import dataset, the allowed PC and APC combinations in CDS do not currently include APC ‘1PF’. This new functionality introduces APC code 1PF for use with I1 B&amp;E </a:t>
            </a:r>
            <a:r>
              <a:rPr lang="en-GB" sz="1400"/>
              <a:t>Import</a:t>
            </a:r>
            <a:r>
              <a:rPr lang="en-GB" sz="1400" b="0" i="0" dirty="0">
                <a:effectLst/>
              </a:rPr>
              <a:t> </a:t>
            </a:r>
            <a:r>
              <a:rPr lang="en-GB" sz="1400"/>
              <a:t>Declarations</a:t>
            </a:r>
            <a:r>
              <a:rPr lang="en-GB" sz="1400" b="0" i="0" dirty="0">
                <a:effectLst/>
              </a:rPr>
              <a:t> at import, allowing</a:t>
            </a:r>
            <a:r>
              <a:rPr lang="en-GB" sz="1400" dirty="0"/>
              <a:t> </a:t>
            </a:r>
            <a:r>
              <a:rPr lang="en-GB" sz="1400" b="0" i="0" dirty="0">
                <a:effectLst/>
              </a:rPr>
              <a:t>APC code 1PF (DE 1/11) to be used on simplified Import Declaration types B &amp; E (I1) so that trader declarations can be processed in line with the declaration completion instructions.</a:t>
            </a:r>
          </a:p>
          <a:p>
            <a:pPr>
              <a:defRPr sz="1800" b="0" i="0" u="none" strike="noStrike" kern="0" cap="none" spc="0" baseline="0">
                <a:solidFill>
                  <a:srgbClr val="000000"/>
                </a:solidFill>
                <a:uFillTx/>
              </a:defRPr>
            </a:pPr>
            <a:endParaRPr lang="en-GB" sz="1400" dirty="0"/>
          </a:p>
          <a:p>
            <a:pPr algn="l"/>
            <a:r>
              <a:rPr lang="en-GB" sz="1400" b="1" i="0" dirty="0">
                <a:solidFill>
                  <a:srgbClr val="333333"/>
                </a:solidFill>
                <a:effectLst/>
              </a:rPr>
              <a:t>Acceptance Criteria:</a:t>
            </a:r>
          </a:p>
          <a:p>
            <a:pPr algn="l"/>
            <a:endParaRPr lang="en-GB" sz="1400" b="0" i="0" dirty="0">
              <a:solidFill>
                <a:srgbClr val="333333"/>
              </a:solidFill>
              <a:effectLst/>
            </a:endParaRPr>
          </a:p>
          <a:p>
            <a:pPr marL="342900" indent="-342900" algn="l">
              <a:buFont typeface="+mj-lt"/>
              <a:buAutoNum type="arabicPeriod"/>
            </a:pPr>
            <a:r>
              <a:rPr lang="en-GB" sz="1400" b="0" i="0" dirty="0">
                <a:effectLst/>
              </a:rPr>
              <a:t>Where a </a:t>
            </a:r>
            <a:r>
              <a:rPr lang="en-GB" sz="1400"/>
              <a:t>Trader</a:t>
            </a:r>
            <a:r>
              <a:rPr lang="en-GB" sz="1400" b="0" i="0" dirty="0">
                <a:effectLst/>
              </a:rPr>
              <a:t> has declared the Import I1 Type B simplified declaration in DE 1/2, the declaration of the Additional Procedure Code 1PF in DE 1/11 will be allowed.</a:t>
            </a:r>
            <a:endParaRPr lang="en-GB" sz="1400" b="0" i="0" dirty="0">
              <a:effectLst/>
              <a:ea typeface="Calibri"/>
              <a:cs typeface="Calibri"/>
            </a:endParaRPr>
          </a:p>
          <a:p>
            <a:pPr marL="342900" indent="-342900" algn="l">
              <a:buFont typeface="+mj-lt"/>
              <a:buAutoNum type="arabicPeriod"/>
            </a:pPr>
            <a:r>
              <a:rPr lang="en-GB" sz="1400" b="0" i="0" dirty="0">
                <a:effectLst/>
              </a:rPr>
              <a:t>Where a </a:t>
            </a:r>
            <a:r>
              <a:rPr lang="en-GB" sz="1400"/>
              <a:t>Trader</a:t>
            </a:r>
            <a:r>
              <a:rPr lang="en-GB" sz="1400" b="0" i="0" dirty="0">
                <a:effectLst/>
              </a:rPr>
              <a:t> has declared the Import I1 Type E simplified declaration in DE 1/2, the declaration of the Additional Procedure Code 1PF in DE 1/11 will be allowed.</a:t>
            </a:r>
            <a:endParaRPr lang="en-GB" sz="1400" b="0" i="0" dirty="0">
              <a:effectLst/>
              <a:ea typeface="Calibri"/>
              <a:cs typeface="Calibri"/>
            </a:endParaRPr>
          </a:p>
          <a:p>
            <a:pPr marL="342900" indent="-342900" algn="l">
              <a:buFont typeface="+mj-lt"/>
              <a:buAutoNum type="arabicPeriod"/>
            </a:pPr>
            <a:r>
              <a:rPr lang="en-GB" sz="1400" b="0" i="0" dirty="0">
                <a:effectLst/>
              </a:rPr>
              <a:t>Where a </a:t>
            </a:r>
            <a:r>
              <a:rPr lang="en-GB" sz="1400"/>
              <a:t>Trader</a:t>
            </a:r>
            <a:r>
              <a:rPr lang="en-GB" sz="1400" b="0" i="0" dirty="0">
                <a:effectLst/>
              </a:rPr>
              <a:t> has declared the Additional Information (AI) code OVR01 in DE 2/2 at an item level for I1 Type B &amp; E declarations, the use of at least one of the APCs 1PF, 1MO or 2MO in DE 1/11 is mandated. If this validation check fails, the trader will receive a DMSREJ notification.</a:t>
            </a:r>
            <a:endParaRPr lang="en-GB" sz="1400" b="0" i="0" dirty="0">
              <a:effectLst/>
              <a:ea typeface="Calibri"/>
              <a:cs typeface="Calibri"/>
            </a:endParaRPr>
          </a:p>
          <a:p>
            <a:pPr>
              <a:defRPr sz="1800" b="0" i="0" u="none" strike="noStrike" kern="0" cap="none" spc="0" baseline="0">
                <a:solidFill>
                  <a:srgbClr val="000000"/>
                </a:solidFill>
                <a:uFillTx/>
              </a:defRPr>
            </a:pPr>
            <a:endParaRPr lang="en-GB" sz="1400" i="0" dirty="0">
              <a:effectLst/>
              <a:cs typeface="Calibri" panose="020F0502020204030204"/>
            </a:endParaRPr>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228</a:t>
            </a:fld>
            <a:endParaRPr lang="en-GB" dirty="0">
              <a:solidFill>
                <a:schemeClr val="tx1"/>
              </a:solidFill>
            </a:endParaRPr>
          </a:p>
        </p:txBody>
      </p:sp>
    </p:spTree>
    <p:extLst>
      <p:ext uri="{BB962C8B-B14F-4D97-AF65-F5344CB8AC3E}">
        <p14:creationId xmlns:p14="http://schemas.microsoft.com/office/powerpoint/2010/main" val="1753207803"/>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dirty="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81679"/>
            <a:ext cx="11282159" cy="5262979"/>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TAXUD XI EORIs</a:t>
            </a:r>
          </a:p>
          <a:p>
            <a:pPr algn="l"/>
            <a:endParaRPr lang="en-GB" sz="1400" b="1" u="sng" dirty="0"/>
          </a:p>
          <a:p>
            <a:pPr algn="l"/>
            <a:r>
              <a:rPr lang="en-GB" sz="1400" b="0" i="0" dirty="0">
                <a:effectLst/>
              </a:rPr>
              <a:t>As part of the new </a:t>
            </a:r>
            <a:r>
              <a:rPr lang="en-GB" sz="1400" kern="0" dirty="0">
                <a:solidFill>
                  <a:srgbClr val="000000"/>
                </a:solidFill>
              </a:rPr>
              <a:t>trading relationship between the United Kingdom and the European Union</a:t>
            </a:r>
            <a:r>
              <a:rPr lang="en-GB" sz="1400" b="0" i="0" dirty="0">
                <a:effectLst/>
              </a:rPr>
              <a:t>, Northern Ireland will have a different trading relationship with the EU. Part of this change will be that declarations moving goods into and out of Northern Ireland must be Union Customs Code (UCC) compliant.</a:t>
            </a:r>
          </a:p>
          <a:p>
            <a:pPr algn="l"/>
            <a:endParaRPr lang="en-GB" sz="1400" b="0" i="0" dirty="0">
              <a:effectLst/>
            </a:endParaRPr>
          </a:p>
          <a:p>
            <a:pPr algn="l"/>
            <a:r>
              <a:rPr lang="en-GB" sz="1400" b="0" i="0" dirty="0">
                <a:effectLst/>
              </a:rPr>
              <a:t>In order to differentiate between Northern Ireland and the rest of the UK, the EU will use the country code prefix "XI" for Northern Ireland.</a:t>
            </a:r>
          </a:p>
          <a:p>
            <a:pPr algn="l"/>
            <a:r>
              <a:rPr lang="en-GB" sz="1400" b="0" i="0" dirty="0">
                <a:effectLst/>
              </a:rPr>
              <a:t>As part of the move to using UCC-compliant EORIs on NI declarations, it is therefore necessary that all traders moving goods into/ out of NI will have to use either an "XI" prefixed EORI or an EORI prefixed with the country code of one of the EU27 Member States. This will have wide-reaching ramifications on various functional areas in CDS which validate against the EORI of one of the parties (Declarant, Importer, Exporter etc.).</a:t>
            </a:r>
          </a:p>
          <a:p>
            <a:pPr algn="l"/>
            <a:endParaRPr lang="en-GB" sz="1400" dirty="0"/>
          </a:p>
          <a:p>
            <a:pPr algn="l"/>
            <a:r>
              <a:rPr lang="en-GB" sz="1400" b="0" i="0" dirty="0">
                <a:effectLst/>
              </a:rPr>
              <a:t>The introduction of this functionality in TTM25.0 will permit use of both a GB </a:t>
            </a:r>
            <a:r>
              <a:rPr lang="en-GB" sz="1400" dirty="0"/>
              <a:t>EORI and an XI EORI on an NI </a:t>
            </a:r>
            <a:r>
              <a:rPr lang="en-GB" sz="1400"/>
              <a:t>Declaration</a:t>
            </a:r>
            <a:r>
              <a:rPr lang="en-GB" sz="1400" dirty="0"/>
              <a:t> at the present time – However, CDS will implement functionality in future, after giving notice, that restricts NI </a:t>
            </a:r>
            <a:r>
              <a:rPr lang="en-GB" sz="1400"/>
              <a:t>Declarations</a:t>
            </a:r>
            <a:r>
              <a:rPr lang="en-GB" sz="1400" dirty="0"/>
              <a:t> (in most cases) to XI EORIs only.</a:t>
            </a:r>
            <a:endParaRPr lang="en-GB" sz="1400" b="0" i="0" dirty="0">
              <a:effectLst/>
              <a:ea typeface="Calibri"/>
              <a:cs typeface="Calibri"/>
            </a:endParaRPr>
          </a:p>
          <a:p>
            <a:pPr algn="l"/>
            <a:endParaRPr lang="en-GB" sz="1400" dirty="0"/>
          </a:p>
          <a:p>
            <a:r>
              <a:rPr lang="en-GB" sz="1400" dirty="0"/>
              <a:t>For information on how to apply for an XI EORI number, please see: </a:t>
            </a:r>
            <a:r>
              <a:rPr lang="en-GB" sz="1400" dirty="0">
                <a:hlinkClick r:id="rId3"/>
              </a:rPr>
              <a:t>Get an EORI number: Apply for an EORI number - GOV.UK (www.gov.uk)</a:t>
            </a:r>
            <a:endParaRPr lang="en-GB" sz="1400" kern="0" dirty="0">
              <a:solidFill>
                <a:srgbClr val="000000"/>
              </a:solidFill>
            </a:endParaRPr>
          </a:p>
          <a:p>
            <a:pPr algn="l"/>
            <a:endParaRPr lang="en-GB" sz="1400" dirty="0"/>
          </a:p>
          <a:p>
            <a:pPr algn="l"/>
            <a:r>
              <a:rPr lang="en-GB" sz="1400" b="1" i="0" dirty="0">
                <a:effectLst/>
              </a:rPr>
              <a:t>Definitions:</a:t>
            </a:r>
          </a:p>
          <a:p>
            <a:pPr algn="l"/>
            <a:endParaRPr lang="en-GB" sz="1400" b="1" i="0" dirty="0">
              <a:effectLst/>
            </a:endParaRPr>
          </a:p>
          <a:p>
            <a:pPr marL="342900" indent="-342900" algn="l">
              <a:buAutoNum type="arabicPeriod"/>
            </a:pPr>
            <a:r>
              <a:rPr lang="en-GB" sz="1400" b="0" i="0" dirty="0">
                <a:effectLst/>
              </a:rPr>
              <a:t>An "XI EORI" is defined as an EORI with the following format: "XI"+n12. This means that all XI EORIs will be 14 digits long and will include "XI" as the first two characters of the value.</a:t>
            </a:r>
          </a:p>
          <a:p>
            <a:pPr marL="342900" indent="-342900" algn="l">
              <a:buAutoNum type="arabicPeriod"/>
            </a:pPr>
            <a:r>
              <a:rPr lang="en-GB" sz="1400" b="0" i="0" dirty="0">
                <a:effectLst/>
              </a:rPr>
              <a:t>An "XI Authorisation Number" is defined as an Authorisation Number owned by an XI EORI. Format is expected to be XI[Auth Type Code][EORI Numeric][Date and Time stamp].</a:t>
            </a:r>
          </a:p>
          <a:p>
            <a:pPr algn="l"/>
            <a:endParaRPr lang="en-GB" sz="1400" dirty="0"/>
          </a:p>
          <a:p>
            <a:pPr algn="l"/>
            <a:endParaRPr lang="en-GB" sz="1400" b="0" i="0" dirty="0">
              <a:effectLst/>
            </a:endParaRPr>
          </a:p>
          <a:p>
            <a:pPr marL="342900" indent="-342900">
              <a:buFont typeface="+mj-lt"/>
              <a:buAutoNum type="arabicPeriod"/>
              <a:defRPr sz="1800" b="0" i="0" u="none" strike="noStrike" kern="0" cap="none" spc="0" baseline="0">
                <a:solidFill>
                  <a:srgbClr val="000000"/>
                </a:solidFill>
                <a:uFillTx/>
              </a:defRPr>
            </a:pPr>
            <a:endParaRPr lang="en-GB" sz="1400" i="0" dirty="0">
              <a:solidFill>
                <a:srgbClr val="FF0000"/>
              </a:solidFill>
              <a:effectLst/>
              <a:cs typeface="Calibri"/>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229</a:t>
            </a:fld>
            <a:endParaRPr lang="en-GB" dirty="0">
              <a:solidFill>
                <a:schemeClr val="tx1"/>
              </a:solidFill>
            </a:endParaRPr>
          </a:p>
        </p:txBody>
      </p:sp>
    </p:spTree>
    <p:extLst>
      <p:ext uri="{BB962C8B-B14F-4D97-AF65-F5344CB8AC3E}">
        <p14:creationId xmlns:p14="http://schemas.microsoft.com/office/powerpoint/2010/main" val="163404969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401205"/>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Submission of a Declaration with an XI EORI</a:t>
            </a:r>
          </a:p>
          <a:p>
            <a:pPr>
              <a:defRPr sz="1800" b="0" i="0" u="none" strike="noStrike" kern="0" cap="none" spc="0" baseline="0">
                <a:solidFill>
                  <a:srgbClr val="000000"/>
                </a:solidFill>
                <a:uFillTx/>
              </a:defRPr>
            </a:pPr>
            <a:endParaRPr lang="en-GB" sz="1400" kern="0" dirty="0"/>
          </a:p>
          <a:p>
            <a:pPr algn="l"/>
            <a:r>
              <a:rPr lang="en-GB" sz="1400" kern="0" dirty="0"/>
              <a:t>Any UK </a:t>
            </a:r>
            <a:r>
              <a:rPr lang="en-GB" sz="1400" kern="0" dirty="0">
                <a:solidFill>
                  <a:srgbClr val="000000"/>
                </a:solidFill>
              </a:rPr>
              <a:t>traders operating in Northern Ireland will be required to hold an XI EORI. To allow </a:t>
            </a:r>
            <a:r>
              <a:rPr lang="en-GB" sz="1400" kern="0">
                <a:solidFill>
                  <a:srgbClr val="000000"/>
                </a:solidFill>
              </a:rPr>
              <a:t>Traders</a:t>
            </a:r>
            <a:r>
              <a:rPr lang="en-GB" sz="1400" kern="0" dirty="0">
                <a:solidFill>
                  <a:srgbClr val="000000"/>
                </a:solidFill>
              </a:rPr>
              <a:t> to use an XI EORI successfully on CDS and to be fully compliant with customs rules, functionality will be put in place to validate XI EORIs when declared. This will include when XI EORIs are used on Northern Ireland Declarations*.</a:t>
            </a:r>
            <a:endParaRPr lang="en-GB" sz="1400" dirty="0"/>
          </a:p>
          <a:p>
            <a:endParaRPr lang="en-GB" sz="1400" dirty="0"/>
          </a:p>
          <a:p>
            <a:pPr>
              <a:defRPr sz="1800" b="0" i="0" u="none" strike="noStrike" kern="0" cap="none" spc="0" baseline="0">
                <a:solidFill>
                  <a:srgbClr val="000000"/>
                </a:solidFill>
                <a:uFillTx/>
              </a:defRPr>
            </a:pPr>
            <a:r>
              <a:rPr lang="en-GB" sz="1400" dirty="0"/>
              <a:t>*</a:t>
            </a:r>
            <a:r>
              <a:rPr lang="en-GB" sz="1400" b="1" dirty="0"/>
              <a:t>Definitions:</a:t>
            </a:r>
          </a:p>
          <a:p>
            <a:pPr>
              <a:defRPr sz="1800" b="0" i="0" u="none" strike="noStrike" kern="0" cap="none" spc="0" baseline="0">
                <a:solidFill>
                  <a:srgbClr val="000000"/>
                </a:solidFill>
                <a:uFillTx/>
              </a:defRPr>
            </a:pPr>
            <a:endParaRPr lang="en-GB" sz="1400" b="1" dirty="0"/>
          </a:p>
          <a:p>
            <a:pPr marL="285750" indent="-285750">
              <a:buFont typeface="Arial" panose="020B0604020202020204" pitchFamily="34" charset="0"/>
              <a:buChar char="•"/>
              <a:defRPr sz="1800" b="0" i="0" u="none" strike="noStrike" kern="0" cap="none" spc="0" baseline="0">
                <a:solidFill>
                  <a:srgbClr val="000000"/>
                </a:solidFill>
                <a:uFillTx/>
              </a:defRPr>
            </a:pPr>
            <a:r>
              <a:rPr lang="en-GB" sz="1400" i="0" dirty="0">
                <a:effectLst/>
              </a:rPr>
              <a:t>A Northern Ireland (NI) Declaration is defined as a declaration where one of the Additional Information codes "NIDOM", "NIIMP" or "NIEXP" are declared in D.E. 2/2.</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dirty="0"/>
              <a:t>A GB Declaration is defined as a </a:t>
            </a:r>
            <a:r>
              <a:rPr lang="en-GB" sz="1400"/>
              <a:t>declaration</a:t>
            </a:r>
            <a:r>
              <a:rPr lang="en-GB" sz="1400" dirty="0"/>
              <a:t> where none of the Additional Information codes "NIDOM", "NIIMP" or "NIEXP" are declared in D.E. 2/2 against any goods items.</a:t>
            </a:r>
          </a:p>
          <a:p>
            <a:pPr>
              <a:defRPr sz="1800" b="0" i="0" u="none" strike="noStrike" kern="0" cap="none" spc="0" baseline="0">
                <a:solidFill>
                  <a:srgbClr val="000000"/>
                </a:solidFill>
                <a:uFillTx/>
              </a:defRPr>
            </a:pPr>
            <a:endParaRPr lang="en-GB" sz="1400" i="0" dirty="0">
              <a:solidFill>
                <a:srgbClr val="FF0000"/>
              </a:solidFill>
              <a:effectLst/>
            </a:endParaRPr>
          </a:p>
          <a:p>
            <a:r>
              <a:rPr lang="en-GB" sz="1400" dirty="0"/>
              <a:t>The table on slide 6 outlines the D.E.s where a valid XI EORI will be able to be declared on the stated movement type(s) on a Northern Ireland </a:t>
            </a:r>
            <a:r>
              <a:rPr lang="en-GB" sz="1400"/>
              <a:t>Declaration</a:t>
            </a:r>
            <a:r>
              <a:rPr lang="en-GB" sz="1400" dirty="0"/>
              <a:t>. I</a:t>
            </a:r>
            <a:r>
              <a:rPr lang="en-GB" sz="1400" b="0" i="0" dirty="0">
                <a:effectLst/>
              </a:rPr>
              <a:t>f the EORI is valid and is in-date, the EORI </a:t>
            </a:r>
            <a:r>
              <a:rPr lang="en-GB" sz="1400" dirty="0"/>
              <a:t>will</a:t>
            </a:r>
            <a:r>
              <a:rPr lang="en-GB" sz="1400" b="0" i="0" dirty="0">
                <a:effectLst/>
              </a:rPr>
              <a:t> pass validation and declaration processing </a:t>
            </a:r>
            <a:r>
              <a:rPr lang="en-GB" sz="1400" dirty="0"/>
              <a:t>will</a:t>
            </a:r>
            <a:r>
              <a:rPr lang="en-GB" sz="1400" b="0" i="0" dirty="0">
                <a:effectLst/>
              </a:rPr>
              <a:t> continue regardless of the country code prefix of the EORI.</a:t>
            </a:r>
            <a:endParaRPr lang="en-GB" sz="1400" b="0" i="0" dirty="0">
              <a:effectLst/>
              <a:ea typeface="Calibri"/>
              <a:cs typeface="Calibri"/>
            </a:endParaRPr>
          </a:p>
          <a:p>
            <a:endParaRPr lang="en-GB" sz="1400" dirty="0"/>
          </a:p>
          <a:p>
            <a:r>
              <a:rPr lang="en-GB" sz="1400" b="0" i="0" dirty="0">
                <a:effectLst/>
              </a:rPr>
              <a:t>Should an XI EORI be declared which does not pass BAU EORI validation, the declaration will be rejected</a:t>
            </a:r>
            <a:r>
              <a:rPr lang="en-GB" sz="1400" dirty="0"/>
              <a:t>,</a:t>
            </a:r>
            <a:r>
              <a:rPr lang="en-GB" sz="1400" b="0" i="0" dirty="0">
                <a:effectLst/>
              </a:rPr>
              <a:t> and trader will receive a notification (DMSREJ). </a:t>
            </a:r>
          </a:p>
          <a:p>
            <a:endParaRPr lang="en-GB" sz="1400" dirty="0"/>
          </a:p>
          <a:p>
            <a:pPr>
              <a:defRPr sz="1800" b="0" i="0" u="none" strike="noStrike" kern="0" cap="none" spc="0" baseline="0">
                <a:solidFill>
                  <a:srgbClr val="000000"/>
                </a:solidFill>
                <a:uFillTx/>
              </a:defRPr>
            </a:pPr>
            <a:endParaRPr lang="en-GB" sz="1400" i="0" dirty="0">
              <a:solidFill>
                <a:srgbClr val="FF0000"/>
              </a:solidFill>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230</a:t>
            </a:fld>
            <a:endParaRPr lang="en-GB" dirty="0">
              <a:solidFill>
                <a:schemeClr val="tx1"/>
              </a:solidFill>
            </a:endParaRPr>
          </a:p>
        </p:txBody>
      </p:sp>
    </p:spTree>
    <p:extLst>
      <p:ext uri="{BB962C8B-B14F-4D97-AF65-F5344CB8AC3E}">
        <p14:creationId xmlns:p14="http://schemas.microsoft.com/office/powerpoint/2010/main" val="1747835240"/>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20F04894-61C8-746D-D19B-8D4A69229698}"/>
              </a:ext>
            </a:extLst>
          </p:cNvPr>
          <p:cNvSpPr/>
          <p:nvPr/>
        </p:nvSpPr>
        <p:spPr>
          <a:xfrm>
            <a:off x="465155" y="1243420"/>
            <a:ext cx="11282159" cy="4955203"/>
          </a:xfrm>
          <a:prstGeom prst="rect">
            <a:avLst/>
          </a:prstGeom>
          <a:noFill/>
          <a:ln cap="flat">
            <a:noFill/>
            <a:prstDash val="solid"/>
          </a:ln>
        </p:spPr>
        <p:txBody>
          <a:bodyPr vert="horz" wrap="square" lIns="91440" tIns="45720" rIns="91440" bIns="45720" anchor="t" anchorCtr="0" compatLnSpc="1">
            <a:spAutoFit/>
          </a:bodyPr>
          <a:lstStyle/>
          <a:p>
            <a:r>
              <a:rPr lang="en-GB" sz="1400" dirty="0"/>
              <a:t>D.E.s where a valid XI EORI can be declared on the stated movement type(s):</a:t>
            </a:r>
          </a:p>
          <a:p>
            <a:endParaRPr lang="en-GB" sz="1400" b="0" i="0" dirty="0">
              <a:effectLst/>
            </a:endParaRPr>
          </a:p>
          <a:p>
            <a:endParaRPr lang="en-GB" sz="1400" dirty="0"/>
          </a:p>
          <a:p>
            <a:endParaRPr lang="en-GB" sz="1400" b="0" i="0" dirty="0">
              <a:effectLst/>
            </a:endParaRPr>
          </a:p>
          <a:p>
            <a:endParaRPr lang="en-GB" sz="1400" dirty="0"/>
          </a:p>
          <a:p>
            <a:endParaRPr lang="en-GB" sz="1400" b="0" i="0" dirty="0">
              <a:effectLst/>
            </a:endParaRPr>
          </a:p>
          <a:p>
            <a:endParaRPr lang="en-GB" sz="1400" dirty="0"/>
          </a:p>
          <a:p>
            <a:endParaRPr lang="en-GB" sz="1400" b="0" i="0" dirty="0">
              <a:effectLst/>
            </a:endParaRPr>
          </a:p>
          <a:p>
            <a:endParaRPr lang="en-GB" sz="1400" dirty="0"/>
          </a:p>
          <a:p>
            <a:endParaRPr lang="en-GB" sz="1400" b="0" i="0" dirty="0">
              <a:effectLst/>
            </a:endParaRPr>
          </a:p>
          <a:p>
            <a:endParaRPr lang="en-GB" sz="1400" dirty="0"/>
          </a:p>
          <a:p>
            <a:endParaRPr lang="en-GB" sz="1400" b="0" i="0" dirty="0">
              <a:effectLst/>
            </a:endParaRPr>
          </a:p>
          <a:p>
            <a:endParaRPr lang="en-GB" sz="1400" dirty="0"/>
          </a:p>
          <a:p>
            <a:endParaRPr lang="en-GB" sz="1400" b="0" i="0" dirty="0">
              <a:effectLst/>
            </a:endParaRPr>
          </a:p>
          <a:p>
            <a:endParaRPr lang="en-GB" sz="1400" dirty="0"/>
          </a:p>
          <a:p>
            <a:br>
              <a:rPr lang="en-GB" sz="1400" b="0" i="0" dirty="0">
                <a:effectLst/>
              </a:rPr>
            </a:br>
            <a:endParaRPr lang="en-GB" sz="1400" b="0" i="0" dirty="0">
              <a:effectLst/>
            </a:endParaRPr>
          </a:p>
          <a:p>
            <a:r>
              <a:rPr lang="en-GB" sz="1400" b="0" i="0" dirty="0">
                <a:effectLst/>
              </a:rPr>
              <a:t> </a:t>
            </a:r>
            <a:br>
              <a:rPr lang="en-GB" sz="1400" b="0" i="0" dirty="0">
                <a:effectLst/>
              </a:rPr>
            </a:br>
            <a:endParaRPr lang="en-GB" sz="800" b="0" i="0" dirty="0">
              <a:effectLst/>
            </a:endParaRPr>
          </a:p>
          <a:p>
            <a:r>
              <a:rPr lang="en-GB" sz="1400" b="1" dirty="0"/>
              <a:t>Please note</a:t>
            </a:r>
            <a:r>
              <a:rPr lang="en-GB" sz="1400" dirty="0"/>
              <a:t>: If an XI EORI is declared in any of the D.E.s outlined in the table on a GB </a:t>
            </a:r>
            <a:r>
              <a:rPr lang="en-GB" sz="1400"/>
              <a:t>Declaration</a:t>
            </a:r>
            <a:r>
              <a:rPr lang="en-GB" sz="1400" dirty="0"/>
              <a:t>, then the declaration will be rejected, and the </a:t>
            </a:r>
            <a:r>
              <a:rPr lang="en-GB" sz="1400"/>
              <a:t>Trader</a:t>
            </a:r>
            <a:r>
              <a:rPr lang="en-GB" sz="1400" dirty="0"/>
              <a:t> will receive a notification (DMSREJ). An XI EORI must only be entered on an NI </a:t>
            </a:r>
            <a:r>
              <a:rPr lang="en-GB" sz="1400"/>
              <a:t>Declaration</a:t>
            </a:r>
            <a:r>
              <a:rPr lang="en-GB" sz="1400" dirty="0"/>
              <a:t>.</a:t>
            </a:r>
            <a:endParaRPr lang="en-GB" sz="1400">
              <a:ea typeface="Calibri"/>
              <a:cs typeface="Calibri"/>
            </a:endParaRPr>
          </a:p>
          <a:p>
            <a:pPr algn="l"/>
            <a:endParaRPr lang="en-GB" sz="1400" dirty="0"/>
          </a:p>
          <a:p>
            <a:pPr>
              <a:defRPr sz="1800" b="0" i="0" u="none" strike="noStrike" kern="0" cap="none" spc="0" baseline="0">
                <a:solidFill>
                  <a:srgbClr val="000000"/>
                </a:solidFill>
                <a:uFillTx/>
              </a:defRPr>
            </a:pPr>
            <a:endParaRPr lang="en-GB" sz="1400" i="0" dirty="0">
              <a:solidFill>
                <a:srgbClr val="FF0000"/>
              </a:solidFill>
              <a:effectLst/>
            </a:endParaRPr>
          </a:p>
        </p:txBody>
      </p:sp>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42633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231</a:t>
            </a:fld>
            <a:endParaRPr lang="en-GB" dirty="0">
              <a:solidFill>
                <a:schemeClr val="tx1"/>
              </a:solidFill>
            </a:endParaRPr>
          </a:p>
        </p:txBody>
      </p:sp>
      <p:graphicFrame>
        <p:nvGraphicFramePr>
          <p:cNvPr id="9" name="Table 8">
            <a:extLst>
              <a:ext uri="{FF2B5EF4-FFF2-40B4-BE49-F238E27FC236}">
                <a16:creationId xmlns:a16="http://schemas.microsoft.com/office/drawing/2014/main" id="{60D9EE2C-DE48-1AF1-DE4E-1D8E8C30C74E}"/>
              </a:ext>
            </a:extLst>
          </p:cNvPr>
          <p:cNvGraphicFramePr>
            <a:graphicFrameLocks noGrp="1"/>
          </p:cNvGraphicFramePr>
          <p:nvPr/>
        </p:nvGraphicFramePr>
        <p:xfrm>
          <a:off x="951021" y="1641436"/>
          <a:ext cx="10289958" cy="3297932"/>
        </p:xfrm>
        <a:graphic>
          <a:graphicData uri="http://schemas.openxmlformats.org/drawingml/2006/table">
            <a:tbl>
              <a:tblPr/>
              <a:tblGrid>
                <a:gridCol w="7278382">
                  <a:extLst>
                    <a:ext uri="{9D8B030D-6E8A-4147-A177-3AD203B41FA5}">
                      <a16:colId xmlns:a16="http://schemas.microsoft.com/office/drawing/2014/main" val="1256461672"/>
                    </a:ext>
                  </a:extLst>
                </a:gridCol>
                <a:gridCol w="3011576">
                  <a:extLst>
                    <a:ext uri="{9D8B030D-6E8A-4147-A177-3AD203B41FA5}">
                      <a16:colId xmlns:a16="http://schemas.microsoft.com/office/drawing/2014/main" val="3366086573"/>
                    </a:ext>
                  </a:extLst>
                </a:gridCol>
              </a:tblGrid>
              <a:tr h="0">
                <a:tc>
                  <a:txBody>
                    <a:bodyPr/>
                    <a:lstStyle/>
                    <a:p>
                      <a:pPr algn="ctr"/>
                      <a:r>
                        <a:rPr lang="en-GB" sz="1300" b="1" dirty="0">
                          <a:solidFill>
                            <a:schemeClr val="bg1"/>
                          </a:solidFill>
                          <a:effectLst/>
                        </a:rPr>
                        <a:t>Data Element (D.E.)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300" b="1" dirty="0">
                          <a:solidFill>
                            <a:schemeClr val="bg1"/>
                          </a:solidFill>
                          <a:effectLst/>
                        </a:rPr>
                        <a:t>Movement (I= Import, E= Export, B= Both)</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2623229289"/>
                  </a:ext>
                </a:extLst>
              </a:tr>
              <a:tr h="239608">
                <a:tc>
                  <a:txBody>
                    <a:bodyPr/>
                    <a:lstStyle/>
                    <a:p>
                      <a:r>
                        <a:rPr lang="en-GB" sz="1300" dirty="0">
                          <a:effectLst/>
                        </a:rPr>
                        <a:t>3/2 - Exporter</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12358250"/>
                  </a:ext>
                </a:extLst>
              </a:tr>
              <a:tr h="239608">
                <a:tc>
                  <a:txBody>
                    <a:bodyPr/>
                    <a:lstStyle/>
                    <a:p>
                      <a:r>
                        <a:rPr lang="en-GB" sz="1300">
                          <a:effectLst/>
                        </a:rPr>
                        <a:t>3/8 - Consignor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a:effectLst/>
                        </a:rPr>
                        <a:t>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52522750"/>
                  </a:ext>
                </a:extLst>
              </a:tr>
              <a:tr h="239608">
                <a:tc>
                  <a:txBody>
                    <a:bodyPr/>
                    <a:lstStyle/>
                    <a:p>
                      <a:r>
                        <a:rPr lang="en-GB" sz="1300" dirty="0">
                          <a:effectLst/>
                        </a:rPr>
                        <a:t>3/10 - Consignee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a:effectLst/>
                        </a:rPr>
                        <a:t>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845032195"/>
                  </a:ext>
                </a:extLst>
              </a:tr>
              <a:tr h="239608">
                <a:tc>
                  <a:txBody>
                    <a:bodyPr/>
                    <a:lstStyle/>
                    <a:p>
                      <a:r>
                        <a:rPr lang="en-GB" sz="1300" dirty="0">
                          <a:effectLst/>
                        </a:rPr>
                        <a:t>3/16 - Importer</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I</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169223930"/>
                  </a:ext>
                </a:extLst>
              </a:tr>
              <a:tr h="239608">
                <a:tc>
                  <a:txBody>
                    <a:bodyPr/>
                    <a:lstStyle/>
                    <a:p>
                      <a:r>
                        <a:rPr lang="en-GB" sz="1300" dirty="0">
                          <a:effectLst/>
                        </a:rPr>
                        <a:t>3/18 - Declarant</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576874339"/>
                  </a:ext>
                </a:extLst>
              </a:tr>
              <a:tr h="239608">
                <a:tc>
                  <a:txBody>
                    <a:bodyPr/>
                    <a:lstStyle/>
                    <a:p>
                      <a:r>
                        <a:rPr lang="en-GB" sz="1300" dirty="0">
                          <a:effectLst/>
                        </a:rPr>
                        <a:t>3/20 - Representative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50031999"/>
                  </a:ext>
                </a:extLst>
              </a:tr>
              <a:tr h="239608">
                <a:tc>
                  <a:txBody>
                    <a:bodyPr/>
                    <a:lstStyle/>
                    <a:p>
                      <a:r>
                        <a:rPr lang="en-GB" sz="1300" dirty="0">
                          <a:effectLst/>
                        </a:rPr>
                        <a:t>3/25 - Seller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I</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457774310"/>
                  </a:ext>
                </a:extLst>
              </a:tr>
              <a:tr h="239608">
                <a:tc>
                  <a:txBody>
                    <a:bodyPr/>
                    <a:lstStyle/>
                    <a:p>
                      <a:r>
                        <a:rPr lang="en-GB" sz="1300" dirty="0">
                          <a:effectLst/>
                        </a:rPr>
                        <a:t>3/27 - Buyer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I</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413684827"/>
                  </a:ext>
                </a:extLst>
              </a:tr>
              <a:tr h="239608">
                <a:tc>
                  <a:txBody>
                    <a:bodyPr/>
                    <a:lstStyle/>
                    <a:p>
                      <a:r>
                        <a:rPr lang="en-GB" sz="1300">
                          <a:effectLst/>
                        </a:rPr>
                        <a:t>3/32 - Carrier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a:effectLst/>
                        </a:rPr>
                        <a:t>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10514842"/>
                  </a:ext>
                </a:extLst>
              </a:tr>
              <a:tr h="239608">
                <a:tc>
                  <a:txBody>
                    <a:bodyPr/>
                    <a:lstStyle/>
                    <a:p>
                      <a:r>
                        <a:rPr lang="en-GB" sz="1300" dirty="0">
                          <a:effectLst/>
                        </a:rPr>
                        <a:t>3/37 - Additional supply chain actor(s)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30453318"/>
                  </a:ext>
                </a:extLst>
              </a:tr>
              <a:tr h="239608">
                <a:tc>
                  <a:txBody>
                    <a:bodyPr/>
                    <a:lstStyle/>
                    <a:p>
                      <a:r>
                        <a:rPr lang="en-GB" sz="1300" dirty="0">
                          <a:effectLst/>
                        </a:rPr>
                        <a:t>3/39 - Holder of the authorisation identification No.</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147440386"/>
                  </a:ext>
                </a:extLst>
              </a:tr>
              <a:tr h="246267">
                <a:tc>
                  <a:txBody>
                    <a:bodyPr/>
                    <a:lstStyle/>
                    <a:p>
                      <a:pPr>
                        <a:spcBef>
                          <a:spcPts val="0"/>
                        </a:spcBef>
                      </a:pPr>
                      <a:r>
                        <a:rPr lang="en-GB" sz="1300" dirty="0">
                          <a:effectLst/>
                        </a:rPr>
                        <a:t>3/41 - Person Presenting the Goods to Customs in case of Entry in the Declarant's Records ( EIDR ) or Pre-Lodged Customs Declaration Identification Number (No Previous Reference)</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300" dirty="0">
                          <a:effectLst/>
                        </a:rPr>
                        <a:t>B</a:t>
                      </a:r>
                    </a:p>
                  </a:txBody>
                  <a:tcPr marL="22628" marR="22628" marT="16971" marB="16971"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17610868"/>
                  </a:ext>
                </a:extLst>
              </a:tr>
            </a:tbl>
          </a:graphicData>
        </a:graphic>
      </p:graphicFrame>
    </p:spTree>
    <p:extLst>
      <p:ext uri="{BB962C8B-B14F-4D97-AF65-F5344CB8AC3E}">
        <p14:creationId xmlns:p14="http://schemas.microsoft.com/office/powerpoint/2010/main" val="183607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3970318"/>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Validation of the "Established in Union" Flag (Exports)</a:t>
            </a:r>
          </a:p>
          <a:p>
            <a:pPr algn="l"/>
            <a:endParaRPr lang="en-GB" sz="1400" b="1" u="sng" dirty="0"/>
          </a:p>
          <a:p>
            <a:r>
              <a:rPr lang="en-GB" sz="1400" i="0" dirty="0">
                <a:effectLst/>
              </a:rPr>
              <a:t>When issued with an XI EORI, </a:t>
            </a:r>
            <a:r>
              <a:rPr lang="en-GB" sz="1400" dirty="0"/>
              <a:t>Traders </a:t>
            </a:r>
            <a:r>
              <a:rPr lang="en-GB" sz="1400" i="0" dirty="0">
                <a:effectLst/>
              </a:rPr>
              <a:t>will be given an ‘Established in Union’ status. From CDS4.3.0, unless establishment exception conditions apply, only Exporters, Declarants and Agents with an 'Established in Union' flag </a:t>
            </a:r>
            <a:r>
              <a:rPr lang="en-GB" sz="1400" dirty="0"/>
              <a:t>will be able to</a:t>
            </a:r>
            <a:r>
              <a:rPr lang="en-GB" sz="1400" i="0" dirty="0">
                <a:effectLst/>
              </a:rPr>
              <a:t> submit NI </a:t>
            </a:r>
            <a:r>
              <a:rPr lang="en-GB" sz="1400" dirty="0"/>
              <a:t>Export</a:t>
            </a:r>
            <a:r>
              <a:rPr lang="en-GB" sz="1400" i="0" dirty="0">
                <a:effectLst/>
              </a:rPr>
              <a:t> </a:t>
            </a:r>
            <a:r>
              <a:rPr lang="en-GB" sz="1400" dirty="0"/>
              <a:t>Declarations</a:t>
            </a:r>
            <a:r>
              <a:rPr lang="en-GB" sz="1400" i="0" dirty="0">
                <a:effectLst/>
              </a:rPr>
              <a:t>, so that goods exported from NI can be declared in line with </a:t>
            </a:r>
            <a:r>
              <a:rPr lang="en-GB" sz="1400" kern="0" dirty="0"/>
              <a:t>the trading relationship between the UK and the EU. </a:t>
            </a:r>
            <a:r>
              <a:rPr lang="en-GB" sz="1400" i="0" dirty="0">
                <a:effectLst/>
              </a:rPr>
              <a:t>This rule also applies to where EIDR </a:t>
            </a:r>
            <a:r>
              <a:rPr lang="en-GB" sz="1400" dirty="0"/>
              <a:t>Declarations</a:t>
            </a:r>
            <a:r>
              <a:rPr lang="en-GB" sz="1400" i="0" dirty="0">
                <a:effectLst/>
              </a:rPr>
              <a:t> are submitted.</a:t>
            </a:r>
            <a:r>
              <a:rPr lang="en-GB" sz="1400" dirty="0"/>
              <a:t> </a:t>
            </a:r>
            <a:endParaRPr lang="en-GB" sz="1400" i="0" dirty="0">
              <a:effectLst/>
              <a:ea typeface="Calibri"/>
              <a:cs typeface="Calibri"/>
            </a:endParaRPr>
          </a:p>
          <a:p>
            <a:r>
              <a:rPr lang="en-GB" sz="1400" dirty="0"/>
              <a:t>O</a:t>
            </a:r>
            <a:r>
              <a:rPr lang="en-GB" sz="1400" i="0" dirty="0">
                <a:effectLst/>
              </a:rPr>
              <a:t>n Inventory Exports, Exporter and Declarant EORIs </a:t>
            </a:r>
            <a:r>
              <a:rPr lang="en-GB" sz="1400" dirty="0"/>
              <a:t>will</a:t>
            </a:r>
            <a:r>
              <a:rPr lang="en-GB" sz="1400" i="0" dirty="0">
                <a:effectLst/>
              </a:rPr>
              <a:t> not need to be Established in the Union while Agents </a:t>
            </a:r>
            <a:r>
              <a:rPr lang="en-GB" sz="1400" dirty="0"/>
              <a:t>will.</a:t>
            </a:r>
          </a:p>
          <a:p>
            <a:endParaRPr lang="en-GB" sz="1400" b="0" i="0" dirty="0">
              <a:effectLst/>
              <a:latin typeface="Arial" panose="020B0604020202020204" pitchFamily="34" charset="0"/>
            </a:endParaRPr>
          </a:p>
          <a:p>
            <a:pPr algn="l"/>
            <a:r>
              <a:rPr lang="en-GB" sz="1400" dirty="0"/>
              <a:t>These rules will apply, unless the following 'special cases' apply, in which case no parties need to have a fixed place of establishment in the Union:</a:t>
            </a:r>
          </a:p>
          <a:p>
            <a:pPr marL="285750" indent="-285750" algn="l">
              <a:buFont typeface="Arial" panose="020B0604020202020204" pitchFamily="34" charset="0"/>
              <a:buChar char="•"/>
            </a:pPr>
            <a:r>
              <a:rPr lang="en-GB" sz="1400" dirty="0"/>
              <a:t>A trader is re-exporting any goods item from Temporary Admission.</a:t>
            </a:r>
            <a:endParaRPr lang="en-GB" sz="1400" dirty="0">
              <a:ea typeface="Calibri"/>
              <a:cs typeface="Calibri"/>
            </a:endParaRPr>
          </a:p>
          <a:p>
            <a:pPr marL="285750" indent="-285750" algn="l">
              <a:buFont typeface="Arial" panose="020B0604020202020204" pitchFamily="34" charset="0"/>
              <a:buChar char="•"/>
            </a:pPr>
            <a:r>
              <a:rPr lang="en-GB" sz="1400" dirty="0"/>
              <a:t>A trader is re-exporting any goods item from Inward Processing and the Procedure was entered using Authorisation by Declaration.</a:t>
            </a:r>
            <a:endParaRPr lang="en-GB" sz="1400" dirty="0">
              <a:ea typeface="Calibri" panose="020F0502020204030204"/>
              <a:cs typeface="Calibri" panose="020F0502020204030204"/>
            </a:endParaRPr>
          </a:p>
          <a:p>
            <a:pPr marL="285750" indent="-285750" algn="l">
              <a:buFont typeface="Arial" panose="020B0604020202020204" pitchFamily="34" charset="0"/>
              <a:buChar char="•"/>
            </a:pPr>
            <a:r>
              <a:rPr lang="en-GB" sz="1400" dirty="0"/>
              <a:t>A trader is exporting goods where at least one goods item is being Exported from End-Use and the Procedure was entered using Authorisation by Declaration.</a:t>
            </a:r>
          </a:p>
          <a:p>
            <a:pPr marL="285750" indent="-285750" algn="l">
              <a:buFont typeface="Arial" panose="020B0604020202020204" pitchFamily="34" charset="0"/>
              <a:buChar char="•"/>
            </a:pPr>
            <a:endParaRPr lang="en-GB" sz="1400" dirty="0"/>
          </a:p>
          <a:p>
            <a:r>
              <a:rPr lang="en-GB" sz="1400" dirty="0"/>
              <a:t>In these ‘special cases’, </a:t>
            </a:r>
            <a:r>
              <a:rPr lang="en-GB" sz="1400" i="0" dirty="0">
                <a:effectLst/>
              </a:rPr>
              <a:t>Establishment in Union checks will be suspended, so that permitted traders can still submit NI declarations without a fixed place of establishment in the Union.</a:t>
            </a:r>
            <a:endParaRPr lang="en-GB" sz="1400" i="0" dirty="0">
              <a:effectLst/>
              <a:cs typeface="Calibri"/>
            </a:endParaRPr>
          </a:p>
          <a:p>
            <a:pPr algn="l"/>
            <a:endParaRPr lang="en-GB" sz="1400" u="sng" dirty="0"/>
          </a:p>
          <a:p>
            <a:pPr marL="285750" indent="-285750" algn="l">
              <a:buFont typeface="Arial" panose="020B0604020202020204" pitchFamily="34" charset="0"/>
              <a:buChar char="•"/>
            </a:pPr>
            <a:endParaRPr lang="en-GB" sz="1400" dirty="0"/>
          </a:p>
          <a:p>
            <a:pPr>
              <a:defRPr sz="1800" b="0" i="0" u="none" strike="noStrike" kern="0" cap="none" spc="0" baseline="0">
                <a:solidFill>
                  <a:srgbClr val="000000"/>
                </a:solidFill>
                <a:uFillTx/>
              </a:defRPr>
            </a:pPr>
            <a:endParaRPr lang="en-GB" sz="1400" kern="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232</a:t>
            </a:fld>
            <a:endParaRPr lang="en-GB" dirty="0">
              <a:solidFill>
                <a:schemeClr val="tx1"/>
              </a:solidFill>
            </a:endParaRPr>
          </a:p>
        </p:txBody>
      </p:sp>
    </p:spTree>
    <p:extLst>
      <p:ext uri="{BB962C8B-B14F-4D97-AF65-F5344CB8AC3E}">
        <p14:creationId xmlns:p14="http://schemas.microsoft.com/office/powerpoint/2010/main" val="42302270"/>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616648"/>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Validation of the "Established in Union" Flag (Imports)</a:t>
            </a:r>
          </a:p>
          <a:p>
            <a:pPr algn="l"/>
            <a:endParaRPr lang="en-GB" sz="1400" dirty="0"/>
          </a:p>
          <a:p>
            <a:pPr>
              <a:defRPr sz="1800" b="0" i="0" u="none" strike="noStrike" kern="0" cap="none" spc="0" baseline="0">
                <a:solidFill>
                  <a:srgbClr val="000000"/>
                </a:solidFill>
                <a:uFillTx/>
              </a:defRPr>
            </a:pPr>
            <a:r>
              <a:rPr lang="en-GB" sz="1400" i="0" dirty="0">
                <a:effectLst/>
              </a:rPr>
              <a:t>From CDS4.3.0, only Importers, Declarants and Agents with an 'Established in Union' flag </a:t>
            </a:r>
            <a:r>
              <a:rPr lang="en-GB" sz="1400" dirty="0"/>
              <a:t>will be </a:t>
            </a:r>
            <a:r>
              <a:rPr lang="en-GB" sz="1400" i="0" dirty="0">
                <a:effectLst/>
              </a:rPr>
              <a:t>able to submit NI </a:t>
            </a:r>
            <a:r>
              <a:rPr lang="en-GB" sz="1400"/>
              <a:t>Import</a:t>
            </a:r>
            <a:r>
              <a:rPr lang="en-GB" sz="1400" i="0" dirty="0">
                <a:effectLst/>
              </a:rPr>
              <a:t> </a:t>
            </a:r>
            <a:r>
              <a:rPr lang="en-GB" sz="1400"/>
              <a:t>Declarations</a:t>
            </a:r>
            <a:r>
              <a:rPr lang="en-GB" sz="1400" i="0" dirty="0">
                <a:effectLst/>
              </a:rPr>
              <a:t>, so that goods entering NI can be declared in line with the </a:t>
            </a:r>
            <a:r>
              <a:rPr lang="en-GB" sz="1400" kern="0" dirty="0">
                <a:solidFill>
                  <a:srgbClr val="000000"/>
                </a:solidFill>
              </a:rPr>
              <a:t>trading relationship between the UK and the EU. </a:t>
            </a:r>
            <a:r>
              <a:rPr lang="en-GB" sz="1400" i="0" dirty="0">
                <a:effectLst/>
              </a:rPr>
              <a:t>This also applies to where EIDR </a:t>
            </a:r>
            <a:r>
              <a:rPr lang="en-GB" sz="1400"/>
              <a:t>Declarations</a:t>
            </a:r>
            <a:r>
              <a:rPr lang="en-GB" sz="1400" i="0" dirty="0">
                <a:effectLst/>
              </a:rPr>
              <a:t> are submitted</a:t>
            </a:r>
            <a:r>
              <a:rPr lang="en-GB" sz="1400" dirty="0"/>
              <a:t>. O</a:t>
            </a:r>
            <a:r>
              <a:rPr lang="en-GB" sz="1400" i="0" dirty="0">
                <a:effectLst/>
              </a:rPr>
              <a:t>nly Customs Agents who have a fixed place of establishment in the Union will be able to </a:t>
            </a:r>
            <a:r>
              <a:rPr lang="en-GB" sz="1400" dirty="0"/>
              <a:t>act as the representative for</a:t>
            </a:r>
            <a:r>
              <a:rPr lang="en-GB" sz="1400" i="0" dirty="0">
                <a:effectLst/>
              </a:rPr>
              <a:t> Inventory Imports.</a:t>
            </a:r>
          </a:p>
          <a:p>
            <a:pPr>
              <a:defRPr sz="1800" b="0" i="0" u="none" strike="noStrike" kern="0" cap="none" spc="0" baseline="0">
                <a:solidFill>
                  <a:srgbClr val="000000"/>
                </a:solidFill>
                <a:uFillTx/>
              </a:defRPr>
            </a:pPr>
            <a:endParaRPr lang="en-GB" sz="1400" dirty="0"/>
          </a:p>
          <a:p>
            <a:pPr algn="l"/>
            <a:r>
              <a:rPr lang="en-GB" sz="1400" dirty="0"/>
              <a:t>These rules must apply, unless the following 'special cases' apply, in which case no parties need to have a fixed place of establishment in the Union:</a:t>
            </a:r>
          </a:p>
          <a:p>
            <a:pPr marL="285750" indent="-285750" algn="l">
              <a:buFont typeface="Arial" panose="020B0604020202020204" pitchFamily="34" charset="0"/>
              <a:buChar char="•"/>
            </a:pPr>
            <a:r>
              <a:rPr lang="en-GB" sz="1400" dirty="0"/>
              <a:t>A </a:t>
            </a:r>
            <a:r>
              <a:rPr lang="en-GB" sz="1400"/>
              <a:t>trader</a:t>
            </a:r>
            <a:r>
              <a:rPr lang="en-GB" sz="1400" dirty="0"/>
              <a:t> is importing any goods item for Entry for Temporary Admission.</a:t>
            </a:r>
            <a:endParaRPr lang="en-GB" sz="1400">
              <a:ea typeface="Calibri"/>
              <a:cs typeface="Calibri"/>
            </a:endParaRPr>
          </a:p>
          <a:p>
            <a:pPr marL="285750" indent="-285750" algn="l">
              <a:buFont typeface="Arial" panose="020B0604020202020204" pitchFamily="34" charset="0"/>
              <a:buChar char="•"/>
            </a:pPr>
            <a:r>
              <a:rPr lang="en-GB" sz="1400" dirty="0"/>
              <a:t>A </a:t>
            </a:r>
            <a:r>
              <a:rPr lang="en-GB" sz="1400"/>
              <a:t>trader</a:t>
            </a:r>
            <a:r>
              <a:rPr lang="en-GB" sz="1400" dirty="0"/>
              <a:t> is importing goods with Entry for Inward Processing and using Authorisation by Declaration.</a:t>
            </a:r>
            <a:endParaRPr lang="en-GB" sz="1400">
              <a:ea typeface="Calibri" panose="020F0502020204030204"/>
              <a:cs typeface="Calibri" panose="020F0502020204030204"/>
            </a:endParaRPr>
          </a:p>
          <a:p>
            <a:pPr marL="285750" indent="-285750" algn="l">
              <a:buFont typeface="Arial" panose="020B0604020202020204" pitchFamily="34" charset="0"/>
              <a:buChar char="•"/>
            </a:pPr>
            <a:r>
              <a:rPr lang="en-GB" sz="1400" dirty="0"/>
              <a:t>A </a:t>
            </a:r>
            <a:r>
              <a:rPr lang="en-GB" sz="1400"/>
              <a:t>trader</a:t>
            </a:r>
            <a:r>
              <a:rPr lang="en-GB" sz="1400" dirty="0"/>
              <a:t> is importing goods where at least one goods item is being imported for End-Use and the same goods item is being imported using Authorisation by Declaration.</a:t>
            </a:r>
          </a:p>
          <a:p>
            <a:pPr marL="285750" indent="-285750" algn="l">
              <a:buFont typeface="Arial" panose="020B0604020202020204" pitchFamily="34" charset="0"/>
              <a:buChar char="•"/>
            </a:pPr>
            <a:endParaRPr lang="en-GB" sz="1400" dirty="0"/>
          </a:p>
          <a:p>
            <a:r>
              <a:rPr lang="en-GB" sz="1400" dirty="0"/>
              <a:t>In these special cases, </a:t>
            </a:r>
            <a:r>
              <a:rPr lang="en-GB" sz="1400" i="0" dirty="0">
                <a:effectLst/>
              </a:rPr>
              <a:t>Establishment in Union checks will be suspended, so that permitted </a:t>
            </a:r>
            <a:r>
              <a:rPr lang="en-GB" sz="1400"/>
              <a:t>Traders</a:t>
            </a:r>
            <a:r>
              <a:rPr lang="en-GB" sz="1400" i="0" dirty="0">
                <a:effectLst/>
              </a:rPr>
              <a:t> can still submit NI </a:t>
            </a:r>
            <a:r>
              <a:rPr lang="en-GB" sz="1400"/>
              <a:t>Declarations</a:t>
            </a:r>
            <a:r>
              <a:rPr lang="en-GB" sz="1400" i="0" dirty="0">
                <a:effectLst/>
              </a:rPr>
              <a:t> without a fixed place of establishment in the Union.</a:t>
            </a:r>
            <a:endParaRPr lang="en-GB" sz="1400" i="0" dirty="0">
              <a:effectLst/>
              <a:cs typeface="Calibri"/>
            </a:endParaRPr>
          </a:p>
          <a:p>
            <a:pPr algn="l"/>
            <a:endParaRPr lang="en-GB" sz="1400" dirty="0"/>
          </a:p>
          <a:p>
            <a:pPr>
              <a:defRPr sz="1800" b="0" i="0" u="none" strike="noStrike" kern="0" cap="none" spc="0" baseline="0">
                <a:solidFill>
                  <a:srgbClr val="000000"/>
                </a:solidFill>
                <a:uFillTx/>
              </a:defRPr>
            </a:pPr>
            <a:br>
              <a:rPr lang="en-GB" sz="1400" kern="0" dirty="0">
                <a:solidFill>
                  <a:srgbClr val="000000"/>
                </a:solidFill>
              </a:rPr>
            </a:br>
            <a:endParaRPr lang="en-GB" sz="1400" kern="0" dirty="0">
              <a:solidFill>
                <a:srgbClr val="000000"/>
              </a:solidFill>
            </a:endParaRPr>
          </a:p>
          <a:p>
            <a:pPr algn="l"/>
            <a:endParaRPr lang="en-GB" sz="1400" i="0" dirty="0">
              <a:effectLst/>
            </a:endParaRPr>
          </a:p>
          <a:p>
            <a:pPr algn="l"/>
            <a:endParaRPr lang="en-GB" sz="1400" b="1" i="0" dirty="0">
              <a:effectLst/>
            </a:endParaRPr>
          </a:p>
          <a:p>
            <a:pPr algn="l"/>
            <a:endParaRPr lang="en-GB" sz="1400" b="1" i="0" u="sng" dirty="0">
              <a:effectLst/>
            </a:endParaRPr>
          </a:p>
          <a:p>
            <a:endParaRPr lang="en-GB" sz="1400" u="sng"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1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233</a:t>
            </a:fld>
            <a:endParaRPr lang="en-GB" dirty="0">
              <a:solidFill>
                <a:schemeClr val="tx1"/>
              </a:solidFill>
            </a:endParaRPr>
          </a:p>
        </p:txBody>
      </p:sp>
    </p:spTree>
    <p:extLst>
      <p:ext uri="{BB962C8B-B14F-4D97-AF65-F5344CB8AC3E}">
        <p14:creationId xmlns:p14="http://schemas.microsoft.com/office/powerpoint/2010/main" val="32381882"/>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616648"/>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XI Authorisations: Validate an Authorisation against an XI EORI</a:t>
            </a:r>
          </a:p>
          <a:p>
            <a:pPr algn="l"/>
            <a:endParaRPr lang="en-GB" sz="1400" b="1" u="sng" dirty="0"/>
          </a:p>
          <a:p>
            <a:pPr algn="l"/>
            <a:r>
              <a:rPr lang="en-GB" sz="1400" i="0" dirty="0">
                <a:effectLst/>
              </a:rPr>
              <a:t>XI </a:t>
            </a:r>
            <a:r>
              <a:rPr lang="en-GB" sz="1400"/>
              <a:t>Authorisations</a:t>
            </a:r>
            <a:r>
              <a:rPr lang="en-GB" sz="1400" i="0" dirty="0">
                <a:effectLst/>
              </a:rPr>
              <a:t> will be validated when declared against an XI EORI on a NI </a:t>
            </a:r>
            <a:r>
              <a:rPr lang="en-GB" sz="1400"/>
              <a:t>Declaration</a:t>
            </a:r>
            <a:r>
              <a:rPr lang="en-GB" sz="1400" i="0" dirty="0">
                <a:effectLst/>
              </a:rPr>
              <a:t>, so that only traders who both own an XI </a:t>
            </a:r>
            <a:r>
              <a:rPr lang="en-GB" sz="1400"/>
              <a:t>Authorisation</a:t>
            </a:r>
            <a:r>
              <a:rPr lang="en-GB" sz="1400" i="0" dirty="0">
                <a:effectLst/>
              </a:rPr>
              <a:t> and are using their XI EORI can use that authorisation.</a:t>
            </a:r>
            <a:endParaRPr lang="en-GB" sz="1400" i="0" dirty="0">
              <a:effectLst/>
              <a:ea typeface="Calibri"/>
              <a:cs typeface="Calibri"/>
            </a:endParaRPr>
          </a:p>
          <a:p>
            <a:pPr algn="l"/>
            <a:endParaRPr lang="en-GB" sz="1400" dirty="0"/>
          </a:p>
          <a:p>
            <a:pPr algn="l"/>
            <a:r>
              <a:rPr lang="en-GB" sz="1400" b="1" i="0" dirty="0">
                <a:effectLst/>
              </a:rPr>
              <a:t>Acceptance Criteria:</a:t>
            </a:r>
          </a:p>
          <a:p>
            <a:pPr algn="l"/>
            <a:endParaRPr lang="en-GB" sz="1400" b="1" dirty="0"/>
          </a:p>
          <a:p>
            <a:pPr marL="342900" indent="-342900" algn="l">
              <a:buFont typeface="+mj-lt"/>
              <a:buAutoNum type="arabicPeriod"/>
            </a:pPr>
            <a:r>
              <a:rPr lang="en-GB" sz="1400" b="0" i="0" dirty="0">
                <a:effectLst/>
              </a:rPr>
              <a:t>When a declarant enters a document code in the D.E. 2/3 sub-field "Document Type", and Authorisation validation is triggered, the Authorisation Number declared in the "Document Identifier" sub-field against the Document Code in the Authorisation store will be validated, regardless of whether that Authorisation Number begins with a "GB" or "XI“.</a:t>
            </a:r>
          </a:p>
          <a:p>
            <a:pPr marL="857250" lvl="1" indent="-400050">
              <a:buFont typeface="+mj-lt"/>
              <a:buAutoNum type="romanLcPeriod"/>
            </a:pPr>
            <a:r>
              <a:rPr lang="en-GB" sz="1400" b="0" i="0" dirty="0">
                <a:effectLst/>
              </a:rPr>
              <a:t>If the authorisation number is valid, the declaration will be processed.</a:t>
            </a:r>
          </a:p>
          <a:p>
            <a:pPr marL="857250" lvl="1" indent="-400050">
              <a:buFont typeface="+mj-lt"/>
              <a:buAutoNum type="romanLcPeriod"/>
            </a:pPr>
            <a:r>
              <a:rPr lang="en-GB" sz="1400" b="0" i="0" dirty="0">
                <a:effectLst/>
              </a:rPr>
              <a:t>If the authorisation number is not valid, </a:t>
            </a:r>
            <a:r>
              <a:rPr lang="en-GB" sz="1400" dirty="0"/>
              <a:t>the </a:t>
            </a:r>
            <a:r>
              <a:rPr lang="en-GB" sz="1400" b="0" i="0" dirty="0">
                <a:effectLst/>
              </a:rPr>
              <a:t>declaration will be rejected and a DMSREJ notification will be returned to the </a:t>
            </a:r>
            <a:r>
              <a:rPr lang="en-GB" sz="1400"/>
              <a:t>Trader</a:t>
            </a:r>
            <a:r>
              <a:rPr lang="en-GB" sz="1400" b="0" i="0" dirty="0">
                <a:effectLst/>
              </a:rPr>
              <a:t>.</a:t>
            </a:r>
            <a:endParaRPr lang="en-GB" sz="1400" b="0" i="0">
              <a:effectLst/>
              <a:ea typeface="Calibri"/>
              <a:cs typeface="Calibri"/>
            </a:endParaRPr>
          </a:p>
          <a:p>
            <a:pPr marL="857250" lvl="1" indent="-400050">
              <a:buFont typeface="+mj-lt"/>
              <a:buAutoNum type="romanLcPeriod"/>
            </a:pPr>
            <a:endParaRPr lang="en-GB" sz="1400" dirty="0"/>
          </a:p>
          <a:p>
            <a:pPr marL="342900" indent="-342900" algn="l">
              <a:buFont typeface="+mj-lt"/>
              <a:buAutoNum type="arabicPeriod"/>
            </a:pPr>
            <a:r>
              <a:rPr lang="en-GB" sz="1400" b="0" i="0" dirty="0">
                <a:effectLst/>
              </a:rPr>
              <a:t>Where an Authorisation Number on a declaration is validated, the owner of the authorisation against field(s) on the declaration will be checked, as defined by that Authorisation Type.*</a:t>
            </a:r>
          </a:p>
          <a:p>
            <a:pPr marL="857250" lvl="1" indent="-400050">
              <a:buFont typeface="+mj-lt"/>
              <a:buAutoNum type="romanLcPeriod"/>
            </a:pPr>
            <a:r>
              <a:rPr lang="en-GB" sz="1400" b="0" i="0" dirty="0">
                <a:effectLst/>
              </a:rPr>
              <a:t>If the owner of the authorisation exactly matches the EORI of the specified party on the declaration, then the authorisation will be accepted and will continue being processed.</a:t>
            </a:r>
          </a:p>
          <a:p>
            <a:pPr marL="857250" lvl="1" indent="-400050">
              <a:buFont typeface="+mj-lt"/>
              <a:buAutoNum type="romanLcPeriod"/>
            </a:pPr>
            <a:r>
              <a:rPr lang="en-GB" sz="1400" b="0" i="0" dirty="0">
                <a:effectLst/>
              </a:rPr>
              <a:t>If the owner of the authorisation does not exactly match the EORI of the specified party on the declaration, then the declaration will be rejected and a DMSREJ notification will be returned to the trader. </a:t>
            </a:r>
            <a:endParaRPr lang="en-GB" sz="1400" b="1" i="0" dirty="0">
              <a:effectLst/>
            </a:endParaRPr>
          </a:p>
          <a:p>
            <a:endParaRPr lang="en-GB" sz="1400" u="sng" dirty="0">
              <a:highlight>
                <a:srgbClr val="FFFF00"/>
              </a:highlight>
            </a:endParaRPr>
          </a:p>
          <a:p>
            <a:pPr algn="l"/>
            <a:r>
              <a:rPr lang="en-GB" sz="1400" i="0" dirty="0">
                <a:effectLst/>
              </a:rPr>
              <a:t>*</a:t>
            </a:r>
            <a:r>
              <a:rPr lang="en-GB" sz="1400" b="1" i="0" dirty="0">
                <a:effectLst/>
              </a:rPr>
              <a:t>Please note</a:t>
            </a:r>
            <a:r>
              <a:rPr lang="en-GB" sz="1400" i="0" dirty="0">
                <a:effectLst/>
              </a:rPr>
              <a:t>: The validation of authorisations </a:t>
            </a:r>
            <a:r>
              <a:rPr lang="en-GB" sz="1400" dirty="0"/>
              <a:t>will be</a:t>
            </a:r>
            <a:r>
              <a:rPr lang="en-GB" sz="1400" i="0" dirty="0">
                <a:effectLst/>
              </a:rPr>
              <a:t> prefix sensitive.</a:t>
            </a:r>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234</a:t>
            </a:fld>
            <a:endParaRPr lang="en-GB" dirty="0">
              <a:solidFill>
                <a:schemeClr val="tx1"/>
              </a:solidFill>
            </a:endParaRPr>
          </a:p>
        </p:txBody>
      </p:sp>
    </p:spTree>
    <p:extLst>
      <p:ext uri="{BB962C8B-B14F-4D97-AF65-F5344CB8AC3E}">
        <p14:creationId xmlns:p14="http://schemas.microsoft.com/office/powerpoint/2010/main" val="157474962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504753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dirty="0">
                <a:effectLst/>
              </a:rPr>
              <a:t>XI EORI &amp; DDAs</a:t>
            </a:r>
            <a:endParaRPr lang="en-GB" sz="1400" b="1" u="sng" dirty="0"/>
          </a:p>
          <a:p>
            <a:pPr>
              <a:defRPr sz="1800" b="0" i="0" u="none" strike="noStrike" kern="0" cap="none" spc="0" baseline="0">
                <a:solidFill>
                  <a:srgbClr val="000000"/>
                </a:solidFill>
                <a:uFillTx/>
              </a:defRPr>
            </a:pPr>
            <a:endParaRPr lang="en-GB" sz="1400" i="0" u="sng" dirty="0">
              <a:effectLst/>
            </a:endParaRPr>
          </a:p>
          <a:p>
            <a:pPr>
              <a:defRPr sz="1800" b="0" i="0" u="none" strike="noStrike" kern="0" cap="none" spc="0" baseline="0">
                <a:solidFill>
                  <a:srgbClr val="000000"/>
                </a:solidFill>
                <a:uFillTx/>
              </a:defRPr>
            </a:pPr>
            <a:r>
              <a:rPr lang="en-GB" sz="1400" i="0" u="sng" dirty="0">
                <a:effectLst/>
              </a:rPr>
              <a:t>Validation of an NI DDA and GB DDA when Declared</a:t>
            </a:r>
          </a:p>
          <a:p>
            <a:pPr>
              <a:defRPr sz="1800" b="0" i="0" u="none" strike="noStrike" kern="0" cap="none" spc="0" baseline="0">
                <a:solidFill>
                  <a:srgbClr val="000000"/>
                </a:solidFill>
                <a:uFillTx/>
              </a:defRPr>
            </a:pPr>
            <a:endParaRPr lang="en-GB" sz="1400" u="sng" dirty="0"/>
          </a:p>
          <a:p>
            <a:pPr>
              <a:defRPr sz="1800" b="0" i="0" u="none" strike="noStrike" kern="0" cap="none" spc="0" baseline="0">
                <a:solidFill>
                  <a:srgbClr val="000000"/>
                </a:solidFill>
                <a:uFillTx/>
              </a:defRPr>
            </a:pPr>
            <a:r>
              <a:rPr lang="en-GB" sz="1400" i="0" dirty="0">
                <a:effectLst/>
              </a:rPr>
              <a:t>This functionality allows traders owning an NI </a:t>
            </a:r>
            <a:r>
              <a:rPr lang="en-GB" sz="1400" kern="0" dirty="0">
                <a:solidFill>
                  <a:srgbClr val="000000"/>
                </a:solidFill>
              </a:rPr>
              <a:t>Duty Deferment Account (DDA) </a:t>
            </a:r>
            <a:r>
              <a:rPr lang="en-GB" sz="1400" i="0" dirty="0">
                <a:effectLst/>
              </a:rPr>
              <a:t>and/or a GB DDA to be able to use </a:t>
            </a:r>
            <a:r>
              <a:rPr lang="en-GB" sz="1400" dirty="0"/>
              <a:t>their</a:t>
            </a:r>
            <a:r>
              <a:rPr lang="en-GB" sz="1400" i="0" dirty="0">
                <a:effectLst/>
              </a:rPr>
              <a:t> NI DDA with </a:t>
            </a:r>
            <a:r>
              <a:rPr lang="en-GB" sz="1400" dirty="0"/>
              <a:t>their</a:t>
            </a:r>
            <a:r>
              <a:rPr lang="en-GB" sz="1400" i="0" dirty="0">
                <a:effectLst/>
              </a:rPr>
              <a:t> XI EORI only and/or </a:t>
            </a:r>
            <a:r>
              <a:rPr lang="en-GB" sz="1400" dirty="0"/>
              <a:t>their</a:t>
            </a:r>
            <a:r>
              <a:rPr lang="en-GB" sz="1400" i="0" dirty="0">
                <a:effectLst/>
              </a:rPr>
              <a:t> GB DDA with the GB EORI only, so that traders can use NI DDA and GB DDA on all permitted movements.</a:t>
            </a:r>
          </a:p>
          <a:p>
            <a:pPr>
              <a:defRPr sz="1800" b="0" i="0" u="none" strike="noStrike" kern="0" cap="none" spc="0" baseline="0">
                <a:solidFill>
                  <a:srgbClr val="000000"/>
                </a:solidFill>
                <a:uFillTx/>
              </a:defRPr>
            </a:pPr>
            <a:endParaRPr lang="en-GB" sz="1400" u="sng" dirty="0"/>
          </a:p>
          <a:p>
            <a:pPr algn="l"/>
            <a:r>
              <a:rPr lang="en-GB" sz="1400" b="1" i="0" dirty="0">
                <a:effectLst/>
              </a:rPr>
              <a:t>Acceptance Criteria:</a:t>
            </a:r>
          </a:p>
          <a:p>
            <a:pPr algn="l"/>
            <a:endParaRPr lang="en-GB" sz="1400" b="0" i="0" dirty="0">
              <a:effectLst/>
            </a:endParaRPr>
          </a:p>
          <a:p>
            <a:pPr marL="342900" indent="-342900">
              <a:buAutoNum type="arabicPeriod"/>
            </a:pPr>
            <a:r>
              <a:rPr lang="en-GB" sz="1400" b="0" i="0" dirty="0">
                <a:effectLst/>
              </a:rPr>
              <a:t>An NI DDA </a:t>
            </a:r>
            <a:r>
              <a:rPr lang="en-GB" sz="1400" dirty="0"/>
              <a:t>must</a:t>
            </a:r>
            <a:r>
              <a:rPr lang="en-GB" sz="1400" b="0" i="0" dirty="0">
                <a:effectLst/>
              </a:rPr>
              <a:t> not be used by GB EORI </a:t>
            </a:r>
            <a:r>
              <a:rPr lang="en-GB" sz="1400" dirty="0"/>
              <a:t>Declarants</a:t>
            </a:r>
            <a:r>
              <a:rPr lang="en-GB" sz="1400" b="0" i="0" dirty="0">
                <a:effectLst/>
              </a:rPr>
              <a:t> and a GB DDA </a:t>
            </a:r>
            <a:r>
              <a:rPr lang="en-GB" sz="1400" dirty="0"/>
              <a:t>must </a:t>
            </a:r>
            <a:r>
              <a:rPr lang="en-GB" sz="1400" b="0" i="0" dirty="0">
                <a:effectLst/>
              </a:rPr>
              <a:t>not be used by XI EORI </a:t>
            </a:r>
            <a:r>
              <a:rPr lang="en-GB" sz="1400" dirty="0"/>
              <a:t>Declarants</a:t>
            </a:r>
            <a:r>
              <a:rPr lang="en-GB" sz="1400" b="0" i="0" dirty="0">
                <a:effectLst/>
              </a:rPr>
              <a:t>.</a:t>
            </a:r>
            <a:r>
              <a:rPr lang="en-GB" sz="1400" dirty="0"/>
              <a:t> </a:t>
            </a:r>
            <a:endParaRPr lang="en-GB" sz="1400" dirty="0">
              <a:cs typeface="Calibri"/>
            </a:endParaRPr>
          </a:p>
          <a:p>
            <a:pPr marL="342900" indent="-342900" algn="l">
              <a:buAutoNum type="arabicPeriod"/>
            </a:pPr>
            <a:r>
              <a:rPr lang="en-GB" sz="1400" b="0" i="0" dirty="0">
                <a:effectLst/>
              </a:rPr>
              <a:t>When a </a:t>
            </a:r>
            <a:r>
              <a:rPr lang="en-GB" sz="1400" dirty="0"/>
              <a:t>Trader</a:t>
            </a:r>
            <a:r>
              <a:rPr lang="en-GB" sz="1400" b="0" i="0" dirty="0">
                <a:effectLst/>
              </a:rPr>
              <a:t> is using an NI DDA and the ownership of the DDA is validated, the full EORI will be checked. Where this validation fails, the declaration will be rejected, and </a:t>
            </a:r>
            <a:r>
              <a:rPr lang="en-GB" sz="1400" dirty="0"/>
              <a:t>the trader</a:t>
            </a:r>
            <a:r>
              <a:rPr lang="en-GB" sz="1400" b="0" i="0" dirty="0">
                <a:effectLst/>
              </a:rPr>
              <a:t> will receive a notification (DMSREJ).</a:t>
            </a:r>
            <a:r>
              <a:rPr lang="en-GB" sz="1400" b="0" i="0" dirty="0">
                <a:solidFill>
                  <a:srgbClr val="111111"/>
                </a:solidFill>
                <a:effectLst/>
              </a:rPr>
              <a:t>*</a:t>
            </a:r>
            <a:endParaRPr lang="en-GB" sz="1400" b="0" i="0" dirty="0">
              <a:effectLst/>
            </a:endParaRPr>
          </a:p>
          <a:p>
            <a:pPr marL="342900" indent="-342900">
              <a:buFontTx/>
              <a:buAutoNum type="arabicPeriod"/>
            </a:pPr>
            <a:r>
              <a:rPr lang="en-GB" sz="1400" dirty="0"/>
              <a:t>When </a:t>
            </a:r>
            <a:r>
              <a:rPr lang="en-GB" sz="1400" b="0" i="0" dirty="0">
                <a:effectLst/>
              </a:rPr>
              <a:t>a </a:t>
            </a:r>
            <a:r>
              <a:rPr lang="en-GB" sz="1400" dirty="0"/>
              <a:t>trader</a:t>
            </a:r>
            <a:r>
              <a:rPr lang="en-GB" sz="1400" b="0" i="0" dirty="0">
                <a:effectLst/>
              </a:rPr>
              <a:t> is using a GB DDA and </a:t>
            </a:r>
            <a:r>
              <a:rPr lang="en-GB" sz="1400" dirty="0"/>
              <a:t>the </a:t>
            </a:r>
            <a:r>
              <a:rPr lang="en-GB" sz="1400" b="0" i="0" dirty="0">
                <a:effectLst/>
              </a:rPr>
              <a:t>ownership of the DDA is validated, the first 11 characters will be checked. Where this validation fails, the declaration will be rejected, and the trader will receive a notification (DMSREJ).</a:t>
            </a:r>
            <a:r>
              <a:rPr lang="en-GB" sz="1400" b="0" i="0" dirty="0">
                <a:solidFill>
                  <a:srgbClr val="111111"/>
                </a:solidFill>
                <a:effectLst/>
              </a:rPr>
              <a:t>*</a:t>
            </a:r>
            <a:endParaRPr lang="en-GB" sz="1400" b="0" i="0" dirty="0">
              <a:effectLst/>
            </a:endParaRPr>
          </a:p>
          <a:p>
            <a:pPr marL="342900" indent="-342900" algn="l">
              <a:buAutoNum type="arabicPeriod"/>
            </a:pPr>
            <a:r>
              <a:rPr lang="en-GB" sz="1400" dirty="0"/>
              <a:t>When </a:t>
            </a:r>
            <a:r>
              <a:rPr lang="en-GB" sz="1400" b="0" i="0" dirty="0">
                <a:effectLst/>
              </a:rPr>
              <a:t>a trader is using a NI DDA, the EORIs validated against the DAN must be XI EORIs</a:t>
            </a:r>
            <a:r>
              <a:rPr lang="en-GB" sz="1400" dirty="0"/>
              <a:t>. </a:t>
            </a:r>
            <a:r>
              <a:rPr lang="en-GB" sz="1400" b="0" i="0" dirty="0">
                <a:effectLst/>
              </a:rPr>
              <a:t>If the EORIs using the NI DDA are GB EORIs, the declaration will be rejected, and the trader will receive a notification (DMSREJ).</a:t>
            </a:r>
          </a:p>
          <a:p>
            <a:pPr marL="342900" indent="-342900">
              <a:buFontTx/>
              <a:buAutoNum type="arabicPeriod"/>
            </a:pPr>
            <a:r>
              <a:rPr lang="en-GB" sz="1400" dirty="0"/>
              <a:t>When </a:t>
            </a:r>
            <a:r>
              <a:rPr lang="en-GB" sz="1400" b="0" i="0" dirty="0">
                <a:effectLst/>
              </a:rPr>
              <a:t>a trader is using a GB DDA, the EORIs validated against the DAN must be GB EORIs</a:t>
            </a:r>
            <a:r>
              <a:rPr lang="en-GB" sz="1400" dirty="0"/>
              <a:t>. </a:t>
            </a:r>
            <a:r>
              <a:rPr lang="en-GB" sz="1400" b="0" i="0" dirty="0">
                <a:effectLst/>
              </a:rPr>
              <a:t>If the EORIs using the GB DDA are XI EORIs, the declaration will be rejected, and the trader will receive a notification (DMSREJ).</a:t>
            </a:r>
          </a:p>
          <a:p>
            <a:pPr marL="342900" indent="-342900">
              <a:buFontTx/>
              <a:buAutoNum type="arabicPeriod"/>
            </a:pPr>
            <a:endParaRPr lang="en-GB" sz="1400" dirty="0"/>
          </a:p>
          <a:p>
            <a:r>
              <a:rPr lang="en-GB" sz="1400" b="0" i="0" dirty="0">
                <a:solidFill>
                  <a:srgbClr val="111111"/>
                </a:solidFill>
                <a:effectLst/>
              </a:rPr>
              <a:t>*</a:t>
            </a:r>
            <a:r>
              <a:rPr lang="en-GB" sz="1400" b="1" dirty="0"/>
              <a:t>Please note: </a:t>
            </a:r>
            <a:r>
              <a:rPr lang="en-GB" sz="1400" dirty="0"/>
              <a:t>The reason for the difference in validation between NI and GB DDAs is to allow for the implicit usage of Deferment Accounts by all members of a VAT group for GB DDAs, and to remove this VAT group relationship for XI DDAs.</a:t>
            </a:r>
          </a:p>
          <a:p>
            <a:endParaRPr lang="en-GB" sz="1400" kern="0" dirty="0">
              <a:solidFill>
                <a:srgbClr val="000000"/>
              </a:solidFill>
              <a:highlight>
                <a:srgbClr val="FFFF00"/>
              </a:highlight>
            </a:endParaRPr>
          </a:p>
          <a:p>
            <a:endParaRPr lang="en-GB" sz="1400" b="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235</a:t>
            </a:fld>
            <a:endParaRPr lang="en-GB" dirty="0">
              <a:solidFill>
                <a:schemeClr val="tx1"/>
              </a:solidFill>
            </a:endParaRPr>
          </a:p>
        </p:txBody>
      </p:sp>
    </p:spTree>
    <p:extLst>
      <p:ext uri="{BB962C8B-B14F-4D97-AF65-F5344CB8AC3E}">
        <p14:creationId xmlns:p14="http://schemas.microsoft.com/office/powerpoint/2010/main" val="3890915022"/>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353943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kern="0" dirty="0">
                <a:solidFill>
                  <a:srgbClr val="000000"/>
                </a:solidFill>
              </a:rPr>
              <a:t>Trader view of NI &amp; GB DDAs via the Finance UI</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From CDS4.3.0, traders with a DDA will be able to distinguish which of their DDAs are NI DDAs and which are GB DDAs from their Financial Dashboard. Traders will also be able to view their DDA statements including the EORI that owns that DDA so that all statements available will be classified as NI or GB based on DDA type. For all DDAs, the trader will be able to view current and historic Deferment Statements for that DDA. When a new Deferment Account statement is available in the Financial Dashboard, an email will be sent to the verified email address for that trader informing them that a new Deferment Account Statement is available to view.</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Traders will be able to Provide Standing authority use their NI DDA so that their customs agent can use the DDA when declaring on their behalf. A trader adding a Standing Authority to an NI DDA must not be able to give authority to a GB EORI, and vice versa. </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b="1" kern="0" dirty="0">
                <a:latin typeface="Calibri  "/>
              </a:rPr>
              <a:t>Please note: </a:t>
            </a:r>
            <a:r>
              <a:rPr lang="en-GB" sz="1400" kern="0" dirty="0">
                <a:solidFill>
                  <a:srgbClr val="000000"/>
                </a:solidFill>
                <a:latin typeface="Calibri  "/>
              </a:rPr>
              <a:t>T</a:t>
            </a:r>
            <a:r>
              <a:rPr lang="en-GB" sz="1400" kern="0" dirty="0">
                <a:solidFill>
                  <a:srgbClr val="000000"/>
                </a:solidFill>
              </a:rPr>
              <a:t>he Finance UI is only available in Production.</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kern="0" dirty="0">
              <a:solidFill>
                <a:srgbClr val="000000"/>
              </a:solidFill>
            </a:endParaRPr>
          </a:p>
          <a:p>
            <a:endParaRPr lang="en-GB" sz="1400" kern="0" dirty="0">
              <a:solidFill>
                <a:srgbClr val="000000"/>
              </a:solidFill>
              <a:highlight>
                <a:srgbClr val="FFFF00"/>
              </a:highlight>
            </a:endParaRPr>
          </a:p>
          <a:p>
            <a:endParaRPr lang="en-GB" sz="1400" b="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236</a:t>
            </a:fld>
            <a:endParaRPr lang="en-GB" dirty="0">
              <a:solidFill>
                <a:schemeClr val="tx1"/>
              </a:solidFill>
            </a:endParaRPr>
          </a:p>
        </p:txBody>
      </p:sp>
    </p:spTree>
    <p:extLst>
      <p:ext uri="{BB962C8B-B14F-4D97-AF65-F5344CB8AC3E}">
        <p14:creationId xmlns:p14="http://schemas.microsoft.com/office/powerpoint/2010/main" val="1752713559"/>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538609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kern="0" dirty="0">
                <a:solidFill>
                  <a:srgbClr val="000000"/>
                </a:solidFill>
              </a:rPr>
              <a:t>Functionality Extended to Include XI EORIs</a:t>
            </a:r>
          </a:p>
          <a:p>
            <a:pPr>
              <a:defRPr sz="1800" b="0" i="0" u="none" strike="noStrike" kern="0" cap="none" spc="0" baseline="0">
                <a:solidFill>
                  <a:srgbClr val="000000"/>
                </a:solidFill>
                <a:uFillTx/>
              </a:defRPr>
            </a:pPr>
            <a:endParaRPr lang="en-GB" sz="1400" kern="0" dirty="0">
              <a:solidFill>
                <a:srgbClr val="000000"/>
              </a:solidFill>
            </a:endParaRPr>
          </a:p>
          <a:p>
            <a:r>
              <a:rPr lang="en-GB" sz="1400" dirty="0"/>
              <a:t>From CDS4.3.0, existing functionality will be extended to ensure that certain actions available to traders will still be available when an XI EORI is used. This functionality is not expected to create a software change, and the information provided is for awareness only.</a:t>
            </a:r>
            <a:r>
              <a:rPr lang="en-GB" sz="1400" b="1" kern="0" dirty="0">
                <a:latin typeface="Calibri  "/>
              </a:rPr>
              <a:t> </a:t>
            </a:r>
            <a:endParaRPr lang="en-GB" sz="1400" dirty="0"/>
          </a:p>
          <a:p>
            <a:endParaRPr lang="en-GB" sz="800" dirty="0"/>
          </a:p>
          <a:p>
            <a:r>
              <a:rPr lang="en-GB" sz="1400" u="sng" dirty="0"/>
              <a:t>Cash Accounts</a:t>
            </a:r>
          </a:p>
          <a:p>
            <a:pPr marL="285750" indent="-285750">
              <a:buFont typeface="Arial" panose="020B0604020202020204" pitchFamily="34" charset="0"/>
              <a:buChar char="•"/>
            </a:pPr>
            <a:r>
              <a:rPr lang="en-GB" sz="1400" dirty="0"/>
              <a:t>Traders will be able </a:t>
            </a:r>
            <a:r>
              <a:rPr lang="en-GB" sz="1400" i="0" dirty="0">
                <a:effectLst/>
              </a:rPr>
              <a:t>to use their cash account across both XI EORI and GB EORI so that they can pay for declarations and have their goods cleared. </a:t>
            </a:r>
            <a:r>
              <a:rPr lang="en-GB" sz="1400" kern="0" dirty="0">
                <a:solidFill>
                  <a:srgbClr val="000000"/>
                </a:solidFill>
              </a:rPr>
              <a:t>Only one cash account is given to the same trader despite them having a NI and a GB EORI.</a:t>
            </a:r>
            <a:endParaRPr lang="en-GB" sz="1400" i="0" dirty="0">
              <a:effectLst/>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When a trader who has both a GB EORI and NI EORI accesses their cash account and visualises their charges declared, they will be able to determine whether any of their charges cleared in their cash account are GB or NI, so that they can distinguish which charges have been made in GB and NI.*</a:t>
            </a:r>
          </a:p>
          <a:p>
            <a:pPr>
              <a:defRPr sz="1800" b="0" i="0" u="none" strike="noStrike" kern="0" cap="none" spc="0" baseline="0">
                <a:solidFill>
                  <a:srgbClr val="000000"/>
                </a:solidFill>
                <a:uFillTx/>
              </a:defRPr>
            </a:pPr>
            <a:r>
              <a:rPr lang="en-GB" sz="1400" b="1" kern="0" dirty="0">
                <a:solidFill>
                  <a:srgbClr val="000000"/>
                </a:solidFill>
              </a:rPr>
              <a:t>Please note: </a:t>
            </a:r>
            <a:r>
              <a:rPr lang="en-GB" sz="1400" kern="0" dirty="0">
                <a:solidFill>
                  <a:srgbClr val="000000"/>
                </a:solidFill>
              </a:rPr>
              <a:t>The declarant EORI must always be populated when the declarant’s EORI is an XI EORI.</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u="sng" kern="0" dirty="0">
                <a:solidFill>
                  <a:srgbClr val="000000"/>
                </a:solidFill>
              </a:rPr>
              <a:t>GGAs</a:t>
            </a:r>
          </a:p>
          <a:p>
            <a:pPr marL="285750" indent="-285750" algn="l">
              <a:buFont typeface="Arial" panose="020B0604020202020204" pitchFamily="34" charset="0"/>
              <a:buChar char="•"/>
            </a:pPr>
            <a:r>
              <a:rPr lang="en-GB" sz="1400" dirty="0"/>
              <a:t>T</a:t>
            </a:r>
            <a:r>
              <a:rPr lang="en-GB" sz="1400" i="0" dirty="0">
                <a:effectLst/>
              </a:rPr>
              <a:t>raders will be able to use GGA across both XI EORI and GB EORI, so that they can use GGA as a method of payment in their declarations in NI and GB.</a:t>
            </a:r>
            <a:endParaRPr lang="en-GB" sz="1400" u="sng" dirty="0"/>
          </a:p>
          <a:p>
            <a:pPr marL="285750" indent="-285750" algn="l">
              <a:buFont typeface="Arial" panose="020B0604020202020204" pitchFamily="34" charset="0"/>
              <a:buChar char="•"/>
            </a:pPr>
            <a:r>
              <a:rPr lang="en-GB" sz="1400" i="0" dirty="0">
                <a:effectLst/>
              </a:rPr>
              <a:t>Traders will be able to make transactions in both GB and NI</a:t>
            </a:r>
            <a:r>
              <a:rPr lang="en-GB" sz="1400" dirty="0"/>
              <a:t> and </a:t>
            </a:r>
            <a:r>
              <a:rPr lang="en-GB" sz="1400" i="0" dirty="0">
                <a:effectLst/>
              </a:rPr>
              <a:t>be able to determine whether any of their charges in their GGA are GB or NI, so that they can distinguish which charges have been made in GB and NI.* </a:t>
            </a:r>
          </a:p>
          <a:p>
            <a:pPr algn="l"/>
            <a:endParaRPr lang="en-GB" sz="1400" i="0" dirty="0">
              <a:effectLst/>
            </a:endParaRPr>
          </a:p>
          <a:p>
            <a:pPr algn="l"/>
            <a:r>
              <a:rPr lang="en-GB" sz="1400" u="sng" dirty="0"/>
              <a:t>Immediate Payments</a:t>
            </a:r>
            <a:endParaRPr lang="en-GB" sz="1400" i="0" u="sng" dirty="0">
              <a:effectLst/>
            </a:endParaRPr>
          </a:p>
          <a:p>
            <a:pPr marL="285750" indent="-285750">
              <a:buFont typeface="Arial" panose="020B0604020202020204" pitchFamily="34" charset="0"/>
              <a:buChar char="•"/>
            </a:pPr>
            <a:r>
              <a:rPr lang="en-GB" sz="1400" kern="0" dirty="0">
                <a:solidFill>
                  <a:srgbClr val="000000"/>
                </a:solidFill>
              </a:rPr>
              <a:t>From CDS4.3.0, traders will be able to use immediate payment types:</a:t>
            </a:r>
            <a:r>
              <a:rPr lang="en-GB" sz="1400" i="1" kern="0" dirty="0">
                <a:solidFill>
                  <a:srgbClr val="000000"/>
                </a:solidFill>
              </a:rPr>
              <a:t> individual guarantee </a:t>
            </a:r>
            <a:r>
              <a:rPr lang="en-GB" sz="1400" kern="0" dirty="0">
                <a:solidFill>
                  <a:srgbClr val="000000"/>
                </a:solidFill>
              </a:rPr>
              <a:t>and </a:t>
            </a:r>
            <a:r>
              <a:rPr lang="en-GB" sz="1400" i="1" kern="0" dirty="0">
                <a:solidFill>
                  <a:srgbClr val="000000"/>
                </a:solidFill>
              </a:rPr>
              <a:t>cash, bank transfer, card or cheque </a:t>
            </a:r>
            <a:r>
              <a:rPr lang="en-GB" sz="1400" kern="0" dirty="0">
                <a:solidFill>
                  <a:srgbClr val="000000"/>
                </a:solidFill>
              </a:rPr>
              <a:t>on NI Declarations regardless of whether an XI or GB EORI is used, making this possible on all transaction types (NI and GB) and with all EORI types.</a:t>
            </a:r>
          </a:p>
          <a:p>
            <a:pPr algn="l"/>
            <a:endParaRPr lang="en-GB" sz="800" i="0" dirty="0">
              <a:effectLst/>
            </a:endParaRPr>
          </a:p>
          <a:p>
            <a:r>
              <a:rPr lang="en-GB" sz="1400" kern="0" dirty="0">
                <a:latin typeface="Calibri  "/>
              </a:rPr>
              <a:t>*</a:t>
            </a:r>
            <a:r>
              <a:rPr lang="en-GB" sz="1400" b="1" kern="0" dirty="0">
                <a:latin typeface="Calibri  "/>
              </a:rPr>
              <a:t>Please note: </a:t>
            </a:r>
            <a:r>
              <a:rPr lang="en-GB" sz="1400" kern="0" dirty="0">
                <a:solidFill>
                  <a:srgbClr val="000000"/>
                </a:solidFill>
                <a:latin typeface="Calibri  "/>
              </a:rPr>
              <a:t>T</a:t>
            </a:r>
            <a:r>
              <a:rPr lang="en-GB" sz="1400" kern="0" dirty="0">
                <a:solidFill>
                  <a:srgbClr val="000000"/>
                </a:solidFill>
              </a:rPr>
              <a:t>he Finance UI is only available in Production.</a:t>
            </a:r>
          </a:p>
          <a:p>
            <a:endParaRPr lang="en-GB" sz="1400" kern="0" dirty="0">
              <a:solidFill>
                <a:srgbClr val="000000"/>
              </a:solidFill>
              <a:highlight>
                <a:srgbClr val="FFFF00"/>
              </a:highlight>
            </a:endParaRPr>
          </a:p>
          <a:p>
            <a:endParaRPr lang="en-GB" sz="1400" kern="0" dirty="0">
              <a:solidFill>
                <a:srgbClr val="000000"/>
              </a:solidFill>
              <a:highlight>
                <a:srgbClr val="FFFF00"/>
              </a:highlight>
            </a:endParaRPr>
          </a:p>
          <a:p>
            <a:endParaRPr lang="en-GB" sz="1400" b="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1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237</a:t>
            </a:fld>
            <a:endParaRPr lang="en-GB" dirty="0">
              <a:solidFill>
                <a:schemeClr val="tx1"/>
              </a:solidFill>
            </a:endParaRPr>
          </a:p>
        </p:txBody>
      </p:sp>
    </p:spTree>
    <p:extLst>
      <p:ext uri="{BB962C8B-B14F-4D97-AF65-F5344CB8AC3E}">
        <p14:creationId xmlns:p14="http://schemas.microsoft.com/office/powerpoint/2010/main" val="627039137"/>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616648"/>
          </a:xfrm>
          <a:prstGeom prst="rect">
            <a:avLst/>
          </a:prstGeom>
          <a:noFill/>
          <a:ln cap="flat">
            <a:noFill/>
            <a:prstDash val="solid"/>
          </a:ln>
        </p:spPr>
        <p:txBody>
          <a:bodyPr vert="horz" wrap="square" lIns="91440" tIns="45720" rIns="91440" bIns="45720" anchor="t" anchorCtr="0" compatLnSpc="1">
            <a:spAutoFit/>
          </a:bodyPr>
          <a:lstStyle/>
          <a:p>
            <a:pPr algn="l"/>
            <a:r>
              <a:rPr lang="en-GB" sz="1400" u="sng" dirty="0"/>
              <a:t>S</a:t>
            </a:r>
            <a:r>
              <a:rPr lang="en-GB" sz="1400" i="0" u="sng" dirty="0">
                <a:effectLst/>
              </a:rPr>
              <a:t>tanding </a:t>
            </a:r>
            <a:r>
              <a:rPr lang="en-GB" sz="1400" u="sng" dirty="0"/>
              <a:t>A</a:t>
            </a:r>
            <a:r>
              <a:rPr lang="en-GB" sz="1400" i="0" u="sng" dirty="0">
                <a:effectLst/>
              </a:rPr>
              <a:t>uthority - GGAs, Cash </a:t>
            </a:r>
            <a:r>
              <a:rPr lang="en-GB" sz="1400" u="sng" dirty="0"/>
              <a:t>A</a:t>
            </a:r>
            <a:r>
              <a:rPr lang="en-GB" sz="1400" i="0" u="sng" dirty="0">
                <a:effectLst/>
              </a:rPr>
              <a:t>ccounts</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A trader can give authority over their cash account or guarantee account to another agent, so that this other agent can perform a series of actions on behalf of the trader that owns the account.</a:t>
            </a:r>
          </a:p>
          <a:p>
            <a:pPr>
              <a:defRPr sz="1800" b="0" i="0" u="none" strike="noStrike" kern="0" cap="none" spc="0" baseline="0">
                <a:solidFill>
                  <a:srgbClr val="000000"/>
                </a:solidFill>
                <a:uFillTx/>
              </a:defRPr>
            </a:pPr>
            <a:endParaRPr lang="en-GB" sz="1400" b="1" u="sng" dirty="0"/>
          </a:p>
          <a:p>
            <a:pPr>
              <a:defRPr sz="1800" b="0" i="0" u="none" strike="noStrike" kern="0" cap="none" spc="0" baseline="0">
                <a:solidFill>
                  <a:srgbClr val="000000"/>
                </a:solidFill>
                <a:uFillTx/>
              </a:defRPr>
            </a:pPr>
            <a:r>
              <a:rPr lang="en-GB" sz="1400" kern="0" dirty="0">
                <a:solidFill>
                  <a:srgbClr val="000000"/>
                </a:solidFill>
              </a:rPr>
              <a:t>From CDS4.3.0, traders will be able to:</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Manage authorities in their cash account so that they can give authority to use their cash account to their agent’s XI EORI or GB EORI, based on whether that agent will be submitting declarations into GB or NI. If the recipient of the standing authority has another EORI, that second EORI will not automatically be given authority to use the account.</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Manage authorities in their GGA so that they can give authority to use their GGA to their agent’s XI EORI or GB EORI, based on whether that agent will be submitting declarations into GB or NI.</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An agent who has been granted authority either EORI (XI or GB) over a trader's account (or multiple accounts) will be able to search for which accounts (GGA, NI DDA or GB DDA and cash account) they have been granted access to by searching for trader's account ID or trader's EORI (XI or GB) number. Agents will also be able to obtain a list of all the accounts over which they have standing authority with.</a:t>
            </a:r>
          </a:p>
          <a:p>
            <a:pPr algn="l"/>
            <a:endParaRPr lang="en-GB" sz="1400" kern="0" dirty="0">
              <a:solidFill>
                <a:srgbClr val="000000"/>
              </a:solidFill>
            </a:endParaRPr>
          </a:p>
          <a:p>
            <a:pPr algn="l"/>
            <a:r>
              <a:rPr lang="en-GB" sz="1400" b="1" kern="0" dirty="0">
                <a:solidFill>
                  <a:srgbClr val="000000"/>
                </a:solidFill>
              </a:rPr>
              <a:t>Please note</a:t>
            </a:r>
            <a:r>
              <a:rPr lang="en-GB" sz="1400" kern="0" dirty="0">
                <a:solidFill>
                  <a:srgbClr val="000000"/>
                </a:solidFill>
              </a:rPr>
              <a:t>: Following the introduction of XI EORIs, traders will need to set up another authority for agents; existing authorities will not automatically be carried across to XI EORIs.</a:t>
            </a:r>
          </a:p>
          <a:p>
            <a:pPr algn="l"/>
            <a:endParaRPr lang="en-GB" sz="1400" kern="0" dirty="0">
              <a:solidFill>
                <a:srgbClr val="000000"/>
              </a:solidFill>
            </a:endParaRPr>
          </a:p>
          <a:p>
            <a:r>
              <a:rPr lang="en-GB" sz="1400" b="1" kern="0" dirty="0">
                <a:latin typeface="Calibri  "/>
              </a:rPr>
              <a:t>Please note: </a:t>
            </a:r>
            <a:r>
              <a:rPr lang="en-GB" sz="1400" kern="0" dirty="0">
                <a:solidFill>
                  <a:srgbClr val="000000"/>
                </a:solidFill>
                <a:latin typeface="Calibri  "/>
              </a:rPr>
              <a:t>T</a:t>
            </a:r>
            <a:r>
              <a:rPr lang="en-GB" sz="1400" kern="0" dirty="0">
                <a:solidFill>
                  <a:srgbClr val="000000"/>
                </a:solidFill>
              </a:rPr>
              <a:t>he Finance UI is only available in Production.</a:t>
            </a:r>
          </a:p>
          <a:p>
            <a:pPr algn="l"/>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238</a:t>
            </a:fld>
            <a:endParaRPr lang="en-GB" dirty="0">
              <a:solidFill>
                <a:schemeClr val="tx1"/>
              </a:solidFill>
            </a:endParaRPr>
          </a:p>
        </p:txBody>
      </p:sp>
    </p:spTree>
    <p:extLst>
      <p:ext uri="{BB962C8B-B14F-4D97-AF65-F5344CB8AC3E}">
        <p14:creationId xmlns:p14="http://schemas.microsoft.com/office/powerpoint/2010/main" val="1080151762"/>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86287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kern="0" dirty="0"/>
              <a:t>From CDS4.3.0, functionality relating to the submission of export messages will be extended to include XI EORIs.</a:t>
            </a:r>
          </a:p>
          <a:p>
            <a:pPr>
              <a:defRPr sz="1800" b="0" i="0" u="none" strike="noStrike" kern="0" cap="none" spc="0" baseline="0">
                <a:solidFill>
                  <a:srgbClr val="000000"/>
                </a:solidFill>
                <a:uFillTx/>
              </a:defRPr>
            </a:pPr>
            <a:endParaRPr lang="en-GB" sz="800" u="sng" kern="0" dirty="0"/>
          </a:p>
          <a:p>
            <a:pPr>
              <a:defRPr sz="1800" b="0" i="0" u="none" strike="noStrike" kern="0" cap="none" spc="0" baseline="0">
                <a:solidFill>
                  <a:srgbClr val="000000"/>
                </a:solidFill>
                <a:uFillTx/>
              </a:defRPr>
            </a:pPr>
            <a:r>
              <a:rPr lang="en-GB" sz="1400" u="sng" kern="0" dirty="0"/>
              <a:t>Consolidation Messages</a:t>
            </a:r>
          </a:p>
          <a:p>
            <a:pPr>
              <a:defRPr sz="1800" b="0" i="0" u="none" strike="noStrike" kern="0" cap="none" spc="0" baseline="0">
                <a:solidFill>
                  <a:srgbClr val="000000"/>
                </a:solidFill>
                <a:uFillTx/>
              </a:defRPr>
            </a:pPr>
            <a:r>
              <a:rPr lang="en-GB" sz="1400" dirty="0"/>
              <a:t>Consolidation messages, such as </a:t>
            </a:r>
            <a:r>
              <a:rPr lang="en-GB" sz="1400" i="0" dirty="0">
                <a:effectLst/>
              </a:rPr>
              <a:t>Consolidation Shut Transactions</a:t>
            </a:r>
            <a:r>
              <a:rPr lang="en-GB" sz="1400" dirty="0"/>
              <a:t> (CSTs) and </a:t>
            </a:r>
            <a:r>
              <a:rPr lang="en-GB" sz="1400" i="0" dirty="0">
                <a:effectLst/>
              </a:rPr>
              <a:t>Export Associate Consignments (</a:t>
            </a:r>
            <a:r>
              <a:rPr lang="en-GB" sz="1400" dirty="0"/>
              <a:t>EACs), facilitate trade for Consolidators by allowing them to move multiple declarations (UCRs) under one Master UCR (MUCR). </a:t>
            </a:r>
          </a:p>
          <a:p>
            <a:pPr>
              <a:defRPr sz="1800" b="0" i="0" u="none" strike="noStrike" kern="0" cap="none" spc="0" baseline="0">
                <a:solidFill>
                  <a:srgbClr val="000000"/>
                </a:solidFill>
                <a:uFillTx/>
              </a:defRPr>
            </a:pPr>
            <a:r>
              <a:rPr lang="en-GB" sz="1400" i="0" dirty="0">
                <a:effectLst/>
              </a:rPr>
              <a:t>From CDS4.3.0, </a:t>
            </a:r>
            <a:r>
              <a:rPr lang="en-GB" sz="1400" dirty="0"/>
              <a:t>p</a:t>
            </a:r>
            <a:r>
              <a:rPr lang="en-GB" sz="1400" i="0" dirty="0">
                <a:effectLst/>
              </a:rPr>
              <a:t>ermitted consolidators will be able to successfully submit a CST and an EAC message when they are identified by an XI EORI.</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i="0" u="sng" dirty="0">
                <a:effectLst/>
              </a:rPr>
              <a:t>Anticipated and Arrival Messages</a:t>
            </a:r>
          </a:p>
          <a:p>
            <a:pPr>
              <a:defRPr sz="1800" b="0" i="0" u="none" strike="noStrike" kern="0" cap="none" spc="0" baseline="0">
                <a:solidFill>
                  <a:srgbClr val="000000"/>
                </a:solidFill>
                <a:uFillTx/>
              </a:defRPr>
            </a:pPr>
            <a:r>
              <a:rPr lang="en-GB" sz="1400" kern="0" dirty="0"/>
              <a:t>Movement messages are defined as the movement of goods to the Office of Export, through to the Office of Exit, and any warehouse/shed in between. CSPs will notify HMRC of these movements through Exports Arrival at Location (EAL), Exports Anticipated Arrival (EAA), and Export Departure Location (EDL) messages. As the declaration goes through its lifecycle, the relevant data will notify CSPs whether goods can be progressed to departure, or if they need to be controlled for. </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kern="0" dirty="0"/>
              <a:t>Authorised parties (in this case those with the Loader Role, or an authorised EEA submitter) will be able to submit an EAA or EAL message when identified with an XI EORI. This does not bypass the need for the submitter ID to hold the appropriate permission to arrive goods at a specific location, nor does it bypass any other scenarios, unrelated to the format of the submitter field, which would lead to the EEA/EAL being unsuccessful.</a:t>
            </a: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u="sng" kern="0" dirty="0"/>
              <a:t>Departure Messages</a:t>
            </a:r>
            <a:endParaRPr lang="en-GB" sz="1400" i="0" u="sng" dirty="0">
              <a:effectLst/>
            </a:endParaRPr>
          </a:p>
          <a:p>
            <a:pPr>
              <a:defRPr sz="1800" b="0" i="0" u="none" strike="noStrike" kern="0" cap="none" spc="0" baseline="0">
                <a:solidFill>
                  <a:srgbClr val="000000"/>
                </a:solidFill>
                <a:uFillTx/>
              </a:defRPr>
            </a:pPr>
            <a:r>
              <a:rPr lang="en-GB" sz="1400" kern="0" dirty="0">
                <a:solidFill>
                  <a:srgbClr val="000000"/>
                </a:solidFill>
              </a:rPr>
              <a:t>Authorised parties (in this case those with the Loader Role) will be able to identify themselves with an XI EORI when submitting an Export Departure Location (EDL) message at a specified location.</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239</a:t>
            </a:fld>
            <a:endParaRPr lang="en-GB" dirty="0">
              <a:solidFill>
                <a:schemeClr val="tx1"/>
              </a:solidFill>
            </a:endParaRPr>
          </a:p>
        </p:txBody>
      </p:sp>
    </p:spTree>
    <p:extLst>
      <p:ext uri="{BB962C8B-B14F-4D97-AF65-F5344CB8AC3E}">
        <p14:creationId xmlns:p14="http://schemas.microsoft.com/office/powerpoint/2010/main" val="1702199894"/>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832092"/>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XI EORI Post-Clearance Finance: Create and Process Cases with an XI EORI</a:t>
            </a:r>
          </a:p>
          <a:p>
            <a:pPr>
              <a:defRPr sz="1800" b="0" i="0" u="none" strike="noStrike" kern="0" cap="none" spc="0" baseline="0">
                <a:solidFill>
                  <a:srgbClr val="000000"/>
                </a:solidFill>
                <a:uFillTx/>
              </a:defRPr>
            </a:pPr>
            <a:endParaRPr lang="en-GB" sz="1400" b="1" u="sng" dirty="0"/>
          </a:p>
          <a:p>
            <a:pPr>
              <a:defRPr sz="1800" b="0" i="0" u="none" strike="noStrike" kern="0" cap="none" spc="0" baseline="0">
                <a:solidFill>
                  <a:srgbClr val="000000"/>
                </a:solidFill>
                <a:uFillTx/>
              </a:defRPr>
            </a:pPr>
            <a:r>
              <a:rPr lang="en-GB" sz="1400" u="sng" dirty="0"/>
              <a:t>Digital Application </a:t>
            </a:r>
          </a:p>
          <a:p>
            <a:pPr>
              <a:defRPr sz="1800" b="0" i="0" u="none" strike="noStrike" kern="0" cap="none" spc="0" baseline="0">
                <a:solidFill>
                  <a:srgbClr val="000000"/>
                </a:solidFill>
                <a:uFillTx/>
              </a:defRPr>
            </a:pPr>
            <a:endParaRPr lang="en-GB" sz="1400" i="0" dirty="0">
              <a:effectLst/>
            </a:endParaRPr>
          </a:p>
          <a:p>
            <a:pPr>
              <a:defRPr sz="1800" b="0" i="0" u="none" strike="noStrike" kern="0" cap="none" spc="0" baseline="0">
                <a:solidFill>
                  <a:srgbClr val="000000"/>
                </a:solidFill>
                <a:uFillTx/>
              </a:defRPr>
            </a:pPr>
            <a:r>
              <a:rPr lang="en-GB" sz="1400" kern="0" dirty="0"/>
              <a:t>From CDS4.3.0, traders may submit digital applications for reimbursement with non-GB EORIs so that digital applications for post-clearance finance can be used on NI Declarations in addition to GB Declarations.</a:t>
            </a:r>
            <a:endParaRPr lang="en-GB" sz="1400" kern="0" dirty="0">
              <a:ea typeface="Calibri"/>
              <a:cs typeface="Calibri"/>
            </a:endParaRPr>
          </a:p>
          <a:p>
            <a:pP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1" kern="0" dirty="0"/>
              <a:t>Acceptance Criteria:</a:t>
            </a:r>
          </a:p>
          <a:p>
            <a:pPr>
              <a:defRPr sz="1800" b="0" i="0" u="none" strike="noStrike" kern="0" cap="none" spc="0" baseline="0">
                <a:solidFill>
                  <a:srgbClr val="000000"/>
                </a:solidFill>
                <a:uFillTx/>
              </a:defRPr>
            </a:pPr>
            <a:r>
              <a:rPr lang="en-GB" sz="1400" kern="0" dirty="0"/>
              <a:t>Where a trader requests to view their reimbursement claim information, they will be able to see any outstanding or recently closed reimbursement cases even where the case is a non-GB EORI, so long as:</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The EORI belongs to the logged in trader, who must be one of the following parties:</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dirty="0"/>
              <a:t>The trader who submitted the claim;</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dirty="0"/>
              <a:t>The importer (D.E. 3/16) on the declaration(s) that is/are the subject of the claim;</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dirty="0"/>
              <a:t>The declarant (D.E. 3/18) on the declaration(s) that is/are the subject of the claim.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Where a trader is submitting a Digital Application for repayment, and the MRN provided has a non-GB EORI associated to it as Importer or Declarant, and that non-GB EORI belongs to the applicant trader, the trader will continue to see pre-population behaviour where possible.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t>Where a trader has provided a valid MRN when submitting a claim for a refund of security via a digital channel, the trader’s EORI will be matched to any EORI(s) declared in D.E.(s) 3/16 or 3/20 even where the declared EORI(s) are non-GB EORI(s), so long as the EORI belongs to the logged in trader.</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kern="0" dirty="0"/>
          </a:p>
          <a:p>
            <a:pPr>
              <a:defRPr sz="1800" b="0" i="0" u="none" strike="noStrike" kern="0" cap="none" spc="0" baseline="0">
                <a:solidFill>
                  <a:srgbClr val="000000"/>
                </a:solidFill>
                <a:uFillTx/>
              </a:defRPr>
            </a:pPr>
            <a:r>
              <a:rPr lang="en-GB" sz="1400" b="1" kern="0" dirty="0"/>
              <a:t>Please note: </a:t>
            </a:r>
            <a:r>
              <a:rPr lang="en-GB" sz="1400" dirty="0"/>
              <a:t>This functionality is not expected to create a software change, and the information provided is for awareness only.</a:t>
            </a:r>
            <a:r>
              <a:rPr lang="en-GB" sz="1400" b="1" kern="0" dirty="0">
                <a:latin typeface="Calibri  "/>
              </a:rPr>
              <a:t> </a:t>
            </a:r>
            <a:r>
              <a:rPr lang="en-GB" sz="1400" kern="0" dirty="0">
                <a:latin typeface="Calibri  "/>
              </a:rPr>
              <a:t>This functionality is only available in Production.</a:t>
            </a:r>
            <a:endParaRPr lang="en-GB" sz="1400" b="1" kern="0" dirty="0"/>
          </a:p>
          <a:p>
            <a:pPr>
              <a:defRPr sz="1800" b="0" i="0" u="none" strike="noStrike" kern="0" cap="none" spc="0" baseline="0">
                <a:solidFill>
                  <a:srgbClr val="000000"/>
                </a:solidFill>
                <a:uFillTx/>
              </a:defRPr>
            </a:pPr>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240</a:t>
            </a:fld>
            <a:endParaRPr lang="en-GB" dirty="0">
              <a:solidFill>
                <a:schemeClr val="tx1"/>
              </a:solidFill>
            </a:endParaRPr>
          </a:p>
        </p:txBody>
      </p:sp>
    </p:spTree>
    <p:extLst>
      <p:ext uri="{BB962C8B-B14F-4D97-AF65-F5344CB8AC3E}">
        <p14:creationId xmlns:p14="http://schemas.microsoft.com/office/powerpoint/2010/main" val="275996522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246221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u="sng" kern="0" dirty="0">
                <a:solidFill>
                  <a:srgbClr val="000000"/>
                </a:solidFill>
              </a:rPr>
              <a:t>Security Statements</a:t>
            </a:r>
          </a:p>
          <a:p>
            <a:pPr>
              <a:defRPr sz="1800" b="0" i="0" u="none" strike="noStrike" kern="0" cap="none" spc="0" baseline="0">
                <a:solidFill>
                  <a:srgbClr val="000000"/>
                </a:solidFill>
                <a:uFillTx/>
              </a:defRPr>
            </a:pPr>
            <a:endParaRPr lang="en-GB" sz="1400" b="1" u="sng"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CDS currently generates a single Notification of Adjustment to Security Statement to notify customers of activity against a security deposit held on the system. The introduction of XI EORIs to CDS means that GB traders operating in NI will now have two separate EORIs to identify themselves with, dependent on if the declaration is GB or NI. </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Where a trader has both a GB and an XI EORI, CDS will generate a single Notification of Adjustment to Security Statement, with all Securities and Adjustments information across both their GB EORI and their XI EORI. </a:t>
            </a:r>
          </a:p>
          <a:p>
            <a:endParaRPr lang="en-GB" sz="1400" b="1" u="sng" dirty="0"/>
          </a:p>
          <a:p>
            <a:r>
              <a:rPr lang="en-GB" sz="1400" b="1" dirty="0"/>
              <a:t>Please note</a:t>
            </a:r>
            <a:r>
              <a:rPr lang="en-GB" sz="1400" dirty="0"/>
              <a:t>: This functionality is only available in Production.</a:t>
            </a:r>
          </a:p>
          <a:p>
            <a:pPr algn="l"/>
            <a:endParaRPr lang="en-GB" sz="1400" dirty="0"/>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241</a:t>
            </a:fld>
            <a:endParaRPr lang="en-GB" dirty="0">
              <a:solidFill>
                <a:schemeClr val="tx1"/>
              </a:solidFill>
            </a:endParaRPr>
          </a:p>
        </p:txBody>
      </p:sp>
    </p:spTree>
    <p:extLst>
      <p:ext uri="{BB962C8B-B14F-4D97-AF65-F5344CB8AC3E}">
        <p14:creationId xmlns:p14="http://schemas.microsoft.com/office/powerpoint/2010/main" val="4255792383"/>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748712"/>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dirty="0"/>
                        <a:t>TTM24.0 (</a:t>
                      </a:r>
                      <a:r>
                        <a:rPr lang="en-GB" sz="1200"/>
                        <a:t>CDS 4.2.0)</a:t>
                      </a:r>
                      <a:endParaRPr lang="en-GB" sz="1200" dirty="0"/>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September (TBC)</a:t>
                      </a:r>
                      <a:r>
                        <a:rPr lang="en-GB" sz="1200" b="0" dirty="0">
                          <a:solidFill>
                            <a:srgbClr val="000000"/>
                          </a:solidFill>
                        </a:rPr>
                        <a:t>   </a:t>
                      </a:r>
                      <a:r>
                        <a:rPr lang="en-GB" sz="1200" b="1" dirty="0">
                          <a:solidFill>
                            <a:srgbClr val="000000"/>
                          </a:solidFill>
                        </a:rPr>
                        <a:t>TDR: September (TBC)  </a:t>
                      </a:r>
                      <a:r>
                        <a:rPr lang="en-GB" sz="1200" b="0" dirty="0">
                          <a:solidFill>
                            <a:srgbClr val="000000"/>
                          </a:solidFill>
                        </a:rPr>
                        <a:t> </a:t>
                      </a:r>
                      <a:r>
                        <a:rPr lang="en-GB" sz="1200" b="1" dirty="0">
                          <a:solidFill>
                            <a:srgbClr val="000000"/>
                          </a:solidFill>
                        </a:rPr>
                        <a:t>Live: September (TBC) </a:t>
                      </a:r>
                      <a:endParaRPr lang="en-GB" sz="1200" b="0" dirty="0">
                        <a:solidFill>
                          <a:srgbClr val="000000"/>
                        </a:solidFill>
                      </a:endParaRP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648391"/>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51647" y="4321262"/>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kern="1200" dirty="0">
                          <a:solidFill>
                            <a:srgbClr val="000000"/>
                          </a:solidFill>
                          <a:latin typeface="+mn-lt"/>
                          <a:hlinkClick r:id="rId3" action="ppaction://hlinksldjump"/>
                        </a:rPr>
                        <a:t>CR170 Split Shipment ERS Responses</a:t>
                      </a:r>
                      <a:endParaRPr lang="en-GB" sz="1200" b="0" i="0" u="sng"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Font typeface="Arial" pitchFamily="34"/>
                        <a:buNone/>
                        <a:tabLst/>
                        <a:defRPr/>
                      </a:pPr>
                      <a:r>
                        <a:rPr lang="en-GB" sz="1200" b="0" i="0" u="none" strike="noStrike" kern="1200" cap="none" spc="0" baseline="0" dirty="0">
                          <a:solidFill>
                            <a:srgbClr val="000000"/>
                          </a:solidFill>
                          <a:uFillTx/>
                          <a:latin typeface="+mn-lt"/>
                        </a:rPr>
                        <a:t>      </a:t>
                      </a:r>
                      <a:r>
                        <a:rPr lang="en-GB" sz="1200" b="0" u="none" dirty="0">
                          <a:solidFill>
                            <a:srgbClr val="000000"/>
                          </a:solidFill>
                          <a:latin typeface="+mn-lt"/>
                          <a:hlinkClick r:id="rId4" action="ppaction://hlinksldjump"/>
                        </a:rPr>
                        <a:t>Meursing Duty Calculation for NI at Risk Imports</a:t>
                      </a:r>
                      <a:endParaRPr lang="en-GB" sz="1200" b="0" i="0" u="none"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fontAlgn="auto" hangingPunct="1">
                        <a:lnSpc>
                          <a:spcPct val="100000"/>
                        </a:lnSpc>
                        <a:spcBef>
                          <a:spcPts val="0"/>
                        </a:spcBef>
                        <a:spcAft>
                          <a:spcPts val="0"/>
                        </a:spcAft>
                        <a:buSzPct val="100000"/>
                        <a:buFont typeface="Arial" pitchFamily="34"/>
                        <a:buNone/>
                      </a:pPr>
                      <a:r>
                        <a:rPr lang="en-GB" sz="1200" b="0" u="none" dirty="0">
                          <a:solidFill>
                            <a:srgbClr val="000000"/>
                          </a:solidFill>
                          <a:latin typeface="+mn-lt"/>
                          <a:hlinkClick r:id="rId4" action="ppaction://hlinksldjump"/>
                        </a:rPr>
                        <a:t> </a:t>
                      </a:r>
                      <a:endParaRPr lang="en-GB" sz="1200" b="0" u="non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endParaRPr lang="en-GB" sz="1200" b="0" i="0" u="sng" strike="noStrike">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6264A7"/>
                </a:solidFill>
                <a:effectLst/>
                <a:uLnTx/>
                <a:uFillTx/>
                <a:latin typeface="Calibri" panose="020F0502020204030204"/>
                <a:ea typeface="+mn-ea"/>
                <a:cs typeface="+mn-cs"/>
                <a:hlinkClick r:id="rId5"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hlinkClick r:id="rId6"/>
              </a:rPr>
              <a:t>SDSTeam@hmrc.gov.uk</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a:t>
            </a:r>
          </a:p>
        </p:txBody>
      </p:sp>
      <p:sp>
        <p:nvSpPr>
          <p:cNvPr id="28" name="Oval 16">
            <a:extLst>
              <a:ext uri="{FF2B5EF4-FFF2-40B4-BE49-F238E27FC236}">
                <a16:creationId xmlns:a16="http://schemas.microsoft.com/office/drawing/2014/main" id="{F2743D23-87A9-4EC3-B431-F0BCFA2A490C}"/>
              </a:ext>
            </a:extLst>
          </p:cNvPr>
          <p:cNvSpPr/>
          <p:nvPr/>
        </p:nvSpPr>
        <p:spPr>
          <a:xfrm>
            <a:off x="595023" y="438435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242</a:t>
            </a:fld>
            <a:endParaRPr lang="en-GB">
              <a:solidFill>
                <a:schemeClr val="tx1"/>
              </a:solidFill>
            </a:endParaRPr>
          </a:p>
        </p:txBody>
      </p:sp>
      <p:sp>
        <p:nvSpPr>
          <p:cNvPr id="26" name="Oval 16">
            <a:extLst>
              <a:ext uri="{FF2B5EF4-FFF2-40B4-BE49-F238E27FC236}">
                <a16:creationId xmlns:a16="http://schemas.microsoft.com/office/drawing/2014/main" id="{A64687E6-E45F-4F80-9EB3-98354B007F56}"/>
              </a:ext>
            </a:extLst>
          </p:cNvPr>
          <p:cNvSpPr/>
          <p:nvPr/>
        </p:nvSpPr>
        <p:spPr>
          <a:xfrm>
            <a:off x="3219231" y="439582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861316472"/>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5204951"/>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CR170 Split Shipment ERS Responses</a:t>
            </a:r>
            <a:endParaRPr kumimoji="0" lang="en-GB" sz="1400" b="1" i="0" u="sng" strike="noStrike" kern="1200" cap="none" spc="0" normalizeH="0" baseline="0" noProof="0" dirty="0">
              <a:ln>
                <a:noFill/>
              </a:ln>
              <a:effectLst/>
              <a:uLnTx/>
              <a:uFillTx/>
              <a:ea typeface="+mn-ea"/>
              <a:cs typeface="+mn-cs"/>
            </a:endParaRPr>
          </a:p>
          <a:p>
            <a:pPr>
              <a:defRPr sz="1800" b="0" i="0" u="none" strike="noStrike" kern="0" cap="none" spc="0" baseline="0">
                <a:solidFill>
                  <a:srgbClr val="000000"/>
                </a:solidFill>
                <a:uFillTx/>
              </a:defRPr>
            </a:pPr>
            <a:r>
              <a:rPr lang="en-GB" sz="1400" dirty="0"/>
              <a:t>The aim of this functionality is </a:t>
            </a:r>
            <a:r>
              <a:rPr lang="en-GB" sz="1400" i="0" dirty="0">
                <a:effectLst/>
              </a:rPr>
              <a:t>to communicate a simulated status for a DUCR to the CSP via ERS in response to the movement message received so that CSPs have a view of the status for the DUCR which has been arrived in a split shipment.</a:t>
            </a:r>
          </a:p>
          <a:p>
            <a:pPr>
              <a:defRPr sz="1800" b="0" i="0" u="none" strike="noStrike" kern="0" cap="none" spc="0" baseline="0">
                <a:solidFill>
                  <a:srgbClr val="000000"/>
                </a:solidFill>
                <a:uFillTx/>
              </a:defRPr>
            </a:pPr>
            <a:endParaRPr kumimoji="0" lang="en-GB" sz="1400" i="0" u="none" strike="noStrike" kern="0" cap="none" spc="0" normalizeH="0" baseline="0" noProof="0" dirty="0">
              <a:ln>
                <a:noFill/>
              </a:ln>
              <a:effectLst/>
              <a:uLnTx/>
              <a:uFillTx/>
              <a:ea typeface="Times New Roman" pitchFamily="18"/>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i="0" strike="noStrike" kern="1200" cap="none" spc="0" normalizeH="0" baseline="0" noProof="0" dirty="0">
                <a:ln>
                  <a:noFill/>
                </a:ln>
                <a:effectLst/>
                <a:uLnTx/>
                <a:uFillTx/>
                <a:ea typeface="Times New Roman" pitchFamily="18"/>
                <a:cs typeface="Calibri"/>
              </a:rPr>
              <a:t>Pre Requisite Requirements</a:t>
            </a:r>
            <a:r>
              <a:rPr lang="en-GB" sz="1400" kern="0" dirty="0">
                <a:ea typeface="Times New Roman" pitchFamily="18"/>
                <a:cs typeface="Calibri"/>
              </a:rPr>
              <a:t>:</a:t>
            </a:r>
            <a:endParaRPr kumimoji="0" lang="en-GB" sz="1400" i="0" strike="noStrike" kern="1200" cap="none" spc="0" normalizeH="0" baseline="0" noProof="0" dirty="0">
              <a:ln>
                <a:noFill/>
              </a:ln>
              <a:effectLst/>
              <a:uLnTx/>
              <a:uFillTx/>
              <a:ea typeface="Times New Roman" pitchFamily="18"/>
              <a:cs typeface="Calibri"/>
            </a:endParaRPr>
          </a:p>
          <a:p>
            <a:pPr marL="171450" marR="0" lvl="0" indent="-17145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sz="1800" b="0" i="0" u="none" strike="noStrike" kern="0" cap="none" spc="0" baseline="0">
                <a:solidFill>
                  <a:srgbClr val="000000"/>
                </a:solidFill>
                <a:uFillTx/>
              </a:defRPr>
            </a:pPr>
            <a:r>
              <a:rPr lang="en-GB" sz="1400" b="0" i="0" dirty="0">
                <a:effectLst/>
              </a:rPr>
              <a:t>A goods consignment in a booking has arrived and departed prior to any subsequent bookings under the same DUCR arriving at the same location.</a:t>
            </a:r>
            <a:endParaRPr lang="en-GB" sz="1400" kern="0" dirty="0">
              <a:ea typeface="Times New Roman" pitchFamily="18"/>
              <a:cs typeface="Calibri"/>
            </a:endParaRPr>
          </a:p>
          <a:p>
            <a:pPr marR="0" lvl="0" algn="l" defTabSz="914400" rtl="0" eaLnBrk="1" fontAlgn="auto" latinLnBrk="0" hangingPunct="1">
              <a:lnSpc>
                <a:spcPct val="107000"/>
              </a:lnSpc>
              <a:spcBef>
                <a:spcPts val="0"/>
              </a:spcBef>
              <a:spcAft>
                <a:spcPts val="800"/>
              </a:spcAft>
              <a:buClrTx/>
              <a:buSzTx/>
              <a:tabLst/>
              <a:defRPr sz="1800" b="0" i="0" u="none" strike="noStrike" kern="0" cap="none" spc="0" baseline="0">
                <a:solidFill>
                  <a:srgbClr val="000000"/>
                </a:solidFill>
                <a:uFillTx/>
              </a:defRPr>
            </a:pPr>
            <a:r>
              <a:rPr lang="en-GB" sz="1400" kern="0" dirty="0">
                <a:ea typeface="Times New Roman" pitchFamily="18"/>
                <a:cs typeface="Calibri"/>
              </a:rPr>
              <a:t>Acceptance Criteria:</a:t>
            </a:r>
          </a:p>
          <a:p>
            <a:pPr marL="285750" indent="-285750">
              <a:buFont typeface="Arial" panose="020B0604020202020204" pitchFamily="34" charset="0"/>
              <a:buChar char="•"/>
            </a:pPr>
            <a:r>
              <a:rPr lang="en-GB" sz="1400" b="0" i="0" dirty="0">
                <a:effectLst/>
              </a:rPr>
              <a:t>Where </a:t>
            </a:r>
            <a:r>
              <a:rPr lang="en-GB" sz="1400" dirty="0"/>
              <a:t>a subsequent EAA</a:t>
            </a:r>
            <a:r>
              <a:rPr lang="en-GB" sz="1400" b="0" i="0" dirty="0">
                <a:effectLst/>
              </a:rPr>
              <a:t> message has been received to anticipate arrive a consignment after any EDL message was received and processed for the same DUCR at the same location, an ERS with the anticipated cleared status (RH6, SOE 14) will be submitted to the EAA submitter.</a:t>
            </a:r>
            <a:endParaRPr lang="en-GB" sz="1400" b="0" i="0" dirty="0">
              <a:effectLst/>
              <a:cs typeface="Calibri"/>
            </a:endParaRPr>
          </a:p>
          <a:p>
            <a:pPr marL="285750" indent="-285750" algn="l">
              <a:buFont typeface="Arial" panose="020B0604020202020204" pitchFamily="34" charset="0"/>
              <a:buChar char="•"/>
            </a:pPr>
            <a:r>
              <a:rPr lang="en-GB" sz="1400" b="0" i="0" dirty="0">
                <a:effectLst/>
              </a:rPr>
              <a:t>Where an EAL message has been received and is not classified as an re-arrival, to arrive a consignment after an EDL message was received and processed for the same DUCR at the same location, an ERS with the previously cleared status will be submitted (R6, SOE3) to the EAL submitter.</a:t>
            </a:r>
            <a:endParaRPr lang="en-GB" sz="1400" dirty="0"/>
          </a:p>
          <a:p>
            <a:pPr marL="285750" indent="-285750" algn="l">
              <a:buFont typeface="Arial" panose="020B0604020202020204" pitchFamily="34" charset="0"/>
              <a:buChar char="•"/>
            </a:pPr>
            <a:r>
              <a:rPr lang="en-GB" sz="1400" b="0" i="0" dirty="0">
                <a:effectLst/>
              </a:rPr>
              <a:t>Where an EAL message has been received to arrive a consignment before an EDL message has been received and processed for the same DUCR at the same location of the previous arrival, an ERS with the current DUCR status (Rx, SOE x) is returned to the EAL submitter as per BAU.</a:t>
            </a:r>
          </a:p>
          <a:p>
            <a:pPr marL="285750" indent="-285750" algn="l">
              <a:buFont typeface="Arial" panose="020B0604020202020204" pitchFamily="34" charset="0"/>
              <a:buChar char="•"/>
            </a:pPr>
            <a:endParaRPr lang="en-GB" sz="1400" dirty="0"/>
          </a:p>
          <a:p>
            <a:pPr marL="171450" marR="0" lvl="0" indent="-17145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sz="1800" b="0" i="0" u="none" strike="noStrike" kern="0" cap="none" spc="0" baseline="0">
                <a:solidFill>
                  <a:srgbClr val="000000"/>
                </a:solidFill>
                <a:uFillTx/>
              </a:defRPr>
            </a:pPr>
            <a:endParaRPr lang="en-GB" sz="1400" kern="0" dirty="0">
              <a:ea typeface="Times New Roman" pitchFamily="18"/>
              <a:cs typeface="Calibri"/>
            </a:endParaRPr>
          </a:p>
          <a:p>
            <a:pPr marL="285750" indent="-285750" algn="l">
              <a:buFont typeface="Arial" panose="020B0604020202020204" pitchFamily="34" charset="0"/>
              <a:buChar char="•"/>
            </a:pPr>
            <a:endParaRPr lang="en-GB" sz="1400" b="0" i="0" dirty="0">
              <a:effectLst/>
            </a:endParaRPr>
          </a:p>
          <a:p>
            <a:pPr algn="l">
              <a:buFont typeface="+mj-lt"/>
              <a:buAutoNum type="arabicPeriod"/>
            </a:pPr>
            <a:endParaRPr lang="en-GB" sz="1400" b="0" i="0" dirty="0">
              <a:effectLst/>
            </a:endParaRPr>
          </a:p>
          <a:p>
            <a:pPr algn="l"/>
            <a:endParaRPr lang="en-GB" sz="1400" dirty="0"/>
          </a:p>
          <a:p>
            <a:pPr algn="l"/>
            <a:endParaRPr lang="en-GB" sz="1400" b="0" i="0" dirty="0">
              <a:effectLst/>
            </a:endParaRPr>
          </a:p>
          <a:p>
            <a:pPr marR="0" lvl="0" algn="l" defTabSz="914400" rtl="0" eaLnBrk="1" fontAlgn="auto" latinLnBrk="0" hangingPunct="1">
              <a:lnSpc>
                <a:spcPct val="107000"/>
              </a:lnSpc>
              <a:spcBef>
                <a:spcPts val="0"/>
              </a:spcBef>
              <a:spcAft>
                <a:spcPts val="800"/>
              </a:spcAft>
              <a:buClrTx/>
              <a:buSzTx/>
              <a:tabLst/>
              <a:defRPr sz="1800" b="0" i="0" u="none" strike="noStrike" kern="0" cap="none" spc="0" baseline="0">
                <a:solidFill>
                  <a:srgbClr val="000000"/>
                </a:solidFill>
                <a:uFillTx/>
              </a:defRPr>
            </a:pPr>
            <a:endParaRPr kumimoji="0" lang="en-GB" sz="1400" i="0" u="none" strike="noStrike" kern="0" cap="none" spc="0" normalizeH="0" baseline="0" noProof="0" dirty="0">
              <a:ln>
                <a:noFill/>
              </a:ln>
              <a:effectLst/>
              <a:uLnTx/>
              <a:uFillTx/>
              <a:ea typeface="Times New Roman" pitchFamily="18"/>
              <a:cs typeface="Calibri"/>
            </a:endParaRPr>
          </a:p>
          <a:p>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9452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243</a:t>
            </a:fld>
            <a:endParaRPr lang="en-GB" dirty="0">
              <a:solidFill>
                <a:schemeClr val="tx1"/>
              </a:solidFill>
            </a:endParaRPr>
          </a:p>
        </p:txBody>
      </p:sp>
    </p:spTree>
    <p:extLst>
      <p:ext uri="{BB962C8B-B14F-4D97-AF65-F5344CB8AC3E}">
        <p14:creationId xmlns:p14="http://schemas.microsoft.com/office/powerpoint/2010/main" val="138014074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63967" y="1443015"/>
            <a:ext cx="11282159" cy="5989460"/>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CR170 Split Shipment ERS Responses</a:t>
            </a:r>
            <a:endParaRPr kumimoji="0" lang="en-GB" sz="1400" b="1" i="0" u="sng" strike="noStrike" kern="1200" cap="none" spc="0" normalizeH="0" baseline="0" noProof="0" dirty="0">
              <a:ln>
                <a:noFill/>
              </a:ln>
              <a:effectLst/>
              <a:uLnTx/>
              <a:uFillTx/>
              <a:ea typeface="+mn-ea"/>
              <a:cs typeface="+mn-cs"/>
            </a:endParaRPr>
          </a:p>
          <a:p>
            <a:pPr>
              <a:defRPr sz="1800" b="0" i="0" u="none" strike="noStrike" kern="0" cap="none" spc="0" baseline="0">
                <a:solidFill>
                  <a:srgbClr val="000000"/>
                </a:solidFill>
                <a:uFillTx/>
              </a:defRPr>
            </a:pPr>
            <a:r>
              <a:rPr lang="en-GB" sz="1400" dirty="0"/>
              <a:t>The aim of this functionality is </a:t>
            </a:r>
            <a:r>
              <a:rPr lang="en-GB" sz="1400" i="0" dirty="0">
                <a:effectLst/>
              </a:rPr>
              <a:t>to communicate a simulated status for a DUCR to the CSP via ERS in response to the movement message received so that CSPs have a view of the status for the DUCR which has been arrived in a split shipment.</a:t>
            </a:r>
          </a:p>
          <a:p>
            <a:pPr>
              <a:defRPr sz="1800" b="0" i="0" u="none" strike="noStrike" kern="0" cap="none" spc="0" baseline="0">
                <a:solidFill>
                  <a:srgbClr val="000000"/>
                </a:solidFill>
                <a:uFillTx/>
              </a:defRPr>
            </a:pPr>
            <a:endParaRPr kumimoji="0" lang="en-GB" sz="1400" i="0" u="none" strike="noStrike" kern="0" cap="none" spc="0" normalizeH="0" baseline="0" noProof="0" dirty="0">
              <a:ln>
                <a:noFill/>
              </a:ln>
              <a:effectLst/>
              <a:uLnTx/>
              <a:uFillTx/>
              <a:ea typeface="Times New Roman" pitchFamily="18"/>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i="0" strike="noStrike" kern="1200" cap="none" spc="0" normalizeH="0" baseline="0" noProof="0" dirty="0">
                <a:ln>
                  <a:noFill/>
                </a:ln>
                <a:effectLst/>
                <a:uLnTx/>
                <a:uFillTx/>
                <a:ea typeface="Times New Roman" pitchFamily="18"/>
                <a:cs typeface="Calibri"/>
              </a:rPr>
              <a:t>Pre Requisite Requirements</a:t>
            </a:r>
            <a:r>
              <a:rPr lang="en-GB" sz="1400" kern="0" dirty="0">
                <a:ea typeface="Times New Roman" pitchFamily="18"/>
                <a:cs typeface="Calibri"/>
              </a:rPr>
              <a:t>:</a:t>
            </a:r>
            <a:endParaRPr kumimoji="0" lang="en-GB" sz="1400" i="0" strike="noStrike" kern="1200" cap="none" spc="0" normalizeH="0" baseline="0" noProof="0" dirty="0">
              <a:ln>
                <a:noFill/>
              </a:ln>
              <a:effectLst/>
              <a:uLnTx/>
              <a:uFillTx/>
              <a:ea typeface="Times New Roman" pitchFamily="18"/>
              <a:cs typeface="Calibri"/>
            </a:endParaRPr>
          </a:p>
          <a:p>
            <a:pPr marL="171450" marR="0" lvl="0" indent="-17145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sz="1800" b="0" i="0" u="none" strike="noStrike" kern="0" cap="none" spc="0" baseline="0">
                <a:solidFill>
                  <a:srgbClr val="000000"/>
                </a:solidFill>
                <a:uFillTx/>
              </a:defRPr>
            </a:pPr>
            <a:r>
              <a:rPr lang="en-GB" sz="1400" b="0" i="0" dirty="0">
                <a:effectLst/>
              </a:rPr>
              <a:t>A goods consignment in a booking has arrived but not yet departed prior to any subsequent bookings under the same DUCR arriving at the same location.</a:t>
            </a:r>
          </a:p>
          <a:p>
            <a:pPr marR="0" lvl="0" algn="l" defTabSz="914400" rtl="0" eaLnBrk="1" fontAlgn="auto" latinLnBrk="0" hangingPunct="1">
              <a:lnSpc>
                <a:spcPct val="107000"/>
              </a:lnSpc>
              <a:spcBef>
                <a:spcPts val="0"/>
              </a:spcBef>
              <a:spcAft>
                <a:spcPts val="800"/>
              </a:spcAft>
              <a:buClrTx/>
              <a:buSzTx/>
              <a:tabLst/>
              <a:defRPr sz="1800" b="0" i="0" u="none" strike="noStrike" kern="0" cap="none" spc="0" baseline="0">
                <a:solidFill>
                  <a:srgbClr val="000000"/>
                </a:solidFill>
                <a:uFillTx/>
              </a:defRPr>
            </a:pPr>
            <a:r>
              <a:rPr lang="en-GB" sz="1400" dirty="0"/>
              <a:t>Acceptance Criteria:</a:t>
            </a:r>
            <a:endParaRPr lang="en-GB" sz="1400" b="0" i="0" dirty="0">
              <a:effectLst/>
            </a:endParaRPr>
          </a:p>
          <a:p>
            <a:pPr marL="285750" indent="-285750" algn="l">
              <a:buFont typeface="Arial" panose="020B0604020202020204" pitchFamily="34" charset="0"/>
              <a:buChar char="•"/>
            </a:pPr>
            <a:r>
              <a:rPr lang="en-GB" sz="1400" b="0" i="0" dirty="0">
                <a:effectLst/>
              </a:rPr>
              <a:t>Where a further EAL message has been received to arrive a consignment before an EDL message has been received and processed for the same DUCR at the same location of the previous arrival, an ERS with the current DUCR status (Rx, SOE x) will be returned to the EAL submitter as per BAU.</a:t>
            </a:r>
          </a:p>
          <a:p>
            <a:pPr marL="285750" indent="-285750" algn="l">
              <a:buFont typeface="Arial" panose="020B0604020202020204" pitchFamily="34" charset="0"/>
              <a:buChar char="•"/>
            </a:pPr>
            <a:r>
              <a:rPr lang="en-GB" sz="1400" b="0" i="0" dirty="0">
                <a:effectLst/>
              </a:rPr>
              <a:t>Where an EAA message has been received to anticipate arrive a consignment for a pre-lodged declaration, an ERS will be returned to the EAA submitter confirming that the current status of the consignment is RH. </a:t>
            </a:r>
            <a:endParaRPr lang="en-GB" sz="1400" b="0" i="0" dirty="0">
              <a:solidFill>
                <a:srgbClr val="FF0000"/>
              </a:solidFill>
              <a:effectLst/>
            </a:endParaRPr>
          </a:p>
          <a:p>
            <a:pPr marL="285750" indent="-285750">
              <a:buFont typeface="Arial" panose="020B0604020202020204" pitchFamily="34" charset="0"/>
              <a:buChar char="•"/>
            </a:pPr>
            <a:r>
              <a:rPr lang="en-GB" sz="1400" b="0" i="0" dirty="0">
                <a:effectLst/>
              </a:rPr>
              <a:t>Where a further EAA message has been received to anticipate arrive a consignment (after an EAL or an arrived declaration was received and processed but before an EDL has been received) for the same DUCR at the same location, an ERS with the RH6 SOE14</a:t>
            </a:r>
            <a:r>
              <a:rPr lang="en-GB" sz="1400" b="0" i="0" dirty="0">
                <a:solidFill>
                  <a:srgbClr val="FF0000"/>
                </a:solidFill>
                <a:effectLst/>
              </a:rPr>
              <a:t> </a:t>
            </a:r>
            <a:r>
              <a:rPr lang="en-GB" sz="1400" b="0" i="0" dirty="0">
                <a:effectLst/>
              </a:rPr>
              <a:t>will be returned to the EAA submitter. </a:t>
            </a:r>
          </a:p>
          <a:p>
            <a:endParaRPr lang="en-GB" sz="1100" b="0" i="1" dirty="0">
              <a:effectLst/>
            </a:endParaRPr>
          </a:p>
          <a:p>
            <a:r>
              <a:rPr lang="en-GB" sz="1100" b="0" i="1" dirty="0">
                <a:effectLst/>
              </a:rPr>
              <a:t>*The actual R of the part consignment may differ following the EAL submission.</a:t>
            </a:r>
          </a:p>
          <a:p>
            <a:pPr marL="285750" indent="-285750" algn="l">
              <a:buFont typeface="Arial" panose="020B0604020202020204" pitchFamily="34" charset="0"/>
              <a:buChar char="•"/>
            </a:pPr>
            <a:endParaRPr lang="en-GB" sz="1400" b="0" i="0" dirty="0">
              <a:effectLst/>
            </a:endParaRPr>
          </a:p>
          <a:p>
            <a:pPr marL="171450" marR="0" lvl="0" indent="-17145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sz="1800" b="0" i="0" u="none" strike="noStrike" kern="0" cap="none" spc="0" baseline="0">
                <a:solidFill>
                  <a:srgbClr val="000000"/>
                </a:solidFill>
                <a:uFillTx/>
              </a:defRPr>
            </a:pPr>
            <a:endParaRPr lang="en-GB" sz="1400" kern="0" dirty="0">
              <a:ea typeface="Times New Roman" pitchFamily="18"/>
              <a:cs typeface="Calibri"/>
            </a:endParaRPr>
          </a:p>
          <a:p>
            <a:pPr marL="285750" indent="-285750" algn="l">
              <a:buFont typeface="Arial" panose="020B0604020202020204" pitchFamily="34" charset="0"/>
              <a:buChar char="•"/>
            </a:pPr>
            <a:endParaRPr lang="en-GB" sz="1400" b="0" i="0" dirty="0">
              <a:effectLst/>
            </a:endParaRPr>
          </a:p>
          <a:p>
            <a:pPr algn="l">
              <a:buFont typeface="+mj-lt"/>
              <a:buAutoNum type="arabicPeriod"/>
            </a:pPr>
            <a:endParaRPr lang="en-GB" sz="1400" b="0" i="0" dirty="0">
              <a:effectLst/>
            </a:endParaRPr>
          </a:p>
          <a:p>
            <a:pPr algn="l"/>
            <a:endParaRPr lang="en-GB" sz="1400" dirty="0"/>
          </a:p>
          <a:p>
            <a:pPr algn="l"/>
            <a:endParaRPr lang="en-GB" sz="1400" b="0" i="0" dirty="0">
              <a:effectLst/>
            </a:endParaRPr>
          </a:p>
          <a:p>
            <a:pPr marR="0" lvl="0" algn="l" defTabSz="914400" rtl="0" eaLnBrk="1" fontAlgn="auto" latinLnBrk="0" hangingPunct="1">
              <a:lnSpc>
                <a:spcPct val="107000"/>
              </a:lnSpc>
              <a:spcBef>
                <a:spcPts val="0"/>
              </a:spcBef>
              <a:spcAft>
                <a:spcPts val="800"/>
              </a:spcAft>
              <a:buClrTx/>
              <a:buSzTx/>
              <a:tabLst/>
              <a:defRPr sz="1800" b="0" i="0" u="none" strike="noStrike" kern="0" cap="none" spc="0" baseline="0">
                <a:solidFill>
                  <a:srgbClr val="000000"/>
                </a:solidFill>
                <a:uFillTx/>
              </a:defRPr>
            </a:pPr>
            <a:endParaRPr kumimoji="0" lang="en-GB" sz="1400" i="0" u="none" strike="noStrike" kern="0" cap="none" spc="0" normalizeH="0" baseline="0" noProof="0" dirty="0">
              <a:ln>
                <a:noFill/>
              </a:ln>
              <a:effectLst/>
              <a:uLnTx/>
              <a:uFillTx/>
              <a:ea typeface="Times New Roman" pitchFamily="18"/>
              <a:cs typeface="Calibri"/>
            </a:endParaRPr>
          </a:p>
          <a:p>
            <a:endParaRPr lang="en-GB" sz="140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244</a:t>
            </a:fld>
            <a:endParaRPr lang="en-GB" dirty="0">
              <a:solidFill>
                <a:schemeClr val="tx1"/>
              </a:solidFill>
            </a:endParaRPr>
          </a:p>
        </p:txBody>
      </p:sp>
    </p:spTree>
    <p:extLst>
      <p:ext uri="{BB962C8B-B14F-4D97-AF65-F5344CB8AC3E}">
        <p14:creationId xmlns:p14="http://schemas.microsoft.com/office/powerpoint/2010/main" val="367523760"/>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401205"/>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Meursing Duty Submission and Validation for NI Imports</a:t>
            </a:r>
            <a:endParaRPr kumimoji="0" lang="en-GB" sz="1400" b="1" i="0" u="sng" strike="noStrike" kern="1200" cap="none" spc="0" normalizeH="0" baseline="0" noProof="0" dirty="0">
              <a:ln>
                <a:noFill/>
              </a:ln>
              <a:effectLst/>
              <a:uLnTx/>
              <a:uFillTx/>
              <a:ea typeface="+mn-ea"/>
              <a:cs typeface="+mn-cs"/>
            </a:endParaRP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dirty="0"/>
              <a:t>Meursing codes are additional codes used to determine how much duty is applicable to bakery and confectionary products classified as ‘composite agrigoods’ imported in the EU. </a:t>
            </a:r>
            <a:r>
              <a:rPr lang="en-GB" sz="1400" kern="0" dirty="0">
                <a:solidFill>
                  <a:srgbClr val="000000"/>
                </a:solidFill>
              </a:rPr>
              <a:t>This functionality will ensure that a trader is able to submit Meursing codes correctly when goods are moving from RoW-NI or GB-NI.</a:t>
            </a: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dirty="0"/>
              <a:t>Relevant Meursing codes should be entered in the TARIC Additional Code field at the item level for all declaration types. </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Pre Requisite Requirements:</a:t>
            </a:r>
          </a:p>
          <a:p>
            <a:pPr>
              <a:defRPr sz="1800" b="0" i="0" u="none" strike="noStrike" kern="0" cap="none" spc="0" baseline="0">
                <a:solidFill>
                  <a:srgbClr val="000000"/>
                </a:solidFill>
                <a:uFillTx/>
              </a:defRPr>
            </a:pPr>
            <a:r>
              <a:rPr lang="en-GB" sz="1400" kern="0" dirty="0">
                <a:solidFill>
                  <a:srgbClr val="000000"/>
                </a:solidFill>
              </a:rPr>
              <a:t>As this feature is applicable to NI movements only, DE 2/2 must contain either:</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NIDOM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NIDOM + NIAID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NIDOM + NIREM</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NIIMP</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NIIMP + NIAID</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NIIMP + NIREM</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Please note: GOV.UK provides a service to determine which Meursing code is associated with the composite agrigoods product/s: </a:t>
            </a:r>
            <a:r>
              <a:rPr lang="en-GB" sz="1400" dirty="0">
                <a:effectLst/>
                <a:hlinkClick r:id="rId3" tooltip="https://www.gov.uk/additional-commodity-code"/>
              </a:rPr>
              <a:t>https://www.gov.uk/additional-commodity-code</a:t>
            </a:r>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245</a:t>
            </a:fld>
            <a:endParaRPr lang="en-GB">
              <a:solidFill>
                <a:schemeClr val="tx1"/>
              </a:solidFill>
            </a:endParaRPr>
          </a:p>
        </p:txBody>
      </p:sp>
    </p:spTree>
    <p:extLst>
      <p:ext uri="{BB962C8B-B14F-4D97-AF65-F5344CB8AC3E}">
        <p14:creationId xmlns:p14="http://schemas.microsoft.com/office/powerpoint/2010/main" val="2350994944"/>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397031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kern="0" dirty="0">
                <a:solidFill>
                  <a:srgbClr val="000000"/>
                </a:solidFill>
              </a:rPr>
              <a:t>Acceptance Criteria:</a:t>
            </a:r>
          </a:p>
          <a:p>
            <a:pPr>
              <a:defRPr sz="1800" b="0" i="0" u="none" strike="noStrike" kern="0" cap="none" spc="0" baseline="0">
                <a:solidFill>
                  <a:srgbClr val="000000"/>
                </a:solidFill>
                <a:uFillTx/>
              </a:defRPr>
            </a:pPr>
            <a:endParaRPr lang="en-GB" sz="1400" kern="0" dirty="0">
              <a:solidFill>
                <a:srgbClr val="000000"/>
              </a:solidFill>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Traders can enter one Meursing code in DE 6/16; this must be any of the valid codes as defined in the Excel Worksheet found in the icon above.</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b="1" kern="0" dirty="0">
                <a:solidFill>
                  <a:srgbClr val="000000"/>
                </a:solidFill>
              </a:rPr>
              <a:t>Please note: </a:t>
            </a:r>
            <a:r>
              <a:rPr lang="en-GB" sz="1400" kern="0" dirty="0">
                <a:solidFill>
                  <a:srgbClr val="000000"/>
                </a:solidFill>
              </a:rPr>
              <a:t>Declarations can be accepted if the trader has entered one Meursing code plus any non-Meursing additional codes.</a:t>
            </a:r>
          </a:p>
          <a:p>
            <a:pPr>
              <a:defRPr sz="1800" b="0" i="0" u="none" strike="noStrike" kern="0" cap="none" spc="0" baseline="0">
                <a:solidFill>
                  <a:srgbClr val="000000"/>
                </a:solidFill>
                <a:uFillTx/>
              </a:defRPr>
            </a:pPr>
            <a:r>
              <a:rPr lang="en-GB" sz="1400" kern="0" dirty="0">
                <a:solidFill>
                  <a:srgbClr val="000000"/>
                </a:solidFill>
              </a:rPr>
              <a:t>If the trader has entered multiple Meursing codes, then the declaration will be rejected and a DMSREJ notification will be issued.</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When goods are moving from RoW-NI or GB-NI, this functionality will ensure that the relevant data elements are declared and validated against the EU Tariff.</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Acceptance Criteria:</a:t>
            </a:r>
          </a:p>
          <a:p>
            <a:pPr>
              <a:defRPr sz="1800" b="0" i="0" u="none" strike="noStrike" kern="0" cap="none" spc="0" baseline="0">
                <a:solidFill>
                  <a:srgbClr val="000000"/>
                </a:solidFill>
                <a:uFillTx/>
              </a:defRPr>
            </a:pPr>
            <a:endParaRPr lang="en-GB" sz="1400" kern="0" dirty="0">
              <a:solidFill>
                <a:srgbClr val="000000"/>
              </a:solidFill>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If the commodity declared in DE 6/14 &amp; DE 6/15 has a Meursing code requirement, then the trader must supply a code.</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If the acceptance criteria is not met, then the declaration will be rejected and a DMSREJ returned to the trader.</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b="1" kern="0" dirty="0"/>
              <a:t>Please note: </a:t>
            </a:r>
            <a:r>
              <a:rPr lang="en-GB" sz="1400" kern="0" dirty="0"/>
              <a:t>Subsidy claims continue to be validated and charged on these declarations as business as usual.</a:t>
            </a:r>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246</a:t>
            </a:fld>
            <a:endParaRPr lang="en-GB">
              <a:solidFill>
                <a:schemeClr val="tx1"/>
              </a:solidFill>
            </a:endParaRPr>
          </a:p>
        </p:txBody>
      </p:sp>
      <p:graphicFrame>
        <p:nvGraphicFramePr>
          <p:cNvPr id="13" name="Object 12">
            <a:extLst>
              <a:ext uri="{FF2B5EF4-FFF2-40B4-BE49-F238E27FC236}">
                <a16:creationId xmlns:a16="http://schemas.microsoft.com/office/drawing/2014/main" id="{054F25D5-4897-4CA5-B2B8-7D0DB20835C0}"/>
              </a:ext>
            </a:extLst>
          </p:cNvPr>
          <p:cNvGraphicFramePr>
            <a:graphicFrameLocks noChangeAspect="1"/>
          </p:cNvGraphicFramePr>
          <p:nvPr/>
        </p:nvGraphicFramePr>
        <p:xfrm>
          <a:off x="10566400" y="336550"/>
          <a:ext cx="1303338" cy="1149350"/>
        </p:xfrm>
        <a:graphic>
          <a:graphicData uri="http://schemas.openxmlformats.org/presentationml/2006/ole">
            <mc:AlternateContent xmlns:mc="http://schemas.openxmlformats.org/markup-compatibility/2006">
              <mc:Choice xmlns:v="urn:schemas-microsoft-com:vml" Requires="v">
                <p:oleObj name="Worksheet" showAsIcon="1" r:id="rId3" imgW="791280" imgH="698400" progId="Excel.Sheet.12">
                  <p:embed/>
                </p:oleObj>
              </mc:Choice>
              <mc:Fallback>
                <p:oleObj name="Worksheet" showAsIcon="1" r:id="rId3" imgW="791280" imgH="698400" progId="Excel.Sheet.12">
                  <p:embed/>
                  <p:pic>
                    <p:nvPicPr>
                      <p:cNvPr id="13" name="Object 12">
                        <a:extLst>
                          <a:ext uri="{FF2B5EF4-FFF2-40B4-BE49-F238E27FC236}">
                            <a16:creationId xmlns:a16="http://schemas.microsoft.com/office/drawing/2014/main" id="{054F25D5-4897-4CA5-B2B8-7D0DB20835C0}"/>
                          </a:ext>
                        </a:extLst>
                      </p:cNvPr>
                      <p:cNvPicPr/>
                      <p:nvPr/>
                    </p:nvPicPr>
                    <p:blipFill>
                      <a:blip r:embed="rId4"/>
                      <a:stretch>
                        <a:fillRect/>
                      </a:stretch>
                    </p:blipFill>
                    <p:spPr>
                      <a:xfrm>
                        <a:off x="10566400" y="336550"/>
                        <a:ext cx="1303338" cy="1149350"/>
                      </a:xfrm>
                      <a:prstGeom prst="rect">
                        <a:avLst/>
                      </a:prstGeom>
                    </p:spPr>
                  </p:pic>
                </p:oleObj>
              </mc:Fallback>
            </mc:AlternateContent>
          </a:graphicData>
        </a:graphic>
      </p:graphicFrame>
    </p:spTree>
    <p:extLst>
      <p:ext uri="{BB962C8B-B14F-4D97-AF65-F5344CB8AC3E}">
        <p14:creationId xmlns:p14="http://schemas.microsoft.com/office/powerpoint/2010/main" val="266012594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375487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t>Meursing Duty Calculations for NI ‘at risk’ Imports </a:t>
            </a:r>
            <a:endParaRPr kumimoji="0" lang="en-GB" sz="1400" b="1" i="0" u="sng" strike="noStrike" kern="1200" cap="none" spc="0" normalizeH="0" baseline="0" noProof="0" dirty="0">
              <a:ln>
                <a:noFill/>
              </a:ln>
              <a:effectLst/>
              <a:uLnTx/>
              <a:uFillTx/>
              <a:ea typeface="+mn-ea"/>
              <a:cs typeface="+mn-cs"/>
            </a:endParaRPr>
          </a:p>
          <a:p>
            <a:pPr>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kern="0" dirty="0">
                <a:solidFill>
                  <a:srgbClr val="000000"/>
                </a:solidFill>
              </a:rPr>
              <a:t>Great Britain no longer uses the Meursing code system and instead applies a flat rate. As such, ‘composite agrigoods’ imported into GB do not require a Meursing code. However, NI traders continue to need to apply Meursing codes on certain EU import declarations. Meursing codes will also continue to apply to "at risk" imports entering NI from GB and RoW.</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This functionality will ensure that:</a:t>
            </a:r>
          </a:p>
          <a:p>
            <a:pPr>
              <a:defRPr sz="1800" b="0" i="0" u="none" strike="noStrike" kern="0" cap="none" spc="0" baseline="0">
                <a:solidFill>
                  <a:srgbClr val="000000"/>
                </a:solidFill>
                <a:uFillTx/>
              </a:defRPr>
            </a:pPr>
            <a:endParaRPr lang="en-GB" sz="1400" kern="0" dirty="0">
              <a:solidFill>
                <a:srgbClr val="000000"/>
              </a:solidFill>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Appropriate duty calculations take place against Tax Type for RoW-NI Movements, given that the trader has entered AI code combination which includes NIIMP in DE 2/2 at item level.</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dirty="0">
                <a:solidFill>
                  <a:srgbClr val="000000"/>
                </a:solidFill>
              </a:rPr>
              <a:t>Appropriate duty calculations take place against Tax Type for GB-NI Movements, given that the trader has entered AI code combination which includes NIDOM in DE 2/2 at item level.</a:t>
            </a:r>
          </a:p>
          <a:p>
            <a:pP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r>
              <a:rPr lang="en-GB" sz="1400" kern="0" dirty="0">
                <a:solidFill>
                  <a:srgbClr val="000000"/>
                </a:solidFill>
              </a:rPr>
              <a:t>For both scenarios, CDS will calculate the Customs Duty, VAT and Excise. CDS will return a DMSTAX notification to the trader of all duties and securities that are liable on their declaration. Meursing duty is to be supplied as a separate tax line.</a:t>
            </a: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kern="0" dirty="0">
              <a:solidFill>
                <a:srgbClr val="000000"/>
              </a:solidFill>
            </a:endParaRPr>
          </a:p>
          <a:p>
            <a:pPr>
              <a:defRPr sz="1800" b="0" i="0" u="none" strike="noStrike" kern="0" cap="none" spc="0" baseline="0">
                <a:solidFill>
                  <a:srgbClr val="000000"/>
                </a:solidFill>
                <a:uFillTx/>
              </a:defRPr>
            </a:pPr>
            <a:endParaRPr lang="en-GB" sz="1400" kern="0" dirty="0">
              <a:solidFill>
                <a:srgbClr val="000000"/>
              </a:solidFill>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70671"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247</a:t>
            </a:fld>
            <a:endParaRPr lang="en-GB">
              <a:solidFill>
                <a:schemeClr val="tx1"/>
              </a:solidFill>
            </a:endParaRPr>
          </a:p>
        </p:txBody>
      </p:sp>
    </p:spTree>
    <p:extLst>
      <p:ext uri="{BB962C8B-B14F-4D97-AF65-F5344CB8AC3E}">
        <p14:creationId xmlns:p14="http://schemas.microsoft.com/office/powerpoint/2010/main" val="2643693548"/>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551647" y="3748712"/>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dirty="0"/>
                        <a:t>TTM23.1 (CDS 4.1.1)</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July (TBC)</a:t>
                      </a:r>
                      <a:r>
                        <a:rPr lang="en-GB" sz="1200" b="0" dirty="0">
                          <a:solidFill>
                            <a:srgbClr val="000000"/>
                          </a:solidFill>
                        </a:rPr>
                        <a:t>   </a:t>
                      </a:r>
                      <a:r>
                        <a:rPr lang="en-GB" sz="1200" b="1" dirty="0">
                          <a:solidFill>
                            <a:srgbClr val="000000"/>
                          </a:solidFill>
                        </a:rPr>
                        <a:t>TDR: August (TBC)  </a:t>
                      </a:r>
                      <a:r>
                        <a:rPr lang="en-GB" sz="1200" b="0" dirty="0">
                          <a:solidFill>
                            <a:srgbClr val="000000"/>
                          </a:solidFill>
                        </a:rPr>
                        <a:t> </a:t>
                      </a:r>
                      <a:r>
                        <a:rPr lang="en-GB" sz="1200" b="1" dirty="0">
                          <a:solidFill>
                            <a:srgbClr val="000000"/>
                          </a:solidFill>
                        </a:rPr>
                        <a:t>Live: July (TBC) </a:t>
                      </a:r>
                      <a:endParaRPr lang="en-GB" sz="1200" b="0" dirty="0">
                        <a:solidFill>
                          <a:srgbClr val="000000"/>
                        </a:solidFill>
                      </a:endParaRP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53002" y="3648391"/>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551647" y="4321262"/>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kern="1200">
                          <a:solidFill>
                            <a:srgbClr val="000000"/>
                          </a:solidFill>
                          <a:latin typeface="+mn-lt"/>
                          <a:hlinkClick r:id="rId3" action="ppaction://hlinksldjump"/>
                        </a:rPr>
                        <a:t>Alcohol Duty Rates and Relief Legacy Changes</a:t>
                      </a:r>
                      <a:endParaRPr lang="en-GB" sz="1200" b="0" i="0" u="sng" kern="1200">
                        <a:solidFill>
                          <a:srgbClr val="000000"/>
                        </a:solidFill>
                        <a:latin typeface="+mn-lt"/>
                      </a:endParaRPr>
                    </a:p>
                    <a:p>
                      <a:pPr marL="0" marR="0" lvl="0" indent="0" algn="l" rtl="0" fontAlgn="auto" hangingPunct="1">
                        <a:lnSpc>
                          <a:spcPct val="100000"/>
                        </a:lnSpc>
                        <a:spcBef>
                          <a:spcPts val="0"/>
                        </a:spcBef>
                        <a:spcAft>
                          <a:spcPts val="0"/>
                        </a:spcAft>
                        <a:buSzPct val="100000"/>
                        <a:buFont typeface="Arial" pitchFamily="34"/>
                        <a:buNone/>
                      </a:pPr>
                      <a:endParaRPr lang="en-GB" sz="1200" b="0" i="0" u="sng" strike="noStrike" kern="1200" cap="none" spc="0" baseline="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fontAlgn="auto" hangingPunct="1">
                        <a:lnSpc>
                          <a:spcPct val="100000"/>
                        </a:lnSpc>
                        <a:spcBef>
                          <a:spcPts val="0"/>
                        </a:spcBef>
                        <a:spcAft>
                          <a:spcPts val="0"/>
                        </a:spcAft>
                        <a:buSzPct val="100000"/>
                        <a:buFont typeface="Arial" pitchFamily="34"/>
                        <a:buNone/>
                      </a:pPr>
                      <a:endParaRPr lang="en-GB" sz="1200" b="0" i="0" u="sng" kern="120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endParaRPr lang="en-GB" sz="1200" b="0" i="0" u="sng" strike="noStrike">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6264A7"/>
                </a:solidFill>
                <a:effectLst/>
                <a:uLnTx/>
                <a:uFillTx/>
                <a:latin typeface="Calibri" panose="020F0502020204030204"/>
                <a:ea typeface="+mn-ea"/>
                <a:cs typeface="+mn-cs"/>
                <a:hlinkClick r:id="rId4"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hlinkClick r:id="rId5"/>
              </a:rPr>
              <a:t>SDSTeam@hmrc.gov.uk</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a:t>
            </a:r>
          </a:p>
        </p:txBody>
      </p:sp>
      <p:sp>
        <p:nvSpPr>
          <p:cNvPr id="28" name="Oval 16">
            <a:extLst>
              <a:ext uri="{FF2B5EF4-FFF2-40B4-BE49-F238E27FC236}">
                <a16:creationId xmlns:a16="http://schemas.microsoft.com/office/drawing/2014/main" id="{F2743D23-87A9-4EC3-B431-F0BCFA2A490C}"/>
              </a:ext>
            </a:extLst>
          </p:cNvPr>
          <p:cNvSpPr/>
          <p:nvPr/>
        </p:nvSpPr>
        <p:spPr>
          <a:xfrm>
            <a:off x="595023" y="438435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Slide Number Placeholder 3">
            <a:extLst>
              <a:ext uri="{FF2B5EF4-FFF2-40B4-BE49-F238E27FC236}">
                <a16:creationId xmlns:a16="http://schemas.microsoft.com/office/drawing/2014/main" id="{1523A9B4-71D6-49FA-9319-437CE0C77600}"/>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248</a:t>
            </a:fld>
            <a:endParaRPr lang="en-GB" dirty="0">
              <a:solidFill>
                <a:schemeClr val="tx1"/>
              </a:solidFill>
            </a:endParaRPr>
          </a:p>
        </p:txBody>
      </p:sp>
    </p:spTree>
    <p:extLst>
      <p:ext uri="{BB962C8B-B14F-4D97-AF65-F5344CB8AC3E}">
        <p14:creationId xmlns:p14="http://schemas.microsoft.com/office/powerpoint/2010/main" val="93758254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55415" y="1292238"/>
            <a:ext cx="11282159" cy="5170646"/>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a:solidFill>
                  <a:srgbClr val="000000"/>
                </a:solidFill>
                <a:effectLst/>
              </a:rPr>
              <a:t>Deprecated 400 Series Codes</a:t>
            </a:r>
          </a:p>
          <a:p>
            <a:r>
              <a:rPr lang="en-GB" sz="1400"/>
              <a:t>When UK Alcohol Reform legislation comes into effect, the existing series 400 excise codes will be depreciated as of </a:t>
            </a:r>
            <a:r>
              <a:rPr lang="en-GB" sz="1400" b="1"/>
              <a:t>31/07/23</a:t>
            </a:r>
            <a:r>
              <a:rPr lang="en-GB" sz="1400"/>
              <a:t>. Up to this date, all declaration types can use the series 400 codes. Following this date, new 300 series codes will apply with a start date of </a:t>
            </a:r>
            <a:r>
              <a:rPr lang="en-GB" sz="1400" b="1"/>
              <a:t>01/08/23</a:t>
            </a:r>
            <a:r>
              <a:rPr lang="en-GB" sz="1400"/>
              <a:t>. The UK Trade Tariff will be updated to reflect these changes.</a:t>
            </a:r>
          </a:p>
          <a:p>
            <a:br>
              <a:rPr lang="en-GB" sz="1400"/>
            </a:br>
            <a:r>
              <a:rPr lang="en-GB" sz="1400">
                <a:solidFill>
                  <a:srgbClr val="000000"/>
                </a:solidFill>
              </a:rPr>
              <a:t>This functionality is applicable to ROW-GB, ROW-NI (AI Code: NIIMP), and GB-NI (AI Code: NIDOM) journeys, both At Risk and Not At Risk.</a:t>
            </a:r>
            <a:endParaRPr lang="en-GB" sz="1400"/>
          </a:p>
          <a:p>
            <a:pPr algn="l"/>
            <a:endParaRPr lang="en-GB" sz="1400"/>
          </a:p>
          <a:p>
            <a:pPr algn="l"/>
            <a:r>
              <a:rPr lang="en-GB" sz="1400"/>
              <a:t>From CDS4.1.1, only supplementary declarations with an acceptance date prior to 01/08/23 will be able to use the old series 400 deprecated codes.* </a:t>
            </a:r>
          </a:p>
          <a:p>
            <a:pPr algn="l"/>
            <a:r>
              <a:rPr lang="en-GB" sz="1400"/>
              <a:t>Where the declaration type = Y or Z, and the trader has entered a deprecated series 400 code in DE 4/3 and DE 6/17:</a:t>
            </a:r>
          </a:p>
          <a:p>
            <a:pPr marL="285750" indent="-285750" algn="l">
              <a:buFont typeface="Arial" panose="020B0604020202020204" pitchFamily="34" charset="0"/>
              <a:buChar char="•"/>
            </a:pPr>
            <a:r>
              <a:rPr lang="en-GB" sz="1400"/>
              <a:t>If the acceptance date declared is 01/08/23 or later, then the declaration will be rejected and a DMSREJ notification will be issued.</a:t>
            </a:r>
          </a:p>
          <a:p>
            <a:pPr marL="285750" indent="-285750" algn="l">
              <a:buFont typeface="Arial" panose="020B0604020202020204" pitchFamily="34" charset="0"/>
              <a:buChar char="•"/>
            </a:pPr>
            <a:r>
              <a:rPr lang="en-GB" sz="1400"/>
              <a:t>If the acceptance date declared is up to or including 31/07/23, validation will continue.</a:t>
            </a:r>
          </a:p>
          <a:p>
            <a:pPr marL="285750" indent="-285750" algn="l">
              <a:buFont typeface="Arial" panose="020B0604020202020204" pitchFamily="34" charset="0"/>
              <a:buChar char="•"/>
            </a:pPr>
            <a:r>
              <a:rPr lang="en-GB" sz="1400"/>
              <a:t>Declarations where the acceptance date is not declared as part of the declaration will be rejected as per BAU.</a:t>
            </a:r>
            <a:endParaRPr lang="en-GB" sz="1400">
              <a:ea typeface="Calibri" panose="020F0502020204030204" pitchFamily="34" charset="0"/>
              <a:cs typeface="Times New Roman" panose="02020603050405020304" pitchFamily="18" charset="0"/>
            </a:endParaRPr>
          </a:p>
          <a:p>
            <a:pPr algn="l"/>
            <a:r>
              <a:rPr lang="en-GB" sz="1400">
                <a:solidFill>
                  <a:srgbClr val="000000"/>
                </a:solidFill>
                <a:cs typeface="Times New Roman" panose="02020603050405020304" pitchFamily="18" charset="0"/>
              </a:rPr>
              <a:t>*The relevant codes are shown in the table on slide 4.</a:t>
            </a:r>
          </a:p>
          <a:p>
            <a:pPr algn="l"/>
            <a:endParaRPr lang="en-GB" sz="1400" u="sng">
              <a:solidFill>
                <a:srgbClr val="000000"/>
              </a:solidFill>
              <a:cs typeface="Times New Roman" panose="02020603050405020304" pitchFamily="18" charset="0"/>
            </a:endParaRPr>
          </a:p>
          <a:p>
            <a:pPr algn="l"/>
            <a:r>
              <a:rPr lang="en-GB" sz="1400">
                <a:solidFill>
                  <a:srgbClr val="000000"/>
                </a:solidFill>
                <a:cs typeface="Times New Roman" panose="02020603050405020304" pitchFamily="18" charset="0"/>
              </a:rPr>
              <a:t>Where DE 4/4 Tax Base has been completed with any of the values in the table below:</a:t>
            </a:r>
          </a:p>
          <a:p>
            <a:pPr marL="285750" indent="-285750" algn="l">
              <a:buFont typeface="Arial" panose="020B0604020202020204" pitchFamily="34" charset="0"/>
              <a:buChar char="•"/>
            </a:pPr>
            <a:r>
              <a:rPr lang="en-GB" sz="1400">
                <a:solidFill>
                  <a:srgbClr val="000000"/>
                </a:solidFill>
                <a:cs typeface="Times New Roman" panose="02020603050405020304" pitchFamily="18" charset="0"/>
              </a:rPr>
              <a:t>If the declaration type is Type Z or Y with an acceptance date declared of 01/08/23 or after, then the declaration will be rejected and a DMSREJ notification issued.</a:t>
            </a:r>
          </a:p>
          <a:p>
            <a:pPr marL="285750" indent="-285750" algn="l">
              <a:buFont typeface="Arial" panose="020B0604020202020204" pitchFamily="34" charset="0"/>
              <a:buChar char="•"/>
            </a:pPr>
            <a:r>
              <a:rPr lang="en-GB" sz="1400">
                <a:solidFill>
                  <a:srgbClr val="000000"/>
                </a:solidFill>
                <a:cs typeface="Times New Roman" panose="02020603050405020304" pitchFamily="18" charset="0"/>
              </a:rPr>
              <a:t>If the declaration type is Type Z or Y with an acceptance date up to or including 31/07/23 then the trader will be allowed to enter in DE 4/4 the codes as per the table and validation will continue.</a:t>
            </a:r>
          </a:p>
          <a:p>
            <a:pPr algn="l"/>
            <a:endParaRPr lang="en-GB" sz="1400">
              <a:solidFill>
                <a:srgbClr val="000000"/>
              </a:solidFill>
              <a:cs typeface="Times New Roman" panose="02020603050405020304" pitchFamily="18" charset="0"/>
            </a:endParaRPr>
          </a:p>
          <a:p>
            <a:endParaRPr lang="en-GB" sz="1400">
              <a:ea typeface="Calibri" panose="020F0502020204030204" pitchFamily="34" charset="0"/>
              <a:cs typeface="Times New Roman" panose="02020603050405020304" pitchFamily="18" charset="0"/>
            </a:endParaRPr>
          </a:p>
          <a:p>
            <a:pPr algn="l"/>
            <a:endParaRPr lang="en-GB" sz="1400">
              <a:solidFill>
                <a:srgbClr val="000000"/>
              </a:solidFill>
            </a:endParaRPr>
          </a:p>
          <a:p>
            <a:pPr marL="285750" indent="-285750" algn="l">
              <a:buFont typeface="Arial" panose="020B0604020202020204" pitchFamily="34" charset="0"/>
              <a:buChar char="•"/>
            </a:pPr>
            <a:endParaRPr lang="en-GB" sz="1400" b="0" i="0">
              <a:solidFill>
                <a:srgbClr val="000000"/>
              </a:solidFill>
              <a:effectLst/>
            </a:endParaRPr>
          </a:p>
          <a:p>
            <a:endParaRPr lang="en-GB" sz="800" b="0" i="0">
              <a:solidFill>
                <a:srgbClr val="000000"/>
              </a:solidFill>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0" name="Table 9">
            <a:extLst>
              <a:ext uri="{FF2B5EF4-FFF2-40B4-BE49-F238E27FC236}">
                <a16:creationId xmlns:a16="http://schemas.microsoft.com/office/drawing/2014/main" id="{08880EC3-DFAE-4E7A-83D3-C9BF648A6D8F}"/>
              </a:ext>
            </a:extLst>
          </p:cNvPr>
          <p:cNvGraphicFramePr>
            <a:graphicFrameLocks noGrp="1"/>
          </p:cNvGraphicFramePr>
          <p:nvPr/>
        </p:nvGraphicFramePr>
        <p:xfrm>
          <a:off x="3288574" y="5431125"/>
          <a:ext cx="5614852" cy="754380"/>
        </p:xfrm>
        <a:graphic>
          <a:graphicData uri="http://schemas.openxmlformats.org/drawingml/2006/table">
            <a:tbl>
              <a:tblPr/>
              <a:tblGrid>
                <a:gridCol w="2201091">
                  <a:extLst>
                    <a:ext uri="{9D8B030D-6E8A-4147-A177-3AD203B41FA5}">
                      <a16:colId xmlns:a16="http://schemas.microsoft.com/office/drawing/2014/main" val="1719118755"/>
                    </a:ext>
                  </a:extLst>
                </a:gridCol>
                <a:gridCol w="3413761">
                  <a:extLst>
                    <a:ext uri="{9D8B030D-6E8A-4147-A177-3AD203B41FA5}">
                      <a16:colId xmlns:a16="http://schemas.microsoft.com/office/drawing/2014/main" val="2637897282"/>
                    </a:ext>
                  </a:extLst>
                </a:gridCol>
              </a:tblGrid>
              <a:tr h="151954">
                <a:tc>
                  <a:txBody>
                    <a:bodyPr/>
                    <a:lstStyle/>
                    <a:p>
                      <a:pPr algn="ctr"/>
                      <a:r>
                        <a:rPr lang="en-GB" sz="1400" b="1">
                          <a:solidFill>
                            <a:schemeClr val="bg1"/>
                          </a:solidFill>
                          <a:effectLst/>
                        </a:rPr>
                        <a:t>Code</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Description</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1674509466"/>
                  </a:ext>
                </a:extLst>
              </a:tr>
              <a:tr h="151954">
                <a:tc>
                  <a:txBody>
                    <a:bodyPr/>
                    <a:lstStyle/>
                    <a:p>
                      <a:r>
                        <a:rPr lang="en-GB" sz="1400">
                          <a:effectLst/>
                        </a:rPr>
                        <a:t>GP1</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Gross Production</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95760793"/>
                  </a:ext>
                </a:extLst>
              </a:tr>
              <a:tr h="151954">
                <a:tc>
                  <a:txBody>
                    <a:bodyPr/>
                    <a:lstStyle/>
                    <a:p>
                      <a:r>
                        <a:rPr lang="en-GB" sz="1400">
                          <a:effectLst/>
                        </a:rPr>
                        <a:t>FC1</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dirty="0">
                          <a:effectLst/>
                        </a:rPr>
                        <a:t>Factor</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799953727"/>
                  </a:ext>
                </a:extLst>
              </a:tr>
            </a:tbl>
          </a:graphicData>
        </a:graphic>
      </p:graphicFrame>
      <p:sp>
        <p:nvSpPr>
          <p:cNvPr id="12" name="Slide Number Placeholder 3">
            <a:extLst>
              <a:ext uri="{FF2B5EF4-FFF2-40B4-BE49-F238E27FC236}">
                <a16:creationId xmlns:a16="http://schemas.microsoft.com/office/drawing/2014/main" id="{A2C77125-93B8-43D7-A12A-2737EF7A4252}"/>
              </a:ext>
            </a:extLst>
          </p:cNvPr>
          <p:cNvSpPr txBox="1">
            <a:spLocks/>
          </p:cNvSpPr>
          <p:nvPr/>
        </p:nvSpPr>
        <p:spPr>
          <a:xfrm>
            <a:off x="933886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249</a:t>
            </a:fld>
            <a:endParaRPr lang="en-GB" dirty="0">
              <a:solidFill>
                <a:schemeClr val="tx1"/>
              </a:solidFill>
            </a:endParaRPr>
          </a:p>
        </p:txBody>
      </p:sp>
    </p:spTree>
    <p:extLst>
      <p:ext uri="{BB962C8B-B14F-4D97-AF65-F5344CB8AC3E}">
        <p14:creationId xmlns:p14="http://schemas.microsoft.com/office/powerpoint/2010/main" val="4100031247"/>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0" name="Table 9">
            <a:extLst>
              <a:ext uri="{FF2B5EF4-FFF2-40B4-BE49-F238E27FC236}">
                <a16:creationId xmlns:a16="http://schemas.microsoft.com/office/drawing/2014/main" id="{4B586206-F6FA-45B4-9E52-592A77958F7C}"/>
              </a:ext>
            </a:extLst>
          </p:cNvPr>
          <p:cNvGraphicFramePr>
            <a:graphicFrameLocks noGrp="1"/>
          </p:cNvGraphicFramePr>
          <p:nvPr/>
        </p:nvGraphicFramePr>
        <p:xfrm>
          <a:off x="836539" y="1699631"/>
          <a:ext cx="10515600" cy="4034788"/>
        </p:xfrm>
        <a:graphic>
          <a:graphicData uri="http://schemas.openxmlformats.org/drawingml/2006/table">
            <a:tbl>
              <a:tblPr/>
              <a:tblGrid>
                <a:gridCol w="1204317">
                  <a:extLst>
                    <a:ext uri="{9D8B030D-6E8A-4147-A177-3AD203B41FA5}">
                      <a16:colId xmlns:a16="http://schemas.microsoft.com/office/drawing/2014/main" val="4035400281"/>
                    </a:ext>
                  </a:extLst>
                </a:gridCol>
                <a:gridCol w="2016508">
                  <a:extLst>
                    <a:ext uri="{9D8B030D-6E8A-4147-A177-3AD203B41FA5}">
                      <a16:colId xmlns:a16="http://schemas.microsoft.com/office/drawing/2014/main" val="1508697288"/>
                    </a:ext>
                  </a:extLst>
                </a:gridCol>
                <a:gridCol w="7294775">
                  <a:extLst>
                    <a:ext uri="{9D8B030D-6E8A-4147-A177-3AD203B41FA5}">
                      <a16:colId xmlns:a16="http://schemas.microsoft.com/office/drawing/2014/main" val="832674583"/>
                    </a:ext>
                  </a:extLst>
                </a:gridCol>
              </a:tblGrid>
              <a:tr h="65688">
                <a:tc>
                  <a:txBody>
                    <a:bodyPr/>
                    <a:lstStyle/>
                    <a:p>
                      <a:pPr algn="ctr"/>
                      <a:r>
                        <a:rPr lang="fr-FR" sz="1400" b="1">
                          <a:solidFill>
                            <a:schemeClr val="bg1"/>
                          </a:solidFill>
                          <a:effectLst/>
                        </a:rPr>
                        <a:t>Tax Type Code</a:t>
                      </a:r>
                      <a:br>
                        <a:rPr lang="fr-FR" sz="1400" b="1">
                          <a:solidFill>
                            <a:schemeClr val="bg1"/>
                          </a:solidFill>
                          <a:effectLst/>
                        </a:rPr>
                      </a:br>
                      <a:r>
                        <a:rPr lang="fr-FR" sz="1400" b="1">
                          <a:solidFill>
                            <a:schemeClr val="bg1"/>
                          </a:solidFill>
                          <a:effectLst/>
                        </a:rPr>
                        <a:t>DE 4/3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fr-FR" sz="1400" b="1">
                          <a:solidFill>
                            <a:schemeClr val="bg1"/>
                          </a:solidFill>
                          <a:effectLst/>
                        </a:rPr>
                        <a:t>National Additional Code</a:t>
                      </a:r>
                      <a:br>
                        <a:rPr lang="fr-FR" sz="1400" b="1">
                          <a:solidFill>
                            <a:schemeClr val="bg1"/>
                          </a:solidFill>
                          <a:effectLst/>
                        </a:rPr>
                      </a:br>
                      <a:r>
                        <a:rPr lang="fr-FR" sz="1400" b="1">
                          <a:solidFill>
                            <a:schemeClr val="bg1"/>
                          </a:solidFill>
                          <a:effectLst/>
                        </a:rPr>
                        <a:t>DE 6/17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Description</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3435362021"/>
                  </a:ext>
                </a:extLst>
              </a:tr>
              <a:tr h="158868">
                <a:tc>
                  <a:txBody>
                    <a:bodyPr/>
                    <a:lstStyle/>
                    <a:p>
                      <a:pPr>
                        <a:spcBef>
                          <a:spcPts val="0"/>
                        </a:spcBef>
                      </a:pPr>
                      <a:r>
                        <a:rPr lang="en-GB" sz="1400">
                          <a:effectLst/>
                        </a:rPr>
                        <a:t>431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X431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Low Alcohol - not exceeding 1.2% (inc. beer, cider, perry, wine and made wine)</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863074401"/>
                  </a:ext>
                </a:extLst>
              </a:tr>
              <a:tr h="80608">
                <a:tc>
                  <a:txBody>
                    <a:bodyPr/>
                    <a:lstStyle/>
                    <a:p>
                      <a:pPr>
                        <a:spcBef>
                          <a:spcPts val="0"/>
                        </a:spcBef>
                      </a:pPr>
                      <a:r>
                        <a:rPr lang="en-GB" sz="1400">
                          <a:effectLst/>
                        </a:rPr>
                        <a:t>411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X411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 Sparkling 8.5%-15%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45290421"/>
                  </a:ext>
                </a:extLst>
              </a:tr>
              <a:tr h="84592">
                <a:tc>
                  <a:txBody>
                    <a:bodyPr/>
                    <a:lstStyle/>
                    <a:p>
                      <a:pPr>
                        <a:spcBef>
                          <a:spcPts val="0"/>
                        </a:spcBef>
                      </a:pPr>
                      <a:r>
                        <a:rPr lang="en-GB" sz="1400">
                          <a:effectLst/>
                        </a:rPr>
                        <a:t>412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X412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 Sparkling 5.5%-8.5%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14005835"/>
                  </a:ext>
                </a:extLst>
              </a:tr>
              <a:tr h="84592">
                <a:tc>
                  <a:txBody>
                    <a:bodyPr/>
                    <a:lstStyle/>
                    <a:p>
                      <a:pPr>
                        <a:spcBef>
                          <a:spcPts val="0"/>
                        </a:spcBef>
                      </a:pPr>
                      <a:r>
                        <a:rPr lang="en-GB" sz="1400">
                          <a:effectLst/>
                        </a:rPr>
                        <a:t>413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X413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 Still 5.5%-15%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50157096"/>
                  </a:ext>
                </a:extLst>
              </a:tr>
              <a:tr h="127706">
                <a:tc>
                  <a:txBody>
                    <a:bodyPr/>
                    <a:lstStyle/>
                    <a:p>
                      <a:pPr>
                        <a:spcBef>
                          <a:spcPts val="0"/>
                        </a:spcBef>
                      </a:pPr>
                      <a:r>
                        <a:rPr lang="en-GB" sz="1400">
                          <a:effectLst/>
                        </a:rPr>
                        <a:t>415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 Still or Sparkling 15%-22%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09206679"/>
                  </a:ext>
                </a:extLst>
              </a:tr>
              <a:tr h="84592">
                <a:tc>
                  <a:txBody>
                    <a:bodyPr/>
                    <a:lstStyle/>
                    <a:p>
                      <a:pPr>
                        <a:spcBef>
                          <a:spcPts val="0"/>
                        </a:spcBef>
                      </a:pPr>
                      <a:r>
                        <a:rPr lang="en-GB" sz="1400">
                          <a:effectLst/>
                        </a:rPr>
                        <a:t>419</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X419</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Still/Sparkling exceeding 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947316151"/>
                  </a:ext>
                </a:extLst>
              </a:tr>
              <a:tr h="84592">
                <a:tc>
                  <a:txBody>
                    <a:bodyPr/>
                    <a:lstStyle/>
                    <a:p>
                      <a:pPr>
                        <a:spcBef>
                          <a:spcPts val="0"/>
                        </a:spcBef>
                      </a:pPr>
                      <a:r>
                        <a:rPr lang="en-GB" sz="1400">
                          <a:effectLst/>
                        </a:rPr>
                        <a:t>421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X421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Made Wine - Sparkling 8.5%-15%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5878549"/>
                  </a:ext>
                </a:extLst>
              </a:tr>
              <a:tr h="84592">
                <a:tc>
                  <a:txBody>
                    <a:bodyPr/>
                    <a:lstStyle/>
                    <a:p>
                      <a:pPr>
                        <a:spcBef>
                          <a:spcPts val="0"/>
                        </a:spcBef>
                      </a:pPr>
                      <a:r>
                        <a:rPr lang="en-GB" sz="1400">
                          <a:effectLst/>
                        </a:rPr>
                        <a:t>422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Made Wine - Sparkling 5.5%-8.5%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919359398"/>
                  </a:ext>
                </a:extLst>
              </a:tr>
              <a:tr h="84592">
                <a:tc>
                  <a:txBody>
                    <a:bodyPr/>
                    <a:lstStyle/>
                    <a:p>
                      <a:pPr>
                        <a:spcBef>
                          <a:spcPts val="0"/>
                        </a:spcBef>
                      </a:pPr>
                      <a:r>
                        <a:rPr lang="en-GB" sz="1400">
                          <a:effectLst/>
                        </a:rPr>
                        <a:t>423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X423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Made Wine - Still 5.5%-15%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91118420"/>
                  </a:ext>
                </a:extLst>
              </a:tr>
              <a:tr h="84592">
                <a:tc>
                  <a:txBody>
                    <a:bodyPr/>
                    <a:lstStyle/>
                    <a:p>
                      <a:pPr>
                        <a:spcBef>
                          <a:spcPts val="0"/>
                        </a:spcBef>
                      </a:pPr>
                      <a:r>
                        <a:rPr lang="en-GB" sz="1400">
                          <a:effectLst/>
                        </a:rPr>
                        <a:t>425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X425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Made Wine - Still or Sparkling 15%-22%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099289391"/>
                  </a:ext>
                </a:extLst>
              </a:tr>
              <a:tr h="84592">
                <a:tc>
                  <a:txBody>
                    <a:bodyPr/>
                    <a:lstStyle/>
                    <a:p>
                      <a:pPr>
                        <a:spcBef>
                          <a:spcPts val="0"/>
                        </a:spcBef>
                      </a:pPr>
                      <a:r>
                        <a:rPr lang="en-GB" sz="1400">
                          <a:effectLst/>
                        </a:rPr>
                        <a:t>429</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X429</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Made Wine - Still/Sparkling exceeding 22%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619102277"/>
                  </a:ext>
                </a:extLst>
              </a:tr>
              <a:tr h="158868">
                <a:tc>
                  <a:txBody>
                    <a:bodyPr/>
                    <a:lstStyle/>
                    <a:p>
                      <a:pPr>
                        <a:spcBef>
                          <a:spcPts val="0"/>
                        </a:spcBef>
                      </a:pPr>
                      <a:r>
                        <a:rPr lang="en-GB" sz="1400">
                          <a:effectLst/>
                        </a:rPr>
                        <a:t>433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X433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and Made Wine - exceeding 1.2% not exceeding 4% (low alcohol)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43640408"/>
                  </a:ext>
                </a:extLst>
              </a:tr>
              <a:tr h="158868">
                <a:tc>
                  <a:txBody>
                    <a:bodyPr/>
                    <a:lstStyle/>
                    <a:p>
                      <a:pPr>
                        <a:spcBef>
                          <a:spcPts val="0"/>
                        </a:spcBef>
                      </a:pPr>
                      <a:r>
                        <a:rPr lang="en-GB" sz="1400">
                          <a:effectLst/>
                        </a:rPr>
                        <a:t>435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X435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Wine and Made Wine - exceeding 4% not exceeding 5.5% (low alcohol)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543606171"/>
                  </a:ext>
                </a:extLst>
              </a:tr>
              <a:tr h="158868">
                <a:tc>
                  <a:txBody>
                    <a:bodyPr/>
                    <a:lstStyle/>
                    <a:p>
                      <a:pPr>
                        <a:spcBef>
                          <a:spcPts val="0"/>
                        </a:spcBef>
                      </a:pPr>
                      <a:r>
                        <a:rPr lang="en-GB" sz="1400">
                          <a:effectLst/>
                        </a:rPr>
                        <a:t>407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X407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Made in UK (annual production more than 60,000hl)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10378289"/>
                  </a:ext>
                </a:extLst>
              </a:tr>
              <a:tr h="233144">
                <a:tc>
                  <a:txBody>
                    <a:bodyPr/>
                    <a:lstStyle/>
                    <a:p>
                      <a:pPr>
                        <a:spcBef>
                          <a:spcPts val="0"/>
                        </a:spcBef>
                      </a:pPr>
                      <a:r>
                        <a:rPr lang="en-GB" sz="1400">
                          <a:effectLst/>
                        </a:rPr>
                        <a:t>473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X473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Imported (annual production more than 60,000hl) (+ low alcohol beer)</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235073696"/>
                  </a:ext>
                </a:extLst>
              </a:tr>
              <a:tr h="233144">
                <a:tc>
                  <a:txBody>
                    <a:bodyPr/>
                    <a:lstStyle/>
                    <a:p>
                      <a:pPr>
                        <a:spcBef>
                          <a:spcPts val="0"/>
                        </a:spcBef>
                      </a:pPr>
                      <a:r>
                        <a:rPr lang="en-GB" sz="1400">
                          <a:effectLst/>
                        </a:rPr>
                        <a:t>440</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X440</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dirty="0">
                          <a:effectLst/>
                        </a:rPr>
                        <a:t>Beer Made in UK. Small Brewery Beer (Annual production more than 5000hl not exceeding 60,000hl)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56669310"/>
                  </a:ext>
                </a:extLst>
              </a:tr>
            </a:tbl>
          </a:graphicData>
        </a:graphic>
      </p:graphicFrame>
      <p:sp>
        <p:nvSpPr>
          <p:cNvPr id="14" name="TextBox 13">
            <a:extLst>
              <a:ext uri="{FF2B5EF4-FFF2-40B4-BE49-F238E27FC236}">
                <a16:creationId xmlns:a16="http://schemas.microsoft.com/office/drawing/2014/main" id="{A3F31268-7B2F-4FC9-95A4-C1DAE72C4359}"/>
              </a:ext>
            </a:extLst>
          </p:cNvPr>
          <p:cNvSpPr txBox="1"/>
          <p:nvPr/>
        </p:nvSpPr>
        <p:spPr>
          <a:xfrm>
            <a:off x="446099" y="1316835"/>
            <a:ext cx="6096000" cy="307777"/>
          </a:xfrm>
          <a:prstGeom prst="rect">
            <a:avLst/>
          </a:prstGeom>
          <a:noFill/>
        </p:spPr>
        <p:txBody>
          <a:bodyPr wrap="square">
            <a:spAutoFit/>
          </a:bodyPr>
          <a:lstStyle/>
          <a:p>
            <a:pPr algn="l"/>
            <a:r>
              <a:rPr lang="en-GB" sz="1400" i="0" u="sng">
                <a:effectLst/>
              </a:rPr>
              <a:t>400 Series excise codes to be deprecated on 31/7/2023</a:t>
            </a:r>
          </a:p>
        </p:txBody>
      </p:sp>
      <p:sp>
        <p:nvSpPr>
          <p:cNvPr id="12" name="Slide Number Placeholder 3">
            <a:extLst>
              <a:ext uri="{FF2B5EF4-FFF2-40B4-BE49-F238E27FC236}">
                <a16:creationId xmlns:a16="http://schemas.microsoft.com/office/drawing/2014/main" id="{FDF67DA1-88F3-4485-90DE-A7A8FE59A151}"/>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250</a:t>
            </a:fld>
            <a:endParaRPr lang="en-GB" dirty="0">
              <a:solidFill>
                <a:schemeClr val="tx1"/>
              </a:solidFill>
            </a:endParaRPr>
          </a:p>
        </p:txBody>
      </p:sp>
    </p:spTree>
    <p:extLst>
      <p:ext uri="{BB962C8B-B14F-4D97-AF65-F5344CB8AC3E}">
        <p14:creationId xmlns:p14="http://schemas.microsoft.com/office/powerpoint/2010/main" val="434954857"/>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1" name="Table 10">
            <a:extLst>
              <a:ext uri="{FF2B5EF4-FFF2-40B4-BE49-F238E27FC236}">
                <a16:creationId xmlns:a16="http://schemas.microsoft.com/office/drawing/2014/main" id="{D64B7193-F1A6-4475-962B-FD110F4A1788}"/>
              </a:ext>
            </a:extLst>
          </p:cNvPr>
          <p:cNvGraphicFramePr>
            <a:graphicFrameLocks noGrp="1"/>
          </p:cNvGraphicFramePr>
          <p:nvPr/>
        </p:nvGraphicFramePr>
        <p:xfrm>
          <a:off x="836079" y="1703100"/>
          <a:ext cx="10515600" cy="4034788"/>
        </p:xfrm>
        <a:graphic>
          <a:graphicData uri="http://schemas.openxmlformats.org/drawingml/2006/table">
            <a:tbl>
              <a:tblPr/>
              <a:tblGrid>
                <a:gridCol w="1204671">
                  <a:extLst>
                    <a:ext uri="{9D8B030D-6E8A-4147-A177-3AD203B41FA5}">
                      <a16:colId xmlns:a16="http://schemas.microsoft.com/office/drawing/2014/main" val="4035400281"/>
                    </a:ext>
                  </a:extLst>
                </a:gridCol>
                <a:gridCol w="2003483">
                  <a:extLst>
                    <a:ext uri="{9D8B030D-6E8A-4147-A177-3AD203B41FA5}">
                      <a16:colId xmlns:a16="http://schemas.microsoft.com/office/drawing/2014/main" val="1508697288"/>
                    </a:ext>
                  </a:extLst>
                </a:gridCol>
                <a:gridCol w="7307446">
                  <a:extLst>
                    <a:ext uri="{9D8B030D-6E8A-4147-A177-3AD203B41FA5}">
                      <a16:colId xmlns:a16="http://schemas.microsoft.com/office/drawing/2014/main" val="832674583"/>
                    </a:ext>
                  </a:extLst>
                </a:gridCol>
              </a:tblGrid>
              <a:tr h="135317">
                <a:tc>
                  <a:txBody>
                    <a:bodyPr/>
                    <a:lstStyle/>
                    <a:p>
                      <a:pPr algn="ctr"/>
                      <a:r>
                        <a:rPr lang="fr-FR" sz="1400" b="1">
                          <a:solidFill>
                            <a:schemeClr val="bg1"/>
                          </a:solidFill>
                          <a:effectLst/>
                        </a:rPr>
                        <a:t>Tax Type Code</a:t>
                      </a:r>
                      <a:br>
                        <a:rPr lang="fr-FR" sz="1400" b="1">
                          <a:solidFill>
                            <a:schemeClr val="bg1"/>
                          </a:solidFill>
                          <a:effectLst/>
                        </a:rPr>
                      </a:br>
                      <a:r>
                        <a:rPr lang="fr-FR" sz="1400" b="1">
                          <a:solidFill>
                            <a:schemeClr val="bg1"/>
                          </a:solidFill>
                          <a:effectLst/>
                        </a:rPr>
                        <a:t>DE 4/3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fr-FR" sz="1400" b="1">
                          <a:solidFill>
                            <a:schemeClr val="bg1"/>
                          </a:solidFill>
                          <a:effectLst/>
                        </a:rPr>
                        <a:t>National Additional Code</a:t>
                      </a:r>
                      <a:br>
                        <a:rPr lang="fr-FR" sz="1400" b="1">
                          <a:solidFill>
                            <a:schemeClr val="bg1"/>
                          </a:solidFill>
                          <a:effectLst/>
                        </a:rPr>
                      </a:br>
                      <a:r>
                        <a:rPr lang="fr-FR" sz="1400" b="1">
                          <a:solidFill>
                            <a:schemeClr val="bg1"/>
                          </a:solidFill>
                          <a:effectLst/>
                        </a:rPr>
                        <a:t>DE 6/17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Description</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3435362021"/>
                  </a:ext>
                </a:extLst>
              </a:tr>
              <a:tr h="158868">
                <a:tc>
                  <a:txBody>
                    <a:bodyPr/>
                    <a:lstStyle/>
                    <a:p>
                      <a:pPr>
                        <a:spcBef>
                          <a:spcPts val="0"/>
                        </a:spcBef>
                      </a:pPr>
                      <a:r>
                        <a:rPr lang="en-GB" sz="1400">
                          <a:effectLst/>
                        </a:rPr>
                        <a:t>441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Imported. Small Brewery Beer (annual production more than 5000hl not exceeding 60,000hl)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863074401"/>
                  </a:ext>
                </a:extLst>
              </a:tr>
              <a:tr h="80608">
                <a:tc>
                  <a:txBody>
                    <a:bodyPr/>
                    <a:lstStyle/>
                    <a:p>
                      <a:pPr>
                        <a:spcBef>
                          <a:spcPts val="0"/>
                        </a:spcBef>
                      </a:pPr>
                      <a:r>
                        <a:rPr lang="en-GB" sz="1400">
                          <a:effectLst/>
                        </a:rPr>
                        <a:t>442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Made in UK. Small Brewery Beer (annual production no more than 5000hl)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45290421"/>
                  </a:ext>
                </a:extLst>
              </a:tr>
              <a:tr h="84592">
                <a:tc>
                  <a:txBody>
                    <a:bodyPr/>
                    <a:lstStyle/>
                    <a:p>
                      <a:pPr>
                        <a:spcBef>
                          <a:spcPts val="0"/>
                        </a:spcBef>
                      </a:pPr>
                      <a:r>
                        <a:rPr lang="en-GB" sz="1400">
                          <a:effectLst/>
                        </a:rPr>
                        <a:t>443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Imported. Small Brewery Beer (annual production no more than 5000hl)</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14005835"/>
                  </a:ext>
                </a:extLst>
              </a:tr>
              <a:tr h="84592">
                <a:tc>
                  <a:txBody>
                    <a:bodyPr/>
                    <a:lstStyle/>
                    <a:p>
                      <a:pPr>
                        <a:spcBef>
                          <a:spcPts val="0"/>
                        </a:spcBef>
                      </a:pPr>
                      <a:r>
                        <a:rPr lang="en-GB" sz="1400">
                          <a:effectLst/>
                        </a:rPr>
                        <a:t>444</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X444</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Made in UK - exceeding 1.2% not exceeding 2.8% abv</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50157096"/>
                  </a:ext>
                </a:extLst>
              </a:tr>
              <a:tr h="127706">
                <a:tc>
                  <a:txBody>
                    <a:bodyPr/>
                    <a:lstStyle/>
                    <a:p>
                      <a:pPr>
                        <a:spcBef>
                          <a:spcPts val="0"/>
                        </a:spcBef>
                      </a:pPr>
                      <a:r>
                        <a:rPr lang="en-GB" sz="1400">
                          <a:effectLst/>
                        </a:rPr>
                        <a:t>445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Beer Made in UK - exceeding 7.5% abv</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09206679"/>
                  </a:ext>
                </a:extLst>
              </a:tr>
              <a:tr h="84592">
                <a:tc>
                  <a:txBody>
                    <a:bodyPr/>
                    <a:lstStyle/>
                    <a:p>
                      <a:pPr>
                        <a:spcBef>
                          <a:spcPts val="0"/>
                        </a:spcBef>
                      </a:pPr>
                      <a:r>
                        <a:rPr lang="en-GB" sz="1400">
                          <a:effectLst/>
                        </a:rPr>
                        <a:t>446</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X446</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Imported Beer - exceeding 1.2% not exceeding 2.8% abv</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947316151"/>
                  </a:ext>
                </a:extLst>
              </a:tr>
              <a:tr h="84592">
                <a:tc>
                  <a:txBody>
                    <a:bodyPr/>
                    <a:lstStyle/>
                    <a:p>
                      <a:pPr>
                        <a:spcBef>
                          <a:spcPts val="0"/>
                        </a:spcBef>
                      </a:pPr>
                      <a:r>
                        <a:rPr lang="en-GB" sz="1400">
                          <a:effectLst/>
                        </a:rPr>
                        <a:t>447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X447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Imported Beer - exceeding 7.5% abv</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5878549"/>
                  </a:ext>
                </a:extLst>
              </a:tr>
              <a:tr h="84592">
                <a:tc>
                  <a:txBody>
                    <a:bodyPr/>
                    <a:lstStyle/>
                    <a:p>
                      <a:pPr>
                        <a:spcBef>
                          <a:spcPts val="0"/>
                        </a:spcBef>
                      </a:pPr>
                      <a:r>
                        <a:rPr lang="en-GB" sz="1400">
                          <a:effectLst/>
                        </a:rPr>
                        <a:t>451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X451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Spirits</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919359398"/>
                  </a:ext>
                </a:extLst>
              </a:tr>
              <a:tr h="84592">
                <a:tc>
                  <a:txBody>
                    <a:bodyPr/>
                    <a:lstStyle/>
                    <a:p>
                      <a:pPr>
                        <a:spcBef>
                          <a:spcPts val="0"/>
                        </a:spcBef>
                      </a:pPr>
                      <a:r>
                        <a:rPr lang="en-GB" sz="1400">
                          <a:effectLst/>
                        </a:rPr>
                        <a:t>461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X461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Spirits: Whisky - wholly malt</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91118420"/>
                  </a:ext>
                </a:extLst>
              </a:tr>
              <a:tr h="84592">
                <a:tc>
                  <a:txBody>
                    <a:bodyPr/>
                    <a:lstStyle/>
                    <a:p>
                      <a:pPr>
                        <a:spcBef>
                          <a:spcPts val="0"/>
                        </a:spcBef>
                      </a:pPr>
                      <a:r>
                        <a:rPr lang="en-GB" sz="1400">
                          <a:effectLst/>
                        </a:rPr>
                        <a:t>462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X462</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Spirits: Whisky - wholly grain</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099289391"/>
                  </a:ext>
                </a:extLst>
              </a:tr>
              <a:tr h="84592">
                <a:tc>
                  <a:txBody>
                    <a:bodyPr/>
                    <a:lstStyle/>
                    <a:p>
                      <a:pPr>
                        <a:spcBef>
                          <a:spcPts val="0"/>
                        </a:spcBef>
                      </a:pPr>
                      <a:r>
                        <a:rPr lang="en-GB" sz="1400">
                          <a:effectLst/>
                        </a:rPr>
                        <a:t>463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X463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Spirits: Whisky - blended</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619102277"/>
                  </a:ext>
                </a:extLst>
              </a:tr>
              <a:tr h="158868">
                <a:tc>
                  <a:txBody>
                    <a:bodyPr/>
                    <a:lstStyle/>
                    <a:p>
                      <a:pPr>
                        <a:spcBef>
                          <a:spcPts val="0"/>
                        </a:spcBef>
                      </a:pPr>
                      <a:r>
                        <a:rPr lang="en-GB" sz="1400">
                          <a:effectLst/>
                        </a:rPr>
                        <a:t>438</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X438</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Spirit Based 'ready to drinks' exceeding 1.2% but not exceeding 8% </a:t>
                      </a:r>
                      <a:r>
                        <a:rPr lang="en-GB" sz="1400" err="1">
                          <a:effectLst/>
                        </a:rPr>
                        <a:t>alc</a:t>
                      </a:r>
                      <a:endParaRPr lang="en-GB" sz="1400">
                        <a:effectLst/>
                      </a:endParaRP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43640408"/>
                  </a:ext>
                </a:extLst>
              </a:tr>
              <a:tr h="158868">
                <a:tc>
                  <a:txBody>
                    <a:bodyPr/>
                    <a:lstStyle/>
                    <a:p>
                      <a:pPr>
                        <a:spcBef>
                          <a:spcPts val="0"/>
                        </a:spcBef>
                      </a:pPr>
                      <a:r>
                        <a:rPr lang="en-GB" sz="1400">
                          <a:effectLst/>
                        </a:rPr>
                        <a:t>481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X481</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Cider and Perry Still 1.2%-6.9% or Sparkling 1.2%-5.5%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543606171"/>
                  </a:ext>
                </a:extLst>
              </a:tr>
              <a:tr h="158868">
                <a:tc>
                  <a:txBody>
                    <a:bodyPr/>
                    <a:lstStyle/>
                    <a:p>
                      <a:pPr>
                        <a:spcBef>
                          <a:spcPts val="0"/>
                        </a:spcBef>
                      </a:pPr>
                      <a:r>
                        <a:rPr lang="en-GB" sz="1400">
                          <a:effectLst/>
                        </a:rPr>
                        <a:t>483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X483</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Cider and Perry Still 7.5%-8.5%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10378289"/>
                  </a:ext>
                </a:extLst>
              </a:tr>
              <a:tr h="233144">
                <a:tc>
                  <a:txBody>
                    <a:bodyPr/>
                    <a:lstStyle/>
                    <a:p>
                      <a:pPr>
                        <a:spcBef>
                          <a:spcPts val="0"/>
                        </a:spcBef>
                      </a:pPr>
                      <a:r>
                        <a:rPr lang="en-GB" sz="1400">
                          <a:effectLst/>
                        </a:rPr>
                        <a:t>485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Cider and Perry Sparkling 5.5%-8.5%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235073696"/>
                  </a:ext>
                </a:extLst>
              </a:tr>
              <a:tr h="233144">
                <a:tc>
                  <a:txBody>
                    <a:bodyPr/>
                    <a:lstStyle/>
                    <a:p>
                      <a:pPr>
                        <a:spcBef>
                          <a:spcPts val="0"/>
                        </a:spcBef>
                      </a:pPr>
                      <a:r>
                        <a:rPr lang="en-GB" sz="1400">
                          <a:effectLst/>
                        </a:rPr>
                        <a:t>487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a:effectLst/>
                        </a:rPr>
                        <a:t>X487</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pPr>
                        <a:spcBef>
                          <a:spcPts val="0"/>
                        </a:spcBef>
                      </a:pPr>
                      <a:r>
                        <a:rPr lang="en-GB" sz="1400" dirty="0">
                          <a:effectLst/>
                        </a:rPr>
                        <a:t>Cider &amp; Perry Still Made in the UK or imported at least 6.9% but not exceeding 7.5%</a:t>
                      </a:r>
                    </a:p>
                  </a:txBody>
                  <a:tcPr marL="6877" marR="6877" marT="5158" marB="5158"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56669310"/>
                  </a:ext>
                </a:extLst>
              </a:tr>
            </a:tbl>
          </a:graphicData>
        </a:graphic>
      </p:graphicFrame>
      <p:sp>
        <p:nvSpPr>
          <p:cNvPr id="15" name="TextBox 14">
            <a:extLst>
              <a:ext uri="{FF2B5EF4-FFF2-40B4-BE49-F238E27FC236}">
                <a16:creationId xmlns:a16="http://schemas.microsoft.com/office/drawing/2014/main" id="{8CFEE402-0C81-490A-B8F9-F5EFA1CB8D2E}"/>
              </a:ext>
            </a:extLst>
          </p:cNvPr>
          <p:cNvSpPr txBox="1"/>
          <p:nvPr/>
        </p:nvSpPr>
        <p:spPr>
          <a:xfrm>
            <a:off x="446099" y="1316835"/>
            <a:ext cx="6096000" cy="307777"/>
          </a:xfrm>
          <a:prstGeom prst="rect">
            <a:avLst/>
          </a:prstGeom>
          <a:noFill/>
        </p:spPr>
        <p:txBody>
          <a:bodyPr wrap="square">
            <a:spAutoFit/>
          </a:bodyPr>
          <a:lstStyle/>
          <a:p>
            <a:pPr algn="l"/>
            <a:r>
              <a:rPr lang="en-GB" sz="1400" i="0" u="sng">
                <a:effectLst/>
              </a:rPr>
              <a:t>400 Series excise codes to be deprecated on 31/7/2023 (cont.)</a:t>
            </a:r>
          </a:p>
        </p:txBody>
      </p:sp>
      <p:sp>
        <p:nvSpPr>
          <p:cNvPr id="13" name="Slide Number Placeholder 3">
            <a:extLst>
              <a:ext uri="{FF2B5EF4-FFF2-40B4-BE49-F238E27FC236}">
                <a16:creationId xmlns:a16="http://schemas.microsoft.com/office/drawing/2014/main" id="{5403663B-E55D-4AC4-A427-2516AE6FED79}"/>
              </a:ext>
            </a:extLst>
          </p:cNvPr>
          <p:cNvSpPr txBox="1">
            <a:spLocks/>
          </p:cNvSpPr>
          <p:nvPr/>
        </p:nvSpPr>
        <p:spPr>
          <a:xfrm>
            <a:off x="935476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251</a:t>
            </a:fld>
            <a:endParaRPr lang="en-GB">
              <a:solidFill>
                <a:schemeClr val="tx1"/>
              </a:solidFill>
            </a:endParaRPr>
          </a:p>
        </p:txBody>
      </p:sp>
    </p:spTree>
    <p:extLst>
      <p:ext uri="{BB962C8B-B14F-4D97-AF65-F5344CB8AC3E}">
        <p14:creationId xmlns:p14="http://schemas.microsoft.com/office/powerpoint/2010/main" val="227122923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46373"/>
            <a:ext cx="11282159" cy="954107"/>
          </a:xfrm>
          <a:prstGeom prst="rect">
            <a:avLst/>
          </a:prstGeom>
          <a:noFill/>
          <a:ln cap="flat">
            <a:noFill/>
            <a:prstDash val="solid"/>
          </a:ln>
        </p:spPr>
        <p:txBody>
          <a:bodyPr vert="horz" wrap="square" lIns="91440" tIns="45720" rIns="91440" bIns="45720" anchor="t" anchorCtr="0" compatLnSpc="1">
            <a:spAutoFit/>
          </a:bodyPr>
          <a:lstStyle/>
          <a:p>
            <a:pPr algn="l" fontAlgn="ctr"/>
            <a:r>
              <a:rPr lang="en-GB" sz="1400" b="1" u="sng">
                <a:effectLst/>
              </a:rPr>
              <a:t>Submission and Use of New 300 Series Excise Codes from 1/08/2023</a:t>
            </a:r>
          </a:p>
          <a:p>
            <a:pPr algn="l" fontAlgn="ctr"/>
            <a:endParaRPr lang="en-GB" sz="1400" b="1" i="0" u="sng">
              <a:solidFill>
                <a:srgbClr val="000000"/>
              </a:solidFill>
              <a:effectLst/>
            </a:endParaRPr>
          </a:p>
          <a:p>
            <a:r>
              <a:rPr lang="en-GB" sz="1400">
                <a:solidFill>
                  <a:srgbClr val="000000"/>
                </a:solidFill>
              </a:rPr>
              <a:t>From CDS4.1.1, new 300 series Alcohol Tax Types and excise codes will be available for use by traders. F</a:t>
            </a:r>
            <a:r>
              <a:rPr lang="en-GB" sz="1400"/>
              <a:t>rom 01/08/2023, the following new tax types (DE 4/3) and new national additional codes (DE 6/17) will be added to CDS.</a:t>
            </a:r>
            <a:endParaRPr lang="en-GB" sz="1400" b="0" i="0" strike="sngStrike">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1" name="Table 10">
            <a:extLst>
              <a:ext uri="{FF2B5EF4-FFF2-40B4-BE49-F238E27FC236}">
                <a16:creationId xmlns:a16="http://schemas.microsoft.com/office/drawing/2014/main" id="{30A784B8-5315-480E-8B11-B080AE9ACE0F}"/>
              </a:ext>
            </a:extLst>
          </p:cNvPr>
          <p:cNvGraphicFramePr>
            <a:graphicFrameLocks noGrp="1"/>
          </p:cNvGraphicFramePr>
          <p:nvPr/>
        </p:nvGraphicFramePr>
        <p:xfrm>
          <a:off x="838200" y="2407537"/>
          <a:ext cx="10515600" cy="1607820"/>
        </p:xfrm>
        <a:graphic>
          <a:graphicData uri="http://schemas.openxmlformats.org/drawingml/2006/table">
            <a:tbl>
              <a:tblPr/>
              <a:tblGrid>
                <a:gridCol w="1734644">
                  <a:extLst>
                    <a:ext uri="{9D8B030D-6E8A-4147-A177-3AD203B41FA5}">
                      <a16:colId xmlns:a16="http://schemas.microsoft.com/office/drawing/2014/main" val="2747772002"/>
                    </a:ext>
                  </a:extLst>
                </a:gridCol>
                <a:gridCol w="8780956">
                  <a:extLst>
                    <a:ext uri="{9D8B030D-6E8A-4147-A177-3AD203B41FA5}">
                      <a16:colId xmlns:a16="http://schemas.microsoft.com/office/drawing/2014/main" val="239572214"/>
                    </a:ext>
                  </a:extLst>
                </a:gridCol>
              </a:tblGrid>
              <a:tr h="0">
                <a:tc>
                  <a:txBody>
                    <a:bodyPr/>
                    <a:lstStyle/>
                    <a:p>
                      <a:pPr algn="ctr"/>
                      <a:r>
                        <a:rPr lang="en-GB" sz="1400" b="1">
                          <a:solidFill>
                            <a:schemeClr val="bg1"/>
                          </a:solidFill>
                          <a:effectLst/>
                        </a:rPr>
                        <a:t>Data Element</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New values allowed</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4201599249"/>
                  </a:ext>
                </a:extLst>
              </a:tr>
              <a:tr h="0">
                <a:tc>
                  <a:txBody>
                    <a:bodyPr/>
                    <a:lstStyle/>
                    <a:p>
                      <a:pPr algn="ctr"/>
                      <a:r>
                        <a:rPr lang="en-GB" sz="1400">
                          <a:effectLst/>
                        </a:rPr>
                        <a:t>4/3</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tcPr>
                </a:tc>
                <a:tc>
                  <a:txBody>
                    <a:bodyPr/>
                    <a:lstStyle/>
                    <a:p>
                      <a:r>
                        <a:rPr lang="en-GB" sz="1400">
                          <a:effectLst/>
                        </a:rPr>
                        <a:t>301, 311, 312, 313, 314, 315, 321, 322, 323, 324, 325, 331, 333, 334, 335, 341, 343, 344, 345, 351, 352, 353, 354, 355, 356, 357, 358, 359, 360, 361, 362, 363, 364, 365, 366, 367, 368, 369, 370, 371, 372, 373, 374, 375, 376, 377, 378, 379, 380</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2259906835"/>
                  </a:ext>
                </a:extLst>
              </a:tr>
              <a:tr h="0">
                <a:tc>
                  <a:txBody>
                    <a:bodyPr/>
                    <a:lstStyle/>
                    <a:p>
                      <a:pPr algn="ctr"/>
                      <a:r>
                        <a:rPr lang="en-GB" sz="1400">
                          <a:effectLst/>
                        </a:rPr>
                        <a:t>6/17</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tcPr>
                </a:tc>
                <a:tc>
                  <a:txBody>
                    <a:bodyPr/>
                    <a:lstStyle/>
                    <a:p>
                      <a:r>
                        <a:rPr lang="en-GB" sz="1400" dirty="0">
                          <a:effectLst/>
                        </a:rPr>
                        <a:t>X301 X311 X312 X313 X314 X315 X321 X322 X323 X324 X325 X331 X333 X335 X341 X343 X344 X345 X351 X352 X353 X354 X355 X356 X357 X358 X359 X360 X361 X362 X363 X364 X365 X366 X367 X368 X369 X370 X371 X372 X373 X374 X375 X376 X377 X378 X379 X380</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587032400"/>
                  </a:ext>
                </a:extLst>
              </a:tr>
            </a:tbl>
          </a:graphicData>
        </a:graphic>
      </p:graphicFrame>
      <p:sp>
        <p:nvSpPr>
          <p:cNvPr id="15" name="TextBox 14">
            <a:extLst>
              <a:ext uri="{FF2B5EF4-FFF2-40B4-BE49-F238E27FC236}">
                <a16:creationId xmlns:a16="http://schemas.microsoft.com/office/drawing/2014/main" id="{EE21CA4D-8DC4-4AD9-9061-085938797400}"/>
              </a:ext>
            </a:extLst>
          </p:cNvPr>
          <p:cNvSpPr txBox="1"/>
          <p:nvPr/>
        </p:nvSpPr>
        <p:spPr>
          <a:xfrm>
            <a:off x="465154" y="4171976"/>
            <a:ext cx="11282093" cy="1600438"/>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sng" strike="noStrike" kern="1200" cap="none" spc="0" normalizeH="0" baseline="0" noProof="0" dirty="0">
                <a:ln>
                  <a:noFill/>
                </a:ln>
                <a:solidFill>
                  <a:srgbClr val="000000"/>
                </a:solidFill>
                <a:effectLst/>
                <a:uLnTx/>
                <a:uFillTx/>
                <a:latin typeface="Calibri" panose="020F0502020204030204"/>
                <a:ea typeface="+mn-ea"/>
                <a:cs typeface="+mn-cs"/>
              </a:rPr>
              <a:t>Acceptance Criteria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Import declaration type</a:t>
            </a:r>
            <a:r>
              <a:rPr kumimoji="0" lang="en-GB" sz="1400" b="0" i="0" u="none" strike="noStrike" kern="1200" cap="none" spc="0" normalizeH="0" baseline="0" noProof="0" dirty="0">
                <a:ln>
                  <a:noFill/>
                </a:ln>
                <a:effectLst/>
                <a:uLnTx/>
                <a:uFillTx/>
                <a:latin typeface="Calibri" panose="020F0502020204030204"/>
                <a:ea typeface="+mn-ea"/>
                <a:cs typeface="+mn-cs"/>
              </a:rPr>
              <a:t>s</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A, B, D, E, Y or Z</a:t>
            </a: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must be entered with a commodity code in DE 6/14, 6/15 Combined Nomenclature code and the required data elements (as per the table </a:t>
            </a:r>
            <a:r>
              <a:rPr lang="en-GB" sz="1400" dirty="0">
                <a:solidFill>
                  <a:srgbClr val="000000"/>
                </a:solidFill>
                <a:latin typeface="Calibri" panose="020F0502020204030204"/>
              </a:rPr>
              <a:t>on slide 7</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*C&amp;F are also included when they have a full commodity 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If any of the conditions cannot be passed, then the declaration will be rejected and a DMSREJ notification will be issued.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dirty="0">
              <a:solidFill>
                <a:srgbClr val="000000"/>
              </a:solidFill>
              <a:latin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Please note: When codes X361 to X380 are used, DE 4/4 must also be provided and must match the values provided in DE 6/2</a:t>
            </a:r>
            <a:r>
              <a:rPr lang="en-GB" sz="1400" dirty="0">
                <a:solidFill>
                  <a:srgbClr val="000000"/>
                </a:solidFill>
                <a:latin typeface="Calibri" panose="020F0502020204030204"/>
              </a:rPr>
              <a:t> (see slide 9).</a:t>
            </a:r>
            <a:endParaRPr lang="en-GB" sz="1400" b="0" i="0" u="none" strike="noStrike" kern="1200" cap="none" spc="0" normalizeH="0" baseline="0" noProof="0" dirty="0">
              <a:ln>
                <a:noFill/>
              </a:ln>
              <a:solidFill>
                <a:srgbClr val="000000"/>
              </a:solidFill>
              <a:effectLst/>
              <a:uLnTx/>
              <a:uFillTx/>
              <a:latin typeface="Calibri" panose="020F0502020204030204"/>
              <a:ea typeface="Calibri"/>
              <a:cs typeface="Calibri"/>
            </a:endParaRPr>
          </a:p>
        </p:txBody>
      </p:sp>
      <p:sp>
        <p:nvSpPr>
          <p:cNvPr id="13" name="Slide Number Placeholder 3">
            <a:extLst>
              <a:ext uri="{FF2B5EF4-FFF2-40B4-BE49-F238E27FC236}">
                <a16:creationId xmlns:a16="http://schemas.microsoft.com/office/drawing/2014/main" id="{856F811F-7824-46BC-AD26-1A03C229806E}"/>
              </a:ext>
            </a:extLst>
          </p:cNvPr>
          <p:cNvSpPr txBox="1">
            <a:spLocks/>
          </p:cNvSpPr>
          <p:nvPr/>
        </p:nvSpPr>
        <p:spPr>
          <a:xfrm>
            <a:off x="9354769"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252</a:t>
            </a:fld>
            <a:endParaRPr lang="en-GB" dirty="0">
              <a:solidFill>
                <a:schemeClr val="tx1"/>
              </a:solidFill>
            </a:endParaRPr>
          </a:p>
        </p:txBody>
      </p:sp>
    </p:spTree>
    <p:extLst>
      <p:ext uri="{BB962C8B-B14F-4D97-AF65-F5344CB8AC3E}">
        <p14:creationId xmlns:p14="http://schemas.microsoft.com/office/powerpoint/2010/main" val="3497210104"/>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25937" y="1257585"/>
            <a:ext cx="11282159" cy="2031325"/>
          </a:xfrm>
          <a:prstGeom prst="rect">
            <a:avLst/>
          </a:prstGeom>
          <a:noFill/>
          <a:ln cap="flat">
            <a:noFill/>
            <a:prstDash val="solid"/>
          </a:ln>
        </p:spPr>
        <p:txBody>
          <a:bodyPr vert="horz" wrap="square" lIns="91440" tIns="45720" rIns="91440" bIns="45720" anchor="t" anchorCtr="0" compatLnSpc="1">
            <a:spAutoFit/>
          </a:bodyPr>
          <a:lstStyle/>
          <a:p>
            <a:pPr algn="l"/>
            <a:r>
              <a:rPr lang="en-GB" sz="1400" u="sng" dirty="0">
                <a:solidFill>
                  <a:srgbClr val="000000"/>
                </a:solidFill>
                <a:cs typeface="Times New Roman" panose="02020603050405020304" pitchFamily="18" charset="0"/>
              </a:rPr>
              <a:t>Acceptance Criteria cont.</a:t>
            </a:r>
          </a:p>
          <a:p>
            <a:pPr marL="285750" indent="-285750" algn="l">
              <a:buFont typeface="Arial" panose="020B0604020202020204" pitchFamily="34" charset="0"/>
              <a:buChar char="•"/>
            </a:pPr>
            <a:r>
              <a:rPr lang="en-GB" sz="1400" dirty="0">
                <a:solidFill>
                  <a:srgbClr val="000000"/>
                </a:solidFill>
                <a:cs typeface="Times New Roman" panose="02020603050405020304" pitchFamily="18" charset="0"/>
              </a:rPr>
              <a:t>Traders will not be able to declare a Small Producer Relief (SPR) rate that results in a negative duty rate. Where a National Additional code is entered into D.E. 6/17, SPR Reduction values (Use of Codes X361 to X370 when SPR alone is applicable or X371 to X380 when both Draught Relief (DR) and SPR is applicable) must not reduce the overall duty rate to zero or below.</a:t>
            </a:r>
          </a:p>
          <a:p>
            <a:pPr marL="285750" indent="-285750" algn="l">
              <a:buFont typeface="Arial" panose="020B0604020202020204" pitchFamily="34" charset="0"/>
              <a:buChar char="•"/>
            </a:pPr>
            <a:endParaRPr lang="en-GB" sz="1400" dirty="0">
              <a:solidFill>
                <a:srgbClr val="000000"/>
              </a:solidFill>
              <a:cs typeface="Times New Roman" panose="02020603050405020304" pitchFamily="18" charset="0"/>
            </a:endParaRPr>
          </a:p>
          <a:p>
            <a:r>
              <a:rPr lang="en-GB" sz="1400" dirty="0">
                <a:ea typeface="Calibri" panose="020F0502020204030204" pitchFamily="34" charset="0"/>
                <a:cs typeface="Times New Roman" panose="02020603050405020304" pitchFamily="18" charset="0"/>
              </a:rPr>
              <a:t>If a negative duty is calculated, then the declaration will be rejected and a DMSREJ notification will be issued.</a:t>
            </a:r>
          </a:p>
          <a:p>
            <a:endParaRPr lang="en-GB" sz="1400" dirty="0">
              <a:ea typeface="Calibri" panose="020F0502020204030204" pitchFamily="34" charset="0"/>
              <a:cs typeface="Times New Roman" panose="02020603050405020304" pitchFamily="18" charset="0"/>
            </a:endParaRPr>
          </a:p>
          <a:p>
            <a:r>
              <a:rPr lang="en-GB" sz="1400" dirty="0">
                <a:ea typeface="Calibri" panose="020F0502020204030204" pitchFamily="34" charset="0"/>
                <a:cs typeface="Times New Roman" panose="02020603050405020304" pitchFamily="18" charset="0"/>
              </a:rPr>
              <a:t>For guidance on how to calculate Small Producer Relief (SPR), please see: </a:t>
            </a:r>
            <a:r>
              <a:rPr lang="en-GB" sz="1400" dirty="0">
                <a:hlinkClick r:id="rId3"/>
              </a:rPr>
              <a:t>How to work out your Alcohol Duty rates if you’re eligible for Small Producer Relief - GOV.UK (www.gov.uk)</a:t>
            </a:r>
            <a:endParaRPr lang="en-GB" sz="1400" dirty="0">
              <a:ea typeface="Calibri" panose="020F0502020204030204" pitchFamily="34" charset="0"/>
              <a:cs typeface="Times New Roman" panose="02020603050405020304" pitchFamily="18"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Slide Number Placeholder 3">
            <a:extLst>
              <a:ext uri="{FF2B5EF4-FFF2-40B4-BE49-F238E27FC236}">
                <a16:creationId xmlns:a16="http://schemas.microsoft.com/office/drawing/2014/main" id="{974664A2-D05D-4617-818C-85B9899B59B9}"/>
              </a:ext>
            </a:extLst>
          </p:cNvPr>
          <p:cNvSpPr txBox="1">
            <a:spLocks/>
          </p:cNvSpPr>
          <p:nvPr/>
        </p:nvSpPr>
        <p:spPr>
          <a:xfrm>
            <a:off x="938657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253</a:t>
            </a:fld>
            <a:endParaRPr lang="en-GB" dirty="0">
              <a:solidFill>
                <a:schemeClr val="tx1"/>
              </a:solidFill>
            </a:endParaRPr>
          </a:p>
        </p:txBody>
      </p:sp>
    </p:spTree>
    <p:extLst>
      <p:ext uri="{BB962C8B-B14F-4D97-AF65-F5344CB8AC3E}">
        <p14:creationId xmlns:p14="http://schemas.microsoft.com/office/powerpoint/2010/main" val="35258982"/>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25937" y="1257585"/>
            <a:ext cx="11282159" cy="523220"/>
          </a:xfrm>
          <a:prstGeom prst="rect">
            <a:avLst/>
          </a:prstGeom>
          <a:noFill/>
          <a:ln cap="flat">
            <a:noFill/>
            <a:prstDash val="solid"/>
          </a:ln>
        </p:spPr>
        <p:txBody>
          <a:bodyPr vert="horz" wrap="square" lIns="91440" tIns="45720" rIns="91440" bIns="45720" anchor="t" anchorCtr="0" compatLnSpc="1">
            <a:spAutoFit/>
          </a:bodyPr>
          <a:lstStyle/>
          <a:p>
            <a:r>
              <a:rPr lang="en-GB" sz="1400" u="sng">
                <a:solidFill>
                  <a:srgbClr val="000000"/>
                </a:solidFill>
              </a:rPr>
              <a:t>Required Data Elements:</a:t>
            </a:r>
          </a:p>
          <a:p>
            <a:r>
              <a:rPr lang="en-GB" sz="1400">
                <a:solidFill>
                  <a:srgbClr val="000000"/>
                </a:solidFill>
              </a:rPr>
              <a:t>Please note: From 01/08/2023 to 31/01/2025 when using X333 where ASV is between 11.5% and 14.5%, EAS 12.5 (Easement) must also be supplied.</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4" name="Table 13">
            <a:extLst>
              <a:ext uri="{FF2B5EF4-FFF2-40B4-BE49-F238E27FC236}">
                <a16:creationId xmlns:a16="http://schemas.microsoft.com/office/drawing/2014/main" id="{1FE81273-6F6E-4565-BC56-F9E6979FBBD1}"/>
              </a:ext>
            </a:extLst>
          </p:cNvPr>
          <p:cNvGraphicFramePr>
            <a:graphicFrameLocks noGrp="1"/>
          </p:cNvGraphicFramePr>
          <p:nvPr/>
        </p:nvGraphicFramePr>
        <p:xfrm>
          <a:off x="838200" y="2076161"/>
          <a:ext cx="10515600" cy="3644600"/>
        </p:xfrm>
        <a:graphic>
          <a:graphicData uri="http://schemas.openxmlformats.org/drawingml/2006/table">
            <a:tbl>
              <a:tblPr/>
              <a:tblGrid>
                <a:gridCol w="1962727">
                  <a:extLst>
                    <a:ext uri="{9D8B030D-6E8A-4147-A177-3AD203B41FA5}">
                      <a16:colId xmlns:a16="http://schemas.microsoft.com/office/drawing/2014/main" val="1369723377"/>
                    </a:ext>
                  </a:extLst>
                </a:gridCol>
                <a:gridCol w="646546">
                  <a:extLst>
                    <a:ext uri="{9D8B030D-6E8A-4147-A177-3AD203B41FA5}">
                      <a16:colId xmlns:a16="http://schemas.microsoft.com/office/drawing/2014/main" val="3448455027"/>
                    </a:ext>
                  </a:extLst>
                </a:gridCol>
                <a:gridCol w="535709">
                  <a:extLst>
                    <a:ext uri="{9D8B030D-6E8A-4147-A177-3AD203B41FA5}">
                      <a16:colId xmlns:a16="http://schemas.microsoft.com/office/drawing/2014/main" val="452932382"/>
                    </a:ext>
                  </a:extLst>
                </a:gridCol>
                <a:gridCol w="674254">
                  <a:extLst>
                    <a:ext uri="{9D8B030D-6E8A-4147-A177-3AD203B41FA5}">
                      <a16:colId xmlns:a16="http://schemas.microsoft.com/office/drawing/2014/main" val="2642045136"/>
                    </a:ext>
                  </a:extLst>
                </a:gridCol>
                <a:gridCol w="535709">
                  <a:extLst>
                    <a:ext uri="{9D8B030D-6E8A-4147-A177-3AD203B41FA5}">
                      <a16:colId xmlns:a16="http://schemas.microsoft.com/office/drawing/2014/main" val="3946329680"/>
                    </a:ext>
                  </a:extLst>
                </a:gridCol>
                <a:gridCol w="766619">
                  <a:extLst>
                    <a:ext uri="{9D8B030D-6E8A-4147-A177-3AD203B41FA5}">
                      <a16:colId xmlns:a16="http://schemas.microsoft.com/office/drawing/2014/main" val="425169323"/>
                    </a:ext>
                  </a:extLst>
                </a:gridCol>
                <a:gridCol w="794327">
                  <a:extLst>
                    <a:ext uri="{9D8B030D-6E8A-4147-A177-3AD203B41FA5}">
                      <a16:colId xmlns:a16="http://schemas.microsoft.com/office/drawing/2014/main" val="1005308174"/>
                    </a:ext>
                  </a:extLst>
                </a:gridCol>
                <a:gridCol w="1727200">
                  <a:extLst>
                    <a:ext uri="{9D8B030D-6E8A-4147-A177-3AD203B41FA5}">
                      <a16:colId xmlns:a16="http://schemas.microsoft.com/office/drawing/2014/main" val="390699747"/>
                    </a:ext>
                  </a:extLst>
                </a:gridCol>
                <a:gridCol w="849745">
                  <a:extLst>
                    <a:ext uri="{9D8B030D-6E8A-4147-A177-3AD203B41FA5}">
                      <a16:colId xmlns:a16="http://schemas.microsoft.com/office/drawing/2014/main" val="2909621640"/>
                    </a:ext>
                  </a:extLst>
                </a:gridCol>
                <a:gridCol w="1431637">
                  <a:extLst>
                    <a:ext uri="{9D8B030D-6E8A-4147-A177-3AD203B41FA5}">
                      <a16:colId xmlns:a16="http://schemas.microsoft.com/office/drawing/2014/main" val="1286292229"/>
                    </a:ext>
                  </a:extLst>
                </a:gridCol>
                <a:gridCol w="591127">
                  <a:extLst>
                    <a:ext uri="{9D8B030D-6E8A-4147-A177-3AD203B41FA5}">
                      <a16:colId xmlns:a16="http://schemas.microsoft.com/office/drawing/2014/main" val="359658599"/>
                    </a:ext>
                  </a:extLst>
                </a:gridCol>
              </a:tblGrid>
              <a:tr h="580798">
                <a:tc>
                  <a:txBody>
                    <a:bodyPr/>
                    <a:lstStyle/>
                    <a:p>
                      <a:pPr algn="ctr"/>
                      <a:r>
                        <a:rPr lang="en-GB" sz="1400" b="1">
                          <a:solidFill>
                            <a:schemeClr val="bg1"/>
                          </a:solidFill>
                          <a:effectLst/>
                        </a:rPr>
                        <a:t>DE 6/17</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6/15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6/1</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5/15 or 5/16</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6/2</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(s)</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(m)</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Acceptance Date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DR/SPR</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570928048"/>
                  </a:ext>
                </a:extLst>
              </a:tr>
              <a:tr h="390460">
                <a:tc>
                  <a:txBody>
                    <a:bodyPr/>
                    <a:lstStyle/>
                    <a:p>
                      <a:r>
                        <a:rPr lang="en-GB" sz="1400">
                          <a:effectLst/>
                        </a:rPr>
                        <a:t>X301 to X345 (excluding X333)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NO</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576103729"/>
                  </a:ext>
                </a:extLst>
              </a:tr>
              <a:tr h="392525">
                <a:tc>
                  <a:txBody>
                    <a:bodyPr/>
                    <a:lstStyle/>
                    <a:p>
                      <a:r>
                        <a:rPr lang="en-GB" sz="1400">
                          <a:effectLst/>
                        </a:rPr>
                        <a:t>X333 where ASV is between 11.5% and 14.5%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EAS 12.5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 and &lt;= 31/1/25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NO</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94965130"/>
                  </a:ext>
                </a:extLst>
              </a:tr>
              <a:tr h="390460">
                <a:tc>
                  <a:txBody>
                    <a:bodyPr/>
                    <a:lstStyle/>
                    <a:p>
                      <a:r>
                        <a:rPr lang="en-GB" sz="1400">
                          <a:effectLst/>
                        </a:rPr>
                        <a:t>X333 where ASV is below 11.5% and above 14.5%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 and &lt;= 31/1/25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NO</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783179584"/>
                  </a:ext>
                </a:extLst>
              </a:tr>
              <a:tr h="200121">
                <a:tc>
                  <a:txBody>
                    <a:bodyPr/>
                    <a:lstStyle/>
                    <a:p>
                      <a:r>
                        <a:rPr lang="en-GB" sz="1400">
                          <a:effectLst/>
                        </a:rPr>
                        <a:t>X333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01/02/25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NO</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994025214"/>
                  </a:ext>
                </a:extLst>
              </a:tr>
              <a:tr h="200121">
                <a:tc>
                  <a:txBody>
                    <a:bodyPr/>
                    <a:lstStyle/>
                    <a:p>
                      <a:r>
                        <a:rPr lang="en-GB" sz="1400">
                          <a:effectLst/>
                        </a:rPr>
                        <a:t>X351 to X360</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DR</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000020225"/>
                  </a:ext>
                </a:extLst>
              </a:tr>
              <a:tr h="580798">
                <a:tc>
                  <a:txBody>
                    <a:bodyPr/>
                    <a:lstStyle/>
                    <a:p>
                      <a:r>
                        <a:rPr lang="en-GB" sz="1400">
                          <a:effectLst/>
                        </a:rPr>
                        <a:t>X361 to X370</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SPR and numerical value (Mandatory and must be Positive value)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SPR</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05201997"/>
                  </a:ext>
                </a:extLst>
              </a:tr>
              <a:tr h="580798">
                <a:tc>
                  <a:txBody>
                    <a:bodyPr/>
                    <a:lstStyle/>
                    <a:p>
                      <a:r>
                        <a:rPr lang="en-GB" sz="1400">
                          <a:effectLst/>
                        </a:rPr>
                        <a:t>X371 to X380</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N/A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SPR and numerical value (Mandatory and must be Positive value)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 01/08/23</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dirty="0">
                          <a:effectLst/>
                        </a:rPr>
                        <a:t>DR &amp; SPR</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575264848"/>
                  </a:ext>
                </a:extLst>
              </a:tr>
            </a:tbl>
          </a:graphicData>
        </a:graphic>
      </p:graphicFrame>
      <p:sp>
        <p:nvSpPr>
          <p:cNvPr id="12" name="Slide Number Placeholder 3">
            <a:extLst>
              <a:ext uri="{FF2B5EF4-FFF2-40B4-BE49-F238E27FC236}">
                <a16:creationId xmlns:a16="http://schemas.microsoft.com/office/drawing/2014/main" id="{B0CBDF38-E178-4C0C-BCE8-F6271F604F35}"/>
              </a:ext>
            </a:extLst>
          </p:cNvPr>
          <p:cNvSpPr txBox="1">
            <a:spLocks/>
          </p:cNvSpPr>
          <p:nvPr/>
        </p:nvSpPr>
        <p:spPr>
          <a:xfrm>
            <a:off x="9354768"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254</a:t>
            </a:fld>
            <a:endParaRPr lang="en-GB">
              <a:solidFill>
                <a:schemeClr val="tx1"/>
              </a:solidFill>
            </a:endParaRPr>
          </a:p>
        </p:txBody>
      </p:sp>
    </p:spTree>
    <p:extLst>
      <p:ext uri="{BB962C8B-B14F-4D97-AF65-F5344CB8AC3E}">
        <p14:creationId xmlns:p14="http://schemas.microsoft.com/office/powerpoint/2010/main" val="3391597729"/>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4" name="Table 13">
            <a:extLst>
              <a:ext uri="{FF2B5EF4-FFF2-40B4-BE49-F238E27FC236}">
                <a16:creationId xmlns:a16="http://schemas.microsoft.com/office/drawing/2014/main" id="{1FE81273-6F6E-4565-BC56-F9E6979FBBD1}"/>
              </a:ext>
            </a:extLst>
          </p:cNvPr>
          <p:cNvGraphicFramePr>
            <a:graphicFrameLocks noGrp="1"/>
          </p:cNvGraphicFramePr>
          <p:nvPr/>
        </p:nvGraphicFramePr>
        <p:xfrm>
          <a:off x="813490" y="1790237"/>
          <a:ext cx="10565019" cy="3338486"/>
        </p:xfrm>
        <a:graphic>
          <a:graphicData uri="http://schemas.openxmlformats.org/drawingml/2006/table">
            <a:tbl>
              <a:tblPr/>
              <a:tblGrid>
                <a:gridCol w="2129238">
                  <a:extLst>
                    <a:ext uri="{9D8B030D-6E8A-4147-A177-3AD203B41FA5}">
                      <a16:colId xmlns:a16="http://schemas.microsoft.com/office/drawing/2014/main" val="1369723377"/>
                    </a:ext>
                  </a:extLst>
                </a:gridCol>
                <a:gridCol w="8435781">
                  <a:extLst>
                    <a:ext uri="{9D8B030D-6E8A-4147-A177-3AD203B41FA5}">
                      <a16:colId xmlns:a16="http://schemas.microsoft.com/office/drawing/2014/main" val="3448455027"/>
                    </a:ext>
                  </a:extLst>
                </a:gridCol>
              </a:tblGrid>
              <a:tr h="279201">
                <a:tc>
                  <a:txBody>
                    <a:bodyPr/>
                    <a:lstStyle/>
                    <a:p>
                      <a:pPr algn="ctr"/>
                      <a:r>
                        <a:rPr lang="en-GB" sz="1400" b="1">
                          <a:solidFill>
                            <a:schemeClr val="bg1"/>
                          </a:solidFill>
                          <a:effectLst/>
                        </a:rPr>
                        <a:t>Data Element / Annotation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Description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570928048"/>
                  </a:ext>
                </a:extLst>
              </a:tr>
              <a:tr h="279201">
                <a:tc>
                  <a:txBody>
                    <a:bodyPr/>
                    <a:lstStyle/>
                    <a:p>
                      <a:r>
                        <a:rPr lang="en-GB" sz="1400">
                          <a:effectLst/>
                        </a:rPr>
                        <a:t>6/17</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kern="1200">
                          <a:solidFill>
                            <a:schemeClr val="tx1"/>
                          </a:solidFill>
                          <a:effectLst/>
                          <a:latin typeface="+mn-lt"/>
                          <a:ea typeface="+mn-ea"/>
                          <a:cs typeface="+mn-cs"/>
                        </a:rPr>
                        <a:t>National Additional Code (Excise – one only)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576103729"/>
                  </a:ext>
                </a:extLst>
              </a:tr>
              <a:tr h="279201">
                <a:tc>
                  <a:txBody>
                    <a:bodyPr/>
                    <a:lstStyle/>
                    <a:p>
                      <a:r>
                        <a:rPr lang="en-GB" sz="1400">
                          <a:effectLst/>
                        </a:rPr>
                        <a:t>6/16</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kern="1200">
                          <a:solidFill>
                            <a:schemeClr val="tx1"/>
                          </a:solidFill>
                          <a:effectLst/>
                          <a:latin typeface="+mn-lt"/>
                          <a:ea typeface="+mn-ea"/>
                          <a:cs typeface="+mn-cs"/>
                        </a:rPr>
                        <a:t>TARIC Additional Code (Excise – one only)</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525927733"/>
                  </a:ext>
                </a:extLst>
              </a:tr>
              <a:tr h="279201">
                <a:tc>
                  <a:txBody>
                    <a:bodyPr/>
                    <a:lstStyle/>
                    <a:p>
                      <a:r>
                        <a:rPr lang="en-GB" sz="1400">
                          <a:effectLst/>
                        </a:rPr>
                        <a:t>6/15</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kern="1200">
                          <a:solidFill>
                            <a:schemeClr val="tx1"/>
                          </a:solidFill>
                          <a:effectLst/>
                          <a:latin typeface="+mn-lt"/>
                          <a:ea typeface="+mn-ea"/>
                          <a:cs typeface="+mn-cs"/>
                        </a:rPr>
                        <a:t>TARIC Code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335303644"/>
                  </a:ext>
                </a:extLst>
              </a:tr>
              <a:tr h="279201">
                <a:tc>
                  <a:txBody>
                    <a:bodyPr/>
                    <a:lstStyle/>
                    <a:p>
                      <a:r>
                        <a:rPr lang="en-GB" sz="1400">
                          <a:effectLst/>
                        </a:rPr>
                        <a:t>6/1</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kern="1200">
                          <a:solidFill>
                            <a:schemeClr val="tx1"/>
                          </a:solidFill>
                          <a:effectLst/>
                          <a:latin typeface="+mn-lt"/>
                          <a:ea typeface="+mn-ea"/>
                          <a:cs typeface="+mn-cs"/>
                        </a:rPr>
                        <a:t>Net Mass</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584365417"/>
                  </a:ext>
                </a:extLst>
              </a:tr>
              <a:tr h="279201">
                <a:tc>
                  <a:txBody>
                    <a:bodyPr/>
                    <a:lstStyle/>
                    <a:p>
                      <a:r>
                        <a:rPr lang="en-GB" sz="1400">
                          <a:effectLst/>
                        </a:rPr>
                        <a:t>5/15 or DE 5/16</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kern="1200">
                          <a:solidFill>
                            <a:schemeClr val="tx1"/>
                          </a:solidFill>
                          <a:effectLst/>
                          <a:latin typeface="+mn-lt"/>
                          <a:ea typeface="+mn-ea"/>
                          <a:cs typeface="+mn-cs"/>
                        </a:rPr>
                        <a:t>Country of Origin or Preferential Origin</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4604519"/>
                  </a:ext>
                </a:extLst>
              </a:tr>
              <a:tr h="414737">
                <a:tc>
                  <a:txBody>
                    <a:bodyPr/>
                    <a:lstStyle/>
                    <a:p>
                      <a:r>
                        <a:rPr lang="en-GB" sz="1400">
                          <a:effectLst/>
                        </a:rPr>
                        <a:t>6/2</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Supplementary Units</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94965130"/>
                  </a:ext>
                </a:extLst>
              </a:tr>
              <a:tr h="197650">
                <a:tc>
                  <a:txBody>
                    <a:bodyPr/>
                    <a:lstStyle/>
                    <a:p>
                      <a:r>
                        <a:rPr lang="en-GB" sz="1400">
                          <a:effectLst/>
                        </a:rPr>
                        <a:t>4/4 (a)</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Tax Base - ASV / ABV (Alcoholic [Strength] by Volume)</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994025214"/>
                  </a:ext>
                </a:extLst>
              </a:tr>
              <a:tr h="173381">
                <a:tc>
                  <a:txBody>
                    <a:bodyPr/>
                    <a:lstStyle/>
                    <a:p>
                      <a:r>
                        <a:rPr lang="en-GB" sz="1400">
                          <a:effectLst/>
                        </a:rPr>
                        <a:t>4/4 (e)</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b="0" i="0" kern="1200">
                          <a:solidFill>
                            <a:schemeClr val="tx1"/>
                          </a:solidFill>
                          <a:effectLst/>
                          <a:latin typeface="+mn-lt"/>
                          <a:ea typeface="+mn-ea"/>
                          <a:cs typeface="+mn-cs"/>
                        </a:rPr>
                        <a:t>Tax Base - EAS 12.5 (Easement)</a:t>
                      </a:r>
                      <a:endParaRPr lang="en-GB" sz="1400">
                        <a:effectLst/>
                      </a:endParaRP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000020225"/>
                  </a:ext>
                </a:extLst>
              </a:tr>
              <a:tr h="232885">
                <a:tc>
                  <a:txBody>
                    <a:bodyPr/>
                    <a:lstStyle/>
                    <a:p>
                      <a:r>
                        <a:rPr lang="en-GB" sz="1400">
                          <a:effectLst/>
                        </a:rPr>
                        <a:t>4/4 (s)</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b="0" i="0" kern="1200">
                          <a:solidFill>
                            <a:schemeClr val="tx1"/>
                          </a:solidFill>
                          <a:effectLst/>
                          <a:latin typeface="+mn-lt"/>
                          <a:ea typeface="+mn-ea"/>
                          <a:cs typeface="+mn-cs"/>
                        </a:rPr>
                        <a:t>Tax Base - SPR (Small Producer Relief)</a:t>
                      </a:r>
                      <a:endParaRPr lang="en-GB" sz="1400">
                        <a:effectLst/>
                      </a:endParaRP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05201997"/>
                  </a:ext>
                </a:extLst>
              </a:tr>
              <a:tr h="269936">
                <a:tc>
                  <a:txBody>
                    <a:bodyPr/>
                    <a:lstStyle/>
                    <a:p>
                      <a:r>
                        <a:rPr lang="en-GB" sz="1400">
                          <a:effectLst/>
                        </a:rPr>
                        <a:t>4/4 (m)</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Tax Base - LPA or LTR.</a:t>
                      </a:r>
                      <a:r>
                        <a:rPr lang="en-GB" sz="1400" b="0">
                          <a:effectLst/>
                        </a:rPr>
                        <a:t> This must match DE 6/2.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575264848"/>
                  </a:ext>
                </a:extLst>
              </a:tr>
              <a:tr h="269936">
                <a:tc>
                  <a:txBody>
                    <a:bodyPr/>
                    <a:lstStyle/>
                    <a:p>
                      <a:r>
                        <a:rPr lang="en-GB" sz="1400">
                          <a:effectLst/>
                        </a:rPr>
                        <a:t>DR/SPR</a:t>
                      </a: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b="0" i="0" kern="1200" dirty="0">
                          <a:solidFill>
                            <a:schemeClr val="tx1"/>
                          </a:solidFill>
                          <a:effectLst/>
                          <a:latin typeface="+mn-lt"/>
                          <a:ea typeface="+mn-ea"/>
                          <a:cs typeface="+mn-cs"/>
                        </a:rPr>
                        <a:t>Draught Relief / Small Producer Relief</a:t>
                      </a:r>
                      <a:endParaRPr lang="en-GB" sz="1400" dirty="0">
                        <a:effectLst/>
                      </a:endParaRPr>
                    </a:p>
                  </a:txBody>
                  <a:tcPr marL="7311" marR="7311" marT="5483" marB="5483"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219553964"/>
                  </a:ext>
                </a:extLst>
              </a:tr>
            </a:tbl>
          </a:graphicData>
        </a:graphic>
      </p:graphicFrame>
      <p:sp>
        <p:nvSpPr>
          <p:cNvPr id="16" name="Rectangle 13">
            <a:extLst>
              <a:ext uri="{FF2B5EF4-FFF2-40B4-BE49-F238E27FC236}">
                <a16:creationId xmlns:a16="http://schemas.microsoft.com/office/drawing/2014/main" id="{1D7210F2-BB7C-41A6-BAFE-33DB44F759D4}"/>
              </a:ext>
            </a:extLst>
          </p:cNvPr>
          <p:cNvSpPr/>
          <p:nvPr/>
        </p:nvSpPr>
        <p:spPr>
          <a:xfrm>
            <a:off x="399246" y="1263791"/>
            <a:ext cx="11282159" cy="307777"/>
          </a:xfrm>
          <a:prstGeom prst="rect">
            <a:avLst/>
          </a:prstGeom>
          <a:noFill/>
          <a:ln cap="flat">
            <a:noFill/>
            <a:prstDash val="solid"/>
          </a:ln>
        </p:spPr>
        <p:txBody>
          <a:bodyPr vert="horz" wrap="square" lIns="91440" tIns="45720" rIns="91440" bIns="45720" anchor="t" anchorCtr="0" compatLnSpc="1">
            <a:spAutoFit/>
          </a:bodyPr>
          <a:lstStyle/>
          <a:p>
            <a:r>
              <a:rPr lang="en-GB" sz="1400">
                <a:ea typeface="Calibri" panose="020F0502020204030204" pitchFamily="34" charset="0"/>
                <a:cs typeface="Times New Roman" panose="02020603050405020304" pitchFamily="18" charset="0"/>
              </a:rPr>
              <a:t>The table below provides a key for reading the ‘Required Data Elements’ table on slide 10:</a:t>
            </a:r>
            <a:endParaRPr lang="en-GB" sz="1400"/>
          </a:p>
        </p:txBody>
      </p:sp>
      <p:sp>
        <p:nvSpPr>
          <p:cNvPr id="11" name="Slide Number Placeholder 3">
            <a:extLst>
              <a:ext uri="{FF2B5EF4-FFF2-40B4-BE49-F238E27FC236}">
                <a16:creationId xmlns:a16="http://schemas.microsoft.com/office/drawing/2014/main" id="{9680FFF1-25B7-468B-9EEF-0144B6F39EE8}"/>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255</a:t>
            </a:fld>
            <a:endParaRPr lang="en-GB">
              <a:solidFill>
                <a:schemeClr val="tx1"/>
              </a:solidFill>
            </a:endParaRPr>
          </a:p>
        </p:txBody>
      </p:sp>
    </p:spTree>
    <p:extLst>
      <p:ext uri="{BB962C8B-B14F-4D97-AF65-F5344CB8AC3E}">
        <p14:creationId xmlns:p14="http://schemas.microsoft.com/office/powerpoint/2010/main" val="2330747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63791"/>
            <a:ext cx="11282159" cy="738664"/>
          </a:xfrm>
          <a:prstGeom prst="rect">
            <a:avLst/>
          </a:prstGeom>
          <a:noFill/>
          <a:ln cap="flat">
            <a:noFill/>
            <a:prstDash val="solid"/>
          </a:ln>
        </p:spPr>
        <p:txBody>
          <a:bodyPr vert="horz" wrap="square" lIns="91440" tIns="45720" rIns="91440" bIns="45720" anchor="t" anchorCtr="0" compatLnSpc="1">
            <a:spAutoFit/>
          </a:bodyPr>
          <a:lstStyle/>
          <a:p>
            <a:r>
              <a:rPr lang="en-GB" sz="1400" dirty="0">
                <a:solidFill>
                  <a:srgbClr val="000000"/>
                </a:solidFill>
              </a:rPr>
              <a:t>The Table below shows the values that must be entered when a trader enters an import declaration. If any of the values entered are not as per the Table below, the declaration will be rejected and a DMSREJ notification will be issued. When the new codes outlined in this and the previous slide are used, Customs Duty, VAT and Excise calculations will be calculated as per the BAU processes currently in place.</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2" name="Rectangle 1">
            <a:extLst>
              <a:ext uri="{FF2B5EF4-FFF2-40B4-BE49-F238E27FC236}">
                <a16:creationId xmlns:a16="http://schemas.microsoft.com/office/drawing/2014/main" id="{E72A6069-103F-44F6-A4D4-364AC907BF4B}"/>
              </a:ext>
            </a:extLst>
          </p:cNvPr>
          <p:cNvSpPr>
            <a:spLocks noChangeArrowheads="1"/>
          </p:cNvSpPr>
          <p:nvPr/>
        </p:nvSpPr>
        <p:spPr bwMode="auto">
          <a:xfrm>
            <a:off x="756007" y="2057804"/>
            <a:ext cx="65" cy="6180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6348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10" name="Table 9">
            <a:extLst>
              <a:ext uri="{FF2B5EF4-FFF2-40B4-BE49-F238E27FC236}">
                <a16:creationId xmlns:a16="http://schemas.microsoft.com/office/drawing/2014/main" id="{42C1DEF0-D014-4C02-AF4E-54538775414B}"/>
              </a:ext>
            </a:extLst>
          </p:cNvPr>
          <p:cNvGraphicFramePr>
            <a:graphicFrameLocks noGrp="1"/>
          </p:cNvGraphicFramePr>
          <p:nvPr/>
        </p:nvGraphicFramePr>
        <p:xfrm>
          <a:off x="838200" y="2256358"/>
          <a:ext cx="10515600" cy="3002280"/>
        </p:xfrm>
        <a:graphic>
          <a:graphicData uri="http://schemas.openxmlformats.org/drawingml/2006/table">
            <a:tbl>
              <a:tblPr/>
              <a:tblGrid>
                <a:gridCol w="2628900">
                  <a:extLst>
                    <a:ext uri="{9D8B030D-6E8A-4147-A177-3AD203B41FA5}">
                      <a16:colId xmlns:a16="http://schemas.microsoft.com/office/drawing/2014/main" val="2908552682"/>
                    </a:ext>
                  </a:extLst>
                </a:gridCol>
                <a:gridCol w="2415226">
                  <a:extLst>
                    <a:ext uri="{9D8B030D-6E8A-4147-A177-3AD203B41FA5}">
                      <a16:colId xmlns:a16="http://schemas.microsoft.com/office/drawing/2014/main" val="730770820"/>
                    </a:ext>
                  </a:extLst>
                </a:gridCol>
                <a:gridCol w="2300140">
                  <a:extLst>
                    <a:ext uri="{9D8B030D-6E8A-4147-A177-3AD203B41FA5}">
                      <a16:colId xmlns:a16="http://schemas.microsoft.com/office/drawing/2014/main" val="781833916"/>
                    </a:ext>
                  </a:extLst>
                </a:gridCol>
                <a:gridCol w="3171334">
                  <a:extLst>
                    <a:ext uri="{9D8B030D-6E8A-4147-A177-3AD203B41FA5}">
                      <a16:colId xmlns:a16="http://schemas.microsoft.com/office/drawing/2014/main" val="2110274824"/>
                    </a:ext>
                  </a:extLst>
                </a:gridCol>
              </a:tblGrid>
              <a:tr h="0">
                <a:tc>
                  <a:txBody>
                    <a:bodyPr/>
                    <a:lstStyle/>
                    <a:p>
                      <a:pPr algn="ctr"/>
                      <a:r>
                        <a:rPr lang="en-GB" sz="1400" b="1">
                          <a:solidFill>
                            <a:schemeClr val="bg1"/>
                          </a:solidFill>
                          <a:effectLst/>
                        </a:rPr>
                        <a:t>DE 6/17</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Measurement Unit</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DE 4/4 Numerical Value</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tc>
                  <a:txBody>
                    <a:bodyPr/>
                    <a:lstStyle/>
                    <a:p>
                      <a:pPr algn="ctr"/>
                      <a:r>
                        <a:rPr lang="en-GB" sz="1400" b="1">
                          <a:solidFill>
                            <a:schemeClr val="bg1"/>
                          </a:solidFill>
                          <a:effectLst/>
                        </a:rPr>
                        <a:t>Error Scenario</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009999"/>
                    </a:solidFill>
                  </a:tcPr>
                </a:tc>
                <a:extLst>
                  <a:ext uri="{0D108BD9-81ED-4DB2-BD59-A6C34878D82A}">
                    <a16:rowId xmlns:a16="http://schemas.microsoft.com/office/drawing/2014/main" val="3814945824"/>
                  </a:ext>
                </a:extLst>
              </a:tr>
              <a:tr h="0">
                <a:tc>
                  <a:txBody>
                    <a:bodyPr/>
                    <a:lstStyle/>
                    <a:p>
                      <a:r>
                        <a:rPr lang="en-GB" sz="1400">
                          <a:effectLst/>
                        </a:rPr>
                        <a:t>X301</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ASV</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&lt;=1.2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Value must not be above 1.2%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36034429"/>
                  </a:ext>
                </a:extLst>
              </a:tr>
              <a:tr h="0">
                <a:tc>
                  <a:txBody>
                    <a:bodyPr/>
                    <a:lstStyle/>
                    <a:p>
                      <a:r>
                        <a:rPr lang="en-GB" sz="1400">
                          <a:effectLst/>
                        </a:rPr>
                        <a:t>X311 X312 X313 X314 X315 X351 X352 X353 X354 X355 X361 X362 X363 X364 X365 X371 X372 X373 X374 X375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ASV</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&lt;3.5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Value must be under 3.5%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239557585"/>
                  </a:ext>
                </a:extLst>
              </a:tr>
              <a:tr h="0">
                <a:tc>
                  <a:txBody>
                    <a:bodyPr/>
                    <a:lstStyle/>
                    <a:p>
                      <a:r>
                        <a:rPr lang="en-GB" sz="1400">
                          <a:effectLst/>
                        </a:rPr>
                        <a:t>X321 X322 X323 X324 X325 X356 X357 X358 X359 X360 X366 X367 X368 X369 X370 X376 X377 X378 X379 X380</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ASV</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&gt;=3.5 but &lt;8.5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Value must be between 3.5% but less than 8.5%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109618382"/>
                  </a:ext>
                </a:extLst>
              </a:tr>
              <a:tr h="0">
                <a:tc>
                  <a:txBody>
                    <a:bodyPr/>
                    <a:lstStyle/>
                    <a:p>
                      <a:r>
                        <a:rPr lang="en-GB" sz="1400">
                          <a:effectLst/>
                        </a:rPr>
                        <a:t>X331 X333 X334 X335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ASV</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&gt;=8.5 but &lt;=22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Value must be at least 8.5% but cannot exceed 22%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774608223"/>
                  </a:ext>
                </a:extLst>
              </a:tr>
              <a:tr h="0">
                <a:tc>
                  <a:txBody>
                    <a:bodyPr/>
                    <a:lstStyle/>
                    <a:p>
                      <a:r>
                        <a:rPr lang="en-GB" sz="1400">
                          <a:effectLst/>
                        </a:rPr>
                        <a:t>X341 X343 X344 X345</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ASV</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a:effectLst/>
                        </a:rPr>
                        <a:t>&gt;22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tc>
                  <a:txBody>
                    <a:bodyPr/>
                    <a:lstStyle/>
                    <a:p>
                      <a:r>
                        <a:rPr lang="en-GB" sz="1400" dirty="0">
                          <a:effectLst/>
                        </a:rPr>
                        <a:t>Value must exceed 22%</a:t>
                      </a:r>
                    </a:p>
                  </a:txBody>
                  <a:tcPr marL="25400" marR="25400" marT="19050" marB="19050" anchor="ctr">
                    <a:lnL w="6350" cap="flat" cmpd="sng" algn="ctr">
                      <a:solidFill>
                        <a:srgbClr val="CCCCCC"/>
                      </a:solidFill>
                      <a:prstDash val="solid"/>
                      <a:round/>
                      <a:headEnd type="none" w="med" len="med"/>
                      <a:tailEnd type="none" w="med" len="med"/>
                    </a:lnL>
                    <a:lnR w="6350" cap="flat" cmpd="sng" algn="ctr">
                      <a:solidFill>
                        <a:srgbClr val="CCCCCC"/>
                      </a:solidFill>
                      <a:prstDash val="solid"/>
                      <a:round/>
                      <a:headEnd type="none" w="med" len="med"/>
                      <a:tailEnd type="none" w="med" len="med"/>
                    </a:lnR>
                    <a:lnT w="6350" cap="flat" cmpd="sng" algn="ctr">
                      <a:solidFill>
                        <a:srgbClr val="CCCCCC"/>
                      </a:solidFill>
                      <a:prstDash val="solid"/>
                      <a:round/>
                      <a:headEnd type="none" w="med" len="med"/>
                      <a:tailEnd type="none" w="med" len="med"/>
                    </a:lnT>
                    <a:lnB w="6350"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857768367"/>
                  </a:ext>
                </a:extLst>
              </a:tr>
            </a:tbl>
          </a:graphicData>
        </a:graphic>
      </p:graphicFrame>
      <p:sp>
        <p:nvSpPr>
          <p:cNvPr id="14" name="Slide Number Placeholder 3">
            <a:extLst>
              <a:ext uri="{FF2B5EF4-FFF2-40B4-BE49-F238E27FC236}">
                <a16:creationId xmlns:a16="http://schemas.microsoft.com/office/drawing/2014/main" id="{1F33F8D7-87DA-4073-9AFE-928F6EE37F09}"/>
              </a:ext>
            </a:extLst>
          </p:cNvPr>
          <p:cNvSpPr txBox="1">
            <a:spLocks/>
          </p:cNvSpPr>
          <p:nvPr/>
        </p:nvSpPr>
        <p:spPr>
          <a:xfrm>
            <a:off x="9378623"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256</a:t>
            </a:fld>
            <a:endParaRPr lang="en-GB">
              <a:solidFill>
                <a:schemeClr val="tx1"/>
              </a:solidFill>
            </a:endParaRPr>
          </a:p>
        </p:txBody>
      </p:sp>
    </p:spTree>
    <p:extLst>
      <p:ext uri="{BB962C8B-B14F-4D97-AF65-F5344CB8AC3E}">
        <p14:creationId xmlns:p14="http://schemas.microsoft.com/office/powerpoint/2010/main" val="3210339267"/>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200" y="2097956"/>
          <a:ext cx="10515600" cy="3383280"/>
        </p:xfrm>
        <a:graphic>
          <a:graphicData uri="http://schemas.openxmlformats.org/drawingml/2006/table">
            <a:tbl>
              <a:tblPr firstRow="1" bandRow="1"/>
              <a:tblGrid>
                <a:gridCol w="382318">
                  <a:extLst>
                    <a:ext uri="{9D8B030D-6E8A-4147-A177-3AD203B41FA5}">
                      <a16:colId xmlns:a16="http://schemas.microsoft.com/office/drawing/2014/main" val="4152090426"/>
                    </a:ext>
                  </a:extLst>
                </a:gridCol>
                <a:gridCol w="742365">
                  <a:extLst>
                    <a:ext uri="{9D8B030D-6E8A-4147-A177-3AD203B41FA5}">
                      <a16:colId xmlns:a16="http://schemas.microsoft.com/office/drawing/2014/main" val="1700640631"/>
                    </a:ext>
                  </a:extLst>
                </a:gridCol>
                <a:gridCol w="5901802">
                  <a:extLst>
                    <a:ext uri="{9D8B030D-6E8A-4147-A177-3AD203B41FA5}">
                      <a16:colId xmlns:a16="http://schemas.microsoft.com/office/drawing/2014/main" val="3294357458"/>
                    </a:ext>
                  </a:extLst>
                </a:gridCol>
                <a:gridCol w="1633203">
                  <a:extLst>
                    <a:ext uri="{9D8B030D-6E8A-4147-A177-3AD203B41FA5}">
                      <a16:colId xmlns:a16="http://schemas.microsoft.com/office/drawing/2014/main" val="691619200"/>
                    </a:ext>
                  </a:extLst>
                </a:gridCol>
                <a:gridCol w="1855912">
                  <a:extLst>
                    <a:ext uri="{9D8B030D-6E8A-4147-A177-3AD203B41FA5}">
                      <a16:colId xmlns:a16="http://schemas.microsoft.com/office/drawing/2014/main" val="3080659569"/>
                    </a:ext>
                  </a:extLst>
                </a:gridCol>
              </a:tblGrid>
              <a:tr h="128929">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Tax Type</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Descriptor</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Chargeable Rate</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noFill/>
                    </a:lnB>
                    <a:lnTlToBr w="12700" cmpd="sng">
                      <a:noFill/>
                      <a:prstDash val="solid"/>
                    </a:lnTlToBr>
                    <a:lnBlToTr w="12700" cmpd="sng">
                      <a:noFill/>
                      <a:prstDash val="solid"/>
                    </a:lnBlToTr>
                    <a:solidFill>
                      <a:srgbClr val="336699"/>
                    </a:solidFill>
                  </a:tcPr>
                </a:tc>
                <a:tc>
                  <a:txBody>
                    <a:bodyPr/>
                    <a:lstStyle/>
                    <a:p>
                      <a:r>
                        <a:rPr lang="en-GB" sz="1400" b="1">
                          <a:solidFill>
                            <a:schemeClr val="bg1"/>
                          </a:solidFill>
                        </a:rPr>
                        <a:t>Formula</a:t>
                      </a:r>
                    </a:p>
                  </a:txBody>
                  <a:tcPr anchor="ctr">
                    <a:lnL w="12700" cmpd="sng">
                      <a:solidFill>
                        <a:srgbClr val="FFFFFF"/>
                      </a:solidFill>
                    </a:lnL>
                    <a:lnR w="12700" cmpd="sng">
                      <a:solidFill>
                        <a:srgbClr val="FFFFFF"/>
                      </a:solidFill>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244961">
                <a:tc rowSpan="8">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t>Core Structure</a:t>
                      </a:r>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301</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Low Alcohol – not exceeding 1.2%</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Nil</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p>
                      <a:pPr marL="0" algn="l" defTabSz="914400" rtl="0" eaLnBrk="1" latinLnBrk="0" hangingPunct="1"/>
                      <a:r>
                        <a:rPr lang="en-GB" sz="1400" kern="1200">
                          <a:solidFill>
                            <a:schemeClr val="dk1"/>
                          </a:solidFill>
                          <a:latin typeface="Calibri"/>
                          <a:ea typeface="+mn-ea"/>
                          <a:cs typeface="+mn-cs"/>
                        </a:rPr>
                        <a:t>(litres x ABV%) x rate</a:t>
                      </a:r>
                    </a:p>
                  </a:txBody>
                  <a:tcPr anchor="ctr">
                    <a:lnL w="12700" cap="flat" cmpd="sng" algn="ctr">
                      <a:solidFill>
                        <a:srgbClr val="FFFFFF"/>
                      </a:solidFill>
                      <a:prstDash val="solid"/>
                      <a:round/>
                      <a:headEnd type="none" w="med" len="med"/>
                      <a:tailEnd type="none" w="med" len="med"/>
                    </a:lnL>
                    <a:lnR w="12700" cmpd="sng">
                      <a:solidFill>
                        <a:srgbClr val="FFFFFF"/>
                      </a:solidFill>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3573196860"/>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311</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Beer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£8.42</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rowSpan="5">
                  <a:txBody>
                    <a:bodyPr/>
                    <a:lstStyle/>
                    <a:p>
                      <a:pPr marL="0" algn="l" defTabSz="914400" rtl="0" eaLnBrk="1" latinLnBrk="0" hangingPunct="1"/>
                      <a:r>
                        <a:rPr lang="en-GB" sz="1400" kern="1200">
                          <a:solidFill>
                            <a:schemeClr val="dk1"/>
                          </a:solidFill>
                          <a:latin typeface="Calibri"/>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2932625901"/>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312</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Cider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2695990918"/>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313</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Wine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2675836756"/>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314</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Other fermented products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3933764841"/>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Spirits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3145837913"/>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321</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Beer at least 3.5% but less than 8.5%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£19.08</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Calibri"/>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1073131893"/>
                  </a:ext>
                </a:extLst>
              </a:tr>
              <a:tr h="518160">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322</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Cider at least 3.5% but less than 8.5% &amp; sparkling cider at least 3.5% but not exceeding 5.5%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£8.78</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dirty="0">
                        <a:solidFill>
                          <a:schemeClr val="dk1"/>
                        </a:solidFill>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dirty="0">
                          <a:solidFill>
                            <a:schemeClr val="dk1"/>
                          </a:solidFill>
                          <a:latin typeface="Calibri"/>
                          <a:ea typeface="+mn-ea"/>
                          <a:cs typeface="+mn-cs"/>
                        </a:rPr>
                        <a:t>(litres x ABV%) x rate</a:t>
                      </a:r>
                    </a:p>
                    <a:p>
                      <a:pPr marL="0" algn="l" defTabSz="914400" rtl="0" eaLnBrk="1" latinLnBrk="0" hangingPunct="1"/>
                      <a:endParaRPr lang="en-GB" sz="1400" kern="1200" dirty="0">
                        <a:solidFill>
                          <a:schemeClr val="dk1"/>
                        </a:solidFill>
                        <a:latin typeface="Calibri"/>
                        <a:ea typeface="+mn-ea"/>
                        <a:cs typeface="+mn-cs"/>
                      </a:endParaRP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923803700"/>
                  </a:ext>
                </a:extLst>
              </a:tr>
            </a:tbl>
          </a:graphicData>
        </a:graphic>
      </p:graphicFrame>
      <p:sp>
        <p:nvSpPr>
          <p:cNvPr id="8" name="Rectangle 7">
            <a:extLst>
              <a:ext uri="{FF2B5EF4-FFF2-40B4-BE49-F238E27FC236}">
                <a16:creationId xmlns:a16="http://schemas.microsoft.com/office/drawing/2014/main" id="{BC1DEA7C-83AA-4D03-B223-51003EAD9161}"/>
              </a:ext>
            </a:extLst>
          </p:cNvPr>
          <p:cNvSpPr/>
          <p:nvPr/>
        </p:nvSpPr>
        <p:spPr>
          <a:xfrm>
            <a:off x="465155" y="799761"/>
            <a:ext cx="7790400"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Core Structure</a:t>
            </a:r>
          </a:p>
        </p:txBody>
      </p:sp>
      <p:sp>
        <p:nvSpPr>
          <p:cNvPr id="6" name="Slide Number Placeholder 3">
            <a:extLst>
              <a:ext uri="{FF2B5EF4-FFF2-40B4-BE49-F238E27FC236}">
                <a16:creationId xmlns:a16="http://schemas.microsoft.com/office/drawing/2014/main" id="{CFDCB603-EB7F-4745-90EE-9BD71450B065}"/>
              </a:ext>
            </a:extLst>
          </p:cNvPr>
          <p:cNvSpPr txBox="1">
            <a:spLocks/>
          </p:cNvSpPr>
          <p:nvPr/>
        </p:nvSpPr>
        <p:spPr>
          <a:xfrm>
            <a:off x="938657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257</a:t>
            </a:fld>
            <a:endParaRPr lang="en-GB">
              <a:solidFill>
                <a:schemeClr val="tx1"/>
              </a:solidFill>
            </a:endParaRPr>
          </a:p>
        </p:txBody>
      </p:sp>
      <p:sp>
        <p:nvSpPr>
          <p:cNvPr id="9" name="Rectangle 8">
            <a:extLst>
              <a:ext uri="{FF2B5EF4-FFF2-40B4-BE49-F238E27FC236}">
                <a16:creationId xmlns:a16="http://schemas.microsoft.com/office/drawing/2014/main" id="{F5023446-C593-4993-B033-8F2F5A28AC0B}"/>
              </a:ext>
            </a:extLst>
          </p:cNvPr>
          <p:cNvSpPr/>
          <p:nvPr/>
        </p:nvSpPr>
        <p:spPr>
          <a:xfrm>
            <a:off x="399246" y="1232803"/>
            <a:ext cx="11282159" cy="523220"/>
          </a:xfrm>
          <a:prstGeom prst="rect">
            <a:avLst/>
          </a:prstGeom>
          <a:noFill/>
          <a:ln cap="flat">
            <a:noFill/>
            <a:prstDash val="solid"/>
          </a:ln>
        </p:spPr>
        <p:txBody>
          <a:bodyPr vert="horz" wrap="square" lIns="91440" tIns="45720" rIns="91440" bIns="45720" anchor="t" anchorCtr="0" compatLnSpc="1">
            <a:spAutoFit/>
          </a:bodyPr>
          <a:lstStyle/>
          <a:p>
            <a:r>
              <a:rPr lang="en-GB" sz="1400" dirty="0">
                <a:solidFill>
                  <a:srgbClr val="000000"/>
                </a:solidFill>
              </a:rPr>
              <a:t>The tables on slides 11-17 show the rates which will temporarily be available in Trade Test upon deployment of TTM23.1. These rates will be updated as per slides 18-24 following a Tariff Data Refresh in August.</a:t>
            </a:r>
          </a:p>
        </p:txBody>
      </p:sp>
      <p:sp>
        <p:nvSpPr>
          <p:cNvPr id="13" name="TextBox 12">
            <a:extLst>
              <a:ext uri="{FF2B5EF4-FFF2-40B4-BE49-F238E27FC236}">
                <a16:creationId xmlns:a16="http://schemas.microsoft.com/office/drawing/2014/main" id="{9D4EFD1D-BD6E-4304-98FD-1929BD3CE9F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4045412839"/>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200" y="1632528"/>
          <a:ext cx="10515600" cy="4084320"/>
        </p:xfrm>
        <a:graphic>
          <a:graphicData uri="http://schemas.openxmlformats.org/drawingml/2006/table">
            <a:tbl>
              <a:tblPr firstRow="1" bandRow="1"/>
              <a:tblGrid>
                <a:gridCol w="382378">
                  <a:extLst>
                    <a:ext uri="{9D8B030D-6E8A-4147-A177-3AD203B41FA5}">
                      <a16:colId xmlns:a16="http://schemas.microsoft.com/office/drawing/2014/main" val="4152090426"/>
                    </a:ext>
                  </a:extLst>
                </a:gridCol>
                <a:gridCol w="742482">
                  <a:extLst>
                    <a:ext uri="{9D8B030D-6E8A-4147-A177-3AD203B41FA5}">
                      <a16:colId xmlns:a16="http://schemas.microsoft.com/office/drawing/2014/main" val="1700640631"/>
                    </a:ext>
                  </a:extLst>
                </a:gridCol>
                <a:gridCol w="5901074">
                  <a:extLst>
                    <a:ext uri="{9D8B030D-6E8A-4147-A177-3AD203B41FA5}">
                      <a16:colId xmlns:a16="http://schemas.microsoft.com/office/drawing/2014/main" val="3294357458"/>
                    </a:ext>
                  </a:extLst>
                </a:gridCol>
                <a:gridCol w="1633461">
                  <a:extLst>
                    <a:ext uri="{9D8B030D-6E8A-4147-A177-3AD203B41FA5}">
                      <a16:colId xmlns:a16="http://schemas.microsoft.com/office/drawing/2014/main" val="691619200"/>
                    </a:ext>
                  </a:extLst>
                </a:gridCol>
                <a:gridCol w="1856205">
                  <a:extLst>
                    <a:ext uri="{9D8B030D-6E8A-4147-A177-3AD203B41FA5}">
                      <a16:colId xmlns:a16="http://schemas.microsoft.com/office/drawing/2014/main" val="2886377455"/>
                    </a:ext>
                  </a:extLst>
                </a:gridCol>
              </a:tblGrid>
              <a:tr h="292528">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244961">
                <a:tc rowSpan="11">
                  <a:txBody>
                    <a:bodyPr/>
                    <a:lstStyle/>
                    <a:p>
                      <a:pPr algn="ctr"/>
                      <a:r>
                        <a:rPr lang="en-GB" sz="1400" b="1">
                          <a:latin typeface="+mn-lt"/>
                        </a:rPr>
                        <a:t>Core Structure</a:t>
                      </a: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l" defTabSz="914400" rtl="0" eaLnBrk="1" latinLnBrk="0" hangingPunct="1"/>
                      <a:r>
                        <a:rPr lang="en-GB" sz="1400" kern="1200" dirty="0">
                          <a:solidFill>
                            <a:schemeClr val="dk1"/>
                          </a:solidFill>
                          <a:latin typeface="Calibri"/>
                          <a:ea typeface="+mn-ea"/>
                          <a:cs typeface="+mn-cs"/>
                        </a:rPr>
                        <a:t>Wine at least 3.5%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£22.50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ADC2D6"/>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Calibri"/>
                          <a:ea typeface="+mn-ea"/>
                          <a:cs typeface="+mn-cs"/>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ADC2D6"/>
                    </a:solidFill>
                  </a:tcPr>
                </a:tc>
                <a:extLst>
                  <a:ext uri="{0D108BD9-81ED-4DB2-BD59-A6C34878D82A}">
                    <a16:rowId xmlns:a16="http://schemas.microsoft.com/office/drawing/2014/main" val="3332283457"/>
                  </a:ext>
                </a:extLst>
              </a:tr>
              <a:tr h="244961">
                <a:tc vMerge="1">
                  <a:txBody>
                    <a:bodyPr/>
                    <a:lstStyle/>
                    <a:p>
                      <a:pPr algn="ctr"/>
                      <a:endParaRPr lang="en-GB" sz="1400" b="1">
                        <a:latin typeface="+mn-lt"/>
                      </a:endParaRP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Other fermented products at least 3.5% but less than 8.5% &amp; sparkling cider exceeding 5.5%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endParaRPr lang="en-GB" sz="140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1407254049"/>
                  </a:ext>
                </a:extLst>
              </a:tr>
              <a:tr h="244961">
                <a:tc vMerge="1">
                  <a:txBody>
                    <a:bodyPr/>
                    <a:lstStyle/>
                    <a:p>
                      <a:pPr algn="ctr"/>
                      <a:endParaRPr lang="en-GB" sz="1400" b="1">
                        <a:latin typeface="+mn-lt"/>
                      </a:endParaRP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Spirits at least 3.5%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DC2D6"/>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endParaRPr lang="en-GB"/>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371996025"/>
                  </a:ext>
                </a:extLst>
              </a:tr>
              <a:tr h="244961">
                <a:tc vMerge="1">
                  <a:txBody>
                    <a:bodyPr/>
                    <a:lstStyle/>
                    <a:p>
                      <a:pPr algn="ctr"/>
                      <a:r>
                        <a:rPr lang="en-GB" sz="1400" b="1">
                          <a:latin typeface="+mn-lt"/>
                        </a:rPr>
                        <a:t>Core Structure</a:t>
                      </a: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Beer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4">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£25.88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4">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1922965337"/>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673737055"/>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691001363"/>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Spirits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1327185605"/>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341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Beer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rowSpan="4">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£28.74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rowSpan="4">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2598003364"/>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Wine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420832470"/>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Other fermented products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461951706"/>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Spirits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815723674"/>
                  </a:ext>
                </a:extLst>
              </a:tr>
            </a:tbl>
          </a:graphicData>
        </a:graphic>
      </p:graphicFrame>
      <p:sp>
        <p:nvSpPr>
          <p:cNvPr id="8" name="Rectangle 7">
            <a:extLst>
              <a:ext uri="{FF2B5EF4-FFF2-40B4-BE49-F238E27FC236}">
                <a16:creationId xmlns:a16="http://schemas.microsoft.com/office/drawing/2014/main" id="{BC1DEA7C-83AA-4D03-B223-51003EAD9161}"/>
              </a:ext>
            </a:extLst>
          </p:cNvPr>
          <p:cNvSpPr/>
          <p:nvPr/>
        </p:nvSpPr>
        <p:spPr>
          <a:xfrm>
            <a:off x="465155" y="799761"/>
            <a:ext cx="7790572"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Core Structure Cont.</a:t>
            </a:r>
          </a:p>
        </p:txBody>
      </p:sp>
      <p:sp>
        <p:nvSpPr>
          <p:cNvPr id="6" name="Slide Number Placeholder 3">
            <a:extLst>
              <a:ext uri="{FF2B5EF4-FFF2-40B4-BE49-F238E27FC236}">
                <a16:creationId xmlns:a16="http://schemas.microsoft.com/office/drawing/2014/main" id="{5E6D34BB-051F-4AF7-B62D-C689DE4474B8}"/>
              </a:ext>
            </a:extLst>
          </p:cNvPr>
          <p:cNvSpPr txBox="1">
            <a:spLocks/>
          </p:cNvSpPr>
          <p:nvPr/>
        </p:nvSpPr>
        <p:spPr>
          <a:xfrm>
            <a:off x="9362720"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258</a:t>
            </a:fld>
            <a:endParaRPr lang="en-GB">
              <a:solidFill>
                <a:schemeClr val="tx1"/>
              </a:solidFill>
            </a:endParaRPr>
          </a:p>
        </p:txBody>
      </p:sp>
      <p:sp>
        <p:nvSpPr>
          <p:cNvPr id="9" name="TextBox 12">
            <a:extLst>
              <a:ext uri="{FF2B5EF4-FFF2-40B4-BE49-F238E27FC236}">
                <a16:creationId xmlns:a16="http://schemas.microsoft.com/office/drawing/2014/main" id="{95C2AAF7-732B-4ECE-B1DB-30F47F09FCB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graphicFrame>
        <p:nvGraphicFramePr>
          <p:cNvPr id="2" name="Table 1">
            <a:extLst>
              <a:ext uri="{FF2B5EF4-FFF2-40B4-BE49-F238E27FC236}">
                <a16:creationId xmlns:a16="http://schemas.microsoft.com/office/drawing/2014/main" id="{CA63C80B-B4A7-4DA9-B4CB-D5F3ADCF774B}"/>
              </a:ext>
            </a:extLst>
          </p:cNvPr>
          <p:cNvGraphicFramePr>
            <a:graphicFrameLocks noGrp="1"/>
          </p:cNvGraphicFramePr>
          <p:nvPr/>
        </p:nvGraphicFramePr>
        <p:xfrm>
          <a:off x="11767127" y="2798618"/>
          <a:ext cx="208280" cy="365760"/>
        </p:xfrm>
        <a:graphic>
          <a:graphicData uri="http://schemas.openxmlformats.org/drawingml/2006/table">
            <a:tbl>
              <a:tblPr/>
              <a:tblGrid>
                <a:gridCol w="208280">
                  <a:extLst>
                    <a:ext uri="{9D8B030D-6E8A-4147-A177-3AD203B41FA5}">
                      <a16:colId xmlns:a16="http://schemas.microsoft.com/office/drawing/2014/main" val="2185536132"/>
                    </a:ext>
                  </a:extLst>
                </a:gridCol>
              </a:tblGrid>
              <a:tr h="0">
                <a:tc>
                  <a:txBody>
                    <a:bodyPr/>
                    <a:lstStyle/>
                    <a:p>
                      <a:endParaRPr lang="en-GB" dirty="0"/>
                    </a:p>
                  </a:txBody>
                  <a:tcPr>
                    <a:lnL w="12700" cmpd="sng">
                      <a:solidFill>
                        <a:schemeClr val="bg1"/>
                      </a:solidFill>
                      <a:prstDash val="solid"/>
                    </a:lnL>
                    <a:lnR w="12700" cmpd="sng">
                      <a:solidFill>
                        <a:schemeClr val="bg1"/>
                      </a:solidFill>
                      <a:prstDash val="solid"/>
                    </a:lnR>
                    <a:lnT w="12700" cmpd="sng">
                      <a:solidFill>
                        <a:schemeClr val="bg1"/>
                      </a:solidFill>
                      <a:prstDash val="solid"/>
                    </a:lnT>
                    <a:lnB w="12700" cmpd="sng">
                      <a:solidFill>
                        <a:schemeClr val="bg1"/>
                      </a:solidFill>
                      <a:prstDash val="solid"/>
                    </a:lnB>
                  </a:tcPr>
                </a:tc>
                <a:extLst>
                  <a:ext uri="{0D108BD9-81ED-4DB2-BD59-A6C34878D82A}">
                    <a16:rowId xmlns:a16="http://schemas.microsoft.com/office/drawing/2014/main" val="2282422080"/>
                  </a:ext>
                </a:extLst>
              </a:tr>
            </a:tbl>
          </a:graphicData>
        </a:graphic>
      </p:graphicFrame>
    </p:spTree>
    <p:extLst>
      <p:ext uri="{BB962C8B-B14F-4D97-AF65-F5344CB8AC3E}">
        <p14:creationId xmlns:p14="http://schemas.microsoft.com/office/powerpoint/2010/main" val="49067032"/>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200" y="1539240"/>
          <a:ext cx="10515601" cy="3992880"/>
        </p:xfrm>
        <a:graphic>
          <a:graphicData uri="http://schemas.openxmlformats.org/drawingml/2006/table">
            <a:tbl>
              <a:tblPr firstRow="1" bandRow="1"/>
              <a:tblGrid>
                <a:gridCol w="382318">
                  <a:extLst>
                    <a:ext uri="{9D8B030D-6E8A-4147-A177-3AD203B41FA5}">
                      <a16:colId xmlns:a16="http://schemas.microsoft.com/office/drawing/2014/main" val="4152090426"/>
                    </a:ext>
                  </a:extLst>
                </a:gridCol>
                <a:gridCol w="742365">
                  <a:extLst>
                    <a:ext uri="{9D8B030D-6E8A-4147-A177-3AD203B41FA5}">
                      <a16:colId xmlns:a16="http://schemas.microsoft.com/office/drawing/2014/main" val="1700640631"/>
                    </a:ext>
                  </a:extLst>
                </a:gridCol>
                <a:gridCol w="5901802">
                  <a:extLst>
                    <a:ext uri="{9D8B030D-6E8A-4147-A177-3AD203B41FA5}">
                      <a16:colId xmlns:a16="http://schemas.microsoft.com/office/drawing/2014/main" val="3294357458"/>
                    </a:ext>
                  </a:extLst>
                </a:gridCol>
                <a:gridCol w="1633203">
                  <a:extLst>
                    <a:ext uri="{9D8B030D-6E8A-4147-A177-3AD203B41FA5}">
                      <a16:colId xmlns:a16="http://schemas.microsoft.com/office/drawing/2014/main" val="691619200"/>
                    </a:ext>
                  </a:extLst>
                </a:gridCol>
                <a:gridCol w="1855913">
                  <a:extLst>
                    <a:ext uri="{9D8B030D-6E8A-4147-A177-3AD203B41FA5}">
                      <a16:colId xmlns:a16="http://schemas.microsoft.com/office/drawing/2014/main" val="1263596634"/>
                    </a:ext>
                  </a:extLst>
                </a:gridCol>
              </a:tblGrid>
              <a:tr h="257052">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239582">
                <a:tc rowSpan="10">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latin typeface="+mn-lt"/>
                        </a:rPr>
                        <a:t>Draught Relief (DR)</a:t>
                      </a:r>
                    </a:p>
                  </a:txBody>
                  <a:tcPr vert="vert270" anchor="ctr">
                    <a:lnL w="12700" cmpd="sng">
                      <a:solidFill>
                        <a:srgbClr val="FFFFFF"/>
                      </a:solid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351</a:t>
                      </a:r>
                    </a:p>
                  </a:txBody>
                  <a:tcPr anchor="ctr">
                    <a:lnL w="12700" cap="flat" cmpd="sng" algn="ctr">
                      <a:solidFill>
                        <a:schemeClr val="bg1"/>
                      </a:solidFill>
                      <a:prstDash val="solid"/>
                      <a:round/>
                      <a:headEnd type="none" w="med" len="med"/>
                      <a:tailEnd type="none" w="med" len="med"/>
                    </a:lnL>
                    <a:lnR w="12700" cmpd="sng">
                      <a:solidFill>
                        <a:srgbClr val="FFFFFF"/>
                      </a:solidFill>
                    </a:lnR>
                    <a:lnT w="12700" cap="flat" cmpd="sng" algn="ctr">
                      <a:solidFill>
                        <a:schemeClr val="bg1"/>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less than 3.5% &amp; eligible for DR</a:t>
                      </a:r>
                    </a:p>
                  </a:txBody>
                  <a:tcPr anchor="ctr">
                    <a:lnL w="12700" cmpd="sng">
                      <a:solidFill>
                        <a:srgbClr val="FFFFFF"/>
                      </a:solidFill>
                    </a:lnL>
                    <a:lnR w="12700" cmpd="sng">
                      <a:solidFill>
                        <a:srgbClr val="FFFFFF"/>
                      </a:solidFill>
                    </a:lnR>
                    <a:lnT w="12700" cap="flat" cmpd="sng" algn="ctr">
                      <a:solidFill>
                        <a:schemeClr val="bg1"/>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20000"/>
                      </a:srgbClr>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£8.00</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5">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mpd="sng">
                      <a:solidFill>
                        <a:srgbClr val="FFFFFF"/>
                      </a:solidFill>
                    </a:lnL>
                    <a:lnR w="12700" cmpd="sng">
                      <a:solidFill>
                        <a:srgbClr val="FFFFFF"/>
                      </a:solidFill>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573196860"/>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352</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£9.27</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932625901"/>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353</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695990918"/>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354</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675836756"/>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355</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Spirits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3933764841"/>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356</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3.5% but less than 8.5%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p>
                      <a:pPr algn="l"/>
                      <a:r>
                        <a:rPr lang="en-GB" sz="1400">
                          <a:latin typeface="+mn-lt"/>
                        </a:rPr>
                        <a:t>£18.13</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3145837913"/>
                  </a:ext>
                </a:extLst>
              </a:tr>
              <a:tr h="518160">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357</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Cider at least 3.5% but less than 8.5% &amp; sparkling cider at least 3.5% but not exceeding 5.5%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£8.34</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1073131893"/>
                  </a:ext>
                </a:extLst>
              </a:tr>
              <a:tr h="239582">
                <a:tc vMerge="1">
                  <a:txBody>
                    <a:bodyPr/>
                    <a:lstStyle/>
                    <a:p>
                      <a:endParaRPr lang="en-GB"/>
                    </a:p>
                  </a:txBody>
                  <a:tcPr>
                    <a:lnT w="127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358</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Wine at least 3.5% but less than 8.5% &amp; eligible for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£18.13</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3923803700"/>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359</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Other fermented products at least 3.5% but less than 8.5% &amp; sparkling cider exceeding 5.5% but less than 8.5%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3933376599"/>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360</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336699">
                        <a:alpha val="4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288378935"/>
                  </a:ext>
                </a:extLst>
              </a:tr>
            </a:tbl>
          </a:graphicData>
        </a:graphic>
      </p:graphicFrame>
      <p:sp>
        <p:nvSpPr>
          <p:cNvPr id="8" name="Rectangle 7">
            <a:extLst>
              <a:ext uri="{FF2B5EF4-FFF2-40B4-BE49-F238E27FC236}">
                <a16:creationId xmlns:a16="http://schemas.microsoft.com/office/drawing/2014/main" id="{4407AFA1-BB91-4379-9339-054AE02044FE}"/>
              </a:ext>
            </a:extLst>
          </p:cNvPr>
          <p:cNvSpPr/>
          <p:nvPr/>
        </p:nvSpPr>
        <p:spPr>
          <a:xfrm>
            <a:off x="465155" y="799761"/>
            <a:ext cx="8060536"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for Draught Relief (DR)</a:t>
            </a:r>
          </a:p>
        </p:txBody>
      </p:sp>
      <p:sp>
        <p:nvSpPr>
          <p:cNvPr id="6" name="Slide Number Placeholder 3">
            <a:extLst>
              <a:ext uri="{FF2B5EF4-FFF2-40B4-BE49-F238E27FC236}">
                <a16:creationId xmlns:a16="http://schemas.microsoft.com/office/drawing/2014/main" id="{B3617DB1-EE71-4819-B213-BC40D494192A}"/>
              </a:ext>
            </a:extLst>
          </p:cNvPr>
          <p:cNvSpPr txBox="1">
            <a:spLocks/>
          </p:cNvSpPr>
          <p:nvPr/>
        </p:nvSpPr>
        <p:spPr>
          <a:xfrm>
            <a:off x="9330914"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259</a:t>
            </a:fld>
            <a:endParaRPr lang="en-GB">
              <a:solidFill>
                <a:schemeClr val="tx1"/>
              </a:solidFill>
            </a:endParaRPr>
          </a:p>
        </p:txBody>
      </p:sp>
      <p:sp>
        <p:nvSpPr>
          <p:cNvPr id="9" name="TextBox 12">
            <a:extLst>
              <a:ext uri="{FF2B5EF4-FFF2-40B4-BE49-F238E27FC236}">
                <a16:creationId xmlns:a16="http://schemas.microsoft.com/office/drawing/2014/main" id="{DE9CB64E-70BA-4ADE-8FDD-371E1E7BA20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1827385654"/>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977" y="1948873"/>
          <a:ext cx="10514047" cy="2627612"/>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1026322358"/>
                    </a:ext>
                  </a:extLst>
                </a:gridCol>
                <a:gridCol w="2019600">
                  <a:extLst>
                    <a:ext uri="{9D8B030D-6E8A-4147-A177-3AD203B41FA5}">
                      <a16:colId xmlns:a16="http://schemas.microsoft.com/office/drawing/2014/main" val="858404255"/>
                    </a:ext>
                  </a:extLst>
                </a:gridCol>
              </a:tblGrid>
              <a:tr h="452582">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latin typeface="+mn-lt"/>
                        </a:rPr>
                        <a:t>Further Notes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340193">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latin typeface="+mn-lt"/>
                        </a:rPr>
                        <a:t>Small Producer Relief (SPR)</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£8.42)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5">
                  <a:txBody>
                    <a:bodyPr/>
                    <a:lstStyle/>
                    <a:p>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5">
                  <a:txBody>
                    <a:bodyPr/>
                    <a:lstStyle/>
                    <a:p>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573196860"/>
                  </a:ext>
                </a:extLst>
              </a:tr>
              <a:tr h="340193">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£9.27</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932625901"/>
                  </a:ext>
                </a:extLst>
              </a:tr>
              <a:tr h="368226">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695990918"/>
                  </a:ext>
                </a:extLst>
              </a:tr>
              <a:tr h="340193">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2675836756"/>
                  </a:ext>
                </a:extLst>
              </a:tr>
              <a:tr h="720647">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3933764841"/>
                  </a:ext>
                </a:extLst>
              </a:tr>
            </a:tbl>
          </a:graphicData>
        </a:graphic>
      </p:graphicFrame>
      <p:sp>
        <p:nvSpPr>
          <p:cNvPr id="8" name="Rectangle 7">
            <a:extLst>
              <a:ext uri="{FF2B5EF4-FFF2-40B4-BE49-F238E27FC236}">
                <a16:creationId xmlns:a16="http://schemas.microsoft.com/office/drawing/2014/main" id="{DD81A302-1505-4529-99F4-CBA5B04F598C}"/>
              </a:ext>
            </a:extLst>
          </p:cNvPr>
          <p:cNvSpPr/>
          <p:nvPr/>
        </p:nvSpPr>
        <p:spPr>
          <a:xfrm>
            <a:off x="465154" y="799761"/>
            <a:ext cx="9018479"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for Small Producer Relief (SPR)</a:t>
            </a:r>
          </a:p>
        </p:txBody>
      </p:sp>
      <p:sp>
        <p:nvSpPr>
          <p:cNvPr id="6" name="Slide Number Placeholder 3">
            <a:extLst>
              <a:ext uri="{FF2B5EF4-FFF2-40B4-BE49-F238E27FC236}">
                <a16:creationId xmlns:a16="http://schemas.microsoft.com/office/drawing/2014/main" id="{714B4630-D523-450B-84C6-EBBA5DDE37FE}"/>
              </a:ext>
            </a:extLst>
          </p:cNvPr>
          <p:cNvSpPr txBox="1">
            <a:spLocks/>
          </p:cNvSpPr>
          <p:nvPr/>
        </p:nvSpPr>
        <p:spPr>
          <a:xfrm>
            <a:off x="9338865"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260</a:t>
            </a:fld>
            <a:endParaRPr lang="en-GB">
              <a:solidFill>
                <a:schemeClr val="tx1"/>
              </a:solidFill>
            </a:endParaRPr>
          </a:p>
        </p:txBody>
      </p:sp>
      <p:sp>
        <p:nvSpPr>
          <p:cNvPr id="9" name="TextBox 12">
            <a:extLst>
              <a:ext uri="{FF2B5EF4-FFF2-40B4-BE49-F238E27FC236}">
                <a16:creationId xmlns:a16="http://schemas.microsoft.com/office/drawing/2014/main" id="{0C63503F-836F-486D-B70E-3B223D43315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TextBox 11">
            <a:extLst>
              <a:ext uri="{FF2B5EF4-FFF2-40B4-BE49-F238E27FC236}">
                <a16:creationId xmlns:a16="http://schemas.microsoft.com/office/drawing/2014/main" id="{6985AF39-91C6-4EDB-B69A-9C2035DDC864}"/>
              </a:ext>
            </a:extLst>
          </p:cNvPr>
          <p:cNvSpPr txBox="1"/>
          <p:nvPr/>
        </p:nvSpPr>
        <p:spPr>
          <a:xfrm>
            <a:off x="446099" y="1301250"/>
            <a:ext cx="10906924" cy="523220"/>
          </a:xfrm>
          <a:prstGeom prst="rect">
            <a:avLst/>
          </a:prstGeom>
          <a:noFill/>
        </p:spPr>
        <p:txBody>
          <a:bodyPr wrap="square">
            <a:spAutoFit/>
          </a:bodyPr>
          <a:lstStyle/>
          <a:p>
            <a:r>
              <a:rPr lang="en-GB" sz="1400" dirty="0">
                <a:ea typeface="Calibri" panose="020F0502020204030204" pitchFamily="34" charset="0"/>
                <a:cs typeface="Times New Roman" panose="02020603050405020304" pitchFamily="18" charset="0"/>
              </a:rPr>
              <a:t>For guidance on how to calculate Small Producer Relief (SPR), please see: </a:t>
            </a:r>
            <a:r>
              <a:rPr lang="en-GB" sz="1400" dirty="0">
                <a:hlinkClick r:id="rId2"/>
              </a:rPr>
              <a:t>How to work out your Alcohol Duty rates if you’re eligible for Small Producer Relief - GOV.UK (www.gov.uk)</a:t>
            </a:r>
            <a:endParaRPr lang="en-GB" sz="1400" dirty="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884145382"/>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977" y="1671756"/>
          <a:ext cx="10514047" cy="3514933"/>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1026322358"/>
                    </a:ext>
                  </a:extLst>
                </a:gridCol>
                <a:gridCol w="2019600">
                  <a:extLst>
                    <a:ext uri="{9D8B030D-6E8A-4147-A177-3AD203B41FA5}">
                      <a16:colId xmlns:a16="http://schemas.microsoft.com/office/drawing/2014/main" val="858404255"/>
                    </a:ext>
                  </a:extLst>
                </a:gridCol>
              </a:tblGrid>
              <a:tr h="51771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latin typeface="+mn-lt"/>
                        </a:rPr>
                        <a:t>Further Notes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477178">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mn-lt"/>
                          <a:ea typeface="+mn-ea"/>
                          <a:cs typeface="+mn-cs"/>
                        </a:rPr>
                        <a:t>Small Producer Relief (SPR)</a:t>
                      </a:r>
                    </a:p>
                    <a:p>
                      <a:endParaRPr lang="en-GB" sz="1400"/>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Beer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pPr marL="0" algn="l" defTabSz="914400" rtl="0" eaLnBrk="1" latinLnBrk="0" hangingPunct="1"/>
                      <a:r>
                        <a:rPr lang="en-GB" sz="1400" kern="1200">
                          <a:solidFill>
                            <a:schemeClr val="tx1"/>
                          </a:solidFill>
                          <a:latin typeface="+mn-lt"/>
                          <a:ea typeface="+mn-ea"/>
                          <a:cs typeface="+mn-cs"/>
                        </a:rPr>
                        <a:t>Variable (max £19.08)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tx1"/>
                          </a:solidFill>
                          <a:latin typeface="+mn-lt"/>
                          <a:ea typeface="+mn-ea"/>
                          <a:cs typeface="+mn-cs"/>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145837913"/>
                  </a:ext>
                </a:extLst>
              </a:tr>
              <a:tr h="418011">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at least 3.5% but less than 8.5% &amp; sparkling cider at least 3.5% but not exceeding 5.5%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£8.78)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1073131893"/>
                  </a:ext>
                </a:extLst>
              </a:tr>
              <a:tr h="497413">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£22.50)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923803700"/>
                  </a:ext>
                </a:extLst>
              </a:tr>
              <a:tr h="517715">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369</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at least 3.5% but less than 8.5% &amp; sparkling cider exceeding 5.5%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r>
                        <a:rPr lang="en-GB" sz="1200"/>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3933376599"/>
                  </a:ext>
                </a:extLst>
              </a:tr>
              <a:tr h="304538">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370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288378935"/>
                  </a:ext>
                </a:extLst>
              </a:tr>
            </a:tbl>
          </a:graphicData>
        </a:graphic>
      </p:graphicFrame>
      <p:sp>
        <p:nvSpPr>
          <p:cNvPr id="8" name="Rectangle 7">
            <a:extLst>
              <a:ext uri="{FF2B5EF4-FFF2-40B4-BE49-F238E27FC236}">
                <a16:creationId xmlns:a16="http://schemas.microsoft.com/office/drawing/2014/main" id="{DD81A302-1505-4529-99F4-CBA5B04F598C}"/>
              </a:ext>
            </a:extLst>
          </p:cNvPr>
          <p:cNvSpPr/>
          <p:nvPr/>
        </p:nvSpPr>
        <p:spPr>
          <a:xfrm>
            <a:off x="465155" y="799761"/>
            <a:ext cx="9784800"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for Small Producer Relief (SPR) Cont.</a:t>
            </a:r>
          </a:p>
        </p:txBody>
      </p:sp>
      <p:sp>
        <p:nvSpPr>
          <p:cNvPr id="6" name="Slide Number Placeholder 3">
            <a:extLst>
              <a:ext uri="{FF2B5EF4-FFF2-40B4-BE49-F238E27FC236}">
                <a16:creationId xmlns:a16="http://schemas.microsoft.com/office/drawing/2014/main" id="{F671E412-7BEB-4352-9418-B76BBFDB9276}"/>
              </a:ext>
            </a:extLst>
          </p:cNvPr>
          <p:cNvSpPr txBox="1">
            <a:spLocks/>
          </p:cNvSpPr>
          <p:nvPr/>
        </p:nvSpPr>
        <p:spPr>
          <a:xfrm>
            <a:off x="9378623"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261</a:t>
            </a:fld>
            <a:endParaRPr lang="en-GB">
              <a:solidFill>
                <a:schemeClr val="tx1"/>
              </a:solidFill>
            </a:endParaRPr>
          </a:p>
        </p:txBody>
      </p:sp>
      <p:sp>
        <p:nvSpPr>
          <p:cNvPr id="9" name="TextBox 12">
            <a:extLst>
              <a:ext uri="{FF2B5EF4-FFF2-40B4-BE49-F238E27FC236}">
                <a16:creationId xmlns:a16="http://schemas.microsoft.com/office/drawing/2014/main" id="{80C75A48-0D51-472B-9AC9-2FA1A8E2E16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4108258714"/>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15220" y="1548925"/>
          <a:ext cx="10584800" cy="4064264"/>
        </p:xfrm>
        <a:graphic>
          <a:graphicData uri="http://schemas.openxmlformats.org/drawingml/2006/table">
            <a:tbl>
              <a:tblPr firstRow="1" bandRow="1"/>
              <a:tblGrid>
                <a:gridCol w="40484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2605">
                  <a:extLst>
                    <a:ext uri="{9D8B030D-6E8A-4147-A177-3AD203B41FA5}">
                      <a16:colId xmlns:a16="http://schemas.microsoft.com/office/drawing/2014/main" val="3294357458"/>
                    </a:ext>
                  </a:extLst>
                </a:gridCol>
                <a:gridCol w="1282192">
                  <a:extLst>
                    <a:ext uri="{9D8B030D-6E8A-4147-A177-3AD203B41FA5}">
                      <a16:colId xmlns:a16="http://schemas.microsoft.com/office/drawing/2014/main" val="691619200"/>
                    </a:ext>
                  </a:extLst>
                </a:gridCol>
                <a:gridCol w="1317809">
                  <a:extLst>
                    <a:ext uri="{9D8B030D-6E8A-4147-A177-3AD203B41FA5}">
                      <a16:colId xmlns:a16="http://schemas.microsoft.com/office/drawing/2014/main" val="2401641162"/>
                    </a:ext>
                  </a:extLst>
                </a:gridCol>
                <a:gridCol w="2065754">
                  <a:extLst>
                    <a:ext uri="{9D8B030D-6E8A-4147-A177-3AD203B41FA5}">
                      <a16:colId xmlns:a16="http://schemas.microsoft.com/office/drawing/2014/main" val="4208679089"/>
                    </a:ext>
                  </a:extLst>
                </a:gridCol>
              </a:tblGrid>
              <a:tr h="51840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mpd="sng">
                      <a:solidFill>
                        <a:srgbClr val="FFFFFF"/>
                      </a:solidFill>
                    </a:lnL>
                    <a:lnR w="12700" cap="flat" cmpd="sng" algn="ctr">
                      <a:solidFill>
                        <a:schemeClr val="bg1"/>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r>
                        <a:rPr lang="en-GB" sz="1400" b="1" dirty="0">
                          <a:solidFill>
                            <a:schemeClr val="bg1"/>
                          </a:solidFill>
                          <a:latin typeface="+mn-lt"/>
                        </a:rPr>
                        <a:t>Further Notes</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891870">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1" dirty="0">
                          <a:latin typeface="+mn-lt"/>
                        </a:rPr>
                        <a:t>Small Producer Relief (SPR)</a:t>
                      </a:r>
                    </a:p>
                    <a:p>
                      <a:pPr algn="ctr"/>
                      <a:endParaRPr lang="en-GB" sz="1400" dirty="0"/>
                    </a:p>
                  </a:txBody>
                  <a:tcPr marL="288000"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latin typeface="+mn-lt"/>
                        </a:rPr>
                        <a:t>376</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r>
                        <a:rPr lang="en-GB" sz="1400"/>
                        <a:t>Variable (max £18.13)</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014272350"/>
                  </a:ext>
                </a:extLst>
              </a:tr>
              <a:tr h="891870">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377</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Cider at least 3.5% but less than 8.5% &amp; sparkling cider at least 3.5% but not exceeding 5.5%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t>Variable (max £8.34)</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3444161297"/>
                  </a:ext>
                </a:extLst>
              </a:tr>
              <a:tr h="37161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378</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Wine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p>
                      <a:r>
                        <a:rPr lang="en-GB" sz="1400"/>
                        <a:t>Variable (max 18.13)</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rowSpan="3">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extLst>
                  <a:ext uri="{0D108BD9-81ED-4DB2-BD59-A6C34878D82A}">
                    <a16:rowId xmlns:a16="http://schemas.microsoft.com/office/drawing/2014/main" val="3015096088"/>
                  </a:ext>
                </a:extLst>
              </a:tr>
              <a:tr h="872351">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379</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Other fermented products at least 3.5% but less than 8.5% &amp; sparkling cider exceeding 5.5%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292505638"/>
                  </a:ext>
                </a:extLst>
              </a:tr>
              <a:tr h="37161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380</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20000"/>
                      </a:srgbClr>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3730056522"/>
                  </a:ext>
                </a:extLst>
              </a:tr>
            </a:tbl>
          </a:graphicData>
        </a:graphic>
      </p:graphicFrame>
      <p:sp>
        <p:nvSpPr>
          <p:cNvPr id="5" name="Rectangle 4">
            <a:extLst>
              <a:ext uri="{FF2B5EF4-FFF2-40B4-BE49-F238E27FC236}">
                <a16:creationId xmlns:a16="http://schemas.microsoft.com/office/drawing/2014/main" id="{E1AD4952-042E-43C1-96F7-B132750C5CD7}"/>
              </a:ext>
            </a:extLst>
          </p:cNvPr>
          <p:cNvSpPr/>
          <p:nvPr/>
        </p:nvSpPr>
        <p:spPr>
          <a:xfrm>
            <a:off x="465154" y="799761"/>
            <a:ext cx="9784800"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for Small Producer Relief (SPR) Cont.</a:t>
            </a:r>
          </a:p>
        </p:txBody>
      </p:sp>
      <p:sp>
        <p:nvSpPr>
          <p:cNvPr id="9" name="Slide Number Placeholder 3">
            <a:extLst>
              <a:ext uri="{FF2B5EF4-FFF2-40B4-BE49-F238E27FC236}">
                <a16:creationId xmlns:a16="http://schemas.microsoft.com/office/drawing/2014/main" id="{6613FD2D-0C76-4199-AA25-774FF3A521CA}"/>
              </a:ext>
            </a:extLst>
          </p:cNvPr>
          <p:cNvSpPr txBox="1">
            <a:spLocks/>
          </p:cNvSpPr>
          <p:nvPr/>
        </p:nvSpPr>
        <p:spPr>
          <a:xfrm>
            <a:off x="9330915"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262</a:t>
            </a:fld>
            <a:endParaRPr lang="en-GB" dirty="0">
              <a:solidFill>
                <a:schemeClr val="tx1"/>
              </a:solidFill>
            </a:endParaRPr>
          </a:p>
        </p:txBody>
      </p:sp>
      <p:sp>
        <p:nvSpPr>
          <p:cNvPr id="10" name="TextBox 12">
            <a:extLst>
              <a:ext uri="{FF2B5EF4-FFF2-40B4-BE49-F238E27FC236}">
                <a16:creationId xmlns:a16="http://schemas.microsoft.com/office/drawing/2014/main" id="{AED76B25-0E15-48D0-9405-486E6741A8A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3148824627"/>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977" y="2107139"/>
          <a:ext cx="10514047" cy="2718292"/>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2401641162"/>
                    </a:ext>
                  </a:extLst>
                </a:gridCol>
                <a:gridCol w="2019600">
                  <a:extLst>
                    <a:ext uri="{9D8B030D-6E8A-4147-A177-3AD203B41FA5}">
                      <a16:colId xmlns:a16="http://schemas.microsoft.com/office/drawing/2014/main" val="4208679089"/>
                    </a:ext>
                  </a:extLst>
                </a:gridCol>
              </a:tblGrid>
              <a:tr h="51840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dirty="0">
                        <a:latin typeface="+mn-lt"/>
                      </a:endParaRP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Chargeable Rate</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rPr>
                        <a:t>Formula</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dirty="0">
                          <a:solidFill>
                            <a:schemeClr val="bg1"/>
                          </a:solidFill>
                          <a:latin typeface="+mn-lt"/>
                        </a:rPr>
                        <a:t>Further Notes</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752442159"/>
                  </a:ext>
                </a:extLst>
              </a:tr>
              <a:tr h="420433">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1">
                          <a:latin typeface="+mn-lt"/>
                        </a:rPr>
                        <a:t>Small Producer Relief (SPR)</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latin typeface="+mn-lt"/>
                        </a:rPr>
                        <a:t>371</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p>
                      <a:r>
                        <a:rPr lang="en-GB" sz="1400">
                          <a:latin typeface="+mn-lt"/>
                        </a:rPr>
                        <a:t>Beer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rowSpan="5">
                  <a:txBody>
                    <a:bodyPr/>
                    <a:lstStyle/>
                    <a:p>
                      <a:r>
                        <a:rPr lang="en-GB" sz="1400"/>
                        <a:t>Variable (max</a:t>
                      </a:r>
                    </a:p>
                    <a:p>
                      <a:r>
                        <a:rPr lang="en-GB" sz="1400">
                          <a:latin typeface="+mn-lt"/>
                        </a:rPr>
                        <a:t>£8.00)</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rowSpan="5">
                  <a:txBody>
                    <a:bodyPr/>
                    <a:lstStyle/>
                    <a:p>
                      <a:r>
                        <a:rPr lang="en-GB" sz="1400"/>
                        <a:t>(litres x ABV%) x rate</a:t>
                      </a:r>
                      <a:endParaRPr lang="en-GB" sz="1400">
                        <a:latin typeface="+mn-lt"/>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rowSpan="5">
                  <a:txBody>
                    <a:bodyPr/>
                    <a:lstStyle/>
                    <a:p>
                      <a:r>
                        <a:rPr lang="en-GB" sz="1400"/>
                        <a:t>Rate determined by subtracting SPR rate from the ‘max' rate</a:t>
                      </a:r>
                      <a:endParaRPr lang="en-GB" sz="1400">
                        <a:latin typeface="+mn-lt"/>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extLst>
                  <a:ext uri="{0D108BD9-81ED-4DB2-BD59-A6C34878D82A}">
                    <a16:rowId xmlns:a16="http://schemas.microsoft.com/office/drawing/2014/main" val="311671853"/>
                  </a:ext>
                </a:extLst>
              </a:tr>
              <a:tr h="42043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372</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15599810"/>
                  </a:ext>
                </a:extLst>
              </a:tr>
              <a:tr h="42043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373</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863916443"/>
                  </a:ext>
                </a:extLst>
              </a:tr>
              <a:tr h="496905">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374</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139898515"/>
                  </a:ext>
                </a:extLst>
              </a:tr>
              <a:tr h="420433">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t>Small Producer Relief (SPR)</a:t>
                      </a:r>
                    </a:p>
                  </a:txBody>
                  <a:tcPr vert="vert27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375</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alpha val="40000"/>
                      </a:srgbClr>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Manual rate determined by calculating the SPR discount and deducting from the relevant rate above</a:t>
                      </a:r>
                    </a:p>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2455210199"/>
                  </a:ext>
                </a:extLst>
              </a:tr>
            </a:tbl>
          </a:graphicData>
        </a:graphic>
      </p:graphicFrame>
      <p:sp>
        <p:nvSpPr>
          <p:cNvPr id="5" name="Rectangle 4">
            <a:extLst>
              <a:ext uri="{FF2B5EF4-FFF2-40B4-BE49-F238E27FC236}">
                <a16:creationId xmlns:a16="http://schemas.microsoft.com/office/drawing/2014/main" id="{E1AD4952-042E-43C1-96F7-B132750C5CD7}"/>
              </a:ext>
            </a:extLst>
          </p:cNvPr>
          <p:cNvSpPr/>
          <p:nvPr/>
        </p:nvSpPr>
        <p:spPr>
          <a:xfrm>
            <a:off x="465154" y="799761"/>
            <a:ext cx="9784835" cy="400114"/>
          </a:xfrm>
          <a:prstGeom prst="rect">
            <a:avLst/>
          </a:prstGeom>
          <a:solidFill>
            <a:srgbClr val="336699"/>
          </a:solidFill>
          <a:ln w="25402" cap="flat">
            <a:solidFill>
              <a:srgbClr val="3366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TT: New Tax Types (Excise Codes) for Small Producer Relief (SPR) Cont.</a:t>
            </a:r>
          </a:p>
        </p:txBody>
      </p:sp>
      <p:sp>
        <p:nvSpPr>
          <p:cNvPr id="9" name="Slide Number Placeholder 3">
            <a:extLst>
              <a:ext uri="{FF2B5EF4-FFF2-40B4-BE49-F238E27FC236}">
                <a16:creationId xmlns:a16="http://schemas.microsoft.com/office/drawing/2014/main" id="{367C928D-FDA7-42F3-B10A-6DB5007F4060}"/>
              </a:ext>
            </a:extLst>
          </p:cNvPr>
          <p:cNvSpPr txBox="1">
            <a:spLocks/>
          </p:cNvSpPr>
          <p:nvPr/>
        </p:nvSpPr>
        <p:spPr>
          <a:xfrm>
            <a:off x="9330915"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263</a:t>
            </a:fld>
            <a:endParaRPr lang="en-GB" dirty="0">
              <a:solidFill>
                <a:schemeClr val="tx1"/>
              </a:solidFill>
            </a:endParaRPr>
          </a:p>
        </p:txBody>
      </p:sp>
      <p:sp>
        <p:nvSpPr>
          <p:cNvPr id="10" name="TextBox 12">
            <a:extLst>
              <a:ext uri="{FF2B5EF4-FFF2-40B4-BE49-F238E27FC236}">
                <a16:creationId xmlns:a16="http://schemas.microsoft.com/office/drawing/2014/main" id="{2F2817ED-7A2C-4D9E-BF9B-8C22950B625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Tree>
    <p:extLst>
      <p:ext uri="{BB962C8B-B14F-4D97-AF65-F5344CB8AC3E}">
        <p14:creationId xmlns:p14="http://schemas.microsoft.com/office/powerpoint/2010/main" val="137889211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200" y="2179443"/>
          <a:ext cx="10515600" cy="3383280"/>
        </p:xfrm>
        <a:graphic>
          <a:graphicData uri="http://schemas.openxmlformats.org/drawingml/2006/table">
            <a:tbl>
              <a:tblPr firstRow="1" bandRow="1"/>
              <a:tblGrid>
                <a:gridCol w="382318">
                  <a:extLst>
                    <a:ext uri="{9D8B030D-6E8A-4147-A177-3AD203B41FA5}">
                      <a16:colId xmlns:a16="http://schemas.microsoft.com/office/drawing/2014/main" val="4152090426"/>
                    </a:ext>
                  </a:extLst>
                </a:gridCol>
                <a:gridCol w="742365">
                  <a:extLst>
                    <a:ext uri="{9D8B030D-6E8A-4147-A177-3AD203B41FA5}">
                      <a16:colId xmlns:a16="http://schemas.microsoft.com/office/drawing/2014/main" val="1700640631"/>
                    </a:ext>
                  </a:extLst>
                </a:gridCol>
                <a:gridCol w="5901802">
                  <a:extLst>
                    <a:ext uri="{9D8B030D-6E8A-4147-A177-3AD203B41FA5}">
                      <a16:colId xmlns:a16="http://schemas.microsoft.com/office/drawing/2014/main" val="3294357458"/>
                    </a:ext>
                  </a:extLst>
                </a:gridCol>
                <a:gridCol w="1633203">
                  <a:extLst>
                    <a:ext uri="{9D8B030D-6E8A-4147-A177-3AD203B41FA5}">
                      <a16:colId xmlns:a16="http://schemas.microsoft.com/office/drawing/2014/main" val="691619200"/>
                    </a:ext>
                  </a:extLst>
                </a:gridCol>
                <a:gridCol w="1855912">
                  <a:extLst>
                    <a:ext uri="{9D8B030D-6E8A-4147-A177-3AD203B41FA5}">
                      <a16:colId xmlns:a16="http://schemas.microsoft.com/office/drawing/2014/main" val="3080659569"/>
                    </a:ext>
                  </a:extLst>
                </a:gridCol>
              </a:tblGrid>
              <a:tr h="128929">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Tax Type</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Descriptor</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t>Rate from 01/08/2023</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p>
                      <a:r>
                        <a:rPr lang="en-GB" sz="1400" b="1">
                          <a:solidFill>
                            <a:schemeClr val="bg1"/>
                          </a:solidFill>
                        </a:rPr>
                        <a:t>Formula</a:t>
                      </a:r>
                    </a:p>
                  </a:txBody>
                  <a:tcPr anchor="ctr">
                    <a:lnL w="12700" cmpd="sng">
                      <a:solidFill>
                        <a:srgbClr val="FFFFFF"/>
                      </a:solidFill>
                    </a:lnL>
                    <a:lnR w="12700" cmpd="sng">
                      <a:solidFill>
                        <a:srgbClr val="FFFFFF"/>
                      </a:solidFill>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244961">
                <a:tc rowSpan="8">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t>Core Structure</a:t>
                      </a:r>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301</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Low Alcohol – not exceeding 1.2%</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Nil</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p>
                      <a:pPr marL="0" algn="l" defTabSz="914400" rtl="0" eaLnBrk="1" latinLnBrk="0" hangingPunct="1"/>
                      <a:r>
                        <a:rPr lang="en-GB" sz="1400" kern="1200">
                          <a:solidFill>
                            <a:schemeClr val="dk1"/>
                          </a:solidFill>
                          <a:latin typeface="Calibri"/>
                          <a:ea typeface="+mn-ea"/>
                          <a:cs typeface="+mn-cs"/>
                        </a:rPr>
                        <a:t>(litres x ABV%) x rate</a:t>
                      </a:r>
                    </a:p>
                  </a:txBody>
                  <a:tcPr anchor="ctr">
                    <a:lnL w="12700" cap="flat" cmpd="sng" algn="ctr">
                      <a:solidFill>
                        <a:srgbClr val="FFFFFF"/>
                      </a:solidFill>
                      <a:prstDash val="solid"/>
                      <a:round/>
                      <a:headEnd type="none" w="med" len="med"/>
                      <a:tailEnd type="none" w="med" len="med"/>
                    </a:lnL>
                    <a:lnR w="12700" cmpd="sng">
                      <a:solidFill>
                        <a:srgbClr val="FFFFFF"/>
                      </a:solidFill>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extLst>
                  <a:ext uri="{0D108BD9-81ED-4DB2-BD59-A6C34878D82A}">
                    <a16:rowId xmlns:a16="http://schemas.microsoft.com/office/drawing/2014/main" val="3573196860"/>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311</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Beer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£9.27</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00928C">
                        <a:tint val="20000"/>
                      </a:srgbClr>
                    </a:solidFill>
                  </a:tcPr>
                </a:tc>
                <a:tc rowSpan="5">
                  <a:txBody>
                    <a:bodyPr/>
                    <a:lstStyle/>
                    <a:p>
                      <a:pPr marL="0" algn="l" defTabSz="914400" rtl="0" eaLnBrk="1" latinLnBrk="0" hangingPunct="1"/>
                      <a:r>
                        <a:rPr lang="en-GB" sz="1400" kern="1200">
                          <a:solidFill>
                            <a:schemeClr val="dk1"/>
                          </a:solidFill>
                          <a:latin typeface="Calibri"/>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extLst>
                  <a:ext uri="{0D108BD9-81ED-4DB2-BD59-A6C34878D82A}">
                    <a16:rowId xmlns:a16="http://schemas.microsoft.com/office/drawing/2014/main" val="2932625901"/>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312</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Cider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2695990918"/>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313</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Wine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2675836756"/>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314</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Other fermented products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3933764841"/>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315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Spirits less than 3.5%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sz="1400"/>
                    </a:p>
                  </a:txBody>
                  <a:tcPr/>
                </a:tc>
                <a:tc vMerge="1">
                  <a:txBody>
                    <a:bodyPr/>
                    <a:lstStyle/>
                    <a:p>
                      <a:endParaRPr lang="en-GB"/>
                    </a:p>
                  </a:txBody>
                  <a:tcPr/>
                </a:tc>
                <a:extLst>
                  <a:ext uri="{0D108BD9-81ED-4DB2-BD59-A6C34878D82A}">
                    <a16:rowId xmlns:a16="http://schemas.microsoft.com/office/drawing/2014/main" val="3145837913"/>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321</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Beer at least 3.5% but less than 8.5%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£21.01</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Calibri"/>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1073131893"/>
                  </a:ext>
                </a:extLst>
              </a:tr>
              <a:tr h="518160">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322</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Cider at least 3.5% but less than 8.5% &amp; sparkling cider at least 3.5% but not exceeding 5.5%</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£9.67</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dirty="0">
                        <a:solidFill>
                          <a:schemeClr val="dk1"/>
                        </a:solidFill>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dirty="0">
                          <a:solidFill>
                            <a:schemeClr val="dk1"/>
                          </a:solidFill>
                          <a:latin typeface="Calibri"/>
                          <a:ea typeface="+mn-ea"/>
                          <a:cs typeface="+mn-cs"/>
                        </a:rPr>
                        <a:t>(litres x ABV%) x rate</a:t>
                      </a:r>
                    </a:p>
                    <a:p>
                      <a:pPr marL="0" algn="l" defTabSz="914400" rtl="0" eaLnBrk="1" latinLnBrk="0" hangingPunct="1"/>
                      <a:endParaRPr lang="en-GB" sz="1400" kern="1200" dirty="0">
                        <a:solidFill>
                          <a:schemeClr val="dk1"/>
                        </a:solidFill>
                        <a:latin typeface="Calibri"/>
                        <a:ea typeface="+mn-ea"/>
                        <a:cs typeface="+mn-cs"/>
                      </a:endParaRP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923803700"/>
                  </a:ext>
                </a:extLst>
              </a:tr>
            </a:tbl>
          </a:graphicData>
        </a:graphic>
      </p:graphicFrame>
      <p:sp>
        <p:nvSpPr>
          <p:cNvPr id="8" name="Rectangle 7">
            <a:extLst>
              <a:ext uri="{FF2B5EF4-FFF2-40B4-BE49-F238E27FC236}">
                <a16:creationId xmlns:a16="http://schemas.microsoft.com/office/drawing/2014/main" id="{BC1DEA7C-83AA-4D03-B223-51003EAD9161}"/>
              </a:ext>
            </a:extLst>
          </p:cNvPr>
          <p:cNvSpPr/>
          <p:nvPr/>
        </p:nvSpPr>
        <p:spPr>
          <a:xfrm>
            <a:off x="465155" y="799761"/>
            <a:ext cx="6063982"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Core Structure</a:t>
            </a:r>
          </a:p>
        </p:txBody>
      </p:sp>
      <p:sp>
        <p:nvSpPr>
          <p:cNvPr id="9" name="TextBox 12">
            <a:extLst>
              <a:ext uri="{FF2B5EF4-FFF2-40B4-BE49-F238E27FC236}">
                <a16:creationId xmlns:a16="http://schemas.microsoft.com/office/drawing/2014/main" id="{05DF4349-709C-40A0-A48F-263331C86455}"/>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4" name="Rectangle 13">
            <a:extLst>
              <a:ext uri="{FF2B5EF4-FFF2-40B4-BE49-F238E27FC236}">
                <a16:creationId xmlns:a16="http://schemas.microsoft.com/office/drawing/2014/main" id="{0B373D92-1636-4B5C-B95C-B055D1C0096A}"/>
              </a:ext>
            </a:extLst>
          </p:cNvPr>
          <p:cNvSpPr/>
          <p:nvPr/>
        </p:nvSpPr>
        <p:spPr>
          <a:xfrm>
            <a:off x="390537" y="1266626"/>
            <a:ext cx="11282159" cy="523220"/>
          </a:xfrm>
          <a:prstGeom prst="rect">
            <a:avLst/>
          </a:prstGeom>
          <a:noFill/>
          <a:ln cap="flat">
            <a:noFill/>
            <a:prstDash val="solid"/>
          </a:ln>
        </p:spPr>
        <p:txBody>
          <a:bodyPr vert="horz" wrap="square" lIns="91440" tIns="45720" rIns="91440" bIns="45720" anchor="t" anchorCtr="0" compatLnSpc="1">
            <a:spAutoFit/>
          </a:bodyPr>
          <a:lstStyle/>
          <a:p>
            <a:r>
              <a:rPr lang="en-GB" sz="1400" b="1" dirty="0">
                <a:solidFill>
                  <a:srgbClr val="000000"/>
                </a:solidFill>
              </a:rPr>
              <a:t>Please note: </a:t>
            </a:r>
            <a:r>
              <a:rPr lang="en-GB" sz="1400" dirty="0">
                <a:solidFill>
                  <a:srgbClr val="000000"/>
                </a:solidFill>
              </a:rPr>
              <a:t>The rates outlined on slides 18-24 will be implemented in </a:t>
            </a:r>
            <a:r>
              <a:rPr lang="en-GB" sz="1400" b="1" dirty="0">
                <a:solidFill>
                  <a:srgbClr val="000000"/>
                </a:solidFill>
              </a:rPr>
              <a:t>CDS Live </a:t>
            </a:r>
            <a:r>
              <a:rPr lang="en-GB" sz="1400" dirty="0">
                <a:solidFill>
                  <a:srgbClr val="000000"/>
                </a:solidFill>
              </a:rPr>
              <a:t>from </a:t>
            </a:r>
            <a:r>
              <a:rPr lang="en-GB" sz="1400" b="1" dirty="0">
                <a:solidFill>
                  <a:srgbClr val="000000"/>
                </a:solidFill>
              </a:rPr>
              <a:t>01/08/2023</a:t>
            </a:r>
            <a:r>
              <a:rPr lang="en-GB" sz="1400" dirty="0">
                <a:solidFill>
                  <a:srgbClr val="000000"/>
                </a:solidFill>
              </a:rPr>
              <a:t>. These rates will only be available in Trade Test following a standard Tariff Data Refresh in August. </a:t>
            </a:r>
            <a:endParaRPr lang="en-GB" sz="1400" dirty="0">
              <a:solidFill>
                <a:srgbClr val="000000"/>
              </a:solidFill>
              <a:highlight>
                <a:srgbClr val="FFFF00"/>
              </a:highlight>
            </a:endParaRPr>
          </a:p>
        </p:txBody>
      </p:sp>
      <p:sp>
        <p:nvSpPr>
          <p:cNvPr id="11" name="Slide Number Placeholder 3">
            <a:extLst>
              <a:ext uri="{FF2B5EF4-FFF2-40B4-BE49-F238E27FC236}">
                <a16:creationId xmlns:a16="http://schemas.microsoft.com/office/drawing/2014/main" id="{F1374704-9BA8-410C-8FBA-B8A38F7DFC1F}"/>
              </a:ext>
            </a:extLst>
          </p:cNvPr>
          <p:cNvSpPr txBox="1">
            <a:spLocks/>
          </p:cNvSpPr>
          <p:nvPr/>
        </p:nvSpPr>
        <p:spPr>
          <a:xfrm>
            <a:off x="9322962"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264</a:t>
            </a:fld>
            <a:endParaRPr lang="en-GB">
              <a:solidFill>
                <a:schemeClr val="tx1"/>
              </a:solidFill>
            </a:endParaRPr>
          </a:p>
        </p:txBody>
      </p:sp>
    </p:spTree>
    <p:extLst>
      <p:ext uri="{BB962C8B-B14F-4D97-AF65-F5344CB8AC3E}">
        <p14:creationId xmlns:p14="http://schemas.microsoft.com/office/powerpoint/2010/main" val="2022444287"/>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200" y="1672516"/>
          <a:ext cx="10515600" cy="4084320"/>
        </p:xfrm>
        <a:graphic>
          <a:graphicData uri="http://schemas.openxmlformats.org/drawingml/2006/table">
            <a:tbl>
              <a:tblPr firstRow="1" bandRow="1"/>
              <a:tblGrid>
                <a:gridCol w="382378">
                  <a:extLst>
                    <a:ext uri="{9D8B030D-6E8A-4147-A177-3AD203B41FA5}">
                      <a16:colId xmlns:a16="http://schemas.microsoft.com/office/drawing/2014/main" val="4152090426"/>
                    </a:ext>
                  </a:extLst>
                </a:gridCol>
                <a:gridCol w="742482">
                  <a:extLst>
                    <a:ext uri="{9D8B030D-6E8A-4147-A177-3AD203B41FA5}">
                      <a16:colId xmlns:a16="http://schemas.microsoft.com/office/drawing/2014/main" val="1700640631"/>
                    </a:ext>
                  </a:extLst>
                </a:gridCol>
                <a:gridCol w="5901074">
                  <a:extLst>
                    <a:ext uri="{9D8B030D-6E8A-4147-A177-3AD203B41FA5}">
                      <a16:colId xmlns:a16="http://schemas.microsoft.com/office/drawing/2014/main" val="3294357458"/>
                    </a:ext>
                  </a:extLst>
                </a:gridCol>
                <a:gridCol w="1633461">
                  <a:extLst>
                    <a:ext uri="{9D8B030D-6E8A-4147-A177-3AD203B41FA5}">
                      <a16:colId xmlns:a16="http://schemas.microsoft.com/office/drawing/2014/main" val="691619200"/>
                    </a:ext>
                  </a:extLst>
                </a:gridCol>
                <a:gridCol w="1856205">
                  <a:extLst>
                    <a:ext uri="{9D8B030D-6E8A-4147-A177-3AD203B41FA5}">
                      <a16:colId xmlns:a16="http://schemas.microsoft.com/office/drawing/2014/main" val="2886377455"/>
                    </a:ext>
                  </a:extLst>
                </a:gridCol>
              </a:tblGrid>
              <a:tr h="292528">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GB" sz="1400" b="1"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dirty="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244961">
                <a:tc rowSpan="11">
                  <a:txBody>
                    <a:bodyPr/>
                    <a:lstStyle/>
                    <a:p>
                      <a:pPr algn="ctr"/>
                      <a:r>
                        <a:rPr lang="en-GB" sz="1400" b="1" dirty="0">
                          <a:latin typeface="+mn-lt"/>
                        </a:rPr>
                        <a:t>Core Structure</a:t>
                      </a: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l" defTabSz="914400" rtl="0" eaLnBrk="1" latinLnBrk="0" hangingPunct="1"/>
                      <a:r>
                        <a:rPr lang="en-GB" sz="1400" kern="1200" dirty="0">
                          <a:solidFill>
                            <a:schemeClr val="dk1"/>
                          </a:solidFill>
                          <a:latin typeface="Calibri"/>
                          <a:ea typeface="+mn-ea"/>
                          <a:cs typeface="+mn-cs"/>
                        </a:rPr>
                        <a:t>Wine at least 3.5%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Calibri"/>
                          <a:ea typeface="+mn-ea"/>
                          <a:cs typeface="+mn-cs"/>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3764416173"/>
                  </a:ext>
                </a:extLst>
              </a:tr>
              <a:tr h="244961">
                <a:tc vMerge="1">
                  <a:txBody>
                    <a:bodyPr/>
                    <a:lstStyle/>
                    <a:p>
                      <a:pPr algn="ctr"/>
                      <a:endParaRPr lang="en-GB" sz="1400" b="1">
                        <a:latin typeface="+mn-lt"/>
                      </a:endParaRP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Other fermented products at least 3.5% but less than 8.5% &amp; sparkling cider exceeding 5.5%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sz="140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2088874609"/>
                  </a:ext>
                </a:extLst>
              </a:tr>
              <a:tr h="244961">
                <a:tc vMerge="1">
                  <a:txBody>
                    <a:bodyPr/>
                    <a:lstStyle/>
                    <a:p>
                      <a:pPr algn="ctr"/>
                      <a:endParaRPr lang="en-GB" sz="1400" b="1">
                        <a:latin typeface="+mn-lt"/>
                      </a:endParaRP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325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t>Spirits at least 3.5% but less than 8.5%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2456930621"/>
                  </a:ext>
                </a:extLst>
              </a:tr>
              <a:tr h="244961">
                <a:tc vMerge="1">
                  <a:txBody>
                    <a:bodyPr/>
                    <a:lstStyle/>
                    <a:p>
                      <a:pPr algn="ctr"/>
                      <a:r>
                        <a:rPr lang="en-GB" sz="1400" b="1" dirty="0">
                          <a:latin typeface="+mn-lt"/>
                        </a:rPr>
                        <a:t>Core Structure</a:t>
                      </a:r>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4">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£28.50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4">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1922965337"/>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673737055"/>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691001363"/>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335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Spirits at least 8.5% but not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1327185605"/>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4">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£31.64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4">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kern="1200">
                        <a:solidFill>
                          <a:schemeClr val="dk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2598003364"/>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420832470"/>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461951706"/>
                  </a:ext>
                </a:extLst>
              </a:tr>
              <a:tr h="244961">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345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dirty="0">
                          <a:latin typeface="+mn-lt"/>
                        </a:rPr>
                        <a:t>Spirits exceeding 22%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GB" sz="1400"/>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815723674"/>
                  </a:ext>
                </a:extLst>
              </a:tr>
            </a:tbl>
          </a:graphicData>
        </a:graphic>
      </p:graphicFrame>
      <p:sp>
        <p:nvSpPr>
          <p:cNvPr id="8" name="Rectangle 7">
            <a:extLst>
              <a:ext uri="{FF2B5EF4-FFF2-40B4-BE49-F238E27FC236}">
                <a16:creationId xmlns:a16="http://schemas.microsoft.com/office/drawing/2014/main" id="{BC1DEA7C-83AA-4D03-B223-51003EAD9161}"/>
              </a:ext>
            </a:extLst>
          </p:cNvPr>
          <p:cNvSpPr/>
          <p:nvPr/>
        </p:nvSpPr>
        <p:spPr>
          <a:xfrm>
            <a:off x="465154" y="799761"/>
            <a:ext cx="6785877"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Core Structure Cont.</a:t>
            </a:r>
          </a:p>
        </p:txBody>
      </p:sp>
      <p:sp>
        <p:nvSpPr>
          <p:cNvPr id="9" name="TextBox 12">
            <a:extLst>
              <a:ext uri="{FF2B5EF4-FFF2-40B4-BE49-F238E27FC236}">
                <a16:creationId xmlns:a16="http://schemas.microsoft.com/office/drawing/2014/main" id="{A7517860-8CF9-4261-A512-150E2109CF5B}"/>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Slide Number Placeholder 3">
            <a:extLst>
              <a:ext uri="{FF2B5EF4-FFF2-40B4-BE49-F238E27FC236}">
                <a16:creationId xmlns:a16="http://schemas.microsoft.com/office/drawing/2014/main" id="{09F2C227-1D31-4B26-9DE2-1F578D2B030A}"/>
              </a:ext>
            </a:extLst>
          </p:cNvPr>
          <p:cNvSpPr txBox="1">
            <a:spLocks/>
          </p:cNvSpPr>
          <p:nvPr/>
        </p:nvSpPr>
        <p:spPr>
          <a:xfrm>
            <a:off x="9322963"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265</a:t>
            </a:fld>
            <a:endParaRPr lang="en-GB">
              <a:solidFill>
                <a:schemeClr val="tx1"/>
              </a:solidFill>
            </a:endParaRPr>
          </a:p>
        </p:txBody>
      </p:sp>
    </p:spTree>
    <p:extLst>
      <p:ext uri="{BB962C8B-B14F-4D97-AF65-F5344CB8AC3E}">
        <p14:creationId xmlns:p14="http://schemas.microsoft.com/office/powerpoint/2010/main" val="2606753361"/>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199" y="1611556"/>
          <a:ext cx="10515601" cy="3992880"/>
        </p:xfrm>
        <a:graphic>
          <a:graphicData uri="http://schemas.openxmlformats.org/drawingml/2006/table">
            <a:tbl>
              <a:tblPr firstRow="1" bandRow="1"/>
              <a:tblGrid>
                <a:gridCol w="382318">
                  <a:extLst>
                    <a:ext uri="{9D8B030D-6E8A-4147-A177-3AD203B41FA5}">
                      <a16:colId xmlns:a16="http://schemas.microsoft.com/office/drawing/2014/main" val="4152090426"/>
                    </a:ext>
                  </a:extLst>
                </a:gridCol>
                <a:gridCol w="742365">
                  <a:extLst>
                    <a:ext uri="{9D8B030D-6E8A-4147-A177-3AD203B41FA5}">
                      <a16:colId xmlns:a16="http://schemas.microsoft.com/office/drawing/2014/main" val="1700640631"/>
                    </a:ext>
                  </a:extLst>
                </a:gridCol>
                <a:gridCol w="5901802">
                  <a:extLst>
                    <a:ext uri="{9D8B030D-6E8A-4147-A177-3AD203B41FA5}">
                      <a16:colId xmlns:a16="http://schemas.microsoft.com/office/drawing/2014/main" val="3294357458"/>
                    </a:ext>
                  </a:extLst>
                </a:gridCol>
                <a:gridCol w="1633203">
                  <a:extLst>
                    <a:ext uri="{9D8B030D-6E8A-4147-A177-3AD203B41FA5}">
                      <a16:colId xmlns:a16="http://schemas.microsoft.com/office/drawing/2014/main" val="691619200"/>
                    </a:ext>
                  </a:extLst>
                </a:gridCol>
                <a:gridCol w="1855913">
                  <a:extLst>
                    <a:ext uri="{9D8B030D-6E8A-4147-A177-3AD203B41FA5}">
                      <a16:colId xmlns:a16="http://schemas.microsoft.com/office/drawing/2014/main" val="1263596634"/>
                    </a:ext>
                  </a:extLst>
                </a:gridCol>
              </a:tblGrid>
              <a:tr h="257052">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latin typeface="+mn-lt"/>
                      </a:endParaRP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Tax Type</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Descriptor</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mpd="sng">
                      <a:solidFill>
                        <a:srgbClr val="FFFFFF"/>
                      </a:solidFill>
                    </a:lnL>
                    <a:lnR w="12700" cmpd="sng">
                      <a:solidFill>
                        <a:srgbClr val="FFFFFF"/>
                      </a:solidFill>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239582">
                <a:tc rowSpan="10">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latin typeface="+mn-lt"/>
                        </a:rPr>
                        <a:t>Draught Relief (DR)</a:t>
                      </a:r>
                    </a:p>
                  </a:txBody>
                  <a:tcPr vert="vert270" anchor="ctr">
                    <a:lnL w="12700" cmpd="sng">
                      <a:solidFill>
                        <a:srgbClr val="FFFFFF"/>
                      </a:solidFill>
                    </a:lnL>
                    <a:lnR w="12700" cap="flat" cmpd="sng" algn="ctr">
                      <a:solidFill>
                        <a:schemeClr val="bg1"/>
                      </a:solidFill>
                      <a:prstDash val="solid"/>
                      <a:round/>
                      <a:headEnd type="none" w="med" len="med"/>
                      <a:tailEnd type="none" w="med" len="med"/>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351</a:t>
                      </a:r>
                    </a:p>
                  </a:txBody>
                  <a:tcPr anchor="ctr">
                    <a:lnL w="12700" cap="flat" cmpd="sng" algn="ctr">
                      <a:solidFill>
                        <a:schemeClr val="bg1"/>
                      </a:solidFill>
                      <a:prstDash val="solid"/>
                      <a:round/>
                      <a:headEnd type="none" w="med" len="med"/>
                      <a:tailEnd type="none" w="med" len="med"/>
                    </a:lnL>
                    <a:lnR w="12700" cmpd="sng">
                      <a:solidFill>
                        <a:srgbClr val="FFFFFF"/>
                      </a:solidFill>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less than 3.5% &amp; eligible for DR</a:t>
                      </a:r>
                    </a:p>
                  </a:txBody>
                  <a:tcPr anchor="ctr">
                    <a:lnL w="12700" cmpd="sng">
                      <a:solidFill>
                        <a:srgbClr val="FFFFFF"/>
                      </a:solidFill>
                    </a:lnL>
                    <a:lnR w="12700" cmpd="sng">
                      <a:solidFill>
                        <a:srgbClr val="FFFFFF"/>
                      </a:solidFill>
                    </a:lnR>
                    <a:lnT w="38100" cmpd="sng">
                      <a:noFill/>
                    </a:lnT>
                    <a:lnB w="12700" cmpd="sng">
                      <a:solidFill>
                        <a:srgbClr val="FFFFFF"/>
                      </a:solidFill>
                    </a:lnB>
                    <a:lnTlToBr w="12700" cmpd="sng">
                      <a:noFill/>
                      <a:prstDash val="solid"/>
                    </a:lnTlToBr>
                    <a:lnBlToTr w="12700" cmpd="sng">
                      <a:noFill/>
                      <a:prstDash val="solid"/>
                    </a:lnBlToTr>
                    <a:solidFill>
                      <a:srgbClr val="00928C">
                        <a:tint val="40000"/>
                      </a:srgbClr>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£8.42</a:t>
                      </a:r>
                    </a:p>
                  </a:txBody>
                  <a:tcPr anchor="ctr">
                    <a:lnL w="12700" cmpd="sng">
                      <a:solidFill>
                        <a:srgbClr val="FFFFFF"/>
                      </a:solidFill>
                    </a:lnL>
                    <a:lnR w="12700" cap="flat" cmpd="sng" algn="ctr">
                      <a:solidFill>
                        <a:srgbClr val="FFFFFF"/>
                      </a:solidFill>
                      <a:prstDash val="solid"/>
                      <a:round/>
                      <a:headEnd type="none" w="med" len="med"/>
                      <a:tailEnd type="none" w="med" len="med"/>
                    </a:lnR>
                    <a:lnT w="38100" cmpd="sng">
                      <a:no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rowSpan="5">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p>
                      <a:endParaRPr lang="en-GB" sz="1400">
                        <a:latin typeface="+mn-lt"/>
                      </a:endParaRPr>
                    </a:p>
                  </a:txBody>
                  <a:tcPr anchor="ctr">
                    <a:lnL w="12700" cmpd="sng">
                      <a:solidFill>
                        <a:srgbClr val="FFFFFF"/>
                      </a:solidFill>
                    </a:lnL>
                    <a:lnR w="12700" cmpd="sng">
                      <a:solidFill>
                        <a:srgbClr val="FFFFFF"/>
                      </a:solidFill>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extLst>
                  <a:ext uri="{0D108BD9-81ED-4DB2-BD59-A6C34878D82A}">
                    <a16:rowId xmlns:a16="http://schemas.microsoft.com/office/drawing/2014/main" val="3573196860"/>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352</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£9.27</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932625901"/>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353</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695990918"/>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354</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2675836756"/>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355</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Spirits less than 3.5%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extLst>
                  <a:ext uri="{0D108BD9-81ED-4DB2-BD59-A6C34878D82A}">
                    <a16:rowId xmlns:a16="http://schemas.microsoft.com/office/drawing/2014/main" val="3933764841"/>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356</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3.5% but less than 8.5%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p>
                      <a:pPr algn="l"/>
                      <a:r>
                        <a:rPr lang="en-GB" sz="1400">
                          <a:latin typeface="+mn-lt"/>
                        </a:rPr>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145837913"/>
                  </a:ext>
                </a:extLst>
              </a:tr>
              <a:tr h="518160">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357</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Cider at least 3.5% but less than 8.5% &amp; sparkling cider at least 3.5% but not exceeding 5.5%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£8.78</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mpd="sng">
                      <a:solidFill>
                        <a:srgbClr val="FFFFFF"/>
                      </a:solidFill>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1073131893"/>
                  </a:ext>
                </a:extLst>
              </a:tr>
              <a:tr h="239582">
                <a:tc vMerge="1">
                  <a:txBody>
                    <a:bodyPr/>
                    <a:lstStyle/>
                    <a:p>
                      <a:endParaRPr lang="en-GB"/>
                    </a:p>
                  </a:txBody>
                  <a:tcPr>
                    <a:lnT w="127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358</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Wine at least 3.5% but less than 8.5% &amp; eligible for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dk1"/>
                          </a:solidFill>
                          <a:latin typeface="+mn-lt"/>
                          <a:ea typeface="+mn-ea"/>
                          <a:cs typeface="+mn-cs"/>
                        </a:rPr>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923803700"/>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359</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Other fermented products at least 3.5% but less than 8.5% &amp; sparkling cider exceeding 5.5% but less than 8.5% &amp; eligible for DR</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p>
                      <a:endParaRPr lang="en-GB"/>
                    </a:p>
                  </a:txBody>
                  <a:tcPr/>
                </a:tc>
                <a:extLst>
                  <a:ext uri="{0D108BD9-81ED-4DB2-BD59-A6C34878D82A}">
                    <a16:rowId xmlns:a16="http://schemas.microsoft.com/office/drawing/2014/main" val="3933376599"/>
                  </a:ext>
                </a:extLst>
              </a:tr>
              <a:tr h="239582">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360</a:t>
                      </a:r>
                    </a:p>
                  </a:txBody>
                  <a:tcPr anchor="ctr">
                    <a:lnL w="12700" cap="flat" cmpd="sng" algn="ctr">
                      <a:solidFill>
                        <a:schemeClr val="bg1"/>
                      </a:solidFill>
                      <a:prstDash val="solid"/>
                      <a:round/>
                      <a:headEnd type="none" w="med" len="med"/>
                      <a:tailEnd type="none" w="med" len="med"/>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DR</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extLst>
                  <a:ext uri="{0D108BD9-81ED-4DB2-BD59-A6C34878D82A}">
                    <a16:rowId xmlns:a16="http://schemas.microsoft.com/office/drawing/2014/main" val="1288378935"/>
                  </a:ext>
                </a:extLst>
              </a:tr>
            </a:tbl>
          </a:graphicData>
        </a:graphic>
      </p:graphicFrame>
      <p:sp>
        <p:nvSpPr>
          <p:cNvPr id="8" name="Rectangle 7">
            <a:extLst>
              <a:ext uri="{FF2B5EF4-FFF2-40B4-BE49-F238E27FC236}">
                <a16:creationId xmlns:a16="http://schemas.microsoft.com/office/drawing/2014/main" id="{4407AFA1-BB91-4379-9339-054AE02044FE}"/>
              </a:ext>
            </a:extLst>
          </p:cNvPr>
          <p:cNvSpPr/>
          <p:nvPr/>
        </p:nvSpPr>
        <p:spPr>
          <a:xfrm>
            <a:off x="465155" y="799761"/>
            <a:ext cx="7010466"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for Draught Relief (DR)</a:t>
            </a:r>
          </a:p>
        </p:txBody>
      </p:sp>
      <p:sp>
        <p:nvSpPr>
          <p:cNvPr id="9" name="TextBox 12">
            <a:extLst>
              <a:ext uri="{FF2B5EF4-FFF2-40B4-BE49-F238E27FC236}">
                <a16:creationId xmlns:a16="http://schemas.microsoft.com/office/drawing/2014/main" id="{964290E3-49E5-4697-8C6E-D38CE7B6150E}"/>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0" name="Slide Number Placeholder 3">
            <a:extLst>
              <a:ext uri="{FF2B5EF4-FFF2-40B4-BE49-F238E27FC236}">
                <a16:creationId xmlns:a16="http://schemas.microsoft.com/office/drawing/2014/main" id="{E68DAFF0-F0BF-40B0-8222-DF36C4723B76}"/>
              </a:ext>
            </a:extLst>
          </p:cNvPr>
          <p:cNvSpPr txBox="1">
            <a:spLocks/>
          </p:cNvSpPr>
          <p:nvPr/>
        </p:nvSpPr>
        <p:spPr>
          <a:xfrm>
            <a:off x="9315012"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266</a:t>
            </a:fld>
            <a:endParaRPr lang="en-GB" dirty="0">
              <a:solidFill>
                <a:schemeClr val="tx1"/>
              </a:solidFill>
            </a:endParaRPr>
          </a:p>
        </p:txBody>
      </p:sp>
    </p:spTree>
    <p:extLst>
      <p:ext uri="{BB962C8B-B14F-4D97-AF65-F5344CB8AC3E}">
        <p14:creationId xmlns:p14="http://schemas.microsoft.com/office/powerpoint/2010/main" val="77108590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976" y="2115194"/>
          <a:ext cx="10514047" cy="2627612"/>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1026322358"/>
                    </a:ext>
                  </a:extLst>
                </a:gridCol>
                <a:gridCol w="2019600">
                  <a:extLst>
                    <a:ext uri="{9D8B030D-6E8A-4147-A177-3AD203B41FA5}">
                      <a16:colId xmlns:a16="http://schemas.microsoft.com/office/drawing/2014/main" val="858404255"/>
                    </a:ext>
                  </a:extLst>
                </a:gridCol>
              </a:tblGrid>
              <a:tr h="452582">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latin typeface="+mn-lt"/>
                        </a:rPr>
                        <a:t>Further Notes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340193">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GB" sz="1400" b="1">
                          <a:latin typeface="+mn-lt"/>
                        </a:rPr>
                        <a:t>Small Producer Relief (SPR)</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rowSpan="5">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£9.27)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rowSpan="5">
                  <a:txBody>
                    <a:bodyPr/>
                    <a:lstStyle/>
                    <a:p>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rowSpan="5">
                  <a:txBody>
                    <a:bodyPr/>
                    <a:lstStyle/>
                    <a:p>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extLst>
                  <a:ext uri="{0D108BD9-81ED-4DB2-BD59-A6C34878D82A}">
                    <a16:rowId xmlns:a16="http://schemas.microsoft.com/office/drawing/2014/main" val="3573196860"/>
                  </a:ext>
                </a:extLst>
              </a:tr>
              <a:tr h="340193">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GB" sz="1400"/>
                        <a:t>£9.27</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932625901"/>
                  </a:ext>
                </a:extLst>
              </a:tr>
              <a:tr h="368226">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695990918"/>
                  </a:ext>
                </a:extLst>
              </a:tr>
              <a:tr h="340193">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2675836756"/>
                  </a:ext>
                </a:extLst>
              </a:tr>
              <a:tr h="720647">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less than 3.5%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pPr algn="l"/>
                      <a:endParaRPr lang="en-GB" sz="14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20000"/>
                      </a:srgbClr>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3933764841"/>
                  </a:ext>
                </a:extLst>
              </a:tr>
            </a:tbl>
          </a:graphicData>
        </a:graphic>
      </p:graphicFrame>
      <p:sp>
        <p:nvSpPr>
          <p:cNvPr id="8" name="Rectangle 7">
            <a:extLst>
              <a:ext uri="{FF2B5EF4-FFF2-40B4-BE49-F238E27FC236}">
                <a16:creationId xmlns:a16="http://schemas.microsoft.com/office/drawing/2014/main" id="{DD81A302-1505-4529-99F4-CBA5B04F598C}"/>
              </a:ext>
            </a:extLst>
          </p:cNvPr>
          <p:cNvSpPr/>
          <p:nvPr/>
        </p:nvSpPr>
        <p:spPr>
          <a:xfrm>
            <a:off x="465155" y="799761"/>
            <a:ext cx="7956950"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for Small Producer Relief (SPR)</a:t>
            </a:r>
          </a:p>
        </p:txBody>
      </p:sp>
      <p:sp>
        <p:nvSpPr>
          <p:cNvPr id="9" name="TextBox 12">
            <a:extLst>
              <a:ext uri="{FF2B5EF4-FFF2-40B4-BE49-F238E27FC236}">
                <a16:creationId xmlns:a16="http://schemas.microsoft.com/office/drawing/2014/main" id="{3A0121AF-FB52-4B2B-A508-371A4CCF56C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0" name="Slide Number Placeholder 3">
            <a:extLst>
              <a:ext uri="{FF2B5EF4-FFF2-40B4-BE49-F238E27FC236}">
                <a16:creationId xmlns:a16="http://schemas.microsoft.com/office/drawing/2014/main" id="{4F511851-662E-4D76-A5B3-29381D26285C}"/>
              </a:ext>
            </a:extLst>
          </p:cNvPr>
          <p:cNvSpPr txBox="1">
            <a:spLocks/>
          </p:cNvSpPr>
          <p:nvPr/>
        </p:nvSpPr>
        <p:spPr>
          <a:xfrm>
            <a:off x="9322963"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267</a:t>
            </a:fld>
            <a:endParaRPr lang="en-GB" dirty="0">
              <a:solidFill>
                <a:schemeClr val="tx1"/>
              </a:solidFill>
            </a:endParaRPr>
          </a:p>
        </p:txBody>
      </p:sp>
      <p:sp>
        <p:nvSpPr>
          <p:cNvPr id="13" name="TextBox 12">
            <a:extLst>
              <a:ext uri="{FF2B5EF4-FFF2-40B4-BE49-F238E27FC236}">
                <a16:creationId xmlns:a16="http://schemas.microsoft.com/office/drawing/2014/main" id="{C3433D8A-7628-4AAB-86E2-B85BB2C1EE24}"/>
              </a:ext>
            </a:extLst>
          </p:cNvPr>
          <p:cNvSpPr txBox="1"/>
          <p:nvPr/>
        </p:nvSpPr>
        <p:spPr>
          <a:xfrm>
            <a:off x="446099" y="1301250"/>
            <a:ext cx="10906924" cy="523220"/>
          </a:xfrm>
          <a:prstGeom prst="rect">
            <a:avLst/>
          </a:prstGeom>
          <a:noFill/>
        </p:spPr>
        <p:txBody>
          <a:bodyPr wrap="square">
            <a:spAutoFit/>
          </a:bodyPr>
          <a:lstStyle/>
          <a:p>
            <a:r>
              <a:rPr lang="en-GB" sz="1400" dirty="0">
                <a:ea typeface="Calibri" panose="020F0502020204030204" pitchFamily="34" charset="0"/>
                <a:cs typeface="Times New Roman" panose="02020603050405020304" pitchFamily="18" charset="0"/>
              </a:rPr>
              <a:t>For guidance on how to calculate Small Producer Relief (SPR), please see: </a:t>
            </a:r>
            <a:r>
              <a:rPr lang="en-GB" sz="1400" dirty="0">
                <a:hlinkClick r:id="rId2"/>
              </a:rPr>
              <a:t>How to work out your Alcohol Duty rates if you’re eligible for Small Producer Relief - GOV.UK (www.gov.uk)</a:t>
            </a:r>
            <a:endParaRPr lang="en-GB" sz="1400" dirty="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716755850"/>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38976" y="1671533"/>
          <a:ext cx="10514047" cy="3514933"/>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1026322358"/>
                    </a:ext>
                  </a:extLst>
                </a:gridCol>
                <a:gridCol w="2019600">
                  <a:extLst>
                    <a:ext uri="{9D8B030D-6E8A-4147-A177-3AD203B41FA5}">
                      <a16:colId xmlns:a16="http://schemas.microsoft.com/office/drawing/2014/main" val="858404255"/>
                    </a:ext>
                  </a:extLst>
                </a:gridCol>
              </a:tblGrid>
              <a:tr h="51771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Tax Type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Descriptor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latin typeface="+mn-lt"/>
                        </a:rPr>
                        <a:t>Further Notes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477178">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mn-lt"/>
                          <a:ea typeface="+mn-ea"/>
                          <a:cs typeface="+mn-cs"/>
                        </a:rPr>
                        <a:t>Small Producer Relief (SPR)</a:t>
                      </a:r>
                    </a:p>
                    <a:p>
                      <a:endParaRPr lang="en-GB" sz="1400"/>
                    </a:p>
                  </a:txBody>
                  <a:tcPr marL="72000" vert="vert27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pPr marL="0" algn="l" defTabSz="914400" rtl="0" eaLnBrk="1" latinLnBrk="0" hangingPunct="1"/>
                      <a:r>
                        <a:rPr lang="en-GB" sz="1400" kern="1200">
                          <a:solidFill>
                            <a:schemeClr val="tx1"/>
                          </a:solidFill>
                          <a:latin typeface="+mn-lt"/>
                          <a:ea typeface="+mn-ea"/>
                          <a:cs typeface="+mn-cs"/>
                        </a:rPr>
                        <a:t>Variable (max £21.01)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kern="1200">
                          <a:solidFill>
                            <a:schemeClr val="tx1"/>
                          </a:solidFill>
                          <a:latin typeface="+mn-lt"/>
                          <a:ea typeface="+mn-ea"/>
                          <a:cs typeface="+mn-cs"/>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145837913"/>
                  </a:ext>
                </a:extLst>
              </a:tr>
              <a:tr h="418011">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at least 3.5% but less than 8.5% &amp; sparkling cider at least 3.5% but not exceeding 5.5%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£9.67)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extLst>
                  <a:ext uri="{0D108BD9-81ED-4DB2-BD59-A6C34878D82A}">
                    <a16:rowId xmlns:a16="http://schemas.microsoft.com/office/drawing/2014/main" val="1073131893"/>
                  </a:ext>
                </a:extLst>
              </a:tr>
              <a:tr h="497413">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Variable (max £24.77)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(litres x ABV%) 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Rate determined by subtracting SPR rate from the ‘max' rate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923803700"/>
                  </a:ext>
                </a:extLst>
              </a:tr>
              <a:tr h="517715">
                <a:tc vMerge="1">
                  <a:txBody>
                    <a:bodyPr/>
                    <a:lstStyle/>
                    <a:p>
                      <a:endParaRPr lang="en-GB"/>
                    </a:p>
                  </a:txBody>
                  <a:tcPr>
                    <a:lnT w="38100" cap="flat" cmpd="sng" algn="ctr">
                      <a:solidFill>
                        <a:srgbClr val="FFFFFF"/>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369</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at least 3.5% but less than 8.5% &amp; sparkling cider exceeding 5.5%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r>
                        <a:rPr lang="en-GB" sz="1200"/>
                        <a:t>£19.08</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3933376599"/>
                  </a:ext>
                </a:extLst>
              </a:tr>
              <a:tr h="304538">
                <a:tc vMerge="1">
                  <a:txBody>
                    <a:bodyPr/>
                    <a:lstStyle/>
                    <a:p>
                      <a:endParaRPr lang="en-GB"/>
                    </a:p>
                  </a:txBody>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370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SPR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t>£24.77</a:t>
                      </a: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CBDCDB"/>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288378935"/>
                  </a:ext>
                </a:extLst>
              </a:tr>
            </a:tbl>
          </a:graphicData>
        </a:graphic>
      </p:graphicFrame>
      <p:sp>
        <p:nvSpPr>
          <p:cNvPr id="8" name="Rectangle 7">
            <a:extLst>
              <a:ext uri="{FF2B5EF4-FFF2-40B4-BE49-F238E27FC236}">
                <a16:creationId xmlns:a16="http://schemas.microsoft.com/office/drawing/2014/main" id="{DD81A302-1505-4529-99F4-CBA5B04F598C}"/>
              </a:ext>
            </a:extLst>
          </p:cNvPr>
          <p:cNvSpPr/>
          <p:nvPr/>
        </p:nvSpPr>
        <p:spPr>
          <a:xfrm>
            <a:off x="465155" y="799761"/>
            <a:ext cx="8725028"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for Small Producer Relief (SPR) Cont.</a:t>
            </a:r>
          </a:p>
        </p:txBody>
      </p:sp>
      <p:sp>
        <p:nvSpPr>
          <p:cNvPr id="9" name="TextBox 12">
            <a:extLst>
              <a:ext uri="{FF2B5EF4-FFF2-40B4-BE49-F238E27FC236}">
                <a16:creationId xmlns:a16="http://schemas.microsoft.com/office/drawing/2014/main" id="{9F8C0850-4907-495F-A384-C24C6AF3316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0" name="Slide Number Placeholder 3">
            <a:extLst>
              <a:ext uri="{FF2B5EF4-FFF2-40B4-BE49-F238E27FC236}">
                <a16:creationId xmlns:a16="http://schemas.microsoft.com/office/drawing/2014/main" id="{EFD22211-A778-476D-91F8-B59597D8190E}"/>
              </a:ext>
            </a:extLst>
          </p:cNvPr>
          <p:cNvSpPr txBox="1">
            <a:spLocks/>
          </p:cNvSpPr>
          <p:nvPr/>
        </p:nvSpPr>
        <p:spPr>
          <a:xfrm>
            <a:off x="9330915"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268</a:t>
            </a:fld>
            <a:endParaRPr lang="en-GB" dirty="0">
              <a:solidFill>
                <a:schemeClr val="tx1"/>
              </a:solidFill>
            </a:endParaRPr>
          </a:p>
        </p:txBody>
      </p:sp>
    </p:spTree>
    <p:extLst>
      <p:ext uri="{BB962C8B-B14F-4D97-AF65-F5344CB8AC3E}">
        <p14:creationId xmlns:p14="http://schemas.microsoft.com/office/powerpoint/2010/main" val="388824839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907819" y="2107139"/>
          <a:ext cx="10514047" cy="2914629"/>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1725">
                  <a:extLst>
                    <a:ext uri="{9D8B030D-6E8A-4147-A177-3AD203B41FA5}">
                      <a16:colId xmlns:a16="http://schemas.microsoft.com/office/drawing/2014/main" val="3294357458"/>
                    </a:ext>
                  </a:extLst>
                </a:gridCol>
                <a:gridCol w="1281956">
                  <a:extLst>
                    <a:ext uri="{9D8B030D-6E8A-4147-A177-3AD203B41FA5}">
                      <a16:colId xmlns:a16="http://schemas.microsoft.com/office/drawing/2014/main" val="691619200"/>
                    </a:ext>
                  </a:extLst>
                </a:gridCol>
                <a:gridCol w="1317566">
                  <a:extLst>
                    <a:ext uri="{9D8B030D-6E8A-4147-A177-3AD203B41FA5}">
                      <a16:colId xmlns:a16="http://schemas.microsoft.com/office/drawing/2014/main" val="2401641162"/>
                    </a:ext>
                  </a:extLst>
                </a:gridCol>
                <a:gridCol w="2019600">
                  <a:extLst>
                    <a:ext uri="{9D8B030D-6E8A-4147-A177-3AD203B41FA5}">
                      <a16:colId xmlns:a16="http://schemas.microsoft.com/office/drawing/2014/main" val="4208679089"/>
                    </a:ext>
                  </a:extLst>
                </a:gridCol>
              </a:tblGrid>
              <a:tr h="714737">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latin typeface="+mn-lt"/>
                      </a:endParaRPr>
                    </a:p>
                  </a:txBody>
                  <a:tcPr anchor="ctr">
                    <a:lnL w="12700" cmpd="sng">
                      <a:solidFill>
                        <a:srgbClr val="FFFFFF"/>
                      </a:solidFill>
                    </a:lnL>
                    <a:lnR w="12700" cmpd="sng">
                      <a:solidFill>
                        <a:srgbClr val="FFFFFF"/>
                      </a:solidFill>
                    </a:lnR>
                    <a:lnT w="12700" cmpd="sng">
                      <a:solidFill>
                        <a:srgbClr val="FFFFFF"/>
                      </a:solid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Tax Type</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Descriptor</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latin typeface="+mn-lt"/>
                        </a:rPr>
                        <a:t>Further Notes</a:t>
                      </a:r>
                    </a:p>
                  </a:txBody>
                  <a:tcPr anchor="ctr">
                    <a:lnL w="12700" cmpd="sng">
                      <a:solidFill>
                        <a:srgbClr val="FFFFFF"/>
                      </a:solidFill>
                    </a:lnL>
                    <a:lnR w="12700" cmpd="sng">
                      <a:solidFill>
                        <a:srgbClr val="FFFFFF"/>
                      </a:solidFill>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420433">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1">
                          <a:latin typeface="+mn-lt"/>
                        </a:rPr>
                        <a:t>Small Producer Relief (SPR)</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371</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p>
                      <a:r>
                        <a:rPr lang="en-GB" sz="1400">
                          <a:latin typeface="+mn-lt"/>
                        </a:rPr>
                        <a:t>Beer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5">
                  <a:txBody>
                    <a:bodyPr/>
                    <a:lstStyle/>
                    <a:p>
                      <a:r>
                        <a:rPr lang="en-GB" sz="1400"/>
                        <a:t>Variable (max £8.42)</a:t>
                      </a:r>
                      <a:endParaRPr lang="en-GB" sz="1400">
                        <a:latin typeface="+mn-lt"/>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5">
                  <a:txBody>
                    <a:bodyPr/>
                    <a:lstStyle/>
                    <a:p>
                      <a:r>
                        <a:rPr lang="en-GB" sz="1400"/>
                        <a:t>(litres x ABV%) x rate</a:t>
                      </a:r>
                      <a:endParaRPr lang="en-GB" sz="1400">
                        <a:latin typeface="+mn-lt"/>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rowSpan="5">
                  <a:txBody>
                    <a:bodyPr/>
                    <a:lstStyle/>
                    <a:p>
                      <a:r>
                        <a:rPr lang="en-GB" sz="1400"/>
                        <a:t>Rate determined by subtracting SPR rate from the ‘max' rate</a:t>
                      </a:r>
                      <a:endParaRPr lang="en-GB" sz="1400">
                        <a:latin typeface="+mn-lt"/>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311671853"/>
                  </a:ext>
                </a:extLst>
              </a:tr>
              <a:tr h="42043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372</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Cider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15599810"/>
                  </a:ext>
                </a:extLst>
              </a:tr>
              <a:tr h="42043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373</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Wine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863916443"/>
                  </a:ext>
                </a:extLst>
              </a:tr>
              <a:tr h="496905">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374</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Other fermented products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2139898515"/>
                  </a:ext>
                </a:extLst>
              </a:tr>
              <a:tr h="420433">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t>Small Producer Relief (SPR)</a:t>
                      </a:r>
                    </a:p>
                  </a:txBody>
                  <a:tcPr vert="vert27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375</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less than 3.5%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Manual rate determined by calculating the SPR discount and deducting from the relevant rate above</a:t>
                      </a:r>
                    </a:p>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2455210199"/>
                  </a:ext>
                </a:extLst>
              </a:tr>
            </a:tbl>
          </a:graphicData>
        </a:graphic>
      </p:graphicFrame>
      <p:sp>
        <p:nvSpPr>
          <p:cNvPr id="5" name="Rectangle 4">
            <a:extLst>
              <a:ext uri="{FF2B5EF4-FFF2-40B4-BE49-F238E27FC236}">
                <a16:creationId xmlns:a16="http://schemas.microsoft.com/office/drawing/2014/main" id="{E1AD4952-042E-43C1-96F7-B132750C5CD7}"/>
              </a:ext>
            </a:extLst>
          </p:cNvPr>
          <p:cNvSpPr/>
          <p:nvPr/>
        </p:nvSpPr>
        <p:spPr>
          <a:xfrm>
            <a:off x="465154" y="799761"/>
            <a:ext cx="8726971"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for Small Producer Relief (SPR) Cont.</a:t>
            </a:r>
          </a:p>
        </p:txBody>
      </p:sp>
      <p:sp>
        <p:nvSpPr>
          <p:cNvPr id="10" name="TextBox 12">
            <a:extLst>
              <a:ext uri="{FF2B5EF4-FFF2-40B4-BE49-F238E27FC236}">
                <a16:creationId xmlns:a16="http://schemas.microsoft.com/office/drawing/2014/main" id="{766A4F55-5634-400D-B01A-0EC3A7A65155}"/>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Slide Number Placeholder 3">
            <a:extLst>
              <a:ext uri="{FF2B5EF4-FFF2-40B4-BE49-F238E27FC236}">
                <a16:creationId xmlns:a16="http://schemas.microsoft.com/office/drawing/2014/main" id="{164089B5-F9C4-43F6-83B3-CE85D7B7A674}"/>
              </a:ext>
            </a:extLst>
          </p:cNvPr>
          <p:cNvSpPr txBox="1">
            <a:spLocks/>
          </p:cNvSpPr>
          <p:nvPr/>
        </p:nvSpPr>
        <p:spPr>
          <a:xfrm>
            <a:off x="9330915"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269</a:t>
            </a:fld>
            <a:endParaRPr lang="en-GB" dirty="0">
              <a:solidFill>
                <a:schemeClr val="tx1"/>
              </a:solidFill>
            </a:endParaRPr>
          </a:p>
        </p:txBody>
      </p:sp>
    </p:spTree>
    <p:extLst>
      <p:ext uri="{BB962C8B-B14F-4D97-AF65-F5344CB8AC3E}">
        <p14:creationId xmlns:p14="http://schemas.microsoft.com/office/powerpoint/2010/main" val="64664547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4">
            <a:extLst>
              <a:ext uri="{FF2B5EF4-FFF2-40B4-BE49-F238E27FC236}">
                <a16:creationId xmlns:a16="http://schemas.microsoft.com/office/drawing/2014/main" id="{AAEAA7F8-053A-4D61-92E7-AFF154A5812D}"/>
              </a:ext>
            </a:extLst>
          </p:cNvPr>
          <p:cNvGraphicFramePr>
            <a:graphicFrameLocks noGrp="1"/>
          </p:cNvGraphicFramePr>
          <p:nvPr/>
        </p:nvGraphicFramePr>
        <p:xfrm>
          <a:off x="896985" y="1548925"/>
          <a:ext cx="10561560" cy="4177605"/>
        </p:xfrm>
        <a:graphic>
          <a:graphicData uri="http://schemas.openxmlformats.org/drawingml/2006/table">
            <a:tbl>
              <a:tblPr firstRow="1" bandRow="1"/>
              <a:tblGrid>
                <a:gridCol w="381600">
                  <a:extLst>
                    <a:ext uri="{9D8B030D-6E8A-4147-A177-3AD203B41FA5}">
                      <a16:colId xmlns:a16="http://schemas.microsoft.com/office/drawing/2014/main" val="4152090426"/>
                    </a:ext>
                  </a:extLst>
                </a:gridCol>
                <a:gridCol w="741600">
                  <a:extLst>
                    <a:ext uri="{9D8B030D-6E8A-4147-A177-3AD203B41FA5}">
                      <a16:colId xmlns:a16="http://schemas.microsoft.com/office/drawing/2014/main" val="1700640631"/>
                    </a:ext>
                  </a:extLst>
                </a:gridCol>
                <a:gridCol w="4772605">
                  <a:extLst>
                    <a:ext uri="{9D8B030D-6E8A-4147-A177-3AD203B41FA5}">
                      <a16:colId xmlns:a16="http://schemas.microsoft.com/office/drawing/2014/main" val="3294357458"/>
                    </a:ext>
                  </a:extLst>
                </a:gridCol>
                <a:gridCol w="1282192">
                  <a:extLst>
                    <a:ext uri="{9D8B030D-6E8A-4147-A177-3AD203B41FA5}">
                      <a16:colId xmlns:a16="http://schemas.microsoft.com/office/drawing/2014/main" val="691619200"/>
                    </a:ext>
                  </a:extLst>
                </a:gridCol>
                <a:gridCol w="1317809">
                  <a:extLst>
                    <a:ext uri="{9D8B030D-6E8A-4147-A177-3AD203B41FA5}">
                      <a16:colId xmlns:a16="http://schemas.microsoft.com/office/drawing/2014/main" val="2401641162"/>
                    </a:ext>
                  </a:extLst>
                </a:gridCol>
                <a:gridCol w="2065754">
                  <a:extLst>
                    <a:ext uri="{9D8B030D-6E8A-4147-A177-3AD203B41FA5}">
                      <a16:colId xmlns:a16="http://schemas.microsoft.com/office/drawing/2014/main" val="4208679089"/>
                    </a:ext>
                  </a:extLst>
                </a:gridCol>
              </a:tblGrid>
              <a:tr h="631741">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GB" sz="1400">
                        <a:latin typeface="+mn-lt"/>
                      </a:endParaRPr>
                    </a:p>
                  </a:txBody>
                  <a:tcPr anchor="ctr">
                    <a:lnL w="12700" cmpd="sng">
                      <a:solidFill>
                        <a:srgbClr val="FFFFFF"/>
                      </a:solidFill>
                    </a:lnL>
                    <a:lnR w="12700" cmpd="sng">
                      <a:solidFill>
                        <a:srgbClr val="FFFFFF"/>
                      </a:solidFill>
                    </a:lnR>
                    <a:lnT w="12700" cmpd="sng">
                      <a:solidFill>
                        <a:srgbClr val="FFFFFF"/>
                      </a:solid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Tax Type</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Descriptor</a:t>
                      </a:r>
                    </a:p>
                  </a:txBody>
                  <a:tcPr anchor="ctr">
                    <a:lnL w="12700" cmpd="sng">
                      <a:solidFill>
                        <a:srgbClr val="FFFFFF"/>
                      </a:solidFill>
                    </a:lnL>
                    <a:lnR w="12700" cmpd="sng">
                      <a:solidFill>
                        <a:srgbClr val="FFFFFF"/>
                      </a:solidFill>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GB" sz="1400">
                          <a:latin typeface="+mn-lt"/>
                        </a:rPr>
                        <a:t>Rate from 01/08/2023</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noFill/>
                    </a:lnB>
                    <a:lnTlToBr w="12700" cmpd="sng">
                      <a:noFill/>
                      <a:prstDash val="solid"/>
                    </a:lnTlToBr>
                    <a:lnBlToTr w="12700" cmpd="sng">
                      <a:noFill/>
                      <a:prstDash val="solid"/>
                    </a:lnBlToTr>
                    <a:solidFill>
                      <a:srgbClr val="00928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a:solidFill>
                            <a:schemeClr val="bg1"/>
                          </a:solidFill>
                        </a:rPr>
                        <a:t>Formula</a:t>
                      </a: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tc>
                  <a:txBody>
                    <a:bodyPr/>
                    <a:lstStyle/>
                    <a:p>
                      <a:r>
                        <a:rPr lang="en-GB" sz="1400" b="1">
                          <a:solidFill>
                            <a:schemeClr val="bg1"/>
                          </a:solidFill>
                          <a:latin typeface="+mn-lt"/>
                        </a:rPr>
                        <a:t>Further Notes</a:t>
                      </a:r>
                    </a:p>
                  </a:txBody>
                  <a:tcPr anchor="ctr">
                    <a:lnL w="12700" cmpd="sng">
                      <a:solidFill>
                        <a:srgbClr val="FFFFFF"/>
                      </a:solidFill>
                    </a:lnL>
                    <a:lnR w="12700" cmpd="sng">
                      <a:solidFill>
                        <a:srgbClr val="FFFFFF"/>
                      </a:solidFill>
                    </a:lnR>
                    <a:lnT w="12700" cmpd="sng">
                      <a:solidFill>
                        <a:srgbClr val="FFFFFF"/>
                      </a:solid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00928C"/>
                    </a:solidFill>
                  </a:tcPr>
                </a:tc>
                <a:extLst>
                  <a:ext uri="{0D108BD9-81ED-4DB2-BD59-A6C34878D82A}">
                    <a16:rowId xmlns:a16="http://schemas.microsoft.com/office/drawing/2014/main" val="1752442159"/>
                  </a:ext>
                </a:extLst>
              </a:tr>
              <a:tr h="891870">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1">
                          <a:latin typeface="+mn-lt"/>
                        </a:rPr>
                        <a:t>Small Producer Relief (SPR)</a:t>
                      </a:r>
                    </a:p>
                    <a:p>
                      <a:pPr algn="ctr"/>
                      <a:endParaRPr lang="en-GB" sz="1400"/>
                    </a:p>
                  </a:txBody>
                  <a:tcPr marL="252000"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376</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GB" sz="1400">
                          <a:latin typeface="+mn-lt"/>
                        </a:rPr>
                        <a:t>Beer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r>
                        <a:rPr lang="en-GB" sz="1400"/>
                        <a:t>Variable (max £19.08)</a:t>
                      </a:r>
                      <a:endParaRPr lang="en-GB" sz="1400" dirty="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014272350"/>
                  </a:ext>
                </a:extLst>
              </a:tr>
              <a:tr h="891870">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377</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Cider at least 3.5% but less than 8.5% &amp; sparkling cider at least 3.5% but not exceeding 5.5%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p>
                      <a:r>
                        <a:rPr lang="en-GB" sz="1400"/>
                        <a:t>Variable (max £8.78)</a:t>
                      </a:r>
                      <a:endParaRPr lang="en-GB" sz="1400" dirty="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tc>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BDCDB"/>
                    </a:solidFill>
                  </a:tcPr>
                </a:tc>
                <a:extLst>
                  <a:ext uri="{0D108BD9-81ED-4DB2-BD59-A6C34878D82A}">
                    <a16:rowId xmlns:a16="http://schemas.microsoft.com/office/drawing/2014/main" val="3444161297"/>
                  </a:ext>
                </a:extLst>
              </a:tr>
              <a:tr h="37161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378</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Wine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p>
                      <a:r>
                        <a:rPr lang="en-GB" sz="1400"/>
                        <a:t>Variable (max £19.08)</a:t>
                      </a:r>
                      <a:endParaRPr lang="en-GB" sz="1400" dirty="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p>
                      <a:r>
                        <a:rPr lang="en-GB" sz="1400"/>
                        <a:t>(litres x ABV%) 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rowSpan="3">
                  <a:txBody>
                    <a:bodyPr/>
                    <a:lstStyle/>
                    <a:p>
                      <a:r>
                        <a:rPr lang="en-GB" sz="1400"/>
                        <a:t>rate determined by subtracting SPR rate from the ‘max' rate</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extLst>
                  <a:ext uri="{0D108BD9-81ED-4DB2-BD59-A6C34878D82A}">
                    <a16:rowId xmlns:a16="http://schemas.microsoft.com/office/drawing/2014/main" val="3015096088"/>
                  </a:ext>
                </a:extLst>
              </a:tr>
              <a:tr h="872351">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379</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latin typeface="+mn-lt"/>
                        </a:rPr>
                        <a:t>Other fermented products at least 3.5% but less than 8.5% &amp; sparkling cider exceeding 5.5%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val="1292505638"/>
                  </a:ext>
                </a:extLst>
              </a:tr>
              <a:tr h="371613">
                <a:tc vMerge="1">
                  <a:txBody>
                    <a:bodyPr/>
                    <a:lstStyle/>
                    <a:p>
                      <a:pPr algn="ctr"/>
                      <a:endParaRPr lang="en-GB" sz="1200"/>
                    </a:p>
                  </a:txBody>
                  <a:tcPr vert="vert270" anchor="ctr">
                    <a:lnL w="12700" cmpd="sng">
                      <a:solidFill>
                        <a:srgbClr val="FFFFFF"/>
                      </a:solidFill>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928C">
                        <a:tint val="40000"/>
                      </a:srgbClr>
                    </a:solidFill>
                  </a:tcPr>
                </a:tc>
                <a:tc>
                  <a:txBody>
                    <a:bodyPr/>
                    <a:lstStyle/>
                    <a:p>
                      <a:r>
                        <a:rPr lang="en-GB" sz="1400">
                          <a:latin typeface="+mn-lt"/>
                        </a:rPr>
                        <a:t>380</a:t>
                      </a:r>
                    </a:p>
                  </a:txBody>
                  <a:tcPr anchor="ctr">
                    <a:lnL w="12700" cap="flat" cmpd="sng" algn="ctr">
                      <a:solidFill>
                        <a:schemeClr val="bg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latin typeface="+mn-lt"/>
                        </a:rPr>
                        <a:t>Spirits at least 3.5% but less than 8.5% &amp; eligible for SPR and DR</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sz="1200"/>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7EEEE"/>
                    </a:solidFill>
                  </a:tcPr>
                </a:tc>
                <a:tc vMerge="1">
                  <a:txBody>
                    <a:bodyPr/>
                    <a:lstStyle/>
                    <a:p>
                      <a:endParaRPr lang="en-GB"/>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vMerge="1">
                  <a:txBody>
                    <a:bodyPr/>
                    <a:lstStyle/>
                    <a:p>
                      <a:endParaRPr lang="en-GB"/>
                    </a:p>
                  </a:txBody>
                  <a:tcPr>
                    <a:lnT w="12700"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3730056522"/>
                  </a:ext>
                </a:extLst>
              </a:tr>
            </a:tbl>
          </a:graphicData>
        </a:graphic>
      </p:graphicFrame>
      <p:sp>
        <p:nvSpPr>
          <p:cNvPr id="5" name="Rectangle 4">
            <a:extLst>
              <a:ext uri="{FF2B5EF4-FFF2-40B4-BE49-F238E27FC236}">
                <a16:creationId xmlns:a16="http://schemas.microsoft.com/office/drawing/2014/main" id="{E1AD4952-042E-43C1-96F7-B132750C5CD7}"/>
              </a:ext>
            </a:extLst>
          </p:cNvPr>
          <p:cNvSpPr/>
          <p:nvPr/>
        </p:nvSpPr>
        <p:spPr>
          <a:xfrm>
            <a:off x="465154" y="799761"/>
            <a:ext cx="8726971"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Tax Types (Excise Codes) for Small Producer Relief (SPR) Cont.</a:t>
            </a:r>
          </a:p>
        </p:txBody>
      </p:sp>
      <p:sp>
        <p:nvSpPr>
          <p:cNvPr id="11" name="TextBox 12">
            <a:extLst>
              <a:ext uri="{FF2B5EF4-FFF2-40B4-BE49-F238E27FC236}">
                <a16:creationId xmlns:a16="http://schemas.microsoft.com/office/drawing/2014/main" id="{94D21EFA-81A8-42F6-A28C-C1CDFC091B84}"/>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Slide Number Placeholder 3">
            <a:extLst>
              <a:ext uri="{FF2B5EF4-FFF2-40B4-BE49-F238E27FC236}">
                <a16:creationId xmlns:a16="http://schemas.microsoft.com/office/drawing/2014/main" id="{521236E5-0088-400C-A4F9-DE6AB2292448}"/>
              </a:ext>
            </a:extLst>
          </p:cNvPr>
          <p:cNvSpPr txBox="1">
            <a:spLocks/>
          </p:cNvSpPr>
          <p:nvPr/>
        </p:nvSpPr>
        <p:spPr>
          <a:xfrm>
            <a:off x="9378623"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270</a:t>
            </a:fld>
            <a:endParaRPr lang="en-GB" dirty="0">
              <a:solidFill>
                <a:schemeClr val="tx1"/>
              </a:solidFill>
            </a:endParaRPr>
          </a:p>
        </p:txBody>
      </p:sp>
    </p:spTree>
    <p:extLst>
      <p:ext uri="{BB962C8B-B14F-4D97-AF65-F5344CB8AC3E}">
        <p14:creationId xmlns:p14="http://schemas.microsoft.com/office/powerpoint/2010/main" val="2993795959"/>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475268" y="3771898"/>
          <a:ext cx="11213808" cy="58539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71292">
                <a:tc>
                  <a:txBody>
                    <a:bodyPr/>
                    <a:lstStyle/>
                    <a:p>
                      <a:pPr lvl="0" algn="ctr"/>
                      <a:r>
                        <a:rPr lang="en-GB" sz="1200" dirty="0"/>
                        <a:t>TTM23.0 (CDS 4.1.0)</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 </a:t>
                      </a:r>
                      <a:r>
                        <a:rPr lang="en-GB" sz="1200" b="0" dirty="0">
                          <a:solidFill>
                            <a:srgbClr val="000000"/>
                          </a:solidFill>
                        </a:rPr>
                        <a:t>15/06/2023   </a:t>
                      </a:r>
                      <a:r>
                        <a:rPr lang="en-GB" sz="1200" b="1" dirty="0">
                          <a:solidFill>
                            <a:srgbClr val="000000"/>
                          </a:solidFill>
                        </a:rPr>
                        <a:t>TDR: </a:t>
                      </a:r>
                      <a:r>
                        <a:rPr lang="en-GB" sz="1200" b="0" dirty="0">
                          <a:solidFill>
                            <a:srgbClr val="000000"/>
                          </a:solidFill>
                        </a:rPr>
                        <a:t>27/06/2023</a:t>
                      </a:r>
                      <a:r>
                        <a:rPr lang="en-GB" sz="1200" b="1" dirty="0">
                          <a:solidFill>
                            <a:srgbClr val="000000"/>
                          </a:solidFill>
                        </a:rPr>
                        <a:t>  </a:t>
                      </a:r>
                      <a:r>
                        <a:rPr lang="en-GB" sz="1200" b="0" dirty="0">
                          <a:solidFill>
                            <a:srgbClr val="000000"/>
                          </a:solidFill>
                        </a:rPr>
                        <a:t> </a:t>
                      </a:r>
                      <a:r>
                        <a:rPr lang="en-GB" sz="1200" b="1" dirty="0">
                          <a:solidFill>
                            <a:srgbClr val="000000"/>
                          </a:solidFill>
                        </a:rPr>
                        <a:t>Live: </a:t>
                      </a:r>
                      <a:r>
                        <a:rPr lang="en-GB" sz="1200" b="0" dirty="0">
                          <a:solidFill>
                            <a:srgbClr val="000000"/>
                          </a:solidFill>
                        </a:rPr>
                        <a:t>24/06/2023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490165" y="3648458"/>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75268" y="4344448"/>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kern="1200" dirty="0">
                          <a:solidFill>
                            <a:srgbClr val="000000"/>
                          </a:solidFill>
                          <a:latin typeface="+mn-lt"/>
                          <a:hlinkClick r:id="rId3" action="ppaction://hlinksldjump"/>
                        </a:rPr>
                        <a:t>Import One Stop Shop (IOSS) </a:t>
                      </a:r>
                      <a:endParaRPr lang="en-GB" sz="1200" b="0" i="0" u="sng" kern="1200" dirty="0">
                        <a:solidFill>
                          <a:srgbClr val="000000"/>
                        </a:solidFill>
                        <a:latin typeface="+mn-lt"/>
                      </a:endParaRPr>
                    </a:p>
                    <a:p>
                      <a:pPr marL="0" marR="0" lvl="0" indent="0" algn="l" rtl="0" fontAlgn="auto" hangingPunct="1">
                        <a:lnSpc>
                          <a:spcPct val="100000"/>
                        </a:lnSpc>
                        <a:spcBef>
                          <a:spcPts val="0"/>
                        </a:spcBef>
                        <a:spcAft>
                          <a:spcPts val="0"/>
                        </a:spcAft>
                        <a:buSzPct val="100000"/>
                        <a:buFont typeface="Arial" pitchFamily="34"/>
                        <a:buNone/>
                      </a:pPr>
                      <a:endParaRPr lang="en-GB" sz="1200" b="0" i="0" u="sng"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none" kern="1200" dirty="0">
                          <a:solidFill>
                            <a:srgbClr val="000000"/>
                          </a:solidFill>
                          <a:latin typeface="+mn-lt"/>
                        </a:rPr>
                        <a:t> </a:t>
                      </a:r>
                      <a:r>
                        <a:rPr lang="en-GB" sz="1200" b="0" i="0" u="sng" kern="1200" dirty="0">
                          <a:solidFill>
                            <a:srgbClr val="000000"/>
                          </a:solidFill>
                          <a:latin typeface="+mn-lt"/>
                          <a:hlinkClick r:id="rId4" action="ppaction://hlinksldjump"/>
                        </a:rPr>
                        <a:t>Merchandise in Baggage</a:t>
                      </a:r>
                      <a:endParaRPr lang="en-GB" sz="1200" b="0" i="0" u="sng" kern="120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u="sng" dirty="0">
                          <a:solidFill>
                            <a:srgbClr val="000000"/>
                          </a:solidFill>
                          <a:latin typeface="+mn-lt"/>
                          <a:hlinkClick r:id="rId5" action="ppaction://hlinksldjump"/>
                        </a:rPr>
                        <a:t>XI Licences and Authorisations</a:t>
                      </a: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r>
                        <a:rPr lang="en-GB" sz="1200" b="0" i="0" u="none" strike="noStrike" dirty="0">
                          <a:solidFill>
                            <a:srgbClr val="000000"/>
                          </a:solidFill>
                          <a:latin typeface="+mn-lt"/>
                        </a:rPr>
                        <a:t>U  </a:t>
                      </a:r>
                      <a:r>
                        <a:rPr lang="en-GB" sz="1200" b="0" u="sng" dirty="0">
                          <a:solidFill>
                            <a:srgbClr val="000000"/>
                          </a:solidFill>
                          <a:latin typeface="+mn-lt"/>
                          <a:hlinkClick r:id="rId6" action="ppaction://hlinksldjump"/>
                        </a:rPr>
                        <a:t>Dual Tariff End Use and Preference Mismatch</a:t>
                      </a:r>
                      <a:endParaRPr lang="en-GB" sz="1200" b="0" i="0" u="sng"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dirty="0">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dirty="0">
                <a:ln>
                  <a:noFill/>
                </a:ln>
                <a:solidFill>
                  <a:srgbClr val="6264A7"/>
                </a:solidFill>
                <a:effectLst/>
                <a:uLnTx/>
                <a:uFillTx/>
                <a:latin typeface="Calibri" panose="020F0502020204030204"/>
                <a:ea typeface="+mn-ea"/>
                <a:cs typeface="+mn-cs"/>
                <a:hlinkClick r:id="rId7"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dirty="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panose="020F0502020204030204"/>
                <a:ea typeface="Calibri" pitchFamily="34"/>
                <a:cs typeface="Calibri"/>
              </a:rPr>
              <a:t>If you have any questions regarding this release, please send your query to </a:t>
            </a:r>
            <a:r>
              <a:rPr kumimoji="0" lang="en-GB" sz="1400" b="0" i="0" u="none" strike="noStrike" kern="1200" cap="none" spc="0" normalizeH="0" baseline="0" noProof="0" dirty="0">
                <a:ln>
                  <a:noFill/>
                </a:ln>
                <a:solidFill>
                  <a:srgbClr val="000000"/>
                </a:solidFill>
                <a:effectLst/>
                <a:uLnTx/>
                <a:uFillTx/>
                <a:latin typeface="Calibri" panose="020F0502020204030204"/>
                <a:ea typeface="Calibri" pitchFamily="34"/>
                <a:cs typeface="Calibri"/>
                <a:hlinkClick r:id="rId8"/>
              </a:rPr>
              <a:t>SDSTeam@hmrc.gov.uk</a:t>
            </a:r>
            <a:r>
              <a:rPr kumimoji="0" lang="en-GB" sz="1400" b="0" i="0" u="none" strike="noStrike" kern="1200" cap="none" spc="0" normalizeH="0" baseline="0" noProof="0" dirty="0">
                <a:ln>
                  <a:noFill/>
                </a:ln>
                <a:solidFill>
                  <a:srgbClr val="000000"/>
                </a:solidFill>
                <a:effectLst/>
                <a:uLnTx/>
                <a:uFillTx/>
                <a:latin typeface="Calibri" panose="020F0502020204030204"/>
                <a:ea typeface="Calibri" pitchFamily="34"/>
                <a:cs typeface="Calibri"/>
              </a:rPr>
              <a:t>.</a:t>
            </a:r>
          </a:p>
        </p:txBody>
      </p:sp>
      <p:sp>
        <p:nvSpPr>
          <p:cNvPr id="28" name="Oval 16">
            <a:extLst>
              <a:ext uri="{FF2B5EF4-FFF2-40B4-BE49-F238E27FC236}">
                <a16:creationId xmlns:a16="http://schemas.microsoft.com/office/drawing/2014/main" id="{F2743D23-87A9-4EC3-B431-F0BCFA2A490C}"/>
              </a:ext>
            </a:extLst>
          </p:cNvPr>
          <p:cNvSpPr/>
          <p:nvPr/>
        </p:nvSpPr>
        <p:spPr>
          <a:xfrm>
            <a:off x="551647" y="439403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Oval 16">
            <a:extLst>
              <a:ext uri="{FF2B5EF4-FFF2-40B4-BE49-F238E27FC236}">
                <a16:creationId xmlns:a16="http://schemas.microsoft.com/office/drawing/2014/main" id="{660AB8A0-C8B1-4FFF-819A-129A215E748B}"/>
              </a:ext>
            </a:extLst>
          </p:cNvPr>
          <p:cNvSpPr/>
          <p:nvPr/>
        </p:nvSpPr>
        <p:spPr>
          <a:xfrm>
            <a:off x="3136351" y="442756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16">
            <a:extLst>
              <a:ext uri="{FF2B5EF4-FFF2-40B4-BE49-F238E27FC236}">
                <a16:creationId xmlns:a16="http://schemas.microsoft.com/office/drawing/2014/main" id="{53D6E3CD-7964-4AB9-9361-78360A6D988A}"/>
              </a:ext>
            </a:extLst>
          </p:cNvPr>
          <p:cNvSpPr/>
          <p:nvPr/>
        </p:nvSpPr>
        <p:spPr>
          <a:xfrm>
            <a:off x="6078140" y="443218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16">
            <a:extLst>
              <a:ext uri="{FF2B5EF4-FFF2-40B4-BE49-F238E27FC236}">
                <a16:creationId xmlns:a16="http://schemas.microsoft.com/office/drawing/2014/main" id="{23EFCD79-4F73-4D29-BF49-5D1524A1C632}"/>
              </a:ext>
            </a:extLst>
          </p:cNvPr>
          <p:cNvSpPr/>
          <p:nvPr/>
        </p:nvSpPr>
        <p:spPr>
          <a:xfrm>
            <a:off x="8876751" y="441832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Slide Number Placeholder 3">
            <a:extLst>
              <a:ext uri="{FF2B5EF4-FFF2-40B4-BE49-F238E27FC236}">
                <a16:creationId xmlns:a16="http://schemas.microsoft.com/office/drawing/2014/main" id="{5EDC9929-EA97-4B41-A3AF-F70D14761820}"/>
              </a:ext>
            </a:extLst>
          </p:cNvPr>
          <p:cNvSpPr txBox="1">
            <a:spLocks/>
          </p:cNvSpPr>
          <p:nvPr/>
        </p:nvSpPr>
        <p:spPr>
          <a:xfrm>
            <a:off x="9378623"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271</a:t>
            </a:fld>
            <a:endParaRPr lang="en-GB" dirty="0">
              <a:solidFill>
                <a:schemeClr val="tx1"/>
              </a:solidFill>
            </a:endParaRPr>
          </a:p>
        </p:txBody>
      </p:sp>
    </p:spTree>
    <p:extLst>
      <p:ext uri="{BB962C8B-B14F-4D97-AF65-F5344CB8AC3E}">
        <p14:creationId xmlns:p14="http://schemas.microsoft.com/office/powerpoint/2010/main" val="3347960205"/>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46373"/>
            <a:ext cx="11282159" cy="4093428"/>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solidFill>
                  <a:srgbClr val="000000"/>
                </a:solidFill>
                <a:effectLst/>
              </a:rPr>
              <a:t>Import One Stop Shop (IOSS) - VAT and Customs Duty Calculation Where IOSS is Claimed</a:t>
            </a:r>
          </a:p>
          <a:p>
            <a:pPr algn="l"/>
            <a:endParaRPr lang="en-GB" sz="1400" b="1" i="0" u="sng" dirty="0">
              <a:solidFill>
                <a:srgbClr val="000000"/>
              </a:solidFill>
              <a:effectLst/>
            </a:endParaRPr>
          </a:p>
          <a:p>
            <a:r>
              <a:rPr lang="en-GB" sz="1400" dirty="0"/>
              <a:t>IOSS is a monthly VAT reporting and payment system that businesses can opt to use where they sell (non-excise) goods located outside of the EU and NI, in consignments not exceeding intrinsic value of £135 (€150), to consumers in the EU and NI.</a:t>
            </a:r>
            <a:endParaRPr lang="en-GB" sz="1400" dirty="0">
              <a:cs typeface="Calibri"/>
            </a:endParaRPr>
          </a:p>
          <a:p>
            <a:endParaRPr lang="en-GB" sz="1400" dirty="0"/>
          </a:p>
          <a:p>
            <a:r>
              <a:rPr lang="en-GB" sz="1400" dirty="0"/>
              <a:t>This new functionality seeks</a:t>
            </a:r>
            <a:r>
              <a:rPr lang="en-GB" sz="1400" i="0" dirty="0">
                <a:effectLst/>
              </a:rPr>
              <a:t> to be able to calculate and suppress both Customs Duty and VAT so that customers</a:t>
            </a:r>
            <a:r>
              <a:rPr lang="en-GB" sz="1400" dirty="0"/>
              <a:t> are </a:t>
            </a:r>
            <a:r>
              <a:rPr lang="en-GB" sz="1400" i="0" dirty="0">
                <a:effectLst/>
              </a:rPr>
              <a:t>not charged customs duty or VAT on low value B2C goods (</a:t>
            </a:r>
            <a:r>
              <a:rPr lang="en-GB" sz="1400" dirty="0"/>
              <a:t>with an intrinsic value of </a:t>
            </a:r>
            <a:r>
              <a:rPr lang="en-GB" sz="1400" i="0" dirty="0">
                <a:effectLst/>
              </a:rPr>
              <a:t>up to £135, not liable to any excise duties)</a:t>
            </a:r>
            <a:r>
              <a:rPr lang="en-GB" sz="1400" dirty="0"/>
              <a:t> on import,  </a:t>
            </a:r>
            <a:r>
              <a:rPr lang="en-GB" sz="1400" i="0" dirty="0">
                <a:effectLst/>
              </a:rPr>
              <a:t>but to provide a VAT amount so the IOSS registered trader can account for VAT via their IOSS VAT return and HMRC </a:t>
            </a:r>
            <a:r>
              <a:rPr lang="en-GB" sz="1400" dirty="0"/>
              <a:t>has a record</a:t>
            </a:r>
            <a:r>
              <a:rPr lang="en-GB" sz="1400" i="0" dirty="0">
                <a:effectLst/>
              </a:rPr>
              <a:t> </a:t>
            </a:r>
            <a:r>
              <a:rPr lang="en-GB" sz="1400" dirty="0"/>
              <a:t>of the VAT</a:t>
            </a:r>
            <a:r>
              <a:rPr lang="en-GB" sz="1400" i="0" dirty="0">
                <a:effectLst/>
              </a:rPr>
              <a:t> </a:t>
            </a:r>
            <a:r>
              <a:rPr lang="en-GB" sz="1400" dirty="0"/>
              <a:t>suppressed</a:t>
            </a:r>
            <a:r>
              <a:rPr lang="en-GB" sz="1400" i="0" dirty="0">
                <a:effectLst/>
              </a:rPr>
              <a:t>.</a:t>
            </a:r>
            <a:r>
              <a:rPr lang="en-GB" sz="1400" dirty="0"/>
              <a:t> </a:t>
            </a:r>
            <a:endParaRPr lang="en-GB" sz="1400" i="0" dirty="0">
              <a:effectLst/>
              <a:cs typeface="Calibri"/>
            </a:endParaRPr>
          </a:p>
          <a:p>
            <a:endParaRPr lang="en-GB" sz="1400" i="0" dirty="0">
              <a:effectLst/>
            </a:endParaRPr>
          </a:p>
          <a:p>
            <a:r>
              <a:rPr lang="en-GB" sz="1400" dirty="0"/>
              <a:t>Please note:</a:t>
            </a:r>
          </a:p>
          <a:p>
            <a:pPr marL="285750" indent="-285750">
              <a:buFont typeface="Arial" panose="020B0604020202020204" pitchFamily="34" charset="0"/>
              <a:buChar char="•"/>
            </a:pPr>
            <a:r>
              <a:rPr lang="en-GB" sz="1400" i="0" dirty="0">
                <a:effectLst/>
              </a:rPr>
              <a:t>IOSS declarations cannot be submitted for goods which are subject to excise duty</a:t>
            </a:r>
            <a:r>
              <a:rPr lang="en-GB" sz="1400" b="1" i="0" dirty="0">
                <a:effectLst/>
              </a:rPr>
              <a:t>*</a:t>
            </a:r>
            <a:r>
              <a:rPr lang="en-GB" sz="1400" i="0" dirty="0">
                <a:effectLst/>
              </a:rPr>
              <a:t>.</a:t>
            </a:r>
          </a:p>
          <a:p>
            <a:pPr marL="285750" indent="-285750">
              <a:buFont typeface="Arial" panose="020B0604020202020204" pitchFamily="34" charset="0"/>
              <a:buChar char="•"/>
            </a:pPr>
            <a:endParaRPr lang="en-GB" sz="1400" b="1" dirty="0"/>
          </a:p>
          <a:p>
            <a:r>
              <a:rPr lang="en-GB" sz="1400" b="1" dirty="0"/>
              <a:t>*</a:t>
            </a:r>
            <a:r>
              <a:rPr lang="en-GB" sz="1400" dirty="0"/>
              <a:t>Perfume and toilet water are allowed under IOSS and when correctly claimed, should have their VAT relieved. Currently, F48 will relieve the customs and VAT duty. In future, F48 will relieve import VAT under IOSS but calculate customs duty as applicable for these specific goods (perfume and toilet waters). This change will be implemented in a future release.</a:t>
            </a:r>
          </a:p>
          <a:p>
            <a:endParaRPr lang="en-GB" sz="1400" dirty="0">
              <a:ea typeface="Calibri" panose="020F0502020204030204" pitchFamily="34" charset="0"/>
              <a:cs typeface="Times New Roman" panose="02020603050405020304" pitchFamily="18" charset="0"/>
            </a:endParaRPr>
          </a:p>
          <a:p>
            <a:pPr algn="l"/>
            <a:endParaRPr lang="en-GB" sz="1400" dirty="0">
              <a:solidFill>
                <a:srgbClr val="000000"/>
              </a:solidFill>
            </a:endParaRPr>
          </a:p>
          <a:p>
            <a:pPr marL="285750" indent="-285750" algn="l">
              <a:buFont typeface="Arial" panose="020B0604020202020204" pitchFamily="34" charset="0"/>
              <a:buChar char="•"/>
            </a:pPr>
            <a:endParaRPr lang="en-GB" sz="1400" b="0" i="0" dirty="0">
              <a:solidFill>
                <a:srgbClr val="000000"/>
              </a:solidFill>
              <a:effectLst/>
            </a:endParaRPr>
          </a:p>
          <a:p>
            <a:endParaRPr lang="en-GB" sz="800" b="0" i="0" dirty="0">
              <a:solidFill>
                <a:srgbClr val="000000"/>
              </a:solidFill>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FC1A267C-8EC5-4076-871A-4FD908BEA6E3}"/>
              </a:ext>
            </a:extLst>
          </p:cNvPr>
          <p:cNvSpPr txBox="1">
            <a:spLocks/>
          </p:cNvSpPr>
          <p:nvPr/>
        </p:nvSpPr>
        <p:spPr>
          <a:xfrm>
            <a:off x="9346815"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272</a:t>
            </a:fld>
            <a:endParaRPr lang="en-GB" dirty="0">
              <a:solidFill>
                <a:schemeClr val="tx1"/>
              </a:solidFill>
            </a:endParaRPr>
          </a:p>
        </p:txBody>
      </p:sp>
    </p:spTree>
    <p:extLst>
      <p:ext uri="{BB962C8B-B14F-4D97-AF65-F5344CB8AC3E}">
        <p14:creationId xmlns:p14="http://schemas.microsoft.com/office/powerpoint/2010/main" val="1351892429"/>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46373"/>
            <a:ext cx="11282159" cy="4093428"/>
          </a:xfrm>
          <a:prstGeom prst="rect">
            <a:avLst/>
          </a:prstGeom>
          <a:noFill/>
          <a:ln cap="flat">
            <a:noFill/>
            <a:prstDash val="solid"/>
          </a:ln>
        </p:spPr>
        <p:txBody>
          <a:bodyPr vert="horz" wrap="square" lIns="91440" tIns="45720" rIns="91440" bIns="45720" anchor="t" anchorCtr="0" compatLnSpc="1">
            <a:spAutoFit/>
          </a:bodyPr>
          <a:lstStyle/>
          <a:p>
            <a:r>
              <a:rPr lang="en-GB" sz="1400" dirty="0">
                <a:effectLst/>
                <a:ea typeface="Calibri" panose="020F0502020204030204" pitchFamily="34" charset="0"/>
                <a:cs typeface="Times New Roman" panose="02020603050405020304" pitchFamily="18" charset="0"/>
              </a:rPr>
              <a:t>Please note the following declaration completion requirements for use of the IOSS scheme by IOSS members:</a:t>
            </a:r>
          </a:p>
          <a:p>
            <a:endParaRPr lang="en-GB" sz="1400" dirty="0">
              <a:effectLst/>
              <a:ea typeface="Calibri" panose="020F0502020204030204" pitchFamily="34" charset="0"/>
              <a:cs typeface="Times New Roman" panose="02020603050405020304" pitchFamily="18" charset="0"/>
            </a:endParaRPr>
          </a:p>
          <a:p>
            <a:pPr marL="285750" indent="-285750" algn="l">
              <a:buFont typeface="Arial" panose="020B0604020202020204" pitchFamily="34" charset="0"/>
              <a:buChar char="•"/>
            </a:pPr>
            <a:r>
              <a:rPr lang="en-GB" sz="1400" b="0" i="0" dirty="0">
                <a:effectLst/>
              </a:rPr>
              <a:t>DE 1/1 &amp; DE 1/2 : Declaration types IMA, IMD or IMY</a:t>
            </a:r>
            <a:r>
              <a:rPr lang="en-GB" sz="1400" b="1" i="0" dirty="0">
                <a:effectLst/>
              </a:rPr>
              <a:t>*</a:t>
            </a:r>
            <a:r>
              <a:rPr lang="en-GB" sz="1400" b="0" i="0" dirty="0">
                <a:effectLst/>
              </a:rPr>
              <a:t> for the H1 declaration category</a:t>
            </a:r>
            <a:r>
              <a:rPr lang="en-GB" sz="1400" dirty="0"/>
              <a:t> </a:t>
            </a:r>
            <a:r>
              <a:rPr lang="en-GB" sz="1400" b="1" i="0" dirty="0">
                <a:effectLst/>
              </a:rPr>
              <a:t>or</a:t>
            </a:r>
            <a:r>
              <a:rPr lang="en-GB" sz="1400" dirty="0"/>
              <a:t> t</a:t>
            </a:r>
            <a:r>
              <a:rPr lang="en-GB" sz="1400" b="0" i="0" dirty="0">
                <a:effectLst/>
              </a:rPr>
              <a:t>he I1 declaration category with declaration types IMB or IME. Declaration types IMA, IMD for the H7/SRDS with APC ‘1H7’.</a:t>
            </a:r>
          </a:p>
          <a:p>
            <a:pPr marL="285750" indent="-285750" algn="l">
              <a:buFont typeface="Arial" panose="020B0604020202020204" pitchFamily="34" charset="0"/>
              <a:buChar char="•"/>
            </a:pPr>
            <a:r>
              <a:rPr lang="en-GB" sz="1400" b="0" i="0" dirty="0">
                <a:effectLst/>
              </a:rPr>
              <a:t>DE 1/10 : </a:t>
            </a:r>
            <a:r>
              <a:rPr lang="en-GB" sz="1400"/>
              <a:t>Procedure Code</a:t>
            </a:r>
            <a:r>
              <a:rPr lang="en-GB" sz="1400" dirty="0"/>
              <a:t> </a:t>
            </a:r>
            <a:r>
              <a:rPr lang="en-GB" sz="1400" b="0" i="0" dirty="0">
                <a:effectLst/>
              </a:rPr>
              <a:t>40 00. </a:t>
            </a:r>
            <a:r>
              <a:rPr lang="en-GB" sz="1400" dirty="0"/>
              <a:t>No other </a:t>
            </a:r>
            <a:r>
              <a:rPr lang="en-GB" sz="1400"/>
              <a:t>Procedure Codes</a:t>
            </a:r>
            <a:r>
              <a:rPr lang="en-GB" sz="1400" dirty="0"/>
              <a:t> can be used. </a:t>
            </a:r>
          </a:p>
          <a:p>
            <a:pPr marL="285750" indent="-285750" algn="l">
              <a:buFont typeface="Arial" panose="020B0604020202020204" pitchFamily="34" charset="0"/>
              <a:buChar char="•"/>
            </a:pPr>
            <a:r>
              <a:rPr lang="en-GB" sz="1400" dirty="0">
                <a:solidFill>
                  <a:srgbClr val="000000"/>
                </a:solidFill>
              </a:rPr>
              <a:t>DE 1/11: </a:t>
            </a:r>
            <a:r>
              <a:rPr lang="en-GB" sz="1400">
                <a:solidFill>
                  <a:srgbClr val="000000"/>
                </a:solidFill>
              </a:rPr>
              <a:t>Additional Procedure Code (APC)</a:t>
            </a:r>
            <a:r>
              <a:rPr lang="en-GB" sz="1400" dirty="0">
                <a:solidFill>
                  <a:srgbClr val="000000"/>
                </a:solidFill>
              </a:rPr>
              <a:t> ‘C07’ must be entered in DE 1/11 (please note: this is not currently mandated but will be mandated in a future release).</a:t>
            </a:r>
            <a:endParaRPr lang="en-GB" sz="1400" b="0" i="0" strike="sngStrike" dirty="0">
              <a:solidFill>
                <a:schemeClr val="accent6"/>
              </a:solidFill>
              <a:effectLst/>
            </a:endParaRPr>
          </a:p>
          <a:p>
            <a:pPr marL="285750" indent="-285750">
              <a:buFont typeface="Arial" panose="020B0604020202020204" pitchFamily="34" charset="0"/>
              <a:buChar char="•"/>
            </a:pPr>
            <a:r>
              <a:rPr lang="en-GB" sz="1400" b="0" i="0" dirty="0">
                <a:effectLst/>
              </a:rPr>
              <a:t>DE 1/11 : APC 'F48’ must be declared in DE 1/11 at item level on all goods items on the declaration. </a:t>
            </a:r>
          </a:p>
          <a:p>
            <a:pPr marL="285750" indent="-285750">
              <a:buFont typeface="Arial" panose="020B0604020202020204" pitchFamily="34" charset="0"/>
              <a:buChar char="•"/>
            </a:pPr>
            <a:r>
              <a:rPr lang="en-GB" sz="1400" dirty="0">
                <a:solidFill>
                  <a:srgbClr val="000000"/>
                </a:solidFill>
              </a:rPr>
              <a:t>DE 1/11 : If the H7/SRDS is being used, APC ‘1H7’ must be entered in DE 1/11</a:t>
            </a:r>
          </a:p>
          <a:p>
            <a:pPr marL="285750" indent="-285750" algn="l">
              <a:buFont typeface="Arial" panose="020B0604020202020204" pitchFamily="34" charset="0"/>
              <a:buChar char="•"/>
            </a:pPr>
            <a:r>
              <a:rPr lang="en-GB" sz="1400" b="0" i="0" dirty="0">
                <a:effectLst/>
              </a:rPr>
              <a:t>DE 2/2 : Declarant must enter</a:t>
            </a:r>
            <a:r>
              <a:rPr lang="en-GB" sz="1400" dirty="0"/>
              <a:t> </a:t>
            </a:r>
            <a:r>
              <a:rPr lang="en-GB" sz="1400" b="0" i="0" dirty="0">
                <a:effectLst/>
              </a:rPr>
              <a:t>AI code 'NIIMP' in DE 2/2 at item level for Row-NI imports</a:t>
            </a:r>
            <a:endParaRPr lang="en-GB" sz="1400" dirty="0"/>
          </a:p>
          <a:p>
            <a:pPr marL="285750" indent="-285750" algn="l">
              <a:buFont typeface="Arial" panose="020B0604020202020204" pitchFamily="34" charset="0"/>
              <a:buChar char="•"/>
            </a:pPr>
            <a:r>
              <a:rPr lang="en-GB" sz="1400" b="0" i="0" dirty="0">
                <a:effectLst/>
              </a:rPr>
              <a:t>DE 3/40 : An IOSS VAT identification number must be declared in DE 3/40 at header level on a declaration against role code ‘FR5’</a:t>
            </a:r>
          </a:p>
          <a:p>
            <a:pPr algn="l"/>
            <a:endParaRPr lang="en-GB" sz="1400" b="0" i="0" dirty="0">
              <a:effectLst/>
            </a:endParaRPr>
          </a:p>
          <a:p>
            <a:pPr algn="l"/>
            <a:r>
              <a:rPr lang="en-GB" sz="1400" b="0" i="0" dirty="0">
                <a:effectLst/>
              </a:rPr>
              <a:t>Where the requirements above are not met, the declaration will be rejected and a DMSREJ returned.</a:t>
            </a:r>
          </a:p>
          <a:p>
            <a:pPr marL="285750" indent="-285750" algn="l">
              <a:buFont typeface="Arial" panose="020B0604020202020204" pitchFamily="34" charset="0"/>
              <a:buChar char="•"/>
            </a:pPr>
            <a:endParaRPr lang="en-GB" sz="1400" b="0" i="0" dirty="0">
              <a:effectLst/>
            </a:endParaRPr>
          </a:p>
          <a:p>
            <a:r>
              <a:rPr lang="en-GB" sz="1400" b="1" i="0" dirty="0">
                <a:effectLst/>
              </a:rPr>
              <a:t>*</a:t>
            </a:r>
            <a:r>
              <a:rPr lang="en-GB" sz="1400" dirty="0"/>
              <a:t>IOSS may be declared via the SDP process, however at this time APC F48 will not be allowed on an IMC or IMF declaration. If using IOSS with SDP, enter 'F48' on the supplementary declaration but omit F48 from the IMC/IMF SFD. </a:t>
            </a:r>
            <a:r>
              <a:rPr lang="en-GB" sz="1400" i="0" dirty="0">
                <a:effectLst/>
              </a:rPr>
              <a:t>In future, this will </a:t>
            </a:r>
            <a:r>
              <a:rPr lang="en-GB" sz="1400" dirty="0"/>
              <a:t>be expanded to Type C and F declarations. </a:t>
            </a:r>
            <a:endParaRPr kumimoji="0" lang="en-US" altLang="en-US" sz="1400" i="0" u="none" strike="noStrike" cap="none" normalizeH="0" baseline="0" dirty="0">
              <a:ln>
                <a:noFill/>
              </a:ln>
              <a:effectLst/>
            </a:endParaRPr>
          </a:p>
          <a:p>
            <a:pPr algn="l"/>
            <a:endParaRPr lang="en-GB" sz="1400" dirty="0">
              <a:solidFill>
                <a:srgbClr val="000000"/>
              </a:solidFill>
            </a:endParaRPr>
          </a:p>
          <a:p>
            <a:pPr marL="285750" indent="-285750" algn="l">
              <a:buFont typeface="Arial" panose="020B0604020202020204" pitchFamily="34" charset="0"/>
              <a:buChar char="•"/>
            </a:pPr>
            <a:endParaRPr lang="en-GB" sz="1400" b="0" i="0" dirty="0">
              <a:solidFill>
                <a:srgbClr val="000000"/>
              </a:solidFill>
              <a:effectLst/>
            </a:endParaRPr>
          </a:p>
          <a:p>
            <a:endParaRPr lang="en-GB" sz="800" b="0" i="0" dirty="0">
              <a:solidFill>
                <a:srgbClr val="000000"/>
              </a:solidFill>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5097C399-15A9-4FA8-8D19-17606B7BE16F}"/>
              </a:ext>
            </a:extLst>
          </p:cNvPr>
          <p:cNvSpPr txBox="1">
            <a:spLocks/>
          </p:cNvSpPr>
          <p:nvPr/>
        </p:nvSpPr>
        <p:spPr>
          <a:xfrm>
            <a:off x="9370672" y="6389401"/>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273</a:t>
            </a:fld>
            <a:endParaRPr lang="en-GB" dirty="0">
              <a:solidFill>
                <a:schemeClr val="tx1"/>
              </a:solidFill>
            </a:endParaRPr>
          </a:p>
        </p:txBody>
      </p:sp>
    </p:spTree>
    <p:extLst>
      <p:ext uri="{BB962C8B-B14F-4D97-AF65-F5344CB8AC3E}">
        <p14:creationId xmlns:p14="http://schemas.microsoft.com/office/powerpoint/2010/main" val="112046203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64845"/>
            <a:ext cx="11282159" cy="4739759"/>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Import One Stop Shop (IOSS) - Declaration Submission</a:t>
            </a:r>
          </a:p>
          <a:p>
            <a:endParaRPr lang="en-GB" sz="1400" b="0" i="0" dirty="0">
              <a:effectLst/>
            </a:endParaRPr>
          </a:p>
          <a:p>
            <a:r>
              <a:rPr lang="en-GB" sz="1400" b="1" dirty="0"/>
              <a:t>IF</a:t>
            </a:r>
            <a:r>
              <a:rPr lang="en-GB" sz="1400" dirty="0"/>
              <a:t> </a:t>
            </a:r>
            <a:r>
              <a:rPr lang="en-US" sz="1400" dirty="0">
                <a:cs typeface="Arial" panose="020B0604020202020204" pitchFamily="34" charset="0"/>
              </a:rPr>
              <a:t>m</a:t>
            </a:r>
            <a:r>
              <a:rPr kumimoji="0" lang="en-US" altLang="en-US" sz="1400" i="0" u="none" strike="noStrike" cap="none" normalizeH="0" baseline="0" dirty="0">
                <a:ln>
                  <a:noFill/>
                </a:ln>
                <a:effectLst/>
                <a:cs typeface="Arial" panose="020B0604020202020204" pitchFamily="34" charset="0"/>
              </a:rPr>
              <a:t>andating D.E. 3/40 on declarations where IOSS is claimed, the functionality </a:t>
            </a:r>
            <a:r>
              <a:rPr lang="en-US" altLang="en-US" sz="1400" dirty="0">
                <a:cs typeface="Arial" panose="020B0604020202020204" pitchFamily="34" charset="0"/>
              </a:rPr>
              <a:t>seeks to ensure </a:t>
            </a:r>
            <a:r>
              <a:rPr lang="en-GB" sz="1400" i="0" dirty="0">
                <a:effectLst/>
              </a:rPr>
              <a:t>that the D.E. 3/40 populated on declarations is mandated, where IOSS is claimed so that declarants can declare IOSS VAT Identification Numbers on declarations.</a:t>
            </a:r>
            <a:r>
              <a:rPr kumimoji="0" lang="en-US" altLang="en-US" sz="1400" i="0" u="none" strike="noStrike" cap="none" normalizeH="0" baseline="0" dirty="0">
                <a:ln>
                  <a:noFill/>
                </a:ln>
                <a:effectLst/>
              </a:rPr>
              <a:t> </a:t>
            </a:r>
          </a:p>
          <a:p>
            <a:pPr marL="285750" indent="-285750" algn="l">
              <a:buFont typeface="Arial" panose="020B0604020202020204" pitchFamily="34" charset="0"/>
              <a:buChar char="•"/>
            </a:pPr>
            <a:r>
              <a:rPr lang="en-GB" sz="1400" b="0" i="0" dirty="0">
                <a:effectLst/>
              </a:rPr>
              <a:t>Where the APC 'F48' is entered on a declaration in D.E. 1/11 at item level, the D.E. 3/40 sub-field 'Type Code' (</a:t>
            </a:r>
            <a:r>
              <a:rPr lang="en-GB" sz="1400" b="0" i="0" dirty="0" err="1">
                <a:effectLst/>
              </a:rPr>
              <a:t>SubRole</a:t>
            </a:r>
            <a:r>
              <a:rPr lang="en-GB" sz="1400" b="0" i="0" dirty="0">
                <a:effectLst/>
              </a:rPr>
              <a:t>) is populated with the role code 'FR5' at header level on the same declaration. </a:t>
            </a:r>
          </a:p>
          <a:p>
            <a:pPr marL="285750" indent="-285750">
              <a:buFont typeface="Arial" panose="020B0604020202020204" pitchFamily="34" charset="0"/>
              <a:buChar char="•"/>
            </a:pPr>
            <a:r>
              <a:rPr lang="en-GB" sz="1400" dirty="0"/>
              <a:t>The declaration will be rejected and a DMSREJ notification will be issued i</a:t>
            </a:r>
            <a:r>
              <a:rPr lang="en-GB" sz="1400" b="0" i="0" dirty="0">
                <a:effectLst/>
              </a:rPr>
              <a:t>f the role code 'FR5' is entered in D.E. 3/40 at header level on a declaration type that isn’t one of the below:</a:t>
            </a:r>
          </a:p>
          <a:p>
            <a:pPr marL="742950" lvl="1" indent="-285750">
              <a:buFont typeface="Arial" panose="020B0604020202020204" pitchFamily="34" charset="0"/>
              <a:buChar char="•"/>
            </a:pPr>
            <a:r>
              <a:rPr lang="en-GB" altLang="en-US" sz="1400" dirty="0"/>
              <a:t>H1 Type A, D or Y;</a:t>
            </a:r>
          </a:p>
          <a:p>
            <a:pPr marL="742950" lvl="1" indent="-285750">
              <a:buFont typeface="Arial" panose="020B0604020202020204" pitchFamily="34" charset="0"/>
              <a:buChar char="•"/>
            </a:pPr>
            <a:r>
              <a:rPr lang="en-GB" sz="1400" dirty="0"/>
              <a:t>I1 Type B or E;</a:t>
            </a:r>
          </a:p>
          <a:p>
            <a:pPr marL="742950" lvl="1" indent="-285750">
              <a:buFont typeface="Arial" panose="020B0604020202020204" pitchFamily="34" charset="0"/>
              <a:buChar char="•"/>
            </a:pPr>
            <a:r>
              <a:rPr lang="en-GB" sz="1400" dirty="0"/>
              <a:t>SRDS Type A or D.</a:t>
            </a:r>
          </a:p>
          <a:p>
            <a:pPr marL="742950" lvl="1" indent="-285750">
              <a:buFont typeface="Arial" panose="020B0604020202020204" pitchFamily="34" charset="0"/>
              <a:buChar char="•"/>
            </a:pPr>
            <a:endParaRPr kumimoji="0" lang="en-GB" altLang="en-US" sz="1400" u="none" strike="noStrike" cap="none" normalizeH="0" baseline="0" dirty="0">
              <a:ln>
                <a:noFill/>
              </a:ln>
            </a:endParaRPr>
          </a:p>
          <a:p>
            <a:r>
              <a:rPr lang="en-GB" altLang="en-US" sz="1400" b="1" i="0" dirty="0">
                <a:effectLst/>
              </a:rPr>
              <a:t>IF</a:t>
            </a:r>
            <a:r>
              <a:rPr lang="en-GB" altLang="en-US" sz="1400" i="0" dirty="0">
                <a:effectLst/>
              </a:rPr>
              <a:t> </a:t>
            </a:r>
            <a:r>
              <a:rPr lang="en-US" altLang="en-US" sz="1400" dirty="0">
                <a:cs typeface="Arial" panose="020B0604020202020204" pitchFamily="34" charset="0"/>
              </a:rPr>
              <a:t>s</a:t>
            </a:r>
            <a:r>
              <a:rPr kumimoji="0" lang="en-US" altLang="en-US" sz="1400" i="0" u="none" strike="noStrike" cap="none" normalizeH="0" baseline="0" dirty="0">
                <a:ln>
                  <a:noFill/>
                </a:ln>
                <a:effectLst/>
                <a:cs typeface="Arial" panose="020B0604020202020204" pitchFamily="34" charset="0"/>
              </a:rPr>
              <a:t>ubmitting IOSS Data on a Full or Simplified Customs Declaration</a:t>
            </a:r>
            <a:r>
              <a:rPr lang="en-US" altLang="en-US" sz="1400" dirty="0">
                <a:cs typeface="Arial" panose="020B0604020202020204" pitchFamily="34" charset="0"/>
              </a:rPr>
              <a:t>, the functionality would seek to </a:t>
            </a:r>
            <a:r>
              <a:rPr lang="en-GB" sz="1400" i="0" dirty="0">
                <a:effectLst/>
              </a:rPr>
              <a:t>ensure the ability to process IOSS submissions on full and simplified customs declarations so that traders can benefit from the IOSS scheme.</a:t>
            </a:r>
            <a:endParaRPr kumimoji="0" lang="en-US" altLang="en-US" sz="1400" i="0" u="none" strike="noStrike" cap="none" normalizeH="0" baseline="0" dirty="0">
              <a:ln>
                <a:noFill/>
              </a:ln>
              <a:effectLst/>
            </a:endParaRPr>
          </a:p>
          <a:p>
            <a:endParaRPr kumimoji="0" lang="en-US" altLang="en-US" sz="1400" i="0" u="none" strike="noStrike" cap="none" normalizeH="0" baseline="0" dirty="0">
              <a:ln>
                <a:noFill/>
              </a:ln>
              <a:effectLst/>
            </a:endParaRPr>
          </a:p>
          <a:p>
            <a:r>
              <a:rPr lang="en-US" altLang="en-US" sz="1400" b="1" dirty="0"/>
              <a:t>IF </a:t>
            </a:r>
            <a:r>
              <a:rPr lang="en-US" altLang="en-US" sz="1400" dirty="0">
                <a:cs typeface="Arial" panose="020B0604020202020204" pitchFamily="34" charset="0"/>
              </a:rPr>
              <a:t>s</a:t>
            </a:r>
            <a:r>
              <a:rPr kumimoji="0" lang="en-US" altLang="en-US" sz="1400" i="0" u="none" strike="noStrike" cap="none" normalizeH="0" baseline="0" dirty="0">
                <a:ln>
                  <a:noFill/>
                </a:ln>
                <a:effectLst/>
                <a:cs typeface="Arial" panose="020B0604020202020204" pitchFamily="34" charset="0"/>
              </a:rPr>
              <a:t>ubmitting IOSS Data on an SRDS Declaration</a:t>
            </a:r>
            <a:r>
              <a:rPr lang="en-US" altLang="en-US" sz="1400" dirty="0">
                <a:cs typeface="Arial" panose="020B0604020202020204" pitchFamily="34" charset="0"/>
              </a:rPr>
              <a:t>, the functionality would seek to </a:t>
            </a:r>
            <a:r>
              <a:rPr lang="en-GB" sz="1400" b="0" i="0" dirty="0">
                <a:effectLst/>
              </a:rPr>
              <a:t>ensure</a:t>
            </a:r>
            <a:r>
              <a:rPr lang="en-GB" sz="1400" i="0" dirty="0">
                <a:effectLst/>
              </a:rPr>
              <a:t> the ability to process IOSS submissions on SRDS declarations so that traders can benefit from the IOSS scheme. Please note below requirements. </a:t>
            </a:r>
          </a:p>
          <a:p>
            <a:pPr marL="285750" indent="-285750" algn="l">
              <a:buFont typeface="Arial" panose="020B0604020202020204" pitchFamily="34" charset="0"/>
              <a:buChar char="•"/>
            </a:pPr>
            <a:r>
              <a:rPr lang="en-GB" sz="1400" b="0" i="0" dirty="0">
                <a:effectLst/>
              </a:rPr>
              <a:t>Declaration category SRDS is requested on a Type A or D declaration.</a:t>
            </a:r>
          </a:p>
          <a:p>
            <a:pPr marL="285750" indent="-285750" algn="l">
              <a:buFont typeface="Arial" panose="020B0604020202020204" pitchFamily="34" charset="0"/>
              <a:buChar char="•"/>
            </a:pPr>
            <a:r>
              <a:rPr lang="en-GB" sz="1400" b="0" i="0" dirty="0">
                <a:effectLst/>
              </a:rPr>
              <a:t>SRDS declaration submission business rules have been met.</a:t>
            </a:r>
          </a:p>
          <a:p>
            <a:endParaRPr kumimoji="0" lang="en-US" altLang="en-US" sz="1400" i="0" u="none" strike="noStrike" cap="none" normalizeH="0" baseline="0" dirty="0">
              <a:ln>
                <a:noFill/>
              </a:ln>
              <a:effectLst/>
            </a:endParaRPr>
          </a:p>
          <a:p>
            <a:endParaRPr kumimoji="0" lang="en-US" altLang="en-US" sz="1400" i="0" u="none" strike="noStrike" cap="none" normalizeH="0" baseline="0" dirty="0">
              <a:ln>
                <a:noFill/>
              </a:ln>
              <a:effectLst/>
            </a:endParaRPr>
          </a:p>
          <a:p>
            <a:endParaRPr lang="en-GB" sz="800" b="0" i="0" dirty="0">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5F9C8893-ABB4-4B58-9AB8-759B84FBD317}"/>
              </a:ext>
            </a:extLst>
          </p:cNvPr>
          <p:cNvSpPr txBox="1">
            <a:spLocks/>
          </p:cNvSpPr>
          <p:nvPr/>
        </p:nvSpPr>
        <p:spPr>
          <a:xfrm>
            <a:off x="9370671"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274</a:t>
            </a:fld>
            <a:endParaRPr lang="en-GB" dirty="0">
              <a:solidFill>
                <a:schemeClr val="tx1"/>
              </a:solidFill>
            </a:endParaRPr>
          </a:p>
        </p:txBody>
      </p:sp>
    </p:spTree>
    <p:extLst>
      <p:ext uri="{BB962C8B-B14F-4D97-AF65-F5344CB8AC3E}">
        <p14:creationId xmlns:p14="http://schemas.microsoft.com/office/powerpoint/2010/main" val="331058645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64845"/>
            <a:ext cx="11282159" cy="4832092"/>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solidFill>
                  <a:srgbClr val="000000"/>
                </a:solidFill>
                <a:effectLst/>
              </a:rPr>
              <a:t>Merchandise in Baggage (MiB) - Mandating the MIB APC, AI Codes and Document Code on Every Goods Item</a:t>
            </a:r>
          </a:p>
          <a:p>
            <a:pPr algn="l"/>
            <a:r>
              <a:rPr lang="en-GB" sz="1400" i="0" dirty="0">
                <a:solidFill>
                  <a:srgbClr val="000000"/>
                </a:solidFill>
                <a:effectLst/>
              </a:rPr>
              <a:t>This functionality seeks to ensure that all GB-RoW MIB and NI-RoW MIB export declarations are completed in line with </a:t>
            </a:r>
            <a:r>
              <a:rPr lang="en-GB" sz="1400" dirty="0">
                <a:solidFill>
                  <a:srgbClr val="000000"/>
                </a:solidFill>
              </a:rPr>
              <a:t>forthcoming trad</a:t>
            </a:r>
            <a:r>
              <a:rPr lang="en-GB" sz="1400" i="0" dirty="0">
                <a:solidFill>
                  <a:srgbClr val="000000"/>
                </a:solidFill>
                <a:effectLst/>
              </a:rPr>
              <a:t>er guidance so that GB-RoW MIB export declarations are always auto-departed (note: GB only) and NI MIB exports can be identified separately from other NI exports. Please note the differences in AI statements between GB MIB exports and NI MIB exports.</a:t>
            </a:r>
            <a:endParaRPr lang="en-GB" sz="1400" i="0" u="sng" dirty="0">
              <a:solidFill>
                <a:srgbClr val="000000"/>
              </a:solidFill>
              <a:effectLst/>
            </a:endParaRPr>
          </a:p>
          <a:p>
            <a:endParaRPr lang="en-GB" altLang="en-US" sz="1400" dirty="0">
              <a:solidFill>
                <a:srgbClr val="000000"/>
              </a:solidFill>
            </a:endParaRPr>
          </a:p>
          <a:p>
            <a:r>
              <a:rPr kumimoji="0" lang="en-US" altLang="en-US" sz="1400" b="1" i="0" strike="noStrike" cap="none" normalizeH="0" baseline="0" dirty="0">
                <a:ln>
                  <a:noFill/>
                </a:ln>
                <a:solidFill>
                  <a:srgbClr val="000000"/>
                </a:solidFill>
                <a:effectLst/>
                <a:cs typeface="Arial" panose="020B0604020202020204" pitchFamily="34" charset="0"/>
              </a:rPr>
              <a:t>GB-RoW MIB Export Declaration requirements:</a:t>
            </a:r>
            <a:r>
              <a:rPr kumimoji="0" lang="en-US" altLang="en-US" sz="1400" b="1" i="0" strike="noStrike" cap="none" normalizeH="0" baseline="0" dirty="0">
                <a:ln>
                  <a:noFill/>
                </a:ln>
                <a:solidFill>
                  <a:srgbClr val="000000"/>
                </a:solidFill>
                <a:effectLst/>
              </a:rPr>
              <a:t> </a:t>
            </a:r>
            <a:endParaRPr kumimoji="0" lang="en-US" altLang="en-US" sz="1400" b="1" i="0" u="sng" strike="noStrike" cap="none" normalizeH="0" baseline="0" dirty="0">
              <a:ln>
                <a:noFill/>
              </a:ln>
              <a:solidFill>
                <a:srgbClr val="000000"/>
              </a:solidFill>
              <a:effectLst/>
            </a:endParaRPr>
          </a:p>
          <a:p>
            <a:pPr marL="285750" indent="-285750" algn="l">
              <a:buFont typeface="Arial" panose="020B0604020202020204" pitchFamily="34" charset="0"/>
              <a:buChar char="•"/>
            </a:pPr>
            <a:r>
              <a:rPr lang="en-GB" sz="1400" b="0" i="0" dirty="0">
                <a:solidFill>
                  <a:srgbClr val="000000"/>
                </a:solidFill>
                <a:effectLst/>
              </a:rPr>
              <a:t>DE 1/11: APC ‘1MB’ must be entered on all goods items</a:t>
            </a:r>
            <a:r>
              <a:rPr lang="en-GB" sz="1400" b="1" i="0" dirty="0">
                <a:solidFill>
                  <a:srgbClr val="000000"/>
                </a:solidFill>
                <a:effectLst/>
              </a:rPr>
              <a:t>* </a:t>
            </a:r>
          </a:p>
          <a:p>
            <a:pPr marL="285750" indent="-285750" algn="l">
              <a:buFont typeface="Arial" panose="020B0604020202020204" pitchFamily="34" charset="0"/>
              <a:buChar char="•"/>
            </a:pPr>
            <a:r>
              <a:rPr lang="en-GB" sz="1400" b="0" i="0" dirty="0">
                <a:solidFill>
                  <a:srgbClr val="000000"/>
                </a:solidFill>
                <a:effectLst/>
              </a:rPr>
              <a:t>DE 2/2: AI code ‘MIB02’ must be entered on all goods items</a:t>
            </a:r>
            <a:r>
              <a:rPr lang="en-GB" sz="1400" b="1" i="0" dirty="0">
                <a:solidFill>
                  <a:srgbClr val="000000"/>
                </a:solidFill>
                <a:effectLst/>
              </a:rPr>
              <a:t>*</a:t>
            </a:r>
            <a:r>
              <a:rPr lang="en-GB" sz="1400" b="0" i="0" dirty="0">
                <a:solidFill>
                  <a:srgbClr val="000000"/>
                </a:solidFill>
                <a:effectLst/>
              </a:rPr>
              <a:t> </a:t>
            </a:r>
          </a:p>
          <a:p>
            <a:pPr marL="285750" indent="-285750" algn="l">
              <a:buFont typeface="Arial" panose="020B0604020202020204" pitchFamily="34" charset="0"/>
              <a:buChar char="•"/>
            </a:pPr>
            <a:r>
              <a:rPr lang="en-GB" sz="1400" b="0" i="0" dirty="0">
                <a:solidFill>
                  <a:srgbClr val="000000"/>
                </a:solidFill>
                <a:effectLst/>
              </a:rPr>
              <a:t>DE 2/3: Document code ‘1MIB’ must be entered on all goods items</a:t>
            </a:r>
            <a:r>
              <a:rPr lang="en-GB" sz="1400" b="1" i="0" dirty="0">
                <a:solidFill>
                  <a:srgbClr val="000000"/>
                </a:solidFill>
                <a:effectLst/>
              </a:rPr>
              <a:t>* </a:t>
            </a:r>
          </a:p>
          <a:p>
            <a:pPr marL="285750" indent="-285750" algn="l">
              <a:buFont typeface="Arial" panose="020B0604020202020204" pitchFamily="34" charset="0"/>
              <a:buChar char="•"/>
            </a:pPr>
            <a:r>
              <a:rPr lang="en-GB" sz="1400" dirty="0">
                <a:solidFill>
                  <a:srgbClr val="000000"/>
                </a:solidFill>
              </a:rPr>
              <a:t>DE 3/39: </a:t>
            </a:r>
            <a:r>
              <a:rPr lang="en-GB" sz="1400" b="0" i="0" dirty="0">
                <a:solidFill>
                  <a:srgbClr val="000000"/>
                </a:solidFill>
                <a:effectLst/>
              </a:rPr>
              <a:t>Authorisation type code ‘MIB’ must be entered at header level with a valid EORI number</a:t>
            </a:r>
          </a:p>
          <a:p>
            <a:pPr algn="l"/>
            <a:r>
              <a:rPr lang="en-GB" sz="1400" b="1" i="0" dirty="0">
                <a:solidFill>
                  <a:srgbClr val="000000"/>
                </a:solidFill>
                <a:effectLst/>
              </a:rPr>
              <a:t>*</a:t>
            </a:r>
            <a:r>
              <a:rPr lang="en-GB" sz="1400" b="0" i="0" dirty="0">
                <a:solidFill>
                  <a:srgbClr val="000000"/>
                </a:solidFill>
                <a:effectLst/>
              </a:rPr>
              <a:t>If any of the above are not present on any goods items, then the declaration will be rejected and a DMSREJ returned.</a:t>
            </a:r>
          </a:p>
          <a:p>
            <a:endParaRPr kumimoji="0" lang="en-US" altLang="en-US" sz="1400" b="1" i="0" u="sng" strike="noStrike" cap="none" normalizeH="0" baseline="0" dirty="0">
              <a:ln>
                <a:noFill/>
              </a:ln>
              <a:solidFill>
                <a:srgbClr val="000000"/>
              </a:solidFill>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1" i="0" strike="noStrike" kern="1200" cap="none" spc="0" normalizeH="0" baseline="0" noProof="0" dirty="0">
                <a:ln>
                  <a:noFill/>
                </a:ln>
                <a:solidFill>
                  <a:srgbClr val="000000"/>
                </a:solidFill>
                <a:effectLst/>
                <a:uLnTx/>
                <a:uFillTx/>
                <a:latin typeface="Calibri" panose="020F0502020204030204"/>
                <a:ea typeface="+mn-ea"/>
                <a:cs typeface="Arial" panose="020B0604020202020204" pitchFamily="34" charset="0"/>
              </a:rPr>
              <a:t>NI-RoW MIB Export Declaration requirements:</a:t>
            </a:r>
            <a:r>
              <a:rPr kumimoji="0" lang="en-US" altLang="en-US" sz="1400" b="1" i="0" strike="noStrike" kern="1200" cap="none" spc="0" normalizeH="0" baseline="0" noProof="0" dirty="0">
                <a:ln>
                  <a:noFill/>
                </a:ln>
                <a:solidFill>
                  <a:srgbClr val="000000"/>
                </a:solidFill>
                <a:effectLst/>
                <a:uLnTx/>
                <a:uFillTx/>
                <a:latin typeface="Calibri" panose="020F0502020204030204"/>
                <a:ea typeface="+mn-ea"/>
                <a:cs typeface="+mn-cs"/>
              </a:rPr>
              <a:t>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DE 2/2: Where the AI code 'MIB01' is entered in D.E. 2/2 at item level on an export declaration, it is mandated that it is entered on every goods item on the declaration. </a:t>
            </a:r>
          </a:p>
          <a:p>
            <a:pPr marL="285750" indent="-285750">
              <a:buFont typeface="Arial" panose="020B0604020202020204" pitchFamily="34" charset="0"/>
              <a:buChar char="•"/>
              <a:defRPr/>
            </a:pP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DE 2/2: Where the AI code 'MIB01' is entered in D.E. 2/2 at item level on an export declaration, traders must enter Additional Information code 'NIEXP' in DE 2/2 at item level on the same goods item.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*If any of the above are not present on any goods items, then the declaration will be rejected</a:t>
            </a:r>
            <a:r>
              <a:rPr lang="en-GB" sz="1400" dirty="0">
                <a:solidFill>
                  <a:srgbClr val="000000"/>
                </a:solidFill>
                <a:latin typeface="Calibri" panose="020F0502020204030204"/>
              </a:rPr>
              <a:t>,</a:t>
            </a: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 and a DMSREJ</a:t>
            </a:r>
            <a:r>
              <a:rPr lang="en-GB" sz="1400" dirty="0">
                <a:solidFill>
                  <a:srgbClr val="000000"/>
                </a:solidFill>
                <a:latin typeface="Calibri" panose="020F0502020204030204"/>
              </a:rPr>
              <a:t> </a:t>
            </a: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returned.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kern="1200" cap="none" spc="0" normalizeH="0" baseline="0" noProof="0" dirty="0">
              <a:ln>
                <a:noFill/>
              </a:ln>
              <a:solidFill>
                <a:srgbClr val="000000"/>
              </a:solidFill>
              <a:effectLst/>
              <a:uLnTx/>
              <a:uFillTx/>
              <a:latin typeface="Calibri" panose="020F0502020204030204"/>
              <a:ea typeface="+mn-ea"/>
              <a:cs typeface="+mn-cs"/>
            </a:endParaRPr>
          </a:p>
          <a:p>
            <a:pPr>
              <a:defRPr/>
            </a:pPr>
            <a:r>
              <a:rPr kumimoji="0" lang="en-GB" sz="1400" b="1" i="0" u="none" kern="1200" cap="none" spc="0" normalizeH="0" baseline="0" noProof="0" dirty="0">
                <a:ln>
                  <a:noFill/>
                </a:ln>
                <a:solidFill>
                  <a:srgbClr val="000000"/>
                </a:solidFill>
                <a:effectLst/>
                <a:uLnTx/>
                <a:uFillTx/>
                <a:latin typeface="Calibri" panose="020F0502020204030204"/>
                <a:ea typeface="+mn-ea"/>
                <a:cs typeface="+mn-cs"/>
              </a:rPr>
              <a:t>Please note: </a:t>
            </a:r>
            <a:r>
              <a:rPr kumimoji="0" lang="en-GB" sz="1400" b="0" i="0" u="none" kern="1200" cap="none" spc="0" normalizeH="0" baseline="0" noProof="0" dirty="0">
                <a:ln>
                  <a:noFill/>
                </a:ln>
                <a:solidFill>
                  <a:srgbClr val="000000"/>
                </a:solidFill>
                <a:effectLst/>
                <a:uLnTx/>
                <a:uFillTx/>
                <a:latin typeface="Calibri" panose="020F0502020204030204"/>
                <a:ea typeface="+mn-ea"/>
                <a:cs typeface="+mn-cs"/>
              </a:rPr>
              <a:t>Where MIB01 is entered in DE 2/2 at item level on a declaration, and 'MIB’, ‘MIB02’, ‘1MB’ or ‘1MIB’ is entered in their respective data elements on any goods item on the same declaration, </a:t>
            </a:r>
            <a:r>
              <a:rPr lang="en-GB" sz="1400" b="0" i="0" dirty="0">
                <a:solidFill>
                  <a:srgbClr val="000000"/>
                </a:solidFill>
                <a:effectLst/>
              </a:rPr>
              <a:t>then the declaration will be rejected and a DMSREJ returned.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kern="1200" cap="none" spc="0" normalizeH="0" baseline="0" noProof="0" dirty="0">
              <a:ln>
                <a:noFill/>
              </a:ln>
              <a:solidFill>
                <a:srgbClr val="000000"/>
              </a:solidFill>
              <a:effectLst/>
              <a:uLnTx/>
              <a:uFillTx/>
              <a:latin typeface="Calibri" panose="020F0502020204030204"/>
              <a:ea typeface="+mn-ea"/>
              <a:cs typeface="+mn-cs"/>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AE662B25-081C-446F-B289-A443295AC270}"/>
              </a:ext>
            </a:extLst>
          </p:cNvPr>
          <p:cNvSpPr txBox="1">
            <a:spLocks/>
          </p:cNvSpPr>
          <p:nvPr/>
        </p:nvSpPr>
        <p:spPr>
          <a:xfrm>
            <a:off x="9378623"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275</a:t>
            </a:fld>
            <a:endParaRPr lang="en-GB" dirty="0">
              <a:solidFill>
                <a:schemeClr val="tx1"/>
              </a:solidFill>
            </a:endParaRPr>
          </a:p>
        </p:txBody>
      </p:sp>
    </p:spTree>
    <p:extLst>
      <p:ext uri="{BB962C8B-B14F-4D97-AF65-F5344CB8AC3E}">
        <p14:creationId xmlns:p14="http://schemas.microsoft.com/office/powerpoint/2010/main" val="2713801796"/>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61519"/>
            <a:ext cx="11282159" cy="2893100"/>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XI Authorisations: Use of an Authorisation with an XI EORI</a:t>
            </a:r>
          </a:p>
          <a:p>
            <a:pPr algn="l"/>
            <a:endParaRPr lang="en-GB" sz="1400" b="1" i="0" u="sng" dirty="0">
              <a:effectLst/>
            </a:endParaRPr>
          </a:p>
          <a:p>
            <a:pPr algn="l"/>
            <a:r>
              <a:rPr lang="en-GB" sz="1400" b="1" dirty="0"/>
              <a:t>Please note: </a:t>
            </a:r>
            <a:r>
              <a:rPr lang="en-GB" sz="1400" dirty="0"/>
              <a:t>this guidance is for awareness only. This functionality will be fully operational upon the deployment of CDS XI EORIs in a future release.</a:t>
            </a:r>
            <a:endParaRPr lang="en-GB" sz="1400" b="1" i="0" u="sng" dirty="0">
              <a:effectLst/>
            </a:endParaRPr>
          </a:p>
          <a:p>
            <a:endParaRPr lang="en-GB" sz="1400" dirty="0"/>
          </a:p>
          <a:p>
            <a:r>
              <a:rPr lang="en-GB" sz="1400" dirty="0"/>
              <a:t>This functionality will, upon deployment of CDS XI EORIs, allow traders to use valid XI EORI-owned Authorisations on NI declarations. </a:t>
            </a:r>
          </a:p>
          <a:p>
            <a:r>
              <a:rPr lang="en-GB" sz="1400" dirty="0"/>
              <a:t>Traders will be able to use their XI EORI-owned </a:t>
            </a:r>
            <a:r>
              <a:rPr lang="en-GB" sz="1400"/>
              <a:t>Authorisation </a:t>
            </a:r>
            <a:r>
              <a:rPr lang="en-GB" sz="1400" dirty="0"/>
              <a:t>if they both own an XI </a:t>
            </a:r>
            <a:r>
              <a:rPr lang="en-GB" sz="1400"/>
              <a:t>Authorisation</a:t>
            </a:r>
            <a:r>
              <a:rPr lang="en-GB" sz="1400" dirty="0"/>
              <a:t> and are using their XI EORI on the same declaration.</a:t>
            </a:r>
          </a:p>
          <a:p>
            <a:r>
              <a:rPr lang="en-GB" sz="1400" dirty="0"/>
              <a:t>Traders will not be able to use an A</a:t>
            </a:r>
            <a:r>
              <a:rPr lang="en-GB" sz="1400"/>
              <a:t>uthorisation</a:t>
            </a:r>
            <a:r>
              <a:rPr lang="en-GB" sz="1400" dirty="0"/>
              <a:t> owned by their GB EORI when declaring </a:t>
            </a:r>
            <a:r>
              <a:rPr lang="en-GB" sz="1400"/>
              <a:t>with their XI </a:t>
            </a:r>
            <a:r>
              <a:rPr lang="en-GB" sz="1400" dirty="0"/>
              <a:t>EORI and </a:t>
            </a:r>
            <a:r>
              <a:rPr lang="en-GB" sz="1400"/>
              <a:t>vice versa.</a:t>
            </a:r>
          </a:p>
          <a:p>
            <a:endParaRPr lang="en-GB" sz="1400" dirty="0"/>
          </a:p>
          <a:p>
            <a:r>
              <a:rPr lang="en-GB" sz="1400" dirty="0"/>
              <a:t>The </a:t>
            </a:r>
            <a:r>
              <a:rPr lang="en-GB" sz="1400"/>
              <a:t>Data Elements </a:t>
            </a:r>
            <a:r>
              <a:rPr lang="en-GB" sz="1400" dirty="0"/>
              <a:t>this functionality will be </a:t>
            </a:r>
            <a:r>
              <a:rPr lang="en-GB" sz="1400"/>
              <a:t>relevant</a:t>
            </a:r>
            <a:r>
              <a:rPr lang="en-GB" sz="1400" dirty="0"/>
              <a:t> to are </a:t>
            </a:r>
            <a:r>
              <a:rPr lang="en-GB" sz="1400"/>
              <a:t>as </a:t>
            </a:r>
            <a:r>
              <a:rPr lang="en-GB" sz="1400" dirty="0"/>
              <a:t>follows:</a:t>
            </a:r>
          </a:p>
          <a:p>
            <a:endParaRPr lang="en-GB" sz="1400" dirty="0"/>
          </a:p>
          <a:p>
            <a:pPr marL="285750" indent="-285750">
              <a:buFont typeface="Arial" panose="020B0604020202020204" pitchFamily="34" charset="0"/>
              <a:buChar char="•"/>
            </a:pPr>
            <a:r>
              <a:rPr lang="en-GB" sz="1400" dirty="0"/>
              <a:t>DE 2/3 Document Code</a:t>
            </a:r>
          </a:p>
          <a:p>
            <a:pPr marL="285750" indent="-285750">
              <a:buFont typeface="Arial" panose="020B0604020202020204" pitchFamily="34" charset="0"/>
              <a:buChar char="•"/>
            </a:pPr>
            <a:r>
              <a:rPr lang="en-GB" sz="1400" dirty="0"/>
              <a:t>DE </a:t>
            </a:r>
            <a:r>
              <a:rPr lang="en-GB" sz="1400"/>
              <a:t>2/3 </a:t>
            </a:r>
            <a:r>
              <a:rPr lang="en-GB" sz="1400" dirty="0"/>
              <a:t>Document Identifier sub-field </a:t>
            </a:r>
          </a:p>
          <a:p>
            <a:pPr marL="285750" indent="-285750">
              <a:buFont typeface="Arial" panose="020B0604020202020204" pitchFamily="34" charset="0"/>
              <a:buChar char="•"/>
            </a:pPr>
            <a:r>
              <a:rPr lang="en-GB" sz="1400"/>
              <a:t>DE 3/39 </a:t>
            </a:r>
            <a:r>
              <a:rPr lang="en-GB" sz="1400" dirty="0"/>
              <a:t>Holder of </a:t>
            </a:r>
            <a:r>
              <a:rPr lang="en-GB" sz="1400"/>
              <a:t>Authorisation Number</a:t>
            </a:r>
            <a:endParaRPr lang="en-GB" sz="1400" dirty="0"/>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7606E720-2EFE-4810-8DAF-9493E743DBAC}"/>
              </a:ext>
            </a:extLst>
          </p:cNvPr>
          <p:cNvSpPr txBox="1">
            <a:spLocks/>
          </p:cNvSpPr>
          <p:nvPr/>
        </p:nvSpPr>
        <p:spPr>
          <a:xfrm>
            <a:off x="9370672"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276</a:t>
            </a:fld>
            <a:endParaRPr lang="en-GB" dirty="0">
              <a:solidFill>
                <a:schemeClr val="tx1"/>
              </a:solidFill>
            </a:endParaRPr>
          </a:p>
        </p:txBody>
      </p:sp>
    </p:spTree>
    <p:extLst>
      <p:ext uri="{BB962C8B-B14F-4D97-AF65-F5344CB8AC3E}">
        <p14:creationId xmlns:p14="http://schemas.microsoft.com/office/powerpoint/2010/main" val="4190461279"/>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3">
            <a:extLst>
              <a:ext uri="{FF2B5EF4-FFF2-40B4-BE49-F238E27FC236}">
                <a16:creationId xmlns:a16="http://schemas.microsoft.com/office/drawing/2014/main" id="{EEC8015A-5FF6-439D-B483-F72CFA01DD6F}"/>
              </a:ext>
            </a:extLst>
          </p:cNvPr>
          <p:cNvSpPr/>
          <p:nvPr/>
        </p:nvSpPr>
        <p:spPr>
          <a:xfrm>
            <a:off x="399246" y="1264845"/>
            <a:ext cx="11282159" cy="3877985"/>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XI Licenses: Validation of an XI EORI against an Electronic License</a:t>
            </a:r>
          </a:p>
          <a:p>
            <a:pPr algn="l"/>
            <a:endParaRPr lang="en-GB" sz="1400" b="1" i="0" u="sng" dirty="0">
              <a:effectLst/>
              <a:highlight>
                <a:srgbClr val="FF0000"/>
              </a:highlight>
            </a:endParaRPr>
          </a:p>
          <a:p>
            <a:r>
              <a:rPr lang="en-GB" sz="1400" b="1" dirty="0"/>
              <a:t>Please note: </a:t>
            </a:r>
            <a:r>
              <a:rPr lang="en-GB" sz="1400" dirty="0"/>
              <a:t>this guidance is for awareness only. This functionality will be fully operational upon the deployment of CDS XI EORIs in a future release.</a:t>
            </a:r>
          </a:p>
          <a:p>
            <a:endParaRPr lang="en-GB" sz="1400" dirty="0"/>
          </a:p>
          <a:p>
            <a:r>
              <a:rPr lang="en-GB" sz="1400" dirty="0"/>
              <a:t>This functionality will allow traders to use their Licences on both GB and NI declarations. Traders will be able to use a Licence that they own when it is declared against their GB EORI or XI EORI. Traders will be able to declare their GB EORI or XI EORI against a Licence on a declaration, regardless of which EORI owns that Licence.</a:t>
            </a:r>
          </a:p>
          <a:p>
            <a:endParaRPr lang="en-GB" sz="1400" dirty="0">
              <a:highlight>
                <a:srgbClr val="FF0000"/>
              </a:highlight>
            </a:endParaRPr>
          </a:p>
          <a:p>
            <a:r>
              <a:rPr lang="en-GB" sz="1400" dirty="0"/>
              <a:t>When validating an Electronic Licence, CDS will validate the party on the declaration against the ownership of the Licence:</a:t>
            </a:r>
          </a:p>
          <a:p>
            <a:endParaRPr lang="en-GB" sz="1400" dirty="0"/>
          </a:p>
          <a:p>
            <a:pPr marL="285750" indent="-285750">
              <a:buFont typeface="Arial" panose="020B0604020202020204" pitchFamily="34" charset="0"/>
              <a:buChar char="•"/>
            </a:pPr>
            <a:r>
              <a:rPr lang="en-GB" sz="1400" dirty="0"/>
              <a:t>If the EORI declared exactly matches the EORI of the Licence owner, then the declaration will continue to be processed as per the current BAU process.</a:t>
            </a:r>
          </a:p>
          <a:p>
            <a:pPr marL="285750" indent="-285750">
              <a:buFont typeface="Arial" panose="020B0604020202020204" pitchFamily="34" charset="0"/>
              <a:buChar char="•"/>
            </a:pPr>
            <a:r>
              <a:rPr lang="en-GB" sz="1400" dirty="0"/>
              <a:t>If the EORI declared does not match the EORI of the License owner, but that same Importer/Exporter holds a second EORI that does exactly match the EORI of the Licence owner, then the declaration will continue to be processed as per the current BAU process.</a:t>
            </a:r>
          </a:p>
          <a:p>
            <a:pPr marL="285750" indent="-285750">
              <a:buFont typeface="Arial" panose="020B0604020202020204" pitchFamily="34" charset="0"/>
              <a:buChar char="•"/>
            </a:pPr>
            <a:r>
              <a:rPr lang="en-GB" sz="1400" dirty="0"/>
              <a:t>If the EORI declared does not match the EORI of the Licence owner and that same Importer/Exporter either does not hold a second EORI or does hold a second EORI but that second EORI also does not match the EORI of the Licence owner, then the declaration will be rejected and the trader will receive a DMSREJ notification.</a:t>
            </a:r>
            <a:endParaRPr lang="en-GB" sz="1400" i="0" dirty="0">
              <a:effectLst/>
            </a:endParaRPr>
          </a:p>
          <a:p>
            <a:endParaRPr lang="en-GB" sz="800" b="0" i="0" dirty="0">
              <a:effectLst/>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
        <p:nvSpPr>
          <p:cNvPr id="10" name="Slide Number Placeholder 3">
            <a:extLst>
              <a:ext uri="{FF2B5EF4-FFF2-40B4-BE49-F238E27FC236}">
                <a16:creationId xmlns:a16="http://schemas.microsoft.com/office/drawing/2014/main" id="{5E528ECE-BC83-4F77-A3DA-0BF442C07510}"/>
              </a:ext>
            </a:extLst>
          </p:cNvPr>
          <p:cNvSpPr txBox="1">
            <a:spLocks/>
          </p:cNvSpPr>
          <p:nvPr/>
        </p:nvSpPr>
        <p:spPr>
          <a:xfrm>
            <a:off x="9378623"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277</a:t>
            </a:fld>
            <a:endParaRPr lang="en-GB" dirty="0">
              <a:solidFill>
                <a:schemeClr val="tx1"/>
              </a:solidFill>
            </a:endParaRPr>
          </a:p>
        </p:txBody>
      </p:sp>
    </p:spTree>
    <p:extLst>
      <p:ext uri="{BB962C8B-B14F-4D97-AF65-F5344CB8AC3E}">
        <p14:creationId xmlns:p14="http://schemas.microsoft.com/office/powerpoint/2010/main" val="417753908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2" name="Rectangle 7">
            <a:extLst>
              <a:ext uri="{FF2B5EF4-FFF2-40B4-BE49-F238E27FC236}">
                <a16:creationId xmlns:a16="http://schemas.microsoft.com/office/drawing/2014/main" id="{F83CF73D-3421-40EB-8849-77A9795643B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4" name="Rectangle 13">
            <a:extLst>
              <a:ext uri="{FF2B5EF4-FFF2-40B4-BE49-F238E27FC236}">
                <a16:creationId xmlns:a16="http://schemas.microsoft.com/office/drawing/2014/main" id="{7088CC02-9125-42AE-B67E-2A0E606C3861}"/>
              </a:ext>
            </a:extLst>
          </p:cNvPr>
          <p:cNvSpPr/>
          <p:nvPr/>
        </p:nvSpPr>
        <p:spPr>
          <a:xfrm>
            <a:off x="399246" y="1264845"/>
            <a:ext cx="11282159" cy="4255267"/>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solidFill>
                  <a:srgbClr val="000000"/>
                </a:solidFill>
                <a:latin typeface="Calibri"/>
              </a:rPr>
              <a:t>Dual Tariff End Use and Preference Mismatch: Submission Validation and Calculation Quota</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000" b="1" i="0" u="sng" strike="noStrike" kern="1200" cap="none" spc="0" normalizeH="0" baseline="0" noProof="0" dirty="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dirty="0">
                <a:ln>
                  <a:noFill/>
                </a:ln>
                <a:solidFill>
                  <a:srgbClr val="000000"/>
                </a:solidFill>
                <a:effectLst/>
                <a:uLnTx/>
                <a:uFillTx/>
                <a:latin typeface="Calibri"/>
                <a:ea typeface="Times New Roman" pitchFamily="18"/>
                <a:cs typeface="Calibri"/>
              </a:rPr>
              <a:t>Building on the functionality implemented as part of CDS 3.9.0, from CDS 4.1.0 traders use of </a:t>
            </a:r>
            <a:r>
              <a:rPr kumimoji="0" lang="en-GB" sz="1400" b="0" i="0" u="none" kern="1200" cap="none" spc="0" normalizeH="0" baseline="0" noProof="0" dirty="0">
                <a:ln>
                  <a:noFill/>
                </a:ln>
                <a:solidFill>
                  <a:srgbClr val="000000"/>
                </a:solidFill>
                <a:effectLst/>
                <a:uLnTx/>
                <a:uFillTx/>
                <a:latin typeface="Calibri"/>
                <a:ea typeface="Times New Roman" pitchFamily="18"/>
                <a:cs typeface="Calibri"/>
              </a:rPr>
              <a:t>AI Statement ‘</a:t>
            </a:r>
            <a:r>
              <a:rPr kumimoji="0" lang="en-GB" sz="1400" b="0" i="0" u="none" strike="noStrike" kern="1200" cap="none" spc="0" normalizeH="0" baseline="0" noProof="0" dirty="0">
                <a:ln>
                  <a:noFill/>
                </a:ln>
                <a:solidFill>
                  <a:srgbClr val="000000"/>
                </a:solidFill>
                <a:effectLst/>
                <a:uLnTx/>
                <a:uFillTx/>
                <a:latin typeface="Calibri"/>
                <a:ea typeface="Times New Roman" pitchFamily="18"/>
                <a:cs typeface="Calibri"/>
              </a:rPr>
              <a:t>EUPRF’ in DE 2/2 when claiming quota will not result in Not-At-Risk declarations being rejected on RoW-NI journeys, so that the full UK Tariff will be processed in accordance with the NI Protocol. This applies to both End Use </a:t>
            </a:r>
            <a:r>
              <a:rPr kumimoji="0" lang="en-GB" sz="1400" b="0" i="0" u="none" strike="noStrike" kern="0" cap="none" spc="0" normalizeH="0" baseline="0" noProof="0" dirty="0">
                <a:ln>
                  <a:noFill/>
                </a:ln>
                <a:solidFill>
                  <a:srgbClr val="000000"/>
                </a:solidFill>
                <a:effectLst/>
                <a:uLnTx/>
                <a:uFillTx/>
                <a:latin typeface="Calibri"/>
                <a:ea typeface="Times New Roman" pitchFamily="18"/>
                <a:cs typeface="Calibri"/>
              </a:rPr>
              <a:t>M</a:t>
            </a:r>
            <a:r>
              <a:rPr kumimoji="0" lang="en-GB" sz="1400" b="0" i="0" u="none" strike="noStrike" kern="1200" cap="none" spc="0" normalizeH="0" baseline="0" noProof="0" dirty="0">
                <a:ln>
                  <a:noFill/>
                </a:ln>
                <a:solidFill>
                  <a:srgbClr val="000000"/>
                </a:solidFill>
                <a:effectLst/>
                <a:uLnTx/>
                <a:uFillTx/>
                <a:latin typeface="Calibri"/>
                <a:ea typeface="Times New Roman" pitchFamily="18"/>
                <a:cs typeface="Calibri"/>
              </a:rPr>
              <a:t>ismatch</a:t>
            </a:r>
            <a:r>
              <a:rPr lang="en-GB" sz="1400" dirty="0">
                <a:solidFill>
                  <a:srgbClr val="000000"/>
                </a:solidFill>
                <a:latin typeface="Calibri"/>
                <a:ea typeface="Times New Roman" pitchFamily="18"/>
                <a:cs typeface="Calibri"/>
              </a:rPr>
              <a:t> </a:t>
            </a:r>
            <a:r>
              <a:rPr kumimoji="0" lang="en-GB" sz="1400" b="0" i="0" u="none" strike="noStrike" kern="1200" cap="none" spc="0" normalizeH="0" baseline="0" noProof="0" dirty="0">
                <a:ln>
                  <a:noFill/>
                </a:ln>
                <a:solidFill>
                  <a:srgbClr val="000000"/>
                </a:solidFill>
                <a:effectLst/>
                <a:uLnTx/>
                <a:uFillTx/>
                <a:latin typeface="Calibri"/>
                <a:ea typeface="Times New Roman" pitchFamily="18"/>
                <a:cs typeface="Calibri"/>
              </a:rPr>
              <a:t>and Preference Mismatch scenarios.</a:t>
            </a:r>
            <a:r>
              <a:rPr kumimoji="0" lang="en-GB" sz="1400" b="0" i="0" u="none" strike="noStrike" kern="0" cap="none" spc="0" normalizeH="0" baseline="0" noProof="0" dirty="0">
                <a:ln>
                  <a:noFill/>
                </a:ln>
                <a:solidFill>
                  <a:srgbClr val="000000"/>
                </a:solidFill>
                <a:effectLst/>
                <a:uLnTx/>
                <a:uFillTx/>
                <a:latin typeface="Calibri"/>
                <a:ea typeface="Times New Roman" pitchFamily="18"/>
                <a:cs typeface="Calibri"/>
              </a:rPr>
              <a:t> </a:t>
            </a: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endParaRPr kumimoji="0" lang="en-GB" sz="600" b="0" i="0" u="none" strike="noStrike" kern="0" cap="none" spc="0" normalizeH="0" baseline="0" noProof="0" dirty="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lang="en-GB" sz="1400" b="1" dirty="0">
                <a:solidFill>
                  <a:srgbClr val="000000"/>
                </a:solidFill>
                <a:latin typeface="Calibri"/>
                <a:ea typeface="Times New Roman" pitchFamily="18"/>
                <a:cs typeface="Calibri"/>
              </a:rPr>
              <a:t>Pre-Requisite</a:t>
            </a:r>
            <a:r>
              <a:rPr kumimoji="0" lang="en-GB" sz="1400" b="1" i="0" strike="noStrike" kern="1200" cap="none" spc="0" normalizeH="0" baseline="0" noProof="0" dirty="0">
                <a:ln>
                  <a:noFill/>
                </a:ln>
                <a:solidFill>
                  <a:srgbClr val="000000"/>
                </a:solidFill>
                <a:effectLst/>
                <a:uLnTx/>
                <a:uFillTx/>
                <a:latin typeface="Calibri"/>
                <a:ea typeface="Times New Roman" pitchFamily="18"/>
                <a:cs typeface="Calibri"/>
              </a:rPr>
              <a:t> Requirements</a:t>
            </a:r>
            <a:r>
              <a:rPr kumimoji="0" lang="en-GB" sz="1400" b="1" i="0" strike="noStrike" kern="0" cap="none" spc="0" normalizeH="0" baseline="0" noProof="0" dirty="0">
                <a:ln>
                  <a:noFill/>
                </a:ln>
                <a:solidFill>
                  <a:srgbClr val="000000"/>
                </a:solidFill>
                <a:effectLst/>
                <a:uLnTx/>
                <a:uFillTx/>
                <a:latin typeface="Calibri"/>
                <a:ea typeface="Times New Roman" pitchFamily="18"/>
                <a:cs typeface="Calibri"/>
              </a:rPr>
              <a:t> </a:t>
            </a:r>
            <a:endParaRPr kumimoji="0" lang="en-GB" sz="1400" b="1" i="0" strike="noStrike" kern="1200" cap="none" spc="0" normalizeH="0" baseline="0" noProof="0" dirty="0">
              <a:ln>
                <a:noFill/>
              </a:ln>
              <a:solidFill>
                <a:srgbClr val="000000"/>
              </a:solidFill>
              <a:effectLst/>
              <a:uLnTx/>
              <a:uFillTx/>
              <a:latin typeface="Calibri"/>
              <a:ea typeface="Times New Roman" pitchFamily="18"/>
              <a:cs typeface="Calibri"/>
            </a:endParaRPr>
          </a:p>
          <a:p>
            <a:pPr marL="285750" indent="-285750">
              <a:lnSpc>
                <a:spcPct val="107000"/>
              </a:lnSpc>
              <a:buFont typeface="Arial" panose="020B0604020202020204" pitchFamily="34" charset="0"/>
              <a:buChar char="•"/>
              <a:defRPr sz="1800" b="0" i="0" u="none" strike="noStrike" kern="0" cap="none" spc="0" baseline="0">
                <a:solidFill>
                  <a:srgbClr val="000000"/>
                </a:solidFill>
                <a:uFillTx/>
              </a:defRPr>
            </a:pP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CDS has determined goods item on the declaration is ‘</a:t>
            </a:r>
            <a:r>
              <a:rPr kumimoji="0" lang="en-GB" sz="1400" i="0" strike="noStrike" kern="0" cap="none" spc="0" normalizeH="0" baseline="0" noProof="0" dirty="0">
                <a:ln>
                  <a:noFill/>
                </a:ln>
                <a:solidFill>
                  <a:srgbClr val="000000"/>
                </a:solidFill>
                <a:effectLst/>
                <a:uLnTx/>
                <a:uFillTx/>
                <a:latin typeface="Calibri"/>
                <a:ea typeface="Times New Roman" pitchFamily="18"/>
                <a:cs typeface="Calibri"/>
              </a:rPr>
              <a:t>Not at Risk’ </a:t>
            </a:r>
            <a:r>
              <a:rPr kumimoji="0" lang="en-GB" sz="1400" b="1" i="0" strike="noStrike" kern="0" cap="none" spc="0" normalizeH="0" baseline="0" noProof="0" dirty="0">
                <a:ln>
                  <a:noFill/>
                </a:ln>
                <a:solidFill>
                  <a:srgbClr val="000000"/>
                </a:solidFill>
                <a:effectLst/>
                <a:uLnTx/>
                <a:uFillTx/>
                <a:latin typeface="Calibri"/>
                <a:ea typeface="Times New Roman" pitchFamily="18"/>
                <a:cs typeface="Calibri"/>
              </a:rPr>
              <a:t>or</a:t>
            </a: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 </a:t>
            </a:r>
            <a:r>
              <a:rPr lang="en-GB" sz="1400" kern="0" dirty="0">
                <a:solidFill>
                  <a:srgbClr val="000000"/>
                </a:solidFill>
                <a:latin typeface="Calibri"/>
                <a:ea typeface="Times New Roman" pitchFamily="18"/>
                <a:cs typeface="Calibri"/>
              </a:rPr>
              <a:t>Trader has entered de-risking AI Code ‘NIREM’ in DE 2/2.</a:t>
            </a:r>
            <a:endParaRPr kumimoji="0" lang="en-GB" sz="1400" b="0" i="0" strike="noStrike" kern="0" cap="none" spc="0" normalizeH="0" baseline="0" noProof="0" dirty="0">
              <a:ln>
                <a:noFill/>
              </a:ln>
              <a:solidFill>
                <a:srgbClr val="000000"/>
              </a:solidFill>
              <a:effectLst/>
              <a:uLnTx/>
              <a:uFillTx/>
              <a:latin typeface="Calibri"/>
              <a:ea typeface="Times New Roman" pitchFamily="18"/>
              <a:cs typeface="Calibri"/>
            </a:endParaRPr>
          </a:p>
          <a:p>
            <a:pPr marL="285750" marR="0" lvl="0" indent="-285750" algn="l" defTabSz="914400" rtl="0" eaLnBrk="1" fontAlgn="auto" latinLnBrk="0" hangingPunct="1">
              <a:lnSpc>
                <a:spcPct val="107000"/>
              </a:lnSpc>
              <a:spcBef>
                <a:spcPts val="0"/>
              </a:spcBef>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strike="noStrike" kern="1200" cap="none" spc="0" normalizeH="0" baseline="0" noProof="0" dirty="0">
                <a:ln>
                  <a:noFill/>
                </a:ln>
                <a:solidFill>
                  <a:srgbClr val="000000"/>
                </a:solidFill>
                <a:effectLst/>
                <a:uLnTx/>
                <a:uFillTx/>
                <a:latin typeface="Calibri"/>
                <a:ea typeface="Times New Roman" pitchFamily="18"/>
                <a:cs typeface="Calibri"/>
              </a:rPr>
              <a:t>A UK FCFS Quota order number is entered in DE </a:t>
            </a: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8/1 that is connected to the commodity code combination entered in DE 6/14, DE 6/15, and the country of origin is entered in DE 5/15.</a:t>
            </a:r>
          </a:p>
          <a:p>
            <a:pPr marL="285750" marR="0" lvl="0" indent="-285750" algn="l" defTabSz="914400" rtl="0" eaLnBrk="1" fontAlgn="auto" latinLnBrk="0" hangingPunct="1">
              <a:lnSpc>
                <a:spcPct val="107000"/>
              </a:lnSpc>
              <a:spcBef>
                <a:spcPts val="0"/>
              </a:spcBef>
              <a:buClrTx/>
              <a:buSzTx/>
              <a:buFont typeface="Arial" panose="020B0604020202020204" pitchFamily="34" charset="0"/>
              <a:buChar char="•"/>
              <a:tabLst/>
              <a:defRPr sz="1800" b="0" i="0" u="none" strike="noStrike" kern="0" cap="none" spc="0" baseline="0">
                <a:solidFill>
                  <a:srgbClr val="000000"/>
                </a:solidFill>
                <a:uFillTx/>
              </a:defRPr>
            </a:pPr>
            <a:endParaRPr kumimoji="0" lang="en-GB" sz="1000" b="0" i="0" strike="noStrike" kern="0" cap="none" spc="0" normalizeH="0" baseline="0" noProof="0" dirty="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1" i="0" strike="noStrike" kern="0" cap="none" spc="0" normalizeH="0" baseline="0" noProof="0" dirty="0">
                <a:ln>
                  <a:noFill/>
                </a:ln>
                <a:solidFill>
                  <a:srgbClr val="000000"/>
                </a:solidFill>
                <a:effectLst/>
                <a:uLnTx/>
                <a:uFillTx/>
                <a:latin typeface="Calibri"/>
                <a:ea typeface="Times New Roman" pitchFamily="18"/>
                <a:cs typeface="Calibri"/>
              </a:rPr>
              <a:t>Acceptance Criteria </a:t>
            </a:r>
          </a:p>
          <a:p>
            <a:pPr marL="285750" marR="0" lvl="0" indent="-285750" algn="l" defTabSz="914400" rtl="0" eaLnBrk="1" fontAlgn="auto" latinLnBrk="0" hangingPunct="1">
              <a:lnSpc>
                <a:spcPct val="107000"/>
              </a:lnSpc>
              <a:spcBef>
                <a:spcPts val="0"/>
              </a:spcBef>
              <a:buClrTx/>
              <a:buSzTx/>
              <a:buFont typeface="Arial"/>
              <a:buChar char="•"/>
              <a:tabLst/>
              <a:defRPr sz="1800" b="0" i="0" u="none" strike="noStrike" kern="0" cap="none" spc="0" baseline="0">
                <a:solidFill>
                  <a:srgbClr val="000000"/>
                </a:solidFill>
                <a:uFillTx/>
              </a:defRPr>
            </a:pPr>
            <a:r>
              <a:rPr kumimoji="0" lang="en-GB" sz="1400" b="0" i="0" strike="noStrike" kern="1200" cap="none" spc="0" normalizeH="0" baseline="0" noProof="0" dirty="0">
                <a:ln>
                  <a:noFill/>
                </a:ln>
                <a:solidFill>
                  <a:srgbClr val="000000"/>
                </a:solidFill>
                <a:effectLst/>
                <a:uLnTx/>
                <a:uFillTx/>
                <a:latin typeface="Calibri"/>
                <a:ea typeface="Times New Roman" pitchFamily="18"/>
                <a:cs typeface="Calibri"/>
              </a:rPr>
              <a:t>DE 8/1 : A valid UK Quo</a:t>
            </a: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ta order number must be </a:t>
            </a:r>
            <a:r>
              <a:rPr lang="en-GB" sz="1400" kern="0" dirty="0">
                <a:solidFill>
                  <a:srgbClr val="000000"/>
                </a:solidFill>
                <a:latin typeface="Calibri"/>
                <a:ea typeface="Times New Roman" pitchFamily="18"/>
                <a:cs typeface="Calibri"/>
              </a:rPr>
              <a:t>entered </a:t>
            </a: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beginning with ’05’.</a:t>
            </a:r>
            <a:endParaRPr kumimoji="0" lang="en-GB" sz="1400" b="0" i="0" strike="sngStrike" kern="0" cap="none" spc="0" normalizeH="0" baseline="0" noProof="0" dirty="0">
              <a:ln>
                <a:noFill/>
              </a:ln>
              <a:solidFill>
                <a:srgbClr val="000000"/>
              </a:solidFill>
              <a:effectLst/>
              <a:uLnTx/>
              <a:uFillTx/>
              <a:latin typeface="Calibri"/>
              <a:ea typeface="Times New Roman" pitchFamily="18"/>
              <a:cs typeface="Calibri"/>
            </a:endParaRPr>
          </a:p>
          <a:p>
            <a:pPr marL="285750" marR="0" lvl="0" indent="-285750" algn="l" defTabSz="914400" rtl="0" eaLnBrk="1" fontAlgn="auto" latinLnBrk="0" hangingPunct="1">
              <a:lnSpc>
                <a:spcPct val="107000"/>
              </a:lnSpc>
              <a:spcBef>
                <a:spcPts val="0"/>
              </a:spcBef>
              <a:buClrTx/>
              <a:buSzTx/>
              <a:buFont typeface="Arial"/>
              <a:buChar char="•"/>
              <a:tabLst/>
              <a:defRPr sz="1800" b="0" i="0" u="none" strike="noStrike" kern="0" cap="none" spc="0" baseline="0">
                <a:solidFill>
                  <a:srgbClr val="000000"/>
                </a:solidFill>
                <a:uFillTx/>
              </a:defRPr>
            </a:pP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DE 4/17 :  trader must enter the appropriate UK Preference code.  </a:t>
            </a:r>
          </a:p>
          <a:p>
            <a:pPr marL="285750" marR="0" lvl="0" indent="-285750" algn="l" defTabSz="914400" rtl="0" eaLnBrk="1" fontAlgn="auto" latinLnBrk="0" hangingPunct="1">
              <a:lnSpc>
                <a:spcPct val="107000"/>
              </a:lnSpc>
              <a:spcBef>
                <a:spcPts val="0"/>
              </a:spcBef>
              <a:buClrTx/>
              <a:buSzTx/>
              <a:buFont typeface="Arial"/>
              <a:buChar char="•"/>
              <a:tabLst/>
              <a:defRPr sz="1800" b="0" i="0" u="none" strike="noStrike" kern="0" cap="none" spc="0" baseline="0">
                <a:solidFill>
                  <a:srgbClr val="000000"/>
                </a:solidFill>
                <a:uFillTx/>
              </a:defRPr>
            </a:pPr>
            <a:r>
              <a:rPr lang="en-GB" sz="1400" b="0" i="0" dirty="0">
                <a:solidFill>
                  <a:srgbClr val="000000"/>
                </a:solidFill>
                <a:effectLst/>
              </a:rPr>
              <a:t>Where the requirements above are not met, the declaration will be rejected and a DMSREJ returned.</a:t>
            </a:r>
          </a:p>
          <a:p>
            <a:pPr marL="285750" marR="0" lvl="0" indent="-285750" algn="l" defTabSz="914400" rtl="0" eaLnBrk="1" fontAlgn="auto" latinLnBrk="0" hangingPunct="1">
              <a:lnSpc>
                <a:spcPct val="107000"/>
              </a:lnSpc>
              <a:spcBef>
                <a:spcPts val="0"/>
              </a:spcBef>
              <a:buClrTx/>
              <a:buSzTx/>
              <a:buFont typeface="Arial"/>
              <a:buChar char="•"/>
              <a:tabLst/>
              <a:defRPr sz="1800" b="0" i="0" u="none" strike="noStrike" kern="0" cap="none" spc="0" baseline="0">
                <a:solidFill>
                  <a:srgbClr val="000000"/>
                </a:solidFill>
                <a:uFillTx/>
              </a:defRPr>
            </a:pPr>
            <a:endParaRPr lang="en-GB" sz="1400" b="0" i="0" dirty="0">
              <a:solidFill>
                <a:srgbClr val="000000"/>
              </a:solidFill>
              <a:effectLst/>
            </a:endParaRPr>
          </a:p>
          <a:p>
            <a:pPr marR="0" lvl="0" algn="l" defTabSz="914400" rtl="0" eaLnBrk="1" fontAlgn="auto" latinLnBrk="0" hangingPunct="1">
              <a:lnSpc>
                <a:spcPct val="107000"/>
              </a:lnSpc>
              <a:spcBef>
                <a:spcPts val="0"/>
              </a:spcBef>
              <a:buClrTx/>
              <a:buSzTx/>
              <a:tabLst/>
              <a:defRPr sz="1800" b="0" i="0" u="none" strike="noStrike" kern="0" cap="none" spc="0" baseline="0">
                <a:solidFill>
                  <a:srgbClr val="000000"/>
                </a:solidFill>
                <a:uFillTx/>
              </a:defRPr>
            </a:pPr>
            <a:r>
              <a:rPr lang="en-GB" sz="1400" kern="0" dirty="0">
                <a:solidFill>
                  <a:srgbClr val="000000"/>
                </a:solidFill>
                <a:latin typeface="Calibri"/>
                <a:ea typeface="Times New Roman" pitchFamily="18"/>
                <a:cs typeface="Calibri"/>
              </a:rPr>
              <a:t>Note: </a:t>
            </a:r>
            <a:r>
              <a:rPr kumimoji="0" lang="en-GB" sz="1400" b="0" i="0" strike="noStrike" kern="0" cap="none" spc="0" normalizeH="0" baseline="0" noProof="0" dirty="0">
                <a:ln>
                  <a:noFill/>
                </a:ln>
                <a:solidFill>
                  <a:srgbClr val="000000"/>
                </a:solidFill>
                <a:effectLst/>
                <a:uLnTx/>
                <a:uFillTx/>
                <a:latin typeface="Calibri"/>
                <a:ea typeface="Times New Roman" pitchFamily="18"/>
                <a:cs typeface="Calibri"/>
              </a:rPr>
              <a:t>The EUPRF (and the preference code) is now optional </a:t>
            </a:r>
            <a:r>
              <a:rPr kumimoji="0" lang="en-GB" sz="1400" b="0" i="0" u="none" strike="noStrike" kern="0" cap="none" spc="0" normalizeH="0" baseline="0" noProof="0" dirty="0">
                <a:ln>
                  <a:noFill/>
                </a:ln>
                <a:solidFill>
                  <a:srgbClr val="000000"/>
                </a:solidFill>
                <a:effectLst/>
                <a:uLnTx/>
                <a:uFillTx/>
                <a:latin typeface="Calibri"/>
                <a:ea typeface="Times New Roman" pitchFamily="18"/>
                <a:cs typeface="Calibri"/>
              </a:rPr>
              <a:t>and will not be used for validation.</a:t>
            </a:r>
          </a:p>
          <a:p>
            <a:endParaRPr lang="en-GB" sz="800" b="0" i="0" dirty="0">
              <a:effectLst/>
            </a:endParaRPr>
          </a:p>
        </p:txBody>
      </p:sp>
      <p:sp>
        <p:nvSpPr>
          <p:cNvPr id="10" name="Slide Number Placeholder 3">
            <a:extLst>
              <a:ext uri="{FF2B5EF4-FFF2-40B4-BE49-F238E27FC236}">
                <a16:creationId xmlns:a16="http://schemas.microsoft.com/office/drawing/2014/main" id="{EAF5F7B7-D58C-46D5-BE59-DBED0D9E2A6C}"/>
              </a:ext>
            </a:extLst>
          </p:cNvPr>
          <p:cNvSpPr txBox="1">
            <a:spLocks/>
          </p:cNvSpPr>
          <p:nvPr/>
        </p:nvSpPr>
        <p:spPr>
          <a:xfrm>
            <a:off x="9354769" y="637349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278</a:t>
            </a:fld>
            <a:endParaRPr lang="en-GB" dirty="0">
              <a:solidFill>
                <a:schemeClr val="tx1"/>
              </a:solidFill>
            </a:endParaRPr>
          </a:p>
        </p:txBody>
      </p:sp>
    </p:spTree>
    <p:extLst>
      <p:ext uri="{BB962C8B-B14F-4D97-AF65-F5344CB8AC3E}">
        <p14:creationId xmlns:p14="http://schemas.microsoft.com/office/powerpoint/2010/main" val="359264600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11" name="Rectangle 7">
            <a:extLst>
              <a:ext uri="{FF2B5EF4-FFF2-40B4-BE49-F238E27FC236}">
                <a16:creationId xmlns:a16="http://schemas.microsoft.com/office/drawing/2014/main" id="{C1E0143E-5200-470B-B8D8-E229252673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dirty="0">
                <a:ln>
                  <a:noFill/>
                </a:ln>
                <a:solidFill>
                  <a:srgbClr val="FFFFFF"/>
                </a:solidFill>
                <a:effectLst/>
                <a:uLnTx/>
                <a:uFillTx/>
                <a:latin typeface="Calibri"/>
                <a:ea typeface="+mn-ea"/>
                <a:cs typeface="+mn-cs"/>
              </a:rPr>
              <a:t>New Release Functionality</a:t>
            </a:r>
          </a:p>
        </p:txBody>
      </p:sp>
      <p:sp>
        <p:nvSpPr>
          <p:cNvPr id="12" name="Rectangle 11">
            <a:extLst>
              <a:ext uri="{FF2B5EF4-FFF2-40B4-BE49-F238E27FC236}">
                <a16:creationId xmlns:a16="http://schemas.microsoft.com/office/drawing/2014/main" id="{6CCC46D6-F842-44BA-845A-27FA01C34081}"/>
              </a:ext>
            </a:extLst>
          </p:cNvPr>
          <p:cNvSpPr/>
          <p:nvPr/>
        </p:nvSpPr>
        <p:spPr>
          <a:xfrm>
            <a:off x="399246" y="1264845"/>
            <a:ext cx="11282159" cy="415536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dirty="0">
                <a:solidFill>
                  <a:srgbClr val="000000"/>
                </a:solidFill>
                <a:latin typeface="Calibri"/>
              </a:rPr>
              <a:t>Dual Tariff End Use and Preference Mismatch: DMSTAX Notification Non Quota</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000" b="1" i="0" u="sng" strike="noStrike" kern="1200" cap="none" spc="0" normalizeH="0" baseline="0" noProof="0" dirty="0">
              <a:ln>
                <a:noFill/>
              </a:ln>
              <a:solidFill>
                <a:srgbClr val="000000"/>
              </a:solidFill>
              <a:effectLst/>
              <a:uLnTx/>
              <a:uFillTx/>
              <a:latin typeface="Calibri"/>
              <a:ea typeface="+mn-ea"/>
              <a:cs typeface="+mn-cs"/>
            </a:endParaRPr>
          </a:p>
          <a:p>
            <a:pPr>
              <a:defRPr sz="1800" b="0" i="0" u="none" strike="noStrike" kern="0" cap="none" spc="0" baseline="0">
                <a:solidFill>
                  <a:srgbClr val="000000"/>
                </a:solidFill>
                <a:uFillTx/>
              </a:defRPr>
            </a:pPr>
            <a:r>
              <a:rPr lang="en-GB" sz="1400" dirty="0"/>
              <a:t>This functionality will ensure that where a preference mismatch exists, the generation of the DMSTAX notification remains representative of the preference code applied, following the CDS4.1.0 Release.</a:t>
            </a:r>
          </a:p>
          <a:p>
            <a:pPr>
              <a:defRPr sz="1800" b="0" i="0" u="none" strike="noStrike" kern="0" cap="none" spc="0" baseline="0">
                <a:solidFill>
                  <a:srgbClr val="000000"/>
                </a:solidFill>
                <a:uFillTx/>
              </a:defRPr>
            </a:pPr>
            <a:endParaRPr lang="en-GB" sz="1400" kern="0" dirty="0">
              <a:solidFill>
                <a:srgbClr val="000000"/>
              </a:solidFill>
              <a:latin typeface="Calibri"/>
              <a:ea typeface="Times New Roman" pitchFamily="18"/>
              <a:cs typeface="Calibri"/>
            </a:endParaRPr>
          </a:p>
          <a:p>
            <a:pPr rtl="0"/>
            <a:r>
              <a:rPr lang="en-GB" sz="1400" dirty="0">
                <a:effectLst/>
              </a:rPr>
              <a:t>Mismatch functionality allows traders to take advantage of the additional AI code 'EUPRF' in DE 2/2 to submit an EU preference code in addition to a preference code value in DE 4/17. As a result, there are occasions whereby traders submit two preference codes on the same goods item. </a:t>
            </a:r>
          </a:p>
          <a:p>
            <a:pPr rtl="0"/>
            <a:r>
              <a:rPr lang="en-GB" sz="1400" dirty="0">
                <a:effectLst/>
              </a:rPr>
              <a:t> </a:t>
            </a:r>
          </a:p>
          <a:p>
            <a:pPr rtl="0"/>
            <a:r>
              <a:rPr lang="en-GB" sz="1400" dirty="0">
                <a:effectLst/>
              </a:rPr>
              <a:t>From CDS4.1.0, This functionality will ensure that the DMSTAX notification contains the preference code actually used in processing the goods item where more than one code was supplied.</a:t>
            </a:r>
          </a:p>
          <a:p>
            <a:pPr rtl="0"/>
            <a:r>
              <a:rPr lang="en-GB" sz="1400" dirty="0">
                <a:effectLst/>
              </a:rPr>
              <a:t> </a:t>
            </a:r>
          </a:p>
          <a:p>
            <a:pPr rtl="0"/>
            <a:r>
              <a:rPr lang="en-GB" sz="1400" dirty="0">
                <a:effectLst/>
              </a:rPr>
              <a:t>As a result of this change, The DMSTAX notification may show the value which was entered in the free-text field of DE 2/2 and not the value which was entered in DE 4/17, so that the trader is aware of the preference code applied.</a:t>
            </a: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endParaRPr kumimoji="0" lang="en-GB" sz="600" b="0" i="0" u="none" strike="noStrike" kern="0" cap="none" spc="0" normalizeH="0" baseline="0" noProof="0" dirty="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1" i="0" strike="noStrike" kern="1200" cap="none" spc="0" normalizeH="0" baseline="0" noProof="0" dirty="0">
                <a:ln>
                  <a:noFill/>
                </a:ln>
                <a:solidFill>
                  <a:srgbClr val="000000"/>
                </a:solidFill>
                <a:effectLst/>
                <a:uLnTx/>
                <a:uFillTx/>
                <a:latin typeface="Calibri"/>
                <a:ea typeface="Times New Roman" pitchFamily="18"/>
                <a:cs typeface="Calibri"/>
              </a:rPr>
              <a:t>Pre Requisite Requirements</a:t>
            </a:r>
            <a:r>
              <a:rPr kumimoji="0" lang="en-GB" sz="1400" b="1" i="0" strike="noStrike" kern="0" cap="none" spc="0" normalizeH="0" baseline="0" noProof="0" dirty="0">
                <a:ln>
                  <a:noFill/>
                </a:ln>
                <a:solidFill>
                  <a:srgbClr val="000000"/>
                </a:solidFill>
                <a:effectLst/>
                <a:uLnTx/>
                <a:uFillTx/>
                <a:latin typeface="Calibri"/>
                <a:ea typeface="Times New Roman" pitchFamily="18"/>
                <a:cs typeface="Calibri"/>
              </a:rPr>
              <a:t> </a:t>
            </a:r>
            <a:endParaRPr kumimoji="0" lang="en-GB" sz="1400" b="1" i="0" strike="noStrike" kern="1200" cap="none" spc="0" normalizeH="0" baseline="0" noProof="0" dirty="0">
              <a:ln>
                <a:noFill/>
              </a:ln>
              <a:solidFill>
                <a:srgbClr val="000000"/>
              </a:solidFill>
              <a:effectLst/>
              <a:uLnTx/>
              <a:uFillTx/>
              <a:latin typeface="Calibri"/>
              <a:ea typeface="Times New Roman" pitchFamily="18"/>
              <a:cs typeface="Calibri"/>
            </a:endParaRPr>
          </a:p>
          <a:p>
            <a:pPr marL="171450" marR="0" lvl="0" indent="-17145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sz="1800" b="0" i="0" u="none" strike="noStrike" kern="0" cap="none" spc="0" baseline="0">
                <a:solidFill>
                  <a:srgbClr val="000000"/>
                </a:solidFill>
                <a:uFillTx/>
              </a:defRPr>
            </a:pPr>
            <a:r>
              <a:rPr lang="en-GB" sz="1400" kern="0" dirty="0">
                <a:solidFill>
                  <a:srgbClr val="000000"/>
                </a:solidFill>
                <a:latin typeface="Calibri"/>
                <a:cs typeface="Calibri"/>
              </a:rPr>
              <a:t>D.E. 2/2 must contain the following AI: NIIMP</a:t>
            </a:r>
          </a:p>
          <a:p>
            <a:pPr marR="0" lvl="0" algn="l" defTabSz="914400" rtl="0" eaLnBrk="1" fontAlgn="auto" latinLnBrk="0" hangingPunct="1">
              <a:lnSpc>
                <a:spcPct val="107000"/>
              </a:lnSpc>
              <a:spcBef>
                <a:spcPts val="0"/>
              </a:spcBef>
              <a:spcAft>
                <a:spcPts val="800"/>
              </a:spcAft>
              <a:buClrTx/>
              <a:buSzTx/>
              <a:tabLst/>
              <a:defRPr sz="1800" b="0" i="0" u="none" strike="noStrike" kern="0" cap="none" spc="0" baseline="0">
                <a:solidFill>
                  <a:srgbClr val="000000"/>
                </a:solidFill>
                <a:uFillTx/>
              </a:defRPr>
            </a:pPr>
            <a:r>
              <a:rPr lang="en-GB" sz="1400" kern="0" dirty="0">
                <a:solidFill>
                  <a:srgbClr val="000000"/>
                </a:solidFill>
                <a:latin typeface="Calibri"/>
                <a:cs typeface="Calibri"/>
              </a:rPr>
              <a:t>Note: This functionality is </a:t>
            </a:r>
            <a:r>
              <a:rPr lang="en-GB" sz="1400" b="1" kern="0" dirty="0">
                <a:solidFill>
                  <a:srgbClr val="000000"/>
                </a:solidFill>
                <a:latin typeface="Calibri"/>
                <a:cs typeface="Calibri"/>
              </a:rPr>
              <a:t>not</a:t>
            </a:r>
            <a:r>
              <a:rPr lang="en-GB" sz="1400" kern="0" dirty="0">
                <a:solidFill>
                  <a:srgbClr val="000000"/>
                </a:solidFill>
                <a:latin typeface="Calibri"/>
                <a:cs typeface="Calibri"/>
              </a:rPr>
              <a:t> applicable if the AI codes entered in DE 2/2 are NIIMP + NIREM.</a:t>
            </a:r>
            <a:endParaRPr kumimoji="0" lang="en-GB" sz="1400" b="0" i="0" u="none" strike="noStrike" kern="0" cap="none" spc="0" normalizeH="0" baseline="0" noProof="0" dirty="0">
              <a:ln>
                <a:noFill/>
              </a:ln>
              <a:solidFill>
                <a:srgbClr val="000000"/>
              </a:solidFill>
              <a:effectLst/>
              <a:uLnTx/>
              <a:uFillTx/>
              <a:latin typeface="Calibri"/>
              <a:ea typeface="Times New Roman" pitchFamily="18"/>
              <a:cs typeface="Calibri"/>
            </a:endParaRPr>
          </a:p>
          <a:p>
            <a:endParaRPr lang="en-GB" sz="800" b="0" i="0" dirty="0">
              <a:effectLst/>
            </a:endParaRPr>
          </a:p>
        </p:txBody>
      </p:sp>
      <p:sp>
        <p:nvSpPr>
          <p:cNvPr id="10" name="Slide Number Placeholder 3">
            <a:extLst>
              <a:ext uri="{FF2B5EF4-FFF2-40B4-BE49-F238E27FC236}">
                <a16:creationId xmlns:a16="http://schemas.microsoft.com/office/drawing/2014/main" id="{F514173A-EB58-4189-9C40-A794F3BA77A6}"/>
              </a:ext>
            </a:extLst>
          </p:cNvPr>
          <p:cNvSpPr txBox="1">
            <a:spLocks/>
          </p:cNvSpPr>
          <p:nvPr/>
        </p:nvSpPr>
        <p:spPr>
          <a:xfrm>
            <a:off x="9338865" y="63814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B99F690-99B2-47C6-8EE8-079407C66237}" type="slidenum">
              <a:rPr lang="en-GB" smtClean="0">
                <a:solidFill>
                  <a:schemeClr val="tx1"/>
                </a:solidFill>
              </a:rPr>
              <a:pPr/>
              <a:t>279</a:t>
            </a:fld>
            <a:endParaRPr lang="en-GB" dirty="0">
              <a:solidFill>
                <a:schemeClr val="tx1"/>
              </a:solidFill>
            </a:endParaRPr>
          </a:p>
        </p:txBody>
      </p:sp>
    </p:spTree>
    <p:extLst>
      <p:ext uri="{BB962C8B-B14F-4D97-AF65-F5344CB8AC3E}">
        <p14:creationId xmlns:p14="http://schemas.microsoft.com/office/powerpoint/2010/main" val="132298456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extLst>
              <p:ext uri="{D42A27DB-BD31-4B8C-83A1-F6EECF244321}">
                <p14:modId xmlns:p14="http://schemas.microsoft.com/office/powerpoint/2010/main" val="2027630177"/>
              </p:ext>
            </p:extLst>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20434">
                <a:tc>
                  <a:txBody>
                    <a:bodyPr/>
                    <a:lstStyle/>
                    <a:p>
                      <a:pPr lvl="0" algn="ctr"/>
                      <a:r>
                        <a:rPr lang="en-GB" sz="1200"/>
                        <a:t>TTM22.0 (CDS 4.0.0)</a:t>
                      </a:r>
                    </a:p>
                  </a:txBody>
                  <a:tcPr>
                    <a:solidFill>
                      <a:srgbClr val="595959"/>
                    </a:solidFill>
                  </a:tcPr>
                </a:tc>
                <a:extLst>
                  <a:ext uri="{0D108BD9-81ED-4DB2-BD59-A6C34878D82A}">
                    <a16:rowId xmlns:a16="http://schemas.microsoft.com/office/drawing/2014/main" val="3198895953"/>
                  </a:ext>
                </a:extLst>
              </a:tr>
              <a:tr h="261975">
                <a:tc>
                  <a:txBody>
                    <a:bodyPr/>
                    <a:lstStyle/>
                    <a:p>
                      <a:pPr lvl="0" algn="ctr"/>
                      <a:r>
                        <a:rPr lang="en-GB" sz="1200" b="1" dirty="0">
                          <a:solidFill>
                            <a:srgbClr val="000000"/>
                          </a:solidFill>
                        </a:rPr>
                        <a:t>TT:</a:t>
                      </a:r>
                      <a:r>
                        <a:rPr lang="en-GB" sz="1200" b="0" dirty="0">
                          <a:solidFill>
                            <a:srgbClr val="000000"/>
                          </a:solidFill>
                        </a:rPr>
                        <a:t> 16/03/2023  </a:t>
                      </a:r>
                      <a:r>
                        <a:rPr lang="en-GB" sz="1200" b="1" dirty="0">
                          <a:solidFill>
                            <a:srgbClr val="000000"/>
                          </a:solidFill>
                        </a:rPr>
                        <a:t>TDR: </a:t>
                      </a:r>
                      <a:r>
                        <a:rPr lang="en-GB" sz="1200" b="0" dirty="0">
                          <a:solidFill>
                            <a:srgbClr val="000000"/>
                          </a:solidFill>
                        </a:rPr>
                        <a:t>28/03/2023 </a:t>
                      </a:r>
                      <a:r>
                        <a:rPr lang="en-GB" sz="1200" b="1" dirty="0">
                          <a:solidFill>
                            <a:srgbClr val="000000"/>
                          </a:solidFill>
                        </a:rPr>
                        <a:t>Live: </a:t>
                      </a:r>
                      <a:r>
                        <a:rPr lang="en-GB" sz="1200" b="0" dirty="0">
                          <a:solidFill>
                            <a:srgbClr val="000000"/>
                          </a:solidFill>
                        </a:rPr>
                        <a:t>25/03/2023</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75268" y="4321855"/>
          <a:ext cx="11213806" cy="1713414"/>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kern="1200" dirty="0">
                          <a:solidFill>
                            <a:srgbClr val="000000"/>
                          </a:solidFill>
                          <a:latin typeface="+mn-lt"/>
                          <a:hlinkClick r:id="rId3" action="ppaction://hlinksldjump"/>
                        </a:rPr>
                        <a:t>Digital Application for Reimbursement: Viewing &amp; Uploading Documents to Claims</a:t>
                      </a:r>
                      <a:endParaRPr lang="en-GB" sz="1200" b="0" i="0" u="sng" kern="1200" dirty="0">
                        <a:solidFill>
                          <a:srgbClr val="000000"/>
                        </a:solidFill>
                        <a:latin typeface="+mn-lt"/>
                      </a:endParaRPr>
                    </a:p>
                    <a:p>
                      <a:pPr marL="0" marR="0" lvl="0" indent="0" algn="l" rtl="0" fontAlgn="auto" hangingPunct="1">
                        <a:lnSpc>
                          <a:spcPct val="100000"/>
                        </a:lnSpc>
                        <a:spcBef>
                          <a:spcPts val="0"/>
                        </a:spcBef>
                        <a:spcAft>
                          <a:spcPts val="0"/>
                        </a:spcAft>
                        <a:buSzPct val="100000"/>
                        <a:buFont typeface="Arial" pitchFamily="34"/>
                        <a:buNone/>
                      </a:pPr>
                      <a:endParaRPr lang="en-GB" sz="1200" b="0" i="0" u="sng"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sng" strike="noStrike" dirty="0">
                          <a:solidFill>
                            <a:srgbClr val="000000"/>
                          </a:solidFill>
                          <a:latin typeface="+mn-lt"/>
                          <a:hlinkClick r:id="rId4" action="ppaction://hlinksldjump"/>
                        </a:rPr>
                        <a:t>Raise a Query for ALVS</a:t>
                      </a:r>
                      <a:endParaRPr lang="en-GB" sz="1200" b="1" u="sng" dirty="0">
                        <a:solidFill>
                          <a:srgbClr val="000000"/>
                        </a:solidFill>
                        <a:latin typeface="+mn-lt"/>
                      </a:endParaRPr>
                    </a:p>
                    <a:p>
                      <a:pPr marL="171450" marR="0" lvl="0" indent="-171450" algn="l" rtl="0" fontAlgn="auto" hangingPunct="1">
                        <a:lnSpc>
                          <a:spcPct val="100000"/>
                        </a:lnSpc>
                        <a:spcBef>
                          <a:spcPts val="0"/>
                        </a:spcBef>
                        <a:spcAft>
                          <a:spcPts val="0"/>
                        </a:spcAft>
                        <a:buSzPct val="100000"/>
                        <a:buFont typeface="Arial" pitchFamily="34"/>
                        <a:buChar char="•"/>
                      </a:pPr>
                      <a:endParaRPr lang="en-GB" sz="1200" b="0" i="0" u="sng" kern="120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sng" strike="noStrike" dirty="0">
                          <a:solidFill>
                            <a:srgbClr val="000000"/>
                          </a:solidFill>
                          <a:latin typeface="+mn-lt"/>
                          <a:hlinkClick r:id="rId5" action="ppaction://hlinksldjump"/>
                        </a:rPr>
                        <a:t>Tariff Misalignments Resolution </a:t>
                      </a:r>
                      <a:endParaRPr lang="en-GB" sz="1200" b="1"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r>
                        <a:rPr lang="en-GB" sz="1200" b="0" i="0" u="none" strike="noStrike" dirty="0">
                          <a:solidFill>
                            <a:srgbClr val="000000"/>
                          </a:solidFill>
                          <a:latin typeface="+mn-lt"/>
                          <a:hlinkClick r:id="rId5" action="ppaction://hlinksldjump"/>
                        </a:rPr>
                        <a:t>   </a:t>
                      </a:r>
                      <a:endParaRPr lang="en-GB" sz="1200" b="0" i="0" u="sng"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dirty="0">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Production</a:t>
              </a:r>
              <a:r>
                <a:rPr kumimoji="0" lang="en-GB" sz="1200" b="0" i="0" u="none" strike="noStrike" kern="1200" cap="none" spc="0" normalizeH="0" baseline="0" noProof="0">
                  <a:ln>
                    <a:noFill/>
                  </a:ln>
                  <a:solidFill>
                    <a:srgbClr val="000000"/>
                  </a:solidFill>
                  <a:effectLst/>
                  <a:uLnTx/>
                  <a:uFillTx/>
                  <a:latin typeface="Calibri"/>
                  <a:ea typeface="+mn-ea"/>
                  <a:cs typeface="+mn-cs"/>
                </a:rPr>
                <a:t> and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Key</a:t>
            </a:r>
            <a:r>
              <a:rPr kumimoji="0" lang="en-GB" sz="1400" b="0" i="0" u="none" strike="noStrike" kern="1200" cap="none" spc="0" normalizeH="0" baseline="0" noProof="0">
                <a:ln>
                  <a:noFill/>
                </a:ln>
                <a:solidFill>
                  <a:srgbClr val="000000"/>
                </a:solidFill>
                <a:effectLst/>
                <a:uLnTx/>
                <a:uFillTx/>
                <a:latin typeface="Calibri"/>
                <a:ea typeface="+mn-ea"/>
                <a:cs typeface="+mn-cs"/>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eaLnBrk="1" fontAlgn="auto" latinLnBrk="0" hangingPunct="1">
                <a:lnSpc>
                  <a:spcPct val="100000"/>
                </a:lnSpc>
                <a:spcBef>
                  <a:spcPts val="0"/>
                </a:spcBef>
                <a:spcAft>
                  <a:spcPts val="600"/>
                </a:spcAft>
                <a:buClrTx/>
                <a:buSzPct val="100000"/>
                <a:buFont typeface="Arial" pitchFamily="34"/>
                <a:buChar char="•"/>
                <a:tabLst/>
                <a:defRPr sz="1800" b="0" i="0" u="none" strike="noStrike" kern="0" cap="none" spc="0" baseline="0">
                  <a:solidFill>
                    <a:srgbClr val="000000"/>
                  </a:solidFill>
                  <a:uFillTx/>
                </a:defRPr>
              </a:pPr>
              <a:r>
                <a:rPr kumimoji="0" lang="en-GB" sz="1200" b="0" i="0" u="none" strike="noStrike" kern="1200" cap="none" spc="0" normalizeH="0" baseline="0" noProof="0">
                  <a:ln>
                    <a:noFill/>
                  </a:ln>
                  <a:solidFill>
                    <a:srgbClr val="000000"/>
                  </a:solidFill>
                  <a:effectLst/>
                  <a:uLnTx/>
                  <a:uFillTx/>
                  <a:latin typeface="Calibri"/>
                  <a:ea typeface="+mn-ea"/>
                  <a:cs typeface="+mn-cs"/>
                </a:rPr>
                <a:t>Available in </a:t>
              </a:r>
              <a:r>
                <a:rPr kumimoji="0" lang="en-GB" sz="1200" b="1" i="0" u="none" strike="noStrike" kern="1200" cap="none" spc="0" normalizeH="0" baseline="0" noProof="0">
                  <a:ln>
                    <a:noFill/>
                  </a:ln>
                  <a:solidFill>
                    <a:srgbClr val="000000"/>
                  </a:solidFill>
                  <a:effectLst/>
                  <a:uLnTx/>
                  <a:uFillTx/>
                  <a:latin typeface="Calibri"/>
                  <a:ea typeface="+mn-ea"/>
                  <a:cs typeface="+mn-cs"/>
                </a:rPr>
                <a:t>External Test only</a:t>
              </a: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53452"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F115F092-1F4D-4947-81BB-BF615C369066}" type="slidenum">
              <a:rPr kumimoji="0" sz="1200" b="0" i="0" u="none" strike="noStrike" kern="0" cap="none" spc="0" normalizeH="0" baseline="0" noProof="0">
                <a:ln>
                  <a:noFill/>
                </a:ln>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280</a:t>
            </a:fld>
            <a:endParaRPr kumimoji="0" lang="en-GB" sz="900" b="0" i="0" u="none" strike="noStrike" kern="1200" cap="none" spc="0" normalizeH="0" baseline="0" noProof="0" dirty="0">
              <a:ln>
                <a:noFill/>
              </a:ln>
              <a:effectLst/>
              <a:uLnTx/>
              <a:uFillTx/>
              <a:latin typeface="Calibri"/>
              <a:ea typeface="+mn-ea"/>
              <a:cs typeface="+mn-cs"/>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000" b="1" i="0" u="none" strike="noStrike" kern="1200" cap="none" spc="0" normalizeH="0" baseline="0" noProof="0">
                <a:ln>
                  <a:noFill/>
                </a:ln>
                <a:solidFill>
                  <a:srgbClr val="000000"/>
                </a:solidFill>
                <a:effectLst/>
                <a:uLnTx/>
                <a:uFillTx/>
                <a:latin typeface="Calibri" pitchFamily="34"/>
                <a:ea typeface="Calibri" pitchFamily="34"/>
                <a:cs typeface="+mn-cs"/>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issued CDS Scope Guidance can be found in the </a:t>
            </a:r>
            <a:r>
              <a:rPr kumimoji="0" lang="en-GB" sz="1400" b="0" i="0" u="none" strike="noStrike" kern="1200" cap="none" spc="0" normalizeH="0" baseline="0" noProof="0">
                <a:ln>
                  <a:noFill/>
                </a:ln>
                <a:solidFill>
                  <a:srgbClr val="6264A7"/>
                </a:solidFill>
                <a:effectLst/>
                <a:uLnTx/>
                <a:uFillTx/>
                <a:latin typeface="Calibri" panose="020F0502020204030204"/>
                <a:ea typeface="+mn-ea"/>
                <a:cs typeface="+mn-cs"/>
                <a:hlinkClick r:id="rId6"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kumimoji="0" lang="en-GB" sz="1400" b="0" i="0" u="none" strike="noStrike" kern="1200" cap="none" spc="0" normalizeH="0" baseline="0" noProof="0">
                <a:ln>
                  <a:noFill/>
                </a:ln>
                <a:solidFill>
                  <a:srgbClr val="252423"/>
                </a:solidFill>
                <a:effectLst/>
                <a:uLnTx/>
                <a:uFillTx/>
                <a:latin typeface="Calibri" panose="020F0502020204030204"/>
                <a:ea typeface="+mn-ea"/>
                <a:cs typeface="+mn-cs"/>
              </a:rPr>
              <a:t> section of the Customs Declaration Service end-to-end service guide within the HMRC Developer Hub</a:t>
            </a:r>
            <a:r>
              <a:rPr kumimoji="0" lang="en-GB" sz="1400" b="0" i="0" u="none" strike="noStrike" kern="1200" cap="none" spc="0" normalizeH="0" baseline="0" noProof="0">
                <a:ln>
                  <a:noFill/>
                </a:ln>
                <a:solidFill>
                  <a:srgbClr val="00000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eaLnBrk="1" fontAlgn="auto" latinLnBrk="0" hangingPunct="1">
              <a:lnSpc>
                <a:spcPct val="100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If you have any questions regarding this release, please send your query to </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hlinkClick r:id="rId7"/>
              </a:rPr>
              <a:t>SDSTeam@hmrc.gov.uk</a:t>
            </a:r>
            <a:r>
              <a:rPr kumimoji="0" lang="en-GB" sz="1400" b="0" i="0" u="none" strike="noStrike" kern="1200" cap="none" spc="0" normalizeH="0" baseline="0" noProof="0">
                <a:ln>
                  <a:noFill/>
                </a:ln>
                <a:solidFill>
                  <a:srgbClr val="000000"/>
                </a:solidFill>
                <a:effectLst/>
                <a:uLnTx/>
                <a:uFillTx/>
                <a:latin typeface="Calibri" panose="020F0502020204030204"/>
                <a:ea typeface="Calibri" pitchFamily="34"/>
                <a:cs typeface="Calibri"/>
              </a:rPr>
              <a:t>.</a:t>
            </a:r>
          </a:p>
        </p:txBody>
      </p:sp>
      <p:sp>
        <p:nvSpPr>
          <p:cNvPr id="25" name="Oval 16">
            <a:extLst>
              <a:ext uri="{FF2B5EF4-FFF2-40B4-BE49-F238E27FC236}">
                <a16:creationId xmlns:a16="http://schemas.microsoft.com/office/drawing/2014/main" id="{A8C33232-F79D-45B3-BE6F-BBA700429C50}"/>
              </a:ext>
            </a:extLst>
          </p:cNvPr>
          <p:cNvSpPr/>
          <p:nvPr/>
        </p:nvSpPr>
        <p:spPr>
          <a:xfrm>
            <a:off x="525167" y="438685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16">
            <a:extLst>
              <a:ext uri="{FF2B5EF4-FFF2-40B4-BE49-F238E27FC236}">
                <a16:creationId xmlns:a16="http://schemas.microsoft.com/office/drawing/2014/main" id="{20B78443-9344-4A32-9FAD-71D2948320A9}"/>
              </a:ext>
            </a:extLst>
          </p:cNvPr>
          <p:cNvSpPr/>
          <p:nvPr/>
        </p:nvSpPr>
        <p:spPr>
          <a:xfrm>
            <a:off x="3096991" y="438685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16">
            <a:extLst>
              <a:ext uri="{FF2B5EF4-FFF2-40B4-BE49-F238E27FC236}">
                <a16:creationId xmlns:a16="http://schemas.microsoft.com/office/drawing/2014/main" id="{5D202AC6-3568-419B-90F4-F05354722750}"/>
              </a:ext>
            </a:extLst>
          </p:cNvPr>
          <p:cNvSpPr/>
          <p:nvPr/>
        </p:nvSpPr>
        <p:spPr>
          <a:xfrm>
            <a:off x="6082171" y="438685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79724527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13695"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281</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473501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kumimoji="0" lang="en-GB" sz="1400" b="1" i="0" u="sng" strike="noStrike" kern="1200" cap="none" spc="0" normalizeH="0" baseline="0" noProof="0">
                <a:ln>
                  <a:noFill/>
                </a:ln>
                <a:solidFill>
                  <a:srgbClr val="000000"/>
                </a:solidFill>
                <a:effectLst/>
                <a:uLnTx/>
                <a:uFillTx/>
                <a:latin typeface="Calibri"/>
                <a:ea typeface="+mn-ea"/>
                <a:cs typeface="+mn-cs"/>
              </a:rPr>
              <a:t>Digital Application for </a:t>
            </a:r>
            <a:r>
              <a:rPr lang="en-GB" sz="1400" b="1" u="sng">
                <a:solidFill>
                  <a:srgbClr val="000000"/>
                </a:solidFill>
                <a:latin typeface="Calibri"/>
              </a:rPr>
              <a:t>Reimbursement: Viewing</a:t>
            </a:r>
            <a:r>
              <a:rPr kumimoji="0" lang="en-GB" sz="1400" b="1" i="0" u="sng" strike="noStrike" kern="1200" cap="none" spc="0" normalizeH="0" baseline="0" noProof="0">
                <a:ln>
                  <a:noFill/>
                </a:ln>
                <a:solidFill>
                  <a:srgbClr val="000000"/>
                </a:solidFill>
                <a:effectLst/>
                <a:uLnTx/>
                <a:uFillTx/>
                <a:latin typeface="Calibri"/>
                <a:ea typeface="+mn-ea"/>
                <a:cs typeface="+mn-cs"/>
              </a:rPr>
              <a:t> and Uploading Documents to Claims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1" i="0" u="sng"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From CDS4.0.0, traders will be able to check whether they have any ongoing or recently closed reimbursement claims and be able to view information on these claims. </a:t>
            </a:r>
          </a:p>
          <a:p>
            <a:pPr>
              <a:lnSpc>
                <a:spcPct val="107000"/>
              </a:lnSpc>
              <a:spcAft>
                <a:spcPts val="800"/>
              </a:spcAf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When a trader has submitted a claim, be it a C285, C&amp;E1179, or Security Claim, they will be able to monitor the progress of any open claims they have submitted, any claims which require additional information, and any recently closed claims. They will also be able to upload additional supporting documentation to open claims where </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instructed to</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 do so by a caseworker. The trader will be contacted by the caseworker by email, letter, or phone to request additional clarification, information, or supporting documentation on a claim.</a:t>
            </a:r>
            <a:r>
              <a:rPr lang="en-GB" sz="1400">
                <a:solidFill>
                  <a:srgbClr val="000000"/>
                </a:solidFill>
                <a:latin typeface="Calibri"/>
                <a:ea typeface="Times New Roman" pitchFamily="18"/>
                <a:cs typeface="Calibri"/>
              </a:rPr>
              <a:t> </a:t>
            </a:r>
            <a:endParaRPr lang="en-GB" sz="1400" b="0" i="0" u="none" strike="noStrike" kern="1200" cap="none" spc="0" normalizeH="0" baseline="0" noProof="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7000"/>
              </a:lnSpc>
              <a:spcBef>
                <a:spcPts val="0"/>
              </a:spcBef>
              <a:spcAft>
                <a:spcPts val="300"/>
              </a:spcAft>
              <a:buClrTx/>
              <a:buSzTx/>
              <a:buFontTx/>
              <a:buNone/>
              <a:tabLst/>
              <a:defRPr sz="1800" b="0" i="0" u="none" strike="noStrike" kern="0" cap="none" spc="0" baseline="0">
                <a:solidFill>
                  <a:srgbClr val="000000"/>
                </a:solidFill>
                <a:uFillTx/>
              </a:defRPr>
            </a:pPr>
            <a:endParaRPr kumimoji="0" lang="en-GB" sz="1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Traders </a:t>
            </a:r>
            <a:r>
              <a:rPr kumimoji="0" lang="en-GB" sz="1400" b="1" i="0" u="none" strike="noStrike" kern="0" cap="none" spc="0" normalizeH="0" baseline="0" noProof="0">
                <a:ln>
                  <a:noFill/>
                </a:ln>
                <a:solidFill>
                  <a:srgbClr val="000000"/>
                </a:solidFill>
                <a:effectLst/>
                <a:uLnTx/>
                <a:uFillTx/>
                <a:latin typeface="Calibri"/>
                <a:ea typeface="Times New Roman" pitchFamily="18"/>
                <a:cs typeface="Calibri"/>
              </a:rPr>
              <a:t>must</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log in via the Government Gateway in order to be able to access their CDS Service reimbursement claim information. </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There are multiple stages of progress that claims go through, the status of which will be displayed within the view and upload dashboard:</a:t>
            </a:r>
            <a:endParaRPr lang="en-GB" sz="1400" b="0" i="0" u="none" strike="noStrike" kern="1200" cap="none" spc="0" normalizeH="0" baseline="0" noProof="0">
              <a:ln>
                <a:noFill/>
              </a:ln>
              <a:solidFill>
                <a:srgbClr val="000000"/>
              </a:solidFill>
              <a:effectLst/>
              <a:uLnTx/>
              <a:uFillTx/>
              <a:latin typeface="Calibri"/>
              <a:ea typeface="Times New Roman" pitchFamily="18"/>
              <a:cs typeface="Calibri"/>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claim is submitted</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claim is picked up for casework</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Correspondence is sent to the trader, and the caseworker is awaiting a response</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A right to be heard letter is sent, and the caseworker is awaiting a response</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claim is processed and passed to an approver</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claim is rejected</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Reimbursement has been authorised</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Reimbursement has been issued</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The case for the claim has been closed.</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Closed claims will be visible to the user for a period of 30 days in the ‘View &amp; Upload’ feature. </a:t>
            </a:r>
            <a:endPar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2024238899"/>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452"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282</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412420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Checking </a:t>
            </a:r>
            <a:r>
              <a:rPr kumimoji="0" lang="en-GB" sz="1400" b="1" i="0" u="none" strike="noStrike" kern="0" cap="none" spc="0" normalizeH="0" baseline="0" noProof="0">
                <a:ln>
                  <a:noFill/>
                </a:ln>
                <a:solidFill>
                  <a:srgbClr val="000000"/>
                </a:solidFill>
                <a:effectLst/>
                <a:uLnTx/>
                <a:uFillTx/>
                <a:latin typeface="Calibri"/>
                <a:ea typeface="+mn-ea"/>
                <a:cs typeface="+mn-cs"/>
              </a:rPr>
              <a:t>on an </a:t>
            </a:r>
            <a:r>
              <a:rPr kumimoji="0" lang="en-GB" sz="1400" b="1" i="0" u="none" strike="noStrike" kern="1200" cap="none" spc="0" normalizeH="0" baseline="0" noProof="0">
                <a:ln>
                  <a:noFill/>
                </a:ln>
                <a:solidFill>
                  <a:srgbClr val="000000"/>
                </a:solidFill>
                <a:effectLst/>
                <a:uLnTx/>
                <a:uFillTx/>
                <a:latin typeface="Calibri"/>
                <a:ea typeface="+mn-ea"/>
                <a:cs typeface="+mn-cs"/>
              </a:rPr>
              <a:t>Ongoing or Closed Claims:</a:t>
            </a:r>
            <a:endParaRPr kumimoji="0" lang="en-GB" sz="800" b="0" i="0" u="none" strike="noStrike" kern="1200" cap="none" spc="0" normalizeH="0" baseline="0" noProof="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Where requesting to view their reimbursement claim information, any</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one</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 of the claimant, importer, or declarant will be able to view the claim and the associated data, subject to the below:</a:t>
            </a:r>
            <a:endParaRPr kumimoji="0" lang="en-GB" sz="1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trader who submitted the claim</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importer on the declaration(s) that is/are the subject of the claim in </a:t>
            </a:r>
            <a:r>
              <a:rPr kumimoji="0" lang="en-GB" sz="1400" b="1" i="0" u="none" strike="noStrike" kern="1200" cap="none" spc="0" normalizeH="0" baseline="0" noProof="0">
                <a:ln>
                  <a:noFill/>
                </a:ln>
                <a:solidFill>
                  <a:srgbClr val="000000"/>
                </a:solidFill>
                <a:effectLst/>
                <a:uLnTx/>
                <a:uFillTx/>
                <a:latin typeface="Calibri"/>
                <a:ea typeface="Times New Roman" pitchFamily="18"/>
                <a:cs typeface="Calibri"/>
              </a:rPr>
              <a:t>DE 3/16</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The declarant on the declaration(s) that is/are the subject of the claim in </a:t>
            </a:r>
            <a:r>
              <a:rPr kumimoji="0" lang="en-GB" sz="1400" b="1" i="0" u="none" strike="noStrike" kern="1200" cap="none" spc="0" normalizeH="0" baseline="0" noProof="0">
                <a:ln>
                  <a:noFill/>
                </a:ln>
                <a:solidFill>
                  <a:srgbClr val="000000"/>
                </a:solidFill>
                <a:effectLst/>
                <a:uLnTx/>
                <a:uFillTx/>
                <a:latin typeface="Calibri"/>
                <a:ea typeface="Times New Roman" pitchFamily="18"/>
                <a:cs typeface="Calibri"/>
              </a:rPr>
              <a:t>DE 3/18</a:t>
            </a:r>
            <a:endParaRPr kumimoji="0" lang="en-GB" sz="1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000" b="0" i="0" u="none" strike="noStrike" kern="1200" cap="none" spc="0" normalizeH="0" baseline="0" noProof="0">
              <a:ln>
                <a:noFill/>
              </a:ln>
              <a:solidFill>
                <a:srgbClr val="000000"/>
              </a:solidFill>
              <a:effectLst/>
              <a:uLnTx/>
              <a:uFillTx/>
              <a:latin typeface="Calibri"/>
              <a:ea typeface="Times New Roman" pitchFamily="18"/>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Traders will also be able to choose to submit a new repayments claim.</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6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Times New Roman" pitchFamily="18"/>
                <a:cs typeface="Calibri"/>
              </a:rPr>
              <a:t>View Information about an Outstanding or </a:t>
            </a:r>
            <a:r>
              <a:rPr kumimoji="0" lang="en-GB" sz="1400" b="1" i="0" u="none" strike="noStrike" kern="0" cap="none" spc="0" normalizeH="0" baseline="0" noProof="0">
                <a:ln>
                  <a:noFill/>
                </a:ln>
                <a:solidFill>
                  <a:srgbClr val="000000"/>
                </a:solidFill>
                <a:effectLst/>
                <a:uLnTx/>
                <a:uFillTx/>
                <a:latin typeface="Calibri"/>
                <a:ea typeface="Times New Roman" pitchFamily="18"/>
                <a:cs typeface="Calibri"/>
              </a:rPr>
              <a:t>R</a:t>
            </a:r>
            <a:r>
              <a:rPr kumimoji="0" lang="en-GB" sz="1400" b="1" i="0" u="none" strike="noStrike" kern="1200" cap="none" spc="0" normalizeH="0" baseline="0" noProof="0">
                <a:ln>
                  <a:noFill/>
                </a:ln>
                <a:solidFill>
                  <a:srgbClr val="000000"/>
                </a:solidFill>
                <a:effectLst/>
                <a:uLnTx/>
                <a:uFillTx/>
                <a:latin typeface="Calibri"/>
                <a:ea typeface="Times New Roman" pitchFamily="18"/>
                <a:cs typeface="Calibri"/>
              </a:rPr>
              <a:t>ecently Closed </a:t>
            </a:r>
            <a:r>
              <a:rPr kumimoji="0" lang="en-GB" sz="1400" b="1" i="0" u="none" strike="noStrike" kern="0" cap="none" spc="0" normalizeH="0" baseline="0" noProof="0">
                <a:ln>
                  <a:noFill/>
                </a:ln>
                <a:solidFill>
                  <a:srgbClr val="000000"/>
                </a:solidFill>
                <a:effectLst/>
                <a:uLnTx/>
                <a:uFillTx/>
                <a:latin typeface="Calibri"/>
                <a:ea typeface="Times New Roman" pitchFamily="18"/>
                <a:cs typeface="Calibri"/>
              </a:rPr>
              <a:t>C</a:t>
            </a:r>
            <a:r>
              <a:rPr kumimoji="0" lang="en-GB" sz="1400" b="1" i="0" u="none" strike="noStrike" kern="1200" cap="none" spc="0" normalizeH="0" baseline="0" noProof="0">
                <a:ln>
                  <a:noFill/>
                </a:ln>
                <a:solidFill>
                  <a:srgbClr val="000000"/>
                </a:solidFill>
                <a:effectLst/>
                <a:uLnTx/>
                <a:uFillTx/>
                <a:latin typeface="Calibri"/>
                <a:ea typeface="Times New Roman" pitchFamily="18"/>
                <a:cs typeface="Calibri"/>
              </a:rPr>
              <a:t>ase</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When selecting to view an outstanding or recently closed case, given the trader is logged into their Government Gateway, the following information will be available:</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a:t>
            </a:r>
            <a:endPar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Claimant’s EORI;</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Claimant's Contact Email;</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Declaration ID (MRN);</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Case Reference Number (of the selected case);</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Reason for Security (Securities only);</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Claim Status;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Value of claim originally submitted.</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4177324019"/>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29597"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283</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227754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Uploading Additional Supporting Documentation:</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When selecting to view a specific open case, the trader will be able to upload additional documents in support of their case, and must select an identifier describing the document.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0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When additional supporting documentation is uploaded by the trader, the caseworker will be notified that the case has been updated, and will be able to update the status of the case.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6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Document Requirements: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No documents with a file size larger than 9MB (as permitted by the SFUS) will be accepted.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User can upload files in the following format: PDF, JPEG, or PNG.</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46166890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9635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284</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449777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1200" cap="none" spc="0" normalizeH="0" baseline="0" noProof="0">
                <a:ln>
                  <a:noFill/>
                </a:ln>
                <a:solidFill>
                  <a:srgbClr val="000000"/>
                </a:solidFill>
                <a:effectLst/>
                <a:uLnTx/>
                <a:uFillTx/>
                <a:latin typeface="Calibri"/>
                <a:ea typeface="+mn-ea"/>
                <a:cs typeface="+mn-cs"/>
              </a:rPr>
              <a:t>Raise a Query for ALVS: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800" b="1" i="0" u="sng"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7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From CDS4.0.0, the NCH will be able to raise a query with a declarant on a declaration which has an open ALVS blocking control task, and inform the declarant of any potential further action that is required to ensure the declaration passes through clearance.</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a:t>
            </a:r>
          </a:p>
          <a:p>
            <a:pPr marL="0" marR="0" lvl="0" indent="0" algn="l" defTabSz="914400" rtl="0" eaLnBrk="1" fontAlgn="auto" latinLnBrk="0" hangingPunct="1">
              <a:lnSpc>
                <a:spcPct val="107000"/>
              </a:lnSpc>
              <a:spcBef>
                <a:spcPts val="0"/>
              </a:spcBef>
              <a:spcAft>
                <a:spcPts val="6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This would be required if, when carrying out risking on Import Declarations including Licensable products, DEFRA experience a risk issue which blocks the declaration case from progressing in the ALVS.</a:t>
            </a: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This functionality will allow the NCH to raise a Query, allow the </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declarant </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to respond to a query, and allow the NCH to reply to a </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declarant's</a:t>
            </a:r>
            <a:r>
              <a:rPr kumimoji="0" lang="en-GB" sz="1400" b="0" i="0" u="none" strike="noStrike" kern="1200" cap="none" spc="0" normalizeH="0" baseline="0" noProof="0">
                <a:ln>
                  <a:noFill/>
                </a:ln>
                <a:solidFill>
                  <a:srgbClr val="000000"/>
                </a:solidFill>
                <a:effectLst/>
                <a:uLnTx/>
                <a:uFillTx/>
                <a:latin typeface="Calibri"/>
                <a:ea typeface="Times New Roman" pitchFamily="18"/>
                <a:cs typeface="Calibri"/>
              </a:rPr>
              <a:t> response.</a:t>
            </a: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 </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endParaRPr kumimoji="0" lang="en-GB" sz="6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Pre-Requisites</a:t>
            </a: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a:t>
            </a: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The declaration must be submitted into CDS and pass validation;</a:t>
            </a: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 </a:t>
            </a: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An ALVS blocking control task is raised against the declaration;</a:t>
            </a:r>
          </a:p>
          <a:p>
            <a:pPr marL="742950" marR="0" lvl="1" indent="-28575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The case is visible.</a:t>
            </a:r>
          </a:p>
          <a:p>
            <a:pPr marL="0" marR="0" lvl="0" indent="0" algn="l" defTabSz="914400" rtl="0" eaLnBrk="1" fontAlgn="auto" latinLnBrk="0" hangingPunct="1">
              <a:lnSpc>
                <a:spcPct val="107000"/>
              </a:lnSpc>
              <a:spcBef>
                <a:spcPts val="0"/>
              </a:spcBef>
              <a:spcAft>
                <a:spcPts val="0"/>
              </a:spcAft>
              <a:buClrTx/>
              <a:buSzTx/>
              <a:buFontTx/>
              <a:buNone/>
              <a:tabLst/>
              <a:defRPr sz="1800" b="0" i="0" u="none" strike="noStrike" kern="0" cap="none" spc="0" baseline="0">
                <a:solidFill>
                  <a:srgbClr val="000000"/>
                </a:solidFill>
                <a:uFillTx/>
              </a:defRPr>
            </a:pPr>
            <a:endParaRPr kumimoji="0" lang="en-GB"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7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a:ea typeface="Times New Roman" pitchFamily="18"/>
                <a:cs typeface="Calibri"/>
              </a:rPr>
              <a:t>If additional information is required, and a query is sent to the declarant (DMSQRY), an email is then sent to the trader to advise them of this, so they can login to the Government Gateway to access and reply to the query from within the secure inbox. The notification will include: </a:t>
            </a:r>
            <a:endPar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800100" marR="0" lvl="1" indent="-342900" algn="l" defTabSz="914400" rtl="0" eaLnBrk="1" fontAlgn="auto" latinLnBrk="0" hangingPunct="1">
              <a:lnSpc>
                <a:spcPct val="107000"/>
              </a:lnSpc>
              <a:spcBef>
                <a:spcPts val="0"/>
              </a:spcBef>
              <a:spcAft>
                <a:spcPts val="0"/>
              </a:spcAft>
              <a:buClrTx/>
              <a:buSzTx/>
              <a:buFont typeface="+mj-lt"/>
              <a:buAutoNum type="arabicPeriod"/>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MRN;</a:t>
            </a:r>
          </a:p>
          <a:p>
            <a:pPr marL="800100" marR="0" lvl="1" indent="-342900" algn="l" defTabSz="914400" rtl="0" eaLnBrk="1" fontAlgn="auto" latinLnBrk="0" hangingPunct="1">
              <a:lnSpc>
                <a:spcPct val="107000"/>
              </a:lnSpc>
              <a:spcBef>
                <a:spcPts val="0"/>
              </a:spcBef>
              <a:spcAft>
                <a:spcPts val="0"/>
              </a:spcAft>
              <a:buClrTx/>
              <a:buSzTx/>
              <a:buFont typeface="+mj-lt"/>
              <a:buAutoNum type="arabicPeriod"/>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Statement description;</a:t>
            </a:r>
          </a:p>
          <a:p>
            <a:pPr marL="800100" marR="0" lvl="1" indent="-342900" algn="l" defTabSz="914400" rtl="0" eaLnBrk="1" fontAlgn="auto" latinLnBrk="0" hangingPunct="1">
              <a:lnSpc>
                <a:spcPct val="107000"/>
              </a:lnSpc>
              <a:spcBef>
                <a:spcPts val="0"/>
              </a:spcBef>
              <a:spcAft>
                <a:spcPts val="0"/>
              </a:spcAft>
              <a:buClrTx/>
              <a:buSzTx/>
              <a:buFont typeface="+mj-lt"/>
              <a:buAutoNum type="arabicPeriod"/>
              <a:tabLst/>
              <a:defRPr sz="1800" b="0" i="0" u="none" strike="noStrike" kern="0" cap="none" spc="0" baseline="0">
                <a:solidFill>
                  <a:srgbClr val="000000"/>
                </a:solidFill>
                <a:uFillTx/>
              </a:defRPr>
            </a:pPr>
            <a:r>
              <a:rPr kumimoji="0" lang="en-GB" sz="14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Local reference ID (DE 2/5) if provided to CDCM. </a:t>
            </a:r>
            <a:endPar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a:p>
            <a:pPr marL="0" marR="0" lvl="0" indent="0" algn="l" defTabSz="914400" rtl="0" eaLnBrk="1" fontAlgn="auto" latinLnBrk="0" hangingPunct="1">
              <a:lnSpc>
                <a:spcPct val="107000"/>
              </a:lnSpc>
              <a:spcBef>
                <a:spcPts val="0"/>
              </a:spcBef>
              <a:spcAft>
                <a:spcPts val="600"/>
              </a:spcAft>
              <a:buClrTx/>
              <a:buSzTx/>
              <a:buFontTx/>
              <a:buNone/>
              <a:tabLst/>
              <a:defRPr sz="1800" b="0" i="0" u="none" strike="noStrike" kern="0" cap="none" spc="0" baseline="0">
                <a:solidFill>
                  <a:srgbClr val="000000"/>
                </a:solidFill>
                <a:uFillTx/>
              </a:defRPr>
            </a:pPr>
            <a:endParaRPr kumimoji="0" lang="en-GB" sz="100" b="0"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840183613"/>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70911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285</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498675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0" normalizeH="0" baseline="0" noProof="0">
                <a:ln>
                  <a:noFill/>
                </a:ln>
                <a:solidFill>
                  <a:srgbClr val="000000"/>
                </a:solidFill>
                <a:effectLst/>
                <a:uLnTx/>
                <a:uFillTx/>
                <a:latin typeface="Calibri"/>
                <a:ea typeface="+mn-ea"/>
                <a:cs typeface="+mn-cs"/>
              </a:rPr>
              <a:t>Responding to a Query:</a:t>
            </a:r>
          </a:p>
          <a:p>
            <a:pPr marL="0" marR="0" lvl="0" indent="0" algn="l" defTabSz="914400" rtl="0" eaLnBrk="1" fontAlgn="auto" latinLnBrk="0" hangingPunct="1">
              <a:lnSpc>
                <a:spcPct val="107000"/>
              </a:lnSpc>
              <a:spcBef>
                <a:spcPts val="0"/>
              </a:spcBef>
              <a:spcAft>
                <a:spcPts val="60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Declarants will be able to respond to queries from the NCH informing them of additional further action that may be required on their declaration, enabling them to complete the required actions to progress the declaration through clearance.</a:t>
            </a:r>
          </a:p>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en-GB" sz="1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Acceptance Criteria: </a:t>
            </a:r>
          </a:p>
          <a:p>
            <a:pPr marL="800100" marR="0" lvl="1" indent="-34290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Where a case worker has sent a query against a declaration, the declarant must respond to the query with a free text message of up to 4,000 characters (including symbols and spaces). </a:t>
            </a:r>
          </a:p>
          <a:p>
            <a:pPr marL="800100" marR="0" lvl="1" indent="-34290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The declarant can also:</a:t>
            </a:r>
          </a:p>
          <a:p>
            <a:pPr marL="1200150" marR="0" lvl="2" indent="-285750" algn="l" defTabSz="914400" rtl="0" eaLnBrk="1" fontAlgn="auto" latinLnBrk="0" hangingPunct="1">
              <a:lnSpc>
                <a:spcPct val="107000"/>
              </a:lnSpc>
              <a:spcBef>
                <a:spcPts val="0"/>
              </a:spcBef>
              <a:spcAft>
                <a:spcPts val="0"/>
              </a:spcAft>
              <a:buClrTx/>
              <a:buSzTx/>
              <a:buFont typeface="Courier New" panose="02070309020205020404" pitchFamily="49"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Submit a request to amend the declaration; </a:t>
            </a:r>
          </a:p>
          <a:p>
            <a:pPr marL="1200150" marR="0" lvl="2" indent="-285750" algn="l" defTabSz="914400" rtl="0" eaLnBrk="1" fontAlgn="auto" latinLnBrk="0" hangingPunct="1">
              <a:lnSpc>
                <a:spcPct val="107000"/>
              </a:lnSpc>
              <a:spcBef>
                <a:spcPts val="0"/>
              </a:spcBef>
              <a:spcAft>
                <a:spcPts val="0"/>
              </a:spcAft>
              <a:buClrTx/>
              <a:buSzTx/>
              <a:buFont typeface="Courier New" panose="02070309020205020404" pitchFamily="49"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Upload additional document(s) to the declaration;</a:t>
            </a:r>
          </a:p>
          <a:p>
            <a:pPr marL="1200150" marR="0" lvl="2" indent="-285750" algn="l" defTabSz="914400" rtl="0" eaLnBrk="1" fontAlgn="auto" latinLnBrk="0" hangingPunct="1">
              <a:lnSpc>
                <a:spcPct val="107000"/>
              </a:lnSpc>
              <a:spcBef>
                <a:spcPts val="0"/>
              </a:spcBef>
              <a:spcAft>
                <a:spcPts val="0"/>
              </a:spcAft>
              <a:buClrTx/>
              <a:buSzTx/>
              <a:buFont typeface="Courier New" panose="02070309020205020404" pitchFamily="49"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Submit a request to invalidate the declaration. </a:t>
            </a:r>
          </a:p>
          <a:p>
            <a:pPr marL="800100" marR="0" lvl="1" indent="-342900" algn="l" defTabSz="914400" rtl="0" eaLnBrk="1" fontAlgn="auto" latinLnBrk="0" hangingPunct="1">
              <a:lnSpc>
                <a:spcPct val="107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Where a declarant has responded to a query, the response must be associated with the existing case and be sent over a secure external channel. </a:t>
            </a:r>
          </a:p>
          <a:p>
            <a:pPr marL="800100" marR="0" lvl="1" indent="-342900" algn="l" defTabSz="914400" rtl="0" eaLnBrk="1" fontAlgn="auto" latinLnBrk="0" hangingPunct="1">
              <a:lnSpc>
                <a:spcPct val="107000"/>
              </a:lnSpc>
              <a:spcBef>
                <a:spcPts val="0"/>
              </a:spcBef>
              <a:spcAft>
                <a:spcPts val="800"/>
              </a:spcAft>
              <a:buClrTx/>
              <a:buSzTx/>
              <a:buFont typeface="Arial" panose="020B0604020202020204" pitchFamily="34" charset="0"/>
              <a:buChar char="•"/>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All responses from the declarant will be recorded against the case history with a date and time stamp. </a:t>
            </a:r>
          </a:p>
          <a:p>
            <a:pPr marL="0" marR="0" lvl="0" indent="0" algn="l" defTabSz="914400" rtl="0" eaLnBrk="1" fontAlgn="auto" latinLnBrk="0" hangingPunct="1">
              <a:lnSpc>
                <a:spcPct val="107000"/>
              </a:lnSpc>
              <a:spcBef>
                <a:spcPts val="0"/>
              </a:spcBef>
              <a:spcAft>
                <a:spcPts val="60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All responses are recorded on the system, even if submitted outside of the CDS. In some cases, further action may be required, and the NCH can submit an additional query request. </a:t>
            </a:r>
            <a:endParaRPr kumimoji="0" lang="en-GB" sz="1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120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Please note: </a:t>
            </a: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GB" sz="140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a:t>
            </a:r>
            <a:r>
              <a:rPr kumimoji="0" lang="en-GB"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cceptable file formats for uploading additional document(s) are: TXT,</a:t>
            </a:r>
            <a:r>
              <a:rPr kumimoji="0" lang="en-GB" sz="1400" b="0" i="0" u="none" strike="noStrike" kern="120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rPr>
              <a:t> PDF, and image files (JPEG, PNG).</a:t>
            </a:r>
            <a:endParaRPr kumimoji="0" lang="en-GB" sz="1400" b="0" i="0" u="none" strike="noStrike" kern="1200" cap="none" spc="0" normalizeH="0" baseline="0" noProof="0">
              <a:ln>
                <a:noFill/>
              </a:ln>
              <a:solidFill>
                <a:srgbClr val="FF0000"/>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FF0000"/>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1200" cap="none" spc="0" normalizeH="0" baseline="0" noProof="0">
              <a:ln>
                <a:noFill/>
              </a:ln>
              <a:solidFill>
                <a:srgbClr val="000000"/>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00" b="1" i="0" u="none" strike="noStrike" kern="0" cap="none" spc="0" normalizeH="0" baseline="0" noProof="0">
              <a:ln>
                <a:noFill/>
              </a:ln>
              <a:solidFill>
                <a:srgbClr val="000000"/>
              </a:solidFill>
              <a:effectLst/>
              <a:uLnTx/>
              <a:uFillTx/>
              <a:latin typeface="Calibri" panose="020F0502020204030204" pitchFamily="34" charset="0"/>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259540346"/>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356764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u="sng">
                <a:effectLst/>
              </a:rPr>
              <a:t>KD32: </a:t>
            </a:r>
            <a:r>
              <a:rPr lang="en-GB" sz="1400" b="1" u="sng" dirty="0">
                <a:effectLst/>
              </a:rPr>
              <a:t>Document Codes Mandating the Completion of Reason</a:t>
            </a:r>
            <a:r>
              <a:rPr lang="en-GB" sz="1400" u="sng" dirty="0"/>
              <a:t>:</a:t>
            </a:r>
          </a:p>
          <a:p>
            <a:pPr>
              <a:defRPr sz="1800" b="0" i="0" u="none" strike="noStrike" kern="0" cap="none" spc="0" baseline="0">
                <a:solidFill>
                  <a:srgbClr val="000000"/>
                </a:solidFill>
                <a:uFillTx/>
              </a:defRPr>
            </a:pPr>
            <a:endParaRPr lang="en-GB" sz="800" dirty="0">
              <a:effectLst/>
              <a:ea typeface="Times New Roman" panose="02020603050405020304" pitchFamily="18" charset="0"/>
            </a:endParaRPr>
          </a:p>
          <a:p>
            <a:pPr>
              <a:defRPr sz="1800" b="0" i="0" u="none" strike="noStrike" kern="0" cap="none" spc="0" baseline="0">
                <a:solidFill>
                  <a:srgbClr val="000000"/>
                </a:solidFill>
                <a:uFillTx/>
              </a:defRPr>
            </a:pPr>
            <a:r>
              <a:rPr lang="en-GB" sz="1400" dirty="0">
                <a:effectLst/>
                <a:ea typeface="Times New Roman" panose="02020603050405020304" pitchFamily="18" charset="0"/>
              </a:rPr>
              <a:t>This functionality looks to resolve KD32 by introducing business rule changes that ensure that the completion of Document Reasons is mandatory for the indicated Document Codes </a:t>
            </a:r>
            <a:r>
              <a:rPr lang="en-GB" sz="1400" dirty="0">
                <a:effectLst/>
                <a:ea typeface="Times New Roman" panose="02020603050405020304" pitchFamily="18" charset="0"/>
                <a:cs typeface="Times New Roman"/>
              </a:rPr>
              <a:t>(as per the attached ‘</a:t>
            </a:r>
            <a:r>
              <a:rPr lang="en-GB" sz="1400" b="1" dirty="0">
                <a:ea typeface="Times New Roman" panose="02020603050405020304" pitchFamily="18" charset="0"/>
                <a:cs typeface="Times New Roman"/>
              </a:rPr>
              <a:t>Document Reasons</a:t>
            </a:r>
            <a:r>
              <a:rPr lang="en-GB" sz="1400" b="1" dirty="0">
                <a:effectLst/>
                <a:ea typeface="Times New Roman" panose="02020603050405020304" pitchFamily="18" charset="0"/>
                <a:cs typeface="Times New Roman"/>
              </a:rPr>
              <a:t>’ </a:t>
            </a:r>
            <a:r>
              <a:rPr lang="en-GB" sz="1400" dirty="0">
                <a:effectLst/>
                <a:ea typeface="Times New Roman" panose="02020603050405020304" pitchFamily="18" charset="0"/>
                <a:cs typeface="Times New Roman"/>
              </a:rPr>
              <a:t>spreadsheet) </a:t>
            </a:r>
            <a:r>
              <a:rPr lang="en-GB" sz="1400" dirty="0">
                <a:effectLst/>
                <a:ea typeface="Times New Roman" panose="02020603050405020304" pitchFamily="18" charset="0"/>
              </a:rPr>
              <a:t>listed in Column A. </a:t>
            </a:r>
            <a:r>
              <a:rPr lang="en-GB" sz="1400" dirty="0">
                <a:ea typeface="Times New Roman" panose="02020603050405020304" pitchFamily="18" charset="0"/>
              </a:rPr>
              <a:t>This is</a:t>
            </a:r>
            <a:r>
              <a:rPr lang="en-GB" sz="1400" i="0" dirty="0">
                <a:effectLst/>
              </a:rPr>
              <a:t> to ensure Document Reasons are correctly mandated so that validation is aligned to the expected behaviour as per the Paper Tariff.</a:t>
            </a:r>
            <a:endParaRPr lang="en-GB" sz="1400" dirty="0">
              <a:cs typeface="Calibri"/>
            </a:endParaRPr>
          </a:p>
          <a:p>
            <a:pPr>
              <a:defRPr sz="1800" b="0" i="0" u="none" strike="noStrike" kern="0" cap="none" spc="0" baseline="0">
                <a:solidFill>
                  <a:srgbClr val="000000"/>
                </a:solidFill>
                <a:uFillTx/>
              </a:defRPr>
            </a:pPr>
            <a:endParaRPr kumimoji="0" lang="en-GB" sz="1400" b="0"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a:lnSpc>
                <a:spcPct val="107000"/>
              </a:lnSpc>
              <a:defRPr/>
            </a:pPr>
            <a:r>
              <a:rPr lang="en-GB" sz="1400" b="1" dirty="0">
                <a:ea typeface="Calibri" panose="020F0502020204030204" pitchFamily="34" charset="0"/>
                <a:cs typeface="Times New Roman"/>
              </a:rPr>
              <a:t>Please note the following</a:t>
            </a:r>
            <a:r>
              <a:rPr kumimoji="0" lang="en-GB" sz="1400" b="1" i="0" u="none" strike="noStrike" kern="1200" cap="none" spc="0" normalizeH="0" baseline="0" noProof="0" dirty="0">
                <a:ln>
                  <a:noFill/>
                </a:ln>
                <a:effectLst/>
                <a:uLnTx/>
                <a:uFillTx/>
                <a:ea typeface="Calibri" panose="020F0502020204030204" pitchFamily="34" charset="0"/>
                <a:cs typeface="Times New Roman"/>
              </a:rPr>
              <a:t>:</a:t>
            </a:r>
            <a:r>
              <a:rPr lang="en-GB" sz="1400" b="1" dirty="0">
                <a:ea typeface="Calibri" panose="020F0502020204030204" pitchFamily="34" charset="0"/>
                <a:cs typeface="Times New Roman"/>
              </a:rPr>
              <a:t> </a:t>
            </a:r>
          </a:p>
          <a:p>
            <a:pPr marL="0" marR="0" lvl="0" indent="0" algn="l" defTabSz="914400" rtl="0" eaLnBrk="1" fontAlgn="auto" latinLnBrk="0" hangingPunct="1">
              <a:lnSpc>
                <a:spcPct val="107000"/>
              </a:lnSpc>
              <a:spcBef>
                <a:spcPts val="0"/>
              </a:spcBef>
              <a:spcAft>
                <a:spcPts val="0"/>
              </a:spcAft>
              <a:buClrTx/>
              <a:buSzTx/>
              <a:buFontTx/>
              <a:buNone/>
              <a:tabLst/>
              <a:defRPr/>
            </a:pPr>
            <a:r>
              <a:rPr lang="en-GB" sz="1400" dirty="0">
                <a:effectLst/>
                <a:ea typeface="Times New Roman" panose="02020603050405020304" pitchFamily="18" charset="0"/>
                <a:cs typeface="Times New Roman"/>
              </a:rPr>
              <a:t>Where a document code indicated in Column A is entered in DE 2/3, the declarant must provide Document Reason (DE 2/3).</a:t>
            </a:r>
            <a:r>
              <a:rPr lang="en-GB" sz="1400" dirty="0">
                <a:ea typeface="Times New Roman" panose="02020603050405020304" pitchFamily="18" charset="0"/>
                <a:cs typeface="Times New Roman"/>
              </a:rPr>
              <a:t> </a:t>
            </a:r>
            <a:endParaRPr lang="en-GB" sz="1400" dirty="0">
              <a:effectLst/>
              <a:ea typeface="Times New Roman" panose="02020603050405020304" pitchFamily="18" charset="0"/>
              <a:cs typeface="Times New Roman" panose="02020603050405020304" pitchFamily="18" charset="0"/>
            </a:endParaRPr>
          </a:p>
          <a:p>
            <a:pPr marL="285750" indent="-285750">
              <a:lnSpc>
                <a:spcPct val="107000"/>
              </a:lnSpc>
              <a:buFont typeface="Arial" panose="020B0604020202020204" pitchFamily="34" charset="0"/>
              <a:buChar char="•"/>
              <a:defRPr/>
            </a:pPr>
            <a:r>
              <a:rPr lang="en-GB" sz="1400" dirty="0">
                <a:effectLst/>
                <a:ea typeface="Times New Roman" panose="02020603050405020304" pitchFamily="18" charset="0"/>
                <a:cs typeface="Times New Roman"/>
              </a:rPr>
              <a:t>Where a document code indicated in Column A is entered in DE 2/3, and a Document Reason is not provided by the declarant, CDS will reject the declaration and send a DMSREJ to the declarant.</a:t>
            </a:r>
          </a:p>
          <a:p>
            <a:pPr marL="285750" indent="-285750">
              <a:lnSpc>
                <a:spcPct val="107000"/>
              </a:lnSpc>
              <a:buFont typeface="Arial" panose="020B0604020202020204" pitchFamily="34" charset="0"/>
              <a:buChar char="•"/>
              <a:defRPr/>
            </a:pPr>
            <a:endParaRPr lang="en-GB" sz="1400" dirty="0">
              <a:ea typeface="Calibri" panose="020F0502020204030204" pitchFamily="34" charset="0"/>
              <a:cs typeface="Times New Roman"/>
            </a:endParaRPr>
          </a:p>
          <a:p>
            <a:pPr marL="285750" indent="-285750">
              <a:lnSpc>
                <a:spcPct val="107000"/>
              </a:lnSpc>
              <a:buFont typeface="Arial" panose="020B0604020202020204" pitchFamily="34" charset="0"/>
              <a:buChar char="•"/>
              <a:defRPr/>
            </a:pPr>
            <a:endParaRPr lang="en-GB" sz="1400" dirty="0">
              <a:effectLst/>
              <a:ea typeface="Calibri" panose="020F0502020204030204" pitchFamily="34" charset="0"/>
              <a:cs typeface="Times New Roman"/>
            </a:endParaRPr>
          </a:p>
          <a:p>
            <a:pPr>
              <a:lnSpc>
                <a:spcPct val="107000"/>
              </a:lnSpc>
              <a:defRPr/>
            </a:pPr>
            <a:endParaRPr lang="en-GB" sz="1400" dirty="0">
              <a:effectLst/>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GB" sz="1400" b="0" i="0" u="none" strike="noStrike" kern="1200" cap="none" spc="0" normalizeH="0" baseline="0" noProof="0" dirty="0">
              <a:ln>
                <a:noFill/>
              </a:ln>
              <a:solidFill>
                <a:srgbClr val="FF0000"/>
              </a:solidFill>
              <a:effectLst/>
              <a:uLnTx/>
              <a:uFillTx/>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dirty="0">
              <a:ln>
                <a:noFill/>
              </a:ln>
              <a:solidFill>
                <a:srgbClr val="000000"/>
              </a:solidFill>
              <a:effectLst/>
              <a:uLnTx/>
              <a:uFillTx/>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4" name="Object 13">
            <a:extLst>
              <a:ext uri="{FF2B5EF4-FFF2-40B4-BE49-F238E27FC236}">
                <a16:creationId xmlns:a16="http://schemas.microsoft.com/office/drawing/2014/main" id="{527C7F13-44C9-46E2-8C11-81C1F27B0432}"/>
              </a:ext>
            </a:extLst>
          </p:cNvPr>
          <p:cNvGraphicFramePr>
            <a:graphicFrameLocks noChangeAspect="1"/>
          </p:cNvGraphicFramePr>
          <p:nvPr/>
        </p:nvGraphicFramePr>
        <p:xfrm>
          <a:off x="10431420" y="248844"/>
          <a:ext cx="1315889" cy="1160541"/>
        </p:xfrm>
        <a:graphic>
          <a:graphicData uri="http://schemas.openxmlformats.org/presentationml/2006/ole">
            <mc:AlternateContent xmlns:mc="http://schemas.openxmlformats.org/markup-compatibility/2006">
              <mc:Choice xmlns:v="urn:schemas-microsoft-com:vml" Requires="v">
                <p:oleObj name="Worksheet" showAsIcon="1" r:id="rId3" imgW="914608" imgH="806335" progId="Excel.Sheet.12">
                  <p:embed/>
                </p:oleObj>
              </mc:Choice>
              <mc:Fallback>
                <p:oleObj name="Worksheet" showAsIcon="1" r:id="rId3" imgW="914608" imgH="806335" progId="Excel.Sheet.12">
                  <p:embed/>
                  <p:pic>
                    <p:nvPicPr>
                      <p:cNvPr id="14" name="Object 13">
                        <a:extLst>
                          <a:ext uri="{FF2B5EF4-FFF2-40B4-BE49-F238E27FC236}">
                            <a16:creationId xmlns:a16="http://schemas.microsoft.com/office/drawing/2014/main" id="{527C7F13-44C9-46E2-8C11-81C1F27B0432}"/>
                          </a:ext>
                        </a:extLst>
                      </p:cNvPr>
                      <p:cNvPicPr/>
                      <p:nvPr/>
                    </p:nvPicPr>
                    <p:blipFill>
                      <a:blip r:embed="rId4"/>
                      <a:stretch>
                        <a:fillRect/>
                      </a:stretch>
                    </p:blipFill>
                    <p:spPr>
                      <a:xfrm>
                        <a:off x="10431420" y="248844"/>
                        <a:ext cx="1315889" cy="1160541"/>
                      </a:xfrm>
                      <a:prstGeom prst="rect">
                        <a:avLst/>
                      </a:prstGeom>
                    </p:spPr>
                  </p:pic>
                </p:oleObj>
              </mc:Fallback>
            </mc:AlternateContent>
          </a:graphicData>
        </a:graphic>
      </p:graphicFrame>
    </p:spTree>
    <p:extLst>
      <p:ext uri="{BB962C8B-B14F-4D97-AF65-F5344CB8AC3E}">
        <p14:creationId xmlns:p14="http://schemas.microsoft.com/office/powerpoint/2010/main" val="106029655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45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287</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319895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dirty="0">
                <a:effectLst/>
              </a:rPr>
              <a:t>KD34: Document Codes Mandating the Completion of ID</a:t>
            </a:r>
            <a:r>
              <a:rPr lang="en-GB" sz="1400" u="sng" dirty="0"/>
              <a:t>:</a:t>
            </a:r>
          </a:p>
          <a:p>
            <a:pPr>
              <a:defRPr sz="1800" b="0" i="0" u="none" strike="noStrike" kern="0" cap="none" spc="0" baseline="0">
                <a:solidFill>
                  <a:srgbClr val="000000"/>
                </a:solidFill>
                <a:uFillTx/>
              </a:defRPr>
            </a:pPr>
            <a:endParaRPr lang="en-GB" sz="800" dirty="0"/>
          </a:p>
          <a:p>
            <a:pPr>
              <a:defRPr sz="1800" b="0" i="0" u="none" strike="noStrike" kern="0" cap="none" spc="0" baseline="0">
                <a:solidFill>
                  <a:srgbClr val="000000"/>
                </a:solidFill>
                <a:uFillTx/>
              </a:defRPr>
            </a:pPr>
            <a:r>
              <a:rPr lang="en-GB" sz="1400" dirty="0"/>
              <a:t>This functionality looks to resolve KD34 by introducing the business rule changes that ensure Document Identifiers (IDs) are mandatory for the indicated Document Codes listed in Column A, as per the attached ‘</a:t>
            </a:r>
            <a:r>
              <a:rPr lang="en-GB" sz="1400" b="1" dirty="0"/>
              <a:t>Document IDs</a:t>
            </a:r>
            <a:r>
              <a:rPr lang="en-GB" sz="1400" dirty="0"/>
              <a:t>’ spreadsheet. This is to ensure that the Document ID is correctly mandated so that validation is aligned to the expected behaviour as per the Paper Tariff.</a:t>
            </a:r>
            <a:endParaRPr lang="en-GB" sz="1400" dirty="0">
              <a:cs typeface="Calibri"/>
            </a:endParaRPr>
          </a:p>
          <a:p>
            <a:pPr lvl="1">
              <a:defRPr sz="1800" b="0" i="0" u="none" strike="noStrike" kern="0" cap="none" spc="0" baseline="0">
                <a:solidFill>
                  <a:srgbClr val="000000"/>
                </a:solidFill>
                <a:uFillTx/>
              </a:defRPr>
            </a:pPr>
            <a:endParaRPr kumimoji="0" lang="en-GB" sz="1400" b="0"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a:lnSpc>
                <a:spcPct val="107000"/>
              </a:lnSpc>
              <a:defRPr/>
            </a:pPr>
            <a:r>
              <a:rPr kumimoji="0" lang="en-GB" sz="1400" b="1" i="0" u="none" strike="noStrike" kern="1200" cap="none" spc="0" normalizeH="0" baseline="0" noProof="0" dirty="0">
                <a:ln>
                  <a:noFill/>
                </a:ln>
                <a:effectLst/>
                <a:uLnTx/>
                <a:uFillTx/>
                <a:ea typeface="Calibri" panose="020F0502020204030204" pitchFamily="34" charset="0"/>
                <a:cs typeface="Times New Roman"/>
              </a:rPr>
              <a:t>Please note the following:</a:t>
            </a:r>
            <a:r>
              <a:rPr lang="en-GB" sz="1400" b="1" dirty="0">
                <a:ea typeface="Calibri" panose="020F0502020204030204" pitchFamily="34" charset="0"/>
                <a:cs typeface="Times New Roman"/>
              </a:rPr>
              <a:t> </a:t>
            </a:r>
            <a:endParaRPr lang="en-GB" sz="1400" b="1"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285750" indent="-285750">
              <a:lnSpc>
                <a:spcPct val="107000"/>
              </a:lnSpc>
              <a:buFont typeface="Arial" panose="020B0604020202020204" pitchFamily="34" charset="0"/>
              <a:buChar char="•"/>
              <a:defRPr/>
            </a:pPr>
            <a:r>
              <a:rPr lang="en-GB" sz="1400" dirty="0">
                <a:effectLst/>
                <a:ea typeface="Times New Roman" panose="02020603050405020304" pitchFamily="18" charset="0"/>
                <a:cs typeface="Times New Roman"/>
              </a:rPr>
              <a:t>Where a document code indicated in Column </a:t>
            </a:r>
            <a:r>
              <a:rPr lang="en-GB" sz="1400" dirty="0">
                <a:ea typeface="Times New Roman" panose="02020603050405020304" pitchFamily="18" charset="0"/>
                <a:cs typeface="Times New Roman"/>
              </a:rPr>
              <a:t>A </a:t>
            </a:r>
            <a:r>
              <a:rPr lang="en-GB" sz="1400" dirty="0">
                <a:effectLst/>
                <a:ea typeface="Times New Roman" panose="02020603050405020304" pitchFamily="18" charset="0"/>
                <a:cs typeface="Times New Roman"/>
              </a:rPr>
              <a:t>is entered in DE 2/3, the declarant must provide Document ID (DE 2/3).</a:t>
            </a:r>
          </a:p>
          <a:p>
            <a:pPr marL="285750" indent="-285750">
              <a:lnSpc>
                <a:spcPct val="107000"/>
              </a:lnSpc>
              <a:buFont typeface="Arial" panose="020B0604020202020204" pitchFamily="34" charset="0"/>
              <a:buChar char="•"/>
              <a:defRPr/>
            </a:pPr>
            <a:r>
              <a:rPr lang="en-GB" sz="1400" dirty="0">
                <a:effectLst/>
                <a:ea typeface="Times New Roman" panose="02020603050405020304" pitchFamily="18" charset="0"/>
                <a:cs typeface="Times New Roman"/>
              </a:rPr>
              <a:t>Where a document code indicated in Column A is entered in DE 2/3, and a Document ID is not provided by the declarant, CDS will reject the declaration and send a DMSREJ notification to the declarant.</a:t>
            </a:r>
          </a:p>
          <a:p>
            <a:pPr marL="285750" indent="-285750">
              <a:lnSpc>
                <a:spcPct val="107000"/>
              </a:lnSpc>
              <a:buFont typeface="Arial" panose="020B0604020202020204" pitchFamily="34" charset="0"/>
              <a:buChar char="•"/>
              <a:defRPr/>
            </a:pPr>
            <a:endParaRPr lang="en-GB" sz="1400" dirty="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GB" sz="1400" b="0"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1200" cap="none" spc="0" normalizeH="0" baseline="0" noProof="0" dirty="0">
              <a:ln>
                <a:noFill/>
              </a:ln>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dirty="0">
              <a:ln>
                <a:noFill/>
              </a:ln>
              <a:effectLst/>
              <a:uLnTx/>
              <a:uFillTx/>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1" name="Object 10">
            <a:extLst>
              <a:ext uri="{FF2B5EF4-FFF2-40B4-BE49-F238E27FC236}">
                <a16:creationId xmlns:a16="http://schemas.microsoft.com/office/drawing/2014/main" id="{56BE9488-56C0-4D7F-97D0-F12F0A9DCDBA}"/>
              </a:ext>
            </a:extLst>
          </p:cNvPr>
          <p:cNvGraphicFramePr>
            <a:graphicFrameLocks noChangeAspect="1"/>
          </p:cNvGraphicFramePr>
          <p:nvPr/>
        </p:nvGraphicFramePr>
        <p:xfrm>
          <a:off x="10449004" y="248844"/>
          <a:ext cx="1298305" cy="1145033"/>
        </p:xfrm>
        <a:graphic>
          <a:graphicData uri="http://schemas.openxmlformats.org/presentationml/2006/ole">
            <mc:AlternateContent xmlns:mc="http://schemas.openxmlformats.org/markup-compatibility/2006">
              <mc:Choice xmlns:v="urn:schemas-microsoft-com:vml" Requires="v">
                <p:oleObj name="Worksheet" showAsIcon="1" r:id="rId3" imgW="914608" imgH="806335" progId="Excel.Sheet.12">
                  <p:embed/>
                </p:oleObj>
              </mc:Choice>
              <mc:Fallback>
                <p:oleObj name="Worksheet" showAsIcon="1" r:id="rId3" imgW="914608" imgH="806335" progId="Excel.Sheet.12">
                  <p:embed/>
                  <p:pic>
                    <p:nvPicPr>
                      <p:cNvPr id="11" name="Object 10">
                        <a:extLst>
                          <a:ext uri="{FF2B5EF4-FFF2-40B4-BE49-F238E27FC236}">
                            <a16:creationId xmlns:a16="http://schemas.microsoft.com/office/drawing/2014/main" id="{56BE9488-56C0-4D7F-97D0-F12F0A9DCDBA}"/>
                          </a:ext>
                        </a:extLst>
                      </p:cNvPr>
                      <p:cNvPicPr/>
                      <p:nvPr/>
                    </p:nvPicPr>
                    <p:blipFill>
                      <a:blip r:embed="rId4"/>
                      <a:stretch>
                        <a:fillRect/>
                      </a:stretch>
                    </p:blipFill>
                    <p:spPr>
                      <a:xfrm>
                        <a:off x="10449004" y="248844"/>
                        <a:ext cx="1298305" cy="1145033"/>
                      </a:xfrm>
                      <a:prstGeom prst="rect">
                        <a:avLst/>
                      </a:prstGeom>
                    </p:spPr>
                  </p:pic>
                </p:oleObj>
              </mc:Fallback>
            </mc:AlternateContent>
          </a:graphicData>
        </a:graphic>
      </p:graphicFrame>
    </p:spTree>
    <p:extLst>
      <p:ext uri="{BB962C8B-B14F-4D97-AF65-F5344CB8AC3E}">
        <p14:creationId xmlns:p14="http://schemas.microsoft.com/office/powerpoint/2010/main" val="3821855668"/>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4661854"/>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dirty="0">
                <a:effectLst/>
              </a:rPr>
              <a:t>KEL 293: Incorrect Mandation of SDE on Supplementary Declarations</a:t>
            </a:r>
            <a:r>
              <a:rPr lang="en-GB" sz="1400" u="sng" dirty="0"/>
              <a:t>:</a:t>
            </a:r>
          </a:p>
          <a:p>
            <a:pPr>
              <a:defRPr sz="1800" b="0" i="0" u="none" strike="noStrike" kern="0" cap="none" spc="0" baseline="0">
                <a:solidFill>
                  <a:srgbClr val="000000"/>
                </a:solidFill>
                <a:uFillTx/>
              </a:defRPr>
            </a:pPr>
            <a:endParaRPr lang="en-GB" sz="800" u="sng" dirty="0">
              <a:cs typeface="Calibri"/>
            </a:endParaRPr>
          </a:p>
          <a:p>
            <a:pPr>
              <a:defRPr sz="1800" b="0" i="0" u="none" strike="noStrike" kern="0" cap="none" spc="0" baseline="0">
                <a:solidFill>
                  <a:srgbClr val="000000"/>
                </a:solidFill>
                <a:uFillTx/>
              </a:defRPr>
            </a:pPr>
            <a:r>
              <a:rPr lang="en-GB" sz="1400" dirty="0"/>
              <a:t>This functionality looks to resolve KEL 293 by introducing a business rules change that allows the entry of SDE at item level as well as at header level. SDE should be allowable at both header and item level for Import Supplementary declarations due to the possibility for aggregation. A single supplementary declaration can be raised by the trader to cover two separate consignments/simplified declarations. In these cases, the trader can enter SDE at header and/or item level. This is to </a:t>
            </a:r>
            <a:r>
              <a:rPr lang="en-GB" sz="1400" b="0" i="0" dirty="0">
                <a:effectLst/>
              </a:rPr>
              <a:t>ensure that the Previous Document Type SDE (DE 2/1) is accepted at either header or item level on Type Y Supplementary Declarations</a:t>
            </a:r>
            <a:r>
              <a:rPr lang="en-GB" sz="1400" dirty="0"/>
              <a:t>, so that </a:t>
            </a:r>
            <a:r>
              <a:rPr lang="en-GB" sz="1400" b="0" i="0" dirty="0">
                <a:effectLst/>
              </a:rPr>
              <a:t>trader declarations are aligned to the expected behaviour as per the Paper Tariff.</a:t>
            </a:r>
            <a:endParaRPr kumimoji="0" lang="en-GB" sz="1400" strike="noStrike" kern="1200" cap="none" spc="0" normalizeH="0" baseline="0" noProof="0" dirty="0">
              <a:ln>
                <a:noFill/>
              </a:ln>
              <a:uLnTx/>
              <a:uFillTx/>
              <a:ea typeface="Calibri" panose="020F0502020204030204" pitchFamily="34" charset="0"/>
              <a:cs typeface="Times New Roman" panose="02020603050405020304" pitchFamily="18" charset="0"/>
            </a:endParaRPr>
          </a:p>
          <a:p>
            <a:pPr lvl="1">
              <a:defRPr sz="1800" b="0" i="0" u="none" strike="noStrike" kern="0" cap="none" spc="0" baseline="0">
                <a:solidFill>
                  <a:srgbClr val="000000"/>
                </a:solidFill>
                <a:uFillTx/>
              </a:defRPr>
            </a:pPr>
            <a:endParaRPr kumimoji="0" lang="en-GB" sz="1400" b="0" i="0"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GB" sz="1400" b="1" i="0" strike="noStrike" kern="1200" cap="none" spc="0" normalizeH="0" baseline="0" noProof="0" dirty="0">
                <a:ln>
                  <a:noFill/>
                </a:ln>
                <a:effectLst/>
                <a:uLnTx/>
                <a:uFillTx/>
                <a:ea typeface="Calibri" panose="020F0502020204030204" pitchFamily="34" charset="0"/>
                <a:cs typeface="Times New Roman" panose="02020603050405020304" pitchFamily="18" charset="0"/>
              </a:rPr>
              <a:t>Please note the following: </a:t>
            </a:r>
          </a:p>
          <a:p>
            <a:pPr marL="285750" indent="-285750" algn="l">
              <a:buFont typeface="Arial" panose="020B0604020202020204" pitchFamily="34" charset="0"/>
              <a:buChar char="•"/>
            </a:pPr>
            <a:r>
              <a:rPr lang="en-GB" sz="1400" b="0" i="0" dirty="0">
                <a:effectLst/>
              </a:rPr>
              <a:t>Where a trader declares SDE at Header level, the SDE at Item level is not mandatory.</a:t>
            </a:r>
          </a:p>
          <a:p>
            <a:pPr marL="285750" indent="-285750" algn="l">
              <a:buFont typeface="Arial" panose="020B0604020202020204" pitchFamily="34" charset="0"/>
              <a:buChar char="•"/>
            </a:pPr>
            <a:r>
              <a:rPr lang="en-GB" sz="1400" b="0" i="0" dirty="0">
                <a:effectLst/>
              </a:rPr>
              <a:t>Where a trader declares SDE at Item level, the SDE at Header level is not mandatory.</a:t>
            </a:r>
          </a:p>
          <a:p>
            <a:pPr marL="285750" indent="-285750" algn="l">
              <a:buFont typeface="Arial" panose="020B0604020202020204" pitchFamily="34" charset="0"/>
              <a:buChar char="•"/>
            </a:pPr>
            <a:r>
              <a:rPr lang="en-GB" sz="1400" b="0" i="0" dirty="0">
                <a:effectLst/>
              </a:rPr>
              <a:t>Where a trader has not entered SDE at Header </a:t>
            </a:r>
            <a:r>
              <a:rPr lang="en-GB" sz="1400" b="1" i="0" dirty="0">
                <a:effectLst/>
              </a:rPr>
              <a:t>or</a:t>
            </a:r>
            <a:r>
              <a:rPr lang="en-GB" sz="1400" b="0" i="0" dirty="0">
                <a:effectLst/>
              </a:rPr>
              <a:t> at Item level, the declaration will be rejected and the trader will receive a DMSREJ notification.</a:t>
            </a:r>
          </a:p>
          <a:p>
            <a:pPr marL="285750" indent="-285750" algn="l">
              <a:buFont typeface="Arial" panose="020B0604020202020204" pitchFamily="34" charset="0"/>
              <a:buChar char="•"/>
            </a:pPr>
            <a:r>
              <a:rPr lang="en-GB" sz="1400" b="0" i="0" dirty="0">
                <a:effectLst/>
              </a:rPr>
              <a:t>Where a trader has entered SDE at both Header and Item level, the declaration </a:t>
            </a:r>
            <a:r>
              <a:rPr lang="en-GB" sz="1400" b="1" i="0" dirty="0">
                <a:effectLst/>
              </a:rPr>
              <a:t>will not </a:t>
            </a:r>
            <a:r>
              <a:rPr lang="en-GB" sz="1400" b="0" i="0" dirty="0">
                <a:effectLst/>
              </a:rPr>
              <a:t>be rejected.</a:t>
            </a:r>
          </a:p>
          <a:p>
            <a:pPr marL="285750" indent="-285750" algn="l">
              <a:buFont typeface="Arial" panose="020B0604020202020204" pitchFamily="34" charset="0"/>
              <a:buChar char="•"/>
            </a:pPr>
            <a:r>
              <a:rPr lang="en-GB" sz="1400" b="0" i="0" dirty="0">
                <a:effectLst/>
              </a:rPr>
              <a:t>Where a trader declares SDE in DE 2/1 at Header level, entry of other valid Previous Document Codes in DE 2/1 at Item or Header level will be allowed.</a:t>
            </a:r>
          </a:p>
          <a:p>
            <a:pPr marL="285750" indent="-285750" algn="l">
              <a:buFont typeface="Arial" panose="020B0604020202020204" pitchFamily="34" charset="0"/>
              <a:buChar char="•"/>
            </a:pPr>
            <a:r>
              <a:rPr lang="en-GB" sz="1400" b="0" i="0" dirty="0">
                <a:effectLst/>
              </a:rPr>
              <a:t>Where a trader declares SDE in DE 2/1 at Item level, the entry of other valid Previous Document Codes in DE 2/1 at Item or Header level will be allowed.</a:t>
            </a:r>
          </a:p>
          <a:p>
            <a:pPr marL="285750" indent="-285750">
              <a:lnSpc>
                <a:spcPct val="107000"/>
              </a:lnSpc>
              <a:buFont typeface="Arial" panose="020B0604020202020204" pitchFamily="34" charset="0"/>
              <a:buChar char="•"/>
              <a:defRPr/>
            </a:pPr>
            <a:endParaRPr lang="en-GB" sz="1400" dirty="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GB" sz="1400" b="0" i="0"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strike="noStrike" kern="1200" cap="none" spc="0" normalizeH="0" baseline="0" noProof="0" dirty="0">
              <a:ln>
                <a:noFill/>
              </a:ln>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strike="noStrike" kern="0" cap="none" spc="0" normalizeH="0" baseline="0" noProof="0" dirty="0">
              <a:ln>
                <a:noFill/>
              </a:ln>
              <a:effectLst/>
              <a:uLnTx/>
              <a:uFillTx/>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3898290661"/>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289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3800079"/>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dirty="0">
                <a:effectLst/>
              </a:rPr>
              <a:t>KEL 375: DE 1/10 &amp; 1/11 Procedure Category Derivation </a:t>
            </a:r>
            <a:r>
              <a:rPr lang="en-GB" sz="1400" b="1" u="sng" dirty="0"/>
              <a:t>C</a:t>
            </a:r>
            <a:r>
              <a:rPr lang="en-GB" sz="1400" b="1" i="0" u="sng" dirty="0">
                <a:effectLst/>
              </a:rPr>
              <a:t>hanges</a:t>
            </a:r>
            <a:r>
              <a:rPr lang="en-GB" sz="1400" u="sng" dirty="0"/>
              <a:t>:</a:t>
            </a:r>
          </a:p>
          <a:p>
            <a:pPr>
              <a:defRPr sz="1800" b="0" i="0" u="none" strike="noStrike" kern="0" cap="none" spc="0" baseline="0">
                <a:solidFill>
                  <a:srgbClr val="000000"/>
                </a:solidFill>
                <a:uFillTx/>
              </a:defRPr>
            </a:pPr>
            <a:endParaRPr lang="en-GB" sz="800" u="sng" dirty="0">
              <a:ea typeface="Calibri" panose="020F0502020204030204" pitchFamily="34" charset="0"/>
              <a:cs typeface="Calibri"/>
            </a:endParaRPr>
          </a:p>
          <a:p>
            <a:pPr>
              <a:defRPr sz="1800" b="0" i="0" u="none" strike="noStrike" kern="0" cap="none" spc="0" baseline="0">
                <a:solidFill>
                  <a:srgbClr val="000000"/>
                </a:solidFill>
                <a:uFillTx/>
              </a:defRPr>
            </a:pPr>
            <a:r>
              <a:rPr lang="en-GB" sz="1400" dirty="0">
                <a:ea typeface="Calibri" panose="020F0502020204030204" pitchFamily="34" charset="0"/>
                <a:cs typeface="Times New Roman"/>
              </a:rPr>
              <a:t>This functionality is to </a:t>
            </a:r>
            <a:r>
              <a:rPr lang="en-GB" sz="1400" i="0" dirty="0">
                <a:effectLst/>
              </a:rPr>
              <a:t>ensure only permitted procedure categories are derived when DE 1/10 Procedure Codes are entered by a trader, so that it accurately reflects the expected behaviour as per the Paper Tariff.</a:t>
            </a:r>
            <a:endParaRPr lang="en-GB" sz="1400" i="0" dirty="0">
              <a:effectLst/>
              <a:cs typeface="Calibri"/>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en-GB" sz="1400" b="1" dirty="0">
              <a:ea typeface="Calibri" panose="020F0502020204030204" pitchFamily="34" charset="0"/>
              <a:cs typeface="Times New Roman" panose="02020603050405020304" pitchFamily="18" charset="0"/>
            </a:endParaRPr>
          </a:p>
          <a:p>
            <a:pPr>
              <a:lnSpc>
                <a:spcPct val="107000"/>
              </a:lnSpc>
              <a:defRPr/>
            </a:pPr>
            <a:r>
              <a:rPr kumimoji="0" lang="en-GB" sz="1400" b="1" i="0" u="none" strike="noStrike" kern="1200" cap="none" spc="0" normalizeH="0" baseline="0" noProof="0" dirty="0">
                <a:ln>
                  <a:noFill/>
                </a:ln>
                <a:effectLst/>
                <a:uLnTx/>
                <a:uFillTx/>
                <a:ea typeface="Calibri" panose="020F0502020204030204" pitchFamily="34" charset="0"/>
                <a:cs typeface="Times New Roman"/>
              </a:rPr>
              <a:t>Please note the following for </a:t>
            </a:r>
            <a:r>
              <a:rPr lang="en-GB" sz="1400" b="1" dirty="0">
                <a:ea typeface="Calibri" panose="020F0502020204030204" pitchFamily="34" charset="0"/>
                <a:cs typeface="Times New Roman"/>
              </a:rPr>
              <a:t>Imports</a:t>
            </a:r>
            <a:r>
              <a:rPr kumimoji="0" lang="en-GB" sz="1400" b="1" i="0" u="none" strike="noStrike" kern="1200" cap="none" spc="0" normalizeH="0" baseline="0" noProof="0" dirty="0">
                <a:ln>
                  <a:noFill/>
                </a:ln>
                <a:effectLst/>
                <a:uLnTx/>
                <a:uFillTx/>
                <a:ea typeface="Calibri" panose="020F0502020204030204" pitchFamily="34" charset="0"/>
                <a:cs typeface="Times New Roman"/>
              </a:rPr>
              <a:t>:</a:t>
            </a:r>
            <a:r>
              <a:rPr lang="en-GB" sz="1400" b="1" dirty="0">
                <a:ea typeface="Calibri" panose="020F0502020204030204" pitchFamily="34" charset="0"/>
                <a:cs typeface="Times New Roman"/>
              </a:rPr>
              <a:t> </a:t>
            </a:r>
            <a:endParaRPr lang="en-GB" sz="1400" b="1"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285750" indent="-285750" algn="l">
              <a:buFont typeface="Arial" panose="020B0604020202020204" pitchFamily="34" charset="0"/>
              <a:buChar char="•"/>
            </a:pPr>
            <a:r>
              <a:rPr lang="en-GB" sz="1400" b="0" i="0" dirty="0">
                <a:effectLst/>
              </a:rPr>
              <a:t>Where a trader declares Previous Procedure Code 11 in DE 1/10 and Declaration Type CO in DE 1/1, </a:t>
            </a:r>
            <a:r>
              <a:rPr lang="en-GB" sz="1400" dirty="0"/>
              <a:t>the </a:t>
            </a:r>
            <a:r>
              <a:rPr lang="en-GB" sz="1400" b="0" i="0" dirty="0">
                <a:effectLst/>
              </a:rPr>
              <a:t>declaration will be rejected and the trader will receive a DMSREJ notification.</a:t>
            </a:r>
            <a:endParaRPr lang="en-GB" sz="1400" b="0" i="0" dirty="0">
              <a:effectLst/>
              <a:cs typeface="Calibri"/>
            </a:endParaRPr>
          </a:p>
          <a:p>
            <a:pPr marL="285750" indent="-285750" algn="l">
              <a:buFont typeface="Arial" panose="020B0604020202020204" pitchFamily="34" charset="0"/>
              <a:buChar char="•"/>
            </a:pPr>
            <a:endParaRPr lang="en-GB" sz="1400" b="0" i="0" dirty="0">
              <a:effectLst/>
            </a:endParaRPr>
          </a:p>
          <a:p>
            <a:r>
              <a:rPr kumimoji="0" lang="en-GB" sz="1400" b="1" i="0" u="none" strike="noStrike" kern="1200" cap="none" spc="0" normalizeH="0" baseline="0" noProof="0" dirty="0">
                <a:ln>
                  <a:noFill/>
                </a:ln>
                <a:effectLst/>
                <a:uLnTx/>
                <a:uFillTx/>
                <a:ea typeface="Calibri" panose="020F0502020204030204" pitchFamily="34" charset="0"/>
                <a:cs typeface="Times New Roman"/>
              </a:rPr>
              <a:t>Please note the following for </a:t>
            </a:r>
            <a:r>
              <a:rPr lang="en-GB" sz="1400" b="1" dirty="0">
                <a:ea typeface="Calibri" panose="020F0502020204030204" pitchFamily="34" charset="0"/>
                <a:cs typeface="Times New Roman"/>
              </a:rPr>
              <a:t>Exports:</a:t>
            </a:r>
          </a:p>
          <a:p>
            <a:pPr marL="285750" indent="-285750">
              <a:buFont typeface="Arial" panose="020B0604020202020204" pitchFamily="34" charset="0"/>
              <a:buChar char="•"/>
            </a:pPr>
            <a:r>
              <a:rPr lang="en-GB" sz="1400" b="0" i="0" dirty="0">
                <a:effectLst/>
              </a:rPr>
              <a:t>Where Procedure Code 3178 is entered in DE 1/10, the declaration will be rejected and the trader will receive a DMSREJ notification.</a:t>
            </a:r>
            <a:endParaRPr lang="en-GB" sz="1400" b="0" i="0" dirty="0">
              <a:effectLst/>
              <a:cs typeface="Calibri"/>
            </a:endParaRPr>
          </a:p>
          <a:p>
            <a:pPr marL="285750" indent="-285750">
              <a:buFont typeface="Arial" panose="020B0604020202020204" pitchFamily="34" charset="0"/>
              <a:buChar char="•"/>
            </a:pPr>
            <a:endParaRPr lang="en-GB" sz="1400" b="0" i="0" dirty="0">
              <a:effectLst/>
            </a:endParaRPr>
          </a:p>
          <a:p>
            <a:r>
              <a:rPr kumimoji="0" lang="en-GB" sz="1400" b="1" i="0" u="none" strike="noStrike" kern="1200" cap="none" spc="0" normalizeH="0" baseline="0" noProof="0" dirty="0">
                <a:ln>
                  <a:noFill/>
                </a:ln>
                <a:effectLst/>
                <a:uLnTx/>
                <a:uFillTx/>
                <a:ea typeface="Calibri" panose="020F0502020204030204" pitchFamily="34" charset="0"/>
                <a:cs typeface="Times New Roman"/>
              </a:rPr>
              <a:t>Please note the following for </a:t>
            </a:r>
            <a:r>
              <a:rPr lang="en-GB" sz="1400" b="1" dirty="0">
                <a:ea typeface="Calibri" panose="020F0502020204030204" pitchFamily="34" charset="0"/>
                <a:cs typeface="Times New Roman"/>
              </a:rPr>
              <a:t>Imports APCs:</a:t>
            </a:r>
          </a:p>
          <a:p>
            <a:pPr marL="285750" indent="-285750">
              <a:buFont typeface="Arial" panose="020B0604020202020204" pitchFamily="34" charset="0"/>
              <a:buChar char="•"/>
            </a:pPr>
            <a:r>
              <a:rPr lang="en-GB" sz="1400" b="0" i="0" dirty="0">
                <a:effectLst/>
              </a:rPr>
              <a:t>Where a trader declares EIR in DE 3/39 and C15 in DE 1/11, the declaration will be rejected and the trader will receive a DMSREJ notification.</a:t>
            </a:r>
            <a:endParaRPr lang="en-GB" sz="1400" b="1" dirty="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GB" sz="1400" b="0"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1200" cap="none" spc="0" normalizeH="0" baseline="0" noProof="0" dirty="0">
              <a:ln>
                <a:noFill/>
              </a:ln>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1" i="0" u="none" strike="noStrike" kern="0" cap="none" spc="0" normalizeH="0" baseline="0" noProof="0" dirty="0">
              <a:ln>
                <a:noFill/>
              </a:ln>
              <a:effectLst/>
              <a:uLnTx/>
              <a:uFillTx/>
              <a:ea typeface="Times New Roman" pitchFamily="18"/>
              <a:cs typeface="Calibri" panose="020F0502020204030204" pitchFamily="34"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1228910164"/>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B37CB744-1ACD-4249-B6D0-03803F36960B}"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290</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296118"/>
            <a:ext cx="11282159" cy="1553630"/>
          </a:xfrm>
          <a:prstGeom prst="rect">
            <a:avLst/>
          </a:prstGeom>
          <a:noFill/>
          <a:ln cap="flat">
            <a:noFill/>
            <a:prstDash val="solid"/>
          </a:ln>
        </p:spPr>
        <p:txBody>
          <a:bodyPr vert="horz" wrap="square" lIns="91440" tIns="45720" rIns="91440" bIns="45720" anchor="t" anchorCtr="0" compatLnSpc="1">
            <a:spAutoFit/>
          </a:bodyPr>
          <a:lstStyle/>
          <a:p>
            <a:pPr algn="l"/>
            <a:r>
              <a:rPr lang="en-GB" sz="1400" b="1" i="0" u="sng" dirty="0">
                <a:effectLst/>
              </a:rPr>
              <a:t>KEL 369: Exports Tariff DE Completion Requirements not coded for use</a:t>
            </a:r>
          </a:p>
          <a:p>
            <a:endParaRPr lang="en-GB" sz="800" b="0" i="0" dirty="0">
              <a:effectLst/>
            </a:endParaRPr>
          </a:p>
          <a:p>
            <a:r>
              <a:rPr lang="en-GB" sz="1400" b="0" i="0" dirty="0">
                <a:effectLst/>
              </a:rPr>
              <a:t>This functionality looks to resolve KEL 369 by introducing business rule changes allowing for the correct configuration of </a:t>
            </a:r>
            <a:r>
              <a:rPr lang="en-GB" sz="1400" dirty="0"/>
              <a:t>DE 5/12</a:t>
            </a:r>
            <a:r>
              <a:rPr lang="en-GB" sz="1400" b="0" i="0" dirty="0">
                <a:effectLst/>
              </a:rPr>
              <a:t>. </a:t>
            </a:r>
            <a:r>
              <a:rPr lang="en-GB" sz="1400" dirty="0"/>
              <a:t>The requirement to declare DE 5/12 on a C21e declaration when using procedure code 0019 will be removed, </a:t>
            </a:r>
            <a:r>
              <a:rPr lang="en-GB" sz="1400" i="0" dirty="0">
                <a:effectLst/>
              </a:rPr>
              <a:t>in accordance with Exports Tariff guidance.</a:t>
            </a:r>
            <a:endParaRPr lang="en-GB" sz="1400" dirty="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en-GB" sz="1400" b="1" dirty="0">
              <a:ea typeface="Calibri" panose="020F0502020204030204" pitchFamily="34" charset="0"/>
              <a:cs typeface="Times New Roman" panose="02020603050405020304" pitchFamily="18" charset="0"/>
            </a:endParaRPr>
          </a:p>
          <a:p>
            <a:pPr>
              <a:lnSpc>
                <a:spcPct val="107000"/>
              </a:lnSpc>
              <a:defRPr/>
            </a:pPr>
            <a:r>
              <a:rPr kumimoji="0" lang="en-GB" sz="1400" b="1" i="0" u="none" strike="noStrike" kern="1200" cap="none" spc="0" normalizeH="0" baseline="0" noProof="0" dirty="0">
                <a:ln>
                  <a:noFill/>
                </a:ln>
                <a:effectLst/>
                <a:uLnTx/>
                <a:uFillTx/>
                <a:ea typeface="Calibri" panose="020F0502020204030204" pitchFamily="34" charset="0"/>
                <a:cs typeface="Times New Roman"/>
              </a:rPr>
              <a:t>Please note the following:</a:t>
            </a:r>
            <a:r>
              <a:rPr lang="en-GB" sz="1400" b="1" dirty="0">
                <a:ea typeface="Calibri" panose="020F0502020204030204" pitchFamily="34" charset="0"/>
                <a:cs typeface="Times New Roman"/>
              </a:rPr>
              <a:t> </a:t>
            </a:r>
            <a:endParaRPr lang="en-GB" sz="1400" b="1"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a:p>
            <a:pPr marL="285750" indent="-285750" algn="l">
              <a:buFont typeface="Arial" panose="020B0604020202020204" pitchFamily="34" charset="0"/>
              <a:buChar char="•"/>
            </a:pPr>
            <a:r>
              <a:rPr lang="en-GB" sz="1400" b="0" i="0" dirty="0">
                <a:effectLst/>
              </a:rPr>
              <a:t>Where Procedure Code 0019 is declared in DE 1/10 on a C21e declaration, the DE 5/12 (Customs Office of Exit) is optional and not mandatory.</a:t>
            </a:r>
            <a:endParaRPr kumimoji="0" lang="en-GB" sz="1400" b="0" i="0" u="none" strike="noStrike" kern="1200" cap="none" spc="0" normalizeH="0" baseline="0" noProof="0" dirty="0">
              <a:ln>
                <a:noFill/>
              </a:ln>
              <a:effectLst/>
              <a:uLnTx/>
              <a:uFillTx/>
              <a:ea typeface="Calibri" panose="020F0502020204030204" pitchFamily="34" charset="0"/>
              <a:cs typeface="Times New Roman" panose="02020603050405020304" pitchFamily="18" charset="0"/>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376105804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extLst>
              <p:ext uri="{D42A27DB-BD31-4B8C-83A1-F6EECF244321}">
                <p14:modId xmlns:p14="http://schemas.microsoft.com/office/powerpoint/2010/main" val="3992749027"/>
              </p:ext>
            </p:extLst>
          </p:nvPr>
        </p:nvGraphicFramePr>
        <p:xfrm>
          <a:off x="475268" y="3771898"/>
          <a:ext cx="11213808" cy="6221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311070">
                <a:tc>
                  <a:txBody>
                    <a:bodyPr/>
                    <a:lstStyle/>
                    <a:p>
                      <a:pPr lvl="0" algn="ctr"/>
                      <a:r>
                        <a:rPr lang="en-GB" sz="1200" dirty="0"/>
                        <a:t>TTM21.1.0 (CDS 3.9.1)</a:t>
                      </a:r>
                    </a:p>
                  </a:txBody>
                  <a:tcPr>
                    <a:solidFill>
                      <a:srgbClr val="595959"/>
                    </a:solidFill>
                  </a:tcPr>
                </a:tc>
                <a:extLst>
                  <a:ext uri="{0D108BD9-81ED-4DB2-BD59-A6C34878D82A}">
                    <a16:rowId xmlns:a16="http://schemas.microsoft.com/office/drawing/2014/main" val="3198895953"/>
                  </a:ext>
                </a:extLst>
              </a:tr>
              <a:tr h="311070">
                <a:tc>
                  <a:txBody>
                    <a:bodyPr/>
                    <a:lstStyle/>
                    <a:p>
                      <a:pPr lvl="0" algn="ctr"/>
                      <a:r>
                        <a:rPr lang="en-GB" sz="1200" b="1" dirty="0">
                          <a:solidFill>
                            <a:srgbClr val="000000"/>
                          </a:solidFill>
                        </a:rPr>
                        <a:t>TT:</a:t>
                      </a:r>
                      <a:r>
                        <a:rPr lang="en-GB" sz="1200" b="0" dirty="0">
                          <a:solidFill>
                            <a:srgbClr val="000000"/>
                          </a:solidFill>
                        </a:rPr>
                        <a:t> 16/02/2023 </a:t>
                      </a:r>
                      <a:r>
                        <a:rPr lang="en-GB" sz="1200" b="1" dirty="0">
                          <a:solidFill>
                            <a:srgbClr val="000000"/>
                          </a:solidFill>
                        </a:rPr>
                        <a:t>TDR: </a:t>
                      </a:r>
                      <a:r>
                        <a:rPr lang="en-GB" sz="1200" b="0" dirty="0">
                          <a:solidFill>
                            <a:srgbClr val="000000"/>
                          </a:solidFill>
                        </a:rPr>
                        <a:t>28/02/2023 </a:t>
                      </a:r>
                      <a:r>
                        <a:rPr lang="en-GB" sz="1200" b="1" dirty="0">
                          <a:solidFill>
                            <a:srgbClr val="000000"/>
                          </a:solidFill>
                        </a:rPr>
                        <a:t>Live: </a:t>
                      </a:r>
                      <a:r>
                        <a:rPr lang="en-GB" sz="1200" b="0" dirty="0">
                          <a:solidFill>
                            <a:srgbClr val="000000"/>
                          </a:solidFill>
                        </a:rPr>
                        <a:t>25/02/2023 </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53002" y="4453718"/>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dirty="0">
                          <a:solidFill>
                            <a:srgbClr val="000000"/>
                          </a:solidFill>
                          <a:latin typeface="+mn-lt"/>
                          <a:hlinkClick r:id="rId3" action="ppaction://hlinksldjump"/>
                        </a:rPr>
                        <a:t>EMRs Sent to Old and New MUCRs</a:t>
                      </a:r>
                      <a:endParaRPr lang="en-GB" sz="1200" b="0" dirty="0">
                        <a:solidFill>
                          <a:srgbClr val="000000"/>
                        </a:solidFill>
                        <a:latin typeface="+mn-lt"/>
                      </a:endParaRPr>
                    </a:p>
                    <a:p>
                      <a:pPr marL="171450" marR="0" lvl="0" indent="-171450" algn="l" rtl="0" fontAlgn="auto" hangingPunct="1">
                        <a:lnSpc>
                          <a:spcPct val="100000"/>
                        </a:lnSpc>
                        <a:spcBef>
                          <a:spcPts val="0"/>
                        </a:spcBef>
                        <a:spcAft>
                          <a:spcPts val="0"/>
                        </a:spcAft>
                        <a:buSzPct val="100000"/>
                        <a:buFont typeface="Arial" pitchFamily="34"/>
                        <a:buChar char="•"/>
                      </a:pPr>
                      <a:endParaRPr lang="en-GB" sz="1200" b="0" i="0" u="sng"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endParaRPr lang="en-GB" sz="1200" b="0" i="0" u="sng" kern="120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endParaRPr lang="en-GB" sz="1200" b="1"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eaLnBrk="1" fontAlgn="auto" latinLnBrk="0" hangingPunct="1">
                        <a:lnSpc>
                          <a:spcPct val="100000"/>
                        </a:lnSpc>
                        <a:spcBef>
                          <a:spcPts val="0"/>
                        </a:spcBef>
                        <a:spcAft>
                          <a:spcPts val="0"/>
                        </a:spcAft>
                        <a:buClrTx/>
                        <a:buSzPct val="100000"/>
                        <a:buFont typeface="Arial" pitchFamily="34"/>
                        <a:buNone/>
                      </a:pPr>
                      <a:endParaRPr lang="en-GB" sz="1200" b="0" i="0" u="sng"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dirty="0">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7730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15F092-1F4D-4947-81BB-BF615C369066}" type="slidenum">
              <a:rPr sz="1200"/>
              <a:t>291</a:t>
            </a:fld>
            <a:endParaRPr lang="en-GB" sz="1200" b="0" i="0" u="none" strike="noStrike" kern="1200" cap="none" spc="0" baseline="0" dirty="0">
              <a:solidFill>
                <a:srgbClr val="000000"/>
              </a:solidFill>
              <a:uFillTx/>
              <a:latin typeface="Calibri"/>
            </a:endParaRPr>
          </a:p>
        </p:txBody>
      </p:sp>
      <p:sp>
        <p:nvSpPr>
          <p:cNvPr id="22" name="Footer Placeholder 1">
            <a:extLst>
              <a:ext uri="{FF2B5EF4-FFF2-40B4-BE49-F238E27FC236}">
                <a16:creationId xmlns:a16="http://schemas.microsoft.com/office/drawing/2014/main" id="{AD050F91-3C87-4395-8E5B-02E584CE285B}"/>
              </a:ext>
            </a:extLst>
          </p:cNvPr>
          <p:cNvSpPr txBox="1"/>
          <p:nvPr/>
        </p:nvSpPr>
        <p:spPr>
          <a:xfrm>
            <a:off x="2951472"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dirty="0">
                <a:solidFill>
                  <a:srgbClr val="000000"/>
                </a:solidFill>
                <a:uFillTx/>
              </a:rPr>
              <a:t> issued CDS Scope Guidance can be found in the </a:t>
            </a:r>
            <a:r>
              <a:rPr lang="en-GB" sz="1400" b="0" i="0" u="none" strike="noStrike" kern="1200" cap="none" spc="0" baseline="0" dirty="0">
                <a:solidFill>
                  <a:srgbClr val="6264A7"/>
                </a:solidFill>
                <a:uFillTx/>
                <a:hlinkClick r:id="rId4"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dirty="0">
                <a:solidFill>
                  <a:srgbClr val="252423"/>
                </a:solidFill>
                <a:uFillTx/>
              </a:rPr>
              <a:t> section of the Customs Declaration Service end-to-end service guide within the HMRC Developer Hub</a:t>
            </a:r>
            <a:r>
              <a:rPr lang="en-GB" sz="1400" b="0" i="0" u="none" strike="noStrike" kern="1200" cap="none" spc="0" baseline="0" dirty="0">
                <a:solidFill>
                  <a:srgbClr val="000000"/>
                </a:solidFill>
                <a:uFillTx/>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ea typeface="Calibri" pitchFamily="34"/>
                <a:cs typeface="Calibri"/>
              </a:rPr>
              <a:t>If you have any questions regarding this release, please send your query to </a:t>
            </a:r>
            <a:r>
              <a:rPr lang="en-GB" sz="1400" b="0" i="0" u="none" strike="noStrike" kern="1200" cap="none" spc="0" baseline="0" dirty="0">
                <a:solidFill>
                  <a:srgbClr val="000000"/>
                </a:solidFill>
                <a:uFillTx/>
                <a:ea typeface="Calibri" pitchFamily="34"/>
                <a:cs typeface="Calibri"/>
                <a:hlinkClick r:id="rId5"/>
              </a:rPr>
              <a:t>SDSTeam@hmrc.gov.uk</a:t>
            </a:r>
            <a:r>
              <a:rPr lang="en-GB" sz="1400" b="0" i="0" u="none" strike="noStrike" kern="1200" cap="none" spc="0" baseline="0" dirty="0">
                <a:solidFill>
                  <a:srgbClr val="000000"/>
                </a:solidFill>
                <a:uFillTx/>
                <a:ea typeface="Calibri" pitchFamily="34"/>
                <a:cs typeface="Calibri"/>
              </a:rPr>
              <a:t>.</a:t>
            </a:r>
          </a:p>
        </p:txBody>
      </p:sp>
      <p:sp>
        <p:nvSpPr>
          <p:cNvPr id="25" name="Oval 16">
            <a:extLst>
              <a:ext uri="{FF2B5EF4-FFF2-40B4-BE49-F238E27FC236}">
                <a16:creationId xmlns:a16="http://schemas.microsoft.com/office/drawing/2014/main" id="{A8C33232-F79D-45B3-BE6F-BBA700429C50}"/>
              </a:ext>
            </a:extLst>
          </p:cNvPr>
          <p:cNvSpPr/>
          <p:nvPr/>
        </p:nvSpPr>
        <p:spPr>
          <a:xfrm>
            <a:off x="502926" y="449049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extLst>
      <p:ext uri="{BB962C8B-B14F-4D97-AF65-F5344CB8AC3E}">
        <p14:creationId xmlns:p14="http://schemas.microsoft.com/office/powerpoint/2010/main" val="1610335550"/>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292</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754"/>
            <a:ext cx="11331303" cy="3108543"/>
          </a:xfrm>
          <a:prstGeom prst="rect">
            <a:avLst/>
          </a:prstGeom>
          <a:noFill/>
          <a:ln cap="flat">
            <a:noFill/>
            <a:prstDash val="solid"/>
          </a:ln>
        </p:spPr>
        <p:txBody>
          <a:bodyPr vert="horz" wrap="square" lIns="91440" tIns="45720" rIns="91440" bIns="45720" anchor="t" anchorCtr="0" compatLnSpc="1">
            <a:spAutoFit/>
          </a:bodyPr>
          <a:lstStyle/>
          <a:p>
            <a:pPr marR="0" lvl="0" algn="l" defTabSz="914400" rtl="0" fontAlgn="auto" hangingPunct="1">
              <a:lnSpc>
                <a:spcPct val="100000"/>
              </a:lnSpc>
              <a:spcBef>
                <a:spcPts val="0"/>
              </a:spcBef>
              <a:spcAft>
                <a:spcPts val="0"/>
              </a:spcAft>
              <a:buSzPct val="100000"/>
              <a:tabLst/>
            </a:pPr>
            <a:r>
              <a:rPr lang="en-GB" sz="1400" b="1" u="sng"/>
              <a:t>EMRs Sent to Old and New MUCRs</a:t>
            </a:r>
          </a:p>
          <a:p>
            <a:pPr>
              <a:buSzPct val="100000"/>
            </a:pPr>
            <a:endParaRPr lang="en-GB" sz="1400"/>
          </a:p>
          <a:p>
            <a:r>
              <a:rPr lang="en-GB" sz="1400"/>
              <a:t>Prior to the introduction of this functionality, if a DUCR/MUCR was disassociated from an existing MUCR as part of an associate request, an EMR would only be sent for the new MUCR. In another scenario, when a DUCR/MUCR was disassociated from an existing MUCR only, the owner of the disassociated DUCR/MUCR would not be updated.</a:t>
            </a:r>
            <a:endParaRPr lang="en-GB"/>
          </a:p>
          <a:p>
            <a:pPr>
              <a:buSzPct val="100000"/>
            </a:pPr>
            <a:endParaRPr lang="en-GB" sz="1400"/>
          </a:p>
          <a:p>
            <a:pPr>
              <a:buSzPct val="100000"/>
            </a:pPr>
            <a:r>
              <a:rPr lang="en-GB" sz="1400"/>
              <a:t>This guidance provides requirements for CDS to correctly:</a:t>
            </a:r>
          </a:p>
          <a:p>
            <a:pPr>
              <a:buSzPct val="100000"/>
            </a:pPr>
            <a:endParaRPr lang="en-GB" sz="1400"/>
          </a:p>
          <a:p>
            <a:pPr marL="285750" indent="-285750">
              <a:buSzPct val="100000"/>
              <a:buFont typeface="Arial" panose="020B0604020202020204" pitchFamily="34" charset="0"/>
              <a:buChar char="•"/>
            </a:pPr>
            <a:r>
              <a:rPr lang="en-GB" sz="1400"/>
              <a:t>Send EMRs for both the old MUCR and the new MUCR when a DUCR/MUCR is disassociated from an existing MUCR and then associated to a new MUCR </a:t>
            </a:r>
          </a:p>
          <a:p>
            <a:pPr marL="285750" indent="-285750">
              <a:buSzPct val="100000"/>
              <a:buFont typeface="Arial" panose="020B0604020202020204" pitchFamily="34" charset="0"/>
              <a:buChar char="•"/>
            </a:pPr>
            <a:r>
              <a:rPr lang="en-GB" sz="1400"/>
              <a:t>Send an ERS/EMR for a dissociated DUCR/MUCR (when there is no immediate re-association to another MUCR)</a:t>
            </a:r>
          </a:p>
          <a:p>
            <a:pPr>
              <a:defRPr sz="1800" b="0" i="0" u="none" strike="noStrike" kern="0" cap="none" spc="0" baseline="0">
                <a:solidFill>
                  <a:srgbClr val="000000"/>
                </a:solidFill>
                <a:uFillTx/>
              </a:defRPr>
            </a:pPr>
            <a:endParaRPr lang="en-GB" sz="1400">
              <a:ea typeface="Times New Roman" pitchFamily="18"/>
              <a:cs typeface="Times New Roman" pitchFamily="18"/>
            </a:endParaRPr>
          </a:p>
          <a:p>
            <a:pPr>
              <a:defRPr sz="1800" b="0" i="0" u="none" strike="noStrike" kern="0" cap="none" spc="0" baseline="0">
                <a:solidFill>
                  <a:srgbClr val="000000"/>
                </a:solidFill>
                <a:uFillTx/>
              </a:defRPr>
            </a:pPr>
            <a:endParaRPr lang="en-GB" sz="1400">
              <a:ea typeface="Times New Roman" pitchFamily="18"/>
              <a:cs typeface="Times New Roman" pitchFamily="18"/>
            </a:endParaRPr>
          </a:p>
          <a:p>
            <a:pPr>
              <a:defRPr sz="1800" b="0" i="0" u="none" strike="noStrike" kern="0" cap="none" spc="0" baseline="0">
                <a:solidFill>
                  <a:srgbClr val="000000"/>
                </a:solidFill>
                <a:uFillTx/>
              </a:defRPr>
            </a:pPr>
            <a:endParaRPr lang="en-GB" sz="1400">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291409134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70698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293</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754"/>
            <a:ext cx="11236719" cy="267765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endParaRPr lang="en-GB" sz="1400" b="1">
              <a:ea typeface="Times New Roman" pitchFamily="18"/>
              <a:cs typeface="Times New Roman"/>
            </a:endParaRPr>
          </a:p>
          <a:p>
            <a:pPr>
              <a:defRPr sz="1800" b="0" i="0" u="none" strike="noStrike" kern="0" cap="none" spc="0" baseline="0">
                <a:solidFill>
                  <a:srgbClr val="000000"/>
                </a:solidFill>
                <a:uFillTx/>
              </a:defRPr>
            </a:pPr>
            <a:r>
              <a:rPr lang="en-GB" sz="1400" b="1" u="none" strike="noStrike" kern="1200" cap="none" spc="0" baseline="0">
                <a:uFillTx/>
                <a:ea typeface="Times New Roman" pitchFamily="18"/>
                <a:cs typeface="Times New Roman"/>
              </a:rPr>
              <a:t>When a DUCR/MUCR is disassociated from an existing MUCR and then associated to a new MUCR, CDS will:</a:t>
            </a:r>
            <a:endParaRPr lang="en-GB" sz="1400" b="1">
              <a:ea typeface="Times New Roman" pitchFamily="18"/>
              <a:cs typeface="Times New Roman"/>
            </a:endParaRPr>
          </a:p>
          <a:p>
            <a:pPr marL="285750" indent="-285750">
              <a:buSzPct val="100000"/>
              <a:buFont typeface="Arial" panose="020B0604020202020204" pitchFamily="34" charset="0"/>
              <a:buChar char="•"/>
            </a:pPr>
            <a:r>
              <a:rPr lang="en-GB" sz="1400"/>
              <a:t>Send an EMR to the owner of the old top parent MUCR where the latest DUCR/MUCR has disassociated from confirming the latest update of their consignment irrespective of status change.</a:t>
            </a:r>
          </a:p>
          <a:p>
            <a:pPr marL="285750" indent="-285750">
              <a:buSzPct val="100000"/>
              <a:buFont typeface="Arial" panose="020B0604020202020204" pitchFamily="34" charset="0"/>
              <a:buChar char="•"/>
            </a:pPr>
            <a:r>
              <a:rPr lang="en-GB" sz="1400"/>
              <a:t>Send an EMR to the owner of the new top parent MUCR where the latest DUCR/MUCR has been associated into confirming the latest update of their consignment irrespective of status change.</a:t>
            </a:r>
          </a:p>
          <a:p>
            <a:pPr>
              <a:buSzPct val="100000"/>
            </a:pPr>
            <a:endParaRPr lang="en-GB" sz="1400"/>
          </a:p>
          <a:p>
            <a:pPr>
              <a:defRPr sz="1800" b="0" i="0" u="none" strike="noStrike" kern="0" cap="none" spc="0" baseline="0">
                <a:solidFill>
                  <a:srgbClr val="000000"/>
                </a:solidFill>
                <a:uFillTx/>
              </a:defRPr>
            </a:pPr>
            <a:r>
              <a:rPr lang="en-GB" sz="1400" b="1" u="none" strike="noStrike" kern="0" cap="none" spc="0" baseline="0">
                <a:uFillTx/>
                <a:ea typeface="Times New Roman" pitchFamily="18"/>
                <a:cs typeface="Times New Roman" pitchFamily="18"/>
              </a:rPr>
              <a:t>When a DUCR/MUCR is disassociated from an existing MUCR,</a:t>
            </a:r>
            <a:r>
              <a:rPr lang="en-GB" sz="1400" b="1" kern="0">
                <a:ea typeface="Times New Roman" pitchFamily="18"/>
                <a:cs typeface="Times New Roman" pitchFamily="18"/>
              </a:rPr>
              <a:t> where there is no immediate re-association to another MUCR, CDS will:</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a:ea typeface="Times New Roman" pitchFamily="18"/>
                <a:cs typeface="Times New Roman" pitchFamily="18"/>
              </a:rPr>
              <a:t>Send an ERS to the owner of the latest disassociated DUCR confirming the latest update of their consignment irrespective of status change.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kern="0">
                <a:ea typeface="Times New Roman" pitchFamily="18"/>
                <a:cs typeface="Times New Roman" pitchFamily="18"/>
              </a:rPr>
              <a:t>Send an EMR to the owner of the latest disassociated MUCR confirming the latest update of their consignment irrespective of status change.</a:t>
            </a:r>
            <a:endParaRPr lang="en-GB" sz="1400">
              <a:ea typeface="Times New Roman" pitchFamily="18"/>
              <a:cs typeface="Times New Roman" pitchFamily="18"/>
            </a:endParaRPr>
          </a:p>
          <a:p>
            <a:pPr>
              <a:defRPr sz="1800" b="0" i="0" u="none" strike="noStrike" kern="0" cap="none" spc="0" baseline="0">
                <a:solidFill>
                  <a:srgbClr val="000000"/>
                </a:solidFill>
                <a:uFillTx/>
              </a:defRPr>
            </a:pPr>
            <a:endParaRPr lang="en-GB" sz="1400">
              <a:ea typeface="Times New Roman" pitchFamily="18"/>
              <a:cs typeface="Times New Roman" pitchFamily="18"/>
            </a:endParaRPr>
          </a:p>
          <a:p>
            <a:pPr>
              <a:defRPr sz="1800" b="0" i="0" u="none" strike="noStrike" kern="0" cap="none" spc="0" baseline="0">
                <a:solidFill>
                  <a:srgbClr val="000000"/>
                </a:solidFill>
                <a:uFillTx/>
              </a:defRPr>
            </a:pPr>
            <a:endParaRPr lang="en-GB" sz="1400">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4159805916"/>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20434">
                <a:tc>
                  <a:txBody>
                    <a:bodyPr/>
                    <a:lstStyle/>
                    <a:p>
                      <a:pPr lvl="0" algn="ctr"/>
                      <a:r>
                        <a:rPr lang="en-GB" sz="1200"/>
                        <a:t>TTM21.0 (CDS 3.9.0)</a:t>
                      </a:r>
                    </a:p>
                  </a:txBody>
                  <a:tcPr>
                    <a:solidFill>
                      <a:srgbClr val="595959"/>
                    </a:solidFill>
                  </a:tcPr>
                </a:tc>
                <a:extLst>
                  <a:ext uri="{0D108BD9-81ED-4DB2-BD59-A6C34878D82A}">
                    <a16:rowId xmlns:a16="http://schemas.microsoft.com/office/drawing/2014/main" val="3198895953"/>
                  </a:ext>
                </a:extLst>
              </a:tr>
              <a:tr h="261975">
                <a:tc>
                  <a:txBody>
                    <a:bodyPr/>
                    <a:lstStyle/>
                    <a:p>
                      <a:pPr lvl="0" algn="ctr"/>
                      <a:r>
                        <a:rPr lang="en-GB" sz="1200" b="1" dirty="0">
                          <a:solidFill>
                            <a:srgbClr val="000000"/>
                          </a:solidFill>
                        </a:rPr>
                        <a:t>TT:</a:t>
                      </a:r>
                      <a:r>
                        <a:rPr lang="en-GB" sz="1200" b="0" dirty="0">
                          <a:solidFill>
                            <a:srgbClr val="000000"/>
                          </a:solidFill>
                        </a:rPr>
                        <a:t> 14/12/22  </a:t>
                      </a:r>
                      <a:r>
                        <a:rPr lang="en-GB" sz="1200" b="1" dirty="0">
                          <a:solidFill>
                            <a:srgbClr val="000000"/>
                          </a:solidFill>
                        </a:rPr>
                        <a:t>TDR: </a:t>
                      </a:r>
                      <a:r>
                        <a:rPr lang="en-GB" sz="1200" b="0" dirty="0">
                          <a:solidFill>
                            <a:srgbClr val="000000"/>
                          </a:solidFill>
                        </a:rPr>
                        <a:t>17/01/23 </a:t>
                      </a:r>
                      <a:r>
                        <a:rPr lang="en-GB" sz="1200" b="1" dirty="0">
                          <a:solidFill>
                            <a:srgbClr val="000000"/>
                          </a:solidFill>
                        </a:rPr>
                        <a:t>Live: </a:t>
                      </a:r>
                      <a:r>
                        <a:rPr lang="en-GB" sz="1200" b="0" dirty="0">
                          <a:solidFill>
                            <a:srgbClr val="000000"/>
                          </a:solidFill>
                        </a:rPr>
                        <a:t>14/01/23</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75268" y="4321855"/>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sng" strike="noStrike" kern="1200" cap="none" spc="0" baseline="0">
                          <a:solidFill>
                            <a:srgbClr val="000000"/>
                          </a:solidFill>
                          <a:uFillTx/>
                          <a:latin typeface="+mn-lt"/>
                          <a:hlinkClick r:id="rId3" action="ppaction://hlinksldjump"/>
                        </a:rPr>
                        <a:t>Digital Application for Reimbursement (Security Claims) </a:t>
                      </a:r>
                      <a:endParaRPr lang="en-GB" sz="1200" b="0" i="0" u="sng" strike="noStrike" kern="1200" cap="none" spc="0" baseline="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sng" kern="1200">
                          <a:solidFill>
                            <a:srgbClr val="000000"/>
                          </a:solidFill>
                          <a:latin typeface="+mn-lt"/>
                          <a:hlinkClick r:id="rId4" action="ppaction://hlinksldjump"/>
                        </a:rPr>
                        <a:t>Population of Missing Fields in DIS Query Response: Currency Matching </a:t>
                      </a:r>
                      <a:endParaRPr lang="en-GB" sz="1200" b="0" i="0" u="sng" kern="120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sng" strike="noStrike" dirty="0">
                          <a:solidFill>
                            <a:srgbClr val="000000"/>
                          </a:solidFill>
                          <a:latin typeface="+mn-lt"/>
                          <a:hlinkClick r:id="rId5" action="ppaction://hlinksldjump"/>
                        </a:rPr>
                        <a:t>Tariff Misalignment: Introducing Tax Type 633 </a:t>
                      </a:r>
                      <a:endParaRPr lang="en-GB" sz="1200" b="1"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sng" strike="noStrike">
                          <a:solidFill>
                            <a:srgbClr val="000000"/>
                          </a:solidFill>
                          <a:latin typeface="+mn-lt"/>
                          <a:hlinkClick r:id="rId6" action="ppaction://hlinksldjump"/>
                        </a:rPr>
                        <a:t>RoW-NI Dual Tariff Complex Solutions: End Use and Preference Mismatch</a:t>
                      </a:r>
                      <a:endParaRPr lang="en-GB" sz="1200" b="0" i="0" u="sng" kern="1200">
                        <a:solidFill>
                          <a:srgbClr val="000000"/>
                        </a:solidFill>
                        <a:latin typeface="+mn-lt"/>
                      </a:endParaRPr>
                    </a:p>
                    <a:p>
                      <a:pPr marL="0" marR="0" lvl="0" indent="0" algn="l" rtl="0" eaLnBrk="1" fontAlgn="auto" latinLnBrk="0" hangingPunct="1">
                        <a:lnSpc>
                          <a:spcPct val="100000"/>
                        </a:lnSpc>
                        <a:spcBef>
                          <a:spcPts val="0"/>
                        </a:spcBef>
                        <a:spcAft>
                          <a:spcPts val="0"/>
                        </a:spcAft>
                        <a:buClrTx/>
                        <a:buSzPct val="100000"/>
                        <a:buFont typeface="Arial" pitchFamily="34"/>
                        <a:buNone/>
                      </a:pPr>
                      <a:endParaRPr lang="en-GB" sz="1200" b="0" i="0" u="sng" strike="noStrike">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sng" strike="noStrike">
                          <a:solidFill>
                            <a:srgbClr val="000000"/>
                          </a:solidFill>
                          <a:latin typeface="+mn-lt"/>
                          <a:hlinkClick r:id="rId7" action="ppaction://hlinksldjump"/>
                        </a:rPr>
                        <a:t>Core GB NI Valuation Methods 2 &amp; 3</a:t>
                      </a:r>
                      <a:endParaRPr lang="en-GB" sz="1200" b="0" u="sng">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sng" dirty="0">
                          <a:solidFill>
                            <a:srgbClr val="242424"/>
                          </a:solidFill>
                          <a:effectLst/>
                          <a:latin typeface="+mn-lt"/>
                          <a:hlinkClick r:id="rId8" action="ppaction://hlinksldjump"/>
                        </a:rPr>
                        <a:t>Using Movement Reference to look up latest EAL /EAA' (Failure to send ERS on DUCR seizures)</a:t>
                      </a:r>
                      <a:endParaRPr lang="en-GB" sz="1200" b="0" i="0" u="sng" dirty="0">
                        <a:solidFill>
                          <a:srgbClr val="242424"/>
                        </a:solidFill>
                        <a:effectLst/>
                        <a:latin typeface="+mn-lt"/>
                      </a:endParaRPr>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lang="en-GB" sz="1200" b="0" i="0" u="sng" dirty="0">
                          <a:solidFill>
                            <a:srgbClr val="0070C0"/>
                          </a:solidFill>
                          <a:effectLst/>
                          <a:latin typeface="+mn-lt"/>
                        </a:rPr>
                        <a:t>Handling XI ARCs</a:t>
                      </a:r>
                    </a:p>
                    <a:p>
                      <a:pPr marL="0" marR="0" lvl="0" indent="0" algn="l" defTabSz="914400" rtl="0" eaLnBrk="1" fontAlgn="auto" latinLnBrk="0" hangingPunct="1">
                        <a:lnSpc>
                          <a:spcPct val="100000"/>
                        </a:lnSpc>
                        <a:spcBef>
                          <a:spcPts val="0"/>
                        </a:spcBef>
                        <a:spcAft>
                          <a:spcPts val="0"/>
                        </a:spcAft>
                        <a:buClrTx/>
                        <a:buSzPct val="100000"/>
                        <a:buNone/>
                        <a:tabLst/>
                        <a:defRPr/>
                      </a:pPr>
                      <a:endParaRPr lang="en-GB" sz="1200" b="0" i="0" u="sng" strike="noStrike" dirty="0">
                        <a:solidFill>
                          <a:srgbClr val="000000"/>
                        </a:solidFill>
                        <a:latin typeface="+mn-lt"/>
                      </a:endParaRPr>
                    </a:p>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3F662CFA-CD8C-435C-A8CE-41E0D8CF08CE}"/>
              </a:ext>
            </a:extLst>
          </p:cNvPr>
          <p:cNvSpPr/>
          <p:nvPr/>
        </p:nvSpPr>
        <p:spPr>
          <a:xfrm>
            <a:off x="546399" y="43868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9635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15F092-1F4D-4947-81BB-BF615C369066}" type="slidenum">
              <a:rPr sz="1200"/>
              <a:t>294</a:t>
            </a:fld>
            <a:endParaRPr lang="en-GB" sz="1200" b="0" i="0" u="none" strike="noStrike" kern="1200" cap="none" spc="0" baseline="0" dirty="0">
              <a:solidFill>
                <a:srgbClr val="000000"/>
              </a:solidFill>
              <a:uFillTx/>
              <a:latin typeface="Calibri"/>
            </a:endParaRPr>
          </a:p>
        </p:txBody>
      </p:sp>
      <p:sp>
        <p:nvSpPr>
          <p:cNvPr id="22" name="Footer Placeholder 1">
            <a:extLst>
              <a:ext uri="{FF2B5EF4-FFF2-40B4-BE49-F238E27FC236}">
                <a16:creationId xmlns:a16="http://schemas.microsoft.com/office/drawing/2014/main" id="{AD050F91-3C87-4395-8E5B-02E584CE285B}"/>
              </a:ext>
            </a:extLst>
          </p:cNvPr>
          <p:cNvSpPr txBox="1"/>
          <p:nvPr/>
        </p:nvSpPr>
        <p:spPr>
          <a:xfrm>
            <a:off x="2951472"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solidFill>
                  <a:srgbClr val="000000"/>
                </a:solidFill>
                <a:uFillTx/>
              </a:rPr>
              <a:t> issued CDS Scope Guidance can be found in the </a:t>
            </a:r>
            <a:r>
              <a:rPr lang="en-GB" sz="1400" b="0" i="0" u="none" strike="noStrike" kern="1200" cap="none" spc="0" baseline="0">
                <a:solidFill>
                  <a:srgbClr val="6264A7"/>
                </a:solidFill>
                <a:uFillTx/>
                <a:hlinkClick r:id="rId9"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a:solidFill>
                  <a:srgbClr val="252423"/>
                </a:solidFill>
                <a:uFillTx/>
              </a:rPr>
              <a:t> section of the Customs Declaration Service end-to-end service guide within the HMRC Developer Hub</a:t>
            </a:r>
            <a:r>
              <a:rPr lang="en-GB" sz="1400" b="0" i="0" u="none" strike="noStrike" kern="1200" cap="none" spc="0" baseline="0">
                <a:solidFill>
                  <a:srgbClr val="000000"/>
                </a:solidFill>
                <a:uFillTx/>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ea typeface="Calibri" pitchFamily="34"/>
                <a:cs typeface="Calibri"/>
              </a:rPr>
              <a:t>If you have any questions regarding this release, please send your query to </a:t>
            </a:r>
            <a:r>
              <a:rPr lang="en-GB" sz="1400" b="0" i="0" u="none" strike="noStrike" kern="1200" cap="none" spc="0" baseline="0">
                <a:solidFill>
                  <a:srgbClr val="000000"/>
                </a:solidFill>
                <a:uFillTx/>
                <a:ea typeface="Calibri" pitchFamily="34"/>
                <a:cs typeface="Calibri"/>
                <a:hlinkClick r:id="rId10"/>
              </a:rPr>
              <a:t>SDSTeam@hmrc.gov.uk</a:t>
            </a:r>
            <a:r>
              <a:rPr lang="en-GB" sz="1400" b="0" i="0" u="none" strike="noStrike" kern="1200" cap="none" spc="0" baseline="0">
                <a:solidFill>
                  <a:srgbClr val="000000"/>
                </a:solidFill>
                <a:uFillTx/>
                <a:ea typeface="Calibri" pitchFamily="34"/>
                <a:cs typeface="Calibri"/>
              </a:rPr>
              <a:t>.</a:t>
            </a:r>
          </a:p>
        </p:txBody>
      </p:sp>
      <p:sp>
        <p:nvSpPr>
          <p:cNvPr id="25" name="Oval 16">
            <a:extLst>
              <a:ext uri="{FF2B5EF4-FFF2-40B4-BE49-F238E27FC236}">
                <a16:creationId xmlns:a16="http://schemas.microsoft.com/office/drawing/2014/main" id="{A8C33232-F79D-45B3-BE6F-BBA700429C50}"/>
              </a:ext>
            </a:extLst>
          </p:cNvPr>
          <p:cNvSpPr/>
          <p:nvPr/>
        </p:nvSpPr>
        <p:spPr>
          <a:xfrm>
            <a:off x="3131664" y="43868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16">
            <a:extLst>
              <a:ext uri="{FF2B5EF4-FFF2-40B4-BE49-F238E27FC236}">
                <a16:creationId xmlns:a16="http://schemas.microsoft.com/office/drawing/2014/main" id="{20B78443-9344-4A32-9FAD-71D2948320A9}"/>
              </a:ext>
            </a:extLst>
          </p:cNvPr>
          <p:cNvSpPr/>
          <p:nvPr/>
        </p:nvSpPr>
        <p:spPr>
          <a:xfrm>
            <a:off x="6093579" y="43868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Oval 16">
            <a:extLst>
              <a:ext uri="{FF2B5EF4-FFF2-40B4-BE49-F238E27FC236}">
                <a16:creationId xmlns:a16="http://schemas.microsoft.com/office/drawing/2014/main" id="{D1D72120-6313-4AF7-96F8-FBF72C8F614D}"/>
              </a:ext>
            </a:extLst>
          </p:cNvPr>
          <p:cNvSpPr/>
          <p:nvPr/>
        </p:nvSpPr>
        <p:spPr>
          <a:xfrm>
            <a:off x="8891326" y="43868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Oval 16">
            <a:extLst>
              <a:ext uri="{FF2B5EF4-FFF2-40B4-BE49-F238E27FC236}">
                <a16:creationId xmlns:a16="http://schemas.microsoft.com/office/drawing/2014/main" id="{442E1BA5-F815-4547-89A9-A425247D35D4}"/>
              </a:ext>
            </a:extLst>
          </p:cNvPr>
          <p:cNvSpPr/>
          <p:nvPr/>
        </p:nvSpPr>
        <p:spPr>
          <a:xfrm>
            <a:off x="546398" y="514586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1" name="Oval 16">
            <a:extLst>
              <a:ext uri="{FF2B5EF4-FFF2-40B4-BE49-F238E27FC236}">
                <a16:creationId xmlns:a16="http://schemas.microsoft.com/office/drawing/2014/main" id="{5A627717-4557-4047-BD5E-B56EA2D6E05E}"/>
              </a:ext>
            </a:extLst>
          </p:cNvPr>
          <p:cNvSpPr/>
          <p:nvPr/>
        </p:nvSpPr>
        <p:spPr>
          <a:xfrm>
            <a:off x="3131663" y="510548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3" name="Oval 16">
            <a:extLst>
              <a:ext uri="{FF2B5EF4-FFF2-40B4-BE49-F238E27FC236}">
                <a16:creationId xmlns:a16="http://schemas.microsoft.com/office/drawing/2014/main" id="{7153D85A-C93D-46EC-9868-9B65002EF0AB}"/>
              </a:ext>
            </a:extLst>
          </p:cNvPr>
          <p:cNvSpPr/>
          <p:nvPr/>
        </p:nvSpPr>
        <p:spPr>
          <a:xfrm>
            <a:off x="6097643" y="51092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extLst>
      <p:ext uri="{BB962C8B-B14F-4D97-AF65-F5344CB8AC3E}">
        <p14:creationId xmlns:p14="http://schemas.microsoft.com/office/powerpoint/2010/main" val="384249803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7CB744-1ACD-4249-B6D0-03803F36960B}" type="slidenum">
              <a:rPr sz="1200"/>
              <a:t>295</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86" y="1302754"/>
            <a:ext cx="11317823" cy="4489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uFillTx/>
              </a:rPr>
              <a:t>Digital Application for Reimbursement (Security Claims)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uFillTx/>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i="0" u="none" strike="noStrike" kern="1200" cap="none" spc="0" baseline="0">
                <a:uFillTx/>
              </a:rPr>
              <a:t>The introduction of this functionality will allow traders to </a:t>
            </a:r>
            <a:r>
              <a:rPr lang="en-GB" sz="1400" i="0" u="none" strike="noStrike" kern="0" cap="none" spc="0" baseline="0">
                <a:uFillTx/>
              </a:rPr>
              <a:t>s</a:t>
            </a:r>
            <a:r>
              <a:rPr lang="en-GB" sz="1400" b="0" i="0" u="none" strike="noStrike" kern="0" cap="none" spc="0" baseline="0">
                <a:uFillTx/>
              </a:rPr>
              <a:t>ubmit a new claim for refund of security via their Financial User Interface (UI). This will be subject to the conditions outlined on the following slides.</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b="1" i="0" u="none" strike="noStrike" kern="1200" cap="none" spc="0" baseline="0">
              <a:uFillTx/>
            </a:endParaRPr>
          </a:p>
          <a:p>
            <a:pPr>
              <a:lnSpc>
                <a:spcPct val="107000"/>
              </a:lnSpc>
              <a:spcAft>
                <a:spcPts val="800"/>
              </a:spcAft>
              <a:defRPr sz="1800" b="0" i="0" u="none" strike="noStrike" kern="0" cap="none" spc="0" baseline="0">
                <a:solidFill>
                  <a:srgbClr val="000000"/>
                </a:solidFill>
                <a:uFillTx/>
              </a:defRPr>
            </a:pPr>
            <a:r>
              <a:rPr lang="en-GB" sz="1400" b="1"/>
              <a:t>S</a:t>
            </a:r>
            <a:r>
              <a:rPr lang="en-GB" sz="1400" b="1" i="0" u="none" strike="noStrike" kern="0" cap="none" spc="0" baseline="0">
                <a:uFillTx/>
              </a:rPr>
              <a:t>ubmitting a claim for refund of security via a digital channel:</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uFillTx/>
              </a:rPr>
              <a:t>Where a trader has chosen to submit a new claim for refund of security, the trader must provide a valid Master Reference Number (MRN) to specify the declaration where the security was taken. If the MRN is invalid, then the trader will be instructed to enter a new MRN.</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uFillTx/>
              </a:rPr>
              <a:t>Where a trader has provided a valid MRN, CDS will check their EORI against any EORI declared in </a:t>
            </a:r>
            <a:r>
              <a:rPr lang="en-GB" sz="1400" b="1" i="0" u="none" strike="noStrike" kern="0" cap="none" spc="0" baseline="0">
                <a:uFillTx/>
              </a:rPr>
              <a:t>D.E. 3/16</a:t>
            </a:r>
            <a:r>
              <a:rPr lang="en-GB" sz="1400" b="0" i="0" u="none" strike="noStrike" kern="0" cap="none" spc="0" baseline="0">
                <a:uFillTx/>
              </a:rPr>
              <a:t> (Importer) or </a:t>
            </a:r>
            <a:r>
              <a:rPr lang="en-GB" sz="1400" b="1" i="0" u="none" strike="noStrike" kern="0" cap="none" spc="0" baseline="0">
                <a:uFillTx/>
              </a:rPr>
              <a:t>D.E. 3/18 </a:t>
            </a:r>
            <a:r>
              <a:rPr lang="en-GB" sz="1400" b="0" i="0" u="none" strike="noStrike" kern="0" cap="none" spc="0" baseline="0">
                <a:uFillTx/>
              </a:rPr>
              <a:t>(Declarant) on the declaration. If the claimant trader’s EORI does not match an EORI declared in either of these data elements, the trader will be permitted to submit a claim for refund of a security on that declaration but no data will be pre-populated by the digital service into the claim and all will need to be entered manually</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uFillTx/>
              </a:rPr>
              <a:t>Where a trader’s EORI has passed validation, they will be able to view the following information for all the securities associated with that MRN. </a:t>
            </a:r>
            <a:endParaRPr lang="en-GB" sz="1400" b="1" i="0" u="none" strike="sngStrike" kern="0" cap="none" spc="0" baseline="0">
              <a:uFillTx/>
            </a:endParaRPr>
          </a:p>
          <a:p>
            <a:pPr marL="1200150" lvl="2" indent="-285750">
              <a:lnSpc>
                <a:spcPct val="107000"/>
              </a:lnSpc>
              <a:buSzPct val="100000"/>
              <a:buFont typeface="Arial" pitchFamily="34"/>
              <a:buChar char="•"/>
              <a:defRPr sz="1800" b="0" i="0" u="none" strike="noStrike" kern="0" cap="none" spc="0" baseline="0">
                <a:solidFill>
                  <a:srgbClr val="000000"/>
                </a:solidFill>
                <a:uFillTx/>
              </a:defRPr>
            </a:pPr>
            <a:r>
              <a:rPr lang="en-GB" sz="1400" b="1" i="0" u="none" strike="noStrike" kern="0" cap="none" spc="0" baseline="0">
                <a:uFillTx/>
              </a:rPr>
              <a:t>Acceptance Date;</a:t>
            </a:r>
          </a:p>
          <a:p>
            <a:pPr marL="1200150" lvl="2" indent="-285750">
              <a:lnSpc>
                <a:spcPct val="107000"/>
              </a:lnSpc>
              <a:buSzPct val="100000"/>
              <a:buFont typeface="Arial" pitchFamily="34"/>
              <a:buChar char="•"/>
              <a:defRPr sz="1800" b="0" i="0" u="none" strike="noStrike" kern="0" cap="none" spc="0" baseline="0">
                <a:solidFill>
                  <a:srgbClr val="000000"/>
                </a:solidFill>
                <a:uFillTx/>
              </a:defRPr>
            </a:pPr>
            <a:r>
              <a:rPr lang="en-GB" sz="1400" b="1" i="0" u="none" strike="noStrike" kern="0" cap="none" spc="0" baseline="0">
                <a:uFillTx/>
              </a:rPr>
              <a:t>Reason for Security;</a:t>
            </a:r>
          </a:p>
          <a:p>
            <a:pPr marL="1200150" lvl="2" indent="-285750">
              <a:lnSpc>
                <a:spcPct val="107000"/>
              </a:lnSpc>
              <a:buSzPct val="100000"/>
              <a:buFont typeface="Arial" pitchFamily="34"/>
              <a:buChar char="•"/>
              <a:defRPr sz="1800" b="0" i="0" u="none" strike="noStrike" kern="0" cap="none" spc="0" baseline="0">
                <a:solidFill>
                  <a:srgbClr val="000000"/>
                </a:solidFill>
                <a:uFillTx/>
              </a:defRPr>
            </a:pPr>
            <a:r>
              <a:rPr lang="en-GB" sz="1400" b="1" i="0" u="none" strike="noStrike" kern="0" cap="none" spc="0" baseline="0">
                <a:uFillTx/>
              </a:rPr>
              <a:t>Total value of Security by tax type;</a:t>
            </a:r>
          </a:p>
          <a:p>
            <a:pPr marL="1200150" lvl="2" indent="-285750">
              <a:lnSpc>
                <a:spcPct val="107000"/>
              </a:lnSpc>
              <a:buSzPct val="100000"/>
              <a:buFont typeface="Arial" pitchFamily="34"/>
              <a:buChar char="•"/>
              <a:defRPr sz="1800" b="0" i="0" u="none" strike="noStrike" kern="0" cap="none" spc="0" baseline="0">
                <a:solidFill>
                  <a:srgbClr val="000000"/>
                </a:solidFill>
                <a:uFillTx/>
              </a:defRPr>
            </a:pPr>
            <a:r>
              <a:rPr lang="en-GB" sz="1400" b="1" i="0" u="none" strike="noStrike" kern="0" cap="none" spc="0" baseline="0">
                <a:uFillTx/>
              </a:rPr>
              <a:t>Payment Method and Payment Reference;</a:t>
            </a:r>
          </a:p>
          <a:p>
            <a:pPr marL="1200150" lvl="2" indent="-285750">
              <a:lnSpc>
                <a:spcPct val="107000"/>
              </a:lnSpc>
              <a:buSzPct val="100000"/>
              <a:buFont typeface="Arial" pitchFamily="34"/>
              <a:buChar char="•"/>
              <a:defRPr sz="1800" b="0" i="0" u="none" strike="noStrike" kern="0" cap="none" spc="0" baseline="0">
                <a:solidFill>
                  <a:srgbClr val="000000"/>
                </a:solidFill>
                <a:uFillTx/>
              </a:defRPr>
            </a:pPr>
            <a:r>
              <a:rPr lang="en-GB" sz="1400" b="1" i="0" u="none" strike="noStrike" kern="0" cap="none" spc="0" baseline="0">
                <a:uFillTx/>
              </a:rPr>
              <a:t>Brought To Account Due Date</a:t>
            </a:r>
            <a:r>
              <a:rPr lang="en-GB" sz="1400" b="0" i="0" u="none" strike="noStrike" kern="0" cap="none" spc="0" baseline="0">
                <a:uFillTx/>
              </a:rPr>
              <a:t> (if applicable).</a:t>
            </a:r>
          </a:p>
          <a:p>
            <a:pPr marL="742950" lvl="1" indent="-285750">
              <a:lnSpc>
                <a:spcPct val="107000"/>
              </a:lnSpc>
              <a:buSzPct val="100000"/>
              <a:buFont typeface="Arial" pitchFamily="34"/>
              <a:buChar char="•"/>
              <a:defRPr sz="1800" b="0" i="0" u="none" strike="noStrike" kern="0" cap="none" spc="0" baseline="0">
                <a:solidFill>
                  <a:srgbClr val="000000"/>
                </a:solidFill>
                <a:uFillTx/>
              </a:defRPr>
            </a:pPr>
            <a:r>
              <a:rPr lang="en-GB" sz="1400" b="0" i="0" u="none" strike="noStrike" kern="0" cap="none" spc="0" baseline="0">
                <a:uFillTx/>
              </a:rPr>
              <a:t>Where there are no securities on the specified declaration, the trader will be informed that there is no security associated with that MRN.</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3">
            <a:extLst>
              <a:ext uri="{FF2B5EF4-FFF2-40B4-BE49-F238E27FC236}">
                <a16:creationId xmlns:a16="http://schemas.microsoft.com/office/drawing/2014/main" id="{4AF71188-6E83-4E9A-801E-396727DF621C}"/>
              </a:ext>
            </a:extLst>
          </p:cNvPr>
          <p:cNvSpPr/>
          <p:nvPr/>
        </p:nvSpPr>
        <p:spPr>
          <a:xfrm>
            <a:off x="446848" y="1302754"/>
            <a:ext cx="11300466" cy="336605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a:latin typeface="Calibri  "/>
              </a:rPr>
              <a:t>S</a:t>
            </a:r>
            <a:r>
              <a:rPr lang="en-GB" sz="1400" b="1" i="0" u="none" strike="noStrike" kern="0" cap="none" spc="0" baseline="0">
                <a:uFillTx/>
                <a:latin typeface="Calibri  "/>
              </a:rPr>
              <a:t>ubmitting a claim for refund of security via a digital channel continued:</a:t>
            </a: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1" i="0" u="none" strike="noStrike" kern="0" cap="none" spc="0" baseline="0">
              <a:uFillTx/>
              <a:latin typeface="Calibri  "/>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uFillTx/>
                <a:latin typeface="Calibri  "/>
              </a:rPr>
              <a:t>Where information regarding the securities for a given MRN have been returned, the trader will be able to select the security for which they would like to submit a refund claim.</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kern="0">
                <a:latin typeface="Calibri  "/>
              </a:rPr>
              <a:t>Traders will not be able to submit refund claims for securities which already have open cases. In this scenario, traders will be informed </a:t>
            </a:r>
            <a:r>
              <a:rPr lang="en-GB" sz="1400" b="0" i="0" u="none" strike="noStrike" kern="0" cap="none" spc="0" baseline="0">
                <a:uFillTx/>
                <a:latin typeface="Calibri  "/>
              </a:rPr>
              <a:t>that there is already an open case for that security and that the open case will require amendment to include the components of the new claim</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kern="0">
                <a:latin typeface="Calibri  "/>
              </a:rPr>
              <a:t>Bank details will be collected (or displayed) when a trader submits a refund claim for a security where a </a:t>
            </a:r>
            <a:r>
              <a:rPr lang="en-GB" sz="1400" b="0" i="0" u="none" strike="noStrike" kern="0" cap="none" spc="0" baseline="0">
                <a:uFillTx/>
                <a:latin typeface="Calibri  "/>
              </a:rPr>
              <a:t>cash coverage method was used to secure the deposit. If bank details are already held for the purposes of HMRC making a reimbursement then these will be displayed but can be amended. If new details are submitted these will be validated prior to acceptance.</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uFillTx/>
                <a:latin typeface="Calibri  "/>
              </a:rPr>
              <a:t>Where a guarantee was used to secure a deposit this is not appropriate and so no bank details will be displayed.</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
              <a:ea typeface="Calibri" pitchFamily="34"/>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br>
              <a:rPr lang="en-GB" sz="1400" b="0" i="0" u="none" strike="noStrike" kern="0" cap="none" spc="0" baseline="0">
                <a:solidFill>
                  <a:srgbClr val="000000"/>
                </a:solidFill>
                <a:uFillTx/>
                <a:latin typeface="Calibri  "/>
              </a:rPr>
            </a:br>
            <a:endParaRPr lang="en-GB" sz="1400" b="0" i="0" u="none" strike="noStrike" kern="1200" cap="none" spc="0" baseline="0">
              <a:solidFill>
                <a:srgbClr val="333333"/>
              </a:solidFill>
              <a:uFillTx/>
              <a:latin typeface="Calibri  "/>
              <a:ea typeface="Times New Roman" pitchFamily="18"/>
              <a:cs typeface="Times New Roman" pitchFamily="18"/>
            </a:endParaRPr>
          </a:p>
        </p:txBody>
      </p:sp>
      <p:cxnSp>
        <p:nvCxnSpPr>
          <p:cNvPr id="2" name="Straight Connector 17">
            <a:extLst>
              <a:ext uri="{FF2B5EF4-FFF2-40B4-BE49-F238E27FC236}">
                <a16:creationId xmlns:a16="http://schemas.microsoft.com/office/drawing/2014/main" id="{83828FE9-7A06-41B8-847F-F4DAC144465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3DAEE88-2BB6-4615-8BE9-3DDCCC766EC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28C377F-C0F8-412E-9069-CCAAA585800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218C2AD-18EB-4AC1-84F3-99136FEF1CBA}"/>
              </a:ext>
            </a:extLst>
          </p:cNvPr>
          <p:cNvSpPr txBox="1"/>
          <p:nvPr/>
        </p:nvSpPr>
        <p:spPr>
          <a:xfrm>
            <a:off x="11675090"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457BD76-C157-4B09-B164-B5DBE3508013}" type="slidenum">
              <a:rPr sz="1200"/>
              <a:t>296</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9F2A8473-F039-46CD-BE73-D2D023F563E0}"/>
              </a:ext>
            </a:extLst>
          </p:cNvPr>
          <p:cNvSpPr txBox="1"/>
          <p:nvPr/>
        </p:nvSpPr>
        <p:spPr>
          <a:xfrm>
            <a:off x="294380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9" name="Rectangle 7">
            <a:extLst>
              <a:ext uri="{FF2B5EF4-FFF2-40B4-BE49-F238E27FC236}">
                <a16:creationId xmlns:a16="http://schemas.microsoft.com/office/drawing/2014/main" id="{87B746DE-A6BF-4917-BE04-20B403F65105}"/>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3">
            <a:extLst>
              <a:ext uri="{FF2B5EF4-FFF2-40B4-BE49-F238E27FC236}">
                <a16:creationId xmlns:a16="http://schemas.microsoft.com/office/drawing/2014/main" id="{4AF71188-6E83-4E9A-801E-396727DF621C}"/>
              </a:ext>
            </a:extLst>
          </p:cNvPr>
          <p:cNvSpPr/>
          <p:nvPr/>
        </p:nvSpPr>
        <p:spPr>
          <a:xfrm>
            <a:off x="431657" y="1314702"/>
            <a:ext cx="11315657" cy="1234697"/>
          </a:xfrm>
          <a:prstGeom prst="rect">
            <a:avLst/>
          </a:prstGeom>
          <a:noFill/>
          <a:ln cap="flat">
            <a:noFill/>
            <a:prstDash val="solid"/>
          </a:ln>
        </p:spPr>
        <p:txBody>
          <a:bodyPr vert="horz" wrap="square" lIns="91440" tIns="45720" rIns="91440" bIns="45720" anchor="t" anchorCtr="0" compatLnSpc="1">
            <a:spAutoFit/>
          </a:bodyPr>
          <a:lstStyle/>
          <a:p>
            <a:pPr>
              <a:lnSpc>
                <a:spcPct val="107000"/>
              </a:lnSpc>
              <a:defRPr sz="1800" b="0" i="0" u="none" strike="noStrike" kern="0" cap="none" spc="0" baseline="0">
                <a:solidFill>
                  <a:srgbClr val="000000"/>
                </a:solidFill>
                <a:uFillTx/>
              </a:defRPr>
            </a:pPr>
            <a:r>
              <a:rPr lang="en-GB" sz="1400" b="1" i="0" u="none" strike="noStrike" kern="1200" cap="none" spc="0" baseline="0">
                <a:uFillTx/>
              </a:rPr>
              <a:t>Mandatory requirements to submit a refun</a:t>
            </a:r>
            <a:r>
              <a:rPr lang="en-GB" sz="1400" b="1"/>
              <a:t>d claim for a security</a:t>
            </a:r>
            <a:r>
              <a:rPr lang="en-GB" sz="1400" b="1" i="0" u="none" strike="noStrike" kern="1200" cap="none" spc="0" baseline="0">
                <a:uFillTx/>
              </a:rPr>
              <a:t>:</a:t>
            </a:r>
          </a:p>
          <a:p>
            <a:pPr>
              <a:lnSpc>
                <a:spcPct val="107000"/>
              </a:lnSpc>
              <a:defRPr sz="1800" b="0" i="0" u="none" strike="noStrike" kern="0" cap="none" spc="0" baseline="0">
                <a:solidFill>
                  <a:srgbClr val="000000"/>
                </a:solidFill>
                <a:uFillTx/>
              </a:defRPr>
            </a:pPr>
            <a:r>
              <a:rPr lang="en-GB" sz="1400" b="1" i="0" u="none" strike="noStrike" kern="1200" cap="none" spc="0" baseline="0">
                <a:uFillTx/>
              </a:rPr>
              <a:t> </a:t>
            </a: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0" cap="none" spc="0" baseline="0">
                <a:uFillTx/>
                <a:cs typeface="Arial" pitchFamily="34"/>
              </a:rPr>
              <a:t>Where a trader has submitted a claim for refund of security the trader will be instructed to upload any supporting documents for their claim. Supporting documentation should be uploaded </a:t>
            </a:r>
            <a:r>
              <a:rPr lang="en-GB" sz="1400" kern="0">
                <a:cs typeface="Arial" pitchFamily="34"/>
              </a:rPr>
              <a:t>via the Secure File Upload Service (SFUS). </a:t>
            </a:r>
            <a:r>
              <a:rPr lang="en-GB" sz="1400"/>
              <a:t>The Reason for Security selected mandates the upload of required associated documentation and supporting information as outlined below. </a:t>
            </a:r>
          </a:p>
        </p:txBody>
      </p:sp>
      <p:cxnSp>
        <p:nvCxnSpPr>
          <p:cNvPr id="2" name="Straight Connector 17">
            <a:extLst>
              <a:ext uri="{FF2B5EF4-FFF2-40B4-BE49-F238E27FC236}">
                <a16:creationId xmlns:a16="http://schemas.microsoft.com/office/drawing/2014/main" id="{83828FE9-7A06-41B8-847F-F4DAC144465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3DAEE88-2BB6-4615-8BE9-3DDCCC766EC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28C377F-C0F8-412E-9069-CCAAA585800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218C2AD-18EB-4AC1-84F3-99136FEF1CBA}"/>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457BD76-C157-4B09-B164-B5DBE3508013}" type="slidenum">
              <a:rPr sz="1200"/>
              <a:t>297</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9F2A8473-F039-46CD-BE73-D2D023F563E0}"/>
              </a:ext>
            </a:extLst>
          </p:cNvPr>
          <p:cNvSpPr txBox="1"/>
          <p:nvPr/>
        </p:nvSpPr>
        <p:spPr>
          <a:xfrm>
            <a:off x="294380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9" name="Rectangle 7">
            <a:extLst>
              <a:ext uri="{FF2B5EF4-FFF2-40B4-BE49-F238E27FC236}">
                <a16:creationId xmlns:a16="http://schemas.microsoft.com/office/drawing/2014/main" id="{87B746DE-A6BF-4917-BE04-20B403F65105}"/>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0">
            <a:extLst>
              <a:ext uri="{FF2B5EF4-FFF2-40B4-BE49-F238E27FC236}">
                <a16:creationId xmlns:a16="http://schemas.microsoft.com/office/drawing/2014/main" id="{2D849CC7-CCC5-4142-B91E-66CCF23E1C84}"/>
              </a:ext>
            </a:extLst>
          </p:cNvPr>
          <p:cNvGraphicFramePr>
            <a:graphicFrameLocks noGrp="1"/>
          </p:cNvGraphicFramePr>
          <p:nvPr/>
        </p:nvGraphicFramePr>
        <p:xfrm>
          <a:off x="1117299" y="2489511"/>
          <a:ext cx="9944371" cy="2651760"/>
        </p:xfrm>
        <a:graphic>
          <a:graphicData uri="http://schemas.openxmlformats.org/drawingml/2006/table">
            <a:tbl>
              <a:tblPr firstRow="1" bandRow="1">
                <a:tableStyleId>{5C22544A-7EE6-4342-B048-85BDC9FD1C3A}</a:tableStyleId>
              </a:tblPr>
              <a:tblGrid>
                <a:gridCol w="3516630">
                  <a:extLst>
                    <a:ext uri="{9D8B030D-6E8A-4147-A177-3AD203B41FA5}">
                      <a16:colId xmlns:a16="http://schemas.microsoft.com/office/drawing/2014/main" val="3251583410"/>
                    </a:ext>
                  </a:extLst>
                </a:gridCol>
                <a:gridCol w="6427741">
                  <a:extLst>
                    <a:ext uri="{9D8B030D-6E8A-4147-A177-3AD203B41FA5}">
                      <a16:colId xmlns:a16="http://schemas.microsoft.com/office/drawing/2014/main" val="547082444"/>
                    </a:ext>
                  </a:extLst>
                </a:gridCol>
              </a:tblGrid>
              <a:tr h="280222">
                <a:tc>
                  <a:txBody>
                    <a:bodyPr/>
                    <a:lstStyle/>
                    <a:p>
                      <a:r>
                        <a:rPr lang="en-GB" sz="1400">
                          <a:solidFill>
                            <a:schemeClr val="bg1"/>
                          </a:solidFill>
                          <a:latin typeface="+mn-lt"/>
                        </a:rPr>
                        <a:t>Reason for Security Selected`</a:t>
                      </a:r>
                    </a:p>
                  </a:txBody>
                  <a:tcPr>
                    <a:solidFill>
                      <a:srgbClr val="009999"/>
                    </a:solidFill>
                  </a:tcPr>
                </a:tc>
                <a:tc>
                  <a:txBody>
                    <a:bodyPr/>
                    <a:lstStyle/>
                    <a:p>
                      <a:r>
                        <a:rPr lang="en-GB" sz="1400">
                          <a:solidFill>
                            <a:schemeClr val="bg1"/>
                          </a:solidFill>
                          <a:latin typeface="+mn-lt"/>
                        </a:rPr>
                        <a:t>Required Associated Documentation for Upload and Supporting Information</a:t>
                      </a:r>
                    </a:p>
                  </a:txBody>
                  <a:tcPr>
                    <a:solidFill>
                      <a:srgbClr val="009999"/>
                    </a:solidFill>
                  </a:tcPr>
                </a:tc>
                <a:extLst>
                  <a:ext uri="{0D108BD9-81ED-4DB2-BD59-A6C34878D82A}">
                    <a16:rowId xmlns:a16="http://schemas.microsoft.com/office/drawing/2014/main" val="1699038973"/>
                  </a:ext>
                </a:extLst>
              </a:tr>
              <a:tr h="630499">
                <a:tc>
                  <a:txBody>
                    <a:bodyPr/>
                    <a:lstStyle/>
                    <a:p>
                      <a:pPr marL="285750" marR="0" lvl="0" indent="-2857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300" b="0" i="0" u="none" strike="noStrike" kern="0" cap="none" spc="0" baseline="0">
                          <a:solidFill>
                            <a:schemeClr val="tx1"/>
                          </a:solidFill>
                          <a:uFillTx/>
                          <a:latin typeface="+mn-lt"/>
                          <a:ea typeface="+mn-ea"/>
                          <a:cs typeface="Times New Roman" pitchFamily="18"/>
                        </a:rPr>
                        <a:t>Missing Document: Preference document</a:t>
                      </a:r>
                    </a:p>
                    <a:p>
                      <a:pPr marL="285750" marR="0" lvl="0" indent="-2857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300" b="0" i="0" u="none" strike="noStrike" kern="0" cap="none" spc="0" baseline="0">
                          <a:solidFill>
                            <a:schemeClr val="tx1"/>
                          </a:solidFill>
                          <a:uFillTx/>
                          <a:latin typeface="+mn-lt"/>
                          <a:ea typeface="+mn-ea"/>
                          <a:cs typeface="Times New Roman" pitchFamily="18"/>
                        </a:rPr>
                        <a:t>Missing Document: Licence quota</a:t>
                      </a:r>
                    </a:p>
                    <a:p>
                      <a:pPr marL="285750" marR="0" lvl="0" indent="-2857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300" b="0" i="0" u="none" strike="noStrike" kern="0" cap="none" spc="0" baseline="0">
                          <a:solidFill>
                            <a:schemeClr val="tx1"/>
                          </a:solidFill>
                          <a:uFillTx/>
                          <a:latin typeface="+mn-lt"/>
                          <a:ea typeface="+mn-ea"/>
                          <a:cs typeface="Times New Roman" pitchFamily="18"/>
                        </a:rPr>
                        <a:t>Missing Document: CSDR</a:t>
                      </a:r>
                      <a:endParaRPr lang="en-GB" sz="1300">
                        <a:solidFill>
                          <a:schemeClr val="tx1"/>
                        </a:solidFill>
                        <a:latin typeface="+mn-lt"/>
                      </a:endParaRPr>
                    </a:p>
                  </a:txBody>
                  <a:tcPr/>
                </a:tc>
                <a:tc>
                  <a:txBody>
                    <a:bodyPr/>
                    <a:lstStyle/>
                    <a:p>
                      <a:r>
                        <a:rPr lang="en-GB" sz="1300" b="0" i="0" u="none" strike="noStrike" kern="0" cap="none" spc="0" baseline="0">
                          <a:solidFill>
                            <a:schemeClr val="tx1"/>
                          </a:solidFill>
                          <a:uFillTx/>
                          <a:latin typeface="+mn-lt"/>
                          <a:ea typeface="+mn-ea"/>
                          <a:cs typeface="Times New Roman" pitchFamily="18"/>
                        </a:rPr>
                        <a:t>A digital copy of the original form</a:t>
                      </a:r>
                      <a:endParaRPr lang="en-GB" sz="1300">
                        <a:solidFill>
                          <a:schemeClr val="tx1"/>
                        </a:solidFill>
                        <a:latin typeface="+mn-lt"/>
                      </a:endParaRPr>
                    </a:p>
                  </a:txBody>
                  <a:tcPr/>
                </a:tc>
                <a:extLst>
                  <a:ext uri="{0D108BD9-81ED-4DB2-BD59-A6C34878D82A}">
                    <a16:rowId xmlns:a16="http://schemas.microsoft.com/office/drawing/2014/main" val="1075117540"/>
                  </a:ext>
                </a:extLst>
              </a:tr>
              <a:tr h="266211">
                <a:tc>
                  <a:txBody>
                    <a:bodyPr/>
                    <a:lstStyle/>
                    <a:p>
                      <a:pPr marL="285750" indent="-285750">
                        <a:buFont typeface="Arial" panose="020B0604020202020204" pitchFamily="34" charset="0"/>
                        <a:buChar char="•"/>
                      </a:pPr>
                      <a:r>
                        <a:rPr lang="en-GB" sz="1300">
                          <a:solidFill>
                            <a:schemeClr val="tx1"/>
                          </a:solidFill>
                          <a:latin typeface="+mn-lt"/>
                        </a:rPr>
                        <a:t>End Use Relief</a:t>
                      </a:r>
                    </a:p>
                  </a:txBody>
                  <a:tcPr/>
                </a:tc>
                <a:tc>
                  <a:txBody>
                    <a:bodyPr/>
                    <a:lstStyle/>
                    <a:p>
                      <a:r>
                        <a:rPr lang="en-GB" sz="1300" b="0" i="0" u="none" strike="noStrike" kern="0" cap="none" spc="0" baseline="0">
                          <a:solidFill>
                            <a:schemeClr val="tx1"/>
                          </a:solidFill>
                          <a:uFillTx/>
                          <a:latin typeface="+mn-lt"/>
                        </a:rPr>
                        <a:t>Bill of Discharge 4 (BoD4) form </a:t>
                      </a:r>
                      <a:endParaRPr lang="en-GB" sz="1300">
                        <a:solidFill>
                          <a:schemeClr val="tx1"/>
                        </a:solidFill>
                        <a:latin typeface="+mn-lt"/>
                      </a:endParaRPr>
                    </a:p>
                  </a:txBody>
                  <a:tcPr/>
                </a:tc>
                <a:extLst>
                  <a:ext uri="{0D108BD9-81ED-4DB2-BD59-A6C34878D82A}">
                    <a16:rowId xmlns:a16="http://schemas.microsoft.com/office/drawing/2014/main" val="1709740140"/>
                  </a:ext>
                </a:extLst>
              </a:tr>
              <a:tr h="630499">
                <a:tc>
                  <a:txBody>
                    <a:bodyPr/>
                    <a:lstStyle/>
                    <a:p>
                      <a:pPr marL="285750" indent="-285750">
                        <a:buFont typeface="Arial" panose="020B0604020202020204" pitchFamily="34" charset="0"/>
                        <a:buChar char="•"/>
                      </a:pPr>
                      <a:r>
                        <a:rPr lang="en-GB" sz="1300" b="0" i="0" u="none" strike="noStrike" kern="0" cap="none" spc="0" baseline="0">
                          <a:solidFill>
                            <a:schemeClr val="tx1"/>
                          </a:solidFill>
                          <a:uFillTx/>
                          <a:latin typeface="+mn-lt"/>
                        </a:rPr>
                        <a:t>Inward Processing Relief</a:t>
                      </a:r>
                      <a:endParaRPr lang="en-GB" sz="1300">
                        <a:solidFill>
                          <a:schemeClr val="tx1"/>
                        </a:solidFill>
                        <a:latin typeface="+mn-lt"/>
                      </a:endParaRPr>
                    </a:p>
                  </a:txBody>
                  <a:tcPr/>
                </a:tc>
                <a:tc>
                  <a:txBody>
                    <a:bodyPr/>
                    <a:lstStyle/>
                    <a:p>
                      <a:r>
                        <a:rPr lang="en-GB" sz="1300" b="0" i="0" u="none" strike="noStrike" kern="0" cap="none" spc="0" baseline="0">
                          <a:solidFill>
                            <a:schemeClr val="tx1"/>
                          </a:solidFill>
                          <a:uFillTx/>
                          <a:latin typeface="+mn-lt"/>
                        </a:rPr>
                        <a:t>Bill of Discharge 3 (BoD3) form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a:solidFill>
                            <a:schemeClr val="tx1"/>
                          </a:solidFill>
                          <a:latin typeface="+mn-lt"/>
                        </a:rPr>
                        <a:t>The trader must also specify a disposal method for 100% of the import before any claim for refund will be accepted</a:t>
                      </a:r>
                    </a:p>
                  </a:txBody>
                  <a:tcPr/>
                </a:tc>
                <a:extLst>
                  <a:ext uri="{0D108BD9-81ED-4DB2-BD59-A6C34878D82A}">
                    <a16:rowId xmlns:a16="http://schemas.microsoft.com/office/drawing/2014/main" val="1290641801"/>
                  </a:ext>
                </a:extLst>
              </a:tr>
              <a:tr h="661966">
                <a:tc>
                  <a:txBody>
                    <a:bodyPr/>
                    <a:lstStyle/>
                    <a:p>
                      <a:pPr marL="285750" indent="-285750">
                        <a:buFont typeface="Arial" panose="020B0604020202020204" pitchFamily="34" charset="0"/>
                        <a:buChar char="•"/>
                      </a:pPr>
                      <a:r>
                        <a:rPr lang="en-GB" sz="1300" b="0" i="0" u="none" strike="noStrike" kern="0" cap="none" spc="0" baseline="0">
                          <a:solidFill>
                            <a:schemeClr val="tx1"/>
                          </a:solidFill>
                          <a:uFillTx/>
                          <a:latin typeface="+mn-lt"/>
                        </a:rPr>
                        <a:t>Temporary Admission</a:t>
                      </a:r>
                      <a:endParaRPr lang="en-GB" sz="1300">
                        <a:solidFill>
                          <a:schemeClr val="tx1"/>
                        </a:solidFill>
                        <a:latin typeface="+mn-lt"/>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0" dirty="0">
                          <a:solidFill>
                            <a:schemeClr val="tx1"/>
                          </a:solidFill>
                          <a:latin typeface="+mn-lt"/>
                          <a:cs typeface="Calibri" panose="020F0502020204030204" pitchFamily="34" charset="0"/>
                        </a:rPr>
                        <a:t>The trader must provide a method of disposal for the import.</a:t>
                      </a:r>
                      <a:endParaRPr lang="en-GB" sz="1300" dirty="0">
                        <a:solidFill>
                          <a:schemeClr val="tx1"/>
                        </a:solidFill>
                        <a:latin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solidFill>
                            <a:schemeClr val="tx1"/>
                          </a:solidFill>
                          <a:effectLst/>
                          <a:latin typeface="+mn-lt"/>
                          <a:ea typeface="+mn-ea"/>
                          <a:cs typeface="Calibri" panose="020F0502020204030204" pitchFamily="34" charset="0"/>
                        </a:rPr>
                        <a:t>If the trader has indicated that Export is the method of disposal then the trader must provide the MRN for the Export declaration for the goods.</a:t>
                      </a:r>
                    </a:p>
                  </a:txBody>
                  <a:tcPr/>
                </a:tc>
                <a:extLst>
                  <a:ext uri="{0D108BD9-81ED-4DB2-BD59-A6C34878D82A}">
                    <a16:rowId xmlns:a16="http://schemas.microsoft.com/office/drawing/2014/main" val="1370805606"/>
                  </a:ext>
                </a:extLst>
              </a:tr>
            </a:tbl>
          </a:graphicData>
        </a:graphic>
      </p:graphicFrame>
      <p:sp>
        <p:nvSpPr>
          <p:cNvPr id="11" name="Rectangle 13">
            <a:extLst>
              <a:ext uri="{FF2B5EF4-FFF2-40B4-BE49-F238E27FC236}">
                <a16:creationId xmlns:a16="http://schemas.microsoft.com/office/drawing/2014/main" id="{29C710EC-704D-4C5C-BA04-A1762384CAA1}"/>
              </a:ext>
            </a:extLst>
          </p:cNvPr>
          <p:cNvSpPr/>
          <p:nvPr/>
        </p:nvSpPr>
        <p:spPr>
          <a:xfrm>
            <a:off x="87773" y="5187419"/>
            <a:ext cx="11438458" cy="954107"/>
          </a:xfrm>
          <a:prstGeom prst="rect">
            <a:avLst/>
          </a:prstGeom>
          <a:noFill/>
          <a:ln cap="flat">
            <a:noFill/>
            <a:prstDash val="solid"/>
          </a:ln>
        </p:spPr>
        <p:txBody>
          <a:bodyPr vert="horz" wrap="square" lIns="91440" tIns="45720" rIns="91440" bIns="45720" anchor="t" anchorCtr="0" compatLnSpc="1">
            <a:spAutoFit/>
          </a:bodyPr>
          <a:lstStyle/>
          <a:p>
            <a:pPr marR="0" lvl="1" algn="l" defTabSz="914400" rtl="0" fontAlgn="auto" hangingPunct="1">
              <a:lnSpc>
                <a:spcPct val="100000"/>
              </a:lnSpc>
              <a:spcBef>
                <a:spcPts val="0"/>
              </a:spcBef>
              <a:spcAft>
                <a:spcPts val="0"/>
              </a:spcAft>
              <a:buSzPct val="100000"/>
              <a:tabLst/>
              <a:defRPr sz="1800" b="0" i="0" u="none" strike="noStrike" kern="0" cap="none" spc="0" baseline="0">
                <a:solidFill>
                  <a:srgbClr val="000000"/>
                </a:solidFill>
                <a:uFillTx/>
              </a:defRPr>
            </a:pPr>
            <a:r>
              <a:rPr lang="en-GB" sz="1400" b="1" i="0" u="none" strike="noStrike" kern="1200" cap="none" spc="0" baseline="0">
                <a:uFillTx/>
                <a:latin typeface="Calibri"/>
              </a:rPr>
              <a:t>Mandatory requirements </a:t>
            </a:r>
            <a:r>
              <a:rPr lang="en-GB" sz="1400" b="1">
                <a:latin typeface="Calibri"/>
              </a:rPr>
              <a:t>for </a:t>
            </a:r>
            <a:r>
              <a:rPr lang="en-GB" sz="1400" b="1" i="0" u="none" strike="noStrike" kern="1200" cap="none" spc="0" baseline="0">
                <a:uFillTx/>
                <a:latin typeface="Calibri"/>
              </a:rPr>
              <a:t>document upload:</a:t>
            </a:r>
            <a:endParaRPr lang="en-GB" sz="1400" b="0" i="0" u="none" strike="noStrike" kern="1200" cap="none" spc="0" baseline="0">
              <a:uFillTx/>
              <a:latin typeface="Calibri"/>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uFillTx/>
                <a:latin typeface="Calibri"/>
              </a:rPr>
              <a:t>Traders must provide an identifier describing the document.</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uFillTx/>
                <a:latin typeface="Calibri"/>
              </a:rPr>
              <a:t>Traders may only upload documents with individual file sizes of up to 9 MB as permitted by the Secure File Upload Service (SFUS).</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kern="0">
                <a:latin typeface="Calibri"/>
              </a:rPr>
              <a:t>Traders may only upload files </a:t>
            </a:r>
            <a:r>
              <a:rPr lang="en-GB" sz="1400">
                <a:latin typeface="Calibri"/>
              </a:rPr>
              <a:t>with</a:t>
            </a:r>
            <a:r>
              <a:rPr lang="en-GB" sz="1400" b="0" i="0" u="none" strike="noStrike" kern="1200" cap="none" spc="0" baseline="0">
                <a:uFillTx/>
                <a:latin typeface="Calibri"/>
              </a:rPr>
              <a:t> </a:t>
            </a:r>
            <a:r>
              <a:rPr lang="en-GB" sz="1400" kern="0">
                <a:latin typeface="Calibri"/>
              </a:rPr>
              <a:t>the f</a:t>
            </a:r>
            <a:r>
              <a:rPr lang="en-GB" sz="1400" b="0" i="0" u="none" strike="noStrike" kern="1200" cap="none" spc="0" baseline="0">
                <a:uFillTx/>
                <a:latin typeface="Calibri"/>
              </a:rPr>
              <a:t>ollowing formats: PDF, image files (JPEG, GIF, PNG, TIFF), emails (.</a:t>
            </a:r>
            <a:r>
              <a:rPr lang="en-GB" sz="1400" b="0" i="0" u="none" strike="noStrike" kern="1200" cap="none" spc="0" baseline="0" err="1">
                <a:uFillTx/>
                <a:latin typeface="Calibri"/>
              </a:rPr>
              <a:t>msg</a:t>
            </a:r>
            <a:r>
              <a:rPr lang="en-GB" sz="1400" b="0" i="0" u="none" strike="noStrike" kern="1200" cap="none" spc="0" baseline="0">
                <a:uFillTx/>
                <a:latin typeface="Calibri"/>
              </a:rPr>
              <a:t>), Word doc, Excel doc</a:t>
            </a:r>
          </a:p>
        </p:txBody>
      </p:sp>
    </p:spTree>
    <p:extLst>
      <p:ext uri="{BB962C8B-B14F-4D97-AF65-F5344CB8AC3E}">
        <p14:creationId xmlns:p14="http://schemas.microsoft.com/office/powerpoint/2010/main" val="198954699"/>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9635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298</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6099" y="1302647"/>
            <a:ext cx="11282159" cy="203619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uFillTx/>
              </a:rPr>
              <a:t>Population of Missing Fields in DIS Query Response: Currency Matching</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a:effectLs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a:effectLst/>
              </a:rPr>
              <a:t>This functionality will augment the CDS query functionality (DIS Full Declaration Query) outlined below.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a:solidFill>
                <a:srgbClr val="000000"/>
              </a:solidFill>
              <a:effectLst/>
              <a:latin typeface="Calibri"/>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solidFill>
                  <a:srgbClr val="0B0C0C"/>
                </a:solidFill>
                <a:effectLst/>
                <a:latin typeface="GDS Transport"/>
              </a:rPr>
              <a:t>When a trader submits a query request:</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solidFill>
                  <a:srgbClr val="0B0C0C"/>
                </a:solidFill>
                <a:effectLst/>
                <a:latin typeface="GDS Transport"/>
              </a:rPr>
              <a:t> </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b="0" i="0">
              <a:solidFill>
                <a:srgbClr val="0B0C0C"/>
              </a:solidFill>
              <a:effectLst/>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pitchFamily="34"/>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1" name="Table 11">
            <a:extLst>
              <a:ext uri="{FF2B5EF4-FFF2-40B4-BE49-F238E27FC236}">
                <a16:creationId xmlns:a16="http://schemas.microsoft.com/office/drawing/2014/main" id="{DF8B8D7A-F848-46B3-B4E6-2E27FB28AB55}"/>
              </a:ext>
            </a:extLst>
          </p:cNvPr>
          <p:cNvGraphicFramePr>
            <a:graphicFrameLocks noGrp="1"/>
          </p:cNvGraphicFramePr>
          <p:nvPr/>
        </p:nvGraphicFramePr>
        <p:xfrm>
          <a:off x="1259726" y="2577564"/>
          <a:ext cx="9654903" cy="2992120"/>
        </p:xfrm>
        <a:graphic>
          <a:graphicData uri="http://schemas.openxmlformats.org/drawingml/2006/table">
            <a:tbl>
              <a:tblPr firstRow="1" bandRow="1">
                <a:tableStyleId>{5C22544A-7EE6-4342-B048-85BDC9FD1C3A}</a:tableStyleId>
              </a:tblPr>
              <a:tblGrid>
                <a:gridCol w="1744617">
                  <a:extLst>
                    <a:ext uri="{9D8B030D-6E8A-4147-A177-3AD203B41FA5}">
                      <a16:colId xmlns:a16="http://schemas.microsoft.com/office/drawing/2014/main" val="2586936409"/>
                    </a:ext>
                  </a:extLst>
                </a:gridCol>
                <a:gridCol w="7910286">
                  <a:extLst>
                    <a:ext uri="{9D8B030D-6E8A-4147-A177-3AD203B41FA5}">
                      <a16:colId xmlns:a16="http://schemas.microsoft.com/office/drawing/2014/main" val="2786507174"/>
                    </a:ext>
                  </a:extLst>
                </a:gridCol>
              </a:tblGrid>
              <a:tr h="370840">
                <a:tc>
                  <a:txBody>
                    <a:bodyPr/>
                    <a:lstStyle/>
                    <a:p>
                      <a:r>
                        <a:rPr lang="en-GB" sz="1400"/>
                        <a:t>Declaration Type</a:t>
                      </a:r>
                    </a:p>
                  </a:txBody>
                  <a:tcPr>
                    <a:solidFill>
                      <a:srgbClr val="009999"/>
                    </a:solidFill>
                  </a:tcPr>
                </a:tc>
                <a:tc>
                  <a:txBody>
                    <a:bodyPr/>
                    <a:lstStyle/>
                    <a:p>
                      <a:r>
                        <a:rPr lang="en-GB" sz="1400"/>
                        <a:t>Details</a:t>
                      </a:r>
                    </a:p>
                  </a:txBody>
                  <a:tcPr>
                    <a:solidFill>
                      <a:srgbClr val="009999"/>
                    </a:solidFill>
                  </a:tcPr>
                </a:tc>
                <a:extLst>
                  <a:ext uri="{0D108BD9-81ED-4DB2-BD59-A6C34878D82A}">
                    <a16:rowId xmlns:a16="http://schemas.microsoft.com/office/drawing/2014/main" val="2936807675"/>
                  </a:ext>
                </a:extLst>
              </a:tr>
              <a:tr h="370840">
                <a:tc>
                  <a:txBody>
                    <a:bodyPr/>
                    <a:lstStyle/>
                    <a:p>
                      <a:r>
                        <a:rPr lang="en-GB" sz="1400">
                          <a:solidFill>
                            <a:schemeClr val="tx1"/>
                          </a:solidFill>
                          <a:latin typeface="+mn-lt"/>
                        </a:rPr>
                        <a:t>Exports Only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Where the “Exit Result” field is populated in the DMS database, and a trader requests Declaration information, then the “Exit Results” will be populated in the “Generated Consignment Details” section of the query response.</a:t>
                      </a:r>
                    </a:p>
                    <a:p>
                      <a:endParaRPr lang="en-GB" sz="1400">
                        <a:solidFill>
                          <a:schemeClr val="tx1"/>
                        </a:solidFill>
                        <a:latin typeface="+mn-lt"/>
                      </a:endParaRPr>
                    </a:p>
                  </a:txBody>
                  <a:tcPr/>
                </a:tc>
                <a:extLst>
                  <a:ext uri="{0D108BD9-81ED-4DB2-BD59-A6C34878D82A}">
                    <a16:rowId xmlns:a16="http://schemas.microsoft.com/office/drawing/2014/main" val="4095024012"/>
                  </a:ext>
                </a:extLst>
              </a:tr>
              <a:tr h="370840">
                <a:tc>
                  <a:txBody>
                    <a:bodyPr/>
                    <a:lstStyle/>
                    <a:p>
                      <a:r>
                        <a:rPr lang="en-GB" sz="1400">
                          <a:solidFill>
                            <a:schemeClr val="tx1"/>
                          </a:solidFill>
                          <a:latin typeface="+mn-lt"/>
                        </a:rPr>
                        <a:t>Imports Only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i="0">
                          <a:solidFill>
                            <a:schemeClr val="tx1"/>
                          </a:solidFill>
                          <a:effectLst/>
                          <a:latin typeface="+mn-lt"/>
                        </a:rPr>
                        <a:t>Where a trader requests Declaration information, and all the declared data is returned then any declared "Calculated Taxes" information held in the DMS Database will be returned in the query response.</a:t>
                      </a:r>
                    </a:p>
                    <a:p>
                      <a:endParaRPr lang="en-GB" sz="1400">
                        <a:solidFill>
                          <a:schemeClr val="tx1"/>
                        </a:solidFill>
                        <a:latin typeface="+mn-lt"/>
                      </a:endParaRPr>
                    </a:p>
                  </a:txBody>
                  <a:tcPr/>
                </a:tc>
                <a:extLst>
                  <a:ext uri="{0D108BD9-81ED-4DB2-BD59-A6C34878D82A}">
                    <a16:rowId xmlns:a16="http://schemas.microsoft.com/office/drawing/2014/main" val="3945487795"/>
                  </a:ext>
                </a:extLst>
              </a:tr>
              <a:tr h="370840">
                <a:tc>
                  <a:txBody>
                    <a:bodyPr/>
                    <a:lstStyle/>
                    <a:p>
                      <a:r>
                        <a:rPr lang="en-GB" sz="1400">
                          <a:solidFill>
                            <a:schemeClr val="tx1"/>
                          </a:solidFill>
                          <a:latin typeface="+mn-lt"/>
                        </a:rPr>
                        <a:t>Exports and Imports</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i="0" dirty="0">
                          <a:solidFill>
                            <a:schemeClr val="tx1"/>
                          </a:solidFill>
                          <a:effectLst/>
                          <a:latin typeface="+mn-lt"/>
                        </a:rPr>
                        <a:t>Where a trader requests Declaration information and all the declared data is returned, then any "Previous Documents" information that is held at item level in the DMS Database will be returned in the query response.</a:t>
                      </a:r>
                    </a:p>
                    <a:p>
                      <a:endParaRPr lang="en-GB" sz="1400" dirty="0">
                        <a:solidFill>
                          <a:schemeClr val="tx1"/>
                        </a:solidFill>
                        <a:latin typeface="+mn-lt"/>
                      </a:endParaRPr>
                    </a:p>
                  </a:txBody>
                  <a:tcPr/>
                </a:tc>
                <a:extLst>
                  <a:ext uri="{0D108BD9-81ED-4DB2-BD59-A6C34878D82A}">
                    <a16:rowId xmlns:a16="http://schemas.microsoft.com/office/drawing/2014/main" val="867160897"/>
                  </a:ext>
                </a:extLst>
              </a:tr>
            </a:tbl>
          </a:graphicData>
        </a:graphic>
      </p:graphicFrame>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299</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6099" y="1302647"/>
            <a:ext cx="11282159" cy="271266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u="sng" dirty="0"/>
              <a:t>Tariff Misalignment: Introducing Tax Type 633</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dirty="0"/>
          </a:p>
          <a:p>
            <a:pPr>
              <a:defRPr sz="1800" b="0" i="0" u="none" strike="noStrike" kern="0" cap="none" spc="0" baseline="0">
                <a:solidFill>
                  <a:srgbClr val="000000"/>
                </a:solidFill>
                <a:uFillTx/>
              </a:defRPr>
            </a:pPr>
            <a:r>
              <a:rPr lang="en-GB" sz="1400" dirty="0"/>
              <a:t>From CDS 3.9.0, traders may use Tax Type 633, Tobacco for Heating, with </a:t>
            </a:r>
            <a:r>
              <a:rPr lang="en-GB" sz="1400" dirty="0" err="1"/>
              <a:t>RoW</a:t>
            </a:r>
            <a:r>
              <a:rPr lang="en-GB" sz="1400" dirty="0"/>
              <a:t>-NI and </a:t>
            </a:r>
            <a:r>
              <a:rPr lang="en-GB" sz="1400" dirty="0" err="1"/>
              <a:t>RoW</a:t>
            </a:r>
            <a:r>
              <a:rPr lang="en-GB" sz="1400" dirty="0"/>
              <a:t>-GB movements. Relevant Excise duties will be calculated accordingly and traders will receive DMSTAX notifications outlining all duties (Customs Duty, VAT and Excise) and securities associated with that declaration. When Excise Relief and/or Suspension is applied, the DMSTAX notification received will also outline any relevant relief and/or suspension.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dirty="0"/>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dirty="0"/>
              <a:t>As per previous functionality on CDS and agreed duty calculation processing, DE 6/17 is not part of the C21i or C21iEIDR data sets therefore X633 would not be declarable on Type J and K declarations.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dirty="0"/>
          </a:p>
          <a:p>
            <a:pPr lvl="0">
              <a:lnSpc>
                <a:spcPct val="107000"/>
              </a:lnSpc>
              <a:buSzPts val="1000"/>
              <a:tabLst>
                <a:tab pos="457200" algn="l"/>
              </a:tabLst>
            </a:pPr>
            <a:r>
              <a:rPr lang="en-GB" sz="1400" b="1" dirty="0">
                <a:effectLst/>
                <a:ea typeface="Times New Roman" panose="02020603050405020304" pitchFamily="18" charset="0"/>
                <a:cs typeface="Times New Roman" panose="02020603050405020304" pitchFamily="18" charset="0"/>
              </a:rPr>
              <a:t>Mandatory Requirements for the use of Tax Type 633</a:t>
            </a:r>
          </a:p>
          <a:p>
            <a:pPr marL="342900" lvl="0" indent="-342900">
              <a:lnSpc>
                <a:spcPct val="107000"/>
              </a:lnSpc>
              <a:buSzPts val="1000"/>
              <a:buFont typeface="Symbol" panose="05050102010706020507" pitchFamily="18" charset="2"/>
              <a:buChar char=""/>
              <a:tabLst>
                <a:tab pos="457200" algn="l"/>
              </a:tabLst>
            </a:pPr>
            <a:r>
              <a:rPr lang="en-GB" sz="1400" dirty="0">
                <a:effectLst/>
                <a:ea typeface="Times New Roman" panose="02020603050405020304" pitchFamily="18" charset="0"/>
                <a:cs typeface="Times New Roman" panose="02020603050405020304" pitchFamily="18" charset="0"/>
              </a:rPr>
              <a:t>Traders must enter Tax Type 633 in DE 4/3</a:t>
            </a:r>
          </a:p>
          <a:p>
            <a:pPr marL="342900" lvl="0" indent="-342900">
              <a:lnSpc>
                <a:spcPct val="107000"/>
              </a:lnSpc>
              <a:buSzPts val="1000"/>
              <a:buFont typeface="Symbol" panose="05050102010706020507" pitchFamily="18" charset="2"/>
              <a:buChar char=""/>
              <a:tabLst>
                <a:tab pos="457200" algn="l"/>
              </a:tabLst>
            </a:pPr>
            <a:r>
              <a:rPr lang="en-GB" sz="1400" dirty="0">
                <a:effectLst/>
                <a:ea typeface="Times New Roman" panose="02020603050405020304" pitchFamily="18" charset="0"/>
                <a:cs typeface="Times New Roman" panose="02020603050405020304" pitchFamily="18" charset="0"/>
              </a:rPr>
              <a:t>National Additional Code X633 must be entered in DE 6/17</a:t>
            </a: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3338876287"/>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857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300</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754"/>
            <a:ext cx="11282159" cy="4390946"/>
          </a:xfrm>
          <a:prstGeom prst="rect">
            <a:avLst/>
          </a:prstGeom>
          <a:noFill/>
          <a:ln cap="flat">
            <a:noFill/>
            <a:prstDash val="solid"/>
          </a:ln>
        </p:spPr>
        <p:txBody>
          <a:bodyPr vert="horz" wrap="square" lIns="91440" tIns="45720" rIns="91440" bIns="45720" anchor="t" anchorCtr="0" compatLnSpc="1">
            <a:spAutoFit/>
          </a:bodyPr>
          <a:lstStyle/>
          <a:p>
            <a:pPr lvl="0">
              <a:spcAft>
                <a:spcPts val="800"/>
              </a:spcAft>
              <a:defRPr sz="1800" b="0" i="0" u="none" strike="noStrike" kern="0" cap="none" spc="0" baseline="0">
                <a:solidFill>
                  <a:srgbClr val="000000"/>
                </a:solidFill>
                <a:uFillTx/>
              </a:defRPr>
            </a:pPr>
            <a:r>
              <a:rPr lang="en-GB" sz="1400" b="1" u="sng" kern="0"/>
              <a:t>Dual Tariff Complex Solutions: End Use/Authorised Use and Preference Mismatch </a:t>
            </a:r>
          </a:p>
          <a:p>
            <a:pPr lvl="0">
              <a:spcAft>
                <a:spcPts val="800"/>
              </a:spcAft>
              <a:defRPr sz="1800" b="0" i="0" u="none" strike="noStrike" kern="0" cap="none" spc="0" baseline="0">
                <a:solidFill>
                  <a:srgbClr val="000000"/>
                </a:solidFill>
                <a:uFillTx/>
              </a:defRPr>
            </a:pPr>
            <a:r>
              <a:rPr lang="en-GB" sz="1400"/>
              <a:t>Since t</a:t>
            </a:r>
            <a:r>
              <a:rPr lang="en-GB" sz="1400" b="0" i="0">
                <a:effectLst/>
              </a:rPr>
              <a:t>he introduction of Dual </a:t>
            </a:r>
            <a:r>
              <a:rPr lang="en-GB" sz="1400"/>
              <a:t>T</a:t>
            </a:r>
            <a:r>
              <a:rPr lang="en-GB" sz="1400" b="0" i="0">
                <a:effectLst/>
              </a:rPr>
              <a:t>ariff </a:t>
            </a:r>
            <a:r>
              <a:rPr lang="en-GB" sz="1400"/>
              <a:t>C</a:t>
            </a:r>
            <a:r>
              <a:rPr lang="en-GB" sz="1400" b="0" i="0">
                <a:effectLst/>
              </a:rPr>
              <a:t>alculations in TTM16.0, </a:t>
            </a:r>
            <a:r>
              <a:rPr lang="en-GB" sz="1400" b="0" i="0" err="1">
                <a:effectLst/>
              </a:rPr>
              <a:t>RoW</a:t>
            </a:r>
            <a:r>
              <a:rPr lang="en-GB" sz="1400" b="0" i="0">
                <a:effectLst/>
              </a:rPr>
              <a:t>-NI declarations have been validated against both the EU and UK Tariff in accordance with the Northern Ireland Protocol. However i</a:t>
            </a:r>
            <a:r>
              <a:rPr lang="en-GB" sz="1400"/>
              <a:t>n the case w</a:t>
            </a:r>
            <a:r>
              <a:rPr lang="en-GB" sz="1400" b="0" i="0">
                <a:effectLst/>
              </a:rPr>
              <a:t>here the EU and UK Tariffs are not in alignment, customs measures </a:t>
            </a:r>
            <a:r>
              <a:rPr lang="en-GB" sz="1400"/>
              <a:t>may not</a:t>
            </a:r>
            <a:r>
              <a:rPr lang="en-GB" sz="1400" b="0" i="0">
                <a:effectLst/>
              </a:rPr>
              <a:t> be validated correctly. The introduction of </a:t>
            </a:r>
            <a:r>
              <a:rPr lang="en-GB" sz="1400" b="1" i="0">
                <a:effectLst/>
              </a:rPr>
              <a:t>Dual Tariff Complex Solutions: End Use/Authorised Use and Preference Mismatch</a:t>
            </a:r>
            <a:r>
              <a:rPr lang="en-GB" sz="1400" b="0" i="0">
                <a:effectLst/>
              </a:rPr>
              <a:t> provides traders with solutions for issues emanating from Dual Tariff Calculations in CDS relevant to End Use/Authorised Use Relief and Preference Mismatch.</a:t>
            </a:r>
          </a:p>
          <a:p>
            <a:pPr>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effectLst/>
              </a:rPr>
              <a:t>Preference Mismatch:</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a:t>Preference functionality allows importers to benefit from a preferential rate of duty, reduced or 0% tariff rate, owing to a (Free) Trade Agreement being in place between two countries/customs regimes. </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effectLst/>
              </a:rPr>
              <a:t>End Use/Authorised Use:</a:t>
            </a:r>
            <a:endParaRPr lang="en-GB" sz="1400" b="1"/>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a:t>End use/Authorised Use Relief allows a favourable rate of duty and/or levy on certain goods imported from non-EU countries, as long as the goods are put to a prescribed use. Traders, if their goods are eligible for End Use/Authorised Use, must be authorised to use End Use/Authorised Use Relief. This authorisation can either be:</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t>A formal authorisation with CCG</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t>An Authorisation by Declaration</a:t>
            </a:r>
          </a:p>
          <a:p>
            <a:pPr marL="742950" lvl="1" indent="-285750">
              <a:buFont typeface="Arial" panose="020B0604020202020204" pitchFamily="34" charset="0"/>
              <a:buChar char="•"/>
              <a:defRPr sz="1800" b="0" i="0" u="none" strike="noStrike" kern="0" cap="none" spc="0" baseline="0">
                <a:solidFill>
                  <a:srgbClr val="000000"/>
                </a:solidFill>
                <a:uFillTx/>
              </a:defRPr>
            </a:pPr>
            <a:endParaRPr lang="en-GB" sz="1400"/>
          </a:p>
          <a:p>
            <a:pPr>
              <a:defRPr sz="1800" b="0" i="0" u="none" strike="noStrike" kern="0" cap="none" spc="0" baseline="0">
                <a:solidFill>
                  <a:srgbClr val="000000"/>
                </a:solidFill>
                <a:uFillTx/>
              </a:defRPr>
            </a:pPr>
            <a:r>
              <a:rPr lang="en-GB" sz="1400"/>
              <a:t>Please note that End Use/Authorised Use Relief may only be claimed on commodities which have an end use measure. Commodity codes with relevant End Use measure types may be found by using the search tool on Tariff.</a:t>
            </a: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4000622149"/>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6445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301</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3742"/>
            <a:ext cx="11282159" cy="4185761"/>
          </a:xfrm>
          <a:prstGeom prst="rect">
            <a:avLst/>
          </a:prstGeom>
          <a:noFill/>
          <a:ln cap="flat">
            <a:noFill/>
            <a:prstDash val="solid"/>
          </a:ln>
        </p:spPr>
        <p:txBody>
          <a:bodyPr vert="horz" wrap="square" lIns="91440" tIns="45720" rIns="91440" bIns="45720" anchor="t" anchorCtr="0" compatLnSpc="1">
            <a:spAutoFit/>
          </a:bodyPr>
          <a:lstStyle/>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a:t>To submit a declaration using Preference Mismatch or End Use/Authorised Use</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a:t>Traders should identify and submit declarations using the relevant additional mandated data elements plus NIIMP. Please find a summary of movement types and data element requirements below.</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a:defRPr sz="1800" b="0" i="0" u="none" strike="noStrike" kern="0" cap="none" spc="0" baseline="0">
                <a:solidFill>
                  <a:srgbClr val="000000"/>
                </a:solidFill>
                <a:uFillTx/>
              </a:defRPr>
            </a:pPr>
            <a:r>
              <a:rPr lang="en-GB" sz="1400"/>
              <a:t>D</a:t>
            </a:r>
            <a:r>
              <a:rPr lang="en-GB" sz="1400" i="0">
                <a:effectLst/>
              </a:rPr>
              <a:t>eclarations will then be validated and, if accepted, duties will be applied based on the AI codes stated as to which Tariff has been applied. If the declaration cannot be validated, it will be rejected and a DMSREJ notification will be issued to the trader.</a:t>
            </a:r>
          </a:p>
          <a:p>
            <a:pPr>
              <a:defRPr sz="1800" b="0" i="0" u="none" strike="noStrike" kern="0" cap="none" spc="0" baseline="0">
                <a:solidFill>
                  <a:srgbClr val="000000"/>
                </a:solidFill>
                <a:uFillTx/>
              </a:defRPr>
            </a:pPr>
            <a:endParaRPr lang="en-GB" sz="1400" i="0">
              <a:effectLst/>
            </a:endParaRPr>
          </a:p>
          <a:p>
            <a:pPr>
              <a:defRPr sz="1800" b="0" i="0" u="none" strike="noStrike" kern="0" cap="none" spc="0" baseline="0">
                <a:solidFill>
                  <a:srgbClr val="000000"/>
                </a:solidFill>
                <a:uFillTx/>
              </a:defRPr>
            </a:pPr>
            <a:r>
              <a:rPr lang="en-GB" sz="1400"/>
              <a:t>Preference Mismatch or End Use/Authorised Use does </a:t>
            </a:r>
            <a:r>
              <a:rPr lang="en-GB" sz="1400" b="1"/>
              <a:t>not</a:t>
            </a:r>
            <a:r>
              <a:rPr lang="en-GB" sz="1400"/>
              <a:t> apply to the following movement scenarios:</a:t>
            </a:r>
            <a:endParaRPr lang="en-GB" sz="1400" b="1" u="sng"/>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1"/>
              <a:t>GB-NI</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1" err="1"/>
              <a:t>RoW</a:t>
            </a:r>
            <a:r>
              <a:rPr lang="en-GB" sz="1400" b="1"/>
              <a:t>-GB</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1" err="1"/>
              <a:t>RoW</a:t>
            </a:r>
            <a:r>
              <a:rPr lang="en-GB" sz="1400" b="1"/>
              <a:t>-NI where there is no mismatch</a:t>
            </a:r>
          </a:p>
          <a:p>
            <a:pPr>
              <a:defRPr sz="1800" b="0" i="0" u="none" strike="noStrike" kern="0" cap="none" spc="0" baseline="0">
                <a:solidFill>
                  <a:srgbClr val="000000"/>
                </a:solidFill>
                <a:uFillTx/>
              </a:defRPr>
            </a:pPr>
            <a:endParaRPr lang="en-GB" sz="1400" b="1" u="sng">
              <a:solidFill>
                <a:srgbClr val="0B0C0C"/>
              </a:solidFill>
              <a:latin typeface="GDS Transport"/>
            </a:endParaRPr>
          </a:p>
          <a:p>
            <a:pPr>
              <a:defRPr sz="1800" b="0" i="0" u="none" strike="noStrike" kern="0" cap="none" spc="0" baseline="0">
                <a:solidFill>
                  <a:srgbClr val="000000"/>
                </a:solidFill>
                <a:uFillTx/>
              </a:defRPr>
            </a:pPr>
            <a:endParaRPr lang="en-GB" sz="1400">
              <a:solidFill>
                <a:srgbClr val="0B0C0C"/>
              </a:solidFill>
              <a:latin typeface="GDS Transport"/>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2" name="Table 11">
            <a:extLst>
              <a:ext uri="{FF2B5EF4-FFF2-40B4-BE49-F238E27FC236}">
                <a16:creationId xmlns:a16="http://schemas.microsoft.com/office/drawing/2014/main" id="{48441AF6-76CA-43FD-9FD9-33D705159FD1}"/>
              </a:ext>
            </a:extLst>
          </p:cNvPr>
          <p:cNvGraphicFramePr>
            <a:graphicFrameLocks noGrp="1"/>
          </p:cNvGraphicFramePr>
          <p:nvPr/>
        </p:nvGraphicFramePr>
        <p:xfrm>
          <a:off x="726128" y="2108500"/>
          <a:ext cx="10378135" cy="1249680"/>
        </p:xfrm>
        <a:graphic>
          <a:graphicData uri="http://schemas.openxmlformats.org/drawingml/2006/table">
            <a:tbl>
              <a:tblPr firstRow="1" bandRow="1">
                <a:tableStyleId>{5C22544A-7EE6-4342-B048-85BDC9FD1C3A}</a:tableStyleId>
              </a:tblPr>
              <a:tblGrid>
                <a:gridCol w="1058677">
                  <a:extLst>
                    <a:ext uri="{9D8B030D-6E8A-4147-A177-3AD203B41FA5}">
                      <a16:colId xmlns:a16="http://schemas.microsoft.com/office/drawing/2014/main" val="3854544710"/>
                    </a:ext>
                  </a:extLst>
                </a:gridCol>
                <a:gridCol w="9319458">
                  <a:extLst>
                    <a:ext uri="{9D8B030D-6E8A-4147-A177-3AD203B41FA5}">
                      <a16:colId xmlns:a16="http://schemas.microsoft.com/office/drawing/2014/main" val="1640349056"/>
                    </a:ext>
                  </a:extLst>
                </a:gridCol>
              </a:tblGrid>
              <a:tr h="0">
                <a:tc>
                  <a:txBody>
                    <a:bodyPr/>
                    <a:lstStyle/>
                    <a:p>
                      <a:r>
                        <a:rPr lang="en-GB" sz="1400">
                          <a:latin typeface="+mn-lt"/>
                        </a:rPr>
                        <a:t>Movement</a:t>
                      </a:r>
                    </a:p>
                  </a:txBody>
                  <a:tcPr>
                    <a:solidFill>
                      <a:srgbClr val="009999"/>
                    </a:solidFill>
                  </a:tcPr>
                </a:tc>
                <a:tc>
                  <a:txBody>
                    <a:bodyPr/>
                    <a:lstStyle/>
                    <a:p>
                      <a:r>
                        <a:rPr lang="en-GB" sz="1400">
                          <a:latin typeface="+mn-lt"/>
                        </a:rPr>
                        <a:t>Data Element Requirements</a:t>
                      </a:r>
                    </a:p>
                  </a:txBody>
                  <a:tcPr>
                    <a:solidFill>
                      <a:srgbClr val="009999"/>
                    </a:solidFill>
                  </a:tcPr>
                </a:tc>
                <a:extLst>
                  <a:ext uri="{0D108BD9-81ED-4DB2-BD59-A6C34878D82A}">
                    <a16:rowId xmlns:a16="http://schemas.microsoft.com/office/drawing/2014/main" val="355667517"/>
                  </a:ext>
                </a:extLst>
              </a:tr>
              <a:tr h="593924">
                <a:tc>
                  <a:txBody>
                    <a:bodyPr/>
                    <a:lstStyle/>
                    <a:p>
                      <a:r>
                        <a:rPr lang="en-GB" sz="1400">
                          <a:latin typeface="+mn-lt"/>
                        </a:rPr>
                        <a:t>RoW-NI where there is a mismatch</a:t>
                      </a:r>
                    </a:p>
                  </a:txBody>
                  <a:tcPr/>
                </a:tc>
                <a:tc>
                  <a:txBody>
                    <a:bodyPr/>
                    <a:lstStyle/>
                    <a:p>
                      <a:pPr marL="285750" indent="-285750">
                        <a:buFont typeface="Arial" panose="020B0604020202020204" pitchFamily="34" charset="0"/>
                        <a:buChar char="•"/>
                      </a:pPr>
                      <a:r>
                        <a:rPr lang="en-GB" sz="1400" dirty="0">
                          <a:solidFill>
                            <a:srgbClr val="0B0C0C"/>
                          </a:solidFill>
                          <a:latin typeface="+mn-lt"/>
                        </a:rPr>
                        <a:t>NIIMP must be declared in DE 2/2 at item level </a:t>
                      </a:r>
                    </a:p>
                    <a:p>
                      <a:pPr marL="285750" indent="-285750">
                        <a:buFont typeface="Arial" panose="020B0604020202020204" pitchFamily="34" charset="0"/>
                        <a:buChar char="•"/>
                      </a:pPr>
                      <a:r>
                        <a:rPr lang="en-GB" sz="1400" dirty="0">
                          <a:solidFill>
                            <a:srgbClr val="0B0C0C"/>
                          </a:solidFill>
                          <a:latin typeface="+mn-lt"/>
                        </a:rPr>
                        <a:t>UK Preference code must be declared in DE 4/17</a:t>
                      </a:r>
                    </a:p>
                    <a:p>
                      <a:pPr marL="285750" indent="-285750">
                        <a:buFont typeface="Arial" panose="020B0604020202020204" pitchFamily="34" charset="0"/>
                        <a:buChar char="•"/>
                      </a:pPr>
                      <a:r>
                        <a:rPr lang="en-GB" sz="1400" dirty="0">
                          <a:solidFill>
                            <a:srgbClr val="0B0C0C"/>
                          </a:solidFill>
                          <a:latin typeface="+mn-lt"/>
                        </a:rPr>
                        <a:t>AI code EUPRF must be declared at Item level of DE 2/2 and the EU Preference code must be declared in the free text field of the same DE 2/2 </a:t>
                      </a:r>
                    </a:p>
                  </a:txBody>
                  <a:tcPr/>
                </a:tc>
                <a:extLst>
                  <a:ext uri="{0D108BD9-81ED-4DB2-BD59-A6C34878D82A}">
                    <a16:rowId xmlns:a16="http://schemas.microsoft.com/office/drawing/2014/main" val="4211569795"/>
                  </a:ext>
                </a:extLst>
              </a:tr>
            </a:tbl>
          </a:graphicData>
        </a:graphic>
      </p:graphicFrame>
    </p:spTree>
    <p:extLst>
      <p:ext uri="{BB962C8B-B14F-4D97-AF65-F5344CB8AC3E}">
        <p14:creationId xmlns:p14="http://schemas.microsoft.com/office/powerpoint/2010/main" val="3321091659"/>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302</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7452"/>
            <a:ext cx="11282159" cy="3857466"/>
          </a:xfrm>
          <a:prstGeom prst="rect">
            <a:avLst/>
          </a:prstGeom>
          <a:noFill/>
          <a:ln cap="flat">
            <a:noFill/>
            <a:prstDash val="solid"/>
          </a:ln>
        </p:spPr>
        <p:txBody>
          <a:bodyPr vert="horz" wrap="square" lIns="91440" tIns="45720" rIns="91440" bIns="45720" anchor="t" anchorCtr="0" compatLnSpc="1">
            <a:spAutoFit/>
          </a:bodyPr>
          <a:lstStyle/>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a:t>To submit a declaration using Preference Mismatch or End Use/Authorised Use</a:t>
            </a: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a:t>Please note the following:</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AI code EUPRF should only be used by traders where Preference or End Use/Authorised Use mismatch exists so that CDS can process a trader’s declaration in accordance with the NI protocol.</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If AI code EUPRF is entered in DE 2/2 by traders at item level in conjunction with AI code NIDOM for a GB-NI declaration or used for a ROW-GB declaration, the declaration will be rejected and a DMSREJ notification will be issued.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If AI code EUPRF is entered in DE 2/2 at Header level rather than Item level, the declaration will be rejected and a DMSREJ notification will be issued.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If there is more than one instance of AI code EUPRF entered in DE 2/2 at Item level, the declaration will be rejected and a DMSREJ notification will be issued. EUPRF can only be entered once per each goods item.</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Where Tariff validation fails in the EU or UK Tariff, the declaration will be rejected and a DMSREJ notification will be issued.</a:t>
            </a:r>
          </a:p>
          <a:p>
            <a:pPr marL="742950" lvl="1" indent="-285750">
              <a:spcAft>
                <a:spcPts val="800"/>
              </a:spcAft>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Where Tariff validation fails in both the EU and UK Tariff, the declaration will be rejected and a combined DMSREJ notification containing all EU &amp; UK error messages will be issued to the declarant. The measures in both tariffs must still be satisfied if this is the case- EUPRF does not mean that a declarant is defaulting to one of the Tariffs. </a:t>
            </a:r>
          </a:p>
          <a:p>
            <a:pPr marL="742950" lvl="1" indent="-285750">
              <a:spcAft>
                <a:spcPts val="800"/>
              </a:spcAft>
              <a:buFont typeface="Arial" panose="020B0604020202020204" pitchFamily="34" charset="0"/>
              <a:buChar char="•"/>
              <a:defRPr sz="1800" b="0" i="0" u="none" strike="noStrike" kern="0" cap="none" spc="0" baseline="0">
                <a:solidFill>
                  <a:srgbClr val="000000"/>
                </a:solidFill>
                <a:uFillTx/>
              </a:defRPr>
            </a:pPr>
            <a:r>
              <a:rPr lang="en-GB" sz="1400" kern="0">
                <a:cs typeface="Gautami" panose="020B0502040204020203" pitchFamily="34" charset="0"/>
              </a:rPr>
              <a:t>If EUPRF is entered in DE 2/2 without a corresponding value in DE 4/17, the declaration will be rejected and a DMSREJ notification will be issued.</a:t>
            </a: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2036617983"/>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64458"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303</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754"/>
            <a:ext cx="11282159" cy="4190634"/>
          </a:xfrm>
          <a:prstGeom prst="rect">
            <a:avLst/>
          </a:prstGeom>
          <a:noFill/>
          <a:ln cap="flat">
            <a:noFill/>
            <a:prstDash val="solid"/>
          </a:ln>
        </p:spPr>
        <p:txBody>
          <a:bodyPr vert="horz" wrap="square" lIns="91440" tIns="45720" rIns="91440" bIns="45720" anchor="t" anchorCtr="0" compatLnSpc="1">
            <a:spAutoFit/>
          </a:bodyPr>
          <a:lstStyle/>
          <a:p>
            <a:pPr marR="0" lvl="0" algn="l" defTabSz="914400" rtl="0" fontAlgn="auto" hangingPunct="1">
              <a:lnSpc>
                <a:spcPct val="100000"/>
              </a:lnSpc>
              <a:spcBef>
                <a:spcPts val="0"/>
              </a:spcBef>
              <a:spcAft>
                <a:spcPts val="0"/>
              </a:spcAft>
              <a:buSzPct val="100000"/>
              <a:tabLst/>
            </a:pPr>
            <a:r>
              <a:rPr lang="en-GB" sz="1400" b="1" i="0" u="sng" strike="noStrike"/>
              <a:t>Core GB NI Valuation Methods 2 &amp; 3 </a:t>
            </a:r>
            <a:endParaRPr lang="en-GB" sz="1400" b="1" u="sng" strike="noStrike"/>
          </a:p>
          <a:p>
            <a:pPr marR="0" lvl="0" algn="l" defTabSz="914400" rtl="0" fontAlgn="auto" hangingPunct="1">
              <a:lnSpc>
                <a:spcPct val="100000"/>
              </a:lnSpc>
              <a:spcBef>
                <a:spcPts val="0"/>
              </a:spcBef>
              <a:spcAft>
                <a:spcPts val="0"/>
              </a:spcAft>
              <a:buSzPct val="100000"/>
              <a:tabLst/>
            </a:pPr>
            <a:r>
              <a:rPr lang="en-GB" sz="1400" b="0" i="0">
                <a:effectLst/>
              </a:rPr>
              <a:t>From TTM21.0, traders may use </a:t>
            </a:r>
            <a:r>
              <a:rPr lang="en-GB" sz="1400" b="1" i="0">
                <a:effectLst/>
              </a:rPr>
              <a:t>Valu</a:t>
            </a:r>
            <a:r>
              <a:rPr lang="en-GB" sz="1400" b="1"/>
              <a:t>ation Methods 2, &amp; 3 </a:t>
            </a:r>
            <a:r>
              <a:rPr lang="en-GB" sz="1400"/>
              <a:t>in CDS to</a:t>
            </a:r>
            <a:r>
              <a:rPr lang="en-GB" sz="1400" b="0" i="0">
                <a:effectLst/>
              </a:rPr>
              <a:t> establish the value on which Customs Duty and import VAT is calculated.</a:t>
            </a:r>
            <a:r>
              <a:rPr lang="en-GB" sz="1400" b="1"/>
              <a:t>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a:effectLst/>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effectLst/>
              </a:rPr>
              <a:t>Valuation Method </a:t>
            </a:r>
            <a:r>
              <a:rPr lang="en-GB" sz="1400" b="1"/>
              <a:t>2 </a:t>
            </a:r>
            <a:r>
              <a:rPr lang="en-GB" sz="1400" b="0" i="0">
                <a:effectLst/>
              </a:rPr>
              <a:t>is based on the customs value of identical goods exported to the UK at or about the same time as the goods to be valued. Identical goods refer to goods produced in the same country as those being valued. With identical physical characteristics, quality, and reputation. Minor differences in appearance do not matter. Please note that if the producer of the Method 2 goods does not produce Method 1 goods, another producer’s goods may be used for comparison.</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0" i="0">
                <a:effectLst/>
              </a:rPr>
              <a:t>In the case there are no identical goods, traders should try Valuation Method 3.</a:t>
            </a:r>
          </a:p>
          <a:p>
            <a:pPr marL="1200150" lvl="2" indent="-285750">
              <a:buFont typeface="Courier New" panose="02070309020205020404" pitchFamily="49" charset="0"/>
              <a:buChar char="o"/>
              <a:defRPr sz="1800" b="0" i="0" u="none" strike="noStrike" kern="0" cap="none" spc="0" baseline="0">
                <a:solidFill>
                  <a:srgbClr val="000000"/>
                </a:solidFill>
                <a:uFillTx/>
              </a:defRPr>
            </a:pPr>
            <a:endParaRPr lang="en-GB" sz="140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effectLst/>
              </a:rPr>
              <a:t>Valuation Method 3 </a:t>
            </a:r>
            <a:r>
              <a:rPr lang="en-GB" sz="1400" b="0" i="0">
                <a:effectLst/>
              </a:rPr>
              <a:t>is </a:t>
            </a:r>
            <a:r>
              <a:rPr lang="en-GB" sz="1400"/>
              <a:t>based on the customs value of similar goods exported to the UK at or about the same time as the goods to be valued. ‘Similar goods’ are goods which differ in some respects from the goods being valued but they:</a:t>
            </a:r>
            <a:endParaRPr lang="en-GB" sz="1400" b="0" i="0">
              <a:effectLst/>
            </a:endParaRPr>
          </a:p>
          <a:p>
            <a:pPr marL="1200150" lvl="2" indent="-285750">
              <a:buFont typeface="Arial" panose="020B0604020202020204" pitchFamily="34" charset="0"/>
              <a:buChar char="•"/>
              <a:defRPr sz="1800" b="0" i="0" u="none" strike="noStrike" kern="0" cap="none" spc="0" baseline="0">
                <a:solidFill>
                  <a:srgbClr val="000000"/>
                </a:solidFill>
                <a:uFillTx/>
              </a:defRPr>
            </a:pPr>
            <a:r>
              <a:rPr lang="en-GB" sz="1400" b="0" i="0">
                <a:effectLst/>
              </a:rPr>
              <a:t>Are produced in the same country</a:t>
            </a:r>
          </a:p>
          <a:p>
            <a:pPr marL="1200150" lvl="2" indent="-285750">
              <a:buFont typeface="Arial" panose="020B0604020202020204" pitchFamily="34" charset="0"/>
              <a:buChar char="•"/>
              <a:defRPr sz="1800" b="0" i="0" u="none" strike="noStrike" kern="0" cap="none" spc="0" baseline="0">
                <a:solidFill>
                  <a:srgbClr val="000000"/>
                </a:solidFill>
                <a:uFillTx/>
              </a:defRPr>
            </a:pPr>
            <a:r>
              <a:rPr lang="en-GB" sz="1400"/>
              <a:t>Can carry out the same tasks </a:t>
            </a:r>
          </a:p>
          <a:p>
            <a:pPr marL="1200150" lvl="2" indent="-285750">
              <a:buFont typeface="Arial" panose="020B0604020202020204" pitchFamily="34" charset="0"/>
              <a:buChar char="•"/>
              <a:defRPr sz="1800" b="0" i="0" u="none" strike="noStrike" kern="0" cap="none" spc="0" baseline="0">
                <a:solidFill>
                  <a:srgbClr val="000000"/>
                </a:solidFill>
                <a:uFillTx/>
              </a:defRPr>
            </a:pPr>
            <a:r>
              <a:rPr lang="en-GB" sz="1400" b="0" i="0">
                <a:effectLst/>
              </a:rPr>
              <a:t>Are commercially interchangeable</a:t>
            </a:r>
            <a:endParaRPr lang="en-GB" sz="1400"/>
          </a:p>
          <a:p>
            <a:pPr>
              <a:defRPr sz="1800" b="0" i="0" u="none" strike="noStrike" kern="0" cap="none" spc="0" baseline="0">
                <a:solidFill>
                  <a:srgbClr val="000000"/>
                </a:solidFill>
                <a:uFillTx/>
              </a:defRPr>
            </a:pPr>
            <a:r>
              <a:rPr lang="en-GB" sz="1400" b="0" i="0">
                <a:effectLst/>
              </a:rPr>
              <a:t>Where similar goods are not made by the producer of the goods to be valued, traders may use similar goods produced by a different producer.</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b="0" i="0">
              <a:effectLst/>
            </a:endParaRPr>
          </a:p>
          <a:p>
            <a:pPr algn="l"/>
            <a:r>
              <a:rPr lang="en-GB" sz="1400"/>
              <a:t>Where no similar goods exist, Valuation Method 3 is not applicable. Traders should instead use Method 4 or 5, described in TTM20.0 Scope Guidance.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uFillTx/>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pitchFamily="34"/>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304</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7482"/>
            <a:ext cx="11236719" cy="4616648"/>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a:solidFill>
                  <a:srgbClr val="0B0C0C"/>
                </a:solidFill>
                <a:effectLst/>
              </a:rPr>
              <a:t>Valuation Method </a:t>
            </a:r>
            <a:r>
              <a:rPr lang="en-GB" sz="1400" b="1">
                <a:solidFill>
                  <a:srgbClr val="0B0C0C"/>
                </a:solidFill>
              </a:rPr>
              <a:t>2 </a:t>
            </a:r>
            <a:r>
              <a:rPr lang="en-GB" sz="1400" b="0" i="0">
                <a:solidFill>
                  <a:srgbClr val="0B0C0C"/>
                </a:solidFill>
                <a:effectLst/>
              </a:rPr>
              <a:t>is based on the customs value of identical goods exported to the UK at or about the same time as the goods to be valued. In the case there are no identical goods, traders should try Valuation Method 3.</a:t>
            </a:r>
          </a:p>
          <a:p>
            <a:pPr>
              <a:defRPr sz="1800" b="0" i="0" u="none" strike="noStrike" kern="0" cap="none" spc="0" baseline="0">
                <a:solidFill>
                  <a:srgbClr val="000000"/>
                </a:solidFill>
                <a:uFillTx/>
              </a:defRPr>
            </a:pPr>
            <a:endParaRPr lang="en-GB" sz="1400" b="0" i="0">
              <a:solidFill>
                <a:srgbClr val="0B0C0C"/>
              </a:solidFill>
              <a:effectLs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a:solidFill>
                  <a:srgbClr val="0B0C0C"/>
                </a:solidFill>
                <a:effectLst/>
              </a:rPr>
              <a:t>Valuation Method 3 </a:t>
            </a:r>
            <a:r>
              <a:rPr lang="en-GB" sz="1400" b="0" i="0">
                <a:solidFill>
                  <a:srgbClr val="0B0C0C"/>
                </a:solidFill>
                <a:effectLst/>
              </a:rPr>
              <a:t>is </a:t>
            </a:r>
            <a:r>
              <a:rPr lang="en-GB" sz="1400">
                <a:solidFill>
                  <a:srgbClr val="0B0C0C"/>
                </a:solidFill>
              </a:rPr>
              <a:t>based on the customs value of similar goods exported to the UK at or about the same time as the goods to be valued.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solidFill>
                <a:srgbClr val="0B0C0C"/>
              </a:solidFill>
            </a:endParaRPr>
          </a:p>
          <a:p>
            <a:pPr>
              <a:defRPr sz="1800" b="0" i="0" u="none" strike="noStrike" kern="0" cap="none" spc="0" baseline="0">
                <a:solidFill>
                  <a:srgbClr val="000000"/>
                </a:solidFill>
                <a:uFillTx/>
              </a:defRPr>
            </a:pPr>
            <a:r>
              <a:rPr lang="en-GB" sz="1400" b="0" i="0">
                <a:solidFill>
                  <a:srgbClr val="0B0C0C"/>
                </a:solidFill>
                <a:effectLst/>
              </a:rPr>
              <a:t>For more information regarding Valuation Methods, please visit </a:t>
            </a:r>
            <a:r>
              <a:rPr lang="en-GB" sz="1400">
                <a:hlinkClick r:id="rId3"/>
              </a:rPr>
              <a:t>Valuation of imported goods for customs purposes, VAT and trade statistics - GOV.UK</a:t>
            </a:r>
            <a:endParaRPr lang="en-GB" sz="1400" b="1" i="0" u="sng" strike="noStrike" kern="0" cap="none" spc="0" baseline="0">
              <a:solidFill>
                <a:srgbClr val="333333"/>
              </a:solidFill>
              <a:uFillTx/>
              <a:ea typeface="Times New Roman" pitchFamily="18"/>
              <a:cs typeface="Times New Roman" pitchFamily="18"/>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u="sng">
              <a:solidFill>
                <a:srgbClr val="333333"/>
              </a:solidFill>
              <a:ea typeface="Times New Roman" pitchFamily="18"/>
              <a:cs typeface="Times New Roman" pitchFamily="18"/>
            </a:endParaRPr>
          </a:p>
          <a:p>
            <a:pPr>
              <a:defRPr sz="1800" b="0" i="0" u="none" strike="noStrike" kern="0" cap="none" spc="0" baseline="0">
                <a:solidFill>
                  <a:srgbClr val="000000"/>
                </a:solidFill>
                <a:uFillTx/>
              </a:defRPr>
            </a:pPr>
            <a:r>
              <a:rPr lang="en-GB" sz="1400" b="1" u="none" strike="noStrike" kern="1200" cap="none" spc="0" baseline="0">
                <a:solidFill>
                  <a:srgbClr val="333333"/>
                </a:solidFill>
                <a:uFillTx/>
                <a:ea typeface="Times New Roman" pitchFamily="18"/>
                <a:cs typeface="Times New Roman" pitchFamily="18"/>
              </a:rPr>
              <a:t>To </a:t>
            </a:r>
            <a:r>
              <a:rPr lang="en-GB" sz="1400" b="1" u="none" strike="noStrike" kern="1200" cap="none" spc="0" baseline="0">
                <a:solidFill>
                  <a:srgbClr val="0B0C0C"/>
                </a:solidFill>
                <a:uFillTx/>
                <a:ea typeface="Times New Roman" pitchFamily="18"/>
                <a:cs typeface="Times New Roman" pitchFamily="18"/>
              </a:rPr>
              <a:t>calculate</a:t>
            </a:r>
            <a:r>
              <a:rPr lang="en-GB" sz="1400" b="1">
                <a:solidFill>
                  <a:srgbClr val="0B0C0C"/>
                </a:solidFill>
                <a:effectLst/>
              </a:rPr>
              <a:t> Customs Duty and import VAT </a:t>
            </a:r>
            <a:r>
              <a:rPr lang="en-GB" sz="1400" b="1">
                <a:solidFill>
                  <a:srgbClr val="0B0C0C"/>
                </a:solidFill>
              </a:rPr>
              <a:t>using </a:t>
            </a:r>
            <a:r>
              <a:rPr lang="en-GB" sz="1400" b="1" u="none" strike="noStrike" kern="1200" cap="none" spc="0" baseline="0">
                <a:uFillTx/>
                <a:ea typeface="Times New Roman" pitchFamily="18"/>
                <a:cs typeface="Times New Roman" pitchFamily="18"/>
              </a:rPr>
              <a:t>Valuation Methods </a:t>
            </a:r>
            <a:r>
              <a:rPr lang="en-GB" sz="1400" b="1">
                <a:ea typeface="Times New Roman" pitchFamily="18"/>
                <a:cs typeface="Times New Roman" pitchFamily="18"/>
              </a:rPr>
              <a:t>2 or 3</a:t>
            </a:r>
          </a:p>
          <a:p>
            <a:pPr>
              <a:defRPr sz="1800" b="0" i="0" u="none" strike="noStrike" kern="0" cap="none" spc="0" baseline="0">
                <a:solidFill>
                  <a:srgbClr val="000000"/>
                </a:solidFill>
                <a:uFillTx/>
              </a:defRPr>
            </a:pPr>
            <a:r>
              <a:rPr lang="en-GB" sz="1400" b="0" i="0">
                <a:solidFill>
                  <a:srgbClr val="0B0C0C"/>
                </a:solidFill>
                <a:effectLst/>
                <a:cs typeface="Times New Roman" pitchFamily="18"/>
              </a:rPr>
              <a:t>Traders </a:t>
            </a:r>
            <a:r>
              <a:rPr lang="en-GB" sz="1400" b="0" i="0">
                <a:solidFill>
                  <a:srgbClr val="333333"/>
                </a:solidFill>
                <a:effectLst/>
              </a:rPr>
              <a:t>must declare Valuation Method = either ‘2’ or ‘3’ in DE 4/16, in addition to the below </a:t>
            </a:r>
            <a:r>
              <a:rPr lang="en-GB" sz="1400" b="1" i="0">
                <a:solidFill>
                  <a:srgbClr val="333333"/>
                </a:solidFill>
                <a:effectLst/>
              </a:rPr>
              <a:t>mandatory</a:t>
            </a:r>
            <a:r>
              <a:rPr lang="en-GB" sz="1400" b="0" i="0">
                <a:solidFill>
                  <a:srgbClr val="333333"/>
                </a:solidFill>
                <a:effectLst/>
              </a:rPr>
              <a:t> requirements:</a:t>
            </a:r>
            <a:endParaRPr lang="en-GB" sz="1400" b="1">
              <a:ea typeface="Times New Roman" pitchFamily="18"/>
              <a:cs typeface="Times New Roman" pitchFamily="18"/>
            </a:endParaRPr>
          </a:p>
          <a:p>
            <a:pPr marL="1714500" lvl="3" indent="-342900">
              <a:buFont typeface="+mj-lt"/>
              <a:buAutoNum type="arabicPeriod"/>
              <a:defRPr sz="1800" b="0" i="0" u="none" strike="noStrike" kern="0" cap="none" spc="0" baseline="0">
                <a:solidFill>
                  <a:srgbClr val="000000"/>
                </a:solidFill>
                <a:uFillTx/>
              </a:defRPr>
            </a:pPr>
            <a:r>
              <a:rPr lang="en-GB" sz="1400" b="0" i="0">
                <a:solidFill>
                  <a:srgbClr val="333333"/>
                </a:solidFill>
                <a:effectLst/>
              </a:rPr>
              <a:t>Item Price in DE 4/14</a:t>
            </a:r>
          </a:p>
          <a:p>
            <a:pPr marL="1714500" lvl="3" indent="-342900">
              <a:buFont typeface="+mj-lt"/>
              <a:buAutoNum type="arabicPeriod"/>
              <a:defRPr sz="1800" b="0" i="0" u="none" strike="noStrike" kern="0" cap="none" spc="0" baseline="0">
                <a:solidFill>
                  <a:srgbClr val="000000"/>
                </a:solidFill>
                <a:uFillTx/>
              </a:defRPr>
            </a:pPr>
            <a:r>
              <a:rPr lang="en-GB" sz="1400" b="0" i="0">
                <a:solidFill>
                  <a:srgbClr val="333333"/>
                </a:solidFill>
                <a:effectLst/>
              </a:rPr>
              <a:t>APC = either ‘000’ or any other Non Valuation Specific APC/APCs in DE 1/11 </a:t>
            </a:r>
          </a:p>
          <a:p>
            <a:pPr marL="1714500" lvl="3" indent="-342900">
              <a:buFont typeface="+mj-lt"/>
              <a:buAutoNum type="arabicPeriod"/>
              <a:defRPr sz="1800" b="0" i="0" u="none" strike="noStrike" kern="0" cap="none" spc="0" baseline="0">
                <a:solidFill>
                  <a:srgbClr val="000000"/>
                </a:solidFill>
                <a:uFillTx/>
              </a:defRPr>
            </a:pPr>
            <a:r>
              <a:rPr lang="en-GB" sz="1400" b="0" i="0">
                <a:solidFill>
                  <a:srgbClr val="333333"/>
                </a:solidFill>
                <a:effectLst/>
              </a:rPr>
              <a:t>Document Code = ‘N935’ in DE 2/3 and Document Status = ‘AC’ in DE 2/3 </a:t>
            </a:r>
          </a:p>
          <a:p>
            <a:pPr lvl="1">
              <a:defRPr sz="1800" b="0" i="0" u="none" strike="noStrike" kern="0" cap="none" spc="0" baseline="0">
                <a:solidFill>
                  <a:srgbClr val="000000"/>
                </a:solidFill>
                <a:uFillTx/>
              </a:defRPr>
            </a:pPr>
            <a:endParaRPr lang="en-GB" sz="1400">
              <a:solidFill>
                <a:srgbClr val="333333"/>
              </a:solidFill>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0B0C0C"/>
                </a:solidFill>
                <a:effectLst/>
                <a:cs typeface="Times New Roman" pitchFamily="18"/>
              </a:rPr>
              <a:t>Tr</a:t>
            </a:r>
            <a:r>
              <a:rPr lang="en-GB" sz="1400">
                <a:solidFill>
                  <a:srgbClr val="0B0C0C"/>
                </a:solidFill>
                <a:cs typeface="Times New Roman" pitchFamily="18"/>
              </a:rPr>
              <a:t>aders must declare the </a:t>
            </a:r>
            <a:r>
              <a:rPr lang="en-GB" sz="1400" i="0">
                <a:solidFill>
                  <a:srgbClr val="333333"/>
                </a:solidFill>
                <a:effectLst/>
              </a:rPr>
              <a:t>following data elements:</a:t>
            </a:r>
          </a:p>
          <a:p>
            <a:pPr marL="1600200" lvl="3" indent="-228600">
              <a:buFont typeface="+mj-lt"/>
              <a:buAutoNum type="arabicPeriod"/>
            </a:pPr>
            <a:r>
              <a:rPr lang="en-GB" sz="1400" b="0" i="0">
                <a:solidFill>
                  <a:srgbClr val="333333"/>
                </a:solidFill>
                <a:effectLst/>
              </a:rPr>
              <a:t>Combined Nomenclature in DE 6/14</a:t>
            </a:r>
          </a:p>
          <a:p>
            <a:pPr marL="1600200" lvl="3" indent="-228600">
              <a:buFont typeface="+mj-lt"/>
              <a:buAutoNum type="arabicPeriod"/>
            </a:pPr>
            <a:r>
              <a:rPr lang="en-GB" sz="1400" b="0" i="0">
                <a:solidFill>
                  <a:srgbClr val="333333"/>
                </a:solidFill>
                <a:effectLst/>
              </a:rPr>
              <a:t>TARIC code in DE 6/15</a:t>
            </a:r>
          </a:p>
          <a:p>
            <a:pPr marL="1600200" lvl="3" indent="-228600">
              <a:buFont typeface="+mj-lt"/>
              <a:buAutoNum type="arabicPeriod"/>
            </a:pPr>
            <a:r>
              <a:rPr lang="en-GB" sz="1400" b="0" i="0">
                <a:solidFill>
                  <a:srgbClr val="333333"/>
                </a:solidFill>
                <a:effectLst/>
              </a:rPr>
              <a:t>Net Mass in DE 6/1</a:t>
            </a:r>
          </a:p>
          <a:p>
            <a:pPr marL="1600200" lvl="3" indent="-228600">
              <a:buFont typeface="+mj-lt"/>
              <a:buAutoNum type="arabicPeriod"/>
            </a:pPr>
            <a:r>
              <a:rPr lang="en-GB" sz="1400" b="0" i="0">
                <a:solidFill>
                  <a:srgbClr val="333333"/>
                </a:solidFill>
                <a:effectLst/>
              </a:rPr>
              <a:t>Country of Origin in 5/15 </a:t>
            </a:r>
            <a:r>
              <a:rPr lang="en-GB" sz="1400" b="1" i="0">
                <a:solidFill>
                  <a:srgbClr val="333333"/>
                </a:solidFill>
                <a:effectLst/>
              </a:rPr>
              <a:t>and/or</a:t>
            </a:r>
            <a:r>
              <a:rPr lang="en-GB" sz="1400" b="0" i="0">
                <a:solidFill>
                  <a:srgbClr val="333333"/>
                </a:solidFill>
                <a:effectLst/>
              </a:rPr>
              <a:t> 5/16 Country of Preferential Origin according to requirements</a:t>
            </a:r>
          </a:p>
          <a:p>
            <a:pPr marL="1600200" lvl="3" indent="-228600">
              <a:buFont typeface="+mj-lt"/>
              <a:buAutoNum type="arabicPeriod"/>
            </a:pPr>
            <a:endParaRPr lang="en-GB" sz="1400" b="0" i="0">
              <a:solidFill>
                <a:srgbClr val="333333"/>
              </a:solidFill>
              <a:effectLst/>
            </a:endParaRPr>
          </a:p>
          <a:p>
            <a:pPr lvl="1">
              <a:defRPr sz="1800" b="0" i="0" u="none" strike="noStrike" kern="0" cap="none" spc="0" baseline="0">
                <a:solidFill>
                  <a:srgbClr val="000000"/>
                </a:solidFill>
                <a:uFillTx/>
              </a:defRPr>
            </a:pPr>
            <a:r>
              <a:rPr lang="en-GB" sz="1400" b="0" i="0">
                <a:solidFill>
                  <a:srgbClr val="333333"/>
                </a:solidFill>
                <a:effectLst/>
              </a:rPr>
              <a:t>If any of the above data elements are not provided, CDS </a:t>
            </a:r>
            <a:r>
              <a:rPr lang="en-GB" sz="1400">
                <a:solidFill>
                  <a:srgbClr val="333333"/>
                </a:solidFill>
              </a:rPr>
              <a:t>will </a:t>
            </a:r>
            <a:r>
              <a:rPr lang="en-GB" sz="1400" b="1">
                <a:solidFill>
                  <a:srgbClr val="333333"/>
                </a:solidFill>
              </a:rPr>
              <a:t>reject</a:t>
            </a:r>
            <a:r>
              <a:rPr lang="en-GB" sz="1400">
                <a:solidFill>
                  <a:srgbClr val="333333"/>
                </a:solidFill>
              </a:rPr>
              <a:t> the declaration and send a </a:t>
            </a:r>
            <a:r>
              <a:rPr lang="en-GB" sz="1400" b="0" i="0">
                <a:solidFill>
                  <a:srgbClr val="333333"/>
                </a:solidFill>
                <a:effectLst/>
              </a:rPr>
              <a:t>DMSREJ notification to the trader.</a:t>
            </a:r>
          </a:p>
          <a:p>
            <a:pPr lvl="1">
              <a:defRPr sz="1800" b="0" i="0" u="none" strike="noStrike" kern="0" cap="none" spc="0" baseline="0">
                <a:solidFill>
                  <a:srgbClr val="000000"/>
                </a:solidFill>
                <a:uFillTx/>
              </a:defRPr>
            </a:pPr>
            <a:endParaRPr lang="en-GB" sz="1400" b="0" i="0">
              <a:solidFill>
                <a:srgbClr val="333333"/>
              </a:solidFill>
              <a:effectLst/>
              <a:latin typeface="Calibri  "/>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3660539550"/>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6445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305</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109"/>
            <a:ext cx="11282159" cy="433118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a:t>In addition, t</a:t>
            </a:r>
            <a:r>
              <a:rPr lang="en-GB" sz="1400" i="0" u="none" strike="noStrike" kern="1200" cap="none" spc="0" baseline="0">
                <a:uFillTx/>
              </a:rPr>
              <a:t>raders may also declare the following additional data elements: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a:p>
          <a:p>
            <a:pPr lvl="1"/>
            <a:r>
              <a:rPr lang="en-GB" sz="1400" i="0">
                <a:effectLst/>
              </a:rPr>
              <a:t>Delivery Terms  		 DE 4/1 : Optional</a:t>
            </a:r>
          </a:p>
          <a:p>
            <a:pPr lvl="1"/>
            <a:r>
              <a:rPr lang="en-GB" sz="1400"/>
              <a:t>Tax Base 		 DE 4/4 :  Only mandatory if required by a Tariff Measure, otherwise optional</a:t>
            </a:r>
          </a:p>
          <a:p>
            <a:pPr lvl="1"/>
            <a:r>
              <a:rPr lang="en-GB" sz="1400" i="0">
                <a:effectLst/>
              </a:rPr>
              <a:t>Additions and Deductions 	 DE 4/9  : If applicable</a:t>
            </a:r>
          </a:p>
          <a:p>
            <a:pPr lvl="1"/>
            <a:r>
              <a:rPr lang="en-GB" sz="1400"/>
              <a:t>Total amount invoiced 	 DE 4/11 : Optional</a:t>
            </a:r>
          </a:p>
          <a:p>
            <a:pPr lvl="1"/>
            <a:r>
              <a:rPr lang="en-GB" sz="1400" i="0">
                <a:effectLst/>
              </a:rPr>
              <a:t>Valuation Indicator 	 DE 4/13 : Optional</a:t>
            </a:r>
          </a:p>
          <a:p>
            <a:pPr lvl="1"/>
            <a:r>
              <a:rPr lang="en-GB" sz="1400"/>
              <a:t>Place of Loading 		 DE 5/21 : Can only be used with airfreight</a:t>
            </a:r>
            <a:r>
              <a:rPr lang="en-GB" sz="1400">
                <a:highlight>
                  <a:srgbClr val="FFFF00"/>
                </a:highlight>
              </a:rPr>
              <a:t> </a:t>
            </a:r>
            <a:endParaRPr lang="en-GB" sz="1400" i="0">
              <a:effectLst/>
              <a:highlight>
                <a:srgbClr val="FFFF00"/>
              </a:highlight>
            </a:endParaRPr>
          </a:p>
          <a:p>
            <a:pPr>
              <a:lnSpc>
                <a:spcPct val="107000"/>
              </a:lnSpc>
              <a:spcAft>
                <a:spcPts val="800"/>
              </a:spcAft>
              <a:defRPr sz="1800" b="0" i="0" u="none" strike="noStrike" kern="0" cap="none" spc="0" baseline="0">
                <a:solidFill>
                  <a:srgbClr val="000000"/>
                </a:solidFill>
                <a:uFillTx/>
              </a:defRPr>
            </a:pPr>
            <a:endParaRPr lang="en-GB" sz="1400" b="1" i="0">
              <a:effectLst/>
            </a:endParaRPr>
          </a:p>
          <a:p>
            <a:pPr>
              <a:lnSpc>
                <a:spcPct val="107000"/>
              </a:lnSpc>
              <a:spcAft>
                <a:spcPts val="800"/>
              </a:spcAft>
              <a:defRPr sz="1800" b="0" i="0" u="none" strike="noStrike" kern="0" cap="none" spc="0" baseline="0">
                <a:solidFill>
                  <a:srgbClr val="000000"/>
                </a:solidFill>
                <a:uFillTx/>
              </a:defRPr>
            </a:pPr>
            <a:r>
              <a:rPr lang="en-GB" sz="1400" b="1" i="0">
                <a:effectLst/>
              </a:rPr>
              <a:t>Valid Combinations for Valuation Methods </a:t>
            </a:r>
            <a:r>
              <a:rPr lang="en-GB" sz="1400" b="1"/>
              <a:t>2 &amp; 3 </a:t>
            </a:r>
            <a:endParaRPr lang="en-GB" sz="1400" b="1" i="0">
              <a:effectLst/>
            </a:endParaRPr>
          </a:p>
          <a:p>
            <a:pPr>
              <a:lnSpc>
                <a:spcPct val="107000"/>
              </a:lnSpc>
              <a:spcAft>
                <a:spcPts val="800"/>
              </a:spcAft>
              <a:defRPr sz="1800" b="0" i="0" u="none" strike="noStrike" kern="0" cap="none" spc="0" baseline="0">
                <a:solidFill>
                  <a:srgbClr val="000000"/>
                </a:solidFill>
                <a:uFillTx/>
              </a:defRPr>
            </a:pPr>
            <a:endParaRPr lang="en-GB" sz="1400" b="1"/>
          </a:p>
          <a:p>
            <a:pPr>
              <a:lnSpc>
                <a:spcPct val="107000"/>
              </a:lnSpc>
              <a:spcAft>
                <a:spcPts val="800"/>
              </a:spcAft>
              <a:defRPr sz="1800" b="0" i="0" u="none" strike="noStrike" kern="0" cap="none" spc="0" baseline="0">
                <a:solidFill>
                  <a:srgbClr val="000000"/>
                </a:solidFill>
                <a:uFillTx/>
              </a:defRPr>
            </a:pPr>
            <a:endParaRPr lang="en-GB" sz="1400" b="1" i="0">
              <a:effectLst/>
            </a:endParaRPr>
          </a:p>
          <a:p>
            <a:pPr>
              <a:lnSpc>
                <a:spcPct val="107000"/>
              </a:lnSpc>
              <a:spcAft>
                <a:spcPts val="800"/>
              </a:spcAft>
              <a:defRPr sz="1800" b="0" i="0" u="none" strike="noStrike" kern="0" cap="none" spc="0" baseline="0">
                <a:solidFill>
                  <a:srgbClr val="000000"/>
                </a:solidFill>
                <a:uFillTx/>
              </a:defRPr>
            </a:pPr>
            <a:endParaRPr lang="en-GB" sz="1400" b="1" i="0">
              <a:effectLst/>
            </a:endParaRPr>
          </a:p>
          <a:p>
            <a:pPr>
              <a:lnSpc>
                <a:spcPct val="107000"/>
              </a:lnSpc>
              <a:spcAft>
                <a:spcPts val="800"/>
              </a:spcAft>
              <a:defRPr sz="1800" b="0" i="0" u="none" strike="noStrike" kern="0" cap="none" spc="0" baseline="0">
                <a:solidFill>
                  <a:srgbClr val="000000"/>
                </a:solidFill>
                <a:uFillTx/>
              </a:defRPr>
            </a:pPr>
            <a:r>
              <a:rPr lang="en-GB" sz="1400" b="0" i="0">
                <a:effectLst/>
              </a:rPr>
              <a:t>CDS will proceed to validate the declaration, using either the UK and/or the UK&amp;EU Tariffs where applicable to the movement. Where any duties or taxes are payable, CDS will send a </a:t>
            </a:r>
            <a:r>
              <a:rPr lang="en-GB" sz="1400" b="1" i="0">
                <a:effectLst/>
              </a:rPr>
              <a:t>DMSTAX</a:t>
            </a:r>
            <a:r>
              <a:rPr lang="en-GB" sz="1400" b="0" i="0">
                <a:effectLst/>
              </a:rPr>
              <a:t> notification to the trader.</a:t>
            </a:r>
            <a:r>
              <a:rPr lang="en-GB" sz="1400" b="1" i="0">
                <a:effectLst/>
              </a:rPr>
              <a:t> </a:t>
            </a:r>
            <a:endParaRPr lang="en-GB" sz="1400"/>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9">
            <a:extLst>
              <a:ext uri="{FF2B5EF4-FFF2-40B4-BE49-F238E27FC236}">
                <a16:creationId xmlns:a16="http://schemas.microsoft.com/office/drawing/2014/main" id="{419D59C8-4F17-478F-BA1F-2CE5339DF524}"/>
              </a:ext>
            </a:extLst>
          </p:cNvPr>
          <p:cNvGraphicFramePr>
            <a:graphicFrameLocks noGrp="1"/>
          </p:cNvGraphicFramePr>
          <p:nvPr/>
        </p:nvGraphicFramePr>
        <p:xfrm>
          <a:off x="2136000" y="3703315"/>
          <a:ext cx="7920000" cy="910592"/>
        </p:xfrm>
        <a:graphic>
          <a:graphicData uri="http://schemas.openxmlformats.org/drawingml/2006/table">
            <a:tbl>
              <a:tblPr firstRow="1" bandRow="1">
                <a:effectLst/>
                <a:tableStyleId>{5C22544A-7EE6-4342-B048-85BDC9FD1C3A}</a:tableStyleId>
              </a:tblPr>
              <a:tblGrid>
                <a:gridCol w="1980000">
                  <a:extLst>
                    <a:ext uri="{9D8B030D-6E8A-4147-A177-3AD203B41FA5}">
                      <a16:colId xmlns:a16="http://schemas.microsoft.com/office/drawing/2014/main" val="2247490691"/>
                    </a:ext>
                  </a:extLst>
                </a:gridCol>
                <a:gridCol w="1980000">
                  <a:extLst>
                    <a:ext uri="{9D8B030D-6E8A-4147-A177-3AD203B41FA5}">
                      <a16:colId xmlns:a16="http://schemas.microsoft.com/office/drawing/2014/main" val="641578491"/>
                    </a:ext>
                  </a:extLst>
                </a:gridCol>
                <a:gridCol w="1980000">
                  <a:extLst>
                    <a:ext uri="{9D8B030D-6E8A-4147-A177-3AD203B41FA5}">
                      <a16:colId xmlns:a16="http://schemas.microsoft.com/office/drawing/2014/main" val="1588135019"/>
                    </a:ext>
                  </a:extLst>
                </a:gridCol>
                <a:gridCol w="1980000">
                  <a:extLst>
                    <a:ext uri="{9D8B030D-6E8A-4147-A177-3AD203B41FA5}">
                      <a16:colId xmlns:a16="http://schemas.microsoft.com/office/drawing/2014/main" val="2275653647"/>
                    </a:ext>
                  </a:extLst>
                </a:gridCol>
              </a:tblGrid>
              <a:tr h="219759">
                <a:tc>
                  <a:txBody>
                    <a:bodyPr/>
                    <a:lstStyle/>
                    <a:p>
                      <a:pPr algn="ctr"/>
                      <a:r>
                        <a:rPr lang="en-GB" sz="1400">
                          <a:effectLst/>
                        </a:rPr>
                        <a:t>DE 1/11</a:t>
                      </a:r>
                    </a:p>
                  </a:txBody>
                  <a:tcPr marL="90000" marR="19050" marT="14288" marB="14288" anchor="ctr">
                    <a:solidFill>
                      <a:srgbClr val="009999"/>
                    </a:solidFill>
                  </a:tcPr>
                </a:tc>
                <a:tc>
                  <a:txBody>
                    <a:bodyPr/>
                    <a:lstStyle/>
                    <a:p>
                      <a:pPr algn="ctr"/>
                      <a:r>
                        <a:rPr lang="en-GB" sz="1400">
                          <a:effectLst/>
                        </a:rPr>
                        <a:t>Description</a:t>
                      </a:r>
                    </a:p>
                  </a:txBody>
                  <a:tcPr marL="90000" marR="19050" marT="14288" marB="14288" anchor="ctr">
                    <a:solidFill>
                      <a:srgbClr val="009999"/>
                    </a:solidFill>
                  </a:tcPr>
                </a:tc>
                <a:tc>
                  <a:txBody>
                    <a:bodyPr/>
                    <a:lstStyle/>
                    <a:p>
                      <a:pPr algn="ctr"/>
                      <a:r>
                        <a:rPr lang="en-GB" sz="1400">
                          <a:effectLst/>
                        </a:rPr>
                        <a:t>DE 4/14</a:t>
                      </a:r>
                    </a:p>
                  </a:txBody>
                  <a:tcPr marL="90000" marR="19050" marT="14288" marB="14288" anchor="ctr">
                    <a:solidFill>
                      <a:srgbClr val="009999"/>
                    </a:solidFill>
                  </a:tcPr>
                </a:tc>
                <a:tc>
                  <a:txBody>
                    <a:bodyPr/>
                    <a:lstStyle/>
                    <a:p>
                      <a:pPr algn="ctr"/>
                      <a:r>
                        <a:rPr lang="en-GB" sz="1400">
                          <a:effectLst/>
                        </a:rPr>
                        <a:t>Document</a:t>
                      </a:r>
                    </a:p>
                  </a:txBody>
                  <a:tcPr marL="90000" marR="19050" marT="14288" marB="14288" anchor="ctr">
                    <a:solidFill>
                      <a:srgbClr val="009999"/>
                    </a:solidFill>
                  </a:tcPr>
                </a:tc>
                <a:extLst>
                  <a:ext uri="{0D108BD9-81ED-4DB2-BD59-A6C34878D82A}">
                    <a16:rowId xmlns:a16="http://schemas.microsoft.com/office/drawing/2014/main" val="3384468624"/>
                  </a:ext>
                </a:extLst>
              </a:tr>
              <a:tr h="607362">
                <a:tc>
                  <a:txBody>
                    <a:bodyPr/>
                    <a:lstStyle/>
                    <a:p>
                      <a:r>
                        <a:rPr lang="en-GB" sz="1400">
                          <a:effectLst/>
                        </a:rPr>
                        <a:t>Non Valuation Specific APC(s) or 000</a:t>
                      </a:r>
                    </a:p>
                  </a:txBody>
                  <a:tcPr marL="90000" marR="19050" marT="14288" marB="14288" anchor="ctr"/>
                </a:tc>
                <a:tc>
                  <a:txBody>
                    <a:bodyPr/>
                    <a:lstStyle/>
                    <a:p>
                      <a:endParaRPr lang="en-GB" sz="1400">
                        <a:effectLst/>
                      </a:endParaRPr>
                    </a:p>
                    <a:p>
                      <a:r>
                        <a:rPr lang="en-GB" sz="1400">
                          <a:effectLst/>
                        </a:rPr>
                        <a:t>N/A</a:t>
                      </a:r>
                    </a:p>
                    <a:p>
                      <a:endParaRPr lang="en-GB" sz="1400">
                        <a:effectLst/>
                      </a:endParaRPr>
                    </a:p>
                  </a:txBody>
                  <a:tcPr marL="90000" marR="19050" marT="14288" marB="14288" anchor="ctr"/>
                </a:tc>
                <a:tc>
                  <a:txBody>
                    <a:bodyPr/>
                    <a:lstStyle/>
                    <a:p>
                      <a:r>
                        <a:rPr lang="en-GB" sz="1400">
                          <a:effectLst/>
                        </a:rPr>
                        <a:t>Completed</a:t>
                      </a:r>
                    </a:p>
                  </a:txBody>
                  <a:tcPr marL="90000" marR="19050" marT="14288" marB="14288" anchor="ctr"/>
                </a:tc>
                <a:tc>
                  <a:txBody>
                    <a:bodyPr/>
                    <a:lstStyle/>
                    <a:p>
                      <a:r>
                        <a:rPr lang="en-GB" sz="1400" b="0" i="0" kern="1200" dirty="0">
                          <a:solidFill>
                            <a:schemeClr val="dk1"/>
                          </a:solidFill>
                          <a:effectLst/>
                          <a:latin typeface="+mn-lt"/>
                          <a:ea typeface="+mn-ea"/>
                          <a:cs typeface="+mn-cs"/>
                        </a:rPr>
                        <a:t>N935 (minimum) </a:t>
                      </a:r>
                      <a:endParaRPr lang="en-GB" sz="1400" dirty="0">
                        <a:effectLst/>
                      </a:endParaRPr>
                    </a:p>
                  </a:txBody>
                  <a:tcPr marL="90000" marR="19050" marT="14288" marB="14288" anchor="ctr"/>
                </a:tc>
                <a:extLst>
                  <a:ext uri="{0D108BD9-81ED-4DB2-BD59-A6C34878D82A}">
                    <a16:rowId xmlns:a16="http://schemas.microsoft.com/office/drawing/2014/main" val="2060544414"/>
                  </a:ext>
                </a:extLst>
              </a:tr>
            </a:tbl>
          </a:graphicData>
        </a:graphic>
      </p:graphicFrame>
    </p:spTree>
    <p:extLst>
      <p:ext uri="{BB962C8B-B14F-4D97-AF65-F5344CB8AC3E}">
        <p14:creationId xmlns:p14="http://schemas.microsoft.com/office/powerpoint/2010/main" val="2572127383"/>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4319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306</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302754"/>
            <a:ext cx="11236719" cy="3754874"/>
          </a:xfrm>
          <a:prstGeom prst="rect">
            <a:avLst/>
          </a:prstGeom>
          <a:noFill/>
          <a:ln cap="flat">
            <a:noFill/>
            <a:prstDash val="solid"/>
          </a:ln>
        </p:spPr>
        <p:txBody>
          <a:bodyPr vert="horz" wrap="square" lIns="91440" tIns="45720" rIns="91440" bIns="45720" anchor="t" anchorCtr="0" compatLnSpc="1">
            <a:spAutoFit/>
          </a:bodyPr>
          <a:lstStyle/>
          <a:p>
            <a:pPr marR="0" lvl="0" algn="l" defTabSz="914400" rtl="0" fontAlgn="auto" hangingPunct="1">
              <a:lnSpc>
                <a:spcPct val="100000"/>
              </a:lnSpc>
              <a:spcBef>
                <a:spcPts val="0"/>
              </a:spcBef>
              <a:spcAft>
                <a:spcPts val="0"/>
              </a:spcAft>
              <a:buSzPct val="100000"/>
              <a:tabLst/>
            </a:pPr>
            <a:r>
              <a:rPr lang="en-GB" sz="1400" b="1" i="0" u="sng">
                <a:effectLst/>
              </a:rPr>
              <a:t>Using Movement Reference to look up latest EAL /EAA (Failure to send ERS on DUCR seizures)</a:t>
            </a:r>
          </a:p>
          <a:p>
            <a:pPr marR="0" lvl="0" algn="l" defTabSz="914400" rtl="0" fontAlgn="auto" hangingPunct="1">
              <a:lnSpc>
                <a:spcPct val="100000"/>
              </a:lnSpc>
              <a:spcBef>
                <a:spcPts val="0"/>
              </a:spcBef>
              <a:spcAft>
                <a:spcPts val="0"/>
              </a:spcAft>
              <a:buSzPct val="100000"/>
              <a:tabLst/>
            </a:pPr>
            <a:endParaRPr lang="en-GB" sz="1400" b="1" u="sng"/>
          </a:p>
          <a:p>
            <a:pPr>
              <a:buSzPct val="100000"/>
            </a:pPr>
            <a:r>
              <a:rPr lang="en-GB" sz="1400"/>
              <a:t>An </a:t>
            </a:r>
            <a:r>
              <a:rPr lang="en-GB" sz="1400" b="1"/>
              <a:t>ERS </a:t>
            </a:r>
            <a:r>
              <a:rPr lang="en-GB" sz="1400"/>
              <a:t>(for DUCR level consignments) or </a:t>
            </a:r>
            <a:r>
              <a:rPr lang="en-GB" sz="1400" b="1"/>
              <a:t>EMR </a:t>
            </a:r>
            <a:r>
              <a:rPr lang="en-GB" sz="1400"/>
              <a:t>(for MUCR level consignments)</a:t>
            </a:r>
            <a:r>
              <a:rPr lang="en-GB" sz="1400" b="1"/>
              <a:t> </a:t>
            </a:r>
            <a:r>
              <a:rPr lang="en-GB" sz="1400"/>
              <a:t>is sent following certain movement messages or status changes which update the request submitter with the latest details of the consignment.</a:t>
            </a:r>
          </a:p>
          <a:p>
            <a:pPr marR="0" lvl="0" algn="l" defTabSz="914400" rtl="0" fontAlgn="auto" hangingPunct="1">
              <a:lnSpc>
                <a:spcPct val="100000"/>
              </a:lnSpc>
              <a:spcBef>
                <a:spcPts val="0"/>
              </a:spcBef>
              <a:spcAft>
                <a:spcPts val="0"/>
              </a:spcAft>
              <a:buSzPct val="100000"/>
              <a:tabLst/>
            </a:pPr>
            <a:endParaRPr lang="en-GB" sz="1400"/>
          </a:p>
          <a:p>
            <a:pPr marR="0" lvl="0" algn="l" defTabSz="914400" rtl="0" fontAlgn="auto" hangingPunct="1">
              <a:lnSpc>
                <a:spcPct val="100000"/>
              </a:lnSpc>
              <a:spcBef>
                <a:spcPts val="0"/>
              </a:spcBef>
              <a:spcAft>
                <a:spcPts val="0"/>
              </a:spcAft>
              <a:buSzPct val="100000"/>
              <a:tabLst/>
            </a:pPr>
            <a:r>
              <a:rPr lang="en-GB" sz="1400"/>
              <a:t>This functionality ensures that an ERS that is received from CHIEF is sent to the latest EAL Movement (or EAA Movement if this is absent) raiser when a DUCR has been disassociated - so that prohibited and restricted goods are not at risk of being incorrectly released.</a:t>
            </a:r>
          </a:p>
          <a:p>
            <a:pPr marR="0" lvl="0" algn="l" defTabSz="914400" rtl="0" fontAlgn="auto" hangingPunct="1">
              <a:lnSpc>
                <a:spcPct val="100000"/>
              </a:lnSpc>
              <a:spcBef>
                <a:spcPts val="0"/>
              </a:spcBef>
              <a:spcAft>
                <a:spcPts val="0"/>
              </a:spcAft>
              <a:buSzPct val="100000"/>
              <a:tabLst/>
            </a:pPr>
            <a:endParaRPr lang="en-GB" sz="1400" b="1" u="sng">
              <a:ea typeface="Times New Roman" pitchFamily="18"/>
              <a:cs typeface="Times New Roman" pitchFamily="18"/>
            </a:endParaRPr>
          </a:p>
          <a:p>
            <a:pPr>
              <a:defRPr sz="1800" b="0" i="0" u="none" strike="noStrike" kern="0" cap="none" spc="0" baseline="0">
                <a:solidFill>
                  <a:srgbClr val="000000"/>
                </a:solidFill>
                <a:uFillTx/>
              </a:defRPr>
            </a:pPr>
            <a:r>
              <a:rPr lang="en-GB" sz="1400" b="1" u="none" strike="noStrike" kern="1200" cap="none" spc="0" baseline="0">
                <a:uFillTx/>
                <a:ea typeface="Times New Roman" pitchFamily="18"/>
                <a:cs typeface="Times New Roman" pitchFamily="18"/>
              </a:rPr>
              <a:t>To ensure CDS sends out the ERS to the latest Movement (EAA/EAL) raiser when DUCR has been disassociated:</a:t>
            </a:r>
          </a:p>
          <a:p>
            <a:pPr>
              <a:defRPr sz="1800" b="0" i="0" u="none" strike="noStrike" kern="0" cap="none" spc="0" baseline="0">
                <a:solidFill>
                  <a:srgbClr val="000000"/>
                </a:solidFill>
                <a:uFillTx/>
              </a:defRPr>
            </a:pPr>
            <a:endParaRPr lang="en-GB" sz="1400" b="1">
              <a:ea typeface="Times New Roman" pitchFamily="18"/>
              <a:cs typeface="Times New Roman" pitchFamily="18"/>
            </a:endParaRP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a:effectLst/>
                <a:cs typeface="Times New Roman" pitchFamily="18"/>
              </a:rPr>
              <a:t>CSPs/Loaders </a:t>
            </a:r>
            <a:r>
              <a:rPr lang="en-GB" sz="1400" b="0" i="0">
                <a:effectLst/>
              </a:rPr>
              <a:t>must </a:t>
            </a:r>
            <a:r>
              <a:rPr lang="en-GB" sz="1400"/>
              <a:t>ensure a unique Movement Reference is included in the EAL/EAA submission.</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a:t>Where a Movement Reference has been provided and all prior logic has not matched on a request, CDS will look up the latest arrival message, EAL/EAA, using the Movement Reference only.</a:t>
            </a:r>
          </a:p>
          <a:p>
            <a:pPr>
              <a:defRPr sz="1800" b="0" i="0" u="none" strike="noStrike" kern="0" cap="none" spc="0" baseline="0">
                <a:solidFill>
                  <a:srgbClr val="000000"/>
                </a:solidFill>
                <a:uFillTx/>
              </a:defRPr>
            </a:pPr>
            <a:r>
              <a:rPr lang="en-GB" sz="1400" b="1"/>
              <a:t>	Note: </a:t>
            </a:r>
            <a:r>
              <a:rPr lang="en-GB" sz="1400"/>
              <a:t>for Test Scenarios, an updated EMR will be sent out by CDS, in addition the ERS. </a:t>
            </a:r>
          </a:p>
          <a:p>
            <a:pPr>
              <a:defRPr sz="1800" b="0" i="0" u="none" strike="noStrike" kern="0" cap="none" spc="0" baseline="0">
                <a:solidFill>
                  <a:srgbClr val="000000"/>
                </a:solidFill>
                <a:uFillTx/>
              </a:defRPr>
            </a:pPr>
            <a:endParaRPr lang="en-GB" sz="1400" b="0" i="0">
              <a:solidFill>
                <a:srgbClr val="333333"/>
              </a:solidFill>
              <a:effectLst/>
              <a:latin typeface="Calibri  "/>
            </a:endParaRPr>
          </a:p>
          <a:p>
            <a:pPr marL="285750" indent="-285750">
              <a:buFont typeface="Arial" panose="020B0604020202020204" pitchFamily="34" charset="0"/>
              <a:buChar cha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0" i="0">
                <a:solidFill>
                  <a:srgbClr val="333333"/>
                </a:solidFill>
                <a:effectLst/>
                <a:latin typeface="Calibri  "/>
              </a:rPr>
              <a:t> </a:t>
            </a: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2137726326"/>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6445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F8C6FEBB-F102-4DFE-971D-92B3DA2FF58F}" type="slidenum">
              <a:rPr kumimoji="0" lang="en-GB" sz="1200" b="0" i="0" u="none" strike="noStrike" kern="0" cap="none" spc="0" normalizeH="0" baseline="0" noProof="0" smtClean="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307</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6099" y="1302647"/>
            <a:ext cx="11282159" cy="385015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sng" strike="noStrike" kern="0" cap="none" spc="0" normalizeH="0" baseline="0" noProof="0" dirty="0">
                <a:ln>
                  <a:noFill/>
                </a:ln>
                <a:solidFill>
                  <a:srgbClr val="000000"/>
                </a:solidFill>
                <a:effectLst/>
                <a:uLnTx/>
                <a:uFillTx/>
                <a:latin typeface="Calibri" panose="020F0502020204030204"/>
                <a:ea typeface="+mn-ea"/>
                <a:cs typeface="+mn-cs"/>
              </a:rPr>
              <a:t>Handling XI ARCs (Administrative Reference Codes)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CDS 3.9.0 will see the introduction of ‘XI’ as a recognised country code for ARCs. CDS will now accept “XI” when used in an ARC, subject to other existing ARC validation, when an “XI ARC” is used for Excise export declarations from Northern Ireland. </a:t>
            </a: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dirty="0">
                <a:ln>
                  <a:noFill/>
                </a:ln>
                <a:solidFill>
                  <a:srgbClr val="000000"/>
                </a:solidFill>
                <a:effectLst/>
                <a:uLnTx/>
                <a:uFillTx/>
                <a:latin typeface="Calibri" panose="020F0502020204030204"/>
                <a:ea typeface="+mn-ea"/>
                <a:cs typeface="+mn-cs"/>
              </a:rPr>
              <a:t>For NI-EU consignments and NI to GB movements, goods that are liable for excise duties (such as tobacco, energy, and alcohol) are given Administrative Reference Codes (ARCs) by the EMCS to track the movement of the goods in real time. Enabling the submission of ‘XI’ ARCs by NI traders on NI export declarations will ensure the excise security that is held within the EMCS can be discharged after departure from a full audit trail, where the ARC will  match the one issued by EMCS.</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dirty="0">
              <a:ln>
                <a:noFill/>
              </a:ln>
              <a:solidFill>
                <a:srgbClr val="000000"/>
              </a:solidFill>
              <a:effectLst/>
              <a:uLnTx/>
              <a:uFillTx/>
              <a:latin typeface="Calibri" panose="020F0502020204030204"/>
              <a:ea typeface="+mn-ea"/>
              <a:cs typeface="Calibri"/>
            </a:endParaRPr>
          </a:p>
          <a:p>
            <a:pPr marL="0" marR="0" lvl="0" indent="0" algn="l" defTabSz="914400" rtl="0" eaLnBrk="1" fontAlgn="auto" latinLnBrk="0" hangingPunct="1">
              <a:lnSpc>
                <a:spcPct val="107000"/>
              </a:lnSpc>
              <a:spcBef>
                <a:spcPts val="0"/>
              </a:spcBef>
              <a:spcAft>
                <a:spcPts val="0"/>
              </a:spcAft>
              <a:buClrTx/>
              <a:buSzPts val="1000"/>
              <a:buFontTx/>
              <a:buNone/>
              <a:tabLst>
                <a:tab pos="457200" algn="l"/>
              </a:tabLst>
              <a:defRPr/>
            </a:pPr>
            <a:r>
              <a:rPr kumimoji="0" lang="en-GB" sz="1400" b="1"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Acceptance criteria</a:t>
            </a:r>
          </a:p>
          <a:p>
            <a:pPr marL="285750" marR="0" lvl="0" indent="-285750" algn="l" defTabSz="914400" rtl="0" eaLnBrk="1" fontAlgn="auto" latinLnBrk="0" hangingPunct="1">
              <a:lnSpc>
                <a:spcPct val="107000"/>
              </a:lnSpc>
              <a:spcBef>
                <a:spcPts val="0"/>
              </a:spcBef>
              <a:spcAft>
                <a:spcPts val="0"/>
              </a:spcAft>
              <a:buClrTx/>
              <a:buSzPts val="1000"/>
              <a:buFont typeface="Arial" panose="020B0604020202020204" pitchFamily="34" charset="0"/>
              <a:buChar char="•"/>
              <a:tabLst>
                <a:tab pos="457200" algn="l"/>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The excise trader must enter the XI ARC into D.E. 2/3 at item level against document code C651 on an exports declaration.</a:t>
            </a:r>
          </a:p>
          <a:p>
            <a:pPr marL="285750" marR="0" lvl="0" indent="-285750" algn="l" defTabSz="914400" rtl="0" eaLnBrk="1" fontAlgn="auto" latinLnBrk="0" hangingPunct="1">
              <a:lnSpc>
                <a:spcPct val="107000"/>
              </a:lnSpc>
              <a:spcBef>
                <a:spcPts val="0"/>
              </a:spcBef>
              <a:spcAft>
                <a:spcPts val="0"/>
              </a:spcAft>
              <a:buClrTx/>
              <a:buSzPts val="1000"/>
              <a:buFont typeface="Arial" panose="020B0604020202020204" pitchFamily="34" charset="0"/>
              <a:buChar char="•"/>
              <a:tabLst>
                <a:tab pos="457200" algn="l"/>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CDS will validate the ARC, including XI in the 3</a:t>
            </a:r>
            <a:r>
              <a:rPr kumimoji="0" lang="en-GB" sz="1400" b="0" i="0" u="none" strike="noStrike" kern="1200" cap="none" spc="0" normalizeH="0" baseline="30000" noProof="0" dirty="0">
                <a:ln>
                  <a:noFill/>
                </a:ln>
                <a:solidFill>
                  <a:prstClr val="black"/>
                </a:solidFill>
                <a:effectLst/>
                <a:uLnTx/>
                <a:uFillTx/>
                <a:latin typeface="Calibri" panose="020F0502020204030204"/>
                <a:ea typeface="Times New Roman" panose="02020603050405020304" pitchFamily="18" charset="0"/>
                <a:cs typeface="Times New Roman"/>
              </a:rPr>
              <a:t>rd</a:t>
            </a:r>
            <a:r>
              <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 and 4</a:t>
            </a:r>
            <a:r>
              <a:rPr kumimoji="0" lang="en-GB" sz="1400" b="0" i="0" u="none" strike="noStrike" kern="1200" cap="none" spc="0" normalizeH="0" baseline="30000" noProof="0" dirty="0">
                <a:ln>
                  <a:noFill/>
                </a:ln>
                <a:solidFill>
                  <a:prstClr val="black"/>
                </a:solidFill>
                <a:effectLst/>
                <a:uLnTx/>
                <a:uFillTx/>
                <a:latin typeface="Calibri" panose="020F0502020204030204"/>
                <a:ea typeface="Times New Roman" panose="02020603050405020304" pitchFamily="18" charset="0"/>
                <a:cs typeface="Times New Roman"/>
              </a:rPr>
              <a:t>th</a:t>
            </a:r>
            <a:r>
              <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 characters. XI will be accepted as a country </a:t>
            </a: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Times New Roman"/>
              </a:rPr>
              <a:t>code against the ARC.</a:t>
            </a:r>
          </a:p>
          <a:p>
            <a:pPr marL="0" marR="0" lvl="0" indent="0" algn="l" defTabSz="914400" rtl="0" eaLnBrk="1" fontAlgn="auto" latinLnBrk="0" hangingPunct="1">
              <a:lnSpc>
                <a:spcPct val="107000"/>
              </a:lnSpc>
              <a:spcBef>
                <a:spcPts val="0"/>
              </a:spcBef>
              <a:spcAft>
                <a:spcPts val="0"/>
              </a:spcAft>
              <a:buClrTx/>
              <a:buSzPts val="1000"/>
              <a:buFontTx/>
              <a:buNone/>
              <a:tabLst>
                <a:tab pos="457200" algn="l"/>
              </a:tabLst>
              <a:defRPr/>
            </a:pPr>
            <a:endParaRPr kumimoji="0" lang="en-GB" sz="1400" b="0" i="0" u="none" strike="noStrike" kern="1200" cap="none" spc="0" normalizeH="0" baseline="0" noProof="0" dirty="0">
              <a:ln>
                <a:noFill/>
              </a:ln>
              <a:solidFill>
                <a:prstClr val="black"/>
              </a:solidFill>
              <a:effectLst/>
              <a:highlight>
                <a:srgbClr val="FFFF00"/>
              </a:highlight>
              <a:uLnTx/>
              <a:uFillTx/>
              <a:latin typeface="Calibri" panose="020F0502020204030204"/>
              <a:ea typeface="Times New Roman" panose="02020603050405020304" pitchFamily="18"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Pts val="1000"/>
              <a:buFontTx/>
              <a:buNone/>
              <a:tabLst>
                <a:tab pos="457200" algn="l"/>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Pts val="1000"/>
              <a:buFontTx/>
              <a:buNone/>
              <a:tabLst>
                <a:tab pos="457200" algn="l"/>
              </a:tabLst>
              <a:defRPr/>
            </a:pPr>
            <a:r>
              <a:rPr kumimoji="0" lang="en-GB" sz="1400" b="1"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Please Note: </a:t>
            </a:r>
            <a:r>
              <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a:rPr>
              <a:t>Allowing 'XI' as a country code will only apply to ARC validation, and not any other country code validation.</a:t>
            </a:r>
          </a:p>
          <a:p>
            <a:pPr marL="0" marR="0" lvl="0" indent="0" algn="l" defTabSz="914400" rtl="0" eaLnBrk="1" fontAlgn="auto" latinLnBrk="0" hangingPunct="1">
              <a:lnSpc>
                <a:spcPct val="107000"/>
              </a:lnSpc>
              <a:spcBef>
                <a:spcPts val="0"/>
              </a:spcBef>
              <a:spcAft>
                <a:spcPts val="0"/>
              </a:spcAft>
              <a:buClrTx/>
              <a:buSzPts val="1000"/>
              <a:buFontTx/>
              <a:buNone/>
              <a:tabLst>
                <a:tab pos="457200" algn="l"/>
              </a:tabLst>
              <a:defRPr/>
            </a:pPr>
            <a:endParaRPr kumimoji="0" lang="en-GB" sz="1400" b="0" i="0" u="none" strike="noStrike" kern="1200" cap="none" spc="0" normalizeH="0" baseline="0" noProof="0" dirty="0">
              <a:ln>
                <a:noFill/>
              </a:ln>
              <a:solidFill>
                <a:prstClr val="black"/>
              </a:solidFill>
              <a:effectLst/>
              <a:uLnTx/>
              <a:uFillTx/>
              <a:latin typeface="Calibri" panose="020F0502020204030204"/>
              <a:ea typeface="Times New Roman" panose="02020603050405020304" pitchFamily="18" charset="0"/>
              <a:cs typeface="Times New Roman" panose="02020603050405020304" pitchFamily="18" charset="0"/>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spTree>
    <p:extLst>
      <p:ext uri="{BB962C8B-B14F-4D97-AF65-F5344CB8AC3E}">
        <p14:creationId xmlns:p14="http://schemas.microsoft.com/office/powerpoint/2010/main" val="3596427136"/>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20434">
                <a:tc>
                  <a:txBody>
                    <a:bodyPr/>
                    <a:lstStyle/>
                    <a:p>
                      <a:pPr lvl="0" algn="ctr"/>
                      <a:r>
                        <a:rPr lang="en-GB" sz="1200" dirty="0"/>
                        <a:t>TTM20.0.1 (CDS 3.8.0)</a:t>
                      </a:r>
                    </a:p>
                  </a:txBody>
                  <a:tcPr>
                    <a:solidFill>
                      <a:srgbClr val="595959"/>
                    </a:solidFill>
                  </a:tcPr>
                </a:tc>
                <a:extLst>
                  <a:ext uri="{0D108BD9-81ED-4DB2-BD59-A6C34878D82A}">
                    <a16:rowId xmlns:a16="http://schemas.microsoft.com/office/drawing/2014/main" val="3198895953"/>
                  </a:ext>
                </a:extLst>
              </a:tr>
              <a:tr h="261975">
                <a:tc>
                  <a:txBody>
                    <a:bodyPr/>
                    <a:lstStyle/>
                    <a:p>
                      <a:pPr lvl="0" algn="ctr"/>
                      <a:endParaRPr lang="en-GB" sz="1200" b="0" dirty="0">
                        <a:solidFill>
                          <a:srgbClr val="000000"/>
                        </a:solidFill>
                      </a:endParaRP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75268" y="4321855"/>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sng" strike="noStrike" kern="1200" cap="none" spc="0" baseline="0">
                          <a:solidFill>
                            <a:srgbClr val="000000"/>
                          </a:solidFill>
                          <a:uFillTx/>
                          <a:latin typeface="+mn-lt"/>
                          <a:hlinkClick r:id="rId3" action="ppaction://hlinksldjump"/>
                        </a:rPr>
                        <a:t>CHIEF-CDS SOE Mapping Corrections</a:t>
                      </a:r>
                      <a:endParaRPr lang="en-GB" sz="1200" b="0" i="0" u="sng"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i="0" u="sng"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1" u="sng">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endParaRPr lang="en-GB" sz="1200" b="0" i="0" u="sng" strike="noStrike">
                        <a:solidFill>
                          <a:srgbClr val="000000"/>
                        </a:solidFill>
                        <a:latin typeface="Calibri" pitchFamily="3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i="0" u="sng"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a:solidFill>
                          <a:srgbClr val="000000"/>
                        </a:solidFill>
                        <a:latin typeface="Calibri" pitchFamily="3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Available in </a:t>
              </a:r>
              <a:r>
                <a:rPr lang="en-GB" sz="1200" b="1" i="0" u="none" strike="noStrike" kern="1200" cap="none" spc="0" baseline="0" dirty="0">
                  <a:solidFill>
                    <a:srgbClr val="000000"/>
                  </a:solidFill>
                  <a:uFillTx/>
                  <a:latin typeface="Calibri"/>
                </a:rPr>
                <a:t>Production</a:t>
              </a:r>
              <a:r>
                <a:rPr lang="en-GB" sz="1200" b="0" i="0" u="none" strike="noStrike" kern="1200" cap="none" spc="0" baseline="0" dirty="0">
                  <a:solidFill>
                    <a:srgbClr val="000000"/>
                  </a:solidFill>
                  <a:uFillTx/>
                  <a:latin typeface="Calibri"/>
                </a:rPr>
                <a:t> and </a:t>
              </a:r>
              <a:r>
                <a:rPr lang="en-GB" sz="1200" b="1" i="0" u="none" strike="noStrike" kern="1200" cap="none" spc="0" baseline="0" dirty="0">
                  <a:solidFill>
                    <a:srgbClr val="000000"/>
                  </a:solidFill>
                  <a:uFillTx/>
                  <a:latin typeface="Calibri"/>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3F662CFA-CD8C-435C-A8CE-41E0D8CF08CE}"/>
              </a:ext>
            </a:extLst>
          </p:cNvPr>
          <p:cNvSpPr/>
          <p:nvPr/>
        </p:nvSpPr>
        <p:spPr>
          <a:xfrm>
            <a:off x="546399" y="43923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15F092-1F4D-4947-81BB-BF615C369066}" type="slidenum">
              <a:rPr sz="1200"/>
              <a:t>308</a:t>
            </a:fld>
            <a:endParaRPr lang="en-GB" sz="1200" b="0" i="0" u="none" strike="noStrike" kern="1200" cap="none" spc="0" baseline="0" dirty="0">
              <a:solidFill>
                <a:srgbClr val="000000"/>
              </a:solidFill>
              <a:uFillTx/>
              <a:latin typeface="Calibri"/>
            </a:endParaRPr>
          </a:p>
        </p:txBody>
      </p:sp>
      <p:sp>
        <p:nvSpPr>
          <p:cNvPr id="22" name="Footer Placeholder 1">
            <a:extLst>
              <a:ext uri="{FF2B5EF4-FFF2-40B4-BE49-F238E27FC236}">
                <a16:creationId xmlns:a16="http://schemas.microsoft.com/office/drawing/2014/main" id="{AD050F91-3C87-4395-8E5B-02E584CE285B}"/>
              </a:ext>
            </a:extLst>
          </p:cNvPr>
          <p:cNvSpPr txBox="1"/>
          <p:nvPr/>
        </p:nvSpPr>
        <p:spPr>
          <a:xfrm>
            <a:off x="2951472"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uFillTx/>
              </a:rPr>
              <a:t> issued CDS Scope Guidance can be found in the </a:t>
            </a:r>
            <a:r>
              <a:rPr lang="en-GB" sz="1400" b="0" i="0" u="none" strike="noStrike" kern="1200" cap="none" spc="0" baseline="0">
                <a:uFillTx/>
                <a:hlinkClick r:id="rId4"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extLst>
                    <a:ext uri="{A12FA001-AC4F-418D-AE19-62706E023703}">
                      <ahyp:hlinkClr xmlns:ahyp="http://schemas.microsoft.com/office/drawing/2018/hyperlinkcolor" val="tx"/>
                    </a:ext>
                  </a:extLst>
                </a:hlinkClick>
              </a:rPr>
              <a:t>Technical Documentation</a:t>
            </a:r>
            <a:r>
              <a:rPr lang="en-GB" sz="1400" b="0" i="0" u="none" strike="noStrike" kern="1200" cap="none" spc="0" baseline="0">
                <a:uFillTx/>
              </a:rPr>
              <a:t> section of the Customs Declaration Service end-to-end service guide within the HMRC Developer Hub.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If you have any questions regarding this release, please send your query to </a:t>
            </a:r>
            <a:r>
              <a:rPr lang="en-GB" sz="1400" b="0" i="0" u="none" strike="noStrike" kern="1200" cap="none" spc="0" baseline="0">
                <a:solidFill>
                  <a:srgbClr val="000000"/>
                </a:solidFill>
                <a:uFillTx/>
                <a:ea typeface="Calibri" pitchFamily="34"/>
                <a:cs typeface="Calibri"/>
                <a:hlinkClick r:id="rId5"/>
              </a:rPr>
              <a:t>SDSTeam@hmrc.gov.uk</a:t>
            </a:r>
            <a:r>
              <a:rPr lang="en-GB" sz="1400" b="0" i="0" u="none" strike="noStrike" kern="1200" cap="none" spc="0" baseline="0">
                <a:solidFill>
                  <a:srgbClr val="000000"/>
                </a:solidFill>
                <a:uFillTx/>
                <a:ea typeface="Calibri" pitchFamily="34"/>
                <a:cs typeface="Calibri"/>
              </a:rPr>
              <a:t>.</a:t>
            </a:r>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7CB744-1ACD-4249-B6D0-03803F36960B}" type="slidenum">
              <a:rPr sz="1200"/>
              <a:t>309</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199866"/>
            <a:ext cx="11282159" cy="248209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uFillTx/>
                <a:latin typeface="Calibri"/>
              </a:rPr>
              <a:t>CHIEF-CDS State Of Entry Mapping Corrections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The following corrections to CHIEF-CDS State Of Entry (SOE) Mapping will enable the differentiation between a cancelled and seized shipment. Consequently, this will allow CSPs to update the inventory of seized shipments where necessary.</a:t>
            </a:r>
          </a:p>
          <a:p>
            <a:pPr>
              <a:lnSpc>
                <a:spcPct val="107000"/>
              </a:lnSpc>
              <a:spcAft>
                <a:spcPts val="800"/>
              </a:spcAft>
              <a:defRPr sz="1800" b="0" i="0" u="none" strike="noStrike" kern="0" cap="none" spc="0" baseline="0">
                <a:solidFill>
                  <a:srgbClr val="000000"/>
                </a:solidFill>
                <a:uFillTx/>
              </a:defRPr>
            </a:pPr>
            <a:endParaRPr lang="en-GB" sz="1400" b="0" i="0" u="none" strike="noStrike" kern="1200" cap="none" spc="0" baseline="0">
              <a:uFillTx/>
              <a:latin typeface="Calibri" panose="020F0502020204030204" pitchFamily="34" charset="0"/>
              <a:ea typeface="Times New Roman" pitchFamily="18"/>
              <a:cs typeface="Calibri" panose="020F0502020204030204" pitchFamily="34" charset="0"/>
            </a:endParaRPr>
          </a:p>
          <a:p>
            <a:pPr>
              <a:lnSpc>
                <a:spcPct val="107000"/>
              </a:lnSpc>
              <a:spcAft>
                <a:spcPts val="800"/>
              </a:spcAft>
              <a:defRPr sz="1800" b="0" i="0" u="none" strike="noStrike" kern="0" cap="none" spc="0" baseline="0">
                <a:solidFill>
                  <a:srgbClr val="000000"/>
                </a:solidFill>
                <a:uFillTx/>
              </a:defRPr>
            </a:pPr>
            <a:r>
              <a:rPr lang="en-GB" sz="1400" b="1" i="0" u="none" strike="noStrike" kern="1200" cap="none" spc="0" baseline="0">
                <a:uFillTx/>
                <a:latin typeface="Calibri" panose="020F0502020204030204" pitchFamily="34" charset="0"/>
                <a:ea typeface="Times New Roman" pitchFamily="18"/>
                <a:cs typeface="Calibri" panose="020F0502020204030204" pitchFamily="34" charset="0"/>
              </a:rPr>
              <a:t>Changes to existing mappings are as follows: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CHIEF SOE of ‘1’ and ‘any’ Import Clearance Status (ICS) value has been mapped to a CDS SOE value of ‘14’. </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CHIEF SOE of ‘9’ and ICS value of ‘92’ </a:t>
            </a:r>
            <a:r>
              <a:rPr lang="en-GB" sz="1400">
                <a:latin typeface="Calibri" panose="020F0502020204030204" pitchFamily="34" charset="0"/>
                <a:ea typeface="Times New Roman" pitchFamily="18"/>
                <a:cs typeface="Calibri" panose="020F0502020204030204" pitchFamily="34" charset="0"/>
              </a:rPr>
              <a:t>has been</a:t>
            </a: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 mapped to a CDS SOE value of ‘4’ and ICS value of ‘3’.</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CHIEF SOE of ‘9’ and ICS value ‘anything other than 92 or 93’ </a:t>
            </a:r>
            <a:r>
              <a:rPr lang="en-GB" sz="1400">
                <a:latin typeface="Calibri" panose="020F0502020204030204" pitchFamily="34" charset="0"/>
                <a:ea typeface="Times New Roman" pitchFamily="18"/>
                <a:cs typeface="Calibri" panose="020F0502020204030204" pitchFamily="34" charset="0"/>
              </a:rPr>
              <a:t>has been</a:t>
            </a: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 mapped to </a:t>
            </a:r>
            <a:r>
              <a:rPr lang="en-GB" sz="1400">
                <a:latin typeface="Calibri" panose="020F0502020204030204" pitchFamily="34" charset="0"/>
                <a:ea typeface="Times New Roman" pitchFamily="18"/>
                <a:cs typeface="Calibri" panose="020F0502020204030204" pitchFamily="34" charset="0"/>
              </a:rPr>
              <a:t>both </a:t>
            </a: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CDS SOE value of ‘4’ and ICS value of ‘6’ or CDS SOE value of ‘4’ and no ICS value.</a:t>
            </a:r>
          </a:p>
          <a:p>
            <a:pPr marL="285750" indent="-285750">
              <a:buFont typeface="Arial" panose="020B0604020202020204" pitchFamily="34" charset="0"/>
              <a:buChar char="•"/>
              <a:defRPr sz="1800" b="0" i="0" u="none" strike="noStrike" kern="0" cap="none" spc="0" baseline="0">
                <a:solidFill>
                  <a:srgbClr val="000000"/>
                </a:solidFill>
                <a:uFillTx/>
              </a:defRPr>
            </a:pP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CHIEF SOE of ‘8’ and an ICS value </a:t>
            </a:r>
            <a:r>
              <a:rPr lang="en-GB" sz="1400">
                <a:latin typeface="Calibri" panose="020F0502020204030204" pitchFamily="34" charset="0"/>
                <a:ea typeface="Times New Roman" pitchFamily="18"/>
                <a:cs typeface="Calibri" panose="020F0502020204030204" pitchFamily="34" charset="0"/>
              </a:rPr>
              <a:t>of ’60’ or ‘62</a:t>
            </a:r>
            <a:r>
              <a:rPr lang="en-GB" sz="1400" b="0" i="0" u="none" strike="noStrike" kern="1200" cap="none" spc="0" baseline="0">
                <a:uFillTx/>
                <a:latin typeface="Calibri" panose="020F0502020204030204" pitchFamily="34" charset="0"/>
                <a:ea typeface="Times New Roman" pitchFamily="18"/>
                <a:cs typeface="Calibri" panose="020F0502020204030204" pitchFamily="34" charset="0"/>
              </a:rPr>
              <a:t>’-  this is now mapped to a CDS SOE value of ‘D’</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78463436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857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7CB744-1ACD-4249-B6D0-03803F36960B}" type="slidenum">
              <a:rPr sz="1200"/>
              <a:t>310</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199866"/>
            <a:ext cx="11282159" cy="307777"/>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strike="noStrike" kern="1200" cap="none" spc="0" baseline="0">
                <a:uFillTx/>
              </a:rPr>
              <a:t>CHIEF-CDS SOE Mapping Correction Examples</a:t>
            </a: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0">
            <a:extLst>
              <a:ext uri="{FF2B5EF4-FFF2-40B4-BE49-F238E27FC236}">
                <a16:creationId xmlns:a16="http://schemas.microsoft.com/office/drawing/2014/main" id="{23991052-E2DA-4D2D-8AD7-24902E35EE21}"/>
              </a:ext>
            </a:extLst>
          </p:cNvPr>
          <p:cNvGraphicFramePr>
            <a:graphicFrameLocks noGrp="1"/>
          </p:cNvGraphicFramePr>
          <p:nvPr/>
        </p:nvGraphicFramePr>
        <p:xfrm>
          <a:off x="917607" y="1948180"/>
          <a:ext cx="10356785" cy="2961640"/>
        </p:xfrm>
        <a:graphic>
          <a:graphicData uri="http://schemas.openxmlformats.org/drawingml/2006/table">
            <a:tbl>
              <a:tblPr firstRow="1" bandRow="1">
                <a:tableStyleId>{5C22544A-7EE6-4342-B048-85BDC9FD1C3A}</a:tableStyleId>
              </a:tblPr>
              <a:tblGrid>
                <a:gridCol w="902171">
                  <a:extLst>
                    <a:ext uri="{9D8B030D-6E8A-4147-A177-3AD203B41FA5}">
                      <a16:colId xmlns:a16="http://schemas.microsoft.com/office/drawing/2014/main" val="602725027"/>
                    </a:ext>
                  </a:extLst>
                </a:gridCol>
                <a:gridCol w="3151538">
                  <a:extLst>
                    <a:ext uri="{9D8B030D-6E8A-4147-A177-3AD203B41FA5}">
                      <a16:colId xmlns:a16="http://schemas.microsoft.com/office/drawing/2014/main" val="974780456"/>
                    </a:ext>
                  </a:extLst>
                </a:gridCol>
                <a:gridCol w="3151538">
                  <a:extLst>
                    <a:ext uri="{9D8B030D-6E8A-4147-A177-3AD203B41FA5}">
                      <a16:colId xmlns:a16="http://schemas.microsoft.com/office/drawing/2014/main" val="3826607043"/>
                    </a:ext>
                  </a:extLst>
                </a:gridCol>
                <a:gridCol w="3151538">
                  <a:extLst>
                    <a:ext uri="{9D8B030D-6E8A-4147-A177-3AD203B41FA5}">
                      <a16:colId xmlns:a16="http://schemas.microsoft.com/office/drawing/2014/main" val="2447259177"/>
                    </a:ext>
                  </a:extLst>
                </a:gridCol>
              </a:tblGrid>
              <a:tr h="370840">
                <a:tc>
                  <a:txBody>
                    <a:bodyPr/>
                    <a:lstStyle/>
                    <a:p>
                      <a:r>
                        <a:rPr lang="en-GB" sz="1400">
                          <a:solidFill>
                            <a:schemeClr val="bg1"/>
                          </a:solidFill>
                        </a:rPr>
                        <a:t>Scenario</a:t>
                      </a:r>
                    </a:p>
                  </a:txBody>
                  <a:tcPr>
                    <a:solidFill>
                      <a:srgbClr val="009999"/>
                    </a:solidFill>
                  </a:tcPr>
                </a:tc>
                <a:tc>
                  <a:txBody>
                    <a:bodyPr/>
                    <a:lstStyle/>
                    <a:p>
                      <a:r>
                        <a:rPr lang="en-GB" sz="1400">
                          <a:solidFill>
                            <a:schemeClr val="bg1"/>
                          </a:solidFill>
                        </a:rPr>
                        <a:t>Description</a:t>
                      </a:r>
                    </a:p>
                  </a:txBody>
                  <a:tcPr>
                    <a:solidFill>
                      <a:srgbClr val="009999"/>
                    </a:solidFill>
                  </a:tcPr>
                </a:tc>
                <a:tc>
                  <a:txBody>
                    <a:bodyPr/>
                    <a:lstStyle/>
                    <a:p>
                      <a:r>
                        <a:rPr lang="en-GB" sz="1400">
                          <a:solidFill>
                            <a:schemeClr val="bg1"/>
                          </a:solidFill>
                        </a:rPr>
                        <a:t>Expected CHIEF Behaviour</a:t>
                      </a:r>
                    </a:p>
                  </a:txBody>
                  <a:tcPr>
                    <a:solidFill>
                      <a:srgbClr val="009999"/>
                    </a:solidFill>
                  </a:tcPr>
                </a:tc>
                <a:tc>
                  <a:txBody>
                    <a:bodyPr/>
                    <a:lstStyle/>
                    <a:p>
                      <a:r>
                        <a:rPr lang="en-GB" sz="1400">
                          <a:solidFill>
                            <a:schemeClr val="bg1"/>
                          </a:solidFill>
                        </a:rPr>
                        <a:t>Expected CDS Behaviour</a:t>
                      </a:r>
                    </a:p>
                  </a:txBody>
                  <a:tcPr>
                    <a:solidFill>
                      <a:srgbClr val="009999"/>
                    </a:solidFill>
                  </a:tcPr>
                </a:tc>
                <a:extLst>
                  <a:ext uri="{0D108BD9-81ED-4DB2-BD59-A6C34878D82A}">
                    <a16:rowId xmlns:a16="http://schemas.microsoft.com/office/drawing/2014/main" val="1882281013"/>
                  </a:ext>
                </a:extLst>
              </a:tr>
              <a:tr h="370840">
                <a:tc>
                  <a:txBody>
                    <a:bodyPr/>
                    <a:lstStyle/>
                    <a:p>
                      <a:r>
                        <a:rPr lang="en-GB" sz="1400">
                          <a:solidFill>
                            <a:schemeClr val="tx1"/>
                          </a:solidFill>
                          <a:latin typeface="+mn-lt"/>
                        </a:rPr>
                        <a:t>1</a:t>
                      </a:r>
                    </a:p>
                  </a:txBody>
                  <a:tcPr/>
                </a:tc>
                <a:tc>
                  <a:txBody>
                    <a:bodyPr/>
                    <a:lstStyle/>
                    <a:p>
                      <a:r>
                        <a:rPr lang="en-GB" sz="1400">
                          <a:solidFill>
                            <a:schemeClr val="tx1"/>
                          </a:solidFill>
                          <a:latin typeface="+mn-lt"/>
                        </a:rPr>
                        <a:t>Shipment seized by Customs</a:t>
                      </a:r>
                    </a:p>
                  </a:txBody>
                  <a:tcPr/>
                </a:tc>
                <a:tc>
                  <a:txBody>
                    <a:bodyPr/>
                    <a:lstStyle/>
                    <a:p>
                      <a:r>
                        <a:rPr lang="en-GB" sz="1400">
                          <a:solidFill>
                            <a:schemeClr val="tx1"/>
                          </a:solidFill>
                          <a:latin typeface="+mn-lt"/>
                        </a:rPr>
                        <a:t>Generates an SOE of ‘9’ and an ICS of anything other than ’92’ or ’93’</a:t>
                      </a:r>
                    </a:p>
                  </a:txBody>
                  <a:tcPr/>
                </a:tc>
                <a:tc>
                  <a:txBody>
                    <a:bodyPr/>
                    <a:lstStyle/>
                    <a:p>
                      <a:r>
                        <a:rPr lang="en-GB" sz="1400">
                          <a:solidFill>
                            <a:schemeClr val="tx1"/>
                          </a:solidFill>
                          <a:latin typeface="+mn-lt"/>
                        </a:rPr>
                        <a:t>An SOE value of ‘4’ and an ICS code of ‘6’ is returned to the submitter</a:t>
                      </a:r>
                    </a:p>
                  </a:txBody>
                  <a:tcPr/>
                </a:tc>
                <a:extLst>
                  <a:ext uri="{0D108BD9-81ED-4DB2-BD59-A6C34878D82A}">
                    <a16:rowId xmlns:a16="http://schemas.microsoft.com/office/drawing/2014/main" val="4077120918"/>
                  </a:ext>
                </a:extLst>
              </a:tr>
              <a:tr h="370840">
                <a:tc>
                  <a:txBody>
                    <a:bodyPr/>
                    <a:lstStyle/>
                    <a:p>
                      <a:r>
                        <a:rPr lang="en-GB" sz="1400">
                          <a:solidFill>
                            <a:schemeClr val="tx1"/>
                          </a:solidFill>
                          <a:latin typeface="+mn-lt"/>
                        </a:rPr>
                        <a:t>2</a:t>
                      </a:r>
                    </a:p>
                  </a:txBody>
                  <a:tcPr/>
                </a:tc>
                <a:tc>
                  <a:txBody>
                    <a:bodyPr/>
                    <a:lstStyle/>
                    <a:p>
                      <a:r>
                        <a:rPr lang="en-GB" sz="1400">
                          <a:solidFill>
                            <a:schemeClr val="tx1"/>
                          </a:solidFill>
                          <a:latin typeface="+mn-lt"/>
                        </a:rPr>
                        <a:t>Entry cancelled</a:t>
                      </a:r>
                      <a:endParaRPr lang="en-GB" sz="1400" strike="sngStrike">
                        <a:solidFill>
                          <a:schemeClr val="tx1"/>
                        </a:solidFill>
                        <a:latin typeface="+mn-lt"/>
                      </a:endParaRPr>
                    </a:p>
                  </a:txBody>
                  <a:tcPr/>
                </a:tc>
                <a:tc>
                  <a:txBody>
                    <a:bodyPr/>
                    <a:lstStyle/>
                    <a:p>
                      <a:r>
                        <a:rPr lang="en-GB" sz="1400">
                          <a:solidFill>
                            <a:schemeClr val="tx1"/>
                          </a:solidFill>
                          <a:latin typeface="+mn-lt"/>
                        </a:rPr>
                        <a:t>Generates an SOE of ‘9’ and an ICS of ’92’ </a:t>
                      </a:r>
                    </a:p>
                  </a:txBody>
                  <a:tcPr/>
                </a:tc>
                <a:tc>
                  <a:txBody>
                    <a:bodyPr/>
                    <a:lstStyle/>
                    <a:p>
                      <a:r>
                        <a:rPr lang="en-GB" sz="1400">
                          <a:solidFill>
                            <a:schemeClr val="tx1"/>
                          </a:solidFill>
                          <a:latin typeface="+mn-lt"/>
                        </a:rPr>
                        <a:t>An SOE value of ‘4’ and an ICS code of ‘3’ is returned to the submitter</a:t>
                      </a:r>
                    </a:p>
                  </a:txBody>
                  <a:tcPr/>
                </a:tc>
                <a:extLst>
                  <a:ext uri="{0D108BD9-81ED-4DB2-BD59-A6C34878D82A}">
                    <a16:rowId xmlns:a16="http://schemas.microsoft.com/office/drawing/2014/main" val="293727431"/>
                  </a:ext>
                </a:extLst>
              </a:tr>
              <a:tr h="370840">
                <a:tc>
                  <a:txBody>
                    <a:bodyPr/>
                    <a:lstStyle/>
                    <a:p>
                      <a:r>
                        <a:rPr lang="en-GB" sz="1400">
                          <a:solidFill>
                            <a:schemeClr val="tx1"/>
                          </a:solidFill>
                          <a:latin typeface="+mn-lt"/>
                        </a:rPr>
                        <a:t>3</a:t>
                      </a:r>
                    </a:p>
                  </a:txBody>
                  <a:tcPr/>
                </a:tc>
                <a:tc>
                  <a:txBody>
                    <a:bodyPr/>
                    <a:lstStyle/>
                    <a:p>
                      <a:r>
                        <a:rPr lang="en-GB" sz="1400" b="0" i="0" kern="1200">
                          <a:solidFill>
                            <a:schemeClr val="tx1"/>
                          </a:solidFill>
                          <a:effectLst/>
                          <a:latin typeface="+mn-lt"/>
                          <a:ea typeface="+mn-ea"/>
                          <a:cs typeface="+mn-cs"/>
                        </a:rPr>
                        <a:t>Consignment subjected to an associated Route of Entry</a:t>
                      </a:r>
                      <a:endParaRPr lang="en-GB" sz="1400">
                        <a:solidFill>
                          <a:schemeClr val="tx1"/>
                        </a:solidFill>
                        <a:latin typeface="+mn-lt"/>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Generates an SOE of ‘1’ and any ICS value </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An SOE value of ‘14’ is returned to the submitter</a:t>
                      </a:r>
                    </a:p>
                  </a:txBody>
                  <a:tcPr/>
                </a:tc>
                <a:extLst>
                  <a:ext uri="{0D108BD9-81ED-4DB2-BD59-A6C34878D82A}">
                    <a16:rowId xmlns:a16="http://schemas.microsoft.com/office/drawing/2014/main" val="1613783437"/>
                  </a:ext>
                </a:extLst>
              </a:tr>
              <a:tr h="370840">
                <a:tc>
                  <a:txBody>
                    <a:bodyPr/>
                    <a:lstStyle/>
                    <a:p>
                      <a:r>
                        <a:rPr lang="en-GB" sz="1400">
                          <a:solidFill>
                            <a:schemeClr val="tx1"/>
                          </a:solidFill>
                          <a:latin typeface="+mn-lt"/>
                        </a:rPr>
                        <a:t>4</a:t>
                      </a:r>
                    </a:p>
                  </a:txBody>
                  <a:tcPr/>
                </a:tc>
                <a:tc>
                  <a:txBody>
                    <a:bodyPr/>
                    <a:lstStyle/>
                    <a:p>
                      <a:r>
                        <a:rPr lang="en-GB" sz="1400">
                          <a:solidFill>
                            <a:schemeClr val="tx1"/>
                          </a:solidFill>
                          <a:latin typeface="+mn-lt"/>
                        </a:rPr>
                        <a:t>Declaration departed</a:t>
                      </a:r>
                    </a:p>
                  </a:txBody>
                  <a:tcPr/>
                </a:tc>
                <a:tc>
                  <a:txBody>
                    <a:bodyPr/>
                    <a:lstStyle/>
                    <a:p>
                      <a:r>
                        <a:rPr lang="en-GB" sz="1400">
                          <a:solidFill>
                            <a:schemeClr val="tx1"/>
                          </a:solidFill>
                          <a:latin typeface="+mn-lt"/>
                        </a:rPr>
                        <a:t>Generates an SOE of ‘8’ and </a:t>
                      </a:r>
                      <a:r>
                        <a:rPr lang="en-GB" sz="1400" b="0" i="0" u="none" strike="noStrike" kern="1200" cap="none" spc="0" baseline="0">
                          <a:solidFill>
                            <a:schemeClr val="tx1"/>
                          </a:solidFill>
                          <a:uFillTx/>
                          <a:latin typeface="+mn-lt"/>
                          <a:cs typeface="Calibri" panose="020F0502020204030204" pitchFamily="34" charset="0"/>
                        </a:rPr>
                        <a:t>ICS of ‘60’ or ‘62’</a:t>
                      </a:r>
                      <a:endParaRPr lang="en-GB" sz="1400">
                        <a:solidFill>
                          <a:schemeClr val="tx1"/>
                        </a:solidFill>
                        <a:latin typeface="+mn-lt"/>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An SOE value of ‘D’ is returned to the submitter</a:t>
                      </a:r>
                    </a:p>
                  </a:txBody>
                  <a:tcPr/>
                </a:tc>
                <a:extLst>
                  <a:ext uri="{0D108BD9-81ED-4DB2-BD59-A6C34878D82A}">
                    <a16:rowId xmlns:a16="http://schemas.microsoft.com/office/drawing/2014/main" val="3070863418"/>
                  </a:ext>
                </a:extLst>
              </a:tr>
              <a:tr h="278553">
                <a:tc>
                  <a:txBody>
                    <a:bodyPr/>
                    <a:lstStyle/>
                    <a:p>
                      <a:r>
                        <a:rPr lang="en-GB" sz="1400">
                          <a:solidFill>
                            <a:schemeClr val="tx1"/>
                          </a:solidFill>
                          <a:latin typeface="+mn-lt"/>
                        </a:rPr>
                        <a:t>5</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Entry seized/cancelled and no ICS is available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chemeClr val="tx1"/>
                          </a:solidFill>
                          <a:latin typeface="+mn-lt"/>
                        </a:rPr>
                        <a:t>Generates an SOE of ‘9’ and no ICS is available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latin typeface="+mn-lt"/>
                        </a:rPr>
                        <a:t>An SOE value of ‘4’ is returned to the submitter</a:t>
                      </a:r>
                    </a:p>
                  </a:txBody>
                  <a:tcPr/>
                </a:tc>
                <a:extLst>
                  <a:ext uri="{0D108BD9-81ED-4DB2-BD59-A6C34878D82A}">
                    <a16:rowId xmlns:a16="http://schemas.microsoft.com/office/drawing/2014/main" val="2839722321"/>
                  </a:ext>
                </a:extLst>
              </a:tr>
            </a:tbl>
          </a:graphicData>
        </a:graphic>
      </p:graphicFrame>
    </p:spTree>
    <p:extLst>
      <p:ext uri="{BB962C8B-B14F-4D97-AF65-F5344CB8AC3E}">
        <p14:creationId xmlns:p14="http://schemas.microsoft.com/office/powerpoint/2010/main" val="244790590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20434">
                <a:tc>
                  <a:txBody>
                    <a:bodyPr/>
                    <a:lstStyle/>
                    <a:p>
                      <a:pPr lvl="0" algn="ctr"/>
                      <a:r>
                        <a:rPr lang="en-GB" sz="1200"/>
                        <a:t>TTM20.0.2 (CDS 3.8.1)</a:t>
                      </a:r>
                    </a:p>
                  </a:txBody>
                  <a:tcPr>
                    <a:solidFill>
                      <a:srgbClr val="595959"/>
                    </a:solidFill>
                  </a:tcPr>
                </a:tc>
                <a:extLst>
                  <a:ext uri="{0D108BD9-81ED-4DB2-BD59-A6C34878D82A}">
                    <a16:rowId xmlns:a16="http://schemas.microsoft.com/office/drawing/2014/main" val="3198895953"/>
                  </a:ext>
                </a:extLst>
              </a:tr>
              <a:tr h="261975">
                <a:tc>
                  <a:txBody>
                    <a:bodyPr/>
                    <a:lstStyle/>
                    <a:p>
                      <a:pPr lvl="0" algn="ctr"/>
                      <a:endParaRPr lang="en-GB" sz="1200" b="0" dirty="0">
                        <a:solidFill>
                          <a:srgbClr val="000000"/>
                        </a:solidFill>
                      </a:endParaRP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nvGraphicFramePr>
        <p:xfrm>
          <a:off x="475268" y="4321855"/>
          <a:ext cx="11213806" cy="1619007"/>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sng" strike="noStrike" dirty="0">
                          <a:solidFill>
                            <a:srgbClr val="000000"/>
                          </a:solidFill>
                          <a:latin typeface="+mn-lt"/>
                          <a:hlinkClick r:id="rId3" action="ppaction://hlinksldjump"/>
                        </a:rPr>
                        <a:t>Energy Movements (Climate Change Levy Relief: APC 1CL) </a:t>
                      </a:r>
                      <a:endParaRPr lang="en-GB" sz="1200" b="0" i="0" u="sng" strike="noStrike" dirty="0">
                        <a:solidFill>
                          <a:srgbClr val="000000"/>
                        </a:solidFill>
                        <a:latin typeface="Calibri" pitchFamily="34"/>
                      </a:endParaRPr>
                    </a:p>
                    <a:p>
                      <a:pPr marL="171450" marR="0" lvl="0" indent="-171450" algn="l" rtl="0" fontAlgn="auto" hangingPunct="1">
                        <a:lnSpc>
                          <a:spcPct val="100000"/>
                        </a:lnSpc>
                        <a:spcBef>
                          <a:spcPts val="0"/>
                        </a:spcBef>
                        <a:spcAft>
                          <a:spcPts val="0"/>
                        </a:spcAft>
                        <a:buSzPct val="100000"/>
                        <a:buFont typeface="Arial" pitchFamily="34"/>
                        <a:buChar char="•"/>
                      </a:pPr>
                      <a:endParaRPr lang="en-GB" sz="1200" b="0" i="0" u="sng" strike="noStrike" kern="1200" cap="none" spc="0" baseline="0" dirty="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endParaRPr lang="en-GB" sz="1200" b="0" i="0" u="sng"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endParaRPr lang="en-GB" sz="1200" b="1" u="sng">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eaLnBrk="1" fontAlgn="auto" latinLnBrk="0" hangingPunct="1">
                        <a:lnSpc>
                          <a:spcPct val="100000"/>
                        </a:lnSpc>
                        <a:spcBef>
                          <a:spcPts val="0"/>
                        </a:spcBef>
                        <a:spcAft>
                          <a:spcPts val="0"/>
                        </a:spcAft>
                        <a:buClrTx/>
                        <a:buSzPct val="100000"/>
                        <a:buFont typeface="Arial" pitchFamily="34"/>
                        <a:buChar char="•"/>
                      </a:pPr>
                      <a:endParaRPr lang="en-GB" sz="1200" b="0" i="0" u="sng" strike="noStrike">
                        <a:solidFill>
                          <a:srgbClr val="000000"/>
                        </a:solidFill>
                        <a:latin typeface="Calibri" pitchFamily="3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i="0" u="sng"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u="sng">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SzPct val="100000"/>
                        <a:buFont typeface="Arial" panose="020B0604020202020204" pitchFamily="34" charset="0"/>
                        <a:buNone/>
                        <a:tabLst/>
                      </a:pPr>
                      <a:endParaRPr lang="en-GB" sz="1200" b="1" i="0" u="none" strike="noStrike">
                        <a:solidFill>
                          <a:srgbClr val="000000"/>
                        </a:solidFill>
                        <a:latin typeface="Calibri" pitchFamily="34"/>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5345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15F092-1F4D-4947-81BB-BF615C369066}" type="slidenum">
              <a:rPr sz="1200"/>
              <a:t>311</a:t>
            </a:fld>
            <a:endParaRPr lang="en-GB" sz="1200" b="0" i="0" u="none" strike="noStrike" kern="1200" cap="none" spc="0" baseline="0" dirty="0">
              <a:solidFill>
                <a:srgbClr val="000000"/>
              </a:solidFill>
              <a:uFillTx/>
              <a:latin typeface="Calibri"/>
            </a:endParaRPr>
          </a:p>
        </p:txBody>
      </p:sp>
      <p:sp>
        <p:nvSpPr>
          <p:cNvPr id="22" name="Footer Placeholder 1">
            <a:extLst>
              <a:ext uri="{FF2B5EF4-FFF2-40B4-BE49-F238E27FC236}">
                <a16:creationId xmlns:a16="http://schemas.microsoft.com/office/drawing/2014/main" id="{AD050F91-3C87-4395-8E5B-02E584CE285B}"/>
              </a:ext>
            </a:extLst>
          </p:cNvPr>
          <p:cNvSpPr txBox="1"/>
          <p:nvPr/>
        </p:nvSpPr>
        <p:spPr>
          <a:xfrm>
            <a:off x="2951472"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uFillTx/>
              </a:rPr>
              <a:t> issued CDS Scope Guidance can be found in the </a:t>
            </a:r>
            <a:r>
              <a:rPr lang="en-GB" sz="1400" b="0" i="0" u="none" strike="noStrike" kern="1200" cap="none" spc="0" baseline="0">
                <a:solidFill>
                  <a:schemeClr val="accent1"/>
                </a:solidFill>
                <a:uFillTx/>
                <a:hlinkClick r:id="rId4"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extLst>
                    <a:ext uri="{A12FA001-AC4F-418D-AE19-62706E023703}">
                      <ahyp:hlinkClr xmlns:ahyp="http://schemas.microsoft.com/office/drawing/2018/hyperlinkcolor" val="tx"/>
                    </a:ext>
                  </a:extLst>
                </a:hlinkClick>
              </a:rPr>
              <a:t>Technical Documentation</a:t>
            </a:r>
            <a:r>
              <a:rPr lang="en-GB" sz="1400" b="0" i="0" u="none" strike="noStrike" kern="1200" cap="none" spc="0" baseline="0">
                <a:solidFill>
                  <a:schemeClr val="accent1"/>
                </a:solidFill>
                <a:uFillTx/>
              </a:rPr>
              <a:t> </a:t>
            </a:r>
            <a:r>
              <a:rPr lang="en-GB" sz="1400" b="0" i="0" u="none" strike="noStrike" kern="1200" cap="none" spc="0" baseline="0">
                <a:uFillTx/>
              </a:rPr>
              <a:t>section of the Customs Declaration Service end-to-end service guide within the HMRC Developer Hub.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uFillTx/>
                <a:ea typeface="Calibri" pitchFamily="34"/>
                <a:cs typeface="Calibri"/>
              </a:rPr>
              <a:t>If you have any questions regarding this release, please send your query to </a:t>
            </a:r>
            <a:r>
              <a:rPr lang="en-GB" sz="1400" b="0" i="0" u="none" strike="noStrike" kern="1200" cap="none" spc="0" baseline="0">
                <a:solidFill>
                  <a:schemeClr val="accent1"/>
                </a:solidFill>
                <a:uFillTx/>
                <a:ea typeface="Calibri" pitchFamily="34"/>
                <a:cs typeface="Calibri"/>
                <a:hlinkClick r:id="rId5">
                  <a:extLst>
                    <a:ext uri="{A12FA001-AC4F-418D-AE19-62706E023703}">
                      <ahyp:hlinkClr xmlns:ahyp="http://schemas.microsoft.com/office/drawing/2018/hyperlinkcolor" val="tx"/>
                    </a:ext>
                  </a:extLst>
                </a:hlinkClick>
              </a:rPr>
              <a:t>SDSTeam@hmrc.gov.uk</a:t>
            </a:r>
            <a:r>
              <a:rPr lang="en-GB" sz="1400" b="0" i="0" u="none" strike="noStrike" kern="1200" cap="none" spc="0" baseline="0">
                <a:solidFill>
                  <a:schemeClr val="accent1"/>
                </a:solidFill>
                <a:uFillTx/>
                <a:ea typeface="Calibri" pitchFamily="34"/>
                <a:cs typeface="Calibri"/>
              </a:rPr>
              <a:t>.</a:t>
            </a:r>
          </a:p>
        </p:txBody>
      </p:sp>
      <p:sp>
        <p:nvSpPr>
          <p:cNvPr id="32" name="Oval 16">
            <a:extLst>
              <a:ext uri="{FF2B5EF4-FFF2-40B4-BE49-F238E27FC236}">
                <a16:creationId xmlns:a16="http://schemas.microsoft.com/office/drawing/2014/main" id="{442E1BA5-F815-4547-89A9-A425247D35D4}"/>
              </a:ext>
            </a:extLst>
          </p:cNvPr>
          <p:cNvSpPr/>
          <p:nvPr/>
        </p:nvSpPr>
        <p:spPr>
          <a:xfrm>
            <a:off x="546399" y="436802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4319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312</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6099" y="1302647"/>
            <a:ext cx="11450726" cy="4832092"/>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strike="noStrike" kern="1200" cap="none" spc="0" baseline="0" dirty="0">
                <a:uFillTx/>
              </a:rPr>
              <a:t>Energy Movements (Climate Change Levy Relief: APC 1CL)</a:t>
            </a:r>
          </a:p>
          <a:p>
            <a:pPr>
              <a:defRPr sz="1800" b="0" i="0" u="none" strike="noStrike" kern="0" cap="none" spc="0" baseline="0">
                <a:solidFill>
                  <a:srgbClr val="000000"/>
                </a:solidFill>
                <a:uFillTx/>
              </a:defRPr>
            </a:pPr>
            <a:endParaRPr lang="en-GB" sz="1400" b="1" i="0" u="sng" strike="noStrike" kern="1200" cap="none" spc="0" baseline="0" dirty="0">
              <a:uFillTx/>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i="0" dirty="0">
                <a:effectLst/>
              </a:rPr>
              <a:t>From CDS3.9.0, CDS will allow </a:t>
            </a:r>
            <a:r>
              <a:rPr lang="en-GB" sz="1400" dirty="0"/>
              <a:t>the relief of Climate Change Levy when additional Procedure Code ‘1CL’ is declared, in order to allow traders to benefit from duty relief where permitted. This will ensure traders no longer have to perform the manual tax calculation, implemented as an interim workaround, in order to claim relief on customs declarations involving goods liable to Climate Change Levy. </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dirty="0"/>
              <a:t>Pre requisites to relieve Climate Change Levy: </a:t>
            </a:r>
          </a:p>
          <a:p>
            <a:pPr marL="285750" marR="0" lvl="0" indent="-285750" algn="l" defTabSz="914400" rtl="0" fontAlgn="auto" hangingPunct="1">
              <a:lnSpc>
                <a:spcPct val="100000"/>
              </a:lnSpc>
              <a:spcBef>
                <a:spcPts val="0"/>
              </a:spcBef>
              <a:spcAft>
                <a:spcPts val="0"/>
              </a:spcAft>
              <a:buFont typeface="Arial" panose="020B0604020202020204" pitchFamily="34" charset="0"/>
              <a:buChar char="•"/>
              <a:tabLst/>
              <a:defRPr sz="1800" b="0" i="0" u="none" strike="noStrike" kern="0" cap="none" spc="0" baseline="0">
                <a:solidFill>
                  <a:srgbClr val="000000"/>
                </a:solidFill>
                <a:uFillTx/>
              </a:defRPr>
            </a:pPr>
            <a:r>
              <a:rPr lang="en-GB" sz="1400" dirty="0"/>
              <a:t>The commodity code subject to Climate Change Excise duty must be declared in </a:t>
            </a:r>
            <a:r>
              <a:rPr lang="en-GB" sz="1400" b="1" dirty="0"/>
              <a:t>DE 6/15 </a:t>
            </a:r>
            <a:r>
              <a:rPr lang="en-GB" sz="1400" dirty="0"/>
              <a:t>to</a:t>
            </a:r>
            <a:r>
              <a:rPr lang="en-GB" sz="1400" b="1" dirty="0"/>
              <a:t> 6/16 (Combined Nomenclature Code)</a:t>
            </a:r>
          </a:p>
          <a:p>
            <a:pPr marL="285750" marR="0" lvl="0" indent="-285750" algn="l" defTabSz="914400" rtl="0" fontAlgn="auto" hangingPunct="1">
              <a:lnSpc>
                <a:spcPct val="100000"/>
              </a:lnSpc>
              <a:spcBef>
                <a:spcPts val="0"/>
              </a:spcBef>
              <a:spcAft>
                <a:spcPts val="0"/>
              </a:spcAft>
              <a:buFont typeface="Arial" panose="020B0604020202020204" pitchFamily="34" charset="0"/>
              <a:buChar char="•"/>
              <a:tabLst/>
              <a:defRPr sz="1800" b="0" i="0" u="none" strike="noStrike" kern="0" cap="none" spc="0" baseline="0">
                <a:solidFill>
                  <a:srgbClr val="000000"/>
                </a:solidFill>
                <a:uFillTx/>
              </a:defRPr>
            </a:pPr>
            <a:r>
              <a:rPr lang="en-GB" sz="1400" dirty="0"/>
              <a:t>One of the following National Additional Codes must be declared in </a:t>
            </a:r>
            <a:r>
              <a:rPr lang="en-GB" sz="1400" b="1" dirty="0"/>
              <a:t>DE 6/17, listed below.</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i="0" dirty="0">
              <a:effectLst/>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dirty="0"/>
              <a:t>If the National Additional Codes in 6/17 and corresponding measure are not </a:t>
            </a:r>
            <a:r>
              <a:rPr lang="en-GB" sz="1400" u="sng" dirty="0"/>
              <a:t>both</a:t>
            </a:r>
            <a:r>
              <a:rPr lang="en-GB" sz="1400" dirty="0"/>
              <a:t> declared, CDS will reject the declaration and send a DMSREJ notification to the trader.</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dirty="0"/>
              <a:t>To relive Climate Change Levy: </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i="0" dirty="0">
                <a:effectLst/>
              </a:rPr>
              <a:t>Where </a:t>
            </a:r>
            <a:r>
              <a:rPr lang="en-GB" sz="1400" dirty="0"/>
              <a:t>Additional Procedure Code ‘1CL’ is declared in </a:t>
            </a:r>
            <a:r>
              <a:rPr lang="en-GB" sz="1400" b="1" dirty="0"/>
              <a:t>DE 1/11 </a:t>
            </a:r>
            <a:r>
              <a:rPr lang="en-GB" sz="1400" dirty="0"/>
              <a:t>at item level, the Climate Change Levy excise charge will be relieved in full with a corresponding DMSTAX notification issued accordingly. Tax types corresponding to Climate Change Levy are listed below: </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i="0" dirty="0">
              <a:solidFill>
                <a:srgbClr val="333333"/>
              </a:solidFill>
              <a:effectLst/>
              <a:latin typeface="Calibri  "/>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solidFill>
                <a:srgbClr val="333333"/>
              </a:solidFill>
              <a:latin typeface="Calibri  "/>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solidFill>
                <a:srgbClr val="333333"/>
              </a:solidFill>
              <a:latin typeface="Calibri  "/>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solidFill>
                <a:srgbClr val="333333"/>
              </a:solidFill>
              <a:latin typeface="Calibri  "/>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solidFill>
                <a:srgbClr val="333333"/>
              </a:solidFill>
              <a:latin typeface="Calibri  "/>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dirty="0">
              <a:solidFill>
                <a:srgbClr val="333333"/>
              </a:solidFill>
              <a:latin typeface="Calibri  "/>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3" name="Table 12">
            <a:extLst>
              <a:ext uri="{FF2B5EF4-FFF2-40B4-BE49-F238E27FC236}">
                <a16:creationId xmlns:a16="http://schemas.microsoft.com/office/drawing/2014/main" id="{CEA73E01-55BE-4CB3-BF88-139A26431925}"/>
              </a:ext>
            </a:extLst>
          </p:cNvPr>
          <p:cNvGraphicFramePr>
            <a:graphicFrameLocks noGrp="1"/>
          </p:cNvGraphicFramePr>
          <p:nvPr/>
        </p:nvGraphicFramePr>
        <p:xfrm>
          <a:off x="1633079" y="4818512"/>
          <a:ext cx="9252000" cy="1554480"/>
        </p:xfrm>
        <a:graphic>
          <a:graphicData uri="http://schemas.openxmlformats.org/drawingml/2006/table">
            <a:tbl>
              <a:tblPr firstRow="1" bandRow="1">
                <a:tableStyleId>{5C22544A-7EE6-4342-B048-85BDC9FD1C3A}</a:tableStyleId>
              </a:tblPr>
              <a:tblGrid>
                <a:gridCol w="1800000">
                  <a:extLst>
                    <a:ext uri="{9D8B030D-6E8A-4147-A177-3AD203B41FA5}">
                      <a16:colId xmlns:a16="http://schemas.microsoft.com/office/drawing/2014/main" val="3268094759"/>
                    </a:ext>
                  </a:extLst>
                </a:gridCol>
                <a:gridCol w="1656000">
                  <a:extLst>
                    <a:ext uri="{9D8B030D-6E8A-4147-A177-3AD203B41FA5}">
                      <a16:colId xmlns:a16="http://schemas.microsoft.com/office/drawing/2014/main" val="4082901397"/>
                    </a:ext>
                  </a:extLst>
                </a:gridCol>
                <a:gridCol w="5796000">
                  <a:extLst>
                    <a:ext uri="{9D8B030D-6E8A-4147-A177-3AD203B41FA5}">
                      <a16:colId xmlns:a16="http://schemas.microsoft.com/office/drawing/2014/main" val="396019408"/>
                    </a:ext>
                  </a:extLst>
                </a:gridCol>
              </a:tblGrid>
              <a:tr h="236582">
                <a:tc>
                  <a:txBody>
                    <a:bodyPr/>
                    <a:lstStyle/>
                    <a:p>
                      <a:pPr algn="ctr"/>
                      <a:r>
                        <a:rPr lang="en-GB" sz="1200">
                          <a:solidFill>
                            <a:schemeClr val="bg1"/>
                          </a:solidFill>
                          <a:latin typeface="+mn-lt"/>
                        </a:rPr>
                        <a:t>National Additional Code</a:t>
                      </a:r>
                    </a:p>
                  </a:txBody>
                  <a:tcPr>
                    <a:solidFill>
                      <a:srgbClr val="009999"/>
                    </a:solidFill>
                  </a:tcPr>
                </a:tc>
                <a:tc>
                  <a:txBody>
                    <a:bodyPr/>
                    <a:lstStyle/>
                    <a:p>
                      <a:pPr algn="ctr"/>
                      <a:r>
                        <a:rPr lang="en-GB" sz="1200">
                          <a:solidFill>
                            <a:schemeClr val="bg1"/>
                          </a:solidFill>
                          <a:latin typeface="+mn-lt"/>
                        </a:rPr>
                        <a:t>Tax Types / Excise Duty</a:t>
                      </a:r>
                    </a:p>
                  </a:txBody>
                  <a:tcPr>
                    <a:solidFill>
                      <a:srgbClr val="009999"/>
                    </a:solidFill>
                  </a:tcPr>
                </a:tc>
                <a:tc>
                  <a:txBody>
                    <a:bodyPr/>
                    <a:lstStyle/>
                    <a:p>
                      <a:r>
                        <a:rPr lang="en-GB" sz="1200">
                          <a:solidFill>
                            <a:schemeClr val="bg1"/>
                          </a:solidFill>
                          <a:latin typeface="+mn-lt"/>
                        </a:rPr>
                        <a:t>Commodity</a:t>
                      </a:r>
                    </a:p>
                  </a:txBody>
                  <a:tcPr>
                    <a:solidFill>
                      <a:srgbClr val="009999"/>
                    </a:solidFill>
                  </a:tcPr>
                </a:tc>
                <a:extLst>
                  <a:ext uri="{0D108BD9-81ED-4DB2-BD59-A6C34878D82A}">
                    <a16:rowId xmlns:a16="http://schemas.microsoft.com/office/drawing/2014/main" val="1504056671"/>
                  </a:ext>
                </a:extLst>
              </a:tr>
              <a:tr h="0">
                <a:tc>
                  <a:txBody>
                    <a:bodyPr/>
                    <a:lstStyle/>
                    <a:p>
                      <a:pPr algn="ctr"/>
                      <a:r>
                        <a:rPr lang="en-GB" sz="1200">
                          <a:solidFill>
                            <a:schemeClr val="tx1"/>
                          </a:solidFill>
                          <a:latin typeface="+mn-lt"/>
                        </a:rPr>
                        <a:t>X99A</a:t>
                      </a:r>
                    </a:p>
                  </a:txBody>
                  <a:tcPr/>
                </a:tc>
                <a:tc>
                  <a:txBody>
                    <a:bodyPr/>
                    <a:lstStyle/>
                    <a:p>
                      <a:pPr algn="ctr"/>
                      <a:r>
                        <a:rPr lang="en-GB" sz="1200">
                          <a:solidFill>
                            <a:schemeClr val="tx1"/>
                          </a:solidFill>
                          <a:latin typeface="+mn-lt"/>
                        </a:rPr>
                        <a:t>99A</a:t>
                      </a:r>
                    </a:p>
                  </a:txBody>
                  <a:tcPr/>
                </a:tc>
                <a:tc>
                  <a:txBody>
                    <a:bodyPr/>
                    <a:lstStyle/>
                    <a:p>
                      <a:r>
                        <a:rPr lang="en-GB" sz="1200" i="0">
                          <a:solidFill>
                            <a:schemeClr val="tx1"/>
                          </a:solidFill>
                          <a:effectLst/>
                          <a:latin typeface="+mn-lt"/>
                        </a:rPr>
                        <a:t>Solid fuels i.e. coal and lignite, coke and semi-coke of coal or lignite, and petroleum coke </a:t>
                      </a:r>
                      <a:endParaRPr lang="en-GB" sz="1200">
                        <a:solidFill>
                          <a:schemeClr val="tx1"/>
                        </a:solidFill>
                        <a:latin typeface="+mn-lt"/>
                      </a:endParaRPr>
                    </a:p>
                  </a:txBody>
                  <a:tcPr/>
                </a:tc>
                <a:extLst>
                  <a:ext uri="{0D108BD9-81ED-4DB2-BD59-A6C34878D82A}">
                    <a16:rowId xmlns:a16="http://schemas.microsoft.com/office/drawing/2014/main" val="1377955178"/>
                  </a:ext>
                </a:extLst>
              </a:tr>
              <a:tr h="0">
                <a:tc>
                  <a:txBody>
                    <a:bodyPr/>
                    <a:lstStyle/>
                    <a:p>
                      <a:pPr algn="ctr"/>
                      <a:r>
                        <a:rPr lang="en-GB" sz="1200">
                          <a:solidFill>
                            <a:schemeClr val="tx1"/>
                          </a:solidFill>
                          <a:latin typeface="+mn-lt"/>
                        </a:rPr>
                        <a:t>X99B</a:t>
                      </a:r>
                    </a:p>
                  </a:txBody>
                  <a:tcPr/>
                </a:tc>
                <a:tc>
                  <a:txBody>
                    <a:bodyPr/>
                    <a:lstStyle/>
                    <a:p>
                      <a:pPr algn="ctr"/>
                      <a:r>
                        <a:rPr lang="en-GB" sz="1200">
                          <a:solidFill>
                            <a:schemeClr val="tx1"/>
                          </a:solidFill>
                          <a:latin typeface="+mn-lt"/>
                        </a:rPr>
                        <a:t>99B</a:t>
                      </a:r>
                    </a:p>
                  </a:txBody>
                  <a:tcPr/>
                </a:tc>
                <a:tc>
                  <a:txBody>
                    <a:bodyPr/>
                    <a:lstStyle/>
                    <a:p>
                      <a:r>
                        <a:rPr lang="en-GB" sz="1200" i="0">
                          <a:solidFill>
                            <a:schemeClr val="tx1"/>
                          </a:solidFill>
                          <a:effectLst/>
                          <a:latin typeface="+mn-lt"/>
                        </a:rPr>
                        <a:t>Any petroleum gas, or other gaseous hydrocarbon supplied in a liquid state </a:t>
                      </a:r>
                      <a:endParaRPr lang="en-GB" sz="1200">
                        <a:solidFill>
                          <a:schemeClr val="tx1"/>
                        </a:solidFill>
                        <a:latin typeface="+mn-lt"/>
                      </a:endParaRPr>
                    </a:p>
                  </a:txBody>
                  <a:tcPr/>
                </a:tc>
                <a:extLst>
                  <a:ext uri="{0D108BD9-81ED-4DB2-BD59-A6C34878D82A}">
                    <a16:rowId xmlns:a16="http://schemas.microsoft.com/office/drawing/2014/main" val="1391440107"/>
                  </a:ext>
                </a:extLst>
              </a:tr>
              <a:tr h="0">
                <a:tc>
                  <a:txBody>
                    <a:bodyPr/>
                    <a:lstStyle/>
                    <a:p>
                      <a:pPr algn="ctr"/>
                      <a:r>
                        <a:rPr lang="en-GB" sz="1200">
                          <a:solidFill>
                            <a:schemeClr val="tx1"/>
                          </a:solidFill>
                          <a:latin typeface="+mn-lt"/>
                        </a:rPr>
                        <a:t>X99C</a:t>
                      </a:r>
                    </a:p>
                  </a:txBody>
                  <a:tcPr anchor="ctr"/>
                </a:tc>
                <a:tc>
                  <a:txBody>
                    <a:bodyPr/>
                    <a:lstStyle/>
                    <a:p>
                      <a:pPr algn="ctr"/>
                      <a:r>
                        <a:rPr lang="en-GB" sz="1200">
                          <a:solidFill>
                            <a:schemeClr val="tx1"/>
                          </a:solidFill>
                          <a:latin typeface="+mn-lt"/>
                        </a:rPr>
                        <a:t>99C</a:t>
                      </a:r>
                    </a:p>
                  </a:txBody>
                  <a:tcPr anchor="ctr"/>
                </a:tc>
                <a:tc>
                  <a:txBody>
                    <a:bodyPr/>
                    <a:lstStyle/>
                    <a:p>
                      <a:r>
                        <a:rPr lang="en-GB" sz="1200" i="0">
                          <a:solidFill>
                            <a:schemeClr val="tx1"/>
                          </a:solidFill>
                          <a:effectLst/>
                          <a:latin typeface="+mn-lt"/>
                        </a:rPr>
                        <a:t>Gas supplied by a gas utility or any gas supplied in a gaseous state that is of a kind supplied by a gas utility in Great Britain.</a:t>
                      </a:r>
                      <a:endParaRPr lang="en-GB" sz="1200">
                        <a:solidFill>
                          <a:schemeClr val="tx1"/>
                        </a:solidFill>
                        <a:latin typeface="+mn-lt"/>
                      </a:endParaRPr>
                    </a:p>
                  </a:txBody>
                  <a:tcPr/>
                </a:tc>
                <a:extLst>
                  <a:ext uri="{0D108BD9-81ED-4DB2-BD59-A6C34878D82A}">
                    <a16:rowId xmlns:a16="http://schemas.microsoft.com/office/drawing/2014/main" val="4160910066"/>
                  </a:ext>
                </a:extLst>
              </a:tr>
              <a:tr h="0">
                <a:tc>
                  <a:txBody>
                    <a:bodyPr/>
                    <a:lstStyle/>
                    <a:p>
                      <a:pPr algn="ctr"/>
                      <a:r>
                        <a:rPr lang="en-GB" sz="1200">
                          <a:solidFill>
                            <a:schemeClr val="tx1"/>
                          </a:solidFill>
                          <a:latin typeface="+mn-lt"/>
                        </a:rPr>
                        <a:t>X99D</a:t>
                      </a:r>
                    </a:p>
                  </a:txBody>
                  <a:tcPr/>
                </a:tc>
                <a:tc>
                  <a:txBody>
                    <a:bodyPr/>
                    <a:lstStyle/>
                    <a:p>
                      <a:pPr algn="ctr"/>
                      <a:r>
                        <a:rPr lang="en-GB" sz="1200">
                          <a:solidFill>
                            <a:schemeClr val="tx1"/>
                          </a:solidFill>
                          <a:latin typeface="+mn-lt"/>
                        </a:rPr>
                        <a:t>99D</a:t>
                      </a:r>
                    </a:p>
                  </a:txBody>
                  <a:tcPr/>
                </a:tc>
                <a:tc>
                  <a:txBody>
                    <a:bodyPr/>
                    <a:lstStyle/>
                    <a:p>
                      <a:r>
                        <a:rPr lang="en-GB" sz="1200" dirty="0">
                          <a:solidFill>
                            <a:schemeClr val="tx1"/>
                          </a:solidFill>
                          <a:latin typeface="+mn-lt"/>
                        </a:rPr>
                        <a:t>Electricity</a:t>
                      </a:r>
                    </a:p>
                  </a:txBody>
                  <a:tcPr/>
                </a:tc>
                <a:extLst>
                  <a:ext uri="{0D108BD9-81ED-4DB2-BD59-A6C34878D82A}">
                    <a16:rowId xmlns:a16="http://schemas.microsoft.com/office/drawing/2014/main" val="3554901195"/>
                  </a:ext>
                </a:extLst>
              </a:tr>
            </a:tbl>
          </a:graphicData>
        </a:graphic>
      </p:graphicFrame>
    </p:spTree>
    <p:extLst>
      <p:ext uri="{BB962C8B-B14F-4D97-AF65-F5344CB8AC3E}">
        <p14:creationId xmlns:p14="http://schemas.microsoft.com/office/powerpoint/2010/main" val="32279846"/>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1200" cap="none" spc="50" normalizeH="0" baseline="0" noProof="0">
                <a:ln>
                  <a:noFill/>
                </a:ln>
                <a:solidFill>
                  <a:srgbClr val="A6A6A6"/>
                </a:solidFill>
                <a:effectLst/>
                <a:uLnTx/>
                <a:uFillTx/>
                <a:latin typeface="Calibri"/>
                <a:ea typeface="+mn-ea"/>
                <a:cs typeface="+mn-cs"/>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32558"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F8C6FEBB-F102-4DFE-971D-92B3DA2FF58F}" type="slidenum">
              <a:rPr kumimoji="0" sz="12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313</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eaLnBrk="1" fontAlgn="auto" latinLnBrk="0" hangingPunct="0">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900" b="0" i="0" u="none" strike="noStrike" kern="1200" cap="none" spc="0" normalizeH="0" baseline="0" noProof="0" dirty="0">
                <a:ln>
                  <a:noFill/>
                </a:ln>
                <a:solidFill>
                  <a:srgbClr val="3B3A3D"/>
                </a:solidFill>
                <a:effectLst/>
                <a:uLnTx/>
                <a:uFillTx/>
                <a:latin typeface="Calibri"/>
                <a:ea typeface="Geneva"/>
                <a:cs typeface="Arial"/>
              </a:rPr>
              <a:t>   </a:t>
            </a:r>
            <a:endParaRPr kumimoji="0" lang="en-GB" sz="900" b="1" i="0" u="none" strike="noStrike" kern="1200" cap="none" spc="0" normalizeH="0" baseline="0" noProof="0" dirty="0">
              <a:ln>
                <a:noFill/>
              </a:ln>
              <a:solidFill>
                <a:srgbClr val="008D8E"/>
              </a:solidFill>
              <a:effectLst/>
              <a:uLnTx/>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6099" y="1302647"/>
            <a:ext cx="11282159" cy="489364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a:ln>
                  <a:noFill/>
                </a:ln>
                <a:effectLst/>
                <a:uLnTx/>
                <a:uFillTx/>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0" i="0" u="none" strike="noStrike" kern="0" cap="none" spc="0" normalizeH="0" baseline="0" noProof="0">
                <a:ln>
                  <a:noFill/>
                </a:ln>
                <a:effectLst/>
                <a:uLnTx/>
                <a:uFillTx/>
                <a:ea typeface="+mn-ea"/>
                <a:cs typeface="+mn-cs"/>
              </a:rPr>
              <a:t>Any other excise charges applicable to the commodity code will </a:t>
            </a:r>
            <a:r>
              <a:rPr kumimoji="0" lang="en-GB" sz="1400" b="1" i="0" u="none" strike="noStrike" kern="0" cap="none" spc="0" normalizeH="0" baseline="0" noProof="0">
                <a:ln>
                  <a:noFill/>
                </a:ln>
                <a:effectLst/>
                <a:uLnTx/>
                <a:uFillTx/>
                <a:ea typeface="+mn-ea"/>
                <a:cs typeface="+mn-cs"/>
              </a:rPr>
              <a:t>not</a:t>
            </a:r>
            <a:r>
              <a:rPr kumimoji="0" lang="en-GB" sz="1400" b="0" i="0" u="none" strike="noStrike" kern="0" cap="none" spc="0" normalizeH="0" baseline="0" noProof="0">
                <a:ln>
                  <a:noFill/>
                </a:ln>
                <a:effectLst/>
                <a:uLnTx/>
                <a:uFillTx/>
                <a:ea typeface="+mn-ea"/>
                <a:cs typeface="+mn-cs"/>
              </a:rPr>
              <a:t> be relieved through the presence of Additional Procedure Code</a:t>
            </a:r>
            <a:r>
              <a:rPr kumimoji="0" lang="en-GB" sz="1400" b="0" i="0" u="none" strike="sngStrike" kern="0" cap="none" spc="0" normalizeH="0" baseline="0" noProof="0">
                <a:ln>
                  <a:noFill/>
                </a:ln>
                <a:effectLst/>
                <a:uLnTx/>
                <a:uFillTx/>
                <a:ea typeface="+mn-ea"/>
                <a:cs typeface="+mn-cs"/>
              </a:rPr>
              <a:t>s</a:t>
            </a:r>
            <a:r>
              <a:rPr kumimoji="0" lang="en-GB" sz="1400" b="0" i="0" u="none" strike="noStrike" kern="0" cap="none" spc="0" normalizeH="0" baseline="0" noProof="0">
                <a:ln>
                  <a:noFill/>
                </a:ln>
                <a:effectLst/>
                <a:uLnTx/>
                <a:uFillTx/>
                <a:ea typeface="+mn-ea"/>
                <a:cs typeface="+mn-cs"/>
              </a:rPr>
              <a:t> 1CL. </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lang="en-GB" sz="1400" kern="0"/>
          </a:p>
          <a:p>
            <a:pPr marR="0" lvl="0" algn="l" defTabSz="914400" rtl="0" fontAlgn="auto" hangingPunct="1">
              <a:lnSpc>
                <a:spcPct val="100000"/>
              </a:lnSpc>
              <a:spcBef>
                <a:spcPts val="0"/>
              </a:spcBef>
              <a:tabLst/>
              <a:defRPr sz="1800" b="0" i="0" u="none" strike="noStrike" kern="0" cap="none" spc="0" baseline="0">
                <a:solidFill>
                  <a:srgbClr val="000000"/>
                </a:solidFill>
                <a:uFillTx/>
              </a:defRPr>
            </a:pPr>
            <a:r>
              <a:rPr lang="en-GB" sz="1400" b="1" kern="0"/>
              <a:t>Additional Procedure Code 1CL can be declared on the following Declaration Types where excise will be relieved: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t>A</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t>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kern="0"/>
              <a:t>Z (Where Mode of Transport is 7)</a:t>
            </a:r>
          </a:p>
          <a:p>
            <a:pPr lvl="1">
              <a:defRPr sz="1800" b="0" i="0" u="none" strike="noStrike" kern="0" cap="none" spc="0" baseline="0">
                <a:solidFill>
                  <a:srgbClr val="000000"/>
                </a:solidFill>
                <a:uFillTx/>
              </a:defRPr>
            </a:pPr>
            <a:endParaRPr lang="en-GB" sz="1400" kern="0"/>
          </a:p>
          <a:p>
            <a:pPr lvl="1">
              <a:defRPr sz="1800" b="0" i="0" u="none" strike="noStrike" kern="0" cap="none" spc="0" baseline="0">
                <a:solidFill>
                  <a:srgbClr val="000000"/>
                </a:solidFill>
                <a:uFillTx/>
              </a:defRPr>
            </a:pPr>
            <a:endParaRPr lang="en-GB" sz="1400" kern="0"/>
          </a:p>
          <a:p>
            <a:pPr marR="0" lvl="0" algn="l" defTabSz="914400" rtl="0" fontAlgn="auto" hangingPunct="1">
              <a:lnSpc>
                <a:spcPct val="100000"/>
              </a:lnSpc>
              <a:spcBef>
                <a:spcPts val="0"/>
              </a:spcBef>
              <a:tabLst/>
              <a:defRPr sz="1800" b="0" i="0" u="none" strike="noStrike" kern="0" cap="none" spc="0" baseline="0">
                <a:solidFill>
                  <a:srgbClr val="000000"/>
                </a:solidFill>
                <a:uFillTx/>
              </a:defRPr>
            </a:pPr>
            <a:r>
              <a:rPr lang="en-GB" sz="1400" kern="0"/>
              <a:t>Please note that while 1CL is also declarable on Type J and Type K declarations, given these declaration types are not subject to fiscal processing by the Tariff, 1CL </a:t>
            </a:r>
            <a:r>
              <a:rPr lang="en-GB" sz="1400" b="1" kern="0"/>
              <a:t>will not </a:t>
            </a:r>
            <a:r>
              <a:rPr lang="en-GB" sz="1400" kern="0"/>
              <a:t>(and should not) relieve Climate Change Levy on these declaration types.</a:t>
            </a:r>
          </a:p>
          <a:p>
            <a:pPr marR="0" lvl="0" algn="l" defTabSz="914400" rtl="0" fontAlgn="auto" hangingPunct="1">
              <a:lnSpc>
                <a:spcPct val="100000"/>
              </a:lnSpc>
              <a:spcBef>
                <a:spcPts val="0"/>
              </a:spcBef>
              <a:tabLst/>
              <a:defRPr sz="1800" b="0" i="0" u="none" strike="noStrike" kern="0" cap="none" spc="0" baseline="0">
                <a:solidFill>
                  <a:srgbClr val="000000"/>
                </a:solidFill>
                <a:uFillTx/>
              </a:defRPr>
            </a:pPr>
            <a:endParaRPr lang="en-GB" sz="1400" kern="0"/>
          </a:p>
          <a:p>
            <a:pPr marR="0" lvl="0" algn="l" defTabSz="914400" rtl="0" fontAlgn="auto" hangingPunct="1">
              <a:lnSpc>
                <a:spcPct val="100000"/>
              </a:lnSpc>
              <a:spcBef>
                <a:spcPts val="0"/>
              </a:spcBef>
              <a:tabLst/>
              <a:defRPr sz="1800" b="0" i="0" u="none" strike="noStrike" kern="0" cap="none" spc="0" baseline="0">
                <a:solidFill>
                  <a:srgbClr val="000000"/>
                </a:solidFill>
                <a:uFillTx/>
              </a:defRPr>
            </a:pPr>
            <a:r>
              <a:rPr lang="en-GB" sz="1400" b="1" kern="0"/>
              <a:t>Additional Procedure Code 1CL can be declared on the following Procedure Categories:</a:t>
            </a:r>
          </a:p>
          <a:p>
            <a:pPr>
              <a:defRPr sz="1800" b="0" i="0" u="none" strike="noStrike" kern="0" cap="none" spc="0" baseline="0">
                <a:solidFill>
                  <a:srgbClr val="000000"/>
                </a:solidFill>
                <a:uFillTx/>
              </a:defRPr>
            </a:pPr>
            <a:endParaRPr lang="en-GB" sz="1400" kern="0"/>
          </a:p>
          <a:p>
            <a:pPr>
              <a:defRPr sz="1800" b="0" i="0" u="none" strike="noStrike" kern="0" cap="none" spc="0" baseline="0">
                <a:solidFill>
                  <a:srgbClr val="000000"/>
                </a:solidFill>
                <a:uFillTx/>
              </a:defRPr>
            </a:pPr>
            <a:endParaRPr lang="en-GB" sz="1400" kern="0"/>
          </a:p>
          <a:p>
            <a:pPr>
              <a:defRPr sz="1800" b="0" i="0" u="none" strike="noStrike" kern="0" cap="none" spc="0" baseline="0">
                <a:solidFill>
                  <a:srgbClr val="000000"/>
                </a:solidFill>
                <a:uFillTx/>
              </a:defRPr>
            </a:pPr>
            <a:endParaRPr lang="en-GB" sz="1400" kern="0"/>
          </a:p>
          <a:p>
            <a:pPr>
              <a:defRPr sz="1800" b="0" i="0" u="none" strike="noStrike" kern="0" cap="none" spc="0" baseline="0">
                <a:solidFill>
                  <a:srgbClr val="000000"/>
                </a:solidFill>
                <a:uFillTx/>
              </a:defRPr>
            </a:pPr>
            <a:endParaRPr lang="en-GB" sz="1600" kern="0"/>
          </a:p>
          <a:p>
            <a:pPr>
              <a:defRPr sz="1800" b="0" i="0" u="none" strike="noStrike" kern="0" cap="none" spc="0" baseline="0">
                <a:solidFill>
                  <a:srgbClr val="000000"/>
                </a:solidFill>
                <a:uFillTx/>
              </a:defRPr>
            </a:pPr>
            <a:endParaRPr lang="en-GB" sz="1400" kern="0"/>
          </a:p>
          <a:p>
            <a:pPr>
              <a:defRPr sz="1800" b="0" i="0" u="none" strike="noStrike" kern="0" cap="none" spc="0" baseline="0">
                <a:solidFill>
                  <a:srgbClr val="000000"/>
                </a:solidFill>
                <a:uFillTx/>
              </a:defRPr>
            </a:pPr>
            <a:endParaRPr lang="en-GB" sz="1600" kern="0"/>
          </a:p>
          <a:p>
            <a:pPr>
              <a:defRPr sz="1800" b="0" i="0" u="none" strike="noStrike" kern="0" cap="none" spc="0" baseline="0">
                <a:solidFill>
                  <a:srgbClr val="000000"/>
                </a:solidFill>
                <a:uFillTx/>
              </a:defRPr>
            </a:pPr>
            <a:r>
              <a:rPr lang="en-GB" sz="1400" kern="0"/>
              <a:t>For guidance on submitting Energy Movements which are liable to a charge of Climate Change Levy, or partial relief of Climate Change Levy, please consult the TTM19.0 External TT TDR Scope Guidance.</a:t>
            </a:r>
          </a:p>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GB" sz="1400" b="0" i="0" u="none" strike="noStrike" kern="0" cap="none" spc="0" normalizeH="0" baseline="0" noProof="0">
              <a:ln>
                <a:noFill/>
              </a:ln>
              <a:solidFill>
                <a:srgbClr val="0B0C0C"/>
              </a:solidFill>
              <a:effectLst/>
              <a:uLnTx/>
              <a:uFillTx/>
              <a:latin typeface="GDS Transport"/>
              <a:ea typeface="+mn-ea"/>
              <a:cs typeface="+mn-cs"/>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2400" b="1" i="0" u="none" strike="noStrike" kern="0" cap="none" spc="0" normalizeH="0" baseline="0" noProof="0">
                <a:ln>
                  <a:noFill/>
                </a:ln>
                <a:solidFill>
                  <a:srgbClr val="FFFFFF"/>
                </a:solidFill>
                <a:effectLst/>
                <a:uLnTx/>
                <a:uFillTx/>
                <a:latin typeface="Calibri"/>
                <a:ea typeface="+mn-ea"/>
                <a:cs typeface="+mn-cs"/>
              </a:rPr>
              <a:t>New Release Functionality</a:t>
            </a:r>
          </a:p>
        </p:txBody>
      </p:sp>
      <p:graphicFrame>
        <p:nvGraphicFramePr>
          <p:cNvPr id="11" name="Table 12">
            <a:extLst>
              <a:ext uri="{FF2B5EF4-FFF2-40B4-BE49-F238E27FC236}">
                <a16:creationId xmlns:a16="http://schemas.microsoft.com/office/drawing/2014/main" id="{6894C75E-1124-4908-B664-FF74C864E088}"/>
              </a:ext>
            </a:extLst>
          </p:cNvPr>
          <p:cNvGraphicFramePr>
            <a:graphicFrameLocks noGrp="1"/>
          </p:cNvGraphicFramePr>
          <p:nvPr/>
        </p:nvGraphicFramePr>
        <p:xfrm>
          <a:off x="4431945" y="4244554"/>
          <a:ext cx="3310466" cy="1097280"/>
        </p:xfrm>
        <a:graphic>
          <a:graphicData uri="http://schemas.openxmlformats.org/drawingml/2006/table">
            <a:tbl>
              <a:tblPr firstRow="1" bandRow="1">
                <a:tableStyleId>{5C22544A-7EE6-4342-B048-85BDC9FD1C3A}</a:tableStyleId>
              </a:tblPr>
              <a:tblGrid>
                <a:gridCol w="1655233">
                  <a:extLst>
                    <a:ext uri="{9D8B030D-6E8A-4147-A177-3AD203B41FA5}">
                      <a16:colId xmlns:a16="http://schemas.microsoft.com/office/drawing/2014/main" val="2853472788"/>
                    </a:ext>
                  </a:extLst>
                </a:gridCol>
                <a:gridCol w="1655233">
                  <a:extLst>
                    <a:ext uri="{9D8B030D-6E8A-4147-A177-3AD203B41FA5}">
                      <a16:colId xmlns:a16="http://schemas.microsoft.com/office/drawing/2014/main" val="130456313"/>
                    </a:ext>
                  </a:extLst>
                </a:gridCol>
              </a:tblGrid>
              <a:tr h="258875">
                <a:tc gridSpan="2">
                  <a:txBody>
                    <a:bodyPr/>
                    <a:lstStyle/>
                    <a:p>
                      <a:pPr algn="ctr"/>
                      <a:r>
                        <a:rPr lang="en-GB" sz="1200"/>
                        <a:t>Procedure Categories</a:t>
                      </a:r>
                    </a:p>
                  </a:txBody>
                  <a:tcPr>
                    <a:solidFill>
                      <a:srgbClr val="009999"/>
                    </a:solidFill>
                  </a:tcPr>
                </a:tc>
                <a:tc hMerge="1">
                  <a:txBody>
                    <a:bodyPr/>
                    <a:lstStyle/>
                    <a:p>
                      <a:pPr algn="ctr"/>
                      <a:endParaRPr lang="en-GB" sz="1200"/>
                    </a:p>
                  </a:txBody>
                  <a:tcPr/>
                </a:tc>
                <a:extLst>
                  <a:ext uri="{0D108BD9-81ED-4DB2-BD59-A6C34878D82A}">
                    <a16:rowId xmlns:a16="http://schemas.microsoft.com/office/drawing/2014/main" val="2395994041"/>
                  </a:ext>
                </a:extLst>
              </a:tr>
              <a:tr h="258875">
                <a:tc>
                  <a:txBody>
                    <a:bodyPr/>
                    <a:lstStyle/>
                    <a:p>
                      <a:pPr algn="ctr"/>
                      <a:r>
                        <a:rPr lang="en-GB" sz="1200"/>
                        <a:t>0100</a:t>
                      </a:r>
                    </a:p>
                  </a:txBody>
                  <a:tcPr/>
                </a:tc>
                <a:tc>
                  <a:txBody>
                    <a:bodyPr/>
                    <a:lstStyle/>
                    <a:p>
                      <a:pPr algn="ctr"/>
                      <a:r>
                        <a:rPr lang="en-GB" sz="1200"/>
                        <a:t>4071</a:t>
                      </a:r>
                    </a:p>
                  </a:txBody>
                  <a:tcPr/>
                </a:tc>
                <a:extLst>
                  <a:ext uri="{0D108BD9-81ED-4DB2-BD59-A6C34878D82A}">
                    <a16:rowId xmlns:a16="http://schemas.microsoft.com/office/drawing/2014/main" val="424548367"/>
                  </a:ext>
                </a:extLst>
              </a:tr>
              <a:tr h="258875">
                <a:tc>
                  <a:txBody>
                    <a:bodyPr/>
                    <a:lstStyle/>
                    <a:p>
                      <a:pPr algn="ctr"/>
                      <a:r>
                        <a:rPr lang="en-GB" sz="1200"/>
                        <a:t>4000</a:t>
                      </a:r>
                    </a:p>
                  </a:txBody>
                  <a:tcPr/>
                </a:tc>
                <a:tc>
                  <a:txBody>
                    <a:bodyPr/>
                    <a:lstStyle/>
                    <a:p>
                      <a:pPr algn="ctr"/>
                      <a:r>
                        <a:rPr lang="en-GB" sz="1200"/>
                        <a:t>4078</a:t>
                      </a:r>
                    </a:p>
                  </a:txBody>
                  <a:tcPr/>
                </a:tc>
                <a:extLst>
                  <a:ext uri="{0D108BD9-81ED-4DB2-BD59-A6C34878D82A}">
                    <a16:rowId xmlns:a16="http://schemas.microsoft.com/office/drawing/2014/main" val="134662976"/>
                  </a:ext>
                </a:extLst>
              </a:tr>
              <a:tr h="258875">
                <a:tc>
                  <a:txBody>
                    <a:bodyPr/>
                    <a:lstStyle/>
                    <a:p>
                      <a:pPr algn="ctr"/>
                      <a:r>
                        <a:rPr lang="en-GB" sz="1200"/>
                        <a:t>4051</a:t>
                      </a:r>
                    </a:p>
                  </a:txBody>
                  <a:tcPr/>
                </a:tc>
                <a:tc>
                  <a:txBody>
                    <a:bodyPr/>
                    <a:lstStyle/>
                    <a:p>
                      <a:pPr algn="ctr"/>
                      <a:r>
                        <a:rPr lang="en-GB" sz="1200" dirty="0"/>
                        <a:t>4200</a:t>
                      </a:r>
                    </a:p>
                  </a:txBody>
                  <a:tcPr/>
                </a:tc>
                <a:extLst>
                  <a:ext uri="{0D108BD9-81ED-4DB2-BD59-A6C34878D82A}">
                    <a16:rowId xmlns:a16="http://schemas.microsoft.com/office/drawing/2014/main" val="367177082"/>
                  </a:ext>
                </a:extLst>
              </a:tr>
            </a:tbl>
          </a:graphicData>
        </a:graphic>
      </p:graphicFrame>
    </p:spTree>
    <p:extLst>
      <p:ext uri="{BB962C8B-B14F-4D97-AF65-F5344CB8AC3E}">
        <p14:creationId xmlns:p14="http://schemas.microsoft.com/office/powerpoint/2010/main" val="346654581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168FC7-34EF-4114-A530-1D726C05FA50}"/>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105E830-6E06-4C30-9D12-A474D0A940A1}"/>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3207CF8-8DD5-42A8-AE85-D53EE0BD96FC}"/>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81585703"/>
                    </a:ext>
                  </a:extLst>
                </a:gridCol>
              </a:tblGrid>
              <a:tr h="220434">
                <a:tc>
                  <a:txBody>
                    <a:bodyPr/>
                    <a:lstStyle/>
                    <a:p>
                      <a:pPr lvl="0" algn="ctr"/>
                      <a:r>
                        <a:rPr lang="en-GB" sz="1200"/>
                        <a:t>TTM20.0 (CDS 3.8.0)</a:t>
                      </a:r>
                    </a:p>
                  </a:txBody>
                  <a:tcPr>
                    <a:solidFill>
                      <a:srgbClr val="595959"/>
                    </a:solidFill>
                  </a:tcPr>
                </a:tc>
                <a:extLst>
                  <a:ext uri="{0D108BD9-81ED-4DB2-BD59-A6C34878D82A}">
                    <a16:rowId xmlns:a16="http://schemas.microsoft.com/office/drawing/2014/main" val="3198895953"/>
                  </a:ext>
                </a:extLst>
              </a:tr>
              <a:tr h="261975">
                <a:tc>
                  <a:txBody>
                    <a:bodyPr/>
                    <a:lstStyle/>
                    <a:p>
                      <a:pPr lvl="0" algn="ctr"/>
                      <a:r>
                        <a:rPr lang="en-GB" sz="1200" b="1" dirty="0">
                          <a:solidFill>
                            <a:srgbClr val="000000"/>
                          </a:solidFill>
                        </a:rPr>
                        <a:t>TT:</a:t>
                      </a:r>
                      <a:r>
                        <a:rPr lang="en-GB" sz="1200" b="0" dirty="0">
                          <a:solidFill>
                            <a:srgbClr val="000000"/>
                          </a:solidFill>
                        </a:rPr>
                        <a:t> 18/08/2022 (TBC)   </a:t>
                      </a:r>
                      <a:r>
                        <a:rPr lang="en-GB" sz="1200" b="1" dirty="0">
                          <a:solidFill>
                            <a:srgbClr val="000000"/>
                          </a:solidFill>
                        </a:rPr>
                        <a:t>TDR: </a:t>
                      </a:r>
                      <a:r>
                        <a:rPr lang="en-GB" sz="1200" b="0" dirty="0">
                          <a:solidFill>
                            <a:srgbClr val="000000"/>
                          </a:solidFill>
                        </a:rPr>
                        <a:t>30/08/2022 (TBC)   </a:t>
                      </a:r>
                      <a:r>
                        <a:rPr lang="en-GB" sz="1200" b="1" dirty="0">
                          <a:solidFill>
                            <a:srgbClr val="000000"/>
                          </a:solidFill>
                        </a:rPr>
                        <a:t>Live: </a:t>
                      </a:r>
                      <a:r>
                        <a:rPr lang="en-GB" sz="1200" b="0" dirty="0">
                          <a:solidFill>
                            <a:srgbClr val="000000"/>
                          </a:solidFill>
                        </a:rPr>
                        <a:t>28/08/2022 (TBC)</a:t>
                      </a:r>
                    </a:p>
                  </a:txBody>
                  <a:tcPr>
                    <a:solidFill>
                      <a:srgbClr val="E7E6E6"/>
                    </a:solidFill>
                  </a:tcPr>
                </a:tc>
                <a:extLst>
                  <a:ext uri="{0D108BD9-81ED-4DB2-BD59-A6C34878D82A}">
                    <a16:rowId xmlns:a16="http://schemas.microsoft.com/office/drawing/2014/main" val="3786022636"/>
                  </a:ext>
                </a:extLst>
              </a:tr>
            </a:tbl>
          </a:graphicData>
        </a:graphic>
      </p:graphicFrame>
      <p:cxnSp>
        <p:nvCxnSpPr>
          <p:cNvPr id="6" name="Straight Connector 11">
            <a:extLst>
              <a:ext uri="{FF2B5EF4-FFF2-40B4-BE49-F238E27FC236}">
                <a16:creationId xmlns:a16="http://schemas.microsoft.com/office/drawing/2014/main" id="{EC27EE16-76B9-4434-913E-DF3A173B2EB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C3ACC77C-7633-475A-93DE-F0819F6BA6C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2C2699C-92EF-4B63-90BC-32BA841BEBCD}"/>
              </a:ext>
            </a:extLst>
          </p:cNvPr>
          <p:cNvSpPr/>
          <p:nvPr/>
        </p:nvSpPr>
        <p:spPr>
          <a:xfrm>
            <a:off x="394915" y="3731802"/>
            <a:ext cx="11397328" cy="23803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44311FF-C3A9-45EE-B6BE-A20EADE973E8}"/>
              </a:ext>
            </a:extLst>
          </p:cNvPr>
          <p:cNvGrpSpPr/>
          <p:nvPr/>
        </p:nvGrpSpPr>
        <p:grpSpPr>
          <a:xfrm>
            <a:off x="879076" y="3279769"/>
            <a:ext cx="2801739" cy="276999"/>
            <a:chOff x="879076" y="3279769"/>
            <a:chExt cx="2801739" cy="276999"/>
          </a:xfrm>
        </p:grpSpPr>
        <p:sp>
          <p:nvSpPr>
            <p:cNvPr id="10" name="TextBox 7">
              <a:extLst>
                <a:ext uri="{FF2B5EF4-FFF2-40B4-BE49-F238E27FC236}">
                  <a16:creationId xmlns:a16="http://schemas.microsoft.com/office/drawing/2014/main" id="{5D895B43-C3FB-4AD0-B04E-E11ADD9DEC51}"/>
                </a:ext>
              </a:extLst>
            </p:cNvPr>
            <p:cNvSpPr txBox="1"/>
            <p:nvPr/>
          </p:nvSpPr>
          <p:spPr>
            <a:xfrm>
              <a:off x="879076" y="3279769"/>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8BEBEBF-5B6D-48CC-A245-53B54B88308E}"/>
                </a:ext>
              </a:extLst>
            </p:cNvPr>
            <p:cNvSpPr/>
            <p:nvPr/>
          </p:nvSpPr>
          <p:spPr>
            <a:xfrm>
              <a:off x="926150" y="33447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4EFBAD84-EBF2-4717-A784-09281BF3F7FE}"/>
              </a:ext>
            </a:extLst>
          </p:cNvPr>
          <p:cNvGraphicFramePr>
            <a:graphicFrameLocks noGrp="1"/>
          </p:cNvGraphicFramePr>
          <p:nvPr>
            <p:extLst>
              <p:ext uri="{D42A27DB-BD31-4B8C-83A1-F6EECF244321}">
                <p14:modId xmlns:p14="http://schemas.microsoft.com/office/powerpoint/2010/main" val="296451848"/>
              </p:ext>
            </p:extLst>
          </p:nvPr>
        </p:nvGraphicFramePr>
        <p:xfrm>
          <a:off x="475268" y="4321855"/>
          <a:ext cx="11213806" cy="1713414"/>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226360519"/>
                    </a:ext>
                  </a:extLst>
                </a:gridCol>
                <a:gridCol w="2961878">
                  <a:extLst>
                    <a:ext uri="{9D8B030D-6E8A-4147-A177-3AD203B41FA5}">
                      <a16:colId xmlns:a16="http://schemas.microsoft.com/office/drawing/2014/main" val="763822440"/>
                    </a:ext>
                  </a:extLst>
                </a:gridCol>
                <a:gridCol w="2792531">
                  <a:extLst>
                    <a:ext uri="{9D8B030D-6E8A-4147-A177-3AD203B41FA5}">
                      <a16:colId xmlns:a16="http://schemas.microsoft.com/office/drawing/2014/main" val="3390581973"/>
                    </a:ext>
                  </a:extLst>
                </a:gridCol>
                <a:gridCol w="2877205">
                  <a:extLst>
                    <a:ext uri="{9D8B030D-6E8A-4147-A177-3AD203B41FA5}">
                      <a16:colId xmlns:a16="http://schemas.microsoft.com/office/drawing/2014/main" val="2084145098"/>
                    </a:ext>
                  </a:extLst>
                </a:gridCol>
              </a:tblGrid>
              <a:tr h="728553">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3" action="ppaction://hlinksldjump"/>
                        </a:rPr>
                        <a:t>Merchandise in Baggage (Exports)</a:t>
                      </a: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4" action="ppaction://hlinksldjump"/>
                        </a:rPr>
                        <a:t>Valuation Methods 4, 5 &amp; 6</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dirty="0">
                          <a:solidFill>
                            <a:srgbClr val="000000"/>
                          </a:solidFill>
                          <a:latin typeface="Calibri" pitchFamily="34"/>
                          <a:hlinkClick r:id="rId4" action="ppaction://hlinksldjump"/>
                        </a:rPr>
                        <a:t>Access to view Duty Deferment Accounts</a:t>
                      </a:r>
                      <a:endParaRPr lang="en-GB" sz="1200" b="0" dirty="0">
                        <a:solidFill>
                          <a:srgbClr val="000000"/>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1"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Pct val="100000"/>
                        <a:buFont typeface="Arial" pitchFamily="34"/>
                        <a:buChar char="•"/>
                        <a:tabLst/>
                        <a:defRPr/>
                      </a:pPr>
                      <a:r>
                        <a:rPr lang="en-GB" sz="1200" b="0" i="0" u="none" strike="noStrike">
                          <a:solidFill>
                            <a:srgbClr val="000000"/>
                          </a:solidFill>
                          <a:latin typeface="Calibri" pitchFamily="34"/>
                          <a:hlinkClick r:id="rId4" action="ppaction://hlinksldjump"/>
                        </a:rPr>
                        <a:t>Re-Application of Direct Debit Instructions</a:t>
                      </a:r>
                      <a:endParaRPr lang="en-GB" sz="1200" b="0" i="0" u="none" strike="noStrike">
                        <a:solidFill>
                          <a:srgbClr val="000000"/>
                        </a:solidFill>
                        <a:latin typeface="Calibri" pitchFamily="34"/>
                      </a:endParaRPr>
                    </a:p>
                    <a:p>
                      <a:pPr marL="0" marR="0" lvl="0" indent="0" algn="l" defTabSz="914400" rtl="0" eaLnBrk="1" fontAlgn="auto" latinLnBrk="0" hangingPunct="1">
                        <a:lnSpc>
                          <a:spcPct val="100000"/>
                        </a:lnSpc>
                        <a:spcBef>
                          <a:spcPts val="0"/>
                        </a:spcBef>
                        <a:spcAft>
                          <a:spcPts val="0"/>
                        </a:spcAft>
                        <a:buClrTx/>
                        <a:buSzPct val="100000"/>
                        <a:buFont typeface="Arial" pitchFamily="34"/>
                        <a:buNone/>
                        <a:tabLst/>
                        <a:defRPr/>
                      </a:pPr>
                      <a:r>
                        <a:rPr lang="en-GB" sz="1200" b="1" i="0" u="none" strike="noStrike">
                          <a:solidFill>
                            <a:srgbClr val="000000"/>
                          </a:solidFill>
                          <a:latin typeface="Calibri" pitchFamily="34"/>
                        </a:rPr>
                        <a:t>*This feature is now out of scope for CDS 3.8.0.</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332682949"/>
                  </a:ext>
                </a:extLst>
              </a:tr>
              <a:tr h="890454">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a:solidFill>
                            <a:srgbClr val="000000"/>
                          </a:solidFill>
                          <a:latin typeface="Calibri" pitchFamily="34"/>
                          <a:hlinkClick r:id="rId5" action="ppaction://hlinksldjump"/>
                        </a:rPr>
                        <a:t>CR147 - EMR/ERS Multiple Updates Capability for Inventory Linking Exports</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a:solidFill>
                            <a:srgbClr val="000000"/>
                          </a:solidFill>
                          <a:latin typeface="Calibri" pitchFamily="34"/>
                          <a:hlinkClick r:id="rId5" action="ppaction://hlinksldjump"/>
                        </a:rPr>
                        <a:t>CR064 - Asynchronous Responses</a:t>
                      </a:r>
                      <a:r>
                        <a:rPr lang="en-GB" sz="1200" b="0" i="0">
                          <a:solidFill>
                            <a:srgbClr val="000000"/>
                          </a:solidFill>
                          <a:latin typeface="Calibri" pitchFamily="34"/>
                          <a:hlinkClick r:id="rId5" action="ppaction://hlinksldjump"/>
                        </a:rPr>
                        <a:t>​</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pPr>
                      <a:r>
                        <a:rPr lang="en-GB" sz="1200" b="0" i="0" kern="1200">
                          <a:solidFill>
                            <a:srgbClr val="000000"/>
                          </a:solidFill>
                          <a:latin typeface="Calibri"/>
                          <a:hlinkClick r:id="rId6" action="ppaction://hlinksldjump"/>
                        </a:rPr>
                        <a:t>BIRDS – DE 4/14 Item Price Rule Amendments</a:t>
                      </a:r>
                      <a:endParaRPr lang="en-GB" sz="1200" b="0" i="0" kern="1200">
                        <a:solidFill>
                          <a:srgbClr val="000000"/>
                        </a:solidFill>
                        <a:latin typeface="Calibri"/>
                      </a:endParaRPr>
                    </a:p>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r>
                        <a:rPr lang="en-GB" sz="1200" b="1" i="0" u="none" strike="noStrike">
                          <a:solidFill>
                            <a:srgbClr val="000000"/>
                          </a:solidFill>
                          <a:latin typeface="Calibri" pitchFamily="34"/>
                        </a:rPr>
                        <a:t>*This workaround will be in place from CDS 3.7.1</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863335043"/>
                  </a:ext>
                </a:extLst>
              </a:tr>
            </a:tbl>
          </a:graphicData>
        </a:graphic>
      </p:graphicFrame>
      <p:grpSp>
        <p:nvGrpSpPr>
          <p:cNvPr id="13" name="Group 4">
            <a:extLst>
              <a:ext uri="{FF2B5EF4-FFF2-40B4-BE49-F238E27FC236}">
                <a16:creationId xmlns:a16="http://schemas.microsoft.com/office/drawing/2014/main" id="{A92579FC-9F94-41B6-AA6C-7D87C27C7DE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1FB169A9-2A0E-4F3D-B7A8-A0487B27EE76}"/>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3B1DF53D-6841-464D-9982-88AE6335220F}"/>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D3C71A-1404-4AF0-840B-A1B9408903D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41E1EFAA-BD97-4E2D-BB61-16E87384F3A2}"/>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3D93A285-5AA2-42C3-8E5F-9CF63EA6F83A}"/>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23B9DA5-55C4-4B13-BEC9-6D633B4B790C}"/>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3F662CFA-CD8C-435C-A8CE-41E0D8CF08CE}"/>
              </a:ext>
            </a:extLst>
          </p:cNvPr>
          <p:cNvSpPr/>
          <p:nvPr/>
        </p:nvSpPr>
        <p:spPr>
          <a:xfrm>
            <a:off x="546399" y="43923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FD90344E-648D-4A1C-B5AD-217A40970139}"/>
              </a:ext>
            </a:extLst>
          </p:cNvPr>
          <p:cNvSpPr txBox="1"/>
          <p:nvPr/>
        </p:nvSpPr>
        <p:spPr>
          <a:xfrm>
            <a:off x="1166140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115F092-1F4D-4947-81BB-BF615C369066}" type="slidenum">
              <a:rPr sz="1200"/>
              <a:t>314</a:t>
            </a:fld>
            <a:endParaRPr lang="en-GB" sz="1200" b="0" i="0" u="none" strike="noStrike" kern="1200" cap="none" spc="0" baseline="0" dirty="0">
              <a:solidFill>
                <a:srgbClr val="000000"/>
              </a:solidFill>
              <a:uFillTx/>
              <a:latin typeface="Calibri"/>
            </a:endParaRPr>
          </a:p>
        </p:txBody>
      </p:sp>
      <p:sp>
        <p:nvSpPr>
          <p:cNvPr id="22" name="Footer Placeholder 1">
            <a:extLst>
              <a:ext uri="{FF2B5EF4-FFF2-40B4-BE49-F238E27FC236}">
                <a16:creationId xmlns:a16="http://schemas.microsoft.com/office/drawing/2014/main" id="{AD050F91-3C87-4395-8E5B-02E584CE285B}"/>
              </a:ext>
            </a:extLst>
          </p:cNvPr>
          <p:cNvSpPr txBox="1"/>
          <p:nvPr/>
        </p:nvSpPr>
        <p:spPr>
          <a:xfrm>
            <a:off x="2951472"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23" name="Rectangle 27">
            <a:extLst>
              <a:ext uri="{FF2B5EF4-FFF2-40B4-BE49-F238E27FC236}">
                <a16:creationId xmlns:a16="http://schemas.microsoft.com/office/drawing/2014/main" id="{BC2FFAE5-E568-4D2B-9B48-8DDB004BAD7E}"/>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641DD01C-4AFC-4144-80FB-1E99A18D5E07}"/>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solidFill>
                  <a:srgbClr val="000000"/>
                </a:solidFill>
                <a:uFillTx/>
                <a:latin typeface="Calibri"/>
              </a:rPr>
              <a:t> issued CDS Scope Guidance can be found </a:t>
            </a:r>
            <a:r>
              <a:rPr lang="en-GB" sz="1400" b="0" i="0" u="none" strike="noStrike" kern="1200" cap="none" spc="0" baseline="0">
                <a:solidFill>
                  <a:srgbClr val="000000"/>
                </a:solidFill>
                <a:uFillTx/>
                <a:latin typeface="Calibri  "/>
              </a:rPr>
              <a:t>in the </a:t>
            </a:r>
            <a:r>
              <a:rPr lang="en-GB" sz="1400" b="0" i="0" u="none" strike="noStrike" kern="1200" cap="none" spc="0" baseline="0">
                <a:solidFill>
                  <a:srgbClr val="6264A7"/>
                </a:solidFill>
                <a:uFillTx/>
                <a:latin typeface="Calibri  "/>
                <a:hlinkClick r:id="rId7"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a:solidFill>
                  <a:srgbClr val="252423"/>
                </a:solidFill>
                <a:uFillTx/>
                <a:latin typeface="Calibri  "/>
              </a:rPr>
              <a:t> section of the Customs Declaration Service end-to-end service guide within the HMRC Developer Hub</a:t>
            </a:r>
            <a:r>
              <a:rPr lang="en-GB" sz="1400" b="0" i="0" u="none" strike="noStrike" kern="1200" cap="none" spc="0" baseline="0">
                <a:solidFill>
                  <a:srgbClr val="000000"/>
                </a:solidFill>
                <a:uFillTx/>
                <a:latin typeface="Calibri  "/>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If you have any questions regarding this release, please send your query to </a:t>
            </a:r>
            <a:r>
              <a:rPr lang="en-GB" sz="1400" b="0" i="0" u="none" strike="noStrike" kern="1200" cap="none" spc="0" baseline="0">
                <a:solidFill>
                  <a:srgbClr val="000000"/>
                </a:solidFill>
                <a:uFillTx/>
                <a:latin typeface="Calibri"/>
                <a:ea typeface="Calibri" pitchFamily="34"/>
                <a:cs typeface="Calibri"/>
                <a:hlinkClick r:id="rId8"/>
              </a:rPr>
              <a:t>SDSTeam@hmrc.gov.uk</a:t>
            </a:r>
            <a:r>
              <a:rPr lang="en-GB" sz="1400" b="0" i="0" u="none" strike="noStrike" kern="1200" cap="none" spc="0" baseline="0">
                <a:solidFill>
                  <a:srgbClr val="000000"/>
                </a:solidFill>
                <a:uFillTx/>
                <a:latin typeface="Calibri"/>
                <a:ea typeface="Calibri" pitchFamily="34"/>
                <a:cs typeface="Calibri"/>
              </a:rPr>
              <a:t>.</a:t>
            </a:r>
          </a:p>
        </p:txBody>
      </p:sp>
      <p:sp>
        <p:nvSpPr>
          <p:cNvPr id="25" name="Oval 16">
            <a:extLst>
              <a:ext uri="{FF2B5EF4-FFF2-40B4-BE49-F238E27FC236}">
                <a16:creationId xmlns:a16="http://schemas.microsoft.com/office/drawing/2014/main" id="{A8C33232-F79D-45B3-BE6F-BBA700429C50}"/>
              </a:ext>
            </a:extLst>
          </p:cNvPr>
          <p:cNvSpPr/>
          <p:nvPr/>
        </p:nvSpPr>
        <p:spPr>
          <a:xfrm>
            <a:off x="3131664" y="438474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16">
            <a:extLst>
              <a:ext uri="{FF2B5EF4-FFF2-40B4-BE49-F238E27FC236}">
                <a16:creationId xmlns:a16="http://schemas.microsoft.com/office/drawing/2014/main" id="{20B78443-9344-4A32-9FAD-71D2948320A9}"/>
              </a:ext>
            </a:extLst>
          </p:cNvPr>
          <p:cNvSpPr/>
          <p:nvPr/>
        </p:nvSpPr>
        <p:spPr>
          <a:xfrm>
            <a:off x="6093579" y="437710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16">
            <a:extLst>
              <a:ext uri="{FF2B5EF4-FFF2-40B4-BE49-F238E27FC236}">
                <a16:creationId xmlns:a16="http://schemas.microsoft.com/office/drawing/2014/main" id="{9FC88087-722A-415E-A201-468DD30BD617}"/>
              </a:ext>
            </a:extLst>
          </p:cNvPr>
          <p:cNvSpPr/>
          <p:nvPr/>
        </p:nvSpPr>
        <p:spPr>
          <a:xfrm>
            <a:off x="546398" y="52143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16">
            <a:extLst>
              <a:ext uri="{FF2B5EF4-FFF2-40B4-BE49-F238E27FC236}">
                <a16:creationId xmlns:a16="http://schemas.microsoft.com/office/drawing/2014/main" id="{9C21136E-F627-4F7E-9DF0-D357C872D448}"/>
              </a:ext>
            </a:extLst>
          </p:cNvPr>
          <p:cNvSpPr/>
          <p:nvPr/>
        </p:nvSpPr>
        <p:spPr>
          <a:xfrm>
            <a:off x="3131664" y="519340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Oval 16">
            <a:extLst>
              <a:ext uri="{FF2B5EF4-FFF2-40B4-BE49-F238E27FC236}">
                <a16:creationId xmlns:a16="http://schemas.microsoft.com/office/drawing/2014/main" id="{D1D72120-6313-4AF7-96F8-FBF72C8F614D}"/>
              </a:ext>
            </a:extLst>
          </p:cNvPr>
          <p:cNvSpPr/>
          <p:nvPr/>
        </p:nvSpPr>
        <p:spPr>
          <a:xfrm>
            <a:off x="8891326" y="439660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Oval 16">
            <a:extLst>
              <a:ext uri="{FF2B5EF4-FFF2-40B4-BE49-F238E27FC236}">
                <a16:creationId xmlns:a16="http://schemas.microsoft.com/office/drawing/2014/main" id="{E4252149-0CCF-473C-8C77-9686BA73C215}"/>
              </a:ext>
            </a:extLst>
          </p:cNvPr>
          <p:cNvSpPr/>
          <p:nvPr/>
        </p:nvSpPr>
        <p:spPr>
          <a:xfrm>
            <a:off x="6093579" y="519340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7F9382-7B5B-4183-83EF-A4913408DDD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05DF330-3642-435F-9A34-2C696A5ED2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8B3410-7F69-4B9C-89D1-B6FBC1307D0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A6CEED0-263B-4159-9DD5-DB6899BD5104}"/>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7CB744-1ACD-4249-B6D0-03803F36960B}" type="slidenum">
              <a:rPr sz="1200"/>
              <a:t>315</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B9E2AC7D-6481-496F-B780-7B5CD3579E74}"/>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EEC8015A-5FF6-439D-B483-F72CFA01DD6F}"/>
              </a:ext>
            </a:extLst>
          </p:cNvPr>
          <p:cNvSpPr/>
          <p:nvPr/>
        </p:nvSpPr>
        <p:spPr>
          <a:xfrm>
            <a:off x="444691" y="1199866"/>
            <a:ext cx="11282159" cy="399730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dirty="0">
                <a:solidFill>
                  <a:srgbClr val="000000"/>
                </a:solidFill>
                <a:uFillTx/>
                <a:latin typeface="Calibri"/>
              </a:rPr>
              <a:t>Merchandise in Baggage (Exports)</a:t>
            </a:r>
            <a:endParaRPr lang="en-GB" sz="1400" b="1" i="0" u="sng" strike="noStrike" kern="1200" cap="none" spc="0" baseline="0" dirty="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dirty="0">
              <a:solidFill>
                <a:srgbClr val="000000"/>
              </a:solidFill>
              <a:uFillTx/>
              <a:latin typeface="Calibri"/>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0" i="0" u="none" strike="noStrike" kern="1200" cap="none" spc="0" baseline="0" dirty="0">
                <a:solidFill>
                  <a:srgbClr val="333333"/>
                </a:solidFill>
                <a:uFillTx/>
                <a:latin typeface="Calibri" pitchFamily="34"/>
                <a:ea typeface="Times New Roman" pitchFamily="18"/>
                <a:cs typeface="Times New Roman" pitchFamily="18"/>
              </a:rPr>
              <a:t>Merchandise in Baggage (MiB) are commercial goods that are moved either in accompanied baggage or in a small vehicle that can carry up to 9 people </a:t>
            </a:r>
            <a:r>
              <a:rPr lang="en-GB" sz="1400" b="0" i="0" u="none" strike="noStrike" kern="0" cap="none" spc="0" baseline="0" dirty="0">
                <a:solidFill>
                  <a:srgbClr val="333333"/>
                </a:solidFill>
                <a:uFillTx/>
                <a:latin typeface="Calibri" pitchFamily="34"/>
                <a:ea typeface="Times New Roman" pitchFamily="18"/>
                <a:cs typeface="Times New Roman" pitchFamily="18"/>
              </a:rPr>
              <a:t>and less than 3.5 tonnes. </a:t>
            </a:r>
            <a:r>
              <a:rPr lang="en-GB" sz="1400" b="0" i="0" u="none" strike="noStrike" kern="1200" cap="none" spc="0" baseline="0" dirty="0">
                <a:solidFill>
                  <a:srgbClr val="333333"/>
                </a:solidFill>
                <a:uFillTx/>
                <a:latin typeface="Calibri" pitchFamily="34"/>
                <a:ea typeface="Times New Roman" pitchFamily="18"/>
                <a:cs typeface="Times New Roman" pitchFamily="18"/>
              </a:rPr>
              <a:t>The introduction of MiB exports functionality in TTM20.0 will enable traders to export MiB goods from GB, to submit Type A (arrived) declarations, and have the declarations auto-departed on CDS. MiB traders are therefore no longer required to submit C1601 &amp; C1602 forms, in order to arrive and depart declarations. MIB declarations using this new functionality must be declared with a non-GVMS location code.</a:t>
            </a: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1" i="0" u="none" strike="noStrike" kern="1200" cap="none" spc="0" baseline="0" dirty="0">
                <a:solidFill>
                  <a:srgbClr val="333333"/>
                </a:solidFill>
                <a:uFillTx/>
                <a:latin typeface="Calibri" pitchFamily="34"/>
                <a:ea typeface="Times New Roman" pitchFamily="18"/>
                <a:cs typeface="Times New Roman" pitchFamily="18"/>
              </a:rPr>
              <a:t>	         </a:t>
            </a:r>
            <a:r>
              <a:rPr lang="en-GB" sz="1400" b="1" i="0" u="sng" strike="noStrike" kern="0" cap="none" spc="0" baseline="0" dirty="0">
                <a:solidFill>
                  <a:srgbClr val="333333"/>
                </a:solidFill>
                <a:uFillTx/>
                <a:latin typeface="Calibri" pitchFamily="34"/>
                <a:ea typeface="Times New Roman" pitchFamily="18"/>
                <a:cs typeface="Times New Roman" pitchFamily="18"/>
              </a:rPr>
              <a:t>New codes introduced to</a:t>
            </a:r>
            <a:r>
              <a:rPr lang="en-GB" sz="1400" b="1" i="0" u="sng" strike="noStrike" kern="1200" cap="none" spc="0" baseline="0" dirty="0">
                <a:solidFill>
                  <a:srgbClr val="333333"/>
                </a:solidFill>
                <a:uFillTx/>
                <a:latin typeface="Calibri" pitchFamily="34"/>
                <a:ea typeface="Times New Roman" pitchFamily="18"/>
                <a:cs typeface="Times New Roman" pitchFamily="18"/>
              </a:rPr>
              <a:t> Submit Arrived Export Declarations for MiB Exports (GB-RoW)</a:t>
            </a: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1" i="0" u="sng" strike="noStrike" kern="0" cap="none" spc="0" baseline="0" dirty="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1" i="0" u="sng" strike="noStrike" kern="1200" cap="none" spc="0" baseline="0" dirty="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dirty="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dirty="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0" cap="none" spc="0" baseline="0" dirty="0">
              <a:solidFill>
                <a:srgbClr val="333333"/>
              </a:solidFill>
              <a:uFillTx/>
              <a:latin typeface="Calibri  "/>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br>
              <a:rPr lang="en-GB" sz="1400" b="0" i="0" u="none" strike="noStrike" kern="0" cap="none" spc="0" baseline="0" dirty="0">
                <a:solidFill>
                  <a:srgbClr val="000000"/>
                </a:solidFill>
                <a:uFillTx/>
                <a:latin typeface="Calibri  "/>
              </a:rPr>
            </a:br>
            <a:endParaRPr lang="en-GB" sz="1400" b="0" i="0" u="none" strike="noStrike" kern="1200" cap="none" spc="0" baseline="0" dirty="0">
              <a:solidFill>
                <a:srgbClr val="333333"/>
              </a:solidFill>
              <a:uFillTx/>
              <a:latin typeface="Calibri  "/>
              <a:ea typeface="Times New Roman" pitchFamily="18"/>
              <a:cs typeface="Times New Roman" pitchFamily="18"/>
            </a:endParaRPr>
          </a:p>
        </p:txBody>
      </p:sp>
      <p:sp>
        <p:nvSpPr>
          <p:cNvPr id="9" name="Rectangle 7">
            <a:extLst>
              <a:ext uri="{FF2B5EF4-FFF2-40B4-BE49-F238E27FC236}">
                <a16:creationId xmlns:a16="http://schemas.microsoft.com/office/drawing/2014/main" id="{52EDADC3-E413-45A9-A5CE-D383E43B836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2">
            <a:extLst>
              <a:ext uri="{FF2B5EF4-FFF2-40B4-BE49-F238E27FC236}">
                <a16:creationId xmlns:a16="http://schemas.microsoft.com/office/drawing/2014/main" id="{B2C5F1DA-7991-4622-B57D-44C1D557F9F0}"/>
              </a:ext>
            </a:extLst>
          </p:cNvPr>
          <p:cNvGraphicFramePr>
            <a:graphicFrameLocks noGrp="1"/>
          </p:cNvGraphicFramePr>
          <p:nvPr/>
        </p:nvGraphicFramePr>
        <p:xfrm>
          <a:off x="1791568" y="2946004"/>
          <a:ext cx="8608864" cy="2283558"/>
        </p:xfrm>
        <a:graphic>
          <a:graphicData uri="http://schemas.openxmlformats.org/drawingml/2006/table">
            <a:tbl>
              <a:tblPr firstRow="1" bandRow="1">
                <a:effectLst/>
                <a:tableStyleId>{5C22544A-7EE6-4342-B048-85BDC9FD1C3A}</a:tableStyleId>
              </a:tblPr>
              <a:tblGrid>
                <a:gridCol w="1067022">
                  <a:extLst>
                    <a:ext uri="{9D8B030D-6E8A-4147-A177-3AD203B41FA5}">
                      <a16:colId xmlns:a16="http://schemas.microsoft.com/office/drawing/2014/main" val="2663714058"/>
                    </a:ext>
                  </a:extLst>
                </a:gridCol>
                <a:gridCol w="1101211">
                  <a:extLst>
                    <a:ext uri="{9D8B030D-6E8A-4147-A177-3AD203B41FA5}">
                      <a16:colId xmlns:a16="http://schemas.microsoft.com/office/drawing/2014/main" val="555943879"/>
                    </a:ext>
                  </a:extLst>
                </a:gridCol>
                <a:gridCol w="6440631">
                  <a:extLst>
                    <a:ext uri="{9D8B030D-6E8A-4147-A177-3AD203B41FA5}">
                      <a16:colId xmlns:a16="http://schemas.microsoft.com/office/drawing/2014/main" val="1182195313"/>
                    </a:ext>
                  </a:extLst>
                </a:gridCol>
              </a:tblGrid>
              <a:tr h="225262">
                <a:tc>
                  <a:txBody>
                    <a:bodyPr/>
                    <a:lstStyle/>
                    <a:p>
                      <a:pPr lvl="0" algn="ctr"/>
                      <a:r>
                        <a:rPr lang="en-GB" sz="1300"/>
                        <a:t>Code</a:t>
                      </a:r>
                    </a:p>
                  </a:txBody>
                  <a:tcPr marL="90004" marR="12847" marT="9637" marB="9637" anchor="ctr">
                    <a:solidFill>
                      <a:srgbClr val="009999"/>
                    </a:solidFill>
                  </a:tcPr>
                </a:tc>
                <a:tc>
                  <a:txBody>
                    <a:bodyPr/>
                    <a:lstStyle/>
                    <a:p>
                      <a:pPr lvl="0" algn="ctr"/>
                      <a:r>
                        <a:rPr lang="en-GB" sz="1300"/>
                        <a:t>Data Element</a:t>
                      </a:r>
                    </a:p>
                  </a:txBody>
                  <a:tcPr marL="90004" marR="12847" marT="9637" marB="9637" anchor="ctr">
                    <a:solidFill>
                      <a:srgbClr val="009999"/>
                    </a:solidFill>
                  </a:tcPr>
                </a:tc>
                <a:tc>
                  <a:txBody>
                    <a:bodyPr/>
                    <a:lstStyle/>
                    <a:p>
                      <a:pPr lvl="0" algn="ctr"/>
                      <a:r>
                        <a:rPr lang="en-GB" sz="1300"/>
                        <a:t>CDS Functionality</a:t>
                      </a:r>
                    </a:p>
                  </a:txBody>
                  <a:tcPr marL="90004" marR="12847" marT="9637" marB="9637" anchor="ctr">
                    <a:solidFill>
                      <a:srgbClr val="009999"/>
                    </a:solidFill>
                  </a:tcPr>
                </a:tc>
                <a:extLst>
                  <a:ext uri="{0D108BD9-81ED-4DB2-BD59-A6C34878D82A}">
                    <a16:rowId xmlns:a16="http://schemas.microsoft.com/office/drawing/2014/main" val="2518565454"/>
                  </a:ext>
                </a:extLst>
              </a:tr>
              <a:tr h="209525">
                <a:tc>
                  <a:txBody>
                    <a:bodyPr/>
                    <a:lstStyle/>
                    <a:p>
                      <a:pPr lvl="0"/>
                      <a:r>
                        <a:rPr lang="en-GB" sz="1300" b="1"/>
                        <a:t>1MB</a:t>
                      </a:r>
                    </a:p>
                  </a:txBody>
                  <a:tcPr marL="90004" marR="12847" marT="9637" marB="9637" anchor="ctr"/>
                </a:tc>
                <a:tc>
                  <a:txBody>
                    <a:bodyPr/>
                    <a:lstStyle/>
                    <a:p>
                      <a:pPr lvl="0"/>
                      <a:r>
                        <a:rPr lang="en-GB" sz="1300"/>
                        <a:t>DE 1/11</a:t>
                      </a:r>
                    </a:p>
                  </a:txBody>
                  <a:tcPr marL="90004" marR="12847" marT="9637" marB="9637" anchor="ctr"/>
                </a:tc>
                <a:tc>
                  <a:txBody>
                    <a:bodyPr/>
                    <a:lstStyle/>
                    <a:p>
                      <a:pPr lvl="0"/>
                      <a:r>
                        <a:rPr lang="en-GB" sz="1300"/>
                        <a:t>This APC will ensure that only codes ‘</a:t>
                      </a:r>
                      <a:r>
                        <a:rPr lang="en-GB" sz="1300" b="1"/>
                        <a:t>MIB02</a:t>
                      </a:r>
                      <a:r>
                        <a:rPr lang="en-GB" sz="1300"/>
                        <a:t>’, ‘</a:t>
                      </a:r>
                      <a:r>
                        <a:rPr lang="en-GB" sz="1300" b="1"/>
                        <a:t>MIB</a:t>
                      </a:r>
                      <a:r>
                        <a:rPr lang="en-GB" sz="1300"/>
                        <a:t>’ and ‘</a:t>
                      </a:r>
                      <a:r>
                        <a:rPr lang="en-GB" sz="1300" b="1"/>
                        <a:t>1MIB</a:t>
                      </a:r>
                      <a:r>
                        <a:rPr lang="en-GB" sz="1300"/>
                        <a:t>’ can be entered on Type A arrived declarations (see below). </a:t>
                      </a:r>
                    </a:p>
                  </a:txBody>
                  <a:tcPr marL="90004" marR="12847" marT="9637" marB="9637" anchor="ctr"/>
                </a:tc>
                <a:extLst>
                  <a:ext uri="{0D108BD9-81ED-4DB2-BD59-A6C34878D82A}">
                    <a16:rowId xmlns:a16="http://schemas.microsoft.com/office/drawing/2014/main" val="1034352113"/>
                  </a:ext>
                </a:extLst>
              </a:tr>
              <a:tr h="209525">
                <a:tc>
                  <a:txBody>
                    <a:bodyPr/>
                    <a:lstStyle/>
                    <a:p>
                      <a:pPr lvl="0"/>
                      <a:r>
                        <a:rPr lang="en-GB" sz="1300" b="1"/>
                        <a:t>MIB02</a:t>
                      </a:r>
                    </a:p>
                  </a:txBody>
                  <a:tcPr marL="90004" marR="12847" marT="9637" marB="9637" anchor="ctr"/>
                </a:tc>
                <a:tc>
                  <a:txBody>
                    <a:bodyPr/>
                    <a:lstStyle/>
                    <a:p>
                      <a:pPr lvl="0"/>
                      <a:r>
                        <a:rPr lang="en-GB" sz="1300"/>
                        <a:t>DE 2/2</a:t>
                      </a:r>
                    </a:p>
                  </a:txBody>
                  <a:tcPr marL="90004" marR="12847" marT="9637" marB="9637" anchor="ctr"/>
                </a:tc>
                <a:tc>
                  <a:txBody>
                    <a:bodyPr/>
                    <a:lstStyle/>
                    <a:p>
                      <a:pPr lvl="0"/>
                      <a:r>
                        <a:rPr lang="en-GB" sz="1300"/>
                        <a:t>This AI code will drive auto-departure for MiB exports (GB-</a:t>
                      </a:r>
                      <a:r>
                        <a:rPr lang="en-GB" sz="1300" err="1"/>
                        <a:t>RoW</a:t>
                      </a:r>
                      <a:r>
                        <a:rPr lang="en-GB" sz="1300"/>
                        <a:t>). It will also be used by the data platform to identify MiB export declarations for post-clearance compliance checks.</a:t>
                      </a:r>
                    </a:p>
                  </a:txBody>
                  <a:tcPr marL="90004" marR="12847" marT="9637" marB="9637" anchor="ctr"/>
                </a:tc>
                <a:extLst>
                  <a:ext uri="{0D108BD9-81ED-4DB2-BD59-A6C34878D82A}">
                    <a16:rowId xmlns:a16="http://schemas.microsoft.com/office/drawing/2014/main" val="515468215"/>
                  </a:ext>
                </a:extLst>
              </a:tr>
              <a:tr h="209525">
                <a:tc>
                  <a:txBody>
                    <a:bodyPr/>
                    <a:lstStyle/>
                    <a:p>
                      <a:pPr lvl="0"/>
                      <a:r>
                        <a:rPr lang="en-GB" sz="1300" b="1"/>
                        <a:t>MIB</a:t>
                      </a:r>
                    </a:p>
                  </a:txBody>
                  <a:tcPr marL="90004" marR="12847" marT="9637" marB="9637" anchor="ctr"/>
                </a:tc>
                <a:tc>
                  <a:txBody>
                    <a:bodyPr/>
                    <a:lstStyle/>
                    <a:p>
                      <a:pPr lvl="0"/>
                      <a:r>
                        <a:rPr lang="en-GB" sz="1300"/>
                        <a:t>DE 3/39</a:t>
                      </a:r>
                    </a:p>
                  </a:txBody>
                  <a:tcPr marL="90004" marR="12847" marT="9637" marB="9637" anchor="ctr"/>
                </a:tc>
                <a:tc>
                  <a:txBody>
                    <a:bodyPr/>
                    <a:lstStyle/>
                    <a:p>
                      <a:pPr marL="0" marR="0" lvl="0" indent="0" algn="l" defTabSz="914400" rtl="0" fontAlgn="auto" hangingPunct="1">
                        <a:lnSpc>
                          <a:spcPct val="100000"/>
                        </a:lnSpc>
                        <a:spcBef>
                          <a:spcPts val="0"/>
                        </a:spcBef>
                        <a:spcAft>
                          <a:spcPts val="0"/>
                        </a:spcAft>
                        <a:buNone/>
                        <a:tabLst/>
                      </a:pPr>
                      <a:r>
                        <a:rPr lang="en-GB" sz="1300"/>
                        <a:t>An arrived export declaration cannot be submitted on CDS without an authorisation type code. This 'dummy' authorisation type code will allow CDS to accept arrived export declarations for MiB. </a:t>
                      </a:r>
                      <a:r>
                        <a:rPr lang="en-GB" sz="1300" kern="1200">
                          <a:solidFill>
                            <a:srgbClr val="000000"/>
                          </a:solidFill>
                          <a:latin typeface="Calibri"/>
                        </a:rPr>
                        <a:t>MIB authorisation must be followed by the exporter’s EORI.</a:t>
                      </a:r>
                    </a:p>
                  </a:txBody>
                  <a:tcPr marL="90004" marR="12847" marT="9637" marB="9637" anchor="ctr"/>
                </a:tc>
                <a:extLst>
                  <a:ext uri="{0D108BD9-81ED-4DB2-BD59-A6C34878D82A}">
                    <a16:rowId xmlns:a16="http://schemas.microsoft.com/office/drawing/2014/main" val="1923217016"/>
                  </a:ext>
                </a:extLst>
              </a:tr>
              <a:tr h="209525">
                <a:tc>
                  <a:txBody>
                    <a:bodyPr/>
                    <a:lstStyle/>
                    <a:p>
                      <a:pPr lvl="0"/>
                      <a:r>
                        <a:rPr lang="en-GB" sz="1300" b="1"/>
                        <a:t>1MIB</a:t>
                      </a:r>
                    </a:p>
                  </a:txBody>
                  <a:tcPr marL="90004" marR="12847" marT="9637" marB="9637" anchor="ctr"/>
                </a:tc>
                <a:tc>
                  <a:txBody>
                    <a:bodyPr/>
                    <a:lstStyle/>
                    <a:p>
                      <a:pPr lvl="0"/>
                      <a:r>
                        <a:rPr lang="en-GB" sz="1300"/>
                        <a:t>DE 2/3</a:t>
                      </a:r>
                    </a:p>
                  </a:txBody>
                  <a:tcPr marL="90004" marR="12847" marT="9637" marB="9637" anchor="ctr"/>
                </a:tc>
                <a:tc>
                  <a:txBody>
                    <a:bodyPr/>
                    <a:lstStyle/>
                    <a:p>
                      <a:pPr lvl="0"/>
                      <a:r>
                        <a:rPr lang="en-GB" sz="1300" dirty="0"/>
                        <a:t>To indicate authorisation by virtue of the declaration being made using APC ‘</a:t>
                      </a:r>
                      <a:r>
                        <a:rPr lang="en-GB" sz="1300" b="1" dirty="0"/>
                        <a:t>1MB</a:t>
                      </a:r>
                      <a:r>
                        <a:rPr lang="en-GB" sz="1300" dirty="0"/>
                        <a:t>’ (in DE 1/11) with the following details entered against the code – ‘Enter the date of arrival at the border’ (for use at export only).</a:t>
                      </a:r>
                    </a:p>
                  </a:txBody>
                  <a:tcPr marL="90004" marR="12847" marT="9637" marB="9637" anchor="ctr"/>
                </a:tc>
                <a:extLst>
                  <a:ext uri="{0D108BD9-81ED-4DB2-BD59-A6C34878D82A}">
                    <a16:rowId xmlns:a16="http://schemas.microsoft.com/office/drawing/2014/main" val="3553223064"/>
                  </a:ext>
                </a:extLst>
              </a:tr>
            </a:tbl>
          </a:graphicData>
        </a:graphic>
      </p:graphicFrame>
      <p:sp>
        <p:nvSpPr>
          <p:cNvPr id="11" name="TextBox 13">
            <a:extLst>
              <a:ext uri="{FF2B5EF4-FFF2-40B4-BE49-F238E27FC236}">
                <a16:creationId xmlns:a16="http://schemas.microsoft.com/office/drawing/2014/main" id="{DFD49D0C-E2AB-4D1F-B489-391B43EF0F74}"/>
              </a:ext>
            </a:extLst>
          </p:cNvPr>
          <p:cNvSpPr txBox="1"/>
          <p:nvPr/>
        </p:nvSpPr>
        <p:spPr>
          <a:xfrm>
            <a:off x="465155" y="5264385"/>
            <a:ext cx="11613300" cy="100418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0" cap="none" spc="0" baseline="0">
                <a:solidFill>
                  <a:srgbClr val="333333"/>
                </a:solidFill>
                <a:uFillTx/>
                <a:latin typeface="Calibri  "/>
              </a:rPr>
              <a:t>Please Note:</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solidFill>
                  <a:srgbClr val="242424"/>
                </a:solidFill>
                <a:uFillTx/>
                <a:latin typeface="Calibri  "/>
              </a:rPr>
              <a:t>Traders are expected to declare APC ‘</a:t>
            </a:r>
            <a:r>
              <a:rPr lang="en-GB" sz="1400" b="1" i="0" u="none" strike="noStrike" kern="0" cap="none" spc="0" baseline="0">
                <a:solidFill>
                  <a:srgbClr val="242424"/>
                </a:solidFill>
                <a:uFillTx/>
                <a:latin typeface="Calibri  "/>
              </a:rPr>
              <a:t>1MB</a:t>
            </a:r>
            <a:r>
              <a:rPr lang="en-GB" sz="1400" b="0" i="0" u="none" strike="noStrike" kern="0" cap="none" spc="0" baseline="0">
                <a:solidFill>
                  <a:srgbClr val="242424"/>
                </a:solidFill>
                <a:uFillTx/>
                <a:latin typeface="Calibri  "/>
              </a:rPr>
              <a:t>’, AI Code </a:t>
            </a:r>
            <a:r>
              <a:rPr lang="en-GB" sz="1400" b="1" i="0" u="none" strike="noStrike" kern="0" cap="none" spc="0" baseline="0">
                <a:solidFill>
                  <a:srgbClr val="242424"/>
                </a:solidFill>
                <a:uFillTx/>
                <a:latin typeface="Calibri  "/>
              </a:rPr>
              <a:t>'MIB02</a:t>
            </a:r>
            <a:r>
              <a:rPr lang="en-GB" sz="1400" b="0" i="0" u="none" strike="noStrike" kern="0" cap="none" spc="0" baseline="0">
                <a:solidFill>
                  <a:srgbClr val="242424"/>
                </a:solidFill>
                <a:uFillTx/>
                <a:latin typeface="Calibri  "/>
              </a:rPr>
              <a:t>' and Document Code </a:t>
            </a:r>
            <a:r>
              <a:rPr lang="en-GB" sz="1400" b="1" i="0" u="none" strike="noStrike" kern="0" cap="none" spc="0" baseline="0">
                <a:solidFill>
                  <a:srgbClr val="242424"/>
                </a:solidFill>
                <a:uFillTx/>
                <a:latin typeface="Calibri  "/>
              </a:rPr>
              <a:t>'1MIB</a:t>
            </a:r>
            <a:r>
              <a:rPr lang="en-GB" sz="1400" b="0" i="0" u="none" strike="noStrike" kern="0" cap="none" spc="0" baseline="0">
                <a:solidFill>
                  <a:srgbClr val="242424"/>
                </a:solidFill>
                <a:uFillTx/>
                <a:latin typeface="Calibri  "/>
              </a:rPr>
              <a:t>’ at item level on </a:t>
            </a:r>
            <a:r>
              <a:rPr lang="en-GB" sz="1400" b="1" i="0" u="none" strike="noStrike" kern="0" cap="none" spc="0" baseline="0">
                <a:solidFill>
                  <a:srgbClr val="242424"/>
                </a:solidFill>
                <a:uFillTx/>
                <a:latin typeface="Calibri  "/>
              </a:rPr>
              <a:t>every goods item</a:t>
            </a:r>
            <a:r>
              <a:rPr lang="en-GB" sz="1400" b="0" i="0" u="none" strike="noStrike" kern="0" cap="none" spc="0" baseline="0">
                <a:solidFill>
                  <a:srgbClr val="242424"/>
                </a:solidFill>
                <a:uFillTx/>
                <a:latin typeface="Calibri  "/>
              </a:rPr>
              <a:t>. CDS </a:t>
            </a:r>
            <a:r>
              <a:rPr lang="en-GB" sz="1400" b="1" i="0" u="none" strike="noStrike" kern="0" cap="none" spc="0" baseline="0">
                <a:solidFill>
                  <a:srgbClr val="242424"/>
                </a:solidFill>
                <a:uFillTx/>
                <a:latin typeface="Calibri  "/>
              </a:rPr>
              <a:t>cannot</a:t>
            </a:r>
            <a:r>
              <a:rPr lang="en-GB" sz="1400" b="0" i="0" u="none" strike="noStrike" kern="0" cap="none" spc="0" baseline="0">
                <a:solidFill>
                  <a:srgbClr val="242424"/>
                </a:solidFill>
                <a:uFillTx/>
                <a:latin typeface="Calibri  "/>
              </a:rPr>
              <a:t> currently mandate that these codes are declared against every goods item, therefore the declaration will not auto-depart where a trader does not comply </a:t>
            </a:r>
            <a:r>
              <a:rPr lang="en-GB" sz="1400" b="1" i="0" u="none" strike="noStrike" kern="0" cap="none" spc="0" baseline="0">
                <a:solidFill>
                  <a:srgbClr val="242424"/>
                </a:solidFill>
                <a:uFillTx/>
                <a:latin typeface="Calibri  "/>
              </a:rPr>
              <a:t>(MIB02). </a:t>
            </a:r>
            <a:r>
              <a:rPr lang="en-GB" sz="1400" b="0" i="0" u="none" strike="noStrike" kern="0" cap="none" spc="0" baseline="0">
                <a:solidFill>
                  <a:srgbClr val="242424"/>
                </a:solidFill>
                <a:uFillTx/>
                <a:latin typeface="Calibri  "/>
              </a:rPr>
              <a:t>The requirement for CDS to mandate '1MB', 'MIB02' and '1MIB' on every goods item will be delivered in a future release (TBC).</a:t>
            </a:r>
            <a:endParaRPr lang="en-GB" sz="1400" b="0" i="0" u="none" strike="noStrike" kern="0" cap="none" spc="0" baseline="0">
              <a:solidFill>
                <a:srgbClr val="000000"/>
              </a:solidFill>
              <a:uFillTx/>
              <a:latin typeface="Calibri  "/>
            </a:endParaRPr>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3828FE9-7A06-41B8-847F-F4DAC144465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3DAEE88-2BB6-4615-8BE9-3DDCCC766EC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28C377F-C0F8-412E-9069-CCAAA585800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218C2AD-18EB-4AC1-84F3-99136FEF1CBA}"/>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457BD76-C157-4B09-B164-B5DBE3508013}" type="slidenum">
              <a:rPr sz="1200"/>
              <a:t>316</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9F2A8473-F039-46CD-BE73-D2D023F563E0}"/>
              </a:ext>
            </a:extLst>
          </p:cNvPr>
          <p:cNvSpPr txBox="1"/>
          <p:nvPr/>
        </p:nvSpPr>
        <p:spPr>
          <a:xfrm>
            <a:off x="294380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AF71188-6E83-4E9A-801E-396727DF621C}"/>
              </a:ext>
            </a:extLst>
          </p:cNvPr>
          <p:cNvSpPr/>
          <p:nvPr/>
        </p:nvSpPr>
        <p:spPr>
          <a:xfrm>
            <a:off x="363967" y="1224088"/>
            <a:ext cx="11523232" cy="430733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
              </a:rPr>
              <a:t>To </a:t>
            </a:r>
            <a:r>
              <a:rPr lang="en-GB" sz="1400" b="1" i="0" u="none" strike="noStrike" kern="0" cap="none" spc="0" baseline="0">
                <a:solidFill>
                  <a:srgbClr val="333333"/>
                </a:solidFill>
                <a:uFillTx/>
                <a:latin typeface="Calibri  "/>
              </a:rPr>
              <a:t>submit arrived export declarations for MiB Exports (GB-</a:t>
            </a:r>
            <a:r>
              <a:rPr lang="en-GB" sz="1400" b="1" i="0" u="none" strike="noStrike" kern="0" cap="none" spc="0" baseline="0" err="1">
                <a:solidFill>
                  <a:srgbClr val="333333"/>
                </a:solidFill>
                <a:uFillTx/>
                <a:latin typeface="Calibri  "/>
              </a:rPr>
              <a:t>RoW</a:t>
            </a:r>
            <a:r>
              <a:rPr lang="en-GB" sz="1400" b="1" i="0" u="none" strike="noStrike" kern="0" cap="none" spc="0" baseline="0">
                <a:solidFill>
                  <a:srgbClr val="333333"/>
                </a:solidFill>
                <a:uFillTx/>
                <a:latin typeface="Calibri  "/>
              </a:rPr>
              <a:t>),</a:t>
            </a:r>
            <a:r>
              <a:rPr lang="en-GB" sz="1400" b="1" i="0" u="none" strike="noStrike" kern="1200" cap="none" spc="0" baseline="0">
                <a:solidFill>
                  <a:srgbClr val="000000"/>
                </a:solidFill>
                <a:uFillTx/>
                <a:latin typeface="Calibri  "/>
              </a:rPr>
              <a:t> </a:t>
            </a: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Traders must enter the following codes on export declarations only,</a:t>
            </a:r>
            <a:endParaRPr lang="en-GB" sz="1400" b="1" i="0" u="none" strike="noStrike" kern="0" cap="none" spc="0" baseline="0">
              <a:solidFill>
                <a:srgbClr val="333333"/>
              </a:solidFill>
              <a:uFillTx/>
              <a:latin typeface="Calibri  "/>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
                <a:ea typeface="Calibri" pitchFamily="34"/>
                <a:cs typeface="Times New Roman" pitchFamily="18"/>
              </a:rPr>
              <a:t>AI code </a:t>
            </a:r>
            <a:r>
              <a:rPr lang="en-GB" sz="1400" b="1" i="0" u="none" strike="noStrike" kern="0" cap="none" spc="0" baseline="0">
                <a:solidFill>
                  <a:srgbClr val="000000"/>
                </a:solidFill>
                <a:uFillTx/>
                <a:latin typeface="Calibri  "/>
                <a:ea typeface="Calibri" pitchFamily="34"/>
                <a:cs typeface="Times New Roman" pitchFamily="18"/>
              </a:rPr>
              <a:t>'MIB02</a:t>
            </a:r>
            <a:r>
              <a:rPr lang="en-GB" sz="1400" b="0" i="0" u="none" strike="noStrike" kern="0" cap="none" spc="0" baseline="0">
                <a:solidFill>
                  <a:srgbClr val="000000"/>
                </a:solidFill>
                <a:uFillTx/>
                <a:latin typeface="Calibri  "/>
                <a:ea typeface="Calibri" pitchFamily="34"/>
                <a:cs typeface="Times New Roman" pitchFamily="18"/>
              </a:rPr>
              <a:t>' in DE 2/2 at item level</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
                <a:ea typeface="Calibri" pitchFamily="34"/>
                <a:cs typeface="Times New Roman" pitchFamily="18"/>
              </a:rPr>
              <a:t>Authorisation type code </a:t>
            </a:r>
            <a:r>
              <a:rPr lang="en-GB" sz="1400" b="1" i="0" u="none" strike="noStrike" kern="0" cap="none" spc="0" baseline="0">
                <a:solidFill>
                  <a:srgbClr val="000000"/>
                </a:solidFill>
                <a:uFillTx/>
                <a:latin typeface="Calibri  "/>
                <a:ea typeface="Calibri" pitchFamily="34"/>
                <a:cs typeface="Times New Roman" pitchFamily="18"/>
              </a:rPr>
              <a:t>'MIB</a:t>
            </a:r>
            <a:r>
              <a:rPr lang="en-GB" sz="1400" b="0" i="0" u="none" strike="noStrike" kern="0" cap="none" spc="0" baseline="0">
                <a:solidFill>
                  <a:srgbClr val="000000"/>
                </a:solidFill>
                <a:uFillTx/>
                <a:latin typeface="Calibri  "/>
                <a:ea typeface="Calibri" pitchFamily="34"/>
                <a:cs typeface="Times New Roman" pitchFamily="18"/>
              </a:rPr>
              <a:t>' in DE 3/39 at header level</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
                <a:ea typeface="Calibri" pitchFamily="34"/>
                <a:cs typeface="Times New Roman" pitchFamily="18"/>
              </a:rPr>
              <a:t>APC </a:t>
            </a:r>
            <a:r>
              <a:rPr lang="en-GB" sz="1400" b="1" i="0" u="none" strike="noStrike" kern="0" cap="none" spc="0" baseline="0">
                <a:solidFill>
                  <a:srgbClr val="000000"/>
                </a:solidFill>
                <a:uFillTx/>
                <a:latin typeface="Calibri  "/>
                <a:ea typeface="Calibri" pitchFamily="34"/>
                <a:cs typeface="Times New Roman" pitchFamily="18"/>
              </a:rPr>
              <a:t>'1MB</a:t>
            </a:r>
            <a:r>
              <a:rPr lang="en-GB" sz="1400" b="0" i="0" u="none" strike="noStrike" kern="0" cap="none" spc="0" baseline="0">
                <a:solidFill>
                  <a:srgbClr val="000000"/>
                </a:solidFill>
                <a:uFillTx/>
                <a:latin typeface="Calibri  "/>
                <a:ea typeface="Calibri" pitchFamily="34"/>
                <a:cs typeface="Times New Roman" pitchFamily="18"/>
              </a:rPr>
              <a:t>' in DE 1/11 at item level</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
                <a:ea typeface="Calibri" pitchFamily="34"/>
                <a:cs typeface="Times New Roman" pitchFamily="18"/>
              </a:rPr>
              <a:t>Document code </a:t>
            </a:r>
            <a:r>
              <a:rPr lang="en-GB" sz="1400" b="1" i="0" u="none" strike="noStrike" kern="0" cap="none" spc="0" baseline="0">
                <a:solidFill>
                  <a:srgbClr val="000000"/>
                </a:solidFill>
                <a:uFillTx/>
                <a:latin typeface="Calibri  "/>
                <a:ea typeface="Calibri" pitchFamily="34"/>
                <a:cs typeface="Times New Roman" pitchFamily="18"/>
              </a:rPr>
              <a:t>'1MIB</a:t>
            </a:r>
            <a:r>
              <a:rPr lang="en-GB" sz="1400" b="0" i="0" u="none" strike="noStrike" kern="0" cap="none" spc="0" baseline="0">
                <a:solidFill>
                  <a:srgbClr val="000000"/>
                </a:solidFill>
                <a:uFillTx/>
                <a:latin typeface="Calibri  "/>
                <a:ea typeface="Calibri" pitchFamily="34"/>
                <a:cs typeface="Times New Roman" pitchFamily="18"/>
              </a:rPr>
              <a:t>' in DE 2/3 at item level</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
                <a:ea typeface="Calibri" pitchFamily="34"/>
                <a:cs typeface="Times New Roman" pitchFamily="18"/>
              </a:rPr>
              <a:t>Codes </a:t>
            </a:r>
            <a:r>
              <a:rPr lang="en-GB" sz="1400" b="1" i="0" u="none" strike="noStrike" kern="0" cap="none" spc="0" baseline="0">
                <a:solidFill>
                  <a:srgbClr val="000000"/>
                </a:solidFill>
                <a:uFillTx/>
                <a:latin typeface="Calibri  "/>
                <a:ea typeface="Calibri" pitchFamily="34"/>
                <a:cs typeface="Times New Roman" pitchFamily="18"/>
              </a:rPr>
              <a:t>1MB</a:t>
            </a:r>
            <a:r>
              <a:rPr lang="en-GB" sz="1400" b="0" i="0" u="none" strike="noStrike" kern="0" cap="none" spc="0" baseline="0">
                <a:solidFill>
                  <a:srgbClr val="000000"/>
                </a:solidFill>
                <a:uFillTx/>
                <a:latin typeface="Calibri  "/>
                <a:ea typeface="Calibri" pitchFamily="34"/>
                <a:cs typeface="Times New Roman" pitchFamily="18"/>
              </a:rPr>
              <a:t>, </a:t>
            </a:r>
            <a:r>
              <a:rPr lang="en-GB" sz="1400" b="1" i="0" u="none" strike="noStrike" kern="0" cap="none" spc="0" baseline="0">
                <a:solidFill>
                  <a:srgbClr val="000000"/>
                </a:solidFill>
                <a:uFillTx/>
                <a:latin typeface="Calibri  "/>
                <a:ea typeface="Calibri" pitchFamily="34"/>
                <a:cs typeface="Times New Roman" pitchFamily="18"/>
              </a:rPr>
              <a:t>MIB02</a:t>
            </a:r>
            <a:r>
              <a:rPr lang="en-GB" sz="1400" b="0" i="0" u="none" strike="noStrike" kern="0" cap="none" spc="0" baseline="0">
                <a:solidFill>
                  <a:srgbClr val="000000"/>
                </a:solidFill>
                <a:uFillTx/>
                <a:latin typeface="Calibri  "/>
                <a:ea typeface="Calibri" pitchFamily="34"/>
                <a:cs typeface="Times New Roman" pitchFamily="18"/>
              </a:rPr>
              <a:t> and </a:t>
            </a:r>
            <a:r>
              <a:rPr lang="en-GB" sz="1400" b="1" i="0" u="none" strike="noStrike" kern="0" cap="none" spc="0" baseline="0">
                <a:solidFill>
                  <a:srgbClr val="000000"/>
                </a:solidFill>
                <a:uFillTx/>
                <a:latin typeface="Calibri  "/>
                <a:ea typeface="Calibri" pitchFamily="34"/>
                <a:cs typeface="Times New Roman" pitchFamily="18"/>
              </a:rPr>
              <a:t>1MIB</a:t>
            </a:r>
            <a:r>
              <a:rPr lang="en-GB" sz="1400" b="0" i="0" u="none" strike="noStrike" kern="0" cap="none" spc="0" baseline="0">
                <a:solidFill>
                  <a:srgbClr val="000000"/>
                </a:solidFill>
                <a:uFillTx/>
                <a:latin typeface="Calibri  "/>
                <a:ea typeface="Calibri" pitchFamily="34"/>
                <a:cs typeface="Times New Roman" pitchFamily="18"/>
              </a:rPr>
              <a:t> must be entered on every goods item on the declaration </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pitchFamily="34"/>
              <a:cs typeface="Times New Roman" pitchFamily="18"/>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
              </a:rPr>
              <a:t>Mandatory requirements for APC '1MB’ </a:t>
            </a:r>
            <a:endParaRPr lang="en-GB" sz="1400" b="0" i="0" u="none" strike="noStrike" kern="1200" cap="none" spc="0" baseline="0">
              <a:solidFill>
                <a:srgbClr val="333333"/>
              </a:solidFill>
              <a:uFillTx/>
              <a:latin typeface="Calibri  "/>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Traders must enter '</a:t>
            </a:r>
            <a:r>
              <a:rPr lang="en-GB" sz="1400" b="1" i="0" u="none" strike="noStrike" kern="1200" cap="none" spc="0" baseline="0">
                <a:solidFill>
                  <a:srgbClr val="333333"/>
                </a:solidFill>
                <a:uFillTx/>
                <a:latin typeface="Calibri  "/>
              </a:rPr>
              <a:t>EX</a:t>
            </a:r>
            <a:r>
              <a:rPr lang="en-GB" sz="1400" b="0" i="0" u="none" strike="noStrike" kern="1200" cap="none" spc="0" baseline="0">
                <a:solidFill>
                  <a:srgbClr val="333333"/>
                </a:solidFill>
                <a:uFillTx/>
                <a:latin typeface="Calibri  "/>
              </a:rPr>
              <a:t>' or '</a:t>
            </a:r>
            <a:r>
              <a:rPr lang="en-GB" sz="1400" b="1" i="0" u="none" strike="noStrike" kern="1200" cap="none" spc="0" baseline="0">
                <a:solidFill>
                  <a:srgbClr val="333333"/>
                </a:solidFill>
                <a:uFillTx/>
                <a:latin typeface="Calibri  "/>
              </a:rPr>
              <a:t>CO</a:t>
            </a:r>
            <a:r>
              <a:rPr lang="en-GB" sz="1400" b="0" i="0" u="none" strike="noStrike" kern="1200" cap="none" spc="0" baseline="0">
                <a:solidFill>
                  <a:srgbClr val="333333"/>
                </a:solidFill>
                <a:uFillTx/>
                <a:latin typeface="Calibri  "/>
              </a:rPr>
              <a:t>’ in DE 1/1 at header level;</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Additional declaration type</a:t>
            </a:r>
            <a:r>
              <a:rPr lang="en-GB" sz="1400" b="1" i="0" u="none" strike="noStrike" kern="1200" cap="none" spc="0" baseline="0">
                <a:solidFill>
                  <a:srgbClr val="333333"/>
                </a:solidFill>
                <a:uFillTx/>
                <a:latin typeface="Calibri  "/>
              </a:rPr>
              <a:t> 'A' </a:t>
            </a:r>
            <a:r>
              <a:rPr lang="en-GB" sz="1400" b="0" i="0" u="none" strike="noStrike" kern="1200" cap="none" spc="0" baseline="0">
                <a:solidFill>
                  <a:srgbClr val="333333"/>
                </a:solidFill>
                <a:uFillTx/>
                <a:latin typeface="Calibri  "/>
              </a:rPr>
              <a:t>must be entered in DE 1/2 at header level</a:t>
            </a:r>
            <a:endParaRPr lang="en-GB" sz="1400" b="0" i="0" u="none" strike="noStrike" kern="0" cap="none" spc="0" baseline="0">
              <a:solidFill>
                <a:srgbClr val="333333"/>
              </a:solidFill>
              <a:uFillTx/>
              <a:latin typeface="Calibri  "/>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Authorisation type code </a:t>
            </a:r>
            <a:r>
              <a:rPr lang="en-GB" sz="1400" b="1" i="0" u="none" strike="noStrike" kern="0" cap="none" spc="0" baseline="0">
                <a:solidFill>
                  <a:srgbClr val="333333"/>
                </a:solidFill>
                <a:uFillTx/>
                <a:latin typeface="Calibri  "/>
              </a:rPr>
              <a:t>'MIB</a:t>
            </a:r>
            <a:r>
              <a:rPr lang="en-GB" sz="1400" b="0" i="0" u="none" strike="noStrike" kern="0" cap="none" spc="0" baseline="0">
                <a:solidFill>
                  <a:srgbClr val="333333"/>
                </a:solidFill>
                <a:uFillTx/>
                <a:latin typeface="Calibri  "/>
              </a:rPr>
              <a:t>' must be entered in DE 3/39 at header level</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Additional Information code </a:t>
            </a:r>
            <a:r>
              <a:rPr lang="en-GB" sz="1400" b="1" i="0" u="none" strike="noStrike" kern="0" cap="none" spc="0" baseline="0">
                <a:solidFill>
                  <a:srgbClr val="333333"/>
                </a:solidFill>
                <a:uFillTx/>
                <a:latin typeface="Calibri  "/>
              </a:rPr>
              <a:t>'MIB02</a:t>
            </a:r>
            <a:r>
              <a:rPr lang="en-GB" sz="1400" b="0" i="0" u="none" strike="noStrike" kern="0" cap="none" spc="0" baseline="0">
                <a:solidFill>
                  <a:srgbClr val="333333"/>
                </a:solidFill>
                <a:uFillTx/>
                <a:latin typeface="Calibri  "/>
              </a:rPr>
              <a:t>' must be entered in DE 2/2 at item level on the same goods item.</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Each goods item on the declaration must contain at least </a:t>
            </a:r>
            <a:r>
              <a:rPr lang="en-GB" sz="1400" b="1" i="0" u="none" strike="noStrike" kern="1200" cap="none" spc="0" baseline="0">
                <a:solidFill>
                  <a:srgbClr val="333333"/>
                </a:solidFill>
                <a:uFillTx/>
                <a:latin typeface="Calibri  "/>
              </a:rPr>
              <a:t>one</a:t>
            </a:r>
            <a:r>
              <a:rPr lang="en-GB" sz="1400" b="0" i="0" u="none" strike="noStrike" kern="1200" cap="none" spc="0" baseline="0">
                <a:solidFill>
                  <a:srgbClr val="333333"/>
                </a:solidFill>
                <a:uFillTx/>
                <a:latin typeface="Calibri  "/>
              </a:rPr>
              <a:t> of the below valid customs procedure codes in DE 1/10:</a:t>
            </a:r>
            <a:endParaRPr lang="en-GB" sz="1400" b="0" i="0" u="none" strike="sngStrike" kern="1200" cap="none" spc="0" baseline="0">
              <a:solidFill>
                <a:srgbClr val="333333"/>
              </a:solidFill>
              <a:highlight>
                <a:srgbClr val="00FFFF"/>
              </a:highlight>
              <a:uFillTx/>
              <a:latin typeface="Calibri  "/>
            </a:endParaRPr>
          </a:p>
          <a:p>
            <a:pPr marL="1371600" marR="0" lvl="3"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100" b="0" i="0" u="none" strike="noStrike" kern="0" cap="none" spc="0" baseline="0">
              <a:solidFill>
                <a:srgbClr val="000000"/>
              </a:solidFill>
              <a:uFillTx/>
              <a:latin typeface="Calibri" pitchFamily="34"/>
              <a:ea typeface="Calibri" pitchFamily="34"/>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br>
              <a:rPr lang="en-GB" sz="1400" b="0" i="0" u="none" strike="noStrike" kern="0" cap="none" spc="0" baseline="0">
                <a:solidFill>
                  <a:srgbClr val="000000"/>
                </a:solidFill>
                <a:uFillTx/>
                <a:latin typeface="Calibri  "/>
              </a:rPr>
            </a:br>
            <a:endParaRPr lang="en-GB" sz="1400" b="0" i="0" u="none" strike="noStrike" kern="1200" cap="none" spc="0" baseline="0">
              <a:solidFill>
                <a:srgbClr val="333333"/>
              </a:solidFill>
              <a:uFillTx/>
              <a:latin typeface="Calibri  "/>
              <a:ea typeface="Times New Roman" pitchFamily="18"/>
              <a:cs typeface="Times New Roman" pitchFamily="18"/>
            </a:endParaRPr>
          </a:p>
        </p:txBody>
      </p:sp>
      <p:sp>
        <p:nvSpPr>
          <p:cNvPr id="9" name="Rectangle 7">
            <a:extLst>
              <a:ext uri="{FF2B5EF4-FFF2-40B4-BE49-F238E27FC236}">
                <a16:creationId xmlns:a16="http://schemas.microsoft.com/office/drawing/2014/main" id="{87B746DE-A6BF-4917-BE04-20B403F65105}"/>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2">
            <a:extLst>
              <a:ext uri="{FF2B5EF4-FFF2-40B4-BE49-F238E27FC236}">
                <a16:creationId xmlns:a16="http://schemas.microsoft.com/office/drawing/2014/main" id="{F7E721CD-97BC-4124-B711-A2E0D1DB1677}"/>
              </a:ext>
            </a:extLst>
          </p:cNvPr>
          <p:cNvGraphicFramePr>
            <a:graphicFrameLocks noGrp="1"/>
          </p:cNvGraphicFramePr>
          <p:nvPr/>
        </p:nvGraphicFramePr>
        <p:xfrm>
          <a:off x="1797189" y="4616266"/>
          <a:ext cx="4384481" cy="1312778"/>
        </p:xfrm>
        <a:graphic>
          <a:graphicData uri="http://schemas.openxmlformats.org/drawingml/2006/table">
            <a:tbl>
              <a:tblPr firstRow="1" bandRow="1">
                <a:effectLst/>
                <a:tableStyleId>{5C22544A-7EE6-4342-B048-85BDC9FD1C3A}</a:tableStyleId>
              </a:tblPr>
              <a:tblGrid>
                <a:gridCol w="1030537">
                  <a:extLst>
                    <a:ext uri="{9D8B030D-6E8A-4147-A177-3AD203B41FA5}">
                      <a16:colId xmlns:a16="http://schemas.microsoft.com/office/drawing/2014/main" val="3316326912"/>
                    </a:ext>
                  </a:extLst>
                </a:gridCol>
                <a:gridCol w="1068970">
                  <a:extLst>
                    <a:ext uri="{9D8B030D-6E8A-4147-A177-3AD203B41FA5}">
                      <a16:colId xmlns:a16="http://schemas.microsoft.com/office/drawing/2014/main" val="196652236"/>
                    </a:ext>
                  </a:extLst>
                </a:gridCol>
                <a:gridCol w="1165667">
                  <a:extLst>
                    <a:ext uri="{9D8B030D-6E8A-4147-A177-3AD203B41FA5}">
                      <a16:colId xmlns:a16="http://schemas.microsoft.com/office/drawing/2014/main" val="3458804128"/>
                    </a:ext>
                  </a:extLst>
                </a:gridCol>
                <a:gridCol w="1119307">
                  <a:extLst>
                    <a:ext uri="{9D8B030D-6E8A-4147-A177-3AD203B41FA5}">
                      <a16:colId xmlns:a16="http://schemas.microsoft.com/office/drawing/2014/main" val="4268205818"/>
                    </a:ext>
                  </a:extLst>
                </a:gridCol>
              </a:tblGrid>
              <a:tr h="144374">
                <a:tc gridSpan="4">
                  <a:txBody>
                    <a:bodyPr/>
                    <a:lstStyle/>
                    <a:p>
                      <a:pPr lvl="0" algn="ctr"/>
                      <a:r>
                        <a:rPr lang="en-GB" sz="1300"/>
                        <a:t>Customs Procedure Code (EX)</a:t>
                      </a:r>
                    </a:p>
                  </a:txBody>
                  <a:tcPr marL="90004" marR="12847" marT="9637" marB="9637" anchor="ctr">
                    <a:solidFill>
                      <a:srgbClr val="009999"/>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3245053026"/>
                  </a:ext>
                </a:extLst>
              </a:tr>
              <a:tr h="192298">
                <a:tc>
                  <a:txBody>
                    <a:bodyPr/>
                    <a:lstStyle/>
                    <a:p>
                      <a:pPr lvl="0" algn="ctr"/>
                      <a:r>
                        <a:rPr lang="en-GB" sz="1300"/>
                        <a:t>1007</a:t>
                      </a:r>
                    </a:p>
                  </a:txBody>
                  <a:tcPr marL="19046" marR="19046" marT="14292" marB="14292" anchor="ctr"/>
                </a:tc>
                <a:tc>
                  <a:txBody>
                    <a:bodyPr/>
                    <a:lstStyle/>
                    <a:p>
                      <a:pPr lvl="0" algn="ctr"/>
                      <a:r>
                        <a:rPr lang="en-GB" sz="1300"/>
                        <a:t>1040</a:t>
                      </a:r>
                    </a:p>
                  </a:txBody>
                  <a:tcPr marL="19046" marR="19046" marT="14292" marB="14292" anchor="ctr"/>
                </a:tc>
                <a:tc>
                  <a:txBody>
                    <a:bodyPr/>
                    <a:lstStyle/>
                    <a:p>
                      <a:pPr lvl="0" algn="ctr"/>
                      <a:r>
                        <a:rPr lang="en-GB" sz="1300"/>
                        <a:t>1044</a:t>
                      </a:r>
                    </a:p>
                  </a:txBody>
                  <a:tcPr marL="19046" marR="19046" marT="14292" marB="14292" anchor="ctr"/>
                </a:tc>
                <a:tc>
                  <a:txBody>
                    <a:bodyPr/>
                    <a:lstStyle/>
                    <a:p>
                      <a:pPr lvl="0" algn="ctr"/>
                      <a:r>
                        <a:rPr lang="en-GB" sz="1300"/>
                        <a:t>1100</a:t>
                      </a:r>
                    </a:p>
                  </a:txBody>
                  <a:tcPr/>
                </a:tc>
                <a:extLst>
                  <a:ext uri="{0D108BD9-81ED-4DB2-BD59-A6C34878D82A}">
                    <a16:rowId xmlns:a16="http://schemas.microsoft.com/office/drawing/2014/main" val="3738291195"/>
                  </a:ext>
                </a:extLst>
              </a:tr>
              <a:tr h="192298">
                <a:tc>
                  <a:txBody>
                    <a:bodyPr/>
                    <a:lstStyle/>
                    <a:p>
                      <a:pPr lvl="0" algn="ctr"/>
                      <a:r>
                        <a:rPr lang="en-GB" sz="1300"/>
                        <a:t>2100</a:t>
                      </a:r>
                    </a:p>
                  </a:txBody>
                  <a:tcPr marL="19046" marR="19046" marT="14292" marB="14292" anchor="ctr"/>
                </a:tc>
                <a:tc>
                  <a:txBody>
                    <a:bodyPr/>
                    <a:lstStyle/>
                    <a:p>
                      <a:pPr lvl="0" algn="ctr"/>
                      <a:r>
                        <a:rPr lang="en-GB" sz="1300"/>
                        <a:t>2144</a:t>
                      </a:r>
                    </a:p>
                  </a:txBody>
                  <a:tcPr marL="19046" marR="19046" marT="14292" marB="14292" anchor="ctr"/>
                </a:tc>
                <a:tc>
                  <a:txBody>
                    <a:bodyPr/>
                    <a:lstStyle/>
                    <a:p>
                      <a:pPr lvl="0" algn="ctr"/>
                      <a:r>
                        <a:rPr lang="en-GB" sz="1300"/>
                        <a:t>2151</a:t>
                      </a:r>
                    </a:p>
                  </a:txBody>
                  <a:tcPr marL="19046" marR="19046" marT="14292" marB="14292" anchor="ctr"/>
                </a:tc>
                <a:tc>
                  <a:txBody>
                    <a:bodyPr/>
                    <a:lstStyle/>
                    <a:p>
                      <a:pPr lvl="0" algn="ctr"/>
                      <a:r>
                        <a:rPr lang="en-GB" sz="1300"/>
                        <a:t>2200</a:t>
                      </a:r>
                    </a:p>
                  </a:txBody>
                  <a:tcPr/>
                </a:tc>
                <a:extLst>
                  <a:ext uri="{0D108BD9-81ED-4DB2-BD59-A6C34878D82A}">
                    <a16:rowId xmlns:a16="http://schemas.microsoft.com/office/drawing/2014/main" val="2572834770"/>
                  </a:ext>
                </a:extLst>
              </a:tr>
              <a:tr h="192298">
                <a:tc>
                  <a:txBody>
                    <a:bodyPr/>
                    <a:lstStyle/>
                    <a:p>
                      <a:pPr lvl="0" algn="ctr"/>
                      <a:r>
                        <a:rPr lang="en-GB" sz="1300"/>
                        <a:t>2244</a:t>
                      </a:r>
                    </a:p>
                  </a:txBody>
                  <a:tcPr marL="19046" marR="19046" marT="14292" marB="14292" anchor="ctr"/>
                </a:tc>
                <a:tc>
                  <a:txBody>
                    <a:bodyPr/>
                    <a:lstStyle/>
                    <a:p>
                      <a:pPr lvl="0" algn="ctr"/>
                      <a:r>
                        <a:rPr lang="en-GB" sz="1300"/>
                        <a:t>2300</a:t>
                      </a:r>
                    </a:p>
                  </a:txBody>
                  <a:tcPr marL="19046" marR="19046" marT="14292" marB="14292" anchor="ctr"/>
                </a:tc>
                <a:tc>
                  <a:txBody>
                    <a:bodyPr/>
                    <a:lstStyle/>
                    <a:p>
                      <a:pPr lvl="0" algn="ctr"/>
                      <a:r>
                        <a:rPr lang="en-GB" sz="1300"/>
                        <a:t>3151</a:t>
                      </a:r>
                    </a:p>
                  </a:txBody>
                  <a:tcPr marL="19046" marR="19046" marT="14292" marB="14292" anchor="ctr"/>
                </a:tc>
                <a:tc>
                  <a:txBody>
                    <a:bodyPr/>
                    <a:lstStyle/>
                    <a:p>
                      <a:pPr lvl="0" algn="ctr"/>
                      <a:r>
                        <a:rPr lang="en-GB" sz="1300"/>
                        <a:t>3153</a:t>
                      </a:r>
                    </a:p>
                  </a:txBody>
                  <a:tcPr/>
                </a:tc>
                <a:extLst>
                  <a:ext uri="{0D108BD9-81ED-4DB2-BD59-A6C34878D82A}">
                    <a16:rowId xmlns:a16="http://schemas.microsoft.com/office/drawing/2014/main" val="2042151255"/>
                  </a:ext>
                </a:extLst>
              </a:tr>
              <a:tr h="150555">
                <a:tc>
                  <a:txBody>
                    <a:bodyPr/>
                    <a:lstStyle/>
                    <a:p>
                      <a:pPr lvl="0" algn="ctr"/>
                      <a:r>
                        <a:rPr lang="en-GB" sz="1300"/>
                        <a:t>3171</a:t>
                      </a:r>
                    </a:p>
                  </a:txBody>
                  <a:tcPr marL="19046" marR="19046" marT="14292" marB="14292" anchor="ctr"/>
                </a:tc>
                <a:tc>
                  <a:txBody>
                    <a:bodyPr/>
                    <a:lstStyle/>
                    <a:p>
                      <a:pPr lvl="0" algn="ctr"/>
                      <a:endParaRPr lang="en-GB" sz="1300"/>
                    </a:p>
                  </a:txBody>
                  <a:tcPr marL="19046" marR="19046" marT="14292" marB="14292" anchor="ctr"/>
                </a:tc>
                <a:tc>
                  <a:txBody>
                    <a:bodyPr/>
                    <a:lstStyle/>
                    <a:p>
                      <a:pPr lvl="0" algn="ctr"/>
                      <a:endParaRPr lang="en-GB" sz="1300"/>
                    </a:p>
                  </a:txBody>
                  <a:tcPr marL="19046" marR="19046" marT="14292" marB="14292" anchor="ctr"/>
                </a:tc>
                <a:tc>
                  <a:txBody>
                    <a:bodyPr/>
                    <a:lstStyle/>
                    <a:p>
                      <a:pPr lvl="0" algn="ctr"/>
                      <a:endParaRPr lang="en-GB" sz="1300" dirty="0"/>
                    </a:p>
                  </a:txBody>
                  <a:tcPr marL="19046" marR="19046" marT="14292" marB="14292" anchor="ctr"/>
                </a:tc>
                <a:extLst>
                  <a:ext uri="{0D108BD9-81ED-4DB2-BD59-A6C34878D82A}">
                    <a16:rowId xmlns:a16="http://schemas.microsoft.com/office/drawing/2014/main" val="7416693"/>
                  </a:ext>
                </a:extLst>
              </a:tr>
            </a:tbl>
          </a:graphicData>
        </a:graphic>
      </p:graphicFrame>
      <p:graphicFrame>
        <p:nvGraphicFramePr>
          <p:cNvPr id="11" name="Table 12">
            <a:extLst>
              <a:ext uri="{FF2B5EF4-FFF2-40B4-BE49-F238E27FC236}">
                <a16:creationId xmlns:a16="http://schemas.microsoft.com/office/drawing/2014/main" id="{D962ACDF-6CB8-4229-8BD8-552B0942627E}"/>
              </a:ext>
            </a:extLst>
          </p:cNvPr>
          <p:cNvGraphicFramePr>
            <a:graphicFrameLocks noGrp="1"/>
          </p:cNvGraphicFramePr>
          <p:nvPr/>
        </p:nvGraphicFramePr>
        <p:xfrm>
          <a:off x="6275856" y="4616266"/>
          <a:ext cx="4290281" cy="804428"/>
        </p:xfrm>
        <a:graphic>
          <a:graphicData uri="http://schemas.openxmlformats.org/drawingml/2006/table">
            <a:tbl>
              <a:tblPr firstRow="1" bandRow="1">
                <a:effectLst/>
                <a:tableStyleId>{5C22544A-7EE6-4342-B048-85BDC9FD1C3A}</a:tableStyleId>
              </a:tblPr>
              <a:tblGrid>
                <a:gridCol w="1008400">
                  <a:extLst>
                    <a:ext uri="{9D8B030D-6E8A-4147-A177-3AD203B41FA5}">
                      <a16:colId xmlns:a16="http://schemas.microsoft.com/office/drawing/2014/main" val="362133114"/>
                    </a:ext>
                  </a:extLst>
                </a:gridCol>
                <a:gridCol w="1013411">
                  <a:extLst>
                    <a:ext uri="{9D8B030D-6E8A-4147-A177-3AD203B41FA5}">
                      <a16:colId xmlns:a16="http://schemas.microsoft.com/office/drawing/2014/main" val="3725785915"/>
                    </a:ext>
                  </a:extLst>
                </a:gridCol>
                <a:gridCol w="1173211">
                  <a:extLst>
                    <a:ext uri="{9D8B030D-6E8A-4147-A177-3AD203B41FA5}">
                      <a16:colId xmlns:a16="http://schemas.microsoft.com/office/drawing/2014/main" val="3924615190"/>
                    </a:ext>
                  </a:extLst>
                </a:gridCol>
                <a:gridCol w="1095259">
                  <a:extLst>
                    <a:ext uri="{9D8B030D-6E8A-4147-A177-3AD203B41FA5}">
                      <a16:colId xmlns:a16="http://schemas.microsoft.com/office/drawing/2014/main" val="872758401"/>
                    </a:ext>
                  </a:extLst>
                </a:gridCol>
              </a:tblGrid>
              <a:tr h="212698">
                <a:tc gridSpan="4">
                  <a:txBody>
                    <a:bodyPr/>
                    <a:lstStyle/>
                    <a:p>
                      <a:pPr lvl="0" algn="ctr"/>
                      <a:r>
                        <a:rPr lang="en-GB" sz="1300"/>
                        <a:t>Customs Procedure Code (CO)</a:t>
                      </a:r>
                    </a:p>
                  </a:txBody>
                  <a:tcPr marL="90004" marR="12847" marT="9637" marB="9637" anchor="ctr">
                    <a:solidFill>
                      <a:srgbClr val="009999"/>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2443721597"/>
                  </a:ext>
                </a:extLst>
              </a:tr>
              <a:tr h="280839">
                <a:tc>
                  <a:txBody>
                    <a:bodyPr/>
                    <a:lstStyle/>
                    <a:p>
                      <a:pPr lvl="0" algn="ctr"/>
                      <a:r>
                        <a:rPr lang="en-GB" sz="1300"/>
                        <a:t>1007</a:t>
                      </a:r>
                    </a:p>
                  </a:txBody>
                  <a:tcPr marL="19046" marR="19046" marT="14292" marB="14292" anchor="ctr"/>
                </a:tc>
                <a:tc>
                  <a:txBody>
                    <a:bodyPr/>
                    <a:lstStyle/>
                    <a:p>
                      <a:pPr lvl="0" algn="ctr"/>
                      <a:r>
                        <a:rPr lang="en-GB" sz="1300"/>
                        <a:t>1040</a:t>
                      </a:r>
                    </a:p>
                  </a:txBody>
                  <a:tcPr marL="19046" marR="19046" marT="14292" marB="14292" anchor="ctr"/>
                </a:tc>
                <a:tc>
                  <a:txBody>
                    <a:bodyPr/>
                    <a:lstStyle/>
                    <a:p>
                      <a:pPr lvl="0" algn="ctr"/>
                      <a:r>
                        <a:rPr lang="en-GB" sz="1300"/>
                        <a:t>2200</a:t>
                      </a:r>
                    </a:p>
                  </a:txBody>
                  <a:tcPr marL="19046" marR="19046" marT="14292" marB="14292" anchor="ctr"/>
                </a:tc>
                <a:tc>
                  <a:txBody>
                    <a:bodyPr/>
                    <a:lstStyle/>
                    <a:p>
                      <a:pPr lvl="0" algn="ctr"/>
                      <a:r>
                        <a:rPr lang="en-GB" sz="1300"/>
                        <a:t>2244</a:t>
                      </a:r>
                    </a:p>
                  </a:txBody>
                  <a:tcPr marL="19046" marR="19046" marT="14292" marB="14292" anchor="ctr"/>
                </a:tc>
                <a:extLst>
                  <a:ext uri="{0D108BD9-81ED-4DB2-BD59-A6C34878D82A}">
                    <a16:rowId xmlns:a16="http://schemas.microsoft.com/office/drawing/2014/main" val="2936993264"/>
                  </a:ext>
                </a:extLst>
              </a:tr>
              <a:tr h="306195">
                <a:tc>
                  <a:txBody>
                    <a:bodyPr/>
                    <a:lstStyle/>
                    <a:p>
                      <a:pPr lvl="0" algn="ctr"/>
                      <a:r>
                        <a:rPr lang="en-GB" sz="1300"/>
                        <a:t>2300</a:t>
                      </a:r>
                    </a:p>
                  </a:txBody>
                  <a:tcPr marL="19046" marR="19046" marT="14292" marB="14292" anchor="ctr"/>
                </a:tc>
                <a:tc>
                  <a:txBody>
                    <a:bodyPr/>
                    <a:lstStyle/>
                    <a:p>
                      <a:pPr lvl="0" algn="ctr"/>
                      <a:r>
                        <a:rPr lang="en-GB" sz="1300"/>
                        <a:t>3151</a:t>
                      </a:r>
                    </a:p>
                  </a:txBody>
                  <a:tcPr marL="19046" marR="19046" marT="14292" marB="14292" anchor="ctr"/>
                </a:tc>
                <a:tc>
                  <a:txBody>
                    <a:bodyPr/>
                    <a:lstStyle/>
                    <a:p>
                      <a:pPr lvl="0" algn="ctr"/>
                      <a:r>
                        <a:rPr lang="en-GB" sz="1300"/>
                        <a:t>3153</a:t>
                      </a:r>
                    </a:p>
                  </a:txBody>
                  <a:tcPr marL="19046" marR="19046" marT="14292" marB="14292" anchor="ctr"/>
                </a:tc>
                <a:tc>
                  <a:txBody>
                    <a:bodyPr/>
                    <a:lstStyle/>
                    <a:p>
                      <a:pPr lvl="0" algn="ctr"/>
                      <a:r>
                        <a:rPr lang="en-GB" sz="1300" dirty="0"/>
                        <a:t>3171</a:t>
                      </a:r>
                    </a:p>
                  </a:txBody>
                  <a:tcPr marL="19046" marR="19046" marT="14292" marB="14292" anchor="ctr"/>
                </a:tc>
                <a:extLst>
                  <a:ext uri="{0D108BD9-81ED-4DB2-BD59-A6C34878D82A}">
                    <a16:rowId xmlns:a16="http://schemas.microsoft.com/office/drawing/2014/main" val="2435378872"/>
                  </a:ext>
                </a:extLst>
              </a:tr>
            </a:tbl>
          </a:graphicData>
        </a:graphic>
      </p:graphicFrame>
      <p:sp>
        <p:nvSpPr>
          <p:cNvPr id="12" name="TextBox 16">
            <a:extLst>
              <a:ext uri="{FF2B5EF4-FFF2-40B4-BE49-F238E27FC236}">
                <a16:creationId xmlns:a16="http://schemas.microsoft.com/office/drawing/2014/main" id="{857D1B57-3CDB-48B5-A2EF-04E697D9E3A9}"/>
              </a:ext>
            </a:extLst>
          </p:cNvPr>
          <p:cNvSpPr txBox="1"/>
          <p:nvPr/>
        </p:nvSpPr>
        <p:spPr>
          <a:xfrm>
            <a:off x="1723881" y="4303614"/>
            <a:ext cx="7521205" cy="312651"/>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pitchFamily="34"/>
                <a:ea typeface="Times New Roman" pitchFamily="18"/>
                <a:cs typeface="Times New Roman" pitchFamily="18"/>
              </a:rPr>
              <a:t>Valid Customs Procedure Codes for APC ‘1MB’</a:t>
            </a:r>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1B734FC-701A-4658-AFD3-2E8D1FA8B35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78FD040-7EA0-44BD-B3A1-ECE1AB28E99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149FAF8-8C62-4BE1-9CB1-598DA04CE66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CE86051B-B3C4-4568-BCC7-BD2537B0C57F}"/>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EB811007-F1C4-4FA2-ACB8-07954293A160}"/>
              </a:ext>
            </a:extLst>
          </p:cNvPr>
          <p:cNvSpPr txBox="1"/>
          <p:nvPr/>
        </p:nvSpPr>
        <p:spPr>
          <a:xfrm>
            <a:off x="11653449" y="6515118"/>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229718E-1EEF-4B93-B61A-CC29425AE741}" type="slidenum">
              <a:rPr lang="en-GB" sz="1200" b="0" i="0" u="none" strike="noStrike" kern="1200" cap="none" spc="0" baseline="0">
                <a:solidFill>
                  <a:srgbClr val="000000"/>
                </a:solidFill>
                <a:uFillTx/>
                <a:latin typeface="Calibri"/>
              </a:rPr>
              <a:t>317</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50800857-3CC4-40C4-A85C-F53D5F61A882}"/>
              </a:ext>
            </a:extLst>
          </p:cNvPr>
          <p:cNvSpPr txBox="1"/>
          <p:nvPr/>
        </p:nvSpPr>
        <p:spPr>
          <a:xfrm>
            <a:off x="2943801" y="6641870"/>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74389D3B-AC91-4E07-8117-94BEE27DEA5D}"/>
              </a:ext>
            </a:extLst>
          </p:cNvPr>
          <p:cNvSpPr/>
          <p:nvPr/>
        </p:nvSpPr>
        <p:spPr>
          <a:xfrm>
            <a:off x="363967" y="1224088"/>
            <a:ext cx="11282159" cy="4511556"/>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
              </a:rPr>
              <a:t>Mandatory requirements for Authorisation Type Code ‘MIB’,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US" sz="1400" b="0" i="0" u="none" strike="noStrike" kern="0" cap="none" spc="0" baseline="0">
                <a:solidFill>
                  <a:srgbClr val="333333"/>
                </a:solidFill>
                <a:uFillTx/>
                <a:latin typeface="Calibri  "/>
                <a:cs typeface="Arial" pitchFamily="34"/>
              </a:rPr>
              <a:t>'</a:t>
            </a:r>
            <a:r>
              <a:rPr lang="en-US" sz="1400" b="1" i="0" u="none" strike="noStrike" kern="0" cap="none" spc="0" baseline="0">
                <a:solidFill>
                  <a:srgbClr val="333333"/>
                </a:solidFill>
                <a:uFillTx/>
                <a:latin typeface="Calibri  "/>
                <a:cs typeface="Arial" pitchFamily="34"/>
              </a:rPr>
              <a:t>EX</a:t>
            </a:r>
            <a:r>
              <a:rPr lang="en-US" sz="1400" b="0" i="0" u="none" strike="noStrike" kern="0" cap="none" spc="0" baseline="0">
                <a:solidFill>
                  <a:srgbClr val="333333"/>
                </a:solidFill>
                <a:uFillTx/>
                <a:latin typeface="Calibri  "/>
                <a:cs typeface="Arial" pitchFamily="34"/>
              </a:rPr>
              <a:t>' or '</a:t>
            </a:r>
            <a:r>
              <a:rPr lang="en-US" sz="1400" b="1" i="0" u="none" strike="noStrike" kern="0" cap="none" spc="0" baseline="0">
                <a:solidFill>
                  <a:srgbClr val="333333"/>
                </a:solidFill>
                <a:uFillTx/>
                <a:latin typeface="Calibri  "/>
                <a:cs typeface="Arial" pitchFamily="34"/>
              </a:rPr>
              <a:t>CO</a:t>
            </a:r>
            <a:r>
              <a:rPr lang="en-US" sz="1400" b="0" i="0" u="none" strike="noStrike" kern="0" cap="none" spc="0" baseline="0">
                <a:solidFill>
                  <a:srgbClr val="333333"/>
                </a:solidFill>
                <a:uFillTx/>
                <a:latin typeface="Calibri  "/>
                <a:cs typeface="Arial" pitchFamily="34"/>
              </a:rPr>
              <a:t>' must be entered in DE 1/1;</a:t>
            </a:r>
          </a:p>
          <a:p>
            <a:pPr marL="1657350" marR="0" lvl="3"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US" sz="1400" b="0" i="0" u="none" strike="noStrike" kern="0" cap="none" spc="0" baseline="0">
                <a:solidFill>
                  <a:srgbClr val="333333"/>
                </a:solidFill>
                <a:uFillTx/>
                <a:latin typeface="Calibri  "/>
                <a:cs typeface="Arial" pitchFamily="34"/>
              </a:rPr>
              <a:t>The exporter </a:t>
            </a:r>
            <a:r>
              <a:rPr lang="en-US" sz="1400" b="1" i="0" u="none" strike="noStrike" kern="0" cap="none" spc="0" baseline="0">
                <a:solidFill>
                  <a:srgbClr val="333333"/>
                </a:solidFill>
                <a:uFillTx/>
                <a:latin typeface="Calibri  "/>
                <a:cs typeface="Arial" pitchFamily="34"/>
              </a:rPr>
              <a:t>EORI </a:t>
            </a:r>
            <a:r>
              <a:rPr lang="en-US" sz="1400" b="0" i="0" u="none" strike="noStrike" kern="0" cap="none" spc="0" baseline="0">
                <a:solidFill>
                  <a:srgbClr val="333333"/>
                </a:solidFill>
                <a:uFillTx/>
                <a:latin typeface="Calibri  "/>
                <a:cs typeface="Arial" pitchFamily="34"/>
              </a:rPr>
              <a:t>must be entered in the DE 3/39 sub-field 'Identifier’;</a:t>
            </a:r>
          </a:p>
          <a:p>
            <a:pPr marL="1657350" marR="0" lvl="3"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US" sz="1400" b="0" i="0" u="none" strike="noStrike" kern="0" cap="none" spc="0" baseline="0">
                <a:solidFill>
                  <a:srgbClr val="333333"/>
                </a:solidFill>
                <a:uFillTx/>
                <a:latin typeface="Calibri  "/>
                <a:cs typeface="Arial" pitchFamily="34"/>
              </a:rPr>
              <a:t>APC </a:t>
            </a:r>
            <a:r>
              <a:rPr lang="en-US" sz="1400" b="1" i="0" u="none" strike="noStrike" kern="0" cap="none" spc="0" baseline="0">
                <a:solidFill>
                  <a:srgbClr val="333333"/>
                </a:solidFill>
                <a:uFillTx/>
                <a:latin typeface="Calibri  "/>
                <a:cs typeface="Arial" pitchFamily="34"/>
              </a:rPr>
              <a:t>'1MB</a:t>
            </a:r>
            <a:r>
              <a:rPr lang="en-US" sz="1400" b="0" i="0" u="none" strike="noStrike" kern="0" cap="none" spc="0" baseline="0">
                <a:solidFill>
                  <a:srgbClr val="333333"/>
                </a:solidFill>
                <a:uFillTx/>
                <a:latin typeface="Calibri  "/>
                <a:cs typeface="Arial" pitchFamily="34"/>
              </a:rPr>
              <a:t>' must be entered in DE 1/11 at item level on </a:t>
            </a:r>
            <a:r>
              <a:rPr lang="en-US" sz="1400" b="1" i="0" u="none" strike="noStrike" kern="0" cap="none" spc="0" baseline="0">
                <a:solidFill>
                  <a:srgbClr val="333333"/>
                </a:solidFill>
                <a:uFillTx/>
                <a:latin typeface="Calibri  "/>
                <a:cs typeface="Arial" pitchFamily="34"/>
              </a:rPr>
              <a:t>every goods item*</a:t>
            </a:r>
          </a:p>
          <a:p>
            <a:pPr marL="1657350" marR="0" lvl="3"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US" sz="1400" b="0" i="0" u="none" strike="noStrike" kern="0" cap="none" spc="0" baseline="0">
                <a:solidFill>
                  <a:srgbClr val="333333"/>
                </a:solidFill>
                <a:uFillTx/>
                <a:latin typeface="Calibri  "/>
                <a:cs typeface="Arial" pitchFamily="34"/>
              </a:rPr>
              <a:t>Document code </a:t>
            </a:r>
            <a:r>
              <a:rPr lang="en-US" sz="1400" b="1" i="0" u="none" strike="noStrike" kern="0" cap="none" spc="0" baseline="0">
                <a:solidFill>
                  <a:srgbClr val="333333"/>
                </a:solidFill>
                <a:uFillTx/>
                <a:latin typeface="Calibri  "/>
                <a:cs typeface="Arial" pitchFamily="34"/>
              </a:rPr>
              <a:t>'1MIB</a:t>
            </a:r>
            <a:r>
              <a:rPr lang="en-US" sz="1400" b="0" i="0" u="none" strike="noStrike" kern="0" cap="none" spc="0" baseline="0">
                <a:solidFill>
                  <a:srgbClr val="333333"/>
                </a:solidFill>
                <a:uFillTx/>
                <a:latin typeface="Calibri  "/>
                <a:cs typeface="Arial" pitchFamily="34"/>
              </a:rPr>
              <a:t>' must be entered in DE 2/3 at item level </a:t>
            </a:r>
            <a:r>
              <a:rPr lang="en-US" sz="1400" b="1" i="0" u="none" strike="noStrike" kern="0" cap="none" spc="0" baseline="0">
                <a:solidFill>
                  <a:srgbClr val="333333"/>
                </a:solidFill>
                <a:uFillTx/>
                <a:latin typeface="Calibri  "/>
                <a:cs typeface="Arial" pitchFamily="34"/>
              </a:rPr>
              <a:t>every goods item*</a:t>
            </a:r>
            <a:br>
              <a:rPr lang="en-US" sz="1400" b="0" i="0" u="none" strike="noStrike" kern="0" cap="none" spc="0" baseline="0">
                <a:solidFill>
                  <a:srgbClr val="008000"/>
                </a:solidFill>
                <a:uFillTx/>
                <a:latin typeface="Arial" pitchFamily="34"/>
                <a:cs typeface="Arial" pitchFamily="34"/>
              </a:rPr>
            </a:br>
            <a:endParaRPr lang="en-US" sz="1400" b="0" i="0" u="none" strike="noStrike" kern="0" cap="none" spc="0" baseline="0">
              <a:solidFill>
                <a:srgbClr val="333333"/>
              </a:solidFill>
              <a:uFillTx/>
              <a:latin typeface="Arial" pitchFamily="34"/>
              <a:cs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a:rPr>
              <a:t>Mandatory requirements for document code '1MIB</a:t>
            </a:r>
            <a:r>
              <a:rPr lang="en-GB" sz="1400" b="0" i="0" u="none" strike="noStrike" kern="1200" cap="none" spc="0" baseline="0">
                <a:solidFill>
                  <a:srgbClr val="333333"/>
                </a:solidFill>
                <a:uFillTx/>
                <a:latin typeface="Calibri"/>
              </a:rPr>
              <a:t>’,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a:rPr>
              <a:t>'</a:t>
            </a:r>
            <a:r>
              <a:rPr lang="en-GB" sz="1400" b="1" i="0" u="none" strike="noStrike" kern="1200" cap="none" spc="0" baseline="0">
                <a:solidFill>
                  <a:srgbClr val="333333"/>
                </a:solidFill>
                <a:uFillTx/>
                <a:latin typeface="Calibri"/>
              </a:rPr>
              <a:t>EX</a:t>
            </a:r>
            <a:r>
              <a:rPr lang="en-GB" sz="1400" b="0" i="0" u="none" strike="noStrike" kern="1200" cap="none" spc="0" baseline="0">
                <a:solidFill>
                  <a:srgbClr val="333333"/>
                </a:solidFill>
                <a:uFillTx/>
                <a:latin typeface="Calibri"/>
              </a:rPr>
              <a:t>' or '</a:t>
            </a:r>
            <a:r>
              <a:rPr lang="en-GB" sz="1400" b="1" i="0" u="none" strike="noStrike" kern="1200" cap="none" spc="0" baseline="0">
                <a:solidFill>
                  <a:srgbClr val="333333"/>
                </a:solidFill>
                <a:uFillTx/>
                <a:latin typeface="Calibri"/>
              </a:rPr>
              <a:t>CO</a:t>
            </a:r>
            <a:r>
              <a:rPr lang="en-GB" sz="1400" b="0" i="0" u="none" strike="noStrike" kern="1200" cap="none" spc="0" baseline="0">
                <a:solidFill>
                  <a:srgbClr val="333333"/>
                </a:solidFill>
                <a:uFillTx/>
                <a:latin typeface="Calibri"/>
              </a:rPr>
              <a:t>' must be entered in DE 1/1;</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a:rPr>
              <a:t>Authorisation type code </a:t>
            </a:r>
            <a:r>
              <a:rPr lang="en-GB" sz="1400" b="1" i="0" u="none" strike="noStrike" kern="1200" cap="none" spc="0" baseline="0">
                <a:solidFill>
                  <a:srgbClr val="333333"/>
                </a:solidFill>
                <a:uFillTx/>
                <a:latin typeface="Calibri"/>
              </a:rPr>
              <a:t>'MIB</a:t>
            </a:r>
            <a:r>
              <a:rPr lang="en-GB" sz="1400" b="0" i="0" u="none" strike="noStrike" kern="1200" cap="none" spc="0" baseline="0">
                <a:solidFill>
                  <a:srgbClr val="333333"/>
                </a:solidFill>
                <a:uFillTx/>
                <a:latin typeface="Calibri"/>
              </a:rPr>
              <a:t>' must be entered in DE 3/39;</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DE 2/3 </a:t>
            </a:r>
            <a:r>
              <a:rPr lang="en-GB" sz="1400" b="1" i="0" u="none" strike="noStrike" kern="1200" cap="none" spc="0" baseline="0">
                <a:solidFill>
                  <a:srgbClr val="333333"/>
                </a:solidFill>
                <a:uFillTx/>
                <a:latin typeface="Calibri  "/>
              </a:rPr>
              <a:t>sub-field 'Identifier’ </a:t>
            </a:r>
            <a:r>
              <a:rPr lang="en-GB" sz="1400" b="0" i="0" u="none" strike="noStrike" kern="1200" cap="none" spc="0" baseline="0">
                <a:solidFill>
                  <a:srgbClr val="333333"/>
                </a:solidFill>
                <a:uFillTx/>
                <a:latin typeface="Calibri  "/>
              </a:rPr>
              <a:t>must be completed with the date of arrival at the border. The date must be entered in the standard format 'DDMMYYYY’.</a:t>
            </a:r>
          </a:p>
          <a:p>
            <a:pPr marL="457200" marR="0" lvl="1"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a:rPr>
              <a:t>Mandatory requirements for Additional Information Code ‘MIB02’</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t>
            </a:r>
            <a:r>
              <a:rPr lang="en-GB" sz="1400" b="1" i="0" u="none" strike="noStrike" kern="1200" cap="none" spc="0" baseline="0">
                <a:solidFill>
                  <a:srgbClr val="333333"/>
                </a:solidFill>
                <a:uFillTx/>
                <a:latin typeface="Calibri  "/>
              </a:rPr>
              <a:t>EX</a:t>
            </a:r>
            <a:r>
              <a:rPr lang="en-GB" sz="1400" b="0" i="0" u="none" strike="noStrike" kern="1200" cap="none" spc="0" baseline="0">
                <a:solidFill>
                  <a:srgbClr val="333333"/>
                </a:solidFill>
                <a:uFillTx/>
                <a:latin typeface="Calibri  "/>
              </a:rPr>
              <a:t>' or '</a:t>
            </a:r>
            <a:r>
              <a:rPr lang="en-GB" sz="1400" b="1" i="0" u="none" strike="noStrike" kern="1200" cap="none" spc="0" baseline="0">
                <a:solidFill>
                  <a:srgbClr val="333333"/>
                </a:solidFill>
                <a:uFillTx/>
                <a:latin typeface="Calibri  "/>
              </a:rPr>
              <a:t>CO</a:t>
            </a:r>
            <a:r>
              <a:rPr lang="en-GB" sz="1400" b="0" i="0" u="none" strike="noStrike" kern="1200" cap="none" spc="0" baseline="0">
                <a:solidFill>
                  <a:srgbClr val="333333"/>
                </a:solidFill>
                <a:uFillTx/>
                <a:latin typeface="Calibri  "/>
              </a:rPr>
              <a:t>' must be entered in DE 1/1;</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APC </a:t>
            </a:r>
            <a:r>
              <a:rPr lang="en-GB" sz="1400" b="1" i="0" u="none" strike="noStrike" kern="1200" cap="none" spc="0" baseline="0">
                <a:solidFill>
                  <a:srgbClr val="333333"/>
                </a:solidFill>
                <a:uFillTx/>
                <a:latin typeface="Calibri  "/>
              </a:rPr>
              <a:t>'1MB</a:t>
            </a:r>
            <a:r>
              <a:rPr lang="en-GB" sz="1400" b="0" i="0" u="none" strike="noStrike" kern="1200" cap="none" spc="0" baseline="0">
                <a:solidFill>
                  <a:srgbClr val="333333"/>
                </a:solidFill>
                <a:uFillTx/>
                <a:latin typeface="Calibri  "/>
              </a:rPr>
              <a:t>' must be entered in DE 1/11 at item level on the same goods item;</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Document code </a:t>
            </a:r>
            <a:r>
              <a:rPr lang="en-GB" sz="1400" b="1" i="0" u="none" strike="noStrike" kern="1200" cap="none" spc="0" baseline="0">
                <a:solidFill>
                  <a:srgbClr val="333333"/>
                </a:solidFill>
                <a:uFillTx/>
                <a:latin typeface="Calibri  "/>
              </a:rPr>
              <a:t>'1MIB</a:t>
            </a:r>
            <a:r>
              <a:rPr lang="en-GB" sz="1400" b="0" i="0" u="none" strike="noStrike" kern="1200" cap="none" spc="0" baseline="0">
                <a:solidFill>
                  <a:srgbClr val="333333"/>
                </a:solidFill>
                <a:uFillTx/>
                <a:latin typeface="Calibri  "/>
              </a:rPr>
              <a:t>' must be entered in DE 2/3 at item level on the same goods item</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it-IT" sz="1400" b="0" i="0" u="none" strike="noStrike" kern="1200" cap="none" spc="0" baseline="0">
                <a:solidFill>
                  <a:srgbClr val="333333"/>
                </a:solidFill>
                <a:uFillTx/>
                <a:latin typeface="Calibri  "/>
              </a:rPr>
              <a:t>CDS will </a:t>
            </a:r>
            <a:r>
              <a:rPr lang="it-IT" sz="1400" b="1" i="0" u="none" strike="noStrike" kern="1200" cap="none" spc="0" baseline="0">
                <a:solidFill>
                  <a:srgbClr val="333333"/>
                </a:solidFill>
                <a:uFillTx/>
                <a:latin typeface="Calibri  "/>
              </a:rPr>
              <a:t>not</a:t>
            </a:r>
            <a:r>
              <a:rPr lang="it-IT" sz="1400" b="0" i="0" u="none" strike="noStrike" kern="1200" cap="none" spc="0" baseline="0">
                <a:solidFill>
                  <a:srgbClr val="333333"/>
                </a:solidFill>
                <a:uFillTx/>
                <a:latin typeface="Calibri  "/>
              </a:rPr>
              <a:t> allow MiB declarations to be linked to GVMS, therefore AI code </a:t>
            </a:r>
            <a:r>
              <a:rPr lang="it-IT" sz="1400" b="1" i="0" u="none" strike="noStrike" kern="1200" cap="none" spc="0" baseline="0">
                <a:solidFill>
                  <a:srgbClr val="333333"/>
                </a:solidFill>
                <a:uFillTx/>
                <a:latin typeface="Calibri  "/>
              </a:rPr>
              <a:t>'RRS01</a:t>
            </a:r>
            <a:r>
              <a:rPr lang="it-IT" sz="1400" b="0" i="0" u="none" strike="noStrike" kern="1200" cap="none" spc="0" baseline="0">
                <a:solidFill>
                  <a:srgbClr val="333333"/>
                </a:solidFill>
                <a:uFillTx/>
                <a:latin typeface="Calibri  "/>
              </a:rPr>
              <a:t>’ must </a:t>
            </a:r>
            <a:r>
              <a:rPr lang="it-IT" sz="1400" b="1" i="0" u="none" strike="noStrike" kern="1200" cap="none" spc="0" baseline="0">
                <a:solidFill>
                  <a:srgbClr val="333333"/>
                </a:solidFill>
                <a:uFillTx/>
                <a:latin typeface="Calibri  "/>
              </a:rPr>
              <a:t>not</a:t>
            </a:r>
            <a:r>
              <a:rPr lang="it-IT" sz="1400" b="0" i="0" u="none" strike="noStrike" kern="1200" cap="none" spc="0" baseline="0">
                <a:solidFill>
                  <a:srgbClr val="333333"/>
                </a:solidFill>
                <a:uFillTx/>
                <a:latin typeface="Calibri  "/>
              </a:rPr>
              <a:t> be entered in DE 2/2 - </a:t>
            </a:r>
            <a:r>
              <a:rPr lang="en-GB" sz="1400" b="0" i="0" u="none" strike="noStrike" kern="1200" cap="none" spc="0" baseline="0">
                <a:solidFill>
                  <a:srgbClr val="333333"/>
                </a:solidFill>
                <a:uFillTx/>
                <a:latin typeface="Calibri" pitchFamily="34"/>
                <a:ea typeface="Times New Roman" pitchFamily="18"/>
                <a:cs typeface="Times New Roman" pitchFamily="18"/>
              </a:rPr>
              <a:t>MIB declarations using this new functionality must be declared with a non-GVMS location code</a:t>
            </a: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a:t>
            </a:r>
            <a:r>
              <a:rPr lang="en-GB" sz="1400" b="1" i="0" u="none" strike="noStrike" kern="1200" cap="none" spc="0" baseline="0">
                <a:solidFill>
                  <a:srgbClr val="333333"/>
                </a:solidFill>
                <a:uFillTx/>
                <a:latin typeface="Calibri  "/>
              </a:rPr>
              <a:t> </a:t>
            </a:r>
            <a:r>
              <a:rPr lang="en-GB" sz="1400" b="0" i="0" u="none" strike="noStrike" kern="1200" cap="none" spc="0" baseline="0">
                <a:solidFill>
                  <a:srgbClr val="333333"/>
                </a:solidFill>
                <a:uFillTx/>
                <a:latin typeface="Calibri  "/>
              </a:rPr>
              <a:t>any</a:t>
            </a:r>
            <a:r>
              <a:rPr lang="en-GB" sz="1400" b="1" i="0" u="none" strike="noStrike" kern="1200" cap="none" spc="0" baseline="0">
                <a:solidFill>
                  <a:srgbClr val="333333"/>
                </a:solidFill>
                <a:uFillTx/>
                <a:latin typeface="Calibri  "/>
              </a:rPr>
              <a:t> </a:t>
            </a:r>
            <a:r>
              <a:rPr lang="en-GB" sz="1400" b="0" i="0" u="none" strike="noStrike" kern="1200" cap="none" spc="0" baseline="0">
                <a:solidFill>
                  <a:srgbClr val="333333"/>
                </a:solidFill>
                <a:uFillTx/>
                <a:latin typeface="Calibri  "/>
              </a:rPr>
              <a:t>of the </a:t>
            </a:r>
            <a:r>
              <a:rPr lang="en-GB" sz="1400" b="0" i="0" u="none" strike="noStrike" kern="0" cap="none" spc="0" baseline="0">
                <a:solidFill>
                  <a:srgbClr val="333333"/>
                </a:solidFill>
                <a:uFillTx/>
                <a:latin typeface="Calibri  "/>
              </a:rPr>
              <a:t>listed</a:t>
            </a:r>
            <a:r>
              <a:rPr lang="en-GB" sz="1400" b="0" i="0" u="none" strike="noStrike" kern="1200" cap="none" spc="0" baseline="0">
                <a:solidFill>
                  <a:srgbClr val="333333"/>
                </a:solidFill>
                <a:uFillTx/>
                <a:latin typeface="Calibri  "/>
              </a:rPr>
              <a:t> </a:t>
            </a:r>
            <a:r>
              <a:rPr lang="en-GB" sz="1400" b="1" i="0" u="none" strike="noStrike" kern="1200" cap="none" spc="0" baseline="0">
                <a:solidFill>
                  <a:srgbClr val="333333"/>
                </a:solidFill>
                <a:uFillTx/>
                <a:latin typeface="Calibri  "/>
              </a:rPr>
              <a:t>mandatory</a:t>
            </a:r>
            <a:r>
              <a:rPr lang="en-GB" sz="1400" b="0" i="0" u="none" strike="noStrike" kern="1200" cap="none" spc="0" baseline="0">
                <a:solidFill>
                  <a:srgbClr val="333333"/>
                </a:solidFill>
                <a:uFillTx/>
                <a:latin typeface="Calibri  "/>
              </a:rPr>
              <a:t> requirements are </a:t>
            </a:r>
            <a:r>
              <a:rPr lang="en-GB" sz="1400" b="1" i="0" u="none" strike="noStrike" kern="1200" cap="none" spc="0" baseline="0">
                <a:solidFill>
                  <a:srgbClr val="333333"/>
                </a:solidFill>
                <a:uFillTx/>
                <a:latin typeface="Calibri  "/>
              </a:rPr>
              <a:t>not</a:t>
            </a:r>
            <a:r>
              <a:rPr lang="en-GB" sz="1400" b="0" i="0" u="none" strike="noStrike" kern="1200" cap="none" spc="0" baseline="0">
                <a:solidFill>
                  <a:srgbClr val="333333"/>
                </a:solidFill>
                <a:uFillTx/>
                <a:latin typeface="Calibri  "/>
              </a:rPr>
              <a:t> met, CDS will </a:t>
            </a:r>
            <a:r>
              <a:rPr lang="en-GB" sz="1400" b="1" i="0" u="none" strike="noStrike" kern="1200" cap="none" spc="0" baseline="0">
                <a:solidFill>
                  <a:srgbClr val="333333"/>
                </a:solidFill>
                <a:uFillTx/>
                <a:latin typeface="Calibri  "/>
              </a:rPr>
              <a:t>reject</a:t>
            </a:r>
            <a:r>
              <a:rPr lang="en-GB" sz="1400" b="0" i="0" u="none" strike="noStrike" kern="1200" cap="none" spc="0" baseline="0">
                <a:solidFill>
                  <a:srgbClr val="333333"/>
                </a:solidFill>
                <a:uFillTx/>
                <a:latin typeface="Calibri  "/>
              </a:rPr>
              <a:t> the declaration and send a DMSREJ notification to </a:t>
            </a:r>
            <a:r>
              <a:rPr lang="en-GB" sz="1400" b="0" i="0" u="none" strike="noStrike" kern="1200" cap="none" spc="0" baseline="0">
                <a:solidFill>
                  <a:srgbClr val="333333"/>
                </a:solidFill>
                <a:uFillTx/>
                <a:latin typeface="Calibri"/>
              </a:rPr>
              <a:t>the trader.</a:t>
            </a:r>
          </a:p>
        </p:txBody>
      </p:sp>
      <p:sp>
        <p:nvSpPr>
          <p:cNvPr id="9" name="Rectangle 7">
            <a:extLst>
              <a:ext uri="{FF2B5EF4-FFF2-40B4-BE49-F238E27FC236}">
                <a16:creationId xmlns:a16="http://schemas.microsoft.com/office/drawing/2014/main" id="{D35B1189-5CD2-4562-8172-87FF27C256E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9">
            <a:extLst>
              <a:ext uri="{FF2B5EF4-FFF2-40B4-BE49-F238E27FC236}">
                <a16:creationId xmlns:a16="http://schemas.microsoft.com/office/drawing/2014/main" id="{BD741AE7-22BF-439F-897C-8FB1660A1E29}"/>
              </a:ext>
            </a:extLst>
          </p:cNvPr>
          <p:cNvSpPr/>
          <p:nvPr/>
        </p:nvSpPr>
        <p:spPr>
          <a:xfrm>
            <a:off x="1159129" y="5880110"/>
            <a:ext cx="10591906" cy="755151"/>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a:t>
            </a:r>
            <a:r>
              <a:rPr lang="en-GB" sz="1100" b="1">
                <a:solidFill>
                  <a:srgbClr val="000000"/>
                </a:solidFill>
                <a:latin typeface="Calibri"/>
              </a:rPr>
              <a:t>EX032</a:t>
            </a:r>
            <a:r>
              <a:rPr lang="en-GB" sz="1100" b="1" i="0" u="none" strike="noStrike" kern="1200" cap="none" spc="0" baseline="0">
                <a:solidFill>
                  <a:srgbClr val="000000"/>
                </a:solidFill>
                <a:uFillTx/>
                <a:latin typeface="Calibri"/>
              </a:rPr>
              <a:t>a </a:t>
            </a:r>
            <a:r>
              <a:rPr lang="en-GB" sz="1100" b="0" i="0" u="none" strike="noStrike">
                <a:solidFill>
                  <a:srgbClr val="000000"/>
                </a:solidFill>
                <a:effectLst/>
                <a:latin typeface="Calibri" panose="020F0502020204030204" pitchFamily="34" charset="0"/>
              </a:rPr>
              <a:t>Export frontier declaration, for goods moving from GB to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via Merchandise in Baggage</a:t>
            </a:r>
            <a:r>
              <a:rPr lang="en-GB" sz="900"/>
              <a:t>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TT_EX033a </a:t>
            </a:r>
            <a:r>
              <a:rPr lang="en-GB" sz="1100" b="0" i="0" u="none" strike="noStrike">
                <a:solidFill>
                  <a:srgbClr val="000000"/>
                </a:solidFill>
                <a:effectLst/>
                <a:latin typeface="Calibri" panose="020F0502020204030204" pitchFamily="34" charset="0"/>
              </a:rPr>
              <a:t>Export pre-lodged declaration, for goods moving from NI to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via Merchandise in Baggage</a:t>
            </a:r>
            <a:r>
              <a:rPr lang="en-GB" sz="900"/>
              <a:t> </a:t>
            </a:r>
            <a:endParaRPr lang="en-GB" sz="1100" b="0" i="0" u="none" strike="noStrike" kern="1200" cap="none" spc="0" baseline="0">
              <a:solidFill>
                <a:srgbClr val="000000"/>
              </a:solidFill>
              <a:uFillTx/>
              <a:latin typeface="Calibri"/>
            </a:endParaRPr>
          </a:p>
        </p:txBody>
      </p:sp>
      <p:sp>
        <p:nvSpPr>
          <p:cNvPr id="11" name="Rectangle 10">
            <a:extLst>
              <a:ext uri="{FF2B5EF4-FFF2-40B4-BE49-F238E27FC236}">
                <a16:creationId xmlns:a16="http://schemas.microsoft.com/office/drawing/2014/main" id="{FC4807D6-C24D-4286-A6E7-58D8ADB52512}"/>
              </a:ext>
            </a:extLst>
          </p:cNvPr>
          <p:cNvSpPr/>
          <p:nvPr/>
        </p:nvSpPr>
        <p:spPr>
          <a:xfrm>
            <a:off x="325937" y="5880110"/>
            <a:ext cx="833201" cy="755151"/>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E426670-4E7D-4A5F-9B20-EE23CD5CC1A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9B988E5-8F10-411D-92CE-7B71D23C985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3E4B1B0-E63D-445B-BC95-358BE78F3ED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5E756540-08A4-45B1-B47F-BC2533ED1D24}"/>
              </a:ext>
            </a:extLst>
          </p:cNvPr>
          <p:cNvSpPr txBox="1"/>
          <p:nvPr/>
        </p:nvSpPr>
        <p:spPr>
          <a:xfrm>
            <a:off x="1164319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FF98903-35F5-4E0F-9016-D3C36F094883}" type="slidenum">
              <a:rPr sz="1200"/>
              <a:t>318</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ACAAC0B2-928C-4EA1-A453-BA930F822ED8}"/>
              </a:ext>
            </a:extLst>
          </p:cNvPr>
          <p:cNvSpPr txBox="1"/>
          <p:nvPr/>
        </p:nvSpPr>
        <p:spPr>
          <a:xfrm>
            <a:off x="297605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7">
            <a:extLst>
              <a:ext uri="{FF2B5EF4-FFF2-40B4-BE49-F238E27FC236}">
                <a16:creationId xmlns:a16="http://schemas.microsoft.com/office/drawing/2014/main" id="{5FE9A4B5-6A17-44E7-8AF5-4CF77585A802}"/>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642E468B-8A98-4A33-850D-09A2B5F0B370}"/>
              </a:ext>
            </a:extLst>
          </p:cNvPr>
          <p:cNvSpPr/>
          <p:nvPr/>
        </p:nvSpPr>
        <p:spPr>
          <a:xfrm>
            <a:off x="244071" y="1245970"/>
            <a:ext cx="11282159" cy="121962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graphicFrame>
        <p:nvGraphicFramePr>
          <p:cNvPr id="10" name="Table 3">
            <a:extLst>
              <a:ext uri="{FF2B5EF4-FFF2-40B4-BE49-F238E27FC236}">
                <a16:creationId xmlns:a16="http://schemas.microsoft.com/office/drawing/2014/main" id="{D195F42F-5661-484D-91EA-FD291D636E57}"/>
              </a:ext>
            </a:extLst>
          </p:cNvPr>
          <p:cNvGraphicFramePr>
            <a:graphicFrameLocks noGrp="1"/>
          </p:cNvGraphicFramePr>
          <p:nvPr/>
        </p:nvGraphicFramePr>
        <p:xfrm>
          <a:off x="465155" y="1572969"/>
          <a:ext cx="11248500" cy="372091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111677431"/>
                    </a:ext>
                  </a:extLst>
                </a:gridCol>
              </a:tblGrid>
              <a:tr h="268339">
                <a:tc>
                  <a:txBody>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800" b="1" i="0" u="none" strike="noStrike" kern="1200" cap="none" spc="0" baseline="0">
                          <a:solidFill>
                            <a:srgbClr val="FFFFFF"/>
                          </a:solidFill>
                          <a:uFillTx/>
                          <a:latin typeface="Calibri" pitchFamily="34"/>
                          <a:ea typeface="Times New Roman" pitchFamily="18"/>
                          <a:cs typeface="Times New Roman" pitchFamily="18"/>
                        </a:rPr>
                        <a:t>Submitting Arrived Export Declarations for MiB Exports </a:t>
                      </a:r>
                    </a:p>
                  </a:txBody>
                  <a:tcPr>
                    <a:solidFill>
                      <a:srgbClr val="009999"/>
                    </a:solidFill>
                  </a:tcPr>
                </a:tc>
                <a:extLst>
                  <a:ext uri="{0D108BD9-81ED-4DB2-BD59-A6C34878D82A}">
                    <a16:rowId xmlns:a16="http://schemas.microsoft.com/office/drawing/2014/main" val="837655311"/>
                  </a:ext>
                </a:extLst>
              </a:tr>
              <a:tr h="219913">
                <a:tc>
                  <a:txBody>
                    <a:bodyPr/>
                    <a:lstStyle/>
                    <a:p>
                      <a:pPr lvl="0" algn="ctr"/>
                      <a:r>
                        <a:rPr lang="en-GB" sz="1400" b="1">
                          <a:solidFill>
                            <a:srgbClr val="000000"/>
                          </a:solidFill>
                        </a:rPr>
                        <a:t>(NI-RoW)</a:t>
                      </a:r>
                      <a:endParaRPr lang="en-GB" sz="1400">
                        <a:solidFill>
                          <a:srgbClr val="000000"/>
                        </a:solidFill>
                      </a:endParaRPr>
                    </a:p>
                  </a:txBody>
                  <a:tcPr>
                    <a:solidFill>
                      <a:srgbClr val="CFD5EA"/>
                    </a:solidFill>
                  </a:tcPr>
                </a:tc>
                <a:extLst>
                  <a:ext uri="{0D108BD9-81ED-4DB2-BD59-A6C34878D82A}">
                    <a16:rowId xmlns:a16="http://schemas.microsoft.com/office/drawing/2014/main" val="2494125363"/>
                  </a:ext>
                </a:extLst>
              </a:tr>
              <a:tr h="1612983">
                <a:tc>
                  <a:txBody>
                    <a:bodyPr/>
                    <a:lstStyle/>
                    <a:p>
                      <a:pPr marL="0" marR="0" lvl="0" indent="0" algn="l" defTabSz="914400" rtl="0" fontAlgn="auto" hangingPunct="1">
                        <a:lnSpc>
                          <a:spcPct val="107000"/>
                        </a:lnSpc>
                        <a:spcBef>
                          <a:spcPts val="0"/>
                        </a:spcBef>
                        <a:buNone/>
                        <a:tabLst/>
                        <a:defRPr sz="1800" b="0" i="0" u="none" strike="noStrike" kern="0" cap="none" spc="0" baseline="0">
                          <a:solidFill>
                            <a:srgbClr val="000000"/>
                          </a:solidFill>
                          <a:uFillTx/>
                        </a:defRPr>
                      </a:pPr>
                      <a:r>
                        <a:rPr lang="en-GB" sz="1400" b="1" i="0" u="none" strike="noStrike" kern="1200" cap="none" spc="0" baseline="0" dirty="0">
                          <a:solidFill>
                            <a:srgbClr val="000000"/>
                          </a:solidFill>
                          <a:uFillTx/>
                          <a:latin typeface="Calibri  "/>
                        </a:rPr>
                        <a:t>To </a:t>
                      </a:r>
                      <a:r>
                        <a:rPr lang="en-GB" sz="1400" b="1" i="0" u="none" strike="noStrike" kern="0" cap="none" spc="0" baseline="0" dirty="0">
                          <a:solidFill>
                            <a:srgbClr val="333333"/>
                          </a:solidFill>
                          <a:uFillTx/>
                          <a:latin typeface="Calibri  "/>
                        </a:rPr>
                        <a:t>submit arrived export declarations for MiB Exports (NI-</a:t>
                      </a:r>
                      <a:r>
                        <a:rPr lang="en-GB" sz="1400" b="1" i="0" u="none" strike="noStrike" kern="0" cap="none" spc="0" baseline="0" dirty="0" err="1">
                          <a:solidFill>
                            <a:srgbClr val="333333"/>
                          </a:solidFill>
                          <a:uFillTx/>
                          <a:latin typeface="Calibri  "/>
                        </a:rPr>
                        <a:t>RoW</a:t>
                      </a:r>
                      <a:r>
                        <a:rPr lang="en-GB" sz="1400" b="1" i="0" u="none" strike="noStrike" kern="0" cap="none" spc="0" baseline="0" dirty="0">
                          <a:solidFill>
                            <a:srgbClr val="333333"/>
                          </a:solidFill>
                          <a:uFillTx/>
                          <a:latin typeface="Calibri  "/>
                        </a:rPr>
                        <a:t>),</a:t>
                      </a:r>
                      <a:r>
                        <a:rPr lang="en-GB" sz="1400" b="1" i="0" u="none" strike="noStrike" kern="1200" cap="none" spc="0" baseline="0" dirty="0">
                          <a:solidFill>
                            <a:srgbClr val="000000"/>
                          </a:solidFill>
                          <a:uFillTx/>
                          <a:latin typeface="Calibri  "/>
                        </a:rPr>
                        <a:t> </a:t>
                      </a:r>
                    </a:p>
                    <a:p>
                      <a:pPr marL="1657350" marR="0" lvl="3" indent="-285750" algn="l" defTabSz="914400" rtl="0" fontAlgn="auto" hangingPunct="1">
                        <a:lnSpc>
                          <a:spcPct val="107000"/>
                        </a:lnSpc>
                        <a:spcBef>
                          <a:spcPts val="0"/>
                        </a:spcBef>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
                        </a:rPr>
                        <a:t>‘</a:t>
                      </a:r>
                      <a:r>
                        <a:rPr lang="en-GB" sz="1400" b="1" i="0" u="none" strike="noStrike" kern="1200" cap="none" spc="0" baseline="0" dirty="0">
                          <a:solidFill>
                            <a:srgbClr val="000000"/>
                          </a:solidFill>
                          <a:uFillTx/>
                          <a:latin typeface="Calibri  "/>
                        </a:rPr>
                        <a:t>EX</a:t>
                      </a:r>
                      <a:r>
                        <a:rPr lang="en-GB" sz="1400" b="0" i="0" u="none" strike="noStrike" kern="1200" cap="none" spc="0" baseline="0" dirty="0">
                          <a:solidFill>
                            <a:srgbClr val="000000"/>
                          </a:solidFill>
                          <a:uFillTx/>
                          <a:latin typeface="Calibri  "/>
                        </a:rPr>
                        <a:t>' or '</a:t>
                      </a:r>
                      <a:r>
                        <a:rPr lang="en-GB" sz="1400" b="1" i="0" u="none" strike="noStrike" kern="1200" cap="none" spc="0" baseline="0" dirty="0">
                          <a:solidFill>
                            <a:srgbClr val="000000"/>
                          </a:solidFill>
                          <a:uFillTx/>
                          <a:latin typeface="Calibri  "/>
                        </a:rPr>
                        <a:t>CO</a:t>
                      </a:r>
                      <a:r>
                        <a:rPr lang="en-GB" sz="1400" b="0" i="0" u="none" strike="noStrike" kern="1200" cap="none" spc="0" baseline="0" dirty="0">
                          <a:solidFill>
                            <a:srgbClr val="000000"/>
                          </a:solidFill>
                          <a:uFillTx/>
                          <a:latin typeface="Calibri  "/>
                        </a:rPr>
                        <a:t>' must be entered on the declaration in DE 1/1 </a:t>
                      </a:r>
                    </a:p>
                    <a:p>
                      <a:pPr marL="1657350" marR="0" lvl="3" indent="-285750" algn="l" defTabSz="914400" rtl="0" fontAlgn="auto" hangingPunct="1">
                        <a:lnSpc>
                          <a:spcPct val="107000"/>
                        </a:lnSpc>
                        <a:spcBef>
                          <a:spcPts val="0"/>
                        </a:spcBef>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rPr>
                        <a:t>Where the AI code </a:t>
                      </a:r>
                      <a:r>
                        <a:rPr lang="en-GB" sz="1400" b="1" i="0" u="none" strike="noStrike" kern="1200" cap="none" spc="0" baseline="0" dirty="0">
                          <a:solidFill>
                            <a:srgbClr val="000000"/>
                          </a:solidFill>
                          <a:uFillTx/>
                          <a:latin typeface="Calibri"/>
                        </a:rPr>
                        <a:t>'MIB01</a:t>
                      </a:r>
                      <a:r>
                        <a:rPr lang="en-GB" sz="1400" b="0" i="0" u="none" strike="noStrike" kern="1200" cap="none" spc="0" baseline="0" dirty="0">
                          <a:solidFill>
                            <a:srgbClr val="000000"/>
                          </a:solidFill>
                          <a:uFillTx/>
                          <a:latin typeface="Calibri"/>
                        </a:rPr>
                        <a:t>' is entered in D.E. 2/2 at item level on an export declaration, traders must enter Additional Information code </a:t>
                      </a:r>
                      <a:r>
                        <a:rPr lang="en-GB" sz="1400" b="1" i="0" u="none" strike="noStrike" kern="1200" cap="none" spc="0" baseline="0" dirty="0">
                          <a:solidFill>
                            <a:srgbClr val="000000"/>
                          </a:solidFill>
                          <a:uFillTx/>
                          <a:latin typeface="Calibri"/>
                        </a:rPr>
                        <a:t>'NIEXP</a:t>
                      </a:r>
                      <a:r>
                        <a:rPr lang="en-GB" sz="1400" b="0" i="0" u="none" strike="noStrike" kern="1200" cap="none" spc="0" baseline="0" dirty="0">
                          <a:solidFill>
                            <a:srgbClr val="000000"/>
                          </a:solidFill>
                          <a:uFillTx/>
                          <a:latin typeface="Calibri"/>
                        </a:rPr>
                        <a:t>' in DE 2/2 at item level on the same goods item.</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a:endParaRPr>
                    </a:p>
                    <a:p>
                      <a:pPr marL="1200150" marR="0" lvl="2"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rPr>
                        <a:t>CDS will </a:t>
                      </a:r>
                      <a:r>
                        <a:rPr lang="en-GB" sz="1400" b="1" i="0" u="none" strike="noStrike" kern="1200" cap="none" spc="0" baseline="0" dirty="0">
                          <a:solidFill>
                            <a:srgbClr val="000000"/>
                          </a:solidFill>
                          <a:uFillTx/>
                          <a:latin typeface="Calibri"/>
                        </a:rPr>
                        <a:t>reject</a:t>
                      </a:r>
                      <a:r>
                        <a:rPr lang="en-GB" sz="1400" b="0" i="0" u="none" strike="noStrike" kern="1200" cap="none" spc="0" baseline="0" dirty="0">
                          <a:solidFill>
                            <a:srgbClr val="000000"/>
                          </a:solidFill>
                          <a:uFillTx/>
                          <a:latin typeface="Calibri"/>
                        </a:rPr>
                        <a:t> the declaration and send a DMSREJ notification in the following scenarios:</a:t>
                      </a:r>
                    </a:p>
                    <a:p>
                      <a:pPr marL="1657350" marR="0" lvl="3"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rPr>
                        <a:t>Where </a:t>
                      </a:r>
                      <a:r>
                        <a:rPr lang="en-GB" sz="1400" b="1" i="0" u="none" strike="noStrike" kern="1200" cap="none" spc="0" baseline="0" dirty="0">
                          <a:solidFill>
                            <a:srgbClr val="000000"/>
                          </a:solidFill>
                          <a:uFillTx/>
                          <a:latin typeface="Calibri"/>
                        </a:rPr>
                        <a:t>'NIEXP</a:t>
                      </a:r>
                      <a:r>
                        <a:rPr lang="en-GB" sz="1400" b="0" i="0" u="none" strike="noStrike" kern="1200" cap="none" spc="0" baseline="0" dirty="0">
                          <a:solidFill>
                            <a:srgbClr val="000000"/>
                          </a:solidFill>
                          <a:uFillTx/>
                          <a:latin typeface="Calibri"/>
                        </a:rPr>
                        <a:t>' is entered in DE 2/2 at item level on a declaration, and </a:t>
                      </a:r>
                      <a:r>
                        <a:rPr lang="en-GB" sz="1400" b="1" i="0" u="none" strike="noStrike" kern="1200" cap="none" spc="0" baseline="0" dirty="0">
                          <a:solidFill>
                            <a:srgbClr val="000000"/>
                          </a:solidFill>
                          <a:uFillTx/>
                          <a:latin typeface="Calibri"/>
                        </a:rPr>
                        <a:t>'MIB</a:t>
                      </a:r>
                      <a:r>
                        <a:rPr lang="en-GB" sz="1400" b="0" i="0" u="none" strike="noStrike" kern="1200" cap="none" spc="0" baseline="0" dirty="0">
                          <a:solidFill>
                            <a:srgbClr val="000000"/>
                          </a:solidFill>
                          <a:uFillTx/>
                          <a:latin typeface="Calibri"/>
                        </a:rPr>
                        <a:t>’, ‘</a:t>
                      </a:r>
                      <a:r>
                        <a:rPr lang="en-GB" sz="1400" b="1" i="0" u="none" strike="noStrike" kern="1200" cap="none" spc="0" baseline="0" dirty="0">
                          <a:solidFill>
                            <a:srgbClr val="000000"/>
                          </a:solidFill>
                          <a:uFillTx/>
                          <a:latin typeface="Calibri"/>
                        </a:rPr>
                        <a:t>MIB02</a:t>
                      </a:r>
                      <a:r>
                        <a:rPr lang="en-GB" sz="1400" b="0" i="0" u="none" strike="noStrike" kern="1200" cap="none" spc="0" baseline="0" dirty="0">
                          <a:solidFill>
                            <a:srgbClr val="000000"/>
                          </a:solidFill>
                          <a:uFillTx/>
                          <a:latin typeface="Calibri"/>
                        </a:rPr>
                        <a:t>’, ‘</a:t>
                      </a:r>
                      <a:r>
                        <a:rPr lang="en-GB" sz="1400" b="1" i="0" u="none" strike="noStrike" kern="1200" cap="none" spc="0" baseline="0" dirty="0">
                          <a:solidFill>
                            <a:srgbClr val="000000"/>
                          </a:solidFill>
                          <a:uFillTx/>
                          <a:latin typeface="Calibri"/>
                        </a:rPr>
                        <a:t>1MB</a:t>
                      </a:r>
                      <a:r>
                        <a:rPr lang="en-GB" sz="1400" b="0" i="0" u="none" strike="noStrike" kern="1200" cap="none" spc="0" baseline="0" dirty="0">
                          <a:solidFill>
                            <a:srgbClr val="000000"/>
                          </a:solidFill>
                          <a:uFillTx/>
                          <a:latin typeface="Calibri"/>
                        </a:rPr>
                        <a:t>’ or ‘</a:t>
                      </a:r>
                      <a:r>
                        <a:rPr lang="en-GB" sz="1400" b="1" i="0" u="none" strike="noStrike" kern="1200" cap="none" spc="0" baseline="0" dirty="0">
                          <a:solidFill>
                            <a:srgbClr val="000000"/>
                          </a:solidFill>
                          <a:uFillTx/>
                          <a:latin typeface="Calibri"/>
                        </a:rPr>
                        <a:t>1MIB</a:t>
                      </a:r>
                      <a:r>
                        <a:rPr lang="en-GB" sz="1400" b="0" i="0" u="none" strike="noStrike" kern="1200" cap="none" spc="0" baseline="0" dirty="0">
                          <a:solidFill>
                            <a:srgbClr val="000000"/>
                          </a:solidFill>
                          <a:uFillTx/>
                          <a:latin typeface="Calibri"/>
                        </a:rPr>
                        <a:t>’ is entered in their respective data elements on any goods item on the same declaration (These codes are not for use on arrived NI-</a:t>
                      </a:r>
                      <a:r>
                        <a:rPr lang="en-GB" sz="1400" b="0" i="0" u="none" strike="noStrike" kern="1200" cap="none" spc="0" baseline="0" dirty="0" err="1">
                          <a:solidFill>
                            <a:srgbClr val="000000"/>
                          </a:solidFill>
                          <a:uFillTx/>
                          <a:latin typeface="Calibri"/>
                        </a:rPr>
                        <a:t>RoW</a:t>
                      </a:r>
                      <a:r>
                        <a:rPr lang="en-GB" sz="1400" b="0" i="0" u="none" strike="noStrike" kern="1200" cap="none" spc="0" baseline="0" dirty="0">
                          <a:solidFill>
                            <a:srgbClr val="000000"/>
                          </a:solidFill>
                          <a:uFillTx/>
                          <a:latin typeface="Calibri"/>
                        </a:rPr>
                        <a:t> export declarations). </a:t>
                      </a:r>
                    </a:p>
                    <a:p>
                      <a:pPr marL="1657350" marR="0" lvl="3"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it-IT" sz="1400" b="0" i="0" u="none" strike="noStrike" kern="0" cap="none" spc="0" baseline="0" dirty="0">
                          <a:solidFill>
                            <a:srgbClr val="333333"/>
                          </a:solidFill>
                          <a:uFillTx/>
                          <a:latin typeface="Calibri  "/>
                        </a:rPr>
                        <a:t>CDS will </a:t>
                      </a:r>
                      <a:r>
                        <a:rPr lang="it-IT" sz="1400" b="1" i="0" u="none" strike="noStrike" kern="0" cap="none" spc="0" baseline="0" dirty="0">
                          <a:solidFill>
                            <a:srgbClr val="333333"/>
                          </a:solidFill>
                          <a:uFillTx/>
                          <a:latin typeface="Calibri  "/>
                        </a:rPr>
                        <a:t>not</a:t>
                      </a:r>
                      <a:r>
                        <a:rPr lang="it-IT" sz="1400" b="0" i="0" u="none" strike="noStrike" kern="0" cap="none" spc="0" baseline="0" dirty="0">
                          <a:solidFill>
                            <a:srgbClr val="333333"/>
                          </a:solidFill>
                          <a:uFillTx/>
                          <a:latin typeface="Calibri  "/>
                        </a:rPr>
                        <a:t> allow MiB declarations to be linked to GVMS, therefore AI code </a:t>
                      </a:r>
                      <a:r>
                        <a:rPr lang="it-IT" sz="1400" b="1" i="0" u="none" strike="noStrike" kern="0" cap="none" spc="0" baseline="0" dirty="0">
                          <a:solidFill>
                            <a:srgbClr val="333333"/>
                          </a:solidFill>
                          <a:uFillTx/>
                          <a:latin typeface="Calibri  "/>
                        </a:rPr>
                        <a:t>'RRS01</a:t>
                      </a:r>
                      <a:r>
                        <a:rPr lang="it-IT" sz="1400" b="0" i="0" u="none" strike="noStrike" kern="0" cap="none" spc="0" baseline="0" dirty="0">
                          <a:solidFill>
                            <a:srgbClr val="333333"/>
                          </a:solidFill>
                          <a:uFillTx/>
                          <a:latin typeface="Calibri  "/>
                        </a:rPr>
                        <a:t>’ must </a:t>
                      </a:r>
                      <a:r>
                        <a:rPr lang="it-IT" sz="1400" b="1" i="0" u="none" strike="noStrike" kern="0" cap="none" spc="0" baseline="0" dirty="0">
                          <a:solidFill>
                            <a:srgbClr val="333333"/>
                          </a:solidFill>
                          <a:uFillTx/>
                          <a:latin typeface="Calibri  "/>
                        </a:rPr>
                        <a:t>not</a:t>
                      </a:r>
                      <a:r>
                        <a:rPr lang="it-IT" sz="1400" b="0" i="0" u="none" strike="noStrike" kern="0" cap="none" spc="0" baseline="0" dirty="0">
                          <a:solidFill>
                            <a:srgbClr val="333333"/>
                          </a:solidFill>
                          <a:uFillTx/>
                          <a:latin typeface="Calibri  "/>
                        </a:rPr>
                        <a:t> be entered in DE 2/2 - </a:t>
                      </a:r>
                      <a:r>
                        <a:rPr lang="en-GB" sz="1400" b="0" i="0" u="none" strike="noStrike" kern="1200" cap="none" spc="0" baseline="0" dirty="0">
                          <a:solidFill>
                            <a:srgbClr val="333333"/>
                          </a:solidFill>
                          <a:uFillTx/>
                          <a:latin typeface="Calibri" pitchFamily="34"/>
                          <a:ea typeface="Times New Roman" pitchFamily="18"/>
                          <a:cs typeface="Times New Roman" pitchFamily="18"/>
                        </a:rPr>
                        <a:t>MIB declarations using this new functionality must be declared with a non-GVMS location code</a:t>
                      </a:r>
                      <a:endParaRPr lang="en-GB" sz="1400" b="1" i="0" u="none" strike="noStrike" kern="0" cap="none" spc="0" baseline="0" dirty="0">
                        <a:solidFill>
                          <a:srgbClr val="333333"/>
                        </a:solidFill>
                        <a:uFillTx/>
                        <a:latin typeface="Calibri  "/>
                      </a:endParaRPr>
                    </a:p>
                    <a:p>
                      <a:pPr marL="914400" marR="0" lvl="2" indent="0" algn="l" defTabSz="914400" rtl="0" fontAlgn="auto" hangingPunct="1">
                        <a:lnSpc>
                          <a:spcPct val="100000"/>
                        </a:lnSpc>
                        <a:spcBef>
                          <a:spcPts val="0"/>
                        </a:spcBef>
                        <a:spcAft>
                          <a:spcPts val="0"/>
                        </a:spcAft>
                        <a:buNone/>
                        <a:tabLst/>
                      </a:pPr>
                      <a:endParaRPr lang="en-GB" sz="1400" b="0" i="0" kern="1200" dirty="0">
                        <a:solidFill>
                          <a:srgbClr val="000000"/>
                        </a:solidFill>
                        <a:latin typeface="Calibri"/>
                      </a:endParaRPr>
                    </a:p>
                  </a:txBody>
                  <a:tcPr>
                    <a:solidFill>
                      <a:srgbClr val="E9EBF5"/>
                    </a:solidFill>
                  </a:tcPr>
                </a:tc>
                <a:extLst>
                  <a:ext uri="{0D108BD9-81ED-4DB2-BD59-A6C34878D82A}">
                    <a16:rowId xmlns:a16="http://schemas.microsoft.com/office/drawing/2014/main" val="325884958"/>
                  </a:ext>
                </a:extLst>
              </a:tr>
            </a:tbl>
          </a:graphicData>
        </a:graphic>
      </p:graphicFrame>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7508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319</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399246" y="999818"/>
            <a:ext cx="11282159" cy="403674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Valuation Methods – Summary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a:solidFill>
                  <a:srgbClr val="0B0C0C"/>
                </a:solidFill>
                <a:effectLst/>
                <a:latin typeface="GDS Transport"/>
              </a:rPr>
              <a:t>From TTM20.0, traders may use </a:t>
            </a:r>
            <a:r>
              <a:rPr lang="en-GB" sz="1400" b="1" i="0">
                <a:solidFill>
                  <a:srgbClr val="0B0C0C"/>
                </a:solidFill>
                <a:effectLst/>
                <a:latin typeface="GDS Transport"/>
              </a:rPr>
              <a:t>Valu</a:t>
            </a:r>
            <a:r>
              <a:rPr lang="en-GB" sz="1400" b="1">
                <a:solidFill>
                  <a:srgbClr val="0B0C0C"/>
                </a:solidFill>
                <a:latin typeface="GDS Transport"/>
              </a:rPr>
              <a:t>ation Methods 4, 5 &amp; 6 </a:t>
            </a:r>
            <a:r>
              <a:rPr lang="en-GB" sz="1400">
                <a:solidFill>
                  <a:srgbClr val="0B0C0C"/>
                </a:solidFill>
                <a:latin typeface="GDS Transport"/>
              </a:rPr>
              <a:t>to</a:t>
            </a:r>
            <a:r>
              <a:rPr lang="en-GB" sz="1400" b="0" i="0">
                <a:solidFill>
                  <a:srgbClr val="0B0C0C"/>
                </a:solidFill>
                <a:effectLst/>
                <a:latin typeface="GDS Transport"/>
              </a:rPr>
              <a:t> establish the value on which Customs Duty and import VAT is calculated.</a:t>
            </a:r>
            <a:r>
              <a:rPr lang="en-GB" sz="1400" b="1">
                <a:solidFill>
                  <a:srgbClr val="000000"/>
                </a:solidFill>
                <a:latin typeface="Calibri"/>
              </a:rPr>
              <a:t> </a:t>
            </a:r>
            <a:r>
              <a:rPr lang="en-GB" sz="1400">
                <a:solidFill>
                  <a:srgbClr val="000000"/>
                </a:solidFill>
                <a:latin typeface="Calibri"/>
              </a:rPr>
              <a:t>This means the current workaround of declaring Valuation Method 1 with a manual tax calculation (OVR01) need not be used from R3.8.0.</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a:solidFill>
                <a:srgbClr val="000000"/>
              </a:solidFill>
              <a:effectLst/>
              <a:latin typeface="Calibri"/>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solidFill>
                  <a:srgbClr val="0B0C0C"/>
                </a:solidFill>
                <a:effectLst/>
                <a:latin typeface="GDS Transport"/>
              </a:rPr>
              <a:t>Valuation Method 4</a:t>
            </a:r>
            <a:r>
              <a:rPr lang="en-GB" sz="1400" b="0" i="0">
                <a:solidFill>
                  <a:srgbClr val="0B0C0C"/>
                </a:solidFill>
                <a:effectLst/>
                <a:latin typeface="GDS Transport"/>
              </a:rPr>
              <a:t> is based on the selling price of identical and similar imported goods in the UK, for actual sales up to 90 days after importation.</a:t>
            </a:r>
          </a:p>
          <a:p>
            <a:pPr marL="1200150" lvl="2" indent="-285750">
              <a:buFont typeface="Courier New" panose="02070309020205020404" pitchFamily="49" charset="0"/>
              <a:buChar char="o"/>
              <a:defRPr sz="1800" b="0" i="0" u="none" strike="noStrike" kern="0" cap="none" spc="0" baseline="0">
                <a:solidFill>
                  <a:srgbClr val="000000"/>
                </a:solidFill>
                <a:uFillTx/>
              </a:defRPr>
            </a:pPr>
            <a:r>
              <a:rPr lang="en-GB" sz="1400" b="0" i="0">
                <a:solidFill>
                  <a:srgbClr val="0B0C0C"/>
                </a:solidFill>
                <a:effectLst/>
                <a:latin typeface="GDS Transport"/>
              </a:rPr>
              <a:t>Where customs values cannot be established until the goods have been sold, traders must </a:t>
            </a:r>
            <a:r>
              <a:rPr lang="en-GB" sz="1400">
                <a:solidFill>
                  <a:srgbClr val="0B0C0C"/>
                </a:solidFill>
                <a:latin typeface="GDS Transport"/>
              </a:rPr>
              <a:t>also </a:t>
            </a:r>
            <a:r>
              <a:rPr lang="en-GB" sz="1400" b="0" i="0">
                <a:solidFill>
                  <a:srgbClr val="0B0C0C"/>
                </a:solidFill>
                <a:effectLst/>
                <a:latin typeface="GDS Transport"/>
              </a:rPr>
              <a:t>request a release against a deposit.</a:t>
            </a:r>
          </a:p>
          <a:p>
            <a:pPr marL="1200150" lvl="2" indent="-285750">
              <a:buFont typeface="Courier New" panose="02070309020205020404" pitchFamily="49" charset="0"/>
              <a:buChar char="o"/>
              <a:defRPr sz="1800" b="0" i="0" u="none" strike="noStrike" kern="0" cap="none" spc="0" baseline="0">
                <a:solidFill>
                  <a:srgbClr val="000000"/>
                </a:solidFill>
                <a:uFillTx/>
              </a:defRPr>
            </a:pPr>
            <a:endParaRPr lang="en-GB" sz="1400">
              <a:solidFill>
                <a:srgbClr val="0B0C0C"/>
              </a:solidFill>
              <a:latin typeface="GDS Transport"/>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solidFill>
                  <a:srgbClr val="0B0C0C"/>
                </a:solidFill>
                <a:effectLst/>
                <a:latin typeface="GDS Transport"/>
              </a:rPr>
              <a:t>Valuation Method 5 </a:t>
            </a:r>
            <a:r>
              <a:rPr lang="en-GB" sz="1400" b="0" i="0">
                <a:solidFill>
                  <a:srgbClr val="0B0C0C"/>
                </a:solidFill>
                <a:effectLst/>
                <a:latin typeface="GDS Transport"/>
              </a:rPr>
              <a:t>is based on the cost of the production of the goods. </a:t>
            </a:r>
          </a:p>
          <a:p>
            <a:pPr marL="1200150" lvl="2"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0B0C0C"/>
                </a:solidFill>
                <a:effectLst/>
                <a:latin typeface="GDS Transport"/>
              </a:rPr>
              <a:t>Usually it can only be used where the importer and supplier are related.</a:t>
            </a: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b="0" i="0">
              <a:solidFill>
                <a:srgbClr val="0B0C0C"/>
              </a:solidFill>
              <a:effectLst/>
              <a:latin typeface="GDS Transport"/>
            </a:endParaRPr>
          </a:p>
          <a:p>
            <a:pPr algn="l"/>
            <a:r>
              <a:rPr lang="en-GB" sz="1400" b="1">
                <a:solidFill>
                  <a:srgbClr val="0B0C0C"/>
                </a:solidFill>
                <a:latin typeface="GDS Transport"/>
              </a:rPr>
              <a:t>Valuation </a:t>
            </a:r>
            <a:r>
              <a:rPr lang="en-GB" sz="1400" b="1">
                <a:solidFill>
                  <a:srgbClr val="0B0C0C"/>
                </a:solidFill>
                <a:latin typeface="Calibri  "/>
              </a:rPr>
              <a:t>Method 6 </a:t>
            </a:r>
            <a:r>
              <a:rPr lang="en-GB" sz="1400">
                <a:solidFill>
                  <a:srgbClr val="0B0C0C"/>
                </a:solidFill>
                <a:latin typeface="Calibri  "/>
              </a:rPr>
              <a:t>is called the ‘fall-back’ method. </a:t>
            </a:r>
          </a:p>
          <a:p>
            <a:pPr marL="1200150" lvl="2" indent="-285750">
              <a:buFont typeface="Arial" panose="020B0604020202020204" pitchFamily="34" charset="0"/>
              <a:buChar char="•"/>
            </a:pPr>
            <a:r>
              <a:rPr lang="en-GB" sz="1400">
                <a:solidFill>
                  <a:srgbClr val="0B0C0C"/>
                </a:solidFill>
                <a:latin typeface="Calibri  "/>
              </a:rPr>
              <a:t>Traders must arrive at the customs value by using reasonable means that are consistent with the WTO Valuation Principles.</a:t>
            </a:r>
            <a:r>
              <a:rPr lang="en-GB" sz="1400" b="0" i="0">
                <a:solidFill>
                  <a:srgbClr val="0B0C0C"/>
                </a:solidFill>
                <a:effectLst/>
                <a:latin typeface="Calibri  "/>
              </a:rPr>
              <a:t> </a:t>
            </a:r>
            <a:r>
              <a:rPr lang="en-GB" sz="1400">
                <a:solidFill>
                  <a:srgbClr val="333333"/>
                </a:solidFill>
                <a:latin typeface="Calibri  "/>
              </a:rPr>
              <a:t>Traders may do this</a:t>
            </a:r>
            <a:r>
              <a:rPr lang="en-GB" sz="1400" b="0" i="0">
                <a:solidFill>
                  <a:srgbClr val="333333"/>
                </a:solidFill>
                <a:effectLst/>
                <a:latin typeface="Calibri  "/>
              </a:rPr>
              <a:t> by adapting Methods 1 to 5 flexibly to fit unusual circumstances</a:t>
            </a:r>
            <a:r>
              <a:rPr lang="en-GB" sz="1400" b="0" i="0">
                <a:solidFill>
                  <a:srgbClr val="333333"/>
                </a:solidFill>
                <a:effectLst/>
                <a:latin typeface="Arial" panose="020B0604020202020204" pitchFamily="34" charset="0"/>
              </a:rPr>
              <a:t>.</a:t>
            </a:r>
            <a:endParaRPr lang="en-GB" sz="1400" b="0" i="0">
              <a:solidFill>
                <a:srgbClr val="0B0C0C"/>
              </a:solidFill>
              <a:effectLst/>
              <a:latin typeface="GDS Transport"/>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endParaRPr lang="en-GB" sz="1400" b="0" i="0">
              <a:solidFill>
                <a:srgbClr val="0B0C0C"/>
              </a:solidFill>
              <a:effectLst/>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pitchFamily="34"/>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9635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320</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399246" y="1181224"/>
            <a:ext cx="11282159" cy="524669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u="sng" dirty="0">
                <a:solidFill>
                  <a:srgbClr val="0B0C0C"/>
                </a:solidFill>
                <a:latin typeface="Calibri  "/>
              </a:rPr>
              <a:t>Valuation Method 4</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dirty="0">
              <a:solidFill>
                <a:srgbClr val="0B0C0C"/>
              </a:solidFill>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dirty="0">
                <a:solidFill>
                  <a:srgbClr val="0B0C0C"/>
                </a:solidFill>
                <a:effectLst/>
                <a:latin typeface="GDS Transport"/>
              </a:rPr>
              <a:t>For more information regarding Valuation Method 4, please visit </a:t>
            </a:r>
            <a:r>
              <a:rPr lang="en-GB" sz="1400" dirty="0">
                <a:hlinkClick r:id="rId3"/>
              </a:rPr>
              <a:t>Valuation of imported goods for customs purposes, VAT and trade statistics - GOV.UK </a:t>
            </a:r>
            <a:endParaRPr lang="en-GB" sz="1400" dirty="0"/>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0" cap="none" spc="0" baseline="0" dirty="0">
              <a:solidFill>
                <a:srgbClr val="333333"/>
              </a:solidFill>
              <a:uFillTx/>
              <a:latin typeface="Calibri" pitchFamily="34"/>
              <a:ea typeface="Times New Roman" pitchFamily="18"/>
              <a:cs typeface="Times New Roman" pitchFamily="18"/>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kern="0" dirty="0">
                <a:solidFill>
                  <a:srgbClr val="333333"/>
                </a:solidFill>
                <a:latin typeface="Calibri" pitchFamily="34"/>
                <a:ea typeface="Times New Roman" pitchFamily="18"/>
                <a:cs typeface="Times New Roman" pitchFamily="18"/>
              </a:rPr>
              <a:t>Government Guidance will be further updated to provide the </a:t>
            </a:r>
            <a:r>
              <a:rPr lang="en-GB" sz="1400" b="1" kern="0" dirty="0">
                <a:solidFill>
                  <a:srgbClr val="333333"/>
                </a:solidFill>
                <a:latin typeface="Calibri" pitchFamily="34"/>
                <a:ea typeface="Times New Roman" pitchFamily="18"/>
                <a:cs typeface="Times New Roman" pitchFamily="18"/>
              </a:rPr>
              <a:t>Additional Procedure Code</a:t>
            </a:r>
            <a:r>
              <a:rPr lang="en-GB" sz="1400" kern="0" dirty="0">
                <a:solidFill>
                  <a:srgbClr val="333333"/>
                </a:solidFill>
                <a:latin typeface="Calibri" pitchFamily="34"/>
                <a:ea typeface="Times New Roman" pitchFamily="18"/>
                <a:cs typeface="Times New Roman" pitchFamily="18"/>
              </a:rPr>
              <a:t> descriptions, conditions of use, and restrictions for use with Valuation Method 4:</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1" dirty="0">
                <a:effectLst/>
                <a:latin typeface="Calibri" panose="020F0502020204030204" pitchFamily="34" charset="0"/>
                <a:ea typeface="Calibri" panose="020F0502020204030204" pitchFamily="34" charset="0"/>
                <a:cs typeface="Times New Roman" panose="02020603050405020304" pitchFamily="18" charset="0"/>
              </a:rPr>
              <a:t>1FV: </a:t>
            </a:r>
            <a:r>
              <a:rPr lang="en-GB" sz="1400" dirty="0">
                <a:effectLst/>
                <a:latin typeface="Calibri" panose="020F0502020204030204" pitchFamily="34" charset="0"/>
                <a:ea typeface="Calibri" panose="020F0502020204030204" pitchFamily="34" charset="0"/>
                <a:cs typeface="Times New Roman" panose="02020603050405020304" pitchFamily="18" charset="0"/>
              </a:rPr>
              <a:t>Use of a provisional customs value pending sale of the goods, after import, or where no evidence is held to prove a declared value for equivalent good (“</a:t>
            </a:r>
            <a:r>
              <a:rPr lang="en-GB" sz="1400" b="1" dirty="0">
                <a:effectLst/>
                <a:latin typeface="Calibri" panose="020F0502020204030204" pitchFamily="34" charset="0"/>
                <a:ea typeface="Calibri" panose="020F0502020204030204" pitchFamily="34" charset="0"/>
                <a:cs typeface="Times New Roman" panose="02020603050405020304" pitchFamily="18" charset="0"/>
              </a:rPr>
              <a:t>Item Price</a:t>
            </a:r>
            <a:r>
              <a:rPr lang="en-GB" sz="1400" dirty="0">
                <a:effectLst/>
                <a:latin typeface="Calibri" panose="020F0502020204030204" pitchFamily="34" charset="0"/>
                <a:ea typeface="Calibri" panose="020F0502020204030204" pitchFamily="34" charset="0"/>
                <a:cs typeface="Times New Roman" panose="02020603050405020304" pitchFamily="18" charset="0"/>
              </a:rPr>
              <a:t>”).</a:t>
            </a:r>
            <a:endParaRPr lang="en-GB" sz="1400" kern="0" dirty="0">
              <a:solidFill>
                <a:srgbClr val="333333"/>
              </a:solidFill>
              <a:latin typeface="Calibri" pitchFamily="34"/>
              <a:ea typeface="Times New Roman" pitchFamily="18"/>
              <a:cs typeface="Times New Roman" pitchFamily="18"/>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1" dirty="0">
                <a:effectLst/>
                <a:latin typeface="Calibri" panose="020F0502020204030204" pitchFamily="34" charset="0"/>
                <a:ea typeface="Calibri" panose="020F0502020204030204" pitchFamily="34" charset="0"/>
                <a:cs typeface="Times New Roman" panose="02020603050405020304" pitchFamily="18" charset="0"/>
              </a:rPr>
              <a:t>1SV: </a:t>
            </a:r>
            <a:r>
              <a:rPr lang="en-GB" sz="1400" dirty="0">
                <a:effectLst/>
                <a:latin typeface="Calibri" panose="020F0502020204030204" pitchFamily="34" charset="0"/>
                <a:ea typeface="Calibri" panose="020F0502020204030204" pitchFamily="34" charset="0"/>
                <a:cs typeface="Times New Roman" panose="02020603050405020304" pitchFamily="18" charset="0"/>
              </a:rPr>
              <a:t>Use of the Unit Price for the Determination of the Customs Value for Certain Perishable Goods  (“</a:t>
            </a:r>
            <a:r>
              <a:rPr lang="en-GB" sz="1400" b="1" dirty="0">
                <a:effectLst/>
                <a:latin typeface="Calibri" panose="020F0502020204030204" pitchFamily="34" charset="0"/>
                <a:ea typeface="Calibri" panose="020F0502020204030204" pitchFamily="34" charset="0"/>
                <a:cs typeface="Times New Roman" panose="02020603050405020304" pitchFamily="18" charset="0"/>
              </a:rPr>
              <a:t>UK SPV</a:t>
            </a:r>
            <a:r>
              <a:rPr lang="en-GB" sz="1400" dirty="0">
                <a:effectLst/>
                <a:latin typeface="Calibri" panose="020F0502020204030204" pitchFamily="34" charset="0"/>
                <a:ea typeface="Calibri" panose="020F0502020204030204" pitchFamily="34" charset="0"/>
                <a:cs typeface="Times New Roman" panose="02020603050405020304" pitchFamily="18" charset="0"/>
              </a:rPr>
              <a:t>”).</a:t>
            </a:r>
            <a:endParaRPr lang="en-GB" sz="1400" kern="0" dirty="0">
              <a:solidFill>
                <a:srgbClr val="0B0C0C"/>
              </a:solidFill>
              <a:latin typeface="GDS Transport"/>
              <a:ea typeface="Times New Roman" pitchFamily="18"/>
              <a:cs typeface="Times New Roman" pitchFamily="18"/>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dirty="0">
              <a:solidFill>
                <a:srgbClr val="0B0C0C"/>
              </a:solidFill>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dirty="0">
                <a:solidFill>
                  <a:srgbClr val="0B0C0C"/>
                </a:solidFill>
                <a:latin typeface="GDS Transport"/>
              </a:rPr>
              <a:t>To use Valuation Method 4,</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solidFill>
                  <a:srgbClr val="0B0C0C"/>
                </a:solidFill>
                <a:effectLst/>
                <a:latin typeface="GDS Transport"/>
                <a:cs typeface="Times New Roman" pitchFamily="18"/>
              </a:rPr>
              <a:t>Tr</a:t>
            </a:r>
            <a:r>
              <a:rPr lang="en-GB" sz="1400" dirty="0">
                <a:solidFill>
                  <a:srgbClr val="0B0C0C"/>
                </a:solidFill>
                <a:latin typeface="GDS Transport"/>
                <a:cs typeface="Times New Roman" pitchFamily="18"/>
              </a:rPr>
              <a:t>aders must declare the </a:t>
            </a:r>
            <a:r>
              <a:rPr lang="en-GB" sz="1400" i="0" dirty="0">
                <a:solidFill>
                  <a:srgbClr val="333333"/>
                </a:solidFill>
                <a:effectLst/>
                <a:latin typeface="Calibri  "/>
              </a:rPr>
              <a:t>following data elements:</a:t>
            </a:r>
          </a:p>
          <a:p>
            <a:pPr marL="1600200" lvl="3" indent="-228600">
              <a:buFont typeface="+mj-lt"/>
              <a:buAutoNum type="arabicPeriod"/>
            </a:pPr>
            <a:r>
              <a:rPr lang="en-GB" sz="1400" b="0" i="0" dirty="0">
                <a:solidFill>
                  <a:srgbClr val="333333"/>
                </a:solidFill>
                <a:effectLst/>
                <a:latin typeface="Calibri  "/>
              </a:rPr>
              <a:t>Valuation Method = 4 in DE 4/16</a:t>
            </a:r>
          </a:p>
          <a:p>
            <a:pPr marL="1600200" lvl="3" indent="-228600">
              <a:buFont typeface="+mj-lt"/>
              <a:buAutoNum type="arabicPeriod"/>
            </a:pPr>
            <a:r>
              <a:rPr lang="en-GB" sz="1400" b="0" i="0" dirty="0">
                <a:solidFill>
                  <a:srgbClr val="333333"/>
                </a:solidFill>
                <a:effectLst/>
                <a:latin typeface="Calibri  "/>
              </a:rPr>
              <a:t>Combined Nomenclature in DE 6/14</a:t>
            </a:r>
          </a:p>
          <a:p>
            <a:pPr marL="1600200" lvl="3" indent="-228600">
              <a:buFont typeface="+mj-lt"/>
              <a:buAutoNum type="arabicPeriod"/>
            </a:pPr>
            <a:r>
              <a:rPr lang="en-GB" sz="1400" b="0" i="0" dirty="0">
                <a:solidFill>
                  <a:srgbClr val="333333"/>
                </a:solidFill>
                <a:effectLst/>
                <a:latin typeface="Calibri  "/>
              </a:rPr>
              <a:t>TARIC code in DE 6/15</a:t>
            </a:r>
          </a:p>
          <a:p>
            <a:pPr marL="1600200" lvl="3" indent="-228600">
              <a:buFont typeface="+mj-lt"/>
              <a:buAutoNum type="arabicPeriod"/>
            </a:pPr>
            <a:r>
              <a:rPr lang="en-GB" sz="1400" b="0" i="0" dirty="0">
                <a:solidFill>
                  <a:srgbClr val="333333"/>
                </a:solidFill>
                <a:effectLst/>
                <a:latin typeface="Calibri  "/>
              </a:rPr>
              <a:t>Net Mass in DE 6/1</a:t>
            </a:r>
          </a:p>
          <a:p>
            <a:pPr marL="1600200" lvl="3" indent="-228600">
              <a:buFont typeface="+mj-lt"/>
              <a:buAutoNum type="arabicPeriod"/>
            </a:pPr>
            <a:r>
              <a:rPr lang="en-GB" sz="1400" b="0" i="0" dirty="0">
                <a:solidFill>
                  <a:srgbClr val="333333"/>
                </a:solidFill>
                <a:effectLst/>
                <a:latin typeface="Calibri  "/>
              </a:rPr>
              <a:t>Country of Origin in 5/15 </a:t>
            </a:r>
            <a:r>
              <a:rPr lang="en-GB" sz="1400" b="1" i="0" dirty="0">
                <a:solidFill>
                  <a:srgbClr val="333333"/>
                </a:solidFill>
                <a:effectLst/>
                <a:latin typeface="Calibri  "/>
              </a:rPr>
              <a:t>or</a:t>
            </a:r>
            <a:r>
              <a:rPr lang="en-GB" sz="1400" b="0" i="0" dirty="0">
                <a:solidFill>
                  <a:srgbClr val="333333"/>
                </a:solidFill>
                <a:effectLst/>
                <a:latin typeface="Calibri  "/>
              </a:rPr>
              <a:t> 5/16 Country of Preferential Origin </a:t>
            </a:r>
          </a:p>
          <a:p>
            <a:pPr lvl="1"/>
            <a:endParaRPr lang="en-GB" sz="1400" dirty="0">
              <a:solidFill>
                <a:srgbClr val="333333"/>
              </a:solidFill>
              <a:latin typeface="Calibri  "/>
            </a:endParaRPr>
          </a:p>
          <a:p>
            <a:r>
              <a:rPr lang="en-GB" sz="1400" b="0" i="0" dirty="0">
                <a:solidFill>
                  <a:srgbClr val="333333"/>
                </a:solidFill>
                <a:effectLst/>
                <a:latin typeface="Calibri  "/>
              </a:rPr>
              <a:t>If any of the above mandatory data elements are </a:t>
            </a:r>
            <a:r>
              <a:rPr lang="en-GB" sz="1400" b="1" i="0" dirty="0">
                <a:solidFill>
                  <a:srgbClr val="333333"/>
                </a:solidFill>
                <a:effectLst/>
                <a:latin typeface="Calibri  "/>
              </a:rPr>
              <a:t>not</a:t>
            </a:r>
            <a:r>
              <a:rPr lang="en-GB" sz="1400" b="0" i="0" dirty="0">
                <a:solidFill>
                  <a:srgbClr val="333333"/>
                </a:solidFill>
                <a:effectLst/>
                <a:latin typeface="Calibri  "/>
              </a:rPr>
              <a:t> satisfied, CDS will reject the declaration and send a DMSREJ notification to the trader</a:t>
            </a:r>
          </a:p>
          <a:p>
            <a:pPr lvl="1"/>
            <a:endParaRPr lang="en-GB" sz="1400" b="1" i="0" u="none" strike="noStrike" kern="1200" cap="none" spc="0" baseline="0" dirty="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0" cap="none" spc="0" baseline="0" dirty="0">
              <a:solidFill>
                <a:srgbClr val="333333"/>
              </a:solidFill>
              <a:uFillTx/>
              <a:latin typeface="Calibri  "/>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br>
              <a:rPr lang="en-GB" sz="1400" b="0" i="0" u="none" strike="noStrike" kern="0" cap="none" spc="0" baseline="0" dirty="0">
                <a:solidFill>
                  <a:srgbClr val="000000"/>
                </a:solidFill>
                <a:uFillTx/>
                <a:latin typeface="Calibri  "/>
              </a:rPr>
            </a:br>
            <a:endParaRPr lang="en-GB" sz="1400" b="0" i="0" u="none" strike="noStrike" kern="1200" cap="none" spc="0" baseline="0" dirty="0">
              <a:solidFill>
                <a:srgbClr val="333333"/>
              </a:solidFill>
              <a:uFillTx/>
              <a:latin typeface="Calibri  "/>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4025893535"/>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6445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321</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363967" y="1193640"/>
            <a:ext cx="11282159" cy="489364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u="sng">
                <a:solidFill>
                  <a:srgbClr val="0B0C0C"/>
                </a:solidFill>
                <a:latin typeface="Calibri  "/>
              </a:rPr>
              <a:t>Valuation Method 4: APC 1FV</a:t>
            </a:r>
          </a:p>
          <a:p>
            <a:pPr lvl="1"/>
            <a:endParaRPr lang="en-GB" sz="1400">
              <a:solidFill>
                <a:srgbClr val="333333"/>
              </a:solidFill>
              <a:latin typeface="Calibri  "/>
            </a:endParaRPr>
          </a:p>
          <a:p>
            <a:r>
              <a:rPr lang="en-GB" sz="1400" b="1" i="0">
                <a:solidFill>
                  <a:srgbClr val="333333"/>
                </a:solidFill>
                <a:effectLst/>
                <a:latin typeface="Calibri  "/>
              </a:rPr>
              <a:t>T</a:t>
            </a:r>
            <a:r>
              <a:rPr lang="en-GB" sz="1400" b="1">
                <a:solidFill>
                  <a:srgbClr val="333333"/>
                </a:solidFill>
                <a:latin typeface="Calibri  "/>
              </a:rPr>
              <a:t>o use Item Price for Valuation Method 4 (DE 1/11 = </a:t>
            </a:r>
            <a:r>
              <a:rPr lang="en-GB" sz="1400" b="1" i="0">
                <a:solidFill>
                  <a:srgbClr val="333333"/>
                </a:solidFill>
                <a:effectLst/>
                <a:latin typeface="Calibri  "/>
              </a:rPr>
              <a:t>1FV), in addition to the information in the </a:t>
            </a:r>
            <a:r>
              <a:rPr lang="en-GB" sz="1400" b="1" i="0">
                <a:solidFill>
                  <a:srgbClr val="333333"/>
                </a:solidFill>
                <a:effectLst/>
                <a:latin typeface="Calibri  "/>
                <a:hlinkClick r:id="rId3" action="ppaction://hlinksldjump"/>
              </a:rPr>
              <a:t>previous slide</a:t>
            </a:r>
            <a:r>
              <a:rPr lang="en-GB" sz="1400" b="1" i="0">
                <a:solidFill>
                  <a:srgbClr val="333333"/>
                </a:solidFill>
                <a:effectLst/>
                <a:latin typeface="Calibri  "/>
              </a:rPr>
              <a:t>,  traders must also declare:</a:t>
            </a:r>
          </a:p>
          <a:p>
            <a:pPr marL="1657350" lvl="3" indent="-285750">
              <a:buFont typeface="Courier New" panose="02070309020205020404" pitchFamily="49" charset="0"/>
              <a:buChar char="o"/>
            </a:pPr>
            <a:r>
              <a:rPr lang="en-GB" sz="1400" b="0" i="0">
                <a:solidFill>
                  <a:srgbClr val="333333"/>
                </a:solidFill>
                <a:effectLst/>
                <a:latin typeface="Calibri  "/>
              </a:rPr>
              <a:t>1FV in DE 1/11</a:t>
            </a:r>
          </a:p>
          <a:p>
            <a:pPr marL="1657350" lvl="3" indent="-285750">
              <a:buFont typeface="Courier New" panose="02070309020205020404" pitchFamily="49" charset="0"/>
              <a:buChar char="o"/>
            </a:pPr>
            <a:r>
              <a:rPr lang="en-GB" sz="1400" b="0" i="0">
                <a:solidFill>
                  <a:srgbClr val="333333"/>
                </a:solidFill>
                <a:effectLst/>
                <a:latin typeface="Calibri  "/>
              </a:rPr>
              <a:t>Item Price in DE 4/14</a:t>
            </a:r>
          </a:p>
          <a:p>
            <a:pPr marL="1657350" lvl="3" indent="-285750">
              <a:buFont typeface="Courier New" panose="02070309020205020404" pitchFamily="49" charset="0"/>
              <a:buChar char="o"/>
            </a:pPr>
            <a:r>
              <a:rPr lang="en-GB" sz="1400" b="0" i="0">
                <a:solidFill>
                  <a:srgbClr val="333333"/>
                </a:solidFill>
                <a:effectLst/>
                <a:latin typeface="Calibri  "/>
              </a:rPr>
              <a:t>Document Code ‘9WKS’ in DE 2/3</a:t>
            </a:r>
          </a:p>
          <a:p>
            <a:pPr marL="1657350" lvl="3" indent="-285750">
              <a:buFont typeface="Courier New" panose="02070309020205020404" pitchFamily="49" charset="0"/>
              <a:buChar char="o"/>
            </a:pPr>
            <a:r>
              <a:rPr lang="en-GB" sz="1400" b="0" i="0">
                <a:solidFill>
                  <a:srgbClr val="333333"/>
                </a:solidFill>
                <a:effectLst/>
                <a:latin typeface="Calibri  "/>
              </a:rPr>
              <a:t>Document Status ‘AC’ in DE 2/3</a:t>
            </a:r>
          </a:p>
          <a:p>
            <a:pPr marL="1657350" lvl="3" indent="-285750">
              <a:buFont typeface="Courier New" panose="02070309020205020404" pitchFamily="49" charset="0"/>
              <a:buChar char="o"/>
            </a:pPr>
            <a:r>
              <a:rPr lang="en-GB" sz="1400" b="0" i="0">
                <a:solidFill>
                  <a:srgbClr val="333333"/>
                </a:solidFill>
                <a:effectLst/>
                <a:latin typeface="Calibri  "/>
              </a:rPr>
              <a:t>Valuation Method = 4 in DE 4/15</a:t>
            </a:r>
          </a:p>
          <a:p>
            <a:pPr marL="1657350" lvl="3" indent="-285750">
              <a:buFont typeface="Courier New" panose="02070309020205020404" pitchFamily="49" charset="0"/>
              <a:buChar char="o"/>
            </a:pPr>
            <a:endParaRPr lang="en-GB" sz="1400" b="0" i="0">
              <a:solidFill>
                <a:srgbClr val="333333"/>
              </a:solidFill>
              <a:effectLst/>
              <a:latin typeface="Calibri  "/>
            </a:endParaRPr>
          </a:p>
          <a:p>
            <a:r>
              <a:rPr lang="en-GB" sz="1400" b="0" i="0">
                <a:solidFill>
                  <a:srgbClr val="333333"/>
                </a:solidFill>
                <a:effectLst/>
                <a:latin typeface="Calibri  "/>
              </a:rPr>
              <a:t>If any of the above mandatory data elements are </a:t>
            </a:r>
            <a:r>
              <a:rPr lang="en-GB" sz="1400" b="1" i="0">
                <a:solidFill>
                  <a:srgbClr val="333333"/>
                </a:solidFill>
                <a:effectLst/>
                <a:latin typeface="Calibri  "/>
              </a:rPr>
              <a:t>not</a:t>
            </a:r>
            <a:r>
              <a:rPr lang="en-GB" sz="1400" b="0" i="0">
                <a:solidFill>
                  <a:srgbClr val="333333"/>
                </a:solidFill>
                <a:effectLst/>
                <a:latin typeface="Calibri  "/>
              </a:rPr>
              <a:t> satisfied, CDS will reject the declaration and send a DMSREJ notification to the trader</a:t>
            </a:r>
          </a:p>
          <a:p>
            <a:pPr lvl="1"/>
            <a:endParaRPr lang="en-GB" sz="1400" b="1" i="0" u="none" strike="noStrike" kern="1200" cap="none" spc="0" baseline="0">
              <a:solidFill>
                <a:srgbClr val="333333"/>
              </a:solidFill>
              <a:uFillTx/>
              <a:latin typeface="Calibri" pitchFamily="34"/>
              <a:ea typeface="Times New Roman" pitchFamily="18"/>
              <a:cs typeface="Times New Roman" pitchFamily="18"/>
            </a:endParaRPr>
          </a:p>
          <a:p>
            <a:r>
              <a:rPr lang="en-GB" sz="1400" kern="0">
                <a:solidFill>
                  <a:srgbClr val="333333"/>
                </a:solidFill>
                <a:latin typeface="Calibri" pitchFamily="34"/>
                <a:ea typeface="Times New Roman" pitchFamily="18"/>
                <a:cs typeface="Times New Roman" pitchFamily="18"/>
              </a:rPr>
              <a:t>T</a:t>
            </a:r>
            <a:r>
              <a:rPr lang="en-GB" sz="1400">
                <a:solidFill>
                  <a:srgbClr val="333333"/>
                </a:solidFill>
                <a:latin typeface="Calibri" pitchFamily="34"/>
                <a:ea typeface="Times New Roman" pitchFamily="18"/>
                <a:cs typeface="Times New Roman" pitchFamily="18"/>
              </a:rPr>
              <a:t>he following Data Elements may also be declared with APC 1FV:</a:t>
            </a:r>
            <a:endParaRPr lang="en-GB" sz="2000">
              <a:solidFill>
                <a:srgbClr val="FF0000"/>
              </a:solidFill>
              <a:latin typeface="Calibri" pitchFamily="34"/>
              <a:ea typeface="Times New Roman" pitchFamily="18"/>
              <a:cs typeface="Times New Roman" pitchFamily="18"/>
            </a:endParaRPr>
          </a:p>
          <a:p>
            <a:pPr lvl="1"/>
            <a:endParaRPr lang="en-GB" sz="1400" b="1">
              <a:solidFill>
                <a:srgbClr val="333333"/>
              </a:solidFill>
              <a:latin typeface="Calibri  "/>
            </a:endParaRPr>
          </a:p>
          <a:p>
            <a:pPr lvl="1"/>
            <a:r>
              <a:rPr lang="en-GB" sz="1400" i="0">
                <a:solidFill>
                  <a:srgbClr val="333333"/>
                </a:solidFill>
                <a:effectLst/>
                <a:latin typeface="Calibri  "/>
              </a:rPr>
              <a:t>Delivery Terms  		 DE 4/1 : Optional</a:t>
            </a:r>
          </a:p>
          <a:p>
            <a:pPr lvl="1"/>
            <a:r>
              <a:rPr lang="en-GB" sz="1400">
                <a:solidFill>
                  <a:srgbClr val="333333"/>
                </a:solidFill>
                <a:latin typeface="Calibri  "/>
              </a:rPr>
              <a:t>Tax Base 		 DE 4/4 :  only mandatory if required by a Tariff Measure, otherwise optional</a:t>
            </a:r>
          </a:p>
          <a:p>
            <a:pPr lvl="1"/>
            <a:r>
              <a:rPr lang="en-GB" sz="1400" i="0">
                <a:solidFill>
                  <a:srgbClr val="333333"/>
                </a:solidFill>
                <a:effectLst/>
                <a:latin typeface="Calibri  "/>
              </a:rPr>
              <a:t>Additions and Deductions 	 DE 4/9  : If applicable</a:t>
            </a:r>
          </a:p>
          <a:p>
            <a:pPr lvl="1"/>
            <a:r>
              <a:rPr lang="en-GB" sz="1400">
                <a:solidFill>
                  <a:srgbClr val="333333"/>
                </a:solidFill>
                <a:latin typeface="Calibri  "/>
              </a:rPr>
              <a:t>Total amount invoiced 	 DE 4/11 : Optional</a:t>
            </a:r>
          </a:p>
          <a:p>
            <a:pPr lvl="1"/>
            <a:r>
              <a:rPr lang="en-GB" sz="1400" i="0">
                <a:solidFill>
                  <a:srgbClr val="333333"/>
                </a:solidFill>
                <a:effectLst/>
                <a:latin typeface="Calibri  "/>
              </a:rPr>
              <a:t>Valuation Indicator 	 DE 4/13 : Optional</a:t>
            </a:r>
          </a:p>
          <a:p>
            <a:pPr lvl="1"/>
            <a:r>
              <a:rPr lang="en-GB" sz="1400">
                <a:solidFill>
                  <a:srgbClr val="333333"/>
                </a:solidFill>
                <a:latin typeface="Calibri  "/>
              </a:rPr>
              <a:t>Place of Loading 		 DE 5/21 : can only be used with airfreight</a:t>
            </a:r>
            <a:endParaRPr lang="en-GB" sz="1400" i="0">
              <a:solidFill>
                <a:srgbClr val="333333"/>
              </a:solidFill>
              <a:effectLst/>
              <a:latin typeface="Calibri  "/>
            </a:endParaRPr>
          </a:p>
          <a:p>
            <a:pPr lvl="1"/>
            <a:endParaRPr lang="en-GB" sz="1400" b="1" i="0">
              <a:solidFill>
                <a:srgbClr val="333333"/>
              </a:solidFill>
              <a:effectLst/>
              <a:latin typeface="Calibri  "/>
            </a:endParaRPr>
          </a:p>
          <a:p>
            <a:pPr marL="1200150" lvl="2" indent="-285750">
              <a:buFont typeface="Courier New" panose="02070309020205020404" pitchFamily="49" charset="0"/>
              <a:buChar char="o"/>
            </a:pPr>
            <a:endParaRPr lang="en-GB" sz="1400">
              <a:solidFill>
                <a:srgbClr val="333333"/>
              </a:solidFill>
              <a:latin typeface="Calibri  "/>
            </a:endParaRPr>
          </a:p>
          <a:p>
            <a:pPr marL="285750" indent="-285750">
              <a:buFont typeface="Arial" panose="020B0604020202020204" pitchFamily="34" charset="0"/>
              <a:buChar char="•"/>
            </a:pPr>
            <a:endParaRPr lang="en-GB" sz="1400" b="0" i="0">
              <a:solidFill>
                <a:srgbClr val="333333"/>
              </a:solidFill>
              <a:effectLst/>
              <a:latin typeface="Calibri  "/>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1859234924"/>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5382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322</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91" y="1199866"/>
            <a:ext cx="11282159" cy="549836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u="sng" dirty="0">
                <a:solidFill>
                  <a:srgbClr val="0B0C0C"/>
                </a:solidFill>
                <a:latin typeface="Calibri  "/>
              </a:rPr>
              <a:t>Valuation Method 4 : APC 1SV</a:t>
            </a:r>
          </a:p>
          <a:p>
            <a:pPr lvl="1"/>
            <a:endParaRPr lang="en-GB" sz="1400" dirty="0">
              <a:solidFill>
                <a:srgbClr val="333333"/>
              </a:solidFill>
              <a:latin typeface="Calibri  "/>
            </a:endParaRPr>
          </a:p>
          <a:p>
            <a:r>
              <a:rPr lang="en-GB" sz="1400" b="1" dirty="0">
                <a:solidFill>
                  <a:srgbClr val="333333"/>
                </a:solidFill>
                <a:latin typeface="Calibri  "/>
                <a:ea typeface="Times New Roman" pitchFamily="18"/>
                <a:cs typeface="Times New Roman" pitchFamily="18"/>
              </a:rPr>
              <a:t>To use UK SPV with Valuation Method 4 (DE 1/11 = </a:t>
            </a:r>
            <a:r>
              <a:rPr lang="en-GB" sz="1400" b="1" i="0" dirty="0">
                <a:solidFill>
                  <a:srgbClr val="333333"/>
                </a:solidFill>
                <a:effectLst/>
                <a:latin typeface="Calibri  "/>
                <a:cs typeface="Times New Roman" pitchFamily="18"/>
              </a:rPr>
              <a:t>1SV), in addition to the information </a:t>
            </a:r>
            <a:r>
              <a:rPr lang="en-GB" sz="1400" b="1" dirty="0">
                <a:solidFill>
                  <a:srgbClr val="333333"/>
                </a:solidFill>
                <a:latin typeface="Calibri  "/>
                <a:cs typeface="Times New Roman" pitchFamily="18"/>
              </a:rPr>
              <a:t>outlined </a:t>
            </a:r>
            <a:r>
              <a:rPr lang="en-GB" sz="1400" b="1" dirty="0">
                <a:solidFill>
                  <a:srgbClr val="333333"/>
                </a:solidFill>
                <a:latin typeface="Calibri  "/>
                <a:cs typeface="Times New Roman" pitchFamily="18"/>
                <a:hlinkClick r:id="rId3" action="ppaction://hlinksldjump"/>
              </a:rPr>
              <a:t>previously</a:t>
            </a:r>
            <a:r>
              <a:rPr lang="en-GB" sz="1400" b="1" i="0" dirty="0">
                <a:solidFill>
                  <a:srgbClr val="333333"/>
                </a:solidFill>
                <a:effectLst/>
                <a:latin typeface="Calibri  "/>
                <a:cs typeface="Times New Roman" pitchFamily="18"/>
              </a:rPr>
              <a:t>, traders must also declare:</a:t>
            </a:r>
          </a:p>
          <a:p>
            <a:r>
              <a:rPr lang="en-GB" sz="1400" b="1" i="0" dirty="0">
                <a:solidFill>
                  <a:srgbClr val="333333"/>
                </a:solidFill>
                <a:effectLst/>
                <a:latin typeface="Calibri  "/>
                <a:cs typeface="Times New Roman" pitchFamily="18"/>
              </a:rPr>
              <a:t> </a:t>
            </a:r>
            <a:endParaRPr lang="en-GB" sz="1400" b="1" dirty="0">
              <a:solidFill>
                <a:srgbClr val="333333"/>
              </a:solidFill>
              <a:latin typeface="Calibri  "/>
              <a:ea typeface="Times New Roman" pitchFamily="18"/>
              <a:cs typeface="Times New Roman" pitchFamily="18"/>
            </a:endParaRPr>
          </a:p>
          <a:p>
            <a:pPr marL="1200150" lvl="2" indent="-285750">
              <a:buFont typeface="Courier New" panose="02070309020205020404" pitchFamily="49" charset="0"/>
              <a:buChar char="o"/>
            </a:pPr>
            <a:r>
              <a:rPr lang="en-GB" sz="1400" b="0" i="0" dirty="0">
                <a:solidFill>
                  <a:srgbClr val="333333"/>
                </a:solidFill>
                <a:effectLst/>
                <a:latin typeface="Calibri  "/>
              </a:rPr>
              <a:t>1SV in DE 1/11</a:t>
            </a:r>
          </a:p>
          <a:p>
            <a:pPr marL="1200150" lvl="2" indent="-285750">
              <a:buFont typeface="Courier New" panose="02070309020205020404" pitchFamily="49" charset="0"/>
              <a:buChar char="o"/>
            </a:pPr>
            <a:r>
              <a:rPr lang="en-GB" sz="1400" b="0" i="0" dirty="0">
                <a:solidFill>
                  <a:srgbClr val="333333"/>
                </a:solidFill>
                <a:effectLst/>
                <a:latin typeface="Calibri  "/>
              </a:rPr>
              <a:t>Document Code in DE 2/3 = A non-valuation specific document code (If applicable)</a:t>
            </a:r>
          </a:p>
          <a:p>
            <a:pPr marL="1200150" lvl="2" indent="-285750">
              <a:buFont typeface="Courier New" panose="02070309020205020404" pitchFamily="49" charset="0"/>
              <a:buChar char="o"/>
            </a:pPr>
            <a:r>
              <a:rPr lang="en-GB" sz="1400" b="0" i="0" dirty="0">
                <a:solidFill>
                  <a:srgbClr val="333333"/>
                </a:solidFill>
                <a:effectLst/>
                <a:latin typeface="Calibri  "/>
              </a:rPr>
              <a:t>Document Status in DE 2/3 = Driven by the document code entered as above (If applicable)</a:t>
            </a:r>
          </a:p>
          <a:p>
            <a:pPr marL="1200150" lvl="2" indent="-285750">
              <a:buFont typeface="Courier New" panose="02070309020205020404" pitchFamily="49" charset="0"/>
              <a:buChar char="o"/>
            </a:pPr>
            <a:endParaRPr lang="en-GB" sz="1400" dirty="0">
              <a:solidFill>
                <a:srgbClr val="333333"/>
              </a:solidFill>
              <a:latin typeface="Calibri  "/>
            </a:endParaRPr>
          </a:p>
          <a:p>
            <a:pPr lvl="1"/>
            <a:r>
              <a:rPr lang="en-GB" sz="1400" i="0" dirty="0">
                <a:solidFill>
                  <a:srgbClr val="333333"/>
                </a:solidFill>
                <a:effectLst/>
                <a:latin typeface="Calibri  "/>
              </a:rPr>
              <a:t>With APC 1SV Traders must </a:t>
            </a:r>
            <a:r>
              <a:rPr lang="en-GB" sz="1400" b="1" dirty="0">
                <a:solidFill>
                  <a:srgbClr val="333333"/>
                </a:solidFill>
                <a:latin typeface="Calibri  "/>
              </a:rPr>
              <a:t>not</a:t>
            </a:r>
            <a:r>
              <a:rPr lang="en-GB" sz="1400" i="0" dirty="0">
                <a:solidFill>
                  <a:srgbClr val="333333"/>
                </a:solidFill>
                <a:effectLst/>
                <a:latin typeface="Calibri  "/>
              </a:rPr>
              <a:t> declare:</a:t>
            </a:r>
          </a:p>
          <a:p>
            <a:pPr lvl="1"/>
            <a:endParaRPr lang="en-GB" sz="1400" b="1" dirty="0">
              <a:solidFill>
                <a:srgbClr val="333333"/>
              </a:solidFill>
              <a:latin typeface="Calibri  "/>
            </a:endParaRPr>
          </a:p>
          <a:p>
            <a:pPr lvl="1"/>
            <a:endParaRPr lang="en-GB" sz="1400" b="1" i="0" dirty="0">
              <a:solidFill>
                <a:srgbClr val="333333"/>
              </a:solidFill>
              <a:effectLst/>
              <a:latin typeface="Calibri  "/>
            </a:endParaRPr>
          </a:p>
          <a:p>
            <a:pPr lvl="1"/>
            <a:endParaRPr lang="en-GB" sz="1400" b="1" dirty="0">
              <a:solidFill>
                <a:srgbClr val="333333"/>
              </a:solidFill>
              <a:latin typeface="Calibri  "/>
            </a:endParaRPr>
          </a:p>
          <a:p>
            <a:pPr lvl="1"/>
            <a:endParaRPr lang="en-GB" sz="1400" b="1" i="0" dirty="0">
              <a:solidFill>
                <a:srgbClr val="333333"/>
              </a:solidFill>
              <a:effectLst/>
              <a:latin typeface="Calibri  "/>
            </a:endParaRPr>
          </a:p>
          <a:p>
            <a:pPr lvl="1"/>
            <a:endParaRPr lang="en-GB" sz="1400" b="1" dirty="0">
              <a:solidFill>
                <a:srgbClr val="333333"/>
              </a:solidFill>
              <a:latin typeface="Calibri  "/>
            </a:endParaRPr>
          </a:p>
          <a:p>
            <a:pPr lvl="1"/>
            <a:endParaRPr lang="en-GB" sz="1400" b="1" i="0" dirty="0">
              <a:solidFill>
                <a:srgbClr val="333333"/>
              </a:solidFill>
              <a:effectLst/>
              <a:latin typeface="Calibri  "/>
            </a:endParaRPr>
          </a:p>
          <a:p>
            <a:pPr lvl="1"/>
            <a:endParaRPr lang="en-GB" sz="1400" b="1" dirty="0">
              <a:solidFill>
                <a:srgbClr val="333333"/>
              </a:solidFill>
              <a:latin typeface="Calibri  "/>
            </a:endParaRPr>
          </a:p>
          <a:p>
            <a:pPr lvl="1"/>
            <a:endParaRPr lang="en-GB" sz="1400" b="1" i="0" dirty="0">
              <a:solidFill>
                <a:srgbClr val="333333"/>
              </a:solidFill>
              <a:effectLst/>
              <a:latin typeface="Calibri  "/>
            </a:endParaRPr>
          </a:p>
          <a:p>
            <a:pPr lvl="1"/>
            <a:endParaRPr lang="en-GB" sz="1400" b="1" i="0" dirty="0">
              <a:solidFill>
                <a:srgbClr val="333333"/>
              </a:solidFill>
              <a:effectLst/>
              <a:latin typeface="Calibri  "/>
            </a:endParaRPr>
          </a:p>
          <a:p>
            <a:pPr lvl="1"/>
            <a:endParaRPr lang="en-GB" sz="1400" b="1" i="0" dirty="0">
              <a:solidFill>
                <a:srgbClr val="333333"/>
              </a:solidFill>
              <a:effectLst/>
              <a:latin typeface="Calibri  "/>
            </a:endParaRPr>
          </a:p>
          <a:p>
            <a:pPr marL="1200150" lvl="2" indent="-285750">
              <a:buFont typeface="Courier New" panose="02070309020205020404" pitchFamily="49" charset="0"/>
              <a:buChar char="o"/>
            </a:pPr>
            <a:endParaRPr lang="en-GB" sz="1400" dirty="0">
              <a:solidFill>
                <a:srgbClr val="333333"/>
              </a:solidFill>
              <a:latin typeface="Calibri  "/>
            </a:endParaRPr>
          </a:p>
          <a:p>
            <a:pPr marL="742950" lvl="1" indent="-285750">
              <a:buFont typeface="Arial" panose="020B0604020202020204" pitchFamily="34" charset="0"/>
              <a:buChar char="•"/>
            </a:pPr>
            <a:r>
              <a:rPr lang="en-GB" sz="1400" b="0" i="0" dirty="0">
                <a:solidFill>
                  <a:srgbClr val="333333"/>
                </a:solidFill>
                <a:effectLst/>
                <a:latin typeface="Calibri  "/>
              </a:rPr>
              <a:t>If the above conditions are not met, CDS will reject the declaration and a DMSREJ notification to the trader.</a:t>
            </a:r>
          </a:p>
          <a:p>
            <a:pPr marL="742950" lvl="1" indent="-285750">
              <a:buFont typeface="Arial" panose="020B0604020202020204" pitchFamily="34" charset="0"/>
              <a:buChar char="•"/>
            </a:pPr>
            <a:r>
              <a:rPr lang="en-GB" sz="1400" b="1" dirty="0">
                <a:solidFill>
                  <a:srgbClr val="333333"/>
                </a:solidFill>
                <a:latin typeface="Calibri  "/>
                <a:ea typeface="Times New Roman" pitchFamily="18"/>
                <a:cs typeface="Times New Roman" pitchFamily="18"/>
              </a:rPr>
              <a:t>Please note APC 1SV is not permitted to be used with EIDR</a:t>
            </a:r>
            <a:r>
              <a:rPr lang="en-GB" sz="1400" dirty="0">
                <a:solidFill>
                  <a:srgbClr val="333333"/>
                </a:solidFill>
                <a:latin typeface="Calibri  "/>
                <a:ea typeface="Times New Roman" pitchFamily="18"/>
                <a:cs typeface="Times New Roman" pitchFamily="18"/>
              </a:rPr>
              <a:t>.</a:t>
            </a:r>
          </a:p>
          <a:p>
            <a:pPr marL="742950" lvl="1" indent="-285750">
              <a:buFont typeface="Arial" panose="020B0604020202020204" pitchFamily="34" charset="0"/>
              <a:buChar char="•"/>
            </a:pPr>
            <a:endParaRPr lang="en-GB" sz="1400" b="0" i="0" dirty="0">
              <a:solidFill>
                <a:srgbClr val="333333"/>
              </a:solidFill>
              <a:effectLst/>
              <a:latin typeface="Calibri  "/>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br>
              <a:rPr lang="en-GB" sz="1400" b="0" i="0" u="none" strike="noStrike" kern="0" cap="none" spc="0" baseline="0" dirty="0">
                <a:solidFill>
                  <a:srgbClr val="000000"/>
                </a:solidFill>
                <a:uFillTx/>
                <a:latin typeface="Calibri  "/>
              </a:rPr>
            </a:br>
            <a:endParaRPr lang="en-GB" sz="1400" b="0" i="0" u="none" strike="noStrike" kern="1200" cap="none" spc="0" baseline="0" dirty="0">
              <a:solidFill>
                <a:srgbClr val="333333"/>
              </a:solidFill>
              <a:uFillTx/>
              <a:latin typeface="Calibri  "/>
              <a:ea typeface="Times New Roman" pitchFamily="18"/>
              <a:cs typeface="Times New Roman" pitchFamily="18"/>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pic>
        <p:nvPicPr>
          <p:cNvPr id="11" name="Picture 10">
            <a:extLst>
              <a:ext uri="{FF2B5EF4-FFF2-40B4-BE49-F238E27FC236}">
                <a16:creationId xmlns:a16="http://schemas.microsoft.com/office/drawing/2014/main" id="{756B7539-901B-481B-8DB3-ABA73C2B1D6B}"/>
              </a:ext>
            </a:extLst>
          </p:cNvPr>
          <p:cNvPicPr>
            <a:picLocks noChangeAspect="1"/>
          </p:cNvPicPr>
          <p:nvPr/>
        </p:nvPicPr>
        <p:blipFill>
          <a:blip r:embed="rId4"/>
          <a:stretch>
            <a:fillRect/>
          </a:stretch>
        </p:blipFill>
        <p:spPr>
          <a:xfrm>
            <a:off x="3805668" y="3231254"/>
            <a:ext cx="4560203" cy="2168625"/>
          </a:xfrm>
          <a:prstGeom prst="rect">
            <a:avLst/>
          </a:prstGeom>
        </p:spPr>
      </p:pic>
    </p:spTree>
    <p:extLst>
      <p:ext uri="{BB962C8B-B14F-4D97-AF65-F5344CB8AC3E}">
        <p14:creationId xmlns:p14="http://schemas.microsoft.com/office/powerpoint/2010/main" val="2510914151"/>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5382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323</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91" y="1199866"/>
            <a:ext cx="11282159" cy="3600986"/>
          </a:xfrm>
          <a:prstGeom prst="rect">
            <a:avLst/>
          </a:prstGeom>
          <a:noFill/>
          <a:ln cap="flat">
            <a:noFill/>
            <a:prstDash val="solid"/>
          </a:ln>
        </p:spPr>
        <p:txBody>
          <a:bodyPr vert="horz" wrap="square" lIns="91440" tIns="45720" rIns="91440" bIns="45720" anchor="t" anchorCtr="0" compatLnSpc="1">
            <a:spAutoFit/>
          </a:bodyPr>
          <a:lstStyle/>
          <a:p>
            <a:r>
              <a:rPr lang="en-GB" sz="1400" b="1" u="sng">
                <a:solidFill>
                  <a:srgbClr val="0B0C0C"/>
                </a:solidFill>
                <a:latin typeface="Calibri  "/>
              </a:rPr>
              <a:t>Valuation Method 4 : APC 1SV</a:t>
            </a:r>
          </a:p>
          <a:p>
            <a:endParaRPr lang="en-GB" sz="1400" b="1">
              <a:solidFill>
                <a:srgbClr val="333333"/>
              </a:solidFill>
              <a:latin typeface="Calibri  "/>
              <a:ea typeface="Times New Roman" pitchFamily="18"/>
              <a:cs typeface="Times New Roman" pitchFamily="18"/>
            </a:endParaRPr>
          </a:p>
          <a:p>
            <a:r>
              <a:rPr lang="en-GB" sz="1400" b="1">
                <a:solidFill>
                  <a:srgbClr val="333333"/>
                </a:solidFill>
                <a:latin typeface="Calibri  "/>
                <a:ea typeface="Times New Roman" pitchFamily="18"/>
                <a:cs typeface="Times New Roman" pitchFamily="18"/>
              </a:rPr>
              <a:t>Requirements to declare SPV for </a:t>
            </a:r>
            <a:r>
              <a:rPr lang="en-GB" sz="1400" b="1" err="1">
                <a:solidFill>
                  <a:srgbClr val="333333"/>
                </a:solidFill>
                <a:latin typeface="Calibri  "/>
                <a:ea typeface="Times New Roman" pitchFamily="18"/>
                <a:cs typeface="Times New Roman" pitchFamily="18"/>
              </a:rPr>
              <a:t>RoW</a:t>
            </a:r>
            <a:r>
              <a:rPr lang="en-GB" sz="1400" b="1">
                <a:solidFill>
                  <a:srgbClr val="333333"/>
                </a:solidFill>
                <a:latin typeface="Calibri  "/>
                <a:ea typeface="Times New Roman" pitchFamily="18"/>
                <a:cs typeface="Times New Roman" pitchFamily="18"/>
              </a:rPr>
              <a:t>-GB,</a:t>
            </a:r>
          </a:p>
          <a:p>
            <a:pPr lvl="1"/>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marL="742950" lvl="1" indent="-285750">
              <a:buFont typeface="Arial" panose="020B0604020202020204" pitchFamily="34" charset="0"/>
              <a:buChar char="•"/>
            </a:pPr>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lvl="1"/>
            <a:endParaRPr lang="en-GB" b="0" i="0">
              <a:solidFill>
                <a:srgbClr val="333333"/>
              </a:solidFill>
              <a:effectLst/>
              <a:latin typeface="Arial" panose="020B0604020202020204" pitchFamily="34" charset="0"/>
            </a:endParaRPr>
          </a:p>
          <a:p>
            <a:pPr marL="742950" lvl="1" indent="-285750">
              <a:buFont typeface="Arial" panose="020B0604020202020204" pitchFamily="34" charset="0"/>
              <a:buChar char="•"/>
            </a:pPr>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marL="742950" lvl="1" indent="-285750">
              <a:buFont typeface="Arial" panose="020B0604020202020204" pitchFamily="34" charset="0"/>
              <a:buChar char="•"/>
            </a:pPr>
            <a:endParaRPr lang="en-GB">
              <a:solidFill>
                <a:srgbClr val="333333"/>
              </a:solidFill>
              <a:latin typeface="Arial" panose="020B0604020202020204" pitchFamily="34" charset="0"/>
            </a:endParaRPr>
          </a:p>
          <a:p>
            <a:pPr lvl="1"/>
            <a:endParaRPr lang="en-GB" sz="1400" b="0" i="0">
              <a:solidFill>
                <a:srgbClr val="333333"/>
              </a:solidFill>
              <a:effectLst/>
              <a:latin typeface="Calibri  "/>
            </a:endParaRPr>
          </a:p>
          <a:p>
            <a:pPr marL="285750" indent="-285750">
              <a:buFont typeface="Arial" panose="020B0604020202020204" pitchFamily="34" charset="0"/>
              <a:buChar char="•"/>
            </a:pPr>
            <a:endParaRPr lang="en-GB" sz="1400" b="0" i="0">
              <a:solidFill>
                <a:srgbClr val="333333"/>
              </a:solidFill>
              <a:effectLst/>
              <a:latin typeface="Calibri  "/>
            </a:endParaRPr>
          </a:p>
          <a:p>
            <a:endParaRPr lang="en-GB" sz="1400" b="0" i="0">
              <a:solidFill>
                <a:srgbClr val="333333"/>
              </a:solidFill>
              <a:effectLst/>
              <a:latin typeface="Arial" panose="020B0604020202020204" pitchFamily="34" charset="0"/>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3" name="Table 12">
            <a:extLst>
              <a:ext uri="{FF2B5EF4-FFF2-40B4-BE49-F238E27FC236}">
                <a16:creationId xmlns:a16="http://schemas.microsoft.com/office/drawing/2014/main" id="{A4D05141-D3D0-43EE-9162-75B8BAAD4522}"/>
              </a:ext>
            </a:extLst>
          </p:cNvPr>
          <p:cNvGraphicFramePr>
            <a:graphicFrameLocks noGrp="1"/>
          </p:cNvGraphicFramePr>
          <p:nvPr/>
        </p:nvGraphicFramePr>
        <p:xfrm>
          <a:off x="2582259" y="1954572"/>
          <a:ext cx="7007022" cy="2091573"/>
        </p:xfrm>
        <a:graphic>
          <a:graphicData uri="http://schemas.openxmlformats.org/drawingml/2006/table">
            <a:tbl>
              <a:tblPr firstRow="1" bandRow="1">
                <a:effectLst/>
                <a:tableStyleId>{5C22544A-7EE6-4342-B048-85BDC9FD1C3A}</a:tableStyleId>
              </a:tblPr>
              <a:tblGrid>
                <a:gridCol w="1209846">
                  <a:extLst>
                    <a:ext uri="{9D8B030D-6E8A-4147-A177-3AD203B41FA5}">
                      <a16:colId xmlns:a16="http://schemas.microsoft.com/office/drawing/2014/main" val="2247490691"/>
                    </a:ext>
                  </a:extLst>
                </a:gridCol>
                <a:gridCol w="1138484">
                  <a:extLst>
                    <a:ext uri="{9D8B030D-6E8A-4147-A177-3AD203B41FA5}">
                      <a16:colId xmlns:a16="http://schemas.microsoft.com/office/drawing/2014/main" val="641578491"/>
                    </a:ext>
                  </a:extLst>
                </a:gridCol>
                <a:gridCol w="1386541">
                  <a:extLst>
                    <a:ext uri="{9D8B030D-6E8A-4147-A177-3AD203B41FA5}">
                      <a16:colId xmlns:a16="http://schemas.microsoft.com/office/drawing/2014/main" val="1588135019"/>
                    </a:ext>
                  </a:extLst>
                </a:gridCol>
                <a:gridCol w="3272151">
                  <a:extLst>
                    <a:ext uri="{9D8B030D-6E8A-4147-A177-3AD203B41FA5}">
                      <a16:colId xmlns:a16="http://schemas.microsoft.com/office/drawing/2014/main" val="2275653647"/>
                    </a:ext>
                  </a:extLst>
                </a:gridCol>
              </a:tblGrid>
              <a:tr h="414541">
                <a:tc>
                  <a:txBody>
                    <a:bodyPr/>
                    <a:lstStyle/>
                    <a:p>
                      <a:pPr algn="ctr"/>
                      <a:r>
                        <a:rPr lang="en-GB" sz="1400">
                          <a:effectLst/>
                        </a:rPr>
                        <a:t>Data Element 1/11</a:t>
                      </a:r>
                    </a:p>
                  </a:txBody>
                  <a:tcPr marL="90000" marR="19050" marT="14288" marB="14288" anchor="ctr">
                    <a:solidFill>
                      <a:srgbClr val="009999"/>
                    </a:solidFill>
                  </a:tcPr>
                </a:tc>
                <a:tc>
                  <a:txBody>
                    <a:bodyPr/>
                    <a:lstStyle/>
                    <a:p>
                      <a:pPr algn="ctr"/>
                      <a:r>
                        <a:rPr lang="en-GB" sz="1400">
                          <a:effectLst/>
                        </a:rPr>
                        <a:t>Description</a:t>
                      </a:r>
                    </a:p>
                  </a:txBody>
                  <a:tcPr marL="90000" marR="19050" marT="14288" marB="14288" anchor="ctr">
                    <a:solidFill>
                      <a:srgbClr val="009999"/>
                    </a:solidFill>
                  </a:tcPr>
                </a:tc>
                <a:tc>
                  <a:txBody>
                    <a:bodyPr/>
                    <a:lstStyle/>
                    <a:p>
                      <a:pPr algn="ctr"/>
                      <a:r>
                        <a:rPr lang="en-GB" sz="1400">
                          <a:effectLst/>
                        </a:rPr>
                        <a:t>Data Element 4/14</a:t>
                      </a:r>
                    </a:p>
                  </a:txBody>
                  <a:tcPr marL="90000" marR="19050" marT="14288" marB="14288" anchor="ctr">
                    <a:solidFill>
                      <a:srgbClr val="009999"/>
                    </a:solidFill>
                  </a:tcPr>
                </a:tc>
                <a:tc>
                  <a:txBody>
                    <a:bodyPr/>
                    <a:lstStyle/>
                    <a:p>
                      <a:pPr algn="ctr"/>
                      <a:r>
                        <a:rPr lang="en-GB" sz="1400">
                          <a:effectLst/>
                        </a:rPr>
                        <a:t>Document</a:t>
                      </a:r>
                    </a:p>
                  </a:txBody>
                  <a:tcPr marL="90000" marR="19050" marT="14288" marB="14288" anchor="ctr">
                    <a:solidFill>
                      <a:srgbClr val="009999"/>
                    </a:solidFill>
                  </a:tcPr>
                </a:tc>
                <a:extLst>
                  <a:ext uri="{0D108BD9-81ED-4DB2-BD59-A6C34878D82A}">
                    <a16:rowId xmlns:a16="http://schemas.microsoft.com/office/drawing/2014/main" val="3384468624"/>
                  </a:ext>
                </a:extLst>
              </a:tr>
              <a:tr h="493755">
                <a:tc>
                  <a:txBody>
                    <a:bodyPr/>
                    <a:lstStyle/>
                    <a:p>
                      <a:r>
                        <a:rPr lang="en-GB" sz="1400">
                          <a:effectLst/>
                        </a:rPr>
                        <a:t>1SV</a:t>
                      </a:r>
                    </a:p>
                  </a:txBody>
                  <a:tcPr marL="90000" marR="19050" marT="14288" marB="14288" anchor="ctr"/>
                </a:tc>
                <a:tc>
                  <a:txBody>
                    <a:bodyPr/>
                    <a:lstStyle/>
                    <a:p>
                      <a:r>
                        <a:rPr lang="en-GB" sz="1400">
                          <a:effectLst/>
                        </a:rPr>
                        <a:t>UK SPV</a:t>
                      </a:r>
                    </a:p>
                  </a:txBody>
                  <a:tcPr marL="90000" marR="19050" marT="14288" marB="14288" anchor="ctr"/>
                </a:tc>
                <a:tc>
                  <a:txBody>
                    <a:bodyPr/>
                    <a:lstStyle/>
                    <a:p>
                      <a:r>
                        <a:rPr lang="en-GB" sz="1400">
                          <a:effectLst/>
                        </a:rPr>
                        <a:t>Blank</a:t>
                      </a:r>
                    </a:p>
                  </a:txBody>
                  <a:tcPr marL="90000" marR="19050" marT="14288" marB="14288" anchor="ctr"/>
                </a:tc>
                <a:tc>
                  <a:txBody>
                    <a:bodyPr/>
                    <a:lstStyle/>
                    <a:p>
                      <a:r>
                        <a:rPr lang="en-GB" sz="1400" b="0" i="0" kern="1200">
                          <a:solidFill>
                            <a:schemeClr val="dk1"/>
                          </a:solidFill>
                          <a:effectLst/>
                          <a:latin typeface="+mn-lt"/>
                          <a:ea typeface="+mn-ea"/>
                          <a:cs typeface="+mn-cs"/>
                        </a:rPr>
                        <a:t>Any non specific valuation document as mandated by measure</a:t>
                      </a:r>
                      <a:endParaRPr lang="en-GB" sz="1400">
                        <a:effectLst/>
                      </a:endParaRPr>
                    </a:p>
                  </a:txBody>
                  <a:tcPr marL="90000" marR="19050" marT="14288" marB="14288" anchor="ctr"/>
                </a:tc>
                <a:extLst>
                  <a:ext uri="{0D108BD9-81ED-4DB2-BD59-A6C34878D82A}">
                    <a16:rowId xmlns:a16="http://schemas.microsoft.com/office/drawing/2014/main" val="2674908348"/>
                  </a:ext>
                </a:extLst>
              </a:tr>
              <a:tr h="208441">
                <a:tc>
                  <a:txBody>
                    <a:bodyPr/>
                    <a:lstStyle/>
                    <a:p>
                      <a:r>
                        <a:rPr lang="en-GB" sz="1400">
                          <a:effectLst/>
                        </a:rPr>
                        <a:t>1FV Only</a:t>
                      </a:r>
                    </a:p>
                  </a:txBody>
                  <a:tcPr marL="90000" marR="19050" marT="14288" marB="14288" anchor="ctr"/>
                </a:tc>
                <a:tc>
                  <a:txBody>
                    <a:bodyPr/>
                    <a:lstStyle/>
                    <a:p>
                      <a:r>
                        <a:rPr lang="en-GB" sz="1400">
                          <a:effectLst/>
                        </a:rPr>
                        <a:t>N/A</a:t>
                      </a:r>
                    </a:p>
                    <a:p>
                      <a:endParaRPr lang="en-GB" sz="1400">
                        <a:effectLst/>
                      </a:endParaRPr>
                    </a:p>
                  </a:txBody>
                  <a:tcPr marL="90000" marR="19050" marT="14288" marB="14288" anchor="ctr"/>
                </a:tc>
                <a:tc>
                  <a:txBody>
                    <a:bodyPr/>
                    <a:lstStyle/>
                    <a:p>
                      <a:r>
                        <a:rPr lang="en-GB" sz="1400">
                          <a:effectLst/>
                        </a:rPr>
                        <a:t>Completed</a:t>
                      </a:r>
                    </a:p>
                  </a:txBody>
                  <a:tcPr marL="90000" marR="19050" marT="14288" marB="14288" anchor="ctr"/>
                </a:tc>
                <a:tc>
                  <a:txBody>
                    <a:bodyPr/>
                    <a:lstStyle/>
                    <a:p>
                      <a:r>
                        <a:rPr lang="en-GB" sz="1400" b="0" i="0" kern="1200">
                          <a:solidFill>
                            <a:schemeClr val="dk1"/>
                          </a:solidFill>
                          <a:effectLst/>
                          <a:latin typeface="+mn-lt"/>
                          <a:ea typeface="+mn-ea"/>
                          <a:cs typeface="+mn-cs"/>
                        </a:rPr>
                        <a:t>9WKS (minimum) </a:t>
                      </a:r>
                      <a:endParaRPr lang="en-GB" sz="1400">
                        <a:effectLst/>
                      </a:endParaRPr>
                    </a:p>
                  </a:txBody>
                  <a:tcPr marL="90000" marR="19050" marT="14288" marB="14288" anchor="ctr"/>
                </a:tc>
                <a:extLst>
                  <a:ext uri="{0D108BD9-81ED-4DB2-BD59-A6C34878D82A}">
                    <a16:rowId xmlns:a16="http://schemas.microsoft.com/office/drawing/2014/main" val="2060544414"/>
                  </a:ext>
                </a:extLst>
              </a:tr>
              <a:tr h="687226">
                <a:tc>
                  <a:txBody>
                    <a:bodyPr/>
                    <a:lstStyle/>
                    <a:p>
                      <a:r>
                        <a:rPr lang="en-GB" sz="1400">
                          <a:effectLst/>
                        </a:rPr>
                        <a:t>1FV + Non Valuation specific APC</a:t>
                      </a:r>
                    </a:p>
                  </a:txBody>
                  <a:tcPr marL="90000" marR="19050" marT="14288" marB="14288" anchor="ctr"/>
                </a:tc>
                <a:tc>
                  <a:txBody>
                    <a:bodyPr/>
                    <a:lstStyle/>
                    <a:p>
                      <a:r>
                        <a:rPr lang="en-GB" sz="1400">
                          <a:effectLst/>
                        </a:rPr>
                        <a:t>N/A</a:t>
                      </a:r>
                    </a:p>
                  </a:txBody>
                  <a:tcPr marL="90000" marR="19050" marT="14288" marB="14288" anchor="ctr"/>
                </a:tc>
                <a:tc>
                  <a:txBody>
                    <a:bodyPr/>
                    <a:lstStyle/>
                    <a:p>
                      <a:r>
                        <a:rPr lang="en-GB" sz="1400">
                          <a:effectLst/>
                        </a:rPr>
                        <a:t>Completed</a:t>
                      </a:r>
                    </a:p>
                  </a:txBody>
                  <a:tcPr marL="90000" marR="19050" marT="14288" marB="14288" anchor="ctr"/>
                </a:tc>
                <a:tc>
                  <a:txBody>
                    <a:bodyPr/>
                    <a:lstStyle/>
                    <a:p>
                      <a:r>
                        <a:rPr lang="en-GB" sz="1400" b="0" i="0" kern="1200" dirty="0">
                          <a:solidFill>
                            <a:schemeClr val="dk1"/>
                          </a:solidFill>
                          <a:effectLst/>
                          <a:latin typeface="+mn-lt"/>
                          <a:ea typeface="+mn-ea"/>
                          <a:cs typeface="+mn-cs"/>
                        </a:rPr>
                        <a:t>9WKS (minimum) and Any non specific valuation document as mandated by measure</a:t>
                      </a:r>
                      <a:endParaRPr lang="en-GB" sz="1400" dirty="0">
                        <a:effectLst/>
                      </a:endParaRPr>
                    </a:p>
                  </a:txBody>
                  <a:tcPr marL="90000" marR="19050" marT="14288" marB="14288" anchor="ctr"/>
                </a:tc>
                <a:extLst>
                  <a:ext uri="{0D108BD9-81ED-4DB2-BD59-A6C34878D82A}">
                    <a16:rowId xmlns:a16="http://schemas.microsoft.com/office/drawing/2014/main" val="2647355925"/>
                  </a:ext>
                </a:extLst>
              </a:tr>
            </a:tbl>
          </a:graphicData>
        </a:graphic>
      </p:graphicFrame>
      <p:sp>
        <p:nvSpPr>
          <p:cNvPr id="16" name="TextBox 15">
            <a:extLst>
              <a:ext uri="{FF2B5EF4-FFF2-40B4-BE49-F238E27FC236}">
                <a16:creationId xmlns:a16="http://schemas.microsoft.com/office/drawing/2014/main" id="{E78B8B84-2620-4641-87B0-7FACB0925AC7}"/>
              </a:ext>
            </a:extLst>
          </p:cNvPr>
          <p:cNvSpPr txBox="1"/>
          <p:nvPr/>
        </p:nvSpPr>
        <p:spPr>
          <a:xfrm>
            <a:off x="93828" y="4274969"/>
            <a:ext cx="11499935" cy="954107"/>
          </a:xfrm>
          <a:prstGeom prst="rect">
            <a:avLst/>
          </a:prstGeom>
          <a:noFill/>
        </p:spPr>
        <p:txBody>
          <a:bodyPr wrap="square">
            <a:spAutoFit/>
          </a:bodyPr>
          <a:lstStyle/>
          <a:p>
            <a:pPr lvl="1"/>
            <a:r>
              <a:rPr lang="en-GB" sz="1400" b="0" i="0">
                <a:solidFill>
                  <a:srgbClr val="333333"/>
                </a:solidFill>
                <a:effectLst/>
                <a:latin typeface="Calibri  "/>
              </a:rPr>
              <a:t>CDS will proceed to validate the declaration</a:t>
            </a:r>
            <a:r>
              <a:rPr lang="en-GB" sz="1400" b="0" i="0">
                <a:effectLst/>
                <a:latin typeface="Calibri  "/>
              </a:rPr>
              <a:t>, using the UK Tariff. Where </a:t>
            </a:r>
            <a:r>
              <a:rPr lang="en-GB" sz="1400" b="0" i="0">
                <a:solidFill>
                  <a:srgbClr val="333333"/>
                </a:solidFill>
                <a:effectLst/>
                <a:latin typeface="Calibri  "/>
              </a:rPr>
              <a:t>any duties or taxes are payable, and where an amount has been taken as a security on deposit, CDS will send a </a:t>
            </a:r>
            <a:r>
              <a:rPr lang="en-GB" sz="1400" b="1" i="0">
                <a:solidFill>
                  <a:srgbClr val="333333"/>
                </a:solidFill>
                <a:effectLst/>
                <a:latin typeface="Calibri  "/>
              </a:rPr>
              <a:t>DMSTAX</a:t>
            </a:r>
            <a:r>
              <a:rPr lang="en-GB" sz="1400" b="0" i="0">
                <a:solidFill>
                  <a:srgbClr val="333333"/>
                </a:solidFill>
                <a:effectLst/>
                <a:latin typeface="Calibri  "/>
              </a:rPr>
              <a:t> notification to the trader.</a:t>
            </a:r>
          </a:p>
          <a:p>
            <a:pPr lvl="1"/>
            <a:endParaRPr lang="en-GB" sz="1400">
              <a:solidFill>
                <a:srgbClr val="333333"/>
              </a:solidFill>
              <a:latin typeface="Calibri  "/>
            </a:endParaRPr>
          </a:p>
          <a:p>
            <a:pPr lvl="1"/>
            <a:endParaRPr lang="en-GB" sz="1400" b="0" i="0">
              <a:solidFill>
                <a:srgbClr val="333333"/>
              </a:solidFill>
              <a:effectLst/>
              <a:latin typeface="Calibri  "/>
            </a:endParaRPr>
          </a:p>
        </p:txBody>
      </p:sp>
    </p:spTree>
    <p:extLst>
      <p:ext uri="{BB962C8B-B14F-4D97-AF65-F5344CB8AC3E}">
        <p14:creationId xmlns:p14="http://schemas.microsoft.com/office/powerpoint/2010/main" val="163966106"/>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0BC784A9-9201-4F3E-BE97-6490FAA7E8BD}"/>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088903D6-C05B-4410-B6CD-4649B65A9E13}"/>
              </a:ext>
            </a:extLst>
          </p:cNvPr>
          <p:cNvSpPr txBox="1"/>
          <p:nvPr/>
        </p:nvSpPr>
        <p:spPr>
          <a:xfrm>
            <a:off x="1168572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324</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09414" y="6526907"/>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91" y="1199866"/>
            <a:ext cx="11282159" cy="48013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u="sng">
                <a:solidFill>
                  <a:srgbClr val="0B0C0C"/>
                </a:solidFill>
                <a:latin typeface="Calibri  "/>
              </a:rPr>
              <a:t>Valuation Method 4 : Northern Ireland : </a:t>
            </a:r>
            <a:r>
              <a:rPr lang="en-GB" sz="1400" b="1" u="sng" err="1">
                <a:solidFill>
                  <a:srgbClr val="0B0C0C"/>
                </a:solidFill>
                <a:latin typeface="Calibri  "/>
              </a:rPr>
              <a:t>RoW</a:t>
            </a:r>
            <a:r>
              <a:rPr lang="en-GB" sz="1400" b="1" u="sng">
                <a:solidFill>
                  <a:srgbClr val="0B0C0C"/>
                </a:solidFill>
                <a:latin typeface="Calibri  "/>
              </a:rPr>
              <a:t>-NI or GB-NI (Goods at Risk)</a:t>
            </a:r>
          </a:p>
          <a:p>
            <a:pPr lvl="1"/>
            <a:endParaRPr lang="en-GB" sz="1400" b="1">
              <a:solidFill>
                <a:srgbClr val="333333"/>
              </a:solidFill>
              <a:latin typeface="Calibri  "/>
              <a:ea typeface="Times New Roman" pitchFamily="18"/>
              <a:cs typeface="Times New Roman" pitchFamily="18"/>
            </a:endParaRPr>
          </a:p>
          <a:p>
            <a:pPr lvl="1"/>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lvl="1"/>
            <a:endParaRPr lang="en-GB">
              <a:solidFill>
                <a:srgbClr val="333333"/>
              </a:solidFill>
              <a:latin typeface="Arial" panose="020B0604020202020204" pitchFamily="34" charset="0"/>
            </a:endParaRPr>
          </a:p>
          <a:p>
            <a:pPr lvl="1"/>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lvl="1"/>
            <a:endParaRPr lang="en-GB" b="0" i="0">
              <a:solidFill>
                <a:srgbClr val="333333"/>
              </a:solidFill>
              <a:effectLst/>
              <a:latin typeface="Arial" panose="020B0604020202020204" pitchFamily="34" charset="0"/>
            </a:endParaRPr>
          </a:p>
          <a:p>
            <a:pPr marL="742950" lvl="1" indent="-285750">
              <a:buFont typeface="Arial" panose="020B0604020202020204" pitchFamily="34" charset="0"/>
              <a:buChar char="•"/>
            </a:pPr>
            <a:endParaRPr lang="en-GB">
              <a:solidFill>
                <a:srgbClr val="333333"/>
              </a:solidFill>
              <a:latin typeface="Arial" panose="020B0604020202020204" pitchFamily="34" charset="0"/>
            </a:endParaRPr>
          </a:p>
          <a:p>
            <a:pPr marL="742950" lvl="1" indent="-285750">
              <a:buFont typeface="Arial" panose="020B0604020202020204" pitchFamily="34" charset="0"/>
              <a:buChar char="•"/>
            </a:pPr>
            <a:endParaRPr lang="en-GB" b="0" i="0">
              <a:solidFill>
                <a:srgbClr val="333333"/>
              </a:solidFill>
              <a:effectLst/>
              <a:latin typeface="Arial" panose="020B0604020202020204" pitchFamily="34" charset="0"/>
            </a:endParaRPr>
          </a:p>
          <a:p>
            <a:pPr lvl="1"/>
            <a:endParaRPr lang="en-GB" b="0" i="0">
              <a:solidFill>
                <a:srgbClr val="333333"/>
              </a:solidFill>
              <a:effectLst/>
              <a:latin typeface="Arial" panose="020B0604020202020204" pitchFamily="34" charset="0"/>
            </a:endParaRPr>
          </a:p>
          <a:p>
            <a:pPr marL="285750" indent="-285750">
              <a:buFont typeface="Arial" panose="020B0604020202020204" pitchFamily="34" charset="0"/>
              <a:buChar char="•"/>
            </a:pPr>
            <a:r>
              <a:rPr lang="en-GB" sz="1400" b="0" i="0">
                <a:solidFill>
                  <a:srgbClr val="333333"/>
                </a:solidFill>
                <a:effectLst/>
                <a:latin typeface="Calibri  "/>
              </a:rPr>
              <a:t>If DE 1/11 contains </a:t>
            </a:r>
            <a:r>
              <a:rPr lang="en-GB" sz="1400" b="1" i="0">
                <a:solidFill>
                  <a:srgbClr val="333333"/>
                </a:solidFill>
                <a:effectLst/>
                <a:latin typeface="Calibri  "/>
              </a:rPr>
              <a:t>E01</a:t>
            </a:r>
            <a:r>
              <a:rPr lang="en-GB" sz="1400" b="0" i="0">
                <a:solidFill>
                  <a:srgbClr val="333333"/>
                </a:solidFill>
                <a:effectLst/>
                <a:latin typeface="Calibri  "/>
              </a:rPr>
              <a:t> or </a:t>
            </a:r>
            <a:r>
              <a:rPr lang="en-GB" sz="1400" b="1" i="0">
                <a:solidFill>
                  <a:srgbClr val="333333"/>
                </a:solidFill>
                <a:effectLst/>
                <a:latin typeface="Calibri  "/>
              </a:rPr>
              <a:t>E02 :</a:t>
            </a:r>
            <a:endParaRPr lang="en-GB" sz="1400" b="0" i="0">
              <a:solidFill>
                <a:srgbClr val="333333"/>
              </a:solidFill>
              <a:effectLst/>
              <a:latin typeface="Calibri  "/>
            </a:endParaRPr>
          </a:p>
          <a:p>
            <a:pPr marL="1200150" lvl="2" indent="-285750">
              <a:buFont typeface="Courier New" panose="02070309020205020404" pitchFamily="49" charset="0"/>
              <a:buChar char="o"/>
            </a:pPr>
            <a:r>
              <a:rPr lang="en-GB" sz="1400" b="0" i="0">
                <a:solidFill>
                  <a:srgbClr val="333333"/>
                </a:solidFill>
                <a:effectLst/>
                <a:latin typeface="Calibri  "/>
              </a:rPr>
              <a:t>Valuation Method = 4 must be declared in DE 4/16</a:t>
            </a:r>
          </a:p>
          <a:p>
            <a:pPr marL="1200150" lvl="2" indent="-285750">
              <a:buFont typeface="Courier New" panose="02070309020205020404" pitchFamily="49" charset="0"/>
              <a:buChar char="o"/>
            </a:pPr>
            <a:r>
              <a:rPr lang="en-GB" sz="1400" b="0" i="0">
                <a:solidFill>
                  <a:srgbClr val="333333"/>
                </a:solidFill>
                <a:effectLst/>
                <a:latin typeface="Calibri  "/>
              </a:rPr>
              <a:t>Document Code in DE 2/3 :  Only non-valuation-specific document codes are allowed </a:t>
            </a:r>
          </a:p>
          <a:p>
            <a:pPr lvl="1" algn="l"/>
            <a:endParaRPr lang="en-GB" sz="1400">
              <a:solidFill>
                <a:srgbClr val="333333"/>
              </a:solidFill>
              <a:latin typeface="Calibri  "/>
            </a:endParaRPr>
          </a:p>
          <a:p>
            <a:pPr lvl="1"/>
            <a:r>
              <a:rPr lang="en-GB" sz="1400" b="0" i="0">
                <a:solidFill>
                  <a:srgbClr val="333333"/>
                </a:solidFill>
                <a:effectLst/>
                <a:latin typeface="Calibri  "/>
              </a:rPr>
              <a:t>If the above conditions are </a:t>
            </a:r>
            <a:r>
              <a:rPr lang="en-GB" sz="1400" i="0">
                <a:solidFill>
                  <a:srgbClr val="333333"/>
                </a:solidFill>
                <a:effectLst/>
                <a:latin typeface="Calibri  "/>
              </a:rPr>
              <a:t>not met</a:t>
            </a:r>
            <a:r>
              <a:rPr lang="en-GB" sz="1400">
                <a:solidFill>
                  <a:srgbClr val="333333"/>
                </a:solidFill>
                <a:latin typeface="Calibri  "/>
              </a:rPr>
              <a:t>, </a:t>
            </a:r>
            <a:r>
              <a:rPr lang="en-GB" sz="1400" b="0" i="0">
                <a:solidFill>
                  <a:srgbClr val="333333"/>
                </a:solidFill>
                <a:effectLst/>
                <a:latin typeface="Calibri  "/>
              </a:rPr>
              <a:t>CDS will </a:t>
            </a:r>
            <a:r>
              <a:rPr lang="en-GB" sz="1400" b="1" i="0">
                <a:solidFill>
                  <a:srgbClr val="333333"/>
                </a:solidFill>
                <a:effectLst/>
                <a:latin typeface="Calibri  "/>
              </a:rPr>
              <a:t>reject</a:t>
            </a:r>
            <a:r>
              <a:rPr lang="en-GB" sz="1400" b="0" i="0">
                <a:solidFill>
                  <a:srgbClr val="333333"/>
                </a:solidFill>
                <a:effectLst/>
                <a:latin typeface="Calibri  "/>
              </a:rPr>
              <a:t> the declaration and a DMSREJ notification to the trader.</a:t>
            </a:r>
          </a:p>
          <a:p>
            <a:pPr lvl="1"/>
            <a:endParaRPr lang="en-GB" sz="1400" b="0" i="0">
              <a:solidFill>
                <a:srgbClr val="333333"/>
              </a:solidFill>
              <a:effectLst/>
              <a:latin typeface="Calibri  "/>
            </a:endParaRPr>
          </a:p>
          <a:p>
            <a:pPr lvl="1"/>
            <a:r>
              <a:rPr lang="en-GB" sz="1400" b="1">
                <a:solidFill>
                  <a:srgbClr val="333333"/>
                </a:solidFill>
                <a:latin typeface="Calibri  "/>
                <a:ea typeface="Times New Roman" pitchFamily="18"/>
                <a:cs typeface="Times New Roman" pitchFamily="18"/>
              </a:rPr>
              <a:t>Please note that E01, E02 and 1SV are not permitted to be used with EIDR</a:t>
            </a:r>
            <a:r>
              <a:rPr lang="en-GB" sz="1400">
                <a:solidFill>
                  <a:srgbClr val="333333"/>
                </a:solidFill>
                <a:latin typeface="Calibri  "/>
                <a:ea typeface="Times New Roman" pitchFamily="18"/>
                <a:cs typeface="Times New Roman" pitchFamily="18"/>
              </a:rPr>
              <a:t>.</a:t>
            </a:r>
          </a:p>
          <a:p>
            <a:pPr lvl="1"/>
            <a:endParaRPr lang="en-GB" b="0" i="0">
              <a:solidFill>
                <a:srgbClr val="333333"/>
              </a:solidFill>
              <a:effectLst/>
              <a:latin typeface="Arial" panose="020B0604020202020204" pitchFamily="34" charset="0"/>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3" name="Table 12">
            <a:extLst>
              <a:ext uri="{FF2B5EF4-FFF2-40B4-BE49-F238E27FC236}">
                <a16:creationId xmlns:a16="http://schemas.microsoft.com/office/drawing/2014/main" id="{816FD590-303E-4F19-B882-FEFAAE6F23D5}"/>
              </a:ext>
            </a:extLst>
          </p:cNvPr>
          <p:cNvGraphicFramePr>
            <a:graphicFrameLocks noGrp="1"/>
          </p:cNvGraphicFramePr>
          <p:nvPr/>
        </p:nvGraphicFramePr>
        <p:xfrm>
          <a:off x="2943801" y="1599980"/>
          <a:ext cx="6277260" cy="2344491"/>
        </p:xfrm>
        <a:graphic>
          <a:graphicData uri="http://schemas.openxmlformats.org/drawingml/2006/table">
            <a:tbl>
              <a:tblPr firstRow="1" bandRow="1">
                <a:effectLst/>
                <a:tableStyleId>{5C22544A-7EE6-4342-B048-85BDC9FD1C3A}</a:tableStyleId>
              </a:tblPr>
              <a:tblGrid>
                <a:gridCol w="1642157">
                  <a:extLst>
                    <a:ext uri="{9D8B030D-6E8A-4147-A177-3AD203B41FA5}">
                      <a16:colId xmlns:a16="http://schemas.microsoft.com/office/drawing/2014/main" val="3915946671"/>
                    </a:ext>
                  </a:extLst>
                </a:gridCol>
                <a:gridCol w="2316866">
                  <a:extLst>
                    <a:ext uri="{9D8B030D-6E8A-4147-A177-3AD203B41FA5}">
                      <a16:colId xmlns:a16="http://schemas.microsoft.com/office/drawing/2014/main" val="2247490691"/>
                    </a:ext>
                  </a:extLst>
                </a:gridCol>
                <a:gridCol w="2318237">
                  <a:extLst>
                    <a:ext uri="{9D8B030D-6E8A-4147-A177-3AD203B41FA5}">
                      <a16:colId xmlns:a16="http://schemas.microsoft.com/office/drawing/2014/main" val="641578491"/>
                    </a:ext>
                  </a:extLst>
                </a:gridCol>
              </a:tblGrid>
              <a:tr h="378862">
                <a:tc>
                  <a:txBody>
                    <a:bodyPr/>
                    <a:lstStyle/>
                    <a:p>
                      <a:pPr algn="l"/>
                      <a:r>
                        <a:rPr lang="en-GB" sz="1400">
                          <a:effectLst/>
                        </a:rPr>
                        <a:t>Data Element 1/11</a:t>
                      </a:r>
                    </a:p>
                  </a:txBody>
                  <a:tcPr marL="90000" marR="19050" marT="14288" marB="14288" anchor="ctr">
                    <a:solidFill>
                      <a:srgbClr val="009999"/>
                    </a:solidFill>
                  </a:tcPr>
                </a:tc>
                <a:tc>
                  <a:txBody>
                    <a:bodyPr/>
                    <a:lstStyle/>
                    <a:p>
                      <a:pPr algn="l"/>
                      <a:r>
                        <a:rPr lang="en-GB" sz="1400">
                          <a:effectLst/>
                        </a:rPr>
                        <a:t>Description</a:t>
                      </a:r>
                    </a:p>
                  </a:txBody>
                  <a:tcPr marL="90000" marR="19050" marT="14288" marB="14288" anchor="ctr">
                    <a:solidFill>
                      <a:srgbClr val="009999"/>
                    </a:solidFill>
                  </a:tcPr>
                </a:tc>
                <a:tc>
                  <a:txBody>
                    <a:bodyPr/>
                    <a:lstStyle/>
                    <a:p>
                      <a:pPr algn="l"/>
                      <a:r>
                        <a:rPr lang="en-GB" sz="1400">
                          <a:effectLst/>
                        </a:rPr>
                        <a:t>Data Element 4/14</a:t>
                      </a:r>
                    </a:p>
                  </a:txBody>
                  <a:tcPr marL="90000" marR="19050" marT="14288" marB="14288" anchor="ctr">
                    <a:solidFill>
                      <a:srgbClr val="009999"/>
                    </a:solidFill>
                  </a:tcPr>
                </a:tc>
                <a:extLst>
                  <a:ext uri="{0D108BD9-81ED-4DB2-BD59-A6C34878D82A}">
                    <a16:rowId xmlns:a16="http://schemas.microsoft.com/office/drawing/2014/main" val="3384468624"/>
                  </a:ext>
                </a:extLst>
              </a:tr>
              <a:tr h="351679">
                <a:tc>
                  <a:txBody>
                    <a:bodyPr/>
                    <a:lstStyle/>
                    <a:p>
                      <a:pPr algn="l"/>
                      <a:r>
                        <a:rPr lang="en-GB" sz="1400" b="0">
                          <a:effectLst/>
                        </a:rPr>
                        <a:t>E01</a:t>
                      </a:r>
                    </a:p>
                  </a:txBody>
                  <a:tcPr marL="90000" marR="19050" marT="14288" marB="14288" anchor="ctr"/>
                </a:tc>
                <a:tc>
                  <a:txBody>
                    <a:bodyPr/>
                    <a:lstStyle/>
                    <a:p>
                      <a:pPr algn="l"/>
                      <a:r>
                        <a:rPr lang="en-GB" sz="1400">
                          <a:effectLst/>
                        </a:rPr>
                        <a:t>EU SPV</a:t>
                      </a:r>
                    </a:p>
                  </a:txBody>
                  <a:tcPr marL="90000" marR="19050" marT="14288" marB="14288" anchor="ctr"/>
                </a:tc>
                <a:tc>
                  <a:txBody>
                    <a:bodyPr/>
                    <a:lstStyle/>
                    <a:p>
                      <a:pPr algn="l"/>
                      <a:r>
                        <a:rPr lang="en-GB" sz="1400">
                          <a:effectLst/>
                        </a:rPr>
                        <a:t>Blank</a:t>
                      </a:r>
                    </a:p>
                  </a:txBody>
                  <a:tcPr marL="90000" marR="19050" marT="14288" marB="14288" anchor="ctr"/>
                </a:tc>
                <a:extLst>
                  <a:ext uri="{0D108BD9-81ED-4DB2-BD59-A6C34878D82A}">
                    <a16:rowId xmlns:a16="http://schemas.microsoft.com/office/drawing/2014/main" val="2674908348"/>
                  </a:ext>
                </a:extLst>
              </a:tr>
              <a:tr h="351679">
                <a:tc>
                  <a:txBody>
                    <a:bodyPr/>
                    <a:lstStyle/>
                    <a:p>
                      <a:pPr algn="l"/>
                      <a:r>
                        <a:rPr lang="en-GB" sz="1400" b="0">
                          <a:effectLst/>
                        </a:rPr>
                        <a:t>E02</a:t>
                      </a:r>
                    </a:p>
                  </a:txBody>
                  <a:tcPr marL="90000" marR="19050" marT="14288" marB="14288" anchor="ctr"/>
                </a:tc>
                <a:tc>
                  <a:txBody>
                    <a:bodyPr/>
                    <a:lstStyle/>
                    <a:p>
                      <a:pPr algn="l"/>
                      <a:r>
                        <a:rPr lang="en-GB" sz="1400">
                          <a:effectLst/>
                        </a:rPr>
                        <a:t>EU SIV</a:t>
                      </a:r>
                    </a:p>
                  </a:txBody>
                  <a:tcPr marL="90000" marR="19050" marT="14288" marB="14288" anchor="ctr"/>
                </a:tc>
                <a:tc>
                  <a:txBody>
                    <a:bodyPr/>
                    <a:lstStyle/>
                    <a:p>
                      <a:pPr algn="l"/>
                      <a:r>
                        <a:rPr lang="en-GB" sz="1400">
                          <a:effectLst/>
                        </a:rPr>
                        <a:t>Blank</a:t>
                      </a:r>
                    </a:p>
                  </a:txBody>
                  <a:tcPr marL="90000" marR="19050" marT="14288" marB="14288" anchor="ctr"/>
                </a:tc>
                <a:extLst>
                  <a:ext uri="{0D108BD9-81ED-4DB2-BD59-A6C34878D82A}">
                    <a16:rowId xmlns:a16="http://schemas.microsoft.com/office/drawing/2014/main" val="2060544414"/>
                  </a:ext>
                </a:extLst>
              </a:tr>
              <a:tr h="188582">
                <a:tc>
                  <a:txBody>
                    <a:bodyPr/>
                    <a:lstStyle/>
                    <a:p>
                      <a:pPr algn="l"/>
                      <a:r>
                        <a:rPr lang="en-GB" sz="1400" b="0">
                          <a:effectLst/>
                        </a:rPr>
                        <a:t>1SV</a:t>
                      </a:r>
                    </a:p>
                  </a:txBody>
                  <a:tcPr marL="90000" marR="19050" marT="14288" marB="14288" anchor="ctr"/>
                </a:tc>
                <a:tc>
                  <a:txBody>
                    <a:bodyPr/>
                    <a:lstStyle/>
                    <a:p>
                      <a:pPr algn="l"/>
                      <a:r>
                        <a:rPr lang="en-GB" sz="1400">
                          <a:effectLst/>
                        </a:rPr>
                        <a:t>UK SPV</a:t>
                      </a:r>
                    </a:p>
                  </a:txBody>
                  <a:tcPr marL="90000" marR="19050" marT="14288" marB="14288" anchor="ctr"/>
                </a:tc>
                <a:tc>
                  <a:txBody>
                    <a:bodyPr/>
                    <a:lstStyle/>
                    <a:p>
                      <a:pPr algn="l"/>
                      <a:r>
                        <a:rPr lang="en-GB" sz="1400">
                          <a:effectLst/>
                        </a:rPr>
                        <a:t>Blank</a:t>
                      </a:r>
                    </a:p>
                  </a:txBody>
                  <a:tcPr marL="90000" marR="19050" marT="14288" marB="14288" anchor="ctr"/>
                </a:tc>
                <a:extLst>
                  <a:ext uri="{0D108BD9-81ED-4DB2-BD59-A6C34878D82A}">
                    <a16:rowId xmlns:a16="http://schemas.microsoft.com/office/drawing/2014/main" val="2647355925"/>
                  </a:ext>
                </a:extLst>
              </a:tr>
              <a:tr h="351679">
                <a:tc>
                  <a:txBody>
                    <a:bodyPr/>
                    <a:lstStyle/>
                    <a:p>
                      <a:pPr algn="l"/>
                      <a:r>
                        <a:rPr lang="en-GB" sz="1400" b="0">
                          <a:effectLst/>
                        </a:rPr>
                        <a:t>1FV</a:t>
                      </a:r>
                    </a:p>
                  </a:txBody>
                  <a:tcPr marL="90000" marR="19050" marT="14288" marB="14288" anchor="ctr"/>
                </a:tc>
                <a:tc>
                  <a:txBody>
                    <a:bodyPr/>
                    <a:lstStyle/>
                    <a:p>
                      <a:pPr algn="l"/>
                      <a:r>
                        <a:rPr lang="en-GB" sz="1400">
                          <a:effectLst/>
                        </a:rPr>
                        <a:t>Item Price + Duty Application</a:t>
                      </a:r>
                    </a:p>
                  </a:txBody>
                  <a:tcPr marL="90000" marR="19050" marT="14288" marB="14288" anchor="ctr"/>
                </a:tc>
                <a:tc>
                  <a:txBody>
                    <a:bodyPr/>
                    <a:lstStyle/>
                    <a:p>
                      <a:pPr algn="l"/>
                      <a:r>
                        <a:rPr lang="en-GB" sz="1400">
                          <a:effectLst/>
                        </a:rPr>
                        <a:t>Completed</a:t>
                      </a:r>
                    </a:p>
                  </a:txBody>
                  <a:tcPr marL="90000" marR="19050" marT="14288" marB="14288" anchor="ctr"/>
                </a:tc>
                <a:extLst>
                  <a:ext uri="{0D108BD9-81ED-4DB2-BD59-A6C34878D82A}">
                    <a16:rowId xmlns:a16="http://schemas.microsoft.com/office/drawing/2014/main" val="1005563309"/>
                  </a:ext>
                </a:extLst>
              </a:tr>
              <a:tr h="514776">
                <a:tc>
                  <a:txBody>
                    <a:bodyPr/>
                    <a:lstStyle/>
                    <a:p>
                      <a:pPr algn="l"/>
                      <a:r>
                        <a:rPr lang="en-GB" sz="1400" b="0">
                          <a:effectLst/>
                        </a:rPr>
                        <a:t>Blank (</a:t>
                      </a:r>
                      <a:r>
                        <a:rPr lang="en-GB" sz="1400" b="0" err="1">
                          <a:effectLst/>
                        </a:rPr>
                        <a:t>ie</a:t>
                      </a:r>
                      <a:r>
                        <a:rPr lang="en-GB" sz="1400" b="0">
                          <a:effectLst/>
                        </a:rPr>
                        <a:t> Non Valuation Specific or 000)</a:t>
                      </a:r>
                    </a:p>
                  </a:txBody>
                  <a:tcPr marL="90000" marR="19050" marT="14288" marB="14288" anchor="ctr"/>
                </a:tc>
                <a:tc>
                  <a:txBody>
                    <a:bodyPr/>
                    <a:lstStyle/>
                    <a:p>
                      <a:pPr algn="l"/>
                      <a:r>
                        <a:rPr lang="en-GB" sz="1400">
                          <a:effectLst/>
                        </a:rPr>
                        <a:t>Item Price + Duty Application</a:t>
                      </a:r>
                    </a:p>
                  </a:txBody>
                  <a:tcPr marL="90000" marR="19050" marT="14288" marB="14288" anchor="ctr"/>
                </a:tc>
                <a:tc>
                  <a:txBody>
                    <a:bodyPr/>
                    <a:lstStyle/>
                    <a:p>
                      <a:pPr algn="l"/>
                      <a:r>
                        <a:rPr lang="en-GB" sz="1400" dirty="0">
                          <a:effectLst/>
                        </a:rPr>
                        <a:t>Completed</a:t>
                      </a:r>
                    </a:p>
                  </a:txBody>
                  <a:tcPr marL="90000" marR="19050" marT="14288" marB="14288" anchor="ctr"/>
                </a:tc>
                <a:extLst>
                  <a:ext uri="{0D108BD9-81ED-4DB2-BD59-A6C34878D82A}">
                    <a16:rowId xmlns:a16="http://schemas.microsoft.com/office/drawing/2014/main" val="1973793263"/>
                  </a:ext>
                </a:extLst>
              </a:tr>
            </a:tbl>
          </a:graphicData>
        </a:graphic>
      </p:graphicFrame>
      <p:sp>
        <p:nvSpPr>
          <p:cNvPr id="11" name="Rectangle 10">
            <a:extLst>
              <a:ext uri="{FF2B5EF4-FFF2-40B4-BE49-F238E27FC236}">
                <a16:creationId xmlns:a16="http://schemas.microsoft.com/office/drawing/2014/main" id="{2A350656-A037-4003-855F-BF6647C5AB2C}"/>
              </a:ext>
            </a:extLst>
          </p:cNvPr>
          <p:cNvSpPr/>
          <p:nvPr/>
        </p:nvSpPr>
        <p:spPr>
          <a:xfrm>
            <a:off x="1055112" y="5765131"/>
            <a:ext cx="10591906" cy="901789"/>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TT_IM102a - </a:t>
            </a:r>
            <a:r>
              <a:rPr lang="en-GB" sz="1100" b="0" i="0" u="none" strike="noStrike">
                <a:solidFill>
                  <a:srgbClr val="000000"/>
                </a:solidFill>
                <a:effectLst/>
                <a:latin typeface="Calibri" panose="020F0502020204030204" pitchFamily="34" charset="0"/>
              </a:rPr>
              <a:t>IM102a </a:t>
            </a:r>
            <a:r>
              <a:rPr lang="en-GB" sz="1100"/>
              <a:t> </a:t>
            </a:r>
            <a:r>
              <a:rPr lang="en-GB" sz="1100" b="0" i="0" u="none" strike="noStrike">
                <a:solidFill>
                  <a:srgbClr val="000000"/>
                </a:solidFill>
                <a:effectLst/>
                <a:latin typeface="Calibri" panose="020F0502020204030204" pitchFamily="34" charset="0"/>
              </a:rPr>
              <a:t>Import frontier declaration, for goods moving from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to GB, where Valuation Method '4' and APC '1FV' are entered to calculate Duties using Item Price</a:t>
            </a:r>
          </a:p>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a:t>
            </a:r>
            <a:r>
              <a:rPr lang="en-GB" sz="1100" b="1" i="0" u="none" strike="noStrike">
                <a:solidFill>
                  <a:srgbClr val="000000"/>
                </a:solidFill>
                <a:effectLst/>
                <a:latin typeface="Calibri" panose="020F0502020204030204" pitchFamily="34" charset="0"/>
              </a:rPr>
              <a:t>IM103a- </a:t>
            </a:r>
            <a:r>
              <a:rPr lang="en-GB" sz="1100" b="1"/>
              <a:t> </a:t>
            </a:r>
            <a:r>
              <a:rPr lang="en-GB" sz="1100" b="0" i="0" u="none" strike="noStrike">
                <a:solidFill>
                  <a:srgbClr val="000000"/>
                </a:solidFill>
                <a:effectLst/>
                <a:latin typeface="Calibri" panose="020F0502020204030204" pitchFamily="34" charset="0"/>
              </a:rPr>
              <a:t>Import frontier declaration, for goods moving from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to NI, where  Valuation Method '4' and APC 'E01' are entered to calculate Duties using SPV (with no Item Price)</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TT_IM104a- </a:t>
            </a:r>
            <a:r>
              <a:rPr lang="en-GB" sz="1100" b="0" i="0" u="none" strike="noStrike">
                <a:solidFill>
                  <a:srgbClr val="000000"/>
                </a:solidFill>
                <a:effectLst/>
                <a:latin typeface="Calibri" panose="020F0502020204030204" pitchFamily="34" charset="0"/>
              </a:rPr>
              <a:t>Import frontier declaration, for goods moving from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to NI, where Valuation Method '4' and APC 'E02' are entered to calculate Duties using SIV (with no Item Price).</a:t>
            </a:r>
            <a:endParaRPr lang="en-GB" sz="11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TT_IM105a </a:t>
            </a:r>
            <a:r>
              <a:rPr lang="en-GB" sz="1100" b="0" i="0" u="none" strike="noStrike" kern="1200" cap="none" spc="0" baseline="0">
                <a:solidFill>
                  <a:srgbClr val="000000"/>
                </a:solidFill>
                <a:uFillTx/>
                <a:latin typeface="Calibri"/>
              </a:rPr>
              <a:t>-</a:t>
            </a:r>
            <a:r>
              <a:rPr lang="en-GB" sz="1100" b="0" i="0" u="none" strike="noStrike">
                <a:solidFill>
                  <a:srgbClr val="000000"/>
                </a:solidFill>
                <a:effectLst/>
                <a:latin typeface="Calibri" panose="020F0502020204030204" pitchFamily="34" charset="0"/>
              </a:rPr>
              <a:t>Import frontier declaration, for goods moving from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to NI, where Valuation Method '4' and APC '1FV' are entered to calculate Duties using Item Price.</a:t>
            </a:r>
            <a:endParaRPr lang="en-GB" sz="1100" b="0" i="0" u="none" strike="noStrike" kern="1200" cap="none" spc="0" baseline="0">
              <a:solidFill>
                <a:srgbClr val="000000"/>
              </a:solidFill>
              <a:uFillTx/>
              <a:latin typeface="Calibri"/>
            </a:endParaRPr>
          </a:p>
        </p:txBody>
      </p:sp>
      <p:sp>
        <p:nvSpPr>
          <p:cNvPr id="12" name="Rectangle 11">
            <a:extLst>
              <a:ext uri="{FF2B5EF4-FFF2-40B4-BE49-F238E27FC236}">
                <a16:creationId xmlns:a16="http://schemas.microsoft.com/office/drawing/2014/main" id="{28AE2F52-FA1B-4B4E-9A14-5E47652790B8}"/>
              </a:ext>
            </a:extLst>
          </p:cNvPr>
          <p:cNvSpPr/>
          <p:nvPr/>
        </p:nvSpPr>
        <p:spPr>
          <a:xfrm>
            <a:off x="221920" y="5765131"/>
            <a:ext cx="833201" cy="901789"/>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extLst>
      <p:ext uri="{BB962C8B-B14F-4D97-AF65-F5344CB8AC3E}">
        <p14:creationId xmlns:p14="http://schemas.microsoft.com/office/powerpoint/2010/main" val="159304760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4447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325</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199875"/>
            <a:ext cx="11282159" cy="553997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dirty="0">
                <a:solidFill>
                  <a:srgbClr val="000000"/>
                </a:solidFill>
                <a:uFillTx/>
                <a:latin typeface="Calibri  "/>
              </a:rPr>
              <a:t>Valuation Methods 5 &amp; 6</a:t>
            </a:r>
            <a:endParaRPr lang="en-GB" sz="1400" b="1" i="0" u="sng" strike="noStrike" kern="1200" cap="none" spc="0" baseline="0" dirty="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dirty="0">
              <a:solidFill>
                <a:srgbClr val="000000"/>
              </a:solidFill>
              <a:uFillTx/>
              <a:latin typeface="Calibri"/>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dirty="0">
                <a:solidFill>
                  <a:srgbClr val="0B0C0C"/>
                </a:solidFill>
                <a:effectLst/>
                <a:latin typeface="GDS Transport"/>
              </a:rPr>
              <a:t>Valuation Method 5 </a:t>
            </a:r>
            <a:r>
              <a:rPr lang="en-GB" sz="1400" b="0" i="0" dirty="0">
                <a:solidFill>
                  <a:srgbClr val="0B0C0C"/>
                </a:solidFill>
                <a:effectLst/>
                <a:latin typeface="GDS Transport"/>
              </a:rPr>
              <a:t>is based on the cost of the production of the goods. Usually it can only be used where the importer and supplier are related.</a:t>
            </a:r>
          </a:p>
          <a:p>
            <a:pPr algn="l"/>
            <a:r>
              <a:rPr lang="en-GB" sz="1400" b="1" dirty="0">
                <a:solidFill>
                  <a:srgbClr val="0B0C0C"/>
                </a:solidFill>
                <a:latin typeface="GDS Transport"/>
              </a:rPr>
              <a:t>Valuation </a:t>
            </a:r>
            <a:r>
              <a:rPr lang="en-GB" sz="1400" b="1" dirty="0">
                <a:solidFill>
                  <a:srgbClr val="0B0C0C"/>
                </a:solidFill>
                <a:latin typeface="Calibri  "/>
              </a:rPr>
              <a:t>Method 6 </a:t>
            </a:r>
            <a:r>
              <a:rPr lang="en-GB" sz="1400" dirty="0">
                <a:solidFill>
                  <a:srgbClr val="0B0C0C"/>
                </a:solidFill>
                <a:latin typeface="Calibri  "/>
              </a:rPr>
              <a:t>is called the ‘fall-back’ method. Traders must arrive at the customs value by using reasonable means that are consistent with the WTO Valuation Principles.</a:t>
            </a:r>
            <a:r>
              <a:rPr lang="en-GB" sz="1400" b="0" i="0" dirty="0">
                <a:solidFill>
                  <a:srgbClr val="0B0C0C"/>
                </a:solidFill>
                <a:effectLst/>
                <a:latin typeface="Calibri  "/>
              </a:rPr>
              <a:t> </a:t>
            </a:r>
            <a:r>
              <a:rPr lang="en-GB" sz="1400" dirty="0">
                <a:solidFill>
                  <a:srgbClr val="333333"/>
                </a:solidFill>
                <a:latin typeface="Calibri  "/>
              </a:rPr>
              <a:t>Traders may do this</a:t>
            </a:r>
            <a:r>
              <a:rPr lang="en-GB" sz="1400" b="0" i="0" dirty="0">
                <a:solidFill>
                  <a:srgbClr val="333333"/>
                </a:solidFill>
                <a:effectLst/>
                <a:latin typeface="Calibri  "/>
              </a:rPr>
              <a:t> by adapting Methods 1 to 5 flexibly to fit unusual circumstances</a:t>
            </a:r>
            <a:r>
              <a:rPr lang="en-GB" sz="1400" b="0" i="0" dirty="0">
                <a:solidFill>
                  <a:srgbClr val="333333"/>
                </a:solidFill>
                <a:effectLst/>
                <a:latin typeface="Arial" panose="020B0604020202020204" pitchFamily="34" charset="0"/>
              </a:rPr>
              <a:t>.</a:t>
            </a:r>
            <a:endParaRPr lang="en-GB" sz="1400" b="0" i="0" dirty="0">
              <a:solidFill>
                <a:srgbClr val="0B0C0C"/>
              </a:solidFill>
              <a:effectLst/>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dirty="0">
              <a:solidFill>
                <a:srgbClr val="0B0C0C"/>
              </a:solidFill>
              <a:latin typeface="GDS Transport"/>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dirty="0">
                <a:solidFill>
                  <a:srgbClr val="0B0C0C"/>
                </a:solidFill>
                <a:effectLst/>
                <a:latin typeface="GDS Transport"/>
              </a:rPr>
              <a:t>For more information regarding Valuation Methods, please visit </a:t>
            </a:r>
            <a:r>
              <a:rPr lang="en-GB" sz="1400" dirty="0">
                <a:hlinkClick r:id="rId3"/>
              </a:rPr>
              <a:t>Valuation of imported goods for customs purposes, VAT and trade statistics - GOV.UK</a:t>
            </a:r>
            <a:endParaRPr lang="en-GB" sz="1400" b="1" i="0" u="sng" strike="noStrike" kern="0" cap="none" spc="0" baseline="0" dirty="0">
              <a:solidFill>
                <a:srgbClr val="333333"/>
              </a:solidFill>
              <a:uFillTx/>
              <a:latin typeface="Calibri" pitchFamily="34"/>
              <a:ea typeface="Times New Roman" pitchFamily="18"/>
              <a:cs typeface="Times New Roman" pitchFamily="18"/>
            </a:endParaRPr>
          </a:p>
          <a:p>
            <a:pPr>
              <a:defRPr sz="1800" b="0" i="0" u="none" strike="noStrike" kern="0" cap="none" spc="0" baseline="0">
                <a:solidFill>
                  <a:srgbClr val="000000"/>
                </a:solidFill>
                <a:uFillTx/>
              </a:defRPr>
            </a:pPr>
            <a:endParaRPr lang="en-GB" sz="1400" b="1" u="sng" dirty="0">
              <a:solidFill>
                <a:srgbClr val="333333"/>
              </a:solidFill>
              <a:latin typeface="Calibri" pitchFamily="34"/>
              <a:ea typeface="Times New Roman" pitchFamily="18"/>
              <a:cs typeface="Times New Roman" pitchFamily="18"/>
            </a:endParaRPr>
          </a:p>
          <a:p>
            <a:pPr>
              <a:defRPr sz="1800" b="0" i="0" u="none" strike="noStrike" kern="0" cap="none" spc="0" baseline="0">
                <a:solidFill>
                  <a:srgbClr val="000000"/>
                </a:solidFill>
                <a:uFillTx/>
              </a:defRPr>
            </a:pPr>
            <a:r>
              <a:rPr lang="en-GB" sz="1400" b="1" u="none" strike="noStrike" kern="1200" cap="none" spc="0" baseline="0" dirty="0">
                <a:solidFill>
                  <a:srgbClr val="333333"/>
                </a:solidFill>
                <a:uFillTx/>
                <a:latin typeface="Calibri" pitchFamily="34"/>
                <a:ea typeface="Times New Roman" pitchFamily="18"/>
                <a:cs typeface="Times New Roman" pitchFamily="18"/>
              </a:rPr>
              <a:t>To </a:t>
            </a:r>
            <a:r>
              <a:rPr lang="en-GB" sz="1400" b="1" u="none" strike="noStrike" kern="1200" cap="none" spc="0" baseline="0" dirty="0">
                <a:solidFill>
                  <a:srgbClr val="0B0C0C"/>
                </a:solidFill>
                <a:uFillTx/>
                <a:latin typeface="Calibri  "/>
                <a:ea typeface="Times New Roman" pitchFamily="18"/>
                <a:cs typeface="Times New Roman" pitchFamily="18"/>
              </a:rPr>
              <a:t>calculate</a:t>
            </a:r>
            <a:r>
              <a:rPr lang="en-GB" sz="1400" b="1" dirty="0">
                <a:solidFill>
                  <a:srgbClr val="0B0C0C"/>
                </a:solidFill>
                <a:effectLst/>
                <a:latin typeface="Calibri  "/>
              </a:rPr>
              <a:t> Customs Duty and import VAT </a:t>
            </a:r>
            <a:r>
              <a:rPr lang="en-GB" sz="1400" b="1" dirty="0">
                <a:solidFill>
                  <a:srgbClr val="0B0C0C"/>
                </a:solidFill>
                <a:latin typeface="Calibri  "/>
              </a:rPr>
              <a:t>using </a:t>
            </a:r>
            <a:r>
              <a:rPr lang="en-GB" sz="1400" b="1" u="none" strike="noStrike" kern="1200" cap="none" spc="0" baseline="0" dirty="0">
                <a:solidFill>
                  <a:srgbClr val="333333"/>
                </a:solidFill>
                <a:uFillTx/>
                <a:latin typeface="Calibri  "/>
                <a:ea typeface="Times New Roman" pitchFamily="18"/>
                <a:cs typeface="Times New Roman" pitchFamily="18"/>
              </a:rPr>
              <a:t>Valuation Methods 5 or 6,</a:t>
            </a:r>
            <a:endParaRPr lang="en-GB" sz="1400" u="none" strike="noStrike" kern="1200" cap="none" spc="0" baseline="0" dirty="0">
              <a:solidFill>
                <a:srgbClr val="0B0C0C"/>
              </a:solidFill>
              <a:uFillTx/>
              <a:latin typeface="GDS Transport"/>
              <a:ea typeface="Times New Roman" pitchFamily="18"/>
              <a:cs typeface="Times New Roman" pitchFamily="18"/>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0B0C0C"/>
                </a:solidFill>
                <a:effectLst/>
                <a:latin typeface="GDS Transport"/>
                <a:cs typeface="Times New Roman" pitchFamily="18"/>
              </a:rPr>
              <a:t>Traders </a:t>
            </a:r>
            <a:r>
              <a:rPr lang="en-GB" sz="1400" b="0" i="0" dirty="0">
                <a:solidFill>
                  <a:srgbClr val="333333"/>
                </a:solidFill>
                <a:effectLst/>
                <a:latin typeface="Calibri  "/>
              </a:rPr>
              <a:t>must declare ‘Valuation Method = either 5 or 6’ in DE 4/16, in addition to the below </a:t>
            </a:r>
            <a:r>
              <a:rPr lang="en-GB" sz="1400" b="1" i="0" dirty="0">
                <a:solidFill>
                  <a:srgbClr val="333333"/>
                </a:solidFill>
                <a:effectLst/>
                <a:latin typeface="Calibri  "/>
              </a:rPr>
              <a:t>mandatory</a:t>
            </a:r>
            <a:r>
              <a:rPr lang="en-GB" sz="1400" b="0" i="0" dirty="0">
                <a:solidFill>
                  <a:srgbClr val="333333"/>
                </a:solidFill>
                <a:effectLst/>
                <a:latin typeface="Calibri  "/>
              </a:rPr>
              <a:t> requirements:</a:t>
            </a:r>
          </a:p>
          <a:p>
            <a:pPr marL="1714500" lvl="3" indent="-342900">
              <a:buFont typeface="+mj-lt"/>
              <a:buAutoNum type="arabicPeriod"/>
              <a:defRPr sz="1800" b="0" i="0" u="none" strike="noStrike" kern="0" cap="none" spc="0" baseline="0">
                <a:solidFill>
                  <a:srgbClr val="000000"/>
                </a:solidFill>
                <a:uFillTx/>
              </a:defRPr>
            </a:pPr>
            <a:r>
              <a:rPr lang="en-GB" sz="1400" b="0" i="0" dirty="0">
                <a:solidFill>
                  <a:srgbClr val="333333"/>
                </a:solidFill>
                <a:effectLst/>
                <a:latin typeface="Calibri  "/>
              </a:rPr>
              <a:t>Item Price in DE 4/14</a:t>
            </a:r>
          </a:p>
          <a:p>
            <a:pPr marL="1714500" lvl="3" indent="-342900">
              <a:buFont typeface="+mj-lt"/>
              <a:buAutoNum type="arabicPeriod"/>
              <a:defRPr sz="1800" b="0" i="0" u="none" strike="noStrike" kern="0" cap="none" spc="0" baseline="0">
                <a:solidFill>
                  <a:srgbClr val="000000"/>
                </a:solidFill>
                <a:uFillTx/>
              </a:defRPr>
            </a:pPr>
            <a:r>
              <a:rPr lang="en-GB" sz="1400" b="0" i="0" dirty="0">
                <a:solidFill>
                  <a:srgbClr val="333333"/>
                </a:solidFill>
                <a:effectLst/>
                <a:latin typeface="Calibri  "/>
              </a:rPr>
              <a:t>APC = 000 or a Non Valuation Specific APC in DE 1/11 </a:t>
            </a:r>
          </a:p>
          <a:p>
            <a:pPr marL="1714500" lvl="3" indent="-342900">
              <a:buFont typeface="+mj-lt"/>
              <a:buAutoNum type="arabicPeriod"/>
              <a:defRPr sz="1800" b="0" i="0" u="none" strike="noStrike" kern="0" cap="none" spc="0" baseline="0">
                <a:solidFill>
                  <a:srgbClr val="000000"/>
                </a:solidFill>
                <a:uFillTx/>
              </a:defRPr>
            </a:pPr>
            <a:r>
              <a:rPr lang="en-GB" sz="1400" b="0" i="0" dirty="0">
                <a:solidFill>
                  <a:srgbClr val="333333"/>
                </a:solidFill>
                <a:effectLst/>
                <a:latin typeface="Calibri  "/>
              </a:rPr>
              <a:t>Document Code = 9WKS in DE 2/3 - and Document Status = AC in DE 2/3 </a:t>
            </a:r>
          </a:p>
          <a:p>
            <a:pPr lvl="1">
              <a:defRPr sz="1800" b="0" i="0" u="none" strike="noStrike" kern="0" cap="none" spc="0" baseline="0">
                <a:solidFill>
                  <a:srgbClr val="000000"/>
                </a:solidFill>
                <a:uFillTx/>
              </a:defRPr>
            </a:pPr>
            <a:endParaRPr lang="en-GB" sz="1400" dirty="0">
              <a:solidFill>
                <a:srgbClr val="333333"/>
              </a:solidFill>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dirty="0">
                <a:solidFill>
                  <a:srgbClr val="0B0C0C"/>
                </a:solidFill>
                <a:effectLst/>
                <a:latin typeface="GDS Transport"/>
                <a:cs typeface="Times New Roman" pitchFamily="18"/>
              </a:rPr>
              <a:t>Tr</a:t>
            </a:r>
            <a:r>
              <a:rPr lang="en-GB" sz="1400" dirty="0">
                <a:solidFill>
                  <a:srgbClr val="0B0C0C"/>
                </a:solidFill>
                <a:latin typeface="GDS Transport"/>
                <a:cs typeface="Times New Roman" pitchFamily="18"/>
              </a:rPr>
              <a:t>aders must declare the </a:t>
            </a:r>
            <a:r>
              <a:rPr lang="en-GB" sz="1400" i="0" dirty="0">
                <a:solidFill>
                  <a:srgbClr val="333333"/>
                </a:solidFill>
                <a:effectLst/>
                <a:latin typeface="Calibri  "/>
              </a:rPr>
              <a:t>following data elements:</a:t>
            </a:r>
          </a:p>
          <a:p>
            <a:pPr marL="1600200" lvl="3" indent="-228600">
              <a:buFont typeface="+mj-lt"/>
              <a:buAutoNum type="arabicPeriod"/>
            </a:pPr>
            <a:r>
              <a:rPr lang="en-GB" sz="1400" b="0" i="0" dirty="0">
                <a:solidFill>
                  <a:srgbClr val="333333"/>
                </a:solidFill>
                <a:effectLst/>
                <a:latin typeface="Calibri  "/>
              </a:rPr>
              <a:t>Combined Nomenclature in DE 6/14</a:t>
            </a:r>
          </a:p>
          <a:p>
            <a:pPr marL="1600200" lvl="3" indent="-228600">
              <a:buFont typeface="+mj-lt"/>
              <a:buAutoNum type="arabicPeriod"/>
            </a:pPr>
            <a:r>
              <a:rPr lang="en-GB" sz="1400" b="0" i="0" dirty="0">
                <a:solidFill>
                  <a:srgbClr val="333333"/>
                </a:solidFill>
                <a:effectLst/>
                <a:latin typeface="Calibri  "/>
              </a:rPr>
              <a:t>TARIC code in DE 6/15</a:t>
            </a:r>
          </a:p>
          <a:p>
            <a:pPr marL="1600200" lvl="3" indent="-228600">
              <a:buFont typeface="+mj-lt"/>
              <a:buAutoNum type="arabicPeriod"/>
            </a:pPr>
            <a:r>
              <a:rPr lang="en-GB" sz="1400" b="0" i="0" dirty="0">
                <a:solidFill>
                  <a:srgbClr val="333333"/>
                </a:solidFill>
                <a:effectLst/>
                <a:latin typeface="Calibri  "/>
              </a:rPr>
              <a:t>Net Mass in DE 6/1</a:t>
            </a:r>
          </a:p>
          <a:p>
            <a:pPr marL="1600200" lvl="3" indent="-228600">
              <a:buFont typeface="+mj-lt"/>
              <a:buAutoNum type="arabicPeriod"/>
            </a:pPr>
            <a:r>
              <a:rPr lang="en-GB" sz="1400" b="0" i="0" dirty="0">
                <a:solidFill>
                  <a:srgbClr val="333333"/>
                </a:solidFill>
                <a:effectLst/>
                <a:latin typeface="Calibri  "/>
              </a:rPr>
              <a:t>Country of Origin in 5/15 </a:t>
            </a:r>
            <a:r>
              <a:rPr lang="en-GB" sz="1400" b="1" i="0" dirty="0">
                <a:solidFill>
                  <a:srgbClr val="333333"/>
                </a:solidFill>
                <a:effectLst/>
                <a:latin typeface="Calibri  "/>
              </a:rPr>
              <a:t>or</a:t>
            </a:r>
            <a:r>
              <a:rPr lang="en-GB" sz="1400" b="0" i="0" dirty="0">
                <a:solidFill>
                  <a:srgbClr val="333333"/>
                </a:solidFill>
                <a:effectLst/>
                <a:latin typeface="Calibri  "/>
              </a:rPr>
              <a:t> 5/16 Country of Preferential Origin </a:t>
            </a:r>
          </a:p>
          <a:p>
            <a:pPr marL="1600200" lvl="3" indent="-228600">
              <a:buFont typeface="+mj-lt"/>
              <a:buAutoNum type="arabicPeriod"/>
            </a:pPr>
            <a:endParaRPr lang="en-GB" sz="1400" b="0" i="0" dirty="0">
              <a:solidFill>
                <a:srgbClr val="333333"/>
              </a:solidFill>
              <a:effectLst/>
              <a:latin typeface="Calibri  "/>
            </a:endParaRPr>
          </a:p>
          <a:p>
            <a:pPr lvl="1">
              <a:defRPr sz="1800" b="0" i="0" u="none" strike="noStrike" kern="0" cap="none" spc="0" baseline="0">
                <a:solidFill>
                  <a:srgbClr val="000000"/>
                </a:solidFill>
                <a:uFillTx/>
              </a:defRPr>
            </a:pPr>
            <a:r>
              <a:rPr lang="en-GB" sz="1400" b="0" i="0" dirty="0">
                <a:solidFill>
                  <a:srgbClr val="333333"/>
                </a:solidFill>
                <a:effectLst/>
                <a:latin typeface="Calibri  "/>
              </a:rPr>
              <a:t>If any of the above data elements are not provided, CDS </a:t>
            </a:r>
            <a:r>
              <a:rPr lang="en-GB" sz="1400" dirty="0">
                <a:solidFill>
                  <a:srgbClr val="333333"/>
                </a:solidFill>
                <a:latin typeface="Calibri  "/>
              </a:rPr>
              <a:t>will </a:t>
            </a:r>
            <a:r>
              <a:rPr lang="en-GB" sz="1400" b="1" dirty="0">
                <a:solidFill>
                  <a:srgbClr val="333333"/>
                </a:solidFill>
                <a:latin typeface="Calibri  "/>
              </a:rPr>
              <a:t>reject</a:t>
            </a:r>
            <a:r>
              <a:rPr lang="en-GB" sz="1400" dirty="0">
                <a:solidFill>
                  <a:srgbClr val="333333"/>
                </a:solidFill>
                <a:latin typeface="Calibri  "/>
              </a:rPr>
              <a:t> the declaration and send a </a:t>
            </a:r>
            <a:r>
              <a:rPr lang="en-GB" sz="1400" b="0" i="0" dirty="0">
                <a:solidFill>
                  <a:srgbClr val="333333"/>
                </a:solidFill>
                <a:effectLst/>
                <a:latin typeface="Calibri  "/>
              </a:rPr>
              <a:t>DMSREJ notification to the trader.</a:t>
            </a:r>
          </a:p>
          <a:p>
            <a:pPr lvl="1">
              <a:defRPr sz="1800" b="0" i="0" u="none" strike="noStrike" kern="0" cap="none" spc="0" baseline="0">
                <a:solidFill>
                  <a:srgbClr val="000000"/>
                </a:solidFill>
                <a:uFillTx/>
              </a:defRPr>
            </a:pPr>
            <a:endParaRPr lang="en-GB" sz="1400" dirty="0">
              <a:solidFill>
                <a:srgbClr val="333333"/>
              </a:solidFill>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i="0" strike="noStrike" kern="1200" cap="none" spc="0" baseline="0" dirty="0">
                <a:solidFill>
                  <a:srgbClr val="333333"/>
                </a:solidFill>
                <a:uFillTx/>
                <a:latin typeface="Calibri" pitchFamily="34"/>
                <a:ea typeface="Times New Roman" pitchFamily="18"/>
                <a:cs typeface="Times New Roman" pitchFamily="18"/>
              </a:rPr>
              <a:t>Traders may declare any </a:t>
            </a:r>
            <a:r>
              <a:rPr lang="en-GB" sz="1400" i="0" strike="noStrike" kern="1200" cap="none" spc="0" baseline="0" dirty="0">
                <a:solidFill>
                  <a:srgbClr val="333333"/>
                </a:solidFill>
                <a:uFillTx/>
                <a:latin typeface="Calibri" pitchFamily="34"/>
                <a:ea typeface="Times New Roman" pitchFamily="18"/>
                <a:cs typeface="Times New Roman" pitchFamily="18"/>
                <a:hlinkClick r:id="rId4" action="ppaction://hlinksldjump"/>
              </a:rPr>
              <a:t>additional </a:t>
            </a:r>
            <a:r>
              <a:rPr lang="en-GB" sz="1400" dirty="0">
                <a:solidFill>
                  <a:srgbClr val="333333"/>
                </a:solidFill>
                <a:latin typeface="Calibri" pitchFamily="34"/>
                <a:ea typeface="Times New Roman" pitchFamily="18"/>
                <a:cs typeface="Times New Roman" pitchFamily="18"/>
                <a:hlinkClick r:id="rId4" action="ppaction://hlinksldjump"/>
              </a:rPr>
              <a:t>d</a:t>
            </a:r>
            <a:r>
              <a:rPr lang="en-GB" sz="1400" i="0" strike="noStrike" kern="1200" cap="none" spc="0" baseline="0" dirty="0">
                <a:solidFill>
                  <a:srgbClr val="333333"/>
                </a:solidFill>
                <a:uFillTx/>
                <a:latin typeface="Calibri" pitchFamily="34"/>
                <a:ea typeface="Times New Roman" pitchFamily="18"/>
                <a:cs typeface="Times New Roman" pitchFamily="18"/>
                <a:hlinkClick r:id="rId4" action="ppaction://hlinksldjump"/>
              </a:rPr>
              <a:t>ata elements</a:t>
            </a:r>
            <a:endParaRPr lang="en-GB" sz="1400" dirty="0">
              <a:solidFill>
                <a:srgbClr val="333333"/>
              </a:solidFill>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endParaRPr lang="en-GB" sz="1400" b="0" i="0" dirty="0">
              <a:solidFill>
                <a:srgbClr val="333333"/>
              </a:solidFill>
              <a:effectLst/>
              <a:latin typeface="Calibri  "/>
            </a:endParaRPr>
          </a:p>
          <a:p>
            <a:pPr lvl="1">
              <a:defRPr sz="1800" b="0" i="0" u="none" strike="noStrike" kern="0" cap="none" spc="0" baseline="0">
                <a:solidFill>
                  <a:srgbClr val="000000"/>
                </a:solidFill>
                <a:uFillTx/>
              </a:defRPr>
            </a:pPr>
            <a:endParaRPr lang="en-GB" sz="1400" b="0" i="0" dirty="0">
              <a:solidFill>
                <a:srgbClr val="333333"/>
              </a:solidFill>
              <a:effectLst/>
              <a:latin typeface="Calibri  "/>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932920482"/>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B1C5015-9F3B-4B9F-9031-945A7E6894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C11640-FA3E-46E5-B9A7-E7F359123C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2E393B6-AA11-4414-8B14-89201222C07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88903D6-C05B-4410-B6CD-4649B65A9E13}"/>
              </a:ext>
            </a:extLst>
          </p:cNvPr>
          <p:cNvSpPr txBox="1"/>
          <p:nvPr/>
        </p:nvSpPr>
        <p:spPr>
          <a:xfrm>
            <a:off x="1164447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8C6FEBB-F102-4DFE-971D-92B3DA2FF58F}" type="slidenum">
              <a:rPr sz="1200"/>
              <a:t>326</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DFFE456A-FB86-47CB-977A-B3ED841E1946}"/>
              </a:ext>
            </a:extLst>
          </p:cNvPr>
          <p:cNvSpPr txBox="1"/>
          <p:nvPr/>
        </p:nvSpPr>
        <p:spPr>
          <a:xfrm>
            <a:off x="2943801"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48964C8A-D9D1-4D9A-BC67-67F10BDD0F54}"/>
              </a:ext>
            </a:extLst>
          </p:cNvPr>
          <p:cNvSpPr/>
          <p:nvPr/>
        </p:nvSpPr>
        <p:spPr>
          <a:xfrm>
            <a:off x="444686" y="1199875"/>
            <a:ext cx="11282159"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Valuation Methods 5 &amp; 6</a:t>
            </a:r>
            <a:endParaRPr lang="en-GB" sz="1400" b="1" i="0" u="sng"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R="0" lvl="0" algn="l" defTabSz="914400" rtl="0" fontAlgn="auto" hangingPunct="1">
              <a:lnSpc>
                <a:spcPct val="100000"/>
              </a:lnSpc>
              <a:spcBef>
                <a:spcPts val="0"/>
              </a:spcBef>
              <a:spcAft>
                <a:spcPts val="0"/>
              </a:spcAft>
              <a:tabLst/>
              <a:defRPr sz="1800" b="0" i="0" u="none" strike="noStrike" kern="0" cap="none" spc="0" baseline="0">
                <a:solidFill>
                  <a:srgbClr val="000000"/>
                </a:solidFill>
                <a:uFillTx/>
              </a:defRPr>
            </a:pPr>
            <a:r>
              <a:rPr lang="en-GB" sz="1400" b="1" i="0">
                <a:solidFill>
                  <a:srgbClr val="0B0C0C"/>
                </a:solidFill>
                <a:effectLst/>
                <a:latin typeface="GDS Transport"/>
              </a:rPr>
              <a:t>                                                      Valid Combinations for Valuation Methods 5 &amp; 6 </a:t>
            </a:r>
            <a:endParaRPr lang="en-GB" sz="1400">
              <a:solidFill>
                <a:srgbClr val="333333"/>
              </a:solidFill>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endParaRPr lang="en-GB" sz="1400" b="0" i="0">
              <a:solidFill>
                <a:srgbClr val="333333"/>
              </a:solidFill>
              <a:effectLst/>
              <a:latin typeface="Calibri  "/>
            </a:endParaRPr>
          </a:p>
          <a:p>
            <a:pPr lvl="1">
              <a:defRPr sz="1800" b="0" i="0" u="none" strike="noStrike" kern="0" cap="none" spc="0" baseline="0">
                <a:solidFill>
                  <a:srgbClr val="000000"/>
                </a:solidFill>
                <a:uFillTx/>
              </a:defRPr>
            </a:pPr>
            <a:endParaRPr lang="en-GB" sz="1400" b="0" i="0">
              <a:solidFill>
                <a:srgbClr val="333333"/>
              </a:solidFill>
              <a:effectLst/>
              <a:latin typeface="Calibri  "/>
            </a:endParaRPr>
          </a:p>
        </p:txBody>
      </p:sp>
      <p:sp>
        <p:nvSpPr>
          <p:cNvPr id="9" name="Rectangle 7">
            <a:extLst>
              <a:ext uri="{FF2B5EF4-FFF2-40B4-BE49-F238E27FC236}">
                <a16:creationId xmlns:a16="http://schemas.microsoft.com/office/drawing/2014/main" id="{1D8D1562-0018-41BA-A48C-A37EADF9508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9">
            <a:extLst>
              <a:ext uri="{FF2B5EF4-FFF2-40B4-BE49-F238E27FC236}">
                <a16:creationId xmlns:a16="http://schemas.microsoft.com/office/drawing/2014/main" id="{24D92014-8C00-4E3C-BF17-45DF724F36A8}"/>
              </a:ext>
            </a:extLst>
          </p:cNvPr>
          <p:cNvGraphicFramePr>
            <a:graphicFrameLocks noGrp="1"/>
          </p:cNvGraphicFramePr>
          <p:nvPr/>
        </p:nvGraphicFramePr>
        <p:xfrm>
          <a:off x="2685692" y="1920046"/>
          <a:ext cx="6913817" cy="1016545"/>
        </p:xfrm>
        <a:graphic>
          <a:graphicData uri="http://schemas.openxmlformats.org/drawingml/2006/table">
            <a:tbl>
              <a:tblPr firstRow="1" bandRow="1">
                <a:effectLst/>
                <a:tableStyleId>{5C22544A-7EE6-4342-B048-85BDC9FD1C3A}</a:tableStyleId>
              </a:tblPr>
              <a:tblGrid>
                <a:gridCol w="1193753">
                  <a:extLst>
                    <a:ext uri="{9D8B030D-6E8A-4147-A177-3AD203B41FA5}">
                      <a16:colId xmlns:a16="http://schemas.microsoft.com/office/drawing/2014/main" val="2247490691"/>
                    </a:ext>
                  </a:extLst>
                </a:gridCol>
                <a:gridCol w="1123340">
                  <a:extLst>
                    <a:ext uri="{9D8B030D-6E8A-4147-A177-3AD203B41FA5}">
                      <a16:colId xmlns:a16="http://schemas.microsoft.com/office/drawing/2014/main" val="641578491"/>
                    </a:ext>
                  </a:extLst>
                </a:gridCol>
                <a:gridCol w="1368098">
                  <a:extLst>
                    <a:ext uri="{9D8B030D-6E8A-4147-A177-3AD203B41FA5}">
                      <a16:colId xmlns:a16="http://schemas.microsoft.com/office/drawing/2014/main" val="1588135019"/>
                    </a:ext>
                  </a:extLst>
                </a:gridCol>
                <a:gridCol w="3228626">
                  <a:extLst>
                    <a:ext uri="{9D8B030D-6E8A-4147-A177-3AD203B41FA5}">
                      <a16:colId xmlns:a16="http://schemas.microsoft.com/office/drawing/2014/main" val="2275653647"/>
                    </a:ext>
                  </a:extLst>
                </a:gridCol>
              </a:tblGrid>
              <a:tr h="347889">
                <a:tc>
                  <a:txBody>
                    <a:bodyPr/>
                    <a:lstStyle/>
                    <a:p>
                      <a:pPr algn="ctr"/>
                      <a:r>
                        <a:rPr lang="en-GB" sz="1400">
                          <a:effectLst/>
                        </a:rPr>
                        <a:t>DE 1/11</a:t>
                      </a:r>
                    </a:p>
                  </a:txBody>
                  <a:tcPr marL="90000" marR="19050" marT="14288" marB="14288" anchor="ctr">
                    <a:solidFill>
                      <a:srgbClr val="009999"/>
                    </a:solidFill>
                  </a:tcPr>
                </a:tc>
                <a:tc>
                  <a:txBody>
                    <a:bodyPr/>
                    <a:lstStyle/>
                    <a:p>
                      <a:pPr algn="ctr"/>
                      <a:r>
                        <a:rPr lang="en-GB" sz="1400">
                          <a:effectLst/>
                        </a:rPr>
                        <a:t>Description</a:t>
                      </a:r>
                    </a:p>
                  </a:txBody>
                  <a:tcPr marL="90000" marR="19050" marT="14288" marB="14288" anchor="ctr">
                    <a:solidFill>
                      <a:srgbClr val="009999"/>
                    </a:solidFill>
                  </a:tcPr>
                </a:tc>
                <a:tc>
                  <a:txBody>
                    <a:bodyPr/>
                    <a:lstStyle/>
                    <a:p>
                      <a:pPr algn="ctr"/>
                      <a:r>
                        <a:rPr lang="en-GB" sz="1400">
                          <a:effectLst/>
                        </a:rPr>
                        <a:t>DE 4/14</a:t>
                      </a:r>
                    </a:p>
                  </a:txBody>
                  <a:tcPr marL="90000" marR="19050" marT="14288" marB="14288" anchor="ctr">
                    <a:solidFill>
                      <a:srgbClr val="009999"/>
                    </a:solidFill>
                  </a:tcPr>
                </a:tc>
                <a:tc>
                  <a:txBody>
                    <a:bodyPr/>
                    <a:lstStyle/>
                    <a:p>
                      <a:pPr algn="ctr"/>
                      <a:r>
                        <a:rPr lang="en-GB" sz="1400">
                          <a:effectLst/>
                        </a:rPr>
                        <a:t>Document</a:t>
                      </a:r>
                    </a:p>
                  </a:txBody>
                  <a:tcPr marL="90000" marR="19050" marT="14288" marB="14288" anchor="ctr">
                    <a:solidFill>
                      <a:srgbClr val="009999"/>
                    </a:solidFill>
                  </a:tcPr>
                </a:tc>
                <a:extLst>
                  <a:ext uri="{0D108BD9-81ED-4DB2-BD59-A6C34878D82A}">
                    <a16:rowId xmlns:a16="http://schemas.microsoft.com/office/drawing/2014/main" val="3384468624"/>
                  </a:ext>
                </a:extLst>
              </a:tr>
              <a:tr h="519389">
                <a:tc>
                  <a:txBody>
                    <a:bodyPr/>
                    <a:lstStyle/>
                    <a:p>
                      <a:r>
                        <a:rPr lang="en-GB" sz="1400">
                          <a:effectLst/>
                        </a:rPr>
                        <a:t>Non Valuation Specific APC or 000</a:t>
                      </a:r>
                    </a:p>
                  </a:txBody>
                  <a:tcPr marL="90000" marR="19050" marT="14288" marB="14288" anchor="ctr"/>
                </a:tc>
                <a:tc>
                  <a:txBody>
                    <a:bodyPr/>
                    <a:lstStyle/>
                    <a:p>
                      <a:endParaRPr lang="en-GB" sz="1400">
                        <a:effectLst/>
                      </a:endParaRPr>
                    </a:p>
                    <a:p>
                      <a:r>
                        <a:rPr lang="en-GB" sz="1400">
                          <a:effectLst/>
                        </a:rPr>
                        <a:t>N/A</a:t>
                      </a:r>
                    </a:p>
                    <a:p>
                      <a:endParaRPr lang="en-GB" sz="1400">
                        <a:effectLst/>
                      </a:endParaRPr>
                    </a:p>
                  </a:txBody>
                  <a:tcPr marL="90000" marR="19050" marT="14288" marB="14288" anchor="ctr"/>
                </a:tc>
                <a:tc>
                  <a:txBody>
                    <a:bodyPr/>
                    <a:lstStyle/>
                    <a:p>
                      <a:r>
                        <a:rPr lang="en-GB" sz="1400">
                          <a:effectLst/>
                        </a:rPr>
                        <a:t>Completed</a:t>
                      </a:r>
                    </a:p>
                  </a:txBody>
                  <a:tcPr marL="90000" marR="19050" marT="14288" marB="14288" anchor="ctr"/>
                </a:tc>
                <a:tc>
                  <a:txBody>
                    <a:bodyPr/>
                    <a:lstStyle/>
                    <a:p>
                      <a:r>
                        <a:rPr lang="en-GB" sz="1400" b="0" i="0" kern="1200" dirty="0">
                          <a:solidFill>
                            <a:schemeClr val="dk1"/>
                          </a:solidFill>
                          <a:effectLst/>
                          <a:latin typeface="+mn-lt"/>
                          <a:ea typeface="+mn-ea"/>
                          <a:cs typeface="+mn-cs"/>
                        </a:rPr>
                        <a:t>9WKS (minimum) </a:t>
                      </a:r>
                      <a:endParaRPr lang="en-GB" sz="1400" dirty="0">
                        <a:effectLst/>
                      </a:endParaRPr>
                    </a:p>
                  </a:txBody>
                  <a:tcPr marL="90000" marR="19050" marT="14288" marB="14288" anchor="ctr"/>
                </a:tc>
                <a:extLst>
                  <a:ext uri="{0D108BD9-81ED-4DB2-BD59-A6C34878D82A}">
                    <a16:rowId xmlns:a16="http://schemas.microsoft.com/office/drawing/2014/main" val="2060544414"/>
                  </a:ext>
                </a:extLst>
              </a:tr>
            </a:tbl>
          </a:graphicData>
        </a:graphic>
      </p:graphicFrame>
      <p:sp>
        <p:nvSpPr>
          <p:cNvPr id="12" name="TextBox 11">
            <a:extLst>
              <a:ext uri="{FF2B5EF4-FFF2-40B4-BE49-F238E27FC236}">
                <a16:creationId xmlns:a16="http://schemas.microsoft.com/office/drawing/2014/main" id="{6ED04E69-1FF4-4F0D-BD15-7C3FB3460AE1}"/>
              </a:ext>
            </a:extLst>
          </p:cNvPr>
          <p:cNvSpPr txBox="1"/>
          <p:nvPr/>
        </p:nvSpPr>
        <p:spPr>
          <a:xfrm>
            <a:off x="92066" y="3229771"/>
            <a:ext cx="11589335" cy="738664"/>
          </a:xfrm>
          <a:prstGeom prst="rect">
            <a:avLst/>
          </a:prstGeom>
          <a:noFill/>
        </p:spPr>
        <p:txBody>
          <a:bodyPr wrap="square">
            <a:spAutoFit/>
          </a:bodyPr>
          <a:lstStyle/>
          <a:p>
            <a:pPr lvl="1"/>
            <a:r>
              <a:rPr lang="en-GB" sz="1400" b="0" i="0">
                <a:solidFill>
                  <a:srgbClr val="333333"/>
                </a:solidFill>
                <a:effectLst/>
                <a:latin typeface="Calibri  "/>
              </a:rPr>
              <a:t>CDS will proceed to validate the declaration, using either the UK and EU Tariffs where applicable. Where any duties or taxes are payable, CDS will send a </a:t>
            </a:r>
            <a:r>
              <a:rPr lang="en-GB" sz="1400" b="1" i="0">
                <a:solidFill>
                  <a:srgbClr val="333333"/>
                </a:solidFill>
                <a:effectLst/>
                <a:latin typeface="Calibri  "/>
              </a:rPr>
              <a:t>DMSTAX</a:t>
            </a:r>
            <a:r>
              <a:rPr lang="en-GB" sz="1400" b="0" i="0">
                <a:solidFill>
                  <a:srgbClr val="333333"/>
                </a:solidFill>
                <a:effectLst/>
                <a:latin typeface="Calibri  "/>
              </a:rPr>
              <a:t> notification to the trader.</a:t>
            </a:r>
          </a:p>
          <a:p>
            <a:pPr lvl="1"/>
            <a:endParaRPr lang="en-GB" sz="1400">
              <a:solidFill>
                <a:srgbClr val="333333"/>
              </a:solidFill>
              <a:latin typeface="Calibri  "/>
            </a:endParaRPr>
          </a:p>
        </p:txBody>
      </p:sp>
      <p:sp>
        <p:nvSpPr>
          <p:cNvPr id="13" name="Rectangle 12">
            <a:extLst>
              <a:ext uri="{FF2B5EF4-FFF2-40B4-BE49-F238E27FC236}">
                <a16:creationId xmlns:a16="http://schemas.microsoft.com/office/drawing/2014/main" id="{2CDCC6AD-A07D-4C77-AC0D-07C9261D5DB9}"/>
              </a:ext>
            </a:extLst>
          </p:cNvPr>
          <p:cNvSpPr/>
          <p:nvPr/>
        </p:nvSpPr>
        <p:spPr>
          <a:xfrm>
            <a:off x="1262371" y="3886199"/>
            <a:ext cx="10464474" cy="561929"/>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TT_IM106a - </a:t>
            </a:r>
            <a:r>
              <a:rPr lang="en-GB" sz="1100" b="0" i="0" u="none" strike="noStrike">
                <a:solidFill>
                  <a:srgbClr val="000000"/>
                </a:solidFill>
                <a:effectLst/>
                <a:latin typeface="Calibri" panose="020F0502020204030204" pitchFamily="34" charset="0"/>
              </a:rPr>
              <a:t>IM106a</a:t>
            </a:r>
            <a:r>
              <a:rPr lang="en-GB" sz="900"/>
              <a:t> </a:t>
            </a:r>
            <a:r>
              <a:rPr lang="en-GB" sz="1100" b="0" i="0" u="none" strike="noStrike">
                <a:solidFill>
                  <a:srgbClr val="000000"/>
                </a:solidFill>
                <a:effectLst/>
                <a:latin typeface="Calibri" panose="020F0502020204030204" pitchFamily="34" charset="0"/>
              </a:rPr>
              <a:t>Import frontier declaration, for goods moving from </a:t>
            </a:r>
            <a:r>
              <a:rPr lang="en-GB" sz="1100" b="0" i="0" u="none" strike="noStrike" err="1">
                <a:solidFill>
                  <a:srgbClr val="000000"/>
                </a:solidFill>
                <a:effectLst/>
                <a:latin typeface="Calibri" panose="020F0502020204030204" pitchFamily="34" charset="0"/>
              </a:rPr>
              <a:t>RoW</a:t>
            </a:r>
            <a:r>
              <a:rPr lang="en-GB" sz="1100" b="0" i="0" u="none" strike="noStrike">
                <a:solidFill>
                  <a:srgbClr val="000000"/>
                </a:solidFill>
                <a:effectLst/>
                <a:latin typeface="Calibri" panose="020F0502020204030204" pitchFamily="34" charset="0"/>
              </a:rPr>
              <a:t> to GB, where Valuation Method 5 is entered to calculate Duties using Item Price</a:t>
            </a:r>
            <a:r>
              <a:rPr lang="en-GB" sz="900"/>
              <a:t>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TT_IM107a </a:t>
            </a:r>
            <a:r>
              <a:rPr lang="en-GB" sz="1100" b="0" i="0" u="none" strike="noStrike">
                <a:solidFill>
                  <a:srgbClr val="000000"/>
                </a:solidFill>
                <a:effectLst/>
                <a:latin typeface="Calibri" panose="020F0502020204030204" pitchFamily="34" charset="0"/>
              </a:rPr>
              <a:t>Import frontier declaration, for goods moving from GB to NI, where Valuation Method 6 is entered to calculate Duties using Item Price</a:t>
            </a:r>
            <a:r>
              <a:rPr lang="en-GB" sz="900"/>
              <a:t> </a:t>
            </a:r>
            <a:endParaRPr lang="en-GB" sz="1100" b="0" i="0" u="none" strike="noStrike" kern="1200" cap="none" spc="0" baseline="0">
              <a:solidFill>
                <a:srgbClr val="000000"/>
              </a:solidFill>
              <a:uFillTx/>
              <a:latin typeface="Calibri"/>
            </a:endParaRPr>
          </a:p>
        </p:txBody>
      </p:sp>
      <p:sp>
        <p:nvSpPr>
          <p:cNvPr id="14" name="Rectangle 13">
            <a:extLst>
              <a:ext uri="{FF2B5EF4-FFF2-40B4-BE49-F238E27FC236}">
                <a16:creationId xmlns:a16="http://schemas.microsoft.com/office/drawing/2014/main" id="{71BA213B-40EC-4071-B72E-ED13E70536C2}"/>
              </a:ext>
            </a:extLst>
          </p:cNvPr>
          <p:cNvSpPr/>
          <p:nvPr/>
        </p:nvSpPr>
        <p:spPr>
          <a:xfrm>
            <a:off x="429170" y="3880229"/>
            <a:ext cx="833201" cy="561929"/>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extLst>
      <p:ext uri="{BB962C8B-B14F-4D97-AF65-F5344CB8AC3E}">
        <p14:creationId xmlns:p14="http://schemas.microsoft.com/office/powerpoint/2010/main" val="3160238018"/>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7BDA06A-D44A-48A6-983D-E61CC09B608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E36F174-EEE8-4C19-8ACA-D2DDDE34E53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CB935A6-BD5F-4D27-BA7A-705122AB31B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42B1A6B-B63E-4802-A06E-688E36C8C0BC}"/>
              </a:ext>
            </a:extLst>
          </p:cNvPr>
          <p:cNvSpPr txBox="1"/>
          <p:nvPr/>
        </p:nvSpPr>
        <p:spPr>
          <a:xfrm>
            <a:off x="11628710"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CABF0A3-08BC-4452-B5E2-AB4B5AF40B6A}" type="slidenum">
              <a:rPr sz="1200"/>
              <a:t>327</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767B78AE-69D6-4083-BE18-597BB849E6BC}"/>
              </a:ext>
            </a:extLst>
          </p:cNvPr>
          <p:cNvSpPr txBox="1"/>
          <p:nvPr/>
        </p:nvSpPr>
        <p:spPr>
          <a:xfrm>
            <a:off x="294380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EE9F2F9C-0D5A-47BD-BD06-FDB1ED67894C}"/>
              </a:ext>
            </a:extLst>
          </p:cNvPr>
          <p:cNvSpPr/>
          <p:nvPr/>
        </p:nvSpPr>
        <p:spPr>
          <a:xfrm>
            <a:off x="363967" y="1362593"/>
            <a:ext cx="11282159" cy="371383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r>
              <a:rPr lang="en-GB" sz="1400" b="1" i="0" u="sng" strike="noStrike" kern="0" cap="none" spc="0" baseline="0" dirty="0">
                <a:solidFill>
                  <a:srgbClr val="000000"/>
                </a:solidFill>
                <a:uFillTx/>
                <a:latin typeface="Calibri" pitchFamily="34"/>
              </a:rPr>
              <a:t>Access to view Duty Deferment Accounts</a:t>
            </a:r>
            <a:endParaRPr lang="en-GB" sz="1400" b="1" i="0" u="sng" strike="noStrike" kern="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
              </a:rPr>
              <a:t>From CDS 3.8.0, traders may search and view all Duty Deferment Accounts by entering either the GB EORI or Duty Deferment Account number in the search function. The search will only display active Duty Deferment Accounts that the user has authorisation over. If the Duty Deferment Account is inactive, then no results will be returned. Traders will additionally be able to</a:t>
            </a:r>
            <a:r>
              <a:rPr lang="en-GB" sz="1400" b="1" i="0" u="none" strike="noStrike" kern="0" cap="none" spc="0" baseline="0" dirty="0">
                <a:solidFill>
                  <a:srgbClr val="333333"/>
                </a:solidFill>
                <a:uFillTx/>
                <a:latin typeface="Calibri  "/>
              </a:rPr>
              <a:t> </a:t>
            </a:r>
            <a:r>
              <a:rPr lang="en-GB" sz="1400" b="0" i="0" u="none" strike="noStrike" kern="0" cap="none" spc="0" baseline="0" dirty="0">
                <a:solidFill>
                  <a:srgbClr val="333333"/>
                </a:solidFill>
                <a:uFillTx/>
                <a:latin typeface="Calibri  "/>
              </a:rPr>
              <a:t>download a CSV file that contains a list of all the displayed active duty deferment accounts.</a:t>
            </a: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0" cap="none" spc="0" baseline="0" dirty="0">
              <a:solidFill>
                <a:srgbClr val="333333"/>
              </a:solidFill>
              <a:uFillTx/>
              <a:latin typeface="Calibri  "/>
            </a:endParaRP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r>
              <a:rPr lang="en-GB" sz="1400" b="1" i="0" u="sng" strike="noStrike" kern="0" cap="none" spc="0" baseline="0" dirty="0">
                <a:solidFill>
                  <a:srgbClr val="000000"/>
                </a:solidFill>
                <a:uFillTx/>
                <a:latin typeface="Calibri" pitchFamily="34"/>
              </a:rPr>
              <a:t>Re-Application of Direct Debit Instructions (DDI)</a:t>
            </a: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r>
              <a:rPr lang="en-US" sz="1400" b="0" i="0" u="none" strike="noStrike" kern="0" cap="none" spc="0" baseline="0" dirty="0">
                <a:solidFill>
                  <a:srgbClr val="000000"/>
                </a:solidFill>
                <a:uFillTx/>
                <a:latin typeface="Calibri  "/>
                <a:cs typeface="Arial" pitchFamily="34"/>
              </a:rPr>
              <a:t>From CDS 3.8.0, traders that currently own a DDI, or have a </a:t>
            </a:r>
            <a:r>
              <a:rPr lang="en-GB" sz="1400" b="0" i="0" u="none" strike="noStrike" kern="0" cap="none" spc="0" baseline="0" dirty="0">
                <a:solidFill>
                  <a:srgbClr val="000000"/>
                </a:solidFill>
                <a:uFillTx/>
                <a:latin typeface="Calibri  "/>
              </a:rPr>
              <a:t>previously owned a DDI which has now become dormant</a:t>
            </a:r>
            <a:r>
              <a:rPr lang="en-US" sz="1400" b="0" i="0" u="none" strike="noStrike" kern="0" cap="none" spc="0" baseline="0" dirty="0">
                <a:solidFill>
                  <a:srgbClr val="000000"/>
                </a:solidFill>
                <a:uFillTx/>
                <a:latin typeface="Calibri  "/>
                <a:cs typeface="Arial" pitchFamily="34"/>
              </a:rPr>
              <a:t>, may sign-up with new Direct Debit Instructions with the same respective bank details. Traders may sign-up for the DDI, in advance, or following </a:t>
            </a:r>
            <a:r>
              <a:rPr lang="en-GB" sz="1400" b="0" i="0" u="none" strike="noStrike" kern="0" cap="none" spc="0" baseline="0" dirty="0">
                <a:solidFill>
                  <a:srgbClr val="000000"/>
                </a:solidFill>
                <a:uFillTx/>
                <a:latin typeface="Calibri  "/>
                <a:cs typeface="Arial" pitchFamily="34"/>
              </a:rPr>
              <a:t>the expiration of the previous DDI.</a:t>
            </a:r>
          </a:p>
          <a:p>
            <a:pPr>
              <a:spcAft>
                <a:spcPts val="800"/>
              </a:spcAft>
              <a:defRPr sz="1800" b="0" i="0" u="none" strike="noStrike" kern="0" cap="none" spc="0" baseline="0">
                <a:solidFill>
                  <a:srgbClr val="000000"/>
                </a:solidFill>
                <a:uFillTx/>
              </a:defRPr>
            </a:pPr>
            <a:r>
              <a:rPr lang="en-GB" sz="1400" b="1" kern="0" dirty="0">
                <a:latin typeface="Calibri  "/>
              </a:rPr>
              <a:t>Please note: </a:t>
            </a:r>
            <a:r>
              <a:rPr lang="en-GB" sz="1400" kern="0" dirty="0">
                <a:latin typeface="Calibri  "/>
              </a:rPr>
              <a:t>This feature is now out of scope for CDS 3.8.0 and will be delivered in a later release (TBC). </a:t>
            </a:r>
            <a:endParaRPr lang="en-GB" sz="1400" b="1" i="0" u="none" strike="noStrike" kern="0" cap="none" spc="0" baseline="0" dirty="0">
              <a:uFillTx/>
              <a:latin typeface="Calibri  "/>
            </a:endParaRP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dirty="0">
              <a:solidFill>
                <a:srgbClr val="333333"/>
              </a:solidFill>
              <a:uFillTx/>
              <a:latin typeface="Calibri  "/>
            </a:endParaRPr>
          </a:p>
          <a:p>
            <a:pPr marL="1371600" marR="0" lvl="3"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1200" cap="none" spc="0" baseline="0" dirty="0">
              <a:solidFill>
                <a:srgbClr val="333333"/>
              </a:solidFill>
              <a:uFillTx/>
              <a:latin typeface="Calibri  "/>
            </a:endParaRPr>
          </a:p>
        </p:txBody>
      </p:sp>
      <p:sp>
        <p:nvSpPr>
          <p:cNvPr id="9" name="Rectangle 7">
            <a:extLst>
              <a:ext uri="{FF2B5EF4-FFF2-40B4-BE49-F238E27FC236}">
                <a16:creationId xmlns:a16="http://schemas.microsoft.com/office/drawing/2014/main" id="{9E8D399A-BF85-4C4C-A8F9-C82C47F1FB72}"/>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AD6F575-2A36-4CCA-874B-6F554EC181E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1A3D2F3C-4830-4EF0-83F5-BA5CB7B9D0C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0A63BA6-DBE6-4C37-8797-C1558A476A0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4B61B73F-34C7-4DF0-A9EB-F66C83D50991}"/>
              </a:ext>
            </a:extLst>
          </p:cNvPr>
          <p:cNvSpPr txBox="1"/>
          <p:nvPr/>
        </p:nvSpPr>
        <p:spPr>
          <a:xfrm>
            <a:off x="11628710"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AA04A39-756E-40FD-932F-E7691A62AA67}" type="slidenum">
              <a:rPr sz="1200"/>
              <a:t>328</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B340F1F8-1A8A-4484-A157-9F04CB75CCB9}"/>
              </a:ext>
            </a:extLst>
          </p:cNvPr>
          <p:cNvSpPr txBox="1"/>
          <p:nvPr/>
        </p:nvSpPr>
        <p:spPr>
          <a:xfrm>
            <a:off x="2982644"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7">
            <a:extLst>
              <a:ext uri="{FF2B5EF4-FFF2-40B4-BE49-F238E27FC236}">
                <a16:creationId xmlns:a16="http://schemas.microsoft.com/office/drawing/2014/main" id="{D47877AB-D951-4EF7-B8A0-4995199AC1F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TextBox 14">
            <a:extLst>
              <a:ext uri="{FF2B5EF4-FFF2-40B4-BE49-F238E27FC236}">
                <a16:creationId xmlns:a16="http://schemas.microsoft.com/office/drawing/2014/main" id="{42DF937D-34C1-42B1-82AE-13DB10AFA87B}"/>
              </a:ext>
            </a:extLst>
          </p:cNvPr>
          <p:cNvSpPr txBox="1"/>
          <p:nvPr/>
        </p:nvSpPr>
        <p:spPr>
          <a:xfrm>
            <a:off x="363967" y="1276273"/>
            <a:ext cx="6096944"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r>
              <a:rPr lang="en-GB" sz="1400" b="1" i="0" u="sng" strike="noStrike" kern="0" cap="none" spc="0" baseline="0">
                <a:solidFill>
                  <a:srgbClr val="000000"/>
                </a:solidFill>
                <a:uFillTx/>
                <a:latin typeface="Calibri" pitchFamily="34"/>
              </a:rPr>
              <a:t>Change Requests</a:t>
            </a:r>
            <a:endParaRPr lang="en-GB" sz="1400" b="1" i="0" u="sng" strike="noStrike" kern="0" cap="none" spc="0" baseline="0">
              <a:solidFill>
                <a:srgbClr val="000000"/>
              </a:solidFill>
              <a:uFillTx/>
              <a:latin typeface="Calibri"/>
            </a:endParaRPr>
          </a:p>
        </p:txBody>
      </p:sp>
      <p:graphicFrame>
        <p:nvGraphicFramePr>
          <p:cNvPr id="10" name="Table 3">
            <a:extLst>
              <a:ext uri="{FF2B5EF4-FFF2-40B4-BE49-F238E27FC236}">
                <a16:creationId xmlns:a16="http://schemas.microsoft.com/office/drawing/2014/main" id="{C89A9FE2-C1C1-4E1C-9B69-2A25FEC1858B}"/>
              </a:ext>
            </a:extLst>
          </p:cNvPr>
          <p:cNvGraphicFramePr>
            <a:graphicFrameLocks noGrp="1"/>
          </p:cNvGraphicFramePr>
          <p:nvPr/>
        </p:nvGraphicFramePr>
        <p:xfrm>
          <a:off x="471748" y="1638403"/>
          <a:ext cx="11248500" cy="1551684"/>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965245634"/>
                    </a:ext>
                  </a:extLst>
                </a:gridCol>
              </a:tblGrid>
              <a:tr h="415631">
                <a:tc>
                  <a:txBody>
                    <a:bodyPr/>
                    <a:lstStyle/>
                    <a:p>
                      <a:pPr marL="0" marR="0" lvl="0" indent="0" algn="l" defTabSz="914400" rtl="0" fontAlgn="auto" hangingPunct="1">
                        <a:lnSpc>
                          <a:spcPct val="100000"/>
                        </a:lnSpc>
                        <a:spcBef>
                          <a:spcPts val="0"/>
                        </a:spcBef>
                        <a:spcAft>
                          <a:spcPts val="0"/>
                        </a:spcAft>
                        <a:buNone/>
                        <a:tabLst/>
                      </a:pPr>
                      <a:r>
                        <a:rPr lang="en-GB" sz="1800" b="1" i="0" u="none" strike="noStrike">
                          <a:solidFill>
                            <a:srgbClr val="FFFFFF"/>
                          </a:solidFill>
                          <a:latin typeface="Calibri" pitchFamily="34"/>
                        </a:rPr>
                        <a:t>Asynchronous Responses</a:t>
                      </a:r>
                      <a:r>
                        <a:rPr lang="en-GB" sz="1800" b="1" i="0">
                          <a:solidFill>
                            <a:srgbClr val="FFFFFF"/>
                          </a:solidFill>
                          <a:latin typeface="Calibri" pitchFamily="34"/>
                        </a:rPr>
                        <a:t>​ </a:t>
                      </a:r>
                      <a:endParaRPr lang="en-GB" sz="1800" b="1">
                        <a:solidFill>
                          <a:srgbClr val="FFFFFF"/>
                        </a:solidFill>
                      </a:endParaRPr>
                    </a:p>
                  </a:txBody>
                  <a:tcPr>
                    <a:solidFill>
                      <a:srgbClr val="009999"/>
                    </a:solidFill>
                  </a:tcPr>
                </a:tc>
                <a:extLst>
                  <a:ext uri="{0D108BD9-81ED-4DB2-BD59-A6C34878D82A}">
                    <a16:rowId xmlns:a16="http://schemas.microsoft.com/office/drawing/2014/main" val="2239669189"/>
                  </a:ext>
                </a:extLst>
              </a:tr>
              <a:tr h="0">
                <a:tc>
                  <a:txBody>
                    <a:bodyPr/>
                    <a:lstStyle/>
                    <a:p>
                      <a:pPr lvl="0" algn="ctr"/>
                      <a:r>
                        <a:rPr lang="en-GB" sz="1400" b="1">
                          <a:solidFill>
                            <a:srgbClr val="000000"/>
                          </a:solidFill>
                        </a:rPr>
                        <a:t>(CR064)</a:t>
                      </a:r>
                      <a:endParaRPr lang="en-GB" sz="1400">
                        <a:solidFill>
                          <a:srgbClr val="000000"/>
                        </a:solidFill>
                      </a:endParaRPr>
                    </a:p>
                  </a:txBody>
                  <a:tcPr>
                    <a:solidFill>
                      <a:srgbClr val="CFD5EA"/>
                    </a:solidFill>
                  </a:tcPr>
                </a:tc>
                <a:extLst>
                  <a:ext uri="{0D108BD9-81ED-4DB2-BD59-A6C34878D82A}">
                    <a16:rowId xmlns:a16="http://schemas.microsoft.com/office/drawing/2014/main" val="2265965057"/>
                  </a:ext>
                </a:extLst>
              </a:tr>
              <a:tr h="831253">
                <a:tc>
                  <a:txBody>
                    <a:bodyPr/>
                    <a:lstStyle/>
                    <a:p>
                      <a:pPr marL="457200" marR="0" lvl="1" indent="0" algn="l" defTabSz="914400" rtl="0" fontAlgn="auto" hangingPunct="1">
                        <a:lnSpc>
                          <a:spcPct val="100000"/>
                        </a:lnSpc>
                        <a:spcBef>
                          <a:spcPts val="0"/>
                        </a:spcBef>
                        <a:spcAft>
                          <a:spcPts val="0"/>
                        </a:spcAft>
                        <a:buNone/>
                        <a:tabLst/>
                      </a:pPr>
                      <a:r>
                        <a:rPr lang="en-GB" sz="1400" b="0" i="0" kern="1200" dirty="0">
                          <a:solidFill>
                            <a:srgbClr val="000000"/>
                          </a:solidFill>
                          <a:latin typeface="Calibri"/>
                        </a:rPr>
                        <a:t>The introduction of Asynchronous Responses delivers functionality for CDA processing, through re-configuration to the system requirements. This re-configuration enables prioritisation of the latter messages received from both CHIEF and CDS systems, to return the appropriate aggregated message, in addition to eliminating duplicate responses. This change ensures CSPs receive complete and accurate responses from CDS.</a:t>
                      </a:r>
                    </a:p>
                  </a:txBody>
                  <a:tcPr>
                    <a:solidFill>
                      <a:srgbClr val="E9EBF5"/>
                    </a:solidFill>
                  </a:tcPr>
                </a:tc>
                <a:extLst>
                  <a:ext uri="{0D108BD9-81ED-4DB2-BD59-A6C34878D82A}">
                    <a16:rowId xmlns:a16="http://schemas.microsoft.com/office/drawing/2014/main" val="704572295"/>
                  </a:ext>
                </a:extLst>
              </a:tr>
            </a:tbl>
          </a:graphicData>
        </a:graphic>
      </p:graphicFrame>
      <p:graphicFrame>
        <p:nvGraphicFramePr>
          <p:cNvPr id="11" name="Table 3">
            <a:extLst>
              <a:ext uri="{FF2B5EF4-FFF2-40B4-BE49-F238E27FC236}">
                <a16:creationId xmlns:a16="http://schemas.microsoft.com/office/drawing/2014/main" id="{F7B36580-DA76-4F0D-B635-E7EB6C6BCC18}"/>
              </a:ext>
            </a:extLst>
          </p:cNvPr>
          <p:cNvGraphicFramePr>
            <a:graphicFrameLocks noGrp="1"/>
          </p:cNvGraphicFramePr>
          <p:nvPr/>
        </p:nvGraphicFramePr>
        <p:xfrm>
          <a:off x="465155" y="3691633"/>
          <a:ext cx="11248500" cy="204216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4126864751"/>
                    </a:ext>
                  </a:extLst>
                </a:gridCol>
              </a:tblGrid>
              <a:tr h="299100">
                <a:tc>
                  <a:txBody>
                    <a:bodyPr/>
                    <a:lstStyle/>
                    <a:p>
                      <a:pPr marL="0" marR="0" lvl="0" indent="0" algn="l" defTabSz="914400" rtl="0" fontAlgn="auto" hangingPunct="1">
                        <a:lnSpc>
                          <a:spcPct val="100000"/>
                        </a:lnSpc>
                        <a:spcBef>
                          <a:spcPts val="0"/>
                        </a:spcBef>
                        <a:spcAft>
                          <a:spcPts val="0"/>
                        </a:spcAft>
                        <a:buNone/>
                        <a:tabLst/>
                      </a:pPr>
                      <a:r>
                        <a:rPr lang="en-GB" sz="1800" b="1" i="0" u="none" strike="noStrike">
                          <a:solidFill>
                            <a:srgbClr val="FFFFFF"/>
                          </a:solidFill>
                          <a:latin typeface="Calibri" pitchFamily="34"/>
                        </a:rPr>
                        <a:t>EMR/ERS Multiple Updates Capability for Inventory Linking Exports </a:t>
                      </a:r>
                      <a:endParaRPr lang="en-GB" sz="1800" b="1">
                        <a:solidFill>
                          <a:srgbClr val="FFFFFF"/>
                        </a:solidFill>
                      </a:endParaRPr>
                    </a:p>
                  </a:txBody>
                  <a:tcPr>
                    <a:solidFill>
                      <a:srgbClr val="009999"/>
                    </a:solidFill>
                  </a:tcPr>
                </a:tc>
                <a:extLst>
                  <a:ext uri="{0D108BD9-81ED-4DB2-BD59-A6C34878D82A}">
                    <a16:rowId xmlns:a16="http://schemas.microsoft.com/office/drawing/2014/main" val="685823203"/>
                  </a:ext>
                </a:extLst>
              </a:tr>
              <a:tr h="249247">
                <a:tc>
                  <a:txBody>
                    <a:bodyPr/>
                    <a:lstStyle/>
                    <a:p>
                      <a:pPr lvl="0" algn="ctr"/>
                      <a:r>
                        <a:rPr lang="en-GB" sz="1400" b="1">
                          <a:solidFill>
                            <a:srgbClr val="000000"/>
                          </a:solidFill>
                        </a:rPr>
                        <a:t>(CR147)</a:t>
                      </a:r>
                      <a:endParaRPr lang="en-GB" sz="1400">
                        <a:solidFill>
                          <a:srgbClr val="000000"/>
                        </a:solidFill>
                      </a:endParaRPr>
                    </a:p>
                  </a:txBody>
                  <a:tcPr>
                    <a:solidFill>
                      <a:srgbClr val="CFD5EA"/>
                    </a:solidFill>
                  </a:tcPr>
                </a:tc>
                <a:extLst>
                  <a:ext uri="{0D108BD9-81ED-4DB2-BD59-A6C34878D82A}">
                    <a16:rowId xmlns:a16="http://schemas.microsoft.com/office/drawing/2014/main" val="3657569618"/>
                  </a:ext>
                </a:extLst>
              </a:tr>
              <a:tr h="922684">
                <a:tc>
                  <a:txBody>
                    <a:bodyPr/>
                    <a:lstStyle/>
                    <a:p>
                      <a:pPr marL="457200" marR="0" lvl="1" indent="0" algn="l" defTabSz="914400" rtl="0" fontAlgn="auto" hangingPunct="1">
                        <a:lnSpc>
                          <a:spcPct val="100000"/>
                        </a:lnSpc>
                        <a:spcBef>
                          <a:spcPts val="0"/>
                        </a:spcBef>
                        <a:spcAft>
                          <a:spcPts val="0"/>
                        </a:spcAft>
                        <a:buNone/>
                        <a:tabLst/>
                      </a:pPr>
                      <a:r>
                        <a:rPr lang="en-GB" sz="1400" b="0" i="0" kern="1200" dirty="0">
                          <a:solidFill>
                            <a:srgbClr val="000000"/>
                          </a:solidFill>
                          <a:latin typeface="Calibri"/>
                        </a:rPr>
                        <a:t>At present, CDS does not send EMR/ERS messages to all movement submitters for a MUCR/DUCR; whereby only the last movement requestor receives this update. This change ensures that on occasions where a single shipment is arrived in more than one location, CDS will send the appropriate responses regarding the most recent route, or Unique Consignment Reference status, to the relevant actors.</a:t>
                      </a:r>
                    </a:p>
                    <a:p>
                      <a:pPr marL="457200" marR="0" lvl="1" indent="0" algn="l" defTabSz="914400" rtl="0" fontAlgn="auto" hangingPunct="1">
                        <a:lnSpc>
                          <a:spcPct val="100000"/>
                        </a:lnSpc>
                        <a:spcBef>
                          <a:spcPts val="0"/>
                        </a:spcBef>
                        <a:spcAft>
                          <a:spcPts val="0"/>
                        </a:spcAft>
                        <a:buNone/>
                        <a:tabLst/>
                      </a:pPr>
                      <a:endParaRPr lang="en-GB" sz="1400" b="0" i="0" kern="1200" dirty="0">
                        <a:solidFill>
                          <a:srgbClr val="000000"/>
                        </a:solidFill>
                        <a:latin typeface="Calibri"/>
                      </a:endParaRPr>
                    </a:p>
                    <a:p>
                      <a:pPr marL="457200" marR="0" lvl="1" indent="0" algn="l" defTabSz="914400" rtl="0" fontAlgn="auto" hangingPunct="1">
                        <a:lnSpc>
                          <a:spcPct val="100000"/>
                        </a:lnSpc>
                        <a:spcBef>
                          <a:spcPts val="0"/>
                        </a:spcBef>
                        <a:spcAft>
                          <a:spcPts val="0"/>
                        </a:spcAft>
                        <a:buNone/>
                        <a:tabLst/>
                      </a:pPr>
                      <a:r>
                        <a:rPr lang="en-GB" sz="1400" b="0" i="0" kern="1200" dirty="0">
                          <a:solidFill>
                            <a:srgbClr val="000000"/>
                          </a:solidFill>
                          <a:latin typeface="+mn-lt"/>
                        </a:rPr>
                        <a:t>Please note: When an EAC associate is submitted, an EMR will not be received by the last successful EAL submitter. The current workaround </a:t>
                      </a:r>
                      <a:r>
                        <a:rPr lang="en-GB" sz="1400" b="1" i="0" kern="1200" dirty="0">
                          <a:solidFill>
                            <a:srgbClr val="000000"/>
                          </a:solidFill>
                          <a:latin typeface="+mn-lt"/>
                        </a:rPr>
                        <a:t>( relevant as of CDS 3.8.0) </a:t>
                      </a:r>
                      <a:r>
                        <a:rPr lang="en-GB" sz="1400" b="0" i="0" kern="1200" dirty="0">
                          <a:solidFill>
                            <a:srgbClr val="000000"/>
                          </a:solidFill>
                          <a:latin typeface="+mn-lt"/>
                        </a:rPr>
                        <a:t>is to submit a movement post the EAC event occurring. Please see the KEL document for more information (KEL 467).</a:t>
                      </a:r>
                      <a:endParaRPr lang="en-GB" sz="1400" b="0" i="0" kern="1200" dirty="0">
                        <a:solidFill>
                          <a:srgbClr val="000000"/>
                        </a:solidFill>
                        <a:latin typeface="Calibri"/>
                      </a:endParaRPr>
                    </a:p>
                  </a:txBody>
                  <a:tcPr>
                    <a:solidFill>
                      <a:srgbClr val="E9EBF5"/>
                    </a:solidFill>
                  </a:tcPr>
                </a:tc>
                <a:extLst>
                  <a:ext uri="{0D108BD9-81ED-4DB2-BD59-A6C34878D82A}">
                    <a16:rowId xmlns:a16="http://schemas.microsoft.com/office/drawing/2014/main" val="3878575507"/>
                  </a:ext>
                </a:extLst>
              </a:tr>
            </a:tbl>
          </a:graphicData>
        </a:graphic>
      </p:graphicFrame>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AD6F575-2A36-4CCA-874B-6F554EC181E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1A3D2F3C-4830-4EF0-83F5-BA5CB7B9D0C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0A63BA6-DBE6-4C37-8797-C1558A476A0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4B61B73F-34C7-4DF0-A9EB-F66C83D50991}"/>
              </a:ext>
            </a:extLst>
          </p:cNvPr>
          <p:cNvSpPr txBox="1"/>
          <p:nvPr/>
        </p:nvSpPr>
        <p:spPr>
          <a:xfrm>
            <a:off x="1164447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AA04A39-756E-40FD-932F-E7691A62AA67}" type="slidenum">
              <a:rPr sz="1200"/>
              <a:t>329</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B340F1F8-1A8A-4484-A157-9F04CB75CCB9}"/>
              </a:ext>
            </a:extLst>
          </p:cNvPr>
          <p:cNvSpPr txBox="1"/>
          <p:nvPr/>
        </p:nvSpPr>
        <p:spPr>
          <a:xfrm>
            <a:off x="2982644" y="6490776"/>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   </a:t>
            </a:r>
            <a:endParaRPr lang="en-GB" sz="900" b="1" i="0" u="none" strike="noStrike" kern="1200" cap="none" spc="0" baseline="0" dirty="0">
              <a:solidFill>
                <a:srgbClr val="008D8E"/>
              </a:solidFill>
              <a:uFillTx/>
              <a:latin typeface="Calibri"/>
              <a:ea typeface="Geneva"/>
              <a:cs typeface="Arial"/>
            </a:endParaRPr>
          </a:p>
        </p:txBody>
      </p:sp>
      <p:sp>
        <p:nvSpPr>
          <p:cNvPr id="8" name="Rectangle 7">
            <a:extLst>
              <a:ext uri="{FF2B5EF4-FFF2-40B4-BE49-F238E27FC236}">
                <a16:creationId xmlns:a16="http://schemas.microsoft.com/office/drawing/2014/main" id="{D47877AB-D951-4EF7-B8A0-4995199AC1F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TextBox 14">
            <a:extLst>
              <a:ext uri="{FF2B5EF4-FFF2-40B4-BE49-F238E27FC236}">
                <a16:creationId xmlns:a16="http://schemas.microsoft.com/office/drawing/2014/main" id="{42DF937D-34C1-42B1-82AE-13DB10AFA87B}"/>
              </a:ext>
            </a:extLst>
          </p:cNvPr>
          <p:cNvSpPr txBox="1"/>
          <p:nvPr/>
        </p:nvSpPr>
        <p:spPr>
          <a:xfrm>
            <a:off x="363966" y="1276273"/>
            <a:ext cx="11665595" cy="258532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BIRDS (Bulk Imports Reduced Data Set) – DE 4/14 Item Price</a:t>
            </a:r>
          </a:p>
          <a:p>
            <a:pPr>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introduction of </a:t>
            </a:r>
            <a:r>
              <a:rPr lang="en-GB" sz="1400" b="0" i="0" u="none" strike="noStrike" kern="1200" cap="none" spc="0" baseline="0">
                <a:solidFill>
                  <a:srgbClr val="000000"/>
                </a:solidFill>
                <a:uFillTx/>
                <a:latin typeface="Calibri  "/>
              </a:rPr>
              <a:t>BIRDS</a:t>
            </a:r>
            <a:r>
              <a:rPr lang="en-GB" sz="1400" b="0" i="0" u="none" strike="noStrike" kern="1200" cap="none" spc="0" baseline="0">
                <a:solidFill>
                  <a:srgbClr val="333333"/>
                </a:solidFill>
                <a:uFillTx/>
                <a:latin typeface="Calibri  "/>
              </a:rPr>
              <a:t> in CDS is a method of customs simplification and trade facilitation. </a:t>
            </a:r>
            <a:r>
              <a:rPr lang="en-GB" sz="1400" b="0" i="0" u="none" strike="noStrike" kern="1200" cap="none" spc="0" baseline="0">
                <a:solidFill>
                  <a:srgbClr val="000000"/>
                </a:solidFill>
                <a:uFillTx/>
                <a:latin typeface="Calibri  "/>
              </a:rPr>
              <a:t>The new data set </a:t>
            </a:r>
            <a:r>
              <a:rPr lang="en-GB" sz="1400" b="0" i="0" u="none" strike="noStrike" kern="1200" cap="none" spc="0" baseline="0">
                <a:solidFill>
                  <a:srgbClr val="333333"/>
                </a:solidFill>
                <a:uFillTx/>
                <a:latin typeface="Calibri  "/>
              </a:rPr>
              <a:t>enables authorised traders to declare multiple consignments of low value goods, on a single customs import declaration. Further details on BIRDS can be found here: </a:t>
            </a:r>
            <a:r>
              <a:rPr lang="en-GB" sz="1400" b="0" i="0" u="none" strike="noStrike" kern="1200" cap="none" spc="0" baseline="0">
                <a:solidFill>
                  <a:srgbClr val="333333"/>
                </a:solidFill>
                <a:uFillTx/>
                <a:latin typeface="Calibri  "/>
                <a:hlinkClick r:id="rId3"/>
              </a:rPr>
              <a:t>https://www.gov.uk/guidance/apply-to-import-multiple-low-value-parcels-on-one-declaration--2</a:t>
            </a:r>
            <a:r>
              <a:rPr lang="en-GB" sz="1400" b="0" i="0" u="none" strike="noStrike" kern="1200" cap="none" spc="0" baseline="0">
                <a:solidFill>
                  <a:srgbClr val="333333"/>
                </a:solidFill>
                <a:uFillTx/>
                <a:latin typeface="Calibri  "/>
              </a:rPr>
              <a:t> </a:t>
            </a: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000000"/>
              </a:solidFill>
              <a:uFillTx/>
              <a:latin typeface="Calibri"/>
            </a:endParaRPr>
          </a:p>
          <a:p>
            <a:pPr>
              <a:defRPr sz="1800" b="0" i="0" u="none" strike="noStrike" kern="0" cap="none" spc="0" baseline="0">
                <a:solidFill>
                  <a:srgbClr val="000000"/>
                </a:solidFill>
                <a:uFillTx/>
              </a:defRPr>
            </a:pPr>
            <a:r>
              <a:rPr lang="en-US" sz="1400">
                <a:solidFill>
                  <a:srgbClr val="000000"/>
                </a:solidFill>
                <a:latin typeface="Calibri"/>
              </a:rPr>
              <a:t>The </a:t>
            </a:r>
            <a:r>
              <a:rPr lang="en-US" sz="1400" b="1">
                <a:solidFill>
                  <a:srgbClr val="000000"/>
                </a:solidFill>
                <a:latin typeface="Calibri"/>
              </a:rPr>
              <a:t>current</a:t>
            </a:r>
            <a:r>
              <a:rPr lang="en-US" sz="1400">
                <a:solidFill>
                  <a:srgbClr val="000000"/>
                </a:solidFill>
                <a:latin typeface="Calibri"/>
              </a:rPr>
              <a:t> rule (implemented in TTM17.0) for </a:t>
            </a:r>
            <a:r>
              <a:rPr lang="en-US" sz="1400" b="1">
                <a:solidFill>
                  <a:srgbClr val="000000"/>
                </a:solidFill>
                <a:latin typeface="Calibri"/>
              </a:rPr>
              <a:t>DE 4/14 </a:t>
            </a:r>
            <a:r>
              <a:rPr lang="en-US" sz="1400">
                <a:solidFill>
                  <a:srgbClr val="000000"/>
                </a:solidFill>
                <a:latin typeface="Calibri"/>
              </a:rPr>
              <a:t>requires </a:t>
            </a:r>
            <a:r>
              <a:rPr lang="en-GB" sz="1400">
                <a:solidFill>
                  <a:srgbClr val="000000"/>
                </a:solidFill>
                <a:latin typeface="Calibri" pitchFamily="34"/>
                <a:ea typeface="Calibri" pitchFamily="34"/>
              </a:rPr>
              <a:t>the value to be entered for the most expensive individual consignment being sent to a single importer, using the BIRDS declaration. The maximum value of a consignment sent to a single individual importer, and cleared using BIRDS, cannot exceed £135. The value entered must be declared in GBP only.</a:t>
            </a:r>
          </a:p>
          <a:p>
            <a:pPr>
              <a:defRPr sz="1800" b="0" i="0" u="none" strike="noStrike" kern="0" cap="none" spc="0" baseline="0">
                <a:solidFill>
                  <a:srgbClr val="000000"/>
                </a:solidFill>
                <a:uFillTx/>
              </a:defRPr>
            </a:pPr>
            <a:endParaRPr lang="en-GB" sz="1400">
              <a:solidFill>
                <a:srgbClr val="000000"/>
              </a:solidFill>
              <a:latin typeface="Calibri" pitchFamily="34"/>
            </a:endParaRPr>
          </a:p>
          <a:p>
            <a:pPr>
              <a:defRPr sz="1800" b="0" i="0" u="none" strike="noStrike" kern="0" cap="none" spc="0" baseline="0">
                <a:solidFill>
                  <a:srgbClr val="000000"/>
                </a:solidFill>
                <a:uFillTx/>
              </a:defRPr>
            </a:pPr>
            <a:endParaRPr lang="en-GB" sz="1400"/>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000000"/>
              </a:solidFill>
              <a:uFillTx/>
              <a:latin typeface="Calibri"/>
            </a:endParaRPr>
          </a:p>
        </p:txBody>
      </p:sp>
      <p:graphicFrame>
        <p:nvGraphicFramePr>
          <p:cNvPr id="13" name="Table 12">
            <a:extLst>
              <a:ext uri="{FF2B5EF4-FFF2-40B4-BE49-F238E27FC236}">
                <a16:creationId xmlns:a16="http://schemas.microsoft.com/office/drawing/2014/main" id="{17311827-85D1-4862-8815-823CDA871A0C}"/>
              </a:ext>
            </a:extLst>
          </p:cNvPr>
          <p:cNvGraphicFramePr>
            <a:graphicFrameLocks noGrp="1"/>
          </p:cNvGraphicFramePr>
          <p:nvPr/>
        </p:nvGraphicFramePr>
        <p:xfrm>
          <a:off x="430588" y="3548242"/>
          <a:ext cx="11397446" cy="2164080"/>
        </p:xfrm>
        <a:graphic>
          <a:graphicData uri="http://schemas.openxmlformats.org/drawingml/2006/table">
            <a:tbl>
              <a:tblPr firstRow="1" bandRow="1">
                <a:effectLst/>
                <a:tableStyleId>{5C22544A-7EE6-4342-B048-85BDC9FD1C3A}</a:tableStyleId>
              </a:tblPr>
              <a:tblGrid>
                <a:gridCol w="1106977">
                  <a:extLst>
                    <a:ext uri="{9D8B030D-6E8A-4147-A177-3AD203B41FA5}">
                      <a16:colId xmlns:a16="http://schemas.microsoft.com/office/drawing/2014/main" val="3915946671"/>
                    </a:ext>
                  </a:extLst>
                </a:gridCol>
                <a:gridCol w="1197734">
                  <a:extLst>
                    <a:ext uri="{9D8B030D-6E8A-4147-A177-3AD203B41FA5}">
                      <a16:colId xmlns:a16="http://schemas.microsoft.com/office/drawing/2014/main" val="2247490691"/>
                    </a:ext>
                  </a:extLst>
                </a:gridCol>
                <a:gridCol w="1536358">
                  <a:extLst>
                    <a:ext uri="{9D8B030D-6E8A-4147-A177-3AD203B41FA5}">
                      <a16:colId xmlns:a16="http://schemas.microsoft.com/office/drawing/2014/main" val="641578491"/>
                    </a:ext>
                  </a:extLst>
                </a:gridCol>
                <a:gridCol w="7556377">
                  <a:extLst>
                    <a:ext uri="{9D8B030D-6E8A-4147-A177-3AD203B41FA5}">
                      <a16:colId xmlns:a16="http://schemas.microsoft.com/office/drawing/2014/main" val="290790711"/>
                    </a:ext>
                  </a:extLst>
                </a:gridCol>
              </a:tblGrid>
              <a:tr h="432710">
                <a:tc>
                  <a:txBody>
                    <a:bodyPr/>
                    <a:lstStyle/>
                    <a:p>
                      <a:r>
                        <a:rPr lang="en-GB" sz="1300">
                          <a:effectLst/>
                        </a:rPr>
                        <a:t>Data Element​</a:t>
                      </a:r>
                      <a:endParaRPr lang="en-GB" sz="1300">
                        <a:effectLst/>
                        <a:latin typeface="Calibri" panose="020F0502020204030204" pitchFamily="34" charset="0"/>
                        <a:ea typeface="Calibri" panose="020F0502020204030204" pitchFamily="34" charset="0"/>
                      </a:endParaRPr>
                    </a:p>
                  </a:txBody>
                  <a:tcPr>
                    <a:solidFill>
                      <a:srgbClr val="009999"/>
                    </a:solidFill>
                  </a:tcPr>
                </a:tc>
                <a:tc>
                  <a:txBody>
                    <a:bodyPr/>
                    <a:lstStyle/>
                    <a:p>
                      <a:r>
                        <a:rPr lang="en-GB" sz="1300">
                          <a:effectLst/>
                        </a:rPr>
                        <a:t>Description​</a:t>
                      </a:r>
                      <a:endParaRPr lang="en-GB" sz="1300">
                        <a:effectLst/>
                        <a:latin typeface="Calibri" panose="020F0502020204030204" pitchFamily="34" charset="0"/>
                        <a:ea typeface="Calibri" panose="020F0502020204030204" pitchFamily="34" charset="0"/>
                      </a:endParaRPr>
                    </a:p>
                  </a:txBody>
                  <a:tcPr>
                    <a:solidFill>
                      <a:srgbClr val="009999"/>
                    </a:solidFill>
                  </a:tcPr>
                </a:tc>
                <a:tc>
                  <a:txBody>
                    <a:bodyPr/>
                    <a:lstStyle/>
                    <a:p>
                      <a:r>
                        <a:rPr lang="en-GB" sz="1300">
                          <a:effectLst/>
                        </a:rPr>
                        <a:t>Header (H), Item (I)​</a:t>
                      </a:r>
                      <a:endParaRPr lang="en-GB" sz="1300">
                        <a:effectLst/>
                        <a:latin typeface="Calibri" panose="020F0502020204030204" pitchFamily="34" charset="0"/>
                        <a:ea typeface="Calibri" panose="020F0502020204030204" pitchFamily="34" charset="0"/>
                      </a:endParaRPr>
                    </a:p>
                  </a:txBody>
                  <a:tcPr>
                    <a:solidFill>
                      <a:srgbClr val="009999"/>
                    </a:solidFill>
                  </a:tcPr>
                </a:tc>
                <a:tc>
                  <a:txBody>
                    <a:bodyPr/>
                    <a:lstStyle/>
                    <a:p>
                      <a:r>
                        <a:rPr lang="en-GB" sz="1300">
                          <a:effectLst/>
                        </a:rPr>
                        <a:t>Notes​</a:t>
                      </a:r>
                      <a:endParaRPr lang="en-GB" sz="1300">
                        <a:effectLst/>
                        <a:latin typeface="Calibri" panose="020F0502020204030204" pitchFamily="34" charset="0"/>
                        <a:ea typeface="Calibri" panose="020F0502020204030204" pitchFamily="34" charset="0"/>
                      </a:endParaRPr>
                    </a:p>
                  </a:txBody>
                  <a:tcPr>
                    <a:solidFill>
                      <a:srgbClr val="009999"/>
                    </a:solidFill>
                  </a:tcPr>
                </a:tc>
                <a:extLst>
                  <a:ext uri="{0D108BD9-81ED-4DB2-BD59-A6C34878D82A}">
                    <a16:rowId xmlns:a16="http://schemas.microsoft.com/office/drawing/2014/main" val="3384468624"/>
                  </a:ext>
                </a:extLst>
              </a:tr>
              <a:tr h="967233">
                <a:tc>
                  <a:txBody>
                    <a:bodyPr/>
                    <a:lstStyle/>
                    <a:p>
                      <a:r>
                        <a:rPr lang="en-GB" sz="1300">
                          <a:effectLst/>
                        </a:rPr>
                        <a:t>4/14​</a:t>
                      </a:r>
                      <a:endParaRPr lang="en-GB" sz="1300">
                        <a:effectLst/>
                        <a:latin typeface="Calibri" panose="020F0502020204030204" pitchFamily="34" charset="0"/>
                        <a:ea typeface="Calibri" panose="020F0502020204030204" pitchFamily="34" charset="0"/>
                      </a:endParaRPr>
                    </a:p>
                  </a:txBody>
                  <a:tcPr/>
                </a:tc>
                <a:tc>
                  <a:txBody>
                    <a:bodyPr/>
                    <a:lstStyle/>
                    <a:p>
                      <a:r>
                        <a:rPr lang="en-GB" sz="1300">
                          <a:effectLst/>
                        </a:rPr>
                        <a:t>Item Price​</a:t>
                      </a:r>
                      <a:endParaRPr lang="en-GB" sz="1300">
                        <a:effectLst/>
                        <a:latin typeface="Calibri" panose="020F0502020204030204" pitchFamily="34" charset="0"/>
                        <a:ea typeface="Calibri" panose="020F0502020204030204" pitchFamily="34" charset="0"/>
                      </a:endParaRPr>
                    </a:p>
                  </a:txBody>
                  <a:tcPr/>
                </a:tc>
                <a:tc>
                  <a:txBody>
                    <a:bodyPr/>
                    <a:lstStyle/>
                    <a:p>
                      <a:r>
                        <a:rPr lang="en-GB" sz="1300">
                          <a:effectLst/>
                        </a:rPr>
                        <a:t>I​</a:t>
                      </a:r>
                      <a:endParaRPr lang="en-GB" sz="1300">
                        <a:effectLst/>
                        <a:latin typeface="Calibri" panose="020F0502020204030204" pitchFamily="34" charset="0"/>
                        <a:ea typeface="Calibri" panose="020F0502020204030204" pitchFamily="34" charset="0"/>
                      </a:endParaRPr>
                    </a:p>
                  </a:txBody>
                  <a:tcPr/>
                </a:tc>
                <a:tc>
                  <a:txBody>
                    <a:bodyPr/>
                    <a:lstStyle/>
                    <a:p>
                      <a:r>
                        <a:rPr lang="en-GB" sz="1300" dirty="0">
                          <a:effectLst/>
                        </a:rPr>
                        <a:t>Enter the value of any individual consignment being sent to a single importer, using the BIRDS declaration. Each individual consignment must have a value which does not exceed £135, but the combined value of multiple consignments declared as a single item will be able to exceed this limit.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effectLst/>
                        </a:rPr>
                        <a:t> </a:t>
                      </a:r>
                    </a:p>
                    <a:p>
                      <a:pPr>
                        <a:defRPr sz="1800" b="0" i="0" u="none" strike="noStrike" kern="0" cap="none" spc="0" baseline="0">
                          <a:solidFill>
                            <a:srgbClr val="000000"/>
                          </a:solidFill>
                          <a:uFillTx/>
                        </a:defRPr>
                      </a:pPr>
                      <a:r>
                        <a:rPr lang="en-US" sz="1300" b="1" u="sng" dirty="0">
                          <a:solidFill>
                            <a:srgbClr val="000000"/>
                          </a:solidFill>
                          <a:latin typeface="+mn-lt"/>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t>T</a:t>
                      </a:r>
                      <a:r>
                        <a:rPr lang="en-GB" sz="1300" dirty="0">
                          <a:effectLst/>
                        </a:rPr>
                        <a:t>he above workaround will be in place from </a:t>
                      </a:r>
                      <a:r>
                        <a:rPr lang="en-GB" sz="1300" b="1" dirty="0">
                          <a:effectLst/>
                        </a:rPr>
                        <a:t>CDS 3.7.1, </a:t>
                      </a:r>
                      <a:r>
                        <a:rPr lang="en-GB" sz="1300" dirty="0">
                          <a:effectLst/>
                        </a:rPr>
                        <a:t>on the </a:t>
                      </a:r>
                      <a:r>
                        <a:rPr lang="en-GB" sz="1300" b="1" dirty="0">
                          <a:effectLst/>
                        </a:rPr>
                        <a:t>30</a:t>
                      </a:r>
                      <a:r>
                        <a:rPr lang="en-GB" sz="1300" b="1" baseline="30000" dirty="0">
                          <a:effectLst/>
                        </a:rPr>
                        <a:t>th</a:t>
                      </a:r>
                      <a:r>
                        <a:rPr lang="en-GB" sz="1300" b="1" dirty="0">
                          <a:effectLst/>
                        </a:rPr>
                        <a:t> of July 2022</a:t>
                      </a:r>
                      <a:r>
                        <a:rPr lang="en-GB" sz="1300" dirty="0">
                          <a:effectLst/>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300" dirty="0">
                          <a:effectLst/>
                        </a:rPr>
                        <a:t>From </a:t>
                      </a:r>
                      <a:r>
                        <a:rPr lang="en-GB" sz="1300" b="1" dirty="0">
                          <a:effectLst/>
                        </a:rPr>
                        <a:t>CDS 3.8.0, </a:t>
                      </a:r>
                      <a:r>
                        <a:rPr lang="en-GB" sz="1300" b="0" dirty="0">
                          <a:effectLst/>
                        </a:rPr>
                        <a:t>a</a:t>
                      </a:r>
                      <a:r>
                        <a:rPr lang="en-GB" sz="1300" kern="1200" dirty="0">
                          <a:solidFill>
                            <a:srgbClr val="000000"/>
                          </a:solidFill>
                          <a:effectLst/>
                          <a:latin typeface="+mn-lt"/>
                          <a:ea typeface="+mn-ea"/>
                          <a:cs typeface="+mn-cs"/>
                        </a:rPr>
                        <a:t> £135 limit will apply on individual consignments using BIRDS. However,</a:t>
                      </a:r>
                      <a:r>
                        <a:rPr lang="en-GB" sz="1300" dirty="0">
                          <a:effectLst/>
                        </a:rPr>
                        <a:t> a monetary limit will </a:t>
                      </a:r>
                      <a:r>
                        <a:rPr lang="en-GB" sz="1300" b="1" dirty="0">
                          <a:effectLst/>
                        </a:rPr>
                        <a:t>no longer </a:t>
                      </a:r>
                      <a:r>
                        <a:rPr lang="en-GB" sz="1300" dirty="0">
                          <a:effectLst/>
                        </a:rPr>
                        <a:t>be applied on the total value of the consignments included on the declaration.</a:t>
                      </a:r>
                    </a:p>
                  </a:txBody>
                  <a:tcPr/>
                </a:tc>
                <a:extLst>
                  <a:ext uri="{0D108BD9-81ED-4DB2-BD59-A6C34878D82A}">
                    <a16:rowId xmlns:a16="http://schemas.microsoft.com/office/drawing/2014/main" val="2674908348"/>
                  </a:ext>
                </a:extLst>
              </a:tr>
            </a:tbl>
          </a:graphicData>
        </a:graphic>
      </p:graphicFrame>
      <p:sp>
        <p:nvSpPr>
          <p:cNvPr id="15" name="TextBox 14">
            <a:extLst>
              <a:ext uri="{FF2B5EF4-FFF2-40B4-BE49-F238E27FC236}">
                <a16:creationId xmlns:a16="http://schemas.microsoft.com/office/drawing/2014/main" id="{69AAD820-029A-4F68-8EC5-C8A30FEDE5C6}"/>
              </a:ext>
            </a:extLst>
          </p:cNvPr>
          <p:cNvSpPr txBox="1"/>
          <p:nvPr/>
        </p:nvSpPr>
        <p:spPr>
          <a:xfrm>
            <a:off x="348455" y="3243275"/>
            <a:ext cx="11665595" cy="52322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BIRDS - DE 4/14 Item Price Amendment (CDS 3.7.1)</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a:effectLst/>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2331958266"/>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F1B2FE38-CD22-4D65-A48B-D04115926303}"/>
              </a:ext>
            </a:extLst>
          </p:cNvPr>
          <p:cNvSpPr/>
          <p:nvPr/>
        </p:nvSpPr>
        <p:spPr>
          <a:xfrm>
            <a:off x="466831" y="3111568"/>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05DE99E7-1CA2-4635-A843-2B6E3E715E51}"/>
              </a:ext>
            </a:extLst>
          </p:cNvPr>
          <p:cNvSpPr/>
          <p:nvPr/>
        </p:nvSpPr>
        <p:spPr>
          <a:xfrm>
            <a:off x="377796" y="2670507"/>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A7D50DC4-40D7-4EC0-B785-6A8E57602789}"/>
              </a:ext>
            </a:extLst>
          </p:cNvPr>
          <p:cNvGraphicFramePr>
            <a:graphicFrameLocks noGrp="1"/>
          </p:cNvGraphicFramePr>
          <p:nvPr/>
        </p:nvGraphicFramePr>
        <p:xfrm>
          <a:off x="489097" y="3620376"/>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638656412"/>
                    </a:ext>
                  </a:extLst>
                </a:gridCol>
              </a:tblGrid>
              <a:tr h="220434">
                <a:tc>
                  <a:txBody>
                    <a:bodyPr/>
                    <a:lstStyle/>
                    <a:p>
                      <a:pPr lvl="0" algn="ctr"/>
                      <a:r>
                        <a:rPr lang="en-GB" sz="1200"/>
                        <a:t>TTM19.0 (CDS 3.7.0)</a:t>
                      </a:r>
                    </a:p>
                  </a:txBody>
                  <a:tcPr>
                    <a:solidFill>
                      <a:srgbClr val="595959"/>
                    </a:solidFill>
                  </a:tcPr>
                </a:tc>
                <a:extLst>
                  <a:ext uri="{0D108BD9-81ED-4DB2-BD59-A6C34878D82A}">
                    <a16:rowId xmlns:a16="http://schemas.microsoft.com/office/drawing/2014/main" val="3343482130"/>
                  </a:ext>
                </a:extLst>
              </a:tr>
              <a:tr h="261975">
                <a:tc>
                  <a:txBody>
                    <a:bodyPr/>
                    <a:lstStyle/>
                    <a:p>
                      <a:pPr lvl="0" algn="ctr"/>
                      <a:r>
                        <a:rPr lang="en-GB" sz="1200" b="1" dirty="0">
                          <a:solidFill>
                            <a:srgbClr val="000000"/>
                          </a:solidFill>
                        </a:rPr>
                        <a:t>TT:</a:t>
                      </a:r>
                      <a:r>
                        <a:rPr lang="en-GB" sz="1200" b="0" dirty="0">
                          <a:solidFill>
                            <a:srgbClr val="000000"/>
                          </a:solidFill>
                        </a:rPr>
                        <a:t> 16/06/2022   </a:t>
                      </a:r>
                      <a:r>
                        <a:rPr lang="en-GB" sz="1200" b="1" dirty="0">
                          <a:solidFill>
                            <a:srgbClr val="000000"/>
                          </a:solidFill>
                        </a:rPr>
                        <a:t>TDR: </a:t>
                      </a:r>
                      <a:r>
                        <a:rPr lang="en-GB" sz="1200" b="0" dirty="0">
                          <a:solidFill>
                            <a:srgbClr val="000000"/>
                          </a:solidFill>
                        </a:rPr>
                        <a:t>28/06/2022 (TBC)   </a:t>
                      </a:r>
                      <a:r>
                        <a:rPr lang="en-GB" sz="1200" b="1" dirty="0">
                          <a:solidFill>
                            <a:srgbClr val="000000"/>
                          </a:solidFill>
                        </a:rPr>
                        <a:t>Live: </a:t>
                      </a:r>
                      <a:r>
                        <a:rPr lang="en-GB" sz="1200" b="0" dirty="0">
                          <a:solidFill>
                            <a:srgbClr val="000000"/>
                          </a:solidFill>
                        </a:rPr>
                        <a:t>25/06/2022 (TBC)</a:t>
                      </a:r>
                    </a:p>
                  </a:txBody>
                  <a:tcPr>
                    <a:solidFill>
                      <a:srgbClr val="E7E6E6"/>
                    </a:solidFill>
                  </a:tcPr>
                </a:tc>
                <a:extLst>
                  <a:ext uri="{0D108BD9-81ED-4DB2-BD59-A6C34878D82A}">
                    <a16:rowId xmlns:a16="http://schemas.microsoft.com/office/drawing/2014/main" val="2532925378"/>
                  </a:ext>
                </a:extLst>
              </a:tr>
            </a:tbl>
          </a:graphicData>
        </a:graphic>
      </p:graphicFrame>
      <p:cxnSp>
        <p:nvCxnSpPr>
          <p:cNvPr id="6" name="Straight Connector 11">
            <a:extLst>
              <a:ext uri="{FF2B5EF4-FFF2-40B4-BE49-F238E27FC236}">
                <a16:creationId xmlns:a16="http://schemas.microsoft.com/office/drawing/2014/main" id="{29C835E6-FA64-4C4B-95C9-36F75E044EA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419AB926-AAFF-4072-A278-3875CCCE00B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6DB79EF2-848A-4943-96EE-F8CD5B514A07}"/>
              </a:ext>
            </a:extLst>
          </p:cNvPr>
          <p:cNvSpPr/>
          <p:nvPr/>
        </p:nvSpPr>
        <p:spPr>
          <a:xfrm>
            <a:off x="397336" y="3567625"/>
            <a:ext cx="11397328" cy="2496528"/>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BFD892D4-2284-41E3-B00D-C2DE64DB6ECE}"/>
              </a:ext>
            </a:extLst>
          </p:cNvPr>
          <p:cNvGrpSpPr/>
          <p:nvPr/>
        </p:nvGrpSpPr>
        <p:grpSpPr>
          <a:xfrm>
            <a:off x="892909" y="3129141"/>
            <a:ext cx="2801739" cy="276999"/>
            <a:chOff x="879085" y="3280007"/>
            <a:chExt cx="2801739" cy="276999"/>
          </a:xfrm>
        </p:grpSpPr>
        <p:sp>
          <p:nvSpPr>
            <p:cNvPr id="10" name="TextBox 7">
              <a:extLst>
                <a:ext uri="{FF2B5EF4-FFF2-40B4-BE49-F238E27FC236}">
                  <a16:creationId xmlns:a16="http://schemas.microsoft.com/office/drawing/2014/main" id="{FF217A2E-6833-4894-AA03-D48C179A1ED0}"/>
                </a:ext>
              </a:extLst>
            </p:cNvPr>
            <p:cNvSpPr txBox="1"/>
            <p:nvPr/>
          </p:nvSpPr>
          <p:spPr>
            <a:xfrm>
              <a:off x="879085" y="3280007"/>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FE717AF4-1989-4438-A3C3-8106DD04229B}"/>
                </a:ext>
              </a:extLst>
            </p:cNvPr>
            <p:cNvSpPr/>
            <p:nvPr/>
          </p:nvSpPr>
          <p:spPr>
            <a:xfrm>
              <a:off x="926159" y="334498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9E81D7EA-43D6-4842-B194-74D46DA351B2}"/>
              </a:ext>
            </a:extLst>
          </p:cNvPr>
          <p:cNvGraphicFramePr>
            <a:graphicFrameLocks noGrp="1"/>
          </p:cNvGraphicFramePr>
          <p:nvPr/>
        </p:nvGraphicFramePr>
        <p:xfrm>
          <a:off x="489097" y="4170333"/>
          <a:ext cx="11213806" cy="1762506"/>
        </p:xfrm>
        <a:graphic>
          <a:graphicData uri="http://schemas.openxmlformats.org/drawingml/2006/table">
            <a:tbl>
              <a:tblPr firstRow="1" bandRow="1">
                <a:effectLst/>
                <a:tableStyleId>{5C22544A-7EE6-4342-B048-85BDC9FD1C3A}</a:tableStyleId>
              </a:tblPr>
              <a:tblGrid>
                <a:gridCol w="2758986">
                  <a:extLst>
                    <a:ext uri="{9D8B030D-6E8A-4147-A177-3AD203B41FA5}">
                      <a16:colId xmlns:a16="http://schemas.microsoft.com/office/drawing/2014/main" val="779403539"/>
                    </a:ext>
                  </a:extLst>
                </a:gridCol>
                <a:gridCol w="2785084">
                  <a:extLst>
                    <a:ext uri="{9D8B030D-6E8A-4147-A177-3AD203B41FA5}">
                      <a16:colId xmlns:a16="http://schemas.microsoft.com/office/drawing/2014/main" val="2681044202"/>
                    </a:ext>
                  </a:extLst>
                </a:gridCol>
                <a:gridCol w="2880831">
                  <a:extLst>
                    <a:ext uri="{9D8B030D-6E8A-4147-A177-3AD203B41FA5}">
                      <a16:colId xmlns:a16="http://schemas.microsoft.com/office/drawing/2014/main" val="2178781722"/>
                    </a:ext>
                  </a:extLst>
                </a:gridCol>
                <a:gridCol w="2788905">
                  <a:extLst>
                    <a:ext uri="{9D8B030D-6E8A-4147-A177-3AD203B41FA5}">
                      <a16:colId xmlns:a16="http://schemas.microsoft.com/office/drawing/2014/main" val="1115497236"/>
                    </a:ext>
                  </a:extLst>
                </a:gridCol>
              </a:tblGrid>
              <a:tr h="587502">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3" action="ppaction://hlinksldjump"/>
                        </a:rPr>
                        <a:t>Energy Movements via FTIs</a:t>
                      </a: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a:solidFill>
                            <a:srgbClr val="000000"/>
                          </a:solidFill>
                          <a:uFillTx/>
                          <a:latin typeface="+mn-lt"/>
                          <a:hlinkClick r:id="rId4" action="ppaction://hlinksldjump"/>
                        </a:rPr>
                        <a:t>Imports from the Continental Shelf</a:t>
                      </a:r>
                      <a:endParaRPr lang="en-GB" sz="1200" b="0" i="0" u="none" strike="noStrike" kern="1200" cap="none" spc="0" baseline="0">
                        <a:solidFill>
                          <a:srgbClr val="000000"/>
                        </a:solidFill>
                        <a:uFillTx/>
                        <a:latin typeface="+mn-lt"/>
                      </a:endParaRPr>
                    </a:p>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a:solidFill>
                            <a:srgbClr val="000000"/>
                          </a:solidFill>
                          <a:uFillTx/>
                          <a:latin typeface="+mn-lt"/>
                          <a:hlinkClick r:id="rId5" action="ppaction://hlinksldjump"/>
                        </a:rPr>
                        <a:t>Composite Goods Containing Alcohol &amp; Mineral Oils</a:t>
                      </a:r>
                      <a:endParaRPr lang="en-GB" sz="1200" b="0" i="0" u="none" strike="noStrike" kern="1200" cap="none" spc="0" baseline="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a:solidFill>
                            <a:srgbClr val="000000"/>
                          </a:solidFill>
                          <a:uFillTx/>
                          <a:latin typeface="+mn-lt"/>
                          <a:hlinkClick r:id="rId6" action="ppaction://hlinksldjump"/>
                        </a:rPr>
                        <a:t>Simplified Declarations: Type B&amp;E</a:t>
                      </a:r>
                      <a:endParaRPr lang="en-GB" sz="1200" b="0" i="0" u="none" strike="noStrike" kern="1200" cap="none" spc="0" baseline="0">
                        <a:solidFill>
                          <a:srgbClr val="000000"/>
                        </a:solidFill>
                        <a:uFillTx/>
                        <a:latin typeface="+mn-lt"/>
                      </a:endParaRPr>
                    </a:p>
                    <a:p>
                      <a:pPr marL="0" marR="0" lvl="0" indent="0" algn="l" rtl="0" fontAlgn="auto" hangingPunct="1">
                        <a:lnSpc>
                          <a:spcPct val="100000"/>
                        </a:lnSpc>
                        <a:spcBef>
                          <a:spcPts val="0"/>
                        </a:spcBef>
                        <a:spcAft>
                          <a:spcPts val="0"/>
                        </a:spcAft>
                        <a:buNone/>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4331019"/>
                  </a:ext>
                </a:extLst>
              </a:tr>
              <a:tr h="587502">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dirty="0">
                          <a:solidFill>
                            <a:srgbClr val="000000"/>
                          </a:solidFill>
                          <a:uFillTx/>
                          <a:latin typeface="+mn-lt"/>
                          <a:hlinkClick r:id="rId6" action="ppaction://hlinksldjump"/>
                        </a:rPr>
                        <a:t>Tariff Misalignments: </a:t>
                      </a:r>
                      <a:r>
                        <a:rPr lang="en-GB" sz="1200" b="0" i="0" u="none" strike="noStrike" kern="0" cap="none" spc="0" baseline="0" dirty="0">
                          <a:solidFill>
                            <a:srgbClr val="000000"/>
                          </a:solidFill>
                          <a:uFillTx/>
                          <a:latin typeface="+mn-lt"/>
                          <a:hlinkClick r:id="rId6" action="ppaction://hlinksldjump"/>
                        </a:rPr>
                        <a:t>Suspension &amp; Relief - Security APCs</a:t>
                      </a:r>
                      <a:endParaRPr lang="en-GB" sz="1200" b="0" i="0" u="none"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dirty="0">
                          <a:solidFill>
                            <a:srgbClr val="000000"/>
                          </a:solidFill>
                          <a:uFillTx/>
                          <a:latin typeface="+mn-lt"/>
                          <a:hlinkClick r:id="rId7" action="ppaction://hlinksldjump"/>
                        </a:rPr>
                        <a:t>Tariff Misalignments: Procedure Code Combinations &amp; Guarantee Types </a:t>
                      </a:r>
                      <a:endParaRPr lang="en-GB" sz="1200" b="0" i="0" u="none"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dirty="0">
                          <a:solidFill>
                            <a:srgbClr val="000000"/>
                          </a:solidFill>
                          <a:uFillTx/>
                          <a:latin typeface="+mn-lt"/>
                          <a:hlinkClick r:id="rId8" action="ppaction://hlinksldjump"/>
                        </a:rPr>
                        <a:t>Tariff Misalignments: Freeports APC ’19Z’</a:t>
                      </a:r>
                      <a:endParaRPr lang="en-GB" sz="1200" b="0" i="0" u="none"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1200" cap="none" spc="0" baseline="0" dirty="0">
                          <a:solidFill>
                            <a:srgbClr val="000000"/>
                          </a:solidFill>
                          <a:uFillTx/>
                          <a:latin typeface="+mn-lt"/>
                          <a:hlinkClick r:id="rId9" action="ppaction://hlinksldjump"/>
                        </a:rPr>
                        <a:t>Tariff Misalignments: </a:t>
                      </a:r>
                      <a:r>
                        <a:rPr lang="en-GB" sz="1200" b="0" i="0" u="none" strike="noStrike" kern="0" cap="none" spc="0" baseline="0" dirty="0">
                          <a:solidFill>
                            <a:srgbClr val="000000"/>
                          </a:solidFill>
                          <a:uFillTx/>
                          <a:latin typeface="+mn-lt"/>
                          <a:hlinkClick r:id="rId9" action="ppaction://hlinksldjump"/>
                        </a:rPr>
                        <a:t>APC ‘F45’ Validation</a:t>
                      </a:r>
                      <a:r>
                        <a:rPr lang="en-GB" sz="1200" b="0" i="0" u="none" strike="noStrike" kern="1200" cap="none" spc="0" baseline="0" dirty="0">
                          <a:solidFill>
                            <a:srgbClr val="333333"/>
                          </a:solidFill>
                          <a:uFillTx/>
                          <a:latin typeface="Calibri  "/>
                          <a:hlinkClick r:id="rId9" action="ppaction://hlinksldjump"/>
                        </a:rPr>
                        <a:t> &amp; Transport Means</a:t>
                      </a:r>
                      <a:endParaRPr lang="en-GB" sz="1200" b="0" i="0" u="none" strike="noStrike" kern="1200" cap="none" spc="0" baseline="0" dirty="0">
                        <a:solidFill>
                          <a:srgbClr val="000000"/>
                        </a:solidFill>
                        <a:uFillTx/>
                        <a:latin typeface="+mn-l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727843542"/>
                  </a:ext>
                </a:extLst>
              </a:tr>
              <a:tr h="587502">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strike="noStrike" kern="0" cap="none" spc="0" baseline="0">
                          <a:solidFill>
                            <a:schemeClr val="tx1"/>
                          </a:solidFill>
                          <a:uFillTx/>
                          <a:latin typeface="+mn-lt"/>
                          <a:hlinkClick r:id="rId10" action="ppaction://hlinksldjump"/>
                        </a:rPr>
                        <a:t>Identifying Vehicle Registration on Type B&amp;E Declarations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indent="-171450">
                        <a:buFont typeface="Arial" panose="020B0604020202020204" pitchFamily="34" charset="0"/>
                        <a:buChar char="•"/>
                        <a:defRPr sz="1800" b="0" i="0" u="none" strike="noStrike" kern="0" cap="none" spc="0" baseline="0">
                          <a:solidFill>
                            <a:srgbClr val="000000"/>
                          </a:solidFill>
                          <a:uFillTx/>
                        </a:defRPr>
                      </a:pPr>
                      <a:r>
                        <a:rPr lang="en-GB" sz="1200" b="0" i="0" u="none" kern="1200">
                          <a:solidFill>
                            <a:schemeClr val="dk1"/>
                          </a:solidFill>
                          <a:effectLst/>
                          <a:latin typeface="+mn-lt"/>
                          <a:ea typeface="+mn-ea"/>
                          <a:cs typeface="+mn-cs"/>
                          <a:hlinkClick r:id="rId11" action="ppaction://hlinksldjump"/>
                        </a:rPr>
                        <a:t>Pre-emptive Document Upload</a:t>
                      </a:r>
                      <a:endParaRPr lang="en-GB" sz="1200" b="0" i="0" u="none" kern="1200">
                        <a:solidFill>
                          <a:schemeClr val="dk1"/>
                        </a:solidFill>
                        <a:effectLst/>
                        <a:latin typeface="+mn-lt"/>
                        <a:ea typeface="+mn-ea"/>
                        <a:cs typeface="+mn-cs"/>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u="none">
                          <a:effectLst/>
                          <a:latin typeface="Calibri  "/>
                          <a:hlinkClick r:id="rId11" action="ppaction://hlinksldjump"/>
                        </a:rPr>
                        <a:t>Digital Application for Reimbursement (C&amp;E1179 Claims)</a:t>
                      </a:r>
                      <a:endParaRPr lang="en-GB" sz="1200" b="0" i="0" u="none">
                        <a:effectLst/>
                        <a:latin typeface="Calibri  "/>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a:lnSpc>
                          <a:spcPct val="100000"/>
                        </a:lnSpc>
                        <a:spcBef>
                          <a:spcPts val="0"/>
                        </a:spcBef>
                        <a:spcAft>
                          <a:spcPts val="0"/>
                        </a:spcAft>
                        <a:buNone/>
                      </a:pPr>
                      <a:endParaRPr lang="en-GB" sz="1200" b="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025450381"/>
                  </a:ext>
                </a:extLst>
              </a:tr>
            </a:tbl>
          </a:graphicData>
        </a:graphic>
      </p:graphicFrame>
      <p:grpSp>
        <p:nvGrpSpPr>
          <p:cNvPr id="13" name="Group 4">
            <a:extLst>
              <a:ext uri="{FF2B5EF4-FFF2-40B4-BE49-F238E27FC236}">
                <a16:creationId xmlns:a16="http://schemas.microsoft.com/office/drawing/2014/main" id="{FFAB8E58-755A-424A-8684-E145AB0AE5C3}"/>
              </a:ext>
            </a:extLst>
          </p:cNvPr>
          <p:cNvGrpSpPr/>
          <p:nvPr/>
        </p:nvGrpSpPr>
        <p:grpSpPr>
          <a:xfrm>
            <a:off x="2677412" y="3135196"/>
            <a:ext cx="3199302" cy="276999"/>
            <a:chOff x="2663583" y="3286719"/>
            <a:chExt cx="3199302" cy="276999"/>
          </a:xfrm>
        </p:grpSpPr>
        <p:sp>
          <p:nvSpPr>
            <p:cNvPr id="14" name="TextBox 7">
              <a:extLst>
                <a:ext uri="{FF2B5EF4-FFF2-40B4-BE49-F238E27FC236}">
                  <a16:creationId xmlns:a16="http://schemas.microsoft.com/office/drawing/2014/main" id="{306015AF-D8D0-48B9-ABBA-68D25A168492}"/>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80DD87C8-4CBC-463B-82E1-5A0ABBC523BE}"/>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EB0473ED-89B2-4206-827C-8176B3710F25}"/>
              </a:ext>
            </a:extLst>
          </p:cNvPr>
          <p:cNvSpPr/>
          <p:nvPr/>
        </p:nvSpPr>
        <p:spPr>
          <a:xfrm>
            <a:off x="466831" y="3108084"/>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E72E9798-1D31-4025-8E84-7A29B99405FD}"/>
              </a:ext>
            </a:extLst>
          </p:cNvPr>
          <p:cNvGrpSpPr/>
          <p:nvPr/>
        </p:nvGrpSpPr>
        <p:grpSpPr>
          <a:xfrm>
            <a:off x="5902290" y="3134656"/>
            <a:ext cx="4848834" cy="276999"/>
            <a:chOff x="5888461" y="3286179"/>
            <a:chExt cx="4848834" cy="276999"/>
          </a:xfrm>
        </p:grpSpPr>
        <p:sp>
          <p:nvSpPr>
            <p:cNvPr id="18" name="TextBox 7">
              <a:extLst>
                <a:ext uri="{FF2B5EF4-FFF2-40B4-BE49-F238E27FC236}">
                  <a16:creationId xmlns:a16="http://schemas.microsoft.com/office/drawing/2014/main" id="{9B404726-F68B-49EA-BE46-D437C6F842C0}"/>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025165B8-3586-4102-B9C8-E26CCD309AD4}"/>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7AA1B221-B021-4260-8721-40CE057CAF05}"/>
              </a:ext>
            </a:extLst>
          </p:cNvPr>
          <p:cNvSpPr/>
          <p:nvPr/>
        </p:nvSpPr>
        <p:spPr>
          <a:xfrm>
            <a:off x="560227" y="423878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45768143-C483-48CF-9D60-BE125479B16B}"/>
              </a:ext>
            </a:extLst>
          </p:cNvPr>
          <p:cNvSpPr txBox="1"/>
          <p:nvPr/>
        </p:nvSpPr>
        <p:spPr>
          <a:xfrm>
            <a:off x="1165235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FA4E643-9772-4DD3-849F-AB4F3BD273B9}" type="slidenum">
              <a:rPr sz="1200"/>
              <a:t>330</a:t>
            </a:fld>
            <a:endParaRPr lang="en-GB" sz="1200" b="0" i="0" u="none" strike="noStrike" kern="1200" cap="none" spc="0" baseline="0">
              <a:solidFill>
                <a:srgbClr val="000000"/>
              </a:solidFill>
              <a:uFillTx/>
              <a:latin typeface="Calibri"/>
            </a:endParaRPr>
          </a:p>
        </p:txBody>
      </p:sp>
      <p:sp>
        <p:nvSpPr>
          <p:cNvPr id="23" name="Rectangle 27">
            <a:extLst>
              <a:ext uri="{FF2B5EF4-FFF2-40B4-BE49-F238E27FC236}">
                <a16:creationId xmlns:a16="http://schemas.microsoft.com/office/drawing/2014/main" id="{D0D52CA3-A145-4B8B-9A3F-4AE6ECBC5E48}"/>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40FDF47D-B2DD-4FA0-991E-5FB9EF0E039F}"/>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solidFill>
                  <a:srgbClr val="000000"/>
                </a:solidFill>
                <a:uFillTx/>
                <a:latin typeface="Calibri"/>
              </a:rPr>
              <a:t> issued CDS Scope Guidance can be found </a:t>
            </a:r>
            <a:r>
              <a:rPr lang="en-GB" sz="1400" b="0" i="0" u="none" strike="noStrike" kern="1200" cap="none" spc="0" baseline="0">
                <a:solidFill>
                  <a:srgbClr val="000000"/>
                </a:solidFill>
                <a:uFillTx/>
                <a:latin typeface="Calibri  "/>
              </a:rPr>
              <a:t>in the </a:t>
            </a:r>
            <a:r>
              <a:rPr lang="en-GB" sz="1400" b="0" i="0" u="none" strike="noStrike" kern="1200" cap="none" spc="0" baseline="0">
                <a:solidFill>
                  <a:srgbClr val="6264A7"/>
                </a:solidFill>
                <a:uFillTx/>
                <a:latin typeface="Calibri  "/>
                <a:hlinkClick r:id="rId12"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a:solidFill>
                  <a:srgbClr val="252423"/>
                </a:solidFill>
                <a:uFillTx/>
                <a:latin typeface="Calibri  "/>
              </a:rPr>
              <a:t> section of the Customs Declaration Service end-to-end service guide within the HMRC Developer Hub</a:t>
            </a:r>
            <a:r>
              <a:rPr lang="en-GB" sz="1400" b="0" i="0" u="none" strike="noStrike" kern="1200" cap="none" spc="0" baseline="0">
                <a:solidFill>
                  <a:srgbClr val="000000"/>
                </a:solidFill>
                <a:uFillTx/>
                <a:latin typeface="Calibri  "/>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If you have any questions regarding this release, please send your query to </a:t>
            </a:r>
            <a:r>
              <a:rPr lang="en-GB" sz="1400" b="0" i="0" u="none" strike="noStrike" kern="1200" cap="none" spc="0" baseline="0">
                <a:solidFill>
                  <a:srgbClr val="000000"/>
                </a:solidFill>
                <a:uFillTx/>
                <a:latin typeface="Calibri"/>
                <a:ea typeface="Calibri" pitchFamily="34"/>
                <a:cs typeface="Calibri"/>
                <a:hlinkClick r:id="rId13"/>
              </a:rPr>
              <a:t>SDSTeam@hmrc.gov.uk</a:t>
            </a:r>
            <a:r>
              <a:rPr lang="en-GB" sz="1400" b="0" i="0" u="none" strike="noStrike" kern="1200" cap="none" spc="0" baseline="0">
                <a:solidFill>
                  <a:srgbClr val="000000"/>
                </a:solidFill>
                <a:uFillTx/>
                <a:latin typeface="Calibri"/>
                <a:ea typeface="Calibri" pitchFamily="34"/>
                <a:cs typeface="Calibri"/>
              </a:rPr>
              <a:t>.</a:t>
            </a:r>
          </a:p>
        </p:txBody>
      </p:sp>
      <p:sp>
        <p:nvSpPr>
          <p:cNvPr id="26" name="Oval 16">
            <a:extLst>
              <a:ext uri="{FF2B5EF4-FFF2-40B4-BE49-F238E27FC236}">
                <a16:creationId xmlns:a16="http://schemas.microsoft.com/office/drawing/2014/main" id="{68FAC05C-F7C3-4A57-B5B3-46F43A02A7DC}"/>
              </a:ext>
            </a:extLst>
          </p:cNvPr>
          <p:cNvSpPr/>
          <p:nvPr/>
        </p:nvSpPr>
        <p:spPr>
          <a:xfrm>
            <a:off x="3286316" y="423869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16">
            <a:extLst>
              <a:ext uri="{FF2B5EF4-FFF2-40B4-BE49-F238E27FC236}">
                <a16:creationId xmlns:a16="http://schemas.microsoft.com/office/drawing/2014/main" id="{69F51D92-F248-4F5F-AF1A-85703A6C09E2}"/>
              </a:ext>
            </a:extLst>
          </p:cNvPr>
          <p:cNvSpPr/>
          <p:nvPr/>
        </p:nvSpPr>
        <p:spPr>
          <a:xfrm>
            <a:off x="6096000" y="423878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16">
            <a:extLst>
              <a:ext uri="{FF2B5EF4-FFF2-40B4-BE49-F238E27FC236}">
                <a16:creationId xmlns:a16="http://schemas.microsoft.com/office/drawing/2014/main" id="{516262B4-FE22-446F-B9ED-4946A92B8A87}"/>
              </a:ext>
            </a:extLst>
          </p:cNvPr>
          <p:cNvSpPr/>
          <p:nvPr/>
        </p:nvSpPr>
        <p:spPr>
          <a:xfrm>
            <a:off x="8963161" y="423869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Oval 16">
            <a:extLst>
              <a:ext uri="{FF2B5EF4-FFF2-40B4-BE49-F238E27FC236}">
                <a16:creationId xmlns:a16="http://schemas.microsoft.com/office/drawing/2014/main" id="{BB1CE2D6-B274-4DCD-9529-6B81E0C935A8}"/>
              </a:ext>
            </a:extLst>
          </p:cNvPr>
          <p:cNvSpPr/>
          <p:nvPr/>
        </p:nvSpPr>
        <p:spPr>
          <a:xfrm>
            <a:off x="6095999" y="541024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1" name="Oval 16">
            <a:extLst>
              <a:ext uri="{FF2B5EF4-FFF2-40B4-BE49-F238E27FC236}">
                <a16:creationId xmlns:a16="http://schemas.microsoft.com/office/drawing/2014/main" id="{6F2D90D5-4AED-4A86-896F-CF8365C16D2E}"/>
              </a:ext>
            </a:extLst>
          </p:cNvPr>
          <p:cNvSpPr/>
          <p:nvPr/>
        </p:nvSpPr>
        <p:spPr>
          <a:xfrm>
            <a:off x="3286316" y="541123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Oval 16">
            <a:extLst>
              <a:ext uri="{FF2B5EF4-FFF2-40B4-BE49-F238E27FC236}">
                <a16:creationId xmlns:a16="http://schemas.microsoft.com/office/drawing/2014/main" id="{3E91EBB9-6DD9-4E9E-BD79-E64781041C99}"/>
              </a:ext>
            </a:extLst>
          </p:cNvPr>
          <p:cNvSpPr/>
          <p:nvPr/>
        </p:nvSpPr>
        <p:spPr>
          <a:xfrm>
            <a:off x="560224" y="541024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3" name="Oval 16">
            <a:extLst>
              <a:ext uri="{FF2B5EF4-FFF2-40B4-BE49-F238E27FC236}">
                <a16:creationId xmlns:a16="http://schemas.microsoft.com/office/drawing/2014/main" id="{D9DB8ED2-B592-42E4-AAEB-62D524EA2DBE}"/>
              </a:ext>
            </a:extLst>
          </p:cNvPr>
          <p:cNvSpPr/>
          <p:nvPr/>
        </p:nvSpPr>
        <p:spPr>
          <a:xfrm>
            <a:off x="560225" y="483084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4" name="Oval 16">
            <a:extLst>
              <a:ext uri="{FF2B5EF4-FFF2-40B4-BE49-F238E27FC236}">
                <a16:creationId xmlns:a16="http://schemas.microsoft.com/office/drawing/2014/main" id="{3B989F2F-BBF5-4EED-AE26-08E75337EDD3}"/>
              </a:ext>
            </a:extLst>
          </p:cNvPr>
          <p:cNvSpPr/>
          <p:nvPr/>
        </p:nvSpPr>
        <p:spPr>
          <a:xfrm>
            <a:off x="3286316" y="480618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Oval 16">
            <a:extLst>
              <a:ext uri="{FF2B5EF4-FFF2-40B4-BE49-F238E27FC236}">
                <a16:creationId xmlns:a16="http://schemas.microsoft.com/office/drawing/2014/main" id="{6C7A79A1-8F58-4BFA-BDDD-78BD91A9D4A6}"/>
              </a:ext>
            </a:extLst>
          </p:cNvPr>
          <p:cNvSpPr/>
          <p:nvPr/>
        </p:nvSpPr>
        <p:spPr>
          <a:xfrm>
            <a:off x="6095999" y="483517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6" name="Oval 16">
            <a:extLst>
              <a:ext uri="{FF2B5EF4-FFF2-40B4-BE49-F238E27FC236}">
                <a16:creationId xmlns:a16="http://schemas.microsoft.com/office/drawing/2014/main" id="{57B622B9-873B-494E-9114-39F7C20AA435}"/>
              </a:ext>
            </a:extLst>
          </p:cNvPr>
          <p:cNvSpPr/>
          <p:nvPr/>
        </p:nvSpPr>
        <p:spPr>
          <a:xfrm>
            <a:off x="8963161" y="483084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8926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331</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363967" y="1210469"/>
            <a:ext cx="11282159" cy="138499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0" cap="none" spc="0" baseline="0">
                <a:solidFill>
                  <a:srgbClr val="000000"/>
                </a:solidFill>
                <a:uFillTx/>
                <a:latin typeface="Calibri"/>
              </a:rPr>
              <a:t>Energy Movements via Fixed Transport Installations (FTIs)</a:t>
            </a: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ea typeface="Times New Roman" pitchFamily="18"/>
              </a:rPr>
              <a:t>From TTM19.0, CDS will allow </a:t>
            </a:r>
            <a:r>
              <a:rPr lang="en-GB" sz="1400" b="0" i="0" u="none" strike="noStrike" kern="1200" cap="none" spc="0" baseline="0">
                <a:solidFill>
                  <a:srgbClr val="333333"/>
                </a:solidFill>
                <a:uFillTx/>
                <a:latin typeface="Calibri   "/>
                <a:ea typeface="Times New Roman" pitchFamily="18"/>
              </a:rPr>
              <a:t>Energy Movements via FTIs to be declared on Type Z EIDR Supplementary declarations. Traders are now able to declare Energy movements for Exports via Fixed Transport Installations on </a:t>
            </a:r>
            <a:r>
              <a:rPr lang="en-GB" sz="1400" b="0" i="0" u="none" strike="noStrike" kern="0" cap="none" spc="0" baseline="0">
                <a:solidFill>
                  <a:srgbClr val="333333"/>
                </a:solidFill>
                <a:uFillTx/>
                <a:latin typeface="Calibri   "/>
                <a:ea typeface="Times New Roman" pitchFamily="18"/>
              </a:rPr>
              <a:t>Supplementary Declarations </a:t>
            </a:r>
            <a:r>
              <a:rPr lang="en-GB" sz="1400" b="0" i="0" u="none" strike="noStrike" kern="1200" cap="none" spc="0" baseline="0">
                <a:solidFill>
                  <a:srgbClr val="333333"/>
                </a:solidFill>
                <a:uFillTx/>
                <a:latin typeface="Calibri   "/>
                <a:ea typeface="Times New Roman" pitchFamily="18"/>
              </a:rPr>
              <a:t>through a new APC ‘</a:t>
            </a:r>
            <a:r>
              <a:rPr lang="en-GB" sz="1400" b="1" i="0" u="none" strike="noStrike" kern="1200" cap="none" spc="0" baseline="0">
                <a:solidFill>
                  <a:srgbClr val="333333"/>
                </a:solidFill>
                <a:uFillTx/>
                <a:latin typeface="Calibri   "/>
                <a:ea typeface="Times New Roman" pitchFamily="18"/>
              </a:rPr>
              <a:t>1FT</a:t>
            </a:r>
            <a:r>
              <a:rPr lang="en-GB" sz="1400" b="0" i="0" u="none" strike="noStrike" kern="1200" cap="none" spc="0" baseline="0">
                <a:solidFill>
                  <a:srgbClr val="333333"/>
                </a:solidFill>
                <a:uFillTx/>
                <a:latin typeface="Calibri   "/>
                <a:ea typeface="Times New Roman" pitchFamily="18"/>
              </a:rPr>
              <a:t>’. This functionality will also enable traders to relieve Climate Change Levy (CCL), through the introduction of new functionality with APC ‘</a:t>
            </a:r>
            <a:r>
              <a:rPr lang="en-GB" sz="1400" b="1">
                <a:solidFill>
                  <a:srgbClr val="333333"/>
                </a:solidFill>
                <a:latin typeface="Calibri   "/>
                <a:ea typeface="Times New Roman" pitchFamily="18"/>
              </a:rPr>
              <a:t>1</a:t>
            </a:r>
            <a:r>
              <a:rPr lang="en-GB" sz="1400" b="1" i="0" u="none" strike="noStrike" kern="1200" cap="none" spc="0" baseline="0">
                <a:solidFill>
                  <a:srgbClr val="333333"/>
                </a:solidFill>
                <a:uFillTx/>
                <a:latin typeface="Calibri   "/>
                <a:ea typeface="Times New Roman" pitchFamily="18"/>
              </a:rPr>
              <a:t>CL’, </a:t>
            </a:r>
            <a:r>
              <a:rPr lang="en-GB" sz="1400" i="0" u="none" strike="noStrike" kern="1200" cap="none" spc="0" baseline="0">
                <a:solidFill>
                  <a:srgbClr val="333333"/>
                </a:solidFill>
                <a:uFillTx/>
                <a:latin typeface="Calibri   "/>
                <a:ea typeface="Times New Roman" pitchFamily="18"/>
              </a:rPr>
              <a:t>to be introduced in a future release</a:t>
            </a:r>
            <a:r>
              <a:rPr lang="en-GB" sz="1400" b="1" i="0" u="none" strike="noStrike" kern="1200" cap="none" spc="0" baseline="0">
                <a:solidFill>
                  <a:srgbClr val="333333"/>
                </a:solidFill>
                <a:uFillTx/>
                <a:latin typeface="Calibri   "/>
                <a:ea typeface="Times New Roman" pitchFamily="18"/>
              </a:rPr>
              <a:t>. </a:t>
            </a:r>
            <a:r>
              <a:rPr lang="en-GB" sz="1400" b="0" i="0" u="none" strike="noStrike" kern="1200" cap="none" spc="0" baseline="0">
                <a:solidFill>
                  <a:srgbClr val="333333"/>
                </a:solidFill>
                <a:uFillTx/>
                <a:latin typeface="Calibri   "/>
                <a:ea typeface="Times New Roman" pitchFamily="18"/>
              </a:rPr>
              <a:t>Additionally, CDS will also introduce 8 FTI specific Goods Locations Codes (GLCs), ensuring correct movement types are available for use in FTI declarations.</a:t>
            </a: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13">
            <a:extLst>
              <a:ext uri="{FF2B5EF4-FFF2-40B4-BE49-F238E27FC236}">
                <a16:creationId xmlns:a16="http://schemas.microsoft.com/office/drawing/2014/main" id="{DA01DB2A-D05B-498B-B51A-B1E37C36A9D8}"/>
              </a:ext>
            </a:extLst>
          </p:cNvPr>
          <p:cNvSpPr/>
          <p:nvPr/>
        </p:nvSpPr>
        <p:spPr>
          <a:xfrm>
            <a:off x="363966" y="2236368"/>
            <a:ext cx="11282159" cy="434586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a typeface="Times New Roman" pitchFamily="18"/>
            </a:endParaRPr>
          </a:p>
          <a:p>
            <a:pPr marL="0" marR="0" lvl="0"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
              </a:rPr>
              <a:t>To </a:t>
            </a:r>
            <a:r>
              <a:rPr lang="en-GB" sz="1400" b="1" i="0" u="none" kern="1200" cap="none" spc="0" baseline="0">
                <a:solidFill>
                  <a:srgbClr val="000000"/>
                </a:solidFill>
                <a:uFillTx/>
                <a:latin typeface="Calibri   "/>
              </a:rPr>
              <a:t>declare</a:t>
            </a:r>
            <a:r>
              <a:rPr lang="en-GB" sz="1400" b="1">
                <a:solidFill>
                  <a:srgbClr val="000000"/>
                </a:solidFill>
                <a:latin typeface="Calibri   "/>
              </a:rPr>
              <a:t> </a:t>
            </a:r>
            <a:r>
              <a:rPr lang="en-GB" sz="1400" b="1" i="0" u="none" kern="1200" cap="none" spc="0" baseline="0">
                <a:solidFill>
                  <a:srgbClr val="000000"/>
                </a:solidFill>
                <a:uFillTx/>
                <a:latin typeface="Calibri   "/>
              </a:rPr>
              <a:t>Energy </a:t>
            </a:r>
            <a:r>
              <a:rPr lang="en-GB" sz="1400" b="1" i="0" u="none" strike="noStrike" kern="1200" cap="none" spc="0" baseline="0">
                <a:solidFill>
                  <a:srgbClr val="000000"/>
                </a:solidFill>
                <a:uFillTx/>
                <a:latin typeface="Calibri   "/>
              </a:rPr>
              <a:t>Movements for Imports via FTIs,</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cs typeface="Arial" pitchFamily="34"/>
              </a:rPr>
              <a:t>Traders must declare APC </a:t>
            </a:r>
            <a:r>
              <a:rPr lang="en-GB" sz="1400" b="1" i="0" u="none" strike="noStrike" kern="1200" cap="none" spc="0" baseline="0">
                <a:solidFill>
                  <a:srgbClr val="333333"/>
                </a:solidFill>
                <a:uFillTx/>
                <a:latin typeface="Calibri   "/>
                <a:cs typeface="Arial" pitchFamily="34"/>
              </a:rPr>
              <a:t>'1CL</a:t>
            </a:r>
            <a:r>
              <a:rPr lang="en-GB" sz="1400" b="0" i="0" u="none" strike="noStrike" kern="1200" cap="none" spc="0" baseline="0">
                <a:solidFill>
                  <a:srgbClr val="333333"/>
                </a:solidFill>
                <a:uFillTx/>
                <a:latin typeface="Calibri   "/>
                <a:cs typeface="Arial" pitchFamily="34"/>
              </a:rPr>
              <a:t>' in DE 1/11 (Additional Procedure Code) at item level on the below Import Declaration Types, with ‘</a:t>
            </a:r>
            <a:r>
              <a:rPr lang="en-GB" sz="1400" b="1" i="0" u="none" strike="noStrike" kern="1200" cap="none" spc="0" baseline="0">
                <a:solidFill>
                  <a:srgbClr val="333333"/>
                </a:solidFill>
                <a:uFillTx/>
                <a:latin typeface="Calibri   "/>
                <a:cs typeface="Arial" pitchFamily="34"/>
              </a:rPr>
              <a:t>7</a:t>
            </a:r>
            <a:r>
              <a:rPr lang="en-GB" sz="1400" b="0" i="0" u="none" strike="noStrike" kern="1200" cap="none" spc="0" baseline="0">
                <a:solidFill>
                  <a:srgbClr val="333333"/>
                </a:solidFill>
                <a:uFillTx/>
                <a:latin typeface="Calibri   "/>
                <a:cs typeface="Arial" pitchFamily="34"/>
              </a:rPr>
              <a:t>’ declared at header level in DE 7/4 (Mode of Transport).</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cs typeface="Arial" pitchFamily="34"/>
              </a:rPr>
              <a:t>Where a</a:t>
            </a:r>
            <a:r>
              <a:rPr lang="en-GB" sz="1400" b="0" i="0" u="none" strike="noStrike" kern="1200" cap="none" spc="0" baseline="0">
                <a:solidFill>
                  <a:srgbClr val="FF0000"/>
                </a:solidFill>
                <a:uFillTx/>
                <a:latin typeface="Calibri   "/>
                <a:cs typeface="Arial" pitchFamily="34"/>
              </a:rPr>
              <a:t> </a:t>
            </a:r>
            <a:r>
              <a:rPr lang="en-GB" sz="1400" b="0" i="0" u="none" strike="noStrike" kern="1200" cap="none" spc="0" baseline="0">
                <a:solidFill>
                  <a:srgbClr val="000000"/>
                </a:solidFill>
                <a:uFillTx/>
                <a:latin typeface="Calibri   "/>
                <a:cs typeface="Arial" pitchFamily="34"/>
              </a:rPr>
              <a:t>Mode of Transport </a:t>
            </a:r>
            <a:r>
              <a:rPr lang="en-GB" sz="1400" b="1" i="0" u="none" strike="noStrike" kern="1200" cap="none" spc="0" baseline="0">
                <a:solidFill>
                  <a:srgbClr val="000000"/>
                </a:solidFill>
                <a:uFillTx/>
                <a:latin typeface="Calibri   "/>
                <a:cs typeface="Arial" pitchFamily="34"/>
              </a:rPr>
              <a:t>other</a:t>
            </a:r>
            <a:r>
              <a:rPr lang="en-GB" sz="1400" b="0" i="0" u="none" strike="noStrike" kern="1200" cap="none" spc="0" baseline="0">
                <a:solidFill>
                  <a:srgbClr val="000000"/>
                </a:solidFill>
                <a:uFillTx/>
                <a:latin typeface="Calibri   "/>
                <a:cs typeface="Arial" pitchFamily="34"/>
              </a:rPr>
              <a:t> than '7' is submitted, CDS will </a:t>
            </a:r>
            <a:r>
              <a:rPr lang="en-GB" sz="1400" b="1" i="0" u="none" strike="noStrike" kern="1200" cap="none" spc="0" baseline="0">
                <a:solidFill>
                  <a:srgbClr val="000000"/>
                </a:solidFill>
                <a:uFillTx/>
                <a:latin typeface="Calibri   "/>
                <a:cs typeface="Arial" pitchFamily="34"/>
              </a:rPr>
              <a:t>reject</a:t>
            </a:r>
            <a:r>
              <a:rPr lang="en-GB" sz="1400" b="0" i="0" u="none" strike="noStrike" kern="1200" cap="none" spc="0" baseline="0">
                <a:solidFill>
                  <a:srgbClr val="000000"/>
                </a:solidFill>
                <a:uFillTx/>
                <a:latin typeface="Calibri   "/>
                <a:cs typeface="Arial" pitchFamily="34"/>
              </a:rPr>
              <a:t> the declaration type and send a DMSREJ notification to the trader.</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00" b="1" i="0" u="none" strike="noStrike" kern="1200" cap="none" spc="0" baseline="0">
                <a:uFillTx/>
                <a:latin typeface="Calibri   "/>
                <a:cs typeface="Arial" pitchFamily="34"/>
              </a:rPr>
              <a:t>                                 </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
                <a:cs typeface="Arial" pitchFamily="34"/>
              </a:rPr>
              <a:t>                                             Valid import declaration types for Energy Movements via FTIs:</a:t>
            </a:r>
            <a:endParaRPr lang="en-GB" sz="1400" b="0" i="0" u="none" strike="noStrike" kern="1200" cap="none" spc="0" baseline="0">
              <a:solidFill>
                <a:srgbClr val="333333"/>
              </a:solidFill>
              <a:uFillTx/>
              <a:latin typeface="Calibri   "/>
              <a:cs typeface="Arial" pitchFamily="34"/>
            </a:endParaRPr>
          </a:p>
          <a:p>
            <a:pPr marL="457200" marR="0" lvl="1"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cs typeface="Arial" pitchFamily="34"/>
            </a:endParaRPr>
          </a:p>
          <a:p>
            <a:pPr marL="457200" marR="0" lvl="1"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cs typeface="Arial" pitchFamily="34"/>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cs typeface="Arial" pitchFamily="34"/>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FF0000"/>
              </a:solidFill>
              <a:uFillTx/>
              <a:latin typeface="Calibri   "/>
              <a:cs typeface="Arial" pitchFamily="34"/>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FF0000"/>
              </a:solidFill>
              <a:uFillTx/>
              <a:latin typeface="Calibri   "/>
              <a:cs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allow Authorisation Type Code </a:t>
            </a:r>
            <a:r>
              <a:rPr lang="en-GB" sz="1400" b="1" i="0" u="none" strike="noStrike" kern="1200" cap="none" spc="0" baseline="0">
                <a:solidFill>
                  <a:srgbClr val="333333"/>
                </a:solidFill>
                <a:uFillTx/>
                <a:latin typeface="Calibri   "/>
              </a:rPr>
              <a:t>'FTI</a:t>
            </a:r>
            <a:r>
              <a:rPr lang="en-GB" sz="1400" b="0" i="0" u="none" strike="noStrike" kern="1200" cap="none" spc="0" baseline="0">
                <a:solidFill>
                  <a:srgbClr val="333333"/>
                </a:solidFill>
                <a:uFillTx/>
                <a:latin typeface="Calibri   "/>
              </a:rPr>
              <a:t>' to be declared at header level in DE 3/39 (Holder of the Authorisation Identification Number) on the above valid Import Declaration Types, CDS will mandate the authoriser sub-field (to be populated with the EORI of the pipeline that operates the Authorisation).</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Authorisation Type Code 'FTI' is submitted, CDS will mandate Document Code '</a:t>
            </a:r>
            <a:r>
              <a:rPr lang="en-GB" sz="1400" b="1" i="0" u="none" strike="noStrike" kern="1200" cap="none" spc="0" baseline="0">
                <a:solidFill>
                  <a:srgbClr val="333333"/>
                </a:solidFill>
                <a:uFillTx/>
                <a:latin typeface="Calibri   "/>
              </a:rPr>
              <a:t>C676</a:t>
            </a:r>
            <a:r>
              <a:rPr lang="en-GB" sz="1400" b="0" i="0" u="none" strike="noStrike" kern="1200" cap="none" spc="0" baseline="0">
                <a:solidFill>
                  <a:srgbClr val="333333"/>
                </a:solidFill>
                <a:uFillTx/>
                <a:latin typeface="Calibri   "/>
              </a:rPr>
              <a:t>' is declared at item level in DE 2/3 (Documents and Other Reference Codes).</a:t>
            </a:r>
            <a:endParaRPr lang="en-GB" sz="1400" b="0" i="0" u="none" strike="noStrike" kern="1200" cap="none" spc="0" baseline="0">
              <a:solidFill>
                <a:srgbClr val="FF0000"/>
              </a:solidFill>
              <a:uFillTx/>
              <a:latin typeface="Arial" pitchFamily="34"/>
              <a:ea typeface="Times New Roman" pitchFamily="18"/>
              <a:cs typeface="Arial" pitchFamily="34"/>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800" b="0" i="0" u="none" strike="noStrike" kern="1200" cap="none" spc="0" baseline="0">
                <a:solidFill>
                  <a:srgbClr val="333333"/>
                </a:solidFill>
                <a:uFillTx/>
                <a:latin typeface="Calibri" pitchFamily="34"/>
                <a:ea typeface="Times New Roman" pitchFamily="18"/>
                <a:cs typeface="Times New Roman" pitchFamily="18"/>
              </a:rPr>
              <a:t>h</a:t>
            </a:r>
          </a:p>
        </p:txBody>
      </p:sp>
      <p:graphicFrame>
        <p:nvGraphicFramePr>
          <p:cNvPr id="11" name="Table 12">
            <a:extLst>
              <a:ext uri="{FF2B5EF4-FFF2-40B4-BE49-F238E27FC236}">
                <a16:creationId xmlns:a16="http://schemas.microsoft.com/office/drawing/2014/main" id="{8AAF0117-8A6D-4B81-810B-A5F66B27D331}"/>
              </a:ext>
            </a:extLst>
          </p:cNvPr>
          <p:cNvGraphicFramePr>
            <a:graphicFrameLocks noGrp="1"/>
          </p:cNvGraphicFramePr>
          <p:nvPr>
            <p:extLst>
              <p:ext uri="{D42A27DB-BD31-4B8C-83A1-F6EECF244321}">
                <p14:modId xmlns:p14="http://schemas.microsoft.com/office/powerpoint/2010/main" val="1258330392"/>
              </p:ext>
            </p:extLst>
          </p:nvPr>
        </p:nvGraphicFramePr>
        <p:xfrm>
          <a:off x="3149978" y="3816265"/>
          <a:ext cx="5710134" cy="1219200"/>
        </p:xfrm>
        <a:graphic>
          <a:graphicData uri="http://schemas.openxmlformats.org/drawingml/2006/table">
            <a:tbl>
              <a:tblPr firstRow="1" bandRow="1">
                <a:effectLst/>
                <a:tableStyleId>{5C22544A-7EE6-4342-B048-85BDC9FD1C3A}</a:tableStyleId>
              </a:tblPr>
              <a:tblGrid>
                <a:gridCol w="2855067">
                  <a:extLst>
                    <a:ext uri="{9D8B030D-6E8A-4147-A177-3AD203B41FA5}">
                      <a16:colId xmlns:a16="http://schemas.microsoft.com/office/drawing/2014/main" val="2983925122"/>
                    </a:ext>
                  </a:extLst>
                </a:gridCol>
                <a:gridCol w="2855067">
                  <a:extLst>
                    <a:ext uri="{9D8B030D-6E8A-4147-A177-3AD203B41FA5}">
                      <a16:colId xmlns:a16="http://schemas.microsoft.com/office/drawing/2014/main" val="1956715889"/>
                    </a:ext>
                  </a:extLst>
                </a:gridCol>
              </a:tblGrid>
              <a:tr h="185760">
                <a:tc>
                  <a:txBody>
                    <a:bodyPr/>
                    <a:lstStyle/>
                    <a:p>
                      <a:pPr lvl="0" algn="ctr"/>
                      <a:r>
                        <a:rPr lang="en-GB" sz="1400"/>
                        <a:t>Declaration Type</a:t>
                      </a:r>
                    </a:p>
                  </a:txBody>
                  <a:tcPr>
                    <a:solidFill>
                      <a:srgbClr val="009999"/>
                    </a:solidFill>
                  </a:tcPr>
                </a:tc>
                <a:tc>
                  <a:txBody>
                    <a:bodyPr/>
                    <a:lstStyle/>
                    <a:p>
                      <a:pPr lvl="0" algn="ctr"/>
                      <a:r>
                        <a:rPr lang="en-GB" sz="1400"/>
                        <a:t>Procedure Category</a:t>
                      </a:r>
                    </a:p>
                  </a:txBody>
                  <a:tcPr>
                    <a:solidFill>
                      <a:srgbClr val="009999"/>
                    </a:solidFill>
                  </a:tcPr>
                </a:tc>
                <a:extLst>
                  <a:ext uri="{0D108BD9-81ED-4DB2-BD59-A6C34878D82A}">
                    <a16:rowId xmlns:a16="http://schemas.microsoft.com/office/drawing/2014/main" val="3807455822"/>
                  </a:ext>
                </a:extLst>
              </a:tr>
              <a:tr h="185760">
                <a:tc>
                  <a:txBody>
                    <a:bodyPr/>
                    <a:lstStyle/>
                    <a:p>
                      <a:pPr lvl="0" algn="ctr"/>
                      <a:r>
                        <a:rPr lang="en-GB" sz="1400"/>
                        <a:t>Type J</a:t>
                      </a:r>
                    </a:p>
                  </a:txBody>
                  <a:tcPr/>
                </a:tc>
                <a:tc>
                  <a:txBody>
                    <a:bodyPr/>
                    <a:lstStyle/>
                    <a:p>
                      <a:pPr lvl="0" algn="ctr"/>
                      <a:r>
                        <a:rPr lang="en-GB" sz="1400"/>
                        <a:t>H1</a:t>
                      </a:r>
                    </a:p>
                  </a:txBody>
                  <a:tcPr/>
                </a:tc>
                <a:extLst>
                  <a:ext uri="{0D108BD9-81ED-4DB2-BD59-A6C34878D82A}">
                    <a16:rowId xmlns:a16="http://schemas.microsoft.com/office/drawing/2014/main" val="143621153"/>
                  </a:ext>
                </a:extLst>
              </a:tr>
              <a:tr h="0">
                <a:tc>
                  <a:txBody>
                    <a:bodyPr/>
                    <a:lstStyle/>
                    <a:p>
                      <a:pPr lvl="0" algn="ctr"/>
                      <a:r>
                        <a:rPr lang="en-GB" sz="1400"/>
                        <a:t>Type K</a:t>
                      </a:r>
                    </a:p>
                  </a:txBody>
                  <a:tcPr/>
                </a:tc>
                <a:tc>
                  <a:txBody>
                    <a:bodyPr/>
                    <a:lstStyle/>
                    <a:p>
                      <a:pPr lvl="0" algn="ctr"/>
                      <a:r>
                        <a:rPr lang="en-GB" sz="1400"/>
                        <a:t>C21i EIDR</a:t>
                      </a:r>
                    </a:p>
                  </a:txBody>
                  <a:tcPr/>
                </a:tc>
                <a:extLst>
                  <a:ext uri="{0D108BD9-81ED-4DB2-BD59-A6C34878D82A}">
                    <a16:rowId xmlns:a16="http://schemas.microsoft.com/office/drawing/2014/main" val="3118515104"/>
                  </a:ext>
                </a:extLst>
              </a:tr>
              <a:tr h="185760">
                <a:tc>
                  <a:txBody>
                    <a:bodyPr/>
                    <a:lstStyle/>
                    <a:p>
                      <a:pPr lvl="0" algn="ctr"/>
                      <a:r>
                        <a:rPr lang="en-GB" sz="1400"/>
                        <a:t>Type Z</a:t>
                      </a:r>
                    </a:p>
                  </a:txBody>
                  <a:tcPr/>
                </a:tc>
                <a:tc>
                  <a:txBody>
                    <a:bodyPr/>
                    <a:lstStyle/>
                    <a:p>
                      <a:pPr marL="0" marR="0" lvl="0" indent="0" algn="ctr" defTabSz="914400" rtl="0" fontAlgn="auto" hangingPunct="1">
                        <a:lnSpc>
                          <a:spcPct val="100000"/>
                        </a:lnSpc>
                        <a:spcBef>
                          <a:spcPts val="0"/>
                        </a:spcBef>
                        <a:spcAft>
                          <a:spcPts val="0"/>
                        </a:spcAft>
                        <a:buNone/>
                        <a:tabLst/>
                      </a:pPr>
                      <a:r>
                        <a:rPr lang="en-GB" sz="1400" dirty="0"/>
                        <a:t>C21i EIDR</a:t>
                      </a:r>
                    </a:p>
                  </a:txBody>
                  <a:tcPr/>
                </a:tc>
                <a:extLst>
                  <a:ext uri="{0D108BD9-81ED-4DB2-BD59-A6C34878D82A}">
                    <a16:rowId xmlns:a16="http://schemas.microsoft.com/office/drawing/2014/main" val="3470556450"/>
                  </a:ext>
                </a:extLst>
              </a:tr>
            </a:tbl>
          </a:graphicData>
        </a:graphic>
      </p:graphicFrame>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E1AFD1E-B375-43F9-88AC-FA06A2BC1D8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CECC880-2F20-4F94-83B8-50778894C1F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F60BDE3-0F98-4582-B9E6-60F1126C75B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E1DC60A3-1F42-4FC6-9C36-53AC8A282E06}"/>
              </a:ext>
            </a:extLst>
          </p:cNvPr>
          <p:cNvSpPr txBox="1"/>
          <p:nvPr/>
        </p:nvSpPr>
        <p:spPr>
          <a:xfrm>
            <a:off x="11675084"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718A0AE-9657-47E9-8B6F-A90CC89E8918}" type="slidenum">
              <a:rPr sz="1200"/>
              <a:t>332</a:t>
            </a:fld>
            <a:endParaRPr lang="en-GB" sz="1200" b="0" i="0" u="none" strike="noStrike" kern="1200" cap="none" spc="0" baseline="0" dirty="0">
              <a:solidFill>
                <a:srgbClr val="000000"/>
              </a:solidFill>
              <a:uFillTx/>
              <a:latin typeface="Calibri"/>
            </a:endParaRPr>
          </a:p>
        </p:txBody>
      </p:sp>
      <p:sp>
        <p:nvSpPr>
          <p:cNvPr id="8" name="Rectangle 7">
            <a:extLst>
              <a:ext uri="{FF2B5EF4-FFF2-40B4-BE49-F238E27FC236}">
                <a16:creationId xmlns:a16="http://schemas.microsoft.com/office/drawing/2014/main" id="{468395E5-FC71-405B-BDFC-33179FB737F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73FDB7D0-BCEF-43DC-870C-B1AED5350E32}"/>
              </a:ext>
            </a:extLst>
          </p:cNvPr>
          <p:cNvSpPr/>
          <p:nvPr/>
        </p:nvSpPr>
        <p:spPr>
          <a:xfrm>
            <a:off x="363966" y="1212787"/>
            <a:ext cx="11282159" cy="504753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
              </a:rPr>
              <a:t>To </a:t>
            </a:r>
            <a:r>
              <a:rPr lang="en-GB" sz="1400" b="1" i="0" u="none" kern="0" cap="none" spc="0" baseline="0">
                <a:solidFill>
                  <a:srgbClr val="333333"/>
                </a:solidFill>
                <a:uFillTx/>
                <a:latin typeface="Calibri  "/>
              </a:rPr>
              <a:t>declare Energy </a:t>
            </a:r>
            <a:r>
              <a:rPr lang="en-GB" sz="1400" b="1" i="0" u="none" strike="noStrike" kern="0" cap="none" spc="0" baseline="0">
                <a:solidFill>
                  <a:srgbClr val="333333"/>
                </a:solidFill>
                <a:uFillTx/>
                <a:latin typeface="Calibri  "/>
              </a:rPr>
              <a:t>Movements for Exports via FTIs,</a:t>
            </a: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Traders must declare APC '</a:t>
            </a:r>
            <a:r>
              <a:rPr lang="en-GB" sz="1400" b="1" i="0" u="none" strike="noStrike" kern="0" cap="none" spc="0" baseline="0">
                <a:solidFill>
                  <a:srgbClr val="333333"/>
                </a:solidFill>
                <a:uFillTx/>
                <a:latin typeface="Calibri  "/>
              </a:rPr>
              <a:t>1FT</a:t>
            </a:r>
            <a:r>
              <a:rPr lang="en-GB" sz="1400" b="0" i="0" u="none" strike="noStrike" kern="0" cap="none" spc="0" baseline="0">
                <a:solidFill>
                  <a:srgbClr val="333333"/>
                </a:solidFill>
                <a:uFillTx/>
                <a:latin typeface="Calibri  "/>
              </a:rPr>
              <a:t>’  in DE 1/11 (Additional Procedure Code) on the below mandatory Export Declaration Types, </a:t>
            </a:r>
            <a:r>
              <a:rPr lang="en-GB" sz="1400" b="0" i="0" u="none" strike="noStrike" kern="0" cap="none" spc="0" baseline="0">
                <a:solidFill>
                  <a:srgbClr val="333333"/>
                </a:solidFill>
                <a:uFillTx/>
                <a:latin typeface="Calibri  "/>
                <a:cs typeface="Arial" pitchFamily="34"/>
              </a:rPr>
              <a:t>with ‘</a:t>
            </a:r>
            <a:r>
              <a:rPr lang="en-GB" sz="1400" b="1" i="0" u="none" strike="noStrike" kern="0" cap="none" spc="0" baseline="0">
                <a:solidFill>
                  <a:srgbClr val="333333"/>
                </a:solidFill>
                <a:uFillTx/>
                <a:latin typeface="Calibri  "/>
                <a:cs typeface="Arial" pitchFamily="34"/>
              </a:rPr>
              <a:t>7</a:t>
            </a:r>
            <a:r>
              <a:rPr lang="en-GB" sz="1400" b="0" i="0" u="none" strike="noStrike" kern="0" cap="none" spc="0" baseline="0">
                <a:solidFill>
                  <a:srgbClr val="333333"/>
                </a:solidFill>
                <a:uFillTx/>
                <a:latin typeface="Calibri  "/>
                <a:cs typeface="Arial" pitchFamily="34"/>
              </a:rPr>
              <a:t>’ declared at header level in DE 7/4 (Mode of Transport).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cs typeface="Arial" pitchFamily="34"/>
              </a:rPr>
              <a:t>Where a</a:t>
            </a:r>
            <a:r>
              <a:rPr lang="en-GB" sz="1400" b="0" i="0" u="none" strike="noStrike" kern="0" cap="none" spc="0" baseline="0">
                <a:solidFill>
                  <a:srgbClr val="FF0000"/>
                </a:solidFill>
                <a:uFillTx/>
                <a:latin typeface="Calibri  "/>
                <a:cs typeface="Arial" pitchFamily="34"/>
              </a:rPr>
              <a:t> </a:t>
            </a:r>
            <a:r>
              <a:rPr lang="en-GB" sz="1400" b="0" i="0" u="none" strike="noStrike" kern="0" cap="none" spc="0" baseline="0">
                <a:solidFill>
                  <a:srgbClr val="000000"/>
                </a:solidFill>
                <a:uFillTx/>
                <a:latin typeface="Calibri  "/>
                <a:cs typeface="Arial" pitchFamily="34"/>
              </a:rPr>
              <a:t>Mode of Transport </a:t>
            </a:r>
            <a:r>
              <a:rPr lang="en-GB" sz="1400" b="1" i="0" u="none" strike="noStrike" kern="0" cap="none" spc="0" baseline="0">
                <a:solidFill>
                  <a:srgbClr val="000000"/>
                </a:solidFill>
                <a:uFillTx/>
                <a:latin typeface="Calibri  "/>
                <a:cs typeface="Arial" pitchFamily="34"/>
              </a:rPr>
              <a:t>other</a:t>
            </a:r>
            <a:r>
              <a:rPr lang="en-GB" sz="1400" b="0" i="0" u="none" strike="noStrike" kern="0" cap="none" spc="0" baseline="0">
                <a:solidFill>
                  <a:srgbClr val="000000"/>
                </a:solidFill>
                <a:uFillTx/>
                <a:latin typeface="Calibri  "/>
                <a:cs typeface="Arial" pitchFamily="34"/>
              </a:rPr>
              <a:t> than '7' is submitted, CDS will </a:t>
            </a:r>
            <a:r>
              <a:rPr lang="en-GB" sz="1400" b="1" i="0" u="none" strike="noStrike" kern="0" cap="none" spc="0" baseline="0">
                <a:solidFill>
                  <a:srgbClr val="000000"/>
                </a:solidFill>
                <a:uFillTx/>
                <a:latin typeface="Calibri  "/>
                <a:cs typeface="Arial" pitchFamily="34"/>
              </a:rPr>
              <a:t>reject</a:t>
            </a:r>
            <a:r>
              <a:rPr lang="en-GB" sz="1400" b="0" i="0" u="none" strike="noStrike" kern="0" cap="none" spc="0" baseline="0">
                <a:solidFill>
                  <a:srgbClr val="000000"/>
                </a:solidFill>
                <a:uFillTx/>
                <a:latin typeface="Calibri  "/>
                <a:cs typeface="Arial" pitchFamily="34"/>
              </a:rPr>
              <a:t> the declaration type and send a DMSREJ notification to the trader.</a:t>
            </a: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
                <a:cs typeface="Arial" pitchFamily="34"/>
              </a:rPr>
              <a:t>                                             Valid Export declaration types for Export Energy Movements:</a:t>
            </a: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cs typeface="Arial" pitchFamily="34"/>
            </a:endParaRP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cs typeface="Arial" pitchFamily="34"/>
            </a:endParaRP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cs typeface="Arial" pitchFamily="34"/>
            </a:endParaRP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cs typeface="Arial" pitchFamily="34"/>
            </a:endParaRP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0" i="0" u="none" strike="noStrike" kern="0" cap="none" spc="0" baseline="0">
              <a:solidFill>
                <a:srgbClr val="000000"/>
              </a:solidFill>
              <a:uFillTx/>
              <a:latin typeface="Calibri  "/>
              <a:cs typeface="Arial" pitchFamily="34"/>
            </a:endParaRPr>
          </a:p>
          <a:p>
            <a:pPr marL="457200" marR="0" lvl="1"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cs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allow traders to submit APC </a:t>
            </a:r>
            <a:r>
              <a:rPr lang="en-GB" sz="1400" b="1" i="0" u="none" strike="noStrike" kern="1200" cap="none" spc="0" baseline="0">
                <a:solidFill>
                  <a:srgbClr val="333333"/>
                </a:solidFill>
                <a:uFillTx/>
                <a:latin typeface="Calibri  "/>
              </a:rPr>
              <a:t>'1FT</a:t>
            </a:r>
            <a:r>
              <a:rPr lang="en-GB" sz="1400" b="0" i="0" u="none" strike="noStrike" kern="1200" cap="none" spc="0" baseline="0">
                <a:solidFill>
                  <a:srgbClr val="333333"/>
                </a:solidFill>
                <a:uFillTx/>
                <a:latin typeface="Calibri  "/>
              </a:rPr>
              <a:t>’ in DE 1/11, when Procedure Code </a:t>
            </a:r>
            <a:r>
              <a:rPr lang="en-GB" sz="1400" b="1" i="0" u="none" strike="noStrike" kern="1200" cap="none" spc="0" baseline="0">
                <a:solidFill>
                  <a:srgbClr val="333333"/>
                </a:solidFill>
                <a:uFillTx/>
                <a:latin typeface="Calibri  "/>
              </a:rPr>
              <a:t>'1040</a:t>
            </a:r>
            <a:r>
              <a:rPr lang="en-GB" sz="1400" b="0" i="0" u="none" strike="noStrike" kern="1200" cap="none" spc="0" baseline="0">
                <a:solidFill>
                  <a:srgbClr val="333333"/>
                </a:solidFill>
                <a:uFillTx/>
                <a:latin typeface="Calibri  "/>
              </a:rPr>
              <a:t>' is declared in DE 1/10. </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t>
            </a:r>
            <a:r>
              <a:rPr lang="en-GB" sz="1400" b="1" i="0" u="none" strike="noStrike" kern="1200" cap="none" spc="0" baseline="0">
                <a:solidFill>
                  <a:srgbClr val="333333"/>
                </a:solidFill>
                <a:uFillTx/>
                <a:latin typeface="Calibri  "/>
              </a:rPr>
              <a:t>reject</a:t>
            </a:r>
            <a:r>
              <a:rPr lang="en-GB" sz="1400" b="0" i="0" u="none" strike="noStrike" kern="1200" cap="none" spc="0" baseline="0">
                <a:solidFill>
                  <a:srgbClr val="333333"/>
                </a:solidFill>
                <a:uFillTx/>
                <a:latin typeface="Calibri  "/>
              </a:rPr>
              <a:t> the declaration and send a DMSREJ notification in the following scenarios:</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Procedure Code '1040' is </a:t>
            </a:r>
            <a:r>
              <a:rPr lang="en-GB" sz="1400" b="1" i="0" u="none" strike="noStrike" kern="1200" cap="none" spc="0" baseline="0">
                <a:solidFill>
                  <a:srgbClr val="333333"/>
                </a:solidFill>
                <a:uFillTx/>
                <a:latin typeface="Calibri  "/>
              </a:rPr>
              <a:t>not</a:t>
            </a:r>
            <a:r>
              <a:rPr lang="en-GB" sz="1400" b="0" i="0" u="none" strike="noStrike" kern="1200" cap="none" spc="0" baseline="0">
                <a:solidFill>
                  <a:srgbClr val="333333"/>
                </a:solidFill>
                <a:uFillTx/>
                <a:latin typeface="Calibri  "/>
              </a:rPr>
              <a:t> submitted when '1FT' is declared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'1FT' is declared on an </a:t>
            </a:r>
            <a:r>
              <a:rPr lang="en-GB" sz="1400" b="1" i="0" u="none" strike="noStrike" kern="1200" cap="none" spc="0" baseline="0">
                <a:solidFill>
                  <a:srgbClr val="333333"/>
                </a:solidFill>
                <a:uFillTx/>
                <a:latin typeface="Calibri  "/>
              </a:rPr>
              <a:t>Import</a:t>
            </a:r>
            <a:r>
              <a:rPr lang="en-GB" sz="1400" b="0" i="0" u="none" strike="noStrike" kern="1200" cap="none" spc="0" baseline="0">
                <a:solidFill>
                  <a:srgbClr val="333333"/>
                </a:solidFill>
                <a:uFillTx/>
                <a:latin typeface="Calibri  "/>
              </a:rPr>
              <a:t> declaration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allow Authorisation Type Code 'FTI' to be declared in DE 3/39 at header level on the above valid Export Declaration Types. The identifier sub-field must be mandated.</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Authorisation Type Code 'FTI' is declared, CDS will mandate Document Code </a:t>
            </a:r>
            <a:r>
              <a:rPr lang="en-GB" sz="1400" b="1" i="0" u="none" strike="noStrike" kern="1200" cap="none" spc="0" baseline="0">
                <a:solidFill>
                  <a:srgbClr val="333333"/>
                </a:solidFill>
                <a:uFillTx/>
                <a:latin typeface="Calibri  "/>
              </a:rPr>
              <a:t>'C676</a:t>
            </a:r>
            <a:r>
              <a:rPr lang="en-GB" sz="1400" b="0" i="0" u="none" strike="noStrike" kern="1200" cap="none" spc="0" baseline="0">
                <a:solidFill>
                  <a:srgbClr val="333333"/>
                </a:solidFill>
                <a:uFillTx/>
                <a:latin typeface="Calibri  "/>
              </a:rPr>
              <a:t>' is declared in DE 2/3 (Documents and Other Reference Codes) at item level.</a:t>
            </a: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cs typeface="Arial" pitchFamily="34"/>
            </a:endParaRPr>
          </a:p>
        </p:txBody>
      </p:sp>
      <p:graphicFrame>
        <p:nvGraphicFramePr>
          <p:cNvPr id="10" name="Table 12">
            <a:extLst>
              <a:ext uri="{FF2B5EF4-FFF2-40B4-BE49-F238E27FC236}">
                <a16:creationId xmlns:a16="http://schemas.microsoft.com/office/drawing/2014/main" id="{AB19C4CE-9DC4-411C-BF09-677E5E42C4F9}"/>
              </a:ext>
            </a:extLst>
          </p:cNvPr>
          <p:cNvGraphicFramePr>
            <a:graphicFrameLocks noGrp="1"/>
          </p:cNvGraphicFramePr>
          <p:nvPr/>
        </p:nvGraphicFramePr>
        <p:xfrm>
          <a:off x="3149978" y="2570237"/>
          <a:ext cx="5710134" cy="1219200"/>
        </p:xfrm>
        <a:graphic>
          <a:graphicData uri="http://schemas.openxmlformats.org/drawingml/2006/table">
            <a:tbl>
              <a:tblPr firstRow="1" bandRow="1">
                <a:effectLst/>
                <a:tableStyleId>{5C22544A-7EE6-4342-B048-85BDC9FD1C3A}</a:tableStyleId>
              </a:tblPr>
              <a:tblGrid>
                <a:gridCol w="2855067">
                  <a:extLst>
                    <a:ext uri="{9D8B030D-6E8A-4147-A177-3AD203B41FA5}">
                      <a16:colId xmlns:a16="http://schemas.microsoft.com/office/drawing/2014/main" val="2951107864"/>
                    </a:ext>
                  </a:extLst>
                </a:gridCol>
                <a:gridCol w="2855067">
                  <a:extLst>
                    <a:ext uri="{9D8B030D-6E8A-4147-A177-3AD203B41FA5}">
                      <a16:colId xmlns:a16="http://schemas.microsoft.com/office/drawing/2014/main" val="720600037"/>
                    </a:ext>
                  </a:extLst>
                </a:gridCol>
              </a:tblGrid>
              <a:tr h="185760">
                <a:tc>
                  <a:txBody>
                    <a:bodyPr/>
                    <a:lstStyle/>
                    <a:p>
                      <a:pPr lvl="0" algn="ctr"/>
                      <a:r>
                        <a:rPr lang="en-GB" sz="1400"/>
                        <a:t>Declaration Type</a:t>
                      </a:r>
                    </a:p>
                  </a:txBody>
                  <a:tcPr>
                    <a:solidFill>
                      <a:srgbClr val="009999"/>
                    </a:solidFill>
                  </a:tcPr>
                </a:tc>
                <a:tc>
                  <a:txBody>
                    <a:bodyPr/>
                    <a:lstStyle/>
                    <a:p>
                      <a:pPr lvl="0" algn="ctr"/>
                      <a:r>
                        <a:rPr lang="en-GB" sz="1400"/>
                        <a:t>Procedure Category</a:t>
                      </a:r>
                    </a:p>
                  </a:txBody>
                  <a:tcPr>
                    <a:solidFill>
                      <a:srgbClr val="009999"/>
                    </a:solidFill>
                  </a:tcPr>
                </a:tc>
                <a:extLst>
                  <a:ext uri="{0D108BD9-81ED-4DB2-BD59-A6C34878D82A}">
                    <a16:rowId xmlns:a16="http://schemas.microsoft.com/office/drawing/2014/main" val="4016221609"/>
                  </a:ext>
                </a:extLst>
              </a:tr>
              <a:tr h="185760">
                <a:tc>
                  <a:txBody>
                    <a:bodyPr/>
                    <a:lstStyle/>
                    <a:p>
                      <a:pPr lvl="0" algn="ctr"/>
                      <a:r>
                        <a:rPr lang="en-GB" sz="1400"/>
                        <a:t>Type J</a:t>
                      </a:r>
                    </a:p>
                  </a:txBody>
                  <a:tcPr/>
                </a:tc>
                <a:tc>
                  <a:txBody>
                    <a:bodyPr/>
                    <a:lstStyle/>
                    <a:p>
                      <a:pPr lvl="0" algn="ctr"/>
                      <a:r>
                        <a:rPr lang="en-GB" sz="1400"/>
                        <a:t>B1</a:t>
                      </a:r>
                    </a:p>
                  </a:txBody>
                  <a:tcPr/>
                </a:tc>
                <a:extLst>
                  <a:ext uri="{0D108BD9-81ED-4DB2-BD59-A6C34878D82A}">
                    <a16:rowId xmlns:a16="http://schemas.microsoft.com/office/drawing/2014/main" val="3175247690"/>
                  </a:ext>
                </a:extLst>
              </a:tr>
              <a:tr h="0">
                <a:tc>
                  <a:txBody>
                    <a:bodyPr/>
                    <a:lstStyle/>
                    <a:p>
                      <a:pPr lvl="0" algn="ctr"/>
                      <a:r>
                        <a:rPr lang="en-GB" sz="1400"/>
                        <a:t>Type K</a:t>
                      </a:r>
                    </a:p>
                  </a:txBody>
                  <a:tcPr/>
                </a:tc>
                <a:tc>
                  <a:txBody>
                    <a:bodyPr/>
                    <a:lstStyle/>
                    <a:p>
                      <a:pPr lvl="0" algn="ctr"/>
                      <a:r>
                        <a:rPr lang="en-GB" sz="1400"/>
                        <a:t>C21e EIDR</a:t>
                      </a:r>
                    </a:p>
                  </a:txBody>
                  <a:tcPr/>
                </a:tc>
                <a:extLst>
                  <a:ext uri="{0D108BD9-81ED-4DB2-BD59-A6C34878D82A}">
                    <a16:rowId xmlns:a16="http://schemas.microsoft.com/office/drawing/2014/main" val="1817026143"/>
                  </a:ext>
                </a:extLst>
              </a:tr>
              <a:tr h="185760">
                <a:tc>
                  <a:txBody>
                    <a:bodyPr/>
                    <a:lstStyle/>
                    <a:p>
                      <a:pPr lvl="0" algn="ctr"/>
                      <a:r>
                        <a:rPr lang="en-GB" sz="1400"/>
                        <a:t>Type Z</a:t>
                      </a:r>
                    </a:p>
                  </a:txBody>
                  <a:tcPr/>
                </a:tc>
                <a:tc>
                  <a:txBody>
                    <a:bodyPr/>
                    <a:lstStyle/>
                    <a:p>
                      <a:pPr marL="0" marR="0" lvl="0" indent="0" algn="ctr" defTabSz="914400" rtl="0" fontAlgn="auto" hangingPunct="1">
                        <a:lnSpc>
                          <a:spcPct val="100000"/>
                        </a:lnSpc>
                        <a:spcBef>
                          <a:spcPts val="0"/>
                        </a:spcBef>
                        <a:spcAft>
                          <a:spcPts val="0"/>
                        </a:spcAft>
                        <a:buNone/>
                        <a:tabLst/>
                      </a:pPr>
                      <a:r>
                        <a:rPr lang="en-GB" sz="1400" dirty="0"/>
                        <a:t>C21e EIDR</a:t>
                      </a:r>
                    </a:p>
                  </a:txBody>
                  <a:tcPr/>
                </a:tc>
                <a:extLst>
                  <a:ext uri="{0D108BD9-81ED-4DB2-BD59-A6C34878D82A}">
                    <a16:rowId xmlns:a16="http://schemas.microsoft.com/office/drawing/2014/main" val="3649065531"/>
                  </a:ext>
                </a:extLst>
              </a:tr>
            </a:tbl>
          </a:graphicData>
        </a:graphic>
      </p:graphicFrame>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D69617-B306-4F6F-9853-EFE8A17DB84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DDE4197-0488-4EBC-9C29-A2E247444DC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E91FA75F-0CB7-4BD2-B256-1875392070E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67A90B7E-4250-4CFC-9784-93A4457B969F}"/>
              </a:ext>
            </a:extLst>
          </p:cNvPr>
          <p:cNvSpPr txBox="1"/>
          <p:nvPr/>
        </p:nvSpPr>
        <p:spPr>
          <a:xfrm>
            <a:off x="1166799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C2F21E9-70D1-430B-9B50-8D86C21B3BB3}" type="slidenum">
              <a:rPr sz="1200"/>
              <a:t>333</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91D5FCE-FEAC-4BFB-8DA0-9478137C8CF3}"/>
              </a:ext>
            </a:extLst>
          </p:cNvPr>
          <p:cNvSpPr/>
          <p:nvPr/>
        </p:nvSpPr>
        <p:spPr>
          <a:xfrm>
            <a:off x="363967" y="1199875"/>
            <a:ext cx="11282159" cy="418576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
              </a:rPr>
              <a:t>To declare goods liable </a:t>
            </a:r>
            <a:r>
              <a:rPr lang="en-GB" sz="1400" b="1" i="0" u="none" strike="noStrike" kern="0" cap="none" spc="0" baseline="0">
                <a:uFillTx/>
                <a:latin typeface="Calibri  "/>
              </a:rPr>
              <a:t>to a charge of Climate </a:t>
            </a:r>
            <a:r>
              <a:rPr lang="en-GB" sz="1400" b="1" i="0" u="none" strike="noStrike" kern="0" cap="none" spc="0" baseline="0">
                <a:solidFill>
                  <a:srgbClr val="333333"/>
                </a:solidFill>
                <a:uFillTx/>
                <a:latin typeface="Calibri  "/>
              </a:rPr>
              <a:t>Change Levy on Energy Movements, </a:t>
            </a: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Traders must declare Additional Procedure Code </a:t>
            </a:r>
            <a:r>
              <a:rPr lang="en-GB" sz="1400" b="1" i="0" u="none" strike="noStrike" kern="0" cap="none" spc="0" baseline="0">
                <a:solidFill>
                  <a:srgbClr val="333333"/>
                </a:solidFill>
                <a:uFillTx/>
                <a:latin typeface="Calibri  "/>
              </a:rPr>
              <a:t>'2CL’ </a:t>
            </a:r>
            <a:r>
              <a:rPr lang="en-GB" sz="1400" b="0" i="0" u="none" strike="noStrike" kern="0" cap="none" spc="0" baseline="0">
                <a:solidFill>
                  <a:srgbClr val="333333"/>
                </a:solidFill>
                <a:uFillTx/>
                <a:latin typeface="Calibri  "/>
              </a:rPr>
              <a:t>at item level in DE 1/11 (Additional Procedure Code) </a:t>
            </a:r>
          </a:p>
          <a:p>
            <a:pPr marL="1200150" marR="0" lvl="2"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APC ‘2CL’ will be accepted on declaration types: ‘</a:t>
            </a:r>
            <a:r>
              <a:rPr lang="en-GB" sz="1400" b="1" i="0" u="none" strike="noStrike" kern="0" cap="none" spc="0" baseline="0">
                <a:solidFill>
                  <a:srgbClr val="333333"/>
                </a:solidFill>
                <a:uFillTx/>
                <a:latin typeface="Calibri  "/>
              </a:rPr>
              <a:t>A</a:t>
            </a:r>
            <a:r>
              <a:rPr lang="en-GB" sz="1400" b="0" i="0" u="none" strike="noStrike" kern="0" cap="none" spc="0" baseline="0">
                <a:solidFill>
                  <a:srgbClr val="333333"/>
                </a:solidFill>
                <a:uFillTx/>
                <a:latin typeface="Calibri  "/>
              </a:rPr>
              <a:t>’ &amp; </a:t>
            </a:r>
            <a:r>
              <a:rPr lang="en-GB" sz="1400" b="1" i="0" u="none" strike="noStrike" kern="0" cap="none" spc="0" baseline="0">
                <a:solidFill>
                  <a:srgbClr val="333333"/>
                </a:solidFill>
                <a:uFillTx/>
                <a:latin typeface="Calibri  "/>
              </a:rPr>
              <a:t>‘D</a:t>
            </a:r>
            <a:r>
              <a:rPr lang="en-GB" sz="1400" b="0" i="0" u="none" strike="noStrike" kern="0" cap="none" spc="0" baseline="0">
                <a:solidFill>
                  <a:srgbClr val="333333"/>
                </a:solidFill>
                <a:uFillTx/>
                <a:latin typeface="Calibri  "/>
              </a:rPr>
              <a:t>’</a:t>
            </a:r>
          </a:p>
          <a:p>
            <a:pPr marL="457200" marR="0" lvl="1"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CDS will </a:t>
            </a:r>
            <a:r>
              <a:rPr lang="en-GB" sz="1400" b="1" i="0" u="none" strike="noStrike" kern="0" cap="none" spc="0" baseline="0">
                <a:solidFill>
                  <a:srgbClr val="333333"/>
                </a:solidFill>
                <a:uFillTx/>
                <a:latin typeface="Calibri  "/>
              </a:rPr>
              <a:t>reject</a:t>
            </a:r>
            <a:r>
              <a:rPr lang="en-GB" sz="1400" b="0" i="0" u="none" strike="noStrike" kern="0" cap="none" spc="0" baseline="0">
                <a:solidFill>
                  <a:srgbClr val="333333"/>
                </a:solidFill>
                <a:uFillTx/>
                <a:latin typeface="Calibri  "/>
              </a:rPr>
              <a:t> the declaration and send a DMSREJ notification in the following scenarios:</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Where Additional Procedure Code '2CL' is declared in DE 1/11 on an </a:t>
            </a:r>
            <a:r>
              <a:rPr lang="en-GB" sz="1400" b="1" i="0" u="none" strike="noStrike" kern="0" cap="none" spc="0" baseline="0">
                <a:solidFill>
                  <a:srgbClr val="333333"/>
                </a:solidFill>
                <a:uFillTx/>
                <a:latin typeface="Calibri  "/>
              </a:rPr>
              <a:t>Export</a:t>
            </a:r>
            <a:r>
              <a:rPr lang="en-GB" sz="1400" b="0" i="0" u="none" strike="noStrike" kern="0" cap="none" spc="0" baseline="0">
                <a:solidFill>
                  <a:srgbClr val="333333"/>
                </a:solidFill>
                <a:uFillTx/>
                <a:latin typeface="Calibri  "/>
              </a:rPr>
              <a:t> declaration.</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If a declaration type other than A or D is submitted.</a:t>
            </a:r>
          </a:p>
          <a:p>
            <a:pPr marL="914400" marR="0" lvl="2"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0"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allow Additional Procedure Code '2CL’ to be declared, with </a:t>
            </a:r>
            <a:r>
              <a:rPr lang="en-GB" sz="1400" b="1" i="0" u="none" strike="noStrike" kern="1200" cap="none" spc="0" baseline="0">
                <a:solidFill>
                  <a:srgbClr val="333333"/>
                </a:solidFill>
                <a:uFillTx/>
                <a:latin typeface="Calibri  "/>
              </a:rPr>
              <a:t>one</a:t>
            </a:r>
            <a:r>
              <a:rPr lang="en-GB" sz="1400" b="0" i="0" u="none" strike="noStrike" kern="1200" cap="none" spc="0" baseline="0">
                <a:solidFill>
                  <a:srgbClr val="333333"/>
                </a:solidFill>
                <a:uFillTx/>
                <a:latin typeface="Calibri  "/>
              </a:rPr>
              <a:t> of the following Procedure Codes, </a:t>
            </a:r>
            <a:r>
              <a:rPr lang="en-GB" sz="1400" b="0" i="0" u="none" strike="noStrike" kern="0" cap="none" spc="0" baseline="0">
                <a:solidFill>
                  <a:srgbClr val="333333"/>
                </a:solidFill>
                <a:uFillTx/>
                <a:latin typeface="Calibri  "/>
              </a:rPr>
              <a:t>at item level in </a:t>
            </a:r>
            <a:r>
              <a:rPr lang="en-GB" sz="1400" b="0" i="0" u="none" strike="noStrike" kern="1200" cap="none" spc="0" baseline="0">
                <a:solidFill>
                  <a:srgbClr val="333333"/>
                </a:solidFill>
                <a:uFillTx/>
                <a:latin typeface="Calibri  "/>
              </a:rPr>
              <a:t>DE 1/10:</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Procedure Codes: </a:t>
            </a:r>
            <a:r>
              <a:rPr lang="en-GB" sz="1400" b="1" i="0" u="none" strike="noStrike" kern="1200" cap="none" spc="0" baseline="0">
                <a:solidFill>
                  <a:srgbClr val="333333"/>
                </a:solidFill>
                <a:uFillTx/>
                <a:latin typeface="Calibri  "/>
              </a:rPr>
              <a:t>0100, 4000, 4051, 4071, 4078 </a:t>
            </a:r>
            <a:r>
              <a:rPr lang="en-GB" sz="1400" b="0" i="0" u="none" strike="noStrike" kern="1200" cap="none" spc="0" baseline="0">
                <a:solidFill>
                  <a:srgbClr val="333333"/>
                </a:solidFill>
                <a:uFillTx/>
                <a:latin typeface="Calibri  "/>
              </a:rPr>
              <a:t>or</a:t>
            </a:r>
            <a:r>
              <a:rPr lang="en-GB" sz="1400" b="1" i="0" u="none" strike="noStrike" kern="1200" cap="none" spc="0" baseline="0">
                <a:solidFill>
                  <a:srgbClr val="333333"/>
                </a:solidFill>
                <a:uFillTx/>
                <a:latin typeface="Calibri  "/>
              </a:rPr>
              <a:t> 4200</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a:t>
            </a:r>
            <a:r>
              <a:rPr lang="en-GB" sz="1400" b="1" i="0" u="none" strike="noStrike" kern="1200" cap="none" spc="0" baseline="0">
                <a:solidFill>
                  <a:srgbClr val="333333"/>
                </a:solidFill>
                <a:uFillTx/>
                <a:latin typeface="Calibri  "/>
              </a:rPr>
              <a:t>reject</a:t>
            </a:r>
            <a:r>
              <a:rPr lang="en-GB" sz="1400" b="0" i="0" u="none" strike="noStrike" kern="1200" cap="none" spc="0" baseline="0">
                <a:solidFill>
                  <a:srgbClr val="333333"/>
                </a:solidFill>
                <a:uFillTx/>
                <a:latin typeface="Calibri  "/>
              </a:rPr>
              <a:t> the declaration and send a DMSREJ notification in the following scenarios:</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a Procedure Code not in the above list is submitted</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'1CL' and '2CL' are </a:t>
            </a:r>
            <a:r>
              <a:rPr lang="en-GB" sz="1400" b="1" i="0" u="none" strike="noStrike" kern="1200" cap="none" spc="0" baseline="0">
                <a:solidFill>
                  <a:srgbClr val="333333"/>
                </a:solidFill>
                <a:uFillTx/>
                <a:latin typeface="Calibri  "/>
              </a:rPr>
              <a:t>both</a:t>
            </a:r>
            <a:r>
              <a:rPr lang="en-GB" sz="1400" b="0" i="0" u="none" strike="noStrike" kern="1200" cap="none" spc="0" baseline="0">
                <a:solidFill>
                  <a:srgbClr val="333333"/>
                </a:solidFill>
                <a:uFillTx/>
                <a:latin typeface="Calibri  "/>
              </a:rPr>
              <a:t> declared on the </a:t>
            </a:r>
            <a:r>
              <a:rPr lang="en-GB" sz="1400" b="1" i="0" u="none" strike="noStrike" kern="1200" cap="none" spc="0" baseline="0">
                <a:solidFill>
                  <a:srgbClr val="333333"/>
                </a:solidFill>
                <a:uFillTx/>
                <a:latin typeface="Calibri  "/>
              </a:rPr>
              <a:t>same</a:t>
            </a:r>
            <a:r>
              <a:rPr lang="en-GB" sz="1400" b="0" i="0" u="none" strike="noStrike" kern="1200" cap="none" spc="0" baseline="0">
                <a:solidFill>
                  <a:srgbClr val="333333"/>
                </a:solidFill>
                <a:uFillTx/>
                <a:latin typeface="Calibri  "/>
              </a:rPr>
              <a:t> goods item</a:t>
            </a:r>
          </a:p>
          <a:p>
            <a:pPr marR="0" lvl="3" algn="l" defTabSz="914400" rtl="0" fontAlgn="auto" hangingPunct="1">
              <a:lnSpc>
                <a:spcPct val="100000"/>
              </a:lnSpc>
              <a:spcBef>
                <a:spcPts val="0"/>
              </a:spcBef>
              <a:spcAft>
                <a:spcPts val="0"/>
              </a:spcAft>
              <a:buSzPct val="100000"/>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Additional Information Code </a:t>
            </a:r>
            <a:r>
              <a:rPr lang="en-GB" sz="1400" b="1" i="0" u="none" strike="noStrike" kern="1200" cap="none" spc="0" baseline="0">
                <a:solidFill>
                  <a:srgbClr val="333333"/>
                </a:solidFill>
                <a:uFillTx/>
                <a:latin typeface="Calibri  "/>
              </a:rPr>
              <a:t>'CCLPR</a:t>
            </a:r>
            <a:r>
              <a:rPr lang="en-GB" sz="1400" b="0" i="0" u="none" strike="noStrike" kern="1200" cap="none" spc="0" baseline="0">
                <a:solidFill>
                  <a:srgbClr val="333333"/>
                </a:solidFill>
                <a:uFillTx/>
                <a:latin typeface="Calibri  "/>
              </a:rPr>
              <a:t>' is declared in DE 2/2, CDS will mandate Additional Information Code </a:t>
            </a:r>
            <a:r>
              <a:rPr lang="en-GB" sz="1400" b="1" i="0" u="none" strike="noStrike" kern="1200" cap="none" spc="0" baseline="0">
                <a:solidFill>
                  <a:srgbClr val="333333"/>
                </a:solidFill>
                <a:uFillTx/>
                <a:latin typeface="Calibri  "/>
              </a:rPr>
              <a:t>'OVR01</a:t>
            </a:r>
            <a:r>
              <a:rPr lang="en-GB" sz="1400" b="0" i="0" u="none" strike="noStrike" kern="1200" cap="none" spc="0" baseline="0">
                <a:solidFill>
                  <a:srgbClr val="333333"/>
                </a:solidFill>
                <a:uFillTx/>
                <a:latin typeface="Calibri  "/>
              </a:rPr>
              <a:t>' is declared in DE 2/2 on the same goods item. This will allow traders to benefit from partial relief of Climate Change Levy where applicable, but will require a manual duty calculation </a:t>
            </a:r>
            <a:r>
              <a:rPr lang="en-GB" sz="1400">
                <a:solidFill>
                  <a:srgbClr val="333333"/>
                </a:solidFill>
                <a:latin typeface="Calibri  "/>
              </a:rPr>
              <a:t>and declaration completion in accordance with the normal manual override process</a:t>
            </a:r>
            <a:r>
              <a:rPr lang="en-GB" sz="1400" b="0" i="0" u="none" strike="noStrike" kern="1200" cap="none" spc="0" baseline="0">
                <a:solidFill>
                  <a:srgbClr val="333333"/>
                </a:solidFill>
                <a:uFillTx/>
                <a:latin typeface="Calibri  "/>
              </a:rPr>
              <a:t>.</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‘OVR01’ is </a:t>
            </a:r>
            <a:r>
              <a:rPr lang="en-GB" sz="1400" b="1" i="0" u="none" strike="noStrike" kern="1200" cap="none" spc="0" baseline="0">
                <a:solidFill>
                  <a:srgbClr val="333333"/>
                </a:solidFill>
                <a:uFillTx/>
                <a:latin typeface="Calibri  "/>
              </a:rPr>
              <a:t>not</a:t>
            </a:r>
            <a:r>
              <a:rPr lang="en-GB" sz="1400" b="0" i="0" u="none" strike="noStrike" kern="1200" cap="none" spc="0" baseline="0">
                <a:solidFill>
                  <a:srgbClr val="333333"/>
                </a:solidFill>
                <a:uFillTx/>
                <a:latin typeface="Calibri  "/>
              </a:rPr>
              <a:t> submitted, CDS will </a:t>
            </a:r>
            <a:r>
              <a:rPr lang="en-GB" sz="1400" b="1" i="0" u="none" strike="noStrike" kern="1200" cap="none" spc="0" baseline="0">
                <a:solidFill>
                  <a:srgbClr val="333333"/>
                </a:solidFill>
                <a:uFillTx/>
                <a:latin typeface="Calibri  "/>
              </a:rPr>
              <a:t>reject</a:t>
            </a:r>
            <a:r>
              <a:rPr lang="en-GB" sz="1400" b="0" i="0" u="none" strike="noStrike" kern="1200" cap="none" spc="0" baseline="0">
                <a:solidFill>
                  <a:srgbClr val="333333"/>
                </a:solidFill>
                <a:uFillTx/>
                <a:latin typeface="Calibri  "/>
              </a:rPr>
              <a:t> the declaration and send a DMSREJ notification to the trader.</a:t>
            </a:r>
          </a:p>
        </p:txBody>
      </p:sp>
      <p:sp>
        <p:nvSpPr>
          <p:cNvPr id="9" name="Rectangle 7">
            <a:extLst>
              <a:ext uri="{FF2B5EF4-FFF2-40B4-BE49-F238E27FC236}">
                <a16:creationId xmlns:a16="http://schemas.microsoft.com/office/drawing/2014/main" id="{2E54E2A2-1995-41CC-9622-D636EF4A7D1B}"/>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13C9FF4-8A20-4632-950E-BB5CDD237A15}"/>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B593AA5-02AD-46A6-BD0E-710736E66DF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B6BE913-7073-4D1F-9E3F-BCEB2752DFD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7079A89-6DB4-45F5-B2FE-073261B7CC96}"/>
              </a:ext>
            </a:extLst>
          </p:cNvPr>
          <p:cNvSpPr txBox="1"/>
          <p:nvPr/>
        </p:nvSpPr>
        <p:spPr>
          <a:xfrm>
            <a:off x="1168926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F2847B3-716A-436E-8C01-987BC4C2EA2A}" type="slidenum">
              <a:rPr sz="1200"/>
              <a:t>334</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7D56F8FE-1AD7-495B-80D9-7C464E07F2BD}"/>
              </a:ext>
            </a:extLst>
          </p:cNvPr>
          <p:cNvSpPr/>
          <p:nvPr/>
        </p:nvSpPr>
        <p:spPr>
          <a:xfrm>
            <a:off x="399246" y="1199875"/>
            <a:ext cx="11282159" cy="353943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
              </a:rPr>
              <a:t>CDS will enable the use of 8 FTI specific Goods Location Codes (GLCs), for traders to accurately declare their Energy Movements, </a:t>
            </a: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Traders may declare the following GLCs at header level in </a:t>
            </a:r>
            <a:r>
              <a:rPr lang="en-GB" sz="1400" b="0" i="0" u="none" strike="noStrike" kern="0" cap="none" spc="0" baseline="0">
                <a:uFillTx/>
                <a:latin typeface="Calibri  "/>
              </a:rPr>
              <a:t>DE </a:t>
            </a:r>
            <a:r>
              <a:rPr lang="en-GB" sz="1400" i="0" u="none" strike="noStrike" kern="0" cap="none" spc="0" baseline="0">
                <a:uFillTx/>
                <a:latin typeface="Calibri  "/>
              </a:rPr>
              <a:t>5/23:</a:t>
            </a:r>
            <a:endParaRPr lang="en-GB" sz="1400" b="0" i="0" u="none" strike="noStrike" kern="0" cap="none" spc="0" baseline="0">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p:txBody>
      </p:sp>
      <p:sp>
        <p:nvSpPr>
          <p:cNvPr id="9" name="Rectangle 7">
            <a:extLst>
              <a:ext uri="{FF2B5EF4-FFF2-40B4-BE49-F238E27FC236}">
                <a16:creationId xmlns:a16="http://schemas.microsoft.com/office/drawing/2014/main" id="{7A235A3E-F5A6-412A-BAFC-C50C15FFBB94}"/>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1">
            <a:extLst>
              <a:ext uri="{FF2B5EF4-FFF2-40B4-BE49-F238E27FC236}">
                <a16:creationId xmlns:a16="http://schemas.microsoft.com/office/drawing/2014/main" id="{E38EC679-8654-4D0C-9FAC-0FC5CBFB43E6}"/>
              </a:ext>
            </a:extLst>
          </p:cNvPr>
          <p:cNvGraphicFramePr>
            <a:graphicFrameLocks noGrp="1"/>
          </p:cNvGraphicFramePr>
          <p:nvPr/>
        </p:nvGraphicFramePr>
        <p:xfrm>
          <a:off x="2055800" y="1761128"/>
          <a:ext cx="7880353" cy="3451872"/>
        </p:xfrm>
        <a:graphic>
          <a:graphicData uri="http://schemas.openxmlformats.org/drawingml/2006/table">
            <a:tbl>
              <a:tblPr firstRow="1" bandRow="1">
                <a:effectLst/>
                <a:tableStyleId>{5C22544A-7EE6-4342-B048-85BDC9FD1C3A}</a:tableStyleId>
              </a:tblPr>
              <a:tblGrid>
                <a:gridCol w="3986655">
                  <a:extLst>
                    <a:ext uri="{9D8B030D-6E8A-4147-A177-3AD203B41FA5}">
                      <a16:colId xmlns:a16="http://schemas.microsoft.com/office/drawing/2014/main" val="2402411554"/>
                    </a:ext>
                  </a:extLst>
                </a:gridCol>
                <a:gridCol w="3893698">
                  <a:extLst>
                    <a:ext uri="{9D8B030D-6E8A-4147-A177-3AD203B41FA5}">
                      <a16:colId xmlns:a16="http://schemas.microsoft.com/office/drawing/2014/main" val="3404017612"/>
                    </a:ext>
                  </a:extLst>
                </a:gridCol>
              </a:tblGrid>
              <a:tr h="166740">
                <a:tc>
                  <a:txBody>
                    <a:bodyPr/>
                    <a:lstStyle/>
                    <a:p>
                      <a:pPr lvl="0" algn="l"/>
                      <a:r>
                        <a:rPr lang="en-GB" sz="1300">
                          <a:latin typeface="Calibri  "/>
                        </a:rPr>
                        <a:t>Name</a:t>
                      </a:r>
                    </a:p>
                  </a:txBody>
                  <a:tcPr marL="90004">
                    <a:solidFill>
                      <a:srgbClr val="009999"/>
                    </a:solidFill>
                  </a:tcPr>
                </a:tc>
                <a:tc>
                  <a:txBody>
                    <a:bodyPr/>
                    <a:lstStyle/>
                    <a:p>
                      <a:pPr lvl="0" algn="l"/>
                      <a:r>
                        <a:rPr lang="en-GB" sz="1300">
                          <a:latin typeface="Calibri  "/>
                        </a:rPr>
                        <a:t>Goods Location Code</a:t>
                      </a:r>
                    </a:p>
                    <a:p>
                      <a:pPr lvl="0" algn="l"/>
                      <a:endParaRPr lang="en-GB" sz="1300">
                        <a:latin typeface="Calibri  "/>
                      </a:endParaRPr>
                    </a:p>
                  </a:txBody>
                  <a:tcPr marL="90004">
                    <a:solidFill>
                      <a:srgbClr val="009999"/>
                    </a:solidFill>
                  </a:tcPr>
                </a:tc>
                <a:extLst>
                  <a:ext uri="{0D108BD9-81ED-4DB2-BD59-A6C34878D82A}">
                    <a16:rowId xmlns:a16="http://schemas.microsoft.com/office/drawing/2014/main" val="3365433455"/>
                  </a:ext>
                </a:extLst>
              </a:tr>
              <a:tr h="236052">
                <a:tc>
                  <a:txBody>
                    <a:bodyPr/>
                    <a:lstStyle/>
                    <a:p>
                      <a:pPr lvl="0" algn="l" fontAlgn="ctr"/>
                      <a:r>
                        <a:rPr lang="en-GB" sz="1200" b="0" i="0" u="none" strike="noStrike">
                          <a:solidFill>
                            <a:srgbClr val="242424"/>
                          </a:solidFill>
                          <a:latin typeface="Calibri  "/>
                        </a:rPr>
                        <a:t>GNI (UK) </a:t>
                      </a:r>
                    </a:p>
                  </a:txBody>
                  <a:tcPr marL="90004" marR="4764" marT="4764" marB="0"/>
                </a:tc>
                <a:tc>
                  <a:txBody>
                    <a:bodyPr/>
                    <a:lstStyle/>
                    <a:p>
                      <a:pPr lvl="0" algn="l" fontAlgn="ctr"/>
                      <a:r>
                        <a:rPr lang="en-GB" sz="1200" b="0" i="0" u="none" strike="noStrike">
                          <a:solidFill>
                            <a:srgbClr val="242424"/>
                          </a:solidFill>
                          <a:latin typeface="Calibri  "/>
                        </a:rPr>
                        <a:t>GBDUKBTABDGNI </a:t>
                      </a:r>
                    </a:p>
                    <a:p>
                      <a:pPr lvl="0" algn="l" fontAlgn="ctr"/>
                      <a:endParaRPr lang="en-GB" sz="1200" b="0" i="0" u="none" strike="noStrike">
                        <a:solidFill>
                          <a:srgbClr val="242424"/>
                        </a:solidFill>
                        <a:latin typeface="Calibri  "/>
                      </a:endParaRPr>
                    </a:p>
                  </a:txBody>
                  <a:tcPr marL="90004" marR="4764" marT="4764" marB="0"/>
                </a:tc>
                <a:extLst>
                  <a:ext uri="{0D108BD9-81ED-4DB2-BD59-A6C34878D82A}">
                    <a16:rowId xmlns:a16="http://schemas.microsoft.com/office/drawing/2014/main" val="1733990386"/>
                  </a:ext>
                </a:extLst>
              </a:tr>
              <a:tr h="236052">
                <a:tc>
                  <a:txBody>
                    <a:bodyPr/>
                    <a:lstStyle/>
                    <a:p>
                      <a:pPr lvl="0" algn="l" fontAlgn="ctr"/>
                      <a:r>
                        <a:rPr lang="en-GB" sz="1200" b="0" i="0" u="none" strike="noStrike">
                          <a:solidFill>
                            <a:srgbClr val="242424"/>
                          </a:solidFill>
                          <a:latin typeface="Calibri  "/>
                        </a:rPr>
                        <a:t>Interconnector (UK) </a:t>
                      </a:r>
                    </a:p>
                  </a:txBody>
                  <a:tcPr marL="90004" marR="4764" marT="4764" marB="0"/>
                </a:tc>
                <a:tc>
                  <a:txBody>
                    <a:bodyPr/>
                    <a:lstStyle/>
                    <a:p>
                      <a:pPr lvl="0" algn="l" fontAlgn="ctr"/>
                      <a:r>
                        <a:rPr lang="en-GB" sz="1200" b="0" i="0" u="none" strike="noStrike">
                          <a:solidFill>
                            <a:srgbClr val="242424"/>
                          </a:solidFill>
                          <a:latin typeface="Calibri  "/>
                        </a:rPr>
                        <a:t>GBDUNRMGTYITC </a:t>
                      </a:r>
                    </a:p>
                    <a:p>
                      <a:pPr lvl="0" algn="l" fontAlgn="ctr"/>
                      <a:endParaRPr lang="en-GB" sz="1200" b="0" i="0" u="none" strike="noStrike">
                        <a:solidFill>
                          <a:srgbClr val="242424"/>
                        </a:solidFill>
                        <a:latin typeface="Calibri  "/>
                      </a:endParaRPr>
                    </a:p>
                  </a:txBody>
                  <a:tcPr marL="90004" marR="4764" marT="4764" marB="0"/>
                </a:tc>
                <a:extLst>
                  <a:ext uri="{0D108BD9-81ED-4DB2-BD59-A6C34878D82A}">
                    <a16:rowId xmlns:a16="http://schemas.microsoft.com/office/drawing/2014/main" val="4107922133"/>
                  </a:ext>
                </a:extLst>
              </a:tr>
              <a:tr h="236052">
                <a:tc>
                  <a:txBody>
                    <a:bodyPr/>
                    <a:lstStyle/>
                    <a:p>
                      <a:pPr lvl="0" algn="l" fontAlgn="ctr"/>
                      <a:r>
                        <a:rPr lang="en-GB" sz="1200" b="0" i="0" u="none" strike="noStrike">
                          <a:solidFill>
                            <a:srgbClr val="242424"/>
                          </a:solidFill>
                          <a:latin typeface="Calibri  "/>
                        </a:rPr>
                        <a:t>EIRGRID UK</a:t>
                      </a:r>
                    </a:p>
                  </a:txBody>
                  <a:tcPr marL="90004" marR="4764" marT="4764" marB="0"/>
                </a:tc>
                <a:tc>
                  <a:txBody>
                    <a:bodyPr/>
                    <a:lstStyle/>
                    <a:p>
                      <a:pPr lvl="0" algn="l" fontAlgn="ctr"/>
                      <a:r>
                        <a:rPr lang="en-GB" sz="1200" b="0" i="0" u="none" strike="noStrike">
                          <a:solidFill>
                            <a:srgbClr val="242424"/>
                          </a:solidFill>
                          <a:latin typeface="Calibri  "/>
                        </a:rPr>
                        <a:t>GBDUCOQMOSEIR </a:t>
                      </a:r>
                    </a:p>
                    <a:p>
                      <a:pPr lvl="0" algn="l" fontAlgn="ctr"/>
                      <a:endParaRPr lang="en-GB" sz="1200" b="0" i="0" u="none" strike="noStrike">
                        <a:solidFill>
                          <a:srgbClr val="242424"/>
                        </a:solidFill>
                        <a:latin typeface="Calibri  "/>
                      </a:endParaRPr>
                    </a:p>
                  </a:txBody>
                  <a:tcPr marL="90004" marR="4764" marT="4764" marB="0"/>
                </a:tc>
                <a:extLst>
                  <a:ext uri="{0D108BD9-81ED-4DB2-BD59-A6C34878D82A}">
                    <a16:rowId xmlns:a16="http://schemas.microsoft.com/office/drawing/2014/main" val="1666259959"/>
                  </a:ext>
                </a:extLst>
              </a:tr>
              <a:tr h="236052">
                <a:tc>
                  <a:txBody>
                    <a:bodyPr/>
                    <a:lstStyle/>
                    <a:p>
                      <a:pPr lvl="0" algn="l" fontAlgn="ctr"/>
                      <a:r>
                        <a:rPr lang="en-GB" sz="1200" b="0" i="0" u="none" strike="noStrike">
                          <a:solidFill>
                            <a:srgbClr val="242424"/>
                          </a:solidFill>
                          <a:latin typeface="Calibri  "/>
                        </a:rPr>
                        <a:t>National Grid Interconnector Holdings Interconnexion France-Angleterre 1 (IFA1) </a:t>
                      </a:r>
                    </a:p>
                  </a:txBody>
                  <a:tcPr marL="90004" marR="4764" marT="4764" marB="0"/>
                </a:tc>
                <a:tc>
                  <a:txBody>
                    <a:bodyPr/>
                    <a:lstStyle/>
                    <a:p>
                      <a:pPr lvl="0" algn="l" fontAlgn="ctr"/>
                      <a:r>
                        <a:rPr lang="en-GB" sz="1200" b="0" i="0" u="none" strike="noStrike">
                          <a:solidFill>
                            <a:srgbClr val="242424"/>
                          </a:solidFill>
                          <a:latin typeface="Calibri  "/>
                        </a:rPr>
                        <a:t>GBDUASFDOVIFA </a:t>
                      </a:r>
                    </a:p>
                  </a:txBody>
                  <a:tcPr marL="90004" marR="4764" marT="4764" marB="0"/>
                </a:tc>
                <a:extLst>
                  <a:ext uri="{0D108BD9-81ED-4DB2-BD59-A6C34878D82A}">
                    <a16:rowId xmlns:a16="http://schemas.microsoft.com/office/drawing/2014/main" val="870613877"/>
                  </a:ext>
                </a:extLst>
              </a:tr>
              <a:tr h="236052">
                <a:tc>
                  <a:txBody>
                    <a:bodyPr/>
                    <a:lstStyle/>
                    <a:p>
                      <a:pPr lvl="0" algn="l" fontAlgn="ctr"/>
                      <a:r>
                        <a:rPr lang="en-GB" sz="1200" b="0" i="0" u="none" strike="noStrike">
                          <a:solidFill>
                            <a:srgbClr val="242424"/>
                          </a:solidFill>
                          <a:latin typeface="Calibri  "/>
                        </a:rPr>
                        <a:t>National Grid Interconnector Holdings Interconnexion France-Angleterre 2 (IFA2) IFA2,  </a:t>
                      </a:r>
                    </a:p>
                  </a:txBody>
                  <a:tcPr marL="90004" marR="4764" marT="4764" marB="0"/>
                </a:tc>
                <a:tc>
                  <a:txBody>
                    <a:bodyPr/>
                    <a:lstStyle/>
                    <a:p>
                      <a:pPr lvl="0" algn="l" fontAlgn="ctr"/>
                      <a:r>
                        <a:rPr lang="en-GB" sz="1200" b="0" i="0" u="none" strike="noStrike">
                          <a:solidFill>
                            <a:srgbClr val="242424"/>
                          </a:solidFill>
                          <a:latin typeface="Calibri  "/>
                        </a:rPr>
                        <a:t>GBDUWSSPTMIFA </a:t>
                      </a:r>
                    </a:p>
                  </a:txBody>
                  <a:tcPr marL="90004" marR="4764" marT="4764" marB="0"/>
                </a:tc>
                <a:extLst>
                  <a:ext uri="{0D108BD9-81ED-4DB2-BD59-A6C34878D82A}">
                    <a16:rowId xmlns:a16="http://schemas.microsoft.com/office/drawing/2014/main" val="2289138322"/>
                  </a:ext>
                </a:extLst>
              </a:tr>
              <a:tr h="236052">
                <a:tc>
                  <a:txBody>
                    <a:bodyPr/>
                    <a:lstStyle/>
                    <a:p>
                      <a:pPr lvl="0" algn="l" fontAlgn="ctr"/>
                      <a:r>
                        <a:rPr lang="en-GB" sz="1200" b="0" i="0" u="none" strike="noStrike">
                          <a:solidFill>
                            <a:srgbClr val="242424"/>
                          </a:solidFill>
                          <a:latin typeface="Calibri  "/>
                        </a:rPr>
                        <a:t>National Grid BritNed Developments Ltd Grain Road,  </a:t>
                      </a:r>
                    </a:p>
                  </a:txBody>
                  <a:tcPr marL="90004" marR="4764" marT="4764" marB="0"/>
                </a:tc>
                <a:tc>
                  <a:txBody>
                    <a:bodyPr/>
                    <a:lstStyle/>
                    <a:p>
                      <a:pPr lvl="0" algn="l" fontAlgn="ctr"/>
                      <a:r>
                        <a:rPr lang="en-GB" sz="1200" b="0" i="0" u="none" strike="noStrike">
                          <a:solidFill>
                            <a:srgbClr val="242424"/>
                          </a:solidFill>
                          <a:latin typeface="Calibri  "/>
                        </a:rPr>
                        <a:t>GBDURCSMEDBND </a:t>
                      </a:r>
                    </a:p>
                    <a:p>
                      <a:pPr lvl="0" algn="l" fontAlgn="ctr"/>
                      <a:endParaRPr lang="en-GB" sz="1200" b="0" i="0" u="none" strike="noStrike">
                        <a:solidFill>
                          <a:srgbClr val="242424"/>
                        </a:solidFill>
                        <a:latin typeface="Calibri  "/>
                      </a:endParaRPr>
                    </a:p>
                  </a:txBody>
                  <a:tcPr marL="90004" marR="4764" marT="4764" marB="0"/>
                </a:tc>
                <a:extLst>
                  <a:ext uri="{0D108BD9-81ED-4DB2-BD59-A6C34878D82A}">
                    <a16:rowId xmlns:a16="http://schemas.microsoft.com/office/drawing/2014/main" val="2096082201"/>
                  </a:ext>
                </a:extLst>
              </a:tr>
              <a:tr h="0">
                <a:tc>
                  <a:txBody>
                    <a:bodyPr/>
                    <a:lstStyle/>
                    <a:p>
                      <a:pPr lvl="0" algn="l" fontAlgn="ctr"/>
                      <a:r>
                        <a:rPr lang="en-GB" sz="1200" b="0" i="0" u="none" strike="noStrike">
                          <a:solidFill>
                            <a:srgbClr val="242424"/>
                          </a:solidFill>
                          <a:latin typeface="Calibri  "/>
                        </a:rPr>
                        <a:t>National Grid Nemo Link Ltd </a:t>
                      </a:r>
                    </a:p>
                  </a:txBody>
                  <a:tcPr marL="90004" marR="4764" marT="4764" marB="0"/>
                </a:tc>
                <a:tc>
                  <a:txBody>
                    <a:bodyPr/>
                    <a:lstStyle/>
                    <a:p>
                      <a:pPr lvl="0" algn="l" fontAlgn="ctr"/>
                      <a:r>
                        <a:rPr lang="en-GB" sz="1200" b="0" i="0" u="none" strike="noStrike">
                          <a:solidFill>
                            <a:schemeClr val="tx1"/>
                          </a:solidFill>
                          <a:latin typeface="Calibri  "/>
                        </a:rPr>
                        <a:t>GBDUSDWRMGNMO </a:t>
                      </a:r>
                    </a:p>
                    <a:p>
                      <a:pPr lvl="0" algn="l" fontAlgn="ctr"/>
                      <a:endParaRPr lang="en-GB" sz="1200" b="0" i="0" u="none" strike="noStrike">
                        <a:solidFill>
                          <a:srgbClr val="242424"/>
                        </a:solidFill>
                        <a:latin typeface="Calibri  "/>
                      </a:endParaRPr>
                    </a:p>
                  </a:txBody>
                  <a:tcPr marL="90004" marR="4764" marT="4764" marB="0"/>
                </a:tc>
                <a:extLst>
                  <a:ext uri="{0D108BD9-81ED-4DB2-BD59-A6C34878D82A}">
                    <a16:rowId xmlns:a16="http://schemas.microsoft.com/office/drawing/2014/main" val="3695430526"/>
                  </a:ext>
                </a:extLst>
              </a:tr>
              <a:tr h="236052">
                <a:tc>
                  <a:txBody>
                    <a:bodyPr/>
                    <a:lstStyle/>
                    <a:p>
                      <a:pPr lvl="0" algn="l" fontAlgn="ctr"/>
                      <a:r>
                        <a:rPr lang="en-GB" sz="1200" b="0" i="0" u="none" strike="noStrike">
                          <a:solidFill>
                            <a:srgbClr val="242424"/>
                          </a:solidFill>
                          <a:latin typeface="Calibri  "/>
                        </a:rPr>
                        <a:t>BBLC</a:t>
                      </a:r>
                    </a:p>
                  </a:txBody>
                  <a:tcPr marL="90004" marR="4764" marT="4764" marB="0"/>
                </a:tc>
                <a:tc>
                  <a:txBody>
                    <a:bodyPr/>
                    <a:lstStyle/>
                    <a:p>
                      <a:pPr lvl="0" algn="l" fontAlgn="ctr"/>
                      <a:r>
                        <a:rPr lang="en-GB" sz="1200" b="0" i="0" u="none" strike="noStrike" dirty="0">
                          <a:solidFill>
                            <a:srgbClr val="242424"/>
                          </a:solidFill>
                          <a:latin typeface="Calibri  "/>
                        </a:rPr>
                        <a:t>GBDUNRMFXTBLC </a:t>
                      </a:r>
                    </a:p>
                    <a:p>
                      <a:pPr lvl="0" algn="l" fontAlgn="ctr"/>
                      <a:endParaRPr lang="en-GB" sz="1200" b="0" i="0" u="none" strike="noStrike" dirty="0">
                        <a:solidFill>
                          <a:srgbClr val="242424"/>
                        </a:solidFill>
                        <a:latin typeface="Calibri  "/>
                      </a:endParaRPr>
                    </a:p>
                  </a:txBody>
                  <a:tcPr marL="90004" marR="4764" marT="4764" marB="0"/>
                </a:tc>
                <a:extLst>
                  <a:ext uri="{0D108BD9-81ED-4DB2-BD59-A6C34878D82A}">
                    <a16:rowId xmlns:a16="http://schemas.microsoft.com/office/drawing/2014/main" val="805021838"/>
                  </a:ext>
                </a:extLst>
              </a:tr>
            </a:tbl>
          </a:graphicData>
        </a:graphic>
      </p:graphicFrame>
      <p:sp>
        <p:nvSpPr>
          <p:cNvPr id="12" name="TextBox 11">
            <a:extLst>
              <a:ext uri="{FF2B5EF4-FFF2-40B4-BE49-F238E27FC236}">
                <a16:creationId xmlns:a16="http://schemas.microsoft.com/office/drawing/2014/main" id="{346A2189-EECA-41B5-B222-AEE198FC55A5}"/>
              </a:ext>
            </a:extLst>
          </p:cNvPr>
          <p:cNvSpPr txBox="1"/>
          <p:nvPr/>
        </p:nvSpPr>
        <p:spPr>
          <a:xfrm>
            <a:off x="1973913" y="5228670"/>
            <a:ext cx="8850887" cy="307777"/>
          </a:xfrm>
          <a:prstGeom prst="rect">
            <a:avLst/>
          </a:prstGeom>
          <a:noFill/>
        </p:spPr>
        <p:txBody>
          <a:bodyPr wrap="square">
            <a:spAutoFit/>
          </a:bodyPr>
          <a:lstStyle/>
          <a:p>
            <a:r>
              <a:rPr lang="en-GB" sz="1400" b="1" kern="0">
                <a:latin typeface="Calibri  "/>
              </a:rPr>
              <a:t>Please note</a:t>
            </a:r>
            <a:r>
              <a:rPr lang="en-GB" sz="1400" kern="0">
                <a:latin typeface="Calibri  "/>
              </a:rPr>
              <a:t>: </a:t>
            </a:r>
            <a:r>
              <a:rPr lang="en-GB" sz="1400" b="0" i="0">
                <a:solidFill>
                  <a:srgbClr val="0B0C0C"/>
                </a:solidFill>
                <a:effectLst/>
                <a:latin typeface="GDS Transport"/>
              </a:rPr>
              <a:t>Appendix 16J of the Tariff Volume 3 will be updated to show these new codes when live</a:t>
            </a:r>
            <a:r>
              <a:rPr lang="en-GB" sz="1400">
                <a:solidFill>
                  <a:srgbClr val="0B0C0C"/>
                </a:solidFill>
                <a:latin typeface="GDS Transport"/>
              </a:rPr>
              <a:t>.</a:t>
            </a:r>
            <a:endParaRPr lang="en-GB" sz="1400"/>
          </a:p>
        </p:txBody>
      </p:sp>
      <p:sp>
        <p:nvSpPr>
          <p:cNvPr id="13" name="Rectangle 12">
            <a:extLst>
              <a:ext uri="{FF2B5EF4-FFF2-40B4-BE49-F238E27FC236}">
                <a16:creationId xmlns:a16="http://schemas.microsoft.com/office/drawing/2014/main" id="{AA5324DE-2D14-4F68-87E8-90BE0D32AAB7}"/>
              </a:ext>
            </a:extLst>
          </p:cNvPr>
          <p:cNvSpPr/>
          <p:nvPr/>
        </p:nvSpPr>
        <p:spPr>
          <a:xfrm>
            <a:off x="1825063" y="5651672"/>
            <a:ext cx="9362889" cy="472094"/>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TT_EX030a</a:t>
            </a:r>
            <a:r>
              <a:rPr lang="en-GB" sz="1100">
                <a:solidFill>
                  <a:srgbClr val="000000"/>
                </a:solidFill>
                <a:latin typeface="Calibri"/>
              </a:rPr>
              <a:t> - Export pre-lodged EIDR declaration, for goods moving from GB to </a:t>
            </a:r>
            <a:r>
              <a:rPr lang="en-GB" sz="1100" err="1">
                <a:solidFill>
                  <a:srgbClr val="000000"/>
                </a:solidFill>
                <a:latin typeface="Calibri"/>
              </a:rPr>
              <a:t>RoW</a:t>
            </a:r>
            <a:r>
              <a:rPr lang="en-GB" sz="1100">
                <a:solidFill>
                  <a:srgbClr val="000000"/>
                </a:solidFill>
                <a:latin typeface="Calibri"/>
              </a:rPr>
              <a:t>,  to declare energy movements via a fixed transport installation</a:t>
            </a:r>
            <a:endParaRPr lang="en-GB" sz="11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4" name="Rectangle 13">
            <a:extLst>
              <a:ext uri="{FF2B5EF4-FFF2-40B4-BE49-F238E27FC236}">
                <a16:creationId xmlns:a16="http://schemas.microsoft.com/office/drawing/2014/main" id="{3B20027B-CBBF-4408-A128-0DB86B49BA40}"/>
              </a:ext>
            </a:extLst>
          </p:cNvPr>
          <p:cNvSpPr/>
          <p:nvPr/>
        </p:nvSpPr>
        <p:spPr>
          <a:xfrm>
            <a:off x="903858" y="5654484"/>
            <a:ext cx="958377" cy="472094"/>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B4121CD-9534-48D0-B42B-B7DF66DB06D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E4C6D8F-0C6B-407D-8D5E-E4689EF55B3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E4096D06-24CA-4CB9-B9DA-8E00908FDBFE}"/>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9D6734CC-F67F-4122-9246-A44ACE0F4F7D}"/>
              </a:ext>
            </a:extLst>
          </p:cNvPr>
          <p:cNvSpPr txBox="1"/>
          <p:nvPr/>
        </p:nvSpPr>
        <p:spPr>
          <a:xfrm>
            <a:off x="11667996"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AC51510-6A4E-4385-A0B9-13915ECBA3F2}" type="slidenum">
              <a:rPr sz="1200"/>
              <a:t>335</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1389E399-EAC6-43C4-B412-ABF6FE2CC3EA}"/>
              </a:ext>
            </a:extLst>
          </p:cNvPr>
          <p:cNvSpPr/>
          <p:nvPr/>
        </p:nvSpPr>
        <p:spPr>
          <a:xfrm>
            <a:off x="399245" y="1199875"/>
            <a:ext cx="11282159"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body)"/>
              </a:rPr>
              <a:t>Imports from the Continental Shelf (GB &amp; NI)</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0" cap="none" spc="0" baseline="0">
                <a:solidFill>
                  <a:srgbClr val="000000"/>
                </a:solidFill>
                <a:uFillTx/>
                <a:latin typeface="Calibri (body)"/>
                <a:ea typeface="Calibri" pitchFamily="34"/>
              </a:rPr>
              <a:t>Continental Shelves are offshore installations typically situated between 12 and 200 nautical miles outside of a country’s territorial water. </a:t>
            </a:r>
            <a:r>
              <a:rPr lang="en-GB" sz="1400" b="0" i="0" u="none" strike="noStrike" kern="0" cap="none" spc="0" baseline="0">
                <a:solidFill>
                  <a:srgbClr val="333333"/>
                </a:solidFill>
                <a:uFillTx/>
                <a:latin typeface="Calibri (body)"/>
                <a:ea typeface="Times New Roman" pitchFamily="18"/>
              </a:rPr>
              <a:t>F</a:t>
            </a:r>
            <a:r>
              <a:rPr lang="en-GB" sz="1400" b="0" i="0" u="none" strike="noStrike" kern="0" cap="none" spc="0" baseline="0">
                <a:solidFill>
                  <a:srgbClr val="333333"/>
                </a:solidFill>
                <a:uFillTx/>
                <a:latin typeface="Calibri (body)"/>
              </a:rPr>
              <a:t>ollowing the agreement of a trade deal between the EU and UK in December 2020, imports from EU Continental Shelves will now be expected to only be liable to pay UK VAT &amp; Excise for the majority of imports. </a:t>
            </a:r>
            <a:r>
              <a:rPr lang="en-GB" sz="1400" b="0" i="0" u="none" strike="noStrike" kern="0" cap="none" spc="0" baseline="0">
                <a:solidFill>
                  <a:srgbClr val="333333"/>
                </a:solidFill>
                <a:uFillTx/>
                <a:latin typeface="Calibri (body)"/>
                <a:ea typeface="Times New Roman" pitchFamily="18"/>
              </a:rPr>
              <a:t>From TTM19.0, CDS will be able to process imports and calculate applicable duties from the Continental Shelf (CS). </a:t>
            </a:r>
            <a:endParaRPr lang="en-GB" sz="1400" b="0" i="0" u="none" strike="noStrike" kern="1200" cap="none" spc="0" baseline="0">
              <a:solidFill>
                <a:srgbClr val="333333"/>
              </a:solidFill>
              <a:uFillTx/>
              <a:latin typeface="Calibri (body)"/>
              <a:ea typeface="Times New Roman" pitchFamily="18"/>
            </a:endParaRPr>
          </a:p>
        </p:txBody>
      </p:sp>
      <p:sp>
        <p:nvSpPr>
          <p:cNvPr id="9" name="Rectangle 7">
            <a:extLst>
              <a:ext uri="{FF2B5EF4-FFF2-40B4-BE49-F238E27FC236}">
                <a16:creationId xmlns:a16="http://schemas.microsoft.com/office/drawing/2014/main" id="{3FB17ECB-D31B-425C-9C6C-6A88BEFD9B1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13">
            <a:extLst>
              <a:ext uri="{FF2B5EF4-FFF2-40B4-BE49-F238E27FC236}">
                <a16:creationId xmlns:a16="http://schemas.microsoft.com/office/drawing/2014/main" id="{00CA9C76-5131-405D-9775-A0F996D7CEDE}"/>
              </a:ext>
            </a:extLst>
          </p:cNvPr>
          <p:cNvSpPr/>
          <p:nvPr/>
        </p:nvSpPr>
        <p:spPr>
          <a:xfrm>
            <a:off x="399244" y="2377258"/>
            <a:ext cx="11282159" cy="370979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
              </a:rPr>
              <a:t>To submit</a:t>
            </a:r>
            <a:r>
              <a:rPr lang="en-GB" sz="1400" b="1" i="0" u="none" kern="0" cap="none" spc="0" baseline="0">
                <a:solidFill>
                  <a:srgbClr val="333333"/>
                </a:solidFill>
                <a:uFillTx/>
                <a:latin typeface="Calibri  "/>
              </a:rPr>
              <a:t> </a:t>
            </a:r>
            <a:r>
              <a:rPr lang="en-GB" sz="1400" b="1" i="0" u="none" strike="noStrike" kern="0" cap="none" spc="0" baseline="0">
                <a:solidFill>
                  <a:srgbClr val="333333"/>
                </a:solidFill>
                <a:uFillTx/>
                <a:latin typeface="Calibri  "/>
              </a:rPr>
              <a:t>Import declarations from the Continental Shelves (CS),</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
              </a:rPr>
              <a:t>The following values for Country of Origin (D.E. 5/15), Country of Destination (D.E. 5/8) or Country of Dispatch (D.E. 5/14) will be accepted on the following Import Declaration Types: </a:t>
            </a:r>
            <a:r>
              <a:rPr lang="en-GB" sz="1400" b="1" i="0" u="none" strike="noStrike" kern="0" cap="none" spc="0" baseline="0">
                <a:solidFill>
                  <a:srgbClr val="333333"/>
                </a:solidFill>
                <a:uFillTx/>
                <a:latin typeface="Calibri  "/>
              </a:rPr>
              <a:t>A, B, C, D, E, F, J, K, Y, Z.</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1" i="0" u="none" strike="noStrike" kern="0" cap="none" spc="0" baseline="0">
              <a:solidFill>
                <a:srgbClr val="333333"/>
              </a:solidFill>
              <a:uFillTx/>
              <a:latin typeface="Calibri  "/>
            </a:endParaRPr>
          </a:p>
          <a:p>
            <a:pPr marL="0" marR="0" lvl="0"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
              </a:rPr>
              <a:t>	</a:t>
            </a:r>
            <a:br>
              <a:rPr lang="en-GB" sz="1400" b="0" i="0" u="none" strike="noStrike" kern="0" cap="none" spc="0" baseline="0">
                <a:solidFill>
                  <a:srgbClr val="000000"/>
                </a:solidFill>
                <a:uFillTx/>
                <a:latin typeface="Calibri"/>
              </a:rPr>
            </a:br>
            <a:endParaRPr lang="en-GB" sz="1400" b="0" i="0" u="none" strike="noStrike" kern="0" cap="none" spc="0" baseline="0">
              <a:solidFill>
                <a:srgbClr val="333333"/>
              </a:solidFill>
              <a:uFillTx/>
              <a:latin typeface="Calibri (body)"/>
              <a:ea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800" b="0" i="0" u="none" strike="noStrike" kern="1200" cap="none" spc="0" baseline="0">
              <a:solidFill>
                <a:srgbClr val="333333"/>
              </a:solidFill>
              <a:uFillTx/>
              <a:latin typeface="Calibri" pitchFamily="34"/>
              <a:ea typeface="Times New Roman" pitchFamily="18"/>
              <a:cs typeface="Times New Roman" pitchFamily="18"/>
            </a:endParaRPr>
          </a:p>
        </p:txBody>
      </p:sp>
      <p:graphicFrame>
        <p:nvGraphicFramePr>
          <p:cNvPr id="11" name="Table 12">
            <a:extLst>
              <a:ext uri="{FF2B5EF4-FFF2-40B4-BE49-F238E27FC236}">
                <a16:creationId xmlns:a16="http://schemas.microsoft.com/office/drawing/2014/main" id="{BD1AD019-C40C-4D4E-BBDF-72C09BBC2C5A}"/>
              </a:ext>
            </a:extLst>
          </p:cNvPr>
          <p:cNvGraphicFramePr>
            <a:graphicFrameLocks noGrp="1"/>
          </p:cNvGraphicFramePr>
          <p:nvPr/>
        </p:nvGraphicFramePr>
        <p:xfrm>
          <a:off x="1443856" y="3393638"/>
          <a:ext cx="4618560" cy="1691956"/>
        </p:xfrm>
        <a:graphic>
          <a:graphicData uri="http://schemas.openxmlformats.org/drawingml/2006/table">
            <a:tbl>
              <a:tblPr firstRow="1" bandRow="1">
                <a:effectLst/>
                <a:tableStyleId>{5C22544A-7EE6-4342-B048-85BDC9FD1C3A}</a:tableStyleId>
              </a:tblPr>
              <a:tblGrid>
                <a:gridCol w="1885986">
                  <a:extLst>
                    <a:ext uri="{9D8B030D-6E8A-4147-A177-3AD203B41FA5}">
                      <a16:colId xmlns:a16="http://schemas.microsoft.com/office/drawing/2014/main" val="3034795199"/>
                    </a:ext>
                  </a:extLst>
                </a:gridCol>
                <a:gridCol w="627324">
                  <a:extLst>
                    <a:ext uri="{9D8B030D-6E8A-4147-A177-3AD203B41FA5}">
                      <a16:colId xmlns:a16="http://schemas.microsoft.com/office/drawing/2014/main" val="1238435323"/>
                    </a:ext>
                  </a:extLst>
                </a:gridCol>
                <a:gridCol w="1230042">
                  <a:extLst>
                    <a:ext uri="{9D8B030D-6E8A-4147-A177-3AD203B41FA5}">
                      <a16:colId xmlns:a16="http://schemas.microsoft.com/office/drawing/2014/main" val="715080982"/>
                    </a:ext>
                  </a:extLst>
                </a:gridCol>
                <a:gridCol w="875208">
                  <a:extLst>
                    <a:ext uri="{9D8B030D-6E8A-4147-A177-3AD203B41FA5}">
                      <a16:colId xmlns:a16="http://schemas.microsoft.com/office/drawing/2014/main" val="2780913546"/>
                    </a:ext>
                  </a:extLst>
                </a:gridCol>
              </a:tblGrid>
              <a:tr h="225267">
                <a:tc>
                  <a:txBody>
                    <a:bodyPr/>
                    <a:lstStyle/>
                    <a:p>
                      <a:pPr lvl="0" algn="l" rtl="0" fontAlgn="ctr"/>
                      <a:r>
                        <a:rPr lang="en-GB" sz="1400" b="1" i="0" u="none" strike="noStrike">
                          <a:solidFill>
                            <a:srgbClr val="FFFFFF"/>
                          </a:solidFill>
                          <a:latin typeface="Calibri" pitchFamily="34"/>
                        </a:rPr>
                        <a:t>Sector</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Code</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Parent country</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Code</a:t>
                      </a:r>
                    </a:p>
                  </a:txBody>
                  <a:tcPr marL="90004" marR="4764" marT="4764" marB="0" anchor="ctr">
                    <a:solidFill>
                      <a:srgbClr val="009999"/>
                    </a:solidFill>
                  </a:tcPr>
                </a:tc>
                <a:extLst>
                  <a:ext uri="{0D108BD9-81ED-4DB2-BD59-A6C34878D82A}">
                    <a16:rowId xmlns:a16="http://schemas.microsoft.com/office/drawing/2014/main" val="3093408611"/>
                  </a:ext>
                </a:extLst>
              </a:tr>
              <a:tr h="209527">
                <a:tc>
                  <a:txBody>
                    <a:bodyPr/>
                    <a:lstStyle/>
                    <a:p>
                      <a:pPr lvl="0" algn="l" rtl="0" fontAlgn="ctr"/>
                      <a:r>
                        <a:rPr lang="en-GB" sz="1300" b="0" i="0" u="none" strike="noStrike">
                          <a:solidFill>
                            <a:srgbClr val="000000"/>
                          </a:solidFill>
                          <a:latin typeface="Calibri" pitchFamily="34"/>
                        </a:rPr>
                        <a:t>CS Belgian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ZB</a:t>
                      </a:r>
                    </a:p>
                  </a:txBody>
                  <a:tcPr marL="90004" marR="4764" marT="4764" marB="0" anchor="ctr"/>
                </a:tc>
                <a:tc>
                  <a:txBody>
                    <a:bodyPr/>
                    <a:lstStyle/>
                    <a:p>
                      <a:pPr lvl="0" algn="l" rtl="0" fontAlgn="ctr"/>
                      <a:r>
                        <a:rPr lang="en-GB" sz="1300" b="0" i="0" u="none" strike="noStrike">
                          <a:solidFill>
                            <a:srgbClr val="000000"/>
                          </a:solidFill>
                          <a:latin typeface="Calibri" pitchFamily="34"/>
                        </a:rPr>
                        <a:t>Belgium</a:t>
                      </a:r>
                    </a:p>
                  </a:txBody>
                  <a:tcPr marL="90004" marR="4764" marT="4764" marB="0" anchor="ctr"/>
                </a:tc>
                <a:tc>
                  <a:txBody>
                    <a:bodyPr/>
                    <a:lstStyle/>
                    <a:p>
                      <a:pPr lvl="0" algn="l" rtl="0" fontAlgn="ctr"/>
                      <a:r>
                        <a:rPr lang="en-GB" sz="1300" b="0" i="0" u="none" strike="noStrike">
                          <a:solidFill>
                            <a:srgbClr val="000000"/>
                          </a:solidFill>
                          <a:latin typeface="Calibri" pitchFamily="34"/>
                        </a:rPr>
                        <a:t>BE</a:t>
                      </a:r>
                    </a:p>
                  </a:txBody>
                  <a:tcPr marL="90004" marR="4764" marT="4764" marB="0" anchor="ctr"/>
                </a:tc>
                <a:extLst>
                  <a:ext uri="{0D108BD9-81ED-4DB2-BD59-A6C34878D82A}">
                    <a16:rowId xmlns:a16="http://schemas.microsoft.com/office/drawing/2014/main" val="211453641"/>
                  </a:ext>
                </a:extLst>
              </a:tr>
              <a:tr h="209527">
                <a:tc>
                  <a:txBody>
                    <a:bodyPr/>
                    <a:lstStyle/>
                    <a:p>
                      <a:pPr lvl="0" algn="l" rtl="0" fontAlgn="ctr"/>
                      <a:r>
                        <a:rPr lang="en-GB" sz="1300" b="0" i="0" u="none" strike="noStrike">
                          <a:solidFill>
                            <a:srgbClr val="000000"/>
                          </a:solidFill>
                          <a:latin typeface="Calibri" pitchFamily="34"/>
                        </a:rPr>
                        <a:t>CS Bulgaria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ZI</a:t>
                      </a:r>
                    </a:p>
                  </a:txBody>
                  <a:tcPr marL="90004" marR="4764" marT="4764" marB="0" anchor="ctr"/>
                </a:tc>
                <a:tc>
                  <a:txBody>
                    <a:bodyPr/>
                    <a:lstStyle/>
                    <a:p>
                      <a:pPr lvl="0" algn="l" rtl="0" fontAlgn="ctr"/>
                      <a:r>
                        <a:rPr lang="en-GB" sz="1300" b="0" i="0" u="none" strike="noStrike">
                          <a:solidFill>
                            <a:srgbClr val="000000"/>
                          </a:solidFill>
                          <a:latin typeface="Calibri" pitchFamily="34"/>
                        </a:rPr>
                        <a:t>Bulgaria</a:t>
                      </a:r>
                    </a:p>
                  </a:txBody>
                  <a:tcPr marL="90004" marR="4764" marT="4764" marB="0" anchor="ctr"/>
                </a:tc>
                <a:tc>
                  <a:txBody>
                    <a:bodyPr/>
                    <a:lstStyle/>
                    <a:p>
                      <a:pPr lvl="0" algn="l" rtl="0" fontAlgn="ctr"/>
                      <a:r>
                        <a:rPr lang="en-GB" sz="1300" b="0" i="0" u="none" strike="noStrike">
                          <a:solidFill>
                            <a:srgbClr val="000000"/>
                          </a:solidFill>
                          <a:latin typeface="Calibri" pitchFamily="34"/>
                        </a:rPr>
                        <a:t>BG</a:t>
                      </a:r>
                    </a:p>
                  </a:txBody>
                  <a:tcPr marL="90004" marR="4764" marT="4764" marB="0" anchor="ctr"/>
                </a:tc>
                <a:extLst>
                  <a:ext uri="{0D108BD9-81ED-4DB2-BD59-A6C34878D82A}">
                    <a16:rowId xmlns:a16="http://schemas.microsoft.com/office/drawing/2014/main" val="2371800178"/>
                  </a:ext>
                </a:extLst>
              </a:tr>
              <a:tr h="209527">
                <a:tc>
                  <a:txBody>
                    <a:bodyPr/>
                    <a:lstStyle/>
                    <a:p>
                      <a:pPr lvl="0" algn="l" rtl="0" fontAlgn="ctr"/>
                      <a:r>
                        <a:rPr lang="en-GB" sz="1300" b="0" i="0" u="none" strike="noStrike">
                          <a:solidFill>
                            <a:srgbClr val="000000"/>
                          </a:solidFill>
                          <a:latin typeface="Calibri" pitchFamily="34"/>
                        </a:rPr>
                        <a:t>CS Cyprus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ZJ</a:t>
                      </a:r>
                    </a:p>
                  </a:txBody>
                  <a:tcPr marL="90004" marR="4764" marT="4764" marB="0" anchor="ctr"/>
                </a:tc>
                <a:tc>
                  <a:txBody>
                    <a:bodyPr/>
                    <a:lstStyle/>
                    <a:p>
                      <a:pPr lvl="0" algn="l" rtl="0" fontAlgn="ctr"/>
                      <a:r>
                        <a:rPr lang="en-GB" sz="1300" b="0" i="0" u="none" strike="noStrike">
                          <a:solidFill>
                            <a:srgbClr val="000000"/>
                          </a:solidFill>
                          <a:latin typeface="Calibri" pitchFamily="34"/>
                        </a:rPr>
                        <a:t>Cyprus</a:t>
                      </a:r>
                    </a:p>
                  </a:txBody>
                  <a:tcPr marL="90004" marR="4764" marT="4764" marB="0" anchor="ctr"/>
                </a:tc>
                <a:tc>
                  <a:txBody>
                    <a:bodyPr/>
                    <a:lstStyle/>
                    <a:p>
                      <a:pPr lvl="0" algn="l" rtl="0" fontAlgn="ctr"/>
                      <a:r>
                        <a:rPr lang="en-GB" sz="1300" b="0" i="0" u="none" strike="noStrike">
                          <a:solidFill>
                            <a:srgbClr val="000000"/>
                          </a:solidFill>
                          <a:latin typeface="Calibri" pitchFamily="34"/>
                        </a:rPr>
                        <a:t>CY</a:t>
                      </a:r>
                    </a:p>
                  </a:txBody>
                  <a:tcPr marL="90004" marR="4764" marT="4764" marB="0" anchor="ctr"/>
                </a:tc>
                <a:extLst>
                  <a:ext uri="{0D108BD9-81ED-4DB2-BD59-A6C34878D82A}">
                    <a16:rowId xmlns:a16="http://schemas.microsoft.com/office/drawing/2014/main" val="3570563138"/>
                  </a:ext>
                </a:extLst>
              </a:tr>
              <a:tr h="209527">
                <a:tc>
                  <a:txBody>
                    <a:bodyPr/>
                    <a:lstStyle/>
                    <a:p>
                      <a:pPr lvl="0" algn="l" rtl="0" fontAlgn="ctr"/>
                      <a:r>
                        <a:rPr lang="en-GB" sz="1300" b="0" i="0" u="none" strike="noStrike">
                          <a:solidFill>
                            <a:srgbClr val="000000"/>
                          </a:solidFill>
                          <a:latin typeface="Calibri" pitchFamily="34"/>
                        </a:rPr>
                        <a:t>CS Danish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ZD</a:t>
                      </a:r>
                    </a:p>
                  </a:txBody>
                  <a:tcPr marL="90004" marR="4764" marT="4764" marB="0" anchor="ctr"/>
                </a:tc>
                <a:tc>
                  <a:txBody>
                    <a:bodyPr/>
                    <a:lstStyle/>
                    <a:p>
                      <a:pPr lvl="0" algn="l" rtl="0" fontAlgn="ctr"/>
                      <a:r>
                        <a:rPr lang="en-GB" sz="1300" b="0" i="0" u="none" strike="noStrike">
                          <a:solidFill>
                            <a:srgbClr val="000000"/>
                          </a:solidFill>
                          <a:latin typeface="Calibri" pitchFamily="34"/>
                        </a:rPr>
                        <a:t>Denmark</a:t>
                      </a:r>
                    </a:p>
                  </a:txBody>
                  <a:tcPr marL="90004" marR="4764" marT="4764" marB="0" anchor="ctr"/>
                </a:tc>
                <a:tc>
                  <a:txBody>
                    <a:bodyPr/>
                    <a:lstStyle/>
                    <a:p>
                      <a:pPr lvl="0" algn="l" rtl="0" fontAlgn="ctr"/>
                      <a:r>
                        <a:rPr lang="en-GB" sz="1300" b="0" i="0" u="none" strike="noStrike">
                          <a:solidFill>
                            <a:srgbClr val="000000"/>
                          </a:solidFill>
                          <a:latin typeface="Calibri" pitchFamily="34"/>
                        </a:rPr>
                        <a:t>DK</a:t>
                      </a:r>
                    </a:p>
                  </a:txBody>
                  <a:tcPr marL="90004" marR="4764" marT="4764" marB="0" anchor="ctr"/>
                </a:tc>
                <a:extLst>
                  <a:ext uri="{0D108BD9-81ED-4DB2-BD59-A6C34878D82A}">
                    <a16:rowId xmlns:a16="http://schemas.microsoft.com/office/drawing/2014/main" val="380006743"/>
                  </a:ext>
                </a:extLst>
              </a:tr>
              <a:tr h="209527">
                <a:tc>
                  <a:txBody>
                    <a:bodyPr/>
                    <a:lstStyle/>
                    <a:p>
                      <a:pPr lvl="0" algn="l" rtl="0" fontAlgn="ctr"/>
                      <a:r>
                        <a:rPr lang="en-GB" sz="1300" b="0" i="0" u="none" strike="noStrike">
                          <a:solidFill>
                            <a:srgbClr val="000000"/>
                          </a:solidFill>
                          <a:latin typeface="Calibri" pitchFamily="34"/>
                        </a:rPr>
                        <a:t>CS Finland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ZK</a:t>
                      </a:r>
                    </a:p>
                  </a:txBody>
                  <a:tcPr marL="90004" marR="4764" marT="4764" marB="0" anchor="ctr"/>
                </a:tc>
                <a:tc>
                  <a:txBody>
                    <a:bodyPr/>
                    <a:lstStyle/>
                    <a:p>
                      <a:pPr lvl="0" algn="l" rtl="0" fontAlgn="ctr"/>
                      <a:r>
                        <a:rPr lang="en-GB" sz="1300" b="0" i="0" u="none" strike="noStrike">
                          <a:solidFill>
                            <a:srgbClr val="000000"/>
                          </a:solidFill>
                          <a:latin typeface="Calibri" pitchFamily="34"/>
                        </a:rPr>
                        <a:t>Finland</a:t>
                      </a:r>
                    </a:p>
                  </a:txBody>
                  <a:tcPr marL="90004" marR="4764" marT="4764" marB="0" anchor="ctr"/>
                </a:tc>
                <a:tc>
                  <a:txBody>
                    <a:bodyPr/>
                    <a:lstStyle/>
                    <a:p>
                      <a:pPr lvl="0" algn="l" rtl="0" fontAlgn="ctr"/>
                      <a:r>
                        <a:rPr lang="en-GB" sz="1300" b="0" i="0" u="none" strike="noStrike">
                          <a:solidFill>
                            <a:srgbClr val="000000"/>
                          </a:solidFill>
                          <a:latin typeface="Calibri" pitchFamily="34"/>
                        </a:rPr>
                        <a:t>FI</a:t>
                      </a:r>
                    </a:p>
                  </a:txBody>
                  <a:tcPr marL="90004" marR="4764" marT="4764" marB="0" anchor="ctr"/>
                </a:tc>
                <a:extLst>
                  <a:ext uri="{0D108BD9-81ED-4DB2-BD59-A6C34878D82A}">
                    <a16:rowId xmlns:a16="http://schemas.microsoft.com/office/drawing/2014/main" val="1539423396"/>
                  </a:ext>
                </a:extLst>
              </a:tr>
              <a:tr h="209527">
                <a:tc>
                  <a:txBody>
                    <a:bodyPr/>
                    <a:lstStyle/>
                    <a:p>
                      <a:pPr lvl="0" algn="l" rtl="0" fontAlgn="ctr"/>
                      <a:r>
                        <a:rPr lang="en-GB" sz="1300" b="0" i="0" u="none" strike="noStrike">
                          <a:solidFill>
                            <a:srgbClr val="000000"/>
                          </a:solidFill>
                          <a:latin typeface="Calibri" pitchFamily="34"/>
                        </a:rPr>
                        <a:t>CS French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ZF</a:t>
                      </a:r>
                    </a:p>
                  </a:txBody>
                  <a:tcPr marL="90004" marR="4764" marT="4764" marB="0" anchor="ctr"/>
                </a:tc>
                <a:tc>
                  <a:txBody>
                    <a:bodyPr/>
                    <a:lstStyle/>
                    <a:p>
                      <a:pPr lvl="0" algn="l" rtl="0" fontAlgn="ctr"/>
                      <a:r>
                        <a:rPr lang="en-GB" sz="1300" b="0" i="0" u="none" strike="noStrike">
                          <a:solidFill>
                            <a:srgbClr val="000000"/>
                          </a:solidFill>
                          <a:latin typeface="Calibri" pitchFamily="34"/>
                        </a:rPr>
                        <a:t>France</a:t>
                      </a:r>
                    </a:p>
                  </a:txBody>
                  <a:tcPr marL="90004" marR="4764" marT="4764" marB="0" anchor="ctr"/>
                </a:tc>
                <a:tc>
                  <a:txBody>
                    <a:bodyPr/>
                    <a:lstStyle/>
                    <a:p>
                      <a:pPr lvl="0" algn="l" rtl="0" fontAlgn="ctr"/>
                      <a:r>
                        <a:rPr lang="en-GB" sz="1300" b="0" i="0" u="none" strike="noStrike">
                          <a:solidFill>
                            <a:srgbClr val="000000"/>
                          </a:solidFill>
                          <a:latin typeface="Calibri" pitchFamily="34"/>
                        </a:rPr>
                        <a:t>FR</a:t>
                      </a:r>
                    </a:p>
                  </a:txBody>
                  <a:tcPr marL="90004" marR="4764" marT="4764" marB="0" anchor="ctr"/>
                </a:tc>
                <a:extLst>
                  <a:ext uri="{0D108BD9-81ED-4DB2-BD59-A6C34878D82A}">
                    <a16:rowId xmlns:a16="http://schemas.microsoft.com/office/drawing/2014/main" val="2817577251"/>
                  </a:ext>
                </a:extLst>
              </a:tr>
              <a:tr h="209527">
                <a:tc>
                  <a:txBody>
                    <a:bodyPr/>
                    <a:lstStyle/>
                    <a:p>
                      <a:pPr lvl="0" algn="l" rtl="0" fontAlgn="ctr"/>
                      <a:r>
                        <a:rPr lang="en-GB" sz="1300" b="0" i="0" u="none" strike="noStrike">
                          <a:solidFill>
                            <a:srgbClr val="000000"/>
                          </a:solidFill>
                          <a:latin typeface="Calibri" pitchFamily="34"/>
                        </a:rPr>
                        <a:t>CS German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ZG</a:t>
                      </a:r>
                    </a:p>
                  </a:txBody>
                  <a:tcPr marL="90004" marR="4764" marT="4764" marB="0" anchor="ctr"/>
                </a:tc>
                <a:tc>
                  <a:txBody>
                    <a:bodyPr/>
                    <a:lstStyle/>
                    <a:p>
                      <a:pPr lvl="0" algn="l" rtl="0" fontAlgn="ctr"/>
                      <a:r>
                        <a:rPr lang="en-GB" sz="1300" b="0" i="0" u="none" strike="noStrike">
                          <a:solidFill>
                            <a:srgbClr val="000000"/>
                          </a:solidFill>
                          <a:latin typeface="Calibri" pitchFamily="34"/>
                        </a:rPr>
                        <a:t>Germany</a:t>
                      </a:r>
                    </a:p>
                  </a:txBody>
                  <a:tcPr marL="90004" marR="4764" marT="4764" marB="0" anchor="ctr"/>
                </a:tc>
                <a:tc>
                  <a:txBody>
                    <a:bodyPr/>
                    <a:lstStyle/>
                    <a:p>
                      <a:pPr lvl="0" algn="l" rtl="0" fontAlgn="ctr"/>
                      <a:r>
                        <a:rPr lang="en-GB" sz="1300" b="0" i="0" u="none" strike="noStrike" dirty="0">
                          <a:solidFill>
                            <a:srgbClr val="000000"/>
                          </a:solidFill>
                          <a:latin typeface="Calibri" pitchFamily="34"/>
                        </a:rPr>
                        <a:t>DE</a:t>
                      </a:r>
                    </a:p>
                  </a:txBody>
                  <a:tcPr marL="90004" marR="4764" marT="4764" marB="0" anchor="ctr"/>
                </a:tc>
                <a:extLst>
                  <a:ext uri="{0D108BD9-81ED-4DB2-BD59-A6C34878D82A}">
                    <a16:rowId xmlns:a16="http://schemas.microsoft.com/office/drawing/2014/main" val="90176452"/>
                  </a:ext>
                </a:extLst>
              </a:tr>
            </a:tbl>
          </a:graphicData>
        </a:graphic>
      </p:graphicFrame>
      <p:sp>
        <p:nvSpPr>
          <p:cNvPr id="12" name="TextBox 11">
            <a:extLst>
              <a:ext uri="{FF2B5EF4-FFF2-40B4-BE49-F238E27FC236}">
                <a16:creationId xmlns:a16="http://schemas.microsoft.com/office/drawing/2014/main" id="{6AB56A19-DB9D-4FCC-86A7-B646ADC82B23}"/>
              </a:ext>
            </a:extLst>
          </p:cNvPr>
          <p:cNvSpPr txBox="1"/>
          <p:nvPr/>
        </p:nvSpPr>
        <p:spPr>
          <a:xfrm>
            <a:off x="1367399" y="3121728"/>
            <a:ext cx="5076739"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Applicable country values for Imports from the Continental Shelf:</a:t>
            </a:r>
          </a:p>
        </p:txBody>
      </p:sp>
      <p:graphicFrame>
        <p:nvGraphicFramePr>
          <p:cNvPr id="13" name="Table 12">
            <a:extLst>
              <a:ext uri="{FF2B5EF4-FFF2-40B4-BE49-F238E27FC236}">
                <a16:creationId xmlns:a16="http://schemas.microsoft.com/office/drawing/2014/main" id="{74737F9B-4F45-4B4C-9EDC-B28CC87F445D}"/>
              </a:ext>
            </a:extLst>
          </p:cNvPr>
          <p:cNvGraphicFramePr>
            <a:graphicFrameLocks noGrp="1"/>
          </p:cNvGraphicFramePr>
          <p:nvPr/>
        </p:nvGraphicFramePr>
        <p:xfrm>
          <a:off x="6197600" y="3392962"/>
          <a:ext cx="4618551" cy="1691956"/>
        </p:xfrm>
        <a:graphic>
          <a:graphicData uri="http://schemas.openxmlformats.org/drawingml/2006/table">
            <a:tbl>
              <a:tblPr firstRow="1" bandRow="1">
                <a:effectLst/>
                <a:tableStyleId>{5C22544A-7EE6-4342-B048-85BDC9FD1C3A}</a:tableStyleId>
              </a:tblPr>
              <a:tblGrid>
                <a:gridCol w="1870542">
                  <a:extLst>
                    <a:ext uri="{9D8B030D-6E8A-4147-A177-3AD203B41FA5}">
                      <a16:colId xmlns:a16="http://schemas.microsoft.com/office/drawing/2014/main" val="4161612283"/>
                    </a:ext>
                  </a:extLst>
                </a:gridCol>
                <a:gridCol w="623904">
                  <a:extLst>
                    <a:ext uri="{9D8B030D-6E8A-4147-A177-3AD203B41FA5}">
                      <a16:colId xmlns:a16="http://schemas.microsoft.com/office/drawing/2014/main" val="2500819154"/>
                    </a:ext>
                  </a:extLst>
                </a:gridCol>
                <a:gridCol w="1243227">
                  <a:extLst>
                    <a:ext uri="{9D8B030D-6E8A-4147-A177-3AD203B41FA5}">
                      <a16:colId xmlns:a16="http://schemas.microsoft.com/office/drawing/2014/main" val="356980765"/>
                    </a:ext>
                  </a:extLst>
                </a:gridCol>
                <a:gridCol w="880878">
                  <a:extLst>
                    <a:ext uri="{9D8B030D-6E8A-4147-A177-3AD203B41FA5}">
                      <a16:colId xmlns:a16="http://schemas.microsoft.com/office/drawing/2014/main" val="2037384004"/>
                    </a:ext>
                  </a:extLst>
                </a:gridCol>
              </a:tblGrid>
              <a:tr h="225267">
                <a:tc>
                  <a:txBody>
                    <a:bodyPr/>
                    <a:lstStyle/>
                    <a:p>
                      <a:pPr lvl="0" algn="l" rtl="0" fontAlgn="ctr"/>
                      <a:r>
                        <a:rPr lang="en-GB" sz="1400" b="1" i="0" u="none" strike="noStrike">
                          <a:solidFill>
                            <a:srgbClr val="FFFFFF"/>
                          </a:solidFill>
                          <a:latin typeface="Calibri" pitchFamily="34"/>
                        </a:rPr>
                        <a:t>Sector</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Code</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Parent country</a:t>
                      </a:r>
                    </a:p>
                  </a:txBody>
                  <a:tcPr marL="90004" marR="4764" marT="4764" marB="0" anchor="ctr">
                    <a:solidFill>
                      <a:srgbClr val="009999"/>
                    </a:solidFill>
                  </a:tcPr>
                </a:tc>
                <a:tc>
                  <a:txBody>
                    <a:bodyPr/>
                    <a:lstStyle/>
                    <a:p>
                      <a:pPr lvl="0" algn="l" rtl="0" fontAlgn="ctr"/>
                      <a:r>
                        <a:rPr lang="en-GB" sz="1400" b="1" i="0" u="none" strike="noStrike">
                          <a:solidFill>
                            <a:srgbClr val="FFFFFF"/>
                          </a:solidFill>
                          <a:latin typeface="Calibri" pitchFamily="34"/>
                        </a:rPr>
                        <a:t>Code</a:t>
                      </a:r>
                    </a:p>
                  </a:txBody>
                  <a:tcPr marL="90004" marR="4764" marT="4764" marB="0" anchor="ctr">
                    <a:solidFill>
                      <a:srgbClr val="009999"/>
                    </a:solidFill>
                  </a:tcPr>
                </a:tc>
                <a:extLst>
                  <a:ext uri="{0D108BD9-81ED-4DB2-BD59-A6C34878D82A}">
                    <a16:rowId xmlns:a16="http://schemas.microsoft.com/office/drawing/2014/main" val="2252004237"/>
                  </a:ext>
                </a:extLst>
              </a:tr>
              <a:tr h="209527">
                <a:tc>
                  <a:txBody>
                    <a:bodyPr/>
                    <a:lstStyle/>
                    <a:p>
                      <a:pPr lvl="0" algn="l" rtl="0" fontAlgn="ctr"/>
                      <a:r>
                        <a:rPr lang="en-GB" sz="1300" b="0" i="0" u="none" strike="noStrike">
                          <a:solidFill>
                            <a:srgbClr val="000000"/>
                          </a:solidFill>
                          <a:latin typeface="Calibri" pitchFamily="34"/>
                        </a:rPr>
                        <a:t>CS Greece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ZC</a:t>
                      </a:r>
                    </a:p>
                  </a:txBody>
                  <a:tcPr marL="90004" marR="4764" marT="4764" marB="0" anchor="ctr"/>
                </a:tc>
                <a:tc>
                  <a:txBody>
                    <a:bodyPr/>
                    <a:lstStyle/>
                    <a:p>
                      <a:pPr lvl="0" algn="l" rtl="0" fontAlgn="ctr"/>
                      <a:r>
                        <a:rPr lang="en-GB" sz="1300" b="0" i="0" u="none" strike="noStrike">
                          <a:solidFill>
                            <a:srgbClr val="000000"/>
                          </a:solidFill>
                          <a:latin typeface="Calibri" pitchFamily="34"/>
                        </a:rPr>
                        <a:t>Greece</a:t>
                      </a:r>
                    </a:p>
                  </a:txBody>
                  <a:tcPr marL="90004" marR="4764" marT="4764" marB="0" anchor="ctr"/>
                </a:tc>
                <a:tc>
                  <a:txBody>
                    <a:bodyPr/>
                    <a:lstStyle/>
                    <a:p>
                      <a:pPr lvl="0" algn="l" rtl="0" fontAlgn="ctr"/>
                      <a:r>
                        <a:rPr lang="en-GB" sz="1300" b="0" i="0" u="none" strike="noStrike">
                          <a:solidFill>
                            <a:srgbClr val="000000"/>
                          </a:solidFill>
                          <a:latin typeface="Calibri" pitchFamily="34"/>
                        </a:rPr>
                        <a:t>GR</a:t>
                      </a:r>
                    </a:p>
                  </a:txBody>
                  <a:tcPr marL="90004" marR="4764" marT="4764" marB="0" anchor="ctr"/>
                </a:tc>
                <a:extLst>
                  <a:ext uri="{0D108BD9-81ED-4DB2-BD59-A6C34878D82A}">
                    <a16:rowId xmlns:a16="http://schemas.microsoft.com/office/drawing/2014/main" val="1458261303"/>
                  </a:ext>
                </a:extLst>
              </a:tr>
              <a:tr h="209527">
                <a:tc>
                  <a:txBody>
                    <a:bodyPr/>
                    <a:lstStyle/>
                    <a:p>
                      <a:pPr lvl="0" algn="l" rtl="0" fontAlgn="ctr"/>
                      <a:r>
                        <a:rPr lang="en-GB" sz="1300" b="0" i="0" u="none" strike="noStrike">
                          <a:solidFill>
                            <a:srgbClr val="000000"/>
                          </a:solidFill>
                          <a:latin typeface="Calibri" pitchFamily="34"/>
                        </a:rPr>
                        <a:t>CS Irish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ZE</a:t>
                      </a:r>
                    </a:p>
                  </a:txBody>
                  <a:tcPr marL="90004" marR="4764" marT="4764" marB="0" anchor="ctr"/>
                </a:tc>
                <a:tc>
                  <a:txBody>
                    <a:bodyPr/>
                    <a:lstStyle/>
                    <a:p>
                      <a:pPr lvl="0" algn="l" rtl="0" fontAlgn="ctr"/>
                      <a:r>
                        <a:rPr lang="en-GB" sz="1300" b="0" i="0" u="none" strike="noStrike">
                          <a:solidFill>
                            <a:srgbClr val="000000"/>
                          </a:solidFill>
                          <a:latin typeface="Calibri" pitchFamily="34"/>
                        </a:rPr>
                        <a:t>Ireland</a:t>
                      </a:r>
                    </a:p>
                  </a:txBody>
                  <a:tcPr marL="90004" marR="4764" marT="4764" marB="0" anchor="ctr"/>
                </a:tc>
                <a:tc>
                  <a:txBody>
                    <a:bodyPr/>
                    <a:lstStyle/>
                    <a:p>
                      <a:pPr lvl="0" algn="l" rtl="0" fontAlgn="ctr"/>
                      <a:r>
                        <a:rPr lang="en-GB" sz="1300" b="0" i="0" u="none" strike="noStrike">
                          <a:solidFill>
                            <a:srgbClr val="000000"/>
                          </a:solidFill>
                          <a:latin typeface="Calibri" pitchFamily="34"/>
                        </a:rPr>
                        <a:t>IE</a:t>
                      </a:r>
                    </a:p>
                  </a:txBody>
                  <a:tcPr marL="90004" marR="4764" marT="4764" marB="0" anchor="ctr"/>
                </a:tc>
                <a:extLst>
                  <a:ext uri="{0D108BD9-81ED-4DB2-BD59-A6C34878D82A}">
                    <a16:rowId xmlns:a16="http://schemas.microsoft.com/office/drawing/2014/main" val="507212267"/>
                  </a:ext>
                </a:extLst>
              </a:tr>
              <a:tr h="209527">
                <a:tc>
                  <a:txBody>
                    <a:bodyPr/>
                    <a:lstStyle/>
                    <a:p>
                      <a:pPr lvl="0" algn="l" rtl="0" fontAlgn="ctr"/>
                      <a:r>
                        <a:rPr lang="en-GB" sz="1300" b="0" i="0" u="none" strike="noStrike">
                          <a:solidFill>
                            <a:srgbClr val="000000"/>
                          </a:solidFill>
                          <a:latin typeface="Calibri" pitchFamily="34"/>
                        </a:rPr>
                        <a:t>CS Italy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ZL</a:t>
                      </a:r>
                    </a:p>
                  </a:txBody>
                  <a:tcPr marL="90004" marR="4764" marT="4764" marB="0" anchor="ctr"/>
                </a:tc>
                <a:tc>
                  <a:txBody>
                    <a:bodyPr/>
                    <a:lstStyle/>
                    <a:p>
                      <a:pPr lvl="0" algn="l" rtl="0" fontAlgn="ctr"/>
                      <a:r>
                        <a:rPr lang="en-GB" sz="1300" b="0" i="0" u="none" strike="noStrike">
                          <a:solidFill>
                            <a:srgbClr val="000000"/>
                          </a:solidFill>
                          <a:latin typeface="Calibri" pitchFamily="34"/>
                        </a:rPr>
                        <a:t>Italy</a:t>
                      </a:r>
                    </a:p>
                  </a:txBody>
                  <a:tcPr marL="90004" marR="4764" marT="4764" marB="0" anchor="ctr"/>
                </a:tc>
                <a:tc>
                  <a:txBody>
                    <a:bodyPr/>
                    <a:lstStyle/>
                    <a:p>
                      <a:pPr lvl="0" algn="l" rtl="0" fontAlgn="ctr"/>
                      <a:r>
                        <a:rPr lang="en-GB" sz="1300" b="0" i="0" u="none" strike="noStrike">
                          <a:solidFill>
                            <a:srgbClr val="000000"/>
                          </a:solidFill>
                          <a:latin typeface="Calibri" pitchFamily="34"/>
                        </a:rPr>
                        <a:t>IT</a:t>
                      </a:r>
                    </a:p>
                  </a:txBody>
                  <a:tcPr marL="90004" marR="4764" marT="4764" marB="0" anchor="ctr"/>
                </a:tc>
                <a:extLst>
                  <a:ext uri="{0D108BD9-81ED-4DB2-BD59-A6C34878D82A}">
                    <a16:rowId xmlns:a16="http://schemas.microsoft.com/office/drawing/2014/main" val="3597813658"/>
                  </a:ext>
                </a:extLst>
              </a:tr>
              <a:tr h="209527">
                <a:tc>
                  <a:txBody>
                    <a:bodyPr/>
                    <a:lstStyle/>
                    <a:p>
                      <a:pPr lvl="0" algn="l" rtl="0" fontAlgn="ctr"/>
                      <a:r>
                        <a:rPr lang="en-GB" sz="1300" b="0" i="0" u="none" strike="noStrike">
                          <a:solidFill>
                            <a:srgbClr val="000000"/>
                          </a:solidFill>
                          <a:latin typeface="Calibri" pitchFamily="34"/>
                        </a:rPr>
                        <a:t>CS Netherlands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ZH</a:t>
                      </a:r>
                    </a:p>
                  </a:txBody>
                  <a:tcPr marL="90004" marR="4764" marT="4764" marB="0" anchor="ctr"/>
                </a:tc>
                <a:tc>
                  <a:txBody>
                    <a:bodyPr/>
                    <a:lstStyle/>
                    <a:p>
                      <a:pPr lvl="0" algn="l" rtl="0" fontAlgn="ctr"/>
                      <a:r>
                        <a:rPr lang="en-GB" sz="1300" b="0" i="0" u="none" strike="noStrike">
                          <a:solidFill>
                            <a:srgbClr val="000000"/>
                          </a:solidFill>
                          <a:latin typeface="Calibri" pitchFamily="34"/>
                        </a:rPr>
                        <a:t>Netherlands</a:t>
                      </a:r>
                    </a:p>
                  </a:txBody>
                  <a:tcPr marL="90004" marR="4764" marT="4764" marB="0" anchor="ctr"/>
                </a:tc>
                <a:tc>
                  <a:txBody>
                    <a:bodyPr/>
                    <a:lstStyle/>
                    <a:p>
                      <a:pPr lvl="0" algn="l" rtl="0" fontAlgn="ctr"/>
                      <a:r>
                        <a:rPr lang="en-GB" sz="1300" b="0" i="0" u="none" strike="noStrike">
                          <a:solidFill>
                            <a:srgbClr val="000000"/>
                          </a:solidFill>
                          <a:latin typeface="Calibri" pitchFamily="34"/>
                        </a:rPr>
                        <a:t>NL</a:t>
                      </a:r>
                    </a:p>
                  </a:txBody>
                  <a:tcPr marL="90004" marR="4764" marT="4764" marB="0" anchor="ctr"/>
                </a:tc>
                <a:extLst>
                  <a:ext uri="{0D108BD9-81ED-4DB2-BD59-A6C34878D82A}">
                    <a16:rowId xmlns:a16="http://schemas.microsoft.com/office/drawing/2014/main" val="212785219"/>
                  </a:ext>
                </a:extLst>
              </a:tr>
              <a:tr h="209527">
                <a:tc>
                  <a:txBody>
                    <a:bodyPr/>
                    <a:lstStyle/>
                    <a:p>
                      <a:pPr lvl="0" algn="l" rtl="0" fontAlgn="ctr"/>
                      <a:r>
                        <a:rPr lang="en-GB" sz="1300" b="0" i="0" u="none" strike="noStrike">
                          <a:solidFill>
                            <a:srgbClr val="000000"/>
                          </a:solidFill>
                          <a:latin typeface="Calibri" pitchFamily="34"/>
                        </a:rPr>
                        <a:t>CS Norwegian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ZN</a:t>
                      </a:r>
                    </a:p>
                  </a:txBody>
                  <a:tcPr marL="90004" marR="4764" marT="4764" marB="0" anchor="ctr"/>
                </a:tc>
                <a:tc>
                  <a:txBody>
                    <a:bodyPr/>
                    <a:lstStyle/>
                    <a:p>
                      <a:pPr lvl="0" algn="l" rtl="0" fontAlgn="ctr"/>
                      <a:r>
                        <a:rPr lang="en-GB" sz="1300" b="0" i="0" u="none" strike="noStrike">
                          <a:solidFill>
                            <a:srgbClr val="000000"/>
                          </a:solidFill>
                          <a:latin typeface="Calibri" pitchFamily="34"/>
                        </a:rPr>
                        <a:t>Norway</a:t>
                      </a:r>
                    </a:p>
                  </a:txBody>
                  <a:tcPr marL="90004" marR="4764" marT="4764" marB="0" anchor="ctr"/>
                </a:tc>
                <a:tc>
                  <a:txBody>
                    <a:bodyPr/>
                    <a:lstStyle/>
                    <a:p>
                      <a:pPr lvl="0" algn="l" rtl="0" fontAlgn="ctr"/>
                      <a:r>
                        <a:rPr lang="en-GB" sz="1300" b="0" i="0" u="none" strike="noStrike">
                          <a:solidFill>
                            <a:srgbClr val="000000"/>
                          </a:solidFill>
                          <a:latin typeface="Calibri" pitchFamily="34"/>
                        </a:rPr>
                        <a:t>NO</a:t>
                      </a:r>
                    </a:p>
                  </a:txBody>
                  <a:tcPr marL="90004" marR="4764" marT="4764" marB="0" anchor="ctr"/>
                </a:tc>
                <a:extLst>
                  <a:ext uri="{0D108BD9-81ED-4DB2-BD59-A6C34878D82A}">
                    <a16:rowId xmlns:a16="http://schemas.microsoft.com/office/drawing/2014/main" val="861510431"/>
                  </a:ext>
                </a:extLst>
              </a:tr>
              <a:tr h="209527">
                <a:tc>
                  <a:txBody>
                    <a:bodyPr/>
                    <a:lstStyle/>
                    <a:p>
                      <a:pPr lvl="0" algn="l" rtl="0" fontAlgn="ctr"/>
                      <a:r>
                        <a:rPr lang="en-GB" sz="1300" b="0" i="0" u="none" strike="noStrike">
                          <a:solidFill>
                            <a:srgbClr val="000000"/>
                          </a:solidFill>
                          <a:latin typeface="Calibri" pitchFamily="34"/>
                        </a:rPr>
                        <a:t>CS Sweden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ZS</a:t>
                      </a:r>
                    </a:p>
                  </a:txBody>
                  <a:tcPr marL="90004" marR="4764" marT="4764" marB="0" anchor="ctr"/>
                </a:tc>
                <a:tc>
                  <a:txBody>
                    <a:bodyPr/>
                    <a:lstStyle/>
                    <a:p>
                      <a:pPr lvl="0" algn="l" rtl="0" fontAlgn="ctr"/>
                      <a:r>
                        <a:rPr lang="en-GB" sz="1300" b="0" i="0" u="none" strike="noStrike">
                          <a:solidFill>
                            <a:srgbClr val="000000"/>
                          </a:solidFill>
                          <a:latin typeface="Calibri" pitchFamily="34"/>
                        </a:rPr>
                        <a:t>Sweden</a:t>
                      </a:r>
                    </a:p>
                  </a:txBody>
                  <a:tcPr marL="90004" marR="4764" marT="4764" marB="0" anchor="ctr"/>
                </a:tc>
                <a:tc>
                  <a:txBody>
                    <a:bodyPr/>
                    <a:lstStyle/>
                    <a:p>
                      <a:pPr lvl="0" algn="l" rtl="0" fontAlgn="ctr"/>
                      <a:r>
                        <a:rPr lang="en-GB" sz="1300" b="0" i="0" u="none" strike="noStrike">
                          <a:solidFill>
                            <a:srgbClr val="000000"/>
                          </a:solidFill>
                          <a:latin typeface="Calibri" pitchFamily="34"/>
                        </a:rPr>
                        <a:t>SE</a:t>
                      </a:r>
                    </a:p>
                  </a:txBody>
                  <a:tcPr marL="90004" marR="4764" marT="4764" marB="0" anchor="ctr"/>
                </a:tc>
                <a:extLst>
                  <a:ext uri="{0D108BD9-81ED-4DB2-BD59-A6C34878D82A}">
                    <a16:rowId xmlns:a16="http://schemas.microsoft.com/office/drawing/2014/main" val="971033683"/>
                  </a:ext>
                </a:extLst>
              </a:tr>
              <a:tr h="209527">
                <a:tc>
                  <a:txBody>
                    <a:bodyPr/>
                    <a:lstStyle/>
                    <a:p>
                      <a:pPr lvl="0" algn="l" rtl="0" fontAlgn="ctr"/>
                      <a:r>
                        <a:rPr lang="en-GB" sz="1300" b="0" i="0" u="none" strike="noStrike">
                          <a:solidFill>
                            <a:srgbClr val="000000"/>
                          </a:solidFill>
                          <a:latin typeface="Calibri" pitchFamily="34"/>
                        </a:rPr>
                        <a:t>CS United Kingdom Sector</a:t>
                      </a:r>
                    </a:p>
                  </a:txBody>
                  <a:tcPr marL="90004" marR="4764" marT="4764" marB="0" anchor="ctr"/>
                </a:tc>
                <a:tc>
                  <a:txBody>
                    <a:bodyPr/>
                    <a:lstStyle/>
                    <a:p>
                      <a:pPr lvl="0" algn="l" rtl="0" fontAlgn="ctr"/>
                      <a:r>
                        <a:rPr lang="en-GB" sz="1300" b="0" i="0" u="none" strike="noStrike">
                          <a:solidFill>
                            <a:srgbClr val="000000"/>
                          </a:solidFill>
                          <a:latin typeface="Calibri" pitchFamily="34"/>
                        </a:rPr>
                        <a:t>ZU</a:t>
                      </a:r>
                    </a:p>
                  </a:txBody>
                  <a:tcPr marL="90004" marR="4764" marT="4764" marB="0" anchor="ctr"/>
                </a:tc>
                <a:tc>
                  <a:txBody>
                    <a:bodyPr/>
                    <a:lstStyle/>
                    <a:p>
                      <a:pPr lvl="0" algn="l" rtl="0" fontAlgn="ctr"/>
                      <a:r>
                        <a:rPr lang="en-GB" sz="1300" b="0" i="0" u="none" strike="noStrike">
                          <a:solidFill>
                            <a:srgbClr val="000000"/>
                          </a:solidFill>
                          <a:latin typeface="Calibri" pitchFamily="34"/>
                        </a:rPr>
                        <a:t>UK</a:t>
                      </a:r>
                    </a:p>
                  </a:txBody>
                  <a:tcPr marL="90004" marR="4764" marT="4764" marB="0" anchor="ctr"/>
                </a:tc>
                <a:tc>
                  <a:txBody>
                    <a:bodyPr/>
                    <a:lstStyle/>
                    <a:p>
                      <a:pPr lvl="0" algn="l" rtl="0" fontAlgn="ctr"/>
                      <a:r>
                        <a:rPr lang="en-GB" sz="1300" b="0" i="0" u="none" strike="noStrike" dirty="0">
                          <a:solidFill>
                            <a:srgbClr val="000000"/>
                          </a:solidFill>
                          <a:latin typeface="Calibri" pitchFamily="34"/>
                        </a:rPr>
                        <a:t>GB</a:t>
                      </a:r>
                    </a:p>
                  </a:txBody>
                  <a:tcPr marL="90004" marR="4764" marT="4764" marB="0" anchor="ctr"/>
                </a:tc>
                <a:extLst>
                  <a:ext uri="{0D108BD9-81ED-4DB2-BD59-A6C34878D82A}">
                    <a16:rowId xmlns:a16="http://schemas.microsoft.com/office/drawing/2014/main" val="3726965970"/>
                  </a:ext>
                </a:extLst>
              </a:tr>
            </a:tbl>
          </a:graphicData>
        </a:graphic>
      </p:graphicFrame>
      <p:sp>
        <p:nvSpPr>
          <p:cNvPr id="15" name="TextBox 14">
            <a:extLst>
              <a:ext uri="{FF2B5EF4-FFF2-40B4-BE49-F238E27FC236}">
                <a16:creationId xmlns:a16="http://schemas.microsoft.com/office/drawing/2014/main" id="{7778BF6C-E97C-4B88-BBB1-4D6545C73140}"/>
              </a:ext>
            </a:extLst>
          </p:cNvPr>
          <p:cNvSpPr txBox="1"/>
          <p:nvPr/>
        </p:nvSpPr>
        <p:spPr>
          <a:xfrm>
            <a:off x="911810" y="5105785"/>
            <a:ext cx="10104951" cy="1384995"/>
          </a:xfrm>
          <a:prstGeom prst="rect">
            <a:avLst/>
          </a:prstGeom>
          <a:noFill/>
        </p:spPr>
        <p:txBody>
          <a:bodyPr wrap="square">
            <a:spAutoFit/>
          </a:bodyPr>
          <a:lstStyle/>
          <a:p>
            <a:r>
              <a:rPr lang="en-GB" sz="1400" b="1" i="0" u="none" strike="noStrike" kern="0" cap="none" spc="0" baseline="0">
                <a:solidFill>
                  <a:srgbClr val="333333"/>
                </a:solidFill>
                <a:uFillTx/>
                <a:latin typeface="Calibri (body)"/>
                <a:ea typeface="Times New Roman" pitchFamily="18"/>
              </a:rPr>
              <a:t>Please note: </a:t>
            </a:r>
            <a:r>
              <a:rPr lang="en-GB" sz="1400" b="0" i="0" u="none" strike="noStrike" kern="0" cap="none" spc="0" baseline="0">
                <a:solidFill>
                  <a:srgbClr val="333333"/>
                </a:solidFill>
                <a:uFillTx/>
                <a:latin typeface="Calibri (body)"/>
                <a:ea typeface="Times New Roman" pitchFamily="18"/>
              </a:rPr>
              <a:t> </a:t>
            </a:r>
          </a:p>
          <a:p>
            <a:pPr marL="742950" lvl="1" indent="-285750">
              <a:buFont typeface="Arial" panose="020B0604020202020204" pitchFamily="34" charset="0"/>
              <a:buChar char="•"/>
            </a:pPr>
            <a:r>
              <a:rPr lang="en-GB" sz="1400">
                <a:latin typeface="Calibri" panose="020F0502020204030204" pitchFamily="34" charset="0"/>
                <a:ea typeface="Calibri" panose="020F0502020204030204" pitchFamily="34" charset="0"/>
              </a:rPr>
              <a:t>Import declarations </a:t>
            </a:r>
            <a:r>
              <a:rPr lang="en-GB" sz="1400">
                <a:effectLst/>
                <a:latin typeface="Calibri" panose="020F0502020204030204" pitchFamily="34" charset="0"/>
                <a:ea typeface="Calibri" panose="020F0502020204030204" pitchFamily="34" charset="0"/>
              </a:rPr>
              <a:t>to the UK (Mainland) from the Continental Shelf (UK), will be treated as imports from a third country. </a:t>
            </a:r>
          </a:p>
          <a:p>
            <a:pPr marL="742950" lvl="1" indent="-285750">
              <a:buFont typeface="Arial" panose="020B0604020202020204" pitchFamily="34" charset="0"/>
              <a:buChar char="•"/>
            </a:pPr>
            <a:r>
              <a:rPr lang="en-GB" sz="1400">
                <a:effectLst/>
                <a:latin typeface="Calibri" panose="020F0502020204030204" pitchFamily="34" charset="0"/>
                <a:ea typeface="Calibri" panose="020F0502020204030204" pitchFamily="34" charset="0"/>
              </a:rPr>
              <a:t>For traders submitting import declarations from </a:t>
            </a:r>
            <a:r>
              <a:rPr lang="en-GB" sz="1400">
                <a:latin typeface="Calibri" panose="020F0502020204030204" pitchFamily="34" charset="0"/>
                <a:ea typeface="Calibri" panose="020F0502020204030204" pitchFamily="34" charset="0"/>
              </a:rPr>
              <a:t>the </a:t>
            </a:r>
            <a:r>
              <a:rPr lang="en-GB" sz="1400">
                <a:effectLst/>
                <a:latin typeface="Calibri" panose="020F0502020204030204" pitchFamily="34" charset="0"/>
                <a:ea typeface="Calibri" panose="020F0502020204030204" pitchFamily="34" charset="0"/>
              </a:rPr>
              <a:t>Continental Shelf (EU/NI) to the UK (Mainland), custo</a:t>
            </a:r>
            <a:r>
              <a:rPr lang="en-GB" sz="1400">
                <a:latin typeface="Calibri" panose="020F0502020204030204" pitchFamily="34" charset="0"/>
                <a:ea typeface="Calibri" panose="020F0502020204030204" pitchFamily="34" charset="0"/>
              </a:rPr>
              <a:t>ms duties will be calculated </a:t>
            </a:r>
            <a:r>
              <a:rPr lang="en-GB" sz="1400">
                <a:effectLst/>
                <a:latin typeface="Calibri" panose="020F0502020204030204" pitchFamily="34" charset="0"/>
                <a:ea typeface="Calibri" panose="020F0502020204030204" pitchFamily="34" charset="0"/>
              </a:rPr>
              <a:t>(if applicable), in addition to Excise and VAT payable, using measures applicable to the parent country.</a:t>
            </a:r>
          </a:p>
          <a:p>
            <a:pPr marL="742950" lvl="1" indent="-285750">
              <a:buFont typeface="Arial" panose="020B0604020202020204" pitchFamily="34" charset="0"/>
              <a:buChar char="•"/>
            </a:pPr>
            <a:r>
              <a:rPr lang="en-GB" sz="1400" kern="0">
                <a:solidFill>
                  <a:srgbClr val="333333"/>
                </a:solidFill>
                <a:latin typeface="Calibri (body)"/>
                <a:ea typeface="Times New Roman" pitchFamily="18"/>
              </a:rPr>
              <a:t>C</a:t>
            </a:r>
            <a:r>
              <a:rPr lang="en-GB" sz="1400" b="0" i="0" u="none" strike="noStrike" kern="0" cap="none" spc="0" baseline="0">
                <a:solidFill>
                  <a:srgbClr val="333333"/>
                </a:solidFill>
                <a:uFillTx/>
                <a:latin typeface="Calibri (body)"/>
                <a:ea typeface="Times New Roman" pitchFamily="18"/>
              </a:rPr>
              <a:t>ountry codes marked with an asterisk</a:t>
            </a:r>
            <a:r>
              <a:rPr lang="en-GB" sz="1400" b="1" i="0" u="none" strike="noStrike" kern="0" cap="none" spc="0" baseline="0">
                <a:solidFill>
                  <a:srgbClr val="333333"/>
                </a:solidFill>
                <a:uFillTx/>
                <a:latin typeface="Calibri (body)"/>
                <a:ea typeface="Times New Roman" pitchFamily="18"/>
              </a:rPr>
              <a:t>*</a:t>
            </a:r>
            <a:r>
              <a:rPr lang="en-GB" sz="1400" b="0" i="0" u="none" strike="noStrike" kern="0" cap="none" spc="0" baseline="0">
                <a:solidFill>
                  <a:srgbClr val="333333"/>
                </a:solidFill>
                <a:uFillTx/>
                <a:latin typeface="Calibri (body)"/>
                <a:ea typeface="Times New Roman" pitchFamily="18"/>
              </a:rPr>
              <a:t> may not appear in the </a:t>
            </a:r>
            <a:r>
              <a:rPr lang="en-GB" sz="1400" b="0" i="0" u="none" kern="0" cap="none" spc="0" baseline="0">
                <a:solidFill>
                  <a:srgbClr val="333333"/>
                </a:solidFill>
                <a:uFillTx/>
                <a:latin typeface="Calibri (body)"/>
                <a:ea typeface="Times New Roman" pitchFamily="18"/>
              </a:rPr>
              <a:t>UK or </a:t>
            </a:r>
            <a:r>
              <a:rPr lang="en-GB" sz="1400" b="0" i="0" u="none" strike="noStrike" kern="0" cap="none" spc="0" baseline="0">
                <a:solidFill>
                  <a:srgbClr val="333333"/>
                </a:solidFill>
                <a:uFillTx/>
                <a:latin typeface="Calibri (body)"/>
                <a:ea typeface="Times New Roman" pitchFamily="18"/>
              </a:rPr>
              <a:t>EU Tariff Volume 2, as they are translated to the parent and EU country code, prior to receipt by the Tariff.</a:t>
            </a:r>
            <a:endParaRPr lang="en-GB" sz="1400"/>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F01B22E7-663C-42FF-92A5-E3817937266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6CD2CB3-313F-453B-B96E-7F3D35BFB2F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6A590077-CB75-47FC-97ED-2C21DFC66B1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799915D5-B679-4330-958E-2413D75DEAC9}"/>
              </a:ext>
            </a:extLst>
          </p:cNvPr>
          <p:cNvSpPr txBox="1"/>
          <p:nvPr/>
        </p:nvSpPr>
        <p:spPr>
          <a:xfrm>
            <a:off x="11682173"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9E257D5-3A48-4EB2-9D25-ACA5DF30357C}" type="slidenum">
              <a:rPr sz="1200"/>
              <a:t>336</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284F1FB3-7C63-4D73-9028-08F978B30C33}"/>
              </a:ext>
            </a:extLst>
          </p:cNvPr>
          <p:cNvSpPr/>
          <p:nvPr/>
        </p:nvSpPr>
        <p:spPr>
          <a:xfrm>
            <a:off x="363967" y="1338206"/>
            <a:ext cx="11282159" cy="1487582"/>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75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body)"/>
              </a:rPr>
              <a:t>Traders are able to use Additional Procedure Code ‘</a:t>
            </a:r>
            <a:r>
              <a:rPr lang="en-GB" sz="1400" b="1" i="0" u="none" strike="noStrike" kern="0" cap="none" spc="0" baseline="0">
                <a:solidFill>
                  <a:srgbClr val="333333"/>
                </a:solidFill>
                <a:uFillTx/>
                <a:latin typeface="Calibri (body)"/>
              </a:rPr>
              <a:t>14C</a:t>
            </a:r>
            <a:r>
              <a:rPr lang="en-GB" sz="1400" b="0" i="0" u="none" strike="noStrike" kern="0" cap="none" spc="0" baseline="0">
                <a:solidFill>
                  <a:srgbClr val="333333"/>
                </a:solidFill>
                <a:uFillTx/>
                <a:latin typeface="Calibri (body)"/>
              </a:rPr>
              <a:t>’ for goods imported from the Continental Shelf for Declaration Types: </a:t>
            </a:r>
            <a:r>
              <a:rPr lang="en-GB" sz="1400" b="1" i="0" u="none" strike="noStrike" kern="0" cap="none" spc="0" baseline="0">
                <a:solidFill>
                  <a:srgbClr val="333333"/>
                </a:solidFill>
                <a:uFillTx/>
                <a:latin typeface="Calibri (body)"/>
              </a:rPr>
              <a:t>J &amp; K</a:t>
            </a:r>
            <a:r>
              <a:rPr lang="en-GB" sz="1400" b="0" i="0" u="none" strike="noStrike" kern="0" cap="none" spc="0" baseline="0">
                <a:solidFill>
                  <a:srgbClr val="333333"/>
                </a:solidFill>
                <a:uFillTx/>
                <a:latin typeface="Calibri (body)"/>
              </a:rPr>
              <a:t>. </a:t>
            </a:r>
            <a:br>
              <a:rPr lang="en-GB" sz="1400" b="0" i="0" u="none" strike="noStrike" kern="0" cap="none" spc="0" baseline="0">
                <a:solidFill>
                  <a:srgbClr val="333333"/>
                </a:solidFill>
                <a:uFillTx/>
                <a:latin typeface="Calibri (body)"/>
              </a:rPr>
            </a:br>
            <a:r>
              <a:rPr lang="en-GB" sz="1400" b="0" i="0" u="none" strike="noStrike" kern="0" cap="none" spc="0" baseline="0">
                <a:solidFill>
                  <a:srgbClr val="333333"/>
                </a:solidFill>
                <a:uFillTx/>
                <a:latin typeface="Calibri (body)"/>
              </a:rPr>
              <a:t>This procedure code enables traders to submit a Customs Clearance Request (CCR), in respect of goods imported or re-imported from the Continental Shelf.</a:t>
            </a:r>
          </a:p>
          <a:p>
            <a:pPr marL="0" marR="0" lvl="0" indent="0" algn="l" defTabSz="914400" rtl="0" fontAlgn="auto" hangingPunct="1">
              <a:lnSpc>
                <a:spcPct val="100000"/>
              </a:lnSpc>
              <a:spcBef>
                <a:spcPts val="75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333333"/>
                </a:solidFill>
                <a:uFillTx/>
                <a:latin typeface="Calibri (body)"/>
                <a:ea typeface="Times New Roman" pitchFamily="18"/>
              </a:rPr>
              <a:t>           Please note: </a:t>
            </a:r>
            <a:r>
              <a:rPr lang="en-GB" sz="1400" b="0" i="0" u="none" strike="noStrike" kern="0" cap="none" spc="0" baseline="0">
                <a:solidFill>
                  <a:srgbClr val="333333"/>
                </a:solidFill>
                <a:uFillTx/>
                <a:latin typeface="Calibri (body)"/>
                <a:ea typeface="Times New Roman" pitchFamily="18"/>
              </a:rPr>
              <a:t>APC ‘14C’ can only be used with Requested and Previous Procedure Codes (DE 1/10): </a:t>
            </a:r>
            <a:r>
              <a:rPr lang="en-GB" sz="1400" b="1" i="0" u="none" strike="noStrike" kern="0" cap="none" spc="0" baseline="0">
                <a:solidFill>
                  <a:srgbClr val="333333"/>
                </a:solidFill>
                <a:uFillTx/>
                <a:latin typeface="Calibri (body)"/>
                <a:ea typeface="Times New Roman" pitchFamily="18"/>
              </a:rPr>
              <a:t>0002, 0003, 0004</a:t>
            </a:r>
            <a:r>
              <a:rPr lang="en-GB" sz="1400" b="0" i="0" u="none" strike="noStrike" kern="0" cap="none" spc="0" baseline="0">
                <a:solidFill>
                  <a:srgbClr val="333333"/>
                </a:solidFill>
                <a:uFillTx/>
                <a:latin typeface="Calibri (body)"/>
                <a:ea typeface="Times New Roman" pitchFamily="18"/>
              </a:rPr>
              <a:t>.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0" cap="none" spc="0" baseline="0">
                <a:solidFill>
                  <a:srgbClr val="333333"/>
                </a:solidFill>
                <a:uFillTx/>
                <a:latin typeface="Calibri (body)"/>
                <a:ea typeface="Times New Roman" pitchFamily="18"/>
              </a:rPr>
              <a:t>For additional guidance around APC ‘14C’, please see </a:t>
            </a:r>
            <a:r>
              <a:rPr lang="en-GB" sz="1400" b="0" i="0" u="none" strike="noStrike" kern="0" cap="none" spc="0" baseline="0">
                <a:solidFill>
                  <a:srgbClr val="000000"/>
                </a:solidFill>
                <a:uFillTx/>
                <a:latin typeface="Calibri (body)"/>
                <a:hlinkClick r:id="rId3"/>
              </a:rPr>
              <a:t>Additional Procedure Code 1-Series: GOV.UK (www.gov.uk)</a:t>
            </a:r>
            <a:r>
              <a:rPr lang="en-GB" sz="1400" b="0" i="0" u="none" strike="noStrike" kern="0" cap="none" spc="0" baseline="0">
                <a:solidFill>
                  <a:srgbClr val="000000"/>
                </a:solidFill>
                <a:uFillTx/>
                <a:latin typeface="Calibri (body)"/>
              </a:rPr>
              <a:t>.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Times New Roman" pitchFamily="18"/>
              </a:rPr>
              <a:t>For additional guidance around the 00 Procedure Codes </a:t>
            </a:r>
            <a:r>
              <a:rPr lang="en-GB" sz="1400" b="0" i="0" u="none" strike="noStrike" kern="0" cap="none" spc="0" baseline="0">
                <a:solidFill>
                  <a:srgbClr val="333333"/>
                </a:solidFill>
                <a:uFillTx/>
                <a:latin typeface="Calibri (body)"/>
                <a:ea typeface="Times New Roman" pitchFamily="18"/>
              </a:rPr>
              <a:t>S</a:t>
            </a:r>
            <a:r>
              <a:rPr lang="en-GB" sz="1400" b="0" i="0" u="none" strike="noStrike" kern="1200" cap="none" spc="0" baseline="0">
                <a:solidFill>
                  <a:srgbClr val="333333"/>
                </a:solidFill>
                <a:uFillTx/>
                <a:latin typeface="Calibri (body)"/>
                <a:ea typeface="Times New Roman" pitchFamily="18"/>
              </a:rPr>
              <a:t>eries, please see </a:t>
            </a:r>
            <a:r>
              <a:rPr lang="en-GB" sz="1400" b="0" i="0" u="none" strike="noStrike" kern="0" cap="none" spc="0" baseline="0">
                <a:solidFill>
                  <a:srgbClr val="000000"/>
                </a:solidFill>
                <a:uFillTx/>
                <a:latin typeface="Calibri"/>
                <a:hlinkClick r:id="rId4"/>
              </a:rPr>
              <a:t>Requested Procedure 000X: GOV.UK (www.gov.uk)</a:t>
            </a:r>
            <a:endParaRPr lang="en-GB" sz="1400" b="0" i="0" u="none" strike="noStrike" kern="0" cap="none" spc="0" baseline="0">
              <a:solidFill>
                <a:srgbClr val="000000"/>
              </a:solidFill>
              <a:uFillTx/>
              <a:latin typeface="Calibri"/>
            </a:endParaRPr>
          </a:p>
        </p:txBody>
      </p:sp>
      <p:sp>
        <p:nvSpPr>
          <p:cNvPr id="9" name="Rectangle 7">
            <a:extLst>
              <a:ext uri="{FF2B5EF4-FFF2-40B4-BE49-F238E27FC236}">
                <a16:creationId xmlns:a16="http://schemas.microsoft.com/office/drawing/2014/main" id="{C4AA4607-DAB7-4FC4-B40C-FF9C8E3A387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12">
            <a:extLst>
              <a:ext uri="{FF2B5EF4-FFF2-40B4-BE49-F238E27FC236}">
                <a16:creationId xmlns:a16="http://schemas.microsoft.com/office/drawing/2014/main" id="{B9370AB1-3D7A-4776-93EE-F1913D4D0035}"/>
              </a:ext>
            </a:extLst>
          </p:cNvPr>
          <p:cNvGraphicFramePr>
            <a:graphicFrameLocks noGrp="1"/>
          </p:cNvGraphicFramePr>
          <p:nvPr/>
        </p:nvGraphicFramePr>
        <p:xfrm>
          <a:off x="2351096" y="3579610"/>
          <a:ext cx="7489804" cy="2465160"/>
        </p:xfrm>
        <a:graphic>
          <a:graphicData uri="http://schemas.openxmlformats.org/drawingml/2006/table">
            <a:tbl>
              <a:tblPr firstRow="1" bandRow="1">
                <a:effectLst/>
                <a:tableStyleId>{5C22544A-7EE6-4342-B048-85BDC9FD1C3A}</a:tableStyleId>
              </a:tblPr>
              <a:tblGrid>
                <a:gridCol w="1814215">
                  <a:extLst>
                    <a:ext uri="{9D8B030D-6E8A-4147-A177-3AD203B41FA5}">
                      <a16:colId xmlns:a16="http://schemas.microsoft.com/office/drawing/2014/main" val="3116016550"/>
                    </a:ext>
                  </a:extLst>
                </a:gridCol>
                <a:gridCol w="5675589">
                  <a:extLst>
                    <a:ext uri="{9D8B030D-6E8A-4147-A177-3AD203B41FA5}">
                      <a16:colId xmlns:a16="http://schemas.microsoft.com/office/drawing/2014/main" val="2833435084"/>
                    </a:ext>
                  </a:extLst>
                </a:gridCol>
              </a:tblGrid>
              <a:tr h="129003">
                <a:tc>
                  <a:txBody>
                    <a:bodyPr/>
                    <a:lstStyle/>
                    <a:p>
                      <a:pPr lvl="0" algn="l"/>
                      <a:r>
                        <a:rPr lang="en-GB" sz="1300"/>
                        <a:t>Data Element</a:t>
                      </a:r>
                    </a:p>
                  </a:txBody>
                  <a:tcPr marL="90004" marR="19046" marT="14292" marB="14292" anchor="ctr">
                    <a:solidFill>
                      <a:srgbClr val="009999"/>
                    </a:solidFill>
                  </a:tcPr>
                </a:tc>
                <a:tc>
                  <a:txBody>
                    <a:bodyPr/>
                    <a:lstStyle/>
                    <a:p>
                      <a:pPr lvl="0" algn="l"/>
                      <a:r>
                        <a:rPr lang="en-GB" sz="1300"/>
                        <a:t>Description</a:t>
                      </a:r>
                    </a:p>
                  </a:txBody>
                  <a:tcPr marL="90004" marR="19046" marT="14292" marB="14292" anchor="ctr">
                    <a:solidFill>
                      <a:srgbClr val="009999"/>
                    </a:solidFill>
                  </a:tcPr>
                </a:tc>
                <a:extLst>
                  <a:ext uri="{0D108BD9-81ED-4DB2-BD59-A6C34878D82A}">
                    <a16:rowId xmlns:a16="http://schemas.microsoft.com/office/drawing/2014/main" val="3731717049"/>
                  </a:ext>
                </a:extLst>
              </a:tr>
              <a:tr h="129003">
                <a:tc>
                  <a:txBody>
                    <a:bodyPr/>
                    <a:lstStyle/>
                    <a:p>
                      <a:pPr lvl="0" algn="l"/>
                      <a:r>
                        <a:rPr lang="en-GB" sz="1300"/>
                        <a:t>4/1</a:t>
                      </a:r>
                    </a:p>
                  </a:txBody>
                  <a:tcPr marL="90004" marR="19046" marT="14292" marB="14292" anchor="ctr"/>
                </a:tc>
                <a:tc>
                  <a:txBody>
                    <a:bodyPr/>
                    <a:lstStyle/>
                    <a:p>
                      <a:pPr lvl="0" algn="l"/>
                      <a:r>
                        <a:rPr lang="en-GB" sz="1300"/>
                        <a:t>Trade Terms Location Name [Header Level]</a:t>
                      </a:r>
                    </a:p>
                  </a:txBody>
                  <a:tcPr marL="90004" marR="19046" marT="14292" marB="14292" anchor="ctr"/>
                </a:tc>
                <a:extLst>
                  <a:ext uri="{0D108BD9-81ED-4DB2-BD59-A6C34878D82A}">
                    <a16:rowId xmlns:a16="http://schemas.microsoft.com/office/drawing/2014/main" val="671366253"/>
                  </a:ext>
                </a:extLst>
              </a:tr>
              <a:tr h="129003">
                <a:tc>
                  <a:txBody>
                    <a:bodyPr/>
                    <a:lstStyle/>
                    <a:p>
                      <a:pPr lvl="0" algn="l"/>
                      <a:r>
                        <a:rPr lang="en-GB" sz="1300"/>
                        <a:t>4/1</a:t>
                      </a:r>
                    </a:p>
                  </a:txBody>
                  <a:tcPr marL="90004" marR="19046" marT="14292" marB="14292" anchor="ctr"/>
                </a:tc>
                <a:tc>
                  <a:txBody>
                    <a:bodyPr/>
                    <a:lstStyle/>
                    <a:p>
                      <a:pPr lvl="0" algn="l"/>
                      <a:r>
                        <a:rPr lang="en-GB" sz="1300"/>
                        <a:t>Trade Terms Location ID [Header Level]</a:t>
                      </a:r>
                    </a:p>
                  </a:txBody>
                  <a:tcPr marL="90004" marR="19046" marT="14292" marB="14292" anchor="ctr"/>
                </a:tc>
                <a:extLst>
                  <a:ext uri="{0D108BD9-81ED-4DB2-BD59-A6C34878D82A}">
                    <a16:rowId xmlns:a16="http://schemas.microsoft.com/office/drawing/2014/main" val="619302645"/>
                  </a:ext>
                </a:extLst>
              </a:tr>
              <a:tr h="242764">
                <a:tc>
                  <a:txBody>
                    <a:bodyPr/>
                    <a:lstStyle/>
                    <a:p>
                      <a:pPr lvl="0" algn="l"/>
                      <a:r>
                        <a:rPr lang="en-GB" sz="1300"/>
                        <a:t>3/19, 3/31, 3/7</a:t>
                      </a:r>
                    </a:p>
                  </a:txBody>
                  <a:tcPr marL="90004" marR="19046" marT="14292" marB="14292" anchor="ctr"/>
                </a:tc>
                <a:tc>
                  <a:txBody>
                    <a:bodyPr/>
                    <a:lstStyle/>
                    <a:p>
                      <a:pPr lvl="0" algn="l"/>
                      <a:r>
                        <a:rPr lang="en-GB" sz="1300"/>
                        <a:t>The country code in any party related Addresses (e.g. DE 3/19 - Agent , DE 3/31 - Carrier, DE 3/7 - Consignor etc.)</a:t>
                      </a:r>
                    </a:p>
                  </a:txBody>
                  <a:tcPr marL="90004" marR="19046" marT="14292" marB="14292" anchor="ctr"/>
                </a:tc>
                <a:extLst>
                  <a:ext uri="{0D108BD9-81ED-4DB2-BD59-A6C34878D82A}">
                    <a16:rowId xmlns:a16="http://schemas.microsoft.com/office/drawing/2014/main" val="1908889651"/>
                  </a:ext>
                </a:extLst>
              </a:tr>
              <a:tr h="129003">
                <a:tc>
                  <a:txBody>
                    <a:bodyPr/>
                    <a:lstStyle/>
                    <a:p>
                      <a:pPr lvl="0" algn="l"/>
                      <a:r>
                        <a:rPr lang="en-GB" sz="1300"/>
                        <a:t>5/23</a:t>
                      </a:r>
                    </a:p>
                  </a:txBody>
                  <a:tcPr marL="90004" marR="19046" marT="14292" marB="14292" anchor="ctr"/>
                </a:tc>
                <a:tc>
                  <a:txBody>
                    <a:bodyPr/>
                    <a:lstStyle/>
                    <a:p>
                      <a:pPr lvl="0" algn="l"/>
                      <a:r>
                        <a:rPr lang="en-GB" sz="1300"/>
                        <a:t>Goods Location Country Code</a:t>
                      </a:r>
                    </a:p>
                  </a:txBody>
                  <a:tcPr marL="90004" marR="19046" marT="14292" marB="14292" anchor="ctr"/>
                </a:tc>
                <a:extLst>
                  <a:ext uri="{0D108BD9-81ED-4DB2-BD59-A6C34878D82A}">
                    <a16:rowId xmlns:a16="http://schemas.microsoft.com/office/drawing/2014/main" val="1095812537"/>
                  </a:ext>
                </a:extLst>
              </a:tr>
              <a:tr h="129003">
                <a:tc>
                  <a:txBody>
                    <a:bodyPr/>
                    <a:lstStyle/>
                    <a:p>
                      <a:pPr lvl="0" algn="l"/>
                      <a:r>
                        <a:rPr lang="en-GB" sz="1300"/>
                        <a:t>5/14</a:t>
                      </a:r>
                    </a:p>
                  </a:txBody>
                  <a:tcPr marL="90004" marR="19046" marT="14292" marB="14292" anchor="ctr"/>
                </a:tc>
                <a:tc>
                  <a:txBody>
                    <a:bodyPr/>
                    <a:lstStyle/>
                    <a:p>
                      <a:pPr lvl="0" algn="l"/>
                      <a:r>
                        <a:rPr lang="en-GB" sz="1300"/>
                        <a:t>Exportation Country [Item Level]</a:t>
                      </a:r>
                    </a:p>
                  </a:txBody>
                  <a:tcPr marL="90004" marR="19046" marT="14292" marB="14292" anchor="ctr"/>
                </a:tc>
                <a:extLst>
                  <a:ext uri="{0D108BD9-81ED-4DB2-BD59-A6C34878D82A}">
                    <a16:rowId xmlns:a16="http://schemas.microsoft.com/office/drawing/2014/main" val="552791181"/>
                  </a:ext>
                </a:extLst>
              </a:tr>
              <a:tr h="129003">
                <a:tc>
                  <a:txBody>
                    <a:bodyPr/>
                    <a:lstStyle/>
                    <a:p>
                      <a:pPr lvl="0" algn="l"/>
                      <a:r>
                        <a:rPr lang="en-GB" sz="1300"/>
                        <a:t>5/14</a:t>
                      </a:r>
                    </a:p>
                  </a:txBody>
                  <a:tcPr marL="90004" marR="19046" marT="14292" marB="14292" anchor="ctr"/>
                </a:tc>
                <a:tc>
                  <a:txBody>
                    <a:bodyPr/>
                    <a:lstStyle/>
                    <a:p>
                      <a:pPr lvl="0" algn="l"/>
                      <a:r>
                        <a:rPr lang="en-GB" sz="1300"/>
                        <a:t>Exportation Country [Header Level]</a:t>
                      </a:r>
                    </a:p>
                  </a:txBody>
                  <a:tcPr marL="90004" marR="19046" marT="14292" marB="14292" anchor="ctr"/>
                </a:tc>
                <a:extLst>
                  <a:ext uri="{0D108BD9-81ED-4DB2-BD59-A6C34878D82A}">
                    <a16:rowId xmlns:a16="http://schemas.microsoft.com/office/drawing/2014/main" val="3131140865"/>
                  </a:ext>
                </a:extLst>
              </a:tr>
              <a:tr h="129003">
                <a:tc>
                  <a:txBody>
                    <a:bodyPr/>
                    <a:lstStyle/>
                    <a:p>
                      <a:pPr lvl="0" algn="l"/>
                      <a:r>
                        <a:rPr lang="en-GB" sz="1300"/>
                        <a:t>5/15</a:t>
                      </a:r>
                    </a:p>
                  </a:txBody>
                  <a:tcPr marL="90004" marR="19046" marT="14292" marB="14292" anchor="ctr"/>
                </a:tc>
                <a:tc>
                  <a:txBody>
                    <a:bodyPr/>
                    <a:lstStyle/>
                    <a:p>
                      <a:pPr lvl="0" algn="l"/>
                      <a:r>
                        <a:rPr lang="en-GB" sz="1300"/>
                        <a:t>Country of Origin [Item Level]</a:t>
                      </a:r>
                    </a:p>
                  </a:txBody>
                  <a:tcPr marL="90004" marR="19046" marT="14292" marB="14292" anchor="ctr"/>
                </a:tc>
                <a:extLst>
                  <a:ext uri="{0D108BD9-81ED-4DB2-BD59-A6C34878D82A}">
                    <a16:rowId xmlns:a16="http://schemas.microsoft.com/office/drawing/2014/main" val="1152699557"/>
                  </a:ext>
                </a:extLst>
              </a:tr>
              <a:tr h="129003">
                <a:tc>
                  <a:txBody>
                    <a:bodyPr/>
                    <a:lstStyle/>
                    <a:p>
                      <a:pPr lvl="0" algn="l"/>
                      <a:r>
                        <a:rPr lang="en-GB" sz="1300"/>
                        <a:t>7/15</a:t>
                      </a:r>
                    </a:p>
                  </a:txBody>
                  <a:tcPr marL="90004" marR="19046" marT="14292" marB="14292" anchor="ctr"/>
                </a:tc>
                <a:tc>
                  <a:txBody>
                    <a:bodyPr/>
                    <a:lstStyle/>
                    <a:p>
                      <a:pPr lvl="0" algn="l"/>
                      <a:r>
                        <a:rPr lang="en-GB" sz="1300"/>
                        <a:t>Border Transport Means Nationality Code [Header Level]</a:t>
                      </a:r>
                    </a:p>
                  </a:txBody>
                  <a:tcPr marL="90004" marR="19046" marT="14292" marB="14292" anchor="ctr"/>
                </a:tc>
                <a:extLst>
                  <a:ext uri="{0D108BD9-81ED-4DB2-BD59-A6C34878D82A}">
                    <a16:rowId xmlns:a16="http://schemas.microsoft.com/office/drawing/2014/main" val="3507991708"/>
                  </a:ext>
                </a:extLst>
              </a:tr>
              <a:tr h="129003">
                <a:tc>
                  <a:txBody>
                    <a:bodyPr/>
                    <a:lstStyle/>
                    <a:p>
                      <a:pPr lvl="0" algn="l"/>
                      <a:r>
                        <a:rPr lang="en-GB" sz="1300"/>
                        <a:t>N/A</a:t>
                      </a:r>
                    </a:p>
                  </a:txBody>
                  <a:tcPr marL="90004" marR="19046" marT="14292" marB="14292" anchor="ctr"/>
                </a:tc>
                <a:tc>
                  <a:txBody>
                    <a:bodyPr/>
                    <a:lstStyle/>
                    <a:p>
                      <a:pPr lvl="0" algn="l"/>
                      <a:r>
                        <a:rPr lang="en-GB" sz="1300" dirty="0"/>
                        <a:t>Submitter (Additional Message} Physical Address Country Code</a:t>
                      </a:r>
                    </a:p>
                  </a:txBody>
                  <a:tcPr marL="90004" marR="19046" marT="14292" marB="14292" anchor="ctr"/>
                </a:tc>
                <a:extLst>
                  <a:ext uri="{0D108BD9-81ED-4DB2-BD59-A6C34878D82A}">
                    <a16:rowId xmlns:a16="http://schemas.microsoft.com/office/drawing/2014/main" val="1256148578"/>
                  </a:ext>
                </a:extLst>
              </a:tr>
            </a:tbl>
          </a:graphicData>
        </a:graphic>
      </p:graphicFrame>
      <p:sp>
        <p:nvSpPr>
          <p:cNvPr id="11" name="TextBox 16">
            <a:extLst>
              <a:ext uri="{FF2B5EF4-FFF2-40B4-BE49-F238E27FC236}">
                <a16:creationId xmlns:a16="http://schemas.microsoft.com/office/drawing/2014/main" id="{0C03A0A9-E5DC-4EC0-89F4-0EC28D636FE7}"/>
              </a:ext>
            </a:extLst>
          </p:cNvPr>
          <p:cNvSpPr txBox="1"/>
          <p:nvPr/>
        </p:nvSpPr>
        <p:spPr>
          <a:xfrm>
            <a:off x="770052" y="2964119"/>
            <a:ext cx="11200028" cy="307777"/>
          </a:xfrm>
          <a:prstGeom prst="rect">
            <a:avLst/>
          </a:prstGeom>
          <a:noFill/>
          <a:ln cap="flat">
            <a:noFill/>
          </a:ln>
        </p:spPr>
        <p:txBody>
          <a:bodyPr vert="horz" wrap="square" lIns="91440" tIns="45720" rIns="91440" bIns="45720" anchor="t" anchorCtr="0" compatLnSpc="1">
            <a:spAutoFit/>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Continental Shelf country codes will be available for use in other country-related data elements where specified by the #CountryTypes Code List.</a:t>
            </a:r>
            <a:endParaRPr lang="en-GB" sz="1400" b="0" i="0" u="none" strike="noStrike" kern="1200" cap="none" spc="0" baseline="0">
              <a:solidFill>
                <a:srgbClr val="000000"/>
              </a:solidFill>
              <a:uFillTx/>
              <a:latin typeface="Calibri (body)"/>
            </a:endParaRPr>
          </a:p>
        </p:txBody>
      </p:sp>
      <p:sp>
        <p:nvSpPr>
          <p:cNvPr id="12" name="TextBox 18">
            <a:extLst>
              <a:ext uri="{FF2B5EF4-FFF2-40B4-BE49-F238E27FC236}">
                <a16:creationId xmlns:a16="http://schemas.microsoft.com/office/drawing/2014/main" id="{1E153919-8A85-48F8-8924-712731D32BA2}"/>
              </a:ext>
            </a:extLst>
          </p:cNvPr>
          <p:cNvSpPr txBox="1"/>
          <p:nvPr/>
        </p:nvSpPr>
        <p:spPr>
          <a:xfrm>
            <a:off x="2260140" y="3298039"/>
            <a:ext cx="6095116"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Data Elements impacted by the </a:t>
            </a:r>
            <a:r>
              <a:rPr lang="en-GB" sz="1400" b="1" i="0" u="none" kern="1200" cap="none" spc="0" baseline="0">
                <a:solidFill>
                  <a:srgbClr val="333333"/>
                </a:solidFill>
                <a:uFillTx/>
                <a:latin typeface="Calibri (body)"/>
              </a:rPr>
              <a:t>#</a:t>
            </a:r>
            <a:r>
              <a:rPr lang="en-GB" sz="1400" b="1" i="0" u="none" strike="noStrike" kern="1200" cap="none" spc="0" baseline="0">
                <a:solidFill>
                  <a:srgbClr val="333333"/>
                </a:solidFill>
                <a:uFillTx/>
                <a:latin typeface="Calibri (body)"/>
              </a:rPr>
              <a:t>CountryTypes Code List:</a:t>
            </a:r>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282FFF0-605C-4CC3-8EBD-A3855C9DDAE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8FFE4C8-9532-4BC2-9A7E-03D81D4C1C3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3CA5C86-C592-486F-8C7C-01F3AB9CBA2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9EEBC344-0933-4B54-A442-E152E5235E40}"/>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B7705774-CD93-4DA3-A316-615CF505BFCB}"/>
              </a:ext>
            </a:extLst>
          </p:cNvPr>
          <p:cNvSpPr txBox="1"/>
          <p:nvPr/>
        </p:nvSpPr>
        <p:spPr>
          <a:xfrm>
            <a:off x="1169634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9DBE14A-8C11-4B1B-93D1-98B7AB3B43F9}" type="slidenum">
              <a:rPr sz="1200"/>
              <a:t>337</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49238A97-6085-4999-A3CF-C67E8F8DDD20}"/>
              </a:ext>
            </a:extLst>
          </p:cNvPr>
          <p:cNvSpPr txBox="1"/>
          <p:nvPr/>
        </p:nvSpPr>
        <p:spPr>
          <a:xfrm>
            <a:off x="2976051"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a:t>
            </a:r>
            <a:endParaRPr lang="en-GB" sz="900" b="1" i="0" u="none" strike="noStrike" kern="1200" cap="none" spc="0" baseline="0" dirty="0">
              <a:solidFill>
                <a:srgbClr val="008D8E"/>
              </a:solidFill>
              <a:uFillTx/>
              <a:latin typeface="Calibri"/>
              <a:ea typeface="Geneva"/>
              <a:cs typeface="Arial"/>
            </a:endParaRPr>
          </a:p>
        </p:txBody>
      </p:sp>
      <p:sp>
        <p:nvSpPr>
          <p:cNvPr id="8" name="Rectangle 7">
            <a:extLst>
              <a:ext uri="{FF2B5EF4-FFF2-40B4-BE49-F238E27FC236}">
                <a16:creationId xmlns:a16="http://schemas.microsoft.com/office/drawing/2014/main" id="{3BC41388-C6F8-49A1-A052-6EB9BD92C4A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88C3BADB-FC49-4720-A8BD-A8A2416AA33C}"/>
              </a:ext>
            </a:extLst>
          </p:cNvPr>
          <p:cNvSpPr/>
          <p:nvPr/>
        </p:nvSpPr>
        <p:spPr>
          <a:xfrm>
            <a:off x="244071" y="1245970"/>
            <a:ext cx="11282159" cy="121962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graphicFrame>
        <p:nvGraphicFramePr>
          <p:cNvPr id="10" name="Table 3">
            <a:extLst>
              <a:ext uri="{FF2B5EF4-FFF2-40B4-BE49-F238E27FC236}">
                <a16:creationId xmlns:a16="http://schemas.microsoft.com/office/drawing/2014/main" id="{4242E85A-8914-47A8-84C8-0164D15F4E3C}"/>
              </a:ext>
            </a:extLst>
          </p:cNvPr>
          <p:cNvGraphicFramePr>
            <a:graphicFrameLocks noGrp="1"/>
          </p:cNvGraphicFramePr>
          <p:nvPr/>
        </p:nvGraphicFramePr>
        <p:xfrm>
          <a:off x="471750" y="1476031"/>
          <a:ext cx="11248500" cy="374904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690774019"/>
                    </a:ext>
                  </a:extLst>
                </a:gridCol>
              </a:tblGrid>
              <a:tr h="292461">
                <a:tc>
                  <a:txBody>
                    <a:bodyPr/>
                    <a:lstStyle/>
                    <a:p>
                      <a:pPr marL="0" marR="0" lvl="0" indent="0" algn="l" defTabSz="914400" rtl="0" fontAlgn="auto" hangingPunct="1">
                        <a:lnSpc>
                          <a:spcPct val="100000"/>
                        </a:lnSpc>
                        <a:spcBef>
                          <a:spcPts val="0"/>
                        </a:spcBef>
                        <a:spcAft>
                          <a:spcPts val="0"/>
                        </a:spcAft>
                        <a:buNone/>
                        <a:tabLst/>
                      </a:pPr>
                      <a:r>
                        <a:rPr lang="en-GB" sz="1800" b="1"/>
                        <a:t>Imports from the Continental Shelf (NI)</a:t>
                      </a:r>
                    </a:p>
                  </a:txBody>
                  <a:tcPr>
                    <a:solidFill>
                      <a:srgbClr val="009999"/>
                    </a:solidFill>
                  </a:tcPr>
                </a:tc>
                <a:extLst>
                  <a:ext uri="{0D108BD9-81ED-4DB2-BD59-A6C34878D82A}">
                    <a16:rowId xmlns:a16="http://schemas.microsoft.com/office/drawing/2014/main" val="2449128839"/>
                  </a:ext>
                </a:extLst>
              </a:tr>
              <a:tr h="292461">
                <a:tc>
                  <a:txBody>
                    <a:bodyPr/>
                    <a:lstStyle/>
                    <a:p>
                      <a:pPr lvl="0" algn="ctr"/>
                      <a:r>
                        <a:rPr lang="en-GB" sz="1400" b="0">
                          <a:solidFill>
                            <a:srgbClr val="000000"/>
                          </a:solidFill>
                        </a:rPr>
                        <a:t>Import Declaration Types: </a:t>
                      </a:r>
                      <a:r>
                        <a:rPr lang="en-GB" sz="1400" b="1">
                          <a:solidFill>
                            <a:srgbClr val="000000"/>
                          </a:solidFill>
                        </a:rPr>
                        <a:t>A, B, C, D, E, F, J, K, Y, Z.</a:t>
                      </a:r>
                    </a:p>
                  </a:txBody>
                  <a:tcPr>
                    <a:solidFill>
                      <a:srgbClr val="CFD5EA"/>
                    </a:solidFill>
                  </a:tcPr>
                </a:tc>
                <a:extLst>
                  <a:ext uri="{0D108BD9-81ED-4DB2-BD59-A6C34878D82A}">
                    <a16:rowId xmlns:a16="http://schemas.microsoft.com/office/drawing/2014/main" val="2450081313"/>
                  </a:ext>
                </a:extLst>
              </a:tr>
              <a:tr h="1824754">
                <a:tc>
                  <a:txBody>
                    <a:bodyPr/>
                    <a:lstStyle/>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r>
                        <a:rPr lang="en-GB" sz="1400" b="1" i="0" u="sng" strike="noStrike" kern="0" cap="none" spc="0" baseline="0" dirty="0">
                          <a:solidFill>
                            <a:srgbClr val="333333"/>
                          </a:solidFill>
                          <a:uFillTx/>
                          <a:latin typeface="Calibri (body)"/>
                        </a:rPr>
                        <a:t>UK-NI &amp; NI-</a:t>
                      </a:r>
                      <a:r>
                        <a:rPr lang="en-GB" sz="1400" b="1" i="0" u="sng" strike="noStrike" kern="0" cap="none" spc="0" baseline="0" dirty="0" err="1">
                          <a:solidFill>
                            <a:srgbClr val="333333"/>
                          </a:solidFill>
                          <a:uFillTx/>
                          <a:latin typeface="Calibri (body)"/>
                        </a:rPr>
                        <a:t>RoW</a:t>
                      </a:r>
                      <a:r>
                        <a:rPr lang="en-GB" sz="1400" b="1" i="0" u="sng" strike="noStrike" kern="0" cap="none" spc="0" baseline="0" dirty="0">
                          <a:solidFill>
                            <a:srgbClr val="333333"/>
                          </a:solidFill>
                          <a:uFillTx/>
                          <a:latin typeface="Calibri (body)"/>
                        </a:rPr>
                        <a:t> Imports (Goods At Risk)</a:t>
                      </a:r>
                    </a:p>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endParaRPr lang="en-GB" sz="1400" b="1" i="0" u="none" strike="noStrike" kern="0" cap="none" spc="0" baseline="0" dirty="0">
                        <a:solidFill>
                          <a:srgbClr val="333333"/>
                        </a:solidFill>
                        <a:uFillTx/>
                        <a:latin typeface="Calibri (body)"/>
                      </a:endParaRPr>
                    </a:p>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r>
                        <a:rPr lang="en-GB" sz="1400" b="1" i="0" u="none" strike="noStrike" kern="0" cap="none" spc="0" baseline="0" dirty="0">
                          <a:solidFill>
                            <a:srgbClr val="333333"/>
                          </a:solidFill>
                          <a:uFillTx/>
                          <a:latin typeface="Calibri (body)"/>
                        </a:rPr>
                        <a:t>CDS requirements for “At Risk" Imports from CS UK to NI,</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body)"/>
                        </a:rPr>
                        <a:t>The trader must enter ‘</a:t>
                      </a:r>
                      <a:r>
                        <a:rPr lang="en-GB" sz="1400" b="1" i="0" u="none" strike="noStrike" kern="0" cap="none" spc="0" baseline="0" dirty="0">
                          <a:solidFill>
                            <a:srgbClr val="333333"/>
                          </a:solidFill>
                          <a:uFillTx/>
                          <a:latin typeface="Calibri (body)"/>
                        </a:rPr>
                        <a:t>NIIMP’</a:t>
                      </a:r>
                      <a:r>
                        <a:rPr lang="en-GB" sz="1400" b="0" i="0" u="none" strike="noStrike" kern="0" cap="none" spc="0" baseline="0" dirty="0">
                          <a:solidFill>
                            <a:srgbClr val="333333"/>
                          </a:solidFill>
                          <a:uFillTx/>
                          <a:latin typeface="Calibri (body)"/>
                        </a:rPr>
                        <a:t> in D.E. 2/2 (Additional Information).</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body)"/>
                        </a:rPr>
                        <a:t>The commodity code entered in D.E. 6/14 (Nomenclature Code) and D.E. 6/15 (TARIC Code) must be determined as “</a:t>
                      </a:r>
                      <a:r>
                        <a:rPr lang="en-GB" sz="1400" b="1" i="0" u="none" strike="noStrike" kern="0" cap="none" spc="0" baseline="0" dirty="0">
                          <a:solidFill>
                            <a:srgbClr val="333333"/>
                          </a:solidFill>
                          <a:uFillTx/>
                          <a:latin typeface="Calibri (body)"/>
                        </a:rPr>
                        <a:t>At Risk</a:t>
                      </a:r>
                      <a:r>
                        <a:rPr lang="en-GB" sz="1400" b="0" i="0" u="none" strike="noStrike" kern="0" cap="none" spc="0" baseline="0" dirty="0">
                          <a:solidFill>
                            <a:srgbClr val="333333"/>
                          </a:solidFill>
                          <a:uFillTx/>
                          <a:latin typeface="Calibri (body)"/>
                        </a:rPr>
                        <a:t>“.</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body)"/>
                        </a:rPr>
                        <a:t>The trader must not enter de-risking code ‘</a:t>
                      </a:r>
                      <a:r>
                        <a:rPr lang="en-GB" sz="1400" b="1" i="0" u="none" strike="noStrike" kern="0" cap="none" spc="0" baseline="0" dirty="0">
                          <a:solidFill>
                            <a:srgbClr val="333333"/>
                          </a:solidFill>
                          <a:uFillTx/>
                          <a:latin typeface="Calibri (body)"/>
                        </a:rPr>
                        <a:t>NIREM</a:t>
                      </a:r>
                      <a:r>
                        <a:rPr lang="en-GB" sz="1400" b="0" i="0" u="none" strike="noStrike" kern="0" cap="none" spc="0" baseline="0" dirty="0">
                          <a:solidFill>
                            <a:srgbClr val="333333"/>
                          </a:solidFill>
                          <a:uFillTx/>
                          <a:latin typeface="Calibri (body)"/>
                        </a:rPr>
                        <a:t>’ in D.E. 2/2 (Additional Information).</a:t>
                      </a:r>
                    </a:p>
                    <a:p>
                      <a:pPr marL="457200" lvl="1" indent="0">
                        <a:buNone/>
                        <a:defRPr sz="1800" b="0" i="0" u="none" strike="noStrike" kern="0" cap="none" spc="0" baseline="0">
                          <a:solidFill>
                            <a:srgbClr val="000000"/>
                          </a:solidFill>
                          <a:uFillTx/>
                        </a:defRPr>
                      </a:pPr>
                      <a:endParaRPr lang="en-GB" sz="1400" b="0" i="0" u="sng" strike="noStrike" kern="0" cap="none" spc="0" baseline="0" dirty="0">
                        <a:solidFill>
                          <a:srgbClr val="333333"/>
                        </a:solidFill>
                        <a:uFillTx/>
                        <a:latin typeface="Calibri (body)"/>
                      </a:endParaRPr>
                    </a:p>
                    <a:p>
                      <a:pPr marL="0" lvl="0" indent="0">
                        <a:buNone/>
                        <a:defRPr sz="1800" b="0" i="0" u="none" strike="noStrike" kern="0" cap="none" spc="0" baseline="0">
                          <a:solidFill>
                            <a:srgbClr val="000000"/>
                          </a:solidFill>
                          <a:uFillTx/>
                        </a:defRPr>
                      </a:pPr>
                      <a:r>
                        <a:rPr lang="en-GB" sz="1400" b="1" i="0" u="sng" strike="noStrike" kern="0" cap="none" spc="0" baseline="0" dirty="0">
                          <a:solidFill>
                            <a:srgbClr val="333333"/>
                          </a:solidFill>
                          <a:uFillTx/>
                          <a:latin typeface="Calibri (body)"/>
                        </a:rPr>
                        <a:t>UK-NI &amp; NI </a:t>
                      </a:r>
                      <a:r>
                        <a:rPr lang="en-GB" sz="1400" b="1" i="0" u="sng" strike="noStrike" kern="0" cap="none" spc="0" baseline="0" dirty="0" err="1">
                          <a:solidFill>
                            <a:srgbClr val="333333"/>
                          </a:solidFill>
                          <a:uFillTx/>
                          <a:latin typeface="Calibri (body)"/>
                        </a:rPr>
                        <a:t>RoW</a:t>
                      </a:r>
                      <a:r>
                        <a:rPr lang="en-GB" sz="1400" b="1" i="0" u="sng" strike="noStrike" kern="0" cap="none" spc="0" baseline="0" dirty="0">
                          <a:solidFill>
                            <a:srgbClr val="333333"/>
                          </a:solidFill>
                          <a:uFillTx/>
                          <a:latin typeface="Calibri (body)"/>
                        </a:rPr>
                        <a:t> Imports (Goods Not At Risk)</a:t>
                      </a:r>
                    </a:p>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endParaRPr lang="en-GB" sz="1400" b="1" i="0" u="sng" strike="noStrike" kern="0" cap="none" spc="0" baseline="0" dirty="0">
                        <a:solidFill>
                          <a:srgbClr val="333333"/>
                        </a:solidFill>
                        <a:uFillTx/>
                        <a:latin typeface="Calibri (body)"/>
                      </a:endParaRPr>
                    </a:p>
                    <a:p>
                      <a:pPr lvl="0">
                        <a:defRPr sz="1800" b="0" i="0" u="none" strike="noStrike" kern="0" cap="none" spc="0" baseline="0">
                          <a:solidFill>
                            <a:srgbClr val="000000"/>
                          </a:solidFill>
                          <a:uFillTx/>
                        </a:defRPr>
                      </a:pPr>
                      <a:r>
                        <a:rPr lang="en-GB" sz="1400" b="1" i="0" u="none" strike="noStrike" kern="0" cap="none" spc="0" baseline="0" dirty="0">
                          <a:solidFill>
                            <a:srgbClr val="333333"/>
                          </a:solidFill>
                          <a:uFillTx/>
                          <a:latin typeface="Calibri (body)"/>
                        </a:rPr>
                        <a:t>CDS requirements for “Not At Risk" Imports from CS UK to NI,</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body)"/>
                        </a:rPr>
                        <a:t>The trader must enter ‘</a:t>
                      </a:r>
                      <a:r>
                        <a:rPr lang="en-GB" sz="1400" b="1" i="0" u="none" strike="noStrike" kern="0" cap="none" spc="0" baseline="0" dirty="0">
                          <a:solidFill>
                            <a:srgbClr val="333333"/>
                          </a:solidFill>
                          <a:uFillTx/>
                          <a:latin typeface="Calibri (body)"/>
                        </a:rPr>
                        <a:t>NIIMP’</a:t>
                      </a:r>
                      <a:r>
                        <a:rPr lang="en-GB" sz="1400" b="0" i="0" u="none" strike="noStrike" kern="0" cap="none" spc="0" baseline="0" dirty="0">
                          <a:solidFill>
                            <a:srgbClr val="333333"/>
                          </a:solidFill>
                          <a:uFillTx/>
                          <a:latin typeface="Calibri (body)"/>
                        </a:rPr>
                        <a:t> in D.E. 2/2 (Additional Information).</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rgbClr val="333333"/>
                          </a:solidFill>
                          <a:uFillTx/>
                          <a:latin typeface="Calibri (body)"/>
                        </a:rPr>
                        <a:t>The trader must enter de-risking code ‘</a:t>
                      </a:r>
                      <a:r>
                        <a:rPr lang="en-GB" sz="1400" b="1" i="0" u="none" strike="noStrike" kern="0" cap="none" spc="0" baseline="0" dirty="0">
                          <a:solidFill>
                            <a:srgbClr val="333333"/>
                          </a:solidFill>
                          <a:uFillTx/>
                          <a:latin typeface="Calibri (body)"/>
                        </a:rPr>
                        <a:t>NIREM</a:t>
                      </a:r>
                      <a:r>
                        <a:rPr lang="en-GB" sz="1400" b="0" i="0" u="none" strike="noStrike" kern="0" cap="none" spc="0" baseline="0" dirty="0">
                          <a:solidFill>
                            <a:srgbClr val="333333"/>
                          </a:solidFill>
                          <a:uFillTx/>
                          <a:latin typeface="Calibri (body)"/>
                        </a:rPr>
                        <a:t>’ in D.E. 2/2 (Additional Information).</a:t>
                      </a:r>
                    </a:p>
                    <a:p>
                      <a:pPr marL="742950" lvl="1" indent="-285750">
                        <a:buSzPct val="100000"/>
                        <a:buFont typeface="Courier New" pitchFamily="49"/>
                        <a:buChar char="o"/>
                        <a:defRPr sz="1800" b="0" i="0" u="none" strike="noStrike" kern="0" cap="none" spc="0" baseline="0">
                          <a:solidFill>
                            <a:srgbClr val="000000"/>
                          </a:solidFill>
                          <a:uFillTx/>
                        </a:defRPr>
                      </a:pPr>
                      <a:endParaRPr lang="en-GB" sz="1400" b="0" i="0" u="none" strike="noStrike" kern="0" cap="none" spc="0" baseline="0" dirty="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rPr>
                        <a:t>CDS will then send the trader a DMSTAX notification, and collect applicable duties in-line with the method of payment declared.</a:t>
                      </a:r>
                    </a:p>
                  </a:txBody>
                  <a:tcPr>
                    <a:solidFill>
                      <a:srgbClr val="E9EBF5"/>
                    </a:solidFill>
                  </a:tcPr>
                </a:tc>
                <a:extLst>
                  <a:ext uri="{0D108BD9-81ED-4DB2-BD59-A6C34878D82A}">
                    <a16:rowId xmlns:a16="http://schemas.microsoft.com/office/drawing/2014/main" val="928626492"/>
                  </a:ext>
                </a:extLst>
              </a:tr>
            </a:tbl>
          </a:graphicData>
        </a:graphic>
      </p:graphicFrame>
      <p:sp>
        <p:nvSpPr>
          <p:cNvPr id="11" name="Rectangle 10">
            <a:extLst>
              <a:ext uri="{FF2B5EF4-FFF2-40B4-BE49-F238E27FC236}">
                <a16:creationId xmlns:a16="http://schemas.microsoft.com/office/drawing/2014/main" id="{C6AEB402-B5C5-41E9-B1F2-A44A8189B910}"/>
              </a:ext>
            </a:extLst>
          </p:cNvPr>
          <p:cNvSpPr/>
          <p:nvPr/>
        </p:nvSpPr>
        <p:spPr>
          <a:xfrm>
            <a:off x="1279291" y="5553718"/>
            <a:ext cx="10464474" cy="1055438"/>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TT_IM095a - </a:t>
            </a:r>
            <a:r>
              <a:rPr lang="en-GB" sz="1100" b="0" i="0" u="none" strike="noStrike" kern="1200" cap="none" spc="0" baseline="0" dirty="0">
                <a:solidFill>
                  <a:srgbClr val="000000"/>
                </a:solidFill>
                <a:uFillTx/>
                <a:latin typeface="Calibri"/>
              </a:rPr>
              <a:t>Import frontier declaration, for goods moving from Continental Shelf (CS) Norway into CS UK.</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TT_IM096a </a:t>
            </a:r>
            <a:r>
              <a:rPr lang="en-GB" sz="1100" b="0" i="0" u="none" strike="noStrike" kern="1200" cap="none" spc="0" baseline="0" dirty="0">
                <a:solidFill>
                  <a:srgbClr val="000000"/>
                </a:solidFill>
                <a:uFillTx/>
                <a:latin typeface="Calibri"/>
              </a:rPr>
              <a:t>- Import frontier declaration, for goods moving from Continental Shelf (CS) UK into Mainland UK, where the correct amount of duty is paid for imports from the CS UK.</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TT_IM097a </a:t>
            </a:r>
            <a:r>
              <a:rPr lang="en-GB" sz="1100" b="0" i="0" u="none" strike="noStrike" kern="1200" cap="none" spc="0" baseline="0" dirty="0">
                <a:solidFill>
                  <a:srgbClr val="000000"/>
                </a:solidFill>
                <a:uFillTx/>
                <a:latin typeface="Calibri"/>
              </a:rPr>
              <a:t>- Import frontier declaration, for goods moving from Continental Shelf (CS) UK into NI, where the amount of duty payable on "de-risked" items is subject to the correct measures.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TT_IM098a </a:t>
            </a:r>
            <a:r>
              <a:rPr lang="en-GB" sz="1100" b="0" i="0" u="none" strike="noStrike" kern="1200" cap="none" spc="0" baseline="0" dirty="0">
                <a:solidFill>
                  <a:srgbClr val="000000"/>
                </a:solidFill>
                <a:uFillTx/>
                <a:latin typeface="Calibri"/>
              </a:rPr>
              <a:t>- Import frontier declaration, for goods moving from Continental Shelf (CS) Norway into NI, where the amount of duty payable on "at-risk" items is subject to the correct measures.</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000000"/>
              </a:solidFill>
              <a:uFillTx/>
              <a:latin typeface="Calibri"/>
            </a:endParaRPr>
          </a:p>
        </p:txBody>
      </p:sp>
      <p:sp>
        <p:nvSpPr>
          <p:cNvPr id="12" name="Rectangle 11">
            <a:extLst>
              <a:ext uri="{FF2B5EF4-FFF2-40B4-BE49-F238E27FC236}">
                <a16:creationId xmlns:a16="http://schemas.microsoft.com/office/drawing/2014/main" id="{7197E1CF-9145-4970-835F-50762902A782}"/>
              </a:ext>
            </a:extLst>
          </p:cNvPr>
          <p:cNvSpPr/>
          <p:nvPr/>
        </p:nvSpPr>
        <p:spPr>
          <a:xfrm>
            <a:off x="446099" y="5553718"/>
            <a:ext cx="833201" cy="1055438"/>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72470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338</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483209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0" cap="none" spc="0" baseline="0">
                <a:solidFill>
                  <a:srgbClr val="000000"/>
                </a:solidFill>
                <a:uFillTx/>
                <a:latin typeface="Calibri"/>
              </a:rPr>
              <a:t>Composite Goods containing Alcohol or Mineral Oils</a:t>
            </a:r>
            <a:endParaRPr lang="en-GB" sz="1400" b="1" i="0" u="none" strike="noStrike" kern="1200" cap="none" spc="0" normalizeH="0" baseline="0" noProof="0">
              <a:ln>
                <a:noFill/>
              </a:ln>
              <a:solidFill>
                <a:schemeClr val="bg1"/>
              </a:solidFill>
              <a:effectLst/>
              <a:uLnTx/>
              <a:uFillTx/>
              <a:latin typeface="+mn-lt"/>
            </a:endParaRPr>
          </a:p>
          <a:p>
            <a:pPr>
              <a:defRPr sz="1800" b="0" i="0" u="none" strike="noStrike" kern="0" cap="none" spc="0" baseline="0">
                <a:solidFill>
                  <a:srgbClr val="000000"/>
                </a:solidFill>
                <a:uFillTx/>
              </a:defRPr>
            </a:pPr>
            <a:r>
              <a:rPr lang="en-GB" sz="1400">
                <a:latin typeface="Calibri  "/>
              </a:rPr>
              <a:t>The introduction of this functionality will enable traders to </a:t>
            </a:r>
            <a:r>
              <a:rPr lang="en-GB" sz="1400" b="0" i="0">
                <a:effectLst/>
                <a:latin typeface="Calibri  "/>
              </a:rPr>
              <a:t>declare composite goods containing alcohol and mineral oils into CDS. Traders are only able to collect excise duty on goods that are set up with excise codes, similar to CHIEF. </a:t>
            </a:r>
            <a:r>
              <a:rPr lang="en-GB" sz="1400">
                <a:solidFill>
                  <a:srgbClr val="333333"/>
                </a:solidFill>
                <a:latin typeface="Calibri  "/>
              </a:rPr>
              <a:t>In scenarios where t</a:t>
            </a:r>
            <a:r>
              <a:rPr lang="en-GB" sz="1400" b="0" i="0">
                <a:solidFill>
                  <a:srgbClr val="333333"/>
                </a:solidFill>
                <a:effectLst/>
                <a:latin typeface="Calibri  "/>
              </a:rPr>
              <a:t>raders </a:t>
            </a:r>
            <a:r>
              <a:rPr lang="en-GB" sz="1400">
                <a:solidFill>
                  <a:srgbClr val="333333"/>
                </a:solidFill>
                <a:latin typeface="Calibri  "/>
              </a:rPr>
              <a:t>are</a:t>
            </a:r>
            <a:r>
              <a:rPr lang="en-GB" sz="1400" b="0" i="0">
                <a:solidFill>
                  <a:srgbClr val="333333"/>
                </a:solidFill>
                <a:effectLst/>
                <a:latin typeface="Calibri  "/>
              </a:rPr>
              <a:t> not liable to pay excise duty, they may manually override the duty. The following composite goods are currently set up with excise codes on CDS:</a:t>
            </a:r>
          </a:p>
          <a:p>
            <a:pP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1" i="0">
                <a:solidFill>
                  <a:srgbClr val="333333"/>
                </a:solidFill>
                <a:effectLst/>
                <a:latin typeface="Calibri  "/>
              </a:rPr>
              <a:t>Composite goods with Alcohol</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Foodstuffs not elsewhere specified</a:t>
            </a:r>
            <a:r>
              <a:rPr lang="en-GB" sz="1400">
                <a:solidFill>
                  <a:srgbClr val="333333"/>
                </a:solidFill>
                <a:latin typeface="Calibri  "/>
              </a:rPr>
              <a:t> (with alcohol content)</a:t>
            </a:r>
          </a:p>
          <a:p>
            <a:pPr>
              <a:defRPr sz="1800" b="0" i="0" u="none" strike="noStrike" kern="0" cap="none" spc="0" baseline="0">
                <a:solidFill>
                  <a:srgbClr val="000000"/>
                </a:solidFill>
                <a:uFillTx/>
              </a:defRPr>
            </a:pPr>
            <a:endParaRPr lang="en-GB" sz="1400" b="1" i="0">
              <a:solidFill>
                <a:srgbClr val="333333"/>
              </a:solidFill>
              <a:effectLst/>
              <a:latin typeface="Calibri  "/>
            </a:endParaRPr>
          </a:p>
          <a:p>
            <a:pPr>
              <a:defRPr sz="1800" b="0" i="0" u="none" strike="noStrike" kern="0" cap="none" spc="0" baseline="0">
                <a:solidFill>
                  <a:srgbClr val="000000"/>
                </a:solidFill>
                <a:uFillTx/>
              </a:defRPr>
            </a:pPr>
            <a:r>
              <a:rPr lang="en-GB" sz="1400" b="1" i="0">
                <a:solidFill>
                  <a:srgbClr val="333333"/>
                </a:solidFill>
                <a:effectLst/>
                <a:latin typeface="Calibri  "/>
              </a:rPr>
              <a:t>Composite goods with Mineral </a:t>
            </a:r>
            <a:r>
              <a:rPr lang="en-GB" sz="1400" b="1">
                <a:solidFill>
                  <a:srgbClr val="333333"/>
                </a:solidFill>
                <a:latin typeface="Calibri  "/>
              </a:rPr>
              <a:t>O</a:t>
            </a:r>
            <a:r>
              <a:rPr lang="en-GB" sz="1400" b="1" i="0">
                <a:solidFill>
                  <a:srgbClr val="333333"/>
                </a:solidFill>
                <a:effectLst/>
                <a:latin typeface="Calibri  "/>
              </a:rPr>
              <a:t>ils</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Lubricating preparations</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Gum, wood, turpentine preparations</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Organic composite solvents and thinners</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Mixed alkylbenzenes and mixed alkylnaphthalenes</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Plastics</a:t>
            </a:r>
            <a:endParaRPr lang="en-GB" sz="1400">
              <a:solidFill>
                <a:srgbClr val="333333"/>
              </a:solidFill>
              <a:latin typeface="Calibri  "/>
            </a:endParaRP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i="0">
                <a:solidFill>
                  <a:srgbClr val="333333"/>
                </a:solidFill>
                <a:effectLst/>
                <a:latin typeface="Calibri  "/>
              </a:rPr>
              <a:t>Anti - knock preparations</a:t>
            </a:r>
          </a:p>
          <a:p>
            <a:pP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1" i="0">
                <a:solidFill>
                  <a:srgbClr val="333333"/>
                </a:solidFill>
                <a:effectLst/>
                <a:latin typeface="Calibri  "/>
              </a:rPr>
              <a:t>Please note: </a:t>
            </a:r>
            <a:r>
              <a:rPr lang="en-GB" sz="1400" i="0">
                <a:solidFill>
                  <a:srgbClr val="333333"/>
                </a:solidFill>
                <a:effectLst/>
                <a:latin typeface="Calibri  "/>
              </a:rPr>
              <a:t>Excise codes will be set up in the Trade Tariff for future composite goods that do not currently have excise codes. For further information on excise codes and tax codes, please visit </a:t>
            </a:r>
            <a:r>
              <a:rPr lang="en-GB" sz="1400" b="0" i="0" u="none" strike="noStrike">
                <a:solidFill>
                  <a:srgbClr val="3B73AF"/>
                </a:solidFill>
                <a:effectLst/>
                <a:latin typeface="Calibri  "/>
                <a:hlinkClick r:id="rId3"/>
              </a:rPr>
              <a:t>https://www.gov.uk/government/publications/uk-trade-tariff-excise-duties-reliefs-drawbacks-and-allowances/uk-trade-tariff-excise-duties-reliefs-drawbacks-and-allowances</a:t>
            </a:r>
            <a:endParaRPr lang="en-GB" sz="1400" i="0">
              <a:solidFill>
                <a:srgbClr val="333333"/>
              </a:solidFill>
              <a:effectLst/>
              <a:latin typeface="Calibri  "/>
            </a:endParaRPr>
          </a:p>
          <a:p>
            <a:pP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3" name="Rectangle 5">
            <a:extLst>
              <a:ext uri="{FF2B5EF4-FFF2-40B4-BE49-F238E27FC236}">
                <a16:creationId xmlns:a16="http://schemas.microsoft.com/office/drawing/2014/main" id="{8AB78507-1A67-428E-A57C-F81FB24D2743}"/>
              </a:ext>
            </a:extLst>
          </p:cNvPr>
          <p:cNvSpPr>
            <a:spLocks noChangeArrowheads="1"/>
          </p:cNvSpPr>
          <p:nvPr/>
        </p:nvSpPr>
        <p:spPr bwMode="auto">
          <a:xfrm>
            <a:off x="3933825" y="3497263"/>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011907623"/>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9634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339</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363967" y="1199875"/>
            <a:ext cx="11317438" cy="5047536"/>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a:solidFill>
                  <a:srgbClr val="333333"/>
                </a:solidFill>
                <a:effectLst/>
                <a:latin typeface="Calibri  "/>
              </a:rPr>
              <a:t>To </a:t>
            </a:r>
            <a:r>
              <a:rPr lang="en-GB" sz="1400" b="1">
                <a:solidFill>
                  <a:srgbClr val="333333"/>
                </a:solidFill>
                <a:latin typeface="Calibri  "/>
              </a:rPr>
              <a:t>declare </a:t>
            </a:r>
            <a:r>
              <a:rPr lang="en-GB" sz="1400" b="1" i="0">
                <a:solidFill>
                  <a:srgbClr val="333333"/>
                </a:solidFill>
                <a:effectLst/>
                <a:latin typeface="Calibri  "/>
              </a:rPr>
              <a:t>composite goods containing a proportion of alcohol </a:t>
            </a:r>
            <a:r>
              <a:rPr lang="en-GB" sz="1400" b="1" i="0" strike="noStrike" kern="0" cap="none" spc="0" baseline="0">
                <a:solidFill>
                  <a:srgbClr val="000000"/>
                </a:solidFill>
                <a:uFillTx/>
                <a:latin typeface="Calibri  "/>
              </a:rPr>
              <a:t>into CDS,</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ea typeface="Times New Roman" panose="02020603050405020304" pitchFamily="18" charset="0"/>
                <a:cs typeface="Times New Roman" panose="02020603050405020304" pitchFamily="18" charset="0"/>
              </a:rPr>
              <a:t>Traders must enter</a:t>
            </a:r>
            <a:r>
              <a:rPr lang="en-GB" sz="1400">
                <a:solidFill>
                  <a:srgbClr val="333333"/>
                </a:solidFill>
                <a:effectLst/>
                <a:latin typeface="Calibri  "/>
                <a:ea typeface="Times New Roman" panose="02020603050405020304" pitchFamily="18" charset="0"/>
                <a:cs typeface="Times New Roman" panose="02020603050405020304" pitchFamily="18" charset="0"/>
              </a:rPr>
              <a:t> a </a:t>
            </a:r>
            <a:r>
              <a:rPr lang="en-GB" sz="1400" b="1">
                <a:solidFill>
                  <a:srgbClr val="333333"/>
                </a:solidFill>
                <a:effectLst/>
                <a:latin typeface="Calibri  "/>
                <a:ea typeface="Times New Roman" panose="02020603050405020304" pitchFamily="18" charset="0"/>
                <a:cs typeface="Times New Roman" panose="02020603050405020304" pitchFamily="18" charset="0"/>
              </a:rPr>
              <a:t>commodity code </a:t>
            </a:r>
            <a:r>
              <a:rPr lang="en-GB" sz="1400">
                <a:solidFill>
                  <a:srgbClr val="333333"/>
                </a:solidFill>
                <a:effectLst/>
                <a:latin typeface="Calibri  "/>
                <a:ea typeface="Times New Roman" panose="02020603050405020304" pitchFamily="18" charset="0"/>
                <a:cs typeface="Times New Roman" panose="02020603050405020304" pitchFamily="18" charset="0"/>
              </a:rPr>
              <a:t>of a composite good containing alcohol in </a:t>
            </a:r>
            <a:r>
              <a:rPr lang="en-GB" sz="1400" b="1">
                <a:solidFill>
                  <a:srgbClr val="333333"/>
                </a:solidFill>
                <a:latin typeface="Calibri  "/>
                <a:ea typeface="Times New Roman" panose="02020603050405020304" pitchFamily="18" charset="0"/>
                <a:cs typeface="Times New Roman" panose="02020603050405020304" pitchFamily="18" charset="0"/>
              </a:rPr>
              <a:t>D</a:t>
            </a:r>
            <a:r>
              <a:rPr lang="en-GB" sz="1400" b="1">
                <a:solidFill>
                  <a:srgbClr val="333333"/>
                </a:solidFill>
                <a:effectLst/>
                <a:latin typeface="Calibri  "/>
                <a:ea typeface="Times New Roman" panose="02020603050405020304" pitchFamily="18" charset="0"/>
                <a:cs typeface="Times New Roman" panose="02020603050405020304" pitchFamily="18" charset="0"/>
              </a:rPr>
              <a:t>E 6/14, </a:t>
            </a:r>
            <a:r>
              <a:rPr lang="en-GB" sz="1400">
                <a:solidFill>
                  <a:srgbClr val="333333"/>
                </a:solidFill>
                <a:effectLst/>
                <a:latin typeface="Calibri  "/>
                <a:ea typeface="Times New Roman" panose="02020603050405020304" pitchFamily="18" charset="0"/>
                <a:cs typeface="Times New Roman" panose="02020603050405020304" pitchFamily="18" charset="0"/>
              </a:rPr>
              <a:t>and declare </a:t>
            </a:r>
            <a:r>
              <a:rPr lang="en-GB" sz="1400" b="1">
                <a:solidFill>
                  <a:srgbClr val="333333"/>
                </a:solidFill>
                <a:effectLst/>
                <a:latin typeface="Calibri  "/>
                <a:ea typeface="Times New Roman" panose="02020603050405020304" pitchFamily="18" charset="0"/>
                <a:cs typeface="Times New Roman" panose="02020603050405020304" pitchFamily="18" charset="0"/>
              </a:rPr>
              <a:t>only</a:t>
            </a:r>
            <a:r>
              <a:rPr lang="en-GB" sz="1400">
                <a:solidFill>
                  <a:srgbClr val="333333"/>
                </a:solidFill>
                <a:effectLst/>
                <a:latin typeface="Calibri  "/>
                <a:ea typeface="Times New Roman" panose="02020603050405020304" pitchFamily="18" charset="0"/>
                <a:cs typeface="Times New Roman" panose="02020603050405020304" pitchFamily="18" charset="0"/>
              </a:rPr>
              <a:t> </a:t>
            </a:r>
            <a:r>
              <a:rPr lang="en-GB" sz="1400" b="1">
                <a:solidFill>
                  <a:srgbClr val="333333"/>
                </a:solidFill>
                <a:effectLst/>
                <a:latin typeface="Calibri  "/>
                <a:ea typeface="Times New Roman" panose="02020603050405020304" pitchFamily="18" charset="0"/>
                <a:cs typeface="Times New Roman" panose="02020603050405020304" pitchFamily="18" charset="0"/>
              </a:rPr>
              <a:t>X451* </a:t>
            </a:r>
            <a:r>
              <a:rPr lang="en-GB" sz="1400">
                <a:solidFill>
                  <a:srgbClr val="333333"/>
                </a:solidFill>
                <a:effectLst/>
                <a:latin typeface="Calibri  "/>
                <a:ea typeface="Times New Roman" panose="02020603050405020304" pitchFamily="18" charset="0"/>
                <a:cs typeface="Times New Roman" panose="02020603050405020304" pitchFamily="18" charset="0"/>
              </a:rPr>
              <a:t>in </a:t>
            </a:r>
            <a:r>
              <a:rPr lang="en-GB" sz="1400" b="1">
                <a:solidFill>
                  <a:srgbClr val="333333"/>
                </a:solidFill>
                <a:effectLst/>
                <a:latin typeface="Calibri  "/>
                <a:ea typeface="Times New Roman" panose="02020603050405020304" pitchFamily="18" charset="0"/>
                <a:cs typeface="Times New Roman" panose="02020603050405020304" pitchFamily="18" charset="0"/>
              </a:rPr>
              <a:t>DE 6/17 </a:t>
            </a:r>
            <a:r>
              <a:rPr lang="en-GB" sz="1400">
                <a:solidFill>
                  <a:srgbClr val="333333"/>
                </a:solidFill>
                <a:effectLst/>
                <a:latin typeface="Calibri  "/>
                <a:ea typeface="Times New Roman" panose="02020603050405020304" pitchFamily="18" charset="0"/>
                <a:cs typeface="Times New Roman" panose="02020603050405020304" pitchFamily="18" charset="0"/>
              </a:rPr>
              <a:t>TARIC.</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333333"/>
                </a:solidFill>
                <a:effectLst/>
                <a:latin typeface="Calibri  "/>
              </a:rPr>
              <a:t>Where DE 6/17 is </a:t>
            </a:r>
            <a:r>
              <a:rPr lang="en-GB" sz="1400" b="1" i="0">
                <a:solidFill>
                  <a:srgbClr val="333333"/>
                </a:solidFill>
                <a:effectLst/>
                <a:latin typeface="Calibri  "/>
              </a:rPr>
              <a:t>left blank</a:t>
            </a:r>
            <a:r>
              <a:rPr lang="en-GB" sz="1400" b="0" i="0">
                <a:solidFill>
                  <a:srgbClr val="333333"/>
                </a:solidFill>
                <a:effectLst/>
                <a:latin typeface="Calibri  "/>
              </a:rPr>
              <a:t>, or the excise code(s) do </a:t>
            </a:r>
            <a:r>
              <a:rPr lang="en-GB" sz="1400" b="1" i="0">
                <a:solidFill>
                  <a:srgbClr val="333333"/>
                </a:solidFill>
                <a:effectLst/>
                <a:latin typeface="Calibri  "/>
              </a:rPr>
              <a:t>not</a:t>
            </a:r>
            <a:r>
              <a:rPr lang="en-GB" sz="1400" b="0" i="0">
                <a:solidFill>
                  <a:srgbClr val="333333"/>
                </a:solidFill>
                <a:effectLst/>
                <a:latin typeface="Calibri  "/>
              </a:rPr>
              <a:t> include X451, CDS will </a:t>
            </a:r>
            <a:r>
              <a:rPr lang="en-GB" sz="1400" b="1" i="0">
                <a:solidFill>
                  <a:srgbClr val="333333"/>
                </a:solidFill>
                <a:effectLst/>
                <a:latin typeface="Calibri  "/>
              </a:rPr>
              <a:t>reject</a:t>
            </a:r>
            <a:r>
              <a:rPr lang="en-GB" sz="1400" b="0" i="0">
                <a:solidFill>
                  <a:srgbClr val="333333"/>
                </a:solidFill>
                <a:effectLst/>
                <a:latin typeface="Calibri  "/>
              </a:rPr>
              <a:t> the declaration, and send a </a:t>
            </a:r>
            <a:r>
              <a:rPr lang="en-GB" sz="1400">
                <a:solidFill>
                  <a:srgbClr val="333333"/>
                </a:solidFill>
                <a:latin typeface="Calibri  "/>
              </a:rPr>
              <a:t>DMSREJ notification with an applicable error code </a:t>
            </a:r>
            <a:r>
              <a:rPr lang="en-GB" sz="1400" b="0" i="0">
                <a:solidFill>
                  <a:srgbClr val="333333"/>
                </a:solidFill>
                <a:effectLst/>
                <a:latin typeface="Calibri  "/>
              </a:rPr>
              <a:t>to the trader. </a:t>
            </a:r>
          </a:p>
          <a:p>
            <a:pPr lvl="1">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1" i="0">
                <a:solidFill>
                  <a:srgbClr val="333333"/>
                </a:solidFill>
                <a:effectLst/>
                <a:latin typeface="Calibri  "/>
              </a:rPr>
              <a:t>*X451 </a:t>
            </a:r>
            <a:r>
              <a:rPr lang="en-GB" sz="1400" b="0" i="0">
                <a:solidFill>
                  <a:srgbClr val="333333"/>
                </a:solidFill>
                <a:effectLst/>
                <a:latin typeface="Calibri  "/>
              </a:rPr>
              <a:t>(Spirits other than UK produced whisky) is the only excise code mapped to composite goods containing alcohol. </a:t>
            </a:r>
          </a:p>
          <a:p>
            <a:pP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1" i="0">
                <a:solidFill>
                  <a:srgbClr val="333333"/>
                </a:solidFill>
                <a:effectLst/>
                <a:latin typeface="Calibri  "/>
              </a:rPr>
              <a:t>To </a:t>
            </a:r>
            <a:r>
              <a:rPr lang="en-GB" sz="1400" b="1">
                <a:solidFill>
                  <a:srgbClr val="333333"/>
                </a:solidFill>
                <a:latin typeface="Calibri  "/>
              </a:rPr>
              <a:t>declare </a:t>
            </a:r>
            <a:r>
              <a:rPr lang="en-GB" sz="1400" b="1" i="0">
                <a:solidFill>
                  <a:srgbClr val="333333"/>
                </a:solidFill>
                <a:effectLst/>
                <a:latin typeface="Calibri  "/>
              </a:rPr>
              <a:t>composite goods containing mineral oil into CDS</a:t>
            </a:r>
            <a:r>
              <a:rPr lang="en-GB" sz="1400" b="1" i="0" strike="noStrike" kern="0" cap="none" spc="0" baseline="0">
                <a:solidFill>
                  <a:srgbClr val="000000"/>
                </a:solidFill>
                <a:uFillTx/>
                <a:latin typeface="Calibri  "/>
              </a:rPr>
              <a:t>,</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ea typeface="Times New Roman" panose="02020603050405020304" pitchFamily="18" charset="0"/>
                <a:cs typeface="Times New Roman" panose="02020603050405020304" pitchFamily="18" charset="0"/>
              </a:rPr>
              <a:t>Traders must enter</a:t>
            </a:r>
            <a:r>
              <a:rPr lang="en-GB" sz="1400">
                <a:solidFill>
                  <a:srgbClr val="333333"/>
                </a:solidFill>
                <a:effectLst/>
                <a:latin typeface="Calibri  "/>
                <a:ea typeface="Times New Roman" panose="02020603050405020304" pitchFamily="18" charset="0"/>
                <a:cs typeface="Times New Roman" panose="02020603050405020304" pitchFamily="18" charset="0"/>
              </a:rPr>
              <a:t> a </a:t>
            </a:r>
            <a:r>
              <a:rPr lang="en-GB" sz="1400" b="1">
                <a:solidFill>
                  <a:srgbClr val="333333"/>
                </a:solidFill>
                <a:effectLst/>
                <a:latin typeface="Calibri  "/>
                <a:ea typeface="Times New Roman" panose="02020603050405020304" pitchFamily="18" charset="0"/>
                <a:cs typeface="Times New Roman" panose="02020603050405020304" pitchFamily="18" charset="0"/>
              </a:rPr>
              <a:t>commodity code </a:t>
            </a:r>
            <a:r>
              <a:rPr lang="en-GB" sz="1400">
                <a:solidFill>
                  <a:srgbClr val="333333"/>
                </a:solidFill>
                <a:effectLst/>
                <a:latin typeface="Calibri  "/>
                <a:ea typeface="Times New Roman" panose="02020603050405020304" pitchFamily="18" charset="0"/>
                <a:cs typeface="Times New Roman" panose="02020603050405020304" pitchFamily="18" charset="0"/>
              </a:rPr>
              <a:t>of a composite good containing mineral oil in </a:t>
            </a:r>
            <a:r>
              <a:rPr lang="en-GB" sz="1400" b="1">
                <a:solidFill>
                  <a:srgbClr val="333333"/>
                </a:solidFill>
                <a:latin typeface="Calibri  "/>
                <a:ea typeface="Times New Roman" panose="02020603050405020304" pitchFamily="18" charset="0"/>
                <a:cs typeface="Times New Roman" panose="02020603050405020304" pitchFamily="18" charset="0"/>
              </a:rPr>
              <a:t>D</a:t>
            </a:r>
            <a:r>
              <a:rPr lang="en-GB" sz="1400" b="1">
                <a:solidFill>
                  <a:srgbClr val="333333"/>
                </a:solidFill>
                <a:effectLst/>
                <a:latin typeface="Calibri  "/>
                <a:ea typeface="Times New Roman" panose="02020603050405020304" pitchFamily="18" charset="0"/>
                <a:cs typeface="Times New Roman" panose="02020603050405020304" pitchFamily="18" charset="0"/>
              </a:rPr>
              <a:t>E 6/14, </a:t>
            </a:r>
            <a:r>
              <a:rPr lang="en-GB" sz="1400">
                <a:solidFill>
                  <a:srgbClr val="333333"/>
                </a:solidFill>
                <a:effectLst/>
                <a:latin typeface="Calibri  "/>
                <a:ea typeface="Times New Roman" panose="02020603050405020304" pitchFamily="18" charset="0"/>
                <a:cs typeface="Times New Roman" panose="02020603050405020304" pitchFamily="18" charset="0"/>
              </a:rPr>
              <a:t>and declare only </a:t>
            </a:r>
            <a:r>
              <a:rPr lang="en-GB" sz="1400" b="1">
                <a:solidFill>
                  <a:srgbClr val="333333"/>
                </a:solidFill>
                <a:effectLst/>
                <a:latin typeface="Calibri  "/>
                <a:ea typeface="Times New Roman" panose="02020603050405020304" pitchFamily="18" charset="0"/>
                <a:cs typeface="Times New Roman" panose="02020603050405020304" pitchFamily="18" charset="0"/>
              </a:rPr>
              <a:t>one</a:t>
            </a:r>
            <a:r>
              <a:rPr lang="en-GB" sz="1400">
                <a:solidFill>
                  <a:srgbClr val="333333"/>
                </a:solidFill>
                <a:effectLst/>
                <a:latin typeface="Calibri  "/>
                <a:ea typeface="Times New Roman" panose="02020603050405020304" pitchFamily="18" charset="0"/>
                <a:cs typeface="Times New Roman" panose="02020603050405020304" pitchFamily="18" charset="0"/>
              </a:rPr>
              <a:t> applicable</a:t>
            </a:r>
            <a:r>
              <a:rPr lang="en-GB" sz="1400" b="1">
                <a:solidFill>
                  <a:srgbClr val="333333"/>
                </a:solidFill>
                <a:effectLst/>
                <a:latin typeface="Calibri  "/>
                <a:ea typeface="Times New Roman" panose="02020603050405020304" pitchFamily="18" charset="0"/>
                <a:cs typeface="Times New Roman" panose="02020603050405020304" pitchFamily="18" charset="0"/>
              </a:rPr>
              <a:t> excise </a:t>
            </a:r>
            <a:r>
              <a:rPr lang="en-GB" sz="1400" b="1">
                <a:solidFill>
                  <a:srgbClr val="333333"/>
                </a:solidFill>
                <a:latin typeface="Calibri  "/>
                <a:ea typeface="Times New Roman" panose="02020603050405020304" pitchFamily="18" charset="0"/>
                <a:cs typeface="Times New Roman" panose="02020603050405020304" pitchFamily="18" charset="0"/>
              </a:rPr>
              <a:t>additional </a:t>
            </a:r>
            <a:r>
              <a:rPr lang="en-GB" sz="1400" b="1">
                <a:solidFill>
                  <a:srgbClr val="333333"/>
                </a:solidFill>
                <a:effectLst/>
                <a:latin typeface="Calibri  "/>
                <a:ea typeface="Times New Roman" panose="02020603050405020304" pitchFamily="18" charset="0"/>
                <a:cs typeface="Times New Roman" panose="02020603050405020304" pitchFamily="18" charset="0"/>
              </a:rPr>
              <a:t>code (‘X’ prefix) </a:t>
            </a:r>
            <a:r>
              <a:rPr lang="en-GB" sz="1400">
                <a:solidFill>
                  <a:srgbClr val="333333"/>
                </a:solidFill>
                <a:effectLst/>
                <a:latin typeface="Calibri  "/>
                <a:ea typeface="Times New Roman" panose="02020603050405020304" pitchFamily="18" charset="0"/>
                <a:cs typeface="Times New Roman" panose="02020603050405020304" pitchFamily="18" charset="0"/>
              </a:rPr>
              <a:t>in </a:t>
            </a:r>
            <a:r>
              <a:rPr lang="en-GB" sz="1400" b="1">
                <a:solidFill>
                  <a:srgbClr val="333333"/>
                </a:solidFill>
                <a:effectLst/>
                <a:latin typeface="Calibri  "/>
                <a:ea typeface="Times New Roman" panose="02020603050405020304" pitchFamily="18" charset="0"/>
                <a:cs typeface="Times New Roman" panose="02020603050405020304" pitchFamily="18" charset="0"/>
              </a:rPr>
              <a:t>DE 6/17 </a:t>
            </a:r>
            <a:r>
              <a:rPr lang="en-GB" sz="1400">
                <a:solidFill>
                  <a:srgbClr val="333333"/>
                </a:solidFill>
                <a:effectLst/>
                <a:latin typeface="Calibri  "/>
                <a:ea typeface="Times New Roman" panose="02020603050405020304" pitchFamily="18" charset="0"/>
                <a:cs typeface="Times New Roman" panose="02020603050405020304" pitchFamily="18" charset="0"/>
              </a:rPr>
              <a:t>TARIC. For more information on applicable excise codes, please visit </a:t>
            </a:r>
            <a:r>
              <a:rPr lang="en-GB" sz="1400">
                <a:hlinkClick r:id="rId3"/>
              </a:rPr>
              <a:t>Trade Tariff: GOV.UK (www.gov.uk)</a:t>
            </a:r>
            <a:endParaRPr lang="en-GB" sz="1400"/>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ea typeface="Times New Roman" panose="02020603050405020304" pitchFamily="18" charset="0"/>
                <a:cs typeface="Times New Roman" panose="02020603050405020304" pitchFamily="18" charset="0"/>
              </a:rPr>
              <a:t>Where there is more </a:t>
            </a:r>
            <a:r>
              <a:rPr lang="en-GB" sz="1400">
                <a:solidFill>
                  <a:srgbClr val="333333"/>
                </a:solidFill>
                <a:effectLst/>
                <a:latin typeface="Calibri  "/>
                <a:ea typeface="Times New Roman" panose="02020603050405020304" pitchFamily="18" charset="0"/>
                <a:cs typeface="Times New Roman" panose="02020603050405020304" pitchFamily="18" charset="0"/>
              </a:rPr>
              <a:t>than one excise code declared in D.E. 6/17, and only one excise code is mapped to the commodity code, CDS will charge excise duty at the </a:t>
            </a:r>
            <a:r>
              <a:rPr lang="en-GB" sz="1400" b="1">
                <a:solidFill>
                  <a:srgbClr val="333333"/>
                </a:solidFill>
                <a:effectLst/>
                <a:latin typeface="Calibri  "/>
                <a:ea typeface="Times New Roman" panose="02020603050405020304" pitchFamily="18" charset="0"/>
                <a:cs typeface="Times New Roman" panose="02020603050405020304" pitchFamily="18" charset="0"/>
              </a:rPr>
              <a:t>rate</a:t>
            </a:r>
            <a:r>
              <a:rPr lang="en-GB" sz="1400">
                <a:solidFill>
                  <a:srgbClr val="333333"/>
                </a:solidFill>
                <a:effectLst/>
                <a:latin typeface="Calibri  "/>
                <a:ea typeface="Times New Roman" panose="02020603050405020304" pitchFamily="18" charset="0"/>
                <a:cs typeface="Times New Roman" panose="02020603050405020304" pitchFamily="18" charset="0"/>
              </a:rPr>
              <a:t> corresponding to the mapped excise code.</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333333"/>
                </a:solidFill>
                <a:effectLst/>
                <a:latin typeface="Calibri  "/>
              </a:rPr>
              <a:t>CDS will </a:t>
            </a:r>
            <a:r>
              <a:rPr lang="en-GB" sz="1400" b="1" i="0">
                <a:solidFill>
                  <a:srgbClr val="333333"/>
                </a:solidFill>
                <a:effectLst/>
                <a:latin typeface="Calibri  "/>
              </a:rPr>
              <a:t>reject</a:t>
            </a:r>
            <a:r>
              <a:rPr lang="en-GB" sz="1400" b="0" i="0">
                <a:solidFill>
                  <a:srgbClr val="333333"/>
                </a:solidFill>
                <a:effectLst/>
                <a:latin typeface="Calibri  "/>
              </a:rPr>
              <a:t> the declaration and send a DMSREJ notification to the trader, in the following scenarios:</a:t>
            </a:r>
          </a:p>
          <a:p>
            <a:pPr marL="1657350" lvl="3" indent="-285750">
              <a:buFont typeface="Courier New" panose="02070309020205020404" pitchFamily="49" charset="0"/>
              <a:buChar char="o"/>
              <a:defRPr sz="1800" b="0" i="0" u="none" strike="noStrike" kern="0" cap="none" spc="0" baseline="0">
                <a:solidFill>
                  <a:srgbClr val="000000"/>
                </a:solidFill>
                <a:uFillTx/>
              </a:defRPr>
            </a:pPr>
            <a:r>
              <a:rPr lang="en-GB" sz="1400" b="0" i="0">
                <a:solidFill>
                  <a:srgbClr val="333333"/>
                </a:solidFill>
                <a:effectLst/>
                <a:latin typeface="Calibri  "/>
              </a:rPr>
              <a:t>Where DE 6/17 is </a:t>
            </a:r>
            <a:r>
              <a:rPr lang="en-GB" sz="1400" b="1" i="0">
                <a:solidFill>
                  <a:srgbClr val="333333"/>
                </a:solidFill>
                <a:effectLst/>
                <a:latin typeface="Calibri  "/>
              </a:rPr>
              <a:t>left blank </a:t>
            </a:r>
            <a:r>
              <a:rPr lang="en-GB" sz="1400" b="0" i="0">
                <a:solidFill>
                  <a:srgbClr val="333333"/>
                </a:solidFill>
                <a:effectLst/>
                <a:latin typeface="Calibri  "/>
              </a:rPr>
              <a:t>or the excise code(s) do not include an excise code mapped to a commodity codes.</a:t>
            </a:r>
            <a:endParaRPr lang="en-GB" sz="1400">
              <a:solidFill>
                <a:srgbClr val="333333"/>
              </a:solidFill>
              <a:latin typeface="Calibri  "/>
            </a:endParaRPr>
          </a:p>
          <a:p>
            <a:pPr marL="1657350" lvl="3" indent="-285750">
              <a:buFont typeface="Courier New" panose="02070309020205020404" pitchFamily="49" charset="0"/>
              <a:buChar char="o"/>
              <a:defRPr sz="1800" b="0" i="0" u="none" strike="noStrike" kern="0" cap="none" spc="0" baseline="0">
                <a:solidFill>
                  <a:srgbClr val="000000"/>
                </a:solidFill>
                <a:uFillTx/>
              </a:defRPr>
            </a:pPr>
            <a:r>
              <a:rPr lang="en-GB" sz="1400" b="0" i="0">
                <a:solidFill>
                  <a:srgbClr val="333333"/>
                </a:solidFill>
                <a:effectLst/>
                <a:latin typeface="Calibri  "/>
              </a:rPr>
              <a:t>Where </a:t>
            </a:r>
            <a:r>
              <a:rPr lang="en-GB" sz="1400" b="1" i="0">
                <a:solidFill>
                  <a:srgbClr val="333333"/>
                </a:solidFill>
                <a:effectLst/>
                <a:latin typeface="Calibri  "/>
              </a:rPr>
              <a:t>more than one </a:t>
            </a:r>
            <a:r>
              <a:rPr lang="en-GB" sz="1400" b="0" i="0">
                <a:solidFill>
                  <a:srgbClr val="333333"/>
                </a:solidFill>
                <a:effectLst/>
                <a:latin typeface="Calibri  "/>
              </a:rPr>
              <a:t>excise code is declared in DE 6/17, and </a:t>
            </a:r>
            <a:r>
              <a:rPr lang="en-GB" sz="1400" b="1" i="0">
                <a:solidFill>
                  <a:srgbClr val="333333"/>
                </a:solidFill>
                <a:effectLst/>
                <a:latin typeface="Calibri  "/>
              </a:rPr>
              <a:t>more than one </a:t>
            </a:r>
            <a:r>
              <a:rPr lang="en-GB" sz="1400" b="0" i="0">
                <a:solidFill>
                  <a:srgbClr val="333333"/>
                </a:solidFill>
                <a:effectLst/>
                <a:latin typeface="Calibri  "/>
              </a:rPr>
              <a:t>excise code is mapped to the commodity code (i.e. CDS only expects one excise code in DE 6/17 in this scenario).</a:t>
            </a:r>
            <a:endParaRPr lang="en-GB" sz="1400">
              <a:solidFill>
                <a:srgbClr val="333333"/>
              </a:solidFill>
              <a:effectLst/>
              <a:latin typeface="Calibri  "/>
              <a:ea typeface="Times New Roman" panose="02020603050405020304" pitchFamily="18" charset="0"/>
              <a:cs typeface="Times New Roman" panose="02020603050405020304" pitchFamily="18" charset="0"/>
            </a:endParaRPr>
          </a:p>
          <a:p>
            <a:pPr>
              <a:defRPr sz="1800" b="0" i="0" u="none" strike="noStrike" kern="0" cap="none" spc="0" baseline="0">
                <a:solidFill>
                  <a:srgbClr val="000000"/>
                </a:solidFill>
                <a:uFillTx/>
              </a:defRPr>
            </a:pPr>
            <a:endParaRPr lang="en-GB" sz="1400">
              <a:solidFill>
                <a:srgbClr val="333333"/>
              </a:solidFill>
              <a:latin typeface="Calibri  "/>
            </a:endParaRPr>
          </a:p>
          <a:p>
            <a:pPr>
              <a:defRPr sz="1800" b="0" i="0" u="none" strike="noStrike" kern="0" cap="none" spc="0" baseline="0">
                <a:solidFill>
                  <a:srgbClr val="000000"/>
                </a:solidFill>
                <a:uFillTx/>
              </a:defRPr>
            </a:pPr>
            <a:r>
              <a:rPr lang="en-GB" sz="1400" b="0" i="0">
                <a:solidFill>
                  <a:srgbClr val="333333"/>
                </a:solidFill>
                <a:effectLst/>
                <a:latin typeface="Calibri  "/>
              </a:rPr>
              <a:t>CDS will then return the excise duties with the tax type corresponding to the excise code in the DMSTAX trader notification, and will collect excise duties in line with the method of payment declared.</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333333"/>
                </a:solidFill>
                <a:effectLst/>
                <a:latin typeface="Calibri  "/>
              </a:rPr>
              <a:t>For composite goods containing a </a:t>
            </a:r>
            <a:r>
              <a:rPr lang="en-GB" sz="1400" b="1" i="0">
                <a:solidFill>
                  <a:srgbClr val="333333"/>
                </a:solidFill>
                <a:effectLst/>
                <a:latin typeface="Calibri  "/>
              </a:rPr>
              <a:t>proportion of alcohol, </a:t>
            </a:r>
            <a:r>
              <a:rPr lang="en-GB" sz="1400" b="0" i="0">
                <a:solidFill>
                  <a:srgbClr val="333333"/>
                </a:solidFill>
                <a:effectLst/>
                <a:latin typeface="Calibri  "/>
              </a:rPr>
              <a:t>this will be calculated against the </a:t>
            </a:r>
            <a:r>
              <a:rPr lang="en-GB" sz="1400" b="1" i="0">
                <a:solidFill>
                  <a:srgbClr val="333333"/>
                </a:solidFill>
                <a:effectLst/>
                <a:latin typeface="Calibri  "/>
              </a:rPr>
              <a:t>alcoholic component </a:t>
            </a:r>
            <a:r>
              <a:rPr lang="en-GB" sz="1400" b="0" i="0">
                <a:solidFill>
                  <a:srgbClr val="333333"/>
                </a:solidFill>
                <a:effectLst/>
                <a:latin typeface="Calibri  "/>
              </a:rPr>
              <a:t>of the goods item.</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rPr>
              <a:t>For composite goods containing </a:t>
            </a:r>
            <a:r>
              <a:rPr lang="en-GB" sz="1400" b="1">
                <a:solidFill>
                  <a:srgbClr val="333333"/>
                </a:solidFill>
                <a:latin typeface="Calibri  "/>
              </a:rPr>
              <a:t>mineral oil</a:t>
            </a:r>
            <a:r>
              <a:rPr lang="en-GB" sz="1400">
                <a:solidFill>
                  <a:srgbClr val="333333"/>
                </a:solidFill>
                <a:latin typeface="Calibri  "/>
              </a:rPr>
              <a:t>, this will be calculated </a:t>
            </a:r>
            <a:r>
              <a:rPr lang="en-GB" sz="1400" b="0" i="0">
                <a:solidFill>
                  <a:srgbClr val="333333"/>
                </a:solidFill>
                <a:effectLst/>
                <a:latin typeface="Calibri  "/>
              </a:rPr>
              <a:t>against the </a:t>
            </a:r>
            <a:r>
              <a:rPr lang="en-GB" sz="1400" b="1" i="0">
                <a:solidFill>
                  <a:srgbClr val="333333"/>
                </a:solidFill>
                <a:effectLst/>
                <a:latin typeface="Calibri  "/>
              </a:rPr>
              <a:t>total volume </a:t>
            </a:r>
            <a:r>
              <a:rPr lang="en-GB" sz="1400" b="0" i="0">
                <a:solidFill>
                  <a:srgbClr val="333333"/>
                </a:solidFill>
                <a:effectLst/>
                <a:latin typeface="Calibri  "/>
              </a:rPr>
              <a:t>of the </a:t>
            </a:r>
            <a:r>
              <a:rPr lang="en-GB" sz="1400">
                <a:solidFill>
                  <a:srgbClr val="333333"/>
                </a:solidFill>
                <a:latin typeface="Calibri  "/>
              </a:rPr>
              <a:t>goods item.</a:t>
            </a:r>
            <a:endParaRPr lang="en-GB" sz="1400" b="0" i="0">
              <a:solidFill>
                <a:srgbClr val="333333"/>
              </a:solidFill>
              <a:effectLst/>
              <a:latin typeface="Calibri  "/>
            </a:endParaRPr>
          </a:p>
          <a:p>
            <a:pPr>
              <a:defRPr sz="1800" b="0" i="0" u="none" strike="noStrike" kern="0" cap="none" spc="0" baseline="0">
                <a:solidFill>
                  <a:srgbClr val="000000"/>
                </a:solidFill>
                <a:uFillTx/>
              </a:defRPr>
            </a:pP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3" name="Rectangle 5">
            <a:extLst>
              <a:ext uri="{FF2B5EF4-FFF2-40B4-BE49-F238E27FC236}">
                <a16:creationId xmlns:a16="http://schemas.microsoft.com/office/drawing/2014/main" id="{8AB78507-1A67-428E-A57C-F81FB24D2743}"/>
              </a:ext>
            </a:extLst>
          </p:cNvPr>
          <p:cNvSpPr>
            <a:spLocks noChangeArrowheads="1"/>
          </p:cNvSpPr>
          <p:nvPr/>
        </p:nvSpPr>
        <p:spPr bwMode="auto">
          <a:xfrm>
            <a:off x="3933825" y="3497263"/>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607740844"/>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89262"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340</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1815882"/>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a:solidFill>
                  <a:srgbClr val="333333"/>
                </a:solidFill>
                <a:latin typeface="Calibri  "/>
              </a:rPr>
              <a:t>T</a:t>
            </a:r>
            <a:r>
              <a:rPr lang="en-GB" sz="1400" b="1" i="0">
                <a:solidFill>
                  <a:srgbClr val="333333"/>
                </a:solidFill>
                <a:effectLst/>
                <a:latin typeface="Calibri  "/>
              </a:rPr>
              <a:t>o manually override excise duty for composite goods containing alcohol,</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rPr>
              <a:t>Traders must declare </a:t>
            </a:r>
            <a:r>
              <a:rPr lang="en-GB" sz="1400" b="1">
                <a:solidFill>
                  <a:srgbClr val="333333"/>
                </a:solidFill>
                <a:latin typeface="Calibri  "/>
              </a:rPr>
              <a:t>‘</a:t>
            </a:r>
            <a:r>
              <a:rPr lang="en-GB" sz="1400" b="1" i="0">
                <a:solidFill>
                  <a:srgbClr val="333333"/>
                </a:solidFill>
                <a:effectLst/>
                <a:latin typeface="Calibri  "/>
              </a:rPr>
              <a:t>OVR01</a:t>
            </a:r>
            <a:r>
              <a:rPr lang="en-GB" sz="1400" b="0" i="0">
                <a:solidFill>
                  <a:srgbClr val="333333"/>
                </a:solidFill>
                <a:effectLst/>
                <a:latin typeface="Calibri  "/>
              </a:rPr>
              <a:t>’ &amp; ‘</a:t>
            </a:r>
            <a:r>
              <a:rPr lang="en-GB" sz="1400" b="1" i="0">
                <a:solidFill>
                  <a:srgbClr val="333333"/>
                </a:solidFill>
                <a:effectLst/>
                <a:latin typeface="Calibri  "/>
              </a:rPr>
              <a:t>OVR04</a:t>
            </a:r>
            <a:r>
              <a:rPr lang="en-GB" sz="1400" b="0" i="0">
                <a:solidFill>
                  <a:srgbClr val="333333"/>
                </a:solidFill>
                <a:effectLst/>
                <a:latin typeface="Calibri  "/>
              </a:rPr>
              <a:t>’ in DE 2/2</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333333"/>
                </a:solidFill>
                <a:effectLst/>
                <a:latin typeface="Calibri  "/>
              </a:rPr>
              <a:t>Excise code X451 </a:t>
            </a:r>
            <a:r>
              <a:rPr lang="en-GB" sz="1400" b="1" i="0">
                <a:solidFill>
                  <a:srgbClr val="333333"/>
                </a:solidFill>
                <a:effectLst/>
                <a:latin typeface="Calibri  "/>
              </a:rPr>
              <a:t>must</a:t>
            </a:r>
            <a:r>
              <a:rPr lang="en-GB" sz="1400" b="0" i="0">
                <a:solidFill>
                  <a:srgbClr val="333333"/>
                </a:solidFill>
                <a:effectLst/>
                <a:latin typeface="Calibri  "/>
              </a:rPr>
              <a:t> be declared in DE 6/17</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a:solidFill>
                  <a:srgbClr val="333333"/>
                </a:solidFill>
                <a:effectLst/>
                <a:latin typeface="Calibri  "/>
              </a:rPr>
              <a:t>Tax Type (Type code) 451 </a:t>
            </a:r>
            <a:r>
              <a:rPr lang="en-GB" sz="1400" b="1">
                <a:solidFill>
                  <a:srgbClr val="333333"/>
                </a:solidFill>
                <a:latin typeface="Calibri  "/>
              </a:rPr>
              <a:t>must</a:t>
            </a:r>
            <a:r>
              <a:rPr lang="en-GB" sz="1400" b="0" i="0">
                <a:solidFill>
                  <a:srgbClr val="333333"/>
                </a:solidFill>
                <a:effectLst/>
                <a:latin typeface="Calibri  "/>
              </a:rPr>
              <a:t> declared in DE 4/3</a:t>
            </a:r>
          </a:p>
          <a:p>
            <a:pPr algn="l"/>
            <a:endParaRPr lang="en-GB" sz="1400" b="0" i="0">
              <a:solidFill>
                <a:srgbClr val="333333"/>
              </a:solidFill>
              <a:effectLst/>
              <a:latin typeface="Calibri  "/>
            </a:endParaRPr>
          </a:p>
          <a:p>
            <a:pPr marL="285750" indent="-285750" algn="l">
              <a:buFont typeface="Arial" panose="020B0604020202020204" pitchFamily="34" charset="0"/>
              <a:buChar char="•"/>
            </a:pPr>
            <a:r>
              <a:rPr lang="en-GB" sz="1400" b="0" i="0">
                <a:solidFill>
                  <a:srgbClr val="333333"/>
                </a:solidFill>
                <a:effectLst/>
                <a:latin typeface="Calibri  "/>
              </a:rPr>
              <a:t>CDS will send a DMSREJ notification to the trader, indicating which data element the error relates to, if ‘</a:t>
            </a:r>
            <a:r>
              <a:rPr lang="en-GB" sz="1400" b="1" i="0">
                <a:solidFill>
                  <a:srgbClr val="333333"/>
                </a:solidFill>
                <a:effectLst/>
                <a:latin typeface="Calibri  "/>
              </a:rPr>
              <a:t>OVR04</a:t>
            </a:r>
            <a:r>
              <a:rPr lang="en-GB" sz="1400" b="0" i="0">
                <a:solidFill>
                  <a:srgbClr val="333333"/>
                </a:solidFill>
                <a:effectLst/>
                <a:latin typeface="Calibri  "/>
              </a:rPr>
              <a:t>’ is declared against a goods item in DE 2/2, but </a:t>
            </a:r>
            <a:r>
              <a:rPr lang="en-GB" sz="1400" b="1" i="0">
                <a:solidFill>
                  <a:srgbClr val="333333"/>
                </a:solidFill>
                <a:effectLst/>
                <a:latin typeface="Calibri  "/>
              </a:rPr>
              <a:t>any</a:t>
            </a:r>
            <a:r>
              <a:rPr lang="en-GB" sz="1400" b="0" i="0">
                <a:solidFill>
                  <a:srgbClr val="333333"/>
                </a:solidFill>
                <a:effectLst/>
                <a:latin typeface="Calibri  "/>
              </a:rPr>
              <a:t> of the following information (in “Missing Required Data”) is </a:t>
            </a:r>
            <a:r>
              <a:rPr lang="en-GB" sz="1400" b="1" i="0">
                <a:solidFill>
                  <a:srgbClr val="333333"/>
                </a:solidFill>
                <a:effectLst/>
                <a:latin typeface="Calibri  "/>
              </a:rPr>
              <a:t>not</a:t>
            </a:r>
            <a:r>
              <a:rPr lang="en-GB" sz="1400" b="0" i="0">
                <a:solidFill>
                  <a:srgbClr val="333333"/>
                </a:solidFill>
                <a:effectLst/>
                <a:latin typeface="Calibri  "/>
              </a:rPr>
              <a:t> provided:</a:t>
            </a:r>
            <a:endParaRPr lang="en-GB" sz="1400" b="0" i="0">
              <a:solidFill>
                <a:srgbClr val="333333"/>
              </a:solidFill>
              <a:effectLst/>
              <a:highlight>
                <a:srgbClr val="FFFF00"/>
              </a:highlight>
              <a:latin typeface="Calibri  "/>
            </a:endParaRPr>
          </a:p>
          <a:p>
            <a:pPr>
              <a:defRPr sz="1800" b="0" i="0" u="none" strike="noStrike" kern="0" cap="none" spc="0" baseline="0">
                <a:solidFill>
                  <a:srgbClr val="000000"/>
                </a:solidFill>
                <a:uFillTx/>
              </a:defRPr>
            </a:pPr>
            <a:endParaRPr lang="en-GB" sz="1400">
              <a:solidFill>
                <a:srgbClr val="333333"/>
              </a:solidFill>
              <a:effectLst/>
              <a:latin typeface="Calibri  "/>
              <a:ea typeface="Times New Roman" panose="02020603050405020304" pitchFamily="18" charset="0"/>
              <a:cs typeface="Times New Roman" panose="02020603050405020304" pitchFamily="18" charset="0"/>
            </a:endParaRP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1" name="Table 12">
            <a:extLst>
              <a:ext uri="{FF2B5EF4-FFF2-40B4-BE49-F238E27FC236}">
                <a16:creationId xmlns:a16="http://schemas.microsoft.com/office/drawing/2014/main" id="{A2F41C64-494A-4DF9-BD9A-2040205F43A9}"/>
              </a:ext>
            </a:extLst>
          </p:cNvPr>
          <p:cNvGraphicFramePr>
            <a:graphicFrameLocks noGrp="1"/>
          </p:cNvGraphicFramePr>
          <p:nvPr/>
        </p:nvGraphicFramePr>
        <p:xfrm>
          <a:off x="806926" y="2830370"/>
          <a:ext cx="10565019" cy="3322837"/>
        </p:xfrm>
        <a:graphic>
          <a:graphicData uri="http://schemas.openxmlformats.org/drawingml/2006/table">
            <a:tbl>
              <a:tblPr firstRow="1" bandRow="1">
                <a:effectLst/>
                <a:tableStyleId>{5C22544A-7EE6-4342-B048-85BDC9FD1C3A}</a:tableStyleId>
              </a:tblPr>
              <a:tblGrid>
                <a:gridCol w="800264">
                  <a:extLst>
                    <a:ext uri="{9D8B030D-6E8A-4147-A177-3AD203B41FA5}">
                      <a16:colId xmlns:a16="http://schemas.microsoft.com/office/drawing/2014/main" val="3116016550"/>
                    </a:ext>
                  </a:extLst>
                </a:gridCol>
                <a:gridCol w="3616571">
                  <a:extLst>
                    <a:ext uri="{9D8B030D-6E8A-4147-A177-3AD203B41FA5}">
                      <a16:colId xmlns:a16="http://schemas.microsoft.com/office/drawing/2014/main" val="2833435084"/>
                    </a:ext>
                  </a:extLst>
                </a:gridCol>
                <a:gridCol w="2603342">
                  <a:extLst>
                    <a:ext uri="{9D8B030D-6E8A-4147-A177-3AD203B41FA5}">
                      <a16:colId xmlns:a16="http://schemas.microsoft.com/office/drawing/2014/main" val="1490096409"/>
                    </a:ext>
                  </a:extLst>
                </a:gridCol>
                <a:gridCol w="3544842">
                  <a:extLst>
                    <a:ext uri="{9D8B030D-6E8A-4147-A177-3AD203B41FA5}">
                      <a16:colId xmlns:a16="http://schemas.microsoft.com/office/drawing/2014/main" val="658037203"/>
                    </a:ext>
                  </a:extLst>
                </a:gridCol>
              </a:tblGrid>
              <a:tr h="307734">
                <a:tc>
                  <a:txBody>
                    <a:bodyPr/>
                    <a:lstStyle/>
                    <a:p>
                      <a:pPr lvl="0" algn="l"/>
                      <a:r>
                        <a:rPr lang="en-GB" sz="1200"/>
                        <a:t>Scenario</a:t>
                      </a:r>
                    </a:p>
                  </a:txBody>
                  <a:tcPr marL="90000" marR="18000" marT="18000" marB="18000" anchor="ctr">
                    <a:solidFill>
                      <a:srgbClr val="0099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Scenario Context Detail</a:t>
                      </a:r>
                    </a:p>
                  </a:txBody>
                  <a:tcPr marL="90000" marR="18000" marT="18000" marB="18000" anchor="ctr">
                    <a:solidFill>
                      <a:srgbClr val="009999"/>
                    </a:solidFill>
                  </a:tcPr>
                </a:tc>
                <a:tc>
                  <a:txBody>
                    <a:bodyPr/>
                    <a:lstStyle/>
                    <a:p>
                      <a:pPr lvl="0" algn="l"/>
                      <a:r>
                        <a:rPr lang="en-GB" sz="1200"/>
                        <a:t>The field declared for Override</a:t>
                      </a:r>
                    </a:p>
                  </a:txBody>
                  <a:tcPr marL="90000" marR="18000" marT="18000" marB="18000" anchor="ctr">
                    <a:solidFill>
                      <a:srgbClr val="009999"/>
                    </a:solidFill>
                  </a:tcPr>
                </a:tc>
                <a:tc>
                  <a:txBody>
                    <a:bodyPr/>
                    <a:lstStyle/>
                    <a:p>
                      <a:pPr lvl="0" algn="l"/>
                      <a:r>
                        <a:rPr lang="en-GB" sz="1200"/>
                        <a:t>Missing required data for Override</a:t>
                      </a:r>
                    </a:p>
                  </a:txBody>
                  <a:tcPr marL="90000" marR="18000" marT="18000" marB="18000" anchor="ctr">
                    <a:solidFill>
                      <a:srgbClr val="009999"/>
                    </a:solidFill>
                  </a:tcPr>
                </a:tc>
                <a:extLst>
                  <a:ext uri="{0D108BD9-81ED-4DB2-BD59-A6C34878D82A}">
                    <a16:rowId xmlns:a16="http://schemas.microsoft.com/office/drawing/2014/main" val="3731717049"/>
                  </a:ext>
                </a:extLst>
              </a:tr>
              <a:tr h="357612">
                <a:tc>
                  <a:txBody>
                    <a:bodyPr/>
                    <a:lstStyle/>
                    <a:p>
                      <a:r>
                        <a:rPr lang="en-GB" sz="1150">
                          <a:effectLst/>
                        </a:rPr>
                        <a:t>1</a:t>
                      </a:r>
                    </a:p>
                  </a:txBody>
                  <a:tcPr marL="90000" marR="18000" marT="18000" marB="18000" anchor="ctr"/>
                </a:tc>
                <a:tc>
                  <a:txBody>
                    <a:bodyPr/>
                    <a:lstStyle/>
                    <a:p>
                      <a:pPr lvl="0" algn="l"/>
                      <a:r>
                        <a:rPr lang="en-GB" sz="1150"/>
                        <a:t>The Trader has declared OVR01 in D.E 2/2</a:t>
                      </a:r>
                    </a:p>
                  </a:txBody>
                  <a:tcPr marL="90000" marR="18000" marT="18000" marB="18000" anchor="ctr"/>
                </a:tc>
                <a:tc>
                  <a:txBody>
                    <a:bodyPr/>
                    <a:lstStyle/>
                    <a:p>
                      <a:pPr lvl="0" algn="l"/>
                      <a:r>
                        <a:rPr lang="en-GB" sz="1150"/>
                        <a:t>Trade Terms Location Name [Header Level]</a:t>
                      </a:r>
                    </a:p>
                  </a:txBody>
                  <a:tcPr marL="90000" marR="18000" marT="18000" marB="18000" anchor="ctr"/>
                </a:tc>
                <a:tc>
                  <a:txBody>
                    <a:bodyPr/>
                    <a:lstStyle/>
                    <a:p>
                      <a:pPr lvl="0" algn="l"/>
                      <a:r>
                        <a:rPr lang="en-GB" sz="1150"/>
                        <a:t>Excise code in D.E 6/17 and Tax Type (Type code) in D.E 4/3 </a:t>
                      </a:r>
                    </a:p>
                  </a:txBody>
                  <a:tcPr marL="90000" marR="18000" marT="18000" marB="18000" anchor="ctr"/>
                </a:tc>
                <a:extLst>
                  <a:ext uri="{0D108BD9-81ED-4DB2-BD59-A6C34878D82A}">
                    <a16:rowId xmlns:a16="http://schemas.microsoft.com/office/drawing/2014/main" val="671366253"/>
                  </a:ext>
                </a:extLst>
              </a:tr>
              <a:tr h="286033">
                <a:tc>
                  <a:txBody>
                    <a:bodyPr/>
                    <a:lstStyle/>
                    <a:p>
                      <a:r>
                        <a:rPr lang="en-GB" sz="1150">
                          <a:effectLst/>
                        </a:rPr>
                        <a:t>2</a:t>
                      </a:r>
                    </a:p>
                  </a:txBody>
                  <a:tcPr marL="90000" marR="18000" marT="18000" marB="18000" anchor="ctr"/>
                </a:tc>
                <a:tc>
                  <a:txBody>
                    <a:bodyPr/>
                    <a:lstStyle/>
                    <a:p>
                      <a:pPr lvl="0" algn="l"/>
                      <a:r>
                        <a:rPr lang="en-GB" sz="1150"/>
                        <a:t>Excise code X451 has been declared in D.E 6/17</a:t>
                      </a:r>
                    </a:p>
                  </a:txBody>
                  <a:tcPr marL="90000" marR="18000" marT="18000" marB="18000" anchor="ctr"/>
                </a:tc>
                <a:tc>
                  <a:txBody>
                    <a:bodyPr/>
                    <a:lstStyle/>
                    <a:p>
                      <a:pPr lvl="0" algn="l"/>
                      <a:r>
                        <a:rPr lang="en-GB" sz="1150"/>
                        <a:t>Trade Terms Location ID [Header Level]</a:t>
                      </a:r>
                    </a:p>
                  </a:txBody>
                  <a:tcPr marL="90000" marR="18000" marT="18000" marB="18000" anchor="ctr"/>
                </a:tc>
                <a:tc>
                  <a:txBody>
                    <a:bodyPr/>
                    <a:lstStyle/>
                    <a:p>
                      <a:r>
                        <a:rPr lang="en-GB" sz="1150"/>
                        <a:t>OVR01 in D.E 2/2 and Tax Type (Type code) in D.E 4/3 </a:t>
                      </a:r>
                      <a:endParaRPr lang="en-GB" sz="1150">
                        <a:effectLst/>
                      </a:endParaRPr>
                    </a:p>
                  </a:txBody>
                  <a:tcPr marL="90000" marR="18000" marT="18000" marB="18000" anchor="ctr"/>
                </a:tc>
                <a:extLst>
                  <a:ext uri="{0D108BD9-81ED-4DB2-BD59-A6C34878D82A}">
                    <a16:rowId xmlns:a16="http://schemas.microsoft.com/office/drawing/2014/main" val="619302645"/>
                  </a:ext>
                </a:extLst>
              </a:tr>
              <a:tr h="519081">
                <a:tc>
                  <a:txBody>
                    <a:bodyPr/>
                    <a:lstStyle/>
                    <a:p>
                      <a:r>
                        <a:rPr lang="en-GB" sz="1150">
                          <a:effectLst/>
                        </a:rPr>
                        <a:t>3</a:t>
                      </a:r>
                    </a:p>
                  </a:txBody>
                  <a:tcPr marL="90000" marR="18000" marT="18000" marB="18000" anchor="ctr"/>
                </a:tc>
                <a:tc>
                  <a:txBody>
                    <a:bodyPr/>
                    <a:lstStyle/>
                    <a:p>
                      <a:pPr lvl="0" algn="l"/>
                      <a:r>
                        <a:rPr lang="en-GB" sz="1150"/>
                        <a:t>Tax Type (Type code) 451 has been declared in D.E 4/3</a:t>
                      </a:r>
                    </a:p>
                  </a:txBody>
                  <a:tcPr marL="90000" marR="18000" marT="18000" marB="18000" anchor="ctr"/>
                </a:tc>
                <a:tc>
                  <a:txBody>
                    <a:bodyPr/>
                    <a:lstStyle/>
                    <a:p>
                      <a:pPr lvl="0" algn="l"/>
                      <a:r>
                        <a:rPr lang="en-GB" sz="1150"/>
                        <a:t>The country code in any party related Addresses (e.g. DE 3/19 - Agent, DE 3/31 – Carrier etc)</a:t>
                      </a:r>
                    </a:p>
                  </a:txBody>
                  <a:tcPr marL="90000" marR="18000" marT="18000" marB="18000" anchor="ctr"/>
                </a:tc>
                <a:tc>
                  <a:txBody>
                    <a:bodyPr/>
                    <a:lstStyle/>
                    <a:p>
                      <a:r>
                        <a:rPr lang="en-GB" sz="1150"/>
                        <a:t>Excise code in D.E 6/17 and OVR01 in D.E 2/2</a:t>
                      </a:r>
                      <a:endParaRPr lang="en-GB" sz="1150">
                        <a:effectLst/>
                      </a:endParaRPr>
                    </a:p>
                  </a:txBody>
                  <a:tcPr marL="90000" marR="18000" marT="18000" marB="18000" anchor="ctr"/>
                </a:tc>
                <a:extLst>
                  <a:ext uri="{0D108BD9-81ED-4DB2-BD59-A6C34878D82A}">
                    <a16:rowId xmlns:a16="http://schemas.microsoft.com/office/drawing/2014/main" val="1908889651"/>
                  </a:ext>
                </a:extLst>
              </a:tr>
              <a:tr h="416235">
                <a:tc>
                  <a:txBody>
                    <a:bodyPr/>
                    <a:lstStyle/>
                    <a:p>
                      <a:r>
                        <a:rPr lang="en-GB" sz="1150">
                          <a:effectLst/>
                        </a:rPr>
                        <a:t>4</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t>The Trader has declared OVR01 in D.E 2/2 and Tax Type (Type code) 451 has been declared in D.E 4/3 </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t>Goods Location Country Code</a:t>
                      </a:r>
                    </a:p>
                  </a:txBody>
                  <a:tcPr marL="90000" marR="18000" marT="18000" marB="18000" anchor="ctr"/>
                </a:tc>
                <a:tc>
                  <a:txBody>
                    <a:bodyPr/>
                    <a:lstStyle/>
                    <a:p>
                      <a:r>
                        <a:rPr lang="en-GB" sz="1150"/>
                        <a:t>Excise code in D.E 6/17 </a:t>
                      </a:r>
                      <a:endParaRPr lang="en-GB" sz="1150">
                        <a:effectLst/>
                      </a:endParaRPr>
                    </a:p>
                  </a:txBody>
                  <a:tcPr marL="90000" marR="18000" marT="18000" marB="18000" anchor="ctr"/>
                </a:tc>
                <a:extLst>
                  <a:ext uri="{0D108BD9-81ED-4DB2-BD59-A6C34878D82A}">
                    <a16:rowId xmlns:a16="http://schemas.microsoft.com/office/drawing/2014/main" val="1095812537"/>
                  </a:ext>
                </a:extLst>
              </a:tr>
              <a:tr h="357612">
                <a:tc>
                  <a:txBody>
                    <a:bodyPr/>
                    <a:lstStyle/>
                    <a:p>
                      <a:r>
                        <a:rPr lang="en-GB" sz="1150">
                          <a:effectLst/>
                        </a:rPr>
                        <a:t>5</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t>The Trader has declared OVR01 in D.E 2/2 and Excise code X451 has been declared in D.E 6/17</a:t>
                      </a:r>
                    </a:p>
                  </a:txBody>
                  <a:tcPr marL="90000" marR="18000" marT="18000" marB="18000" anchor="ctr"/>
                </a:tc>
                <a:tc>
                  <a:txBody>
                    <a:bodyPr/>
                    <a:lstStyle/>
                    <a:p>
                      <a:pPr lvl="0" algn="l"/>
                      <a:r>
                        <a:rPr lang="en-GB" sz="1150"/>
                        <a:t>Exportation Country [Item Level]</a:t>
                      </a:r>
                    </a:p>
                  </a:txBody>
                  <a:tcPr marL="90000" marR="18000" marT="18000" marB="18000" anchor="ctr"/>
                </a:tc>
                <a:tc>
                  <a:txBody>
                    <a:bodyPr/>
                    <a:lstStyle/>
                    <a:p>
                      <a:r>
                        <a:rPr lang="en-GB" sz="1150"/>
                        <a:t>Tax Type (Type code) in D.E 4/3 </a:t>
                      </a:r>
                      <a:endParaRPr lang="en-GB" sz="1150">
                        <a:effectLst/>
                      </a:endParaRPr>
                    </a:p>
                  </a:txBody>
                  <a:tcPr marL="90000" marR="18000" marT="18000" marB="18000" anchor="ctr"/>
                </a:tc>
                <a:extLst>
                  <a:ext uri="{0D108BD9-81ED-4DB2-BD59-A6C34878D82A}">
                    <a16:rowId xmlns:a16="http://schemas.microsoft.com/office/drawing/2014/main" val="552791181"/>
                  </a:ext>
                </a:extLst>
              </a:tr>
              <a:tr h="416235">
                <a:tc>
                  <a:txBody>
                    <a:bodyPr/>
                    <a:lstStyle/>
                    <a:p>
                      <a:r>
                        <a:rPr lang="en-GB" sz="1150">
                          <a:effectLst/>
                        </a:rPr>
                        <a:t>6</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t>Excise code X451 has been declared in D.E 6/17 and Tax Type (Type code) 451 has been declared in D.E 2/3</a:t>
                      </a:r>
                    </a:p>
                  </a:txBody>
                  <a:tcPr marL="90000" marR="18000" marT="18000" marB="18000" anchor="ctr"/>
                </a:tc>
                <a:tc>
                  <a:txBody>
                    <a:bodyPr/>
                    <a:lstStyle/>
                    <a:p>
                      <a:pPr lvl="0" algn="l"/>
                      <a:r>
                        <a:rPr lang="en-GB" sz="1150"/>
                        <a:t>Exportation Country [Header Level]</a:t>
                      </a:r>
                    </a:p>
                  </a:txBody>
                  <a:tcPr marL="90000" marR="18000" marT="18000" marB="18000" anchor="ctr"/>
                </a:tc>
                <a:tc>
                  <a:txBody>
                    <a:bodyPr/>
                    <a:lstStyle/>
                    <a:p>
                      <a:r>
                        <a:rPr lang="en-GB" sz="1150"/>
                        <a:t>OVR01 in D.E 2/2 </a:t>
                      </a:r>
                      <a:endParaRPr lang="en-GB" sz="1150">
                        <a:effectLst/>
                      </a:endParaRPr>
                    </a:p>
                  </a:txBody>
                  <a:tcPr marL="90000" marR="18000" marT="18000" marB="18000" anchor="ctr"/>
                </a:tc>
                <a:extLst>
                  <a:ext uri="{0D108BD9-81ED-4DB2-BD59-A6C34878D82A}">
                    <a16:rowId xmlns:a16="http://schemas.microsoft.com/office/drawing/2014/main" val="3131140865"/>
                  </a:ext>
                </a:extLst>
              </a:tr>
              <a:tr h="546438">
                <a:tc>
                  <a:txBody>
                    <a:bodyPr/>
                    <a:lstStyle/>
                    <a:p>
                      <a:r>
                        <a:rPr lang="en-GB" sz="1150">
                          <a:effectLst/>
                        </a:rPr>
                        <a:t>7</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t>The Trader has declared OVR01 in D.E 2/2, Excise code X451 has been declared in D.E 6/17 and Tax Type (Type code) 451 has been declared in D.E 4/3</a:t>
                      </a:r>
                    </a:p>
                  </a:txBody>
                  <a:tcPr marL="90000" marR="18000" marT="18000" marB="18000" anchor="ctr"/>
                </a:tc>
                <a:tc>
                  <a:txBody>
                    <a:bodyPr/>
                    <a:lstStyle/>
                    <a:p>
                      <a:pPr lvl="0" algn="l"/>
                      <a:r>
                        <a:rPr lang="en-GB" sz="1150"/>
                        <a:t>Country of Origin [Item Level]</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dirty="0">
                          <a:effectLst/>
                        </a:rPr>
                        <a:t>N/A - No additional fields declared</a:t>
                      </a:r>
                    </a:p>
                  </a:txBody>
                  <a:tcPr marL="90000" marR="18000" marT="18000" marB="18000" anchor="ctr"/>
                </a:tc>
                <a:extLst>
                  <a:ext uri="{0D108BD9-81ED-4DB2-BD59-A6C34878D82A}">
                    <a16:rowId xmlns:a16="http://schemas.microsoft.com/office/drawing/2014/main" val="1152699557"/>
                  </a:ext>
                </a:extLst>
              </a:tr>
            </a:tbl>
          </a:graphicData>
        </a:graphic>
      </p:graphicFrame>
    </p:spTree>
    <p:extLst>
      <p:ext uri="{BB962C8B-B14F-4D97-AF65-F5344CB8AC3E}">
        <p14:creationId xmlns:p14="http://schemas.microsoft.com/office/powerpoint/2010/main" val="904671934"/>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67995"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341</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2246769"/>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a:solidFill>
                  <a:srgbClr val="333333"/>
                </a:solidFill>
                <a:latin typeface="Calibri  "/>
              </a:rPr>
              <a:t>T</a:t>
            </a:r>
            <a:r>
              <a:rPr lang="en-GB" sz="1400" b="1" i="0">
                <a:solidFill>
                  <a:srgbClr val="333333"/>
                </a:solidFill>
                <a:effectLst/>
                <a:latin typeface="Calibri  "/>
              </a:rPr>
              <a:t>o manually override excise duty for composite goods containing Mineral </a:t>
            </a:r>
            <a:r>
              <a:rPr lang="en-GB" sz="1400" b="1">
                <a:solidFill>
                  <a:srgbClr val="333333"/>
                </a:solidFill>
                <a:latin typeface="Calibri  "/>
              </a:rPr>
              <a:t>O</a:t>
            </a:r>
            <a:r>
              <a:rPr lang="en-GB" sz="1400" b="1" i="0">
                <a:solidFill>
                  <a:srgbClr val="333333"/>
                </a:solidFill>
                <a:effectLst/>
                <a:latin typeface="Calibri  "/>
              </a:rPr>
              <a:t>il,</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rPr>
              <a:t>Traders must declare </a:t>
            </a:r>
            <a:r>
              <a:rPr lang="en-GB" sz="1400" b="1">
                <a:solidFill>
                  <a:srgbClr val="333333"/>
                </a:solidFill>
                <a:latin typeface="Calibri  "/>
              </a:rPr>
              <a:t>‘</a:t>
            </a:r>
            <a:r>
              <a:rPr lang="en-GB" sz="1400" b="1" i="0">
                <a:solidFill>
                  <a:srgbClr val="333333"/>
                </a:solidFill>
                <a:effectLst/>
                <a:latin typeface="Calibri  "/>
              </a:rPr>
              <a:t>OVR01</a:t>
            </a:r>
            <a:r>
              <a:rPr lang="en-GB" sz="1400" b="0" i="0">
                <a:solidFill>
                  <a:srgbClr val="333333"/>
                </a:solidFill>
                <a:effectLst/>
                <a:latin typeface="Calibri  "/>
              </a:rPr>
              <a:t>’ &amp; ‘</a:t>
            </a:r>
            <a:r>
              <a:rPr lang="en-GB" sz="1400" b="1" i="0">
                <a:solidFill>
                  <a:srgbClr val="333333"/>
                </a:solidFill>
                <a:effectLst/>
                <a:latin typeface="Calibri  "/>
              </a:rPr>
              <a:t>OVR05</a:t>
            </a:r>
            <a:r>
              <a:rPr lang="en-GB" sz="1400" b="0" i="0">
                <a:solidFill>
                  <a:srgbClr val="333333"/>
                </a:solidFill>
                <a:effectLst/>
                <a:latin typeface="Calibri  "/>
              </a:rPr>
              <a:t>’ in DE 2/2</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rPr>
              <a:t>A valid excise</a:t>
            </a:r>
            <a:r>
              <a:rPr lang="en-GB" sz="1400" b="0" i="0">
                <a:solidFill>
                  <a:srgbClr val="333333"/>
                </a:solidFill>
                <a:effectLst/>
                <a:latin typeface="Calibri  "/>
              </a:rPr>
              <a:t> code </a:t>
            </a:r>
            <a:r>
              <a:rPr lang="en-GB" sz="1400" b="1" i="0">
                <a:solidFill>
                  <a:srgbClr val="333333"/>
                </a:solidFill>
                <a:effectLst/>
                <a:latin typeface="Calibri  "/>
              </a:rPr>
              <a:t>must</a:t>
            </a:r>
            <a:r>
              <a:rPr lang="en-GB" sz="1400" b="0" i="0">
                <a:solidFill>
                  <a:srgbClr val="333333"/>
                </a:solidFill>
                <a:effectLst/>
                <a:latin typeface="Calibri  "/>
              </a:rPr>
              <a:t> be declared in DE 6/17 </a:t>
            </a:r>
          </a:p>
          <a:p>
            <a:pPr marL="1200150" lvl="2" indent="-285750">
              <a:buFont typeface="Courier New" panose="02070309020205020404" pitchFamily="49" charset="0"/>
              <a:buChar char="o"/>
              <a:defRPr sz="1800" b="0" i="0" u="none" strike="noStrike" kern="0" cap="none" spc="0" baseline="0">
                <a:solidFill>
                  <a:srgbClr val="000000"/>
                </a:solidFill>
                <a:uFillTx/>
              </a:defRPr>
            </a:pPr>
            <a:r>
              <a:rPr lang="en-GB" sz="1400" b="0" i="0">
                <a:solidFill>
                  <a:srgbClr val="333333"/>
                </a:solidFill>
                <a:effectLst/>
                <a:latin typeface="Calibri  "/>
              </a:rPr>
              <a:t>Valid excise codes associated to Mineral Oils: </a:t>
            </a:r>
            <a:r>
              <a:rPr lang="en-GB" sz="1400" b="1" i="0">
                <a:solidFill>
                  <a:srgbClr val="333333"/>
                </a:solidFill>
                <a:effectLst/>
                <a:latin typeface="Calibri  "/>
              </a:rPr>
              <a:t>X520, X522, X541, X542, X551, X556, X561 </a:t>
            </a:r>
            <a:r>
              <a:rPr lang="en-GB" sz="1400" i="0">
                <a:solidFill>
                  <a:srgbClr val="333333"/>
                </a:solidFill>
                <a:effectLst/>
                <a:latin typeface="Calibri  "/>
              </a:rPr>
              <a:t>and</a:t>
            </a:r>
            <a:r>
              <a:rPr lang="en-GB" sz="1400" b="1" i="0">
                <a:solidFill>
                  <a:srgbClr val="333333"/>
                </a:solidFill>
                <a:effectLst/>
                <a:latin typeface="Calibri  "/>
              </a:rPr>
              <a:t> X570</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solidFill>
                  <a:srgbClr val="333333"/>
                </a:solidFill>
                <a:latin typeface="Calibri  "/>
              </a:rPr>
              <a:t>A v</a:t>
            </a:r>
            <a:r>
              <a:rPr lang="en-GB" sz="1400" b="0" i="0">
                <a:solidFill>
                  <a:srgbClr val="333333"/>
                </a:solidFill>
                <a:effectLst/>
                <a:latin typeface="Calibri  "/>
              </a:rPr>
              <a:t>alid tax type </a:t>
            </a:r>
            <a:r>
              <a:rPr lang="en-GB" sz="1400" b="1">
                <a:solidFill>
                  <a:srgbClr val="333333"/>
                </a:solidFill>
                <a:latin typeface="Calibri  "/>
              </a:rPr>
              <a:t>must</a:t>
            </a:r>
            <a:r>
              <a:rPr lang="en-GB" sz="1400" b="0" i="0">
                <a:solidFill>
                  <a:srgbClr val="333333"/>
                </a:solidFill>
                <a:effectLst/>
                <a:latin typeface="Calibri  "/>
              </a:rPr>
              <a:t> be declared in DE 4/3</a:t>
            </a:r>
          </a:p>
          <a:p>
            <a:pPr marL="1200150" lvl="2" indent="-285750">
              <a:buFont typeface="Courier New" panose="02070309020205020404" pitchFamily="49" charset="0"/>
              <a:buChar char="o"/>
              <a:defRPr sz="1800" b="0" i="0" u="none" strike="noStrike" kern="0" cap="none" spc="0" baseline="0">
                <a:solidFill>
                  <a:srgbClr val="000000"/>
                </a:solidFill>
                <a:uFillTx/>
              </a:defRPr>
            </a:pPr>
            <a:r>
              <a:rPr lang="en-GB" sz="1400" b="0" i="0">
                <a:solidFill>
                  <a:srgbClr val="333333"/>
                </a:solidFill>
                <a:effectLst/>
                <a:latin typeface="Calibri  "/>
              </a:rPr>
              <a:t>Valid tax types associated to Mineral Oils: </a:t>
            </a:r>
            <a:r>
              <a:rPr lang="en-GB" sz="1400" b="1" i="0">
                <a:solidFill>
                  <a:srgbClr val="333333"/>
                </a:solidFill>
                <a:effectLst/>
                <a:latin typeface="Calibri  "/>
              </a:rPr>
              <a:t>520, 522, 541, 542, 551, 556, 561 </a:t>
            </a:r>
            <a:r>
              <a:rPr lang="en-GB" sz="1400" i="0">
                <a:solidFill>
                  <a:srgbClr val="333333"/>
                </a:solidFill>
                <a:effectLst/>
                <a:latin typeface="Calibri  "/>
              </a:rPr>
              <a:t>and</a:t>
            </a:r>
            <a:r>
              <a:rPr lang="en-GB" sz="1400" b="1" i="0">
                <a:solidFill>
                  <a:srgbClr val="333333"/>
                </a:solidFill>
                <a:effectLst/>
                <a:latin typeface="Calibri  "/>
              </a:rPr>
              <a:t> 570</a:t>
            </a:r>
          </a:p>
          <a:p>
            <a:pPr algn="l"/>
            <a:endParaRPr lang="en-GB" sz="1400" b="0" i="0">
              <a:solidFill>
                <a:srgbClr val="333333"/>
              </a:solidFill>
              <a:effectLst/>
              <a:latin typeface="Calibri  "/>
            </a:endParaRPr>
          </a:p>
          <a:p>
            <a:r>
              <a:rPr lang="en-GB" sz="1400" b="0" i="0">
                <a:solidFill>
                  <a:srgbClr val="333333"/>
                </a:solidFill>
                <a:effectLst/>
                <a:latin typeface="Calibri  "/>
              </a:rPr>
              <a:t>CDS will send a DMSREJ notification to the trader, indicating which data element the error relates to, if </a:t>
            </a:r>
            <a:r>
              <a:rPr lang="en-GB" sz="1400" b="1" i="0">
                <a:solidFill>
                  <a:srgbClr val="333333"/>
                </a:solidFill>
                <a:effectLst/>
                <a:latin typeface="Calibri  "/>
              </a:rPr>
              <a:t>OVR05</a:t>
            </a:r>
            <a:r>
              <a:rPr lang="en-GB" sz="1400" b="0" i="0">
                <a:solidFill>
                  <a:srgbClr val="333333"/>
                </a:solidFill>
                <a:effectLst/>
                <a:latin typeface="Calibri  "/>
              </a:rPr>
              <a:t> is declared against a goods item in DE 2/2, but any of the following information (in “Missing Required Data”) is </a:t>
            </a:r>
            <a:r>
              <a:rPr lang="en-GB" sz="1400" b="1" i="0">
                <a:solidFill>
                  <a:srgbClr val="333333"/>
                </a:solidFill>
                <a:effectLst/>
                <a:latin typeface="Calibri  "/>
              </a:rPr>
              <a:t>not</a:t>
            </a:r>
            <a:r>
              <a:rPr lang="en-GB" sz="1400" b="0" i="0">
                <a:solidFill>
                  <a:srgbClr val="333333"/>
                </a:solidFill>
                <a:effectLst/>
                <a:latin typeface="Calibri  "/>
              </a:rPr>
              <a:t> provided: </a:t>
            </a:r>
            <a:endParaRPr lang="en-GB" sz="1400" b="0" i="0">
              <a:solidFill>
                <a:srgbClr val="333333"/>
              </a:solidFill>
              <a:effectLst/>
              <a:highlight>
                <a:srgbClr val="FFFF00"/>
              </a:highlight>
              <a:latin typeface="Calibri  "/>
            </a:endParaRPr>
          </a:p>
          <a:p>
            <a:pPr>
              <a:defRPr sz="1800" b="0" i="0" u="none" strike="noStrike" kern="0" cap="none" spc="0" baseline="0">
                <a:solidFill>
                  <a:srgbClr val="000000"/>
                </a:solidFill>
                <a:uFillTx/>
              </a:defRPr>
            </a:pPr>
            <a:endParaRPr lang="en-GB" sz="1400">
              <a:solidFill>
                <a:srgbClr val="333333"/>
              </a:solidFill>
              <a:effectLst/>
              <a:latin typeface="Calibri  "/>
              <a:ea typeface="Times New Roman" panose="02020603050405020304" pitchFamily="18" charset="0"/>
              <a:cs typeface="Times New Roman" panose="02020603050405020304" pitchFamily="18" charset="0"/>
            </a:endParaRP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1" name="Table 12">
            <a:extLst>
              <a:ext uri="{FF2B5EF4-FFF2-40B4-BE49-F238E27FC236}">
                <a16:creationId xmlns:a16="http://schemas.microsoft.com/office/drawing/2014/main" id="{E37823AF-03F7-426A-A9B4-AACF83B0121F}"/>
              </a:ext>
            </a:extLst>
          </p:cNvPr>
          <p:cNvGraphicFramePr>
            <a:graphicFrameLocks noGrp="1"/>
          </p:cNvGraphicFramePr>
          <p:nvPr/>
        </p:nvGraphicFramePr>
        <p:xfrm>
          <a:off x="1454683" y="3195408"/>
          <a:ext cx="9269505" cy="2992482"/>
        </p:xfrm>
        <a:graphic>
          <a:graphicData uri="http://schemas.openxmlformats.org/drawingml/2006/table">
            <a:tbl>
              <a:tblPr firstRow="1" bandRow="1">
                <a:effectLst/>
                <a:tableStyleId>{5C22544A-7EE6-4342-B048-85BDC9FD1C3A}</a:tableStyleId>
              </a:tblPr>
              <a:tblGrid>
                <a:gridCol w="804614">
                  <a:extLst>
                    <a:ext uri="{9D8B030D-6E8A-4147-A177-3AD203B41FA5}">
                      <a16:colId xmlns:a16="http://schemas.microsoft.com/office/drawing/2014/main" val="3116016550"/>
                    </a:ext>
                  </a:extLst>
                </a:gridCol>
                <a:gridCol w="4147803">
                  <a:extLst>
                    <a:ext uri="{9D8B030D-6E8A-4147-A177-3AD203B41FA5}">
                      <a16:colId xmlns:a16="http://schemas.microsoft.com/office/drawing/2014/main" val="2833435084"/>
                    </a:ext>
                  </a:extLst>
                </a:gridCol>
                <a:gridCol w="4317088">
                  <a:extLst>
                    <a:ext uri="{9D8B030D-6E8A-4147-A177-3AD203B41FA5}">
                      <a16:colId xmlns:a16="http://schemas.microsoft.com/office/drawing/2014/main" val="1490096409"/>
                    </a:ext>
                  </a:extLst>
                </a:gridCol>
              </a:tblGrid>
              <a:tr h="170589">
                <a:tc>
                  <a:txBody>
                    <a:bodyPr/>
                    <a:lstStyle/>
                    <a:p>
                      <a:pPr lvl="0" algn="l"/>
                      <a:r>
                        <a:rPr lang="en-GB" sz="1200"/>
                        <a:t>Scenario</a:t>
                      </a:r>
                    </a:p>
                  </a:txBody>
                  <a:tcPr marL="90000" marR="18000" marT="18000" marB="18000" anchor="ctr">
                    <a:solidFill>
                      <a:srgbClr val="00999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Fields Declared for Override by the Trader </a:t>
                      </a:r>
                    </a:p>
                  </a:txBody>
                  <a:tcPr marL="90000" marR="18000" marT="18000" marB="18000" anchor="ctr">
                    <a:solidFill>
                      <a:srgbClr val="009999"/>
                    </a:solidFill>
                  </a:tcPr>
                </a:tc>
                <a:tc>
                  <a:txBody>
                    <a:bodyPr/>
                    <a:lstStyle/>
                    <a:p>
                      <a:pPr lvl="0" algn="l"/>
                      <a:r>
                        <a:rPr lang="en-GB" sz="1200"/>
                        <a:t>Missing Required Data for Override</a:t>
                      </a:r>
                    </a:p>
                  </a:txBody>
                  <a:tcPr marL="90000" marR="18000" marT="18000" marB="18000" anchor="ctr">
                    <a:solidFill>
                      <a:srgbClr val="009999"/>
                    </a:solidFill>
                  </a:tcPr>
                </a:tc>
                <a:extLst>
                  <a:ext uri="{0D108BD9-81ED-4DB2-BD59-A6C34878D82A}">
                    <a16:rowId xmlns:a16="http://schemas.microsoft.com/office/drawing/2014/main" val="3731717049"/>
                  </a:ext>
                </a:extLst>
              </a:tr>
              <a:tr h="312109">
                <a:tc>
                  <a:txBody>
                    <a:bodyPr/>
                    <a:lstStyle/>
                    <a:p>
                      <a:r>
                        <a:rPr lang="en-GB" sz="1150">
                          <a:effectLst/>
                        </a:rPr>
                        <a:t>1</a:t>
                      </a:r>
                    </a:p>
                  </a:txBody>
                  <a:tcPr marL="90000" marR="18000" marT="18000" marB="18000" anchor="ctr"/>
                </a:tc>
                <a:tc>
                  <a:txBody>
                    <a:bodyPr/>
                    <a:lstStyle/>
                    <a:p>
                      <a:r>
                        <a:rPr lang="nl-NL" sz="1150">
                          <a:effectLst/>
                        </a:rPr>
                        <a:t>A Valid Excise Code declared in D.E 6/17 and a Valid Tax Type Code declared in D.E 4/3</a:t>
                      </a:r>
                    </a:p>
                  </a:txBody>
                  <a:tcPr marL="90000" marR="18000" marT="18000" marB="18000" anchor="ctr"/>
                </a:tc>
                <a:tc>
                  <a:txBody>
                    <a:bodyPr/>
                    <a:lstStyle/>
                    <a:p>
                      <a:r>
                        <a:rPr lang="en-GB" sz="1150">
                          <a:effectLst/>
                        </a:rPr>
                        <a:t>OVR01 not declared in D.E 2/2</a:t>
                      </a:r>
                    </a:p>
                  </a:txBody>
                  <a:tcPr marL="90000" marR="18000" marT="18000" marB="18000" anchor="ctr"/>
                </a:tc>
                <a:extLst>
                  <a:ext uri="{0D108BD9-81ED-4DB2-BD59-A6C34878D82A}">
                    <a16:rowId xmlns:a16="http://schemas.microsoft.com/office/drawing/2014/main" val="671366253"/>
                  </a:ext>
                </a:extLst>
              </a:tr>
              <a:tr h="288965">
                <a:tc>
                  <a:txBody>
                    <a:bodyPr/>
                    <a:lstStyle/>
                    <a:p>
                      <a:r>
                        <a:rPr lang="en-GB" sz="1150">
                          <a:effectLst/>
                        </a:rPr>
                        <a:t>2</a:t>
                      </a:r>
                    </a:p>
                  </a:txBody>
                  <a:tcPr marL="90000" marR="18000" marT="18000" marB="18000" anchor="ctr"/>
                </a:tc>
                <a:tc>
                  <a:txBody>
                    <a:bodyPr/>
                    <a:lstStyle/>
                    <a:p>
                      <a:r>
                        <a:rPr lang="nl-NL" sz="1150">
                          <a:effectLst/>
                        </a:rPr>
                        <a:t>OVR01 declared in DE 2/2 and a Valid Tax Type Code declared  in D.E 4/3</a:t>
                      </a:r>
                    </a:p>
                  </a:txBody>
                  <a:tcPr marL="90000" marR="18000" marT="18000" marB="18000" anchor="ctr"/>
                </a:tc>
                <a:tc>
                  <a:txBody>
                    <a:bodyPr/>
                    <a:lstStyle/>
                    <a:p>
                      <a:r>
                        <a:rPr lang="en-GB" sz="1150">
                          <a:effectLst/>
                        </a:rPr>
                        <a:t>A Valid Excise code not declared in D.E 6/17</a:t>
                      </a:r>
                    </a:p>
                  </a:txBody>
                  <a:tcPr marL="90000" marR="18000" marT="18000" marB="18000" anchor="ctr"/>
                </a:tc>
                <a:extLst>
                  <a:ext uri="{0D108BD9-81ED-4DB2-BD59-A6C34878D82A}">
                    <a16:rowId xmlns:a16="http://schemas.microsoft.com/office/drawing/2014/main" val="619302645"/>
                  </a:ext>
                </a:extLst>
              </a:tr>
              <a:tr h="420501">
                <a:tc>
                  <a:txBody>
                    <a:bodyPr/>
                    <a:lstStyle/>
                    <a:p>
                      <a:r>
                        <a:rPr lang="en-GB" sz="1150">
                          <a:effectLst/>
                        </a:rPr>
                        <a:t>3</a:t>
                      </a:r>
                    </a:p>
                  </a:txBody>
                  <a:tcPr marL="90000" marR="18000" marT="18000" marB="18000" anchor="ctr"/>
                </a:tc>
                <a:tc>
                  <a:txBody>
                    <a:bodyPr/>
                    <a:lstStyle/>
                    <a:p>
                      <a:r>
                        <a:rPr lang="nl-NL" sz="1150">
                          <a:effectLst/>
                        </a:rPr>
                        <a:t>A Valid Excise code declared in D.E 6/17, </a:t>
                      </a:r>
                    </a:p>
                    <a:p>
                      <a:r>
                        <a:rPr lang="nl-NL" sz="1150">
                          <a:effectLst/>
                        </a:rPr>
                        <a:t>OVR01 in D.E 2/2 but an Invalid Tax Type Code declared in D.E 4/3</a:t>
                      </a:r>
                    </a:p>
                  </a:txBody>
                  <a:tcPr marL="90000" marR="18000" marT="18000" marB="18000" anchor="ctr"/>
                </a:tc>
                <a:tc>
                  <a:txBody>
                    <a:bodyPr/>
                    <a:lstStyle/>
                    <a:p>
                      <a:r>
                        <a:rPr lang="en-GB" sz="1150">
                          <a:effectLst/>
                        </a:rPr>
                        <a:t>A Valid Tax Type code not declared in D.E 4/3</a:t>
                      </a:r>
                    </a:p>
                  </a:txBody>
                  <a:tcPr marL="90000" marR="18000" marT="18000" marB="18000" anchor="ctr"/>
                </a:tc>
                <a:extLst>
                  <a:ext uri="{0D108BD9-81ED-4DB2-BD59-A6C34878D82A}">
                    <a16:rowId xmlns:a16="http://schemas.microsoft.com/office/drawing/2014/main" val="1908889651"/>
                  </a:ext>
                </a:extLst>
              </a:tr>
              <a:tr h="312109">
                <a:tc>
                  <a:txBody>
                    <a:bodyPr/>
                    <a:lstStyle/>
                    <a:p>
                      <a:r>
                        <a:rPr lang="en-GB" sz="1150">
                          <a:effectLst/>
                        </a:rPr>
                        <a:t>4</a:t>
                      </a:r>
                    </a:p>
                  </a:txBody>
                  <a:tcPr marL="90000" marR="18000" marT="18000" marB="18000" anchor="ctr"/>
                </a:tc>
                <a:tc>
                  <a:txBody>
                    <a:bodyPr/>
                    <a:lstStyle/>
                    <a:p>
                      <a:r>
                        <a:rPr lang="nl-NL" sz="1150">
                          <a:effectLst/>
                        </a:rPr>
                        <a:t>A Valid Excise code declared in DE 6/17 and an</a:t>
                      </a:r>
                    </a:p>
                    <a:p>
                      <a:r>
                        <a:rPr lang="nl-NL" sz="1150">
                          <a:effectLst/>
                        </a:rPr>
                        <a:t>Invalid Tax Type Code declared in D.E 4/3</a:t>
                      </a:r>
                    </a:p>
                  </a:txBody>
                  <a:tcPr marL="90000" marR="18000" marT="18000" marB="18000" anchor="ctr"/>
                </a:tc>
                <a:tc>
                  <a:txBody>
                    <a:bodyPr/>
                    <a:lstStyle/>
                    <a:p>
                      <a:r>
                        <a:rPr lang="en-GB" sz="1150">
                          <a:effectLst/>
                        </a:rPr>
                        <a:t>OVR01 not declared in D.E 2/2 and a</a:t>
                      </a:r>
                    </a:p>
                    <a:p>
                      <a:r>
                        <a:rPr lang="en-GB" sz="1150">
                          <a:effectLst/>
                        </a:rPr>
                        <a:t>Valid Tax Type Code not declared in D.E 4/3</a:t>
                      </a:r>
                    </a:p>
                  </a:txBody>
                  <a:tcPr marL="90000" marR="18000" marT="18000" marB="18000" anchor="ctr"/>
                </a:tc>
                <a:extLst>
                  <a:ext uri="{0D108BD9-81ED-4DB2-BD59-A6C34878D82A}">
                    <a16:rowId xmlns:a16="http://schemas.microsoft.com/office/drawing/2014/main" val="1095812537"/>
                  </a:ext>
                </a:extLst>
              </a:tr>
              <a:tr h="312109">
                <a:tc>
                  <a:txBody>
                    <a:bodyPr/>
                    <a:lstStyle/>
                    <a:p>
                      <a:r>
                        <a:rPr lang="en-GB" sz="1150">
                          <a:effectLst/>
                        </a:rPr>
                        <a:t>5</a:t>
                      </a:r>
                    </a:p>
                  </a:txBody>
                  <a:tcPr marL="90000" marR="18000" marT="18000" marB="18000" anchor="ctr"/>
                </a:tc>
                <a:tc>
                  <a:txBody>
                    <a:bodyPr/>
                    <a:lstStyle/>
                    <a:p>
                      <a:r>
                        <a:rPr lang="nl-NL" sz="1150">
                          <a:effectLst/>
                        </a:rPr>
                        <a:t>A Valid Tax Type Code declared in D.E 4/3 and an </a:t>
                      </a:r>
                    </a:p>
                    <a:p>
                      <a:r>
                        <a:rPr lang="nl-NL" sz="1150">
                          <a:effectLst/>
                        </a:rPr>
                        <a:t>Invalid Excise Code declared in DE 6/17</a:t>
                      </a:r>
                    </a:p>
                  </a:txBody>
                  <a:tcPr marL="90000" marR="18000" marT="18000" marB="1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50">
                          <a:effectLst/>
                        </a:rPr>
                        <a:t>OVR01 not declared in D.E 2/2 and a Valid Excise code not declared in D.E 6/17</a:t>
                      </a:r>
                    </a:p>
                  </a:txBody>
                  <a:tcPr marL="90000" marR="18000" marT="18000" marB="18000" anchor="ctr"/>
                </a:tc>
                <a:extLst>
                  <a:ext uri="{0D108BD9-81ED-4DB2-BD59-A6C34878D82A}">
                    <a16:rowId xmlns:a16="http://schemas.microsoft.com/office/drawing/2014/main" val="552791181"/>
                  </a:ext>
                </a:extLst>
              </a:tr>
              <a:tr h="312109">
                <a:tc>
                  <a:txBody>
                    <a:bodyPr/>
                    <a:lstStyle/>
                    <a:p>
                      <a:r>
                        <a:rPr lang="en-GB" sz="1150">
                          <a:effectLst/>
                        </a:rPr>
                        <a:t>6</a:t>
                      </a:r>
                    </a:p>
                  </a:txBody>
                  <a:tcPr marL="90000" marR="18000" marT="18000" marB="18000" anchor="ctr"/>
                </a:tc>
                <a:tc>
                  <a:txBody>
                    <a:bodyPr/>
                    <a:lstStyle/>
                    <a:p>
                      <a:r>
                        <a:rPr lang="nl-NL" sz="1150">
                          <a:effectLst/>
                        </a:rPr>
                        <a:t>OVR01 in D.E 2/2 and an Invalid Tax Type Code declared in D.E 4/3</a:t>
                      </a:r>
                    </a:p>
                  </a:txBody>
                  <a:tcPr marL="90000" marR="18000" marT="18000" marB="18000" anchor="ctr"/>
                </a:tc>
                <a:tc>
                  <a:txBody>
                    <a:bodyPr/>
                    <a:lstStyle/>
                    <a:p>
                      <a:r>
                        <a:rPr lang="en-GB" sz="1150">
                          <a:effectLst/>
                        </a:rPr>
                        <a:t>A Valid Excise code not declared in DE 6/17 and a </a:t>
                      </a:r>
                    </a:p>
                    <a:p>
                      <a:r>
                        <a:rPr lang="en-GB" sz="1150">
                          <a:effectLst/>
                        </a:rPr>
                        <a:t>Valid Tax Type Code not declared in D.E 4/3</a:t>
                      </a:r>
                    </a:p>
                  </a:txBody>
                  <a:tcPr marL="90000" marR="18000" marT="18000" marB="18000" anchor="ctr"/>
                </a:tc>
                <a:extLst>
                  <a:ext uri="{0D108BD9-81ED-4DB2-BD59-A6C34878D82A}">
                    <a16:rowId xmlns:a16="http://schemas.microsoft.com/office/drawing/2014/main" val="3131140865"/>
                  </a:ext>
                </a:extLst>
              </a:tr>
              <a:tr h="420501">
                <a:tc>
                  <a:txBody>
                    <a:bodyPr/>
                    <a:lstStyle/>
                    <a:p>
                      <a:r>
                        <a:rPr lang="en-GB" sz="1150">
                          <a:effectLst/>
                        </a:rPr>
                        <a:t>7</a:t>
                      </a:r>
                    </a:p>
                  </a:txBody>
                  <a:tcPr marL="90000" marR="18000" marT="18000" marB="18000" anchor="ctr"/>
                </a:tc>
                <a:tc>
                  <a:txBody>
                    <a:bodyPr/>
                    <a:lstStyle/>
                    <a:p>
                      <a:r>
                        <a:rPr lang="nl-NL" sz="1150">
                          <a:effectLst/>
                        </a:rPr>
                        <a:t>An Invalid Excise Code declared in DE 6/17 and an Invalid Tax Type Code declared in D. E 4/3</a:t>
                      </a:r>
                    </a:p>
                  </a:txBody>
                  <a:tcPr marL="90000" marR="18000" marT="18000" marB="18000" anchor="ctr"/>
                </a:tc>
                <a:tc>
                  <a:txBody>
                    <a:bodyPr/>
                    <a:lstStyle/>
                    <a:p>
                      <a:r>
                        <a:rPr lang="en-GB" sz="1150" dirty="0">
                          <a:effectLst/>
                        </a:rPr>
                        <a:t>OVR01 not declared in D.E 2/2, a Valid Excise code not declared in D.E 6/17 and a Valid Tax Type Code declared in D.E 4/3</a:t>
                      </a:r>
                    </a:p>
                  </a:txBody>
                  <a:tcPr marL="90000" marR="18000" marT="18000" marB="18000" anchor="ctr"/>
                </a:tc>
                <a:extLst>
                  <a:ext uri="{0D108BD9-81ED-4DB2-BD59-A6C34878D82A}">
                    <a16:rowId xmlns:a16="http://schemas.microsoft.com/office/drawing/2014/main" val="1152699557"/>
                  </a:ext>
                </a:extLst>
              </a:tr>
            </a:tbl>
          </a:graphicData>
        </a:graphic>
      </p:graphicFrame>
    </p:spTree>
    <p:extLst>
      <p:ext uri="{BB962C8B-B14F-4D97-AF65-F5344CB8AC3E}">
        <p14:creationId xmlns:p14="http://schemas.microsoft.com/office/powerpoint/2010/main" val="93312183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724706"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342</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GB" sz="1400"/>
            </a:br>
            <a:endParaRPr lang="en-GB" sz="1400">
              <a:solidFill>
                <a:srgbClr val="333333"/>
              </a:solidFill>
              <a:latin typeface="Arial" panose="020B0604020202020204" pitchFamily="34" charset="0"/>
            </a:endParaRPr>
          </a:p>
          <a:p>
            <a:pPr>
              <a:defRPr sz="1800" b="0" i="0" u="none" strike="noStrike" kern="0" cap="none" spc="0" baseline="0">
                <a:solidFill>
                  <a:srgbClr val="000000"/>
                </a:solidFill>
                <a:uFillTx/>
              </a:defRPr>
            </a:pP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1" name="Table 3">
            <a:extLst>
              <a:ext uri="{FF2B5EF4-FFF2-40B4-BE49-F238E27FC236}">
                <a16:creationId xmlns:a16="http://schemas.microsoft.com/office/drawing/2014/main" id="{E39205E1-6F81-424E-AA44-E9080DEA33A7}"/>
              </a:ext>
            </a:extLst>
          </p:cNvPr>
          <p:cNvGraphicFramePr>
            <a:graphicFrameLocks noGrp="1"/>
          </p:cNvGraphicFramePr>
          <p:nvPr/>
        </p:nvGraphicFramePr>
        <p:xfrm>
          <a:off x="432905" y="1300213"/>
          <a:ext cx="11248500" cy="451104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690774019"/>
                    </a:ext>
                  </a:extLst>
                </a:gridCol>
              </a:tblGrid>
              <a:tr h="292461">
                <a:tc>
                  <a:txBody>
                    <a:bodyPr/>
                    <a:lstStyle/>
                    <a:p>
                      <a:pPr marL="0" marR="0" lvl="0" indent="0" algn="l" defTabSz="914400" rtl="0" fontAlgn="auto" hangingPunct="1">
                        <a:lnSpc>
                          <a:spcPct val="100000"/>
                        </a:lnSpc>
                        <a:spcBef>
                          <a:spcPts val="0"/>
                        </a:spcBef>
                        <a:spcAft>
                          <a:spcPts val="0"/>
                        </a:spcAft>
                        <a:buNone/>
                        <a:tabLst/>
                      </a:pPr>
                      <a:r>
                        <a:rPr lang="en-GB" sz="1800" b="1"/>
                        <a:t>Composite Goods containing Alcohol or Mineral Oils (GB-NI specifics)</a:t>
                      </a:r>
                    </a:p>
                  </a:txBody>
                  <a:tcPr>
                    <a:solidFill>
                      <a:srgbClr val="009999"/>
                    </a:solidFill>
                  </a:tcPr>
                </a:tc>
                <a:extLst>
                  <a:ext uri="{0D108BD9-81ED-4DB2-BD59-A6C34878D82A}">
                    <a16:rowId xmlns:a16="http://schemas.microsoft.com/office/drawing/2014/main" val="2449128839"/>
                  </a:ext>
                </a:extLst>
              </a:tr>
              <a:tr h="1824754">
                <a:tc>
                  <a:txBody>
                    <a:bodyPr/>
                    <a:lstStyle/>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r>
                        <a:rPr lang="en-GB" sz="1400" b="1" i="0" u="sng" strike="noStrike" kern="0" cap="none" spc="0" baseline="0" dirty="0">
                          <a:solidFill>
                            <a:schemeClr val="tx1"/>
                          </a:solidFill>
                          <a:uFillTx/>
                          <a:latin typeface="Calibri (body)"/>
                        </a:rPr>
                        <a:t>GB-NI (Goods At Risk)</a:t>
                      </a:r>
                    </a:p>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endParaRPr lang="en-GB" sz="1400" b="1" i="0" u="sng" strike="noStrike" kern="0" cap="none" spc="0" baseline="0" dirty="0">
                        <a:solidFill>
                          <a:schemeClr val="tx1"/>
                        </a:solidFill>
                        <a:uFillTx/>
                        <a:latin typeface="Calibri (body)"/>
                      </a:endParaRPr>
                    </a:p>
                    <a:p>
                      <a:r>
                        <a:rPr lang="en-GB" sz="1400" b="1" i="0" u="none" strike="noStrike" kern="0" cap="none" spc="0" baseline="0" dirty="0">
                          <a:solidFill>
                            <a:schemeClr val="tx1"/>
                          </a:solidFill>
                          <a:uFillTx/>
                          <a:latin typeface="Calibri  "/>
                        </a:rPr>
                        <a:t>CDS requirements for “At Risk“ imports of </a:t>
                      </a:r>
                      <a:r>
                        <a:rPr lang="en-GB" sz="1400" b="1" i="0" u="none" strike="noStrike" kern="1200" cap="none" spc="0" baseline="0" dirty="0">
                          <a:solidFill>
                            <a:schemeClr val="dk1"/>
                          </a:solidFill>
                          <a:effectLst/>
                          <a:uFillTx/>
                          <a:latin typeface="Calibri  "/>
                          <a:ea typeface="+mn-ea"/>
                          <a:cs typeface="+mn-cs"/>
                        </a:rPr>
                        <a:t>c</a:t>
                      </a:r>
                      <a:r>
                        <a:rPr lang="en-GB" sz="1400" b="1" i="0" kern="1200" dirty="0">
                          <a:solidFill>
                            <a:schemeClr val="dk1"/>
                          </a:solidFill>
                          <a:effectLst/>
                          <a:latin typeface="Calibri  "/>
                          <a:ea typeface="+mn-ea"/>
                          <a:cs typeface="+mn-cs"/>
                        </a:rPr>
                        <a:t>omposite goods containing alcohol or mineral oils,</a:t>
                      </a:r>
                    </a:p>
                    <a:p>
                      <a:pPr marL="742950" lvl="1" indent="-285750">
                        <a:buFont typeface="Courier New" panose="02070309020205020404" pitchFamily="49" charset="0"/>
                        <a:buChar char="o"/>
                      </a:pPr>
                      <a:r>
                        <a:rPr lang="en-GB" sz="1400" b="0" i="0" kern="1200" dirty="0">
                          <a:solidFill>
                            <a:schemeClr val="dk1"/>
                          </a:solidFill>
                          <a:effectLst/>
                          <a:latin typeface="Calibri  "/>
                          <a:ea typeface="+mn-ea"/>
                          <a:cs typeface="+mn-cs"/>
                        </a:rPr>
                        <a:t>The trader must enter </a:t>
                      </a:r>
                      <a:r>
                        <a:rPr lang="en-GB" sz="1400" b="1" i="0" kern="1200" dirty="0">
                          <a:solidFill>
                            <a:schemeClr val="dk1"/>
                          </a:solidFill>
                          <a:effectLst/>
                          <a:latin typeface="Calibri  "/>
                          <a:ea typeface="+mn-ea"/>
                          <a:cs typeface="+mn-cs"/>
                        </a:rPr>
                        <a:t>'NIDOM' </a:t>
                      </a:r>
                      <a:r>
                        <a:rPr lang="en-GB" sz="1400" b="0" i="0" kern="1200" dirty="0">
                          <a:solidFill>
                            <a:schemeClr val="dk1"/>
                          </a:solidFill>
                          <a:effectLst/>
                          <a:latin typeface="Calibri  "/>
                          <a:ea typeface="+mn-ea"/>
                          <a:cs typeface="+mn-cs"/>
                        </a:rPr>
                        <a:t>in DE 2/2 (Additional Information) </a:t>
                      </a:r>
                    </a:p>
                    <a:p>
                      <a:pPr marL="742950" lvl="1" indent="-285750">
                        <a:buFont typeface="Courier New" panose="02070309020205020404" pitchFamily="49" charset="0"/>
                        <a:buChar char="o"/>
                      </a:pPr>
                      <a:r>
                        <a:rPr lang="en-GB" sz="1400" b="0" i="0" kern="1200" dirty="0">
                          <a:solidFill>
                            <a:schemeClr val="dk1"/>
                          </a:solidFill>
                          <a:effectLst/>
                          <a:latin typeface="Calibri  "/>
                          <a:ea typeface="+mn-ea"/>
                          <a:cs typeface="+mn-cs"/>
                        </a:rPr>
                        <a:t>The commodity code entered in DE 6/14 (Nomenclature Code) and D.E. 6/15 (TARIC Code) must be determined as ’</a:t>
                      </a:r>
                      <a:r>
                        <a:rPr lang="en-GB" sz="1400" b="1" i="0" kern="1200" dirty="0">
                          <a:solidFill>
                            <a:schemeClr val="dk1"/>
                          </a:solidFill>
                          <a:effectLst/>
                          <a:latin typeface="Calibri  "/>
                          <a:ea typeface="+mn-ea"/>
                          <a:cs typeface="+mn-cs"/>
                        </a:rPr>
                        <a:t>at risk’</a:t>
                      </a:r>
                      <a:r>
                        <a:rPr lang="en-GB" sz="1400" b="0" i="0" kern="1200" dirty="0">
                          <a:solidFill>
                            <a:schemeClr val="dk1"/>
                          </a:solidFill>
                          <a:effectLst/>
                          <a:latin typeface="Calibri  "/>
                          <a:ea typeface="+mn-ea"/>
                          <a:cs typeface="+mn-cs"/>
                        </a:rPr>
                        <a:t> </a:t>
                      </a:r>
                    </a:p>
                    <a:p>
                      <a:pPr marL="742950" lvl="1" indent="-285750">
                        <a:buFont typeface="Courier New" panose="02070309020205020404" pitchFamily="49" charset="0"/>
                        <a:buChar char="o"/>
                      </a:pPr>
                      <a:r>
                        <a:rPr lang="en-GB" sz="1400" b="0" i="0" kern="1200" dirty="0">
                          <a:solidFill>
                            <a:schemeClr val="dk1"/>
                          </a:solidFill>
                          <a:effectLst/>
                          <a:latin typeface="Calibri  "/>
                          <a:ea typeface="+mn-ea"/>
                          <a:cs typeface="+mn-cs"/>
                        </a:rPr>
                        <a:t>Traders must not enter </a:t>
                      </a:r>
                      <a:r>
                        <a:rPr lang="en-GB" sz="1400" b="1" i="0" kern="1200" dirty="0">
                          <a:solidFill>
                            <a:schemeClr val="dk1"/>
                          </a:solidFill>
                          <a:effectLst/>
                          <a:latin typeface="Calibri  "/>
                          <a:ea typeface="+mn-ea"/>
                          <a:cs typeface="+mn-cs"/>
                        </a:rPr>
                        <a:t>'NIREM' </a:t>
                      </a:r>
                      <a:r>
                        <a:rPr lang="en-GB" sz="1400" b="0" i="0" kern="1200" dirty="0">
                          <a:solidFill>
                            <a:schemeClr val="dk1"/>
                          </a:solidFill>
                          <a:effectLst/>
                          <a:latin typeface="Calibri  "/>
                          <a:ea typeface="+mn-ea"/>
                          <a:cs typeface="+mn-cs"/>
                        </a:rPr>
                        <a:t>(de-risking code) in D.E. 2/2 (Additional Information)</a:t>
                      </a:r>
                    </a:p>
                    <a:p>
                      <a:pPr marL="457200" lvl="1" indent="0">
                        <a:buNone/>
                        <a:defRPr sz="1800" b="0" i="0" u="none" strike="noStrike" kern="0" cap="none" spc="0" baseline="0">
                          <a:solidFill>
                            <a:srgbClr val="000000"/>
                          </a:solidFill>
                          <a:uFillTx/>
                        </a:defRPr>
                      </a:pPr>
                      <a:endParaRPr lang="en-GB" sz="1400" b="0" i="0" u="sng" strike="noStrike" kern="0" cap="none" spc="0" baseline="0" dirty="0">
                        <a:solidFill>
                          <a:srgbClr val="333333"/>
                        </a:solidFill>
                        <a:uFillTx/>
                        <a:latin typeface="Calibri (body)"/>
                      </a:endParaRPr>
                    </a:p>
                    <a:p>
                      <a:pPr marL="0" lvl="0" indent="0">
                        <a:buNone/>
                        <a:defRPr sz="1800" b="0" i="0" u="none" strike="noStrike" kern="0" cap="none" spc="0" baseline="0">
                          <a:solidFill>
                            <a:srgbClr val="000000"/>
                          </a:solidFill>
                          <a:uFillTx/>
                        </a:defRPr>
                      </a:pPr>
                      <a:r>
                        <a:rPr lang="en-GB" sz="1400" b="1" i="0" u="sng" strike="noStrike" kern="0" cap="none" spc="0" baseline="0" dirty="0">
                          <a:solidFill>
                            <a:schemeClr val="tx1"/>
                          </a:solidFill>
                          <a:uFillTx/>
                          <a:latin typeface="Calibri (body)"/>
                        </a:rPr>
                        <a:t>GB-NI  (Goods Not At Risk)</a:t>
                      </a:r>
                    </a:p>
                    <a:p>
                      <a:pPr marL="0" lvl="0" indent="0">
                        <a:buNone/>
                        <a:defRPr sz="1800" b="0" i="0" u="none" strike="noStrike" kern="0" cap="none" spc="0" baseline="0">
                          <a:solidFill>
                            <a:srgbClr val="000000"/>
                          </a:solidFill>
                          <a:uFillTx/>
                        </a:defRPr>
                      </a:pPr>
                      <a:endParaRPr lang="en-GB" sz="1400" b="1" i="0" u="sng" strike="noStrike" kern="0" cap="none" spc="0" baseline="0" dirty="0">
                        <a:solidFill>
                          <a:schemeClr val="tx1"/>
                        </a:solidFill>
                        <a:uFillTx/>
                        <a:latin typeface="Calibri (body)"/>
                      </a:endParaRPr>
                    </a:p>
                    <a:p>
                      <a:pPr lvl="0">
                        <a:defRPr sz="1800" b="0" i="0" u="none" strike="noStrike" kern="0" cap="none" spc="0" baseline="0">
                          <a:solidFill>
                            <a:srgbClr val="000000"/>
                          </a:solidFill>
                          <a:uFillTx/>
                        </a:defRPr>
                      </a:pPr>
                      <a:r>
                        <a:rPr lang="en-GB" sz="1400" b="1" i="0" u="none" strike="noStrike" kern="0" cap="none" spc="0" baseline="0" dirty="0">
                          <a:solidFill>
                            <a:schemeClr val="tx1"/>
                          </a:solidFill>
                          <a:uFillTx/>
                          <a:latin typeface="Calibri (body)"/>
                        </a:rPr>
                        <a:t>CDS requirements for “Not At Risk" Imports of </a:t>
                      </a:r>
                      <a:r>
                        <a:rPr lang="en-GB" sz="1400" b="1" i="0" u="none" strike="noStrike" kern="1200" cap="none" spc="0" baseline="0" dirty="0">
                          <a:solidFill>
                            <a:schemeClr val="dk1"/>
                          </a:solidFill>
                          <a:effectLst/>
                          <a:uFillTx/>
                          <a:latin typeface="Calibri  "/>
                          <a:ea typeface="+mn-ea"/>
                          <a:cs typeface="+mn-cs"/>
                        </a:rPr>
                        <a:t>c</a:t>
                      </a:r>
                      <a:r>
                        <a:rPr lang="en-GB" sz="1400" b="1" i="0" kern="1200" dirty="0">
                          <a:solidFill>
                            <a:schemeClr val="dk1"/>
                          </a:solidFill>
                          <a:effectLst/>
                          <a:latin typeface="Calibri  "/>
                          <a:ea typeface="+mn-ea"/>
                          <a:cs typeface="+mn-cs"/>
                        </a:rPr>
                        <a:t>omposite goods containing alcohol or mineral oils</a:t>
                      </a:r>
                      <a:r>
                        <a:rPr lang="en-GB" sz="1400" b="1" i="0" u="none" strike="noStrike" kern="0" cap="none" spc="0" baseline="0" dirty="0">
                          <a:solidFill>
                            <a:schemeClr val="tx1"/>
                          </a:solidFill>
                          <a:uFillTx/>
                          <a:latin typeface="Calibri (body)"/>
                        </a:rPr>
                        <a:t>,</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chemeClr val="tx1"/>
                          </a:solidFill>
                          <a:uFillTx/>
                          <a:latin typeface="Calibri (body)"/>
                        </a:rPr>
                        <a:t>The trader must enter ‘</a:t>
                      </a:r>
                      <a:r>
                        <a:rPr lang="en-GB" sz="1400" b="1" i="0" u="none" strike="noStrike" kern="0" cap="none" spc="0" baseline="0" dirty="0">
                          <a:solidFill>
                            <a:schemeClr val="tx1"/>
                          </a:solidFill>
                          <a:uFillTx/>
                          <a:latin typeface="Calibri (body)"/>
                        </a:rPr>
                        <a:t>NIDOM’</a:t>
                      </a:r>
                      <a:r>
                        <a:rPr lang="en-GB" sz="1400" b="0" i="0" u="none" strike="noStrike" kern="0" cap="none" spc="0" baseline="0" dirty="0">
                          <a:solidFill>
                            <a:schemeClr val="tx1"/>
                          </a:solidFill>
                          <a:uFillTx/>
                          <a:latin typeface="Calibri (body)"/>
                        </a:rPr>
                        <a:t> in D.E. 2/2 (Additional Information)</a:t>
                      </a:r>
                    </a:p>
                    <a:p>
                      <a:pPr marL="742950" lvl="1" indent="-285750">
                        <a:buSzPct val="100000"/>
                        <a:buFont typeface="Courier New" pitchFamily="49"/>
                        <a:buChar char="o"/>
                        <a:defRPr sz="1800" b="0" i="0" u="none" strike="noStrike" kern="0" cap="none" spc="0" baseline="0">
                          <a:solidFill>
                            <a:srgbClr val="000000"/>
                          </a:solidFill>
                          <a:uFillTx/>
                        </a:defRPr>
                      </a:pPr>
                      <a:r>
                        <a:rPr lang="en-GB" sz="1400" b="0" i="0" u="none" strike="noStrike" kern="0" cap="none" spc="0" baseline="0" dirty="0">
                          <a:solidFill>
                            <a:schemeClr val="tx1"/>
                          </a:solidFill>
                          <a:uFillTx/>
                          <a:latin typeface="Calibri (body)"/>
                        </a:rPr>
                        <a:t>The trader must enter de-risking code ‘</a:t>
                      </a:r>
                      <a:r>
                        <a:rPr lang="en-GB" sz="1400" b="1" i="0" u="none" strike="noStrike" kern="0" cap="none" spc="0" baseline="0" dirty="0">
                          <a:solidFill>
                            <a:schemeClr val="tx1"/>
                          </a:solidFill>
                          <a:uFillTx/>
                          <a:latin typeface="Calibri (body)"/>
                        </a:rPr>
                        <a:t>NIREM</a:t>
                      </a:r>
                      <a:r>
                        <a:rPr lang="en-GB" sz="1400" b="0" i="0" u="none" strike="noStrike" kern="0" cap="none" spc="0" baseline="0" dirty="0">
                          <a:solidFill>
                            <a:schemeClr val="tx1"/>
                          </a:solidFill>
                          <a:uFillTx/>
                          <a:latin typeface="Calibri (body)"/>
                        </a:rPr>
                        <a:t>’ in D.E. 2/2 (Additional Information).</a:t>
                      </a:r>
                    </a:p>
                    <a:p>
                      <a:pPr marL="742950" lvl="1" indent="-285750">
                        <a:buSzPct val="100000"/>
                        <a:buFont typeface="Courier New" pitchFamily="49"/>
                        <a:buChar char="o"/>
                        <a:defRPr sz="1800" b="0" i="0" u="none" strike="noStrike" kern="0" cap="none" spc="0" baseline="0">
                          <a:solidFill>
                            <a:srgbClr val="000000"/>
                          </a:solidFill>
                          <a:uFillTx/>
                        </a:defRPr>
                      </a:pPr>
                      <a:endParaRPr lang="en-GB" sz="1400" b="0" i="0" u="none" strike="noStrike" kern="0" cap="none" spc="0" baseline="0" dirty="0">
                        <a:solidFill>
                          <a:schemeClr val="tx1"/>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dirty="0">
                          <a:solidFill>
                            <a:schemeClr val="tx1"/>
                          </a:solidFill>
                          <a:uFillTx/>
                          <a:latin typeface="Calibri"/>
                        </a:rPr>
                        <a:t>CDS will then send the trader a DMSTAX notification, and collect applicable duties in-line with the method of payment declared.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chemeClr val="tx1"/>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baseline="0" dirty="0">
                          <a:solidFill>
                            <a:schemeClr val="dk1"/>
                          </a:solidFill>
                          <a:effectLst/>
                          <a:latin typeface="+mn-lt"/>
                          <a:ea typeface="+mn-ea"/>
                          <a:cs typeface="+mn-cs"/>
                        </a:rPr>
                        <a:t>Please note: </a:t>
                      </a:r>
                      <a:r>
                        <a:rPr lang="en-GB" sz="1400" b="0" i="0" u="none" strike="noStrike" kern="1200" cap="none" baseline="0" dirty="0">
                          <a:solidFill>
                            <a:schemeClr val="dk1"/>
                          </a:solidFill>
                          <a:effectLst/>
                          <a:latin typeface="+mn-lt"/>
                          <a:ea typeface="+mn-ea"/>
                          <a:cs typeface="+mn-cs"/>
                        </a:rPr>
                        <a:t>As excise is not charged for GB-NI journeys, there is no requirement for a manual override. CDS will therefore reject the declaration and send a DMSREJ notification in the following scenarios:</a:t>
                      </a:r>
                    </a:p>
                    <a:p>
                      <a:pPr marL="742950" lvl="1" indent="-285750">
                        <a:buFont typeface="Arial" panose="020B0604020202020204" pitchFamily="34" charset="0"/>
                        <a:buChar char="•"/>
                      </a:pPr>
                      <a:r>
                        <a:rPr lang="en-GB" sz="1400" b="0" i="0" kern="1200" dirty="0">
                          <a:solidFill>
                            <a:schemeClr val="dk1"/>
                          </a:solidFill>
                          <a:effectLst/>
                          <a:latin typeface="+mn-lt"/>
                          <a:ea typeface="+mn-ea"/>
                          <a:cs typeface="+mn-cs"/>
                        </a:rPr>
                        <a:t>Where a trader has declared 'NIDOM', 'OVR01' </a:t>
                      </a:r>
                      <a:r>
                        <a:rPr lang="en-GB" sz="1400" b="1" i="0" kern="1200" dirty="0">
                          <a:solidFill>
                            <a:schemeClr val="dk1"/>
                          </a:solidFill>
                          <a:effectLst/>
                          <a:latin typeface="+mn-lt"/>
                          <a:ea typeface="+mn-ea"/>
                          <a:cs typeface="+mn-cs"/>
                        </a:rPr>
                        <a:t>and</a:t>
                      </a:r>
                      <a:r>
                        <a:rPr lang="en-GB" sz="1400" b="0" i="0" kern="1200" dirty="0">
                          <a:solidFill>
                            <a:schemeClr val="dk1"/>
                          </a:solidFill>
                          <a:effectLst/>
                          <a:latin typeface="+mn-lt"/>
                          <a:ea typeface="+mn-ea"/>
                          <a:cs typeface="+mn-cs"/>
                        </a:rPr>
                        <a:t> either 'OVR04' or 'OVR05' in DE 2/2</a:t>
                      </a:r>
                    </a:p>
                    <a:p>
                      <a:pPr marL="742950" lvl="1" indent="-285750">
                        <a:buFont typeface="Arial" panose="020B0604020202020204" pitchFamily="34" charset="0"/>
                        <a:buChar char="•"/>
                      </a:pPr>
                      <a:r>
                        <a:rPr lang="en-GB" sz="1400" b="0" i="0" kern="1200" dirty="0">
                          <a:solidFill>
                            <a:schemeClr val="dk1"/>
                          </a:solidFill>
                          <a:effectLst/>
                          <a:latin typeface="+mn-lt"/>
                          <a:ea typeface="+mn-ea"/>
                          <a:cs typeface="+mn-cs"/>
                        </a:rPr>
                        <a:t>Where a trader has declared 'NIDOM', 'NIAID', 'OVR01' </a:t>
                      </a:r>
                      <a:r>
                        <a:rPr lang="en-GB" sz="1400" b="1" i="0" kern="1200" dirty="0">
                          <a:solidFill>
                            <a:schemeClr val="dk1"/>
                          </a:solidFill>
                          <a:effectLst/>
                          <a:latin typeface="+mn-lt"/>
                          <a:ea typeface="+mn-ea"/>
                          <a:cs typeface="+mn-cs"/>
                        </a:rPr>
                        <a:t>and</a:t>
                      </a:r>
                      <a:r>
                        <a:rPr lang="en-GB" sz="1400" b="0" i="0" kern="1200" dirty="0">
                          <a:solidFill>
                            <a:schemeClr val="dk1"/>
                          </a:solidFill>
                          <a:effectLst/>
                          <a:latin typeface="+mn-lt"/>
                          <a:ea typeface="+mn-ea"/>
                          <a:cs typeface="+mn-cs"/>
                        </a:rPr>
                        <a:t> either 'OVR04' or 'OVR05' in DE 2/2</a:t>
                      </a:r>
                      <a:endParaRPr lang="en-GB" sz="1400" b="0" i="0" u="none" strike="noStrike" kern="1200" cap="none" spc="0" baseline="0" dirty="0">
                        <a:solidFill>
                          <a:schemeClr val="tx1"/>
                        </a:solidFill>
                        <a:uFillTx/>
                        <a:latin typeface="Calibri"/>
                      </a:endParaRPr>
                    </a:p>
                  </a:txBody>
                  <a:tcPr>
                    <a:solidFill>
                      <a:srgbClr val="E9EBF5"/>
                    </a:solidFill>
                  </a:tcPr>
                </a:tc>
                <a:extLst>
                  <a:ext uri="{0D108BD9-81ED-4DB2-BD59-A6C34878D82A}">
                    <a16:rowId xmlns:a16="http://schemas.microsoft.com/office/drawing/2014/main" val="928626492"/>
                  </a:ext>
                </a:extLst>
              </a:tr>
            </a:tbl>
          </a:graphicData>
        </a:graphic>
      </p:graphicFrame>
    </p:spTree>
    <p:extLst>
      <p:ext uri="{BB962C8B-B14F-4D97-AF65-F5344CB8AC3E}">
        <p14:creationId xmlns:p14="http://schemas.microsoft.com/office/powerpoint/2010/main" val="1189891552"/>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9634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343</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E697A354-CE1F-4FB9-9F7C-8A4CB69476D4}"/>
              </a:ext>
            </a:extLst>
          </p:cNvPr>
          <p:cNvSpPr txBox="1"/>
          <p:nvPr/>
        </p:nvSpPr>
        <p:spPr>
          <a:xfrm>
            <a:off x="2943801" y="6490780"/>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116955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GB" sz="1400"/>
            </a:br>
            <a:endParaRPr lang="en-GB" sz="1400">
              <a:solidFill>
                <a:srgbClr val="333333"/>
              </a:solidFill>
              <a:latin typeface="Arial" panose="020B0604020202020204" pitchFamily="34" charset="0"/>
            </a:endParaRPr>
          </a:p>
          <a:p>
            <a:pPr>
              <a:defRPr sz="1800" b="0" i="0" u="none" strike="noStrike" kern="0" cap="none" spc="0" baseline="0">
                <a:solidFill>
                  <a:srgbClr val="000000"/>
                </a:solidFill>
                <a:uFillTx/>
              </a:defRPr>
            </a:pP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1" name="Table 3">
            <a:extLst>
              <a:ext uri="{FF2B5EF4-FFF2-40B4-BE49-F238E27FC236}">
                <a16:creationId xmlns:a16="http://schemas.microsoft.com/office/drawing/2014/main" id="{E39205E1-6F81-424E-AA44-E9080DEA33A7}"/>
              </a:ext>
            </a:extLst>
          </p:cNvPr>
          <p:cNvGraphicFramePr>
            <a:graphicFrameLocks noGrp="1"/>
          </p:cNvGraphicFramePr>
          <p:nvPr/>
        </p:nvGraphicFramePr>
        <p:xfrm>
          <a:off x="430717" y="1280160"/>
          <a:ext cx="11248500" cy="429768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690774019"/>
                    </a:ext>
                  </a:extLst>
                </a:gridCol>
              </a:tblGrid>
              <a:tr h="292461">
                <a:tc>
                  <a:txBody>
                    <a:bodyPr/>
                    <a:lstStyle/>
                    <a:p>
                      <a:pPr marL="0" marR="0" lvl="0" indent="0" algn="l" defTabSz="914400" rtl="0" fontAlgn="auto" hangingPunct="1">
                        <a:lnSpc>
                          <a:spcPct val="100000"/>
                        </a:lnSpc>
                        <a:spcBef>
                          <a:spcPts val="0"/>
                        </a:spcBef>
                        <a:spcAft>
                          <a:spcPts val="0"/>
                        </a:spcAft>
                        <a:buNone/>
                        <a:tabLst/>
                      </a:pPr>
                      <a:r>
                        <a:rPr lang="en-GB" sz="1800" b="1"/>
                        <a:t>Composite Goods containing Alcohol or Mineral Oils (</a:t>
                      </a:r>
                      <a:r>
                        <a:rPr lang="en-GB" sz="1800" b="1" err="1"/>
                        <a:t>RoW</a:t>
                      </a:r>
                      <a:r>
                        <a:rPr lang="en-GB" sz="1800" b="1"/>
                        <a:t>-NI specifics)</a:t>
                      </a:r>
                    </a:p>
                  </a:txBody>
                  <a:tcPr>
                    <a:solidFill>
                      <a:srgbClr val="009999"/>
                    </a:solidFill>
                  </a:tcPr>
                </a:tc>
                <a:extLst>
                  <a:ext uri="{0D108BD9-81ED-4DB2-BD59-A6C34878D82A}">
                    <a16:rowId xmlns:a16="http://schemas.microsoft.com/office/drawing/2014/main" val="2449128839"/>
                  </a:ext>
                </a:extLst>
              </a:tr>
              <a:tr h="1824754">
                <a:tc>
                  <a:txBody>
                    <a:bodyPr/>
                    <a:lstStyle/>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r>
                        <a:rPr lang="en-GB" sz="1400" b="1" i="0" u="sng" strike="noStrike" kern="0" cap="none" spc="0" baseline="0" dirty="0">
                          <a:solidFill>
                            <a:schemeClr val="tx1"/>
                          </a:solidFill>
                          <a:uFillTx/>
                          <a:latin typeface="Calibri (body)"/>
                        </a:rPr>
                        <a:t>RoW-NI (Goods At Risk)</a:t>
                      </a:r>
                    </a:p>
                    <a:p>
                      <a:pPr marL="0" marR="0" lvl="0" indent="0" algn="l" defTabSz="914400" rtl="0" fontAlgn="auto" hangingPunct="1">
                        <a:lnSpc>
                          <a:spcPct val="100000"/>
                        </a:lnSpc>
                        <a:spcAft>
                          <a:spcPts val="0"/>
                        </a:spcAft>
                        <a:buNone/>
                        <a:tabLst/>
                        <a:defRPr sz="1800" b="0" i="0" u="none" strike="noStrike" kern="0" cap="none" spc="0" baseline="0">
                          <a:solidFill>
                            <a:srgbClr val="000000"/>
                          </a:solidFill>
                          <a:uFillTx/>
                        </a:defRPr>
                      </a:pPr>
                      <a:endParaRPr lang="en-GB" sz="1400" b="1" i="0" u="sng" strike="noStrike" kern="0" cap="none" spc="0" baseline="0" dirty="0">
                        <a:solidFill>
                          <a:schemeClr val="tx1"/>
                        </a:solidFill>
                        <a:uFillTx/>
                        <a:latin typeface="Calibri (body)"/>
                      </a:endParaRPr>
                    </a:p>
                    <a:p>
                      <a:r>
                        <a:rPr lang="en-GB" sz="1400" b="1" i="0" u="none" strike="noStrike" kern="0" cap="none" spc="0" baseline="0" dirty="0">
                          <a:solidFill>
                            <a:schemeClr val="tx1"/>
                          </a:solidFill>
                          <a:uFillTx/>
                          <a:latin typeface="Calibri  "/>
                        </a:rPr>
                        <a:t>CDS requirements for “At Risk“ Imports of </a:t>
                      </a:r>
                      <a:r>
                        <a:rPr lang="en-GB" sz="1400" b="1" i="0" u="none" strike="noStrike" kern="1200" cap="none" spc="0" baseline="0" dirty="0">
                          <a:solidFill>
                            <a:schemeClr val="tx1"/>
                          </a:solidFill>
                          <a:effectLst/>
                          <a:uFillTx/>
                          <a:latin typeface="Calibri  "/>
                          <a:ea typeface="+mn-ea"/>
                          <a:cs typeface="+mn-cs"/>
                        </a:rPr>
                        <a:t>c</a:t>
                      </a:r>
                      <a:r>
                        <a:rPr lang="en-GB" sz="1400" b="1" i="0" kern="1200" dirty="0">
                          <a:solidFill>
                            <a:schemeClr val="tx1"/>
                          </a:solidFill>
                          <a:effectLst/>
                          <a:latin typeface="Calibri  "/>
                          <a:ea typeface="+mn-ea"/>
                          <a:cs typeface="+mn-cs"/>
                        </a:rPr>
                        <a:t>omposite goods containing alcohol or mineral oils,</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trader must enter </a:t>
                      </a:r>
                      <a:r>
                        <a:rPr lang="en-GB" sz="1400" b="1" i="0" kern="1200" dirty="0">
                          <a:solidFill>
                            <a:schemeClr val="tx1"/>
                          </a:solidFill>
                          <a:effectLst/>
                          <a:latin typeface="+mn-lt"/>
                          <a:ea typeface="+mn-ea"/>
                          <a:cs typeface="+mn-cs"/>
                        </a:rPr>
                        <a:t>'NIIMP</a:t>
                      </a:r>
                      <a:r>
                        <a:rPr lang="en-GB" sz="1400" b="0" i="0" kern="1200" dirty="0">
                          <a:solidFill>
                            <a:schemeClr val="tx1"/>
                          </a:solidFill>
                          <a:effectLst/>
                          <a:latin typeface="+mn-lt"/>
                          <a:ea typeface="+mn-ea"/>
                          <a:cs typeface="+mn-cs"/>
                        </a:rPr>
                        <a:t>' in DE 2/2 (Additional Information) </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commodity code entered in DE 6/14 (Nomenclature Code) and D.E. 6/15 (TARIC Code) must be determined as </a:t>
                      </a:r>
                      <a:r>
                        <a:rPr lang="en-GB" sz="1400" b="1" i="0" kern="1200" dirty="0">
                          <a:solidFill>
                            <a:schemeClr val="tx1"/>
                          </a:solidFill>
                          <a:effectLst/>
                          <a:latin typeface="+mn-lt"/>
                          <a:ea typeface="+mn-ea"/>
                          <a:cs typeface="+mn-cs"/>
                        </a:rPr>
                        <a:t>at risk</a:t>
                      </a:r>
                      <a:r>
                        <a:rPr lang="en-GB" sz="1400" b="0" i="0" kern="1200" dirty="0">
                          <a:solidFill>
                            <a:schemeClr val="tx1"/>
                          </a:solidFill>
                          <a:effectLst/>
                          <a:latin typeface="+mn-lt"/>
                          <a:ea typeface="+mn-ea"/>
                          <a:cs typeface="+mn-cs"/>
                        </a:rPr>
                        <a:t>.</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trader must not </a:t>
                      </a:r>
                      <a:r>
                        <a:rPr lang="en-GB" sz="1400" b="1" i="0" kern="1200" dirty="0">
                          <a:solidFill>
                            <a:schemeClr val="tx1"/>
                          </a:solidFill>
                          <a:effectLst/>
                          <a:latin typeface="+mn-lt"/>
                          <a:ea typeface="+mn-ea"/>
                          <a:cs typeface="+mn-cs"/>
                        </a:rPr>
                        <a:t>enter</a:t>
                      </a:r>
                      <a:r>
                        <a:rPr lang="en-GB" sz="1400" b="0" i="0" kern="1200" dirty="0">
                          <a:solidFill>
                            <a:schemeClr val="tx1"/>
                          </a:solidFill>
                          <a:effectLst/>
                          <a:latin typeface="+mn-lt"/>
                          <a:ea typeface="+mn-ea"/>
                          <a:cs typeface="+mn-cs"/>
                        </a:rPr>
                        <a:t> de-risking code 'NIREM' in DE 2/2 (Additional Information).</a:t>
                      </a:r>
                    </a:p>
                    <a:p>
                      <a:pPr marL="0" lvl="0" indent="0">
                        <a:buFont typeface="Arial" panose="020B0604020202020204" pitchFamily="34" charset="0"/>
                        <a:buNone/>
                      </a:pPr>
                      <a:endParaRPr lang="en-GB" sz="1400" b="0" i="0" kern="1200" dirty="0">
                        <a:solidFill>
                          <a:schemeClr val="tx1"/>
                        </a:solidFill>
                        <a:effectLst/>
                        <a:latin typeface="+mn-lt"/>
                        <a:ea typeface="+mn-ea"/>
                        <a:cs typeface="+mn-cs"/>
                      </a:endParaRPr>
                    </a:p>
                    <a:p>
                      <a:pPr marL="0" lvl="0" indent="0">
                        <a:buFont typeface="Arial" panose="020B0604020202020204" pitchFamily="34" charset="0"/>
                        <a:buNone/>
                      </a:pPr>
                      <a:r>
                        <a:rPr lang="en-GB" sz="1400" b="1" i="0" kern="1200" dirty="0">
                          <a:solidFill>
                            <a:schemeClr val="tx1"/>
                          </a:solidFill>
                          <a:effectLst/>
                          <a:latin typeface="+mn-lt"/>
                          <a:ea typeface="+mn-ea"/>
                          <a:cs typeface="+mn-cs"/>
                        </a:rPr>
                        <a:t>Please Note: </a:t>
                      </a:r>
                      <a:r>
                        <a:rPr lang="en-GB" sz="1400" b="0" i="0" kern="1200" dirty="0">
                          <a:solidFill>
                            <a:schemeClr val="tx1"/>
                          </a:solidFill>
                          <a:effectLst/>
                          <a:latin typeface="+mn-lt"/>
                          <a:ea typeface="+mn-ea"/>
                          <a:cs typeface="+mn-cs"/>
                        </a:rPr>
                        <a:t>If subsidy code </a:t>
                      </a:r>
                      <a:r>
                        <a:rPr lang="en-GB" sz="1400" b="1" i="0" kern="1200" dirty="0">
                          <a:solidFill>
                            <a:schemeClr val="tx1"/>
                          </a:solidFill>
                          <a:effectLst/>
                          <a:latin typeface="+mn-lt"/>
                          <a:ea typeface="+mn-ea"/>
                          <a:cs typeface="+mn-cs"/>
                        </a:rPr>
                        <a:t>'NIAID</a:t>
                      </a:r>
                      <a:r>
                        <a:rPr lang="en-GB" sz="1400" b="0" i="0" kern="1200" dirty="0">
                          <a:solidFill>
                            <a:schemeClr val="tx1"/>
                          </a:solidFill>
                          <a:effectLst/>
                          <a:latin typeface="+mn-lt"/>
                          <a:ea typeface="+mn-ea"/>
                          <a:cs typeface="+mn-cs"/>
                        </a:rPr>
                        <a:t>' is declared in D.E 2/2 at item level, for the affected commodity, CDS will not allow the subsidy to account for any excise duties.</a:t>
                      </a:r>
                    </a:p>
                    <a:p>
                      <a:pPr marL="742950" lvl="1" indent="-285750">
                        <a:buFont typeface="Courier New" panose="02070309020205020404" pitchFamily="49" charset="0"/>
                        <a:buChar char="o"/>
                      </a:pPr>
                      <a:endParaRPr lang="en-GB" sz="1400" b="0" i="0" u="sng" strike="noStrike" kern="0" cap="none" spc="0" baseline="0" dirty="0">
                        <a:solidFill>
                          <a:schemeClr val="tx1"/>
                        </a:solidFill>
                        <a:uFillTx/>
                        <a:latin typeface="Calibri (body)"/>
                      </a:endParaRPr>
                    </a:p>
                    <a:p>
                      <a:pPr marL="0" lvl="0" indent="0">
                        <a:buNone/>
                        <a:defRPr sz="1800" b="0" i="0" u="none" strike="noStrike" kern="0" cap="none" spc="0" baseline="0">
                          <a:solidFill>
                            <a:srgbClr val="000000"/>
                          </a:solidFill>
                          <a:uFillTx/>
                        </a:defRPr>
                      </a:pPr>
                      <a:r>
                        <a:rPr lang="en-GB" sz="1400" b="1" i="0" u="sng" strike="noStrike" kern="0" cap="none" spc="0" baseline="0" dirty="0">
                          <a:solidFill>
                            <a:schemeClr val="tx1"/>
                          </a:solidFill>
                          <a:uFillTx/>
                          <a:latin typeface="Calibri (body)"/>
                        </a:rPr>
                        <a:t>RoW-NI (Goods Not At Risk)</a:t>
                      </a:r>
                    </a:p>
                    <a:p>
                      <a:pPr marL="0" lvl="0" indent="0">
                        <a:buNone/>
                        <a:defRPr sz="1800" b="0" i="0" u="none" strike="noStrike" kern="0" cap="none" spc="0" baseline="0">
                          <a:solidFill>
                            <a:srgbClr val="000000"/>
                          </a:solidFill>
                          <a:uFillTx/>
                        </a:defRPr>
                      </a:pPr>
                      <a:endParaRPr lang="en-GB" sz="1400" b="1" i="0" u="sng" strike="noStrike" kern="0" cap="none" spc="0" baseline="0" dirty="0">
                        <a:solidFill>
                          <a:schemeClr val="tx1"/>
                        </a:solidFill>
                        <a:uFillTx/>
                        <a:latin typeface="Calibri (body)"/>
                      </a:endParaRPr>
                    </a:p>
                    <a:p>
                      <a:pPr lvl="0">
                        <a:defRPr sz="1800" b="0" i="0" u="none" strike="noStrike" kern="0" cap="none" spc="0" baseline="0">
                          <a:solidFill>
                            <a:srgbClr val="000000"/>
                          </a:solidFill>
                          <a:uFillTx/>
                        </a:defRPr>
                      </a:pPr>
                      <a:r>
                        <a:rPr lang="en-GB" sz="1400" b="1" i="0" u="none" strike="noStrike" kern="0" cap="none" spc="0" baseline="0" dirty="0">
                          <a:solidFill>
                            <a:schemeClr val="tx1"/>
                          </a:solidFill>
                          <a:uFillTx/>
                          <a:latin typeface="Calibri (body)"/>
                        </a:rPr>
                        <a:t>CDS requirements for “Not At Risk" Imports of </a:t>
                      </a:r>
                      <a:r>
                        <a:rPr lang="en-GB" sz="1400" b="1" i="0" u="none" strike="noStrike" kern="1200" cap="none" spc="0" baseline="0" dirty="0">
                          <a:solidFill>
                            <a:schemeClr val="tx1"/>
                          </a:solidFill>
                          <a:effectLst/>
                          <a:uFillTx/>
                          <a:latin typeface="Calibri  "/>
                          <a:ea typeface="+mn-ea"/>
                          <a:cs typeface="+mn-cs"/>
                        </a:rPr>
                        <a:t>c</a:t>
                      </a:r>
                      <a:r>
                        <a:rPr lang="en-GB" sz="1400" b="1" i="0" kern="1200" dirty="0">
                          <a:solidFill>
                            <a:schemeClr val="tx1"/>
                          </a:solidFill>
                          <a:effectLst/>
                          <a:latin typeface="Calibri  "/>
                          <a:ea typeface="+mn-ea"/>
                          <a:cs typeface="+mn-cs"/>
                        </a:rPr>
                        <a:t>omposite goods containing alcohol or mineral oils</a:t>
                      </a:r>
                      <a:r>
                        <a:rPr lang="en-GB" sz="1400" b="1" i="0" u="none" strike="noStrike" kern="0" cap="none" spc="0" baseline="0" dirty="0">
                          <a:solidFill>
                            <a:schemeClr val="tx1"/>
                          </a:solidFill>
                          <a:uFillTx/>
                          <a:latin typeface="Calibri (body)"/>
                        </a:rPr>
                        <a:t>,</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trader must enter </a:t>
                      </a:r>
                      <a:r>
                        <a:rPr lang="en-GB" sz="1400" b="1" i="0" kern="1200" dirty="0">
                          <a:solidFill>
                            <a:schemeClr val="tx1"/>
                          </a:solidFill>
                          <a:effectLst/>
                          <a:latin typeface="+mn-lt"/>
                          <a:ea typeface="+mn-ea"/>
                          <a:cs typeface="+mn-cs"/>
                        </a:rPr>
                        <a:t>'NIIMP</a:t>
                      </a:r>
                      <a:r>
                        <a:rPr lang="en-GB" sz="1400" b="0" i="0" kern="1200" dirty="0">
                          <a:solidFill>
                            <a:schemeClr val="tx1"/>
                          </a:solidFill>
                          <a:effectLst/>
                          <a:latin typeface="+mn-lt"/>
                          <a:ea typeface="+mn-ea"/>
                          <a:cs typeface="+mn-cs"/>
                        </a:rPr>
                        <a:t>' in DE 2/2 (Additional Information) </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commodity code entered in DE 6/14 (Nomenclature Code) and D.E. 6/15 (TARIC Code) must be determined as </a:t>
                      </a:r>
                      <a:r>
                        <a:rPr lang="en-GB" sz="1400" b="1" i="0" kern="1200" dirty="0">
                          <a:solidFill>
                            <a:schemeClr val="tx1"/>
                          </a:solidFill>
                          <a:effectLst/>
                          <a:latin typeface="+mn-lt"/>
                          <a:ea typeface="+mn-ea"/>
                          <a:cs typeface="+mn-cs"/>
                        </a:rPr>
                        <a:t>not at risk</a:t>
                      </a:r>
                      <a:r>
                        <a:rPr lang="en-GB" sz="1400" b="0" i="0" kern="1200" dirty="0">
                          <a:solidFill>
                            <a:schemeClr val="tx1"/>
                          </a:solidFill>
                          <a:effectLst/>
                          <a:latin typeface="+mn-lt"/>
                          <a:ea typeface="+mn-ea"/>
                          <a:cs typeface="+mn-cs"/>
                        </a:rPr>
                        <a:t> </a:t>
                      </a:r>
                    </a:p>
                    <a:p>
                      <a:pPr marL="457200" lvl="1" indent="0">
                        <a:buFont typeface="Arial" panose="020B0604020202020204" pitchFamily="34" charset="0"/>
                        <a:buNone/>
                      </a:pPr>
                      <a:r>
                        <a:rPr lang="en-GB" sz="1400" b="1" i="0" kern="1200" dirty="0">
                          <a:solidFill>
                            <a:schemeClr val="tx1"/>
                          </a:solidFill>
                          <a:effectLst/>
                          <a:latin typeface="+mn-lt"/>
                          <a:ea typeface="+mn-ea"/>
                          <a:cs typeface="+mn-cs"/>
                        </a:rPr>
                        <a:t>OR</a:t>
                      </a:r>
                    </a:p>
                    <a:p>
                      <a:pPr marL="742950" lvl="1" indent="-285750">
                        <a:buFont typeface="Arial" panose="020B0604020202020204" pitchFamily="34" charset="0"/>
                        <a:buChar char="•"/>
                      </a:pPr>
                      <a:r>
                        <a:rPr lang="en-GB" sz="1400" b="0" i="0" kern="1200" dirty="0">
                          <a:solidFill>
                            <a:schemeClr val="tx1"/>
                          </a:solidFill>
                          <a:effectLst/>
                          <a:latin typeface="+mn-lt"/>
                          <a:ea typeface="+mn-ea"/>
                          <a:cs typeface="+mn-cs"/>
                        </a:rPr>
                        <a:t>The commodity code entered in DE 6/14 (Nomenclature Code) and D.E. 6/15 (TARIC Code) is determined as at risk </a:t>
                      </a:r>
                      <a:r>
                        <a:rPr lang="en-GB" sz="1400" b="1" i="0" kern="1200" dirty="0">
                          <a:solidFill>
                            <a:schemeClr val="tx1"/>
                          </a:solidFill>
                          <a:effectLst/>
                          <a:latin typeface="+mn-lt"/>
                          <a:ea typeface="+mn-ea"/>
                          <a:cs typeface="+mn-cs"/>
                        </a:rPr>
                        <a:t>and</a:t>
                      </a:r>
                      <a:r>
                        <a:rPr lang="en-GB" sz="1400" b="0" i="0" kern="1200" dirty="0">
                          <a:solidFill>
                            <a:schemeClr val="tx1"/>
                          </a:solidFill>
                          <a:effectLst/>
                          <a:latin typeface="+mn-lt"/>
                          <a:ea typeface="+mn-ea"/>
                          <a:cs typeface="+mn-cs"/>
                        </a:rPr>
                        <a:t> the trader has entered de-risking Additional Information Code </a:t>
                      </a:r>
                      <a:r>
                        <a:rPr lang="en-GB" sz="1400" b="1" i="0" kern="1200" dirty="0">
                          <a:solidFill>
                            <a:schemeClr val="tx1"/>
                          </a:solidFill>
                          <a:effectLst/>
                          <a:latin typeface="+mn-lt"/>
                          <a:ea typeface="+mn-ea"/>
                          <a:cs typeface="+mn-cs"/>
                        </a:rPr>
                        <a:t>'NIREM</a:t>
                      </a:r>
                      <a:r>
                        <a:rPr lang="en-GB" sz="1400" b="0" i="0" kern="1200" dirty="0">
                          <a:solidFill>
                            <a:schemeClr val="tx1"/>
                          </a:solidFill>
                          <a:effectLst/>
                          <a:latin typeface="+mn-lt"/>
                          <a:ea typeface="+mn-ea"/>
                          <a:cs typeface="+mn-cs"/>
                        </a:rPr>
                        <a:t>' in DE 2/2.</a:t>
                      </a:r>
                      <a:endParaRPr lang="en-GB" sz="1400" b="1" i="0" u="none" strike="noStrike" kern="0" cap="none" spc="0" baseline="0" dirty="0">
                        <a:solidFill>
                          <a:schemeClr val="tx1"/>
                        </a:solidFill>
                        <a:uFillTx/>
                        <a:latin typeface="Calibri (body)"/>
                      </a:endParaRPr>
                    </a:p>
                  </a:txBody>
                  <a:tcPr>
                    <a:solidFill>
                      <a:srgbClr val="E9EBF5"/>
                    </a:solidFill>
                  </a:tcPr>
                </a:tc>
                <a:extLst>
                  <a:ext uri="{0D108BD9-81ED-4DB2-BD59-A6C34878D82A}">
                    <a16:rowId xmlns:a16="http://schemas.microsoft.com/office/drawing/2014/main" val="928626492"/>
                  </a:ext>
                </a:extLst>
              </a:tr>
            </a:tbl>
          </a:graphicData>
        </a:graphic>
      </p:graphicFrame>
      <p:sp>
        <p:nvSpPr>
          <p:cNvPr id="12" name="Rectangle 11">
            <a:extLst>
              <a:ext uri="{FF2B5EF4-FFF2-40B4-BE49-F238E27FC236}">
                <a16:creationId xmlns:a16="http://schemas.microsoft.com/office/drawing/2014/main" id="{C422B70B-F42C-4270-82E5-F56412EDA700}"/>
              </a:ext>
            </a:extLst>
          </p:cNvPr>
          <p:cNvSpPr/>
          <p:nvPr/>
        </p:nvSpPr>
        <p:spPr>
          <a:xfrm>
            <a:off x="1263909" y="5782555"/>
            <a:ext cx="10415308" cy="847874"/>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l" defTabSz="914400" rtl="0" fontAlgn="auto" hangingPunct="1">
              <a:lnSpc>
                <a:spcPct val="100000"/>
              </a:lnSpc>
              <a:spcBef>
                <a:spcPts val="0"/>
              </a:spcBef>
              <a:spcAft>
                <a:spcPts val="0"/>
              </a:spcAft>
              <a:buSzPct val="100000"/>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TT_IM099a - </a:t>
            </a:r>
            <a:r>
              <a:rPr lang="en-GB" sz="1100" b="0" i="0" u="none" strike="noStrike" kern="1200" cap="none" spc="0" baseline="0">
                <a:solidFill>
                  <a:srgbClr val="000000"/>
                </a:solidFill>
                <a:uFillTx/>
                <a:latin typeface="Calibri"/>
              </a:rPr>
              <a:t>Import frontier declaration, for composite goods moving from </a:t>
            </a:r>
            <a:r>
              <a:rPr lang="en-GB" sz="1100" b="0" i="0" u="none" strike="noStrike" kern="1200" cap="none" spc="0" baseline="0" err="1">
                <a:solidFill>
                  <a:srgbClr val="000000"/>
                </a:solidFill>
                <a:uFillTx/>
                <a:latin typeface="Calibri"/>
              </a:rPr>
              <a:t>RoW</a:t>
            </a:r>
            <a:r>
              <a:rPr lang="en-GB" sz="1100" b="0" i="0" u="none" strike="noStrike" kern="1200" cap="none" spc="0" baseline="0">
                <a:solidFill>
                  <a:srgbClr val="000000"/>
                </a:solidFill>
                <a:uFillTx/>
                <a:latin typeface="Calibri"/>
              </a:rPr>
              <a:t> into GB.</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TT_IM100a </a:t>
            </a:r>
            <a:r>
              <a:rPr lang="en-GB" sz="1100" b="0" i="0" u="none" strike="noStrike" kern="1200" cap="none" spc="0" baseline="0">
                <a:solidFill>
                  <a:srgbClr val="000000"/>
                </a:solidFill>
                <a:uFillTx/>
                <a:latin typeface="Calibri"/>
              </a:rPr>
              <a:t>- Import frontier declaration, for composite goods moving from </a:t>
            </a:r>
            <a:r>
              <a:rPr lang="en-GB" sz="1100" b="0" i="0" u="none" strike="noStrike" kern="1200" cap="none" spc="0" baseline="0" err="1">
                <a:solidFill>
                  <a:srgbClr val="000000"/>
                </a:solidFill>
                <a:uFillTx/>
                <a:latin typeface="Calibri"/>
              </a:rPr>
              <a:t>RoW</a:t>
            </a:r>
            <a:r>
              <a:rPr lang="en-GB" sz="1100" b="0" i="0" u="none" strike="noStrike" kern="1200" cap="none" spc="0" baseline="0">
                <a:solidFill>
                  <a:srgbClr val="000000"/>
                </a:solidFill>
                <a:uFillTx/>
                <a:latin typeface="Calibri"/>
              </a:rPr>
              <a:t> into GB, using a manual override of excise duty to ensure the correct excise duty is applied.</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TT_IM101a </a:t>
            </a:r>
            <a:r>
              <a:rPr lang="en-GB" sz="1100" b="0" i="0" u="none" strike="noStrike" kern="1200" cap="none" spc="0" baseline="0">
                <a:solidFill>
                  <a:srgbClr val="000000"/>
                </a:solidFill>
                <a:uFillTx/>
                <a:latin typeface="Calibri"/>
              </a:rPr>
              <a:t>- Import frontier declaration, for composite goods moving from </a:t>
            </a:r>
            <a:r>
              <a:rPr lang="en-GB" sz="1100" b="0" i="0" u="none" strike="noStrike" kern="1200" cap="none" spc="0" baseline="0" err="1">
                <a:solidFill>
                  <a:srgbClr val="000000"/>
                </a:solidFill>
                <a:uFillTx/>
                <a:latin typeface="Calibri"/>
              </a:rPr>
              <a:t>RoW</a:t>
            </a:r>
            <a:r>
              <a:rPr lang="en-GB" sz="1100" b="0" i="0" u="none" strike="noStrike" kern="1200" cap="none" spc="0" baseline="0">
                <a:solidFill>
                  <a:srgbClr val="000000"/>
                </a:solidFill>
                <a:uFillTx/>
                <a:latin typeface="Calibri"/>
              </a:rPr>
              <a:t> into NI, where the amount of duty payable on "at-risk" items is subject to the correct measures.</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3" name="Rectangle 12">
            <a:extLst>
              <a:ext uri="{FF2B5EF4-FFF2-40B4-BE49-F238E27FC236}">
                <a16:creationId xmlns:a16="http://schemas.microsoft.com/office/drawing/2014/main" id="{CA9E5B2A-BE1C-4F71-AE1C-E42A8D7469A9}"/>
              </a:ext>
            </a:extLst>
          </p:cNvPr>
          <p:cNvSpPr/>
          <p:nvPr/>
        </p:nvSpPr>
        <p:spPr>
          <a:xfrm>
            <a:off x="430718" y="5782555"/>
            <a:ext cx="829286" cy="847874"/>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extLst>
      <p:ext uri="{BB962C8B-B14F-4D97-AF65-F5344CB8AC3E}">
        <p14:creationId xmlns:p14="http://schemas.microsoft.com/office/powerpoint/2010/main" val="3811399620"/>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724703"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344</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4401205"/>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strike="noStrike" kern="0" cap="none" spc="0" baseline="0" dirty="0">
                <a:solidFill>
                  <a:srgbClr val="000000"/>
                </a:solidFill>
                <a:uFillTx/>
                <a:latin typeface="Calibri"/>
              </a:rPr>
              <a:t>Tariff Volume 3 Misalignments: Suspension &amp; Relief - Security APCs</a:t>
            </a:r>
          </a:p>
          <a:p>
            <a:pPr>
              <a:defRPr sz="1800" b="0" i="0" u="none" strike="noStrike" kern="0" cap="none" spc="0" baseline="0">
                <a:solidFill>
                  <a:srgbClr val="000000"/>
                </a:solidFill>
                <a:uFillTx/>
              </a:defRPr>
            </a:pPr>
            <a:r>
              <a:rPr lang="en-GB" sz="1400" i="0" strike="noStrike" kern="0" cap="none" spc="0" baseline="0" dirty="0">
                <a:solidFill>
                  <a:srgbClr val="000000"/>
                </a:solidFill>
                <a:uFillTx/>
                <a:latin typeface="Calibri  "/>
              </a:rPr>
              <a:t>From TTM19.0, where traders declare s</a:t>
            </a:r>
            <a:r>
              <a:rPr lang="en-GB" sz="1400" kern="0" dirty="0">
                <a:solidFill>
                  <a:srgbClr val="000000"/>
                </a:solidFill>
                <a:latin typeface="Calibri  "/>
              </a:rPr>
              <a:t>uspension &amp; relief, CDS will apply appropriate duty relief and suspension as expected for applicable security APCs. As CDS will be aligned to the latest version of the Volume 3 Tariff Guidance, traders will be no longer be required to</a:t>
            </a:r>
            <a:r>
              <a:rPr lang="en-GB" sz="1400" b="0" i="0" dirty="0">
                <a:solidFill>
                  <a:srgbClr val="333333"/>
                </a:solidFill>
                <a:effectLst/>
                <a:latin typeface="Calibri  "/>
              </a:rPr>
              <a:t> provide a security where it is not necessary, for the following APCs</a:t>
            </a:r>
            <a:r>
              <a:rPr lang="en-GB" sz="1400" dirty="0">
                <a:solidFill>
                  <a:srgbClr val="333333"/>
                </a:solidFill>
                <a:latin typeface="Calibri  "/>
              </a:rPr>
              <a:t> </a:t>
            </a:r>
            <a:r>
              <a:rPr lang="en-GB" sz="1400" dirty="0"/>
              <a:t>(DE 1/11): </a:t>
            </a:r>
            <a:r>
              <a:rPr lang="en-GB" sz="1400" b="1" dirty="0"/>
              <a:t>B03, D04, D05, D06, D07 </a:t>
            </a:r>
            <a:r>
              <a:rPr lang="en-GB" sz="1400" dirty="0"/>
              <a:t>&amp;</a:t>
            </a:r>
            <a:r>
              <a:rPr lang="en-GB" sz="1400" b="1" dirty="0"/>
              <a:t> D15.</a:t>
            </a:r>
          </a:p>
          <a:p>
            <a:pPr>
              <a:defRPr sz="1800" b="0" i="0" u="none" strike="noStrike" kern="0" cap="none" spc="0" baseline="0">
                <a:solidFill>
                  <a:srgbClr val="000000"/>
                </a:solidFill>
                <a:uFillTx/>
              </a:defRPr>
            </a:pPr>
            <a:endParaRPr lang="en-GB" sz="1400" b="1" dirty="0"/>
          </a:p>
          <a:p>
            <a:pPr>
              <a:defRPr sz="1800" b="0" i="0" u="none" strike="noStrike" kern="0" cap="none" spc="0" baseline="0">
                <a:solidFill>
                  <a:srgbClr val="000000"/>
                </a:solidFill>
                <a:uFillTx/>
              </a:defRPr>
            </a:pPr>
            <a:br>
              <a:rPr lang="en-GB" sz="1400" dirty="0"/>
            </a:br>
            <a:endParaRPr lang="en-GB" sz="1400" b="1" u="sng" kern="0" dirty="0">
              <a:solidFill>
                <a:srgbClr val="000000"/>
              </a:solidFill>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u="sng" kern="0" dirty="0">
              <a:solidFill>
                <a:srgbClr val="000000"/>
              </a:solidFill>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u="sng" kern="0" dirty="0">
              <a:solidFill>
                <a:srgbClr val="000000"/>
              </a:solidFill>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0" cap="none" spc="0" baseline="0" dirty="0">
                <a:solidFill>
                  <a:srgbClr val="000000"/>
                </a:solidFill>
                <a:uFillTx/>
                <a:latin typeface="Calibri"/>
              </a:rPr>
              <a:t>Simplified Declarations: Type B &amp; 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i="0" strike="noStrike" kern="0" cap="none" spc="0" baseline="0" dirty="0">
                <a:solidFill>
                  <a:srgbClr val="000000"/>
                </a:solidFill>
                <a:uFillTx/>
                <a:latin typeface="Calibri  "/>
              </a:rPr>
              <a:t>The introduction of this functionality will enable </a:t>
            </a:r>
            <a:r>
              <a:rPr lang="en-GB" sz="1400" kern="0" dirty="0">
                <a:solidFill>
                  <a:srgbClr val="000000"/>
                </a:solidFill>
                <a:latin typeface="Calibri  "/>
              </a:rPr>
              <a:t>further Procedure Codes and Additional Procedure Codes to be used on the I1 B&amp;E.</a:t>
            </a:r>
            <a:r>
              <a:rPr lang="en-GB" sz="1400" kern="0" dirty="0">
                <a:solidFill>
                  <a:srgbClr val="333333"/>
                </a:solidFill>
                <a:latin typeface="Calibri  "/>
              </a:rPr>
              <a:t> </a:t>
            </a:r>
            <a:r>
              <a:rPr lang="en-GB" sz="1400" kern="0" dirty="0">
                <a:solidFill>
                  <a:srgbClr val="000000"/>
                </a:solidFill>
                <a:latin typeface="Calibri  "/>
              </a:rPr>
              <a:t>Traders are now able to declare additional APCs compatible with </a:t>
            </a:r>
            <a:r>
              <a:rPr lang="en-GB" sz="1400" b="1" kern="0" dirty="0">
                <a:solidFill>
                  <a:srgbClr val="000000"/>
                </a:solidFill>
                <a:latin typeface="Calibri  "/>
              </a:rPr>
              <a:t>CPC 4000</a:t>
            </a:r>
            <a:r>
              <a:rPr lang="en-GB" sz="1400" kern="0" dirty="0">
                <a:solidFill>
                  <a:srgbClr val="000000"/>
                </a:solidFill>
                <a:latin typeface="Calibri  "/>
              </a:rPr>
              <a:t>, including APC </a:t>
            </a:r>
            <a:r>
              <a:rPr lang="en-GB" sz="1400" b="1" kern="0" dirty="0">
                <a:solidFill>
                  <a:srgbClr val="000000"/>
                </a:solidFill>
                <a:latin typeface="Calibri  "/>
              </a:rPr>
              <a:t>000</a:t>
            </a:r>
            <a:r>
              <a:rPr lang="en-GB" sz="1400" kern="0" dirty="0">
                <a:solidFill>
                  <a:srgbClr val="000000"/>
                </a:solidFill>
                <a:latin typeface="Calibri  "/>
              </a:rPr>
              <a:t>. </a:t>
            </a:r>
            <a:r>
              <a:rPr lang="en-GB" sz="1400" b="0" i="0" dirty="0">
                <a:solidFill>
                  <a:srgbClr val="333333"/>
                </a:solidFill>
                <a:effectLst/>
                <a:latin typeface="Calibri  "/>
              </a:rPr>
              <a:t>Additionally, it will enable return goods relief (RGR) to be declared with I1 B&amp;E datasets, by enabling traders to declare Procedure Codes </a:t>
            </a:r>
            <a:r>
              <a:rPr lang="en-GB" sz="1400" b="1" i="0" dirty="0">
                <a:solidFill>
                  <a:srgbClr val="333333"/>
                </a:solidFill>
                <a:effectLst/>
                <a:latin typeface="Calibri  "/>
              </a:rPr>
              <a:t>6110</a:t>
            </a:r>
            <a:r>
              <a:rPr lang="en-GB" sz="1400" b="0" i="0" dirty="0">
                <a:solidFill>
                  <a:srgbClr val="333333"/>
                </a:solidFill>
                <a:effectLst/>
                <a:latin typeface="Calibri  "/>
              </a:rPr>
              <a:t> and </a:t>
            </a:r>
            <a:r>
              <a:rPr lang="en-GB" sz="1400" b="1" i="0" dirty="0">
                <a:solidFill>
                  <a:srgbClr val="333333"/>
                </a:solidFill>
                <a:effectLst/>
                <a:latin typeface="Calibri  "/>
              </a:rPr>
              <a:t>6123</a:t>
            </a:r>
            <a:r>
              <a:rPr lang="en-GB" sz="1400" b="0" i="0" dirty="0">
                <a:solidFill>
                  <a:srgbClr val="333333"/>
                </a:solidFill>
                <a:effectLst/>
                <a:latin typeface="Calibri  "/>
              </a:rPr>
              <a:t>, in addition to relevant APCs, for use with declaration types B &amp; E. </a:t>
            </a:r>
          </a:p>
          <a:p>
            <a:pPr lvl="1">
              <a:defRPr sz="1800" b="0" i="0" u="none" strike="noStrike" kern="0" cap="none" spc="0" baseline="0">
                <a:solidFill>
                  <a:srgbClr val="000000"/>
                </a:solidFill>
                <a:uFillTx/>
              </a:defRPr>
            </a:pPr>
            <a:endParaRPr lang="en-GB" sz="1400" b="1" dirty="0">
              <a:solidFill>
                <a:srgbClr val="333333"/>
              </a:solidFill>
              <a:latin typeface="Calibri  "/>
            </a:endParaRPr>
          </a:p>
          <a:p>
            <a:pPr>
              <a:defRPr sz="1800" b="0" i="0" u="none" strike="noStrike" kern="0" cap="none" spc="0" baseline="0">
                <a:solidFill>
                  <a:srgbClr val="000000"/>
                </a:solidFill>
                <a:uFillTx/>
              </a:defRPr>
            </a:pPr>
            <a:endParaRPr lang="en-GB" sz="1400" kern="0" dirty="0">
              <a:solidFill>
                <a:srgbClr val="000000"/>
              </a:solidFill>
              <a:latin typeface="Calibri  "/>
            </a:endParaRPr>
          </a:p>
          <a:p>
            <a:pPr>
              <a:defRPr sz="1800" b="0" i="0" u="none" strike="noStrike" kern="0" cap="none" spc="0" baseline="0">
                <a:solidFill>
                  <a:srgbClr val="000000"/>
                </a:solidFill>
                <a:uFillTx/>
              </a:defRPr>
            </a:pPr>
            <a:endParaRPr lang="en-GB" sz="1400" kern="0" dirty="0">
              <a:solidFill>
                <a:srgbClr val="000000"/>
              </a:solidFill>
              <a:latin typeface="Calibri  "/>
            </a:endParaRPr>
          </a:p>
          <a:p>
            <a:pPr>
              <a:defRPr sz="1800" b="0" i="0" u="none" strike="noStrike" kern="0" cap="none" spc="0" baseline="0">
                <a:solidFill>
                  <a:srgbClr val="000000"/>
                </a:solidFill>
                <a:uFillTx/>
              </a:defRPr>
            </a:pPr>
            <a:endParaRPr lang="en-GB" sz="1400" kern="0" dirty="0">
              <a:solidFill>
                <a:srgbClr val="000000"/>
              </a:solidFill>
              <a:latin typeface="Calibri  "/>
            </a:endParaRPr>
          </a:p>
          <a:p>
            <a:pPr>
              <a:defRPr sz="1800" b="0" i="0" u="none" strike="noStrike" kern="0" cap="none" spc="0" baseline="0">
                <a:solidFill>
                  <a:srgbClr val="000000"/>
                </a:solidFill>
                <a:uFillTx/>
              </a:defRPr>
            </a:pPr>
            <a:endParaRPr lang="en-GB" sz="1400" kern="0" dirty="0">
              <a:solidFill>
                <a:srgbClr val="000000"/>
              </a:solidFill>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endParaRPr lang="en-GB" sz="1400" b="1" i="0" dirty="0">
              <a:solidFill>
                <a:srgbClr val="333333"/>
              </a:solidFill>
              <a:effectLst/>
              <a:latin typeface="Calibri  "/>
            </a:endParaRP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7" name="TextBox 16">
            <a:extLst>
              <a:ext uri="{FF2B5EF4-FFF2-40B4-BE49-F238E27FC236}">
                <a16:creationId xmlns:a16="http://schemas.microsoft.com/office/drawing/2014/main" id="{662F2480-7392-4674-82BF-D80881240C43}"/>
              </a:ext>
            </a:extLst>
          </p:cNvPr>
          <p:cNvSpPr txBox="1"/>
          <p:nvPr/>
        </p:nvSpPr>
        <p:spPr>
          <a:xfrm>
            <a:off x="430717" y="4350159"/>
            <a:ext cx="10036844" cy="523220"/>
          </a:xfrm>
          <a:prstGeom prst="rect">
            <a:avLst/>
          </a:prstGeom>
          <a:noFill/>
        </p:spPr>
        <p:txBody>
          <a:bodyPr wrap="square">
            <a:spAutoFit/>
          </a:bodyPr>
          <a:lstStyle/>
          <a:p>
            <a:pPr>
              <a:defRPr sz="1800" b="0" i="0" u="none" strike="noStrike" kern="0" cap="none" spc="0" baseline="0">
                <a:solidFill>
                  <a:srgbClr val="000000"/>
                </a:solidFill>
                <a:uFillTx/>
              </a:defRPr>
            </a:pPr>
            <a:r>
              <a:rPr lang="en-GB" sz="1400" kern="0">
                <a:solidFill>
                  <a:srgbClr val="000000"/>
                </a:solidFill>
                <a:latin typeface="Calibri  "/>
              </a:rPr>
              <a:t>Please refer to the Excel icon for a full list of the new Procedure Combinations and Additional Procedure Combinations that can now be used on I1 B&amp;E declarations. To view the document please right-click and select ‘worksheet object’. </a:t>
            </a:r>
          </a:p>
        </p:txBody>
      </p:sp>
      <p:graphicFrame>
        <p:nvGraphicFramePr>
          <p:cNvPr id="10" name="Object 9">
            <a:extLst>
              <a:ext uri="{FF2B5EF4-FFF2-40B4-BE49-F238E27FC236}">
                <a16:creationId xmlns:a16="http://schemas.microsoft.com/office/drawing/2014/main" id="{84D11A64-128A-41EC-8712-20797FD9CD29}"/>
              </a:ext>
            </a:extLst>
          </p:cNvPr>
          <p:cNvGraphicFramePr>
            <a:graphicFrameLocks noChangeAspect="1"/>
          </p:cNvGraphicFramePr>
          <p:nvPr/>
        </p:nvGraphicFramePr>
        <p:xfrm>
          <a:off x="10410842" y="4242824"/>
          <a:ext cx="1049880" cy="896772"/>
        </p:xfrm>
        <a:graphic>
          <a:graphicData uri="http://schemas.openxmlformats.org/presentationml/2006/ole">
            <mc:AlternateContent xmlns:mc="http://schemas.openxmlformats.org/markup-compatibility/2006">
              <mc:Choice xmlns:v="urn:schemas-microsoft-com:vml" Requires="v">
                <p:oleObj name="Worksheet" showAsIcon="1" r:id="rId3" imgW="914620" imgH="780808" progId="Excel.Sheet.12">
                  <p:embed/>
                </p:oleObj>
              </mc:Choice>
              <mc:Fallback>
                <p:oleObj name="Worksheet" showAsIcon="1" r:id="rId3" imgW="914620" imgH="780808" progId="Excel.Sheet.12">
                  <p:embed/>
                  <p:pic>
                    <p:nvPicPr>
                      <p:cNvPr id="10" name="Object 9">
                        <a:extLst>
                          <a:ext uri="{FF2B5EF4-FFF2-40B4-BE49-F238E27FC236}">
                            <a16:creationId xmlns:a16="http://schemas.microsoft.com/office/drawing/2014/main" id="{84D11A64-128A-41EC-8712-20797FD9CD29}"/>
                          </a:ext>
                        </a:extLst>
                      </p:cNvPr>
                      <p:cNvPicPr/>
                      <p:nvPr/>
                    </p:nvPicPr>
                    <p:blipFill>
                      <a:blip r:embed="rId4"/>
                      <a:stretch>
                        <a:fillRect/>
                      </a:stretch>
                    </p:blipFill>
                    <p:spPr>
                      <a:xfrm>
                        <a:off x="10410842" y="4242824"/>
                        <a:ext cx="1049880" cy="896772"/>
                      </a:xfrm>
                      <a:prstGeom prst="rect">
                        <a:avLst/>
                      </a:prstGeom>
                    </p:spPr>
                  </p:pic>
                </p:oleObj>
              </mc:Fallback>
            </mc:AlternateContent>
          </a:graphicData>
        </a:graphic>
      </p:graphicFrame>
      <p:sp>
        <p:nvSpPr>
          <p:cNvPr id="12" name="Rectangle 11">
            <a:extLst>
              <a:ext uri="{FF2B5EF4-FFF2-40B4-BE49-F238E27FC236}">
                <a16:creationId xmlns:a16="http://schemas.microsoft.com/office/drawing/2014/main" id="{C5DD1616-4289-4DA6-81F1-C354BBF44786}"/>
              </a:ext>
            </a:extLst>
          </p:cNvPr>
          <p:cNvSpPr/>
          <p:nvPr/>
        </p:nvSpPr>
        <p:spPr>
          <a:xfrm>
            <a:off x="1345975" y="5139596"/>
            <a:ext cx="10415308" cy="523220"/>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l" defTabSz="914400" rtl="0" fontAlgn="auto" hangingPunct="1">
              <a:lnSpc>
                <a:spcPct val="100000"/>
              </a:lnSpc>
              <a:spcBef>
                <a:spcPts val="0"/>
              </a:spcBef>
              <a:spcAft>
                <a:spcPts val="0"/>
              </a:spcAft>
              <a:buSzPct val="100000"/>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TT_IM092a - </a:t>
            </a:r>
            <a:r>
              <a:rPr lang="en-GB" sz="1100" b="0" i="0" u="none" strike="noStrike" kern="1200" cap="none" spc="0" baseline="0">
                <a:solidFill>
                  <a:srgbClr val="000000"/>
                </a:solidFill>
                <a:uFillTx/>
                <a:latin typeface="Calibri"/>
              </a:rPr>
              <a:t>Import pre-lodged occasional simplified declaration, for goods moving from </a:t>
            </a:r>
            <a:r>
              <a:rPr lang="en-GB" sz="1100" b="0" i="0" u="none" strike="noStrike" kern="1200" cap="none" spc="0" baseline="0" err="1">
                <a:solidFill>
                  <a:srgbClr val="000000"/>
                </a:solidFill>
                <a:uFillTx/>
                <a:latin typeface="Calibri"/>
              </a:rPr>
              <a:t>RoW</a:t>
            </a:r>
            <a:r>
              <a:rPr lang="en-GB" sz="1100" b="0" i="0" u="none" strike="noStrike" kern="1200" cap="none" spc="0" baseline="0">
                <a:solidFill>
                  <a:srgbClr val="000000"/>
                </a:solidFill>
                <a:uFillTx/>
                <a:latin typeface="Calibri"/>
              </a:rPr>
              <a:t> to GB, where duties are relieved following re-importation of returned goods.</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3" name="Rectangle 12">
            <a:extLst>
              <a:ext uri="{FF2B5EF4-FFF2-40B4-BE49-F238E27FC236}">
                <a16:creationId xmlns:a16="http://schemas.microsoft.com/office/drawing/2014/main" id="{D71270C0-D5EB-47CA-B81B-84952E11C158}"/>
              </a:ext>
            </a:extLst>
          </p:cNvPr>
          <p:cNvSpPr/>
          <p:nvPr/>
        </p:nvSpPr>
        <p:spPr>
          <a:xfrm>
            <a:off x="443845" y="5139596"/>
            <a:ext cx="898225" cy="523220"/>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
        <p:nvSpPr>
          <p:cNvPr id="14" name="Rectangle 13">
            <a:extLst>
              <a:ext uri="{FF2B5EF4-FFF2-40B4-BE49-F238E27FC236}">
                <a16:creationId xmlns:a16="http://schemas.microsoft.com/office/drawing/2014/main" id="{FBCB046F-6C9E-4324-BDB8-12E428A80F26}"/>
              </a:ext>
            </a:extLst>
          </p:cNvPr>
          <p:cNvSpPr/>
          <p:nvPr/>
        </p:nvSpPr>
        <p:spPr>
          <a:xfrm>
            <a:off x="1345975" y="2353566"/>
            <a:ext cx="10415308" cy="523220"/>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fontAlgn="auto" hangingPunct="1">
              <a:lnSpc>
                <a:spcPct val="100000"/>
              </a:lnSpc>
              <a:spcBef>
                <a:spcPts val="0"/>
              </a:spcBef>
              <a:spcAft>
                <a:spcPts val="0"/>
              </a:spcAft>
              <a:buSzPct val="100000"/>
              <a:buFont typeface="Arial" panose="020B0604020202020204" pitchFamily="34" charset="0"/>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TT_IM093a - </a:t>
            </a:r>
            <a:r>
              <a:rPr lang="en-GB" sz="1100" i="0" u="none" strike="noStrike" kern="1200" cap="none" spc="0" baseline="0">
                <a:solidFill>
                  <a:srgbClr val="000000"/>
                </a:solidFill>
                <a:uFillTx/>
                <a:latin typeface="Calibri"/>
              </a:rPr>
              <a:t>Import frontier declaration, for goods moving from </a:t>
            </a:r>
            <a:r>
              <a:rPr lang="en-GB" sz="1100" i="0" u="none" strike="noStrike" kern="1200" cap="none" spc="0" baseline="0" err="1">
                <a:solidFill>
                  <a:srgbClr val="000000"/>
                </a:solidFill>
                <a:uFillTx/>
                <a:latin typeface="Calibri"/>
              </a:rPr>
              <a:t>RoW</a:t>
            </a:r>
            <a:r>
              <a:rPr lang="en-GB" sz="1100" i="0" u="none" strike="noStrike" kern="1200" cap="none" spc="0" baseline="0">
                <a:solidFill>
                  <a:srgbClr val="000000"/>
                </a:solidFill>
                <a:uFillTx/>
                <a:latin typeface="Calibri"/>
              </a:rPr>
              <a:t> to GB, where duties are suspended following temporary admission of packings and no security reservation is applied. </a:t>
            </a:r>
          </a:p>
        </p:txBody>
      </p:sp>
      <p:sp>
        <p:nvSpPr>
          <p:cNvPr id="15" name="Rectangle 14">
            <a:extLst>
              <a:ext uri="{FF2B5EF4-FFF2-40B4-BE49-F238E27FC236}">
                <a16:creationId xmlns:a16="http://schemas.microsoft.com/office/drawing/2014/main" id="{31C5E60D-9DFE-4EBC-B73D-3E48C5CEC516}"/>
              </a:ext>
            </a:extLst>
          </p:cNvPr>
          <p:cNvSpPr/>
          <p:nvPr/>
        </p:nvSpPr>
        <p:spPr>
          <a:xfrm>
            <a:off x="443845" y="2353566"/>
            <a:ext cx="898225" cy="523220"/>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extLst>
      <p:ext uri="{BB962C8B-B14F-4D97-AF65-F5344CB8AC3E}">
        <p14:creationId xmlns:p14="http://schemas.microsoft.com/office/powerpoint/2010/main" val="4272846738"/>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DC7CADB-6C1A-4D4A-A516-95F40EB1DC9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E7CC03A-E952-4570-9944-54633B40287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A6106B2-F0B5-4034-ACE0-21C40A807A8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4E8393C6-5307-47EF-A1D7-8A31B5344A69}"/>
              </a:ext>
            </a:extLst>
          </p:cNvPr>
          <p:cNvSpPr txBox="1"/>
          <p:nvPr/>
        </p:nvSpPr>
        <p:spPr>
          <a:xfrm>
            <a:off x="11689261"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2549B06-F108-4282-944A-B790E7893E6F}" type="slidenum">
              <a:rPr sz="1200"/>
              <a:t>345</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F5BC4600-8F6E-40AA-B745-9D15552EB81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30676D74-0392-4823-BE0A-FE08EFBFBCB1}"/>
              </a:ext>
            </a:extLst>
          </p:cNvPr>
          <p:cNvSpPr/>
          <p:nvPr/>
        </p:nvSpPr>
        <p:spPr>
          <a:xfrm>
            <a:off x="399245" y="1302763"/>
            <a:ext cx="11282159" cy="1004184"/>
          </a:xfrm>
          <a:prstGeom prst="rect">
            <a:avLst/>
          </a:prstGeom>
          <a:noFill/>
          <a:ln cap="flat">
            <a:noFill/>
            <a:prstDash val="solid"/>
          </a:ln>
        </p:spPr>
        <p:txBody>
          <a:bodyPr vert="horz" wrap="square" lIns="91440" tIns="45720" rIns="91440" bIns="45720" anchor="t" anchorCtr="0" compatLnSpc="1">
            <a:spAutoFit/>
          </a:bodyPr>
          <a:lstStyle/>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sp>
        <p:nvSpPr>
          <p:cNvPr id="12" name="Rectangle 14">
            <a:extLst>
              <a:ext uri="{FF2B5EF4-FFF2-40B4-BE49-F238E27FC236}">
                <a16:creationId xmlns:a16="http://schemas.microsoft.com/office/drawing/2014/main" id="{704A1C01-DCC8-4CA4-B25F-3E9197BE8FA6}"/>
              </a:ext>
            </a:extLst>
          </p:cNvPr>
          <p:cNvSpPr/>
          <p:nvPr/>
        </p:nvSpPr>
        <p:spPr>
          <a:xfrm>
            <a:off x="244071" y="1199875"/>
            <a:ext cx="11282159" cy="1695718"/>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Tariff Volume 3 Misalignments: Procedure Code Combinations</a:t>
            </a:r>
          </a:p>
          <a:p>
            <a:pPr marL="1054796"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cs typeface="Times New Roman" pitchFamily="18"/>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sp>
        <p:nvSpPr>
          <p:cNvPr id="13" name="TextBox 15">
            <a:extLst>
              <a:ext uri="{FF2B5EF4-FFF2-40B4-BE49-F238E27FC236}">
                <a16:creationId xmlns:a16="http://schemas.microsoft.com/office/drawing/2014/main" id="{65D01AAA-A388-4100-9FCB-8467F22541A7}"/>
              </a:ext>
            </a:extLst>
          </p:cNvPr>
          <p:cNvSpPr txBox="1"/>
          <p:nvPr/>
        </p:nvSpPr>
        <p:spPr>
          <a:xfrm>
            <a:off x="244071" y="1443015"/>
            <a:ext cx="11619829" cy="3309304"/>
          </a:xfrm>
          <a:prstGeom prst="rect">
            <a:avLst/>
          </a:prstGeom>
          <a:noFill/>
          <a:ln cap="flat">
            <a:noFill/>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Calibri" pitchFamily="34"/>
                <a:cs typeface="Calibri" pitchFamily="34"/>
              </a:rPr>
              <a:t>Due to current misalignments, CDS incorrectly rejects declarations where valid Data Element (DE) 1/10 (Procedure Codes) and DE 1/11 (Additional Procedure Codes) combinations are entered. Aligning CDS behaviour to the latest version of the CDS Tariff Completion Guidance will enable CDS to accurately process valid code combinations, following the guidance available on </a:t>
            </a:r>
            <a:r>
              <a:rPr lang="en-GB" sz="1400" b="0" i="0" u="sng" strike="noStrike" kern="1200" cap="none" spc="0" baseline="0">
                <a:solidFill>
                  <a:srgbClr val="0000FF"/>
                </a:solidFill>
                <a:uFillTx/>
                <a:latin typeface="Calibri (body)"/>
                <a:ea typeface="Calibri" pitchFamily="34"/>
                <a:cs typeface="Times New Roman" pitchFamily="18"/>
                <a:hlinkClick r:id="rId3"/>
              </a:rPr>
              <a:t>UK Trade Tariff: volume 3 for CDS - GOV.UK (www.gov.uk)</a:t>
            </a:r>
            <a:r>
              <a:rPr lang="en-GB" sz="1400" b="0" i="0" u="none" strike="noStrike" kern="1200" cap="none" spc="0" baseline="0">
                <a:solidFill>
                  <a:srgbClr val="000000"/>
                </a:solidFill>
                <a:uFillTx/>
                <a:latin typeface="Calibri (body)"/>
                <a:ea typeface="Calibri" pitchFamily="34"/>
                <a:cs typeface="Times New Roman" pitchFamily="18"/>
              </a:rPr>
              <a:t>.</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a typeface="Calibri" pitchFamily="34"/>
              <a:cs typeface="Times New Roman" pitchFamily="18"/>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Calibri" pitchFamily="34"/>
                <a:cs typeface="Calibri" pitchFamily="34"/>
              </a:rPr>
              <a:t>For a full list of the codes that are now aligned to the CDS Trade Tariff Volume 3 from TTM19.0, please refer to the latest version of the Codelist and WCO References 3.7.0 document (v2.01), located in the </a:t>
            </a:r>
            <a:r>
              <a:rPr lang="en-GB" sz="1400" b="0" i="0" u="none" strike="noStrike" kern="1200" cap="none" spc="0" baseline="0">
                <a:solidFill>
                  <a:srgbClr val="333333"/>
                </a:solidFill>
                <a:uFillTx/>
                <a:latin typeface="Calibri (body)"/>
                <a:ea typeface="Calibri" pitchFamily="34"/>
                <a:cs typeface="Calibri" pitchFamily="34"/>
                <a:hlinkClick r:id="rId4"/>
              </a:rPr>
              <a:t>HMRC Developer Hub</a:t>
            </a:r>
            <a:r>
              <a:rPr lang="en-GB" sz="1400" b="0" i="0" u="none" strike="noStrike" kern="1200" cap="none" spc="0" baseline="0">
                <a:solidFill>
                  <a:srgbClr val="333333"/>
                </a:solidFill>
                <a:uFillTx/>
                <a:latin typeface="Calibri (body)"/>
                <a:ea typeface="Calibri" pitchFamily="34"/>
                <a:cs typeface="Calibri" pitchFamily="34"/>
              </a:rPr>
              <a:t>. </a:t>
            </a:r>
          </a:p>
          <a:p>
            <a:pPr marL="883346" lvl="1" indent="-285750">
              <a:lnSpc>
                <a:spcPct val="107000"/>
              </a:lnSpc>
              <a:buFont typeface="Courier New" panose="02070309020205020404" pitchFamily="49" charset="0"/>
              <a:buChar char="o"/>
              <a:defRPr sz="1800" b="0" i="0" u="none" strike="noStrike" kern="0" cap="none" spc="0" baseline="0">
                <a:solidFill>
                  <a:srgbClr val="000000"/>
                </a:solidFill>
                <a:uFillTx/>
              </a:defRPr>
            </a:pPr>
            <a:r>
              <a:rPr lang="en-GB" sz="1400">
                <a:solidFill>
                  <a:srgbClr val="333333"/>
                </a:solidFill>
                <a:latin typeface="Calibri (body)"/>
                <a:ea typeface="Calibri" pitchFamily="34"/>
                <a:cs typeface="Calibri" pitchFamily="34"/>
              </a:rPr>
              <a:t>Addition of 112 Procedure Combinations to the CDS Defined Codes Tab.</a:t>
            </a:r>
          </a:p>
          <a:p>
            <a:pPr marL="597596" lvl="1">
              <a:lnSpc>
                <a:spcPct val="107000"/>
              </a:lnSpc>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body)"/>
              <a:cs typeface="Calibri" pitchFamily="34"/>
            </a:endParaRPr>
          </a:p>
          <a:p>
            <a:pPr marL="140396">
              <a:lnSpc>
                <a:spcPct val="107000"/>
              </a:lnSpc>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Tariff </a:t>
            </a:r>
            <a:r>
              <a:rPr lang="en-GB" sz="1400" b="1" u="sng">
                <a:solidFill>
                  <a:srgbClr val="333333"/>
                </a:solidFill>
                <a:latin typeface="Calibri  "/>
              </a:rPr>
              <a:t>Volume 3 </a:t>
            </a:r>
            <a:r>
              <a:rPr lang="en-GB" sz="1400" b="1" i="0" u="sng" strike="noStrike" kern="1200" cap="none" spc="0" baseline="0">
                <a:solidFill>
                  <a:srgbClr val="333333"/>
                </a:solidFill>
                <a:uFillTx/>
                <a:latin typeface="Calibri  "/>
              </a:rPr>
              <a:t>Misalignments: Guarantee Types</a:t>
            </a:r>
          </a:p>
          <a:p>
            <a:pPr marL="140396">
              <a:lnSpc>
                <a:spcPct val="107000"/>
              </a:lnSpc>
              <a:defRPr sz="1800" b="0" i="0" u="none" strike="noStrike" kern="0" cap="none" spc="0" baseline="0">
                <a:solidFill>
                  <a:srgbClr val="000000"/>
                </a:solidFill>
                <a:uFillTx/>
              </a:defRPr>
            </a:pPr>
            <a:r>
              <a:rPr lang="en-GB" sz="1400" kern="0">
                <a:solidFill>
                  <a:srgbClr val="333333"/>
                </a:solidFill>
                <a:latin typeface="Calibri  "/>
              </a:rPr>
              <a:t>From TTM19.0, CDS behaviour will be aligned to the latest version of the Tariff Volume 3, </a:t>
            </a:r>
            <a:r>
              <a:rPr lang="en-GB" sz="1400" b="0" i="0">
                <a:solidFill>
                  <a:srgbClr val="333333"/>
                </a:solidFill>
                <a:effectLst/>
                <a:latin typeface="Calibri  "/>
              </a:rPr>
              <a:t>to permit valid Guarantee Type Code X for use on import and export declarations. Additionally, traders will be </a:t>
            </a:r>
            <a:r>
              <a:rPr lang="en-GB" sz="1400">
                <a:solidFill>
                  <a:srgbClr val="333333"/>
                </a:solidFill>
                <a:latin typeface="Calibri  "/>
              </a:rPr>
              <a:t>able to submit</a:t>
            </a:r>
            <a:r>
              <a:rPr lang="en-GB" sz="1400" b="0" i="0">
                <a:solidFill>
                  <a:srgbClr val="333333"/>
                </a:solidFill>
                <a:effectLst/>
                <a:latin typeface="Calibri  "/>
              </a:rPr>
              <a:t> declarations with an Export Guarantee Type Code: </a:t>
            </a:r>
            <a:r>
              <a:rPr lang="en-GB" sz="1400" b="1" i="0">
                <a:solidFill>
                  <a:srgbClr val="333333"/>
                </a:solidFill>
                <a:effectLst/>
                <a:latin typeface="Calibri  "/>
              </a:rPr>
              <a:t>0, 1, 5, 8, X </a:t>
            </a:r>
            <a:r>
              <a:rPr lang="en-GB" sz="1400" i="0">
                <a:solidFill>
                  <a:srgbClr val="333333"/>
                </a:solidFill>
                <a:effectLst/>
                <a:latin typeface="Calibri  "/>
              </a:rPr>
              <a:t>or</a:t>
            </a:r>
            <a:r>
              <a:rPr lang="en-GB" sz="1400" b="1" i="0">
                <a:solidFill>
                  <a:srgbClr val="333333"/>
                </a:solidFill>
                <a:effectLst/>
                <a:latin typeface="Calibri  "/>
              </a:rPr>
              <a:t> C </a:t>
            </a:r>
            <a:r>
              <a:rPr lang="en-GB" sz="1400" i="0">
                <a:solidFill>
                  <a:srgbClr val="333333"/>
                </a:solidFill>
                <a:effectLst/>
                <a:latin typeface="Calibri  "/>
              </a:rPr>
              <a:t>entered in DE 8/2.</a:t>
            </a:r>
            <a:endParaRPr lang="en-GB" sz="1400" i="0"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body)"/>
              <a:cs typeface="Calibri" pitchFamily="34"/>
            </a:endParaRPr>
          </a:p>
          <a:p>
            <a:pPr marL="140396">
              <a:lnSpc>
                <a:spcPct val="107000"/>
              </a:lnSpc>
              <a:buSzPct val="100000"/>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140396">
              <a:lnSpc>
                <a:spcPct val="107000"/>
              </a:lnSpc>
              <a:buSzPct val="100000"/>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a typeface="Calibri" pitchFamily="34"/>
            </a:endParaRPr>
          </a:p>
        </p:txBody>
      </p:sp>
      <p:graphicFrame>
        <p:nvGraphicFramePr>
          <p:cNvPr id="17" name="Table 12">
            <a:extLst>
              <a:ext uri="{FF2B5EF4-FFF2-40B4-BE49-F238E27FC236}">
                <a16:creationId xmlns:a16="http://schemas.microsoft.com/office/drawing/2014/main" id="{F08AC4B8-2653-4B2F-9395-D355BA2711D3}"/>
              </a:ext>
            </a:extLst>
          </p:cNvPr>
          <p:cNvGraphicFramePr>
            <a:graphicFrameLocks noGrp="1"/>
          </p:cNvGraphicFramePr>
          <p:nvPr/>
        </p:nvGraphicFramePr>
        <p:xfrm>
          <a:off x="2626719" y="4291727"/>
          <a:ext cx="6827209" cy="2211712"/>
        </p:xfrm>
        <a:graphic>
          <a:graphicData uri="http://schemas.openxmlformats.org/drawingml/2006/table">
            <a:tbl>
              <a:tblPr firstRow="1" bandRow="1">
                <a:effectLst/>
                <a:tableStyleId>{5C22544A-7EE6-4342-B048-85BDC9FD1C3A}</a:tableStyleId>
              </a:tblPr>
              <a:tblGrid>
                <a:gridCol w="1203360">
                  <a:extLst>
                    <a:ext uri="{9D8B030D-6E8A-4147-A177-3AD203B41FA5}">
                      <a16:colId xmlns:a16="http://schemas.microsoft.com/office/drawing/2014/main" val="3116016550"/>
                    </a:ext>
                  </a:extLst>
                </a:gridCol>
                <a:gridCol w="5623849">
                  <a:extLst>
                    <a:ext uri="{9D8B030D-6E8A-4147-A177-3AD203B41FA5}">
                      <a16:colId xmlns:a16="http://schemas.microsoft.com/office/drawing/2014/main" val="2833435084"/>
                    </a:ext>
                  </a:extLst>
                </a:gridCol>
              </a:tblGrid>
              <a:tr h="206174">
                <a:tc>
                  <a:txBody>
                    <a:bodyPr/>
                    <a:lstStyle/>
                    <a:p>
                      <a:pPr algn="l"/>
                      <a:r>
                        <a:rPr lang="en-GB" sz="1200">
                          <a:effectLst/>
                        </a:rPr>
                        <a:t>Guarantee Code</a:t>
                      </a:r>
                    </a:p>
                  </a:txBody>
                  <a:tcPr marL="82800" marR="19050" marT="14288" marB="14288" anchor="ctr">
                    <a:solidFill>
                      <a:srgbClr val="009999"/>
                    </a:solidFill>
                  </a:tcPr>
                </a:tc>
                <a:tc>
                  <a:txBody>
                    <a:bodyPr/>
                    <a:lstStyle/>
                    <a:p>
                      <a:pPr algn="l"/>
                      <a:r>
                        <a:rPr lang="en-GB" sz="1200">
                          <a:effectLst/>
                        </a:rPr>
                        <a:t>Description</a:t>
                      </a:r>
                    </a:p>
                  </a:txBody>
                  <a:tcPr marL="82800" marR="19050" marT="14288" marB="14288" anchor="ctr">
                    <a:solidFill>
                      <a:srgbClr val="009999"/>
                    </a:solidFill>
                  </a:tcPr>
                </a:tc>
                <a:extLst>
                  <a:ext uri="{0D108BD9-81ED-4DB2-BD59-A6C34878D82A}">
                    <a16:rowId xmlns:a16="http://schemas.microsoft.com/office/drawing/2014/main" val="3731717049"/>
                  </a:ext>
                </a:extLst>
              </a:tr>
              <a:tr h="178946">
                <a:tc>
                  <a:txBody>
                    <a:bodyPr/>
                    <a:lstStyle/>
                    <a:p>
                      <a:pPr algn="l"/>
                      <a:r>
                        <a:rPr lang="en-GB" sz="1200">
                          <a:effectLst/>
                        </a:rPr>
                        <a:t>0</a:t>
                      </a:r>
                    </a:p>
                  </a:txBody>
                  <a:tcPr marL="82800" marR="19050" marT="14288" marB="14288" anchor="ctr"/>
                </a:tc>
                <a:tc>
                  <a:txBody>
                    <a:bodyPr/>
                    <a:lstStyle/>
                    <a:p>
                      <a:pPr algn="l"/>
                      <a:r>
                        <a:rPr lang="en-GB" sz="1200">
                          <a:effectLst/>
                        </a:rPr>
                        <a:t>For Guarantee Waiver (Article 95(2) of the Code)</a:t>
                      </a:r>
                    </a:p>
                  </a:txBody>
                  <a:tcPr marL="82800" marR="19050" marT="14288" marB="14288" anchor="ctr"/>
                </a:tc>
                <a:extLst>
                  <a:ext uri="{0D108BD9-81ED-4DB2-BD59-A6C34878D82A}">
                    <a16:rowId xmlns:a16="http://schemas.microsoft.com/office/drawing/2014/main" val="671366253"/>
                  </a:ext>
                </a:extLst>
              </a:tr>
              <a:tr h="178946">
                <a:tc>
                  <a:txBody>
                    <a:bodyPr/>
                    <a:lstStyle/>
                    <a:p>
                      <a:pPr algn="l"/>
                      <a:r>
                        <a:rPr lang="en-GB" sz="1200">
                          <a:effectLst/>
                        </a:rPr>
                        <a:t>1</a:t>
                      </a:r>
                    </a:p>
                  </a:txBody>
                  <a:tcPr marL="82800" marR="19050" marT="14288" marB="14288" anchor="ctr"/>
                </a:tc>
                <a:tc>
                  <a:txBody>
                    <a:bodyPr/>
                    <a:lstStyle/>
                    <a:p>
                      <a:pPr algn="l"/>
                      <a:r>
                        <a:rPr lang="en-GB" sz="1200">
                          <a:effectLst/>
                        </a:rPr>
                        <a:t>For Comprehensive Guarantee (Article 89(5) of the Code</a:t>
                      </a:r>
                    </a:p>
                  </a:txBody>
                  <a:tcPr marL="82800" marR="19050" marT="14288" marB="14288" anchor="ctr"/>
                </a:tc>
                <a:extLst>
                  <a:ext uri="{0D108BD9-81ED-4DB2-BD59-A6C34878D82A}">
                    <a16:rowId xmlns:a16="http://schemas.microsoft.com/office/drawing/2014/main" val="619302645"/>
                  </a:ext>
                </a:extLst>
              </a:tr>
              <a:tr h="639265">
                <a:tc>
                  <a:txBody>
                    <a:bodyPr/>
                    <a:lstStyle/>
                    <a:p>
                      <a:pPr algn="l"/>
                      <a:r>
                        <a:rPr lang="en-GB" sz="1200">
                          <a:effectLst/>
                        </a:rPr>
                        <a:t>5</a:t>
                      </a:r>
                    </a:p>
                  </a:txBody>
                  <a:tcPr marL="82800" marR="19050" marT="14288" marB="14288" anchor="ctr"/>
                </a:tc>
                <a:tc>
                  <a:txBody>
                    <a:bodyPr/>
                    <a:lstStyle/>
                    <a:p>
                      <a:pPr algn="l"/>
                      <a:r>
                        <a:rPr lang="en-GB" sz="1200">
                          <a:effectLst/>
                        </a:rPr>
                        <a:t>For Guarantee Waiver where the amount of import or export duty to be secured does not exceed the statistical value threshold for declarations laid down in accordance with Article 3(4) of Regulation (EC) No 471/2009 of the European Parliament and of the Council (15) (Article 89(9) of the Code)</a:t>
                      </a:r>
                    </a:p>
                  </a:txBody>
                  <a:tcPr marL="82800" marR="19050" marT="14288" marB="14288" anchor="ctr"/>
                </a:tc>
                <a:extLst>
                  <a:ext uri="{0D108BD9-81ED-4DB2-BD59-A6C34878D82A}">
                    <a16:rowId xmlns:a16="http://schemas.microsoft.com/office/drawing/2014/main" val="1908889651"/>
                  </a:ext>
                </a:extLst>
              </a:tr>
              <a:tr h="178946">
                <a:tc>
                  <a:txBody>
                    <a:bodyPr/>
                    <a:lstStyle/>
                    <a:p>
                      <a:pPr algn="l"/>
                      <a:r>
                        <a:rPr lang="en-GB" sz="1200">
                          <a:effectLst/>
                        </a:rPr>
                        <a:t>8</a:t>
                      </a:r>
                    </a:p>
                  </a:txBody>
                  <a:tcPr marL="82800" marR="19050" marT="14288" marB="14288" anchor="ctr"/>
                </a:tc>
                <a:tc>
                  <a:txBody>
                    <a:bodyPr/>
                    <a:lstStyle/>
                    <a:p>
                      <a:pPr algn="l"/>
                      <a:r>
                        <a:rPr lang="en-GB" sz="1200">
                          <a:effectLst/>
                        </a:rPr>
                        <a:t>For Guarantee not required for certain public bodies (Article 89(7) of the Code)</a:t>
                      </a:r>
                    </a:p>
                  </a:txBody>
                  <a:tcPr marL="82800" marR="19050" marT="14288" marB="14288" anchor="ctr"/>
                </a:tc>
                <a:extLst>
                  <a:ext uri="{0D108BD9-81ED-4DB2-BD59-A6C34878D82A}">
                    <a16:rowId xmlns:a16="http://schemas.microsoft.com/office/drawing/2014/main" val="1095812537"/>
                  </a:ext>
                </a:extLst>
              </a:tr>
              <a:tr h="329988">
                <a:tc>
                  <a:txBody>
                    <a:bodyPr/>
                    <a:lstStyle/>
                    <a:p>
                      <a:pPr algn="l"/>
                      <a:r>
                        <a:rPr lang="en-GB" sz="1200">
                          <a:effectLst/>
                        </a:rPr>
                        <a:t>C</a:t>
                      </a:r>
                    </a:p>
                  </a:txBody>
                  <a:tcPr marL="82800" marR="19050" marT="14288" marB="14288" anchor="ctr"/>
                </a:tc>
                <a:tc>
                  <a:txBody>
                    <a:bodyPr/>
                    <a:lstStyle/>
                    <a:p>
                      <a:pPr algn="l"/>
                      <a:r>
                        <a:rPr lang="en-GB" sz="1200">
                          <a:effectLst/>
                        </a:rPr>
                        <a:t>For Guarantee not required for goods carried by fix transport installations (Article 89(8)(b) of the Code)</a:t>
                      </a:r>
                    </a:p>
                  </a:txBody>
                  <a:tcPr marL="82800" marR="19050" marT="14288" marB="14288" anchor="ctr"/>
                </a:tc>
                <a:extLst>
                  <a:ext uri="{0D108BD9-81ED-4DB2-BD59-A6C34878D82A}">
                    <a16:rowId xmlns:a16="http://schemas.microsoft.com/office/drawing/2014/main" val="552791181"/>
                  </a:ext>
                </a:extLst>
              </a:tr>
              <a:tr h="178946">
                <a:tc>
                  <a:txBody>
                    <a:bodyPr/>
                    <a:lstStyle/>
                    <a:p>
                      <a:pPr algn="l"/>
                      <a:r>
                        <a:rPr lang="en-GB" sz="1200">
                          <a:effectLst/>
                        </a:rPr>
                        <a:t>X</a:t>
                      </a:r>
                    </a:p>
                  </a:txBody>
                  <a:tcPr marL="82800" marR="19050" marT="14288" marB="14288" anchor="ctr"/>
                </a:tc>
                <a:tc>
                  <a:txBody>
                    <a:bodyPr/>
                    <a:lstStyle/>
                    <a:p>
                      <a:pPr algn="l"/>
                      <a:r>
                        <a:rPr lang="en-GB" sz="1200" dirty="0">
                          <a:effectLst/>
                        </a:rPr>
                        <a:t>Excise Guarantee</a:t>
                      </a:r>
                    </a:p>
                  </a:txBody>
                  <a:tcPr marL="82800" marR="19050" marT="14288" marB="14288" anchor="ctr"/>
                </a:tc>
                <a:extLst>
                  <a:ext uri="{0D108BD9-81ED-4DB2-BD59-A6C34878D82A}">
                    <a16:rowId xmlns:a16="http://schemas.microsoft.com/office/drawing/2014/main" val="3131140865"/>
                  </a:ext>
                </a:extLst>
              </a:tr>
            </a:tbl>
          </a:graphicData>
        </a:graphic>
      </p:graphicFrame>
      <p:sp>
        <p:nvSpPr>
          <p:cNvPr id="19" name="TextBox 18">
            <a:extLst>
              <a:ext uri="{FF2B5EF4-FFF2-40B4-BE49-F238E27FC236}">
                <a16:creationId xmlns:a16="http://schemas.microsoft.com/office/drawing/2014/main" id="{78369A85-2F88-4F81-A905-527F6DFC964A}"/>
              </a:ext>
            </a:extLst>
          </p:cNvPr>
          <p:cNvSpPr txBox="1"/>
          <p:nvPr/>
        </p:nvSpPr>
        <p:spPr>
          <a:xfrm>
            <a:off x="2396439" y="4003142"/>
            <a:ext cx="5822348" cy="312650"/>
          </a:xfrm>
          <a:prstGeom prst="rect">
            <a:avLst/>
          </a:prstGeom>
          <a:noFill/>
        </p:spPr>
        <p:txBody>
          <a:bodyPr wrap="square">
            <a:spAutoFit/>
          </a:bodyPr>
          <a:lstStyle/>
          <a:p>
            <a:pPr marL="140396">
              <a:lnSpc>
                <a:spcPct val="107000"/>
              </a:lnSpc>
              <a:defRPr sz="1800" b="0" i="0" u="none" strike="noStrike" kern="0" cap="none" spc="0" baseline="0">
                <a:solidFill>
                  <a:srgbClr val="000000"/>
                </a:solidFill>
                <a:uFillTx/>
              </a:defRPr>
            </a:pPr>
            <a:r>
              <a:rPr lang="en-GB" sz="1400" b="1" i="0" strike="noStrike" kern="1200" cap="none" spc="0" baseline="0">
                <a:solidFill>
                  <a:srgbClr val="333333"/>
                </a:solidFill>
                <a:uFillTx/>
                <a:latin typeface="Calibri  "/>
              </a:rPr>
              <a:t>Valid Guarantee Type Codes (DE 8/2):</a:t>
            </a:r>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282FFF0-605C-4CC3-8EBD-A3855C9DDAE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8FFE4C8-9532-4BC2-9A7E-03D81D4C1C3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3CA5C86-C592-486F-8C7C-01F3AB9CBA2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B7705774-CD93-4DA3-A316-615CF505BFCB}"/>
              </a:ext>
            </a:extLst>
          </p:cNvPr>
          <p:cNvSpPr txBox="1"/>
          <p:nvPr/>
        </p:nvSpPr>
        <p:spPr>
          <a:xfrm>
            <a:off x="11710527" y="636663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9DBE14A-8C11-4B1B-93D1-98B7AB3B43F9}" type="slidenum">
              <a:rPr sz="1200"/>
              <a:t>346</a:t>
            </a:fld>
            <a:endParaRPr lang="en-GB" sz="1200" b="0" i="0" u="none" strike="noStrike" kern="1200" cap="none" spc="0" baseline="0" dirty="0">
              <a:solidFill>
                <a:srgbClr val="000000"/>
              </a:solidFill>
              <a:uFillTx/>
              <a:latin typeface="Calibri"/>
            </a:endParaRPr>
          </a:p>
        </p:txBody>
      </p:sp>
      <p:sp>
        <p:nvSpPr>
          <p:cNvPr id="8" name="Rectangle 7">
            <a:extLst>
              <a:ext uri="{FF2B5EF4-FFF2-40B4-BE49-F238E27FC236}">
                <a16:creationId xmlns:a16="http://schemas.microsoft.com/office/drawing/2014/main" id="{3BC41388-C6F8-49A1-A052-6EB9BD92C4A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88C3BADB-FC49-4720-A8BD-A8A2416AA33C}"/>
              </a:ext>
            </a:extLst>
          </p:cNvPr>
          <p:cNvSpPr/>
          <p:nvPr/>
        </p:nvSpPr>
        <p:spPr>
          <a:xfrm>
            <a:off x="244071" y="1245970"/>
            <a:ext cx="11282159" cy="121962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graphicFrame>
        <p:nvGraphicFramePr>
          <p:cNvPr id="11" name="Table 3">
            <a:extLst>
              <a:ext uri="{FF2B5EF4-FFF2-40B4-BE49-F238E27FC236}">
                <a16:creationId xmlns:a16="http://schemas.microsoft.com/office/drawing/2014/main" id="{EDE03143-9A94-4427-A7BB-10139D46DD30}"/>
              </a:ext>
            </a:extLst>
          </p:cNvPr>
          <p:cNvGraphicFramePr>
            <a:graphicFrameLocks noGrp="1"/>
          </p:cNvGraphicFramePr>
          <p:nvPr/>
        </p:nvGraphicFramePr>
        <p:xfrm>
          <a:off x="446099" y="1402597"/>
          <a:ext cx="11248500" cy="3947859"/>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690774019"/>
                    </a:ext>
                  </a:extLst>
                </a:gridCol>
              </a:tblGrid>
              <a:tr h="29246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800" b="1" i="0" u="none" strike="noStrike" kern="1200" cap="none" spc="0" baseline="0" dirty="0">
                          <a:solidFill>
                            <a:schemeClr val="bg1"/>
                          </a:solidFill>
                          <a:uFillTx/>
                          <a:latin typeface="Calibri (body)"/>
                        </a:rPr>
                        <a:t>Tariff Misalignments: Freeports APC ‘19Z’</a:t>
                      </a:r>
                    </a:p>
                  </a:txBody>
                  <a:tcPr>
                    <a:solidFill>
                      <a:srgbClr val="009999"/>
                    </a:solidFill>
                  </a:tcPr>
                </a:tc>
                <a:extLst>
                  <a:ext uri="{0D108BD9-81ED-4DB2-BD59-A6C34878D82A}">
                    <a16:rowId xmlns:a16="http://schemas.microsoft.com/office/drawing/2014/main" val="2449128839"/>
                  </a:ext>
                </a:extLst>
              </a:tr>
              <a:tr h="292461">
                <a:tc>
                  <a:txBody>
                    <a:bodyPr/>
                    <a:lstStyle/>
                    <a:p>
                      <a:pPr lvl="0" algn="ctr"/>
                      <a:r>
                        <a:rPr lang="en-GB" sz="1400" b="0">
                          <a:solidFill>
                            <a:srgbClr val="000000"/>
                          </a:solidFill>
                        </a:rPr>
                        <a:t>Declaration Types: </a:t>
                      </a:r>
                      <a:r>
                        <a:rPr lang="en-GB" sz="1400" b="1">
                          <a:solidFill>
                            <a:srgbClr val="000000"/>
                          </a:solidFill>
                        </a:rPr>
                        <a:t>J or K</a:t>
                      </a:r>
                    </a:p>
                  </a:txBody>
                  <a:tcPr>
                    <a:solidFill>
                      <a:srgbClr val="CFD5EA"/>
                    </a:solidFill>
                  </a:tcPr>
                </a:tc>
                <a:extLst>
                  <a:ext uri="{0D108BD9-81ED-4DB2-BD59-A6C34878D82A}">
                    <a16:rowId xmlns:a16="http://schemas.microsoft.com/office/drawing/2014/main" val="2450081313"/>
                  </a:ext>
                </a:extLst>
              </a:tr>
              <a:tr h="1824754">
                <a:tc>
                  <a:txBody>
                    <a:bodyPr/>
                    <a:lstStyle/>
                    <a:p>
                      <a:pPr marL="140396">
                        <a:lnSpc>
                          <a:spcPct val="107000"/>
                        </a:lnSpc>
                        <a:defRPr sz="1800" b="0" i="0" u="none" strike="noStrike" kern="0" cap="none" spc="0" baseline="0">
                          <a:solidFill>
                            <a:srgbClr val="000000"/>
                          </a:solidFill>
                          <a:uFillTx/>
                        </a:defRPr>
                      </a:pPr>
                      <a:r>
                        <a:rPr lang="en-GB" sz="1400" b="0" i="0" dirty="0">
                          <a:solidFill>
                            <a:srgbClr val="333333"/>
                          </a:solidFill>
                          <a:effectLst/>
                          <a:latin typeface="Calibri (body)"/>
                        </a:rPr>
                        <a:t>From TTM19.0, CDS will introduce the Freeports Additional Procedure Code (APC) ‘19Z’. APC ‘19Z’ represents declarations that have entered to, or removed from, a Free Port/Free Zone, using a C21 Customs Clearance Request. This code will </a:t>
                      </a:r>
                      <a:r>
                        <a:rPr lang="en-GB" sz="1400" dirty="0">
                          <a:solidFill>
                            <a:srgbClr val="333333"/>
                          </a:solidFill>
                          <a:latin typeface="Calibri (body)"/>
                        </a:rPr>
                        <a:t>b</a:t>
                      </a:r>
                      <a:r>
                        <a:rPr lang="en-GB" sz="1400" b="0" i="0" dirty="0">
                          <a:solidFill>
                            <a:srgbClr val="333333"/>
                          </a:solidFill>
                          <a:effectLst/>
                          <a:latin typeface="Calibri (body)"/>
                        </a:rPr>
                        <a:t>e re-introduced into the CDS Trade Tariff Volume 3 later in this Financial Year.</a:t>
                      </a:r>
                    </a:p>
                    <a:p>
                      <a:pPr marL="140396">
                        <a:lnSpc>
                          <a:spcPct val="107000"/>
                        </a:lnSpc>
                        <a:defRPr sz="1800" b="0" i="0" u="none" strike="noStrike" kern="0" cap="none" spc="0" baseline="0">
                          <a:solidFill>
                            <a:srgbClr val="000000"/>
                          </a:solidFill>
                          <a:uFillTx/>
                        </a:defRPr>
                      </a:pPr>
                      <a:endParaRPr lang="en-GB" sz="1400" b="0" i="0" dirty="0">
                        <a:solidFill>
                          <a:srgbClr val="333333"/>
                        </a:solidFill>
                        <a:effectLst/>
                        <a:latin typeface="Calibri (body)"/>
                      </a:endParaRPr>
                    </a:p>
                    <a:p>
                      <a:pPr marL="140396">
                        <a:lnSpc>
                          <a:spcPct val="107000"/>
                        </a:lnSpc>
                        <a:defRPr sz="1800" b="0" i="0" u="none" strike="noStrike" kern="0" cap="none" spc="0" baseline="0">
                          <a:solidFill>
                            <a:srgbClr val="000000"/>
                          </a:solidFill>
                          <a:uFillTx/>
                        </a:defRPr>
                      </a:pPr>
                      <a:r>
                        <a:rPr lang="en-GB" sz="1400" b="1" dirty="0">
                          <a:solidFill>
                            <a:srgbClr val="333333"/>
                          </a:solidFill>
                          <a:latin typeface="Calibri (body)"/>
                        </a:rPr>
                        <a:t>CDS requirements for APC ‘19Z’ to derive a C21i Procedure Category,</a:t>
                      </a:r>
                    </a:p>
                    <a:p>
                      <a:pPr marL="883346" lvl="1" indent="-285750">
                        <a:lnSpc>
                          <a:spcPct val="107000"/>
                        </a:lnSpc>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333333"/>
                          </a:solidFill>
                          <a:effectLst/>
                          <a:latin typeface="Calibri (body)"/>
                        </a:rPr>
                        <a:t>APC ‘19Z’ must be entered in DE 1/11 on </a:t>
                      </a:r>
                      <a:r>
                        <a:rPr lang="en-GB" sz="1400" b="1" i="0" dirty="0">
                          <a:solidFill>
                            <a:srgbClr val="333333"/>
                          </a:solidFill>
                          <a:effectLst/>
                          <a:latin typeface="Calibri (body)"/>
                        </a:rPr>
                        <a:t>mandatory</a:t>
                      </a:r>
                      <a:r>
                        <a:rPr lang="en-GB" sz="1400" b="0" i="0" dirty="0">
                          <a:solidFill>
                            <a:srgbClr val="333333"/>
                          </a:solidFill>
                          <a:effectLst/>
                          <a:latin typeface="Calibri (body)"/>
                        </a:rPr>
                        <a:t> import declaration types (DE 1/2) </a:t>
                      </a:r>
                      <a:r>
                        <a:rPr lang="en-GB" sz="1400" b="1" i="0" dirty="0">
                          <a:solidFill>
                            <a:srgbClr val="333333"/>
                          </a:solidFill>
                          <a:effectLst/>
                          <a:latin typeface="Calibri (body)"/>
                        </a:rPr>
                        <a:t>J </a:t>
                      </a:r>
                      <a:r>
                        <a:rPr lang="en-GB" sz="1400" i="0" dirty="0">
                          <a:solidFill>
                            <a:srgbClr val="333333"/>
                          </a:solidFill>
                          <a:effectLst/>
                          <a:latin typeface="Calibri (body)"/>
                        </a:rPr>
                        <a:t>or</a:t>
                      </a:r>
                      <a:r>
                        <a:rPr lang="en-GB" sz="1400" b="1" i="0" dirty="0">
                          <a:solidFill>
                            <a:srgbClr val="333333"/>
                          </a:solidFill>
                          <a:effectLst/>
                          <a:latin typeface="Calibri (body)"/>
                        </a:rPr>
                        <a:t> K.</a:t>
                      </a:r>
                      <a:endParaRPr lang="en-GB" sz="1400" dirty="0">
                        <a:solidFill>
                          <a:srgbClr val="333333"/>
                        </a:solidFill>
                        <a:latin typeface="Calibri (body)"/>
                      </a:endParaRPr>
                    </a:p>
                    <a:p>
                      <a:pPr marL="883346" lvl="1" indent="-285750">
                        <a:lnSpc>
                          <a:spcPct val="107000"/>
                        </a:lnSpc>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333333"/>
                          </a:solidFill>
                          <a:effectLst/>
                          <a:latin typeface="Calibri (body)"/>
                        </a:rPr>
                        <a:t>It is </a:t>
                      </a:r>
                      <a:r>
                        <a:rPr lang="en-GB" sz="1400" b="1" i="0" dirty="0">
                          <a:solidFill>
                            <a:srgbClr val="333333"/>
                          </a:solidFill>
                          <a:effectLst/>
                          <a:latin typeface="Calibri (body)"/>
                        </a:rPr>
                        <a:t>mandatory</a:t>
                      </a:r>
                      <a:r>
                        <a:rPr lang="en-GB" sz="1400" b="0" i="0" dirty="0">
                          <a:solidFill>
                            <a:srgbClr val="333333"/>
                          </a:solidFill>
                          <a:effectLst/>
                          <a:latin typeface="Calibri (body)"/>
                        </a:rPr>
                        <a:t> for Procedure Code ‘</a:t>
                      </a:r>
                      <a:r>
                        <a:rPr lang="en-GB" sz="1400" b="1" i="0" dirty="0">
                          <a:solidFill>
                            <a:srgbClr val="333333"/>
                          </a:solidFill>
                          <a:effectLst/>
                          <a:latin typeface="Calibri (body)"/>
                        </a:rPr>
                        <a:t>0007</a:t>
                      </a:r>
                      <a:r>
                        <a:rPr lang="en-GB" sz="1400" b="0" i="0" dirty="0">
                          <a:solidFill>
                            <a:srgbClr val="333333"/>
                          </a:solidFill>
                          <a:effectLst/>
                          <a:latin typeface="Calibri (body)"/>
                        </a:rPr>
                        <a:t>’ or ‘</a:t>
                      </a:r>
                      <a:r>
                        <a:rPr lang="en-GB" sz="1400" b="1" i="0" dirty="0">
                          <a:solidFill>
                            <a:srgbClr val="333333"/>
                          </a:solidFill>
                          <a:effectLst/>
                          <a:latin typeface="Calibri (body)"/>
                        </a:rPr>
                        <a:t>0008</a:t>
                      </a:r>
                      <a:r>
                        <a:rPr lang="en-GB" sz="1400" b="0" i="0" dirty="0">
                          <a:solidFill>
                            <a:srgbClr val="333333"/>
                          </a:solidFill>
                          <a:effectLst/>
                          <a:latin typeface="Calibri (body)"/>
                        </a:rPr>
                        <a:t>’ to be entered in DE 1/10.</a:t>
                      </a:r>
                      <a:br>
                        <a:rPr lang="en-GB" sz="1400" b="0" i="0" dirty="0">
                          <a:solidFill>
                            <a:srgbClr val="333333"/>
                          </a:solidFill>
                          <a:effectLst/>
                          <a:latin typeface="Calibri (body)"/>
                        </a:rPr>
                      </a:br>
                      <a:endParaRPr lang="en-GB" sz="1400" dirty="0">
                        <a:solidFill>
                          <a:srgbClr val="333333"/>
                        </a:solidFill>
                        <a:latin typeface="Calibri (body)"/>
                      </a:endParaRPr>
                    </a:p>
                    <a:p>
                      <a:pPr marL="140396">
                        <a:lnSpc>
                          <a:spcPct val="107000"/>
                        </a:lnSpc>
                        <a:defRPr sz="1800" b="0" i="0" u="none" strike="noStrike" kern="0" cap="none" spc="0" baseline="0">
                          <a:solidFill>
                            <a:srgbClr val="000000"/>
                          </a:solidFill>
                          <a:uFillTx/>
                        </a:defRPr>
                      </a:pPr>
                      <a:r>
                        <a:rPr lang="en-GB" sz="1400" b="1" dirty="0">
                          <a:solidFill>
                            <a:srgbClr val="333333"/>
                          </a:solidFill>
                          <a:latin typeface="Calibri (body)"/>
                        </a:rPr>
                        <a:t>CDS requirements for APC ‘19Z’ to derive a C21e Procedure Category,</a:t>
                      </a:r>
                    </a:p>
                    <a:p>
                      <a:pPr marL="883346" lvl="1" indent="-285750">
                        <a:lnSpc>
                          <a:spcPct val="107000"/>
                        </a:lnSpc>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333333"/>
                          </a:solidFill>
                          <a:effectLst/>
                          <a:latin typeface="Calibri (body)"/>
                        </a:rPr>
                        <a:t>APC ‘19Z’ must be entered in DE 1/11 on </a:t>
                      </a:r>
                      <a:r>
                        <a:rPr lang="en-GB" sz="1400" b="1" i="0" dirty="0">
                          <a:solidFill>
                            <a:srgbClr val="333333"/>
                          </a:solidFill>
                          <a:effectLst/>
                          <a:latin typeface="Calibri (body)"/>
                        </a:rPr>
                        <a:t>mandatory</a:t>
                      </a:r>
                      <a:r>
                        <a:rPr lang="en-GB" sz="1400" b="0" i="0" dirty="0">
                          <a:solidFill>
                            <a:srgbClr val="333333"/>
                          </a:solidFill>
                          <a:effectLst/>
                          <a:latin typeface="Calibri (body)"/>
                        </a:rPr>
                        <a:t> export declaration types (DE 1/2) </a:t>
                      </a:r>
                      <a:r>
                        <a:rPr lang="en-GB" sz="1400" b="1" i="0" dirty="0">
                          <a:solidFill>
                            <a:srgbClr val="333333"/>
                          </a:solidFill>
                          <a:effectLst/>
                          <a:latin typeface="Calibri (body)"/>
                        </a:rPr>
                        <a:t>J </a:t>
                      </a:r>
                      <a:r>
                        <a:rPr lang="en-GB" sz="1400" i="0" dirty="0">
                          <a:solidFill>
                            <a:srgbClr val="333333"/>
                          </a:solidFill>
                          <a:effectLst/>
                          <a:latin typeface="Calibri (body)"/>
                        </a:rPr>
                        <a:t>or</a:t>
                      </a:r>
                      <a:r>
                        <a:rPr lang="en-GB" sz="1400" b="1" i="0" dirty="0">
                          <a:solidFill>
                            <a:srgbClr val="333333"/>
                          </a:solidFill>
                          <a:effectLst/>
                          <a:latin typeface="Calibri (body)"/>
                        </a:rPr>
                        <a:t> K.</a:t>
                      </a:r>
                      <a:endParaRPr lang="en-GB" sz="1400" dirty="0">
                        <a:solidFill>
                          <a:srgbClr val="333333"/>
                        </a:solidFill>
                        <a:latin typeface="Calibri (body)"/>
                      </a:endParaRPr>
                    </a:p>
                    <a:p>
                      <a:pPr marL="883346" lvl="1" indent="-285750">
                        <a:lnSpc>
                          <a:spcPct val="107000"/>
                        </a:lnSpc>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333333"/>
                          </a:solidFill>
                          <a:effectLst/>
                          <a:latin typeface="Calibri (body)"/>
                        </a:rPr>
                        <a:t>It is </a:t>
                      </a:r>
                      <a:r>
                        <a:rPr lang="en-GB" sz="1400" b="1" i="0" dirty="0">
                          <a:solidFill>
                            <a:srgbClr val="333333"/>
                          </a:solidFill>
                          <a:effectLst/>
                          <a:latin typeface="Calibri (body)"/>
                        </a:rPr>
                        <a:t>mandatory</a:t>
                      </a:r>
                      <a:r>
                        <a:rPr lang="en-GB" sz="1400" b="0" i="0" dirty="0">
                          <a:solidFill>
                            <a:srgbClr val="333333"/>
                          </a:solidFill>
                          <a:effectLst/>
                          <a:latin typeface="Calibri (body)"/>
                        </a:rPr>
                        <a:t> for Procedure Code ‘</a:t>
                      </a:r>
                      <a:r>
                        <a:rPr lang="en-GB" sz="1400" b="1" i="0" dirty="0">
                          <a:solidFill>
                            <a:srgbClr val="333333"/>
                          </a:solidFill>
                          <a:effectLst/>
                          <a:latin typeface="Calibri (body)"/>
                        </a:rPr>
                        <a:t>0014</a:t>
                      </a:r>
                      <a:r>
                        <a:rPr lang="en-GB" sz="1400" b="0" i="0" dirty="0">
                          <a:solidFill>
                            <a:srgbClr val="333333"/>
                          </a:solidFill>
                          <a:effectLst/>
                          <a:latin typeface="Calibri (body)"/>
                        </a:rPr>
                        <a:t>’,‘ </a:t>
                      </a:r>
                      <a:r>
                        <a:rPr lang="en-GB" sz="1400" b="1" i="0" dirty="0">
                          <a:solidFill>
                            <a:srgbClr val="333333"/>
                          </a:solidFill>
                          <a:effectLst/>
                          <a:latin typeface="Calibri (body)"/>
                        </a:rPr>
                        <a:t>0017</a:t>
                      </a:r>
                      <a:r>
                        <a:rPr lang="en-GB" sz="1400" b="0" i="0" dirty="0">
                          <a:solidFill>
                            <a:srgbClr val="333333"/>
                          </a:solidFill>
                          <a:effectLst/>
                          <a:latin typeface="Calibri (body)"/>
                        </a:rPr>
                        <a:t>’ or ‘</a:t>
                      </a:r>
                      <a:r>
                        <a:rPr lang="en-GB" sz="1400" b="1" i="0" dirty="0">
                          <a:solidFill>
                            <a:srgbClr val="333333"/>
                          </a:solidFill>
                          <a:effectLst/>
                          <a:latin typeface="Calibri (body)"/>
                        </a:rPr>
                        <a:t>0018</a:t>
                      </a:r>
                      <a:r>
                        <a:rPr lang="en-GB" sz="1400" b="0" i="0" dirty="0">
                          <a:solidFill>
                            <a:srgbClr val="333333"/>
                          </a:solidFill>
                          <a:effectLst/>
                          <a:latin typeface="Calibri (body)"/>
                        </a:rPr>
                        <a:t>’ to be entered in DE 1/10</a:t>
                      </a:r>
                    </a:p>
                    <a:p>
                      <a:pPr marL="1340546" lvl="2" indent="-285750">
                        <a:lnSpc>
                          <a:spcPct val="107000"/>
                        </a:lnSpc>
                        <a:buFont typeface="Arial" panose="020B0604020202020204" pitchFamily="34" charset="0"/>
                        <a:buChar char="•"/>
                        <a:defRPr sz="1800" b="0" i="0" u="none" strike="noStrike" kern="0" cap="none" spc="0" baseline="0">
                          <a:solidFill>
                            <a:srgbClr val="000000"/>
                          </a:solidFill>
                          <a:uFillTx/>
                        </a:defRPr>
                      </a:pPr>
                      <a:r>
                        <a:rPr lang="en-GB" sz="1400" b="0" i="0" dirty="0">
                          <a:solidFill>
                            <a:srgbClr val="333333"/>
                          </a:solidFill>
                          <a:effectLst/>
                          <a:latin typeface="Calibri (body)"/>
                        </a:rPr>
                        <a:t>Where a trader submits 19Z as an Additional Procedure Code in DE 1/11 on an export declaration, it is mandatory for ‘</a:t>
                      </a:r>
                      <a:r>
                        <a:rPr lang="en-GB" sz="1400" b="1" i="0" dirty="0">
                          <a:solidFill>
                            <a:srgbClr val="333333"/>
                          </a:solidFill>
                          <a:effectLst/>
                          <a:latin typeface="Calibri (body)"/>
                        </a:rPr>
                        <a:t>FZPER</a:t>
                      </a:r>
                      <a:r>
                        <a:rPr lang="en-GB" sz="1400" b="0" i="0" dirty="0">
                          <a:solidFill>
                            <a:srgbClr val="333333"/>
                          </a:solidFill>
                          <a:effectLst/>
                          <a:latin typeface="Calibri (body)"/>
                        </a:rPr>
                        <a:t>’ to be entered as an AI code (DE 2/2). </a:t>
                      </a:r>
                      <a:r>
                        <a:rPr lang="en-GB" sz="1400" dirty="0">
                          <a:solidFill>
                            <a:srgbClr val="333333"/>
                          </a:solidFill>
                          <a:latin typeface="Calibri (body)"/>
                        </a:rPr>
                        <a:t>AI Code ‘FZPER’ signifies t</a:t>
                      </a:r>
                      <a:r>
                        <a:rPr lang="en-GB" sz="1400" b="0" i="0" dirty="0">
                          <a:solidFill>
                            <a:srgbClr val="333333"/>
                          </a:solidFill>
                          <a:effectLst/>
                          <a:latin typeface="Calibri (body)"/>
                        </a:rPr>
                        <a:t>he number of days the goods have been held in the Free Zone, prior to the requested movement. Where ‘FZPER’ is </a:t>
                      </a:r>
                      <a:r>
                        <a:rPr lang="en-GB" sz="1400" b="1" i="0" dirty="0">
                          <a:solidFill>
                            <a:srgbClr val="333333"/>
                          </a:solidFill>
                          <a:effectLst/>
                          <a:latin typeface="Calibri (body)"/>
                        </a:rPr>
                        <a:t>not</a:t>
                      </a:r>
                      <a:r>
                        <a:rPr lang="en-GB" sz="1400" b="0" i="0" dirty="0">
                          <a:solidFill>
                            <a:srgbClr val="333333"/>
                          </a:solidFill>
                          <a:effectLst/>
                          <a:latin typeface="Calibri (body)"/>
                        </a:rPr>
                        <a:t> submitted, CDS will </a:t>
                      </a:r>
                      <a:r>
                        <a:rPr lang="en-GB" sz="1400" b="1" i="0" dirty="0">
                          <a:solidFill>
                            <a:srgbClr val="333333"/>
                          </a:solidFill>
                          <a:effectLst/>
                          <a:latin typeface="Calibri (body)"/>
                        </a:rPr>
                        <a:t>reject</a:t>
                      </a:r>
                      <a:r>
                        <a:rPr lang="en-GB" sz="1400" b="0" i="0" dirty="0">
                          <a:solidFill>
                            <a:srgbClr val="333333"/>
                          </a:solidFill>
                          <a:effectLst/>
                          <a:latin typeface="Calibri (body)"/>
                        </a:rPr>
                        <a:t> the declaration and send a DMSREJ to the submitter. </a:t>
                      </a:r>
                    </a:p>
                  </a:txBody>
                  <a:tcPr>
                    <a:solidFill>
                      <a:srgbClr val="E9EBF5"/>
                    </a:solidFill>
                  </a:tcPr>
                </a:tc>
                <a:extLst>
                  <a:ext uri="{0D108BD9-81ED-4DB2-BD59-A6C34878D82A}">
                    <a16:rowId xmlns:a16="http://schemas.microsoft.com/office/drawing/2014/main" val="928626492"/>
                  </a:ext>
                </a:extLst>
              </a:tr>
            </a:tbl>
          </a:graphicData>
        </a:graphic>
      </p:graphicFrame>
      <p:sp>
        <p:nvSpPr>
          <p:cNvPr id="12" name="Rectangle 11">
            <a:extLst>
              <a:ext uri="{FF2B5EF4-FFF2-40B4-BE49-F238E27FC236}">
                <a16:creationId xmlns:a16="http://schemas.microsoft.com/office/drawing/2014/main" id="{FFB5E17B-7C84-4FEC-A359-F8007F77334A}"/>
              </a:ext>
            </a:extLst>
          </p:cNvPr>
          <p:cNvSpPr/>
          <p:nvPr/>
        </p:nvSpPr>
        <p:spPr>
          <a:xfrm>
            <a:off x="1273321" y="5662518"/>
            <a:ext cx="10421278" cy="891489"/>
          </a:xfrm>
          <a:prstGeom prst="rect">
            <a:avLst/>
          </a:prstGeom>
          <a:solidFill>
            <a:srgbClr val="FBE5D6"/>
          </a:solidFill>
          <a:ln cap="flat">
            <a:noFill/>
            <a:prstDash val="solid"/>
          </a:ln>
        </p:spPr>
        <p:txBody>
          <a:bodyPr vert="horz" wrap="square" lIns="91440" tIns="45720" rIns="91440" bIns="45720" anchor="ctr" anchorCtr="0"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l" defTabSz="914400" rtl="0" fontAlgn="auto" hangingPunct="1">
              <a:lnSpc>
                <a:spcPct val="100000"/>
              </a:lnSpc>
              <a:spcBef>
                <a:spcPts val="0"/>
              </a:spcBef>
              <a:spcAft>
                <a:spcPts val="0"/>
              </a:spcAft>
              <a:buSzPct val="100000"/>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a:t>
            </a:r>
            <a:r>
              <a:rPr lang="en-GB" sz="1100" b="1">
                <a:solidFill>
                  <a:srgbClr val="000000"/>
                </a:solidFill>
                <a:latin typeface="Calibri"/>
              </a:rPr>
              <a:t>EX0310</a:t>
            </a:r>
            <a:r>
              <a:rPr lang="en-GB" sz="1100" b="1" i="0" u="none" strike="noStrike" kern="1200" cap="none" spc="0" baseline="0">
                <a:solidFill>
                  <a:srgbClr val="000000"/>
                </a:solidFill>
                <a:uFillTx/>
                <a:latin typeface="Calibri"/>
              </a:rPr>
              <a:t>a - </a:t>
            </a:r>
            <a:r>
              <a:rPr lang="en-GB" sz="1100" b="0" i="0" u="none" strike="noStrike" kern="1200" cap="none" spc="0" baseline="0">
                <a:solidFill>
                  <a:srgbClr val="000000"/>
                </a:solidFill>
                <a:uFillTx/>
                <a:latin typeface="Calibri"/>
              </a:rPr>
              <a:t>Export frontier EIDR declaration, for goods moving from GB to </a:t>
            </a:r>
            <a:r>
              <a:rPr lang="en-GB" sz="1100" b="0" i="0" u="none" strike="noStrike" kern="1200" cap="none" spc="0" baseline="0" err="1">
                <a:solidFill>
                  <a:srgbClr val="000000"/>
                </a:solidFill>
                <a:uFillTx/>
                <a:latin typeface="Calibri"/>
              </a:rPr>
              <a:t>RoW</a:t>
            </a:r>
            <a:r>
              <a:rPr lang="en-GB" sz="1100" b="0" i="0" u="none" strike="noStrike" kern="1200" cap="none" spc="0" baseline="0">
                <a:solidFill>
                  <a:srgbClr val="000000"/>
                </a:solidFill>
                <a:uFillTx/>
                <a:latin typeface="Calibri"/>
              </a:rPr>
              <a:t>,  where a procedure code of 0014 and an additional procedure code 19Z are declared for goods exiting a Freeport.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a:solidFill>
                  <a:srgbClr val="000000"/>
                </a:solidFill>
                <a:latin typeface="Calibri"/>
              </a:rPr>
              <a:t>TT_IM094a - I</a:t>
            </a:r>
            <a:r>
              <a:rPr lang="en-GB" sz="1100" i="0" u="none" strike="noStrike" kern="1200" cap="none" spc="0" baseline="0">
                <a:solidFill>
                  <a:srgbClr val="000000"/>
                </a:solidFill>
                <a:uFillTx/>
                <a:latin typeface="Calibri"/>
              </a:rPr>
              <a:t>mport frontier declaration, for goods moving from </a:t>
            </a:r>
            <a:r>
              <a:rPr lang="en-GB" sz="1100" i="0" u="none" strike="noStrike" kern="1200" cap="none" spc="0" baseline="0" err="1">
                <a:solidFill>
                  <a:srgbClr val="000000"/>
                </a:solidFill>
                <a:uFillTx/>
                <a:latin typeface="Calibri"/>
              </a:rPr>
              <a:t>RoW</a:t>
            </a:r>
            <a:r>
              <a:rPr lang="en-GB" sz="1100" i="0" u="none" strike="noStrike" kern="1200" cap="none" spc="0" baseline="0">
                <a:solidFill>
                  <a:srgbClr val="000000"/>
                </a:solidFill>
                <a:uFillTx/>
                <a:latin typeface="Calibri"/>
              </a:rPr>
              <a:t> to GB, which are liable to VAT only after being removed from customs warehousing. </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3" name="Rectangle 12">
            <a:extLst>
              <a:ext uri="{FF2B5EF4-FFF2-40B4-BE49-F238E27FC236}">
                <a16:creationId xmlns:a16="http://schemas.microsoft.com/office/drawing/2014/main" id="{3A942E65-3BB7-4C31-9E4A-4039BE2DE07C}"/>
              </a:ext>
            </a:extLst>
          </p:cNvPr>
          <p:cNvSpPr/>
          <p:nvPr/>
        </p:nvSpPr>
        <p:spPr>
          <a:xfrm>
            <a:off x="440128" y="5662518"/>
            <a:ext cx="839834" cy="891489"/>
          </a:xfrm>
          <a:prstGeom prst="rect">
            <a:avLst/>
          </a:prstGeom>
          <a:solidFill>
            <a:srgbClr val="EC7320"/>
          </a:solidFill>
          <a:ln cap="flat">
            <a:noFill/>
            <a:prstDash val="solid"/>
          </a:ln>
        </p:spPr>
        <p:txBody>
          <a:bodyPr vert="horz" wrap="square" lIns="91440" tIns="45720" rIns="91440" bIns="45720" anchor="ctr" anchorCtr="1" compatLnSpc="1">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extLst>
      <p:ext uri="{BB962C8B-B14F-4D97-AF65-F5344CB8AC3E}">
        <p14:creationId xmlns:p14="http://schemas.microsoft.com/office/powerpoint/2010/main" val="765725962"/>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67997"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347</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09407" y="1199875"/>
            <a:ext cx="11317438" cy="440120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0" cap="none" spc="0" baseline="0">
                <a:solidFill>
                  <a:srgbClr val="000000"/>
                </a:solidFill>
                <a:uFillTx/>
                <a:latin typeface="Calibri"/>
              </a:rPr>
              <a:t>Tariff Volume 3 Misalignments: APC ‘F45’ Validation</a:t>
            </a:r>
            <a:endParaRPr lang="en-GB" sz="1400" b="1" u="sng">
              <a:solidFill>
                <a:srgbClr val="333333"/>
              </a:solidFill>
              <a:latin typeface="Calibri  "/>
            </a:endParaRPr>
          </a:p>
          <a:p>
            <a:pPr>
              <a:defRPr sz="1800" b="0" i="0" u="none" strike="noStrike" kern="0" cap="none" spc="0" baseline="0">
                <a:solidFill>
                  <a:srgbClr val="000000"/>
                </a:solidFill>
                <a:uFillTx/>
              </a:defRPr>
            </a:pPr>
            <a:r>
              <a:rPr lang="en-GB" sz="1400" b="0" u="none" strike="noStrike" kern="0" cap="none" spc="0" baseline="0">
                <a:uFillTx/>
                <a:latin typeface="Calibri  "/>
                <a:ea typeface="Times New Roman" pitchFamily="18"/>
              </a:rPr>
              <a:t>From TTM19.0, CDS will restrict the use of Additional Procedure Code ‘</a:t>
            </a:r>
            <a:r>
              <a:rPr lang="en-GB" sz="1400" b="1" u="none" strike="noStrike" kern="0" cap="none" spc="0" baseline="0">
                <a:uFillTx/>
                <a:latin typeface="Calibri  "/>
                <a:ea typeface="Times New Roman" pitchFamily="18"/>
              </a:rPr>
              <a:t>F45</a:t>
            </a:r>
            <a:r>
              <a:rPr lang="en-GB" sz="1400" b="0" u="none" strike="noStrike" kern="0" cap="none" spc="0" baseline="0">
                <a:uFillTx/>
                <a:latin typeface="Calibri  "/>
                <a:ea typeface="Times New Roman" pitchFamily="18"/>
              </a:rPr>
              <a:t>’, in-line with valid CSDR (Community System of Duty Reliefs). </a:t>
            </a:r>
            <a:r>
              <a:rPr lang="en-GB" sz="1400" kern="0">
                <a:latin typeface="Calibri  "/>
                <a:ea typeface="Times New Roman" pitchFamily="18"/>
              </a:rPr>
              <a:t>APC </a:t>
            </a:r>
            <a:r>
              <a:rPr lang="en-GB" sz="1400" b="1" kern="0">
                <a:latin typeface="Calibri  "/>
                <a:ea typeface="Times New Roman" pitchFamily="18"/>
              </a:rPr>
              <a:t>‘</a:t>
            </a:r>
            <a:r>
              <a:rPr lang="en-GB" sz="1400" kern="0">
                <a:latin typeface="Calibri  "/>
                <a:ea typeface="Times New Roman" pitchFamily="18"/>
              </a:rPr>
              <a:t>F45</a:t>
            </a:r>
            <a:r>
              <a:rPr lang="en-GB" sz="1400" b="1" kern="0">
                <a:latin typeface="Calibri  "/>
                <a:ea typeface="Times New Roman" pitchFamily="18"/>
              </a:rPr>
              <a:t>’ </a:t>
            </a:r>
            <a:r>
              <a:rPr lang="en-GB" sz="1400" kern="0">
                <a:latin typeface="Calibri  "/>
                <a:ea typeface="Times New Roman" pitchFamily="18"/>
              </a:rPr>
              <a:t>allows e</a:t>
            </a:r>
            <a:r>
              <a:rPr lang="en-GB" sz="1400">
                <a:effectLst/>
                <a:latin typeface="Calibri  "/>
              </a:rPr>
              <a:t>xemption from value added tax on the final importation of eligible goods in </a:t>
            </a:r>
            <a:r>
              <a:rPr lang="en-GB" sz="1400" b="1">
                <a:effectLst/>
                <a:latin typeface="Calibri  "/>
              </a:rPr>
              <a:t>DE 1/11 C-Series APC Reliefs</a:t>
            </a:r>
            <a:r>
              <a:rPr lang="en-GB" sz="1400">
                <a:effectLst/>
                <a:latin typeface="Calibri  "/>
              </a:rPr>
              <a:t>.</a:t>
            </a:r>
            <a:r>
              <a:rPr lang="en-GB" sz="1400" i="0">
                <a:effectLst/>
                <a:latin typeface="Calibri  "/>
              </a:rPr>
              <a:t> </a:t>
            </a:r>
            <a:r>
              <a:rPr lang="en-GB" sz="1400" kern="0">
                <a:latin typeface="Calibri  "/>
                <a:ea typeface="Times New Roman" pitchFamily="18"/>
              </a:rPr>
              <a:t>The code</a:t>
            </a:r>
            <a:r>
              <a:rPr lang="en-GB" sz="1400" b="0" u="none" strike="noStrike" kern="0" cap="none" spc="0" baseline="0">
                <a:uFillTx/>
                <a:latin typeface="Calibri  "/>
                <a:ea typeface="Times New Roman" pitchFamily="18"/>
              </a:rPr>
              <a:t> may only be used to claim import VAT relief, when the C-series code specifically permits its use, and </a:t>
            </a:r>
            <a:r>
              <a:rPr lang="en-GB" sz="1400" b="0">
                <a:effectLst/>
                <a:latin typeface="Calibri  "/>
              </a:rPr>
              <a:t>may not be used to claim import VAT relief where not expressly stated in the relevant C-series.</a:t>
            </a:r>
            <a:r>
              <a:rPr lang="en-GB" sz="1400" kern="0">
                <a:latin typeface="Calibri  "/>
              </a:rPr>
              <a:t> </a:t>
            </a:r>
            <a:endParaRPr lang="en-GB" sz="1400"/>
          </a:p>
          <a:p>
            <a:pPr>
              <a:defRPr sz="1800" b="0" i="0" u="none" strike="noStrike" kern="0" cap="none" spc="0" baseline="0">
                <a:solidFill>
                  <a:srgbClr val="000000"/>
                </a:solidFill>
                <a:uFillTx/>
              </a:defRPr>
            </a:pPr>
            <a:endParaRPr lang="en-GB" sz="1400"/>
          </a:p>
          <a:p>
            <a:pPr>
              <a:defRPr sz="1800" b="0" i="0" u="none" strike="noStrike" kern="0" cap="none" spc="0" baseline="0">
                <a:solidFill>
                  <a:srgbClr val="000000"/>
                </a:solidFill>
                <a:uFillTx/>
              </a:defRPr>
            </a:pPr>
            <a:r>
              <a:rPr lang="en-GB" sz="1400" b="1">
                <a:latin typeface="Calibri  "/>
              </a:rPr>
              <a:t>To submit APC Code ‘F45’ into CDS,</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a:latin typeface="Calibri  "/>
              </a:rPr>
              <a:t>Traders must enter APC ‘F45’ in DE 1/11 on an </a:t>
            </a:r>
            <a:r>
              <a:rPr lang="en-GB" sz="1400" b="1">
                <a:latin typeface="Calibri  "/>
              </a:rPr>
              <a:t>import</a:t>
            </a:r>
            <a:r>
              <a:rPr lang="en-GB" sz="1400">
                <a:latin typeface="Calibri  "/>
              </a:rPr>
              <a:t> declaration, with a </a:t>
            </a:r>
            <a:r>
              <a:rPr lang="en-GB" sz="1400" b="1">
                <a:latin typeface="Calibri  "/>
              </a:rPr>
              <a:t>valid</a:t>
            </a:r>
            <a:r>
              <a:rPr lang="en-GB" sz="1400">
                <a:latin typeface="Calibri  "/>
              </a:rPr>
              <a:t> Additional Procedure Code: </a:t>
            </a:r>
            <a:r>
              <a:rPr lang="en-GB" sz="1400" b="1">
                <a:latin typeface="Calibri  "/>
              </a:rPr>
              <a:t>C01-C61 (excluding C07 &amp; C08)</a:t>
            </a:r>
            <a:endParaRPr lang="en-GB" sz="1400">
              <a:latin typeface="Calibri  "/>
            </a:endParaRPr>
          </a:p>
          <a:p>
            <a:pPr algn="l"/>
            <a:endParaRPr lang="en-GB" sz="1400" b="1" i="0">
              <a:solidFill>
                <a:srgbClr val="333333"/>
              </a:solidFill>
              <a:effectLst/>
              <a:latin typeface="Calibri  "/>
            </a:endParaRPr>
          </a:p>
          <a:p>
            <a:r>
              <a:rPr lang="en-GB" sz="1400" i="0">
                <a:effectLst/>
                <a:latin typeface="Calibri  "/>
              </a:rPr>
              <a:t>For more information around APC ‘F45’, please see </a:t>
            </a:r>
            <a:r>
              <a:rPr lang="en-GB" sz="1400">
                <a:latin typeface="Calibri  "/>
                <a:hlinkClick r:id="rId3"/>
              </a:rPr>
              <a:t>APC F-Series (Appendix 2A) - GOV.UK </a:t>
            </a:r>
            <a:endParaRPr lang="en-GB" sz="1400" b="0" i="0">
              <a:solidFill>
                <a:srgbClr val="333333"/>
              </a:solidFill>
              <a:effectLst/>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a:p>
            <a:pPr>
              <a:defRPr sz="1800" b="0" i="0" u="none" strike="noStrike" kern="0" cap="none" spc="0" baseline="0">
                <a:solidFill>
                  <a:srgbClr val="000000"/>
                </a:solidFill>
                <a:uFillTx/>
              </a:defRPr>
            </a:pPr>
            <a:r>
              <a:rPr lang="en-GB" sz="1400" b="1" i="0" u="sng" strike="noStrike" kern="0" cap="none" spc="0" baseline="0">
                <a:solidFill>
                  <a:srgbClr val="000000"/>
                </a:solidFill>
                <a:uFillTx/>
                <a:latin typeface="Calibri"/>
              </a:rPr>
              <a:t>Tariff Volume 3 Misalignments: Transport Means</a:t>
            </a:r>
          </a:p>
          <a:p>
            <a:pPr>
              <a:defRPr sz="1800" b="0" i="0" u="none" strike="noStrike" kern="0" cap="none" spc="0" baseline="0">
                <a:solidFill>
                  <a:srgbClr val="000000"/>
                </a:solidFill>
                <a:uFillTx/>
              </a:defRPr>
            </a:pPr>
            <a:r>
              <a:rPr lang="en-GB" sz="1400" b="0" i="0">
                <a:solidFill>
                  <a:srgbClr val="333333"/>
                </a:solidFill>
                <a:effectLst/>
                <a:latin typeface="Calibri  "/>
              </a:rPr>
              <a:t>The resolution of this misalignment implements changes to permitted Transport Means on import and export declarations, so that the declaration is accepted by risk and is correctly validated as per Tariff completion guidance available at GOV.UK:</a:t>
            </a: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kern="0">
                <a:solidFill>
                  <a:srgbClr val="333333"/>
                </a:solidFill>
                <a:latin typeface="Calibri  "/>
              </a:rPr>
              <a:t>For information relating to Inland Mode of Transport for </a:t>
            </a:r>
            <a:r>
              <a:rPr lang="en-GB" sz="1400" b="1" kern="0">
                <a:solidFill>
                  <a:srgbClr val="333333"/>
                </a:solidFill>
                <a:latin typeface="Calibri  "/>
              </a:rPr>
              <a:t>Imports</a:t>
            </a:r>
            <a:r>
              <a:rPr lang="en-GB" sz="1400" kern="0">
                <a:solidFill>
                  <a:srgbClr val="333333"/>
                </a:solidFill>
                <a:latin typeface="Calibri  "/>
              </a:rPr>
              <a:t>, please refer to </a:t>
            </a:r>
            <a:r>
              <a:rPr lang="en-GB" sz="1400">
                <a:hlinkClick r:id="rId4"/>
              </a:rPr>
              <a:t>Group 7: Transport Information - (www.gov.uk)</a:t>
            </a:r>
            <a:endParaRPr lang="en-GB" sz="1400" b="0" i="0">
              <a:solidFill>
                <a:srgbClr val="333333"/>
              </a:solidFill>
              <a:effectLst/>
              <a:latin typeface="Calibri  "/>
            </a:endParaRPr>
          </a:p>
          <a:p>
            <a:pPr marL="742950" lvl="1" indent="-285750">
              <a:buFont typeface="Courier New" panose="02070309020205020404" pitchFamily="49" charset="0"/>
              <a:buChar char="o"/>
              <a:defRPr sz="1800" b="0" i="0" u="none" strike="noStrike" kern="0" cap="none" spc="0" baseline="0">
                <a:solidFill>
                  <a:srgbClr val="000000"/>
                </a:solidFill>
                <a:uFillTx/>
              </a:defRPr>
            </a:pPr>
            <a:r>
              <a:rPr lang="en-GB" sz="1400" kern="0">
                <a:solidFill>
                  <a:srgbClr val="333333"/>
                </a:solidFill>
                <a:latin typeface="Calibri  "/>
              </a:rPr>
              <a:t>For information relating to Inland Mode of Transport for </a:t>
            </a:r>
            <a:r>
              <a:rPr lang="en-GB" sz="1400" b="1" kern="0">
                <a:solidFill>
                  <a:srgbClr val="333333"/>
                </a:solidFill>
                <a:latin typeface="Calibri  "/>
              </a:rPr>
              <a:t>Exports</a:t>
            </a:r>
            <a:r>
              <a:rPr lang="en-GB" sz="1400" kern="0">
                <a:solidFill>
                  <a:srgbClr val="333333"/>
                </a:solidFill>
                <a:latin typeface="Calibri  "/>
              </a:rPr>
              <a:t>, please refer to </a:t>
            </a:r>
            <a:r>
              <a:rPr lang="en-GB" sz="1400">
                <a:hlinkClick r:id="rId5"/>
              </a:rPr>
              <a:t>Group 7: Transport Information - (www.gov.uk)</a:t>
            </a:r>
            <a:endParaRPr lang="en-GB" sz="1400" b="1" kern="0">
              <a:solidFill>
                <a:srgbClr val="000000"/>
              </a:solidFill>
              <a:latin typeface="Calibri  "/>
            </a:endParaRPr>
          </a:p>
          <a:p>
            <a:pPr>
              <a:defRPr sz="1800" b="0" i="0" u="none" strike="noStrike" kern="0" cap="none" spc="0" baseline="0">
                <a:solidFill>
                  <a:srgbClr val="000000"/>
                </a:solidFill>
                <a:uFillTx/>
              </a:defRPr>
            </a:pPr>
            <a:r>
              <a:rPr lang="en-GB" sz="1400" b="1" i="0" u="none" strike="noStrike" kern="1200" cap="none" spc="0" normalizeH="0" baseline="0" noProof="0">
                <a:ln>
                  <a:noFill/>
                </a:ln>
                <a:solidFill>
                  <a:schemeClr val="bg1"/>
                </a:solidFill>
                <a:effectLst/>
                <a:uLnTx/>
                <a:uFillTx/>
                <a:latin typeface="+mn-lt"/>
              </a:rPr>
              <a:t>&amp; TDR Tariff Data Maintenance </a:t>
            </a:r>
          </a:p>
          <a:p>
            <a:pPr>
              <a:defRPr sz="1800" b="0" i="0" u="none" strike="noStrike" kern="0" cap="none" spc="0" baseline="0">
                <a:solidFill>
                  <a:srgbClr val="000000"/>
                </a:solidFill>
                <a:uFillTx/>
              </a:defRPr>
            </a:pPr>
            <a:endParaRPr lang="en-GB" sz="1400" i="0" strike="noStrike" kern="0" cap="none" spc="0" baseline="0">
              <a:solidFill>
                <a:srgbClr val="000000"/>
              </a:solidFill>
              <a:uFillTx/>
              <a:latin typeface="Calibri"/>
            </a:endParaRPr>
          </a:p>
          <a:p>
            <a:pPr>
              <a:defRPr sz="1800" b="0" i="0" u="none" strike="noStrike" kern="0" cap="none" spc="0" baseline="0">
                <a:solidFill>
                  <a:srgbClr val="000000"/>
                </a:solidFill>
                <a:uFillTx/>
              </a:defRPr>
            </a:pPr>
            <a:endParaRPr lang="en-GB" sz="1400" b="1" u="sng">
              <a:solidFill>
                <a:srgbClr val="333333"/>
              </a:solidFill>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Tree>
    <p:extLst>
      <p:ext uri="{BB962C8B-B14F-4D97-AF65-F5344CB8AC3E}">
        <p14:creationId xmlns:p14="http://schemas.microsoft.com/office/powerpoint/2010/main" val="2480794099"/>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60909"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348</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73866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u="none" strike="noStrike" kern="1200" cap="none" spc="0" normalizeH="0" baseline="0" noProof="0">
              <a:ln>
                <a:noFill/>
              </a:ln>
              <a:solidFill>
                <a:srgbClr val="333333"/>
              </a:solidFill>
              <a:uLnTx/>
              <a:uFillTx/>
              <a:latin typeface="Arial" panose="020B0604020202020204" pitchFamily="34" charset="0"/>
            </a:endParaRPr>
          </a:p>
          <a:p>
            <a:pPr algn="l">
              <a:buFont typeface="+mj-lt"/>
              <a:buAutoNum type="arabicPeriod"/>
            </a:pPr>
            <a:endParaRPr lang="en-GB" sz="1400" b="0" i="1">
              <a:solidFill>
                <a:srgbClr val="333333"/>
              </a:solidFill>
              <a:effectLst/>
              <a:latin typeface="Arial" panose="020B0604020202020204" pitchFamily="34" charset="0"/>
            </a:endParaRPr>
          </a:p>
          <a:p>
            <a:pPr algn="l"/>
            <a:endParaRPr lang="en-GB" sz="1400" i="1">
              <a:solidFill>
                <a:srgbClr val="333333"/>
              </a:solidFill>
              <a:latin typeface="Arial" panose="020B0604020202020204" pitchFamily="34" charset="0"/>
            </a:endParaRP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7" name="Table 3">
            <a:extLst>
              <a:ext uri="{FF2B5EF4-FFF2-40B4-BE49-F238E27FC236}">
                <a16:creationId xmlns:a16="http://schemas.microsoft.com/office/drawing/2014/main" id="{69FC9655-4FA4-4303-A2A9-D7930BDEB5FF}"/>
              </a:ext>
            </a:extLst>
          </p:cNvPr>
          <p:cNvGraphicFramePr>
            <a:graphicFrameLocks noGrp="1"/>
          </p:cNvGraphicFramePr>
          <p:nvPr/>
        </p:nvGraphicFramePr>
        <p:xfrm>
          <a:off x="432905" y="1359837"/>
          <a:ext cx="11248500" cy="353568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2690774019"/>
                    </a:ext>
                  </a:extLst>
                </a:gridCol>
              </a:tblGrid>
              <a:tr h="247753">
                <a:tc>
                  <a:txBody>
                    <a:bodyPr/>
                    <a:lstStyle/>
                    <a:p>
                      <a:pPr>
                        <a:defRPr sz="1800" b="0" i="0" u="none" strike="noStrike" kern="0" cap="none" spc="0" baseline="0">
                          <a:solidFill>
                            <a:srgbClr val="000000"/>
                          </a:solidFill>
                          <a:uFillTx/>
                        </a:defRPr>
                      </a:pPr>
                      <a:r>
                        <a:rPr lang="en-GB" sz="1800" b="1" i="0" u="none" strike="noStrike" kern="0" cap="none" spc="0" baseline="0">
                          <a:solidFill>
                            <a:schemeClr val="bg1"/>
                          </a:solidFill>
                          <a:uFillTx/>
                          <a:latin typeface="+mn-lt"/>
                        </a:rPr>
                        <a:t>Identifying Vehicle Registration on Type B &amp; E Declarations</a:t>
                      </a:r>
                    </a:p>
                  </a:txBody>
                  <a:tcPr>
                    <a:solidFill>
                      <a:srgbClr val="009999"/>
                    </a:solidFill>
                  </a:tcPr>
                </a:tc>
                <a:extLst>
                  <a:ext uri="{0D108BD9-81ED-4DB2-BD59-A6C34878D82A}">
                    <a16:rowId xmlns:a16="http://schemas.microsoft.com/office/drawing/2014/main" val="2449128839"/>
                  </a:ext>
                </a:extLst>
              </a:tr>
              <a:tr h="206461">
                <a:tc>
                  <a:txBody>
                    <a:bodyPr/>
                    <a:lstStyle/>
                    <a:p>
                      <a:pPr lvl="0" algn="ctr"/>
                      <a:r>
                        <a:rPr lang="en-GB" sz="1400" b="0">
                          <a:solidFill>
                            <a:srgbClr val="000000"/>
                          </a:solidFill>
                        </a:rPr>
                        <a:t>Declaration Types: </a:t>
                      </a:r>
                      <a:r>
                        <a:rPr lang="en-GB" sz="1400" b="1">
                          <a:solidFill>
                            <a:srgbClr val="000000"/>
                          </a:solidFill>
                        </a:rPr>
                        <a:t>B &amp; E</a:t>
                      </a:r>
                    </a:p>
                  </a:txBody>
                  <a:tcPr>
                    <a:solidFill>
                      <a:srgbClr val="CFD5EA"/>
                    </a:solidFill>
                  </a:tcPr>
                </a:tc>
                <a:extLst>
                  <a:ext uri="{0D108BD9-81ED-4DB2-BD59-A6C34878D82A}">
                    <a16:rowId xmlns:a16="http://schemas.microsoft.com/office/drawing/2014/main" val="2450081313"/>
                  </a:ext>
                </a:extLst>
              </a:tr>
              <a:tr h="2085257">
                <a:tc>
                  <a:txBody>
                    <a:bodyPr/>
                    <a:lstStyle/>
                    <a:p>
                      <a:pPr>
                        <a:defRPr sz="1800" b="0" i="0" u="none" strike="noStrike" kern="0" cap="none" spc="0" baseline="0">
                          <a:solidFill>
                            <a:srgbClr val="000000"/>
                          </a:solidFill>
                          <a:uFillTx/>
                        </a:defRPr>
                      </a:pPr>
                      <a:r>
                        <a:rPr lang="en-GB" sz="1400" dirty="0">
                          <a:effectLst/>
                          <a:latin typeface="Calibri" panose="020F0502020204030204" pitchFamily="34" charset="0"/>
                          <a:ea typeface="Calibri" panose="020F0502020204030204" pitchFamily="34" charset="0"/>
                          <a:cs typeface="Times New Roman" panose="02020603050405020304" pitchFamily="18" charset="0"/>
                        </a:rPr>
                        <a:t>This feature introduces ‘</a:t>
                      </a:r>
                      <a:r>
                        <a:rPr lang="en-GB" sz="1400" b="1" dirty="0">
                          <a:effectLst/>
                          <a:latin typeface="Calibri" panose="020F0502020204030204" pitchFamily="34" charset="0"/>
                          <a:ea typeface="Calibri" panose="020F0502020204030204" pitchFamily="34" charset="0"/>
                          <a:cs typeface="Times New Roman" panose="02020603050405020304" pitchFamily="18" charset="0"/>
                        </a:rPr>
                        <a:t>Identity of Transport on Arrival</a:t>
                      </a:r>
                      <a:r>
                        <a:rPr lang="en-GB" sz="1400" dirty="0">
                          <a:effectLst/>
                          <a:latin typeface="Calibri" panose="020F0502020204030204" pitchFamily="34" charset="0"/>
                          <a:ea typeface="Calibri" panose="020F0502020204030204" pitchFamily="34" charset="0"/>
                          <a:cs typeface="Times New Roman" panose="02020603050405020304" pitchFamily="18" charset="0"/>
                        </a:rPr>
                        <a:t>’ as a field included within the Type B and E I1 dataset. From CDS 3.7.0, Traders </a:t>
                      </a:r>
                      <a:r>
                        <a:rPr lang="en-GB" sz="1400" strike="noStrike" dirty="0">
                          <a:effectLst/>
                          <a:latin typeface="Calibri" panose="020F0502020204030204" pitchFamily="34" charset="0"/>
                          <a:ea typeface="Calibri" panose="020F0502020204030204" pitchFamily="34" charset="0"/>
                          <a:cs typeface="Times New Roman" panose="02020603050405020304" pitchFamily="18" charset="0"/>
                        </a:rPr>
                        <a:t>must submit </a:t>
                      </a:r>
                      <a:r>
                        <a:rPr lang="en-GB" sz="1400" dirty="0">
                          <a:effectLst/>
                          <a:latin typeface="Calibri" panose="020F0502020204030204" pitchFamily="34" charset="0"/>
                          <a:ea typeface="Calibri" panose="020F0502020204030204" pitchFamily="34" charset="0"/>
                          <a:cs typeface="Times New Roman" panose="02020603050405020304" pitchFamily="18" charset="0"/>
                        </a:rPr>
                        <a:t>a new Additional Information Code ‘</a:t>
                      </a:r>
                      <a:r>
                        <a:rPr lang="en-GB" sz="1400" b="1" dirty="0">
                          <a:effectLst/>
                          <a:latin typeface="Calibri" panose="020F0502020204030204" pitchFamily="34" charset="0"/>
                          <a:ea typeface="Calibri" panose="020F0502020204030204" pitchFamily="34" charset="0"/>
                          <a:cs typeface="Times New Roman" panose="02020603050405020304" pitchFamily="18" charset="0"/>
                        </a:rPr>
                        <a:t>VRN01’ in DE </a:t>
                      </a:r>
                      <a:r>
                        <a:rPr lang="en-GB" sz="1400" b="1" strike="noStrike" dirty="0">
                          <a:effectLst/>
                          <a:latin typeface="Calibri" panose="020F0502020204030204" pitchFamily="34" charset="0"/>
                          <a:ea typeface="Calibri" panose="020F0502020204030204" pitchFamily="34" charset="0"/>
                          <a:cs typeface="Times New Roman" panose="02020603050405020304" pitchFamily="18" charset="0"/>
                        </a:rPr>
                        <a:t>2/2, </a:t>
                      </a:r>
                      <a:r>
                        <a:rPr lang="en-GB" sz="1400" dirty="0">
                          <a:effectLst/>
                          <a:latin typeface="Calibri" panose="020F0502020204030204" pitchFamily="34" charset="0"/>
                          <a:ea typeface="Calibri" panose="020F0502020204030204" pitchFamily="34" charset="0"/>
                          <a:cs typeface="Times New Roman" panose="02020603050405020304" pitchFamily="18" charset="0"/>
                        </a:rPr>
                        <a:t>where a Roll on Roll-off (</a:t>
                      </a:r>
                      <a:r>
                        <a:rPr lang="en-GB" sz="1400" dirty="0" err="1">
                          <a:effectLst/>
                          <a:latin typeface="Calibri" panose="020F0502020204030204" pitchFamily="34" charset="0"/>
                          <a:ea typeface="Calibri" panose="020F0502020204030204" pitchFamily="34" charset="0"/>
                          <a:cs typeface="Times New Roman" panose="02020603050405020304" pitchFamily="18" charset="0"/>
                        </a:rPr>
                        <a:t>RoRo</a:t>
                      </a:r>
                      <a:r>
                        <a:rPr lang="en-GB" sz="1400" dirty="0">
                          <a:effectLst/>
                          <a:latin typeface="Calibri" panose="020F0502020204030204" pitchFamily="34" charset="0"/>
                          <a:ea typeface="Calibri" panose="020F0502020204030204" pitchFamily="34" charset="0"/>
                          <a:cs typeface="Times New Roman" panose="02020603050405020304" pitchFamily="18" charset="0"/>
                        </a:rPr>
                        <a:t>) Mode of Transport is declared on a B&amp;E declaration.</a:t>
                      </a:r>
                    </a:p>
                    <a:p>
                      <a:pPr>
                        <a:defRPr sz="1800" b="0" i="0" u="none" strike="noStrike" kern="0" cap="none" spc="0" baseline="0">
                          <a:solidFill>
                            <a:srgbClr val="000000"/>
                          </a:solidFill>
                          <a:uFillTx/>
                        </a:defRPr>
                      </a:pPr>
                      <a:endParaRPr lang="en-GB" sz="1400" b="1" kern="0" dirty="0">
                        <a:solidFill>
                          <a:srgbClr val="000000"/>
                        </a:solidFill>
                        <a:latin typeface="+mn-lt"/>
                      </a:endParaRPr>
                    </a:p>
                    <a:p>
                      <a:pPr>
                        <a:defRPr sz="1800" b="0" i="0" u="none" strike="noStrike" kern="0" cap="none" spc="0" baseline="0">
                          <a:solidFill>
                            <a:srgbClr val="000000"/>
                          </a:solidFill>
                          <a:uFillTx/>
                        </a:defRPr>
                      </a:pPr>
                      <a:r>
                        <a:rPr lang="en-GB" sz="1400" b="1" kern="0" dirty="0">
                          <a:solidFill>
                            <a:srgbClr val="000000"/>
                          </a:solidFill>
                          <a:latin typeface="+mn-lt"/>
                        </a:rPr>
                        <a:t>To </a:t>
                      </a:r>
                      <a:r>
                        <a:rPr lang="en-GB" sz="1400" b="1" kern="0" dirty="0">
                          <a:solidFill>
                            <a:schemeClr val="tx1"/>
                          </a:solidFill>
                          <a:latin typeface="+mn-lt"/>
                        </a:rPr>
                        <a:t>declare Identify of Transport on Arrival on CDS,</a:t>
                      </a: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dirty="0">
                          <a:solidFill>
                            <a:schemeClr val="tx1"/>
                          </a:solidFill>
                          <a:effectLst/>
                          <a:latin typeface="Calibri  "/>
                        </a:rPr>
                        <a:t>Where the trader submits Types </a:t>
                      </a:r>
                      <a:r>
                        <a:rPr lang="en-GB" sz="1400" b="1" i="0" dirty="0">
                          <a:solidFill>
                            <a:schemeClr val="tx1"/>
                          </a:solidFill>
                          <a:effectLst/>
                          <a:latin typeface="Calibri  "/>
                        </a:rPr>
                        <a:t>B</a:t>
                      </a:r>
                      <a:r>
                        <a:rPr lang="en-GB" sz="1400" b="0" i="0" dirty="0">
                          <a:solidFill>
                            <a:schemeClr val="tx1"/>
                          </a:solidFill>
                          <a:effectLst/>
                          <a:latin typeface="Calibri  "/>
                        </a:rPr>
                        <a:t> or </a:t>
                      </a:r>
                      <a:r>
                        <a:rPr lang="en-GB" sz="1400" b="1" i="0" dirty="0">
                          <a:solidFill>
                            <a:schemeClr val="tx1"/>
                          </a:solidFill>
                          <a:effectLst/>
                          <a:latin typeface="Calibri  "/>
                        </a:rPr>
                        <a:t>E </a:t>
                      </a:r>
                      <a:r>
                        <a:rPr lang="en-GB" sz="1400" b="1" i="0" u="none" dirty="0">
                          <a:solidFill>
                            <a:schemeClr val="tx1"/>
                          </a:solidFill>
                          <a:effectLst/>
                          <a:latin typeface="Calibri  "/>
                        </a:rPr>
                        <a:t>and</a:t>
                      </a:r>
                      <a:r>
                        <a:rPr lang="en-GB" sz="1400" b="0" i="0" u="none" dirty="0">
                          <a:solidFill>
                            <a:schemeClr val="tx1"/>
                          </a:solidFill>
                          <a:effectLst/>
                          <a:latin typeface="Calibri  "/>
                        </a:rPr>
                        <a:t> </a:t>
                      </a:r>
                      <a:r>
                        <a:rPr lang="en-GB" sz="1400" b="0" i="0" dirty="0">
                          <a:solidFill>
                            <a:schemeClr val="tx1"/>
                          </a:solidFill>
                          <a:effectLst/>
                          <a:latin typeface="Calibri  "/>
                        </a:rPr>
                        <a:t>a trader enters ‘</a:t>
                      </a:r>
                      <a:r>
                        <a:rPr lang="en-GB" sz="1400" b="1" i="0" dirty="0">
                          <a:solidFill>
                            <a:schemeClr val="tx1"/>
                          </a:solidFill>
                          <a:effectLst/>
                          <a:latin typeface="Calibri  "/>
                        </a:rPr>
                        <a:t>Roll on Roll off</a:t>
                      </a:r>
                      <a:r>
                        <a:rPr lang="en-GB" sz="1400" b="0" i="0" dirty="0">
                          <a:solidFill>
                            <a:schemeClr val="tx1"/>
                          </a:solidFill>
                          <a:effectLst/>
                          <a:latin typeface="Calibri  "/>
                        </a:rPr>
                        <a:t>’ as the Mode of Transport (Mode = </a:t>
                      </a:r>
                      <a:r>
                        <a:rPr lang="en-GB" sz="1400" b="1" i="0" dirty="0">
                          <a:solidFill>
                            <a:schemeClr val="tx1"/>
                          </a:solidFill>
                          <a:effectLst/>
                          <a:latin typeface="Calibri  "/>
                        </a:rPr>
                        <a:t>6</a:t>
                      </a:r>
                      <a:r>
                        <a:rPr lang="en-GB" sz="1400" b="0" i="0" dirty="0">
                          <a:solidFill>
                            <a:schemeClr val="tx1"/>
                          </a:solidFill>
                          <a:effectLst/>
                          <a:latin typeface="Calibri  "/>
                        </a:rPr>
                        <a:t>) in DE 7/4 (Mode of Transport at the Border), CDS will </a:t>
                      </a:r>
                      <a:r>
                        <a:rPr lang="en-GB" sz="1400" b="1" i="0" u="none" dirty="0">
                          <a:solidFill>
                            <a:schemeClr val="tx1"/>
                          </a:solidFill>
                          <a:effectLst/>
                          <a:latin typeface="Calibri  "/>
                        </a:rPr>
                        <a:t>mandate</a:t>
                      </a:r>
                      <a:r>
                        <a:rPr lang="en-GB" sz="1400" b="0" i="0" dirty="0">
                          <a:solidFill>
                            <a:schemeClr val="tx1"/>
                          </a:solidFill>
                          <a:effectLst/>
                          <a:latin typeface="Calibri  "/>
                        </a:rPr>
                        <a:t> entry of AI Code ‘</a:t>
                      </a:r>
                      <a:r>
                        <a:rPr lang="en-GB" sz="1400" b="1" i="0" dirty="0">
                          <a:solidFill>
                            <a:schemeClr val="tx1"/>
                          </a:solidFill>
                          <a:effectLst/>
                          <a:latin typeface="Calibri  "/>
                        </a:rPr>
                        <a:t>VRN01</a:t>
                      </a:r>
                      <a:r>
                        <a:rPr lang="en-GB" sz="1400" b="0" i="0" dirty="0">
                          <a:solidFill>
                            <a:schemeClr val="tx1"/>
                          </a:solidFill>
                          <a:effectLst/>
                          <a:latin typeface="Calibri  "/>
                        </a:rPr>
                        <a:t>’ in DE 2/2 on at least one goods item: </a:t>
                      </a:r>
                      <a:r>
                        <a:rPr lang="en-GB" sz="1400" dirty="0">
                          <a:solidFill>
                            <a:schemeClr val="tx1"/>
                          </a:solidFill>
                          <a:latin typeface="Calibri  "/>
                        </a:rPr>
                        <a:t>T</a:t>
                      </a:r>
                      <a:r>
                        <a:rPr lang="en-GB" sz="1400" b="0" i="0" dirty="0">
                          <a:solidFill>
                            <a:schemeClr val="tx1"/>
                          </a:solidFill>
                          <a:effectLst/>
                          <a:latin typeface="Calibri  "/>
                        </a:rPr>
                        <a:t>raders must therefore enter AI code ‘</a:t>
                      </a:r>
                      <a:r>
                        <a:rPr lang="en-GB" sz="1400" b="1" i="0" dirty="0">
                          <a:solidFill>
                            <a:schemeClr val="tx1"/>
                          </a:solidFill>
                          <a:effectLst/>
                          <a:latin typeface="Calibri  "/>
                        </a:rPr>
                        <a:t>VRN01</a:t>
                      </a:r>
                      <a:r>
                        <a:rPr lang="en-GB" sz="1400" b="0" i="0" dirty="0">
                          <a:solidFill>
                            <a:schemeClr val="tx1"/>
                          </a:solidFill>
                          <a:effectLst/>
                          <a:latin typeface="Calibri  "/>
                        </a:rPr>
                        <a:t>’ at </a:t>
                      </a:r>
                      <a:r>
                        <a:rPr lang="en-GB" sz="1400" b="1" i="0" dirty="0">
                          <a:solidFill>
                            <a:schemeClr val="tx1"/>
                          </a:solidFill>
                          <a:effectLst/>
                          <a:latin typeface="Calibri  "/>
                        </a:rPr>
                        <a:t>item</a:t>
                      </a:r>
                      <a:r>
                        <a:rPr lang="en-GB" sz="1400" b="0" i="0" dirty="0">
                          <a:solidFill>
                            <a:schemeClr val="tx1"/>
                          </a:solidFill>
                          <a:effectLst/>
                          <a:latin typeface="Calibri  "/>
                        </a:rPr>
                        <a:t> level in </a:t>
                      </a:r>
                      <a:r>
                        <a:rPr lang="en-GB" sz="1400" b="1" i="0" dirty="0">
                          <a:solidFill>
                            <a:schemeClr val="tx1"/>
                          </a:solidFill>
                          <a:effectLst/>
                          <a:latin typeface="Calibri  "/>
                        </a:rPr>
                        <a:t>DE 2/2 </a:t>
                      </a:r>
                      <a:r>
                        <a:rPr lang="en-GB" sz="1400" b="0" i="0" dirty="0">
                          <a:solidFill>
                            <a:schemeClr val="tx1"/>
                          </a:solidFill>
                          <a:effectLst/>
                          <a:latin typeface="Calibri  "/>
                        </a:rPr>
                        <a:t>(Additional Information) in these cases.</a:t>
                      </a:r>
                      <a:endParaRPr lang="en-GB" sz="1400" b="0" i="0" strike="sngStrike" dirty="0">
                        <a:solidFill>
                          <a:schemeClr val="tx1"/>
                        </a:solidFill>
                        <a:effectLst/>
                        <a:latin typeface="Calibri  "/>
                      </a:endParaRPr>
                    </a:p>
                    <a:p>
                      <a:pPr marL="742950" lvl="1" indent="-285750">
                        <a:buFont typeface="Arial" panose="020B0604020202020204" pitchFamily="34" charset="0"/>
                        <a:buChar char="•"/>
                        <a:defRPr sz="1800" b="0" i="0" u="none" strike="noStrike" kern="0" cap="none" spc="0" baseline="0">
                          <a:solidFill>
                            <a:srgbClr val="000000"/>
                          </a:solidFill>
                          <a:uFillTx/>
                        </a:defRPr>
                      </a:pPr>
                      <a:r>
                        <a:rPr lang="en-GB" sz="1400" b="0" i="0" dirty="0">
                          <a:solidFill>
                            <a:schemeClr val="tx1"/>
                          </a:solidFill>
                          <a:effectLst/>
                          <a:latin typeface="Calibri  "/>
                        </a:rPr>
                        <a:t>Where AI Code ‘VRN01’ is entered in DE 2/2 (Additional Information) on a Type B or E declaration, CDS will mandate entry in AI code Free Text field. Trader guidance will dictate that the ID entry in Free-text field should be completed with no spaces in order to allow appropriate risk rules to be set up against Vehicle, Container and Trailer ID numbers.</a:t>
                      </a:r>
                    </a:p>
                    <a:p>
                      <a:pPr marL="742950" lvl="1" indent="-285750">
                        <a:buFont typeface="Arial" panose="020B0604020202020204" pitchFamily="34" charset="0"/>
                        <a:buChar char="•"/>
                        <a:defRPr sz="1800" b="0" i="0" u="none" strike="noStrike" kern="0" cap="none" spc="0" baseline="0">
                          <a:solidFill>
                            <a:srgbClr val="000000"/>
                          </a:solidFill>
                          <a:uFillTx/>
                        </a:defRPr>
                      </a:pPr>
                      <a:endParaRPr lang="en-GB" sz="1400" dirty="0">
                        <a:solidFill>
                          <a:schemeClr val="tx1"/>
                        </a:solidFill>
                        <a:latin typeface="Calibri  "/>
                      </a:endParaRPr>
                    </a:p>
                    <a:p>
                      <a:pPr>
                        <a:defRPr sz="1800" b="0" i="0" u="none" strike="noStrike" kern="0" cap="none" spc="0" baseline="0">
                          <a:solidFill>
                            <a:srgbClr val="000000"/>
                          </a:solidFill>
                          <a:uFillTx/>
                        </a:defRPr>
                      </a:pPr>
                      <a:r>
                        <a:rPr lang="en-GB" sz="1400" b="1" dirty="0">
                          <a:solidFill>
                            <a:schemeClr val="tx1"/>
                          </a:solidFill>
                          <a:latin typeface="Calibri  "/>
                        </a:rPr>
                        <a:t>Please note: </a:t>
                      </a:r>
                      <a:r>
                        <a:rPr lang="en-GB" sz="1400" b="0" i="0" dirty="0">
                          <a:solidFill>
                            <a:schemeClr val="tx1"/>
                          </a:solidFill>
                          <a:effectLst/>
                          <a:latin typeface="Calibri  "/>
                        </a:rPr>
                        <a:t>Appendix 4 in the Tariff Volume 3 will be updated to ensure trader guidance clearly states how to enter AI Code ‘VRN01’.</a:t>
                      </a:r>
                    </a:p>
                    <a:p>
                      <a:pPr>
                        <a:defRPr sz="1800" b="0" i="0" u="none" strike="noStrike" kern="0" cap="none" spc="0" baseline="0">
                          <a:solidFill>
                            <a:srgbClr val="000000"/>
                          </a:solidFill>
                          <a:uFillTx/>
                        </a:defRPr>
                      </a:pPr>
                      <a:r>
                        <a:rPr lang="en-GB" sz="1400" b="0" i="0" strike="noStrike" dirty="0">
                          <a:solidFill>
                            <a:schemeClr val="tx1"/>
                          </a:solidFill>
                          <a:effectLst/>
                          <a:latin typeface="Calibri  "/>
                        </a:rPr>
                        <a:t>Declarations are restricted to </a:t>
                      </a:r>
                      <a:r>
                        <a:rPr lang="en-GB" sz="1400" b="1" i="0" strike="noStrike" dirty="0">
                          <a:solidFill>
                            <a:schemeClr val="tx1"/>
                          </a:solidFill>
                          <a:effectLst/>
                          <a:latin typeface="Calibri  "/>
                        </a:rPr>
                        <a:t>one</a:t>
                      </a:r>
                      <a:r>
                        <a:rPr lang="en-GB" sz="1400" b="0" i="0" strike="noStrike" dirty="0">
                          <a:solidFill>
                            <a:schemeClr val="tx1"/>
                          </a:solidFill>
                          <a:effectLst/>
                          <a:latin typeface="Calibri  "/>
                        </a:rPr>
                        <a:t> per vehicle. Traders declaring goods contained in more than one vehicle will require additional declarations.</a:t>
                      </a:r>
                      <a:endParaRPr lang="en-GB" sz="1400" i="1" strike="noStrike" dirty="0">
                        <a:solidFill>
                          <a:schemeClr val="tx1"/>
                        </a:solidFill>
                        <a:latin typeface="Calibri  "/>
                      </a:endParaRPr>
                    </a:p>
                  </a:txBody>
                  <a:tcPr>
                    <a:solidFill>
                      <a:srgbClr val="E9EBF5"/>
                    </a:solidFill>
                  </a:tcPr>
                </a:tc>
                <a:extLst>
                  <a:ext uri="{0D108BD9-81ED-4DB2-BD59-A6C34878D82A}">
                    <a16:rowId xmlns:a16="http://schemas.microsoft.com/office/drawing/2014/main" val="928626492"/>
                  </a:ext>
                </a:extLst>
              </a:tr>
            </a:tbl>
          </a:graphicData>
        </a:graphic>
      </p:graphicFrame>
    </p:spTree>
    <p:extLst>
      <p:ext uri="{BB962C8B-B14F-4D97-AF65-F5344CB8AC3E}">
        <p14:creationId xmlns:p14="http://schemas.microsoft.com/office/powerpoint/2010/main" val="1751308369"/>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1E715C5-5860-432B-B318-4797AC8FA19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E3EE75B-6E36-4708-8661-A66B0B1062C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DFBF64D-E805-4A38-A472-8AFE19559C2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0BEAB64-DF08-4842-AFAA-AC19668DF5B0}"/>
              </a:ext>
            </a:extLst>
          </p:cNvPr>
          <p:cNvSpPr txBox="1"/>
          <p:nvPr/>
        </p:nvSpPr>
        <p:spPr>
          <a:xfrm>
            <a:off x="11660909"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47028D1-27D2-44D4-B87E-04E680D50D9D}" type="slidenum">
              <a:rPr sz="1200"/>
              <a:t>349</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B1BD4B97-8B01-4DDE-8D0B-2663BE6469A0}"/>
              </a:ext>
            </a:extLst>
          </p:cNvPr>
          <p:cNvSpPr/>
          <p:nvPr/>
        </p:nvSpPr>
        <p:spPr>
          <a:xfrm>
            <a:off x="430717" y="1199875"/>
            <a:ext cx="11317438" cy="73866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u="none" strike="noStrike" kern="1200" cap="none" spc="0" normalizeH="0" baseline="0" noProof="0">
              <a:ln>
                <a:noFill/>
              </a:ln>
              <a:solidFill>
                <a:srgbClr val="333333"/>
              </a:solidFill>
              <a:uLnTx/>
              <a:uFillTx/>
              <a:latin typeface="Arial" panose="020B0604020202020204" pitchFamily="34" charset="0"/>
            </a:endParaRPr>
          </a:p>
          <a:p>
            <a:pPr algn="l">
              <a:buFont typeface="+mj-lt"/>
              <a:buAutoNum type="arabicPeriod"/>
            </a:pPr>
            <a:endParaRPr lang="en-GB" sz="1400" b="0" i="1">
              <a:solidFill>
                <a:srgbClr val="333333"/>
              </a:solidFill>
              <a:effectLst/>
              <a:latin typeface="Arial" panose="020B0604020202020204" pitchFamily="34" charset="0"/>
            </a:endParaRPr>
          </a:p>
          <a:p>
            <a:pPr algn="l"/>
            <a:endParaRPr lang="en-GB" sz="1400" i="1">
              <a:solidFill>
                <a:srgbClr val="333333"/>
              </a:solidFill>
              <a:latin typeface="Arial" panose="020B0604020202020204" pitchFamily="34" charset="0"/>
            </a:endParaRPr>
          </a:p>
        </p:txBody>
      </p:sp>
      <p:sp>
        <p:nvSpPr>
          <p:cNvPr id="9" name="Rectangle 7">
            <a:extLst>
              <a:ext uri="{FF2B5EF4-FFF2-40B4-BE49-F238E27FC236}">
                <a16:creationId xmlns:a16="http://schemas.microsoft.com/office/drawing/2014/main" id="{FD1D6B90-4934-4A83-BF19-7D8B1DCD16D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1" name="Rectangle 13">
            <a:extLst>
              <a:ext uri="{FF2B5EF4-FFF2-40B4-BE49-F238E27FC236}">
                <a16:creationId xmlns:a16="http://schemas.microsoft.com/office/drawing/2014/main" id="{5F4619B1-CC33-4DC3-8EE5-121C61179737}"/>
              </a:ext>
            </a:extLst>
          </p:cNvPr>
          <p:cNvSpPr/>
          <p:nvPr/>
        </p:nvSpPr>
        <p:spPr>
          <a:xfrm>
            <a:off x="363967" y="1183539"/>
            <a:ext cx="11317438" cy="3108543"/>
          </a:xfrm>
          <a:prstGeom prst="rect">
            <a:avLst/>
          </a:prstGeom>
          <a:noFill/>
          <a:ln cap="flat">
            <a:noFill/>
            <a:prstDash val="solid"/>
          </a:ln>
        </p:spPr>
        <p:txBody>
          <a:bodyPr vert="horz" wrap="square" lIns="91440" tIns="45720" rIns="91440" bIns="45720" anchor="t" anchorCtr="0" compatLnSpc="1">
            <a:spAutoFit/>
          </a:bodyPr>
          <a:lstStyle/>
          <a:p>
            <a:pPr>
              <a:defRPr sz="1800" b="0" i="0" u="none" strike="noStrike" kern="0" cap="none" spc="0" baseline="0">
                <a:solidFill>
                  <a:srgbClr val="000000"/>
                </a:solidFill>
                <a:uFillTx/>
              </a:defRPr>
            </a:pPr>
            <a:r>
              <a:rPr lang="en-GB" sz="1400" b="1" i="0" u="sng" kern="1200">
                <a:solidFill>
                  <a:schemeClr val="dk1"/>
                </a:solidFill>
                <a:effectLst/>
                <a:latin typeface="+mn-lt"/>
                <a:ea typeface="+mn-ea"/>
                <a:cs typeface="+mn-cs"/>
              </a:rPr>
              <a:t>Pre-emptive Document Upload</a:t>
            </a:r>
          </a:p>
          <a:p>
            <a:r>
              <a:rPr lang="en-GB" sz="1400" b="0" i="0" u="none" strike="noStrike" kern="1200" cap="none" baseline="0">
                <a:solidFill>
                  <a:schemeClr val="dk1"/>
                </a:solidFill>
                <a:effectLst/>
                <a:latin typeface="+mn-lt"/>
                <a:ea typeface="+mn-ea"/>
                <a:cs typeface="+mn-cs"/>
              </a:rPr>
              <a:t>From CDS 3.7.0, traders have the ability to </a:t>
            </a:r>
            <a:r>
              <a:rPr lang="en-GB" sz="1400" b="0" i="0" kern="1200">
                <a:solidFill>
                  <a:schemeClr val="dk1"/>
                </a:solidFill>
                <a:effectLst/>
                <a:latin typeface="+mn-lt"/>
                <a:ea typeface="+mn-ea"/>
                <a:cs typeface="+mn-cs"/>
              </a:rPr>
              <a:t>upload documents on their declarations prior to any controls, or where a physical control has been raised, via a Secure File Upload.</a:t>
            </a:r>
          </a:p>
          <a:p>
            <a:endParaRPr lang="en-GB" sz="1400">
              <a:solidFill>
                <a:schemeClr val="dk1"/>
              </a:solidFill>
            </a:endParaRPr>
          </a:p>
          <a:p>
            <a:r>
              <a:rPr lang="en-GB" sz="1400" b="1" i="0" kern="1200">
                <a:solidFill>
                  <a:schemeClr val="dk1"/>
                </a:solidFill>
                <a:effectLst/>
                <a:latin typeface="+mn-lt"/>
                <a:ea typeface="+mn-ea"/>
                <a:cs typeface="+mn-cs"/>
              </a:rPr>
              <a:t>CDS Requirements to upload multiple files on CDS,</a:t>
            </a:r>
          </a:p>
          <a:p>
            <a:pPr marL="742950" lvl="1" indent="-285750">
              <a:buFont typeface="Arial" panose="020B0604020202020204" pitchFamily="34" charset="0"/>
              <a:buChar char="•"/>
            </a:pPr>
            <a:r>
              <a:rPr lang="en-GB" sz="1400" b="0" i="0" kern="1200">
                <a:solidFill>
                  <a:schemeClr val="dk1"/>
                </a:solidFill>
                <a:effectLst/>
                <a:latin typeface="+mn-lt"/>
                <a:ea typeface="+mn-ea"/>
                <a:cs typeface="+mn-cs"/>
              </a:rPr>
              <a:t>Maximum total file size: 10MB</a:t>
            </a:r>
          </a:p>
          <a:p>
            <a:pPr marL="742950" lvl="1" indent="-285750">
              <a:buFont typeface="Arial" panose="020B0604020202020204" pitchFamily="34" charset="0"/>
              <a:buChar char="•"/>
            </a:pPr>
            <a:r>
              <a:rPr lang="en-GB" sz="1400" b="0" i="0" kern="1200">
                <a:solidFill>
                  <a:schemeClr val="dk1"/>
                </a:solidFill>
                <a:effectLst/>
                <a:latin typeface="+mn-lt"/>
                <a:ea typeface="+mn-ea"/>
                <a:cs typeface="+mn-cs"/>
              </a:rPr>
              <a:t>Maximum number of files: 10</a:t>
            </a:r>
          </a:p>
          <a:p>
            <a:pPr marL="742950" lvl="1" indent="-285750">
              <a:buFont typeface="Arial" panose="020B0604020202020204" pitchFamily="34" charset="0"/>
              <a:buChar char="•"/>
            </a:pPr>
            <a:r>
              <a:rPr lang="en-GB" sz="1400" b="0" i="0" kern="1200">
                <a:solidFill>
                  <a:schemeClr val="dk1"/>
                </a:solidFill>
                <a:effectLst/>
                <a:latin typeface="+mn-lt"/>
                <a:ea typeface="+mn-ea"/>
                <a:cs typeface="+mn-cs"/>
              </a:rPr>
              <a:t>Acceptable file formats: .jpeg (image), .</a:t>
            </a:r>
            <a:r>
              <a:rPr lang="en-GB" sz="1400" b="0" i="0" kern="1200" err="1">
                <a:solidFill>
                  <a:schemeClr val="dk1"/>
                </a:solidFill>
                <a:effectLst/>
                <a:latin typeface="+mn-lt"/>
                <a:ea typeface="+mn-ea"/>
                <a:cs typeface="+mn-cs"/>
              </a:rPr>
              <a:t>png</a:t>
            </a:r>
            <a:r>
              <a:rPr lang="en-GB" sz="1400" b="0" i="0" kern="1200">
                <a:solidFill>
                  <a:schemeClr val="dk1"/>
                </a:solidFill>
                <a:effectLst/>
                <a:latin typeface="+mn-lt"/>
                <a:ea typeface="+mn-ea"/>
                <a:cs typeface="+mn-cs"/>
              </a:rPr>
              <a:t> (image), .PDF, .txt (plain text)</a:t>
            </a:r>
          </a:p>
          <a:p>
            <a:pPr marL="742950" lvl="1" indent="-285750">
              <a:buFont typeface="Arial" panose="020B0604020202020204" pitchFamily="34" charset="0"/>
              <a:buChar char="•"/>
            </a:pPr>
            <a:endParaRPr lang="en-GB" sz="1400">
              <a:solidFill>
                <a:schemeClr val="dk1"/>
              </a:solidFill>
            </a:endParaRPr>
          </a:p>
          <a:p>
            <a:r>
              <a:rPr lang="en-GB" sz="1400" b="1" i="0" u="sng">
                <a:effectLst/>
                <a:latin typeface="Calibri  "/>
              </a:rPr>
              <a:t>Digital Application for Reimbursement (C&amp;E1179 Claims)</a:t>
            </a:r>
          </a:p>
          <a:p>
            <a:r>
              <a:rPr lang="en-GB" sz="1400" b="0" i="0">
                <a:effectLst/>
                <a:latin typeface="Calibri  "/>
              </a:rPr>
              <a:t>The C&amp;E1179 form </a:t>
            </a:r>
            <a:r>
              <a:rPr lang="en-GB" sz="1400">
                <a:latin typeface="Calibri  "/>
              </a:rPr>
              <a:t>may be used by</a:t>
            </a:r>
            <a:r>
              <a:rPr lang="en-GB" sz="1400" b="0" i="0">
                <a:effectLst/>
                <a:latin typeface="Calibri  "/>
              </a:rPr>
              <a:t> traders when the goods they have imported have been damaged, or are not as they expected, and so wish to destroy or export those goods. </a:t>
            </a:r>
            <a:r>
              <a:rPr lang="en-GB" sz="1400">
                <a:latin typeface="Calibri  "/>
                <a:ea typeface="Times New Roman" panose="02020603050405020304" pitchFamily="18" charset="0"/>
              </a:rPr>
              <a:t>From CDS 3.7.0, traders have the ability to </a:t>
            </a:r>
            <a:r>
              <a:rPr lang="en-GB" sz="1400">
                <a:effectLst/>
                <a:latin typeface="Calibri  "/>
                <a:ea typeface="Times New Roman" panose="02020603050405020304" pitchFamily="18" charset="0"/>
              </a:rPr>
              <a:t>submit a C&amp;E1179 form for repayment or remission purposes via a digital channel</a:t>
            </a:r>
            <a:r>
              <a:rPr lang="en-GB" sz="1400">
                <a:latin typeface="Calibri  "/>
                <a:ea typeface="Times New Roman" panose="02020603050405020304" pitchFamily="18" charset="0"/>
              </a:rPr>
              <a:t>.</a:t>
            </a:r>
            <a:endParaRPr lang="en-GB" sz="1400">
              <a:effectLst/>
              <a:latin typeface="Calibri  "/>
              <a:ea typeface="Times New Roman" panose="02020603050405020304" pitchFamily="18" charset="0"/>
            </a:endParaRPr>
          </a:p>
          <a:p>
            <a:endParaRPr lang="en-GB" sz="1400" b="0" i="0" kern="1200">
              <a:solidFill>
                <a:schemeClr val="dk1"/>
              </a:solidFill>
              <a:effectLst/>
              <a:latin typeface="+mn-lt"/>
              <a:ea typeface="+mn-ea"/>
              <a:cs typeface="+mn-cs"/>
            </a:endParaRPr>
          </a:p>
          <a:p>
            <a:pPr lvl="1">
              <a:defRPr sz="1800" b="0" i="0" u="none" strike="noStrike" kern="0" cap="none" spc="0" baseline="0">
                <a:solidFill>
                  <a:srgbClr val="000000"/>
                </a:solidFill>
                <a:uFillTx/>
              </a:defRPr>
            </a:pPr>
            <a:endParaRPr lang="en-GB" sz="1400" b="1" i="0">
              <a:solidFill>
                <a:srgbClr val="333333"/>
              </a:solidFill>
              <a:effectLst/>
              <a:latin typeface="Calibri  "/>
            </a:endParaRPr>
          </a:p>
        </p:txBody>
      </p:sp>
    </p:spTree>
    <p:extLst>
      <p:ext uri="{BB962C8B-B14F-4D97-AF65-F5344CB8AC3E}">
        <p14:creationId xmlns:p14="http://schemas.microsoft.com/office/powerpoint/2010/main" val="20444849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E0C8E3A3-ADC4-4BA6-8168-8767FF5BC72E}"/>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5026914-7FCA-4CCD-9E52-D181621BBCB4}"/>
              </a:ext>
            </a:extLst>
          </p:cNvPr>
          <p:cNvSpPr/>
          <p:nvPr/>
        </p:nvSpPr>
        <p:spPr>
          <a:xfrm>
            <a:off x="363967" y="2822030"/>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502E35F6-7C80-41E6-85BA-FB48767AE662}"/>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1915580170"/>
                    </a:ext>
                  </a:extLst>
                </a:gridCol>
              </a:tblGrid>
              <a:tr h="220434">
                <a:tc>
                  <a:txBody>
                    <a:bodyPr/>
                    <a:lstStyle/>
                    <a:p>
                      <a:pPr lvl="0" algn="ctr"/>
                      <a:r>
                        <a:rPr lang="en-GB" sz="1200"/>
                        <a:t>TTM18.0 (CDS 3.6.0)</a:t>
                      </a:r>
                    </a:p>
                  </a:txBody>
                  <a:tcPr>
                    <a:solidFill>
                      <a:srgbClr val="595959"/>
                    </a:solidFill>
                  </a:tcPr>
                </a:tc>
                <a:extLst>
                  <a:ext uri="{0D108BD9-81ED-4DB2-BD59-A6C34878D82A}">
                    <a16:rowId xmlns:a16="http://schemas.microsoft.com/office/drawing/2014/main" val="1684540776"/>
                  </a:ext>
                </a:extLst>
              </a:tr>
              <a:tr h="261975">
                <a:tc>
                  <a:txBody>
                    <a:bodyPr/>
                    <a:lstStyle/>
                    <a:p>
                      <a:pPr lvl="0" algn="ctr"/>
                      <a:r>
                        <a:rPr lang="en-GB" sz="1200" b="1" dirty="0">
                          <a:solidFill>
                            <a:srgbClr val="000000"/>
                          </a:solidFill>
                        </a:rPr>
                        <a:t>TT:</a:t>
                      </a:r>
                      <a:r>
                        <a:rPr lang="en-GB" sz="1200" b="0" dirty="0">
                          <a:solidFill>
                            <a:srgbClr val="000000"/>
                          </a:solidFill>
                        </a:rPr>
                        <a:t> 30/03/2022   </a:t>
                      </a:r>
                      <a:r>
                        <a:rPr lang="en-GB" sz="1200" b="1" dirty="0">
                          <a:solidFill>
                            <a:srgbClr val="000000"/>
                          </a:solidFill>
                        </a:rPr>
                        <a:t>TDR: </a:t>
                      </a:r>
                      <a:r>
                        <a:rPr lang="en-GB" sz="1200" b="0" dirty="0">
                          <a:solidFill>
                            <a:srgbClr val="000000"/>
                          </a:solidFill>
                        </a:rPr>
                        <a:t>13/04/2022 (TBC)   </a:t>
                      </a:r>
                      <a:r>
                        <a:rPr lang="en-GB" sz="1200" b="1" dirty="0">
                          <a:solidFill>
                            <a:srgbClr val="000000"/>
                          </a:solidFill>
                        </a:rPr>
                        <a:t>Live: </a:t>
                      </a:r>
                      <a:r>
                        <a:rPr lang="en-GB" sz="1200" b="0" dirty="0">
                          <a:solidFill>
                            <a:srgbClr val="000000"/>
                          </a:solidFill>
                        </a:rPr>
                        <a:t>09/04/2022 (TBC)</a:t>
                      </a:r>
                    </a:p>
                  </a:txBody>
                  <a:tcPr>
                    <a:solidFill>
                      <a:srgbClr val="E7E6E6"/>
                    </a:solidFill>
                  </a:tcPr>
                </a:tc>
                <a:extLst>
                  <a:ext uri="{0D108BD9-81ED-4DB2-BD59-A6C34878D82A}">
                    <a16:rowId xmlns:a16="http://schemas.microsoft.com/office/drawing/2014/main" val="707951111"/>
                  </a:ext>
                </a:extLst>
              </a:tr>
            </a:tbl>
          </a:graphicData>
        </a:graphic>
      </p:graphicFrame>
      <p:cxnSp>
        <p:nvCxnSpPr>
          <p:cNvPr id="6" name="Straight Connector 11">
            <a:extLst>
              <a:ext uri="{FF2B5EF4-FFF2-40B4-BE49-F238E27FC236}">
                <a16:creationId xmlns:a16="http://schemas.microsoft.com/office/drawing/2014/main" id="{4248D9F6-0F31-4AC4-A471-EFB19AC84BD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4D7BEFC7-0A67-400C-924C-8942D8300F9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FB8E01D4-A0BB-468C-A38D-DC0F12D141E2}"/>
              </a:ext>
            </a:extLst>
          </p:cNvPr>
          <p:cNvSpPr/>
          <p:nvPr/>
        </p:nvSpPr>
        <p:spPr>
          <a:xfrm>
            <a:off x="383508" y="3728255"/>
            <a:ext cx="11397328" cy="2150010"/>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C722BEF9-84FA-4C42-82A5-B4856DB976B3}"/>
              </a:ext>
            </a:extLst>
          </p:cNvPr>
          <p:cNvGrpSpPr/>
          <p:nvPr/>
        </p:nvGrpSpPr>
        <p:grpSpPr>
          <a:xfrm>
            <a:off x="879085" y="3280007"/>
            <a:ext cx="2801739" cy="276999"/>
            <a:chOff x="879085" y="3280007"/>
            <a:chExt cx="2801739" cy="276999"/>
          </a:xfrm>
        </p:grpSpPr>
        <p:sp>
          <p:nvSpPr>
            <p:cNvPr id="10" name="TextBox 7">
              <a:extLst>
                <a:ext uri="{FF2B5EF4-FFF2-40B4-BE49-F238E27FC236}">
                  <a16:creationId xmlns:a16="http://schemas.microsoft.com/office/drawing/2014/main" id="{F187B2ED-D9E8-449D-8632-182358912C60}"/>
                </a:ext>
              </a:extLst>
            </p:cNvPr>
            <p:cNvSpPr txBox="1"/>
            <p:nvPr/>
          </p:nvSpPr>
          <p:spPr>
            <a:xfrm>
              <a:off x="879085" y="3280007"/>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9B97BB2E-157B-46F6-A9F7-B4515FC483E3}"/>
                </a:ext>
              </a:extLst>
            </p:cNvPr>
            <p:cNvSpPr/>
            <p:nvPr/>
          </p:nvSpPr>
          <p:spPr>
            <a:xfrm>
              <a:off x="926159" y="334498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C948A562-D924-4777-8D13-1E30D1F121F5}"/>
              </a:ext>
            </a:extLst>
          </p:cNvPr>
          <p:cNvGraphicFramePr>
            <a:graphicFrameLocks noGrp="1"/>
          </p:cNvGraphicFramePr>
          <p:nvPr/>
        </p:nvGraphicFramePr>
        <p:xfrm>
          <a:off x="475268" y="4321856"/>
          <a:ext cx="11213806" cy="146304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1931899194"/>
                    </a:ext>
                  </a:extLst>
                </a:gridCol>
                <a:gridCol w="2961878">
                  <a:extLst>
                    <a:ext uri="{9D8B030D-6E8A-4147-A177-3AD203B41FA5}">
                      <a16:colId xmlns:a16="http://schemas.microsoft.com/office/drawing/2014/main" val="2970572833"/>
                    </a:ext>
                  </a:extLst>
                </a:gridCol>
                <a:gridCol w="2792531">
                  <a:extLst>
                    <a:ext uri="{9D8B030D-6E8A-4147-A177-3AD203B41FA5}">
                      <a16:colId xmlns:a16="http://schemas.microsoft.com/office/drawing/2014/main" val="424122677"/>
                    </a:ext>
                  </a:extLst>
                </a:gridCol>
                <a:gridCol w="2877205">
                  <a:extLst>
                    <a:ext uri="{9D8B030D-6E8A-4147-A177-3AD203B41FA5}">
                      <a16:colId xmlns:a16="http://schemas.microsoft.com/office/drawing/2014/main" val="1440820177"/>
                    </a:ext>
                  </a:extLst>
                </a:gridCol>
              </a:tblGrid>
              <a:tr h="498823">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3" action="ppaction://hlinksldjump"/>
                        </a:rPr>
                        <a:t>Freeports</a:t>
                      </a: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4" action="ppaction://hlinksldjump"/>
                        </a:rPr>
                        <a:t>Declaration Information Service: Full Declaration Query</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fontAlgn="auto" hangingPunct="1">
                        <a:lnSpc>
                          <a:spcPct val="100000"/>
                        </a:lnSpc>
                        <a:spcBef>
                          <a:spcPts val="0"/>
                        </a:spcBef>
                        <a:spcAft>
                          <a:spcPts val="0"/>
                        </a:spcAft>
                        <a:buNone/>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962047799"/>
                  </a:ext>
                </a:extLst>
              </a:tr>
              <a:tr h="480992">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5" action="ppaction://hlinksldjump"/>
                        </a:rPr>
                        <a:t>Enable DUCR re-use on Arrived Exports Declarations with GVMS</a:t>
                      </a:r>
                      <a:endParaRPr lang="en-GB" sz="1200" b="0" i="0" kern="1200">
                        <a:solidFill>
                          <a:srgbClr val="000000"/>
                        </a:solidFill>
                        <a:latin typeface="Calibri"/>
                      </a:endParaRPr>
                    </a:p>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dirty="0">
                          <a:solidFill>
                            <a:srgbClr val="000000"/>
                          </a:solidFill>
                          <a:latin typeface="Calibri"/>
                          <a:hlinkClick r:id="rId5" action="ppaction://hlinksldjump"/>
                        </a:rPr>
                        <a:t>Tariff Misalignments</a:t>
                      </a:r>
                      <a:endParaRPr lang="en-GB" sz="1200" b="0" i="0" kern="1200" dirty="0">
                        <a:solidFill>
                          <a:srgbClr val="000000"/>
                        </a:solidFill>
                        <a:latin typeface="Calibri"/>
                      </a:endParaRPr>
                    </a:p>
                    <a:p>
                      <a:pPr marL="0" marR="0" lvl="0" indent="0" algn="l" defTabSz="914400" rtl="0" fontAlgn="auto" hangingPunct="1">
                        <a:lnSpc>
                          <a:spcPct val="100000"/>
                        </a:lnSpc>
                        <a:spcBef>
                          <a:spcPts val="0"/>
                        </a:spcBef>
                        <a:spcAft>
                          <a:spcPts val="0"/>
                        </a:spcAft>
                        <a:buNone/>
                        <a:tabLst/>
                      </a:pPr>
                      <a:endParaRPr lang="en-GB" sz="1200" b="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b="0" dirty="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a:lnSpc>
                          <a:spcPct val="100000"/>
                        </a:lnSpc>
                        <a:spcBef>
                          <a:spcPts val="0"/>
                        </a:spcBef>
                        <a:spcAft>
                          <a:spcPts val="0"/>
                        </a:spcAft>
                        <a:buNone/>
                      </a:pPr>
                      <a:endParaRPr lang="en-GB" sz="1200" b="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406300876"/>
                  </a:ext>
                </a:extLst>
              </a:tr>
            </a:tbl>
          </a:graphicData>
        </a:graphic>
      </p:graphicFrame>
      <p:grpSp>
        <p:nvGrpSpPr>
          <p:cNvPr id="13" name="Group 4">
            <a:extLst>
              <a:ext uri="{FF2B5EF4-FFF2-40B4-BE49-F238E27FC236}">
                <a16:creationId xmlns:a16="http://schemas.microsoft.com/office/drawing/2014/main" id="{39CE0C17-E3A9-4059-85B8-2D6A98029C15}"/>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909DFB08-353D-4C06-AF59-F9A5843BF63D}"/>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F3EF4EBB-4DCC-4A1A-AEDA-3826B4D6732E}"/>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5E7D0109-4E7D-4041-8EF7-8B36FB5E5ADB}"/>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D1D9F557-0A68-4E21-8006-A30AC9BEAB05}"/>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FCA45776-892D-4555-AE3E-E02F501B812F}"/>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14B3D704-DBD4-47F9-99C7-850D4D612C69}"/>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AC651C1F-36E5-47C2-B01A-16FD174B2F3A}"/>
              </a:ext>
            </a:extLst>
          </p:cNvPr>
          <p:cNvSpPr/>
          <p:nvPr/>
        </p:nvSpPr>
        <p:spPr>
          <a:xfrm>
            <a:off x="546399" y="43923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9D4CD28E-D991-4DF0-A05D-D4CEE3B721CE}"/>
              </a:ext>
            </a:extLst>
          </p:cNvPr>
          <p:cNvSpPr txBox="1"/>
          <p:nvPr/>
        </p:nvSpPr>
        <p:spPr>
          <a:xfrm>
            <a:off x="11646732"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3256264-A35C-43DE-B266-68EEFB32341F}" type="slidenum">
              <a:rPr sz="1200"/>
              <a:t>350</a:t>
            </a:fld>
            <a:endParaRPr lang="en-GB" sz="1200" b="0" i="0" u="none" strike="noStrike" kern="1200" cap="none" spc="0" baseline="0" dirty="0">
              <a:solidFill>
                <a:srgbClr val="000000"/>
              </a:solidFill>
              <a:uFillTx/>
              <a:latin typeface="Calibri"/>
            </a:endParaRPr>
          </a:p>
        </p:txBody>
      </p:sp>
      <p:sp>
        <p:nvSpPr>
          <p:cNvPr id="23" name="Rectangle 27">
            <a:extLst>
              <a:ext uri="{FF2B5EF4-FFF2-40B4-BE49-F238E27FC236}">
                <a16:creationId xmlns:a16="http://schemas.microsoft.com/office/drawing/2014/main" id="{BB7DF869-8C57-4860-B207-3B9A9AF980F0}"/>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4" name="TextBox 10">
            <a:extLst>
              <a:ext uri="{FF2B5EF4-FFF2-40B4-BE49-F238E27FC236}">
                <a16:creationId xmlns:a16="http://schemas.microsoft.com/office/drawing/2014/main" id="{A2F8B0A0-EF60-4B34-8DD5-FEB2F8D7FCC6}"/>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a:solidFill>
                  <a:srgbClr val="000000"/>
                </a:solidFill>
                <a:uFillTx/>
                <a:latin typeface="Calibri"/>
              </a:rPr>
              <a:t> issued CDS Scope Guidance can be found </a:t>
            </a:r>
            <a:r>
              <a:rPr lang="en-GB" sz="1400" b="0" i="0" u="none" strike="noStrike" kern="1200" cap="none" spc="0" baseline="0">
                <a:solidFill>
                  <a:srgbClr val="000000"/>
                </a:solidFill>
                <a:uFillTx/>
                <a:latin typeface="Calibri  "/>
              </a:rPr>
              <a:t>in the </a:t>
            </a:r>
            <a:r>
              <a:rPr lang="en-GB" sz="1400" b="0" i="0" u="none" strike="noStrike" kern="1200" cap="none" spc="0" baseline="0">
                <a:solidFill>
                  <a:srgbClr val="6264A7"/>
                </a:solidFill>
                <a:uFillTx/>
                <a:latin typeface="Calibri  "/>
                <a:hlinkClick r:id="rId6"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a:solidFill>
                  <a:srgbClr val="252423"/>
                </a:solidFill>
                <a:uFillTx/>
                <a:latin typeface="Calibri  "/>
              </a:rPr>
              <a:t> section of the Customs Declaration Service end-to-end service guide within the HMRC Developer Hub</a:t>
            </a:r>
            <a:r>
              <a:rPr lang="en-GB" sz="1400" b="0" i="0" u="none" strike="noStrike" kern="1200" cap="none" spc="0" baseline="0">
                <a:solidFill>
                  <a:srgbClr val="000000"/>
                </a:solidFill>
                <a:uFillTx/>
                <a:latin typeface="Calibri  "/>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pitchFamily="34"/>
                <a:cs typeface="Calibri"/>
              </a:rPr>
              <a:t>If you have any questions regarding this release, please send your query to </a:t>
            </a:r>
            <a:r>
              <a:rPr lang="en-GB" sz="1400" b="0" i="0" u="none" strike="noStrike" kern="1200" cap="none" spc="0" baseline="0">
                <a:solidFill>
                  <a:srgbClr val="000000"/>
                </a:solidFill>
                <a:uFillTx/>
                <a:latin typeface="Calibri"/>
                <a:ea typeface="Calibri" pitchFamily="34"/>
                <a:cs typeface="Calibri"/>
                <a:hlinkClick r:id="rId7"/>
              </a:rPr>
              <a:t>SDSTeam@hmrc.gov.uk</a:t>
            </a:r>
            <a:r>
              <a:rPr lang="en-GB" sz="1400" b="0" i="0" u="none" strike="noStrike" kern="1200" cap="none" spc="0" baseline="0">
                <a:solidFill>
                  <a:srgbClr val="000000"/>
                </a:solidFill>
                <a:uFillTx/>
                <a:latin typeface="Calibri"/>
                <a:ea typeface="Calibri" pitchFamily="34"/>
                <a:cs typeface="Calibri"/>
              </a:rPr>
              <a:t>.</a:t>
            </a:r>
          </a:p>
        </p:txBody>
      </p:sp>
      <p:sp>
        <p:nvSpPr>
          <p:cNvPr id="25" name="Oval 16">
            <a:extLst>
              <a:ext uri="{FF2B5EF4-FFF2-40B4-BE49-F238E27FC236}">
                <a16:creationId xmlns:a16="http://schemas.microsoft.com/office/drawing/2014/main" id="{0803C337-4AEA-46A9-842B-527C2A942DC0}"/>
              </a:ext>
            </a:extLst>
          </p:cNvPr>
          <p:cNvSpPr/>
          <p:nvPr/>
        </p:nvSpPr>
        <p:spPr>
          <a:xfrm>
            <a:off x="3118268" y="439234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TextBox 31">
            <a:extLst>
              <a:ext uri="{FF2B5EF4-FFF2-40B4-BE49-F238E27FC236}">
                <a16:creationId xmlns:a16="http://schemas.microsoft.com/office/drawing/2014/main" id="{028DF333-E014-4B42-AEDD-5EAF2E1149E2}"/>
              </a:ext>
            </a:extLst>
          </p:cNvPr>
          <p:cNvSpPr txBox="1"/>
          <p:nvPr/>
        </p:nvSpPr>
        <p:spPr>
          <a:xfrm>
            <a:off x="5344046" y="5878266"/>
            <a:ext cx="6832972"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Please note: </a:t>
            </a:r>
            <a:r>
              <a:rPr lang="en-GB" sz="1400" b="0" i="0" u="none" strike="noStrike" kern="1200" cap="none" spc="0" baseline="0">
                <a:solidFill>
                  <a:srgbClr val="000000"/>
                </a:solidFill>
                <a:uFillTx/>
                <a:latin typeface="Calibri" pitchFamily="34"/>
              </a:rPr>
              <a:t>Freeports functionality will be delivered as part of </a:t>
            </a:r>
            <a:r>
              <a:rPr lang="en-GB" sz="1400" b="1" i="0" u="none" strike="noStrike" kern="1200" cap="none" spc="0" baseline="0">
                <a:solidFill>
                  <a:srgbClr val="000000"/>
                </a:solidFill>
                <a:uFillTx/>
                <a:latin typeface="Calibri" pitchFamily="34"/>
              </a:rPr>
              <a:t>CDS3.5.2</a:t>
            </a:r>
            <a:r>
              <a:rPr lang="en-GB" sz="1400" b="0" i="0" u="none" strike="noStrike" kern="1200" cap="none" spc="0" baseline="0">
                <a:solidFill>
                  <a:srgbClr val="000000"/>
                </a:solidFill>
                <a:uFillTx/>
                <a:latin typeface="Calibri" pitchFamily="34"/>
              </a:rPr>
              <a:t> on </a:t>
            </a:r>
            <a:r>
              <a:rPr lang="en-GB" sz="1400" b="1" i="0" u="none" strike="noStrike" kern="1200" cap="none" spc="0" baseline="0">
                <a:solidFill>
                  <a:srgbClr val="000000"/>
                </a:solidFill>
                <a:uFillTx/>
                <a:latin typeface="Calibri" pitchFamily="34"/>
              </a:rPr>
              <a:t>31/03/2022</a:t>
            </a:r>
            <a:r>
              <a:rPr lang="en-GB" sz="1400" b="0" i="0" u="none" strike="noStrike" kern="1200" cap="none" spc="0" baseline="0">
                <a:solidFill>
                  <a:srgbClr val="000000"/>
                </a:solidFill>
                <a:uFillTx/>
                <a:latin typeface="Calibri"/>
              </a:rPr>
              <a:t> </a:t>
            </a:r>
          </a:p>
        </p:txBody>
      </p:sp>
      <p:sp>
        <p:nvSpPr>
          <p:cNvPr id="27" name="Oval 16">
            <a:extLst>
              <a:ext uri="{FF2B5EF4-FFF2-40B4-BE49-F238E27FC236}">
                <a16:creationId xmlns:a16="http://schemas.microsoft.com/office/drawing/2014/main" id="{B18BA519-9E98-44A8-AA33-8E4FF2E43643}"/>
              </a:ext>
            </a:extLst>
          </p:cNvPr>
          <p:cNvSpPr/>
          <p:nvPr/>
        </p:nvSpPr>
        <p:spPr>
          <a:xfrm>
            <a:off x="3118268" y="503387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16">
            <a:extLst>
              <a:ext uri="{FF2B5EF4-FFF2-40B4-BE49-F238E27FC236}">
                <a16:creationId xmlns:a16="http://schemas.microsoft.com/office/drawing/2014/main" id="{45312A53-385C-4C22-918A-25E1A03168E8}"/>
              </a:ext>
            </a:extLst>
          </p:cNvPr>
          <p:cNvSpPr/>
          <p:nvPr/>
        </p:nvSpPr>
        <p:spPr>
          <a:xfrm>
            <a:off x="546399" y="503387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 2700000 f2 0"/>
              <a:gd name="f15" fmla="*/ f9 f1 1"/>
              <a:gd name="f16" fmla="*/ f10 f1 1"/>
              <a:gd name="f17" fmla="?: f11 f4 1"/>
              <a:gd name="f18" fmla="?: f12 f5 1"/>
              <a:gd name="f19" fmla="?: f13 f6 1"/>
              <a:gd name="f20" fmla="+- f14 0 f2"/>
              <a:gd name="f21" fmla="*/ f15 1 f3"/>
              <a:gd name="f22" fmla="*/ f16 1 f3"/>
              <a:gd name="f23" fmla="*/ f17 1 21600"/>
              <a:gd name="f24" fmla="*/ f18 1 21600"/>
              <a:gd name="f25" fmla="*/ 21600 f17 1"/>
              <a:gd name="f26" fmla="*/ 21600 f18 1"/>
              <a:gd name="f27" fmla="+- f20 f2 0"/>
              <a:gd name="f28" fmla="+- f21 0 f2"/>
              <a:gd name="f29" fmla="+- f22 0 f2"/>
              <a:gd name="f30" fmla="min f24 f23"/>
              <a:gd name="f31" fmla="*/ f25 1 f19"/>
              <a:gd name="f32" fmla="*/ f26 1 f19"/>
              <a:gd name="f33" fmla="*/ f27 f8 1"/>
              <a:gd name="f34" fmla="val f31"/>
              <a:gd name="f35" fmla="val f32"/>
              <a:gd name="f36" fmla="*/ f33 1 f1"/>
              <a:gd name="f37" fmla="*/ f7 f30 1"/>
              <a:gd name="f38" fmla="+- f35 0 f7"/>
              <a:gd name="f39" fmla="+- f34 0 f7"/>
              <a:gd name="f40" fmla="+- 0 0 f36"/>
              <a:gd name="f41" fmla="*/ f38 1 2"/>
              <a:gd name="f42" fmla="*/ f39 1 2"/>
              <a:gd name="f43" fmla="+- 0 0 f40"/>
              <a:gd name="f44" fmla="+- f7 f41 0"/>
              <a:gd name="f45" fmla="+- f7 f42 0"/>
              <a:gd name="f46" fmla="*/ f43 f1 1"/>
              <a:gd name="f47" fmla="*/ f42 f30 1"/>
              <a:gd name="f48" fmla="*/ f41 f30 1"/>
              <a:gd name="f49" fmla="*/ f46 1 f8"/>
              <a:gd name="f50" fmla="*/ f44 f30 1"/>
              <a:gd name="f51" fmla="+- f49 0 f2"/>
              <a:gd name="f52" fmla="cos 1 f51"/>
              <a:gd name="f53" fmla="sin 1 f51"/>
              <a:gd name="f54" fmla="+- 0 0 f52"/>
              <a:gd name="f55" fmla="+- 0 0 f53"/>
              <a:gd name="f56" fmla="+- 0 0 f54"/>
              <a:gd name="f57" fmla="+- 0 0 f55"/>
              <a:gd name="f58" fmla="val f56"/>
              <a:gd name="f59" fmla="val f57"/>
              <a:gd name="f60" fmla="*/ f58 f42 1"/>
              <a:gd name="f61" fmla="*/ f59 f41 1"/>
              <a:gd name="f62" fmla="+- f45 0 f60"/>
              <a:gd name="f63" fmla="+- f45 f60 0"/>
              <a:gd name="f64" fmla="+- f44 0 f61"/>
              <a:gd name="f65" fmla="+- f44 f61 0"/>
              <a:gd name="f66" fmla="*/ f62 f30 1"/>
              <a:gd name="f67" fmla="*/ f64 f30 1"/>
              <a:gd name="f68" fmla="*/ f63 f30 1"/>
              <a:gd name="f69" fmla="*/ f65 f30 1"/>
            </a:gdLst>
            <a:ahLst/>
            <a:cxnLst>
              <a:cxn ang="3cd4">
                <a:pos x="hc" y="t"/>
              </a:cxn>
              <a:cxn ang="0">
                <a:pos x="r" y="vc"/>
              </a:cxn>
              <a:cxn ang="cd4">
                <a:pos x="hc" y="b"/>
              </a:cxn>
              <a:cxn ang="cd2">
                <a:pos x="l" y="vc"/>
              </a:cxn>
              <a:cxn ang="f28">
                <a:pos x="f66" y="f67"/>
              </a:cxn>
              <a:cxn ang="f29">
                <a:pos x="f66" y="f69"/>
              </a:cxn>
              <a:cxn ang="f29">
                <a:pos x="f68" y="f69"/>
              </a:cxn>
              <a:cxn ang="f28">
                <a:pos x="f68" y="f67"/>
              </a:cxn>
            </a:cxnLst>
            <a:rect l="f66" t="f67" r="f68" b="f69"/>
            <a:pathLst>
              <a:path>
                <a:moveTo>
                  <a:pt x="f37" y="f50"/>
                </a:moveTo>
                <a:arcTo wR="f47" hR="f48"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AF3347CA-13DB-41C7-96FF-30CE3C805E3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2861AC3-394A-4AEA-98E4-4D823116D58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99250DA-F649-4169-9879-C69273879C72}"/>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546728D6-7253-491C-85B5-39F5A44C489B}"/>
              </a:ext>
            </a:extLst>
          </p:cNvPr>
          <p:cNvSpPr txBox="1"/>
          <p:nvPr/>
        </p:nvSpPr>
        <p:spPr>
          <a:xfrm>
            <a:off x="11646732"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9ADDE4B-F314-4E3C-B010-1AC657B48FF7}" type="slidenum">
              <a:rPr sz="1200"/>
              <a:t>351</a:t>
            </a:fld>
            <a:endParaRPr lang="en-GB" sz="1200" b="0" i="0" u="none" strike="noStrike" kern="1200" cap="none" spc="0" baseline="0" dirty="0">
              <a:solidFill>
                <a:srgbClr val="000000"/>
              </a:solidFill>
              <a:uFillTx/>
              <a:latin typeface="Calibri"/>
            </a:endParaRPr>
          </a:p>
        </p:txBody>
      </p:sp>
      <p:sp>
        <p:nvSpPr>
          <p:cNvPr id="8" name="Rectangle 13">
            <a:extLst>
              <a:ext uri="{FF2B5EF4-FFF2-40B4-BE49-F238E27FC236}">
                <a16:creationId xmlns:a16="http://schemas.microsoft.com/office/drawing/2014/main" id="{5763768E-182A-4558-91F7-20F02313FAE0}"/>
              </a:ext>
            </a:extLst>
          </p:cNvPr>
          <p:cNvSpPr/>
          <p:nvPr/>
        </p:nvSpPr>
        <p:spPr>
          <a:xfrm>
            <a:off x="444691" y="1199866"/>
            <a:ext cx="11282159" cy="292157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Freeports</a:t>
            </a:r>
            <a:r>
              <a:rPr lang="en-GB" sz="1400" b="1" i="0" u="sng" strike="noStrike" kern="1200" cap="none" spc="0" baseline="0">
                <a:solidFill>
                  <a:srgbClr val="000000"/>
                </a:solidFill>
                <a:uFillTx/>
                <a:latin typeface="Calibri  "/>
              </a:rPr>
              <a:t>: </a:t>
            </a:r>
            <a:r>
              <a:rPr lang="en-GB" sz="1400" b="1" i="0" u="sng" strike="noStrike" kern="1200" cap="none" spc="0" baseline="0">
                <a:solidFill>
                  <a:srgbClr val="333333"/>
                </a:solidFill>
                <a:uFillTx/>
                <a:latin typeface="Calibri  "/>
              </a:rPr>
              <a:t>Importing Goods into a Freeport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introduction of this functionality will implement the essential requirements for importing controlled and non-controlled goods into a Freeport. CDS will deliver the submission of a Full Declaration and a CFSP-authorised Simplified Frontier Declaration, for entry into the Freeport Special Procedure using Requested Procedure Code </a:t>
            </a:r>
            <a:r>
              <a:rPr lang="en-GB" sz="1400" b="1" i="0" u="none" strike="noStrike" kern="1200" cap="none" spc="0" baseline="0">
                <a:solidFill>
                  <a:srgbClr val="333333"/>
                </a:solidFill>
                <a:uFillTx/>
                <a:latin typeface="Calibri  "/>
              </a:rPr>
              <a:t>’78’. </a:t>
            </a: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cs typeface="Calibri" pitchFamily="34"/>
              </a:rPr>
              <a:t>For CDS to derive the correct procedure category when declarations are submitted with a 78 Requested Procedure code, so import declarations can be identified as entering into the Freeport Special Procedure,</a:t>
            </a: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pitchFamily="34"/>
                <a:ea typeface="Times New Roman" pitchFamily="18"/>
                <a:cs typeface="Times New Roman" pitchFamily="18"/>
              </a:rPr>
              <a:t>Where a trader submits a declaration for entry into the Freeports Special Procedure, CDS will accept </a:t>
            </a:r>
            <a:r>
              <a:rPr lang="en-GB" sz="1400" b="1" i="0" u="none" strike="noStrike" kern="1200" cap="none" spc="0" baseline="0">
                <a:solidFill>
                  <a:srgbClr val="333333"/>
                </a:solidFill>
                <a:uFillTx/>
                <a:latin typeface="Calibri" pitchFamily="34"/>
                <a:ea typeface="Times New Roman" pitchFamily="18"/>
                <a:cs typeface="Times New Roman" pitchFamily="18"/>
              </a:rPr>
              <a:t>one</a:t>
            </a:r>
            <a:r>
              <a:rPr lang="en-GB" sz="1400" b="0" i="0" u="none" strike="noStrike" kern="1200" cap="none" spc="0" baseline="0">
                <a:solidFill>
                  <a:srgbClr val="333333"/>
                </a:solidFill>
                <a:uFillTx/>
                <a:latin typeface="Calibri" pitchFamily="34"/>
                <a:ea typeface="Times New Roman" pitchFamily="18"/>
                <a:cs typeface="Times New Roman" pitchFamily="18"/>
              </a:rPr>
              <a:t> of the following </a:t>
            </a:r>
            <a:r>
              <a:rPr lang="en-GB" sz="1400" b="1" i="0" u="none" strike="noStrike" kern="1200" cap="none" spc="0" baseline="0">
                <a:solidFill>
                  <a:srgbClr val="333333"/>
                </a:solidFill>
                <a:uFillTx/>
                <a:latin typeface="Calibri" pitchFamily="34"/>
                <a:ea typeface="Times New Roman" pitchFamily="18"/>
                <a:cs typeface="Times New Roman" pitchFamily="18"/>
              </a:rPr>
              <a:t>Procedure Codes </a:t>
            </a:r>
            <a:r>
              <a:rPr lang="en-GB" sz="1400" b="0" i="0" u="none" strike="noStrike" kern="1200" cap="none" spc="0" baseline="0">
                <a:solidFill>
                  <a:srgbClr val="333333"/>
                </a:solidFill>
                <a:uFillTx/>
                <a:latin typeface="Calibri" pitchFamily="34"/>
                <a:ea typeface="Times New Roman" pitchFamily="18"/>
                <a:cs typeface="Times New Roman" pitchFamily="18"/>
              </a:rPr>
              <a:t>in</a:t>
            </a:r>
            <a:r>
              <a:rPr lang="en-GB" sz="1400" b="1" i="0" u="none" strike="noStrike" kern="1200" cap="none" spc="0" baseline="0">
                <a:solidFill>
                  <a:srgbClr val="333333"/>
                </a:solidFill>
                <a:uFillTx/>
                <a:latin typeface="Calibri" pitchFamily="34"/>
                <a:ea typeface="Times New Roman" pitchFamily="18"/>
                <a:cs typeface="Times New Roman" pitchFamily="18"/>
              </a:rPr>
              <a:t> DE 1/10:</a:t>
            </a:r>
            <a:endParaRPr lang="en-GB" sz="1800" b="0" i="0" u="none" strike="noStrike" kern="1200" cap="none" spc="0" baseline="0">
              <a:solidFill>
                <a:srgbClr val="333333"/>
              </a:solidFill>
              <a:uFillTx/>
              <a:latin typeface="Calibri" pitchFamily="34"/>
              <a:ea typeface="Times New Roman" pitchFamily="18"/>
              <a:cs typeface="Times New Roman" pitchFamily="18"/>
            </a:endParaRPr>
          </a:p>
          <a:p>
            <a:pPr marL="285750" marR="0" lvl="0" indent="-285750" algn="l" defTabSz="914400" rtl="0" fontAlgn="auto" hangingPunct="1">
              <a:lnSpc>
                <a:spcPct val="107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800" b="0" i="0" u="none" strike="noStrike" kern="1200" cap="none" spc="0" baseline="0">
              <a:solidFill>
                <a:srgbClr val="333333"/>
              </a:solidFill>
              <a:uFillTx/>
              <a:latin typeface="Calibri" pitchFamily="34"/>
              <a:ea typeface="Times New Roman" pitchFamily="18"/>
              <a:cs typeface="Times New Roman" pitchFamily="18"/>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800" b="0" i="0" u="none" strike="noStrike" kern="1200" cap="none" spc="0" baseline="0">
              <a:solidFill>
                <a:srgbClr val="333333"/>
              </a:solidFill>
              <a:uFillTx/>
              <a:latin typeface="Calibri" pitchFamily="34"/>
              <a:ea typeface="Times New Roman" pitchFamily="18"/>
              <a:cs typeface="Times New Roman" pitchFamily="18"/>
            </a:endParaRPr>
          </a:p>
        </p:txBody>
      </p:sp>
      <p:sp>
        <p:nvSpPr>
          <p:cNvPr id="9" name="Rectangle 7">
            <a:extLst>
              <a:ext uri="{FF2B5EF4-FFF2-40B4-BE49-F238E27FC236}">
                <a16:creationId xmlns:a16="http://schemas.microsoft.com/office/drawing/2014/main" id="{C2046CCC-B875-4763-AB84-D7B53FA00C5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4">
            <a:extLst>
              <a:ext uri="{FF2B5EF4-FFF2-40B4-BE49-F238E27FC236}">
                <a16:creationId xmlns:a16="http://schemas.microsoft.com/office/drawing/2014/main" id="{C6CA5467-897F-4FF3-89D5-C72DCE602922}"/>
              </a:ext>
            </a:extLst>
          </p:cNvPr>
          <p:cNvGraphicFramePr>
            <a:graphicFrameLocks noGrp="1"/>
          </p:cNvGraphicFramePr>
          <p:nvPr/>
        </p:nvGraphicFramePr>
        <p:xfrm>
          <a:off x="4930335" y="3222939"/>
          <a:ext cx="2310862" cy="1935480"/>
        </p:xfrm>
        <a:graphic>
          <a:graphicData uri="http://schemas.openxmlformats.org/drawingml/2006/table">
            <a:tbl>
              <a:tblPr firstRow="1" bandRow="1">
                <a:effectLst/>
                <a:tableStyleId>{5C22544A-7EE6-4342-B048-85BDC9FD1C3A}</a:tableStyleId>
              </a:tblPr>
              <a:tblGrid>
                <a:gridCol w="2310862">
                  <a:extLst>
                    <a:ext uri="{9D8B030D-6E8A-4147-A177-3AD203B41FA5}">
                      <a16:colId xmlns:a16="http://schemas.microsoft.com/office/drawing/2014/main" val="485198414"/>
                    </a:ext>
                  </a:extLst>
                </a:gridCol>
              </a:tblGrid>
              <a:tr h="300682">
                <a:tc>
                  <a:txBody>
                    <a:bodyPr/>
                    <a:lstStyle/>
                    <a:p>
                      <a:pPr lvl="0" algn="ctr"/>
                      <a:r>
                        <a:rPr lang="en-GB" sz="1300"/>
                        <a:t>Procedure Codes</a:t>
                      </a:r>
                    </a:p>
                    <a:p>
                      <a:pPr lvl="0" algn="ctr"/>
                      <a:r>
                        <a:rPr lang="en-GB" sz="1300"/>
                        <a:t>(DE 1/10)</a:t>
                      </a:r>
                    </a:p>
                  </a:txBody>
                  <a:tcPr/>
                </a:tc>
                <a:extLst>
                  <a:ext uri="{0D108BD9-81ED-4DB2-BD59-A6C34878D82A}">
                    <a16:rowId xmlns:a16="http://schemas.microsoft.com/office/drawing/2014/main" val="468689725"/>
                  </a:ext>
                </a:extLst>
              </a:tr>
              <a:tr h="180411">
                <a:tc>
                  <a:txBody>
                    <a:bodyPr/>
                    <a:lstStyle/>
                    <a:p>
                      <a:pPr lvl="0" algn="ctr"/>
                      <a:r>
                        <a:rPr lang="en-GB" sz="1300"/>
                        <a:t>7800</a:t>
                      </a:r>
                    </a:p>
                  </a:txBody>
                  <a:tcPr/>
                </a:tc>
                <a:extLst>
                  <a:ext uri="{0D108BD9-81ED-4DB2-BD59-A6C34878D82A}">
                    <a16:rowId xmlns:a16="http://schemas.microsoft.com/office/drawing/2014/main" val="3022532364"/>
                  </a:ext>
                </a:extLst>
              </a:tr>
              <a:tr h="180411">
                <a:tc>
                  <a:txBody>
                    <a:bodyPr/>
                    <a:lstStyle/>
                    <a:p>
                      <a:pPr lvl="0" algn="ctr"/>
                      <a:r>
                        <a:rPr lang="en-GB" sz="1300"/>
                        <a:t>7851</a:t>
                      </a:r>
                    </a:p>
                  </a:txBody>
                  <a:tcPr/>
                </a:tc>
                <a:extLst>
                  <a:ext uri="{0D108BD9-81ED-4DB2-BD59-A6C34878D82A}">
                    <a16:rowId xmlns:a16="http://schemas.microsoft.com/office/drawing/2014/main" val="4211785283"/>
                  </a:ext>
                </a:extLst>
              </a:tr>
              <a:tr h="180411">
                <a:tc>
                  <a:txBody>
                    <a:bodyPr/>
                    <a:lstStyle/>
                    <a:p>
                      <a:pPr lvl="0" algn="ctr"/>
                      <a:r>
                        <a:rPr lang="en-GB" sz="1300"/>
                        <a:t>7853</a:t>
                      </a:r>
                    </a:p>
                  </a:txBody>
                  <a:tcPr/>
                </a:tc>
                <a:extLst>
                  <a:ext uri="{0D108BD9-81ED-4DB2-BD59-A6C34878D82A}">
                    <a16:rowId xmlns:a16="http://schemas.microsoft.com/office/drawing/2014/main" val="2086105597"/>
                  </a:ext>
                </a:extLst>
              </a:tr>
              <a:tr h="180411">
                <a:tc>
                  <a:txBody>
                    <a:bodyPr/>
                    <a:lstStyle/>
                    <a:p>
                      <a:pPr lvl="0" algn="ctr"/>
                      <a:r>
                        <a:rPr lang="en-GB" sz="1300"/>
                        <a:t>7878</a:t>
                      </a:r>
                    </a:p>
                  </a:txBody>
                  <a:tcPr/>
                </a:tc>
                <a:extLst>
                  <a:ext uri="{0D108BD9-81ED-4DB2-BD59-A6C34878D82A}">
                    <a16:rowId xmlns:a16="http://schemas.microsoft.com/office/drawing/2014/main" val="484875367"/>
                  </a:ext>
                </a:extLst>
              </a:tr>
              <a:tr h="180411">
                <a:tc>
                  <a:txBody>
                    <a:bodyPr/>
                    <a:lstStyle/>
                    <a:p>
                      <a:pPr lvl="0" algn="ctr"/>
                      <a:r>
                        <a:rPr lang="en-GB" sz="1300" dirty="0"/>
                        <a:t>7871</a:t>
                      </a:r>
                    </a:p>
                  </a:txBody>
                  <a:tcPr/>
                </a:tc>
                <a:extLst>
                  <a:ext uri="{0D108BD9-81ED-4DB2-BD59-A6C34878D82A}">
                    <a16:rowId xmlns:a16="http://schemas.microsoft.com/office/drawing/2014/main" val="2743155871"/>
                  </a:ext>
                </a:extLst>
              </a:tr>
            </a:tbl>
          </a:graphicData>
        </a:graphic>
      </p:graphicFrame>
      <p:sp>
        <p:nvSpPr>
          <p:cNvPr id="11" name="TextBox 1">
            <a:extLst>
              <a:ext uri="{FF2B5EF4-FFF2-40B4-BE49-F238E27FC236}">
                <a16:creationId xmlns:a16="http://schemas.microsoft.com/office/drawing/2014/main" id="{82A27CC8-051D-48F3-8CAA-B4AB7803559B}"/>
              </a:ext>
            </a:extLst>
          </p:cNvPr>
          <p:cNvSpPr txBox="1"/>
          <p:nvPr/>
        </p:nvSpPr>
        <p:spPr>
          <a:xfrm>
            <a:off x="2103778" y="6240249"/>
            <a:ext cx="8238954"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Please Note: </a:t>
            </a:r>
            <a:r>
              <a:rPr lang="en-GB" sz="1400" b="0" i="0" u="none" strike="noStrike" kern="1200" cap="none" spc="0" baseline="0">
                <a:solidFill>
                  <a:srgbClr val="000000"/>
                </a:solidFill>
                <a:uFillTx/>
                <a:latin typeface="Calibri"/>
              </a:rPr>
              <a:t>There may be future changes to the declaration completion requirements for Freeports.</a:t>
            </a:r>
          </a:p>
        </p:txBody>
      </p:sp>
      <p:sp>
        <p:nvSpPr>
          <p:cNvPr id="12" name="TextBox 12">
            <a:extLst>
              <a:ext uri="{FF2B5EF4-FFF2-40B4-BE49-F238E27FC236}">
                <a16:creationId xmlns:a16="http://schemas.microsoft.com/office/drawing/2014/main" id="{5199D943-DFBD-4322-B43D-49C60B11CA3E}"/>
              </a:ext>
            </a:extLst>
          </p:cNvPr>
          <p:cNvSpPr txBox="1"/>
          <p:nvPr/>
        </p:nvSpPr>
        <p:spPr>
          <a:xfrm>
            <a:off x="444691" y="5127936"/>
            <a:ext cx="11387974" cy="1169554"/>
          </a:xfrm>
          <a:prstGeom prst="rect">
            <a:avLst/>
          </a:prstGeom>
          <a:noFill/>
          <a:ln cap="flat">
            <a:noFill/>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ea typeface="Times New Roman" pitchFamily="18"/>
                <a:cs typeface="Times New Roman" pitchFamily="18"/>
              </a:rPr>
              <a:t>Where one of the above Procedure Codes is entered in DE 1/10, CDS will mandate the entry of </a:t>
            </a:r>
            <a:r>
              <a:rPr lang="en-GB" sz="1400" b="1" i="0" u="none" strike="noStrike" kern="1200" cap="none" spc="0" baseline="0">
                <a:solidFill>
                  <a:srgbClr val="333333"/>
                </a:solidFill>
                <a:uFillTx/>
                <a:latin typeface="Calibri  "/>
                <a:ea typeface="Times New Roman" pitchFamily="18"/>
                <a:cs typeface="Times New Roman" pitchFamily="18"/>
              </a:rPr>
              <a:t>one</a:t>
            </a:r>
            <a:r>
              <a:rPr lang="en-GB" sz="1400" b="0" i="0" u="none" strike="noStrike" kern="1200" cap="none" spc="0" baseline="0">
                <a:solidFill>
                  <a:srgbClr val="333333"/>
                </a:solidFill>
                <a:uFillTx/>
                <a:latin typeface="Calibri  "/>
                <a:ea typeface="Times New Roman" pitchFamily="18"/>
                <a:cs typeface="Times New Roman" pitchFamily="18"/>
              </a:rPr>
              <a:t> of the above listed </a:t>
            </a:r>
            <a:r>
              <a:rPr lang="en-GB" sz="1400" b="1" i="0" u="none" strike="noStrike" kern="1200" cap="none" spc="0" baseline="0">
                <a:solidFill>
                  <a:srgbClr val="333333"/>
                </a:solidFill>
                <a:uFillTx/>
                <a:latin typeface="Calibri  "/>
                <a:ea typeface="Times New Roman" pitchFamily="18"/>
                <a:cs typeface="Times New Roman" pitchFamily="18"/>
              </a:rPr>
              <a:t>Additional Procedure Codes </a:t>
            </a:r>
            <a:r>
              <a:rPr lang="en-GB" sz="1400" b="0" i="0" u="none" strike="noStrike" kern="1200" cap="none" spc="0" baseline="0">
                <a:solidFill>
                  <a:srgbClr val="333333"/>
                </a:solidFill>
                <a:uFillTx/>
                <a:latin typeface="Calibri  "/>
                <a:ea typeface="Times New Roman" pitchFamily="18"/>
                <a:cs typeface="Times New Roman" pitchFamily="18"/>
              </a:rPr>
              <a:t>in DE 1/11: </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Times New Roman" pitchFamily="18"/>
              </a:rPr>
              <a:t>Additional Procedure Codes: </a:t>
            </a:r>
            <a:r>
              <a:rPr lang="en-GB" sz="1400" b="1" i="0" u="none" strike="noStrike" kern="1200" cap="none" spc="0" baseline="0">
                <a:solidFill>
                  <a:srgbClr val="000000"/>
                </a:solidFill>
                <a:uFillTx/>
                <a:latin typeface="Calibri  "/>
                <a:ea typeface="Times New Roman" pitchFamily="18"/>
              </a:rPr>
              <a:t>F15, 1VW, 2CD, 2CG </a:t>
            </a:r>
            <a:r>
              <a:rPr lang="en-GB" sz="1400" b="0" i="0" u="none" strike="noStrike" kern="1200" cap="none" spc="0" baseline="0">
                <a:solidFill>
                  <a:srgbClr val="000000"/>
                </a:solidFill>
                <a:uFillTx/>
                <a:latin typeface="Calibri  "/>
                <a:ea typeface="Times New Roman" pitchFamily="18"/>
              </a:rPr>
              <a:t>or</a:t>
            </a:r>
            <a:r>
              <a:rPr lang="en-GB" sz="1400" b="1" i="0" u="none" strike="noStrike" kern="1200" cap="none" spc="0" baseline="0">
                <a:solidFill>
                  <a:srgbClr val="000000"/>
                </a:solidFill>
                <a:uFillTx/>
                <a:latin typeface="Calibri  "/>
                <a:ea typeface="Times New Roman" pitchFamily="18"/>
              </a:rPr>
              <a:t> 000</a:t>
            </a:r>
            <a:r>
              <a:rPr lang="en-GB" sz="1400" b="0" i="0" u="none" strike="noStrike" kern="1200" cap="none" spc="0" baseline="0">
                <a:solidFill>
                  <a:srgbClr val="000000"/>
                </a:solidFill>
                <a:uFillTx/>
                <a:latin typeface="Calibri  "/>
                <a:ea typeface="Times New Roman" pitchFamily="18"/>
              </a:rPr>
              <a:t>.</a:t>
            </a:r>
            <a:endParaRPr lang="en-GB" sz="1400" b="0" i="0" u="none" strike="noStrike" kern="1200" cap="none" spc="0" baseline="0">
              <a:solidFill>
                <a:srgbClr val="333333"/>
              </a:solidFill>
              <a:uFillTx/>
              <a:latin typeface="Calibri  "/>
              <a:ea typeface="Times New Roman" pitchFamily="18"/>
              <a:cs typeface="Times New Roman" pitchFamily="18"/>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ea typeface="Times New Roman" pitchFamily="18"/>
                <a:cs typeface="Times New Roman" pitchFamily="18"/>
              </a:rPr>
              <a:t>Where one of the above listed Additional Procedure Codes is not entered, CDS will reject the declaration and send a DMSREJ notification to the submitter.</a:t>
            </a:r>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9A24C89-2CD7-4EBF-8790-D26709A1397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B0E96B3-14D7-4C6B-9764-7439C6131A2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C934ABE-8E6F-457D-B5A2-286572FA627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9016E196-27FC-4ADE-942D-939BD9925145}"/>
              </a:ext>
            </a:extLst>
          </p:cNvPr>
          <p:cNvSpPr txBox="1"/>
          <p:nvPr/>
        </p:nvSpPr>
        <p:spPr>
          <a:xfrm>
            <a:off x="11646729"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A11E730-848C-475D-853A-37BA2FCBA68B}" type="slidenum">
              <a:rPr sz="1200"/>
              <a:t>352</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F0A55AC0-EC06-4F96-A582-1E157F29E57A}"/>
              </a:ext>
            </a:extLst>
          </p:cNvPr>
          <p:cNvSpPr/>
          <p:nvPr/>
        </p:nvSpPr>
        <p:spPr>
          <a:xfrm>
            <a:off x="444691" y="1199866"/>
            <a:ext cx="11282159" cy="5006495"/>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Dependent upon the Declaration Type entered in DE 1/2, where the requested procedure code ’</a:t>
            </a:r>
            <a:r>
              <a:rPr lang="en-GB" sz="1400" b="1" i="0" u="none" strike="noStrike" kern="1200" cap="none" spc="0" baseline="0">
                <a:solidFill>
                  <a:srgbClr val="333333"/>
                </a:solidFill>
                <a:uFillTx/>
                <a:latin typeface="Calibri  "/>
              </a:rPr>
              <a:t>78’</a:t>
            </a:r>
            <a:r>
              <a:rPr lang="en-GB" sz="1400" b="0" i="0" u="none" strike="noStrike" kern="1200" cap="none" spc="0" baseline="0">
                <a:solidFill>
                  <a:srgbClr val="333333"/>
                </a:solidFill>
                <a:uFillTx/>
                <a:latin typeface="Calibri  "/>
              </a:rPr>
              <a:t> is entered in </a:t>
            </a:r>
            <a:r>
              <a:rPr lang="en-GB" sz="1400" b="1" i="0" u="none" strike="noStrike" kern="1200" cap="none" spc="0" baseline="0">
                <a:solidFill>
                  <a:srgbClr val="333333"/>
                </a:solidFill>
                <a:uFillTx/>
                <a:latin typeface="Calibri  "/>
              </a:rPr>
              <a:t>DE 1/10</a:t>
            </a:r>
            <a:r>
              <a:rPr lang="en-GB" sz="1400" b="0" i="0" u="none" strike="noStrike" kern="1200" cap="none" spc="0" baseline="0">
                <a:solidFill>
                  <a:srgbClr val="333333"/>
                </a:solidFill>
                <a:uFillTx/>
                <a:latin typeface="Calibri  "/>
              </a:rPr>
              <a:t>, and additional declaration type </a:t>
            </a:r>
            <a:r>
              <a:rPr lang="en-GB" sz="1400" b="1" i="0" u="none" strike="noStrike" kern="1200" cap="none" spc="0" baseline="0">
                <a:solidFill>
                  <a:srgbClr val="333333"/>
                </a:solidFill>
                <a:uFillTx/>
                <a:latin typeface="Calibri  "/>
              </a:rPr>
              <a:t>IM </a:t>
            </a:r>
            <a:r>
              <a:rPr lang="en-GB" sz="1400" b="0" i="0" u="none" strike="noStrike" kern="1200" cap="none" spc="0" baseline="0">
                <a:solidFill>
                  <a:srgbClr val="333333"/>
                </a:solidFill>
                <a:uFillTx/>
                <a:latin typeface="Calibri  "/>
              </a:rPr>
              <a:t>or </a:t>
            </a:r>
            <a:r>
              <a:rPr lang="en-GB" sz="1400" b="1" i="0" u="none" strike="noStrike" kern="1200" cap="none" spc="0" baseline="0">
                <a:solidFill>
                  <a:srgbClr val="333333"/>
                </a:solidFill>
                <a:uFillTx/>
                <a:latin typeface="Calibri  "/>
              </a:rPr>
              <a:t>CO</a:t>
            </a:r>
            <a:r>
              <a:rPr lang="en-GB" sz="1400" b="0" i="0" u="none" strike="noStrike" kern="1200" cap="none" spc="0" baseline="0">
                <a:solidFill>
                  <a:srgbClr val="333333"/>
                </a:solidFill>
                <a:uFillTx/>
                <a:latin typeface="Calibri  "/>
              </a:rPr>
              <a:t> is declared in </a:t>
            </a:r>
            <a:r>
              <a:rPr lang="en-GB" sz="1400" b="1" i="0" u="none" strike="noStrike" kern="1200" cap="none" spc="0" baseline="0">
                <a:solidFill>
                  <a:srgbClr val="333333"/>
                </a:solidFill>
                <a:uFillTx/>
                <a:latin typeface="Calibri  "/>
              </a:rPr>
              <a:t>DE 1/1</a:t>
            </a:r>
            <a:r>
              <a:rPr lang="en-GB" sz="1400" b="0" i="0" u="none" strike="noStrike" kern="1200" cap="none" spc="0" baseline="0">
                <a:solidFill>
                  <a:srgbClr val="333333"/>
                </a:solidFill>
                <a:uFillTx/>
                <a:latin typeface="Calibri  "/>
              </a:rPr>
              <a:t>, CDS will derive the following datasets: </a:t>
            </a: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0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pitchFamily="34"/>
                <a:cs typeface="Times New Roman" pitchFamily="18"/>
              </a:rPr>
              <a:t>If the declarant submits a combination of Declaration Type, Additional Declaration Type and Procedure Code ’78’, that do not result in a valid dataset (above), CDS will reject the declaration and send a DMSREJ notification to the submitter.</a:t>
            </a:r>
          </a:p>
          <a:p>
            <a:pPr marL="457200" marR="0" lvl="1"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Times New Roman" pitchFamily="18"/>
              <a:ea typeface="Times New Roman" pitchFamily="18"/>
              <a:cs typeface="Times New Roman" pitchFamily="18"/>
            </a:endParaRPr>
          </a:p>
          <a:p>
            <a:pPr marL="742950" marR="0" lvl="1" indent="-285750" algn="l" defTabSz="914400" rtl="0" fontAlgn="auto" hangingPunct="1">
              <a:lnSpc>
                <a:spcPct val="100000"/>
              </a:lnSpc>
              <a:spcBef>
                <a:spcPts val="0"/>
              </a:spcBef>
              <a:spcAft>
                <a:spcPts val="0"/>
              </a:spcAft>
              <a:buSzPct val="100000"/>
              <a:buFont typeface="Arial" pitchFamily="34"/>
              <a:buChar char="•"/>
              <a:tabLst>
                <a:tab pos="457200" algn="l"/>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pitchFamily="34"/>
                <a:cs typeface="Times New Roman" pitchFamily="18"/>
              </a:rPr>
              <a:t>Where the Requested Procedure Code </a:t>
            </a:r>
            <a:r>
              <a:rPr lang="en-GB" sz="1400" b="1" i="0" u="none" strike="noStrike" kern="1200" cap="none" spc="0" baseline="0">
                <a:solidFill>
                  <a:srgbClr val="333333"/>
                </a:solidFill>
                <a:uFillTx/>
                <a:latin typeface="Calibri" pitchFamily="34"/>
                <a:cs typeface="Times New Roman" pitchFamily="18"/>
              </a:rPr>
              <a:t>’78’ </a:t>
            </a:r>
            <a:r>
              <a:rPr lang="en-GB" sz="1400" b="0" i="0" u="none" strike="noStrike" kern="1200" cap="none" spc="0" baseline="0">
                <a:solidFill>
                  <a:srgbClr val="333333"/>
                </a:solidFill>
                <a:uFillTx/>
                <a:latin typeface="Calibri" pitchFamily="34"/>
                <a:cs typeface="Times New Roman" pitchFamily="18"/>
              </a:rPr>
              <a:t>is entered in DE 1/10, it is </a:t>
            </a:r>
            <a:r>
              <a:rPr lang="en-GB" sz="1400" b="1" i="0" u="none" strike="noStrike" kern="1200" cap="none" spc="0" baseline="0">
                <a:solidFill>
                  <a:srgbClr val="333333"/>
                </a:solidFill>
                <a:uFillTx/>
                <a:latin typeface="Calibri" pitchFamily="34"/>
                <a:cs typeface="Times New Roman" pitchFamily="18"/>
              </a:rPr>
              <a:t>mandatory</a:t>
            </a:r>
            <a:r>
              <a:rPr lang="en-GB" sz="1400" b="0" i="0" u="none" strike="noStrike" kern="1200" cap="none" spc="0" baseline="0">
                <a:solidFill>
                  <a:srgbClr val="333333"/>
                </a:solidFill>
                <a:uFillTx/>
                <a:latin typeface="Calibri" pitchFamily="34"/>
                <a:cs typeface="Times New Roman" pitchFamily="18"/>
              </a:rPr>
              <a:t>:</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cs typeface="Times New Roman" pitchFamily="18"/>
              </a:rPr>
              <a:t>Codes ‘</a:t>
            </a:r>
            <a:r>
              <a:rPr lang="en-GB" sz="1400" b="1" i="0" u="none" strike="noStrike" kern="1200" cap="none" spc="0" baseline="0">
                <a:solidFill>
                  <a:srgbClr val="333333"/>
                </a:solidFill>
                <a:uFillTx/>
                <a:latin typeface="Calibri  "/>
                <a:cs typeface="Times New Roman" pitchFamily="18"/>
              </a:rPr>
              <a:t>OVR01’ </a:t>
            </a:r>
            <a:r>
              <a:rPr lang="en-GB" sz="1400" b="0" i="0" u="none" strike="noStrike" kern="1200" cap="none" spc="0" baseline="0">
                <a:solidFill>
                  <a:srgbClr val="333333"/>
                </a:solidFill>
                <a:uFillTx/>
                <a:latin typeface="Calibri  "/>
                <a:cs typeface="Times New Roman" pitchFamily="18"/>
              </a:rPr>
              <a:t>or </a:t>
            </a:r>
            <a:r>
              <a:rPr lang="en-GB" sz="1400" b="1" i="0" u="none" strike="noStrike" kern="1200" cap="none" spc="0" baseline="0">
                <a:solidFill>
                  <a:srgbClr val="333333"/>
                </a:solidFill>
                <a:uFillTx/>
                <a:latin typeface="Calibri  "/>
                <a:cs typeface="Times New Roman" pitchFamily="18"/>
              </a:rPr>
              <a:t>‘UVC01’ </a:t>
            </a:r>
            <a:r>
              <a:rPr lang="en-GB" sz="1400" b="0" i="0" u="none" strike="noStrike" kern="1200" cap="none" spc="0" baseline="0">
                <a:solidFill>
                  <a:srgbClr val="333333"/>
                </a:solidFill>
                <a:uFillTx/>
                <a:latin typeface="Calibri  "/>
                <a:cs typeface="Times New Roman" pitchFamily="18"/>
              </a:rPr>
              <a:t>are </a:t>
            </a:r>
            <a:r>
              <a:rPr lang="en-GB" sz="1400" b="1" i="0" u="none" strike="noStrike" kern="1200" cap="none" spc="0" baseline="0">
                <a:solidFill>
                  <a:srgbClr val="333333"/>
                </a:solidFill>
                <a:uFillTx/>
                <a:latin typeface="Calibri  "/>
                <a:cs typeface="Times New Roman" pitchFamily="18"/>
              </a:rPr>
              <a:t>not</a:t>
            </a:r>
            <a:r>
              <a:rPr lang="en-GB" sz="1400" b="0" i="0" u="none" strike="noStrike" kern="1200" cap="none" spc="0" baseline="0">
                <a:solidFill>
                  <a:srgbClr val="333333"/>
                </a:solidFill>
                <a:uFillTx/>
                <a:latin typeface="Calibri  "/>
                <a:cs typeface="Times New Roman" pitchFamily="18"/>
              </a:rPr>
              <a:t> entered in DE 2/2. </a:t>
            </a:r>
            <a:endParaRPr lang="en-GB" sz="1400" b="0" i="0" u="none" strike="noStrike" kern="1200" cap="none" spc="0" baseline="0">
              <a:solidFill>
                <a:srgbClr val="000000"/>
              </a:solidFill>
              <a:uFillTx/>
              <a:latin typeface="Calibri  "/>
              <a:cs typeface="Times New Roman" pitchFamily="18"/>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cs typeface="Times New Roman" pitchFamily="18"/>
              </a:rPr>
              <a:t>For Type Code ‘</a:t>
            </a:r>
            <a:r>
              <a:rPr lang="en-GB" sz="1400" b="1" i="0" u="none" strike="noStrike" kern="1200" cap="none" spc="0" baseline="0">
                <a:solidFill>
                  <a:srgbClr val="333333"/>
                </a:solidFill>
                <a:uFillTx/>
                <a:latin typeface="Calibri  "/>
                <a:cs typeface="Times New Roman" pitchFamily="18"/>
              </a:rPr>
              <a:t>Z’,</a:t>
            </a:r>
            <a:r>
              <a:rPr lang="en-GB" sz="1400" b="0" i="0" u="none" strike="noStrike" kern="1200" cap="none" spc="0" baseline="0">
                <a:solidFill>
                  <a:srgbClr val="333333"/>
                </a:solidFill>
                <a:uFillTx/>
                <a:latin typeface="Calibri  "/>
                <a:cs typeface="Times New Roman" pitchFamily="18"/>
              </a:rPr>
              <a:t> and a </a:t>
            </a:r>
            <a:r>
              <a:rPr lang="en-GB" sz="1400" b="1" i="0" u="none" strike="noStrike" kern="1200" cap="none" spc="0" baseline="0">
                <a:solidFill>
                  <a:srgbClr val="333333"/>
                </a:solidFill>
                <a:uFillTx/>
                <a:latin typeface="Calibri  "/>
                <a:cs typeface="Times New Roman" pitchFamily="18"/>
              </a:rPr>
              <a:t>Customs Site ID </a:t>
            </a:r>
            <a:r>
              <a:rPr lang="en-GB" sz="1400" b="0" i="0" u="none" strike="noStrike" kern="1200" cap="none" spc="0" baseline="0">
                <a:solidFill>
                  <a:srgbClr val="333333"/>
                </a:solidFill>
                <a:uFillTx/>
                <a:latin typeface="Calibri  "/>
                <a:cs typeface="Times New Roman" pitchFamily="18"/>
              </a:rPr>
              <a:t>to be entered in DE 2/7.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Document Category ‘</a:t>
            </a:r>
            <a:r>
              <a:rPr lang="en-GB" sz="1400" b="1" i="0" u="none" strike="noStrike" kern="1200" cap="none" spc="0" baseline="0">
                <a:solidFill>
                  <a:srgbClr val="333333"/>
                </a:solidFill>
                <a:uFillTx/>
                <a:latin typeface="Calibri  "/>
              </a:rPr>
              <a:t>Z</a:t>
            </a:r>
            <a:r>
              <a:rPr lang="en-GB" sz="1400" b="0" i="0" u="none" strike="noStrike" kern="1200" cap="none" spc="0" baseline="0">
                <a:solidFill>
                  <a:srgbClr val="333333"/>
                </a:solidFill>
                <a:uFillTx/>
                <a:latin typeface="Calibri  "/>
              </a:rPr>
              <a:t>’ and Previous Document Type ‘</a:t>
            </a:r>
            <a:r>
              <a:rPr lang="en-GB" sz="1400" b="1" i="0" u="none" strike="noStrike" kern="1200" cap="none" spc="0" baseline="0">
                <a:solidFill>
                  <a:srgbClr val="333333"/>
                </a:solidFill>
                <a:uFillTx/>
                <a:latin typeface="Calibri  "/>
              </a:rPr>
              <a:t>ZZZ’ </a:t>
            </a:r>
            <a:r>
              <a:rPr lang="en-GB" sz="1400" b="0" i="0" u="none" strike="noStrike" kern="1200" cap="none" spc="0" baseline="0">
                <a:solidFill>
                  <a:srgbClr val="333333"/>
                </a:solidFill>
                <a:uFillTx/>
                <a:latin typeface="Calibri  "/>
              </a:rPr>
              <a:t>are entered at </a:t>
            </a:r>
            <a:r>
              <a:rPr lang="en-GB" sz="1400" b="1" i="0" u="none" strike="noStrike" kern="1200" cap="none" spc="0" baseline="0">
                <a:solidFill>
                  <a:srgbClr val="333333"/>
                </a:solidFill>
                <a:uFillTx/>
                <a:latin typeface="Calibri  "/>
              </a:rPr>
              <a:t>header level </a:t>
            </a:r>
            <a:r>
              <a:rPr lang="en-GB" sz="1400" b="0" i="0" u="none" strike="noStrike" kern="1200" cap="none" spc="0" baseline="0">
                <a:solidFill>
                  <a:srgbClr val="333333"/>
                </a:solidFill>
                <a:uFillTx/>
                <a:latin typeface="Calibri  "/>
              </a:rPr>
              <a:t>in DE 2/1. </a:t>
            </a:r>
            <a:endParaRPr lang="en-GB" sz="1400" b="1" i="0" u="none" strike="noStrike" kern="1200" cap="none" spc="0" baseline="0">
              <a:solidFill>
                <a:srgbClr val="333333"/>
              </a:solidFill>
              <a:uFillTx/>
              <a:latin typeface="Calibri (body)"/>
            </a:endParaRPr>
          </a:p>
          <a:p>
            <a:pPr marL="1657350" marR="0" lvl="3" indent="-285750" algn="l" defTabSz="914400" rtl="0" fontAlgn="auto" hangingPunct="1">
              <a:lnSpc>
                <a:spcPct val="100000"/>
              </a:lnSpc>
              <a:spcBef>
                <a:spcPts val="0"/>
              </a:spcBef>
              <a:spcAft>
                <a:spcPts val="0"/>
              </a:spcAft>
              <a:buSzPct val="100000"/>
              <a:buFont typeface="Courier New" pitchFamily="49"/>
              <a:buChar char="o"/>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Please Note</a:t>
            </a:r>
            <a:r>
              <a:rPr lang="en-GB" sz="1400" b="0" i="0" u="none" strike="noStrike" kern="1200" cap="none" spc="0" baseline="0">
                <a:solidFill>
                  <a:srgbClr val="333333"/>
                </a:solidFill>
                <a:uFillTx/>
                <a:latin typeface="Calibri (body)"/>
              </a:rPr>
              <a:t>: If the above mandatory requirements are not met, CDS will reject the declaration and send a DMSREJ notification to the trader.</a:t>
            </a:r>
          </a:p>
          <a:p>
            <a:pPr marL="1371600" marR="0" lvl="3" indent="0" algn="l" defTabSz="914400" rtl="0" fontAlgn="auto" hangingPunct="1">
              <a:lnSpc>
                <a:spcPct val="100000"/>
              </a:lnSpc>
              <a:spcBef>
                <a:spcPts val="0"/>
              </a:spcBef>
              <a:spcAft>
                <a:spcPts val="0"/>
              </a:spcAft>
              <a:buNone/>
              <a:tabLst>
                <a:tab pos="457200" algn="l"/>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
            </a:endParaRPr>
          </a:p>
        </p:txBody>
      </p:sp>
      <p:sp>
        <p:nvSpPr>
          <p:cNvPr id="9" name="Rectangle 7">
            <a:extLst>
              <a:ext uri="{FF2B5EF4-FFF2-40B4-BE49-F238E27FC236}">
                <a16:creationId xmlns:a16="http://schemas.microsoft.com/office/drawing/2014/main" id="{B90EF12E-7ED9-43B3-94C1-1070D31E073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10" name="Table 2">
            <a:extLst>
              <a:ext uri="{FF2B5EF4-FFF2-40B4-BE49-F238E27FC236}">
                <a16:creationId xmlns:a16="http://schemas.microsoft.com/office/drawing/2014/main" id="{78649E8B-05AE-4B3F-A010-5EC45B92369C}"/>
              </a:ext>
            </a:extLst>
          </p:cNvPr>
          <p:cNvGraphicFramePr>
            <a:graphicFrameLocks noGrp="1"/>
          </p:cNvGraphicFramePr>
          <p:nvPr/>
        </p:nvGraphicFramePr>
        <p:xfrm>
          <a:off x="3975774" y="1792004"/>
          <a:ext cx="4240456" cy="2026920"/>
        </p:xfrm>
        <a:graphic>
          <a:graphicData uri="http://schemas.openxmlformats.org/drawingml/2006/table">
            <a:tbl>
              <a:tblPr firstRow="1" bandRow="1">
                <a:effectLst/>
                <a:tableStyleId>{5C22544A-7EE6-4342-B048-85BDC9FD1C3A}</a:tableStyleId>
              </a:tblPr>
              <a:tblGrid>
                <a:gridCol w="2120228">
                  <a:extLst>
                    <a:ext uri="{9D8B030D-6E8A-4147-A177-3AD203B41FA5}">
                      <a16:colId xmlns:a16="http://schemas.microsoft.com/office/drawing/2014/main" val="2692836920"/>
                    </a:ext>
                  </a:extLst>
                </a:gridCol>
                <a:gridCol w="2120228">
                  <a:extLst>
                    <a:ext uri="{9D8B030D-6E8A-4147-A177-3AD203B41FA5}">
                      <a16:colId xmlns:a16="http://schemas.microsoft.com/office/drawing/2014/main" val="1972494891"/>
                    </a:ext>
                  </a:extLst>
                </a:gridCol>
              </a:tblGrid>
              <a:tr h="215149">
                <a:tc>
                  <a:txBody>
                    <a:bodyPr/>
                    <a:lstStyle/>
                    <a:p>
                      <a:pPr lvl="0" algn="ctr"/>
                      <a:r>
                        <a:rPr lang="en-GB" sz="1300"/>
                        <a:t>Declaration Type </a:t>
                      </a:r>
                    </a:p>
                  </a:txBody>
                  <a:tcPr/>
                </a:tc>
                <a:tc>
                  <a:txBody>
                    <a:bodyPr/>
                    <a:lstStyle/>
                    <a:p>
                      <a:pPr lvl="0" algn="ctr"/>
                      <a:r>
                        <a:rPr lang="en-GB" sz="1300"/>
                        <a:t>Dataset Derived by CDS</a:t>
                      </a:r>
                    </a:p>
                  </a:txBody>
                  <a:tcPr/>
                </a:tc>
                <a:extLst>
                  <a:ext uri="{0D108BD9-81ED-4DB2-BD59-A6C34878D82A}">
                    <a16:rowId xmlns:a16="http://schemas.microsoft.com/office/drawing/2014/main" val="1800296424"/>
                  </a:ext>
                </a:extLst>
              </a:tr>
              <a:tr h="215149">
                <a:tc>
                  <a:txBody>
                    <a:bodyPr/>
                    <a:lstStyle/>
                    <a:p>
                      <a:pPr lvl="0" algn="ctr"/>
                      <a:r>
                        <a:rPr lang="en-GB" sz="1300"/>
                        <a:t>Type A</a:t>
                      </a:r>
                    </a:p>
                  </a:txBody>
                  <a:tcPr/>
                </a:tc>
                <a:tc>
                  <a:txBody>
                    <a:bodyPr/>
                    <a:lstStyle/>
                    <a:p>
                      <a:pPr lvl="0" algn="ctr"/>
                      <a:r>
                        <a:rPr lang="en-GB" sz="1300"/>
                        <a:t>H2</a:t>
                      </a:r>
                    </a:p>
                  </a:txBody>
                  <a:tcPr/>
                </a:tc>
                <a:extLst>
                  <a:ext uri="{0D108BD9-81ED-4DB2-BD59-A6C34878D82A}">
                    <a16:rowId xmlns:a16="http://schemas.microsoft.com/office/drawing/2014/main" val="737197280"/>
                  </a:ext>
                </a:extLst>
              </a:tr>
              <a:tr h="215149">
                <a:tc>
                  <a:txBody>
                    <a:bodyPr/>
                    <a:lstStyle/>
                    <a:p>
                      <a:pPr lvl="0" algn="ctr"/>
                      <a:r>
                        <a:rPr lang="en-GB" sz="1300"/>
                        <a:t>Type D</a:t>
                      </a:r>
                    </a:p>
                  </a:txBody>
                  <a:tcPr/>
                </a:tc>
                <a:tc>
                  <a:txBody>
                    <a:bodyPr/>
                    <a:lstStyle/>
                    <a:p>
                      <a:pPr lvl="0" algn="ctr"/>
                      <a:r>
                        <a:rPr lang="en-GB" sz="1300"/>
                        <a:t>H2</a:t>
                      </a:r>
                    </a:p>
                  </a:txBody>
                  <a:tcPr/>
                </a:tc>
                <a:extLst>
                  <a:ext uri="{0D108BD9-81ED-4DB2-BD59-A6C34878D82A}">
                    <a16:rowId xmlns:a16="http://schemas.microsoft.com/office/drawing/2014/main" val="2159205000"/>
                  </a:ext>
                </a:extLst>
              </a:tr>
              <a:tr h="215149">
                <a:tc>
                  <a:txBody>
                    <a:bodyPr/>
                    <a:lstStyle/>
                    <a:p>
                      <a:pPr lvl="0" algn="ctr"/>
                      <a:r>
                        <a:rPr lang="en-GB" sz="1300"/>
                        <a:t>Type C</a:t>
                      </a:r>
                    </a:p>
                  </a:txBody>
                  <a:tcPr/>
                </a:tc>
                <a:tc>
                  <a:txBody>
                    <a:bodyPr/>
                    <a:lstStyle/>
                    <a:p>
                      <a:pPr lvl="0" algn="ctr"/>
                      <a:r>
                        <a:rPr lang="en-GB" sz="1300"/>
                        <a:t>I1</a:t>
                      </a:r>
                    </a:p>
                  </a:txBody>
                  <a:tcPr/>
                </a:tc>
                <a:extLst>
                  <a:ext uri="{0D108BD9-81ED-4DB2-BD59-A6C34878D82A}">
                    <a16:rowId xmlns:a16="http://schemas.microsoft.com/office/drawing/2014/main" val="1677332471"/>
                  </a:ext>
                </a:extLst>
              </a:tr>
              <a:tr h="215149">
                <a:tc>
                  <a:txBody>
                    <a:bodyPr/>
                    <a:lstStyle/>
                    <a:p>
                      <a:pPr lvl="0" algn="ctr"/>
                      <a:r>
                        <a:rPr lang="en-GB" sz="1300"/>
                        <a:t>Type F</a:t>
                      </a:r>
                    </a:p>
                  </a:txBody>
                  <a:tcPr/>
                </a:tc>
                <a:tc>
                  <a:txBody>
                    <a:bodyPr/>
                    <a:lstStyle/>
                    <a:p>
                      <a:pPr lvl="0" algn="ctr"/>
                      <a:r>
                        <a:rPr lang="en-GB" sz="1300"/>
                        <a:t>I1</a:t>
                      </a:r>
                    </a:p>
                  </a:txBody>
                  <a:tcPr/>
                </a:tc>
                <a:extLst>
                  <a:ext uri="{0D108BD9-81ED-4DB2-BD59-A6C34878D82A}">
                    <a16:rowId xmlns:a16="http://schemas.microsoft.com/office/drawing/2014/main" val="3588058486"/>
                  </a:ext>
                </a:extLst>
              </a:tr>
              <a:tr h="215149">
                <a:tc>
                  <a:txBody>
                    <a:bodyPr/>
                    <a:lstStyle/>
                    <a:p>
                      <a:pPr lvl="0" algn="ctr"/>
                      <a:r>
                        <a:rPr lang="en-GB" sz="1300"/>
                        <a:t>Type J</a:t>
                      </a:r>
                    </a:p>
                  </a:txBody>
                  <a:tcPr/>
                </a:tc>
                <a:tc>
                  <a:txBody>
                    <a:bodyPr/>
                    <a:lstStyle/>
                    <a:p>
                      <a:pPr lvl="0" algn="ctr"/>
                      <a:r>
                        <a:rPr lang="en-GB" sz="1300"/>
                        <a:t>C21i EIDR</a:t>
                      </a:r>
                    </a:p>
                  </a:txBody>
                  <a:tcPr/>
                </a:tc>
                <a:extLst>
                  <a:ext uri="{0D108BD9-81ED-4DB2-BD59-A6C34878D82A}">
                    <a16:rowId xmlns:a16="http://schemas.microsoft.com/office/drawing/2014/main" val="3347689551"/>
                  </a:ext>
                </a:extLst>
              </a:tr>
              <a:tr h="215149">
                <a:tc>
                  <a:txBody>
                    <a:bodyPr/>
                    <a:lstStyle/>
                    <a:p>
                      <a:pPr lvl="0" algn="ctr"/>
                      <a:r>
                        <a:rPr lang="en-GB" sz="1300"/>
                        <a:t>Type K</a:t>
                      </a:r>
                    </a:p>
                  </a:txBody>
                  <a:tcPr/>
                </a:tc>
                <a:tc>
                  <a:txBody>
                    <a:bodyPr/>
                    <a:lstStyle/>
                    <a:p>
                      <a:pPr lvl="0" algn="ctr"/>
                      <a:r>
                        <a:rPr lang="en-GB" sz="1300" dirty="0"/>
                        <a:t>C21i EIDR</a:t>
                      </a:r>
                    </a:p>
                  </a:txBody>
                  <a:tcPr/>
                </a:tc>
                <a:extLst>
                  <a:ext uri="{0D108BD9-81ED-4DB2-BD59-A6C34878D82A}">
                    <a16:rowId xmlns:a16="http://schemas.microsoft.com/office/drawing/2014/main" val="246022222"/>
                  </a:ext>
                </a:extLst>
              </a:tr>
            </a:tbl>
          </a:graphicData>
        </a:graphic>
      </p:graphicFrame>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E9B6FE8-C669-4831-912F-5B24E284DA0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BA757C2-520A-4DFC-B84B-33F029301AF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45A4F53-0A1F-4D0A-84BF-3B06D15C475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9F8FFA2-5B32-4A2B-B758-3958AEF578AA}"/>
              </a:ext>
            </a:extLst>
          </p:cNvPr>
          <p:cNvSpPr txBox="1"/>
          <p:nvPr/>
        </p:nvSpPr>
        <p:spPr>
          <a:xfrm>
            <a:off x="11653820"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C5EA034-E110-4AAB-B1E7-2572BB677BD2}" type="slidenum">
              <a:rPr sz="1200"/>
              <a:t>353</a:t>
            </a:fld>
            <a:endParaRPr lang="en-GB" sz="1200" b="0" i="0" u="none" strike="noStrike" kern="1200" cap="none" spc="0" baseline="0">
              <a:solidFill>
                <a:srgbClr val="000000"/>
              </a:solidFill>
              <a:uFillTx/>
              <a:latin typeface="Calibri"/>
            </a:endParaRPr>
          </a:p>
        </p:txBody>
      </p:sp>
      <p:sp>
        <p:nvSpPr>
          <p:cNvPr id="8" name="Rectangle 13">
            <a:extLst>
              <a:ext uri="{FF2B5EF4-FFF2-40B4-BE49-F238E27FC236}">
                <a16:creationId xmlns:a16="http://schemas.microsoft.com/office/drawing/2014/main" id="{90B2108B-4C5A-4190-B47A-CB8F003430BA}"/>
              </a:ext>
            </a:extLst>
          </p:cNvPr>
          <p:cNvSpPr/>
          <p:nvPr/>
        </p:nvSpPr>
        <p:spPr>
          <a:xfrm>
            <a:off x="444691" y="1199866"/>
            <a:ext cx="11282159" cy="429733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Freeports</a:t>
            </a:r>
            <a:r>
              <a:rPr lang="en-GB" sz="1400" b="1" i="0" u="sng" strike="noStrike" kern="1200" cap="none" spc="0" baseline="0">
                <a:solidFill>
                  <a:srgbClr val="000000"/>
                </a:solidFill>
                <a:uFillTx/>
                <a:latin typeface="Calibri  "/>
              </a:rPr>
              <a:t>: </a:t>
            </a:r>
            <a:r>
              <a:rPr lang="en-GB" sz="1400" b="1" i="0" u="sng" strike="noStrike" kern="1200" cap="none" spc="0" baseline="0">
                <a:solidFill>
                  <a:srgbClr val="333333"/>
                </a:solidFill>
                <a:uFillTx/>
                <a:latin typeface="Calibri  "/>
              </a:rPr>
              <a:t>Authorisation Type Code ‘FP’</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 new Authorisation Type Code ‘</a:t>
            </a:r>
            <a:r>
              <a:rPr lang="en-GB" sz="1400" b="1" i="0" u="none" strike="noStrike" kern="1200" cap="none" spc="0" baseline="0">
                <a:solidFill>
                  <a:srgbClr val="333333"/>
                </a:solidFill>
                <a:uFillTx/>
                <a:latin typeface="Calibri  "/>
              </a:rPr>
              <a:t>FP</a:t>
            </a:r>
            <a:r>
              <a:rPr lang="en-GB" sz="1400" b="0" i="0" u="none" strike="noStrike" kern="1200" cap="none" spc="0" baseline="0">
                <a:solidFill>
                  <a:srgbClr val="333333"/>
                </a:solidFill>
                <a:uFillTx/>
                <a:latin typeface="Calibri  "/>
              </a:rPr>
              <a:t>’ has been created in order to facilitate and process movements in and out of the Freeports Special Procedure. The use of code ‘FP’ will enable a trader to submit a full declaration, allowing goods to exit the freeport procedure.</a:t>
            </a:r>
          </a:p>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a:cs typeface="Calibri"/>
              </a:rPr>
              <a:t>For CDS to process and validate declarations submitted with a FP Authorisation Type Code, so controlled and non-controlled goods can be declared into and out of the Freeport Special Procedure,</a:t>
            </a: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a trader submits a declaration for entry into and exit from the Freeports Special Procedure, CDS will accept </a:t>
            </a:r>
            <a:r>
              <a:rPr lang="en-GB" sz="1400" b="1" i="0" u="none" strike="noStrike" kern="1200" cap="none" spc="0" baseline="0">
                <a:solidFill>
                  <a:srgbClr val="333333"/>
                </a:solidFill>
                <a:uFillTx/>
                <a:latin typeface="Calibri  "/>
              </a:rPr>
              <a:t>'FP' </a:t>
            </a:r>
            <a:r>
              <a:rPr lang="en-GB" sz="1400" b="0" i="0" u="none" strike="noStrike" kern="1200" cap="none" spc="0" baseline="0">
                <a:solidFill>
                  <a:srgbClr val="333333"/>
                </a:solidFill>
                <a:uFillTx/>
                <a:latin typeface="Calibri  "/>
              </a:rPr>
              <a:t>as the Authorisation Type Code to be entered in </a:t>
            </a:r>
            <a:r>
              <a:rPr lang="en-GB" sz="1400" b="1" i="0" u="none" strike="noStrike" kern="1200" cap="none" spc="0" baseline="0">
                <a:solidFill>
                  <a:srgbClr val="333333"/>
                </a:solidFill>
                <a:uFillTx/>
                <a:latin typeface="Calibri  "/>
              </a:rPr>
              <a:t>DE 3/39,</a:t>
            </a:r>
          </a:p>
          <a:p>
            <a:pPr marL="1200150" marR="0" lvl="2"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Where the Authorisation Type Code 'FP' is entered in DE 3/39 (Holder of the authorisation identification number), it is </a:t>
            </a:r>
            <a:r>
              <a:rPr lang="en-GB" sz="1400" b="1" i="0" u="none" strike="noStrike" kern="1200" cap="none" spc="0" baseline="0">
                <a:solidFill>
                  <a:srgbClr val="333333"/>
                </a:solidFill>
                <a:uFillTx/>
                <a:latin typeface="Calibri  "/>
              </a:rPr>
              <a:t>mandatory</a:t>
            </a:r>
            <a:r>
              <a:rPr lang="en-GB" sz="1400" b="0" i="0" u="none" strike="noStrike" kern="1200" cap="none" spc="0" baseline="0">
                <a:solidFill>
                  <a:srgbClr val="333333"/>
                </a:solidFill>
                <a:uFillTx/>
                <a:latin typeface="Calibri  "/>
              </a:rPr>
              <a:t>:</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 valid </a:t>
            </a:r>
            <a:r>
              <a:rPr lang="en-GB" sz="1400" b="1" i="0" u="none" strike="noStrike" kern="1200" cap="none" spc="0" baseline="0">
                <a:solidFill>
                  <a:srgbClr val="333333"/>
                </a:solidFill>
                <a:uFillTx/>
                <a:latin typeface="Calibri  "/>
              </a:rPr>
              <a:t>EORI </a:t>
            </a:r>
            <a:r>
              <a:rPr lang="en-GB" sz="1400" b="0" i="0" u="none" strike="noStrike" kern="1200" cap="none" spc="0" baseline="0">
                <a:solidFill>
                  <a:srgbClr val="333333"/>
                </a:solidFill>
                <a:uFillTx/>
                <a:latin typeface="Calibri  "/>
              </a:rPr>
              <a:t>of the Freeport Business Authorisation is declared in DE 3/39.</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For a </a:t>
            </a:r>
            <a:r>
              <a:rPr lang="en-GB" sz="1400" b="1" i="0" u="none" strike="noStrike" kern="1200" cap="none" spc="0" baseline="0">
                <a:solidFill>
                  <a:srgbClr val="333333"/>
                </a:solidFill>
                <a:uFillTx/>
                <a:latin typeface="Calibri  "/>
              </a:rPr>
              <a:t>SPOFF </a:t>
            </a:r>
            <a:r>
              <a:rPr lang="en-GB" sz="1400" b="0" i="0" u="none" strike="noStrike" kern="1200" cap="none" spc="0" baseline="0">
                <a:solidFill>
                  <a:srgbClr val="333333"/>
                </a:solidFill>
                <a:uFillTx/>
                <a:latin typeface="Calibri  "/>
              </a:rPr>
              <a:t>code to be entered in DE 5/27 (Supervising Customs Office)</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Document Code ‘</a:t>
            </a:r>
            <a:r>
              <a:rPr lang="en-GB" sz="1400" b="1" i="0" u="none" strike="noStrike" kern="1200" cap="none" spc="0" baseline="0">
                <a:solidFill>
                  <a:srgbClr val="333333"/>
                </a:solidFill>
                <a:uFillTx/>
                <a:latin typeface="Calibri  "/>
              </a:rPr>
              <a:t>C600’ </a:t>
            </a:r>
            <a:r>
              <a:rPr lang="en-GB" sz="1400" b="0" i="0" u="none" strike="noStrike" kern="1200" cap="none" spc="0" baseline="0">
                <a:solidFill>
                  <a:srgbClr val="333333"/>
                </a:solidFill>
                <a:uFillTx/>
                <a:latin typeface="Calibri  "/>
              </a:rPr>
              <a:t>is declared in DE 2/3 (Documents produced, certificates and authorizations, additional references).</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Qualifier code ‘</a:t>
            </a:r>
            <a:r>
              <a:rPr lang="en-GB" sz="1400" b="1" i="0" u="none" strike="noStrike" kern="1200" cap="none" spc="0" baseline="0">
                <a:solidFill>
                  <a:srgbClr val="333333"/>
                </a:solidFill>
                <a:uFillTx/>
                <a:latin typeface="Calibri  "/>
              </a:rPr>
              <a:t>U</a:t>
            </a:r>
            <a:r>
              <a:rPr lang="en-GB" sz="1400" b="0" i="0" u="none" strike="noStrike" kern="1200" cap="none" spc="0" baseline="0">
                <a:solidFill>
                  <a:srgbClr val="333333"/>
                </a:solidFill>
                <a:uFillTx/>
                <a:latin typeface="Calibri  "/>
              </a:rPr>
              <a:t>’ is entered in DE 5/23 (Location of Goods), whereby the Frontier Port Location Code is accepted. </a:t>
            </a:r>
          </a:p>
          <a:p>
            <a:pPr marL="1657350" marR="0" lvl="3"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That </a:t>
            </a:r>
            <a:r>
              <a:rPr lang="en-GB" sz="1400" b="1" i="0" u="none" strike="noStrike" kern="1200" cap="none" spc="0" baseline="0">
                <a:solidFill>
                  <a:srgbClr val="333333"/>
                </a:solidFill>
                <a:uFillTx/>
                <a:latin typeface="Calibri  "/>
              </a:rPr>
              <a:t>'B’ </a:t>
            </a:r>
            <a:r>
              <a:rPr lang="en-GB" sz="1400" b="0" i="0" u="none" strike="noStrike" kern="1200" cap="none" spc="0" baseline="0">
                <a:solidFill>
                  <a:srgbClr val="333333"/>
                </a:solidFill>
                <a:uFillTx/>
                <a:latin typeface="Calibri  "/>
              </a:rPr>
              <a:t>is </a:t>
            </a:r>
            <a:r>
              <a:rPr lang="en-GB" sz="1400" b="1" i="0" u="none" strike="noStrike" kern="1200" cap="none" spc="0" baseline="0">
                <a:solidFill>
                  <a:srgbClr val="333333"/>
                </a:solidFill>
                <a:uFillTx/>
                <a:latin typeface="Calibri  "/>
              </a:rPr>
              <a:t>not</a:t>
            </a:r>
            <a:r>
              <a:rPr lang="en-GB" sz="1400" b="0" i="0" u="none" strike="noStrike" kern="1200" cap="none" spc="0" baseline="0">
                <a:solidFill>
                  <a:srgbClr val="333333"/>
                </a:solidFill>
                <a:uFillTx/>
                <a:latin typeface="Calibri  "/>
              </a:rPr>
              <a:t> entered as the Type of Location in DE 5/23. </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Please Note</a:t>
            </a:r>
            <a:r>
              <a:rPr lang="en-GB" sz="1400" b="0" i="0" u="none" strike="noStrike" kern="1200" cap="none" spc="0" baseline="0">
                <a:solidFill>
                  <a:srgbClr val="333333"/>
                </a:solidFill>
                <a:uFillTx/>
                <a:latin typeface="Calibri (body)"/>
              </a:rPr>
              <a:t>: If the above mandatory requirements are not met, CDS will reject the declaration and send a DMSREJ notification to the trader.</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cs typeface="Calibri"/>
            </a:endParaRPr>
          </a:p>
        </p:txBody>
      </p:sp>
      <p:sp>
        <p:nvSpPr>
          <p:cNvPr id="9" name="Rectangle 7">
            <a:extLst>
              <a:ext uri="{FF2B5EF4-FFF2-40B4-BE49-F238E27FC236}">
                <a16:creationId xmlns:a16="http://schemas.microsoft.com/office/drawing/2014/main" id="{A17698ED-6192-4BF5-979A-C6F0D8DD6DE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9">
            <a:extLst>
              <a:ext uri="{FF2B5EF4-FFF2-40B4-BE49-F238E27FC236}">
                <a16:creationId xmlns:a16="http://schemas.microsoft.com/office/drawing/2014/main" id="{D2C36C57-FF32-4E4C-9703-8D52A7C1D348}"/>
              </a:ext>
            </a:extLst>
          </p:cNvPr>
          <p:cNvSpPr/>
          <p:nvPr/>
        </p:nvSpPr>
        <p:spPr>
          <a:xfrm>
            <a:off x="1277883" y="5001502"/>
            <a:ext cx="10403521" cy="92074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TT_IM84a - </a:t>
            </a:r>
            <a:r>
              <a:rPr lang="en-GB" sz="1100" b="0" i="0" u="none" strike="noStrike" kern="1200" cap="none" spc="0" baseline="0">
                <a:solidFill>
                  <a:srgbClr val="000000"/>
                </a:solidFill>
                <a:uFillTx/>
                <a:latin typeface="Calibri"/>
              </a:rPr>
              <a:t>Import pre-lodged standard declaration, for goods moving from RoW to GB, declaring procedure code 78 for entry into the Freeports Special Procedure so CDS is able to derive the correct H2 dataset</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TT_IM85a </a:t>
            </a:r>
            <a:r>
              <a:rPr lang="en-GB" sz="1100" b="0" i="0" u="none" strike="noStrike" kern="1200" cap="none" spc="0" baseline="0">
                <a:solidFill>
                  <a:srgbClr val="000000"/>
                </a:solidFill>
                <a:uFillTx/>
                <a:latin typeface="Calibri"/>
              </a:rPr>
              <a:t>- Import </a:t>
            </a:r>
            <a:r>
              <a:rPr lang="en-GB" sz="1100" b="0" i="0" u="none" strike="noStrike" kern="0" cap="none" spc="0" baseline="0">
                <a:solidFill>
                  <a:srgbClr val="000000"/>
                </a:solidFill>
                <a:uFillTx/>
                <a:latin typeface="Calibri"/>
              </a:rPr>
              <a:t>frontier</a:t>
            </a:r>
            <a:r>
              <a:rPr lang="en-GB" sz="1100" b="0" i="0" u="none" strike="noStrike" kern="1200" cap="none" spc="0" baseline="0">
                <a:solidFill>
                  <a:srgbClr val="000000"/>
                </a:solidFill>
                <a:uFillTx/>
                <a:latin typeface="Calibri"/>
              </a:rPr>
              <a:t> EIDR declaration, for goods moving from R0W to GB, declaring procedure code 78 for entry into the Freeports Special Procedure so CDS is able to derive correct C2Ii EIDR dataset</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1" name="Rectangle 10">
            <a:extLst>
              <a:ext uri="{FF2B5EF4-FFF2-40B4-BE49-F238E27FC236}">
                <a16:creationId xmlns:a16="http://schemas.microsoft.com/office/drawing/2014/main" id="{D706147C-4FDA-45CE-A50D-9B9B06732207}"/>
              </a:ext>
            </a:extLst>
          </p:cNvPr>
          <p:cNvSpPr/>
          <p:nvPr/>
        </p:nvSpPr>
        <p:spPr>
          <a:xfrm>
            <a:off x="444691" y="5001502"/>
            <a:ext cx="833201" cy="92074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DD74D46-A353-4123-B9F7-3B7122072566}"/>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C04A5A8-44B0-4142-A93E-A2B3A9754C9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0999BB9-D777-4DE7-A45D-8DC3A3B1E69B}"/>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FDD29D73-6712-4D95-867B-8912FBD42D31}"/>
              </a:ext>
            </a:extLst>
          </p:cNvPr>
          <p:cNvSpPr txBox="1"/>
          <p:nvPr/>
        </p:nvSpPr>
        <p:spPr>
          <a:xfrm>
            <a:off x="11738880"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B3A4037-2867-4CDE-89E5-350406CD4366}" type="slidenum">
              <a:rPr sz="1200"/>
              <a:t>354</a:t>
            </a:fld>
            <a:endParaRPr lang="en-GB" sz="1200" b="0" i="0" u="none" strike="noStrike" kern="1200" cap="none" spc="0" baseline="0" dirty="0">
              <a:solidFill>
                <a:srgbClr val="000000"/>
              </a:solidFill>
              <a:uFillTx/>
              <a:latin typeface="Calibri"/>
            </a:endParaRPr>
          </a:p>
        </p:txBody>
      </p:sp>
      <p:sp>
        <p:nvSpPr>
          <p:cNvPr id="8" name="Rectangle 7">
            <a:extLst>
              <a:ext uri="{FF2B5EF4-FFF2-40B4-BE49-F238E27FC236}">
                <a16:creationId xmlns:a16="http://schemas.microsoft.com/office/drawing/2014/main" id="{8F8C35E4-A491-4F86-9E9B-5B65F67D28CE}"/>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25739B9B-EE16-4DA3-A55A-4289825936D0}"/>
              </a:ext>
            </a:extLst>
          </p:cNvPr>
          <p:cNvSpPr/>
          <p:nvPr/>
        </p:nvSpPr>
        <p:spPr>
          <a:xfrm>
            <a:off x="363967" y="1230919"/>
            <a:ext cx="11282159" cy="357187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Declaration Information Service: Full Declaration Query</a:t>
            </a:r>
          </a:p>
          <a:p>
            <a:pPr marL="4000500" marR="0" lvl="8" indent="-342900" algn="l" defTabSz="914400" rtl="0" fontAlgn="auto" hangingPunct="1">
              <a:lnSpc>
                <a:spcPct val="100000"/>
              </a:lnSpc>
              <a:spcBef>
                <a:spcPts val="0"/>
              </a:spcBef>
              <a:spcAft>
                <a:spcPts val="0"/>
              </a:spcAft>
              <a:buSzPct val="100000"/>
              <a:buAutoNum type="arabicPeriod"/>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cs typeface="Times New Roman" pitchFamily="18"/>
            </a:endParaRP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For a declarant or CSP </a:t>
            </a:r>
            <a:r>
              <a:rPr lang="en-GB" sz="1400" b="0" i="0" u="none" strike="noStrike" kern="1200" cap="none" spc="0" baseline="0">
                <a:solidFill>
                  <a:srgbClr val="000000"/>
                </a:solidFill>
                <a:uFillTx/>
                <a:latin typeface="Calibri" pitchFamily="34"/>
                <a:ea typeface="Calibri" pitchFamily="34"/>
                <a:cs typeface="Times New Roman" pitchFamily="18"/>
              </a:rPr>
              <a:t>to retrieve all of the declared data elements that are associated with a declaration they have submitted through CDS, </a:t>
            </a:r>
            <a:r>
              <a:rPr lang="en-GB" sz="1400" b="0" i="0" u="none" strike="noStrike" kern="1200" cap="none" spc="0" baseline="0">
                <a:solidFill>
                  <a:srgbClr val="000000"/>
                </a:solidFill>
                <a:uFillTx/>
                <a:latin typeface="Calibri  "/>
                <a:ea typeface="Calibri" pitchFamily="34"/>
                <a:cs typeface="Times New Roman" pitchFamily="18"/>
              </a:rPr>
              <a:t>a</a:t>
            </a:r>
            <a:r>
              <a:rPr lang="en-GB" sz="1400" b="0" i="0" u="none" strike="noStrike" kern="1200" cap="none" spc="0" baseline="0">
                <a:solidFill>
                  <a:srgbClr val="000000"/>
                </a:solidFill>
                <a:uFillTx/>
                <a:latin typeface="Calibri  "/>
              </a:rPr>
              <a:t>n API query can </a:t>
            </a:r>
            <a:r>
              <a:rPr lang="en-GB" sz="1400" b="0" i="0" u="none" strike="noStrike" kern="1200" cap="none" spc="0" baseline="0">
                <a:solidFill>
                  <a:srgbClr val="333333"/>
                </a:solidFill>
                <a:uFillTx/>
                <a:latin typeface="Calibri  "/>
              </a:rPr>
              <a:t>be made using one or more of the following parameters:</a:t>
            </a: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cs typeface="Times New Roman" pitchFamily="18"/>
            </a:endParaRPr>
          </a:p>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pitchFamily="34"/>
                <a:cs typeface="Times New Roman" pitchFamily="18"/>
              </a:rPr>
              <a:t>A</a:t>
            </a:r>
            <a:r>
              <a:rPr lang="en-GB" sz="1400" b="0" i="0" u="none" strike="noStrike" kern="1200" cap="none" spc="0" baseline="0">
                <a:solidFill>
                  <a:srgbClr val="000000"/>
                </a:solidFill>
                <a:uFillTx/>
                <a:latin typeface="Calibri  "/>
              </a:rPr>
              <a:t>n API query can </a:t>
            </a:r>
            <a:r>
              <a:rPr lang="en-GB" sz="1400" b="0" i="0" u="none" strike="noStrike" kern="1200" cap="none" spc="0" baseline="0">
                <a:solidFill>
                  <a:srgbClr val="333333"/>
                </a:solidFill>
                <a:uFillTx/>
                <a:latin typeface="Calibri  "/>
              </a:rPr>
              <a:t>be made using one or more of the following parameters:</a:t>
            </a:r>
          </a:p>
          <a:p>
            <a:pPr marL="457200" marR="0" lvl="1"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graphicFrame>
        <p:nvGraphicFramePr>
          <p:cNvPr id="10" name="Table 5">
            <a:extLst>
              <a:ext uri="{FF2B5EF4-FFF2-40B4-BE49-F238E27FC236}">
                <a16:creationId xmlns:a16="http://schemas.microsoft.com/office/drawing/2014/main" id="{EB31DC57-72CD-4FD2-A3A9-82E80C7E1243}"/>
              </a:ext>
            </a:extLst>
          </p:cNvPr>
          <p:cNvGraphicFramePr>
            <a:graphicFrameLocks noGrp="1"/>
          </p:cNvGraphicFramePr>
          <p:nvPr/>
        </p:nvGraphicFramePr>
        <p:xfrm>
          <a:off x="594643" y="2891899"/>
          <a:ext cx="10995238" cy="1005840"/>
        </p:xfrm>
        <a:graphic>
          <a:graphicData uri="http://schemas.openxmlformats.org/drawingml/2006/table">
            <a:tbl>
              <a:tblPr firstRow="1" bandRow="1">
                <a:effectLst/>
                <a:tableStyleId>{5C22544A-7EE6-4342-B048-85BDC9FD1C3A}</a:tableStyleId>
              </a:tblPr>
              <a:tblGrid>
                <a:gridCol w="1926723">
                  <a:extLst>
                    <a:ext uri="{9D8B030D-6E8A-4147-A177-3AD203B41FA5}">
                      <a16:colId xmlns:a16="http://schemas.microsoft.com/office/drawing/2014/main" val="1238714759"/>
                    </a:ext>
                  </a:extLst>
                </a:gridCol>
                <a:gridCol w="2542150">
                  <a:extLst>
                    <a:ext uri="{9D8B030D-6E8A-4147-A177-3AD203B41FA5}">
                      <a16:colId xmlns:a16="http://schemas.microsoft.com/office/drawing/2014/main" val="2440938080"/>
                    </a:ext>
                  </a:extLst>
                </a:gridCol>
                <a:gridCol w="6526365">
                  <a:extLst>
                    <a:ext uri="{9D8B030D-6E8A-4147-A177-3AD203B41FA5}">
                      <a16:colId xmlns:a16="http://schemas.microsoft.com/office/drawing/2014/main" val="324064110"/>
                    </a:ext>
                  </a:extLst>
                </a:gridCol>
              </a:tblGrid>
              <a:tr h="186107">
                <a:tc>
                  <a:txBody>
                    <a:bodyPr/>
                    <a:lstStyle/>
                    <a:p>
                      <a:pPr lvl="0"/>
                      <a:r>
                        <a:rPr lang="en-GB" sz="1200"/>
                        <a:t>Parameter</a:t>
                      </a:r>
                    </a:p>
                  </a:txBody>
                  <a:tcPr/>
                </a:tc>
                <a:tc>
                  <a:txBody>
                    <a:bodyPr/>
                    <a:lstStyle/>
                    <a:p>
                      <a:pPr lvl="0"/>
                      <a:r>
                        <a:rPr lang="en-GB" sz="1200"/>
                        <a:t>CDS Description</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Field Completion Rules</a:t>
                      </a:r>
                    </a:p>
                  </a:txBody>
                  <a:tcPr/>
                </a:tc>
                <a:extLst>
                  <a:ext uri="{0D108BD9-81ED-4DB2-BD59-A6C34878D82A}">
                    <a16:rowId xmlns:a16="http://schemas.microsoft.com/office/drawing/2014/main" val="390065693"/>
                  </a:ext>
                </a:extLst>
              </a:tr>
              <a:tr h="186107">
                <a:tc>
                  <a:txBody>
                    <a:bodyPr/>
                    <a:lstStyle/>
                    <a:p>
                      <a:pPr lvl="0"/>
                      <a:r>
                        <a:rPr lang="en-GB" sz="1200"/>
                        <a:t>Declaration Version Number</a:t>
                      </a:r>
                    </a:p>
                  </a:txBody>
                  <a:tcPr/>
                </a:tc>
                <a:tc>
                  <a:txBody>
                    <a:bodyPr/>
                    <a:lstStyle/>
                    <a:p>
                      <a:pPr lvl="0"/>
                      <a:r>
                        <a:rPr lang="en-GB" sz="1200" kern="1200">
                          <a:solidFill>
                            <a:srgbClr val="000000"/>
                          </a:solidFill>
                          <a:latin typeface="Calibri"/>
                        </a:rPr>
                        <a:t>System Generated, Captured in the System Dossier</a:t>
                      </a:r>
                      <a:endParaRPr lang="en-GB" sz="1200"/>
                    </a:p>
                  </a:txBody>
                  <a:tcPr/>
                </a:tc>
                <a:tc>
                  <a:txBody>
                    <a:bodyPr/>
                    <a:lstStyle/>
                    <a:p>
                      <a:pPr lvl="0"/>
                      <a:r>
                        <a:rPr lang="en-GB" sz="1200"/>
                        <a:t>Optional (If blank, the most recent version will be returned)</a:t>
                      </a:r>
                    </a:p>
                  </a:txBody>
                  <a:tcPr/>
                </a:tc>
                <a:extLst>
                  <a:ext uri="{0D108BD9-81ED-4DB2-BD59-A6C34878D82A}">
                    <a16:rowId xmlns:a16="http://schemas.microsoft.com/office/drawing/2014/main" val="3641263857"/>
                  </a:ext>
                </a:extLst>
              </a:tr>
              <a:tr h="132588">
                <a:tc>
                  <a:txBody>
                    <a:bodyPr/>
                    <a:lstStyle/>
                    <a:p>
                      <a:pPr lvl="0"/>
                      <a:r>
                        <a:rPr lang="en-GB" sz="1200"/>
                        <a:t>MRN</a:t>
                      </a:r>
                    </a:p>
                  </a:txBody>
                  <a:tcPr/>
                </a:tc>
                <a:tc>
                  <a:txBody>
                    <a:bodyPr/>
                    <a:lstStyle/>
                    <a:p>
                      <a:pPr lvl="0"/>
                      <a:r>
                        <a:rPr lang="en-GB" sz="1200"/>
                        <a:t>Movement Reference Number</a:t>
                      </a:r>
                    </a:p>
                  </a:txBody>
                  <a:tcPr/>
                </a:tc>
                <a:tc>
                  <a:txBody>
                    <a:bodyPr/>
                    <a:lstStyle/>
                    <a:p>
                      <a:pPr lvl="0"/>
                      <a:r>
                        <a:rPr lang="en-GB" sz="1200" dirty="0"/>
                        <a:t>Mandatory</a:t>
                      </a:r>
                    </a:p>
                  </a:txBody>
                  <a:tcPr/>
                </a:tc>
                <a:extLst>
                  <a:ext uri="{0D108BD9-81ED-4DB2-BD59-A6C34878D82A}">
                    <a16:rowId xmlns:a16="http://schemas.microsoft.com/office/drawing/2014/main" val="260373398"/>
                  </a:ext>
                </a:extLst>
              </a:tr>
            </a:tbl>
          </a:graphicData>
        </a:graphic>
      </p:graphicFrame>
      <p:sp>
        <p:nvSpPr>
          <p:cNvPr id="11" name="TextBox 2">
            <a:extLst>
              <a:ext uri="{FF2B5EF4-FFF2-40B4-BE49-F238E27FC236}">
                <a16:creationId xmlns:a16="http://schemas.microsoft.com/office/drawing/2014/main" id="{82B1D5E0-DCBE-4806-A7A8-9371D0E700CD}"/>
              </a:ext>
            </a:extLst>
          </p:cNvPr>
          <p:cNvSpPr txBox="1"/>
          <p:nvPr/>
        </p:nvSpPr>
        <p:spPr>
          <a:xfrm>
            <a:off x="342552" y="3952484"/>
            <a:ext cx="11135526" cy="2213424"/>
          </a:xfrm>
          <a:prstGeom prst="rect">
            <a:avLst/>
          </a:prstGeom>
          <a:noFill/>
          <a:ln cap="flat">
            <a:noFill/>
          </a:ln>
        </p:spPr>
        <p:txBody>
          <a:bodyPr vert="horz" wrap="square" lIns="91440" tIns="45720" rIns="91440" bIns="45720" anchor="t" anchorCtr="0" compatLnSpc="1">
            <a:spAutoFit/>
          </a:bodyPr>
          <a:lstStyle/>
          <a:p>
            <a:pPr marL="742950" marR="0" lvl="1"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a declaration version matches the entered search parameters, the API query will respond with the following information, where present on the declaration:</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1. High-level Summary Details</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2. Account Details</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3. Generated Consignment Details</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4. Generated Item-Level Consignment Details</a:t>
            </a:r>
          </a:p>
          <a:p>
            <a:pPr marL="914400"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5. Full Declaration Object</a:t>
            </a:r>
          </a:p>
          <a:p>
            <a:pPr marL="457200" marR="0" lvl="1"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12" name="TextBox 12">
            <a:extLst>
              <a:ext uri="{FF2B5EF4-FFF2-40B4-BE49-F238E27FC236}">
                <a16:creationId xmlns:a16="http://schemas.microsoft.com/office/drawing/2014/main" id="{27C994A9-6D8E-4355-AC4E-2269A84DDECC}"/>
              </a:ext>
            </a:extLst>
          </p:cNvPr>
          <p:cNvSpPr txBox="1"/>
          <p:nvPr/>
        </p:nvSpPr>
        <p:spPr>
          <a:xfrm>
            <a:off x="319116" y="5658160"/>
            <a:ext cx="11182398" cy="541754"/>
          </a:xfrm>
          <a:prstGeom prst="rect">
            <a:avLst/>
          </a:prstGeom>
          <a:noFill/>
          <a:ln cap="flat">
            <a:noFill/>
          </a:ln>
        </p:spPr>
        <p:txBody>
          <a:bodyPr vert="horz" wrap="square" lIns="91440" tIns="45720" rIns="91440" bIns="45720" anchor="t" anchorCtr="0" compatLnSpc="1">
            <a:spAutoFit/>
          </a:bodyPr>
          <a:lstStyle/>
          <a:p>
            <a:pPr marL="742950" marR="0" lvl="1" indent="-285750" algn="l" defTabSz="914400" rtl="0" fontAlgn="auto" hangingPunct="1">
              <a:lnSpc>
                <a:spcPct val="107000"/>
              </a:lnSpc>
              <a:spcBef>
                <a:spcPts val="0"/>
              </a:spcBef>
              <a:spcAft>
                <a:spcPts val="80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no parameters are entered into the search query, the parameter inputs in the query are invalid, or more than one value is provided for the search parameter, an error will be returned as the response and the query will detail the reason for this error</a:t>
            </a:r>
            <a:r>
              <a:rPr lang="en-GB" sz="1400" b="0" i="0" u="none" strike="noStrike" kern="1200" cap="none" spc="0" baseline="0">
                <a:solidFill>
                  <a:srgbClr val="333333"/>
                </a:solidFill>
                <a:uFillTx/>
                <a:latin typeface="Arial" pitchFamily="34"/>
              </a:rPr>
              <a:t>.</a:t>
            </a:r>
            <a:endParaRPr lang="en-GB" sz="1400" b="0" i="0" u="none" strike="noStrike" kern="1200" cap="none" spc="0" baseline="0">
              <a:solidFill>
                <a:srgbClr val="333333"/>
              </a:solidFill>
              <a:uFillTx/>
              <a:latin typeface="Calibri  "/>
            </a:endParaRPr>
          </a:p>
        </p:txBody>
      </p:sp>
      <p:sp>
        <p:nvSpPr>
          <p:cNvPr id="13" name="TextBox 1">
            <a:extLst>
              <a:ext uri="{FF2B5EF4-FFF2-40B4-BE49-F238E27FC236}">
                <a16:creationId xmlns:a16="http://schemas.microsoft.com/office/drawing/2014/main" id="{18A28DAE-2759-442F-852E-9D82B5C10190}"/>
              </a:ext>
            </a:extLst>
          </p:cNvPr>
          <p:cNvSpPr txBox="1"/>
          <p:nvPr/>
        </p:nvSpPr>
        <p:spPr>
          <a:xfrm>
            <a:off x="363967" y="1610066"/>
            <a:ext cx="11317428" cy="101566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The introduction of Full Declaration Query completes the final phase for Search Declaration Information Service and will enable Traders and Community Service Providers (CSPs), to search for a particular declaration (based on the search parameters specified in the table below), and view all of the associated data that is relevant to that declaration. This is similar to the Display Entry Versions Details functionality that is currently available in CHIEF</a:t>
            </a:r>
            <a:r>
              <a:rPr lang="en-GB" sz="1400" b="0" i="0" u="none" strike="noStrike" kern="1200" cap="none" spc="0" baseline="0">
                <a:solidFill>
                  <a:srgbClr val="1F497D"/>
                </a:solidFill>
                <a:uFillTx/>
                <a:latin typeface="Calibri" pitchFamily="34"/>
                <a:ea typeface="Times New Roman" pitchFamily="18"/>
              </a:rPr>
              <a:t>. </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FCEAD571-DBFB-466F-9E0C-FAA353B984B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968A215E-913B-4800-AC06-09D4C8DCC31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E164C628-DAB1-467D-B536-5B197E14C33B}"/>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E58D698C-4036-4490-A863-7A06B592C252}"/>
              </a:ext>
            </a:extLst>
          </p:cNvPr>
          <p:cNvSpPr txBox="1"/>
          <p:nvPr/>
        </p:nvSpPr>
        <p:spPr>
          <a:xfrm>
            <a:off x="11653819"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95A2FB5-2AC1-430F-9AB1-816C00589CB1}" type="slidenum">
              <a:rPr sz="1200"/>
              <a:t>355</a:t>
            </a:fld>
            <a:endParaRPr lang="en-GB" sz="1200" b="0" i="0" u="none" strike="noStrike" kern="1200" cap="none" spc="0" baseline="0" dirty="0">
              <a:solidFill>
                <a:srgbClr val="000000"/>
              </a:solidFill>
              <a:uFillTx/>
              <a:latin typeface="Calibri"/>
            </a:endParaRPr>
          </a:p>
        </p:txBody>
      </p:sp>
      <p:sp>
        <p:nvSpPr>
          <p:cNvPr id="8" name="Rectangle 7">
            <a:extLst>
              <a:ext uri="{FF2B5EF4-FFF2-40B4-BE49-F238E27FC236}">
                <a16:creationId xmlns:a16="http://schemas.microsoft.com/office/drawing/2014/main" id="{BD986315-415B-45D3-A682-46B3D3405D91}"/>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B5D8658A-CB18-440D-BA42-A1D748BB415B}"/>
              </a:ext>
            </a:extLst>
          </p:cNvPr>
          <p:cNvSpPr/>
          <p:nvPr/>
        </p:nvSpPr>
        <p:spPr>
          <a:xfrm>
            <a:off x="399245" y="1302763"/>
            <a:ext cx="11282159" cy="469237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High Level Summary Details:</a:t>
            </a: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If a declaration version matches the entered search parameters, the API query will respond with the following "High Level Summary Details“: </a:t>
            </a: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285750"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0"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 The above specified data will be retrieved regardless of whether it was declared, or derived by CDS.</a:t>
            </a:r>
            <a:endParaRPr lang="en-GB" sz="1400" b="0" i="0" u="none" strike="noStrike" kern="1200" cap="none" spc="0" baseline="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graphicFrame>
        <p:nvGraphicFramePr>
          <p:cNvPr id="10" name="Table 2">
            <a:extLst>
              <a:ext uri="{FF2B5EF4-FFF2-40B4-BE49-F238E27FC236}">
                <a16:creationId xmlns:a16="http://schemas.microsoft.com/office/drawing/2014/main" id="{0B784226-D2FA-473F-A151-1E96E1C3694A}"/>
              </a:ext>
            </a:extLst>
          </p:cNvPr>
          <p:cNvGraphicFramePr>
            <a:graphicFrameLocks noGrp="1"/>
          </p:cNvGraphicFramePr>
          <p:nvPr/>
        </p:nvGraphicFramePr>
        <p:xfrm>
          <a:off x="510600" y="1936525"/>
          <a:ext cx="11185059" cy="3246376"/>
        </p:xfrm>
        <a:graphic>
          <a:graphicData uri="http://schemas.openxmlformats.org/drawingml/2006/table">
            <a:tbl>
              <a:tblPr firstRow="1" bandRow="1">
                <a:effectLst/>
                <a:tableStyleId>{5C22544A-7EE6-4342-B048-85BDC9FD1C3A}</a:tableStyleId>
              </a:tblPr>
              <a:tblGrid>
                <a:gridCol w="2541977">
                  <a:extLst>
                    <a:ext uri="{9D8B030D-6E8A-4147-A177-3AD203B41FA5}">
                      <a16:colId xmlns:a16="http://schemas.microsoft.com/office/drawing/2014/main" val="3417927471"/>
                    </a:ext>
                  </a:extLst>
                </a:gridCol>
                <a:gridCol w="2541977">
                  <a:extLst>
                    <a:ext uri="{9D8B030D-6E8A-4147-A177-3AD203B41FA5}">
                      <a16:colId xmlns:a16="http://schemas.microsoft.com/office/drawing/2014/main" val="4144779590"/>
                    </a:ext>
                  </a:extLst>
                </a:gridCol>
                <a:gridCol w="6101105">
                  <a:extLst>
                    <a:ext uri="{9D8B030D-6E8A-4147-A177-3AD203B41FA5}">
                      <a16:colId xmlns:a16="http://schemas.microsoft.com/office/drawing/2014/main" val="1475439380"/>
                    </a:ext>
                  </a:extLst>
                </a:gridCol>
              </a:tblGrid>
              <a:tr h="320296">
                <a:tc>
                  <a:txBody>
                    <a:bodyPr/>
                    <a:lstStyle/>
                    <a:p>
                      <a:pPr lvl="0"/>
                      <a:r>
                        <a:rPr lang="en-GB" sz="1200"/>
                        <a:t>Data</a:t>
                      </a:r>
                    </a:p>
                  </a:txBody>
                  <a:tcPr/>
                </a:tc>
                <a:tc>
                  <a:txBody>
                    <a:bodyPr/>
                    <a:lstStyle/>
                    <a:p>
                      <a:pPr lvl="0"/>
                      <a:r>
                        <a:rPr lang="en-GB" sz="1200"/>
                        <a:t>Movement </a:t>
                      </a:r>
                    </a:p>
                    <a:p>
                      <a:pPr lvl="0"/>
                      <a:r>
                        <a:rPr lang="en-GB" sz="1200"/>
                        <a:t>(I = Imports, E = Exports)</a:t>
                      </a:r>
                    </a:p>
                  </a:txBody>
                  <a:tcPr/>
                </a:tc>
                <a:tc>
                  <a:txBody>
                    <a:bodyPr/>
                    <a:lstStyle/>
                    <a:p>
                      <a:pPr lvl="0"/>
                      <a:r>
                        <a:rPr lang="en-GB" sz="1200"/>
                        <a:t>CDS Description</a:t>
                      </a:r>
                    </a:p>
                    <a:p>
                      <a:pPr lvl="0"/>
                      <a:endParaRPr lang="en-GB" sz="1200"/>
                    </a:p>
                  </a:txBody>
                  <a:tcPr/>
                </a:tc>
                <a:extLst>
                  <a:ext uri="{0D108BD9-81ED-4DB2-BD59-A6C34878D82A}">
                    <a16:rowId xmlns:a16="http://schemas.microsoft.com/office/drawing/2014/main" val="2961694394"/>
                  </a:ext>
                </a:extLst>
              </a:tr>
              <a:tr h="188402">
                <a:tc>
                  <a:txBody>
                    <a:bodyPr/>
                    <a:lstStyle/>
                    <a:p>
                      <a:pPr lvl="0"/>
                      <a:r>
                        <a:rPr lang="en-GB" sz="1200"/>
                        <a:t>MRN</a:t>
                      </a:r>
                    </a:p>
                  </a:txBody>
                  <a:tcPr/>
                </a:tc>
                <a:tc>
                  <a:txBody>
                    <a:bodyPr/>
                    <a:lstStyle/>
                    <a:p>
                      <a:pPr lvl="0"/>
                      <a:r>
                        <a:rPr lang="en-GB" sz="1200"/>
                        <a:t>I, E</a:t>
                      </a:r>
                    </a:p>
                  </a:txBody>
                  <a:tcPr/>
                </a:tc>
                <a:tc>
                  <a:txBody>
                    <a:bodyPr/>
                    <a:lstStyle/>
                    <a:p>
                      <a:pPr lvl="0"/>
                      <a:r>
                        <a:rPr lang="en-GB" sz="1200"/>
                        <a:t>Movement Reference Number</a:t>
                      </a:r>
                    </a:p>
                  </a:txBody>
                  <a:tcPr/>
                </a:tc>
                <a:extLst>
                  <a:ext uri="{0D108BD9-81ED-4DB2-BD59-A6C34878D82A}">
                    <a16:rowId xmlns:a16="http://schemas.microsoft.com/office/drawing/2014/main" val="2949098353"/>
                  </a:ext>
                </a:extLst>
              </a:tr>
              <a:tr h="188402">
                <a:tc>
                  <a:txBody>
                    <a:bodyPr/>
                    <a:lstStyle/>
                    <a:p>
                      <a:pPr lvl="0"/>
                      <a:r>
                        <a:rPr lang="en-GB" sz="1200"/>
                        <a:t>LRN</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I, E</a:t>
                      </a:r>
                    </a:p>
                  </a:txBody>
                  <a:tcPr/>
                </a:tc>
                <a:tc>
                  <a:txBody>
                    <a:bodyPr/>
                    <a:lstStyle/>
                    <a:p>
                      <a:pPr lvl="0"/>
                      <a:r>
                        <a:rPr lang="en-GB" sz="1200"/>
                        <a:t>Local Reference Number</a:t>
                      </a:r>
                    </a:p>
                  </a:txBody>
                  <a:tcPr/>
                </a:tc>
                <a:extLst>
                  <a:ext uri="{0D108BD9-81ED-4DB2-BD59-A6C34878D82A}">
                    <a16:rowId xmlns:a16="http://schemas.microsoft.com/office/drawing/2014/main" val="705037337"/>
                  </a:ext>
                </a:extLst>
              </a:tr>
              <a:tr h="320296">
                <a:tc>
                  <a:txBody>
                    <a:bodyPr/>
                    <a:lstStyle/>
                    <a:p>
                      <a:pPr lvl="0"/>
                      <a:r>
                        <a:rPr lang="en-GB" sz="1200"/>
                        <a:t>Declaration UCR &amp; Part ID</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I, E</a:t>
                      </a:r>
                    </a:p>
                  </a:txBody>
                  <a:tcPr/>
                </a:tc>
                <a:tc>
                  <a:txBody>
                    <a:bodyPr/>
                    <a:lstStyle/>
                    <a:p>
                      <a:pPr lvl="0"/>
                      <a:r>
                        <a:rPr lang="en-GB" sz="1200"/>
                        <a:t>Reference Number: Declaration UCR and Part ID are to be concatenated (e.g. [DUCR]-[Part ID])</a:t>
                      </a:r>
                    </a:p>
                  </a:txBody>
                  <a:tcPr/>
                </a:tc>
                <a:extLst>
                  <a:ext uri="{0D108BD9-81ED-4DB2-BD59-A6C34878D82A}">
                    <a16:rowId xmlns:a16="http://schemas.microsoft.com/office/drawing/2014/main" val="1350383703"/>
                  </a:ext>
                </a:extLst>
              </a:tr>
              <a:tr h="188402">
                <a:tc>
                  <a:txBody>
                    <a:bodyPr/>
                    <a:lstStyle/>
                    <a:p>
                      <a:pPr lvl="0"/>
                      <a:r>
                        <a:rPr lang="en-GB" sz="1200"/>
                        <a:t>Version Number</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I, E</a:t>
                      </a:r>
                    </a:p>
                  </a:txBody>
                  <a:tcPr/>
                </a:tc>
                <a:tc>
                  <a:txBody>
                    <a:bodyPr/>
                    <a:lstStyle/>
                    <a:p>
                      <a:pPr lvl="0"/>
                      <a:r>
                        <a:rPr lang="en-GB" sz="1200"/>
                        <a:t>Declaration Version Number</a:t>
                      </a:r>
                    </a:p>
                  </a:txBody>
                  <a:tcPr/>
                </a:tc>
                <a:extLst>
                  <a:ext uri="{0D108BD9-81ED-4DB2-BD59-A6C34878D82A}">
                    <a16:rowId xmlns:a16="http://schemas.microsoft.com/office/drawing/2014/main" val="3945098585"/>
                  </a:ext>
                </a:extLst>
              </a:tr>
              <a:tr h="188402">
                <a:tc>
                  <a:txBody>
                    <a:bodyPr/>
                    <a:lstStyle/>
                    <a:p>
                      <a:pPr lvl="0"/>
                      <a:r>
                        <a:rPr lang="en-GB" sz="1200"/>
                        <a:t>Goods Location Code</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I, E</a:t>
                      </a:r>
                    </a:p>
                  </a:txBody>
                  <a:tcPr/>
                </a:tc>
                <a:tc>
                  <a:txBody>
                    <a:bodyPr/>
                    <a:lstStyle/>
                    <a:p>
                      <a:pPr lvl="0"/>
                      <a:r>
                        <a:rPr lang="en-GB" sz="1200"/>
                        <a:t>Location of Goods</a:t>
                      </a:r>
                    </a:p>
                  </a:txBody>
                  <a:tcPr/>
                </a:tc>
                <a:extLst>
                  <a:ext uri="{0D108BD9-81ED-4DB2-BD59-A6C34878D82A}">
                    <a16:rowId xmlns:a16="http://schemas.microsoft.com/office/drawing/2014/main" val="490292071"/>
                  </a:ext>
                </a:extLst>
              </a:tr>
              <a:tr h="188402">
                <a:tc>
                  <a:txBody>
                    <a:bodyPr/>
                    <a:lstStyle/>
                    <a:p>
                      <a:pPr lvl="0"/>
                      <a:r>
                        <a:rPr lang="en-GB" sz="1200"/>
                        <a:t>Date &amp; Time Created</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I, E</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The Date &amp; Time the declaration is created</a:t>
                      </a:r>
                    </a:p>
                  </a:txBody>
                  <a:tcPr/>
                </a:tc>
                <a:extLst>
                  <a:ext uri="{0D108BD9-81ED-4DB2-BD59-A6C34878D82A}">
                    <a16:rowId xmlns:a16="http://schemas.microsoft.com/office/drawing/2014/main" val="3851294425"/>
                  </a:ext>
                </a:extLst>
              </a:tr>
              <a:tr h="188402">
                <a:tc>
                  <a:txBody>
                    <a:bodyPr/>
                    <a:lstStyle/>
                    <a:p>
                      <a:pPr lvl="0"/>
                      <a:r>
                        <a:rPr lang="en-GB" sz="1200"/>
                        <a:t>Pre-lodged Date &amp; Time</a:t>
                      </a:r>
                    </a:p>
                  </a:txBody>
                  <a:tcPr/>
                </a:tc>
                <a:tc>
                  <a:txBody>
                    <a:bodyPr/>
                    <a:lstStyle/>
                    <a:p>
                      <a:pPr lvl="0"/>
                      <a:r>
                        <a:rPr lang="en-GB" sz="1200"/>
                        <a:t>I, E</a:t>
                      </a:r>
                    </a:p>
                  </a:txBody>
                  <a:tcPr/>
                </a:tc>
                <a:tc>
                  <a:txBody>
                    <a:bodyPr/>
                    <a:lstStyle/>
                    <a:p>
                      <a:pPr lvl="0"/>
                      <a:r>
                        <a:rPr lang="en-GB" sz="1200"/>
                        <a:t>The Date &amp; Time the declaration is Pre-Lodged</a:t>
                      </a:r>
                    </a:p>
                  </a:txBody>
                  <a:tcPr/>
                </a:tc>
                <a:extLst>
                  <a:ext uri="{0D108BD9-81ED-4DB2-BD59-A6C34878D82A}">
                    <a16:rowId xmlns:a16="http://schemas.microsoft.com/office/drawing/2014/main" val="3300160165"/>
                  </a:ext>
                </a:extLst>
              </a:tr>
              <a:tr h="188402">
                <a:tc>
                  <a:txBody>
                    <a:bodyPr/>
                    <a:lstStyle/>
                    <a:p>
                      <a:pPr lvl="0"/>
                      <a:r>
                        <a:rPr lang="en-GB" sz="1200"/>
                        <a:t>Date &amp; Time Accepted</a:t>
                      </a:r>
                    </a:p>
                  </a:txBody>
                  <a:tcPr/>
                </a:tc>
                <a:tc>
                  <a:txBody>
                    <a:bodyPr/>
                    <a:lstStyle/>
                    <a:p>
                      <a:pPr lvl="0"/>
                      <a:r>
                        <a:rPr lang="en-GB" sz="1200"/>
                        <a:t>I, E</a:t>
                      </a:r>
                    </a:p>
                  </a:txBody>
                  <a:tcPr/>
                </a:tc>
                <a:tc>
                  <a:txBody>
                    <a:bodyPr/>
                    <a:lstStyle/>
                    <a:p>
                      <a:pPr lvl="0"/>
                      <a:r>
                        <a:rPr lang="en-GB" sz="1200"/>
                        <a:t>The Date &amp; Time the declaration is legally accepted</a:t>
                      </a:r>
                    </a:p>
                  </a:txBody>
                  <a:tcPr/>
                </a:tc>
                <a:extLst>
                  <a:ext uri="{0D108BD9-81ED-4DB2-BD59-A6C34878D82A}">
                    <a16:rowId xmlns:a16="http://schemas.microsoft.com/office/drawing/2014/main" val="1123741751"/>
                  </a:ext>
                </a:extLst>
              </a:tr>
              <a:tr h="188402">
                <a:tc>
                  <a:txBody>
                    <a:bodyPr/>
                    <a:lstStyle/>
                    <a:p>
                      <a:pPr marL="0" marR="0" lvl="0" indent="0" algn="l" defTabSz="914400" rtl="0" fontAlgn="auto" hangingPunct="1">
                        <a:lnSpc>
                          <a:spcPct val="100000"/>
                        </a:lnSpc>
                        <a:spcBef>
                          <a:spcPts val="0"/>
                        </a:spcBef>
                        <a:spcAft>
                          <a:spcPts val="0"/>
                        </a:spcAft>
                        <a:buNone/>
                        <a:tabLst/>
                      </a:pPr>
                      <a:r>
                        <a:rPr lang="en-GB" sz="1200"/>
                        <a:t>P2P Date &amp; Time</a:t>
                      </a:r>
                    </a:p>
                  </a:txBody>
                  <a:tcPr/>
                </a:tc>
                <a:tc>
                  <a:txBody>
                    <a:bodyPr/>
                    <a:lstStyle/>
                    <a:p>
                      <a:pPr lvl="0"/>
                      <a:r>
                        <a:rPr lang="en-GB" sz="1200"/>
                        <a:t>E</a:t>
                      </a:r>
                    </a:p>
                  </a:txBody>
                  <a:tcPr/>
                </a:tc>
                <a:tc>
                  <a:txBody>
                    <a:bodyPr/>
                    <a:lstStyle/>
                    <a:p>
                      <a:pPr lvl="0"/>
                      <a:r>
                        <a:rPr lang="en-GB" sz="1200"/>
                        <a:t>The Date &amp; Time the goods can be loaded</a:t>
                      </a:r>
                    </a:p>
                  </a:txBody>
                  <a:tcPr/>
                </a:tc>
                <a:extLst>
                  <a:ext uri="{0D108BD9-81ED-4DB2-BD59-A6C34878D82A}">
                    <a16:rowId xmlns:a16="http://schemas.microsoft.com/office/drawing/2014/main" val="1322036539"/>
                  </a:ext>
                </a:extLst>
              </a:tr>
              <a:tr h="188402">
                <a:tc>
                  <a:txBody>
                    <a:bodyPr/>
                    <a:lstStyle/>
                    <a:p>
                      <a:pPr lvl="0"/>
                      <a:r>
                        <a:rPr lang="en-GB" sz="1200"/>
                        <a:t>Finalised Date &amp; Time</a:t>
                      </a:r>
                    </a:p>
                  </a:txBody>
                  <a:tcPr/>
                </a:tc>
                <a:tc>
                  <a:txBody>
                    <a:bodyPr/>
                    <a:lstStyle/>
                    <a:p>
                      <a:pPr lvl="0"/>
                      <a:r>
                        <a:rPr lang="en-GB" sz="1200"/>
                        <a:t>I, E</a:t>
                      </a:r>
                    </a:p>
                  </a:txBody>
                  <a:tcPr/>
                </a:tc>
                <a:tc>
                  <a:txBody>
                    <a:bodyPr/>
                    <a:lstStyle/>
                    <a:p>
                      <a:pPr lvl="0"/>
                      <a:r>
                        <a:rPr lang="en-GB" sz="1200" dirty="0"/>
                        <a:t>-</a:t>
                      </a:r>
                    </a:p>
                  </a:txBody>
                  <a:tcPr/>
                </a:tc>
                <a:extLst>
                  <a:ext uri="{0D108BD9-81ED-4DB2-BD59-A6C34878D82A}">
                    <a16:rowId xmlns:a16="http://schemas.microsoft.com/office/drawing/2014/main" val="3750424148"/>
                  </a:ext>
                </a:extLst>
              </a:tr>
            </a:tbl>
          </a:graphicData>
        </a:graphic>
      </p:graphicFrame>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201D994-3C0F-4E45-A14C-3FE1C5D31715}"/>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A6A8847-7FD3-477F-867F-24ADE717763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9CDD6EC-BC80-4770-A1E9-D787D82199E2}"/>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63443EA-F7F3-40A0-AE54-C43B142909BA}"/>
              </a:ext>
            </a:extLst>
          </p:cNvPr>
          <p:cNvSpPr txBox="1"/>
          <p:nvPr/>
        </p:nvSpPr>
        <p:spPr>
          <a:xfrm>
            <a:off x="11653820"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1F55E63-3102-482B-8D74-307E9A62509C}" type="slidenum">
              <a:rPr sz="1200"/>
              <a:t>356</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377C48BF-9CB4-4DD7-A653-1EAC8805A80D}"/>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E446DEB5-D9BE-4DE4-A196-0D182BE1C5DD}"/>
              </a:ext>
            </a:extLst>
          </p:cNvPr>
          <p:cNvSpPr/>
          <p:nvPr/>
        </p:nvSpPr>
        <p:spPr>
          <a:xfrm>
            <a:off x="399245" y="1302763"/>
            <a:ext cx="11282159" cy="4527715"/>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Account Details: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If a declaration version matches the entered search parameters, the API query will respond with the following “Account Details":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00100" marR="0" lvl="1" indent="-342900" algn="l" defTabSz="914400" rtl="0" fontAlgn="auto" hangingPunct="1">
              <a:lnSpc>
                <a:spcPct val="107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00100" marR="0" lvl="1" indent="-342900" algn="l" defTabSz="914400" rtl="0" fontAlgn="auto" hangingPunct="1">
              <a:lnSpc>
                <a:spcPct val="107000"/>
              </a:lnSpc>
              <a:spcBef>
                <a:spcPts val="0"/>
              </a:spcBef>
              <a:spcAft>
                <a:spcPts val="800"/>
              </a:spcAft>
              <a:buSzPct val="100000"/>
              <a:buFont typeface="Calibri Light"/>
              <a:buAutoNum type="arabicPeriod"/>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graphicFrame>
        <p:nvGraphicFramePr>
          <p:cNvPr id="10" name="Table 3">
            <a:extLst>
              <a:ext uri="{FF2B5EF4-FFF2-40B4-BE49-F238E27FC236}">
                <a16:creationId xmlns:a16="http://schemas.microsoft.com/office/drawing/2014/main" id="{4EA21A57-C73C-474E-AD5F-6CC38794DDF5}"/>
              </a:ext>
            </a:extLst>
          </p:cNvPr>
          <p:cNvGraphicFramePr>
            <a:graphicFrameLocks noGrp="1"/>
          </p:cNvGraphicFramePr>
          <p:nvPr/>
        </p:nvGraphicFramePr>
        <p:xfrm>
          <a:off x="602397" y="1989807"/>
          <a:ext cx="10987190" cy="2377440"/>
        </p:xfrm>
        <a:graphic>
          <a:graphicData uri="http://schemas.openxmlformats.org/drawingml/2006/table">
            <a:tbl>
              <a:tblPr firstRow="1" bandRow="1">
                <a:effectLst/>
                <a:tableStyleId>{5C22544A-7EE6-4342-B048-85BDC9FD1C3A}</a:tableStyleId>
              </a:tblPr>
              <a:tblGrid>
                <a:gridCol w="1523865">
                  <a:extLst>
                    <a:ext uri="{9D8B030D-6E8A-4147-A177-3AD203B41FA5}">
                      <a16:colId xmlns:a16="http://schemas.microsoft.com/office/drawing/2014/main" val="3877773641"/>
                    </a:ext>
                  </a:extLst>
                </a:gridCol>
                <a:gridCol w="1523865">
                  <a:extLst>
                    <a:ext uri="{9D8B030D-6E8A-4147-A177-3AD203B41FA5}">
                      <a16:colId xmlns:a16="http://schemas.microsoft.com/office/drawing/2014/main" val="1350743823"/>
                    </a:ext>
                  </a:extLst>
                </a:gridCol>
                <a:gridCol w="7939460">
                  <a:extLst>
                    <a:ext uri="{9D8B030D-6E8A-4147-A177-3AD203B41FA5}">
                      <a16:colId xmlns:a16="http://schemas.microsoft.com/office/drawing/2014/main" val="410227937"/>
                    </a:ext>
                  </a:extLst>
                </a:gridCol>
              </a:tblGrid>
              <a:tr h="139354">
                <a:tc>
                  <a:txBody>
                    <a:bodyPr/>
                    <a:lstStyle/>
                    <a:p>
                      <a:pPr lvl="0"/>
                      <a:r>
                        <a:rPr lang="en-GB" sz="1200"/>
                        <a:t>Data</a:t>
                      </a:r>
                    </a:p>
                  </a:txBody>
                  <a:tcPr/>
                </a:tc>
                <a:tc>
                  <a:txBody>
                    <a:bodyPr/>
                    <a:lstStyle/>
                    <a:p>
                      <a:pPr lvl="0"/>
                      <a:r>
                        <a:rPr lang="en-GB" sz="1200"/>
                        <a:t>Movement</a:t>
                      </a:r>
                    </a:p>
                    <a:p>
                      <a:pPr lvl="0"/>
                      <a:r>
                        <a:rPr lang="en-GB" sz="1200"/>
                        <a:t>(I = Imports)</a:t>
                      </a:r>
                    </a:p>
                  </a:txBody>
                  <a:tcPr/>
                </a:tc>
                <a:tc>
                  <a:txBody>
                    <a:bodyPr/>
                    <a:lstStyle/>
                    <a:p>
                      <a:pPr lvl="0"/>
                      <a:r>
                        <a:rPr lang="en-GB" sz="1200"/>
                        <a:t>CDS Description</a:t>
                      </a:r>
                    </a:p>
                    <a:p>
                      <a:pPr lvl="0"/>
                      <a:endParaRPr lang="en-GB" sz="1200"/>
                    </a:p>
                  </a:txBody>
                  <a:tcPr/>
                </a:tc>
                <a:extLst>
                  <a:ext uri="{0D108BD9-81ED-4DB2-BD59-A6C34878D82A}">
                    <a16:rowId xmlns:a16="http://schemas.microsoft.com/office/drawing/2014/main" val="905545018"/>
                  </a:ext>
                </a:extLst>
              </a:tr>
              <a:tr h="139354">
                <a:tc>
                  <a:txBody>
                    <a:bodyPr/>
                    <a:lstStyle/>
                    <a:p>
                      <a:pPr lvl="0"/>
                      <a:r>
                        <a:rPr lang="en-GB" sz="1200"/>
                        <a:t>DAN</a:t>
                      </a:r>
                    </a:p>
                  </a:txBody>
                  <a:tcPr/>
                </a:tc>
                <a:tc>
                  <a:txBody>
                    <a:bodyPr/>
                    <a:lstStyle/>
                    <a:p>
                      <a:pPr lvl="0"/>
                      <a:r>
                        <a:rPr lang="en-GB" sz="1200"/>
                        <a:t>I</a:t>
                      </a:r>
                    </a:p>
                  </a:txBody>
                  <a:tcPr/>
                </a:tc>
                <a:tc>
                  <a:txBody>
                    <a:bodyPr/>
                    <a:lstStyle/>
                    <a:p>
                      <a:pPr lvl="0"/>
                      <a:r>
                        <a:rPr lang="en-GB" sz="1200"/>
                        <a:t>Deferment Account Number</a:t>
                      </a:r>
                    </a:p>
                  </a:txBody>
                  <a:tcPr marL="90004" marR="82798" marT="3602" marB="3602" anchor="ctr"/>
                </a:tc>
                <a:extLst>
                  <a:ext uri="{0D108BD9-81ED-4DB2-BD59-A6C34878D82A}">
                    <a16:rowId xmlns:a16="http://schemas.microsoft.com/office/drawing/2014/main" val="2658520602"/>
                  </a:ext>
                </a:extLst>
              </a:tr>
              <a:tr h="139354">
                <a:tc>
                  <a:txBody>
                    <a:bodyPr/>
                    <a:lstStyle/>
                    <a:p>
                      <a:pPr lvl="0"/>
                      <a:r>
                        <a:rPr lang="en-GB" sz="1200"/>
                        <a:t>MOP</a:t>
                      </a:r>
                    </a:p>
                  </a:txBody>
                  <a:tcPr/>
                </a:tc>
                <a:tc>
                  <a:txBody>
                    <a:bodyPr/>
                    <a:lstStyle/>
                    <a:p>
                      <a:pPr lvl="0"/>
                      <a:r>
                        <a:rPr lang="en-GB" sz="1200"/>
                        <a:t>I</a:t>
                      </a:r>
                    </a:p>
                  </a:txBody>
                  <a:tcPr/>
                </a:tc>
                <a:tc>
                  <a:txBody>
                    <a:bodyPr/>
                    <a:lstStyle/>
                    <a:p>
                      <a:pPr lvl="0"/>
                      <a:r>
                        <a:rPr lang="en-GB" sz="1200" b="0" i="0" kern="1200">
                          <a:solidFill>
                            <a:srgbClr val="000000"/>
                          </a:solidFill>
                          <a:latin typeface="Calibri"/>
                        </a:rPr>
                        <a:t>This will be populated using the declaration Coverage Mode with a value of 1 (Immediate/Cash) or 2 (Postponed/Guarantee). </a:t>
                      </a:r>
                      <a:endParaRPr lang="en-GB" sz="1200"/>
                    </a:p>
                  </a:txBody>
                  <a:tcPr/>
                </a:tc>
                <a:extLst>
                  <a:ext uri="{0D108BD9-81ED-4DB2-BD59-A6C34878D82A}">
                    <a16:rowId xmlns:a16="http://schemas.microsoft.com/office/drawing/2014/main" val="3861535509"/>
                  </a:ext>
                </a:extLst>
              </a:tr>
              <a:tr h="139354">
                <a:tc>
                  <a:txBody>
                    <a:bodyPr/>
                    <a:lstStyle/>
                    <a:p>
                      <a:pPr lvl="0"/>
                      <a:r>
                        <a:rPr lang="en-GB" sz="1200"/>
                        <a:t>Tax Type</a:t>
                      </a:r>
                    </a:p>
                  </a:txBody>
                  <a:tcPr/>
                </a:tc>
                <a:tc>
                  <a:txBody>
                    <a:bodyPr/>
                    <a:lstStyle/>
                    <a:p>
                      <a:pPr lvl="0"/>
                      <a:r>
                        <a:rPr lang="en-GB" sz="1200"/>
                        <a:t>I</a:t>
                      </a:r>
                    </a:p>
                  </a:txBody>
                  <a:tcPr/>
                </a:tc>
                <a:tc>
                  <a:txBody>
                    <a:bodyPr/>
                    <a:lstStyle/>
                    <a:p>
                      <a:pPr lvl="0"/>
                      <a:r>
                        <a:rPr lang="en-GB" sz="1200" b="0" i="0" kern="1200">
                          <a:solidFill>
                            <a:srgbClr val="000000"/>
                          </a:solidFill>
                          <a:latin typeface="Calibri"/>
                        </a:rPr>
                        <a:t>The Tax Type identifying the category of revenue being declared/calculated. Both Duty Tax Payable data and Securities data will be returned as separate entries for each applicable tax type on the declaration.</a:t>
                      </a:r>
                      <a:endParaRPr lang="en-GB" sz="1200"/>
                    </a:p>
                  </a:txBody>
                  <a:tcPr/>
                </a:tc>
                <a:extLst>
                  <a:ext uri="{0D108BD9-81ED-4DB2-BD59-A6C34878D82A}">
                    <a16:rowId xmlns:a16="http://schemas.microsoft.com/office/drawing/2014/main" val="4215307423"/>
                  </a:ext>
                </a:extLst>
              </a:tr>
              <a:tr h="139354">
                <a:tc>
                  <a:txBody>
                    <a:bodyPr/>
                    <a:lstStyle/>
                    <a:p>
                      <a:pPr lvl="0"/>
                      <a:r>
                        <a:rPr lang="en-GB" sz="1200"/>
                        <a:t>Amount</a:t>
                      </a:r>
                    </a:p>
                  </a:txBody>
                  <a:tcPr/>
                </a:tc>
                <a:tc>
                  <a:txBody>
                    <a:bodyPr/>
                    <a:lstStyle/>
                    <a:p>
                      <a:pPr lvl="0"/>
                      <a:r>
                        <a:rPr lang="en-GB" sz="1200"/>
                        <a:t>I</a:t>
                      </a:r>
                    </a:p>
                  </a:txBody>
                  <a:tcPr/>
                </a:tc>
                <a:tc>
                  <a:txBody>
                    <a:bodyPr/>
                    <a:lstStyle/>
                    <a:p>
                      <a:pPr lvl="0"/>
                      <a:r>
                        <a:rPr lang="en-GB" sz="1200" b="0" i="0" kern="1200">
                          <a:solidFill>
                            <a:srgbClr val="000000"/>
                          </a:solidFill>
                          <a:latin typeface="Calibri"/>
                        </a:rPr>
                        <a:t>The amount of revenue declared/calculated for the tax line. Both Duty Tax Payable data and Securities data will be returned as separate entries for each applicable tax type on the declaration.</a:t>
                      </a:r>
                      <a:endParaRPr lang="en-GB" sz="1200"/>
                    </a:p>
                  </a:txBody>
                  <a:tcPr/>
                </a:tc>
                <a:extLst>
                  <a:ext uri="{0D108BD9-81ED-4DB2-BD59-A6C34878D82A}">
                    <a16:rowId xmlns:a16="http://schemas.microsoft.com/office/drawing/2014/main" val="2355957437"/>
                  </a:ext>
                </a:extLst>
              </a:tr>
              <a:tr h="139354">
                <a:tc>
                  <a:txBody>
                    <a:bodyPr/>
                    <a:lstStyle/>
                    <a:p>
                      <a:pPr lvl="0"/>
                      <a:r>
                        <a:rPr lang="en-GB" sz="1200"/>
                        <a:t>Coverage Amount Type</a:t>
                      </a:r>
                    </a:p>
                  </a:txBody>
                  <a:tcPr/>
                </a:tc>
                <a:tc>
                  <a:txBody>
                    <a:bodyPr/>
                    <a:lstStyle/>
                    <a:p>
                      <a:pPr lvl="0"/>
                      <a:r>
                        <a:rPr lang="en-GB" sz="1200"/>
                        <a:t>I</a:t>
                      </a:r>
                    </a:p>
                  </a:txBody>
                  <a:tcPr/>
                </a:tc>
                <a:tc>
                  <a:txBody>
                    <a:bodyPr/>
                    <a:lstStyle/>
                    <a:p>
                      <a:pPr lvl="0"/>
                      <a:r>
                        <a:rPr lang="en-GB" sz="1200" b="0" i="0" kern="1200" dirty="0">
                          <a:solidFill>
                            <a:srgbClr val="000000"/>
                          </a:solidFill>
                          <a:latin typeface="Calibri"/>
                        </a:rPr>
                        <a:t>This is the type reflected on the tax type on the declaration. Both Duty Tax Payable data and Securities data will be returned as separate entries for each applicable tax type on the declaration. </a:t>
                      </a:r>
                      <a:endParaRPr lang="en-GB" sz="1200" dirty="0"/>
                    </a:p>
                  </a:txBody>
                  <a:tcPr/>
                </a:tc>
                <a:extLst>
                  <a:ext uri="{0D108BD9-81ED-4DB2-BD59-A6C34878D82A}">
                    <a16:rowId xmlns:a16="http://schemas.microsoft.com/office/drawing/2014/main" val="680336656"/>
                  </a:ext>
                </a:extLst>
              </a:tr>
            </a:tbl>
          </a:graphicData>
        </a:graphic>
      </p:graphicFrame>
      <p:sp>
        <p:nvSpPr>
          <p:cNvPr id="11" name="TextBox 3">
            <a:extLst>
              <a:ext uri="{FF2B5EF4-FFF2-40B4-BE49-F238E27FC236}">
                <a16:creationId xmlns:a16="http://schemas.microsoft.com/office/drawing/2014/main" id="{D8DAAB56-EDC7-40E3-9C71-4A28DAA53A59}"/>
              </a:ext>
            </a:extLst>
          </p:cNvPr>
          <p:cNvSpPr txBox="1"/>
          <p:nvPr/>
        </p:nvSpPr>
        <p:spPr>
          <a:xfrm>
            <a:off x="2351681" y="4367247"/>
            <a:ext cx="9780788" cy="584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
              </a:rPr>
              <a:t>Please Note: </a:t>
            </a:r>
            <a:r>
              <a:rPr lang="en-GB" sz="1400" b="0" i="0" u="none" strike="noStrike" kern="1200" cap="none" spc="0" baseline="0">
                <a:solidFill>
                  <a:srgbClr val="333333"/>
                </a:solidFill>
                <a:uFillTx/>
                <a:latin typeface="Calibri  "/>
              </a:rPr>
              <a:t>The description for Coverage Amount Type is provided within the Declaration Information Service documentation.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E8A85CAA-74AF-49B3-8E5A-3192DED6DFD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701057-4E4D-4AC4-B71E-D08A4A45A9F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CEA4553-7DDE-42BF-9FB1-A84DF6ECC3E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EDDCB84-42EE-465A-A9E5-6C406CD77EB3}"/>
              </a:ext>
            </a:extLst>
          </p:cNvPr>
          <p:cNvSpPr txBox="1"/>
          <p:nvPr/>
        </p:nvSpPr>
        <p:spPr>
          <a:xfrm>
            <a:off x="11646731"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CBBCF4A-012A-42C3-92F7-7AD091CE36B2}" type="slidenum">
              <a:rPr sz="1200"/>
              <a:t>357</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30742A07-FC73-4624-AE03-284BE531C9C4}"/>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E123E35D-03E9-4CCE-B651-69F38B38EE30}"/>
              </a:ext>
            </a:extLst>
          </p:cNvPr>
          <p:cNvSpPr/>
          <p:nvPr/>
        </p:nvSpPr>
        <p:spPr>
          <a:xfrm>
            <a:off x="399245" y="1308113"/>
            <a:ext cx="11282159" cy="5153393"/>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Generated Consignment Details: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If a declaration version matches the entered search parameters, the API query will respond with the following “Generated Consignment Details":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00100" marR="0" lvl="1" indent="-342900" algn="l" defTabSz="914400" rtl="0" fontAlgn="auto" hangingPunct="1">
              <a:lnSpc>
                <a:spcPct val="107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00100" marR="0" lvl="1" indent="-342900" algn="l" defTabSz="914400" rtl="0" fontAlgn="auto" hangingPunct="1">
              <a:lnSpc>
                <a:spcPct val="107000"/>
              </a:lnSpc>
              <a:spcBef>
                <a:spcPts val="0"/>
              </a:spcBef>
              <a:spcAft>
                <a:spcPts val="800"/>
              </a:spcAft>
              <a:buSzPct val="100000"/>
              <a:buFont typeface="Calibri Light"/>
              <a:buAutoNum type="arabicPeriod"/>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graphicFrame>
        <p:nvGraphicFramePr>
          <p:cNvPr id="10" name="Table 3">
            <a:extLst>
              <a:ext uri="{FF2B5EF4-FFF2-40B4-BE49-F238E27FC236}">
                <a16:creationId xmlns:a16="http://schemas.microsoft.com/office/drawing/2014/main" id="{31B87333-39AE-4DD0-A47A-41BF7B40FF15}"/>
              </a:ext>
            </a:extLst>
          </p:cNvPr>
          <p:cNvGraphicFramePr>
            <a:graphicFrameLocks noGrp="1"/>
          </p:cNvGraphicFramePr>
          <p:nvPr>
            <p:extLst>
              <p:ext uri="{D42A27DB-BD31-4B8C-83A1-F6EECF244321}">
                <p14:modId xmlns:p14="http://schemas.microsoft.com/office/powerpoint/2010/main" val="843353884"/>
              </p:ext>
            </p:extLst>
          </p:nvPr>
        </p:nvGraphicFramePr>
        <p:xfrm>
          <a:off x="399245" y="1926677"/>
          <a:ext cx="11402128" cy="3973032"/>
        </p:xfrm>
        <a:graphic>
          <a:graphicData uri="http://schemas.openxmlformats.org/drawingml/2006/table">
            <a:tbl>
              <a:tblPr firstRow="1" bandRow="1">
                <a:effectLst/>
                <a:tableStyleId>{5C22544A-7EE6-4342-B048-85BDC9FD1C3A}</a:tableStyleId>
              </a:tblPr>
              <a:tblGrid>
                <a:gridCol w="2197778">
                  <a:extLst>
                    <a:ext uri="{9D8B030D-6E8A-4147-A177-3AD203B41FA5}">
                      <a16:colId xmlns:a16="http://schemas.microsoft.com/office/drawing/2014/main" val="1362268315"/>
                    </a:ext>
                  </a:extLst>
                </a:gridCol>
                <a:gridCol w="1830281">
                  <a:extLst>
                    <a:ext uri="{9D8B030D-6E8A-4147-A177-3AD203B41FA5}">
                      <a16:colId xmlns:a16="http://schemas.microsoft.com/office/drawing/2014/main" val="4266553588"/>
                    </a:ext>
                  </a:extLst>
                </a:gridCol>
                <a:gridCol w="7374069">
                  <a:extLst>
                    <a:ext uri="{9D8B030D-6E8A-4147-A177-3AD203B41FA5}">
                      <a16:colId xmlns:a16="http://schemas.microsoft.com/office/drawing/2014/main" val="2326034471"/>
                    </a:ext>
                  </a:extLst>
                </a:gridCol>
              </a:tblGrid>
              <a:tr h="289243">
                <a:tc>
                  <a:txBody>
                    <a:bodyPr/>
                    <a:lstStyle/>
                    <a:p>
                      <a:pPr lvl="0"/>
                      <a:r>
                        <a:rPr lang="en-GB" sz="1100"/>
                        <a:t>Data</a:t>
                      </a:r>
                    </a:p>
                  </a:txBody>
                  <a:tcPr marL="90004" marR="90004" marT="46798" marB="46798"/>
                </a:tc>
                <a:tc>
                  <a:txBody>
                    <a:bodyPr/>
                    <a:lstStyle/>
                    <a:p>
                      <a:pPr lvl="0"/>
                      <a:r>
                        <a:rPr lang="en-GB" sz="1100"/>
                        <a:t>Movement</a:t>
                      </a:r>
                    </a:p>
                    <a:p>
                      <a:pPr lvl="0"/>
                      <a:r>
                        <a:rPr lang="en-GB" sz="1100"/>
                        <a:t>(I = Imports, E = Exports)</a:t>
                      </a:r>
                    </a:p>
                  </a:txBody>
                  <a:tcPr marL="90004" marR="90004" marT="46798" marB="46798"/>
                </a:tc>
                <a:tc>
                  <a:txBody>
                    <a:bodyPr/>
                    <a:lstStyle/>
                    <a:p>
                      <a:pPr lvl="0"/>
                      <a:r>
                        <a:rPr lang="en-GB" sz="1100"/>
                        <a:t>CDS Description</a:t>
                      </a:r>
                    </a:p>
                    <a:p>
                      <a:pPr lvl="0"/>
                      <a:endParaRPr lang="en-GB" sz="1100"/>
                    </a:p>
                  </a:txBody>
                  <a:tcPr marL="90004" marR="90004" marT="46798" marB="46798"/>
                </a:tc>
                <a:extLst>
                  <a:ext uri="{0D108BD9-81ED-4DB2-BD59-A6C34878D82A}">
                    <a16:rowId xmlns:a16="http://schemas.microsoft.com/office/drawing/2014/main" val="2008102675"/>
                  </a:ext>
                </a:extLst>
              </a:tr>
              <a:tr h="176186">
                <a:tc>
                  <a:txBody>
                    <a:bodyPr/>
                    <a:lstStyle/>
                    <a:p>
                      <a:pPr lvl="0"/>
                      <a:r>
                        <a:rPr lang="en-GB" sz="1100"/>
                        <a:t>Route of Entry</a:t>
                      </a:r>
                    </a:p>
                  </a:txBody>
                  <a:tcPr marL="90004" marR="90004" marT="46798" marB="46798"/>
                </a:tc>
                <a:tc>
                  <a:txBody>
                    <a:bodyPr/>
                    <a:lstStyle/>
                    <a:p>
                      <a:pPr lvl="0"/>
                      <a:r>
                        <a:rPr lang="en-GB" sz="1100"/>
                        <a:t>I, E</a:t>
                      </a: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862968812"/>
                  </a:ext>
                </a:extLst>
              </a:tr>
              <a:tr h="176186">
                <a:tc>
                  <a:txBody>
                    <a:bodyPr/>
                    <a:lstStyle/>
                    <a:p>
                      <a:pPr lvl="0"/>
                      <a:r>
                        <a:rPr lang="en-GB" sz="1100"/>
                        <a:t>Inventory Reference</a:t>
                      </a:r>
                    </a:p>
                  </a:txBody>
                  <a:tcPr marL="90004" marR="90004" marT="46798" marB="46798"/>
                </a:tc>
                <a:tc>
                  <a:txBody>
                    <a:bodyPr/>
                    <a:lstStyle/>
                    <a:p>
                      <a:pPr lvl="0"/>
                      <a:r>
                        <a:rPr lang="en-GB" sz="1100"/>
                        <a:t>I, E</a:t>
                      </a:r>
                    </a:p>
                  </a:txBody>
                  <a:tcPr marL="90004" marR="90004" marT="46798" marB="46798"/>
                </a:tc>
                <a:tc>
                  <a:txBody>
                    <a:bodyPr/>
                    <a:lstStyle/>
                    <a:p>
                      <a:pPr lvl="0"/>
                      <a:r>
                        <a:rPr lang="en-GB" sz="1100"/>
                        <a:t>Inventory Reference (D.E. 2/1 at header level) for imports only.</a:t>
                      </a:r>
                    </a:p>
                  </a:txBody>
                  <a:tcPr marL="90004" marR="90004" marT="46798" marB="46798" anchor="ctr"/>
                </a:tc>
                <a:extLst>
                  <a:ext uri="{0D108BD9-81ED-4DB2-BD59-A6C34878D82A}">
                    <a16:rowId xmlns:a16="http://schemas.microsoft.com/office/drawing/2014/main" val="1366854254"/>
                  </a:ext>
                </a:extLst>
              </a:tr>
              <a:tr h="176186">
                <a:tc>
                  <a:txBody>
                    <a:bodyPr/>
                    <a:lstStyle/>
                    <a:p>
                      <a:pPr lvl="0"/>
                      <a:r>
                        <a:rPr lang="en-GB" sz="1100"/>
                        <a:t>Status of Entry/ ICS Codes</a:t>
                      </a:r>
                    </a:p>
                  </a:txBody>
                  <a:tcPr marL="90004" marR="90004" marT="46798" marB="46798"/>
                </a:tc>
                <a:tc>
                  <a:txBody>
                    <a:bodyPr/>
                    <a:lstStyle/>
                    <a:p>
                      <a:pPr lvl="0"/>
                      <a:r>
                        <a:rPr lang="en-GB" sz="1100"/>
                        <a:t>I, E</a:t>
                      </a:r>
                    </a:p>
                  </a:txBody>
                  <a:tcPr marL="90004" marR="90004" marT="46798" marB="46798"/>
                </a:tc>
                <a:tc>
                  <a:txBody>
                    <a:bodyPr/>
                    <a:lstStyle/>
                    <a:p>
                      <a:pPr lvl="0"/>
                      <a:r>
                        <a:rPr lang="en-GB" sz="1100" b="0" i="0" kern="1200">
                          <a:solidFill>
                            <a:srgbClr val="000000"/>
                          </a:solidFill>
                          <a:latin typeface="Calibri"/>
                        </a:rPr>
                        <a:t>The most recent Topic Type. There is no requirement to return a history of Topic Types.</a:t>
                      </a:r>
                      <a:endParaRPr lang="en-GB" sz="1100"/>
                    </a:p>
                  </a:txBody>
                  <a:tcPr marL="90004" marR="90004" marT="46798" marB="46798"/>
                </a:tc>
                <a:extLst>
                  <a:ext uri="{0D108BD9-81ED-4DB2-BD59-A6C34878D82A}">
                    <a16:rowId xmlns:a16="http://schemas.microsoft.com/office/drawing/2014/main" val="2112772433"/>
                  </a:ext>
                </a:extLst>
              </a:tr>
              <a:tr h="176186">
                <a:tc>
                  <a:txBody>
                    <a:bodyPr/>
                    <a:lstStyle/>
                    <a:p>
                      <a:pPr lvl="0"/>
                      <a:r>
                        <a:rPr lang="en-GB" sz="1100" b="0" i="0" kern="1200">
                          <a:solidFill>
                            <a:srgbClr val="000000"/>
                          </a:solidFill>
                          <a:latin typeface="Calibri"/>
                        </a:rPr>
                        <a:t>Goods Arrival Date &amp; Time</a:t>
                      </a:r>
                      <a:endParaRPr lang="en-GB" sz="1100"/>
                    </a:p>
                  </a:txBody>
                  <a:tcPr marL="90004" marR="90004" marT="46798" marB="46798"/>
                </a:tc>
                <a:tc>
                  <a:txBody>
                    <a:bodyPr/>
                    <a:lstStyle/>
                    <a:p>
                      <a:pPr lvl="0"/>
                      <a:r>
                        <a:rPr lang="en-GB" sz="1100"/>
                        <a:t>I, E</a:t>
                      </a: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4238347419"/>
                  </a:ext>
                </a:extLst>
              </a:tr>
              <a:tr h="176186">
                <a:tc>
                  <a:txBody>
                    <a:bodyPr/>
                    <a:lstStyle/>
                    <a:p>
                      <a:pPr lvl="0"/>
                      <a:r>
                        <a:rPr lang="en-GB" sz="1100"/>
                        <a:t>Declared Customs Office of Exit</a:t>
                      </a:r>
                    </a:p>
                  </a:txBody>
                  <a:tcPr marL="90004" marR="90004" marT="46798" marB="46798"/>
                </a:tc>
                <a:tc>
                  <a:txBody>
                    <a:bodyPr/>
                    <a:lstStyle/>
                    <a:p>
                      <a:pPr lvl="0"/>
                      <a:r>
                        <a:rPr lang="en-GB" sz="1100"/>
                        <a:t>E</a:t>
                      </a: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441058532"/>
                  </a:ext>
                </a:extLst>
              </a:tr>
              <a:tr h="289243">
                <a:tc>
                  <a:txBody>
                    <a:bodyPr/>
                    <a:lstStyle/>
                    <a:p>
                      <a:pPr marL="0" marR="0" lvl="0" indent="0" algn="l" defTabSz="914400" rtl="0" fontAlgn="auto" hangingPunct="1">
                        <a:lnSpc>
                          <a:spcPct val="100000"/>
                        </a:lnSpc>
                        <a:spcBef>
                          <a:spcPts val="0"/>
                        </a:spcBef>
                        <a:spcAft>
                          <a:spcPts val="0"/>
                        </a:spcAft>
                        <a:buNone/>
                        <a:tabLst/>
                      </a:pPr>
                      <a:r>
                        <a:rPr lang="en-GB" sz="1100"/>
                        <a:t>Actual Customs Office of Exit</a:t>
                      </a:r>
                    </a:p>
                    <a:p>
                      <a:pPr lvl="0"/>
                      <a:endParaRPr lang="en-GB" sz="1100"/>
                    </a:p>
                  </a:txBody>
                  <a:tcPr marL="90004" marR="90004" marT="46798" marB="46798"/>
                </a:tc>
                <a:tc>
                  <a:txBody>
                    <a:bodyPr/>
                    <a:lstStyle/>
                    <a:p>
                      <a:pPr lvl="0"/>
                      <a:r>
                        <a:rPr lang="en-GB" sz="1100"/>
                        <a:t>E</a:t>
                      </a: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194571999"/>
                  </a:ext>
                </a:extLst>
              </a:tr>
              <a:tr h="402299">
                <a:tc>
                  <a:txBody>
                    <a:bodyPr/>
                    <a:lstStyle/>
                    <a:p>
                      <a:pPr lvl="0"/>
                      <a:r>
                        <a:rPr lang="en-GB" sz="1100"/>
                        <a:t>Submitter ID</a:t>
                      </a:r>
                    </a:p>
                  </a:txBody>
                  <a:tcPr marL="90004" marR="90004" marT="46798" marB="46798"/>
                </a:tc>
                <a:tc>
                  <a:txBody>
                    <a:bodyPr/>
                    <a:lstStyle/>
                    <a:p>
                      <a:pPr lvl="0"/>
                      <a:r>
                        <a:rPr lang="en-GB" sz="1100"/>
                        <a:t>I, E</a:t>
                      </a:r>
                    </a:p>
                  </a:txBody>
                  <a:tcPr marL="90004" marR="90004" marT="46798" marB="46798"/>
                </a:tc>
                <a:tc>
                  <a:txBody>
                    <a:bodyPr/>
                    <a:lstStyle/>
                    <a:p>
                      <a:pPr lvl="0"/>
                      <a:r>
                        <a:rPr lang="en-GB" sz="1100" b="0" i="0" kern="1200">
                          <a:solidFill>
                            <a:srgbClr val="000000"/>
                          </a:solidFill>
                          <a:latin typeface="Calibri"/>
                        </a:rPr>
                        <a:t>This will be the Originating Party. If no Originating Party is available, then Authenticated Party will be returned. This will be taken from the communication address from the declaration dossier. Depending on the how the submitter has authenticated themselves, This may be an EORI or a Badge ID.</a:t>
                      </a:r>
                      <a:endParaRPr lang="en-GB" sz="1100"/>
                    </a:p>
                  </a:txBody>
                  <a:tcPr marL="90004" marR="90004" marT="46798" marB="46798"/>
                </a:tc>
                <a:extLst>
                  <a:ext uri="{0D108BD9-81ED-4DB2-BD59-A6C34878D82A}">
                    <a16:rowId xmlns:a16="http://schemas.microsoft.com/office/drawing/2014/main" val="2907735088"/>
                  </a:ext>
                </a:extLst>
              </a:tr>
              <a:tr h="176186">
                <a:tc>
                  <a:txBody>
                    <a:bodyPr/>
                    <a:lstStyle/>
                    <a:p>
                      <a:pPr lvl="0"/>
                      <a:r>
                        <a:rPr lang="en-GB" sz="1100"/>
                        <a:t>Statistical Value</a:t>
                      </a:r>
                    </a:p>
                  </a:txBody>
                  <a:tcPr marL="90004" marR="90004" marT="46798" marB="46798"/>
                </a:tc>
                <a:tc>
                  <a:txBody>
                    <a:bodyPr/>
                    <a:lstStyle/>
                    <a:p>
                      <a:pPr lvl="0"/>
                      <a:r>
                        <a:rPr lang="en-GB" sz="1100"/>
                        <a:t>I, E</a:t>
                      </a:r>
                    </a:p>
                  </a:txBody>
                  <a:tcPr marL="90004" marR="90004" marT="46798" marB="46798"/>
                </a:tc>
                <a:tc>
                  <a:txBody>
                    <a:bodyPr/>
                    <a:lstStyle/>
                    <a:p>
                      <a:pPr lvl="0"/>
                      <a:endParaRPr lang="en-GB" sz="1100"/>
                    </a:p>
                  </a:txBody>
                  <a:tcPr marL="90004" marR="90004" marT="46798" marB="46798"/>
                </a:tc>
                <a:extLst>
                  <a:ext uri="{0D108BD9-81ED-4DB2-BD59-A6C34878D82A}">
                    <a16:rowId xmlns:a16="http://schemas.microsoft.com/office/drawing/2014/main" val="693094683"/>
                  </a:ext>
                </a:extLst>
              </a:tr>
              <a:tr h="176186">
                <a:tc>
                  <a:txBody>
                    <a:bodyPr/>
                    <a:lstStyle/>
                    <a:p>
                      <a:pPr lvl="0"/>
                      <a:r>
                        <a:rPr lang="en-GB" sz="1100" b="0" i="0" kern="1200">
                          <a:solidFill>
                            <a:srgbClr val="000000"/>
                          </a:solidFill>
                          <a:latin typeface="Calibri"/>
                        </a:rPr>
                        <a:t>Total Invoice Amount</a:t>
                      </a:r>
                      <a:endParaRPr lang="en-GB" sz="1100"/>
                    </a:p>
                  </a:txBody>
                  <a:tcPr marL="90004" marR="90004" marT="46798" marB="46798"/>
                </a:tc>
                <a:tc>
                  <a:txBody>
                    <a:bodyPr/>
                    <a:lstStyle/>
                    <a:p>
                      <a:pPr lvl="0"/>
                      <a:r>
                        <a:rPr lang="en-GB" sz="1100"/>
                        <a:t>I</a:t>
                      </a:r>
                    </a:p>
                  </a:txBody>
                  <a:tcPr marL="90004" marR="90004" marT="46798" marB="46798"/>
                </a:tc>
                <a:tc>
                  <a:txBody>
                    <a:bodyPr/>
                    <a:lstStyle/>
                    <a:p>
                      <a:pPr lvl="0"/>
                      <a:endParaRPr lang="en-GB" sz="1100"/>
                    </a:p>
                  </a:txBody>
                  <a:tcPr marL="90004" marR="90004" marT="46798" marB="46798"/>
                </a:tc>
                <a:extLst>
                  <a:ext uri="{0D108BD9-81ED-4DB2-BD59-A6C34878D82A}">
                    <a16:rowId xmlns:a16="http://schemas.microsoft.com/office/drawing/2014/main" val="2271314472"/>
                  </a:ext>
                </a:extLst>
              </a:tr>
              <a:tr h="380079">
                <a:tc>
                  <a:txBody>
                    <a:bodyPr/>
                    <a:lstStyle/>
                    <a:p>
                      <a:pPr lvl="0"/>
                      <a:r>
                        <a:rPr lang="en-GB" sz="1100"/>
                        <a:t>Exit Result</a:t>
                      </a:r>
                    </a:p>
                  </a:txBody>
                  <a:tcPr marL="90004" marR="90004" marT="46798" marB="46798"/>
                </a:tc>
                <a:tc>
                  <a:txBody>
                    <a:bodyPr/>
                    <a:lstStyle/>
                    <a:p>
                      <a:pPr lvl="0"/>
                      <a:r>
                        <a:rPr lang="en-GB" sz="1100"/>
                        <a:t>E</a:t>
                      </a:r>
                    </a:p>
                  </a:txBody>
                  <a:tcPr marL="90004" marR="90004" marT="46798" marB="46798"/>
                </a:tc>
                <a:tc>
                  <a:txBody>
                    <a:bodyPr/>
                    <a:lstStyle/>
                    <a:p>
                      <a:pPr lvl="0" fontAlgn="ctr"/>
                      <a:r>
                        <a:rPr lang="en-GB" sz="1100" b="1" i="0" kern="1200">
                          <a:solidFill>
                            <a:srgbClr val="000000"/>
                          </a:solidFill>
                          <a:latin typeface="Calibri"/>
                        </a:rPr>
                        <a:t>Note: </a:t>
                      </a:r>
                      <a:r>
                        <a:rPr lang="en-GB" sz="1100" b="0" i="0" kern="1200">
                          <a:solidFill>
                            <a:srgbClr val="000000"/>
                          </a:solidFill>
                          <a:latin typeface="Calibri"/>
                        </a:rPr>
                        <a:t>It is expected that the Exit Result Field will be available, but it will not be populated until the population of missing fields functionality is delivered in the DIS Query Response (TBC).</a:t>
                      </a:r>
                    </a:p>
                  </a:txBody>
                  <a:tcPr marL="90004" marR="90004" marT="46798" marB="46798"/>
                </a:tc>
                <a:extLst>
                  <a:ext uri="{0D108BD9-81ED-4DB2-BD59-A6C34878D82A}">
                    <a16:rowId xmlns:a16="http://schemas.microsoft.com/office/drawing/2014/main" val="3523419119"/>
                  </a:ext>
                </a:extLst>
              </a:tr>
              <a:tr h="176186">
                <a:tc>
                  <a:txBody>
                    <a:bodyPr/>
                    <a:lstStyle/>
                    <a:p>
                      <a:pPr lvl="0"/>
                      <a:r>
                        <a:rPr lang="en-GB" sz="1100"/>
                        <a:t>Date of Exit</a:t>
                      </a:r>
                    </a:p>
                  </a:txBody>
                  <a:tcPr marL="90004" marR="90004" marT="46798" marB="46798"/>
                </a:tc>
                <a:tc>
                  <a:txBody>
                    <a:bodyPr/>
                    <a:lstStyle/>
                    <a:p>
                      <a:pPr lvl="0"/>
                      <a:r>
                        <a:rPr lang="en-GB" sz="1100"/>
                        <a:t>E</a:t>
                      </a:r>
                    </a:p>
                  </a:txBody>
                  <a:tcPr marL="90004" marR="90004" marT="46798" marB="46798"/>
                </a:tc>
                <a:tc>
                  <a:txBody>
                    <a:bodyPr/>
                    <a:lstStyle/>
                    <a:p>
                      <a:pPr lvl="0"/>
                      <a:r>
                        <a:rPr lang="en-GB" sz="1100" dirty="0"/>
                        <a:t>-</a:t>
                      </a:r>
                    </a:p>
                  </a:txBody>
                  <a:tcPr marL="90004" marR="90004" marT="46798" marB="46798"/>
                </a:tc>
                <a:extLst>
                  <a:ext uri="{0D108BD9-81ED-4DB2-BD59-A6C34878D82A}">
                    <a16:rowId xmlns:a16="http://schemas.microsoft.com/office/drawing/2014/main" val="200402634"/>
                  </a:ext>
                </a:extLst>
              </a:tr>
            </a:tbl>
          </a:graphicData>
        </a:graphic>
      </p:graphicFrame>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5A5B3DA-9C3A-40D0-AC11-41DE0E87B9A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87C3399-0C0C-4D7E-96E4-E50E30FA77B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7A34AB9-6F6E-45C9-A050-712959D720C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0AA325D1-A100-477D-8C93-C1F956D7CCBD}"/>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58703C84-34BA-418B-8F39-A3521CADEFDB}"/>
              </a:ext>
            </a:extLst>
          </p:cNvPr>
          <p:cNvSpPr txBox="1"/>
          <p:nvPr/>
        </p:nvSpPr>
        <p:spPr>
          <a:xfrm>
            <a:off x="11682172"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DC709EA-0D3B-46CC-8237-2DF1BB563915}" type="slidenum">
              <a:rPr sz="1200"/>
              <a:t>358</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33448CE1-CEA2-41C7-B7F8-A92BF42A946D}"/>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DB12866E-3982-4BA1-9781-48E2F83BB782}"/>
              </a:ext>
            </a:extLst>
          </p:cNvPr>
          <p:cNvSpPr/>
          <p:nvPr/>
        </p:nvSpPr>
        <p:spPr>
          <a:xfrm>
            <a:off x="399245" y="1302763"/>
            <a:ext cx="11282159" cy="5383914"/>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dirty="0">
                <a:solidFill>
                  <a:srgbClr val="000000"/>
                </a:solidFill>
                <a:uFillTx/>
                <a:latin typeface="Calibri  "/>
              </a:rPr>
              <a:t>Generated Item-Level Consignment Details:</a:t>
            </a: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
              </a:rPr>
              <a:t>If a declaration version matches the entered search parameters, the API query will respond with the following </a:t>
            </a:r>
            <a:r>
              <a:rPr lang="en-GB" sz="1400" b="0" i="0" u="none" strike="noStrike" kern="1200" cap="none" spc="0" baseline="0" dirty="0">
                <a:solidFill>
                  <a:srgbClr val="333333"/>
                </a:solidFill>
                <a:uFillTx/>
                <a:latin typeface="Calibri  "/>
              </a:rPr>
              <a:t>"Generated Item-level Consignment Details". This will only apply to imports:</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dirty="0">
                <a:solidFill>
                  <a:srgbClr val="333333"/>
                </a:solidFill>
                <a:uFillTx/>
                <a:latin typeface="Calibri  "/>
              </a:rPr>
              <a:t>                   </a:t>
            </a:r>
            <a:endParaRPr lang="en-GB" sz="1400" b="0" i="0" u="none" strike="noStrike" kern="1200" cap="none" spc="0" baseline="0" dirty="0">
              <a:solidFill>
                <a:srgbClr val="000000"/>
              </a:solidFill>
              <a:uFillTx/>
              <a:latin typeface="Calibri  "/>
            </a:endParaRPr>
          </a:p>
        </p:txBody>
      </p:sp>
      <p:graphicFrame>
        <p:nvGraphicFramePr>
          <p:cNvPr id="10" name="Table 3">
            <a:extLst>
              <a:ext uri="{FF2B5EF4-FFF2-40B4-BE49-F238E27FC236}">
                <a16:creationId xmlns:a16="http://schemas.microsoft.com/office/drawing/2014/main" id="{D1915D08-E81C-461F-925B-46A5DF585DDF}"/>
              </a:ext>
            </a:extLst>
          </p:cNvPr>
          <p:cNvGraphicFramePr>
            <a:graphicFrameLocks noGrp="1"/>
          </p:cNvGraphicFramePr>
          <p:nvPr/>
        </p:nvGraphicFramePr>
        <p:xfrm>
          <a:off x="446099" y="2074965"/>
          <a:ext cx="11299797" cy="4124745"/>
        </p:xfrm>
        <a:graphic>
          <a:graphicData uri="http://schemas.openxmlformats.org/drawingml/2006/table">
            <a:tbl>
              <a:tblPr firstRow="1" bandRow="1">
                <a:effectLst/>
                <a:tableStyleId>{5C22544A-7EE6-4342-B048-85BDC9FD1C3A}</a:tableStyleId>
              </a:tblPr>
              <a:tblGrid>
                <a:gridCol w="1531592">
                  <a:extLst>
                    <a:ext uri="{9D8B030D-6E8A-4147-A177-3AD203B41FA5}">
                      <a16:colId xmlns:a16="http://schemas.microsoft.com/office/drawing/2014/main" val="187164839"/>
                    </a:ext>
                  </a:extLst>
                </a:gridCol>
                <a:gridCol w="2883295">
                  <a:extLst>
                    <a:ext uri="{9D8B030D-6E8A-4147-A177-3AD203B41FA5}">
                      <a16:colId xmlns:a16="http://schemas.microsoft.com/office/drawing/2014/main" val="3110305449"/>
                    </a:ext>
                  </a:extLst>
                </a:gridCol>
                <a:gridCol w="6884910">
                  <a:extLst>
                    <a:ext uri="{9D8B030D-6E8A-4147-A177-3AD203B41FA5}">
                      <a16:colId xmlns:a16="http://schemas.microsoft.com/office/drawing/2014/main" val="828810568"/>
                    </a:ext>
                  </a:extLst>
                </a:gridCol>
              </a:tblGrid>
              <a:tr h="235293">
                <a:tc>
                  <a:txBody>
                    <a:bodyPr/>
                    <a:lstStyle/>
                    <a:p>
                      <a:pPr lvl="0"/>
                      <a:r>
                        <a:rPr lang="en-GB" sz="1100"/>
                        <a:t>Data</a:t>
                      </a:r>
                    </a:p>
                  </a:txBody>
                  <a:tcPr marL="90004" marR="90004" marT="46798" marB="46798"/>
                </a:tc>
                <a:tc>
                  <a:txBody>
                    <a:bodyPr/>
                    <a:lstStyle/>
                    <a:p>
                      <a:pPr lvl="0"/>
                      <a:r>
                        <a:rPr lang="en-GB" sz="1100">
                          <a:solidFill>
                            <a:srgbClr val="FFFFFF"/>
                          </a:solidFill>
                        </a:rPr>
                        <a:t>Level Returned</a:t>
                      </a:r>
                    </a:p>
                  </a:txBody>
                  <a:tcPr marL="90004" marR="90004" marT="46798" marB="46798"/>
                </a:tc>
                <a:tc>
                  <a:txBody>
                    <a:bodyPr/>
                    <a:lstStyle/>
                    <a:p>
                      <a:pPr lvl="0"/>
                      <a:r>
                        <a:rPr lang="en-GB" sz="1100"/>
                        <a:t>CDS Description</a:t>
                      </a:r>
                    </a:p>
                  </a:txBody>
                  <a:tcPr marL="90004" marR="90004" marT="46798" marB="46798"/>
                </a:tc>
                <a:extLst>
                  <a:ext uri="{0D108BD9-81ED-4DB2-BD59-A6C34878D82A}">
                    <a16:rowId xmlns:a16="http://schemas.microsoft.com/office/drawing/2014/main" val="1600750463"/>
                  </a:ext>
                </a:extLst>
              </a:tr>
              <a:tr h="238722">
                <a:tc>
                  <a:txBody>
                    <a:bodyPr/>
                    <a:lstStyle/>
                    <a:p>
                      <a:pPr lvl="0"/>
                      <a:r>
                        <a:rPr lang="en-GB" sz="1100"/>
                        <a:t>Item Number</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1314792506"/>
                  </a:ext>
                </a:extLst>
              </a:tr>
              <a:tr h="238722">
                <a:tc>
                  <a:txBody>
                    <a:bodyPr/>
                    <a:lstStyle/>
                    <a:p>
                      <a:pPr lvl="0"/>
                      <a:r>
                        <a:rPr lang="en-GB" sz="1100"/>
                        <a:t>Quota Number</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a:t>
                      </a:r>
                    </a:p>
                  </a:txBody>
                  <a:tcPr marL="90004" marR="90004" marT="46798" marB="46798" anchor="ctr"/>
                </a:tc>
                <a:extLst>
                  <a:ext uri="{0D108BD9-81ED-4DB2-BD59-A6C34878D82A}">
                    <a16:rowId xmlns:a16="http://schemas.microsoft.com/office/drawing/2014/main" val="3926244228"/>
                  </a:ext>
                </a:extLst>
              </a:tr>
              <a:tr h="238722">
                <a:tc>
                  <a:txBody>
                    <a:bodyPr/>
                    <a:lstStyle/>
                    <a:p>
                      <a:pPr lvl="0"/>
                      <a:r>
                        <a:rPr lang="en-GB" sz="1100"/>
                        <a:t>VAT Value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Total VAT value of all applicable VAT tax types ( i.e. B00 + B05).</a:t>
                      </a:r>
                    </a:p>
                  </a:txBody>
                  <a:tcPr marL="90004" marR="90004" marT="46798" marB="46798" anchor="ctr"/>
                </a:tc>
                <a:extLst>
                  <a:ext uri="{0D108BD9-81ED-4DB2-BD59-A6C34878D82A}">
                    <a16:rowId xmlns:a16="http://schemas.microsoft.com/office/drawing/2014/main" val="1706104369"/>
                  </a:ext>
                </a:extLst>
              </a:tr>
              <a:tr h="238722">
                <a:tc>
                  <a:txBody>
                    <a:bodyPr/>
                    <a:lstStyle/>
                    <a:p>
                      <a:pPr lvl="0"/>
                      <a:r>
                        <a:rPr lang="en-GB" sz="1100" b="0" i="0" kern="1200">
                          <a:solidFill>
                            <a:srgbClr val="000000"/>
                          </a:solidFill>
                          <a:latin typeface="Calibri"/>
                        </a:rPr>
                        <a:t>VAT Rate</a:t>
                      </a:r>
                      <a:endParaRPr lang="en-GB" sz="1100"/>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This will only be one value, as the rate for both B00 and B05 will always be the same. A blank value is also valid.</a:t>
                      </a:r>
                    </a:p>
                  </a:txBody>
                  <a:tcPr marL="90004" marR="90004" marT="46798" marB="46798" anchor="ctr"/>
                </a:tc>
                <a:extLst>
                  <a:ext uri="{0D108BD9-81ED-4DB2-BD59-A6C34878D82A}">
                    <a16:rowId xmlns:a16="http://schemas.microsoft.com/office/drawing/2014/main" val="3202004528"/>
                  </a:ext>
                </a:extLst>
              </a:tr>
              <a:tr h="238722">
                <a:tc>
                  <a:txBody>
                    <a:bodyPr/>
                    <a:lstStyle/>
                    <a:p>
                      <a:pPr lvl="0"/>
                      <a:r>
                        <a:rPr lang="en-GB" sz="1100"/>
                        <a:t>Customs Value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a:t>
                      </a:r>
                    </a:p>
                  </a:txBody>
                  <a:tcPr marL="90004" marR="90004" marT="46798" marB="46798"/>
                </a:tc>
                <a:extLst>
                  <a:ext uri="{0D108BD9-81ED-4DB2-BD59-A6C34878D82A}">
                    <a16:rowId xmlns:a16="http://schemas.microsoft.com/office/drawing/2014/main" val="2806363314"/>
                  </a:ext>
                </a:extLst>
              </a:tr>
              <a:tr h="386279">
                <a:tc>
                  <a:txBody>
                    <a:bodyPr/>
                    <a:lstStyle/>
                    <a:p>
                      <a:pPr marL="0" marR="0" lvl="0" indent="0" algn="l" defTabSz="914400" rtl="0" fontAlgn="auto" hangingPunct="1">
                        <a:lnSpc>
                          <a:spcPct val="100000"/>
                        </a:lnSpc>
                        <a:spcBef>
                          <a:spcPts val="0"/>
                        </a:spcBef>
                        <a:spcAft>
                          <a:spcPts val="0"/>
                        </a:spcAft>
                        <a:buNone/>
                        <a:tabLst/>
                      </a:pPr>
                      <a:r>
                        <a:rPr lang="en-GB" sz="1100"/>
                        <a:t>License Quantity</a:t>
                      </a:r>
                    </a:p>
                    <a:p>
                      <a:pPr lvl="0"/>
                      <a:endParaRPr lang="en-GB" sz="1100"/>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Goods Item</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b="1"/>
                        <a:t>Note: T</a:t>
                      </a:r>
                      <a:r>
                        <a:rPr lang="en-GB" sz="1100"/>
                        <a:t>he Qualifier of the Licence Quantity is not required</a:t>
                      </a:r>
                    </a:p>
                  </a:txBody>
                  <a:tcPr marL="90004" marR="90004" marT="46798" marB="46798"/>
                </a:tc>
                <a:extLst>
                  <a:ext uri="{0D108BD9-81ED-4DB2-BD59-A6C34878D82A}">
                    <a16:rowId xmlns:a16="http://schemas.microsoft.com/office/drawing/2014/main" val="1191164800"/>
                  </a:ext>
                </a:extLst>
              </a:tr>
              <a:tr h="386279">
                <a:tc>
                  <a:txBody>
                    <a:bodyPr/>
                    <a:lstStyle/>
                    <a:p>
                      <a:pPr lvl="0"/>
                      <a:r>
                        <a:rPr lang="en-GB" sz="1100"/>
                        <a:t>Tax Base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Duty Tax Type</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b="0" i="0" kern="1200">
                          <a:solidFill>
                            <a:srgbClr val="000000"/>
                          </a:solidFill>
                          <a:latin typeface="Calibri"/>
                        </a:rPr>
                        <a:t>The design will support the population of this for non AdValorem tax types in the future, when DMS provides a Tax Base for these Duty types.</a:t>
                      </a:r>
                      <a:endParaRPr lang="en-GB" sz="1100"/>
                    </a:p>
                  </a:txBody>
                  <a:tcPr marL="90004" marR="90004" marT="46798" marB="46798"/>
                </a:tc>
                <a:extLst>
                  <a:ext uri="{0D108BD9-81ED-4DB2-BD59-A6C34878D82A}">
                    <a16:rowId xmlns:a16="http://schemas.microsoft.com/office/drawing/2014/main" val="1852982787"/>
                  </a:ext>
                </a:extLst>
              </a:tr>
              <a:tr h="238722">
                <a:tc>
                  <a:txBody>
                    <a:bodyPr/>
                    <a:lstStyle/>
                    <a:p>
                      <a:pPr lvl="0"/>
                      <a:r>
                        <a:rPr lang="en-GB" sz="1100"/>
                        <a:t>Tax Type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Duty Tax Type and Security Type</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b="0" i="0" kern="1200">
                          <a:solidFill>
                            <a:srgbClr val="000000"/>
                          </a:solidFill>
                          <a:latin typeface="Calibri"/>
                        </a:rPr>
                        <a:t>The Tax Type identifying the category of revenue being declared/calculated.</a:t>
                      </a:r>
                      <a:endParaRPr lang="en-GB" sz="1100"/>
                    </a:p>
                  </a:txBody>
                  <a:tcPr marL="90004" marR="90004" marT="46798" marB="46798"/>
                </a:tc>
                <a:extLst>
                  <a:ext uri="{0D108BD9-81ED-4DB2-BD59-A6C34878D82A}">
                    <a16:rowId xmlns:a16="http://schemas.microsoft.com/office/drawing/2014/main" val="3714431622"/>
                  </a:ext>
                </a:extLst>
              </a:tr>
              <a:tr h="238722">
                <a:tc>
                  <a:txBody>
                    <a:bodyPr/>
                    <a:lstStyle/>
                    <a:p>
                      <a:pPr lvl="0"/>
                      <a:r>
                        <a:rPr lang="en-GB" sz="1100" b="0" i="0" kern="1200">
                          <a:solidFill>
                            <a:srgbClr val="000000"/>
                          </a:solidFill>
                          <a:latin typeface="Calibri"/>
                        </a:rPr>
                        <a:t>Amount</a:t>
                      </a:r>
                      <a:endParaRPr lang="en-GB" sz="1100"/>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Duty Tax Type and Security Type</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The amount of revenue being declared/calculated for the tax line.</a:t>
                      </a:r>
                    </a:p>
                  </a:txBody>
                  <a:tcPr marL="90004" marR="90004" marT="46798" marB="46798" anchor="ctr"/>
                </a:tc>
                <a:extLst>
                  <a:ext uri="{0D108BD9-81ED-4DB2-BD59-A6C34878D82A}">
                    <a16:rowId xmlns:a16="http://schemas.microsoft.com/office/drawing/2014/main" val="2838419007"/>
                  </a:ext>
                </a:extLst>
              </a:tr>
              <a:tr h="386279">
                <a:tc>
                  <a:txBody>
                    <a:bodyPr/>
                    <a:lstStyle/>
                    <a:p>
                      <a:pPr lvl="0"/>
                      <a:r>
                        <a:rPr lang="en-GB" sz="1100"/>
                        <a:t>Tax Rate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Duty Tax Type</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a:t>This will be returned as a numeric value that will represent the tax type percentage (i.e. 20 = 20%). A blank value is valid. This is only populated for AdValorem tax rates. </a:t>
                      </a:r>
                    </a:p>
                    <a:p>
                      <a:pPr lvl="0"/>
                      <a:r>
                        <a:rPr lang="en-GB" sz="1100" b="1"/>
                        <a:t>Note: </a:t>
                      </a:r>
                      <a:r>
                        <a:rPr lang="en-GB" sz="1100" b="0" i="0" kern="1200">
                          <a:solidFill>
                            <a:srgbClr val="000000"/>
                          </a:solidFill>
                          <a:latin typeface="Calibri"/>
                        </a:rPr>
                        <a:t>The design will support the population of this for non AdValorem tax types in the future, when DMS provides a Tax Base for these Duty types.</a:t>
                      </a:r>
                      <a:endParaRPr lang="en-GB" sz="1100"/>
                    </a:p>
                  </a:txBody>
                  <a:tcPr marL="90004" marR="90004" marT="46798" marB="46798" anchor="ctr"/>
                </a:tc>
                <a:extLst>
                  <a:ext uri="{0D108BD9-81ED-4DB2-BD59-A6C34878D82A}">
                    <a16:rowId xmlns:a16="http://schemas.microsoft.com/office/drawing/2014/main" val="1742049824"/>
                  </a:ext>
                </a:extLst>
              </a:tr>
              <a:tr h="386279">
                <a:tc>
                  <a:txBody>
                    <a:bodyPr/>
                    <a:lstStyle/>
                    <a:p>
                      <a:pPr lvl="0"/>
                      <a:r>
                        <a:rPr lang="en-GB" sz="1100"/>
                        <a:t>Security Amount Type</a:t>
                      </a:r>
                    </a:p>
                  </a:txBody>
                  <a:tcPr marL="90004" marR="90004" marT="46798" marB="46798"/>
                </a:tc>
                <a:tc>
                  <a:txBody>
                    <a:bodyPr/>
                    <a:lstStyle/>
                    <a:p>
                      <a:pPr lvl="0">
                        <a:lnSpc>
                          <a:spcPct val="107000"/>
                        </a:lnSpc>
                        <a:spcBef>
                          <a:spcPts val="375"/>
                        </a:spcBef>
                        <a:spcAft>
                          <a:spcPts val="375"/>
                        </a:spcAft>
                      </a:pPr>
                      <a:r>
                        <a:rPr lang="en-GB" sz="1100">
                          <a:solidFill>
                            <a:srgbClr val="000000"/>
                          </a:solidFill>
                          <a:latin typeface="Calibri  "/>
                          <a:ea typeface="Times New Roman" pitchFamily="18"/>
                          <a:cs typeface="Times New Roman" pitchFamily="18"/>
                        </a:rPr>
                        <a:t>Once per Security Type</a:t>
                      </a:r>
                      <a:endParaRPr lang="en-GB" sz="1100">
                        <a:solidFill>
                          <a:srgbClr val="000000"/>
                        </a:solidFill>
                        <a:latin typeface="Calibri  "/>
                        <a:ea typeface="Calibri" pitchFamily="34"/>
                        <a:cs typeface="Times New Roman" pitchFamily="18"/>
                      </a:endParaRPr>
                    </a:p>
                  </a:txBody>
                  <a:tcPr marL="90004" marR="90004" marT="46798" marB="46798"/>
                </a:tc>
                <a:tc>
                  <a:txBody>
                    <a:bodyPr/>
                    <a:lstStyle/>
                    <a:p>
                      <a:pPr lvl="0"/>
                      <a:r>
                        <a:rPr lang="en-GB" sz="1100" b="0" i="0" kern="1200" dirty="0">
                          <a:solidFill>
                            <a:srgbClr val="000000"/>
                          </a:solidFill>
                          <a:latin typeface="Calibri"/>
                        </a:rPr>
                        <a:t>This will be returned per security amount.</a:t>
                      </a:r>
                      <a:endParaRPr lang="en-GB" sz="1100" dirty="0"/>
                    </a:p>
                  </a:txBody>
                  <a:tcPr marL="90004" marR="90004" marT="46798" marB="46798"/>
                </a:tc>
                <a:extLst>
                  <a:ext uri="{0D108BD9-81ED-4DB2-BD59-A6C34878D82A}">
                    <a16:rowId xmlns:a16="http://schemas.microsoft.com/office/drawing/2014/main" val="4235320820"/>
                  </a:ext>
                </a:extLst>
              </a:tr>
            </a:tbl>
          </a:graphicData>
        </a:graphic>
      </p:graphicFrame>
      <p:sp>
        <p:nvSpPr>
          <p:cNvPr id="11" name="TextBox 1">
            <a:extLst>
              <a:ext uri="{FF2B5EF4-FFF2-40B4-BE49-F238E27FC236}">
                <a16:creationId xmlns:a16="http://schemas.microsoft.com/office/drawing/2014/main" id="{A8743725-7D56-4C37-9E3D-31862B770225}"/>
              </a:ext>
            </a:extLst>
          </p:cNvPr>
          <p:cNvSpPr txBox="1"/>
          <p:nvPr/>
        </p:nvSpPr>
        <p:spPr>
          <a:xfrm>
            <a:off x="2533272" y="6171139"/>
            <a:ext cx="9403497"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
              </a:rPr>
              <a:t>Please Note: </a:t>
            </a:r>
            <a:r>
              <a:rPr lang="en-GB" sz="1400" b="0" i="0" u="none" strike="noStrike" kern="1200" cap="none" spc="0" baseline="0">
                <a:solidFill>
                  <a:srgbClr val="333333"/>
                </a:solidFill>
                <a:uFillTx/>
                <a:latin typeface="Calibri  "/>
              </a:rPr>
              <a:t>The codes for the Security Amount Type are provided within the Declaration Information Service documentation. </a:t>
            </a:r>
            <a:endParaRPr lang="en-GB" sz="1400" b="0" i="0" u="none" strike="noStrike" kern="1200" cap="none" spc="0" baseline="0">
              <a:solidFill>
                <a:srgbClr val="000000"/>
              </a:solidFill>
              <a:uFillTx/>
              <a:latin typeface="Calibri"/>
            </a:endParaRPr>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A1B54A8-A52A-480A-B43A-4ADA5610CF1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F63F867-219E-487A-A7E1-CFCEED502DD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68612CA-3B86-4DD0-9DC7-FD83F7AB3CAD}"/>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65AEF74E-999F-4D91-BE91-C2BC29DEB72B}"/>
              </a:ext>
            </a:extLst>
          </p:cNvPr>
          <p:cNvSpPr txBox="1"/>
          <p:nvPr/>
        </p:nvSpPr>
        <p:spPr>
          <a:xfrm>
            <a:off x="11675085"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CE68597-CC6B-46EB-B015-B1A6396936CF}" type="slidenum">
              <a:rPr sz="1200"/>
              <a:t>359</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808E6C30-9C22-4A52-A008-5031EEDED85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30D84599-9361-41FE-87AA-E540160FE589}"/>
              </a:ext>
            </a:extLst>
          </p:cNvPr>
          <p:cNvSpPr/>
          <p:nvPr/>
        </p:nvSpPr>
        <p:spPr>
          <a:xfrm>
            <a:off x="399245" y="1302763"/>
            <a:ext cx="11282159" cy="4922882"/>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Full Declaration Object:</a:t>
            </a:r>
            <a:endParaRPr lang="en-GB" sz="1400" b="0" i="0" u="sng"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a declaration version matches the entered search parameters, all data elements provided on the declaration version (declared data), in addition to all the CDS-system generated data (previously described), will be returned in the query response.</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Additional Information:</a:t>
            </a:r>
            <a:endParaRPr lang="en-GB" sz="1400" b="0" i="0" u="sng" strike="noStrike" kern="1200" cap="none" spc="0" baseline="0">
              <a:solidFill>
                <a:srgbClr val="333333"/>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For </a:t>
            </a:r>
            <a:r>
              <a:rPr lang="en-GB" sz="1400" b="1" i="0" u="none" strike="noStrike" kern="1200" cap="none" spc="0" baseline="0">
                <a:solidFill>
                  <a:srgbClr val="333333"/>
                </a:solidFill>
                <a:uFillTx/>
                <a:latin typeface="Calibri  "/>
              </a:rPr>
              <a:t>import</a:t>
            </a:r>
            <a:r>
              <a:rPr lang="en-GB" sz="1400" b="0" i="0" u="none" strike="noStrike" kern="1200" cap="none" spc="0" baseline="0">
                <a:solidFill>
                  <a:srgbClr val="333333"/>
                </a:solidFill>
                <a:uFillTx/>
                <a:latin typeface="Calibri  "/>
              </a:rPr>
              <a:t> declarations, CSPs querying CDS for a declaration's data can only query declarations submitted through them.</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For </a:t>
            </a:r>
            <a:r>
              <a:rPr lang="en-GB" sz="1400" b="1" i="0" u="none" strike="noStrike" kern="1200" cap="none" spc="0" baseline="0">
                <a:solidFill>
                  <a:srgbClr val="333333"/>
                </a:solidFill>
                <a:uFillTx/>
                <a:latin typeface="Calibri  "/>
              </a:rPr>
              <a:t>export</a:t>
            </a:r>
            <a:r>
              <a:rPr lang="en-GB" sz="1400" b="0" i="0" u="none" strike="noStrike" kern="1200" cap="none" spc="0" baseline="0">
                <a:solidFill>
                  <a:srgbClr val="333333"/>
                </a:solidFill>
                <a:uFillTx/>
                <a:latin typeface="Calibri  "/>
              </a:rPr>
              <a:t> declarations, CSPs querying CDS for a declaration's data can query any export declarations, regardless of which CSP the export declaration was submitted through. CSPs are also able to view the data of an exports declaration that are not submitted through any CSP.</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A non-CSP party can only query CDS for the declaration data of a declaration they have created. If a non-CSP party queries a declaration that they have not created, CDS will return an error.</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party who created a declaration will be able to retrieve the data of a declaration they have created regardless of the system they used to create the declaration from, or the system they are using to query the declaration status.</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the search cannot be completed due to an error, the query submitter will receive an applicable error code from CDS.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BD2804B-611D-4989-82E7-8537D13A051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9C72E83-2898-42FA-8576-C7CEA018712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180A606-05B6-4E76-9B9B-01371E9423C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48E0116-ABDF-4A78-BEC3-8AC045FC408F}"/>
              </a:ext>
            </a:extLst>
          </p:cNvPr>
          <p:cNvSpPr txBox="1"/>
          <p:nvPr/>
        </p:nvSpPr>
        <p:spPr>
          <a:xfrm>
            <a:off x="11660908"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68A6782-3526-4C97-B9EE-D731F26D23D2}" type="slidenum">
              <a:rPr sz="1200"/>
              <a:t>360</a:t>
            </a:fld>
            <a:endParaRPr lang="en-GB" sz="1200" b="0" i="0" u="none" strike="noStrike" kern="1200" cap="none" spc="0" baseline="0" dirty="0">
              <a:solidFill>
                <a:srgbClr val="000000"/>
              </a:solidFill>
              <a:uFillTx/>
              <a:latin typeface="Calibri"/>
            </a:endParaRPr>
          </a:p>
        </p:txBody>
      </p:sp>
      <p:sp>
        <p:nvSpPr>
          <p:cNvPr id="8" name="Rectangle 7">
            <a:extLst>
              <a:ext uri="{FF2B5EF4-FFF2-40B4-BE49-F238E27FC236}">
                <a16:creationId xmlns:a16="http://schemas.microsoft.com/office/drawing/2014/main" id="{6B366474-6793-4B32-9146-88B18C8106B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1D0D057A-CCC1-4F6B-AFA1-C790A02C0CFA}"/>
              </a:ext>
            </a:extLst>
          </p:cNvPr>
          <p:cNvSpPr/>
          <p:nvPr/>
        </p:nvSpPr>
        <p:spPr>
          <a:xfrm>
            <a:off x="399245" y="1302763"/>
            <a:ext cx="11282159" cy="2617771"/>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Please Note:</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full </a:t>
            </a:r>
            <a:r>
              <a:rPr lang="en-GB" sz="1400" b="0" i="0" u="none" strike="noStrike" kern="1200" cap="none" spc="0" baseline="0">
                <a:solidFill>
                  <a:srgbClr val="000000"/>
                </a:solidFill>
                <a:uFillTx/>
                <a:latin typeface="Calibri  "/>
                <a:ea typeface="Times New Roman" pitchFamily="18"/>
              </a:rPr>
              <a:t>Declaration Information Service will be delivered, however (as outlined in the Declaration Information Service Design documentation), the following fields will not be available in the initial release, these fields will be provided in a subsequent release (TBC):</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Times New Roman" pitchFamily="18"/>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Times New Roman" pitchFamily="18"/>
              </a:rPr>
              <a:t>Generated Consignment Details – Exit Results field. Movement type: Exports.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Times New Roman" pitchFamily="18"/>
              </a:rPr>
              <a:t>Full Declaration object – Declared Previous Document information data elements. Movement type: Imports and Exports.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Times New Roman" pitchFamily="18"/>
              </a:rPr>
              <a:t>Full Declaration object – Declared ‘Calculated Taxes’ information Document data elements. Movement type: Imports.</a:t>
            </a: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sp>
        <p:nvSpPr>
          <p:cNvPr id="10" name="Rectangle 9">
            <a:extLst>
              <a:ext uri="{FF2B5EF4-FFF2-40B4-BE49-F238E27FC236}">
                <a16:creationId xmlns:a16="http://schemas.microsoft.com/office/drawing/2014/main" id="{8BDB72B6-0570-4885-9BE6-59D39CA1A780}"/>
              </a:ext>
            </a:extLst>
          </p:cNvPr>
          <p:cNvSpPr/>
          <p:nvPr/>
        </p:nvSpPr>
        <p:spPr>
          <a:xfrm>
            <a:off x="917801" y="3288941"/>
            <a:ext cx="10844326" cy="92074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TT_EX02b -  </a:t>
            </a:r>
            <a:r>
              <a:rPr lang="en-GB" sz="1100" b="0" i="0" u="none" strike="noStrike" kern="1200" cap="none" spc="0" baseline="0">
                <a:solidFill>
                  <a:srgbClr val="000000"/>
                </a:solidFill>
                <a:uFillTx/>
                <a:latin typeface="Calibri"/>
              </a:rPr>
              <a:t>CSP query to search for and retrieve all of the declared data elements associated with an Exports declaration that was submitted into CDS via their system</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TT_IM44b </a:t>
            </a:r>
            <a:r>
              <a:rPr lang="en-GB" sz="1100" b="0" i="0" u="none" strike="noStrike" kern="1200" cap="none" spc="0" baseline="0">
                <a:solidFill>
                  <a:srgbClr val="000000"/>
                </a:solidFill>
                <a:uFillTx/>
                <a:latin typeface="Calibri"/>
              </a:rPr>
              <a:t>-  CSP query to search for and retrieve all of the declared data elements associated with an Imports declaration that was submitted into CDS via their system</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TT_IM83b </a:t>
            </a:r>
            <a:r>
              <a:rPr lang="en-GB" sz="1100" b="0" i="0" u="none" strike="noStrike" kern="1200" cap="none" spc="0" baseline="0">
                <a:solidFill>
                  <a:srgbClr val="000000"/>
                </a:solidFill>
                <a:uFillTx/>
                <a:latin typeface="Calibri"/>
              </a:rPr>
              <a:t>-  CSP query to search for and retrieve all of the declared data elements associated with an Imports declaration with multiple goods items that was submitted into CDS via 	their system</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1" name="Rectangle 10">
            <a:extLst>
              <a:ext uri="{FF2B5EF4-FFF2-40B4-BE49-F238E27FC236}">
                <a16:creationId xmlns:a16="http://schemas.microsoft.com/office/drawing/2014/main" id="{24C8D09F-3AA8-465C-B77C-72A621A198AF}"/>
              </a:ext>
            </a:extLst>
          </p:cNvPr>
          <p:cNvSpPr/>
          <p:nvPr/>
        </p:nvSpPr>
        <p:spPr>
          <a:xfrm>
            <a:off x="399245" y="3288941"/>
            <a:ext cx="518556" cy="92074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3163F15-A44C-4629-9921-C4AA7C032685}"/>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800F173A-4417-437B-9851-99D1AB29D62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8DCD2B8-4DC8-4ABE-B359-284F4B9537A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649C7D0-B792-4F7B-8840-344EFD3989D4}"/>
              </a:ext>
            </a:extLst>
          </p:cNvPr>
          <p:cNvSpPr txBox="1"/>
          <p:nvPr/>
        </p:nvSpPr>
        <p:spPr>
          <a:xfrm>
            <a:off x="11696348"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FF08878-B626-47C3-873B-14773E18E78C}" type="slidenum">
              <a:rPr sz="1200"/>
              <a:t>361</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1D606FB6-7D25-4E32-A8CF-0E7E38AD450D}"/>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2C897FEB-5BAE-46E0-9ADB-1626232141BA}"/>
              </a:ext>
            </a:extLst>
          </p:cNvPr>
          <p:cNvSpPr/>
          <p:nvPr/>
        </p:nvSpPr>
        <p:spPr>
          <a:xfrm>
            <a:off x="244071" y="1245970"/>
            <a:ext cx="11282159" cy="1450137"/>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Enable DUCR re-use on Arrived Exports Declarations with GVMS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graphicFrame>
        <p:nvGraphicFramePr>
          <p:cNvPr id="10" name="Table 3">
            <a:extLst>
              <a:ext uri="{FF2B5EF4-FFF2-40B4-BE49-F238E27FC236}">
                <a16:creationId xmlns:a16="http://schemas.microsoft.com/office/drawing/2014/main" id="{016DCCF0-5C2D-4435-B6C9-C0105F2C52FC}"/>
              </a:ext>
            </a:extLst>
          </p:cNvPr>
          <p:cNvGraphicFramePr>
            <a:graphicFrameLocks noGrp="1"/>
          </p:cNvGraphicFramePr>
          <p:nvPr>
            <p:extLst>
              <p:ext uri="{D42A27DB-BD31-4B8C-83A1-F6EECF244321}">
                <p14:modId xmlns:p14="http://schemas.microsoft.com/office/powerpoint/2010/main" val="4036521345"/>
              </p:ext>
            </p:extLst>
          </p:nvPr>
        </p:nvGraphicFramePr>
        <p:xfrm>
          <a:off x="465155" y="1693816"/>
          <a:ext cx="11248500" cy="3383280"/>
        </p:xfrm>
        <a:graphic>
          <a:graphicData uri="http://schemas.openxmlformats.org/drawingml/2006/table">
            <a:tbl>
              <a:tblPr firstRow="1" bandRow="1">
                <a:effectLst/>
                <a:tableStyleId>{5C22544A-7EE6-4342-B048-85BDC9FD1C3A}</a:tableStyleId>
              </a:tblPr>
              <a:tblGrid>
                <a:gridCol w="11248500">
                  <a:extLst>
                    <a:ext uri="{9D8B030D-6E8A-4147-A177-3AD203B41FA5}">
                      <a16:colId xmlns:a16="http://schemas.microsoft.com/office/drawing/2014/main" val="1988336420"/>
                    </a:ext>
                  </a:extLst>
                </a:gridCol>
              </a:tblGrid>
              <a:tr h="292461">
                <a:tc>
                  <a:txBody>
                    <a:bodyPr/>
                    <a:lstStyle/>
                    <a:p>
                      <a:pPr marL="0" marR="0" lvl="0" indent="0" algn="l" defTabSz="914400" rtl="0" fontAlgn="auto" hangingPunct="1">
                        <a:lnSpc>
                          <a:spcPct val="100000"/>
                        </a:lnSpc>
                        <a:spcBef>
                          <a:spcPts val="0"/>
                        </a:spcBef>
                        <a:spcAft>
                          <a:spcPts val="0"/>
                        </a:spcAft>
                        <a:buNone/>
                        <a:tabLst/>
                      </a:pPr>
                      <a:r>
                        <a:rPr lang="en-GB" sz="1800" b="1"/>
                        <a:t>DUCR Re-use on Exports Declarations with GVMS following Rejection</a:t>
                      </a:r>
                    </a:p>
                  </a:txBody>
                  <a:tcPr>
                    <a:solidFill>
                      <a:srgbClr val="009999"/>
                    </a:solidFill>
                  </a:tcPr>
                </a:tc>
                <a:extLst>
                  <a:ext uri="{0D108BD9-81ED-4DB2-BD59-A6C34878D82A}">
                    <a16:rowId xmlns:a16="http://schemas.microsoft.com/office/drawing/2014/main" val="1050121092"/>
                  </a:ext>
                </a:extLst>
              </a:tr>
              <a:tr h="292461">
                <a:tc>
                  <a:txBody>
                    <a:bodyPr/>
                    <a:lstStyle/>
                    <a:p>
                      <a:pPr lvl="0" algn="ctr"/>
                      <a:r>
                        <a:rPr lang="en-GB" sz="1400" b="1">
                          <a:solidFill>
                            <a:schemeClr val="tx1"/>
                          </a:solidFill>
                        </a:rPr>
                        <a:t>Declaration Types A, B, C, J (Arrived)</a:t>
                      </a:r>
                      <a:endParaRPr lang="en-GB" sz="1400">
                        <a:solidFill>
                          <a:schemeClr val="tx1"/>
                        </a:solidFill>
                      </a:endParaRPr>
                    </a:p>
                  </a:txBody>
                  <a:tcPr>
                    <a:solidFill>
                      <a:srgbClr val="CFD5EA"/>
                    </a:solidFill>
                  </a:tcPr>
                </a:tc>
                <a:extLst>
                  <a:ext uri="{0D108BD9-81ED-4DB2-BD59-A6C34878D82A}">
                    <a16:rowId xmlns:a16="http://schemas.microsoft.com/office/drawing/2014/main" val="3063888691"/>
                  </a:ext>
                </a:extLst>
              </a:tr>
              <a:tr h="2235570">
                <a:tc>
                  <a:txBody>
                    <a:bodyPr/>
                    <a:lstStyle/>
                    <a:p>
                      <a:pPr marL="457200" marR="0" lvl="1" indent="0" algn="l" defTabSz="914400" rtl="0" fontAlgn="auto" hangingPunct="1">
                        <a:lnSpc>
                          <a:spcPct val="100000"/>
                        </a:lnSpc>
                        <a:spcBef>
                          <a:spcPts val="0"/>
                        </a:spcBef>
                        <a:spcAft>
                          <a:spcPts val="0"/>
                        </a:spcAft>
                        <a:buNone/>
                        <a:tabLst/>
                      </a:pPr>
                      <a:r>
                        <a:rPr lang="en-GB" sz="1400" b="0" i="0" u="none" dirty="0">
                          <a:solidFill>
                            <a:srgbClr val="333333"/>
                          </a:solidFill>
                          <a:latin typeface="Calibri  "/>
                        </a:rPr>
                        <a:t>From TTM18.0, where </a:t>
                      </a:r>
                      <a:r>
                        <a:rPr lang="en-GB" sz="1400" b="0" i="0" dirty="0">
                          <a:solidFill>
                            <a:srgbClr val="333333"/>
                          </a:solidFill>
                          <a:latin typeface="Calibri  "/>
                        </a:rPr>
                        <a:t>a previously arrived declaration is rejected or rejected upon arrival, the declarant will be able to re-present the declaration using the same DUCR, across GVMS &amp; CDS.</a:t>
                      </a:r>
                    </a:p>
                    <a:p>
                      <a:pPr marL="457200" marR="0" lvl="1" indent="0" algn="l" defTabSz="914400" rtl="0" fontAlgn="auto" hangingPunct="1">
                        <a:lnSpc>
                          <a:spcPct val="100000"/>
                        </a:lnSpc>
                        <a:spcBef>
                          <a:spcPts val="0"/>
                        </a:spcBef>
                        <a:spcAft>
                          <a:spcPts val="0"/>
                        </a:spcAft>
                        <a:buNone/>
                        <a:tabLst/>
                      </a:pPr>
                      <a:endParaRPr lang="en-GB" sz="1400" b="0" i="0" dirty="0">
                        <a:solidFill>
                          <a:srgbClr val="333333"/>
                        </a:solidFill>
                        <a:latin typeface="Calibri  "/>
                      </a:endParaRPr>
                    </a:p>
                    <a:p>
                      <a:pPr marL="457200" marR="0" lvl="1" indent="0" algn="l" defTabSz="914400" rtl="0" fontAlgn="auto" hangingPunct="1">
                        <a:lnSpc>
                          <a:spcPct val="100000"/>
                        </a:lnSpc>
                        <a:spcBef>
                          <a:spcPts val="0"/>
                        </a:spcBef>
                        <a:spcAft>
                          <a:spcPts val="0"/>
                        </a:spcAft>
                        <a:buNone/>
                        <a:tabLst/>
                      </a:pPr>
                      <a:r>
                        <a:rPr lang="en-GB" sz="1400" b="0" i="0" dirty="0">
                          <a:solidFill>
                            <a:srgbClr val="333333"/>
                          </a:solidFill>
                          <a:latin typeface="Calibri  "/>
                        </a:rPr>
                        <a:t>The declarant may re-present the declaration with the same DUCR under the following conditions: </a:t>
                      </a:r>
                    </a:p>
                    <a:p>
                      <a:pPr marL="1200150" marR="0" lvl="2" indent="-285750" algn="l" defTabSz="914400" rtl="0" fontAlgn="auto" hangingPunct="1">
                        <a:lnSpc>
                          <a:spcPct val="100000"/>
                        </a:lnSpc>
                        <a:spcBef>
                          <a:spcPts val="0"/>
                        </a:spcBef>
                        <a:spcAft>
                          <a:spcPts val="0"/>
                        </a:spcAft>
                        <a:buSzPct val="100000"/>
                        <a:buFont typeface="Arial" pitchFamily="34"/>
                        <a:buChar char="•"/>
                        <a:tabLst/>
                      </a:pPr>
                      <a:r>
                        <a:rPr lang="en-GB" sz="1400" b="0" i="0" dirty="0">
                          <a:solidFill>
                            <a:srgbClr val="333333"/>
                          </a:solidFill>
                          <a:latin typeface="Calibri  "/>
                        </a:rPr>
                        <a:t>Declaration Type is A, B, C or J (Arrived) in D.E 1/2</a:t>
                      </a:r>
                    </a:p>
                    <a:p>
                      <a:pPr marL="1200150" marR="0" lvl="2" indent="-285750" algn="l" defTabSz="914400" rtl="0" fontAlgn="auto" hangingPunct="1">
                        <a:lnSpc>
                          <a:spcPct val="100000"/>
                        </a:lnSpc>
                        <a:spcBef>
                          <a:spcPts val="0"/>
                        </a:spcBef>
                        <a:spcAft>
                          <a:spcPts val="0"/>
                        </a:spcAft>
                        <a:buSzPct val="100000"/>
                        <a:buFont typeface="Arial" pitchFamily="34"/>
                        <a:buChar char="•"/>
                        <a:tabLst/>
                      </a:pPr>
                      <a:r>
                        <a:rPr lang="en-GB" sz="1400" b="0" i="0" dirty="0">
                          <a:solidFill>
                            <a:srgbClr val="333333"/>
                          </a:solidFill>
                          <a:latin typeface="Calibri  "/>
                        </a:rPr>
                        <a:t>Additional Information has the AI Statement Code ‘RRS01’, where the goods have been received under GVMS (DE 2/2)</a:t>
                      </a:r>
                    </a:p>
                    <a:p>
                      <a:pPr marL="1200150" marR="0" lvl="2" indent="-285750" algn="l" defTabSz="914400" rtl="0" fontAlgn="auto" hangingPunct="1">
                        <a:lnSpc>
                          <a:spcPct val="100000"/>
                        </a:lnSpc>
                        <a:spcBef>
                          <a:spcPts val="0"/>
                        </a:spcBef>
                        <a:spcAft>
                          <a:spcPts val="0"/>
                        </a:spcAft>
                        <a:buSzPct val="100000"/>
                        <a:buFont typeface="Arial" pitchFamily="34"/>
                        <a:buChar char="•"/>
                        <a:tabLst/>
                      </a:pPr>
                      <a:r>
                        <a:rPr lang="en-GB" sz="1400" b="0" i="0" dirty="0">
                          <a:solidFill>
                            <a:srgbClr val="333333"/>
                          </a:solidFill>
                          <a:latin typeface="Calibri  "/>
                        </a:rPr>
                        <a:t>Authorisation Type Code ‘EXRR’ and a valid EORI are present in the </a:t>
                      </a:r>
                      <a:r>
                        <a:rPr lang="en-GB" sz="1400" b="0" i="0" kern="1200" dirty="0">
                          <a:solidFill>
                            <a:srgbClr val="000000"/>
                          </a:solidFill>
                          <a:latin typeface="Calibri"/>
                        </a:rPr>
                        <a:t>Holder of the Authorisation Identification Number (DE 3/39)</a:t>
                      </a:r>
                    </a:p>
                    <a:p>
                      <a:pPr marL="457200" marR="0" lvl="1" indent="0" algn="l" defTabSz="914400" rtl="0" fontAlgn="auto" hangingPunct="1">
                        <a:lnSpc>
                          <a:spcPct val="100000"/>
                        </a:lnSpc>
                        <a:spcBef>
                          <a:spcPts val="0"/>
                        </a:spcBef>
                        <a:spcAft>
                          <a:spcPts val="0"/>
                        </a:spcAft>
                        <a:buNone/>
                        <a:tabLst/>
                      </a:pPr>
                      <a:endParaRPr lang="en-GB" sz="1800" b="0" i="0" u="none" strike="noStrike" kern="1200" cap="none" spc="0" baseline="0" dirty="0">
                        <a:solidFill>
                          <a:srgbClr val="000000"/>
                        </a:solidFill>
                        <a:uFillTx/>
                        <a:latin typeface="Calibri"/>
                      </a:endParaRPr>
                    </a:p>
                    <a:p>
                      <a:pPr marL="457200" marR="0" lvl="1" indent="0" algn="l" defTabSz="914400" rtl="0" fontAlgn="auto" hangingPunct="1">
                        <a:lnSpc>
                          <a:spcPct val="100000"/>
                        </a:lnSpc>
                        <a:spcBef>
                          <a:spcPts val="0"/>
                        </a:spcBef>
                        <a:spcAft>
                          <a:spcPts val="0"/>
                        </a:spcAft>
                        <a:buNone/>
                        <a:tabLst/>
                      </a:pPr>
                      <a:r>
                        <a:rPr lang="en-GB" sz="1400" b="1" i="0" u="none" strike="noStrike" kern="1200" cap="none" spc="0" baseline="0" dirty="0">
                          <a:solidFill>
                            <a:srgbClr val="333333"/>
                          </a:solidFill>
                          <a:uFillTx/>
                          <a:latin typeface="Calibri  "/>
                        </a:rPr>
                        <a:t>Please Note: </a:t>
                      </a:r>
                    </a:p>
                    <a:p>
                      <a:pPr marL="457200" marR="0" lvl="1" indent="0" algn="l" defTabSz="914400" rtl="0" fontAlgn="auto" hangingPunct="1">
                        <a:lnSpc>
                          <a:spcPct val="100000"/>
                        </a:lnSpc>
                        <a:spcBef>
                          <a:spcPts val="0"/>
                        </a:spcBef>
                        <a:spcAft>
                          <a:spcPts val="0"/>
                        </a:spcAft>
                        <a:buNone/>
                        <a:tabLst/>
                      </a:pPr>
                      <a:r>
                        <a:rPr lang="en-GB" sz="1400" b="0" i="0" u="none" strike="noStrike" kern="1200" cap="none" spc="0" baseline="0" dirty="0">
                          <a:solidFill>
                            <a:srgbClr val="333333"/>
                          </a:solidFill>
                          <a:uFillTx/>
                          <a:latin typeface="Calibri  "/>
                        </a:rPr>
                        <a:t>If the goods have been arrived at a Non-Category Port 1, and get rejected upon arrival, the re-use of the DUCR will not work in GVMS. </a:t>
                      </a:r>
                    </a:p>
                    <a:p>
                      <a:pPr marL="457200" marR="0" lvl="1" indent="0" algn="l" defTabSz="914400" rtl="0" fontAlgn="auto" hangingPunct="1">
                        <a:lnSpc>
                          <a:spcPct val="100000"/>
                        </a:lnSpc>
                        <a:spcBef>
                          <a:spcPts val="0"/>
                        </a:spcBef>
                        <a:spcAft>
                          <a:spcPts val="0"/>
                        </a:spcAft>
                        <a:buNone/>
                        <a:tabLst/>
                      </a:pPr>
                      <a:r>
                        <a:rPr lang="en-GB" sz="1400" b="0" i="0" u="none" strike="noStrike" kern="1200" cap="none" spc="0" baseline="0" dirty="0">
                          <a:solidFill>
                            <a:srgbClr val="333333"/>
                          </a:solidFill>
                          <a:uFillTx/>
                          <a:latin typeface="Calibri  "/>
                        </a:rPr>
                        <a:t>The declaration must be re-submitted with a new MRN and DUCR.</a:t>
                      </a:r>
                      <a:endParaRPr lang="en-GB" sz="1800" kern="1200" dirty="0">
                        <a:solidFill>
                          <a:srgbClr val="000000"/>
                        </a:solidFill>
                        <a:latin typeface="Calibri"/>
                      </a:endParaRPr>
                    </a:p>
                    <a:p>
                      <a:pPr marL="914400" marR="0" lvl="2" indent="0" algn="l" defTabSz="914400" rtl="0" fontAlgn="auto" hangingPunct="1">
                        <a:lnSpc>
                          <a:spcPct val="100000"/>
                        </a:lnSpc>
                        <a:spcBef>
                          <a:spcPts val="0"/>
                        </a:spcBef>
                        <a:spcAft>
                          <a:spcPts val="0"/>
                        </a:spcAft>
                        <a:buSzPct val="100000"/>
                        <a:buFont typeface="Arial" pitchFamily="34"/>
                        <a:buNone/>
                        <a:tabLst/>
                      </a:pPr>
                      <a:endParaRPr lang="en-GB" sz="1400" b="0" i="0" kern="1200" dirty="0">
                        <a:solidFill>
                          <a:srgbClr val="000000"/>
                        </a:solidFill>
                        <a:latin typeface="Calibri"/>
                      </a:endParaRPr>
                    </a:p>
                  </a:txBody>
                  <a:tcPr>
                    <a:solidFill>
                      <a:srgbClr val="E9EBF5"/>
                    </a:solidFill>
                  </a:tcPr>
                </a:tc>
                <a:extLst>
                  <a:ext uri="{0D108BD9-81ED-4DB2-BD59-A6C34878D82A}">
                    <a16:rowId xmlns:a16="http://schemas.microsoft.com/office/drawing/2014/main" val="3421910209"/>
                  </a:ext>
                </a:extLst>
              </a:tr>
            </a:tbl>
          </a:graphicData>
        </a:graphic>
      </p:graphicFrame>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BDB89A6D-80A0-4103-A52C-CF2FFA404BA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1780FFFC-7D23-48DC-9913-88240F8204F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21AE0F5-D140-4E47-99CA-1409512E716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4ADE0B22-BBFF-40D5-A244-B74685DF78DD}"/>
              </a:ext>
            </a:extLst>
          </p:cNvPr>
          <p:cNvSpPr txBox="1"/>
          <p:nvPr/>
        </p:nvSpPr>
        <p:spPr>
          <a:xfrm>
            <a:off x="11682173"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07C5BAF-1A74-4C08-94DC-0BC0B9CA5D31}" type="slidenum">
              <a:rPr sz="1200"/>
              <a:t>362</a:t>
            </a:fld>
            <a:endParaRPr lang="en-GB" sz="1200" b="0" i="0" u="none" strike="noStrike" kern="1200" cap="none" spc="0" baseline="0">
              <a:solidFill>
                <a:srgbClr val="000000"/>
              </a:solidFill>
              <a:uFillTx/>
              <a:latin typeface="Calibri"/>
            </a:endParaRPr>
          </a:p>
        </p:txBody>
      </p:sp>
      <p:sp>
        <p:nvSpPr>
          <p:cNvPr id="8" name="Rectangle 7">
            <a:extLst>
              <a:ext uri="{FF2B5EF4-FFF2-40B4-BE49-F238E27FC236}">
                <a16:creationId xmlns:a16="http://schemas.microsoft.com/office/drawing/2014/main" id="{F86507AF-CF46-40F6-9A36-494C60FF411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13">
            <a:extLst>
              <a:ext uri="{FF2B5EF4-FFF2-40B4-BE49-F238E27FC236}">
                <a16:creationId xmlns:a16="http://schemas.microsoft.com/office/drawing/2014/main" id="{B7A60E5A-1D73-47F1-9450-B8E7E4434DDB}"/>
              </a:ext>
            </a:extLst>
          </p:cNvPr>
          <p:cNvSpPr/>
          <p:nvPr/>
        </p:nvSpPr>
        <p:spPr>
          <a:xfrm>
            <a:off x="399245" y="1302763"/>
            <a:ext cx="11282159" cy="1004184"/>
          </a:xfrm>
          <a:prstGeom prst="rect">
            <a:avLst/>
          </a:prstGeom>
          <a:noFill/>
          <a:ln cap="flat">
            <a:noFill/>
            <a:prstDash val="solid"/>
          </a:ln>
        </p:spPr>
        <p:txBody>
          <a:bodyPr vert="horz" wrap="square" lIns="91440" tIns="45720" rIns="91440" bIns="45720" anchor="t" anchorCtr="0" compatLnSpc="1">
            <a:spAutoFit/>
          </a:bodyPr>
          <a:lstStyle/>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p:txBody>
      </p:sp>
      <p:sp>
        <p:nvSpPr>
          <p:cNvPr id="10" name="Rectangle 9">
            <a:extLst>
              <a:ext uri="{FF2B5EF4-FFF2-40B4-BE49-F238E27FC236}">
                <a16:creationId xmlns:a16="http://schemas.microsoft.com/office/drawing/2014/main" id="{3BD342BA-7C43-40BA-A10D-DAD387DE7135}"/>
              </a:ext>
            </a:extLst>
          </p:cNvPr>
          <p:cNvSpPr/>
          <p:nvPr/>
        </p:nvSpPr>
        <p:spPr>
          <a:xfrm>
            <a:off x="882524" y="4282811"/>
            <a:ext cx="10981377" cy="161509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TT_IM86a -   </a:t>
            </a:r>
            <a:r>
              <a:rPr lang="en-GB" sz="1100" b="0" i="0" u="none" strike="noStrike" kern="1200" cap="none" spc="0" baseline="0" dirty="0">
                <a:solidFill>
                  <a:srgbClr val="000000"/>
                </a:solidFill>
                <a:uFillTx/>
                <a:latin typeface="Calibri"/>
              </a:rPr>
              <a:t>Import frontier EIDR </a:t>
            </a:r>
            <a:r>
              <a:rPr lang="en-GB" sz="1100" b="0" i="0" u="none" strike="noStrike" kern="0" cap="none" spc="0" baseline="0" dirty="0">
                <a:solidFill>
                  <a:srgbClr val="000000"/>
                </a:solidFill>
                <a:uFillTx/>
                <a:latin typeface="Calibri"/>
              </a:rPr>
              <a:t>NOP</a:t>
            </a:r>
            <a:r>
              <a:rPr lang="en-GB" sz="1100" b="0" i="0" u="none" strike="noStrike" kern="1200" cap="none" spc="0" baseline="0" dirty="0">
                <a:solidFill>
                  <a:srgbClr val="000000"/>
                </a:solidFill>
                <a:uFillTx/>
                <a:latin typeface="Calibri"/>
              </a:rPr>
              <a:t>, for goods moving from GB to NI, using additional document 108C to support an oral customs declaration for temporary admission</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TT_IM87a </a:t>
            </a:r>
            <a:r>
              <a:rPr lang="en-GB" sz="1100" b="0" i="0" u="none" strike="noStrike" kern="1200" cap="none" spc="0" baseline="0" dirty="0">
                <a:solidFill>
                  <a:srgbClr val="000000"/>
                </a:solidFill>
                <a:uFillTx/>
                <a:latin typeface="Calibri"/>
              </a:rPr>
              <a:t>-   Import frontier standard declaration, for goods moving from </a:t>
            </a:r>
            <a:r>
              <a:rPr lang="en-GB" sz="1100" b="0" i="0" u="none" strike="noStrike" kern="1200" cap="none" spc="0" baseline="0" dirty="0" err="1">
                <a:solidFill>
                  <a:srgbClr val="000000"/>
                </a:solidFill>
                <a:uFillTx/>
                <a:latin typeface="Calibri"/>
              </a:rPr>
              <a:t>RoW</a:t>
            </a:r>
            <a:r>
              <a:rPr lang="en-GB" sz="1100" b="0" i="0" u="none" strike="noStrike" kern="1200" cap="none" spc="0" baseline="0" dirty="0">
                <a:solidFill>
                  <a:srgbClr val="000000"/>
                </a:solidFill>
                <a:uFillTx/>
                <a:latin typeface="Calibri"/>
              </a:rPr>
              <a:t> to GB, where CDS validates a new combination of values entered in the additional document data element </a:t>
            </a:r>
            <a:r>
              <a:rPr lang="en-GB" sz="1100" b="1" i="0" u="none" strike="noStrike" kern="1200" cap="none" spc="0" baseline="0" dirty="0">
                <a:solidFill>
                  <a:srgbClr val="000000"/>
                </a:solidFill>
                <a:uFillTx/>
                <a:latin typeface="Calibri"/>
              </a:rPr>
              <a:t>TT_IM88a </a:t>
            </a:r>
            <a:r>
              <a:rPr lang="en-GB" sz="1100" b="0" i="0" u="none" strike="noStrike" kern="1200" cap="none" spc="0" baseline="0" dirty="0">
                <a:solidFill>
                  <a:srgbClr val="000000"/>
                </a:solidFill>
                <a:uFillTx/>
                <a:latin typeface="Calibri"/>
              </a:rPr>
              <a:t>-   Import frontier standard declaration, for goods moving from </a:t>
            </a:r>
            <a:r>
              <a:rPr lang="en-GB" sz="1100" b="0" i="0" u="none" strike="noStrike" kern="1200" cap="none" spc="0" baseline="0" dirty="0" err="1">
                <a:solidFill>
                  <a:srgbClr val="000000"/>
                </a:solidFill>
                <a:uFillTx/>
                <a:latin typeface="Calibri"/>
              </a:rPr>
              <a:t>RoW</a:t>
            </a:r>
            <a:r>
              <a:rPr lang="en-GB" sz="1100" b="0" i="0" u="none" strike="noStrike" kern="1200" cap="none" spc="0" baseline="0" dirty="0">
                <a:solidFill>
                  <a:srgbClr val="000000"/>
                </a:solidFill>
                <a:uFillTx/>
                <a:latin typeface="Calibri"/>
              </a:rPr>
              <a:t> to GB, where CDS accepts a combination of a document code and existing X-series document status code </a:t>
            </a:r>
            <a:r>
              <a:rPr lang="en-GB" sz="1100" b="1" i="0" u="none" strike="noStrike" kern="1200" cap="none" spc="0" baseline="0" dirty="0">
                <a:solidFill>
                  <a:srgbClr val="000000"/>
                </a:solidFill>
                <a:uFillTx/>
                <a:latin typeface="Calibri"/>
              </a:rPr>
              <a:t>TT_IM89a -   </a:t>
            </a:r>
            <a:r>
              <a:rPr lang="en-GB" sz="1100" b="0" i="0" u="none" strike="noStrike" kern="1200" cap="none" spc="0" baseline="0" dirty="0">
                <a:solidFill>
                  <a:srgbClr val="000000"/>
                </a:solidFill>
                <a:uFillTx/>
                <a:latin typeface="Calibri"/>
              </a:rPr>
              <a:t>Import supplementary simplified declaration, for goods moving from </a:t>
            </a:r>
            <a:r>
              <a:rPr lang="en-GB" sz="1100" b="0" i="0" u="none" strike="noStrike" kern="1200" cap="none" spc="0" baseline="0" dirty="0" err="1">
                <a:solidFill>
                  <a:srgbClr val="000000"/>
                </a:solidFill>
                <a:uFillTx/>
                <a:latin typeface="Calibri"/>
              </a:rPr>
              <a:t>RoW</a:t>
            </a:r>
            <a:r>
              <a:rPr lang="en-GB" sz="1100" b="0" i="0" u="none" strike="noStrike" kern="1200" cap="none" spc="0" baseline="0" dirty="0">
                <a:solidFill>
                  <a:srgbClr val="000000"/>
                </a:solidFill>
                <a:uFillTx/>
                <a:latin typeface="Calibri"/>
              </a:rPr>
              <a:t> to GB, where CD does not validate against non-waiver status codes so that declarations are not      	rejected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TT_IM90a </a:t>
            </a:r>
            <a:r>
              <a:rPr lang="en-GB" sz="1100" b="0" i="0" u="none" strike="noStrike" kern="1200" cap="none" spc="0" baseline="0" dirty="0">
                <a:solidFill>
                  <a:srgbClr val="000000"/>
                </a:solidFill>
                <a:uFillTx/>
                <a:latin typeface="Calibri"/>
              </a:rPr>
              <a:t>-   Import frontier standard declaration, for goods moving from </a:t>
            </a:r>
            <a:r>
              <a:rPr lang="en-GB" sz="1100" b="0" i="0" u="none" strike="noStrike" kern="1200" cap="none" spc="0" baseline="0" dirty="0" err="1">
                <a:solidFill>
                  <a:srgbClr val="000000"/>
                </a:solidFill>
                <a:uFillTx/>
                <a:latin typeface="Calibri"/>
              </a:rPr>
              <a:t>RoW</a:t>
            </a:r>
            <a:r>
              <a:rPr lang="en-GB" sz="1100" b="0" i="0" u="none" strike="noStrike" kern="1200" cap="none" spc="0" baseline="0" dirty="0">
                <a:solidFill>
                  <a:srgbClr val="000000"/>
                </a:solidFill>
                <a:uFillTx/>
                <a:latin typeface="Calibri"/>
              </a:rPr>
              <a:t> to GB, where a procedure code of 0700 and an additional procedure code of F06 are declared and then  	processed by CDS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dirty="0">
                <a:solidFill>
                  <a:srgbClr val="000000"/>
                </a:solidFill>
                <a:uFillTx/>
                <a:latin typeface="Calibri"/>
              </a:rPr>
              <a:t>TT_IM91a -   </a:t>
            </a:r>
            <a:r>
              <a:rPr lang="en-GB" sz="1100" b="0" i="0" u="none" strike="noStrike" kern="1200" cap="none" spc="0" baseline="0" dirty="0">
                <a:solidFill>
                  <a:srgbClr val="000000"/>
                </a:solidFill>
                <a:uFillTx/>
                <a:latin typeface="Calibri"/>
              </a:rPr>
              <a:t>Import pre-lodged simplified declaration, for goods moving from </a:t>
            </a:r>
            <a:r>
              <a:rPr lang="en-GB" sz="1100" b="0" i="0" u="none" strike="noStrike" kern="1200" cap="none" spc="0" baseline="0" dirty="0" err="1">
                <a:solidFill>
                  <a:srgbClr val="000000"/>
                </a:solidFill>
                <a:uFillTx/>
                <a:latin typeface="Calibri"/>
              </a:rPr>
              <a:t>RoW</a:t>
            </a:r>
            <a:r>
              <a:rPr lang="en-GB" sz="1100" b="0" i="0" u="none" strike="noStrike" kern="1200" cap="none" spc="0" baseline="0" dirty="0">
                <a:solidFill>
                  <a:srgbClr val="000000"/>
                </a:solidFill>
                <a:uFillTx/>
                <a:latin typeface="Calibri"/>
              </a:rPr>
              <a:t> to GB, where a procedure code of 4000 and an additional procedure code of C04 are declared and then  	processed by CDS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000000"/>
              </a:solidFill>
              <a:uFillTx/>
              <a:latin typeface="Calibri"/>
            </a:endParaRPr>
          </a:p>
        </p:txBody>
      </p:sp>
      <p:sp>
        <p:nvSpPr>
          <p:cNvPr id="11" name="Rectangle 10">
            <a:extLst>
              <a:ext uri="{FF2B5EF4-FFF2-40B4-BE49-F238E27FC236}">
                <a16:creationId xmlns:a16="http://schemas.microsoft.com/office/drawing/2014/main" id="{5B9115C2-A68F-4EFB-A633-91513603F6E1}"/>
              </a:ext>
            </a:extLst>
          </p:cNvPr>
          <p:cNvSpPr/>
          <p:nvPr/>
        </p:nvSpPr>
        <p:spPr>
          <a:xfrm>
            <a:off x="363967" y="4282811"/>
            <a:ext cx="516654" cy="161509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
        <p:nvSpPr>
          <p:cNvPr id="12" name="Rectangle 14">
            <a:extLst>
              <a:ext uri="{FF2B5EF4-FFF2-40B4-BE49-F238E27FC236}">
                <a16:creationId xmlns:a16="http://schemas.microsoft.com/office/drawing/2014/main" id="{E5F53849-59A0-4878-AE24-974C21207B21}"/>
              </a:ext>
            </a:extLst>
          </p:cNvPr>
          <p:cNvSpPr/>
          <p:nvPr/>
        </p:nvSpPr>
        <p:spPr>
          <a:xfrm>
            <a:off x="244071" y="1199866"/>
            <a:ext cx="11282159" cy="1695718"/>
          </a:xfrm>
          <a:prstGeom prst="rect">
            <a:avLst/>
          </a:prstGeom>
          <a:noFill/>
          <a:ln cap="flat">
            <a:noFill/>
            <a:prstDash val="solid"/>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dirty="0">
                <a:solidFill>
                  <a:srgbClr val="333333"/>
                </a:solidFill>
                <a:uFillTx/>
                <a:latin typeface="Calibri  "/>
              </a:rPr>
              <a:t>Tariff Misalignments</a:t>
            </a:r>
          </a:p>
          <a:p>
            <a:pPr marL="1054796" marR="0" lvl="2"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pitchFamily="34"/>
              <a:ea typeface="Calibri" pitchFamily="34"/>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pitchFamily="34"/>
              <a:ea typeface="Calibri" pitchFamily="34"/>
              <a:cs typeface="Times New Roman" pitchFamily="18"/>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333333"/>
              </a:solidFill>
              <a:uFillTx/>
              <a:latin typeface="Calibri  "/>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dirty="0">
              <a:solidFill>
                <a:srgbClr val="333333"/>
              </a:solidFill>
              <a:uFillTx/>
              <a:latin typeface="Calibri  "/>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a:p>
            <a:pPr marL="426146" marR="0" lvl="0" indent="-285750" algn="l" defTabSz="914400" rtl="0" fontAlgn="auto" hangingPunct="1">
              <a:lnSpc>
                <a:spcPct val="107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dirty="0">
              <a:solidFill>
                <a:srgbClr val="000000"/>
              </a:solidFill>
              <a:uFillTx/>
              <a:latin typeface="Calibri  "/>
            </a:endParaRPr>
          </a:p>
        </p:txBody>
      </p:sp>
      <p:sp>
        <p:nvSpPr>
          <p:cNvPr id="13" name="TextBox 15">
            <a:extLst>
              <a:ext uri="{FF2B5EF4-FFF2-40B4-BE49-F238E27FC236}">
                <a16:creationId xmlns:a16="http://schemas.microsoft.com/office/drawing/2014/main" id="{7FE3D077-F0F7-4067-B71B-38A108AC1D9D}"/>
              </a:ext>
            </a:extLst>
          </p:cNvPr>
          <p:cNvSpPr txBox="1"/>
          <p:nvPr/>
        </p:nvSpPr>
        <p:spPr>
          <a:xfrm>
            <a:off x="244071" y="1543836"/>
            <a:ext cx="11619829" cy="1895712"/>
          </a:xfrm>
          <a:prstGeom prst="rect">
            <a:avLst/>
          </a:prstGeom>
          <a:noFill/>
          <a:ln cap="flat">
            <a:noFill/>
          </a:ln>
        </p:spPr>
        <p:txBody>
          <a:bodyPr vert="horz" wrap="square" lIns="91440" tIns="45720" rIns="91440" bIns="45720" anchor="t" anchorCtr="0" compatLnSpc="1">
            <a:spAutoFit/>
          </a:bodyPr>
          <a:lstStyle/>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pitchFamily="34"/>
                <a:ea typeface="Calibri" pitchFamily="34"/>
                <a:cs typeface="Calibri" pitchFamily="34"/>
              </a:rPr>
              <a:t>Due to current misalignment, CDS incorrectly rejects declarations when valid Data Element (DE) 2/3 Document Codes and Status Codes combinations are entered. Additionally, CDS incorrectly rejects declarations when valid Data Element (DE) 1/10 (Procedure Codes) and DE 1/11 (Additional Procedure Codes) combinations are entered. Aligning CDS behaviour to the latest version of the CDS Tariff Completion Guidance will enable CDS to accurately process valid code combinations, following the guidance available on </a:t>
            </a:r>
            <a:r>
              <a:rPr lang="en-GB" sz="1100" b="0" i="0" u="sng" strike="noStrike" kern="1200" cap="none" spc="0" baseline="0" dirty="0">
                <a:solidFill>
                  <a:srgbClr val="0000FF"/>
                </a:solidFill>
                <a:uFillTx/>
                <a:latin typeface="Calibri" pitchFamily="34"/>
                <a:ea typeface="Calibri" pitchFamily="34"/>
                <a:cs typeface="Times New Roman" pitchFamily="18"/>
                <a:hlinkClick r:id="rId3"/>
              </a:rPr>
              <a:t>UK Trade Tariff: volume 3 for CDS - GOV.UK (www.gov.uk)</a:t>
            </a:r>
            <a:r>
              <a:rPr lang="en-GB" sz="1100" b="0" i="0" u="none" strike="noStrike" kern="1200" cap="none" spc="0" baseline="0" dirty="0">
                <a:solidFill>
                  <a:srgbClr val="000000"/>
                </a:solidFill>
                <a:uFillTx/>
                <a:latin typeface="Calibri" pitchFamily="34"/>
                <a:ea typeface="Calibri" pitchFamily="34"/>
                <a:cs typeface="Times New Roman" pitchFamily="18"/>
              </a:rPr>
              <a:t>.</a:t>
            </a: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dirty="0">
              <a:solidFill>
                <a:srgbClr val="333333"/>
              </a:solidFill>
              <a:uFillTx/>
              <a:latin typeface="Calibri" pitchFamily="34"/>
              <a:ea typeface="Calibri" pitchFamily="34"/>
              <a:cs typeface="Times New Roman" pitchFamily="18"/>
            </a:endParaRPr>
          </a:p>
          <a:p>
            <a:pPr marL="140396" marR="0" lvl="0" indent="0" algn="l" defTabSz="914400" rtl="0" fontAlgn="auto" hangingPunct="1">
              <a:lnSpc>
                <a:spcPct val="107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pitchFamily="34"/>
                <a:ea typeface="Calibri" pitchFamily="34"/>
                <a:cs typeface="Calibri" pitchFamily="34"/>
              </a:rPr>
              <a:t>For a full list of the codes that are now aligned to the CDS Trade Tariff from TTM18.0, please refer to the latest version of the </a:t>
            </a:r>
            <a:r>
              <a:rPr lang="en-GB" sz="1100" b="0" i="0" u="none" strike="noStrike" kern="1200" cap="none" spc="0" baseline="0" dirty="0" err="1">
                <a:solidFill>
                  <a:srgbClr val="333333"/>
                </a:solidFill>
                <a:uFillTx/>
                <a:latin typeface="Calibri" pitchFamily="34"/>
                <a:ea typeface="Calibri" pitchFamily="34"/>
                <a:cs typeface="Calibri" pitchFamily="34"/>
              </a:rPr>
              <a:t>Codelist</a:t>
            </a:r>
            <a:r>
              <a:rPr lang="en-GB" sz="1100" b="0" i="0" u="none" strike="noStrike" kern="1200" cap="none" spc="0" baseline="0" dirty="0">
                <a:solidFill>
                  <a:srgbClr val="333333"/>
                </a:solidFill>
                <a:uFillTx/>
                <a:latin typeface="Calibri" pitchFamily="34"/>
                <a:ea typeface="Calibri" pitchFamily="34"/>
                <a:cs typeface="Calibri" pitchFamily="34"/>
              </a:rPr>
              <a:t> and WCO References 3.6.0 document (v1.96), whereby the following updates have been made:</a:t>
            </a: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pitchFamily="34"/>
                <a:ea typeface="Calibri" pitchFamily="34"/>
              </a:rPr>
              <a:t>Addition of 25 codes to #ImportCertificates list</a:t>
            </a:r>
            <a:endParaRPr lang="en-GB" sz="1100" b="0" i="0" u="none" strike="noStrike" kern="1200" cap="none" spc="0" baseline="0" dirty="0">
              <a:solidFill>
                <a:srgbClr val="000000"/>
              </a:solidFill>
              <a:uFillTx/>
              <a:latin typeface="Calibri" pitchFamily="34"/>
              <a:ea typeface="Calibri" pitchFamily="34"/>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pitchFamily="34"/>
                <a:ea typeface="Calibri" pitchFamily="34"/>
              </a:rPr>
              <a:t>Addition of 24 codes to #ExportCertificates list</a:t>
            </a:r>
            <a:endParaRPr lang="en-GB" sz="1100" b="0" i="0" u="none" strike="noStrike" kern="1200" cap="none" spc="0" baseline="0" dirty="0">
              <a:solidFill>
                <a:srgbClr val="000000"/>
              </a:solidFill>
              <a:uFillTx/>
              <a:latin typeface="Calibri" pitchFamily="34"/>
              <a:ea typeface="Calibri" pitchFamily="34"/>
            </a:endParaRP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
                <a:ea typeface="Calibri" pitchFamily="34"/>
              </a:rPr>
              <a:t>Addition of 8 Procedure combinations for </a:t>
            </a:r>
            <a:r>
              <a:rPr lang="en-GB" sz="1100" b="0" i="0" u="none" strike="noStrike" kern="1200" cap="none" spc="0" baseline="0" dirty="0">
                <a:solidFill>
                  <a:srgbClr val="333333"/>
                </a:solidFill>
                <a:uFillTx/>
                <a:latin typeface="Calibri  "/>
              </a:rPr>
              <a:t>DE 1/11 Code ‘</a:t>
            </a:r>
            <a:r>
              <a:rPr lang="en-GB" sz="1100" b="1" i="0" u="none" strike="noStrike" kern="1200" cap="none" spc="0" baseline="0" dirty="0">
                <a:solidFill>
                  <a:srgbClr val="333333"/>
                </a:solidFill>
                <a:uFillTx/>
                <a:latin typeface="Calibri  "/>
              </a:rPr>
              <a:t>F06’</a:t>
            </a:r>
          </a:p>
          <a:p>
            <a:pPr marL="883346" marR="0" lvl="1" indent="-285750" algn="l" defTabSz="914400" rtl="0" fontAlgn="auto" hangingPunct="1">
              <a:lnSpc>
                <a:spcPct val="107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100" b="0" i="0" u="none" strike="noStrike" kern="1200" cap="none" spc="0" baseline="0" dirty="0">
                <a:solidFill>
                  <a:srgbClr val="333333"/>
                </a:solidFill>
                <a:uFillTx/>
                <a:latin typeface="Calibri  "/>
                <a:ea typeface="Calibri" pitchFamily="34"/>
              </a:rPr>
              <a:t>Addition of 1 Procedure combination for DE 1/11 Code ‘</a:t>
            </a:r>
            <a:r>
              <a:rPr lang="en-GB" sz="1100" b="1" i="0" u="none" strike="noStrike" kern="1200" cap="none" spc="0" baseline="0" dirty="0">
                <a:solidFill>
                  <a:srgbClr val="333333"/>
                </a:solidFill>
                <a:uFillTx/>
                <a:latin typeface="Calibri  "/>
                <a:ea typeface="Calibri" pitchFamily="34"/>
              </a:rPr>
              <a:t>1CL’</a:t>
            </a:r>
          </a:p>
        </p:txBody>
      </p:sp>
      <p:sp>
        <p:nvSpPr>
          <p:cNvPr id="7" name="TextBox 6">
            <a:extLst>
              <a:ext uri="{FF2B5EF4-FFF2-40B4-BE49-F238E27FC236}">
                <a16:creationId xmlns:a16="http://schemas.microsoft.com/office/drawing/2014/main" id="{FD1E6367-D9AD-EBD9-C3C0-E8F01C7A66F0}"/>
              </a:ext>
            </a:extLst>
          </p:cNvPr>
          <p:cNvSpPr txBox="1"/>
          <p:nvPr/>
        </p:nvSpPr>
        <p:spPr>
          <a:xfrm>
            <a:off x="244071" y="3574473"/>
            <a:ext cx="11619830" cy="430887"/>
          </a:xfrm>
          <a:prstGeom prst="rect">
            <a:avLst/>
          </a:prstGeom>
          <a:noFill/>
        </p:spPr>
        <p:txBody>
          <a:bodyPr wrap="square" rtlCol="0">
            <a:spAutoFit/>
          </a:bodyPr>
          <a:lstStyle/>
          <a:p>
            <a:r>
              <a:rPr lang="en-GB" sz="1100" dirty="0"/>
              <a:t>As of March 2025, these misalignments have been resolved based on the update to the Declaration Submission Service Design document (CDS 03 Declaration Submission Service Design v2.26.docx) present in the CDS Technical Documentation folder </a:t>
            </a:r>
            <a:r>
              <a:rPr lang="en-GB" sz="1100" dirty="0">
                <a:hlinkClick r:id="rId4"/>
              </a:rPr>
              <a:t>here</a:t>
            </a:r>
            <a:r>
              <a:rPr lang="en-GB" sz="1100" dirty="0"/>
              <a:t>. For more details, please contact the SDST mailbox (sdsteam@hmrc.gov.uk).</a:t>
            </a:r>
          </a:p>
        </p:txBody>
      </p:sp>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name="Slide838840367">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1E9F9464-4E16-4684-91D9-4FBDA35F8F66}"/>
              </a:ext>
            </a:extLst>
          </p:cNvPr>
          <p:cNvSpPr/>
          <p:nvPr/>
        </p:nvSpPr>
        <p:spPr>
          <a:xfrm>
            <a:off x="453002" y="326309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2F4AE35C-552B-4D10-8998-BB78721930F6}"/>
              </a:ext>
            </a:extLst>
          </p:cNvPr>
          <p:cNvSpPr/>
          <p:nvPr/>
        </p:nvSpPr>
        <p:spPr>
          <a:xfrm>
            <a:off x="363967" y="2822423"/>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459A7E6A-C84D-4599-9352-A0D5D91D16BE}"/>
              </a:ext>
            </a:extLst>
          </p:cNvPr>
          <p:cNvGraphicFramePr>
            <a:graphicFrameLocks noGrp="1"/>
          </p:cNvGraphicFramePr>
          <p:nvPr/>
        </p:nvGraphicFramePr>
        <p:xfrm>
          <a:off x="475268" y="377189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2927185822"/>
                    </a:ext>
                  </a:extLst>
                </a:gridCol>
              </a:tblGrid>
              <a:tr h="220434">
                <a:tc>
                  <a:txBody>
                    <a:bodyPr/>
                    <a:lstStyle/>
                    <a:p>
                      <a:pPr lvl="0" algn="ctr"/>
                      <a:r>
                        <a:rPr lang="en-GB" sz="1200"/>
                        <a:t>TTM17.0 (CDS 3.5.0)</a:t>
                      </a:r>
                    </a:p>
                  </a:txBody>
                  <a:tcPr>
                    <a:solidFill>
                      <a:srgbClr val="595959"/>
                    </a:solidFill>
                  </a:tcPr>
                </a:tc>
                <a:extLst>
                  <a:ext uri="{0D108BD9-81ED-4DB2-BD59-A6C34878D82A}">
                    <a16:rowId xmlns:a16="http://schemas.microsoft.com/office/drawing/2014/main" val="3590012796"/>
                  </a:ext>
                </a:extLst>
              </a:tr>
              <a:tr h="261975">
                <a:tc>
                  <a:txBody>
                    <a:bodyPr/>
                    <a:lstStyle/>
                    <a:p>
                      <a:pPr lvl="0" algn="ctr"/>
                      <a:r>
                        <a:rPr lang="en-GB" sz="1200" b="1" dirty="0">
                          <a:solidFill>
                            <a:srgbClr val="000000"/>
                          </a:solidFill>
                        </a:rPr>
                        <a:t>TT: </a:t>
                      </a:r>
                      <a:r>
                        <a:rPr lang="en-GB" sz="1200" b="0" dirty="0">
                          <a:solidFill>
                            <a:srgbClr val="000000"/>
                          </a:solidFill>
                        </a:rPr>
                        <a:t>20/01/2022   </a:t>
                      </a:r>
                      <a:r>
                        <a:rPr lang="en-GB" sz="1200" b="1" dirty="0">
                          <a:solidFill>
                            <a:srgbClr val="000000"/>
                          </a:solidFill>
                        </a:rPr>
                        <a:t>TDR: </a:t>
                      </a:r>
                      <a:r>
                        <a:rPr lang="en-GB" sz="1200" b="0" dirty="0">
                          <a:solidFill>
                            <a:srgbClr val="000000"/>
                          </a:solidFill>
                        </a:rPr>
                        <a:t>04/02/2022   </a:t>
                      </a:r>
                      <a:r>
                        <a:rPr lang="en-GB" sz="1200" b="1" dirty="0">
                          <a:solidFill>
                            <a:srgbClr val="000000"/>
                          </a:solidFill>
                        </a:rPr>
                        <a:t>Live: </a:t>
                      </a:r>
                      <a:r>
                        <a:rPr lang="en-GB" sz="1200" b="0" dirty="0">
                          <a:solidFill>
                            <a:srgbClr val="000000"/>
                          </a:solidFill>
                        </a:rPr>
                        <a:t>29/01/2022 </a:t>
                      </a:r>
                    </a:p>
                  </a:txBody>
                  <a:tcPr>
                    <a:solidFill>
                      <a:srgbClr val="E7E6E6"/>
                    </a:solidFill>
                  </a:tcPr>
                </a:tc>
                <a:extLst>
                  <a:ext uri="{0D108BD9-81ED-4DB2-BD59-A6C34878D82A}">
                    <a16:rowId xmlns:a16="http://schemas.microsoft.com/office/drawing/2014/main" val="4010579855"/>
                  </a:ext>
                </a:extLst>
              </a:tr>
            </a:tbl>
          </a:graphicData>
        </a:graphic>
      </p:graphicFrame>
      <p:cxnSp>
        <p:nvCxnSpPr>
          <p:cNvPr id="6" name="Straight Connector 11">
            <a:extLst>
              <a:ext uri="{FF2B5EF4-FFF2-40B4-BE49-F238E27FC236}">
                <a16:creationId xmlns:a16="http://schemas.microsoft.com/office/drawing/2014/main" id="{CD89B16B-1A42-42EE-BA72-B371A694D28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7188072F-4410-41D2-992A-8FFA9CB0430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9D938ED2-BC91-4129-BFBA-05AD14A5776B}"/>
              </a:ext>
            </a:extLst>
          </p:cNvPr>
          <p:cNvSpPr/>
          <p:nvPr/>
        </p:nvSpPr>
        <p:spPr>
          <a:xfrm>
            <a:off x="383499" y="3759153"/>
            <a:ext cx="11397328" cy="1772719"/>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3B43B2F6-632C-4294-930D-BA2DC73A67D9}"/>
              </a:ext>
            </a:extLst>
          </p:cNvPr>
          <p:cNvGrpSpPr/>
          <p:nvPr/>
        </p:nvGrpSpPr>
        <p:grpSpPr>
          <a:xfrm>
            <a:off x="879085" y="3280007"/>
            <a:ext cx="2801739" cy="276999"/>
            <a:chOff x="879085" y="3280007"/>
            <a:chExt cx="2801739" cy="276999"/>
          </a:xfrm>
        </p:grpSpPr>
        <p:sp>
          <p:nvSpPr>
            <p:cNvPr id="10" name="TextBox 7">
              <a:extLst>
                <a:ext uri="{FF2B5EF4-FFF2-40B4-BE49-F238E27FC236}">
                  <a16:creationId xmlns:a16="http://schemas.microsoft.com/office/drawing/2014/main" id="{5DAD27FC-CE13-4C55-9CC5-E49A1F0DEC6C}"/>
                </a:ext>
              </a:extLst>
            </p:cNvPr>
            <p:cNvSpPr txBox="1"/>
            <p:nvPr/>
          </p:nvSpPr>
          <p:spPr>
            <a:xfrm>
              <a:off x="879085" y="3280007"/>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6DD93983-EF05-4B45-A58E-1A1AA767C676}"/>
                </a:ext>
              </a:extLst>
            </p:cNvPr>
            <p:cNvSpPr/>
            <p:nvPr/>
          </p:nvSpPr>
          <p:spPr>
            <a:xfrm>
              <a:off x="926159" y="334498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AB7A3002-3AAA-470F-95ED-7F35D6D8F56C}"/>
              </a:ext>
            </a:extLst>
          </p:cNvPr>
          <p:cNvGraphicFramePr>
            <a:graphicFrameLocks noGrp="1"/>
          </p:cNvGraphicFramePr>
          <p:nvPr/>
        </p:nvGraphicFramePr>
        <p:xfrm>
          <a:off x="475268" y="4323072"/>
          <a:ext cx="11213807" cy="1182373"/>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213991601"/>
                    </a:ext>
                  </a:extLst>
                </a:gridCol>
                <a:gridCol w="2877205">
                  <a:extLst>
                    <a:ext uri="{9D8B030D-6E8A-4147-A177-3AD203B41FA5}">
                      <a16:colId xmlns:a16="http://schemas.microsoft.com/office/drawing/2014/main" val="1216881183"/>
                    </a:ext>
                  </a:extLst>
                </a:gridCol>
                <a:gridCol w="2877205">
                  <a:extLst>
                    <a:ext uri="{9D8B030D-6E8A-4147-A177-3AD203B41FA5}">
                      <a16:colId xmlns:a16="http://schemas.microsoft.com/office/drawing/2014/main" val="1433086818"/>
                    </a:ext>
                  </a:extLst>
                </a:gridCol>
                <a:gridCol w="2877205">
                  <a:extLst>
                    <a:ext uri="{9D8B030D-6E8A-4147-A177-3AD203B41FA5}">
                      <a16:colId xmlns:a16="http://schemas.microsoft.com/office/drawing/2014/main" val="4258981373"/>
                    </a:ext>
                  </a:extLst>
                </a:gridCol>
              </a:tblGrid>
              <a:tr h="582555">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Arrived Exports</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4" action="ppaction://hlinksldjump"/>
                        </a:rPr>
                        <a:t>Declaration Information Service:</a:t>
                      </a:r>
                      <a:r>
                        <a:rPr lang="en-GB" sz="1200" b="0">
                          <a:latin typeface="Calibri" pitchFamily="34"/>
                          <a:ea typeface="Calibri" pitchFamily="34"/>
                          <a:hlinkClick r:id="rId4" action="ppaction://hlinksldjump"/>
                        </a:rPr>
                        <a:t> </a:t>
                      </a:r>
                      <a:r>
                        <a:rPr lang="en-GB" sz="1200" b="0">
                          <a:cs typeface="Calibri"/>
                          <a:hlinkClick r:id="rId4" action="ppaction://hlinksldjump"/>
                        </a:rPr>
                        <a:t>Declaration Version Query</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5" action="ppaction://hlinksldjump"/>
                        </a:rPr>
                        <a:t>License Waiver Simplification</a:t>
                      </a:r>
                      <a:endParaRPr lang="en-GB" sz="1200" b="0">
                        <a:solidFill>
                          <a:srgbClr val="000000"/>
                        </a:solidFill>
                      </a:endParaRPr>
                    </a:p>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a:solidFill>
                            <a:srgbClr val="000000"/>
                          </a:solidFill>
                          <a:hlinkClick r:id="rId6" action="ppaction://hlinksldjump"/>
                        </a:rPr>
                        <a:t>Outbound ILI Notifications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4288256546"/>
                  </a:ext>
                </a:extLst>
              </a:tr>
              <a:tr h="599818">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7" action="ppaction://hlinksldjump"/>
                        </a:rPr>
                        <a:t>Declaration Information Service: </a:t>
                      </a:r>
                      <a:r>
                        <a:rPr lang="en-GB" sz="1200" b="0">
                          <a:latin typeface="Calibri" pitchFamily="34"/>
                          <a:ea typeface="Calibri" pitchFamily="34"/>
                          <a:hlinkClick r:id="rId7" action="ppaction://hlinksldjump"/>
                        </a:rPr>
                        <a:t>Search Declaration Query </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8" action="ppaction://hlinksldjump"/>
                        </a:rPr>
                        <a:t>Grouping APCs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9" action="ppaction://hlinksldjump"/>
                        </a:rPr>
                        <a:t>Tariff Validation of Type C &amp; Type F</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a:lnSpc>
                          <a:spcPct val="100000"/>
                        </a:lnSpc>
                        <a:spcBef>
                          <a:spcPts val="0"/>
                        </a:spcBef>
                        <a:spcAft>
                          <a:spcPts val="0"/>
                        </a:spcAft>
                        <a:buNone/>
                      </a:pPr>
                      <a:endParaRPr lang="en-GB" sz="1200" b="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763260628"/>
                  </a:ext>
                </a:extLst>
              </a:tr>
            </a:tbl>
          </a:graphicData>
        </a:graphic>
      </p:graphicFrame>
      <p:grpSp>
        <p:nvGrpSpPr>
          <p:cNvPr id="13" name="Group 4">
            <a:extLst>
              <a:ext uri="{FF2B5EF4-FFF2-40B4-BE49-F238E27FC236}">
                <a16:creationId xmlns:a16="http://schemas.microsoft.com/office/drawing/2014/main" id="{F01AAEE5-9D58-438B-B9EF-850F18C7495C}"/>
              </a:ext>
            </a:extLst>
          </p:cNvPr>
          <p:cNvGrpSpPr/>
          <p:nvPr/>
        </p:nvGrpSpPr>
        <p:grpSpPr>
          <a:xfrm>
            <a:off x="2663583" y="3286719"/>
            <a:ext cx="3199302" cy="276999"/>
            <a:chOff x="2663583" y="3286719"/>
            <a:chExt cx="3199302" cy="276999"/>
          </a:xfrm>
        </p:grpSpPr>
        <p:sp>
          <p:nvSpPr>
            <p:cNvPr id="14" name="TextBox 7">
              <a:extLst>
                <a:ext uri="{FF2B5EF4-FFF2-40B4-BE49-F238E27FC236}">
                  <a16:creationId xmlns:a16="http://schemas.microsoft.com/office/drawing/2014/main" id="{B10BA4AE-2D33-4248-8CF4-E10CD256FAA7}"/>
                </a:ext>
              </a:extLst>
            </p:cNvPr>
            <p:cNvSpPr txBox="1"/>
            <p:nvPr/>
          </p:nvSpPr>
          <p:spPr>
            <a:xfrm>
              <a:off x="2663583" y="3286719"/>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01682D9A-E5DE-4470-9931-3CB46F161AC4}"/>
                </a:ext>
              </a:extLst>
            </p:cNvPr>
            <p:cNvSpPr/>
            <p:nvPr/>
          </p:nvSpPr>
          <p:spPr>
            <a:xfrm>
              <a:off x="2689158" y="33550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D09D1C91-D7C6-456E-86D2-54F6D07C6F95}"/>
              </a:ext>
            </a:extLst>
          </p:cNvPr>
          <p:cNvSpPr/>
          <p:nvPr/>
        </p:nvSpPr>
        <p:spPr>
          <a:xfrm>
            <a:off x="453002" y="325960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E9A31C47-95EA-4DB4-8FEC-D1E48CF77691}"/>
              </a:ext>
            </a:extLst>
          </p:cNvPr>
          <p:cNvGrpSpPr/>
          <p:nvPr/>
        </p:nvGrpSpPr>
        <p:grpSpPr>
          <a:xfrm>
            <a:off x="5888461" y="3286179"/>
            <a:ext cx="4848834" cy="276999"/>
            <a:chOff x="5888461" y="3286179"/>
            <a:chExt cx="4848834" cy="276999"/>
          </a:xfrm>
        </p:grpSpPr>
        <p:sp>
          <p:nvSpPr>
            <p:cNvPr id="18" name="TextBox 7">
              <a:extLst>
                <a:ext uri="{FF2B5EF4-FFF2-40B4-BE49-F238E27FC236}">
                  <a16:creationId xmlns:a16="http://schemas.microsoft.com/office/drawing/2014/main" id="{1F7BCA18-C6DF-4B10-A0D3-C71CE8C5D111}"/>
                </a:ext>
              </a:extLst>
            </p:cNvPr>
            <p:cNvSpPr txBox="1"/>
            <p:nvPr/>
          </p:nvSpPr>
          <p:spPr>
            <a:xfrm>
              <a:off x="5888461" y="3286179"/>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ACFDAFFA-B733-4C11-8FEC-28C64326E4C6}"/>
                </a:ext>
              </a:extLst>
            </p:cNvPr>
            <p:cNvSpPr/>
            <p:nvPr/>
          </p:nvSpPr>
          <p:spPr>
            <a:xfrm>
              <a:off x="5940820" y="33576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67D04156-2EF7-4AFF-BEF7-6B8C80F12736}"/>
              </a:ext>
            </a:extLst>
          </p:cNvPr>
          <p:cNvSpPr/>
          <p:nvPr/>
        </p:nvSpPr>
        <p:spPr>
          <a:xfrm>
            <a:off x="546399" y="439190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A2B52EA9-8000-45CC-8481-C4233E5ED7C0}"/>
              </a:ext>
            </a:extLst>
          </p:cNvPr>
          <p:cNvSpPr txBox="1"/>
          <p:nvPr/>
        </p:nvSpPr>
        <p:spPr>
          <a:xfrm>
            <a:off x="11667997"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B51AE63-DD56-45AA-A879-84D00A477D89}" type="slidenum">
              <a:rPr sz="1200"/>
              <a:t>363</a:t>
            </a:fld>
            <a:endParaRPr lang="en-GB" sz="1200" b="0" i="0" u="none" strike="noStrike" kern="1200" cap="none" spc="0" baseline="0" dirty="0">
              <a:solidFill>
                <a:srgbClr val="000000"/>
              </a:solidFill>
              <a:uFillTx/>
              <a:latin typeface="Calibri"/>
            </a:endParaRPr>
          </a:p>
        </p:txBody>
      </p:sp>
      <p:sp>
        <p:nvSpPr>
          <p:cNvPr id="22" name="Rectangle 27">
            <a:extLst>
              <a:ext uri="{FF2B5EF4-FFF2-40B4-BE49-F238E27FC236}">
                <a16:creationId xmlns:a16="http://schemas.microsoft.com/office/drawing/2014/main" id="{610CF8A0-FD61-4D98-A323-D5B5AD715886}"/>
              </a:ext>
            </a:extLst>
          </p:cNvPr>
          <p:cNvSpPr/>
          <p:nvPr/>
        </p:nvSpPr>
        <p:spPr>
          <a:xfrm>
            <a:off x="419362" y="745821"/>
            <a:ext cx="745353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Document Purpose</a:t>
            </a:r>
          </a:p>
        </p:txBody>
      </p:sp>
      <p:sp>
        <p:nvSpPr>
          <p:cNvPr id="23" name="TextBox 10">
            <a:extLst>
              <a:ext uri="{FF2B5EF4-FFF2-40B4-BE49-F238E27FC236}">
                <a16:creationId xmlns:a16="http://schemas.microsoft.com/office/drawing/2014/main" id="{7A9EBD88-0118-4C02-A341-0DE1427553EB}"/>
              </a:ext>
            </a:extLst>
          </p:cNvPr>
          <p:cNvSpPr txBox="1"/>
          <p:nvPr/>
        </p:nvSpPr>
        <p:spPr>
          <a:xfrm>
            <a:off x="419362" y="1179063"/>
            <a:ext cx="11280111" cy="1538880"/>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ea typeface="Calibri" pitchFamily="34"/>
                <a:cs typeface="Calibri"/>
              </a:rPr>
              <a:t>The purpose of this document is to provide external developers with an overview of new functionality being deployed into Production and External Test environments to support testing and assurance activities. The last</a:t>
            </a:r>
            <a:r>
              <a:rPr lang="en-GB" sz="1400" b="0" i="0" u="none" strike="noStrike" kern="1200" cap="none" spc="0" baseline="0" dirty="0">
                <a:solidFill>
                  <a:srgbClr val="000000"/>
                </a:solidFill>
                <a:uFillTx/>
                <a:latin typeface="Calibri"/>
              </a:rPr>
              <a:t> issued CDS Scope Guidance can be found </a:t>
            </a:r>
            <a:r>
              <a:rPr lang="en-GB" sz="1400" b="0" i="0" u="none" strike="noStrike" kern="1200" cap="none" spc="0" baseline="0" dirty="0">
                <a:solidFill>
                  <a:srgbClr val="000000"/>
                </a:solidFill>
                <a:uFillTx/>
                <a:latin typeface="Calibri  "/>
              </a:rPr>
              <a:t>in the </a:t>
            </a:r>
            <a:r>
              <a:rPr lang="en-GB" sz="1400" b="0" i="0" u="none" strike="noStrike" kern="1200" cap="none" spc="0" baseline="0" dirty="0">
                <a:solidFill>
                  <a:srgbClr val="6264A7"/>
                </a:solidFill>
                <a:uFillTx/>
                <a:latin typeface="Calibri  "/>
                <a:hlinkClick r:id="rId10" tooltip="https://eur03.safelinks.protection.outlook.com/?url=https%3a%2f%2fdeveloper.service.hmrc.gov.uk%2fguides%2fcustoms-declarations-end-to-end-service-guide%2f%23technical-documentation&amp;data=04%7c01%7csarah.aron%40hmrc.gov.uk%7cecef0b5e19524c32fce508d9d77c66c8%7cac52f73cfd1a4a9a8e7a4a248f3139e1%7c0%7c0%7c637777751557096537%7cunknown%7ctwfpbgzsb3d8eyjwijoimc4wljawmdailcjqijoiv2lumziilcjbtii6ik1hawwilcjxvci6mn0%3d%7c3000&amp;sdata=okwbp1bjlaxfdb5zaw83oe694mpmavwyrlfd%2f%2fnaadk%3d&amp;reserved=0"/>
              </a:rPr>
              <a:t>Technical Documentation</a:t>
            </a:r>
            <a:r>
              <a:rPr lang="en-GB" sz="1400" b="0" i="0" u="none" strike="noStrike" kern="1200" cap="none" spc="0" baseline="0" dirty="0">
                <a:solidFill>
                  <a:srgbClr val="252423"/>
                </a:solidFill>
                <a:uFillTx/>
                <a:latin typeface="Calibri  "/>
              </a:rPr>
              <a:t> section of the Customs Declaration Service end-to-end service guide within the HMRC Developer Hub</a:t>
            </a:r>
            <a:r>
              <a:rPr lang="en-GB" sz="1400" b="0" i="0" u="none" strike="noStrike" kern="1200" cap="none" spc="0" baseline="0" dirty="0">
                <a:solidFill>
                  <a:srgbClr val="000000"/>
                </a:solidFill>
                <a:uFillTx/>
                <a:latin typeface="Calibri  "/>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ea typeface="Calibri" pitchFamily="34"/>
                <a:cs typeface="Calibri"/>
              </a:rPr>
              <a:t>Please note, functionality is being delivered incrementally on CDS as part of an ongoing agile delivery programme. This document captures the current behaviour of the CDS system and, as much as possible, planned changes. However, this document is therefore subject to change.</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ea typeface="Calibri" pitchFamily="34"/>
                <a:cs typeface="Calibri"/>
              </a:rPr>
              <a:t>If you have any questions regarding this release, please send your query to </a:t>
            </a:r>
            <a:r>
              <a:rPr lang="en-GB" sz="1400" b="0" i="0" u="none" strike="noStrike" kern="1200" cap="none" spc="0" baseline="0" dirty="0">
                <a:solidFill>
                  <a:srgbClr val="000000"/>
                </a:solidFill>
                <a:uFillTx/>
                <a:latin typeface="Calibri"/>
                <a:ea typeface="Calibri" pitchFamily="34"/>
                <a:cs typeface="Calibri"/>
                <a:hlinkClick r:id="rId11"/>
              </a:rPr>
              <a:t>SDSTeam@hmrc.gov.uk</a:t>
            </a:r>
            <a:r>
              <a:rPr lang="en-GB" sz="1400" b="0" i="0" u="none" strike="noStrike" kern="1200" cap="none" spc="0" baseline="0" dirty="0">
                <a:solidFill>
                  <a:srgbClr val="000000"/>
                </a:solidFill>
                <a:uFillTx/>
                <a:latin typeface="Calibri"/>
                <a:ea typeface="Calibri" pitchFamily="34"/>
                <a:cs typeface="Calibri"/>
              </a:rPr>
              <a:t>.</a:t>
            </a:r>
          </a:p>
        </p:txBody>
      </p:sp>
      <p:sp>
        <p:nvSpPr>
          <p:cNvPr id="24" name="Oval 16">
            <a:extLst>
              <a:ext uri="{FF2B5EF4-FFF2-40B4-BE49-F238E27FC236}">
                <a16:creationId xmlns:a16="http://schemas.microsoft.com/office/drawing/2014/main" id="{F8A94266-93DA-4A5C-BA07-B4418A27BB80}"/>
              </a:ext>
            </a:extLst>
          </p:cNvPr>
          <p:cNvSpPr/>
          <p:nvPr/>
        </p:nvSpPr>
        <p:spPr>
          <a:xfrm>
            <a:off x="546399" y="497715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16">
            <a:extLst>
              <a:ext uri="{FF2B5EF4-FFF2-40B4-BE49-F238E27FC236}">
                <a16:creationId xmlns:a16="http://schemas.microsoft.com/office/drawing/2014/main" id="{ABADC7D1-AEC7-4B0B-B8B7-8493D22D866E}"/>
              </a:ext>
            </a:extLst>
          </p:cNvPr>
          <p:cNvSpPr/>
          <p:nvPr/>
        </p:nvSpPr>
        <p:spPr>
          <a:xfrm>
            <a:off x="3137379" y="439203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16">
            <a:extLst>
              <a:ext uri="{FF2B5EF4-FFF2-40B4-BE49-F238E27FC236}">
                <a16:creationId xmlns:a16="http://schemas.microsoft.com/office/drawing/2014/main" id="{ECB9DD13-1A0D-4BFD-8A55-E3DFB5E40CFE}"/>
              </a:ext>
            </a:extLst>
          </p:cNvPr>
          <p:cNvSpPr/>
          <p:nvPr/>
        </p:nvSpPr>
        <p:spPr>
          <a:xfrm>
            <a:off x="5983038" y="439016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16">
            <a:extLst>
              <a:ext uri="{FF2B5EF4-FFF2-40B4-BE49-F238E27FC236}">
                <a16:creationId xmlns:a16="http://schemas.microsoft.com/office/drawing/2014/main" id="{B4603C9F-8D5D-4DFE-AA35-942E643611D5}"/>
              </a:ext>
            </a:extLst>
          </p:cNvPr>
          <p:cNvSpPr/>
          <p:nvPr/>
        </p:nvSpPr>
        <p:spPr>
          <a:xfrm>
            <a:off x="8863763" y="439016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16">
            <a:extLst>
              <a:ext uri="{FF2B5EF4-FFF2-40B4-BE49-F238E27FC236}">
                <a16:creationId xmlns:a16="http://schemas.microsoft.com/office/drawing/2014/main" id="{63179A70-30F5-4C62-897C-44F6E126CD00}"/>
              </a:ext>
            </a:extLst>
          </p:cNvPr>
          <p:cNvSpPr/>
          <p:nvPr/>
        </p:nvSpPr>
        <p:spPr>
          <a:xfrm>
            <a:off x="6017200" y="497715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16">
            <a:extLst>
              <a:ext uri="{FF2B5EF4-FFF2-40B4-BE49-F238E27FC236}">
                <a16:creationId xmlns:a16="http://schemas.microsoft.com/office/drawing/2014/main" id="{6BD2C373-F010-4461-A346-51294319B5A3}"/>
              </a:ext>
            </a:extLst>
          </p:cNvPr>
          <p:cNvSpPr/>
          <p:nvPr/>
        </p:nvSpPr>
        <p:spPr>
          <a:xfrm>
            <a:off x="3137379" y="497715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TextBox 2">
            <a:extLst>
              <a:ext uri="{FF2B5EF4-FFF2-40B4-BE49-F238E27FC236}">
                <a16:creationId xmlns:a16="http://schemas.microsoft.com/office/drawing/2014/main" id="{21B5BBF0-8893-4506-9B7F-78D1765782A0}"/>
              </a:ext>
            </a:extLst>
          </p:cNvPr>
          <p:cNvSpPr txBox="1"/>
          <p:nvPr/>
        </p:nvSpPr>
        <p:spPr>
          <a:xfrm>
            <a:off x="350818" y="5642204"/>
            <a:ext cx="11397328" cy="3077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pitchFamily="34"/>
                <a:ea typeface="Calibri" pitchFamily="34"/>
              </a:rPr>
              <a:t>Please Note:</a:t>
            </a:r>
            <a:r>
              <a:rPr lang="en-GB" sz="1400" b="0" i="0" u="none" strike="noStrike" kern="1200" cap="none" spc="0" baseline="0">
                <a:solidFill>
                  <a:srgbClr val="000000"/>
                </a:solidFill>
                <a:uFillTx/>
                <a:latin typeface="Calibri" pitchFamily="34"/>
                <a:ea typeface="Calibri" pitchFamily="34"/>
              </a:rPr>
              <a:t> UK </a:t>
            </a:r>
            <a:r>
              <a:rPr lang="en-GB" sz="1400" b="0" i="0" u="none" strike="noStrike" kern="1200" cap="none" spc="0" baseline="0">
                <a:solidFill>
                  <a:srgbClr val="000000"/>
                </a:solidFill>
                <a:uFillTx/>
                <a:latin typeface="Calibri (body)"/>
                <a:ea typeface="Calibri" pitchFamily="34"/>
              </a:rPr>
              <a:t>Trader Scheme (UKTS)</a:t>
            </a:r>
            <a:r>
              <a:rPr lang="en-GB" sz="1400" b="0" i="0" u="none" strike="noStrike" kern="1200" cap="none" spc="0" baseline="0">
                <a:solidFill>
                  <a:srgbClr val="242424"/>
                </a:solidFill>
                <a:uFillTx/>
                <a:latin typeface="Calibri (body)"/>
              </a:rPr>
              <a:t> functionality will not be delivered as part of TTM17.0         </a:t>
            </a:r>
            <a:endParaRPr lang="en-GB" sz="1400" b="0" i="0" u="none" strike="noStrike" kern="1200" cap="none" spc="0" baseline="0">
              <a:solidFill>
                <a:srgbClr val="000000"/>
              </a:solidFill>
              <a:uFillTx/>
              <a:latin typeface="Calibri (body)"/>
            </a:endParaRPr>
          </a:p>
        </p:txBody>
      </p:sp>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name="Slide455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40831B9-F03B-42B3-AE22-61CFD8A43AD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E6CF108B-380B-40CA-ACA9-3583B8F8A9F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5E40D76-5825-47ED-ACB5-70EB5871D54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EFD01BB6-F4C5-4F43-A191-A8DD9FAA3106}"/>
              </a:ext>
            </a:extLst>
          </p:cNvPr>
          <p:cNvSpPr txBox="1"/>
          <p:nvPr/>
        </p:nvSpPr>
        <p:spPr>
          <a:xfrm>
            <a:off x="11660909"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58FF334-503B-4650-9135-31F8E653A366}" type="slidenum">
              <a:rPr sz="1200"/>
              <a:t>364</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D9B721C6-4885-478C-B052-FFD6B464247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FE77E50B-4378-4BA0-B333-DCD2D2692E38}"/>
              </a:ext>
            </a:extLst>
          </p:cNvPr>
          <p:cNvSpPr/>
          <p:nvPr/>
        </p:nvSpPr>
        <p:spPr>
          <a:xfrm>
            <a:off x="444691" y="1199866"/>
            <a:ext cx="11282159" cy="397031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Arrived Exports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body)"/>
              </a:rPr>
              <a:t>This functionality will limit the number of ports that can use the Arrived Exports solution. These ports will be limited to the locations listed in the Table below. These changes also remove the requirement for a specific mode of transport, with all modes being considered as valid. The introduction of this functionality does not exclude the introduction of further identified location codes in the future. Therefore, after SCC (Staged Customs Control) ends on 31/12/2021, ports with reduced capacity will have a workable solution to facilitate the arrival of exports at these locations. The details of the Location of Goods in DE 5/23 must reflect the intended port of Exit from the UK and must be outlined in the Departure message. For the Ports of Dover and Eurotunnel, a joint code is introduced to cater for goods where there is uncertainty over which of these locations will be the actual port of Exit. However, if used, this code will still need to show in the Departure message.</a:t>
            </a:r>
            <a:endParaRPr lang="en-GB" sz="1400" b="1"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GB" sz="1400" b="0" i="0" u="none" strike="noStrike" kern="1200" cap="none" spc="0" baseline="0">
                <a:solidFill>
                  <a:srgbClr val="000000"/>
                </a:solidFill>
                <a:uFillTx/>
                <a:latin typeface="Calibri  "/>
              </a:rPr>
            </a:br>
            <a:r>
              <a:rPr lang="en-GB" sz="1400" b="1" i="0" u="none" strike="noStrike" kern="1200" cap="none" spc="0" baseline="0">
                <a:solidFill>
                  <a:srgbClr val="000000"/>
                </a:solidFill>
                <a:uFillTx/>
                <a:latin typeface="Calibri  "/>
              </a:rPr>
              <a:t>Declaration Requirements</a:t>
            </a:r>
            <a:endParaRPr lang="en-GB" sz="1400" b="1" i="0" u="none" strike="sng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a:cs typeface="Calibri"/>
              </a:rPr>
              <a:t>For arrived exports, a location code in </a:t>
            </a:r>
            <a:r>
              <a:rPr lang="en-GB" sz="1400" b="1" i="0" u="none" strike="noStrike" kern="1200" cap="none" spc="0" baseline="0">
                <a:solidFill>
                  <a:srgbClr val="000000"/>
                </a:solidFill>
                <a:uFillTx/>
                <a:latin typeface="Calibri  "/>
                <a:ea typeface="Calibri"/>
                <a:cs typeface="Calibri"/>
              </a:rPr>
              <a:t>DE 5/23 </a:t>
            </a:r>
            <a:r>
              <a:rPr lang="en-GB" sz="1400" b="0" i="0" u="none" strike="noStrike" kern="1200" cap="none" spc="0" baseline="0">
                <a:solidFill>
                  <a:srgbClr val="000000"/>
                </a:solidFill>
                <a:uFillTx/>
                <a:latin typeface="Calibri  "/>
                <a:ea typeface="Calibri"/>
                <a:cs typeface="Calibri"/>
              </a:rPr>
              <a:t>(Location of Goods) can only be from the list below,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a:cs typeface="Calibri"/>
              </a:rPr>
              <a:t>This code must only be entered for declaration types </a:t>
            </a:r>
            <a:r>
              <a:rPr lang="en-GB" sz="1400" b="1" i="0" u="none" strike="noStrike" kern="1200" cap="none" spc="0" baseline="0">
                <a:solidFill>
                  <a:srgbClr val="000000"/>
                </a:solidFill>
                <a:uFillTx/>
                <a:latin typeface="Calibri  "/>
                <a:ea typeface="Calibri"/>
                <a:cs typeface="Calibri"/>
              </a:rPr>
              <a:t>A, B, C, J, Y or Z </a:t>
            </a:r>
            <a:r>
              <a:rPr lang="en-GB" sz="1400" b="0" i="0" u="none" strike="noStrike" kern="1200" cap="none" spc="0" baseline="0">
                <a:solidFill>
                  <a:srgbClr val="000000"/>
                </a:solidFill>
                <a:uFillTx/>
                <a:latin typeface="Calibri  "/>
                <a:ea typeface="Calibri"/>
                <a:cs typeface="Calibri"/>
              </a:rPr>
              <a:t>in</a:t>
            </a:r>
            <a:r>
              <a:rPr lang="en-GB" sz="1400" b="1" i="0" u="none" strike="noStrike" kern="1200" cap="none" spc="0" baseline="0">
                <a:solidFill>
                  <a:srgbClr val="000000"/>
                </a:solidFill>
                <a:uFillTx/>
                <a:latin typeface="Calibri  "/>
                <a:ea typeface="Calibri"/>
                <a:cs typeface="Calibri"/>
              </a:rPr>
              <a:t> DE 1/2.</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p:txBody>
      </p:sp>
      <p:graphicFrame>
        <p:nvGraphicFramePr>
          <p:cNvPr id="9" name="Table 3">
            <a:extLst>
              <a:ext uri="{FF2B5EF4-FFF2-40B4-BE49-F238E27FC236}">
                <a16:creationId xmlns:a16="http://schemas.microsoft.com/office/drawing/2014/main" id="{19472D72-B85B-4DF1-A9D7-B6B60D64A44F}"/>
              </a:ext>
            </a:extLst>
          </p:cNvPr>
          <p:cNvGraphicFramePr>
            <a:graphicFrameLocks noGrp="1"/>
          </p:cNvGraphicFramePr>
          <p:nvPr/>
        </p:nvGraphicFramePr>
        <p:xfrm>
          <a:off x="3094302" y="4091811"/>
          <a:ext cx="5982918" cy="2156742"/>
        </p:xfrm>
        <a:graphic>
          <a:graphicData uri="http://schemas.openxmlformats.org/drawingml/2006/table">
            <a:tbl>
              <a:tblPr firstRow="1" bandRow="1">
                <a:effectLst/>
                <a:tableStyleId>{5C22544A-7EE6-4342-B048-85BDC9FD1C3A}</a:tableStyleId>
              </a:tblPr>
              <a:tblGrid>
                <a:gridCol w="2991459">
                  <a:extLst>
                    <a:ext uri="{9D8B030D-6E8A-4147-A177-3AD203B41FA5}">
                      <a16:colId xmlns:a16="http://schemas.microsoft.com/office/drawing/2014/main" val="4032277007"/>
                    </a:ext>
                  </a:extLst>
                </a:gridCol>
                <a:gridCol w="2991459">
                  <a:extLst>
                    <a:ext uri="{9D8B030D-6E8A-4147-A177-3AD203B41FA5}">
                      <a16:colId xmlns:a16="http://schemas.microsoft.com/office/drawing/2014/main" val="3128968785"/>
                    </a:ext>
                  </a:extLst>
                </a:gridCol>
              </a:tblGrid>
              <a:tr h="185979">
                <a:tc>
                  <a:txBody>
                    <a:bodyPr/>
                    <a:lstStyle/>
                    <a:p>
                      <a:pPr lvl="0" algn="ctr" fontAlgn="ctr"/>
                      <a:r>
                        <a:rPr lang="en-GB" sz="1100" b="1" i="0" u="none" strike="noStrike">
                          <a:solidFill>
                            <a:srgbClr val="FFFFFF"/>
                          </a:solidFill>
                          <a:latin typeface="Calibri" pitchFamily="34"/>
                        </a:rPr>
                        <a:t>Facility Name </a:t>
                      </a:r>
                    </a:p>
                  </a:txBody>
                  <a:tcPr marL="90004" marR="90004" marT="35999" marB="35999" anchor="ctr"/>
                </a:tc>
                <a:tc>
                  <a:txBody>
                    <a:bodyPr/>
                    <a:lstStyle/>
                    <a:p>
                      <a:pPr lvl="0" algn="ctr" fontAlgn="ctr"/>
                      <a:r>
                        <a:rPr lang="en-GB" sz="1100" b="1" i="0" u="none" strike="noStrike">
                          <a:solidFill>
                            <a:srgbClr val="FFFFFF"/>
                          </a:solidFill>
                          <a:latin typeface="Calibri" pitchFamily="34"/>
                        </a:rPr>
                        <a:t>Valid CDS Location Code (D.E 5/23)</a:t>
                      </a:r>
                    </a:p>
                  </a:txBody>
                  <a:tcPr marL="90004" marR="90004" marT="35999" marB="35999" anchor="ctr"/>
                </a:tc>
                <a:extLst>
                  <a:ext uri="{0D108BD9-81ED-4DB2-BD59-A6C34878D82A}">
                    <a16:rowId xmlns:a16="http://schemas.microsoft.com/office/drawing/2014/main" val="3102540699"/>
                  </a:ext>
                </a:extLst>
              </a:tr>
              <a:tr h="185979">
                <a:tc>
                  <a:txBody>
                    <a:bodyPr/>
                    <a:lstStyle/>
                    <a:p>
                      <a:pPr lvl="0" algn="ctr" fontAlgn="ctr"/>
                      <a:r>
                        <a:rPr lang="en-GB" sz="1100" b="0" i="0" u="none" strike="noStrike">
                          <a:solidFill>
                            <a:srgbClr val="000000"/>
                          </a:solidFill>
                          <a:latin typeface="Calibri" pitchFamily="34"/>
                        </a:rPr>
                        <a:t>Dover/Eurotunnel* Port</a:t>
                      </a:r>
                    </a:p>
                  </a:txBody>
                  <a:tcPr marL="90004" marR="90004" marT="35999" marB="35999" anchor="ctr"/>
                </a:tc>
                <a:tc>
                  <a:txBody>
                    <a:bodyPr/>
                    <a:lstStyle/>
                    <a:p>
                      <a:pPr lvl="0" algn="ctr" fontAlgn="ctr"/>
                      <a:r>
                        <a:rPr lang="en-GB" sz="1100" b="0" i="0" u="none" strike="noStrike">
                          <a:solidFill>
                            <a:srgbClr val="000000"/>
                          </a:solidFill>
                          <a:latin typeface="Calibri" pitchFamily="34"/>
                        </a:rPr>
                        <a:t>GBAUDEUDEUDEUGVM</a:t>
                      </a:r>
                    </a:p>
                  </a:txBody>
                  <a:tcPr marL="90004" marR="90004" marT="35999" marB="35999" anchor="ctr"/>
                </a:tc>
                <a:extLst>
                  <a:ext uri="{0D108BD9-81ED-4DB2-BD59-A6C34878D82A}">
                    <a16:rowId xmlns:a16="http://schemas.microsoft.com/office/drawing/2014/main" val="3607834787"/>
                  </a:ext>
                </a:extLst>
              </a:tr>
              <a:tr h="185979">
                <a:tc>
                  <a:txBody>
                    <a:bodyPr/>
                    <a:lstStyle/>
                    <a:p>
                      <a:pPr lvl="0" algn="ctr" fontAlgn="ctr"/>
                      <a:r>
                        <a:rPr lang="en-GB" sz="1100" b="0" i="0" u="none" strike="noStrike">
                          <a:solidFill>
                            <a:srgbClr val="000000"/>
                          </a:solidFill>
                          <a:latin typeface="Calibri" pitchFamily="34"/>
                        </a:rPr>
                        <a:t>Dover Port</a:t>
                      </a:r>
                    </a:p>
                  </a:txBody>
                  <a:tcPr marL="90004" marR="90004" marT="35999" marB="35999" anchor="ctr"/>
                </a:tc>
                <a:tc>
                  <a:txBody>
                    <a:bodyPr/>
                    <a:lstStyle/>
                    <a:p>
                      <a:pPr lvl="0" algn="ctr" fontAlgn="ctr"/>
                      <a:r>
                        <a:rPr lang="en-GB" sz="1100" b="0" i="0" u="none" strike="noStrike">
                          <a:solidFill>
                            <a:srgbClr val="0B0C0C"/>
                          </a:solidFill>
                          <a:latin typeface="Calibri" pitchFamily="34"/>
                        </a:rPr>
                        <a:t>GBAUDVRDOVDVRGVM</a:t>
                      </a:r>
                    </a:p>
                  </a:txBody>
                  <a:tcPr marL="90004" marR="90004" marT="35999" marB="35999" anchor="ctr"/>
                </a:tc>
                <a:extLst>
                  <a:ext uri="{0D108BD9-81ED-4DB2-BD59-A6C34878D82A}">
                    <a16:rowId xmlns:a16="http://schemas.microsoft.com/office/drawing/2014/main" val="3340835070"/>
                  </a:ext>
                </a:extLst>
              </a:tr>
              <a:tr h="185979">
                <a:tc>
                  <a:txBody>
                    <a:bodyPr/>
                    <a:lstStyle/>
                    <a:p>
                      <a:pPr lvl="0" algn="ctr" fontAlgn="ctr"/>
                      <a:r>
                        <a:rPr lang="en-GB" sz="1100" b="0" i="0" u="none" strike="noStrike">
                          <a:solidFill>
                            <a:srgbClr val="000000"/>
                          </a:solidFill>
                          <a:latin typeface="Calibri" pitchFamily="34"/>
                        </a:rPr>
                        <a:t>Eurotunnel (Folkestone)</a:t>
                      </a:r>
                    </a:p>
                  </a:txBody>
                  <a:tcPr marL="90004" marR="90004" marT="35999" marB="35999" anchor="ctr"/>
                </a:tc>
                <a:tc>
                  <a:txBody>
                    <a:bodyPr/>
                    <a:lstStyle/>
                    <a:p>
                      <a:pPr lvl="0" algn="ctr" fontAlgn="ctr"/>
                      <a:r>
                        <a:rPr lang="en-GB" sz="1100" b="0" i="0" u="none" strike="noStrike">
                          <a:solidFill>
                            <a:srgbClr val="000000"/>
                          </a:solidFill>
                          <a:latin typeface="Calibri" pitchFamily="34"/>
                        </a:rPr>
                        <a:t>GBAUEUTEUTEUT</a:t>
                      </a:r>
                      <a:r>
                        <a:rPr lang="en-GB" sz="1100" b="0" i="0" u="none" strike="noStrike">
                          <a:solidFill>
                            <a:srgbClr val="0B0C0C"/>
                          </a:solidFill>
                          <a:latin typeface="Calibri" pitchFamily="34"/>
                        </a:rPr>
                        <a:t>GVM</a:t>
                      </a:r>
                      <a:endParaRPr lang="en-GB" sz="1100" b="0" i="0" u="none" strike="noStrike">
                        <a:solidFill>
                          <a:srgbClr val="000000"/>
                        </a:solidFill>
                        <a:latin typeface="Calibri" pitchFamily="34"/>
                      </a:endParaRPr>
                    </a:p>
                  </a:txBody>
                  <a:tcPr marL="90004" marR="90004" marT="35999" marB="35999" anchor="ctr"/>
                </a:tc>
                <a:extLst>
                  <a:ext uri="{0D108BD9-81ED-4DB2-BD59-A6C34878D82A}">
                    <a16:rowId xmlns:a16="http://schemas.microsoft.com/office/drawing/2014/main" val="445764451"/>
                  </a:ext>
                </a:extLst>
              </a:tr>
              <a:tr h="185979">
                <a:tc>
                  <a:txBody>
                    <a:bodyPr/>
                    <a:lstStyle/>
                    <a:p>
                      <a:pPr lvl="0" algn="ctr" fontAlgn="ctr"/>
                      <a:r>
                        <a:rPr lang="en-GB" sz="1100" b="0" i="0" u="none" strike="noStrike">
                          <a:solidFill>
                            <a:srgbClr val="000000"/>
                          </a:solidFill>
                          <a:latin typeface="Calibri" pitchFamily="34"/>
                        </a:rPr>
                        <a:t>Fishguard</a:t>
                      </a:r>
                    </a:p>
                  </a:txBody>
                  <a:tcPr marL="90004" marR="90004" marT="35999" marB="35999" anchor="ctr"/>
                </a:tc>
                <a:tc>
                  <a:txBody>
                    <a:bodyPr/>
                    <a:lstStyle/>
                    <a:p>
                      <a:pPr lvl="0" algn="ctr" fontAlgn="ctr"/>
                      <a:r>
                        <a:rPr lang="en-GB" sz="1100" b="0" i="0" u="none" strike="noStrike">
                          <a:solidFill>
                            <a:srgbClr val="000000"/>
                          </a:solidFill>
                          <a:latin typeface="Calibri" pitchFamily="34"/>
                        </a:rPr>
                        <a:t>GBAUFISFISFIS</a:t>
                      </a:r>
                      <a:r>
                        <a:rPr lang="en-GB" sz="1100" b="0" i="0" u="none" strike="noStrike">
                          <a:solidFill>
                            <a:srgbClr val="0B0C0C"/>
                          </a:solidFill>
                          <a:latin typeface="Calibri" pitchFamily="34"/>
                        </a:rPr>
                        <a:t>GVM</a:t>
                      </a:r>
                      <a:endParaRPr lang="en-GB" sz="1100" b="0" i="0" u="none" strike="noStrike">
                        <a:solidFill>
                          <a:srgbClr val="000000"/>
                        </a:solidFill>
                        <a:latin typeface="Calibri" pitchFamily="34"/>
                      </a:endParaRPr>
                    </a:p>
                  </a:txBody>
                  <a:tcPr marL="90004" marR="90004" marT="35999" marB="35999" anchor="ctr"/>
                </a:tc>
                <a:extLst>
                  <a:ext uri="{0D108BD9-81ED-4DB2-BD59-A6C34878D82A}">
                    <a16:rowId xmlns:a16="http://schemas.microsoft.com/office/drawing/2014/main" val="802913292"/>
                  </a:ext>
                </a:extLst>
              </a:tr>
              <a:tr h="185979">
                <a:tc>
                  <a:txBody>
                    <a:bodyPr/>
                    <a:lstStyle/>
                    <a:p>
                      <a:pPr lvl="0" algn="ctr" fontAlgn="ctr"/>
                      <a:r>
                        <a:rPr lang="en-GB" sz="1100" b="0" i="0" u="none" strike="noStrike">
                          <a:solidFill>
                            <a:srgbClr val="000000"/>
                          </a:solidFill>
                          <a:latin typeface="Calibri" pitchFamily="34"/>
                        </a:rPr>
                        <a:t>Liverpool</a:t>
                      </a:r>
                    </a:p>
                  </a:txBody>
                  <a:tcPr marL="90004" marR="90004" marT="35999" marB="35999" anchor="ctr"/>
                </a:tc>
                <a:tc>
                  <a:txBody>
                    <a:bodyPr/>
                    <a:lstStyle/>
                    <a:p>
                      <a:pPr lvl="0" algn="ctr" fontAlgn="ctr"/>
                      <a:r>
                        <a:rPr lang="en-GB" sz="1100" b="0" i="0" u="none" strike="noStrike">
                          <a:solidFill>
                            <a:srgbClr val="000000"/>
                          </a:solidFill>
                          <a:latin typeface="Calibri" pitchFamily="34"/>
                        </a:rPr>
                        <a:t>GBAULIVLIVLIV</a:t>
                      </a:r>
                      <a:r>
                        <a:rPr lang="en-GB" sz="1100" b="0" i="0" u="none" strike="noStrike">
                          <a:solidFill>
                            <a:srgbClr val="0B0C0C"/>
                          </a:solidFill>
                          <a:latin typeface="Calibri" pitchFamily="34"/>
                        </a:rPr>
                        <a:t>GVM</a:t>
                      </a:r>
                      <a:endParaRPr lang="en-GB" sz="1100" b="0" i="0" u="none" strike="noStrike">
                        <a:solidFill>
                          <a:srgbClr val="000000"/>
                        </a:solidFill>
                        <a:latin typeface="Calibri" pitchFamily="34"/>
                      </a:endParaRPr>
                    </a:p>
                  </a:txBody>
                  <a:tcPr marL="90004" marR="90004" marT="35999" marB="35999" anchor="ctr"/>
                </a:tc>
                <a:extLst>
                  <a:ext uri="{0D108BD9-81ED-4DB2-BD59-A6C34878D82A}">
                    <a16:rowId xmlns:a16="http://schemas.microsoft.com/office/drawing/2014/main" val="1752611757"/>
                  </a:ext>
                </a:extLst>
              </a:tr>
              <a:tr h="185979">
                <a:tc>
                  <a:txBody>
                    <a:bodyPr/>
                    <a:lstStyle/>
                    <a:p>
                      <a:pPr lvl="0" algn="ctr" fontAlgn="ctr"/>
                      <a:r>
                        <a:rPr lang="en-GB" sz="1100" b="0" i="0" u="none" strike="noStrike">
                          <a:solidFill>
                            <a:srgbClr val="000000"/>
                          </a:solidFill>
                          <a:latin typeface="Calibri" pitchFamily="34"/>
                        </a:rPr>
                        <a:t>Heysham</a:t>
                      </a:r>
                    </a:p>
                  </a:txBody>
                  <a:tcPr marL="90004" marR="90004" marT="35999" marB="35999" anchor="ctr"/>
                </a:tc>
                <a:tc>
                  <a:txBody>
                    <a:bodyPr/>
                    <a:lstStyle/>
                    <a:p>
                      <a:pPr lvl="0" algn="ctr" fontAlgn="ctr"/>
                      <a:r>
                        <a:rPr lang="en-GB" sz="1100" b="0" i="0" u="none" strike="noStrike">
                          <a:solidFill>
                            <a:srgbClr val="0B0C0C"/>
                          </a:solidFill>
                          <a:latin typeface="Calibri" pitchFamily="34"/>
                        </a:rPr>
                        <a:t>GBAUHYMHEYHYMGVM</a:t>
                      </a:r>
                    </a:p>
                  </a:txBody>
                  <a:tcPr marL="90004" marR="90004" marT="35999" marB="35999" anchor="ctr"/>
                </a:tc>
                <a:extLst>
                  <a:ext uri="{0D108BD9-81ED-4DB2-BD59-A6C34878D82A}">
                    <a16:rowId xmlns:a16="http://schemas.microsoft.com/office/drawing/2014/main" val="3542271561"/>
                  </a:ext>
                </a:extLst>
              </a:tr>
              <a:tr h="185979">
                <a:tc>
                  <a:txBody>
                    <a:bodyPr/>
                    <a:lstStyle/>
                    <a:p>
                      <a:pPr lvl="0" algn="ctr" fontAlgn="ctr"/>
                      <a:r>
                        <a:rPr lang="en-GB" sz="1100" b="0" i="0" u="none" strike="noStrike">
                          <a:solidFill>
                            <a:srgbClr val="000000"/>
                          </a:solidFill>
                          <a:latin typeface="Calibri" pitchFamily="34"/>
                        </a:rPr>
                        <a:t>Holyhead</a:t>
                      </a:r>
                    </a:p>
                  </a:txBody>
                  <a:tcPr marL="90004" marR="90004" marT="35999" marB="35999" anchor="ctr"/>
                </a:tc>
                <a:tc>
                  <a:txBody>
                    <a:bodyPr/>
                    <a:lstStyle/>
                    <a:p>
                      <a:pPr lvl="0" algn="ctr" fontAlgn="ctr"/>
                      <a:r>
                        <a:rPr lang="en-GB" sz="1100" b="0" i="0" u="none" strike="noStrike">
                          <a:solidFill>
                            <a:srgbClr val="000000"/>
                          </a:solidFill>
                          <a:latin typeface="Calibri" pitchFamily="34"/>
                        </a:rPr>
                        <a:t>GBAUHLYHLDHLY</a:t>
                      </a:r>
                      <a:r>
                        <a:rPr lang="en-GB" sz="1100" b="0" i="0" u="none" strike="noStrike">
                          <a:solidFill>
                            <a:srgbClr val="0B0C0C"/>
                          </a:solidFill>
                          <a:latin typeface="Calibri" pitchFamily="34"/>
                        </a:rPr>
                        <a:t>GVM</a:t>
                      </a:r>
                      <a:endParaRPr lang="en-GB" sz="1100" b="0" i="0" u="none" strike="noStrike">
                        <a:solidFill>
                          <a:srgbClr val="000000"/>
                        </a:solidFill>
                        <a:latin typeface="Calibri" pitchFamily="34"/>
                      </a:endParaRPr>
                    </a:p>
                  </a:txBody>
                  <a:tcPr marL="90004" marR="90004" marT="35999" marB="35999" anchor="ctr"/>
                </a:tc>
                <a:extLst>
                  <a:ext uri="{0D108BD9-81ED-4DB2-BD59-A6C34878D82A}">
                    <a16:rowId xmlns:a16="http://schemas.microsoft.com/office/drawing/2014/main" val="3578876251"/>
                  </a:ext>
                </a:extLst>
              </a:tr>
              <a:tr h="185979">
                <a:tc>
                  <a:txBody>
                    <a:bodyPr/>
                    <a:lstStyle/>
                    <a:p>
                      <a:pPr lvl="0" algn="ctr" fontAlgn="ctr"/>
                      <a:r>
                        <a:rPr lang="en-GB" sz="1100" b="0" i="0" u="none" strike="noStrike">
                          <a:solidFill>
                            <a:srgbClr val="000000"/>
                          </a:solidFill>
                          <a:latin typeface="Calibri" pitchFamily="34"/>
                        </a:rPr>
                        <a:t>Pembroke</a:t>
                      </a:r>
                    </a:p>
                  </a:txBody>
                  <a:tcPr marL="90004" marR="90004" marT="35999" marB="35999" anchor="ctr"/>
                </a:tc>
                <a:tc>
                  <a:txBody>
                    <a:bodyPr/>
                    <a:lstStyle/>
                    <a:p>
                      <a:pPr lvl="0" algn="ctr" fontAlgn="ctr"/>
                      <a:r>
                        <a:rPr lang="en-GB" sz="1100" b="0" i="0" u="none" strike="noStrike" dirty="0">
                          <a:solidFill>
                            <a:srgbClr val="000000"/>
                          </a:solidFill>
                          <a:latin typeface="Calibri" pitchFamily="34"/>
                        </a:rPr>
                        <a:t>GBAUPEDMILPED</a:t>
                      </a:r>
                      <a:r>
                        <a:rPr lang="en-GB" sz="1100" b="0" i="0" u="none" strike="noStrike" dirty="0">
                          <a:solidFill>
                            <a:srgbClr val="0B0C0C"/>
                          </a:solidFill>
                          <a:latin typeface="Calibri" pitchFamily="34"/>
                        </a:rPr>
                        <a:t>GVM</a:t>
                      </a:r>
                      <a:endParaRPr lang="en-GB" sz="1100" b="0" i="0" u="none" strike="noStrike" dirty="0">
                        <a:solidFill>
                          <a:srgbClr val="000000"/>
                        </a:solidFill>
                        <a:latin typeface="Calibri" pitchFamily="34"/>
                      </a:endParaRPr>
                    </a:p>
                  </a:txBody>
                  <a:tcPr marL="90004" marR="90004" marT="35999" marB="35999" anchor="ctr"/>
                </a:tc>
                <a:extLst>
                  <a:ext uri="{0D108BD9-81ED-4DB2-BD59-A6C34878D82A}">
                    <a16:rowId xmlns:a16="http://schemas.microsoft.com/office/drawing/2014/main" val="3279323778"/>
                  </a:ext>
                </a:extLst>
              </a:tr>
            </a:tbl>
          </a:graphicData>
        </a:graphic>
      </p:graphicFrame>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name="Slide455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496CC3F-929B-4FC5-8BA1-1AFE34F59B6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E2130C31-0DBC-41FE-BF8F-908EA46D510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8C55397-3B64-46EA-86C7-A2BEAF509FC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E94BC95-F8FA-416A-875E-933F472F8130}"/>
              </a:ext>
            </a:extLst>
          </p:cNvPr>
          <p:cNvSpPr txBox="1"/>
          <p:nvPr/>
        </p:nvSpPr>
        <p:spPr>
          <a:xfrm>
            <a:off x="11675084"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2AF95F4-1C0E-4CA0-BE17-CE57E7CC9964}" type="slidenum">
              <a:rPr sz="1200"/>
              <a:t>365</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B94CF6E8-C193-4D9D-B477-76B96512A4E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785DF541-88C9-4B92-8F4B-09BE4AD2AFD8}"/>
              </a:ext>
            </a:extLst>
          </p:cNvPr>
          <p:cNvSpPr/>
          <p:nvPr/>
        </p:nvSpPr>
        <p:spPr>
          <a:xfrm>
            <a:off x="530690" y="1199866"/>
            <a:ext cx="11282159" cy="3108539"/>
          </a:xfrm>
          <a:prstGeom prst="rect">
            <a:avLst/>
          </a:prstGeom>
          <a:noFill/>
          <a:ln cap="flat">
            <a:noFill/>
            <a:prstDash val="solid"/>
          </a:ln>
        </p:spPr>
        <p:txBody>
          <a:bodyPr vert="horz" wrap="square" lIns="91440" tIns="45720" rIns="91440" bIns="45720" anchor="t" anchorCtr="0" compatLnSpc="1">
            <a:spAutoFit/>
          </a:bodyPr>
          <a:lstStyle/>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body)"/>
                <a:ea typeface="Calibri"/>
                <a:cs typeface="Calibri"/>
              </a:rPr>
              <a:t>Additional Requirements:</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body)"/>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body)"/>
                <a:ea typeface="Calibri"/>
                <a:cs typeface="Calibri"/>
              </a:rPr>
              <a:t>When an Authorisation Type Code ‘</a:t>
            </a:r>
            <a:r>
              <a:rPr lang="en-GB" sz="1400" b="1" i="0" u="none" strike="noStrike" kern="1200" cap="none" spc="0" baseline="0">
                <a:solidFill>
                  <a:srgbClr val="000000"/>
                </a:solidFill>
                <a:uFillTx/>
                <a:latin typeface="Calibri (body)"/>
                <a:ea typeface="Calibri"/>
                <a:cs typeface="Calibri"/>
              </a:rPr>
              <a:t>EXRR</a:t>
            </a:r>
            <a:r>
              <a:rPr lang="en-GB" sz="1400" b="0" i="0" u="none" strike="noStrike" kern="1200" cap="none" spc="0" baseline="0">
                <a:solidFill>
                  <a:srgbClr val="000000"/>
                </a:solidFill>
                <a:uFillTx/>
                <a:latin typeface="Calibri (body)"/>
                <a:ea typeface="Calibri"/>
                <a:cs typeface="Calibri"/>
              </a:rPr>
              <a:t>’ is entered in </a:t>
            </a:r>
            <a:r>
              <a:rPr lang="en-GB" sz="1400" b="1" i="0" u="none" strike="noStrike" kern="1200" cap="none" spc="0" baseline="0">
                <a:solidFill>
                  <a:srgbClr val="000000"/>
                </a:solidFill>
                <a:uFillTx/>
                <a:latin typeface="Calibri (body)"/>
                <a:ea typeface="Calibri"/>
                <a:cs typeface="Calibri"/>
              </a:rPr>
              <a:t>DE 3/39 </a:t>
            </a:r>
            <a:r>
              <a:rPr lang="en-GB" sz="1400" b="0" i="0" u="none" strike="noStrike" kern="1200" cap="none" spc="0" baseline="0">
                <a:solidFill>
                  <a:srgbClr val="000000"/>
                </a:solidFill>
                <a:uFillTx/>
                <a:latin typeface="Calibri (body)"/>
                <a:ea typeface="Calibri"/>
                <a:cs typeface="Calibri"/>
              </a:rPr>
              <a:t>(Holder of the Authorisation Identification Number), CDS will mandate the declaration of a valid EORI in DE 3/39, </a:t>
            </a:r>
            <a:r>
              <a:rPr lang="en-GB" sz="1400" b="0" i="0" u="none" strike="noStrike" kern="1200" cap="none" spc="0" baseline="0">
                <a:solidFill>
                  <a:srgbClr val="000000"/>
                </a:solidFill>
                <a:uFillTx/>
                <a:latin typeface="Calibri (body)"/>
              </a:rPr>
              <a:t>and will allow for any valid value in </a:t>
            </a:r>
            <a:r>
              <a:rPr lang="en-GB" sz="1400" b="1" i="0" u="none" strike="noStrike" kern="1200" cap="none" spc="0" baseline="0">
                <a:solidFill>
                  <a:srgbClr val="000000"/>
                </a:solidFill>
                <a:uFillTx/>
                <a:latin typeface="Calibri (body)"/>
              </a:rPr>
              <a:t>DE 7/4</a:t>
            </a:r>
            <a:r>
              <a:rPr lang="en-GB" sz="1400" b="0" i="0" u="none" strike="noStrike" kern="1200" cap="none" spc="0" baseline="0">
                <a:solidFill>
                  <a:srgbClr val="000000"/>
                </a:solidFill>
                <a:uFillTx/>
                <a:latin typeface="Calibri (body)"/>
              </a:rPr>
              <a:t> (Mode of Transport) - Please note the mode of transport requirements in the CDS Declaration completion guide, and enter the code for the actual mode of transport used.</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a:cs typeface="Calibri"/>
              </a:rPr>
              <a:t>When a valid goods location code from the table shown above is entered in DE 5/23, CDS will mandate ‘</a:t>
            </a:r>
            <a:r>
              <a:rPr lang="en-GB" sz="1400" b="1" i="0" u="none" strike="noStrike" kern="1200" cap="none" spc="0" baseline="0">
                <a:solidFill>
                  <a:srgbClr val="000000"/>
                </a:solidFill>
                <a:uFillTx/>
                <a:latin typeface="Calibri  "/>
                <a:ea typeface="Calibri"/>
                <a:cs typeface="Calibri"/>
              </a:rPr>
              <a:t>EXRR</a:t>
            </a:r>
            <a:r>
              <a:rPr lang="en-GB" sz="1400" b="0" i="0" u="none" strike="noStrike" kern="1200" cap="none" spc="0" baseline="0">
                <a:solidFill>
                  <a:srgbClr val="000000"/>
                </a:solidFill>
                <a:uFillTx/>
                <a:latin typeface="Calibri  "/>
                <a:ea typeface="Calibri"/>
                <a:cs typeface="Calibri"/>
              </a:rPr>
              <a:t>’ in </a:t>
            </a:r>
            <a:r>
              <a:rPr lang="en-GB" sz="1400" b="1" i="0" u="none" strike="noStrike" kern="1200" cap="none" spc="0" baseline="0">
                <a:solidFill>
                  <a:srgbClr val="000000"/>
                </a:solidFill>
                <a:uFillTx/>
                <a:latin typeface="Calibri  "/>
                <a:ea typeface="Calibri"/>
                <a:cs typeface="Calibri"/>
              </a:rPr>
              <a:t>DE 3/39, </a:t>
            </a:r>
            <a:r>
              <a:rPr lang="en-GB" sz="1400" b="0" i="0" u="none" strike="noStrike" kern="1200" cap="none" spc="0" baseline="0">
                <a:solidFill>
                  <a:srgbClr val="000000"/>
                </a:solidFill>
                <a:uFillTx/>
                <a:latin typeface="Calibri  "/>
                <a:ea typeface="Calibri"/>
                <a:cs typeface="Calibri"/>
              </a:rPr>
              <a:t>and ‘</a:t>
            </a:r>
            <a:r>
              <a:rPr lang="en-GB" sz="1400" b="1" i="0" u="none" strike="noStrike" kern="1200" cap="none" spc="0" baseline="0">
                <a:solidFill>
                  <a:srgbClr val="000000"/>
                </a:solidFill>
                <a:uFillTx/>
                <a:latin typeface="Calibri  "/>
                <a:ea typeface="Calibri"/>
                <a:cs typeface="Calibri"/>
              </a:rPr>
              <a:t>RRS01</a:t>
            </a:r>
            <a:r>
              <a:rPr lang="en-GB" sz="1400" b="0" i="0" u="none" strike="noStrike" kern="1200" cap="none" spc="0" baseline="0">
                <a:solidFill>
                  <a:srgbClr val="000000"/>
                </a:solidFill>
                <a:uFillTx/>
                <a:latin typeface="Calibri  "/>
                <a:ea typeface="Calibri"/>
                <a:cs typeface="Calibri"/>
              </a:rPr>
              <a:t>’ in </a:t>
            </a:r>
            <a:r>
              <a:rPr lang="en-GB" sz="1400" b="1" i="0" u="none" strike="noStrike" kern="1200" cap="none" spc="0" baseline="0">
                <a:solidFill>
                  <a:srgbClr val="000000"/>
                </a:solidFill>
                <a:uFillTx/>
                <a:latin typeface="Calibri  "/>
                <a:ea typeface="Calibri"/>
                <a:cs typeface="Calibri"/>
              </a:rPr>
              <a:t>DE 2/2 </a:t>
            </a:r>
            <a:r>
              <a:rPr lang="en-GB" sz="1400" b="0" i="0" u="none" strike="noStrike" kern="1200" cap="none" spc="0" baseline="0">
                <a:solidFill>
                  <a:srgbClr val="000000"/>
                </a:solidFill>
                <a:uFillTx/>
                <a:latin typeface="Calibri  "/>
                <a:ea typeface="Calibri"/>
                <a:cs typeface="Calibri"/>
              </a:rPr>
              <a:t>(Additional Information).</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ea typeface="Calibri"/>
                <a:cs typeface="Calibri"/>
              </a:rPr>
              <a:t>When a valid goods location code from the table shown above is entered in DE 5/23, and Procedure code </a:t>
            </a:r>
            <a:r>
              <a:rPr lang="en-GB" sz="1400" b="1" i="0" u="none" strike="noStrike" kern="1200" cap="none" spc="0" baseline="0">
                <a:solidFill>
                  <a:srgbClr val="000000"/>
                </a:solidFill>
                <a:uFillTx/>
                <a:latin typeface="Calibri  "/>
                <a:ea typeface="Calibri"/>
                <a:cs typeface="Calibri"/>
              </a:rPr>
              <a:t>‘2300’ </a:t>
            </a:r>
            <a:r>
              <a:rPr lang="en-GB" sz="1400" b="0" i="0" u="none" strike="noStrike" kern="1200" cap="none" spc="0" baseline="0">
                <a:solidFill>
                  <a:srgbClr val="000000"/>
                </a:solidFill>
                <a:uFillTx/>
                <a:latin typeface="Calibri  "/>
                <a:ea typeface="Calibri"/>
                <a:cs typeface="Calibri"/>
              </a:rPr>
              <a:t>is declared in </a:t>
            </a:r>
            <a:r>
              <a:rPr lang="en-GB" sz="1400" b="1" i="0" u="none" strike="noStrike" kern="1200" cap="none" spc="0" baseline="0">
                <a:solidFill>
                  <a:srgbClr val="000000"/>
                </a:solidFill>
                <a:uFillTx/>
                <a:latin typeface="Calibri  "/>
                <a:ea typeface="Calibri"/>
                <a:cs typeface="Calibri"/>
              </a:rPr>
              <a:t>DE 1/10</a:t>
            </a:r>
            <a:r>
              <a:rPr lang="en-GB" sz="1400" b="0" i="0" u="none" strike="noStrike" kern="1200" cap="none" spc="0" baseline="0">
                <a:solidFill>
                  <a:srgbClr val="000000"/>
                </a:solidFill>
                <a:uFillTx/>
                <a:latin typeface="Calibri  "/>
                <a:ea typeface="Calibri"/>
                <a:cs typeface="Calibri"/>
              </a:rPr>
              <a:t>, CDS will allow submission of a </a:t>
            </a:r>
            <a:r>
              <a:rPr lang="en-GB" sz="1400" b="1" i="0" u="none" strike="noStrike" kern="1200" cap="none" spc="0" baseline="0">
                <a:solidFill>
                  <a:srgbClr val="000000"/>
                </a:solidFill>
                <a:uFillTx/>
                <a:latin typeface="Calibri  "/>
                <a:ea typeface="Calibri"/>
                <a:cs typeface="Calibri"/>
              </a:rPr>
              <a:t>Type A</a:t>
            </a:r>
            <a:r>
              <a:rPr lang="en-GB" sz="1400" b="0" i="0" u="none" strike="noStrike" kern="1200" cap="none" spc="0" baseline="0">
                <a:solidFill>
                  <a:srgbClr val="000000"/>
                </a:solidFill>
                <a:uFillTx/>
                <a:latin typeface="Calibri  "/>
                <a:ea typeface="Calibri"/>
                <a:cs typeface="Calibri"/>
              </a:rPr>
              <a:t> or </a:t>
            </a:r>
            <a:r>
              <a:rPr lang="en-GB" sz="1400" b="1" i="0" u="none" strike="noStrike" kern="1200" cap="none" spc="0" baseline="0">
                <a:solidFill>
                  <a:srgbClr val="000000"/>
                </a:solidFill>
                <a:uFillTx/>
                <a:latin typeface="Calibri  "/>
                <a:ea typeface="Calibri"/>
                <a:cs typeface="Calibri"/>
              </a:rPr>
              <a:t>C</a:t>
            </a:r>
            <a:r>
              <a:rPr lang="en-GB" sz="1400" b="0" i="0" u="none" strike="noStrike" kern="1200" cap="none" spc="0" baseline="0">
                <a:solidFill>
                  <a:srgbClr val="000000"/>
                </a:solidFill>
                <a:uFillTx/>
                <a:latin typeface="Calibri  "/>
                <a:ea typeface="Calibri"/>
                <a:cs typeface="Calibri"/>
              </a:rPr>
              <a:t> declaration in DE 1/2, in addition to any other arrived or supplementary declaration types currently allowed for the Procedure code.</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p:txBody>
      </p:sp>
      <p:grpSp>
        <p:nvGrpSpPr>
          <p:cNvPr id="9" name="Group 9">
            <a:extLst>
              <a:ext uri="{FF2B5EF4-FFF2-40B4-BE49-F238E27FC236}">
                <a16:creationId xmlns:a16="http://schemas.microsoft.com/office/drawing/2014/main" id="{A53D355F-205E-47C7-AE2C-7472EB86DC3E}"/>
              </a:ext>
            </a:extLst>
          </p:cNvPr>
          <p:cNvGrpSpPr/>
          <p:nvPr/>
        </p:nvGrpSpPr>
        <p:grpSpPr>
          <a:xfrm>
            <a:off x="449967" y="4049054"/>
            <a:ext cx="11362882" cy="781565"/>
            <a:chOff x="449967" y="4049054"/>
            <a:chExt cx="11362882" cy="781565"/>
          </a:xfrm>
        </p:grpSpPr>
        <p:sp>
          <p:nvSpPr>
            <p:cNvPr id="10" name="Rectangle 10">
              <a:extLst>
                <a:ext uri="{FF2B5EF4-FFF2-40B4-BE49-F238E27FC236}">
                  <a16:creationId xmlns:a16="http://schemas.microsoft.com/office/drawing/2014/main" id="{0BD8A312-3DE1-40E3-AAF2-EEB7B49D4083}"/>
                </a:ext>
              </a:extLst>
            </p:cNvPr>
            <p:cNvSpPr/>
            <p:nvPr/>
          </p:nvSpPr>
          <p:spPr>
            <a:xfrm>
              <a:off x="968523" y="4049054"/>
              <a:ext cx="10844326" cy="78156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TT_EX27a - </a:t>
              </a:r>
              <a:r>
                <a:rPr lang="en-GB" sz="1100" b="0" i="0" u="none" strike="noStrike" kern="1200" cap="none" spc="0" baseline="0">
                  <a:solidFill>
                    <a:srgbClr val="000000"/>
                  </a:solidFill>
                  <a:uFillTx/>
                  <a:latin typeface="Calibri"/>
                </a:rPr>
                <a:t>Export arrived frontier declaration, for goods moving from GB to RoW, through one of the specified reduced capacity GB ports.</a:t>
              </a:r>
            </a:p>
          </p:txBody>
        </p:sp>
        <p:sp>
          <p:nvSpPr>
            <p:cNvPr id="11" name="Rectangle 11">
              <a:extLst>
                <a:ext uri="{FF2B5EF4-FFF2-40B4-BE49-F238E27FC236}">
                  <a16:creationId xmlns:a16="http://schemas.microsoft.com/office/drawing/2014/main" id="{E838E4D3-9DA5-4092-9351-F3B21020C2CD}"/>
                </a:ext>
              </a:extLst>
            </p:cNvPr>
            <p:cNvSpPr/>
            <p:nvPr/>
          </p:nvSpPr>
          <p:spPr>
            <a:xfrm>
              <a:off x="449967" y="4049054"/>
              <a:ext cx="518556" cy="78156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gr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name="Slide838840368">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EFFAD10-3C25-4E32-A698-B35BAAC3122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EA23AC1E-C7AB-4743-800B-5D489B005F7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3813425-86C9-4F3F-A0A4-4583797CDDF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B38F6F8C-7269-475B-9D9B-2934DFD49FA7}"/>
              </a:ext>
            </a:extLst>
          </p:cNvPr>
          <p:cNvSpPr txBox="1"/>
          <p:nvPr/>
        </p:nvSpPr>
        <p:spPr>
          <a:xfrm>
            <a:off x="11696350" y="6373721"/>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CCE96CC-88D0-4F16-8870-70D648DAC8B4}" type="slidenum">
              <a:rPr sz="1200"/>
              <a:t>366</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73612BE7-B610-4E74-AEAA-492D26ACF05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D4EE5F8A-B497-4499-91D8-B06605BC178F}"/>
              </a:ext>
            </a:extLst>
          </p:cNvPr>
          <p:cNvSpPr/>
          <p:nvPr/>
        </p:nvSpPr>
        <p:spPr>
          <a:xfrm>
            <a:off x="399245" y="1226475"/>
            <a:ext cx="11282159" cy="267765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pitchFamily="34"/>
                <a:ea typeface="Calibri" pitchFamily="34"/>
              </a:rPr>
              <a:t>2. DIS Query Functionality: Search Declaration Query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The introduction of the Declaration Summary Query will enable a trader or Community Service Provider (CSP) to retrieve a list of their declarations, filtered using a number of different search parameters (see the table below). This can be used as a step prior to checking the status of a specific declaration. This functionality is similar to the CHIEF ‘List a Trader’s Uncleared Entries’ (LTUE) capability.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For a declarant or CSP to submit a query on CDS that returns a list of all declarations, an API query can </a:t>
            </a:r>
            <a:r>
              <a:rPr lang="en-GB" sz="1400" b="0" i="0" u="none" strike="noStrike" kern="1200" cap="none" spc="0" baseline="0">
                <a:solidFill>
                  <a:srgbClr val="333333"/>
                </a:solidFill>
                <a:uFillTx/>
                <a:latin typeface="Calibri  "/>
              </a:rPr>
              <a:t>be made using one or more of the following parameters: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p:txBody>
      </p:sp>
      <p:graphicFrame>
        <p:nvGraphicFramePr>
          <p:cNvPr id="9" name="Table 3">
            <a:extLst>
              <a:ext uri="{FF2B5EF4-FFF2-40B4-BE49-F238E27FC236}">
                <a16:creationId xmlns:a16="http://schemas.microsoft.com/office/drawing/2014/main" id="{4CA5448E-3ADC-4218-8466-6F6BE19F13D8}"/>
              </a:ext>
            </a:extLst>
          </p:cNvPr>
          <p:cNvGraphicFramePr>
            <a:graphicFrameLocks noGrp="1"/>
          </p:cNvGraphicFramePr>
          <p:nvPr/>
        </p:nvGraphicFramePr>
        <p:xfrm>
          <a:off x="465722" y="3014045"/>
          <a:ext cx="11180595" cy="2732003"/>
        </p:xfrm>
        <a:graphic>
          <a:graphicData uri="http://schemas.openxmlformats.org/drawingml/2006/table">
            <a:tbl>
              <a:tblPr firstRow="1" bandRow="1">
                <a:effectLst/>
                <a:tableStyleId>{5C22544A-7EE6-4342-B048-85BDC9FD1C3A}</a:tableStyleId>
              </a:tblPr>
              <a:tblGrid>
                <a:gridCol w="889802">
                  <a:extLst>
                    <a:ext uri="{9D8B030D-6E8A-4147-A177-3AD203B41FA5}">
                      <a16:colId xmlns:a16="http://schemas.microsoft.com/office/drawing/2014/main" val="1767858033"/>
                    </a:ext>
                  </a:extLst>
                </a:gridCol>
                <a:gridCol w="1424315">
                  <a:extLst>
                    <a:ext uri="{9D8B030D-6E8A-4147-A177-3AD203B41FA5}">
                      <a16:colId xmlns:a16="http://schemas.microsoft.com/office/drawing/2014/main" val="3807973734"/>
                    </a:ext>
                  </a:extLst>
                </a:gridCol>
                <a:gridCol w="1386230">
                  <a:extLst>
                    <a:ext uri="{9D8B030D-6E8A-4147-A177-3AD203B41FA5}">
                      <a16:colId xmlns:a16="http://schemas.microsoft.com/office/drawing/2014/main" val="2002644703"/>
                    </a:ext>
                  </a:extLst>
                </a:gridCol>
                <a:gridCol w="1275953">
                  <a:extLst>
                    <a:ext uri="{9D8B030D-6E8A-4147-A177-3AD203B41FA5}">
                      <a16:colId xmlns:a16="http://schemas.microsoft.com/office/drawing/2014/main" val="3301072204"/>
                    </a:ext>
                  </a:extLst>
                </a:gridCol>
                <a:gridCol w="1424498">
                  <a:extLst>
                    <a:ext uri="{9D8B030D-6E8A-4147-A177-3AD203B41FA5}">
                      <a16:colId xmlns:a16="http://schemas.microsoft.com/office/drawing/2014/main" val="2958551382"/>
                    </a:ext>
                  </a:extLst>
                </a:gridCol>
                <a:gridCol w="4779797">
                  <a:extLst>
                    <a:ext uri="{9D8B030D-6E8A-4147-A177-3AD203B41FA5}">
                      <a16:colId xmlns:a16="http://schemas.microsoft.com/office/drawing/2014/main" val="1351302427"/>
                    </a:ext>
                  </a:extLst>
                </a:gridCol>
              </a:tblGrid>
              <a:tr h="382054">
                <a:tc>
                  <a:txBody>
                    <a:bodyPr/>
                    <a:lstStyle/>
                    <a:p>
                      <a:pPr lvl="0"/>
                      <a:r>
                        <a:rPr lang="en-GB" sz="1200"/>
                        <a:t>Parameter</a:t>
                      </a:r>
                    </a:p>
                  </a:txBody>
                  <a:tcPr/>
                </a:tc>
                <a:tc>
                  <a:txBody>
                    <a:bodyPr/>
                    <a:lstStyle/>
                    <a:p>
                      <a:pPr lvl="0"/>
                      <a:r>
                        <a:rPr lang="en-GB" sz="1200"/>
                        <a:t>Availability Initially</a:t>
                      </a:r>
                    </a:p>
                  </a:txBody>
                  <a:tcPr/>
                </a:tc>
                <a:tc>
                  <a:txBody>
                    <a:bodyPr/>
                    <a:lstStyle/>
                    <a:p>
                      <a:pPr lvl="0"/>
                      <a:r>
                        <a:rPr lang="en-GB" sz="1200"/>
                        <a:t>Field Completion Rules</a:t>
                      </a:r>
                    </a:p>
                  </a:txBody>
                  <a:tcPr/>
                </a:tc>
                <a:tc>
                  <a:txBody>
                    <a:bodyPr/>
                    <a:lstStyle/>
                    <a:p>
                      <a:pPr lvl="0"/>
                      <a:r>
                        <a:rPr lang="en-GB" sz="1200"/>
                        <a:t>Future Options</a:t>
                      </a:r>
                    </a:p>
                  </a:txBody>
                  <a:tcPr/>
                </a:tc>
                <a:tc>
                  <a:txBody>
                    <a:bodyPr/>
                    <a:lstStyle/>
                    <a:p>
                      <a:pPr lvl="0"/>
                      <a:r>
                        <a:rPr lang="en-GB" sz="1200"/>
                        <a:t>Input Values</a:t>
                      </a:r>
                    </a:p>
                  </a:txBody>
                  <a:tcPr/>
                </a:tc>
                <a:tc>
                  <a:txBody>
                    <a:bodyPr/>
                    <a:lstStyle/>
                    <a:p>
                      <a:pPr lvl="0"/>
                      <a:r>
                        <a:rPr lang="en-GB" sz="1200"/>
                        <a:t>Additional Information</a:t>
                      </a:r>
                    </a:p>
                  </a:txBody>
                  <a:tcPr/>
                </a:tc>
                <a:extLst>
                  <a:ext uri="{0D108BD9-81ED-4DB2-BD59-A6C34878D82A}">
                    <a16:rowId xmlns:a16="http://schemas.microsoft.com/office/drawing/2014/main" val="3159608397"/>
                  </a:ext>
                </a:extLst>
              </a:tr>
              <a:tr h="776846">
                <a:tc>
                  <a:txBody>
                    <a:bodyPr/>
                    <a:lstStyle/>
                    <a:p>
                      <a:pPr lvl="0"/>
                      <a:r>
                        <a:rPr lang="en-GB" sz="1100"/>
                        <a:t>EORI</a:t>
                      </a:r>
                    </a:p>
                  </a:txBody>
                  <a:tcPr marT="90004"/>
                </a:tc>
                <a:tc>
                  <a:txBody>
                    <a:bodyPr/>
                    <a:lstStyle/>
                    <a:p>
                      <a:pPr lvl="0"/>
                      <a:r>
                        <a:rPr lang="en-GB" sz="1100" b="0" i="0" kern="1200">
                          <a:solidFill>
                            <a:srgbClr val="000000"/>
                          </a:solidFill>
                          <a:latin typeface="Calibri"/>
                        </a:rPr>
                        <a:t>Not input. For submitter search, value will be derived using authentication information</a:t>
                      </a:r>
                      <a:endParaRPr lang="en-GB" sz="1100"/>
                    </a:p>
                  </a:txBody>
                  <a:tcPr marT="90004"/>
                </a:tc>
                <a:tc>
                  <a:txBody>
                    <a:bodyPr/>
                    <a:lstStyle/>
                    <a:p>
                      <a:pPr lvl="0"/>
                      <a:r>
                        <a:rPr lang="en-GB" sz="1100"/>
                        <a:t>N/A</a:t>
                      </a:r>
                    </a:p>
                  </a:txBody>
                  <a:tcPr marT="90004"/>
                </a:tc>
                <a:tc>
                  <a:txBody>
                    <a:bodyPr/>
                    <a:lstStyle/>
                    <a:p>
                      <a:pPr lvl="0"/>
                      <a:r>
                        <a:rPr lang="en-GB" sz="1100" b="0"/>
                        <a:t>EORI for </a:t>
                      </a:r>
                      <a:r>
                        <a:rPr lang="en-GB" sz="1100" b="0" kern="1200">
                          <a:solidFill>
                            <a:srgbClr val="000000"/>
                          </a:solidFill>
                          <a:latin typeface="Calibri"/>
                        </a:rPr>
                        <a:t>Importer/Exporter</a:t>
                      </a:r>
                      <a:endParaRPr lang="en-GB" sz="1100" b="0"/>
                    </a:p>
                  </a:txBody>
                  <a:tcPr marT="90004"/>
                </a:tc>
                <a:tc>
                  <a:txBody>
                    <a:bodyPr/>
                    <a:lstStyle/>
                    <a:p>
                      <a:pPr lvl="0"/>
                      <a:r>
                        <a:rPr lang="en-GB" sz="1100"/>
                        <a:t>-</a:t>
                      </a:r>
                    </a:p>
                  </a:txBody>
                  <a:tcPr marT="90004"/>
                </a:tc>
                <a:tc>
                  <a:txBody>
                    <a:bodyPr/>
                    <a:lstStyle/>
                    <a:p>
                      <a:pPr lvl="0"/>
                      <a:r>
                        <a:rPr lang="en-GB" sz="1100"/>
                        <a:t>-</a:t>
                      </a:r>
                    </a:p>
                  </a:txBody>
                  <a:tcPr marT="90004"/>
                </a:tc>
                <a:extLst>
                  <a:ext uri="{0D108BD9-81ED-4DB2-BD59-A6C34878D82A}">
                    <a16:rowId xmlns:a16="http://schemas.microsoft.com/office/drawing/2014/main" val="1893591674"/>
                  </a:ext>
                </a:extLst>
              </a:tr>
              <a:tr h="615436">
                <a:tc>
                  <a:txBody>
                    <a:bodyPr/>
                    <a:lstStyle/>
                    <a:p>
                      <a:pPr lvl="0"/>
                      <a:r>
                        <a:rPr lang="en-GB" sz="1100"/>
                        <a:t>Party Role</a:t>
                      </a:r>
                    </a:p>
                  </a:txBody>
                  <a:tcPr marT="90004"/>
                </a:tc>
                <a:tc>
                  <a:txBody>
                    <a:bodyPr/>
                    <a:lstStyle/>
                    <a:p>
                      <a:pPr lvl="0"/>
                      <a:r>
                        <a:rPr lang="en-GB" sz="1100"/>
                        <a:t>Submitter</a:t>
                      </a:r>
                    </a:p>
                  </a:txBody>
                  <a:tcPr marT="90004"/>
                </a:tc>
                <a:tc>
                  <a:txBody>
                    <a:bodyPr/>
                    <a:lstStyle/>
                    <a:p>
                      <a:pPr lvl="0"/>
                      <a:r>
                        <a:rPr lang="en-GB" sz="1100"/>
                        <a:t>Mandatory</a:t>
                      </a:r>
                    </a:p>
                  </a:txBody>
                  <a:tcPr marT="90004"/>
                </a:tc>
                <a:tc>
                  <a:txBody>
                    <a:bodyPr/>
                    <a:lstStyle/>
                    <a:p>
                      <a:pPr lvl="0"/>
                      <a:r>
                        <a:rPr lang="en-GB" sz="1100" b="0" kern="1200">
                          <a:solidFill>
                            <a:srgbClr val="000000"/>
                          </a:solidFill>
                          <a:latin typeface="Calibri"/>
                        </a:rPr>
                        <a:t>Importer/Exporter/</a:t>
                      </a:r>
                      <a:r>
                        <a:rPr lang="en-GB" sz="1100" b="0"/>
                        <a:t>Declarant </a:t>
                      </a:r>
                    </a:p>
                  </a:txBody>
                  <a:tcPr marL="90004" marR="19046" marT="90004" marB="14292"/>
                </a:tc>
                <a:tc>
                  <a:txBody>
                    <a:bodyPr/>
                    <a:lstStyle/>
                    <a:p>
                      <a:pPr lvl="0"/>
                      <a:r>
                        <a:rPr lang="en-GB" sz="1100"/>
                        <a:t>Submitter/Consignee/</a:t>
                      </a:r>
                    </a:p>
                    <a:p>
                      <a:pPr lvl="0"/>
                      <a:r>
                        <a:rPr lang="en-GB" sz="1100"/>
                        <a:t>Consignor/Declarant (Case Insensitive)</a:t>
                      </a:r>
                    </a:p>
                  </a:txBody>
                  <a:tcPr marL="90004" marR="19046" marT="90004" marB="14292" anchor="ctr"/>
                </a:tc>
                <a:tc>
                  <a:txBody>
                    <a:bodyPr/>
                    <a:lstStyle/>
                    <a:p>
                      <a:pPr lvl="0"/>
                      <a:r>
                        <a:rPr lang="en-GB" sz="1100"/>
                        <a:t>-</a:t>
                      </a:r>
                    </a:p>
                  </a:txBody>
                  <a:tcPr marT="90004"/>
                </a:tc>
                <a:extLst>
                  <a:ext uri="{0D108BD9-81ED-4DB2-BD59-A6C34878D82A}">
                    <a16:rowId xmlns:a16="http://schemas.microsoft.com/office/drawing/2014/main" val="1466652416"/>
                  </a:ext>
                </a:extLst>
              </a:tr>
              <a:tr h="685443">
                <a:tc>
                  <a:txBody>
                    <a:bodyPr/>
                    <a:lstStyle/>
                    <a:p>
                      <a:pPr lvl="0"/>
                      <a:r>
                        <a:rPr lang="en-GB" sz="1100"/>
                        <a:t>Declaration Status</a:t>
                      </a:r>
                    </a:p>
                  </a:txBody>
                  <a:tcPr marT="90004"/>
                </a:tc>
                <a:tc>
                  <a:txBody>
                    <a:bodyPr/>
                    <a:lstStyle/>
                    <a:p>
                      <a:pPr lvl="0"/>
                      <a:r>
                        <a:rPr lang="en-GB" sz="1100" b="0" i="0" kern="1200">
                          <a:solidFill>
                            <a:srgbClr val="000000"/>
                          </a:solidFill>
                          <a:latin typeface="Calibri"/>
                        </a:rPr>
                        <a:t>Cleared/Uncleared/</a:t>
                      </a:r>
                    </a:p>
                    <a:p>
                      <a:pPr lvl="0"/>
                      <a:r>
                        <a:rPr lang="en-GB" sz="1100" b="0" i="0" kern="1200">
                          <a:solidFill>
                            <a:srgbClr val="000000"/>
                          </a:solidFill>
                          <a:latin typeface="Calibri"/>
                        </a:rPr>
                        <a:t>Rejected/All</a:t>
                      </a:r>
                      <a:endParaRPr lang="en-GB" sz="1100"/>
                    </a:p>
                  </a:txBody>
                  <a:tcPr marT="90004"/>
                </a:tc>
                <a:tc>
                  <a:txBody>
                    <a:bodyPr/>
                    <a:lstStyle/>
                    <a:p>
                      <a:pPr lvl="0"/>
                      <a:r>
                        <a:rPr lang="en-GB" sz="1100"/>
                        <a:t>Optional (If parameter not selected then default is Uncleared)</a:t>
                      </a:r>
                    </a:p>
                  </a:txBody>
                  <a:tcPr marL="90004" marR="19046" marT="90004" marB="14292" anchor="ctr"/>
                </a:tc>
                <a:tc>
                  <a:txBody>
                    <a:bodyPr/>
                    <a:lstStyle/>
                    <a:p>
                      <a:pPr lvl="0"/>
                      <a:r>
                        <a:rPr lang="en-GB" sz="1100" b="0"/>
                        <a:t>-</a:t>
                      </a:r>
                    </a:p>
                  </a:txBody>
                  <a:tcPr marT="90004"/>
                </a:tc>
                <a:tc>
                  <a:txBody>
                    <a:bodyPr/>
                    <a:lstStyle/>
                    <a:p>
                      <a:pPr lvl="0"/>
                      <a:r>
                        <a:rPr lang="en-GB" sz="1100"/>
                        <a:t>Uncleared/Cleared/</a:t>
                      </a:r>
                    </a:p>
                    <a:p>
                      <a:pPr lvl="0"/>
                      <a:r>
                        <a:rPr lang="en-GB" sz="1100"/>
                        <a:t>Rejected/All </a:t>
                      </a:r>
                    </a:p>
                    <a:p>
                      <a:pPr lvl="0"/>
                      <a:r>
                        <a:rPr lang="en-GB" sz="1100"/>
                        <a:t>(Case Insensitive)</a:t>
                      </a:r>
                    </a:p>
                  </a:txBody>
                  <a:tcPr marL="90004" marR="19046" marT="90004" marB="14292" anchor="ctr"/>
                </a:tc>
                <a:tc>
                  <a:txBody>
                    <a:bodyPr/>
                    <a:lstStyle/>
                    <a:p>
                      <a:pPr lvl="0"/>
                      <a:r>
                        <a:rPr lang="en-GB" sz="1100" dirty="0"/>
                        <a:t>If parameter not selected, then default entry is "Uncleared". ICS Codes 2,6,16,22 are "Uncleared", ICS Codes 4, 5 and 11 are "Rejected" All other ICS Codes are "Cleared“.</a:t>
                      </a:r>
                    </a:p>
                  </a:txBody>
                  <a:tcPr marL="90004" marR="19046" marT="90004" marB="14292" anchor="ctr"/>
                </a:tc>
                <a:extLst>
                  <a:ext uri="{0D108BD9-81ED-4DB2-BD59-A6C34878D82A}">
                    <a16:rowId xmlns:a16="http://schemas.microsoft.com/office/drawing/2014/main" val="3440217252"/>
                  </a:ext>
                </a:extLst>
              </a:tr>
            </a:tbl>
          </a:graphicData>
        </a:graphic>
      </p:graphicFrame>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name="Slide83884036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564712A-C5FE-4029-B459-358859D9CAD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7E30432-1CA5-4DBA-84A9-8820FCDB18F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1252C1F-D4AF-4409-AE21-307833365FC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1113C0E-38F4-47CA-8D94-8D157B595BD8}"/>
              </a:ext>
            </a:extLst>
          </p:cNvPr>
          <p:cNvSpPr txBox="1"/>
          <p:nvPr/>
        </p:nvSpPr>
        <p:spPr>
          <a:xfrm>
            <a:off x="11667997" y="63808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F848DDB-B0EC-43C8-916E-7F250351D96B}" type="slidenum">
              <a:rPr sz="1200"/>
              <a:t>367</a:t>
            </a:fld>
            <a:endParaRPr lang="en-GB" sz="1200" b="0" i="0" u="none" strike="noStrike" kern="1200" cap="none" spc="0" baseline="0" dirty="0">
              <a:solidFill>
                <a:srgbClr val="000000"/>
              </a:solidFill>
              <a:uFillTx/>
              <a:latin typeface="Calibri"/>
            </a:endParaRPr>
          </a:p>
        </p:txBody>
      </p:sp>
      <p:sp>
        <p:nvSpPr>
          <p:cNvPr id="7" name="Rectangle 7">
            <a:extLst>
              <a:ext uri="{FF2B5EF4-FFF2-40B4-BE49-F238E27FC236}">
                <a16:creationId xmlns:a16="http://schemas.microsoft.com/office/drawing/2014/main" id="{04965CFD-E268-4AA6-B559-66283D7FB967}"/>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8" name="Table 3">
            <a:extLst>
              <a:ext uri="{FF2B5EF4-FFF2-40B4-BE49-F238E27FC236}">
                <a16:creationId xmlns:a16="http://schemas.microsoft.com/office/drawing/2014/main" id="{833E4950-C28C-4FFC-ADCF-358D4DAE2071}"/>
              </a:ext>
            </a:extLst>
          </p:cNvPr>
          <p:cNvGraphicFramePr>
            <a:graphicFrameLocks noGrp="1"/>
          </p:cNvGraphicFramePr>
          <p:nvPr/>
        </p:nvGraphicFramePr>
        <p:xfrm>
          <a:off x="446099" y="1282976"/>
          <a:ext cx="11121186" cy="3482958"/>
        </p:xfrm>
        <a:graphic>
          <a:graphicData uri="http://schemas.openxmlformats.org/drawingml/2006/table">
            <a:tbl>
              <a:tblPr firstRow="1" bandRow="1">
                <a:effectLst/>
                <a:tableStyleId>{5C22544A-7EE6-4342-B048-85BDC9FD1C3A}</a:tableStyleId>
              </a:tblPr>
              <a:tblGrid>
                <a:gridCol w="911940">
                  <a:extLst>
                    <a:ext uri="{9D8B030D-6E8A-4147-A177-3AD203B41FA5}">
                      <a16:colId xmlns:a16="http://schemas.microsoft.com/office/drawing/2014/main" val="3203296618"/>
                    </a:ext>
                  </a:extLst>
                </a:gridCol>
                <a:gridCol w="1414128">
                  <a:extLst>
                    <a:ext uri="{9D8B030D-6E8A-4147-A177-3AD203B41FA5}">
                      <a16:colId xmlns:a16="http://schemas.microsoft.com/office/drawing/2014/main" val="3566774833"/>
                    </a:ext>
                  </a:extLst>
                </a:gridCol>
                <a:gridCol w="1307802">
                  <a:extLst>
                    <a:ext uri="{9D8B030D-6E8A-4147-A177-3AD203B41FA5}">
                      <a16:colId xmlns:a16="http://schemas.microsoft.com/office/drawing/2014/main" val="790562336"/>
                    </a:ext>
                  </a:extLst>
                </a:gridCol>
                <a:gridCol w="903765">
                  <a:extLst>
                    <a:ext uri="{9D8B030D-6E8A-4147-A177-3AD203B41FA5}">
                      <a16:colId xmlns:a16="http://schemas.microsoft.com/office/drawing/2014/main" val="3850929394"/>
                    </a:ext>
                  </a:extLst>
                </a:gridCol>
                <a:gridCol w="1116418">
                  <a:extLst>
                    <a:ext uri="{9D8B030D-6E8A-4147-A177-3AD203B41FA5}">
                      <a16:colId xmlns:a16="http://schemas.microsoft.com/office/drawing/2014/main" val="858640487"/>
                    </a:ext>
                  </a:extLst>
                </a:gridCol>
                <a:gridCol w="5467133">
                  <a:extLst>
                    <a:ext uri="{9D8B030D-6E8A-4147-A177-3AD203B41FA5}">
                      <a16:colId xmlns:a16="http://schemas.microsoft.com/office/drawing/2014/main" val="264926317"/>
                    </a:ext>
                  </a:extLst>
                </a:gridCol>
              </a:tblGrid>
              <a:tr h="214746">
                <a:tc>
                  <a:txBody>
                    <a:bodyPr/>
                    <a:lstStyle/>
                    <a:p>
                      <a:pPr lvl="0"/>
                      <a:r>
                        <a:rPr lang="en-GB" sz="1200"/>
                        <a:t>Parameter</a:t>
                      </a:r>
                    </a:p>
                  </a:txBody>
                  <a:tcPr/>
                </a:tc>
                <a:tc>
                  <a:txBody>
                    <a:bodyPr/>
                    <a:lstStyle/>
                    <a:p>
                      <a:pPr lvl="0"/>
                      <a:r>
                        <a:rPr lang="en-GB" sz="1200"/>
                        <a:t>Availability Initially</a:t>
                      </a:r>
                    </a:p>
                  </a:txBody>
                  <a:tcPr/>
                </a:tc>
                <a:tc>
                  <a:txBody>
                    <a:bodyPr/>
                    <a:lstStyle/>
                    <a:p>
                      <a:pPr lvl="0"/>
                      <a:r>
                        <a:rPr lang="en-GB" sz="1200"/>
                        <a:t>Field Completion Rules</a:t>
                      </a:r>
                    </a:p>
                  </a:txBody>
                  <a:tcPr/>
                </a:tc>
                <a:tc>
                  <a:txBody>
                    <a:bodyPr/>
                    <a:lstStyle/>
                    <a:p>
                      <a:pPr lvl="0"/>
                      <a:r>
                        <a:rPr lang="en-GB" sz="1200"/>
                        <a:t>Future Options</a:t>
                      </a:r>
                    </a:p>
                  </a:txBody>
                  <a:tcPr/>
                </a:tc>
                <a:tc>
                  <a:txBody>
                    <a:bodyPr/>
                    <a:lstStyle/>
                    <a:p>
                      <a:pPr lvl="0"/>
                      <a:r>
                        <a:rPr lang="en-GB" sz="1200"/>
                        <a:t>Input Values</a:t>
                      </a:r>
                    </a:p>
                  </a:txBody>
                  <a:tcPr/>
                </a:tc>
                <a:tc>
                  <a:txBody>
                    <a:bodyPr/>
                    <a:lstStyle/>
                    <a:p>
                      <a:pPr lvl="0"/>
                      <a:r>
                        <a:rPr lang="en-GB" sz="1200"/>
                        <a:t>Additional Information</a:t>
                      </a:r>
                    </a:p>
                  </a:txBody>
                  <a:tcPr/>
                </a:tc>
                <a:extLst>
                  <a:ext uri="{0D108BD9-81ED-4DB2-BD59-A6C34878D82A}">
                    <a16:rowId xmlns:a16="http://schemas.microsoft.com/office/drawing/2014/main" val="602976267"/>
                  </a:ext>
                </a:extLst>
              </a:tr>
              <a:tr h="672879">
                <a:tc>
                  <a:txBody>
                    <a:bodyPr/>
                    <a:lstStyle/>
                    <a:p>
                      <a:pPr lvl="0"/>
                      <a:r>
                        <a:rPr lang="en-GB" sz="1100"/>
                        <a:t>Declaration Category</a:t>
                      </a:r>
                    </a:p>
                  </a:txBody>
                  <a:tcPr marT="90004"/>
                </a:tc>
                <a:tc>
                  <a:txBody>
                    <a:bodyPr/>
                    <a:lstStyle/>
                    <a:p>
                      <a:pPr lvl="0"/>
                      <a:r>
                        <a:rPr lang="en-GB" sz="1100"/>
                        <a:t>Import/Export/All</a:t>
                      </a:r>
                    </a:p>
                  </a:txBody>
                  <a:tcPr marT="90004"/>
                </a:tc>
                <a:tc>
                  <a:txBody>
                    <a:bodyPr/>
                    <a:lstStyle/>
                    <a:p>
                      <a:pPr lvl="0"/>
                      <a:r>
                        <a:rPr lang="en-GB" sz="1100"/>
                        <a:t>Mandatory</a:t>
                      </a:r>
                    </a:p>
                  </a:txBody>
                  <a:tcPr marT="90004"/>
                </a:tc>
                <a:tc>
                  <a:txBody>
                    <a:bodyPr/>
                    <a:lstStyle/>
                    <a:p>
                      <a:pPr lvl="0"/>
                      <a:r>
                        <a:rPr lang="en-GB" sz="1100"/>
                        <a:t>CO</a:t>
                      </a:r>
                    </a:p>
                  </a:txBody>
                  <a:tcPr marT="90004"/>
                </a:tc>
                <a:tc>
                  <a:txBody>
                    <a:bodyPr/>
                    <a:lstStyle/>
                    <a:p>
                      <a:pPr lvl="0"/>
                      <a:r>
                        <a:rPr lang="en-GB" sz="1100"/>
                        <a:t>IM/EX/CO/ALL</a:t>
                      </a:r>
                    </a:p>
                    <a:p>
                      <a:pPr lvl="0"/>
                      <a:r>
                        <a:rPr lang="en-GB" sz="1100"/>
                        <a:t>(Case Sensitive)</a:t>
                      </a:r>
                    </a:p>
                  </a:txBody>
                  <a:tcPr marL="90004" marR="19046" marT="90004" marB="14292"/>
                </a:tc>
                <a:tc>
                  <a:txBody>
                    <a:bodyPr/>
                    <a:lstStyle/>
                    <a:p>
                      <a:pPr lvl="0"/>
                      <a:r>
                        <a:rPr lang="en-GB" sz="1100"/>
                        <a:t>The following declaration type codes are included: A,B,C,D,E,F,J,K </a:t>
                      </a:r>
                    </a:p>
                  </a:txBody>
                  <a:tcPr marL="90004" marR="19046" marT="90004" marB="14292"/>
                </a:tc>
                <a:extLst>
                  <a:ext uri="{0D108BD9-81ED-4DB2-BD59-A6C34878D82A}">
                    <a16:rowId xmlns:a16="http://schemas.microsoft.com/office/drawing/2014/main" val="1063854744"/>
                  </a:ext>
                </a:extLst>
              </a:tr>
              <a:tr h="672879">
                <a:tc>
                  <a:txBody>
                    <a:bodyPr/>
                    <a:lstStyle/>
                    <a:p>
                      <a:pPr lvl="0"/>
                      <a:r>
                        <a:rPr lang="en-GB" sz="1100"/>
                        <a:t>Date From</a:t>
                      </a:r>
                    </a:p>
                  </a:txBody>
                  <a:tcPr marT="90004"/>
                </a:tc>
                <a:tc>
                  <a:txBody>
                    <a:bodyPr/>
                    <a:lstStyle/>
                    <a:p>
                      <a:pPr lvl="0"/>
                      <a:r>
                        <a:rPr lang="en-GB" sz="1100"/>
                        <a:t>Date Range, Date From</a:t>
                      </a:r>
                    </a:p>
                  </a:txBody>
                  <a:tcPr marT="90004"/>
                </a:tc>
                <a:tc>
                  <a:txBody>
                    <a:bodyPr/>
                    <a:lstStyle/>
                    <a:p>
                      <a:pPr marL="0" marR="0" lvl="0" indent="0" algn="l" defTabSz="914400" rtl="0" fontAlgn="auto" hangingPunct="1">
                        <a:lnSpc>
                          <a:spcPct val="100000"/>
                        </a:lnSpc>
                        <a:spcBef>
                          <a:spcPts val="0"/>
                        </a:spcBef>
                        <a:spcAft>
                          <a:spcPts val="0"/>
                        </a:spcAft>
                        <a:buNone/>
                        <a:tabLst/>
                      </a:pPr>
                      <a:r>
                        <a:rPr lang="en-GB" sz="1100"/>
                        <a:t>Optional </a:t>
                      </a:r>
                    </a:p>
                  </a:txBody>
                  <a:tcPr marL="90004" marR="19046" marT="90004" marB="14292"/>
                </a:tc>
                <a:tc>
                  <a:txBody>
                    <a:bodyPr/>
                    <a:lstStyle/>
                    <a:p>
                      <a:pPr marL="0" marR="0" lvl="0" indent="0" algn="l" defTabSz="914400" rtl="0" fontAlgn="auto" hangingPunct="1">
                        <a:lnSpc>
                          <a:spcPct val="100000"/>
                        </a:lnSpc>
                        <a:spcBef>
                          <a:spcPts val="0"/>
                        </a:spcBef>
                        <a:spcAft>
                          <a:spcPts val="0"/>
                        </a:spcAft>
                        <a:buNone/>
                        <a:tabLst/>
                      </a:pPr>
                      <a:r>
                        <a:rPr lang="en-GB" sz="1100"/>
                        <a:t>-</a:t>
                      </a:r>
                    </a:p>
                  </a:txBody>
                  <a:tcPr marT="90004"/>
                </a:tc>
                <a:tc>
                  <a:txBody>
                    <a:bodyPr/>
                    <a:lstStyle/>
                    <a:p>
                      <a:pPr lvl="0" algn="l"/>
                      <a:r>
                        <a:rPr lang="en-GB" sz="1100" kern="1200">
                          <a:solidFill>
                            <a:srgbClr val="000000"/>
                          </a:solidFill>
                          <a:latin typeface="Calibri"/>
                        </a:rPr>
                        <a:t>Date string</a:t>
                      </a:r>
                      <a:br>
                        <a:rPr lang="en-GB" sz="1100" kern="1200">
                          <a:solidFill>
                            <a:srgbClr val="000000"/>
                          </a:solidFill>
                          <a:latin typeface="Calibri"/>
                        </a:rPr>
                      </a:br>
                      <a:r>
                        <a:rPr lang="en-GB" sz="1100" kern="1200">
                          <a:solidFill>
                            <a:srgbClr val="000000"/>
                          </a:solidFill>
                          <a:latin typeface="Calibri"/>
                        </a:rPr>
                        <a:t>(YYYY-MM-DD)</a:t>
                      </a:r>
                      <a:endParaRPr lang="en-GB" sz="1100"/>
                    </a:p>
                  </a:txBody>
                  <a:tcPr marL="90004" marR="19046" marT="90004" marB="14292"/>
                </a:tc>
                <a:tc>
                  <a:txBody>
                    <a:bodyPr/>
                    <a:lstStyle/>
                    <a:p>
                      <a:pPr lvl="0"/>
                      <a:r>
                        <a:rPr lang="en-GB" sz="1100" kern="1200">
                          <a:solidFill>
                            <a:srgbClr val="000000"/>
                          </a:solidFill>
                          <a:latin typeface="Calibri"/>
                        </a:rPr>
                        <a:t>If the submitter only provides a Start Date in the date range of their query, the query must return results from the provided Start Date to the current date (with results returned in descending date order). If no start or end date is entered, the query will return results from the last 30 days.</a:t>
                      </a:r>
                      <a:endParaRPr lang="en-GB" sz="1100"/>
                    </a:p>
                  </a:txBody>
                  <a:tcPr marT="90004"/>
                </a:tc>
                <a:extLst>
                  <a:ext uri="{0D108BD9-81ED-4DB2-BD59-A6C34878D82A}">
                    <a16:rowId xmlns:a16="http://schemas.microsoft.com/office/drawing/2014/main" val="3219629132"/>
                  </a:ext>
                </a:extLst>
              </a:tr>
              <a:tr h="672879">
                <a:tc>
                  <a:txBody>
                    <a:bodyPr/>
                    <a:lstStyle/>
                    <a:p>
                      <a:pPr lvl="0"/>
                      <a:r>
                        <a:rPr lang="en-GB" sz="1100"/>
                        <a:t>Date To</a:t>
                      </a:r>
                    </a:p>
                  </a:txBody>
                  <a:tcPr marT="90004"/>
                </a:tc>
                <a:tc>
                  <a:txBody>
                    <a:bodyPr/>
                    <a:lstStyle/>
                    <a:p>
                      <a:pPr lvl="0"/>
                      <a:r>
                        <a:rPr lang="en-GB" sz="1100"/>
                        <a:t>Date Range, Date To</a:t>
                      </a:r>
                    </a:p>
                  </a:txBody>
                  <a:tcPr marT="90004"/>
                </a:tc>
                <a:tc>
                  <a:txBody>
                    <a:bodyPr/>
                    <a:lstStyle/>
                    <a:p>
                      <a:pPr lvl="0"/>
                      <a:r>
                        <a:rPr lang="en-GB" sz="1100"/>
                        <a:t>Optional</a:t>
                      </a:r>
                    </a:p>
                  </a:txBody>
                  <a:tcPr marL="90004" marR="19046" marT="90004" marB="14292"/>
                </a:tc>
                <a:tc>
                  <a:txBody>
                    <a:bodyPr/>
                    <a:lstStyle/>
                    <a:p>
                      <a:pPr marL="0" marR="0" lvl="0" indent="0" algn="l" defTabSz="914400" rtl="0" fontAlgn="auto" hangingPunct="1">
                        <a:lnSpc>
                          <a:spcPct val="100000"/>
                        </a:lnSpc>
                        <a:spcBef>
                          <a:spcPts val="0"/>
                        </a:spcBef>
                        <a:spcAft>
                          <a:spcPts val="0"/>
                        </a:spcAft>
                        <a:buNone/>
                        <a:tabLst/>
                      </a:pPr>
                      <a:r>
                        <a:rPr lang="en-GB" sz="1100"/>
                        <a:t>-</a:t>
                      </a:r>
                    </a:p>
                  </a:txBody>
                  <a:tcPr marT="90004"/>
                </a:tc>
                <a:tc>
                  <a:txBody>
                    <a:bodyPr/>
                    <a:lstStyle/>
                    <a:p>
                      <a:pPr lvl="0" algn="l"/>
                      <a:r>
                        <a:rPr lang="en-GB" sz="1100" kern="1200">
                          <a:solidFill>
                            <a:srgbClr val="000000"/>
                          </a:solidFill>
                          <a:latin typeface="Calibri"/>
                        </a:rPr>
                        <a:t>Date string</a:t>
                      </a:r>
                      <a:br>
                        <a:rPr lang="en-GB" sz="1100" kern="1200">
                          <a:solidFill>
                            <a:srgbClr val="000000"/>
                          </a:solidFill>
                          <a:latin typeface="Calibri"/>
                        </a:rPr>
                      </a:br>
                      <a:r>
                        <a:rPr lang="en-GB" sz="1100" kern="1200">
                          <a:solidFill>
                            <a:srgbClr val="000000"/>
                          </a:solidFill>
                          <a:latin typeface="Calibri"/>
                        </a:rPr>
                        <a:t>(YYYY-MM-DD)</a:t>
                      </a:r>
                      <a:endParaRPr lang="en-GB" sz="1100"/>
                    </a:p>
                  </a:txBody>
                  <a:tcPr marL="90004" marR="19046" marT="90004" marB="14292"/>
                </a:tc>
                <a:tc>
                  <a:txBody>
                    <a:bodyPr/>
                    <a:lstStyle/>
                    <a:p>
                      <a:pPr lvl="0">
                        <a:lnSpc>
                          <a:spcPts val="1500"/>
                        </a:lnSpc>
                      </a:pPr>
                      <a:r>
                        <a:rPr lang="en-GB" sz="1100">
                          <a:latin typeface="Calibri" pitchFamily="34"/>
                          <a:ea typeface="Calibri" pitchFamily="34"/>
                        </a:rPr>
                        <a:t>If the submitter only provides an End Date in the date range of their query, the query must return results from the earliest related declaration record in the database, to the provided End Date (with results returned in descending date order). If no start or en</a:t>
                      </a:r>
                      <a:r>
                        <a:rPr lang="en-GB" sz="1100">
                          <a:solidFill>
                            <a:srgbClr val="000000"/>
                          </a:solidFill>
                          <a:latin typeface="Calibri" pitchFamily="34"/>
                          <a:ea typeface="Calibri" pitchFamily="34"/>
                        </a:rPr>
                        <a:t>d date is entered, the query will return results from the last 30 days</a:t>
                      </a:r>
                      <a:endParaRPr lang="en-GB" sz="1100">
                        <a:latin typeface="Calibri" pitchFamily="34"/>
                        <a:ea typeface="Calibri" pitchFamily="34"/>
                      </a:endParaRPr>
                    </a:p>
                  </a:txBody>
                  <a:tcPr marL="95253" marR="95253" marT="90004" marB="66678"/>
                </a:tc>
                <a:extLst>
                  <a:ext uri="{0D108BD9-81ED-4DB2-BD59-A6C34878D82A}">
                    <a16:rowId xmlns:a16="http://schemas.microsoft.com/office/drawing/2014/main" val="1640259577"/>
                  </a:ext>
                </a:extLst>
              </a:tr>
              <a:tr h="279175">
                <a:tc>
                  <a:txBody>
                    <a:bodyPr/>
                    <a:lstStyle/>
                    <a:p>
                      <a:pPr lvl="0"/>
                      <a:r>
                        <a:rPr lang="en-GB" sz="1100"/>
                        <a:t>Goods Location Code</a:t>
                      </a:r>
                    </a:p>
                  </a:txBody>
                  <a:tcPr marT="90004"/>
                </a:tc>
                <a:tc>
                  <a:txBody>
                    <a:bodyPr/>
                    <a:lstStyle/>
                    <a:p>
                      <a:pPr lvl="0"/>
                      <a:r>
                        <a:rPr lang="en-GB" sz="1100"/>
                        <a:t>Any Valid Goods Location Code</a:t>
                      </a:r>
                    </a:p>
                  </a:txBody>
                  <a:tcPr marT="90004"/>
                </a:tc>
                <a:tc>
                  <a:txBody>
                    <a:bodyPr/>
                    <a:lstStyle/>
                    <a:p>
                      <a:pPr lvl="0"/>
                      <a:r>
                        <a:rPr lang="en-GB" sz="1100"/>
                        <a:t>Optional</a:t>
                      </a:r>
                    </a:p>
                  </a:txBody>
                  <a:tcPr marT="90004"/>
                </a:tc>
                <a:tc>
                  <a:txBody>
                    <a:bodyPr/>
                    <a:lstStyle/>
                    <a:p>
                      <a:pPr lvl="0"/>
                      <a:r>
                        <a:rPr lang="en-GB" sz="1100"/>
                        <a:t>-</a:t>
                      </a:r>
                    </a:p>
                  </a:txBody>
                  <a:tcPr marT="90004"/>
                </a:tc>
                <a:tc>
                  <a:txBody>
                    <a:bodyPr/>
                    <a:lstStyle/>
                    <a:p>
                      <a:pPr lvl="0"/>
                      <a:r>
                        <a:rPr lang="en-GB" sz="1100"/>
                        <a:t>Valid Goods Location Code Format</a:t>
                      </a:r>
                    </a:p>
                  </a:txBody>
                  <a:tcPr marT="90004"/>
                </a:tc>
                <a:tc>
                  <a:txBody>
                    <a:bodyPr/>
                    <a:lstStyle/>
                    <a:p>
                      <a:pPr lvl="0"/>
                      <a:endParaRPr lang="en-GB" sz="1100" dirty="0"/>
                    </a:p>
                  </a:txBody>
                  <a:tcPr marT="90004"/>
                </a:tc>
                <a:extLst>
                  <a:ext uri="{0D108BD9-81ED-4DB2-BD59-A6C34878D82A}">
                    <a16:rowId xmlns:a16="http://schemas.microsoft.com/office/drawing/2014/main" val="2476678405"/>
                  </a:ext>
                </a:extLst>
              </a:tr>
            </a:tbl>
          </a:graphicData>
        </a:graphic>
      </p:graphicFrame>
      <p:sp>
        <p:nvSpPr>
          <p:cNvPr id="9" name="TextBox 15">
            <a:extLst>
              <a:ext uri="{FF2B5EF4-FFF2-40B4-BE49-F238E27FC236}">
                <a16:creationId xmlns:a16="http://schemas.microsoft.com/office/drawing/2014/main" id="{839B5992-88C0-49F7-876C-70FFA6483C95}"/>
              </a:ext>
            </a:extLst>
          </p:cNvPr>
          <p:cNvSpPr txBox="1"/>
          <p:nvPr/>
        </p:nvSpPr>
        <p:spPr>
          <a:xfrm>
            <a:off x="0" y="4364714"/>
            <a:ext cx="11451506" cy="101566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search returns no results, CDS will return an empty list to the query submitter with a response message confirming no records matching the criteria could be found.</a:t>
            </a:r>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name="Slide455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F982BED-41EA-46C0-8CA4-14858267322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BAAA6F5-A24A-42EA-B599-86D71C0A346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6CDC020-4C5D-4DB3-AC4D-E6C51E0B824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2E37A274-B1D0-4416-8474-7DE2C4250570}"/>
              </a:ext>
            </a:extLst>
          </p:cNvPr>
          <p:cNvSpPr txBox="1"/>
          <p:nvPr/>
        </p:nvSpPr>
        <p:spPr>
          <a:xfrm>
            <a:off x="11645500"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1ACE5F2-B8CE-40C2-932C-943E872CC22C}" type="slidenum">
              <a:rPr sz="1200"/>
              <a:t>368</a:t>
            </a:fld>
            <a:endParaRPr lang="en-GB" sz="1200" b="0" i="0" u="none" strike="noStrike" kern="1200" cap="none" spc="0" baseline="0" dirty="0">
              <a:solidFill>
                <a:srgbClr val="000000"/>
              </a:solidFill>
              <a:uFillTx/>
              <a:latin typeface="Calibri"/>
            </a:endParaRPr>
          </a:p>
        </p:txBody>
      </p:sp>
      <p:sp>
        <p:nvSpPr>
          <p:cNvPr id="7" name="Rectangle 7">
            <a:extLst>
              <a:ext uri="{FF2B5EF4-FFF2-40B4-BE49-F238E27FC236}">
                <a16:creationId xmlns:a16="http://schemas.microsoft.com/office/drawing/2014/main" id="{1397CDC1-882F-466C-BF11-76175E7F1BC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B6592268-9A6A-475D-B199-38094A9A9B42}"/>
              </a:ext>
            </a:extLst>
          </p:cNvPr>
          <p:cNvSpPr/>
          <p:nvPr/>
        </p:nvSpPr>
        <p:spPr>
          <a:xfrm>
            <a:off x="465996" y="2700369"/>
            <a:ext cx="11282159" cy="310853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body)"/>
              <a:cs typeface="Calibri"/>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CDS will return a response for the following declaration types: with a list of declarations in the following states:</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A - full frontier</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B - simplified occasional use frontier</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C - simplified (SDP authorisation) Frontier</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D - full pre-lodged</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E - simplified occasional use pre-lodged</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F - simplified SDP pre-lodged</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J (EIDR) – simplified (EIDR) authorisation) frontier</a:t>
            </a:r>
          </a:p>
          <a:p>
            <a:pPr marL="742950" marR="0" lvl="1"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K (EIDR) – simplified (EIDR authorisation) pre-lodged</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pitchFamily="34"/>
                <a:ea typeface="Calibri" pitchFamily="34"/>
              </a:rPr>
              <a:t>Please Note: </a:t>
            </a:r>
            <a:r>
              <a:rPr lang="en-GB" sz="1400" b="0" i="0" u="none" strike="noStrike" kern="1200" cap="none" spc="0" baseline="0">
                <a:solidFill>
                  <a:srgbClr val="000000"/>
                </a:solidFill>
                <a:uFillTx/>
                <a:latin typeface="Calibri" pitchFamily="34"/>
                <a:ea typeface="Calibri" pitchFamily="34"/>
              </a:rPr>
              <a:t>Supplementary declarations are not returned.</a:t>
            </a: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cs typeface="Calibri"/>
            </a:endParaRPr>
          </a:p>
        </p:txBody>
      </p:sp>
      <p:sp>
        <p:nvSpPr>
          <p:cNvPr id="9" name="TextBox 15">
            <a:extLst>
              <a:ext uri="{FF2B5EF4-FFF2-40B4-BE49-F238E27FC236}">
                <a16:creationId xmlns:a16="http://schemas.microsoft.com/office/drawing/2014/main" id="{B0245E27-F661-412A-AEFF-95435037399E}"/>
              </a:ext>
            </a:extLst>
          </p:cNvPr>
          <p:cNvSpPr txBox="1"/>
          <p:nvPr/>
        </p:nvSpPr>
        <p:spPr>
          <a:xfrm>
            <a:off x="446099" y="1310207"/>
            <a:ext cx="10869829" cy="307777"/>
          </a:xfrm>
          <a:prstGeom prst="rect">
            <a:avLst/>
          </a:prstGeom>
          <a:noFill/>
          <a:ln cap="flat">
            <a:noFill/>
          </a:ln>
        </p:spPr>
        <p:txBody>
          <a:bodyPr vert="horz" wrap="square" lIns="91440" tIns="45720" rIns="91440" bIns="45720" anchor="t" anchorCtr="0" compatLnSpc="1">
            <a:spAutoFit/>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return a query with a list of declarations in the following states:</a:t>
            </a:r>
          </a:p>
        </p:txBody>
      </p:sp>
      <p:graphicFrame>
        <p:nvGraphicFramePr>
          <p:cNvPr id="10" name="Table 3">
            <a:extLst>
              <a:ext uri="{FF2B5EF4-FFF2-40B4-BE49-F238E27FC236}">
                <a16:creationId xmlns:a16="http://schemas.microsoft.com/office/drawing/2014/main" id="{AAF283F0-3E0B-4F0C-8A10-BC5BFEA6C657}"/>
              </a:ext>
            </a:extLst>
          </p:cNvPr>
          <p:cNvGraphicFramePr>
            <a:graphicFrameLocks noGrp="1"/>
          </p:cNvGraphicFramePr>
          <p:nvPr/>
        </p:nvGraphicFramePr>
        <p:xfrm>
          <a:off x="2114047" y="1699778"/>
          <a:ext cx="7725910" cy="822960"/>
        </p:xfrm>
        <a:graphic>
          <a:graphicData uri="http://schemas.openxmlformats.org/drawingml/2006/table">
            <a:tbl>
              <a:tblPr firstRow="1" bandRow="1">
                <a:effectLst/>
                <a:tableStyleId>{5C22544A-7EE6-4342-B048-85BDC9FD1C3A}</a:tableStyleId>
              </a:tblPr>
              <a:tblGrid>
                <a:gridCol w="3862955">
                  <a:extLst>
                    <a:ext uri="{9D8B030D-6E8A-4147-A177-3AD203B41FA5}">
                      <a16:colId xmlns:a16="http://schemas.microsoft.com/office/drawing/2014/main" val="1529435000"/>
                    </a:ext>
                  </a:extLst>
                </a:gridCol>
                <a:gridCol w="3862955">
                  <a:extLst>
                    <a:ext uri="{9D8B030D-6E8A-4147-A177-3AD203B41FA5}">
                      <a16:colId xmlns:a16="http://schemas.microsoft.com/office/drawing/2014/main" val="3515385586"/>
                    </a:ext>
                  </a:extLst>
                </a:gridCol>
              </a:tblGrid>
              <a:tr h="0">
                <a:tc>
                  <a:txBody>
                    <a:bodyPr/>
                    <a:lstStyle/>
                    <a:p>
                      <a:pPr lvl="0"/>
                      <a:r>
                        <a:rPr lang="en-GB" sz="1200"/>
                        <a:t>Import Declarations</a:t>
                      </a:r>
                    </a:p>
                  </a:txBody>
                  <a:tcPr/>
                </a:tc>
                <a:tc>
                  <a:txBody>
                    <a:bodyPr/>
                    <a:lstStyle/>
                    <a:p>
                      <a:pPr lvl="0"/>
                      <a:r>
                        <a:rPr lang="en-GB" sz="1200"/>
                        <a:t>Export Declarations waiting Permission to Progress (P2P)</a:t>
                      </a:r>
                    </a:p>
                  </a:txBody>
                  <a:tcPr/>
                </a:tc>
                <a:extLst>
                  <a:ext uri="{0D108BD9-81ED-4DB2-BD59-A6C34878D82A}">
                    <a16:rowId xmlns:a16="http://schemas.microsoft.com/office/drawing/2014/main" val="2462641227"/>
                  </a:ext>
                </a:extLst>
              </a:tr>
              <a:tr h="0">
                <a:tc>
                  <a:txBody>
                    <a:bodyPr/>
                    <a:lstStyle/>
                    <a:p>
                      <a:pPr lvl="0"/>
                      <a:r>
                        <a:rPr lang="en-GB" sz="1200"/>
                        <a:t>Pre-lodged</a:t>
                      </a:r>
                    </a:p>
                  </a:txBody>
                  <a:tcPr/>
                </a:tc>
                <a:tc>
                  <a:txBody>
                    <a:bodyPr/>
                    <a:lstStyle/>
                    <a:p>
                      <a:pPr marL="0" marR="0" lvl="0" indent="0" algn="l" defTabSz="914400" rtl="0" fontAlgn="auto" hangingPunct="1">
                        <a:lnSpc>
                          <a:spcPct val="100000"/>
                        </a:lnSpc>
                        <a:spcBef>
                          <a:spcPts val="0"/>
                        </a:spcBef>
                        <a:spcAft>
                          <a:spcPts val="0"/>
                        </a:spcAft>
                        <a:buNone/>
                        <a:tabLst/>
                      </a:pPr>
                      <a:r>
                        <a:rPr lang="en-GB" sz="1200"/>
                        <a:t>Pre-lodged</a:t>
                      </a:r>
                    </a:p>
                  </a:txBody>
                  <a:tcPr/>
                </a:tc>
                <a:extLst>
                  <a:ext uri="{0D108BD9-81ED-4DB2-BD59-A6C34878D82A}">
                    <a16:rowId xmlns:a16="http://schemas.microsoft.com/office/drawing/2014/main" val="2127666193"/>
                  </a:ext>
                </a:extLst>
              </a:tr>
              <a:tr h="0">
                <a:tc>
                  <a:txBody>
                    <a:bodyPr/>
                    <a:lstStyle/>
                    <a:p>
                      <a:pPr lvl="0"/>
                      <a:r>
                        <a:rPr lang="en-GB" sz="1200"/>
                        <a:t>Arrived</a:t>
                      </a:r>
                    </a:p>
                  </a:txBody>
                  <a:tcPr/>
                </a:tc>
                <a:tc>
                  <a:txBody>
                    <a:bodyPr/>
                    <a:lstStyle/>
                    <a:p>
                      <a:pPr lvl="0"/>
                      <a:r>
                        <a:rPr lang="en-GB" sz="1200" dirty="0"/>
                        <a:t>Arrived and awaiting permission to progress (P2P)</a:t>
                      </a:r>
                    </a:p>
                  </a:txBody>
                  <a:tcPr/>
                </a:tc>
                <a:extLst>
                  <a:ext uri="{0D108BD9-81ED-4DB2-BD59-A6C34878D82A}">
                    <a16:rowId xmlns:a16="http://schemas.microsoft.com/office/drawing/2014/main" val="2379161976"/>
                  </a:ext>
                </a:extLst>
              </a:tr>
            </a:tbl>
          </a:graphicData>
        </a:graphic>
      </p:graphicFrame>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name="Slide457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55FAC56-380C-4E9F-B191-B7B077AF762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9A2B5A1-7659-4B2E-81E5-E45C897E503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69E708A-8C1C-4C62-B401-50964AB9CE6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6554A69-F831-450F-83C3-3C6E4E033AA5}"/>
              </a:ext>
            </a:extLst>
          </p:cNvPr>
          <p:cNvSpPr txBox="1"/>
          <p:nvPr/>
        </p:nvSpPr>
        <p:spPr>
          <a:xfrm>
            <a:off x="11629597"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5AC1A9A-42F0-4103-9560-B98A88E64F0D}" type="slidenum">
              <a:rPr sz="1200"/>
              <a:t>369</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DE4AA64E-7EFD-42AF-947D-39688EABE4F8}"/>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TextBox 15">
            <a:extLst>
              <a:ext uri="{FF2B5EF4-FFF2-40B4-BE49-F238E27FC236}">
                <a16:creationId xmlns:a16="http://schemas.microsoft.com/office/drawing/2014/main" id="{C8666FE0-07A5-464A-954F-3A0AEAFE7C09}"/>
              </a:ext>
            </a:extLst>
          </p:cNvPr>
          <p:cNvSpPr txBox="1"/>
          <p:nvPr/>
        </p:nvSpPr>
        <p:spPr>
          <a:xfrm>
            <a:off x="446099" y="1255041"/>
            <a:ext cx="10869829" cy="523219"/>
          </a:xfrm>
          <a:prstGeom prst="rect">
            <a:avLst/>
          </a:prstGeom>
          <a:noFill/>
          <a:ln cap="flat">
            <a:noFill/>
          </a:ln>
        </p:spPr>
        <p:txBody>
          <a:bodyPr vert="horz" wrap="square" lIns="91440" tIns="45720" rIns="91440" bIns="45720" anchor="t" anchorCtr="0" compatLnSpc="1">
            <a:spAutoFit/>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the entered search parameter is valid, and CDS has processed this successfully, the following information will be returned to the trader for each declaration:</a:t>
            </a:r>
          </a:p>
        </p:txBody>
      </p:sp>
      <p:graphicFrame>
        <p:nvGraphicFramePr>
          <p:cNvPr id="9" name="Table 2">
            <a:extLst>
              <a:ext uri="{FF2B5EF4-FFF2-40B4-BE49-F238E27FC236}">
                <a16:creationId xmlns:a16="http://schemas.microsoft.com/office/drawing/2014/main" id="{8CE8DA03-4F1C-4564-9760-4230392A3C2A}"/>
              </a:ext>
            </a:extLst>
          </p:cNvPr>
          <p:cNvGraphicFramePr>
            <a:graphicFrameLocks noGrp="1"/>
          </p:cNvGraphicFramePr>
          <p:nvPr/>
        </p:nvGraphicFramePr>
        <p:xfrm>
          <a:off x="1809670" y="1724375"/>
          <a:ext cx="8572655" cy="4576981"/>
        </p:xfrm>
        <a:graphic>
          <a:graphicData uri="http://schemas.openxmlformats.org/drawingml/2006/table">
            <a:tbl>
              <a:tblPr firstRow="1" bandRow="1">
                <a:effectLst/>
                <a:tableStyleId>{5C22544A-7EE6-4342-B048-85BDC9FD1C3A}</a:tableStyleId>
              </a:tblPr>
              <a:tblGrid>
                <a:gridCol w="4133929">
                  <a:extLst>
                    <a:ext uri="{9D8B030D-6E8A-4147-A177-3AD203B41FA5}">
                      <a16:colId xmlns:a16="http://schemas.microsoft.com/office/drawing/2014/main" val="3128830357"/>
                    </a:ext>
                  </a:extLst>
                </a:gridCol>
                <a:gridCol w="4438726">
                  <a:extLst>
                    <a:ext uri="{9D8B030D-6E8A-4147-A177-3AD203B41FA5}">
                      <a16:colId xmlns:a16="http://schemas.microsoft.com/office/drawing/2014/main" val="3610556453"/>
                    </a:ext>
                  </a:extLst>
                </a:gridCol>
              </a:tblGrid>
              <a:tr h="236911">
                <a:tc>
                  <a:txBody>
                    <a:bodyPr/>
                    <a:lstStyle/>
                    <a:p>
                      <a:pPr lvl="0"/>
                      <a:r>
                        <a:rPr lang="en-GB" sz="1100"/>
                        <a:t>Data</a:t>
                      </a:r>
                      <a:endParaRPr lang="en-GB" sz="1100">
                        <a:latin typeface="Arial" pitchFamily="34"/>
                        <a:ea typeface="Calibri" pitchFamily="34"/>
                      </a:endParaRPr>
                    </a:p>
                  </a:txBody>
                  <a:tcPr marL="90004" marR="90004" marT="46798" marB="46798"/>
                </a:tc>
                <a:tc>
                  <a:txBody>
                    <a:bodyPr/>
                    <a:lstStyle/>
                    <a:p>
                      <a:pPr lvl="0" algn="l"/>
                      <a:r>
                        <a:rPr lang="en-GB" sz="1100"/>
                        <a:t>CDS Description</a:t>
                      </a:r>
                    </a:p>
                  </a:txBody>
                  <a:tcPr marL="90004" marR="90004" marT="46798" marB="46798"/>
                </a:tc>
                <a:extLst>
                  <a:ext uri="{0D108BD9-81ED-4DB2-BD59-A6C34878D82A}">
                    <a16:rowId xmlns:a16="http://schemas.microsoft.com/office/drawing/2014/main" val="3542289364"/>
                  </a:ext>
                </a:extLst>
              </a:tr>
              <a:tr h="247912">
                <a:tc>
                  <a:txBody>
                    <a:bodyPr/>
                    <a:lstStyle/>
                    <a:p>
                      <a:pPr lvl="0">
                        <a:lnSpc>
                          <a:spcPts val="1500"/>
                        </a:lnSpc>
                      </a:pPr>
                      <a:r>
                        <a:rPr lang="en-GB" sz="1100"/>
                        <a:t>ID</a:t>
                      </a:r>
                      <a:endParaRPr lang="en-GB" sz="1100">
                        <a:latin typeface="Calibri" pitchFamily="34"/>
                        <a:ea typeface="Calibri" pitchFamily="34"/>
                      </a:endParaRPr>
                    </a:p>
                  </a:txBody>
                  <a:tcPr marL="90004" marR="90004" marT="46798" marB="46798"/>
                </a:tc>
                <a:tc>
                  <a:txBody>
                    <a:bodyPr/>
                    <a:lstStyle/>
                    <a:p>
                      <a:pPr lvl="0">
                        <a:lnSpc>
                          <a:spcPts val="1500"/>
                        </a:lnSpc>
                      </a:pPr>
                      <a:r>
                        <a:rPr lang="en-GB" sz="1100"/>
                        <a:t>Movement Reference Number (MRN)</a:t>
                      </a:r>
                    </a:p>
                  </a:txBody>
                  <a:tcPr marL="90004" marR="90004" marT="46798" marB="46798"/>
                </a:tc>
                <a:extLst>
                  <a:ext uri="{0D108BD9-81ED-4DB2-BD59-A6C34878D82A}">
                    <a16:rowId xmlns:a16="http://schemas.microsoft.com/office/drawing/2014/main" val="3074171107"/>
                  </a:ext>
                </a:extLst>
              </a:tr>
              <a:tr h="247912">
                <a:tc>
                  <a:txBody>
                    <a:bodyPr/>
                    <a:lstStyle/>
                    <a:p>
                      <a:pPr lvl="0">
                        <a:lnSpc>
                          <a:spcPts val="1500"/>
                        </a:lnSpc>
                      </a:pPr>
                      <a:r>
                        <a:rPr lang="en-GB" sz="1100"/>
                        <a:t>ReceivedDateTime/DateTimeString </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Date &amp; Time Declaration Received on. System Generated (Digital)</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1872869813"/>
                  </a:ext>
                </a:extLst>
              </a:tr>
              <a:tr h="247912">
                <a:tc>
                  <a:txBody>
                    <a:bodyPr/>
                    <a:lstStyle/>
                    <a:p>
                      <a:pPr lvl="0">
                        <a:lnSpc>
                          <a:spcPts val="1500"/>
                        </a:lnSpc>
                      </a:pPr>
                      <a:r>
                        <a:rPr lang="en-GB" sz="1100"/>
                        <a:t>ROE</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Customs Route. Result of risking</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2288447437"/>
                  </a:ext>
                </a:extLst>
              </a:tr>
              <a:tr h="247912">
                <a:tc>
                  <a:txBody>
                    <a:bodyPr/>
                    <a:lstStyle/>
                    <a:p>
                      <a:pPr lvl="0">
                        <a:lnSpc>
                          <a:spcPts val="1500"/>
                        </a:lnSpc>
                      </a:pPr>
                      <a:r>
                        <a:rPr lang="en-GB" sz="1100"/>
                        <a:t>ICS</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ICS / SOE Code</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2898919861"/>
                  </a:ext>
                </a:extLst>
              </a:tr>
              <a:tr h="420669">
                <a:tc>
                  <a:txBody>
                    <a:bodyPr/>
                    <a:lstStyle/>
                    <a:p>
                      <a:pPr lvl="0">
                        <a:lnSpc>
                          <a:spcPts val="1500"/>
                        </a:lnSpc>
                      </a:pPr>
                      <a:r>
                        <a:rPr lang="en-GB" sz="1100"/>
                        <a:t>LRN</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Functional Reference ID</a:t>
                      </a:r>
                      <a:br>
                        <a:rPr lang="en-GB" sz="1100"/>
                      </a:br>
                      <a:r>
                        <a:rPr lang="en-GB" sz="1100"/>
                        <a:t>D.E. 2/5</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2016415243"/>
                  </a:ext>
                </a:extLst>
              </a:tr>
              <a:tr h="247912">
                <a:tc>
                  <a:txBody>
                    <a:bodyPr/>
                    <a:lstStyle/>
                    <a:p>
                      <a:pPr lvl="0">
                        <a:lnSpc>
                          <a:spcPts val="1500"/>
                        </a:lnSpc>
                      </a:pPr>
                      <a:r>
                        <a:rPr lang="en-GB" sz="1100"/>
                        <a:t>FunctionCode</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Function code is always set to 9.</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1983185608"/>
                  </a:ext>
                </a:extLst>
              </a:tr>
              <a:tr h="420669">
                <a:tc>
                  <a:txBody>
                    <a:bodyPr/>
                    <a:lstStyle/>
                    <a:p>
                      <a:pPr lvl="0">
                        <a:lnSpc>
                          <a:spcPts val="1500"/>
                        </a:lnSpc>
                      </a:pPr>
                      <a:r>
                        <a:rPr lang="en-GB" sz="1100"/>
                        <a:t>TypeCode</a:t>
                      </a:r>
                      <a:endParaRPr lang="en-GB" sz="1100">
                        <a:latin typeface="Calibri" pitchFamily="34"/>
                        <a:ea typeface="Calibri" pitchFamily="34"/>
                      </a:endParaRPr>
                    </a:p>
                  </a:txBody>
                  <a:tcPr marL="90004" marR="90004" marT="46798" marB="46798"/>
                </a:tc>
                <a:tc>
                  <a:txBody>
                    <a:bodyPr/>
                    <a:lstStyle/>
                    <a:p>
                      <a:pPr lvl="0">
                        <a:lnSpc>
                          <a:spcPts val="1500"/>
                        </a:lnSpc>
                        <a:spcBef>
                          <a:spcPts val="750"/>
                        </a:spcBef>
                      </a:pPr>
                      <a:r>
                        <a:rPr lang="en-GB" sz="1100"/>
                        <a:t>Declaration Category concatenated with Declaration Type</a:t>
                      </a:r>
                      <a:br>
                        <a:rPr lang="en-GB" sz="1100"/>
                      </a:br>
                      <a:r>
                        <a:rPr lang="en-GB" sz="1100"/>
                        <a:t>D.E. 1/1 + D.E. 1/2</a:t>
                      </a:r>
                      <a:endParaRPr lang="en-GB" sz="1100">
                        <a:latin typeface="Calibri" pitchFamily="34"/>
                        <a:ea typeface="Calibri" pitchFamily="34"/>
                      </a:endParaRPr>
                    </a:p>
                  </a:txBody>
                  <a:tcPr marL="90004" marR="90004" marT="46798" marB="46798"/>
                </a:tc>
                <a:extLst>
                  <a:ext uri="{0D108BD9-81ED-4DB2-BD59-A6C34878D82A}">
                    <a16:rowId xmlns:a16="http://schemas.microsoft.com/office/drawing/2014/main" val="1635289358"/>
                  </a:ext>
                </a:extLst>
              </a:tr>
              <a:tr h="247912">
                <a:tc>
                  <a:txBody>
                    <a:bodyPr/>
                    <a:lstStyle/>
                    <a:p>
                      <a:pPr lvl="0">
                        <a:lnSpc>
                          <a:spcPts val="1500"/>
                        </a:lnSpc>
                      </a:pPr>
                      <a:r>
                        <a:rPr lang="en-GB" sz="1100"/>
                        <a:t>GoodsShipment/Consignment/GoodsLocation/Name</a:t>
                      </a:r>
                      <a:endParaRPr lang="en-GB" sz="1100">
                        <a:latin typeface="Calibri" pitchFamily="34"/>
                        <a:ea typeface="Calibri" pitchFamily="34"/>
                      </a:endParaRPr>
                    </a:p>
                  </a:txBody>
                  <a:tcPr marL="90004" marR="90004" marT="46798" marB="46798"/>
                </a:tc>
                <a:tc>
                  <a:txBody>
                    <a:bodyPr/>
                    <a:lstStyle/>
                    <a:p>
                      <a:pPr lvl="0"/>
                      <a:r>
                        <a:rPr lang="en-GB" sz="1100"/>
                        <a:t>Name of the place where goods are located</a:t>
                      </a:r>
                      <a:endParaRPr lang="en-GB" sz="1100">
                        <a:latin typeface="Arial" pitchFamily="34"/>
                        <a:ea typeface="Calibri" pitchFamily="34"/>
                      </a:endParaRPr>
                    </a:p>
                  </a:txBody>
                  <a:tcPr marL="90004" marR="90004" marT="46798" marB="46798"/>
                </a:tc>
                <a:extLst>
                  <a:ext uri="{0D108BD9-81ED-4DB2-BD59-A6C34878D82A}">
                    <a16:rowId xmlns:a16="http://schemas.microsoft.com/office/drawing/2014/main" val="2775881115"/>
                  </a:ext>
                </a:extLst>
              </a:tr>
              <a:tr h="247912">
                <a:tc>
                  <a:txBody>
                    <a:bodyPr/>
                    <a:lstStyle/>
                    <a:p>
                      <a:pPr lvl="0">
                        <a:lnSpc>
                          <a:spcPts val="1500"/>
                        </a:lnSpc>
                      </a:pPr>
                      <a:r>
                        <a:rPr lang="en-GB" sz="1100"/>
                        <a:t>GoodsShipment/Consignment/GoodsLocation/TypeCode</a:t>
                      </a:r>
                      <a:endParaRPr lang="en-GB" sz="1100">
                        <a:latin typeface="Calibri" pitchFamily="34"/>
                        <a:ea typeface="Calibri" pitchFamily="34"/>
                      </a:endParaRPr>
                    </a:p>
                  </a:txBody>
                  <a:tcPr marL="90004" marR="90004" marT="46798" marB="46798"/>
                </a:tc>
                <a:tc>
                  <a:txBody>
                    <a:bodyPr/>
                    <a:lstStyle/>
                    <a:p>
                      <a:pPr lvl="0"/>
                      <a:r>
                        <a:rPr lang="en-GB" sz="1100"/>
                        <a:t>Goods location type code</a:t>
                      </a:r>
                      <a:endParaRPr lang="en-GB" sz="1100">
                        <a:latin typeface="Arial" pitchFamily="34"/>
                        <a:ea typeface="Calibri" pitchFamily="34"/>
                      </a:endParaRPr>
                    </a:p>
                  </a:txBody>
                  <a:tcPr marL="90004" marR="90004" marT="46798" marB="46798"/>
                </a:tc>
                <a:extLst>
                  <a:ext uri="{0D108BD9-81ED-4DB2-BD59-A6C34878D82A}">
                    <a16:rowId xmlns:a16="http://schemas.microsoft.com/office/drawing/2014/main" val="2390643166"/>
                  </a:ext>
                </a:extLst>
              </a:tr>
              <a:tr h="420669">
                <a:tc>
                  <a:txBody>
                    <a:bodyPr/>
                    <a:lstStyle/>
                    <a:p>
                      <a:pPr lvl="0">
                        <a:lnSpc>
                          <a:spcPts val="1500"/>
                        </a:lnSpc>
                      </a:pPr>
                      <a:r>
                        <a:rPr lang="en-GB" sz="1100">
                          <a:latin typeface="Calibri (body)"/>
                        </a:rPr>
                        <a:t>GoodsShipment/Consignment/GoodsLocation/Address/</a:t>
                      </a:r>
                    </a:p>
                    <a:p>
                      <a:pPr lvl="0">
                        <a:lnSpc>
                          <a:spcPts val="1500"/>
                        </a:lnSpc>
                      </a:pPr>
                      <a:r>
                        <a:rPr lang="en-GB" sz="1100">
                          <a:latin typeface="Calibri (body)"/>
                        </a:rPr>
                        <a:t>TypeCode</a:t>
                      </a:r>
                      <a:endParaRPr lang="en-GB" sz="1100">
                        <a:latin typeface="Calibri (body)"/>
                        <a:ea typeface="Calibri" pitchFamily="34"/>
                      </a:endParaRPr>
                    </a:p>
                  </a:txBody>
                  <a:tcPr marL="90004" marR="90004" marT="46798" marB="46798"/>
                </a:tc>
                <a:tc>
                  <a:txBody>
                    <a:bodyPr/>
                    <a:lstStyle/>
                    <a:p>
                      <a:pPr lvl="0"/>
                      <a:r>
                        <a:rPr lang="en-GB" sz="1100">
                          <a:latin typeface="Calibri (body)"/>
                        </a:rPr>
                        <a:t>Type of address</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3894658649"/>
                  </a:ext>
                </a:extLst>
              </a:tr>
              <a:tr h="420669">
                <a:tc>
                  <a:txBody>
                    <a:bodyPr/>
                    <a:lstStyle/>
                    <a:p>
                      <a:pPr lvl="0">
                        <a:lnSpc>
                          <a:spcPts val="1500"/>
                        </a:lnSpc>
                      </a:pPr>
                      <a:r>
                        <a:rPr lang="en-GB" sz="1100">
                          <a:latin typeface="Calibri (body)"/>
                        </a:rPr>
                        <a:t>GoodsShipment/Consignment/GoodsLocation/Address/</a:t>
                      </a:r>
                    </a:p>
                    <a:p>
                      <a:pPr lvl="0">
                        <a:lnSpc>
                          <a:spcPts val="1500"/>
                        </a:lnSpc>
                      </a:pPr>
                      <a:r>
                        <a:rPr lang="en-GB" sz="1100">
                          <a:latin typeface="Calibri (body)"/>
                        </a:rPr>
                        <a:t>CountryCode</a:t>
                      </a:r>
                      <a:endParaRPr lang="en-GB" sz="1100">
                        <a:latin typeface="Calibri (body)"/>
                        <a:ea typeface="Calibri" pitchFamily="34"/>
                      </a:endParaRPr>
                    </a:p>
                  </a:txBody>
                  <a:tcPr marL="90004" marR="90004" marT="46798" marB="46798"/>
                </a:tc>
                <a:tc>
                  <a:txBody>
                    <a:bodyPr/>
                    <a:lstStyle/>
                    <a:p>
                      <a:pPr lvl="0"/>
                      <a:r>
                        <a:rPr lang="en-GB" sz="1100">
                          <a:latin typeface="Calibri (body)"/>
                        </a:rPr>
                        <a:t>Country code of address</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460560732"/>
                  </a:ext>
                </a:extLst>
              </a:tr>
              <a:tr h="247912">
                <a:tc>
                  <a:txBody>
                    <a:bodyPr/>
                    <a:lstStyle/>
                    <a:p>
                      <a:pPr lvl="0">
                        <a:lnSpc>
                          <a:spcPts val="1500"/>
                        </a:lnSpc>
                      </a:pPr>
                      <a:r>
                        <a:rPr lang="en-GB" sz="1100">
                          <a:latin typeface="Calibri (body)"/>
                        </a:rPr>
                        <a:t>GoodsShipment/PreviousDocument/ID</a:t>
                      </a:r>
                      <a:endParaRPr lang="en-GB" sz="1100">
                        <a:latin typeface="Calibri (body)"/>
                        <a:ea typeface="Calibri" pitchFamily="34"/>
                      </a:endParaRPr>
                    </a:p>
                  </a:txBody>
                  <a:tcPr marL="90004" marR="90004" marT="46798" marB="46798"/>
                </a:tc>
                <a:tc>
                  <a:txBody>
                    <a:bodyPr/>
                    <a:lstStyle/>
                    <a:p>
                      <a:pPr lvl="0"/>
                      <a:r>
                        <a:rPr lang="en-GB" sz="1100">
                          <a:latin typeface="Calibri (body)"/>
                        </a:rPr>
                        <a:t>The ID of a previous document. A DUCR or MUCR</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523113930"/>
                  </a:ext>
                </a:extLst>
              </a:tr>
              <a:tr h="247912">
                <a:tc>
                  <a:txBody>
                    <a:bodyPr/>
                    <a:lstStyle/>
                    <a:p>
                      <a:pPr lvl="0">
                        <a:lnSpc>
                          <a:spcPts val="1500"/>
                        </a:lnSpc>
                      </a:pPr>
                      <a:r>
                        <a:rPr lang="en-GB" sz="1100">
                          <a:latin typeface="Calibri (body)"/>
                        </a:rPr>
                        <a:t>GoodsShipment/PreviousDocument/TypeCode</a:t>
                      </a:r>
                      <a:endParaRPr lang="en-GB" sz="1100">
                        <a:latin typeface="Calibri (body)"/>
                        <a:ea typeface="Calibri" pitchFamily="34"/>
                      </a:endParaRPr>
                    </a:p>
                  </a:txBody>
                  <a:tcPr marL="90004" marR="90004" marT="46798" marB="46798"/>
                </a:tc>
                <a:tc>
                  <a:txBody>
                    <a:bodyPr/>
                    <a:lstStyle/>
                    <a:p>
                      <a:pPr lvl="0"/>
                      <a:r>
                        <a:rPr lang="en-GB" sz="1100" dirty="0">
                          <a:latin typeface="Calibri (body)"/>
                        </a:rPr>
                        <a:t>The type of a previous document</a:t>
                      </a:r>
                      <a:endParaRPr lang="en-GB" sz="1100" dirty="0">
                        <a:latin typeface="Calibri (body)"/>
                        <a:ea typeface="Calibri" pitchFamily="34"/>
                      </a:endParaRPr>
                    </a:p>
                  </a:txBody>
                  <a:tcPr marL="90004" marR="90004" marT="46798" marB="46798"/>
                </a:tc>
                <a:extLst>
                  <a:ext uri="{0D108BD9-81ED-4DB2-BD59-A6C34878D82A}">
                    <a16:rowId xmlns:a16="http://schemas.microsoft.com/office/drawing/2014/main" val="951982730"/>
                  </a:ext>
                </a:extLst>
              </a:tr>
            </a:tbl>
          </a:graphicData>
        </a:graphic>
      </p:graphicFrame>
      <p:sp>
        <p:nvSpPr>
          <p:cNvPr id="10" name="TextBox 12">
            <a:extLst>
              <a:ext uri="{FF2B5EF4-FFF2-40B4-BE49-F238E27FC236}">
                <a16:creationId xmlns:a16="http://schemas.microsoft.com/office/drawing/2014/main" id="{F6B30DD6-1D11-4A4C-B9AA-78DF518F534A}"/>
              </a:ext>
            </a:extLst>
          </p:cNvPr>
          <p:cNvSpPr txBox="1"/>
          <p:nvPr/>
        </p:nvSpPr>
        <p:spPr>
          <a:xfrm>
            <a:off x="1739581" y="6308847"/>
            <a:ext cx="8712823" cy="26160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Please Note: </a:t>
            </a:r>
            <a:r>
              <a:rPr lang="en-GB" sz="1100" b="0" i="0" u="none" strike="noStrike" kern="1200" cap="none" spc="0" baseline="0">
                <a:solidFill>
                  <a:srgbClr val="000000"/>
                </a:solidFill>
                <a:uFillTx/>
                <a:latin typeface="Calibri"/>
              </a:rPr>
              <a:t>The data will be paginated to 50 records per page, and will be consistent for 3 minutes for each unique search. </a:t>
            </a:r>
          </a:p>
        </p:txBody>
      </p:sp>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name="Slide4572">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69E532A-068C-4F31-915D-1D2C95282A1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B995C2D-6D1B-44D1-9FBD-A54C20A7D56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4E10EDD-3F15-4533-BFE2-2C04604A3D95}"/>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6DACB2D-6117-484A-A950-B57279D751FD}"/>
              </a:ext>
            </a:extLst>
          </p:cNvPr>
          <p:cNvSpPr txBox="1"/>
          <p:nvPr/>
        </p:nvSpPr>
        <p:spPr>
          <a:xfrm>
            <a:off x="11629596"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2EF739B-0435-4EAF-8EA3-7B9B2A4232BE}" type="slidenum">
              <a:rPr sz="1200"/>
              <a:t>370</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174DB57E-5216-4DCB-845F-D7D5F061054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graphicFrame>
        <p:nvGraphicFramePr>
          <p:cNvPr id="8" name="Table 2">
            <a:extLst>
              <a:ext uri="{FF2B5EF4-FFF2-40B4-BE49-F238E27FC236}">
                <a16:creationId xmlns:a16="http://schemas.microsoft.com/office/drawing/2014/main" id="{6CD3654B-A90F-41FC-9A35-C82F0356FC4B}"/>
              </a:ext>
            </a:extLst>
          </p:cNvPr>
          <p:cNvGraphicFramePr>
            <a:graphicFrameLocks noGrp="1"/>
          </p:cNvGraphicFramePr>
          <p:nvPr/>
        </p:nvGraphicFramePr>
        <p:xfrm>
          <a:off x="1838328" y="1268263"/>
          <a:ext cx="8712823" cy="2638656"/>
        </p:xfrm>
        <a:graphic>
          <a:graphicData uri="http://schemas.openxmlformats.org/drawingml/2006/table">
            <a:tbl>
              <a:tblPr firstRow="1" bandRow="1">
                <a:effectLst/>
                <a:tableStyleId>{5C22544A-7EE6-4342-B048-85BDC9FD1C3A}</a:tableStyleId>
              </a:tblPr>
              <a:tblGrid>
                <a:gridCol w="4271948">
                  <a:extLst>
                    <a:ext uri="{9D8B030D-6E8A-4147-A177-3AD203B41FA5}">
                      <a16:colId xmlns:a16="http://schemas.microsoft.com/office/drawing/2014/main" val="2157602560"/>
                    </a:ext>
                  </a:extLst>
                </a:gridCol>
                <a:gridCol w="4440875">
                  <a:extLst>
                    <a:ext uri="{9D8B030D-6E8A-4147-A177-3AD203B41FA5}">
                      <a16:colId xmlns:a16="http://schemas.microsoft.com/office/drawing/2014/main" val="2266909841"/>
                    </a:ext>
                  </a:extLst>
                </a:gridCol>
              </a:tblGrid>
              <a:tr h="228883">
                <a:tc>
                  <a:txBody>
                    <a:bodyPr/>
                    <a:lstStyle/>
                    <a:p>
                      <a:pPr lvl="0"/>
                      <a:r>
                        <a:rPr lang="en-GB" sz="1100">
                          <a:latin typeface="Calibri (body)"/>
                        </a:rPr>
                        <a:t>Data</a:t>
                      </a:r>
                      <a:endParaRPr lang="en-GB" sz="1100">
                        <a:latin typeface="Calibri (body)"/>
                        <a:ea typeface="Calibri" pitchFamily="34"/>
                      </a:endParaRPr>
                    </a:p>
                  </a:txBody>
                  <a:tcPr marL="90004" marR="90004" marT="46798" marB="46798"/>
                </a:tc>
                <a:tc>
                  <a:txBody>
                    <a:bodyPr/>
                    <a:lstStyle/>
                    <a:p>
                      <a:pPr lvl="0" algn="l"/>
                      <a:r>
                        <a:rPr lang="en-GB" sz="1100">
                          <a:latin typeface="Calibri (body)"/>
                        </a:rPr>
                        <a:t>CDS Description</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2199472064"/>
                  </a:ext>
                </a:extLst>
              </a:tr>
              <a:tr h="239508">
                <a:tc>
                  <a:txBody>
                    <a:bodyPr/>
                    <a:lstStyle/>
                    <a:p>
                      <a:pPr lvl="0">
                        <a:lnSpc>
                          <a:spcPts val="1500"/>
                        </a:lnSpc>
                      </a:pPr>
                      <a:r>
                        <a:rPr lang="en-GB" sz="1100">
                          <a:latin typeface="Calibri (body)"/>
                        </a:rPr>
                        <a:t>Importer/ID</a:t>
                      </a:r>
                      <a:endParaRPr lang="en-GB" sz="1100">
                        <a:latin typeface="Calibri (body)"/>
                        <a:ea typeface="Calibri" pitchFamily="34"/>
                      </a:endParaRPr>
                    </a:p>
                  </a:txBody>
                  <a:tcPr marL="90004" marR="90004" marT="46798" marB="46798"/>
                </a:tc>
                <a:tc>
                  <a:txBody>
                    <a:bodyPr/>
                    <a:lstStyle/>
                    <a:p>
                      <a:pPr lvl="0">
                        <a:lnSpc>
                          <a:spcPts val="1500"/>
                        </a:lnSpc>
                        <a:spcBef>
                          <a:spcPts val="750"/>
                        </a:spcBef>
                      </a:pPr>
                      <a:r>
                        <a:rPr lang="en-GB" sz="1100">
                          <a:latin typeface="Calibri (body)"/>
                        </a:rPr>
                        <a:t>D.E. 3/16 (EORI)</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2081631541"/>
                  </a:ext>
                </a:extLst>
              </a:tr>
              <a:tr h="239508">
                <a:tc>
                  <a:txBody>
                    <a:bodyPr/>
                    <a:lstStyle/>
                    <a:p>
                      <a:pPr lvl="0">
                        <a:lnSpc>
                          <a:spcPts val="1500"/>
                        </a:lnSpc>
                      </a:pPr>
                      <a:r>
                        <a:rPr lang="en-GB" sz="1100">
                          <a:latin typeface="Calibri (body)"/>
                        </a:rPr>
                        <a:t>Exporter/ID</a:t>
                      </a:r>
                      <a:endParaRPr lang="en-GB" sz="1100">
                        <a:latin typeface="Calibri (body)"/>
                        <a:ea typeface="Calibri" pitchFamily="34"/>
                      </a:endParaRPr>
                    </a:p>
                  </a:txBody>
                  <a:tcPr marL="90004" marR="90004" marT="46798" marB="46798"/>
                </a:tc>
                <a:tc>
                  <a:txBody>
                    <a:bodyPr/>
                    <a:lstStyle/>
                    <a:p>
                      <a:pPr lvl="0">
                        <a:lnSpc>
                          <a:spcPts val="1500"/>
                        </a:lnSpc>
                        <a:spcBef>
                          <a:spcPts val="750"/>
                        </a:spcBef>
                      </a:pPr>
                      <a:r>
                        <a:rPr lang="en-GB" sz="1100">
                          <a:latin typeface="Calibri (body)"/>
                        </a:rPr>
                        <a:t>D.E. 3/2 (EORI)</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2006520739"/>
                  </a:ext>
                </a:extLst>
              </a:tr>
              <a:tr h="406405">
                <a:tc>
                  <a:txBody>
                    <a:bodyPr/>
                    <a:lstStyle/>
                    <a:p>
                      <a:pPr lvl="0">
                        <a:lnSpc>
                          <a:spcPts val="1500"/>
                        </a:lnSpc>
                      </a:pPr>
                      <a:r>
                        <a:rPr lang="en-GB" sz="1100">
                          <a:latin typeface="Calibri (body)"/>
                        </a:rPr>
                        <a:t>Submitter/ID</a:t>
                      </a:r>
                      <a:endParaRPr lang="en-GB" sz="1100">
                        <a:latin typeface="Calibri (body)"/>
                        <a:ea typeface="Calibri" pitchFamily="34"/>
                      </a:endParaRPr>
                    </a:p>
                  </a:txBody>
                  <a:tcPr marL="90004" marR="90004" marT="46798" marB="46798"/>
                </a:tc>
                <a:tc>
                  <a:txBody>
                    <a:bodyPr/>
                    <a:lstStyle/>
                    <a:p>
                      <a:pPr lvl="0">
                        <a:lnSpc>
                          <a:spcPts val="1500"/>
                        </a:lnSpc>
                        <a:spcBef>
                          <a:spcPts val="750"/>
                        </a:spcBef>
                      </a:pPr>
                      <a:r>
                        <a:rPr lang="en-GB" sz="1100">
                          <a:latin typeface="Calibri (body)"/>
                        </a:rPr>
                        <a:t>Submitting Trader. This is the ID (EORI) of the trader who initiated the declaration. </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3294334982"/>
                  </a:ext>
                </a:extLst>
              </a:tr>
              <a:tr h="239508">
                <a:tc>
                  <a:txBody>
                    <a:bodyPr/>
                    <a:lstStyle/>
                    <a:p>
                      <a:pPr lvl="0">
                        <a:lnSpc>
                          <a:spcPts val="1500"/>
                        </a:lnSpc>
                      </a:pPr>
                      <a:r>
                        <a:rPr lang="en-GB" sz="1100">
                          <a:latin typeface="Calibri (body)"/>
                        </a:rPr>
                        <a:t>Declarant/ID</a:t>
                      </a:r>
                      <a:endParaRPr lang="en-GB" sz="1100">
                        <a:latin typeface="Calibri (body)"/>
                        <a:ea typeface="Calibri" pitchFamily="34"/>
                      </a:endParaRPr>
                    </a:p>
                  </a:txBody>
                  <a:tcPr marL="90004" marR="90004" marT="46798" marB="46798"/>
                </a:tc>
                <a:tc>
                  <a:txBody>
                    <a:bodyPr/>
                    <a:lstStyle/>
                    <a:p>
                      <a:pPr lvl="0">
                        <a:lnSpc>
                          <a:spcPts val="1500"/>
                        </a:lnSpc>
                        <a:spcBef>
                          <a:spcPts val="750"/>
                        </a:spcBef>
                      </a:pPr>
                      <a:r>
                        <a:rPr lang="en-GB" sz="1100">
                          <a:latin typeface="Calibri (body)"/>
                        </a:rPr>
                        <a:t>3/18 Declarant Identification Number</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2277978243"/>
                  </a:ext>
                </a:extLst>
              </a:tr>
              <a:tr h="239508">
                <a:tc>
                  <a:txBody>
                    <a:bodyPr/>
                    <a:lstStyle/>
                    <a:p>
                      <a:pPr lvl="0">
                        <a:lnSpc>
                          <a:spcPts val="1500"/>
                        </a:lnSpc>
                      </a:pPr>
                      <a:r>
                        <a:rPr lang="en-GB" sz="1100">
                          <a:latin typeface="Calibri (body)"/>
                        </a:rPr>
                        <a:t>CurrentPageNumber</a:t>
                      </a:r>
                      <a:endParaRPr lang="en-GB" sz="1100">
                        <a:latin typeface="Calibri (body)"/>
                        <a:ea typeface="Calibri" pitchFamily="34"/>
                      </a:endParaRPr>
                    </a:p>
                  </a:txBody>
                  <a:tcPr marL="90004" marR="90004" marT="46798" marB="46798"/>
                </a:tc>
                <a:tc>
                  <a:txBody>
                    <a:bodyPr/>
                    <a:lstStyle/>
                    <a:p>
                      <a:pPr lvl="0"/>
                      <a:r>
                        <a:rPr lang="en-GB" sz="1100">
                          <a:latin typeface="Calibri (body)"/>
                        </a:rPr>
                        <a:t>Current Page Number</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1887586314"/>
                  </a:ext>
                </a:extLst>
              </a:tr>
              <a:tr h="239508">
                <a:tc>
                  <a:txBody>
                    <a:bodyPr/>
                    <a:lstStyle/>
                    <a:p>
                      <a:pPr lvl="0">
                        <a:lnSpc>
                          <a:spcPts val="1500"/>
                        </a:lnSpc>
                      </a:pPr>
                      <a:r>
                        <a:rPr lang="en-GB" sz="1100">
                          <a:latin typeface="Calibri (body)"/>
                        </a:rPr>
                        <a:t>TotalResultsAvailable</a:t>
                      </a:r>
                      <a:endParaRPr lang="en-GB" sz="1100">
                        <a:latin typeface="Calibri (body)"/>
                        <a:ea typeface="Calibri" pitchFamily="34"/>
                      </a:endParaRPr>
                    </a:p>
                  </a:txBody>
                  <a:tcPr marL="90004" marR="90004" marT="46798" marB="46798"/>
                </a:tc>
                <a:tc>
                  <a:txBody>
                    <a:bodyPr/>
                    <a:lstStyle/>
                    <a:p>
                      <a:pPr lvl="0"/>
                      <a:r>
                        <a:rPr lang="en-GB" sz="1100">
                          <a:latin typeface="Calibri (body)"/>
                        </a:rPr>
                        <a:t>Total number of results available</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3525833121"/>
                  </a:ext>
                </a:extLst>
              </a:tr>
              <a:tr h="239508">
                <a:tc>
                  <a:txBody>
                    <a:bodyPr/>
                    <a:lstStyle/>
                    <a:p>
                      <a:pPr lvl="0">
                        <a:lnSpc>
                          <a:spcPts val="1500"/>
                        </a:lnSpc>
                      </a:pPr>
                      <a:r>
                        <a:rPr lang="en-GB" sz="1100">
                          <a:latin typeface="Calibri (body)"/>
                        </a:rPr>
                        <a:t>TotalPagesAvailable</a:t>
                      </a:r>
                      <a:endParaRPr lang="en-GB" sz="1100">
                        <a:latin typeface="Calibri (body)"/>
                        <a:ea typeface="Calibri" pitchFamily="34"/>
                      </a:endParaRPr>
                    </a:p>
                  </a:txBody>
                  <a:tcPr marL="90004" marR="90004" marT="46798" marB="46798"/>
                </a:tc>
                <a:tc>
                  <a:txBody>
                    <a:bodyPr/>
                    <a:lstStyle/>
                    <a:p>
                      <a:pPr lvl="0"/>
                      <a:r>
                        <a:rPr lang="en-GB" sz="1100">
                          <a:latin typeface="Calibri (body)"/>
                        </a:rPr>
                        <a:t>Total number of pages available</a:t>
                      </a:r>
                      <a:endParaRPr lang="en-GB" sz="1100">
                        <a:latin typeface="Calibri (body)"/>
                        <a:ea typeface="Calibri" pitchFamily="34"/>
                      </a:endParaRPr>
                    </a:p>
                  </a:txBody>
                  <a:tcPr marL="90004" marR="90004" marT="46798" marB="46798"/>
                </a:tc>
                <a:extLst>
                  <a:ext uri="{0D108BD9-81ED-4DB2-BD59-A6C34878D82A}">
                    <a16:rowId xmlns:a16="http://schemas.microsoft.com/office/drawing/2014/main" val="3220768008"/>
                  </a:ext>
                </a:extLst>
              </a:tr>
              <a:tr h="239508">
                <a:tc>
                  <a:txBody>
                    <a:bodyPr/>
                    <a:lstStyle/>
                    <a:p>
                      <a:pPr lvl="0">
                        <a:lnSpc>
                          <a:spcPts val="1500"/>
                        </a:lnSpc>
                      </a:pPr>
                      <a:r>
                        <a:rPr lang="en-GB" sz="1100">
                          <a:latin typeface="Calibri (body)"/>
                        </a:rPr>
                        <a:t>NoResultsReturned</a:t>
                      </a:r>
                      <a:endParaRPr lang="en-GB" sz="1100">
                        <a:latin typeface="Calibri (body)"/>
                        <a:ea typeface="Calibri" pitchFamily="34"/>
                      </a:endParaRPr>
                    </a:p>
                  </a:txBody>
                  <a:tcPr marL="90004" marR="90004" marT="46798" marB="46798"/>
                </a:tc>
                <a:tc>
                  <a:txBody>
                    <a:bodyPr/>
                    <a:lstStyle/>
                    <a:p>
                      <a:pPr lvl="0"/>
                      <a:r>
                        <a:rPr lang="en-GB" sz="1100" dirty="0">
                          <a:latin typeface="Calibri (body)"/>
                        </a:rPr>
                        <a:t>No results returned (true/false)</a:t>
                      </a:r>
                      <a:endParaRPr lang="en-GB" sz="1100" dirty="0">
                        <a:latin typeface="Calibri (body)"/>
                        <a:ea typeface="Calibri" pitchFamily="34"/>
                      </a:endParaRPr>
                    </a:p>
                  </a:txBody>
                  <a:tcPr marL="90004" marR="90004" marT="46798" marB="46798"/>
                </a:tc>
                <a:extLst>
                  <a:ext uri="{0D108BD9-81ED-4DB2-BD59-A6C34878D82A}">
                    <a16:rowId xmlns:a16="http://schemas.microsoft.com/office/drawing/2014/main" val="893792495"/>
                  </a:ext>
                </a:extLst>
              </a:tr>
            </a:tbl>
          </a:graphicData>
        </a:graphic>
      </p:graphicFrame>
      <p:sp>
        <p:nvSpPr>
          <p:cNvPr id="9" name="Rectangle 10">
            <a:extLst>
              <a:ext uri="{FF2B5EF4-FFF2-40B4-BE49-F238E27FC236}">
                <a16:creationId xmlns:a16="http://schemas.microsoft.com/office/drawing/2014/main" id="{8CB561F6-846E-4C4B-A6A5-0ED41A1A6D90}"/>
              </a:ext>
            </a:extLst>
          </p:cNvPr>
          <p:cNvSpPr/>
          <p:nvPr/>
        </p:nvSpPr>
        <p:spPr>
          <a:xfrm>
            <a:off x="793525" y="3962122"/>
            <a:ext cx="11282159" cy="2246772"/>
          </a:xfrm>
          <a:prstGeom prst="rect">
            <a:avLst/>
          </a:prstGeom>
          <a:noFill/>
          <a:ln cap="flat">
            <a:noFill/>
            <a:prstDash val="solid"/>
          </a:ln>
        </p:spPr>
        <p:txBody>
          <a:bodyPr vert="horz" wrap="square" lIns="91440" tIns="45720" rIns="91440" bIns="45720" anchor="t" anchorCtr="0" compatLnSpc="1">
            <a:spAutoFit/>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CSPs querying on CDS for the details of </a:t>
            </a:r>
            <a:r>
              <a:rPr lang="en-GB" sz="1400" b="1" i="0" u="none" strike="noStrike" kern="1200" cap="none" spc="0" baseline="0">
                <a:solidFill>
                  <a:srgbClr val="333333"/>
                </a:solidFill>
                <a:uFillTx/>
                <a:latin typeface="Calibri (body)"/>
              </a:rPr>
              <a:t>import </a:t>
            </a:r>
            <a:r>
              <a:rPr lang="en-GB" sz="1400" b="0" i="0" u="none" strike="noStrike" kern="1200" cap="none" spc="0" baseline="0">
                <a:solidFill>
                  <a:srgbClr val="333333"/>
                </a:solidFill>
                <a:uFillTx/>
                <a:latin typeface="Calibri (body)"/>
              </a:rPr>
              <a:t>and</a:t>
            </a:r>
            <a:r>
              <a:rPr lang="en-GB" sz="1400" b="1" i="0" u="none" strike="noStrike" kern="1200" cap="none" spc="0" baseline="0">
                <a:solidFill>
                  <a:srgbClr val="333333"/>
                </a:solidFill>
                <a:uFillTx/>
                <a:latin typeface="Calibri (body)"/>
              </a:rPr>
              <a:t> export</a:t>
            </a:r>
            <a:r>
              <a:rPr lang="en-GB" sz="1400" b="0" i="0" u="none" strike="noStrike" kern="1200" cap="none" spc="0" baseline="0">
                <a:solidFill>
                  <a:srgbClr val="333333"/>
                </a:solidFill>
                <a:uFillTx/>
                <a:latin typeface="Calibri (body)"/>
              </a:rPr>
              <a:t> declarations can only retrieve declarations that were submitted through them. </a:t>
            </a: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CSPs querying CDS on behalf of a submitter for the details of </a:t>
            </a:r>
            <a:r>
              <a:rPr lang="en-GB" sz="1400" b="1" i="0" u="none" strike="noStrike" kern="1200" cap="none" spc="0" baseline="0">
                <a:solidFill>
                  <a:srgbClr val="333333"/>
                </a:solidFill>
                <a:uFillTx/>
                <a:latin typeface="Calibri (body)"/>
              </a:rPr>
              <a:t>export</a:t>
            </a:r>
            <a:r>
              <a:rPr lang="en-GB" sz="1400" b="0" i="0" u="none" strike="noStrike" kern="1200" cap="none" spc="0" baseline="0">
                <a:solidFill>
                  <a:srgbClr val="333333"/>
                </a:solidFill>
                <a:uFillTx/>
                <a:latin typeface="Calibri (body)"/>
              </a:rPr>
              <a:t> declarations are able to retrieve all declarations associated with that submitter, regardless of which CSP the declarations were submitted through.</a:t>
            </a: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cs typeface="Calibri"/>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 non-CSP party can only query on CDS for declarations they have created.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party who created a declaration must be able to retrieve that declaration regardless of the system they used to </a:t>
            </a:r>
            <a:r>
              <a:rPr lang="en-GB" sz="1400" b="1" i="0" u="none" strike="noStrike" kern="1200" cap="none" spc="0" baseline="0">
                <a:solidFill>
                  <a:srgbClr val="333333"/>
                </a:solidFill>
                <a:uFillTx/>
                <a:latin typeface="Calibri (body)"/>
              </a:rPr>
              <a:t>create</a:t>
            </a:r>
            <a:r>
              <a:rPr lang="en-GB" sz="1400" b="0" i="0" u="none" strike="noStrike" kern="1200" cap="none" spc="0" baseline="0">
                <a:solidFill>
                  <a:srgbClr val="333333"/>
                </a:solidFill>
                <a:uFillTx/>
                <a:latin typeface="Calibri (body)"/>
              </a:rPr>
              <a:t> or </a:t>
            </a:r>
            <a:r>
              <a:rPr lang="en-GB" sz="1400" b="1" i="0" u="none" strike="noStrike" kern="1200" cap="none" spc="0" baseline="0">
                <a:solidFill>
                  <a:srgbClr val="333333"/>
                </a:solidFill>
                <a:uFillTx/>
                <a:latin typeface="Calibri (body)"/>
              </a:rPr>
              <a:t>query</a:t>
            </a:r>
            <a:r>
              <a:rPr lang="en-GB" sz="1400" b="0" i="0" u="none" strike="noStrike" kern="1200" cap="none" spc="0" baseline="0">
                <a:solidFill>
                  <a:srgbClr val="333333"/>
                </a:solidFill>
                <a:uFillTx/>
                <a:latin typeface="Calibri (body)"/>
              </a:rPr>
              <a:t> the declaration.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the search cannot be completed due to an error, CDS will return the query submitter with an applicable error code.</a:t>
            </a:r>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name="Slide457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FD1F8014-7E77-426C-A21C-726D49674757}"/>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DCDD7C4-8DDC-407B-900F-E1244505B49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0C741C3-1781-4AFA-910B-A09B39BCA6C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97E5ECAE-16AA-4C1F-AEE9-367736DCC99A}"/>
              </a:ext>
            </a:extLst>
          </p:cNvPr>
          <p:cNvSpPr txBox="1"/>
          <p:nvPr/>
        </p:nvSpPr>
        <p:spPr>
          <a:xfrm>
            <a:off x="11637549"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B209FB7-7C8B-4112-8469-FB8D1CA88846}" type="slidenum">
              <a:rPr sz="1200"/>
              <a:t>371</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9C73B2DA-9D9C-4CA5-9EC4-322FB2C2FEB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2">
            <a:extLst>
              <a:ext uri="{FF2B5EF4-FFF2-40B4-BE49-F238E27FC236}">
                <a16:creationId xmlns:a16="http://schemas.microsoft.com/office/drawing/2014/main" id="{40751506-4921-4BB7-AC6A-20159ABB931D}"/>
              </a:ext>
            </a:extLst>
          </p:cNvPr>
          <p:cNvSpPr/>
          <p:nvPr/>
        </p:nvSpPr>
        <p:spPr>
          <a:xfrm>
            <a:off x="983702" y="1476801"/>
            <a:ext cx="10844326" cy="82824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just"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TT_EX29a - </a:t>
            </a:r>
            <a:r>
              <a:rPr lang="en-GB" sz="1100" b="0" i="0" u="none" strike="noStrike" kern="1200" cap="none" spc="0" baseline="0">
                <a:solidFill>
                  <a:srgbClr val="000000"/>
                </a:solidFill>
                <a:uFillTx/>
                <a:latin typeface="Calibri"/>
              </a:rPr>
              <a:t>CSP query to search export declarations they have submitted, using specific search parameters to review the status of various declarations.</a:t>
            </a:r>
          </a:p>
          <a:p>
            <a:pPr marL="171450" marR="0" lvl="0" indent="-171450" algn="just"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TT_IM82a - </a:t>
            </a:r>
            <a:r>
              <a:rPr lang="en-GB" sz="1100" b="0" i="0" u="none" strike="noStrike" kern="1200" cap="none" spc="0" baseline="0">
                <a:solidFill>
                  <a:srgbClr val="000000"/>
                </a:solidFill>
                <a:uFillTx/>
                <a:latin typeface="Calibri"/>
              </a:rPr>
              <a:t>CSP query to search import declarations they have submitted, using specific search parameters to review the status of various declarations.</a:t>
            </a:r>
          </a:p>
        </p:txBody>
      </p:sp>
      <p:sp>
        <p:nvSpPr>
          <p:cNvPr id="9" name="Rectangle 13">
            <a:extLst>
              <a:ext uri="{FF2B5EF4-FFF2-40B4-BE49-F238E27FC236}">
                <a16:creationId xmlns:a16="http://schemas.microsoft.com/office/drawing/2014/main" id="{C5140D12-7D2A-4837-A01E-062016435C03}"/>
              </a:ext>
            </a:extLst>
          </p:cNvPr>
          <p:cNvSpPr/>
          <p:nvPr/>
        </p:nvSpPr>
        <p:spPr>
          <a:xfrm>
            <a:off x="465155" y="1476801"/>
            <a:ext cx="518556" cy="82824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name="Slide83884037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4511611-52A6-40AE-94EC-FD574C1B83E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9228657-23AC-4804-99EF-E565B337B1C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BC1273D-9A97-47C1-82B1-6F0B5463E21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D5966D3-4436-4995-9DC7-E304C0E1DED2}"/>
              </a:ext>
            </a:extLst>
          </p:cNvPr>
          <p:cNvSpPr txBox="1"/>
          <p:nvPr/>
        </p:nvSpPr>
        <p:spPr>
          <a:xfrm>
            <a:off x="11637548"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F60CF59-BBF6-45BD-8C98-96D3194B0D17}" type="slidenum">
              <a:rPr sz="1200"/>
              <a:t>372</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560480AC-1234-4D22-8512-763849C5633B}"/>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CA6627CA-1A89-4F14-9A5F-EBCF5E7E661A}"/>
              </a:ext>
            </a:extLst>
          </p:cNvPr>
          <p:cNvSpPr/>
          <p:nvPr/>
        </p:nvSpPr>
        <p:spPr>
          <a:xfrm>
            <a:off x="399245" y="1238746"/>
            <a:ext cx="11282159" cy="375487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cs typeface="Calibri"/>
              </a:rPr>
              <a:t>3. DIS Query Functionality: Declaration Version Query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1F497D"/>
              </a:solidFill>
              <a:uFillTx/>
              <a:latin typeface="Calibri" pitchFamily="34"/>
              <a:ea typeface="Calibri" pitchFamily="34"/>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Calibri" pitchFamily="34"/>
              </a:rPr>
              <a:t>The introduction of the Declaration Version Query allows a trader or Community Service Provider (CSP) to retrieve all versions of the queried declaration. This functionality is similar to the CHIEF ‘List Entry Versions’ (LIEV) capability.</a:t>
            </a:r>
            <a:br>
              <a:rPr lang="en-GB" sz="1400" b="0" i="0" u="none" strike="noStrike" kern="1200" cap="none" spc="0" baseline="0">
                <a:solidFill>
                  <a:srgbClr val="000000"/>
                </a:solidFill>
                <a:uFillTx/>
                <a:latin typeface="Calibri" pitchFamily="34"/>
                <a:ea typeface="Calibri" pitchFamily="34"/>
              </a:rPr>
            </a:br>
            <a:br>
              <a:rPr lang="en-GB" sz="1400" b="0" i="0" u="none" strike="noStrike" kern="1200" cap="none" spc="0" baseline="0">
                <a:solidFill>
                  <a:srgbClr val="000000"/>
                </a:solidFill>
                <a:uFillTx/>
                <a:latin typeface="Calibri (body)"/>
              </a:rPr>
            </a:br>
            <a:r>
              <a:rPr lang="en-GB" sz="1400" b="0" i="0" u="none" strike="noStrike" kern="1200" cap="none" spc="0" baseline="0">
                <a:solidFill>
                  <a:srgbClr val="000000"/>
                </a:solidFill>
                <a:uFillTx/>
                <a:latin typeface="Calibri" pitchFamily="34"/>
                <a:ea typeface="Calibri" pitchFamily="34"/>
              </a:rPr>
              <a:t>For a declarant or CSP to submit a query that returns a list of all declaration versions for a declaration submitted to CDS, an API query can be made using the following search parameters:</a:t>
            </a:r>
            <a:endParaRPr lang="en-GB" sz="1400" b="0" i="0" u="none" strike="noStrike" kern="1200" cap="none" spc="0" baseline="0">
              <a:solidFill>
                <a:srgbClr val="000000"/>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no search parameter is entered, more than one value is provided for the search parameter, or the input parameter is not an exact match (including case sensitivity), CDS will return an error as the response, detailing the reason for this error.</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body)"/>
              <a:cs typeface="Calibri"/>
            </a:endParaRPr>
          </a:p>
        </p:txBody>
      </p:sp>
      <p:graphicFrame>
        <p:nvGraphicFramePr>
          <p:cNvPr id="9" name="Table 5">
            <a:extLst>
              <a:ext uri="{FF2B5EF4-FFF2-40B4-BE49-F238E27FC236}">
                <a16:creationId xmlns:a16="http://schemas.microsoft.com/office/drawing/2014/main" id="{91E8E829-A289-4CE5-AA26-4DE572DBA41C}"/>
              </a:ext>
            </a:extLst>
          </p:cNvPr>
          <p:cNvGraphicFramePr>
            <a:graphicFrameLocks noGrp="1"/>
          </p:cNvGraphicFramePr>
          <p:nvPr/>
        </p:nvGraphicFramePr>
        <p:xfrm>
          <a:off x="1879421" y="3045134"/>
          <a:ext cx="8614900" cy="850995"/>
        </p:xfrm>
        <a:graphic>
          <a:graphicData uri="http://schemas.openxmlformats.org/drawingml/2006/table">
            <a:tbl>
              <a:tblPr firstRow="1" bandRow="1">
                <a:effectLst/>
                <a:tableStyleId>{5C22544A-7EE6-4342-B048-85BDC9FD1C3A}</a:tableStyleId>
              </a:tblPr>
              <a:tblGrid>
                <a:gridCol w="1426793">
                  <a:extLst>
                    <a:ext uri="{9D8B030D-6E8A-4147-A177-3AD203B41FA5}">
                      <a16:colId xmlns:a16="http://schemas.microsoft.com/office/drawing/2014/main" val="987630598"/>
                    </a:ext>
                  </a:extLst>
                </a:gridCol>
                <a:gridCol w="7188107">
                  <a:extLst>
                    <a:ext uri="{9D8B030D-6E8A-4147-A177-3AD203B41FA5}">
                      <a16:colId xmlns:a16="http://schemas.microsoft.com/office/drawing/2014/main" val="2863153907"/>
                    </a:ext>
                  </a:extLst>
                </a:gridCol>
              </a:tblGrid>
              <a:tr h="325517">
                <a:tc>
                  <a:txBody>
                    <a:bodyPr/>
                    <a:lstStyle/>
                    <a:p>
                      <a:pPr lvl="0"/>
                      <a:r>
                        <a:rPr lang="en-GB" sz="1200"/>
                        <a:t>Parameter</a:t>
                      </a:r>
                    </a:p>
                  </a:txBody>
                  <a:tcPr/>
                </a:tc>
                <a:tc>
                  <a:txBody>
                    <a:bodyPr/>
                    <a:lstStyle/>
                    <a:p>
                      <a:pPr lvl="0"/>
                      <a:r>
                        <a:rPr lang="en-GB" sz="1200"/>
                        <a:t>Field Completion Rules</a:t>
                      </a:r>
                    </a:p>
                  </a:txBody>
                  <a:tcPr/>
                </a:tc>
                <a:extLst>
                  <a:ext uri="{0D108BD9-81ED-4DB2-BD59-A6C34878D82A}">
                    <a16:rowId xmlns:a16="http://schemas.microsoft.com/office/drawing/2014/main" val="3526327112"/>
                  </a:ext>
                </a:extLst>
              </a:tr>
              <a:tr h="525478">
                <a:tc>
                  <a:txBody>
                    <a:bodyPr/>
                    <a:lstStyle/>
                    <a:p>
                      <a:pPr lvl="0"/>
                      <a:r>
                        <a:rPr lang="en-GB" sz="1200"/>
                        <a:t>MRN</a:t>
                      </a:r>
                    </a:p>
                  </a:txBody>
                  <a:tcPr/>
                </a:tc>
                <a:tc>
                  <a:txBody>
                    <a:bodyPr/>
                    <a:lstStyle/>
                    <a:p>
                      <a:pPr lvl="0"/>
                      <a:r>
                        <a:rPr lang="en-GB" sz="1200" kern="1200" dirty="0">
                          <a:solidFill>
                            <a:srgbClr val="000000"/>
                          </a:solidFill>
                          <a:latin typeface="Calibri"/>
                        </a:rPr>
                        <a:t>ID of the declaration assigned by Customs. For CDS this will be the Movement Reference Number (MRN). This search parameter is mandatory.</a:t>
                      </a:r>
                      <a:endParaRPr lang="en-GB" sz="1200" dirty="0"/>
                    </a:p>
                  </a:txBody>
                  <a:tcPr/>
                </a:tc>
                <a:extLst>
                  <a:ext uri="{0D108BD9-81ED-4DB2-BD59-A6C34878D82A}">
                    <a16:rowId xmlns:a16="http://schemas.microsoft.com/office/drawing/2014/main" val="3133959358"/>
                  </a:ext>
                </a:extLst>
              </a:tr>
            </a:tbl>
          </a:graphicData>
        </a:graphic>
      </p:graphicFrame>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name="Slide83884037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EE8B224-3DEE-4610-AD02-42773DD5363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044B062-01BD-46C7-8A2B-4E45AE80EEE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F6C3FFF9-22A9-4E84-ABEF-9853AB115EB4}"/>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620C8BE3-C948-4C93-82C3-22458F23EC45}"/>
              </a:ext>
            </a:extLst>
          </p:cNvPr>
          <p:cNvSpPr txBox="1"/>
          <p:nvPr/>
        </p:nvSpPr>
        <p:spPr>
          <a:xfrm>
            <a:off x="11637549" y="636404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C140F09-B520-480B-9AE7-498CBDD315DA}" type="slidenum">
              <a:rPr sz="1200"/>
              <a:t>373</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4EF39C2A-D42D-414D-8D63-C3E992AE752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3480A6F8-906B-4812-8C33-15350CF27EA7}"/>
              </a:ext>
            </a:extLst>
          </p:cNvPr>
          <p:cNvSpPr/>
          <p:nvPr/>
        </p:nvSpPr>
        <p:spPr>
          <a:xfrm>
            <a:off x="530690" y="1206651"/>
            <a:ext cx="11282159" cy="3323990"/>
          </a:xfrm>
          <a:prstGeom prst="rect">
            <a:avLst/>
          </a:prstGeom>
          <a:noFill/>
          <a:ln cap="flat">
            <a:noFill/>
            <a:prstDash val="solid"/>
          </a:ln>
        </p:spPr>
        <p:txBody>
          <a:bodyPr vert="horz" wrap="square" lIns="91440" tIns="45720" rIns="91440" bIns="45720" anchor="t" anchorCtr="0" compatLnSpc="1">
            <a:spAutoFit/>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the entered search parameter is valid, and CDS has processed this successfully, the following information will be returned to the trader for each version found:</a:t>
            </a: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cs typeface="Calibri"/>
            </a:endParaRPr>
          </a:p>
        </p:txBody>
      </p:sp>
      <p:graphicFrame>
        <p:nvGraphicFramePr>
          <p:cNvPr id="9" name="Table 2">
            <a:extLst>
              <a:ext uri="{FF2B5EF4-FFF2-40B4-BE49-F238E27FC236}">
                <a16:creationId xmlns:a16="http://schemas.microsoft.com/office/drawing/2014/main" id="{62D98AB7-8C42-4EE9-B7E5-AF79FD46B0D2}"/>
              </a:ext>
            </a:extLst>
          </p:cNvPr>
          <p:cNvGraphicFramePr>
            <a:graphicFrameLocks noGrp="1"/>
          </p:cNvGraphicFramePr>
          <p:nvPr/>
        </p:nvGraphicFramePr>
        <p:xfrm>
          <a:off x="1613760" y="1846502"/>
          <a:ext cx="9116010" cy="4279803"/>
        </p:xfrm>
        <a:graphic>
          <a:graphicData uri="http://schemas.openxmlformats.org/drawingml/2006/table">
            <a:tbl>
              <a:tblPr firstRow="1" bandRow="1">
                <a:effectLst/>
                <a:tableStyleId>{5C22544A-7EE6-4342-B048-85BDC9FD1C3A}</a:tableStyleId>
              </a:tblPr>
              <a:tblGrid>
                <a:gridCol w="4326200">
                  <a:extLst>
                    <a:ext uri="{9D8B030D-6E8A-4147-A177-3AD203B41FA5}">
                      <a16:colId xmlns:a16="http://schemas.microsoft.com/office/drawing/2014/main" val="701922953"/>
                    </a:ext>
                  </a:extLst>
                </a:gridCol>
                <a:gridCol w="4789810">
                  <a:extLst>
                    <a:ext uri="{9D8B030D-6E8A-4147-A177-3AD203B41FA5}">
                      <a16:colId xmlns:a16="http://schemas.microsoft.com/office/drawing/2014/main" val="747302225"/>
                    </a:ext>
                  </a:extLst>
                </a:gridCol>
              </a:tblGrid>
              <a:tr h="208291">
                <a:tc>
                  <a:txBody>
                    <a:bodyPr/>
                    <a:lstStyle/>
                    <a:p>
                      <a:pPr lvl="0"/>
                      <a:r>
                        <a:rPr lang="en-GB" sz="1100"/>
                        <a:t>Data</a:t>
                      </a:r>
                    </a:p>
                  </a:txBody>
                  <a:tcPr marL="90004"/>
                </a:tc>
                <a:tc>
                  <a:txBody>
                    <a:bodyPr/>
                    <a:lstStyle/>
                    <a:p>
                      <a:pPr lvl="0"/>
                      <a:r>
                        <a:rPr lang="en-GB" sz="1100"/>
                        <a:t>CDS Description</a:t>
                      </a:r>
                    </a:p>
                  </a:txBody>
                  <a:tcPr marL="90004"/>
                </a:tc>
                <a:extLst>
                  <a:ext uri="{0D108BD9-81ED-4DB2-BD59-A6C34878D82A}">
                    <a16:rowId xmlns:a16="http://schemas.microsoft.com/office/drawing/2014/main" val="1687509402"/>
                  </a:ext>
                </a:extLst>
              </a:tr>
              <a:tr h="157752">
                <a:tc>
                  <a:txBody>
                    <a:bodyPr/>
                    <a:lstStyle/>
                    <a:p>
                      <a:pPr lvl="0"/>
                      <a:r>
                        <a:rPr lang="en-GB" sz="1100"/>
                        <a:t>ID</a:t>
                      </a:r>
                    </a:p>
                  </a:txBody>
                  <a:tcPr marL="90004" marR="19046" marT="14292" marB="14292"/>
                </a:tc>
                <a:tc>
                  <a:txBody>
                    <a:bodyPr/>
                    <a:lstStyle/>
                    <a:p>
                      <a:pPr lvl="0"/>
                      <a:r>
                        <a:rPr lang="en-GB" sz="1100"/>
                        <a:t>Movement Reference Number (MRN)</a:t>
                      </a:r>
                    </a:p>
                  </a:txBody>
                  <a:tcPr marL="90004" marR="19046" marT="14292" marB="14292"/>
                </a:tc>
                <a:extLst>
                  <a:ext uri="{0D108BD9-81ED-4DB2-BD59-A6C34878D82A}">
                    <a16:rowId xmlns:a16="http://schemas.microsoft.com/office/drawing/2014/main" val="3176706259"/>
                  </a:ext>
                </a:extLst>
              </a:tr>
              <a:tr h="157752">
                <a:tc>
                  <a:txBody>
                    <a:bodyPr/>
                    <a:lstStyle/>
                    <a:p>
                      <a:pPr lvl="0"/>
                      <a:r>
                        <a:rPr lang="en-GB" sz="1100"/>
                        <a:t>Version ID</a:t>
                      </a:r>
                    </a:p>
                  </a:txBody>
                  <a:tcPr marL="90004" marR="19046" marT="14292" marB="14292"/>
                </a:tc>
                <a:tc>
                  <a:txBody>
                    <a:bodyPr/>
                    <a:lstStyle/>
                    <a:p>
                      <a:pPr lvl="0" algn="l"/>
                      <a:r>
                        <a:rPr lang="en-GB" sz="1100"/>
                        <a:t>Declaration Version Number</a:t>
                      </a:r>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617486434"/>
                  </a:ext>
                </a:extLst>
              </a:tr>
              <a:tr h="218047">
                <a:tc>
                  <a:txBody>
                    <a:bodyPr/>
                    <a:lstStyle/>
                    <a:p>
                      <a:pPr lvl="0" algn="l">
                        <a:lnSpc>
                          <a:spcPts val="1500"/>
                        </a:lnSpc>
                      </a:pPr>
                      <a:r>
                        <a:rPr lang="en-GB" sz="1100"/>
                        <a:t>CreatedDateTime/DateTimeString</a:t>
                      </a:r>
                      <a:endParaRPr lang="en-GB" sz="1100">
                        <a:latin typeface="Calibri" pitchFamily="34"/>
                        <a:ea typeface="Calibri" pitchFamily="34"/>
                      </a:endParaRPr>
                    </a:p>
                  </a:txBody>
                  <a:tcPr marL="90004"/>
                </a:tc>
                <a:tc>
                  <a:txBody>
                    <a:bodyPr/>
                    <a:lstStyle/>
                    <a:p>
                      <a:pPr lvl="0" algn="l"/>
                      <a:r>
                        <a:rPr lang="en-GB" sz="1100"/>
                        <a:t>Date and time on which the declaration version was created. System Generated (Digital)</a:t>
                      </a:r>
                      <a:endParaRPr lang="en-GB" sz="1100">
                        <a:latin typeface="Arial" pitchFamily="34"/>
                        <a:ea typeface="Calibri" pitchFamily="34"/>
                      </a:endParaRPr>
                    </a:p>
                  </a:txBody>
                  <a:tcPr marL="90004"/>
                </a:tc>
                <a:extLst>
                  <a:ext uri="{0D108BD9-81ED-4DB2-BD59-A6C34878D82A}">
                    <a16:rowId xmlns:a16="http://schemas.microsoft.com/office/drawing/2014/main" val="1315187016"/>
                  </a:ext>
                </a:extLst>
              </a:tr>
              <a:tr h="343073">
                <a:tc>
                  <a:txBody>
                    <a:bodyPr/>
                    <a:lstStyle/>
                    <a:p>
                      <a:pPr lvl="0"/>
                      <a:r>
                        <a:rPr lang="en-GB" sz="1100"/>
                        <a:t>LRN</a:t>
                      </a:r>
                    </a:p>
                  </a:txBody>
                  <a:tcPr marL="90004"/>
                </a:tc>
                <a:tc>
                  <a:txBody>
                    <a:bodyPr/>
                    <a:lstStyle/>
                    <a:p>
                      <a:pPr marL="0" marR="0" lvl="0" indent="0" algn="l" defTabSz="914400" rtl="0" fontAlgn="auto" hangingPunct="1">
                        <a:lnSpc>
                          <a:spcPct val="100000"/>
                        </a:lnSpc>
                        <a:spcBef>
                          <a:spcPts val="0"/>
                        </a:spcBef>
                        <a:spcAft>
                          <a:spcPts val="0"/>
                        </a:spcAft>
                        <a:buNone/>
                        <a:tabLst/>
                      </a:pPr>
                      <a:r>
                        <a:rPr lang="en-GB" sz="1100"/>
                        <a:t>Local reference number</a:t>
                      </a:r>
                      <a:br>
                        <a:rPr lang="en-GB" sz="1100"/>
                      </a:br>
                      <a:r>
                        <a:rPr lang="en-GB" sz="1100"/>
                        <a:t>DE 2/5</a:t>
                      </a:r>
                      <a:endParaRPr lang="en-GB" sz="1100">
                        <a:latin typeface="Arial" pitchFamily="34"/>
                        <a:ea typeface="Calibri" pitchFamily="34"/>
                      </a:endParaRPr>
                    </a:p>
                  </a:txBody>
                  <a:tcPr marL="90004"/>
                </a:tc>
                <a:extLst>
                  <a:ext uri="{0D108BD9-81ED-4DB2-BD59-A6C34878D82A}">
                    <a16:rowId xmlns:a16="http://schemas.microsoft.com/office/drawing/2014/main" val="106334896"/>
                  </a:ext>
                </a:extLst>
              </a:tr>
              <a:tr h="167499">
                <a:tc>
                  <a:txBody>
                    <a:bodyPr/>
                    <a:lstStyle/>
                    <a:p>
                      <a:pPr lvl="0" algn="l">
                        <a:lnSpc>
                          <a:spcPts val="1500"/>
                        </a:lnSpc>
                      </a:pPr>
                      <a:r>
                        <a:rPr lang="en-GB" sz="1100"/>
                        <a:t>FunctionCode</a:t>
                      </a:r>
                      <a:endParaRPr lang="en-GB" sz="1100">
                        <a:latin typeface="Calibri" pitchFamily="34"/>
                        <a:ea typeface="Calibri" pitchFamily="34"/>
                      </a:endParaRPr>
                    </a:p>
                  </a:txBody>
                  <a:tcPr marL="90004" marR="19046" marT="14292" marB="14292"/>
                </a:tc>
                <a:tc>
                  <a:txBody>
                    <a:bodyPr/>
                    <a:lstStyle/>
                    <a:p>
                      <a:pPr lvl="0" algn="l"/>
                      <a:r>
                        <a:rPr lang="en-GB" sz="1100"/>
                        <a:t>Function code is always set to 9.</a:t>
                      </a:r>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2191353825"/>
                  </a:ext>
                </a:extLst>
              </a:tr>
              <a:tr h="292534">
                <a:tc>
                  <a:txBody>
                    <a:bodyPr/>
                    <a:lstStyle/>
                    <a:p>
                      <a:pPr lvl="0" algn="l">
                        <a:lnSpc>
                          <a:spcPts val="1500"/>
                        </a:lnSpc>
                      </a:pPr>
                      <a:r>
                        <a:rPr lang="en-GB" sz="1100"/>
                        <a:t>TypeCode</a:t>
                      </a:r>
                      <a:endParaRPr lang="en-GB" sz="1100">
                        <a:latin typeface="Calibri" pitchFamily="34"/>
                        <a:ea typeface="Calibri" pitchFamily="34"/>
                      </a:endParaRPr>
                    </a:p>
                  </a:txBody>
                  <a:tcPr marL="90004" marR="19046" marT="14292" marB="14292"/>
                </a:tc>
                <a:tc>
                  <a:txBody>
                    <a:bodyPr/>
                    <a:lstStyle/>
                    <a:p>
                      <a:pPr lvl="0" algn="l"/>
                      <a:r>
                        <a:rPr lang="en-GB" sz="1100"/>
                        <a:t>Declaration Category concatenated with Declaration Type</a:t>
                      </a:r>
                    </a:p>
                    <a:p>
                      <a:pPr lvl="0" algn="l"/>
                      <a:r>
                        <a:rPr lang="en-GB" sz="1100"/>
                        <a:t>DE 1/1 + DE 1/2</a:t>
                      </a:r>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1729894286"/>
                  </a:ext>
                </a:extLst>
              </a:tr>
              <a:tr h="175729">
                <a:tc>
                  <a:txBody>
                    <a:bodyPr/>
                    <a:lstStyle/>
                    <a:p>
                      <a:pPr lvl="0" algn="l">
                        <a:lnSpc>
                          <a:spcPts val="1500"/>
                        </a:lnSpc>
                      </a:pPr>
                      <a:r>
                        <a:rPr lang="en-GB" sz="1100"/>
                        <a:t>GoodsShipment/Consignment/GoodsLocation/Name</a:t>
                      </a:r>
                      <a:endParaRPr lang="en-GB" sz="1100">
                        <a:latin typeface="Calibri" pitchFamily="34"/>
                        <a:ea typeface="Calibri" pitchFamily="34"/>
                      </a:endParaRPr>
                    </a:p>
                  </a:txBody>
                  <a:tcPr marL="90004" marR="19046" marT="14292" marB="14292"/>
                </a:tc>
                <a:tc>
                  <a:txBody>
                    <a:bodyPr/>
                    <a:lstStyle/>
                    <a:p>
                      <a:pPr lvl="0" algn="l"/>
                      <a:r>
                        <a:rPr lang="en-GB" sz="1100"/>
                        <a:t>Name of the place where goods are located</a:t>
                      </a:r>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4183345010"/>
                  </a:ext>
                </a:extLst>
              </a:tr>
              <a:tr h="320661">
                <a:tc>
                  <a:txBody>
                    <a:bodyPr/>
                    <a:lstStyle/>
                    <a:p>
                      <a:pPr marL="0" marR="0" lvl="0" indent="0" algn="l" defTabSz="914400" rtl="0" fontAlgn="auto" hangingPunct="1">
                        <a:lnSpc>
                          <a:spcPts val="1500"/>
                        </a:lnSpc>
                        <a:spcBef>
                          <a:spcPts val="0"/>
                        </a:spcBef>
                        <a:spcAft>
                          <a:spcPts val="0"/>
                        </a:spcAft>
                        <a:buNone/>
                        <a:tabLst/>
                      </a:pPr>
                      <a:r>
                        <a:rPr lang="en-GB" sz="1100"/>
                        <a:t>GoodsShipment/Consignment/GoodsLocation/TypeCode</a:t>
                      </a:r>
                      <a:endParaRPr lang="en-GB" sz="1100">
                        <a:latin typeface="Calibri" pitchFamily="34"/>
                        <a:ea typeface="Calibri" pitchFamily="34"/>
                      </a:endParaRPr>
                    </a:p>
                    <a:p>
                      <a:pPr lvl="0" algn="l">
                        <a:lnSpc>
                          <a:spcPts val="1500"/>
                        </a:lnSpc>
                      </a:pPr>
                      <a:endParaRPr lang="en-GB" sz="1100">
                        <a:latin typeface="Calibri" pitchFamily="34"/>
                        <a:ea typeface="Calibri" pitchFamily="34"/>
                      </a:endParaRPr>
                    </a:p>
                  </a:txBody>
                  <a:tcPr marL="90004" marR="19046" marT="14292" marB="14292"/>
                </a:tc>
                <a:tc>
                  <a:txBody>
                    <a:bodyPr/>
                    <a:lstStyle/>
                    <a:p>
                      <a:pPr marL="0" marR="0" lvl="0" indent="0" algn="l" defTabSz="914400" rtl="0" fontAlgn="auto" hangingPunct="1">
                        <a:lnSpc>
                          <a:spcPct val="100000"/>
                        </a:lnSpc>
                        <a:spcBef>
                          <a:spcPts val="0"/>
                        </a:spcBef>
                        <a:spcAft>
                          <a:spcPts val="0"/>
                        </a:spcAft>
                        <a:buNone/>
                        <a:tabLst/>
                      </a:pPr>
                      <a:r>
                        <a:rPr lang="en-GB" sz="1100"/>
                        <a:t>Goods location type code</a:t>
                      </a:r>
                      <a:endParaRPr lang="en-GB" sz="1100">
                        <a:latin typeface="Arial" pitchFamily="34"/>
                        <a:ea typeface="Calibri" pitchFamily="34"/>
                      </a:endParaRPr>
                    </a:p>
                    <a:p>
                      <a:pPr lvl="0" algn="l"/>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2896338547"/>
                  </a:ext>
                </a:extLst>
              </a:tr>
              <a:tr h="320661">
                <a:tc>
                  <a:txBody>
                    <a:bodyPr/>
                    <a:lstStyle/>
                    <a:p>
                      <a:pPr marL="0" marR="0" lvl="0" indent="0" algn="l" defTabSz="914400" rtl="0" fontAlgn="auto" hangingPunct="1">
                        <a:lnSpc>
                          <a:spcPts val="1500"/>
                        </a:lnSpc>
                        <a:spcBef>
                          <a:spcPts val="0"/>
                        </a:spcBef>
                        <a:spcAft>
                          <a:spcPts val="0"/>
                        </a:spcAft>
                        <a:buNone/>
                        <a:tabLst/>
                      </a:pPr>
                      <a:r>
                        <a:rPr lang="en-GB" sz="1100"/>
                        <a:t>GoodsShipment/Consignment/GoodsLocation/Address/TypeCode</a:t>
                      </a:r>
                      <a:endParaRPr lang="en-GB" sz="1100">
                        <a:latin typeface="Calibri" pitchFamily="34"/>
                        <a:ea typeface="Calibri" pitchFamily="34"/>
                      </a:endParaRPr>
                    </a:p>
                    <a:p>
                      <a:pPr lvl="0" algn="l">
                        <a:lnSpc>
                          <a:spcPts val="1500"/>
                        </a:lnSpc>
                      </a:pPr>
                      <a:endParaRPr lang="en-GB" sz="1100">
                        <a:latin typeface="Calibri" pitchFamily="34"/>
                        <a:ea typeface="Calibri" pitchFamily="34"/>
                      </a:endParaRPr>
                    </a:p>
                  </a:txBody>
                  <a:tcPr marL="90004" marR="19046" marT="14292" marB="14292"/>
                </a:tc>
                <a:tc>
                  <a:txBody>
                    <a:bodyPr/>
                    <a:lstStyle/>
                    <a:p>
                      <a:pPr marL="0" marR="0" lvl="0" indent="0" algn="l" defTabSz="914400" rtl="0" fontAlgn="auto" hangingPunct="1">
                        <a:lnSpc>
                          <a:spcPct val="100000"/>
                        </a:lnSpc>
                        <a:spcBef>
                          <a:spcPts val="0"/>
                        </a:spcBef>
                        <a:spcAft>
                          <a:spcPts val="0"/>
                        </a:spcAft>
                        <a:buNone/>
                        <a:tabLst/>
                      </a:pPr>
                      <a:r>
                        <a:rPr lang="en-GB" sz="1100"/>
                        <a:t>Type of address</a:t>
                      </a:r>
                      <a:endParaRPr lang="en-GB" sz="1100">
                        <a:latin typeface="Arial" pitchFamily="34"/>
                        <a:ea typeface="Calibri" pitchFamily="34"/>
                      </a:endParaRPr>
                    </a:p>
                    <a:p>
                      <a:pPr lvl="0" algn="l"/>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1596108230"/>
                  </a:ext>
                </a:extLst>
              </a:tr>
              <a:tr h="320661">
                <a:tc>
                  <a:txBody>
                    <a:bodyPr/>
                    <a:lstStyle/>
                    <a:p>
                      <a:pPr marL="0" marR="0" lvl="0" indent="0" algn="l" defTabSz="914400" rtl="0" fontAlgn="auto" hangingPunct="1">
                        <a:lnSpc>
                          <a:spcPts val="1500"/>
                        </a:lnSpc>
                        <a:spcBef>
                          <a:spcPts val="0"/>
                        </a:spcBef>
                        <a:spcAft>
                          <a:spcPts val="0"/>
                        </a:spcAft>
                        <a:buNone/>
                        <a:tabLst/>
                      </a:pPr>
                      <a:r>
                        <a:rPr lang="en-GB" sz="1100"/>
                        <a:t>GoodsShipment/Consignment/GoodsLocation/Address/CountryCode</a:t>
                      </a:r>
                      <a:endParaRPr lang="en-GB" sz="1100">
                        <a:latin typeface="Calibri" pitchFamily="34"/>
                        <a:ea typeface="Calibri" pitchFamily="34"/>
                      </a:endParaRPr>
                    </a:p>
                    <a:p>
                      <a:pPr lvl="0" algn="l">
                        <a:lnSpc>
                          <a:spcPts val="1500"/>
                        </a:lnSpc>
                      </a:pPr>
                      <a:endParaRPr lang="en-GB" sz="1100">
                        <a:latin typeface="Calibri" pitchFamily="34"/>
                        <a:ea typeface="Calibri" pitchFamily="34"/>
                      </a:endParaRPr>
                    </a:p>
                  </a:txBody>
                  <a:tcPr marL="90004" marR="19046" marT="14292" marB="14292"/>
                </a:tc>
                <a:tc>
                  <a:txBody>
                    <a:bodyPr/>
                    <a:lstStyle/>
                    <a:p>
                      <a:pPr marL="0" marR="0" lvl="0" indent="0" algn="l" defTabSz="914400" rtl="0" fontAlgn="auto" hangingPunct="1">
                        <a:lnSpc>
                          <a:spcPct val="100000"/>
                        </a:lnSpc>
                        <a:spcBef>
                          <a:spcPts val="0"/>
                        </a:spcBef>
                        <a:spcAft>
                          <a:spcPts val="0"/>
                        </a:spcAft>
                        <a:buNone/>
                        <a:tabLst/>
                      </a:pPr>
                      <a:r>
                        <a:rPr lang="en-GB" sz="1100"/>
                        <a:t>Country code of address</a:t>
                      </a:r>
                      <a:endParaRPr lang="en-GB" sz="1100">
                        <a:latin typeface="Arial" pitchFamily="34"/>
                        <a:ea typeface="Calibri" pitchFamily="34"/>
                      </a:endParaRPr>
                    </a:p>
                    <a:p>
                      <a:pPr lvl="0" algn="l"/>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2398462695"/>
                  </a:ext>
                </a:extLst>
              </a:tr>
              <a:tr h="320661">
                <a:tc>
                  <a:txBody>
                    <a:bodyPr/>
                    <a:lstStyle/>
                    <a:p>
                      <a:pPr marL="0" marR="0" lvl="0" indent="0" algn="l" defTabSz="914400" rtl="0" fontAlgn="auto" hangingPunct="1">
                        <a:lnSpc>
                          <a:spcPts val="1500"/>
                        </a:lnSpc>
                        <a:spcBef>
                          <a:spcPts val="0"/>
                        </a:spcBef>
                        <a:spcAft>
                          <a:spcPts val="0"/>
                        </a:spcAft>
                        <a:buNone/>
                        <a:tabLst/>
                      </a:pPr>
                      <a:r>
                        <a:rPr lang="en-GB" sz="1100"/>
                        <a:t>GoodsShipment/PreviousDocument/ID</a:t>
                      </a:r>
                      <a:endParaRPr lang="en-GB" sz="1100">
                        <a:latin typeface="Calibri" pitchFamily="34"/>
                        <a:ea typeface="Calibri" pitchFamily="34"/>
                      </a:endParaRPr>
                    </a:p>
                    <a:p>
                      <a:pPr lvl="0" algn="l">
                        <a:lnSpc>
                          <a:spcPts val="1500"/>
                        </a:lnSpc>
                      </a:pPr>
                      <a:endParaRPr lang="en-GB" sz="1100">
                        <a:latin typeface="Calibri" pitchFamily="34"/>
                        <a:ea typeface="Calibri" pitchFamily="34"/>
                      </a:endParaRPr>
                    </a:p>
                  </a:txBody>
                  <a:tcPr marL="90004" marR="19046" marT="14292" marB="14292"/>
                </a:tc>
                <a:tc>
                  <a:txBody>
                    <a:bodyPr/>
                    <a:lstStyle/>
                    <a:p>
                      <a:pPr marL="0" marR="0" lvl="0" indent="0" algn="l" defTabSz="914400" rtl="0" fontAlgn="auto" hangingPunct="1">
                        <a:lnSpc>
                          <a:spcPct val="100000"/>
                        </a:lnSpc>
                        <a:spcBef>
                          <a:spcPts val="0"/>
                        </a:spcBef>
                        <a:spcAft>
                          <a:spcPts val="0"/>
                        </a:spcAft>
                        <a:buNone/>
                        <a:tabLst/>
                      </a:pPr>
                      <a:r>
                        <a:rPr lang="en-GB" sz="1100"/>
                        <a:t>The ID of a previous document. A DUCR or MUCR</a:t>
                      </a:r>
                      <a:endParaRPr lang="en-GB" sz="1100">
                        <a:latin typeface="Arial" pitchFamily="34"/>
                        <a:ea typeface="Calibri" pitchFamily="34"/>
                      </a:endParaRPr>
                    </a:p>
                    <a:p>
                      <a:pPr lvl="0" algn="l"/>
                      <a:endParaRPr lang="en-GB" sz="1100">
                        <a:latin typeface="Arial" pitchFamily="34"/>
                        <a:ea typeface="Calibri" pitchFamily="34"/>
                      </a:endParaRPr>
                    </a:p>
                  </a:txBody>
                  <a:tcPr marL="90004" marR="19046" marT="14292" marB="14292"/>
                </a:tc>
                <a:extLst>
                  <a:ext uri="{0D108BD9-81ED-4DB2-BD59-A6C34878D82A}">
                    <a16:rowId xmlns:a16="http://schemas.microsoft.com/office/drawing/2014/main" val="3775498623"/>
                  </a:ext>
                </a:extLst>
              </a:tr>
              <a:tr h="320661">
                <a:tc>
                  <a:txBody>
                    <a:bodyPr/>
                    <a:lstStyle/>
                    <a:p>
                      <a:pPr marL="0" marR="0" lvl="0" indent="0" algn="l" defTabSz="914400" rtl="0" fontAlgn="auto" hangingPunct="1">
                        <a:lnSpc>
                          <a:spcPts val="1500"/>
                        </a:lnSpc>
                        <a:spcBef>
                          <a:spcPts val="0"/>
                        </a:spcBef>
                        <a:spcAft>
                          <a:spcPts val="0"/>
                        </a:spcAft>
                        <a:buNone/>
                        <a:tabLst/>
                      </a:pPr>
                      <a:r>
                        <a:rPr lang="en-GB" sz="1100"/>
                        <a:t>GoodsShipment/PreviousDocument/TypeCode</a:t>
                      </a:r>
                      <a:endParaRPr lang="en-GB" sz="1100">
                        <a:latin typeface="Calibri" pitchFamily="34"/>
                        <a:ea typeface="Calibri" pitchFamily="34"/>
                      </a:endParaRPr>
                    </a:p>
                    <a:p>
                      <a:pPr lvl="0" algn="l">
                        <a:lnSpc>
                          <a:spcPts val="1500"/>
                        </a:lnSpc>
                      </a:pPr>
                      <a:endParaRPr lang="en-GB" sz="1100">
                        <a:latin typeface="Calibri" pitchFamily="34"/>
                        <a:ea typeface="Calibri" pitchFamily="34"/>
                      </a:endParaRPr>
                    </a:p>
                  </a:txBody>
                  <a:tcPr marL="90004" marR="19046" marT="14292" marB="14292"/>
                </a:tc>
                <a:tc>
                  <a:txBody>
                    <a:bodyPr/>
                    <a:lstStyle/>
                    <a:p>
                      <a:pPr marL="0" marR="0" lvl="0" indent="0" algn="l" defTabSz="914400" rtl="0" fontAlgn="auto" hangingPunct="1">
                        <a:lnSpc>
                          <a:spcPct val="100000"/>
                        </a:lnSpc>
                        <a:spcBef>
                          <a:spcPts val="0"/>
                        </a:spcBef>
                        <a:spcAft>
                          <a:spcPts val="0"/>
                        </a:spcAft>
                        <a:buNone/>
                        <a:tabLst/>
                      </a:pPr>
                      <a:r>
                        <a:rPr lang="en-GB" sz="1100" dirty="0"/>
                        <a:t>The type of a previous document</a:t>
                      </a:r>
                      <a:endParaRPr lang="en-GB" sz="1100" dirty="0">
                        <a:latin typeface="Arial" pitchFamily="34"/>
                        <a:ea typeface="Calibri" pitchFamily="34"/>
                      </a:endParaRPr>
                    </a:p>
                    <a:p>
                      <a:pPr lvl="0" algn="l"/>
                      <a:endParaRPr lang="en-GB" sz="1100" dirty="0">
                        <a:latin typeface="Arial" pitchFamily="34"/>
                        <a:ea typeface="Calibri" pitchFamily="34"/>
                      </a:endParaRPr>
                    </a:p>
                  </a:txBody>
                  <a:tcPr marL="90004" marR="19046" marT="14292" marB="14292"/>
                </a:tc>
                <a:extLst>
                  <a:ext uri="{0D108BD9-81ED-4DB2-BD59-A6C34878D82A}">
                    <a16:rowId xmlns:a16="http://schemas.microsoft.com/office/drawing/2014/main" val="85880691"/>
                  </a:ext>
                </a:extLst>
              </a:tr>
            </a:tbl>
          </a:graphicData>
        </a:graphic>
      </p:graphicFrame>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name="Slide456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A6E5AD24-B604-41B3-8A45-E57F7212AEF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67782AF-AF2C-45AF-96D1-F731081485D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BE093C1-3F76-4E33-9D4E-D7AD3CE71CC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533B1997-C00A-4051-89A0-9C3ABB30468D}"/>
              </a:ext>
            </a:extLst>
          </p:cNvPr>
          <p:cNvSpPr txBox="1"/>
          <p:nvPr/>
        </p:nvSpPr>
        <p:spPr>
          <a:xfrm>
            <a:off x="11677306"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267A344-BAA7-49BA-8CB2-46984C1F8C91}" type="slidenum">
              <a:rPr sz="1200"/>
              <a:t>374</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69F09083-30E6-4F05-BE5E-33E4EDA8AD17}"/>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757B118C-65C2-4797-A2A1-68981D9D6C15}"/>
              </a:ext>
            </a:extLst>
          </p:cNvPr>
          <p:cNvSpPr/>
          <p:nvPr/>
        </p:nvSpPr>
        <p:spPr>
          <a:xfrm>
            <a:off x="530690" y="1206651"/>
            <a:ext cx="11282159" cy="310853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For </a:t>
            </a:r>
            <a:r>
              <a:rPr lang="en-GB" sz="1400" b="1" i="0" u="none" strike="noStrike" kern="1200" cap="none" spc="0" baseline="0">
                <a:solidFill>
                  <a:srgbClr val="333333"/>
                </a:solidFill>
                <a:uFillTx/>
                <a:latin typeface="Calibri (body)"/>
              </a:rPr>
              <a:t>import</a:t>
            </a:r>
            <a:r>
              <a:rPr lang="en-GB" sz="1400" b="0" i="0" u="none" strike="noStrike" kern="1200" cap="none" spc="0" baseline="0">
                <a:solidFill>
                  <a:srgbClr val="333333"/>
                </a:solidFill>
                <a:uFillTx/>
                <a:latin typeface="Calibri (body)"/>
              </a:rPr>
              <a:t> declarations, CSPs querying CDS for the versions of a declaration, can only query declarations submitted through them.</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For </a:t>
            </a:r>
            <a:r>
              <a:rPr lang="en-GB" sz="1400" b="1" i="0" u="none" strike="noStrike" kern="1200" cap="none" spc="0" baseline="0">
                <a:solidFill>
                  <a:srgbClr val="333333"/>
                </a:solidFill>
                <a:uFillTx/>
                <a:latin typeface="Calibri (body)"/>
              </a:rPr>
              <a:t>export</a:t>
            </a:r>
            <a:r>
              <a:rPr lang="en-GB" sz="1400" b="0" i="0" u="none" strike="noStrike" kern="1200" cap="none" spc="0" baseline="0">
                <a:solidFill>
                  <a:srgbClr val="333333"/>
                </a:solidFill>
                <a:uFillTx/>
                <a:latin typeface="Calibri (body)"/>
              </a:rPr>
              <a:t> declarations, CSPs querying CDS for the versions of a declaration, can submit a query regardless of whether the declaration was submitted through a CSP, or which CSP the declaration was submitted through.</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 non-CSP party can only query CDS for the versions of a declaration they have created. If a non-CSP party queries a declaration that they have not created, CDS will return an error.</a:t>
            </a: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285750" marR="0" lvl="0"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party who created a declaration must be able to retrieve the versions of a declaration they have created, regardless of the system they used to create the declaration, or the system they are using to query the declaration status.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cs typeface="Calibri"/>
            </a:endParaRPr>
          </a:p>
        </p:txBody>
      </p:sp>
      <p:sp>
        <p:nvSpPr>
          <p:cNvPr id="9" name="TextBox 10">
            <a:extLst>
              <a:ext uri="{FF2B5EF4-FFF2-40B4-BE49-F238E27FC236}">
                <a16:creationId xmlns:a16="http://schemas.microsoft.com/office/drawing/2014/main" id="{96DF9CB8-15E4-42BF-B159-1118012EB0B3}"/>
              </a:ext>
            </a:extLst>
          </p:cNvPr>
          <p:cNvSpPr txBox="1"/>
          <p:nvPr/>
        </p:nvSpPr>
        <p:spPr>
          <a:xfrm>
            <a:off x="399245" y="4866811"/>
            <a:ext cx="11282159" cy="52321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body)"/>
                <a:ea typeface="Calibri"/>
                <a:cs typeface="Calibri"/>
              </a:rPr>
              <a:t>Please Note:</a:t>
            </a:r>
            <a:r>
              <a:rPr lang="en-GB" sz="1400" b="1" i="0" u="none" strike="noStrike" kern="1200" cap="none" spc="0" baseline="0">
                <a:solidFill>
                  <a:srgbClr val="000000"/>
                </a:solidFill>
                <a:uFillTx/>
                <a:latin typeface="Calibri" pitchFamily="34"/>
                <a:ea typeface="Calibri" pitchFamily="34"/>
              </a:rPr>
              <a:t> </a:t>
            </a:r>
            <a:r>
              <a:rPr lang="en-GB" sz="1400" b="0" i="0" u="none" strike="noStrike" kern="1200" cap="none" spc="0" baseline="0">
                <a:solidFill>
                  <a:srgbClr val="000000"/>
                </a:solidFill>
                <a:uFillTx/>
                <a:latin typeface="Calibri" pitchFamily="34"/>
                <a:ea typeface="Calibri" pitchFamily="34"/>
              </a:rPr>
              <a:t>Full Declaration Information Service functionality will be implemented in TTM18.0</a:t>
            </a:r>
            <a:endParaRPr lang="en-GB" sz="1400" b="0" i="0" u="none" strike="noStrike" kern="1200" cap="none" spc="0" baseline="0">
              <a:solidFill>
                <a:srgbClr val="000000"/>
              </a:solidFill>
              <a:uFillTx/>
              <a:latin typeface="Calibri (body)"/>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body)"/>
              <a:ea typeface="Calibri"/>
              <a:cs typeface="Calibri"/>
            </a:endParaRPr>
          </a:p>
        </p:txBody>
      </p:sp>
      <p:sp>
        <p:nvSpPr>
          <p:cNvPr id="10" name="Rectangle 11">
            <a:extLst>
              <a:ext uri="{FF2B5EF4-FFF2-40B4-BE49-F238E27FC236}">
                <a16:creationId xmlns:a16="http://schemas.microsoft.com/office/drawing/2014/main" id="{1B079EB7-C750-4E7B-B836-39952C4E57D4}"/>
              </a:ext>
            </a:extLst>
          </p:cNvPr>
          <p:cNvSpPr/>
          <p:nvPr/>
        </p:nvSpPr>
        <p:spPr>
          <a:xfrm>
            <a:off x="983702" y="3849029"/>
            <a:ext cx="10844326" cy="766404"/>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just"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TT_IM83a - </a:t>
            </a:r>
            <a:r>
              <a:rPr lang="en-GB" sz="1100" b="0" i="0" u="none" strike="noStrike" kern="1200" cap="none" spc="0" baseline="0">
                <a:solidFill>
                  <a:srgbClr val="000000"/>
                </a:solidFill>
                <a:uFillTx/>
                <a:latin typeface="Calibri"/>
              </a:rPr>
              <a:t>CSP query to search all versions of an import declaration they have submitted, using the MRN parameter to determine the current state of the declaration.</a:t>
            </a:r>
          </a:p>
        </p:txBody>
      </p:sp>
      <p:sp>
        <p:nvSpPr>
          <p:cNvPr id="11" name="Rectangle 12">
            <a:extLst>
              <a:ext uri="{FF2B5EF4-FFF2-40B4-BE49-F238E27FC236}">
                <a16:creationId xmlns:a16="http://schemas.microsoft.com/office/drawing/2014/main" id="{35433580-5B91-4A89-9916-E2FD0020E1E3}"/>
              </a:ext>
            </a:extLst>
          </p:cNvPr>
          <p:cNvSpPr/>
          <p:nvPr/>
        </p:nvSpPr>
        <p:spPr>
          <a:xfrm>
            <a:off x="465155" y="3849029"/>
            <a:ext cx="518556" cy="766404"/>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name="Slide456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AD7FB3A-8212-46F7-B8EA-53BC410E85E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6E7BC72-4516-457B-A55B-5C352D68343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1A08112E-78B5-48B8-A958-BEB23D3FDC5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8D80300-6033-48CD-AA5B-E1793387B7A1}"/>
              </a:ext>
            </a:extLst>
          </p:cNvPr>
          <p:cNvSpPr txBox="1"/>
          <p:nvPr/>
        </p:nvSpPr>
        <p:spPr>
          <a:xfrm>
            <a:off x="11645500"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9B2F697-1700-43D9-97B7-A6EA212F6B37}" type="slidenum">
              <a:rPr sz="1200"/>
              <a:t>375</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39376ADF-87C0-43F4-A3A7-785D23F2AF0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E69A59D4-FDA8-45BA-8369-AD84AE2A7087}"/>
              </a:ext>
            </a:extLst>
          </p:cNvPr>
          <p:cNvSpPr/>
          <p:nvPr/>
        </p:nvSpPr>
        <p:spPr>
          <a:xfrm>
            <a:off x="465155" y="1213838"/>
            <a:ext cx="11504925" cy="504753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4. Grouping APCs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242424"/>
                </a:solidFill>
                <a:uFillTx/>
                <a:latin typeface="Calibri (body)"/>
              </a:rPr>
              <a:t>The introduction of the functionality Grouping APCs supports maximising simplifications for traders by allowing them to group eligible goods items falling under different tariff subheadings on a single goods item, as long as it’s that which attracts the highest duty rate. This functionality is also expanded to include excise goods. These new APCs will replace the AI code 00600.</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242424"/>
                </a:solidFill>
                <a:uFillTx/>
                <a:latin typeface="Calibri (body)"/>
              </a:rPr>
              <a:t>Additional Procedure Code ‘F47’</a:t>
            </a:r>
            <a:endParaRPr lang="en-GB" sz="1400" b="1" i="0" u="none" strike="sngStrike" kern="1200" cap="none" spc="0" baseline="0">
              <a:solidFill>
                <a:srgbClr val="242424"/>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242424"/>
                </a:solidFill>
                <a:uFillTx/>
                <a:latin typeface="Calibri (body)"/>
              </a:rPr>
              <a:t>CDS will allow Additional Procedure Code '</a:t>
            </a:r>
            <a:r>
              <a:rPr lang="en-GB" sz="1400" b="1" i="0" u="none" strike="noStrike" kern="1200" cap="none" spc="0" baseline="0">
                <a:solidFill>
                  <a:srgbClr val="242424"/>
                </a:solidFill>
                <a:uFillTx/>
                <a:latin typeface="Calibri (body)"/>
              </a:rPr>
              <a:t>F47</a:t>
            </a:r>
            <a:r>
              <a:rPr lang="en-GB" sz="1400" b="0" i="0" u="none" strike="noStrike" kern="1200" cap="none" spc="0" baseline="0">
                <a:solidFill>
                  <a:srgbClr val="242424"/>
                </a:solidFill>
                <a:uFillTx/>
                <a:latin typeface="Calibri (body)"/>
              </a:rPr>
              <a:t>’ to be entered in </a:t>
            </a:r>
            <a:r>
              <a:rPr lang="en-GB" sz="1400" b="1" i="0" u="none" strike="noStrike" kern="1200" cap="none" spc="0" baseline="0">
                <a:solidFill>
                  <a:srgbClr val="242424"/>
                </a:solidFill>
                <a:uFillTx/>
                <a:latin typeface="Calibri (body)"/>
              </a:rPr>
              <a:t>DE 1/11 </a:t>
            </a:r>
            <a:r>
              <a:rPr lang="en-GB" sz="1400" b="0" i="0" u="none" strike="noStrike" kern="1200" cap="none" spc="0" baseline="0">
                <a:solidFill>
                  <a:srgbClr val="242424"/>
                </a:solidFill>
                <a:uFillTx/>
                <a:latin typeface="Calibri (body)"/>
              </a:rPr>
              <a:t>on additional declaration types (DE 1/2): </a:t>
            </a:r>
            <a:r>
              <a:rPr lang="en-GB" sz="1400" b="1" i="0" u="none" strike="noStrike" kern="1200" cap="none" spc="0" baseline="0">
                <a:solidFill>
                  <a:srgbClr val="242424"/>
                </a:solidFill>
                <a:uFillTx/>
                <a:latin typeface="Calibri (body)"/>
              </a:rPr>
              <a:t>A, B, C, D, E, F, Y &amp; Z.</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242424"/>
                </a:solidFill>
                <a:uFillTx/>
                <a:latin typeface="Calibri (body)"/>
              </a:rPr>
              <a:t>Where 'F47' is declared in DE 1/11 (Additional Procedure) on 'H1' or ‘I1 (C&amp;F) ' Procedure Categories, CDS will allow only </a:t>
            </a:r>
            <a:r>
              <a:rPr lang="en-GB" sz="1400" b="1" i="0" u="none" strike="noStrike" kern="1200" cap="none" spc="0" baseline="0">
                <a:solidFill>
                  <a:srgbClr val="242424"/>
                </a:solidFill>
                <a:uFillTx/>
                <a:latin typeface="Calibri (body)"/>
              </a:rPr>
              <a:t>one</a:t>
            </a:r>
            <a:r>
              <a:rPr lang="en-GB" sz="1400" b="0" i="0" u="none" strike="noStrike" kern="1200" cap="none" spc="0" baseline="0">
                <a:solidFill>
                  <a:srgbClr val="242424"/>
                </a:solidFill>
                <a:uFillTx/>
                <a:latin typeface="Calibri (body)"/>
              </a:rPr>
              <a:t> of the following Procedure Codes to be declared in DE 1/10 (Procedure Code) on the same goods item:</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Procedure Code other than one listed above, or </a:t>
            </a:r>
            <a:r>
              <a:rPr lang="en-GB" sz="1400" b="1" i="0" u="none" strike="noStrike" kern="1200" cap="none" spc="0" baseline="0">
                <a:solidFill>
                  <a:srgbClr val="333333"/>
                </a:solidFill>
                <a:uFillTx/>
                <a:latin typeface="Calibri (body)"/>
              </a:rPr>
              <a:t>no</a:t>
            </a:r>
            <a:r>
              <a:rPr lang="en-GB" sz="1400" b="0" i="0" u="none" strike="noStrike" kern="1200" cap="none" spc="0" baseline="0">
                <a:solidFill>
                  <a:srgbClr val="333333"/>
                </a:solidFill>
                <a:uFillTx/>
                <a:latin typeface="Calibri (body)"/>
              </a:rPr>
              <a:t> Procedure Code, is declared in DE 1/10 with 'F47' in DE 1/11 on the same goods item, CDS will reject the declaration and send a DMSREJ notification to the trader.</a:t>
            </a:r>
            <a:endParaRPr lang="en-GB" sz="1400" b="1" i="0" u="none" strike="noStrike" kern="1200" cap="none" spc="0" baseline="0">
              <a:solidFill>
                <a:srgbClr val="000000"/>
              </a:solidFill>
              <a:uFillTx/>
              <a:latin typeface="Calibri (body)"/>
            </a:endParaRPr>
          </a:p>
        </p:txBody>
      </p:sp>
      <p:graphicFrame>
        <p:nvGraphicFramePr>
          <p:cNvPr id="9" name="Table 3">
            <a:extLst>
              <a:ext uri="{FF2B5EF4-FFF2-40B4-BE49-F238E27FC236}">
                <a16:creationId xmlns:a16="http://schemas.microsoft.com/office/drawing/2014/main" id="{C58DC9EB-28A4-464D-964B-2F12A68F2F5F}"/>
              </a:ext>
            </a:extLst>
          </p:cNvPr>
          <p:cNvGraphicFramePr>
            <a:graphicFrameLocks noGrp="1"/>
          </p:cNvGraphicFramePr>
          <p:nvPr/>
        </p:nvGraphicFramePr>
        <p:xfrm>
          <a:off x="4791739" y="3565967"/>
          <a:ext cx="2290462" cy="2026920"/>
        </p:xfrm>
        <a:graphic>
          <a:graphicData uri="http://schemas.openxmlformats.org/drawingml/2006/table">
            <a:tbl>
              <a:tblPr firstRow="1" bandRow="1">
                <a:effectLst/>
                <a:tableStyleId>{5C22544A-7EE6-4342-B048-85BDC9FD1C3A}</a:tableStyleId>
              </a:tblPr>
              <a:tblGrid>
                <a:gridCol w="2290462">
                  <a:extLst>
                    <a:ext uri="{9D8B030D-6E8A-4147-A177-3AD203B41FA5}">
                      <a16:colId xmlns:a16="http://schemas.microsoft.com/office/drawing/2014/main" val="3733451761"/>
                    </a:ext>
                  </a:extLst>
                </a:gridCol>
              </a:tblGrid>
              <a:tr h="128400">
                <a:tc>
                  <a:txBody>
                    <a:bodyPr/>
                    <a:lstStyle/>
                    <a:p>
                      <a:pPr lvl="0" algn="ctr"/>
                      <a:r>
                        <a:rPr lang="en-GB" sz="1300"/>
                        <a:t>Procedure Code</a:t>
                      </a:r>
                    </a:p>
                  </a:txBody>
                  <a:tcPr/>
                </a:tc>
                <a:extLst>
                  <a:ext uri="{0D108BD9-81ED-4DB2-BD59-A6C34878D82A}">
                    <a16:rowId xmlns:a16="http://schemas.microsoft.com/office/drawing/2014/main" val="927857605"/>
                  </a:ext>
                </a:extLst>
              </a:tr>
              <a:tr h="128400">
                <a:tc>
                  <a:txBody>
                    <a:bodyPr/>
                    <a:lstStyle/>
                    <a:p>
                      <a:pPr lvl="0" algn="ctr"/>
                      <a:r>
                        <a:rPr lang="en-GB" sz="1300"/>
                        <a:t>0100</a:t>
                      </a:r>
                    </a:p>
                  </a:txBody>
                  <a:tcPr/>
                </a:tc>
                <a:extLst>
                  <a:ext uri="{0D108BD9-81ED-4DB2-BD59-A6C34878D82A}">
                    <a16:rowId xmlns:a16="http://schemas.microsoft.com/office/drawing/2014/main" val="895212705"/>
                  </a:ext>
                </a:extLst>
              </a:tr>
              <a:tr h="128400">
                <a:tc>
                  <a:txBody>
                    <a:bodyPr/>
                    <a:lstStyle/>
                    <a:p>
                      <a:pPr lvl="0" algn="ctr"/>
                      <a:r>
                        <a:rPr lang="en-GB" sz="1300"/>
                        <a:t>0700</a:t>
                      </a:r>
                    </a:p>
                  </a:txBody>
                  <a:tcPr/>
                </a:tc>
                <a:extLst>
                  <a:ext uri="{0D108BD9-81ED-4DB2-BD59-A6C34878D82A}">
                    <a16:rowId xmlns:a16="http://schemas.microsoft.com/office/drawing/2014/main" val="1943105330"/>
                  </a:ext>
                </a:extLst>
              </a:tr>
              <a:tr h="128400">
                <a:tc>
                  <a:txBody>
                    <a:bodyPr/>
                    <a:lstStyle/>
                    <a:p>
                      <a:pPr lvl="0" algn="ctr"/>
                      <a:r>
                        <a:rPr lang="en-GB" sz="1300"/>
                        <a:t>4000</a:t>
                      </a:r>
                    </a:p>
                  </a:txBody>
                  <a:tcPr/>
                </a:tc>
                <a:extLst>
                  <a:ext uri="{0D108BD9-81ED-4DB2-BD59-A6C34878D82A}">
                    <a16:rowId xmlns:a16="http://schemas.microsoft.com/office/drawing/2014/main" val="1977578432"/>
                  </a:ext>
                </a:extLst>
              </a:tr>
              <a:tr h="128400">
                <a:tc>
                  <a:txBody>
                    <a:bodyPr/>
                    <a:lstStyle/>
                    <a:p>
                      <a:pPr lvl="0" algn="ctr"/>
                      <a:r>
                        <a:rPr lang="en-GB" sz="1300"/>
                        <a:t>4200</a:t>
                      </a:r>
                    </a:p>
                  </a:txBody>
                  <a:tcPr/>
                </a:tc>
                <a:extLst>
                  <a:ext uri="{0D108BD9-81ED-4DB2-BD59-A6C34878D82A}">
                    <a16:rowId xmlns:a16="http://schemas.microsoft.com/office/drawing/2014/main" val="1726814686"/>
                  </a:ext>
                </a:extLst>
              </a:tr>
              <a:tr h="128400">
                <a:tc>
                  <a:txBody>
                    <a:bodyPr/>
                    <a:lstStyle/>
                    <a:p>
                      <a:pPr lvl="0" algn="ctr"/>
                      <a:r>
                        <a:rPr lang="en-GB" sz="1300"/>
                        <a:t>6110</a:t>
                      </a:r>
                    </a:p>
                  </a:txBody>
                  <a:tcPr/>
                </a:tc>
                <a:extLst>
                  <a:ext uri="{0D108BD9-81ED-4DB2-BD59-A6C34878D82A}">
                    <a16:rowId xmlns:a16="http://schemas.microsoft.com/office/drawing/2014/main" val="3386889269"/>
                  </a:ext>
                </a:extLst>
              </a:tr>
              <a:tr h="128400">
                <a:tc>
                  <a:txBody>
                    <a:bodyPr/>
                    <a:lstStyle/>
                    <a:p>
                      <a:pPr lvl="0" algn="ctr"/>
                      <a:r>
                        <a:rPr lang="en-GB" sz="1300" dirty="0"/>
                        <a:t>6123</a:t>
                      </a:r>
                    </a:p>
                  </a:txBody>
                  <a:tcPr/>
                </a:tc>
                <a:extLst>
                  <a:ext uri="{0D108BD9-81ED-4DB2-BD59-A6C34878D82A}">
                    <a16:rowId xmlns:a16="http://schemas.microsoft.com/office/drawing/2014/main" val="3971569204"/>
                  </a:ext>
                </a:extLst>
              </a:tr>
            </a:tbl>
          </a:graphicData>
        </a:graphic>
      </p:graphicFrame>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name="Slide4562">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C76E60B-0DB4-4A7A-B972-08DEB90C9DE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EB938130-4973-4B56-8037-B3FF3D94EB0E}"/>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0BDECC8-EB8F-442B-8800-FEFD674CEAB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45F71C5-3855-473B-83EA-F63D0D04A1F6}"/>
              </a:ext>
            </a:extLst>
          </p:cNvPr>
          <p:cNvSpPr txBox="1"/>
          <p:nvPr/>
        </p:nvSpPr>
        <p:spPr>
          <a:xfrm>
            <a:off x="11677306" y="636404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727AD0B-C043-4EA5-9B5F-09A973D55119}" type="slidenum">
              <a:rPr sz="1200"/>
              <a:t>376</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039C9130-05AF-4B74-87F2-F79C2817FCB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55EFD93F-2CCE-4805-A9A7-AC59A1BEAC06}"/>
              </a:ext>
            </a:extLst>
          </p:cNvPr>
          <p:cNvSpPr/>
          <p:nvPr/>
        </p:nvSpPr>
        <p:spPr>
          <a:xfrm>
            <a:off x="446099" y="1228395"/>
            <a:ext cx="11504925" cy="4616650"/>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'F47' is declared in D.E 1/11,</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On 'SRDS' or 'I1 (B&amp;E)' Procedure Categories, CDS will mandate Procedure Code </a:t>
            </a:r>
            <a:r>
              <a:rPr lang="en-GB" sz="1400" b="1" i="0" u="none" strike="noStrike" kern="1200" cap="none" spc="0" baseline="0">
                <a:solidFill>
                  <a:srgbClr val="333333"/>
                </a:solidFill>
                <a:uFillTx/>
                <a:latin typeface="Calibri (body)"/>
              </a:rPr>
              <a:t>'4000' </a:t>
            </a:r>
            <a:r>
              <a:rPr lang="en-GB" sz="1400" b="0" i="0" u="none" strike="noStrike" kern="1200" cap="none" spc="0" baseline="0">
                <a:solidFill>
                  <a:srgbClr val="333333"/>
                </a:solidFill>
                <a:uFillTx/>
                <a:latin typeface="Calibri (body)"/>
              </a:rPr>
              <a:t>is entered in DE 1/10 on the same goods item. If a Procedure Code other than '4000', or no Procedure Code, is declared in DE 1/10 on the same goods item, CDS will reject the declaration and send a DMSREJ notification to the trader.</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With a Declaration Category </a:t>
            </a:r>
            <a:r>
              <a:rPr lang="en-GB" sz="1400" b="1" i="0" u="none" strike="noStrike" kern="1200" cap="none" spc="0" baseline="0">
                <a:solidFill>
                  <a:srgbClr val="333333"/>
                </a:solidFill>
                <a:uFillTx/>
                <a:latin typeface="Calibri (body)"/>
              </a:rPr>
              <a:t>other</a:t>
            </a:r>
            <a:r>
              <a:rPr lang="en-GB" sz="1400" b="0" i="0" u="none" strike="noStrike" kern="1200" cap="none" spc="0" baseline="0">
                <a:solidFill>
                  <a:srgbClr val="333333"/>
                </a:solidFill>
                <a:uFillTx/>
                <a:latin typeface="Calibri (body)"/>
              </a:rPr>
              <a:t> than 'H1’, 'SRDS', ‘I1 (B&amp;E)' or ‘I1 (C&amp;F)', CDS will reject the declaration and send a DMSREJ notification to the trader.</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mandate Document Code </a:t>
            </a:r>
            <a:r>
              <a:rPr lang="en-GB" sz="1400" b="1" i="0" u="none" strike="noStrike" kern="1200" cap="none" spc="0" baseline="0">
                <a:solidFill>
                  <a:srgbClr val="333333"/>
                </a:solidFill>
                <a:uFillTx/>
                <a:latin typeface="Calibri (body)"/>
              </a:rPr>
              <a:t>'9WKS</a:t>
            </a:r>
            <a:r>
              <a:rPr lang="en-GB" sz="1400" b="0" i="0" u="none" strike="noStrike" kern="1200" cap="none" spc="0" baseline="0">
                <a:solidFill>
                  <a:srgbClr val="333333"/>
                </a:solidFill>
                <a:uFillTx/>
                <a:latin typeface="Calibri (body)"/>
              </a:rPr>
              <a:t>' is entered in DE 2/3 (Documents and Other Reference Codes) on the same goods item. If the Document Code '9WKS' is not declared, CDS will reject the declaration and send a DMSREJ notification to the trader.</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242424"/>
                </a:solidFill>
                <a:uFillTx/>
                <a:latin typeface="Calibri (body)"/>
              </a:rPr>
              <a:t>Additional Procedure Code ‘1EB’</a:t>
            </a:r>
            <a:endParaRPr lang="en-GB" sz="1400" b="1" i="0" u="none" strike="sngStrike" kern="1200" cap="none" spc="0" baseline="0">
              <a:solidFill>
                <a:srgbClr val="242424"/>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APC (1EB) declares the grouping of excise goods travelling from GB to NI, on H1 declaration categories.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allow Additional Procedure Code </a:t>
            </a:r>
            <a:r>
              <a:rPr lang="en-GB" sz="1400" b="1" i="0" u="none" strike="noStrike" kern="1200" cap="none" spc="0" baseline="0">
                <a:solidFill>
                  <a:srgbClr val="333333"/>
                </a:solidFill>
                <a:uFillTx/>
                <a:latin typeface="Calibri (body)"/>
              </a:rPr>
              <a:t>'1EB’ </a:t>
            </a:r>
            <a:r>
              <a:rPr lang="en-GB" sz="1400" b="0" i="0" u="none" strike="noStrike" kern="1200" cap="none" spc="0" baseline="0">
                <a:solidFill>
                  <a:srgbClr val="333333"/>
                </a:solidFill>
                <a:uFillTx/>
                <a:latin typeface="Calibri (body)"/>
              </a:rPr>
              <a:t>to be entered in </a:t>
            </a:r>
            <a:r>
              <a:rPr lang="en-GB" sz="1400" b="1" i="0" u="none" strike="noStrike" kern="1200" cap="none" spc="0" baseline="0">
                <a:solidFill>
                  <a:srgbClr val="333333"/>
                </a:solidFill>
                <a:uFillTx/>
                <a:latin typeface="Calibri (body)"/>
              </a:rPr>
              <a:t>DE 1/11 </a:t>
            </a:r>
            <a:r>
              <a:rPr lang="en-GB" sz="1400" b="0" i="0" u="none" strike="noStrike" kern="1200" cap="none" spc="0" baseline="0">
                <a:solidFill>
                  <a:srgbClr val="333333"/>
                </a:solidFill>
                <a:uFillTx/>
                <a:latin typeface="Calibri (body)"/>
              </a:rPr>
              <a:t>on additional declaration types (DE 1/2): </a:t>
            </a:r>
            <a:r>
              <a:rPr lang="en-GB" sz="1400" b="1" i="0" u="none" strike="noStrike" kern="1200" cap="none" spc="0" baseline="0">
                <a:solidFill>
                  <a:srgbClr val="333333"/>
                </a:solidFill>
                <a:uFillTx/>
                <a:latin typeface="Calibri (body)"/>
              </a:rPr>
              <a:t>A, B, C, D, E, F &amp; Y.</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APC '1EB' is declared in DE 1/11</a:t>
            </a:r>
            <a:r>
              <a:rPr lang="en-GB" sz="1400" b="1" i="0" u="none" strike="noStrike" kern="1200" cap="none" spc="0" baseline="0">
                <a:solidFill>
                  <a:srgbClr val="333333"/>
                </a:solidFill>
                <a:uFillTx/>
                <a:latin typeface="Calibri (body)"/>
              </a:rPr>
              <a:t>, </a:t>
            </a:r>
            <a:r>
              <a:rPr lang="en-GB" sz="1400" b="0" i="0" u="none" strike="noStrike" kern="1200" cap="none" spc="0" baseline="0">
                <a:solidFill>
                  <a:srgbClr val="333333"/>
                </a:solidFill>
                <a:uFillTx/>
                <a:latin typeface="Calibri (body)"/>
              </a:rPr>
              <a:t>it is </a:t>
            </a:r>
            <a:r>
              <a:rPr lang="en-GB" sz="1400" b="1" i="0" u="none" strike="noStrike" kern="1200" cap="none" spc="0" baseline="0">
                <a:solidFill>
                  <a:srgbClr val="333333"/>
                </a:solidFill>
                <a:uFillTx/>
                <a:latin typeface="Calibri (body)"/>
              </a:rPr>
              <a:t>mandatory:</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For APC 'F47’ to also be declared in DE 1/11 on the same goods item.</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That the following APCs are </a:t>
            </a:r>
            <a:r>
              <a:rPr lang="en-GB" sz="1400" b="1" i="0" u="none" strike="noStrike" kern="1200" cap="none" spc="0" baseline="0">
                <a:solidFill>
                  <a:srgbClr val="333333"/>
                </a:solidFill>
                <a:uFillTx/>
                <a:latin typeface="Calibri (body)"/>
              </a:rPr>
              <a:t>not</a:t>
            </a:r>
            <a:r>
              <a:rPr lang="en-GB" sz="1400" b="0" i="0" u="none" strike="noStrike" kern="1200" cap="none" spc="0" baseline="0">
                <a:solidFill>
                  <a:srgbClr val="333333"/>
                </a:solidFill>
                <a:uFillTx/>
                <a:latin typeface="Calibri (body)"/>
              </a:rPr>
              <a:t> be entered in DE 1/11 on the same goods item. </a:t>
            </a:r>
            <a:r>
              <a:rPr lang="en-GB" sz="1400" b="1" i="0" u="none" strike="noStrike" kern="1200" cap="none" spc="0" baseline="0">
                <a:solidFill>
                  <a:srgbClr val="333333"/>
                </a:solidFill>
                <a:uFillTx/>
                <a:latin typeface="Calibri (body)"/>
              </a:rPr>
              <a:t>APC Codes: C07</a:t>
            </a:r>
            <a:r>
              <a:rPr lang="en-GB" sz="1400" b="0" i="0" u="none" strike="noStrike" kern="1200" cap="none" spc="0" baseline="0">
                <a:solidFill>
                  <a:srgbClr val="333333"/>
                </a:solidFill>
                <a:uFillTx/>
                <a:latin typeface="Calibri (body)"/>
              </a:rPr>
              <a:t> &amp; </a:t>
            </a:r>
            <a:r>
              <a:rPr lang="en-GB" sz="1400" b="1" i="0" u="none" strike="noStrike" kern="1200" cap="none" spc="0" baseline="0">
                <a:solidFill>
                  <a:srgbClr val="333333"/>
                </a:solidFill>
                <a:uFillTx/>
                <a:latin typeface="Calibri (body)"/>
              </a:rPr>
              <a:t>C08</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Additional Information code </a:t>
            </a:r>
            <a:r>
              <a:rPr lang="en-GB" sz="1400" b="1" i="0" u="none" strike="noStrike" kern="1200" cap="none" spc="0" baseline="0">
                <a:solidFill>
                  <a:srgbClr val="333333"/>
                </a:solidFill>
                <a:uFillTx/>
                <a:latin typeface="Calibri (body)"/>
              </a:rPr>
              <a:t>'NIDOM' </a:t>
            </a:r>
            <a:r>
              <a:rPr lang="en-GB" sz="1400" b="0" i="0" u="none" strike="noStrike" kern="1200" cap="none" spc="0" baseline="0">
                <a:solidFill>
                  <a:srgbClr val="333333"/>
                </a:solidFill>
                <a:uFillTx/>
                <a:latin typeface="Calibri (body)"/>
              </a:rPr>
              <a:t>is declared in DE 2/2 at item level on the same goods item.</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Please Note</a:t>
            </a:r>
            <a:r>
              <a:rPr lang="en-GB" sz="1400" b="0" i="0" u="none" strike="noStrike" kern="1200" cap="none" spc="0" baseline="0">
                <a:solidFill>
                  <a:srgbClr val="333333"/>
                </a:solidFill>
                <a:uFillTx/>
                <a:latin typeface="Calibri (body)"/>
              </a:rPr>
              <a:t>: If the mandatory requirements above are not met, CDS will reject the declaration and send a DMSREJ notification to the trader.</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name="Slide456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579C2AA-72EF-4399-9763-CD7A183B8F7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1541D1D-D0CB-450D-8D68-69EB667AA93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6B2F4980-3F69-45EB-910D-DCED7D28F251}"/>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1FEB372-BCB6-4326-8B85-D46AFCCC33D9}"/>
              </a:ext>
            </a:extLst>
          </p:cNvPr>
          <p:cNvSpPr txBox="1"/>
          <p:nvPr/>
        </p:nvSpPr>
        <p:spPr>
          <a:xfrm>
            <a:off x="11669354"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21F24FE-A860-498A-8414-5C4F67A8AD17}" type="slidenum">
              <a:rPr sz="1200"/>
              <a:t>377</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9D6DEFA1-59F6-452B-B11F-6363129A5236}"/>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C39E42AF-F9B0-4A4E-8165-8A3376D4F0A8}"/>
              </a:ext>
            </a:extLst>
          </p:cNvPr>
          <p:cNvSpPr/>
          <p:nvPr/>
        </p:nvSpPr>
        <p:spPr>
          <a:xfrm>
            <a:off x="446099" y="1199866"/>
            <a:ext cx="11504925" cy="3754873"/>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'1EB' is declared on any declaration category except 'H1', ‘I1 (B&amp;E)’ or ‘I1 (C&amp;F)', CDS will reject the declaration and send a 'DMSREJ' notification to the trader.</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'1EB' is declared in DE 1/11 , CDS will only allow either Procedure Code </a:t>
            </a:r>
            <a:r>
              <a:rPr lang="en-GB" sz="1400" b="1" i="0" u="none" strike="noStrike" kern="1200" cap="none" spc="0" baseline="0">
                <a:solidFill>
                  <a:srgbClr val="333333"/>
                </a:solidFill>
                <a:uFillTx/>
                <a:latin typeface="Calibri (body)"/>
              </a:rPr>
              <a:t>4000</a:t>
            </a:r>
            <a:r>
              <a:rPr lang="en-GB" sz="1400" b="0" i="0" u="none" strike="noStrike" kern="1200" cap="none" spc="0" baseline="0">
                <a:solidFill>
                  <a:srgbClr val="333333"/>
                </a:solidFill>
                <a:uFillTx/>
                <a:latin typeface="Calibri (body)"/>
              </a:rPr>
              <a:t> or </a:t>
            </a:r>
            <a:r>
              <a:rPr lang="en-GB" sz="1400" b="1" i="0" u="none" strike="noStrike" kern="1200" cap="none" spc="0" baseline="0">
                <a:solidFill>
                  <a:srgbClr val="333333"/>
                </a:solidFill>
                <a:uFillTx/>
                <a:latin typeface="Calibri (body)"/>
              </a:rPr>
              <a:t>0700</a:t>
            </a:r>
            <a:r>
              <a:rPr lang="en-GB" sz="1400" b="0" i="0" u="none" strike="noStrike" kern="1200" cap="none" spc="0" baseline="0">
                <a:solidFill>
                  <a:srgbClr val="333333"/>
                </a:solidFill>
                <a:uFillTx/>
                <a:latin typeface="Calibri (body)"/>
              </a:rPr>
              <a:t> in DE 1/10 (Procedure Code) on the same goods item. </a:t>
            </a:r>
            <a:endParaRPr lang="en-GB" sz="1400" b="0" i="0" u="none" strike="sngStrike" kern="1200" cap="none" spc="0" baseline="0">
              <a:solidFill>
                <a:srgbClr val="333333"/>
              </a:solidFill>
              <a:uFillTx/>
              <a:latin typeface="Calibri (body)"/>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Procedure Code other than ones listed above, or no Procedure Code is declared, CDS will reject the declaration and send a DMSREJ notification to the trader.</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‘1EB’ is declared with,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Procedure Code </a:t>
            </a:r>
            <a:r>
              <a:rPr lang="en-GB" sz="1400" b="1" i="0" u="none" strike="noStrike" kern="1200" cap="none" spc="0" baseline="0">
                <a:solidFill>
                  <a:srgbClr val="333333"/>
                </a:solidFill>
                <a:uFillTx/>
                <a:latin typeface="Calibri (body)"/>
              </a:rPr>
              <a:t>'4000'</a:t>
            </a:r>
            <a:r>
              <a:rPr lang="en-GB" sz="1400" b="0" i="0" u="none" strike="noStrike" kern="1200" cap="none" spc="0" baseline="0">
                <a:solidFill>
                  <a:srgbClr val="333333"/>
                </a:solidFill>
                <a:uFillTx/>
                <a:latin typeface="Calibri (body)"/>
              </a:rPr>
              <a:t>, CDS will only allow one of Additional Declaration Types: </a:t>
            </a:r>
            <a:r>
              <a:rPr lang="en-GB" sz="1400" b="1" i="0" u="none" strike="noStrike" kern="1200" cap="none" spc="0" baseline="0">
                <a:solidFill>
                  <a:srgbClr val="333333"/>
                </a:solidFill>
                <a:uFillTx/>
                <a:latin typeface="Calibri (body)"/>
              </a:rPr>
              <a:t>A, B, C, D, E, F &amp; Y</a:t>
            </a:r>
            <a:r>
              <a:rPr lang="en-GB" sz="1400" b="0" i="0" u="none" strike="noStrike" kern="1200" cap="none" spc="0" baseline="0">
                <a:solidFill>
                  <a:srgbClr val="333333"/>
                </a:solidFill>
                <a:uFillTx/>
                <a:latin typeface="Calibri (body)"/>
              </a:rPr>
              <a:t> to be declared in DE 1/2.</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Procedure Code </a:t>
            </a:r>
            <a:r>
              <a:rPr lang="en-GB" sz="1400" b="1" i="0" u="none" strike="noStrike" kern="1200" cap="none" spc="0" baseline="0">
                <a:solidFill>
                  <a:srgbClr val="333333"/>
                </a:solidFill>
                <a:uFillTx/>
                <a:latin typeface="Calibri (body)"/>
              </a:rPr>
              <a:t>‘0700’, </a:t>
            </a:r>
            <a:r>
              <a:rPr lang="en-GB" sz="1400" b="0" i="0" u="none" strike="noStrike" kern="1200" cap="none" spc="0" baseline="0">
                <a:solidFill>
                  <a:srgbClr val="333333"/>
                </a:solidFill>
                <a:uFillTx/>
                <a:latin typeface="Calibri (body)"/>
              </a:rPr>
              <a:t>CDS will only allow one of Additional Declaration Types: </a:t>
            </a:r>
            <a:r>
              <a:rPr lang="en-GB" sz="1400" b="1" i="0" u="none" strike="noStrike" kern="1200" cap="none" spc="0" baseline="0">
                <a:solidFill>
                  <a:srgbClr val="333333"/>
                </a:solidFill>
                <a:uFillTx/>
                <a:latin typeface="Calibri (body)"/>
              </a:rPr>
              <a:t>A, C, D, F &amp; Y</a:t>
            </a:r>
            <a:r>
              <a:rPr lang="en-GB" sz="1400" b="0" i="0" u="none" strike="noStrike" kern="1200" cap="none" spc="0" baseline="0">
                <a:solidFill>
                  <a:srgbClr val="333333"/>
                </a:solidFill>
                <a:uFillTx/>
                <a:latin typeface="Calibri (body)"/>
              </a:rPr>
              <a:t> to be declared in DE 1/2.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an Additional Declaration Type other than the types shown above, or no Additional Declaration Type, is declared in DE 1/2, CDS will reject the declaration and send a DMSREJ notification to the trader.</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For CDS to allow Supplementary Units to be declared when the I1 (B&amp;E) Procedure Category is used, in order for grouped excise goods to be declared on B &amp; E Declaration Types,</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the I1 (B&amp;E) Procedure Category is derived, CDS will allow supplementary units to be declared in DE 6/2 as a 'Dependent' field.</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Arial" pitchFamily="34"/>
            </a:endParaRPr>
          </a:p>
        </p:txBody>
      </p:sp>
      <p:grpSp>
        <p:nvGrpSpPr>
          <p:cNvPr id="9" name="Group 9">
            <a:extLst>
              <a:ext uri="{FF2B5EF4-FFF2-40B4-BE49-F238E27FC236}">
                <a16:creationId xmlns:a16="http://schemas.microsoft.com/office/drawing/2014/main" id="{8CA9205E-D05A-486D-84DF-C2B6A80A2791}"/>
              </a:ext>
            </a:extLst>
          </p:cNvPr>
          <p:cNvGrpSpPr/>
          <p:nvPr/>
        </p:nvGrpSpPr>
        <p:grpSpPr>
          <a:xfrm>
            <a:off x="446099" y="4752539"/>
            <a:ext cx="11381929" cy="919849"/>
            <a:chOff x="446099" y="4752539"/>
            <a:chExt cx="11381929" cy="919849"/>
          </a:xfrm>
        </p:grpSpPr>
        <p:sp>
          <p:nvSpPr>
            <p:cNvPr id="10" name="Rectangle 10">
              <a:extLst>
                <a:ext uri="{FF2B5EF4-FFF2-40B4-BE49-F238E27FC236}">
                  <a16:creationId xmlns:a16="http://schemas.microsoft.com/office/drawing/2014/main" id="{EE52284B-065C-41C8-9ED0-EB5756B2F461}"/>
                </a:ext>
              </a:extLst>
            </p:cNvPr>
            <p:cNvSpPr/>
            <p:nvPr/>
          </p:nvSpPr>
          <p:spPr>
            <a:xfrm>
              <a:off x="983711" y="4752539"/>
              <a:ext cx="10844317" cy="919849"/>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TT_IM77a - </a:t>
              </a:r>
              <a:r>
                <a:rPr lang="en-GB" sz="1100" b="0" i="0" u="none" strike="noStrike" kern="1200" cap="none" spc="0" baseline="0">
                  <a:solidFill>
                    <a:srgbClr val="000000"/>
                  </a:solidFill>
                  <a:uFillTx/>
                  <a:latin typeface="Calibri"/>
                </a:rPr>
                <a:t>Import frontier declaration, for goods moving from R0W to NI, using  APCs to group different goods falling under different tariff subheadings.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TT_IM78a - </a:t>
              </a:r>
              <a:r>
                <a:rPr lang="en-GB" sz="1100" b="0" i="0" u="none" strike="noStrike" kern="1200" cap="none" spc="0" baseline="0">
                  <a:solidFill>
                    <a:srgbClr val="000000"/>
                  </a:solidFill>
                  <a:uFillTx/>
                  <a:latin typeface="Calibri"/>
                </a:rPr>
                <a:t>Import pre-lodged declaration, for goods moving from RoW to NI, using the Super Reduced Dataset (SRDS) and APCs to group different goods falling under different tariff</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                           subheadings.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TT_IM79a </a:t>
              </a:r>
              <a:r>
                <a:rPr lang="en-GB" sz="1100" b="0" i="0" u="none" strike="noStrike" kern="1200" cap="none" spc="0" baseline="0">
                  <a:solidFill>
                    <a:srgbClr val="000000"/>
                  </a:solidFill>
                  <a:uFillTx/>
                  <a:latin typeface="Calibri"/>
                </a:rPr>
                <a:t>- Import frontier occasional simplified declaration, for goods moving from GB to NI, using APCs to group different goods falling under different tariff subheadings.</a:t>
              </a:r>
            </a:p>
          </p:txBody>
        </p:sp>
        <p:sp>
          <p:nvSpPr>
            <p:cNvPr id="11" name="Rectangle 11">
              <a:extLst>
                <a:ext uri="{FF2B5EF4-FFF2-40B4-BE49-F238E27FC236}">
                  <a16:creationId xmlns:a16="http://schemas.microsoft.com/office/drawing/2014/main" id="{113A9697-134A-4745-8896-965E9F9C5FF7}"/>
                </a:ext>
              </a:extLst>
            </p:cNvPr>
            <p:cNvSpPr/>
            <p:nvPr/>
          </p:nvSpPr>
          <p:spPr>
            <a:xfrm>
              <a:off x="446099" y="4752539"/>
              <a:ext cx="537603" cy="919849"/>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grpSp>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name="Slide456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938FA92-A3C8-45D2-8B39-4BE2C9EEFD1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8D47216-BBA7-47EF-BD7A-909FD007B4D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C678EA2-C82C-4C54-BAEE-3B1096F56D2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E54AC35-F68F-43B7-B342-C225A995CA70}"/>
              </a:ext>
            </a:extLst>
          </p:cNvPr>
          <p:cNvSpPr txBox="1"/>
          <p:nvPr/>
        </p:nvSpPr>
        <p:spPr>
          <a:xfrm>
            <a:off x="11677306"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9E1857D-BF20-4C56-9FB4-91DBB9F0836E}" type="slidenum">
              <a:rPr sz="1200"/>
              <a:t>378</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B264CB27-29E3-4939-84A7-78BD0D2BEB3A}"/>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97BF1BB3-87FD-40EA-A215-C66586511182}"/>
              </a:ext>
            </a:extLst>
          </p:cNvPr>
          <p:cNvSpPr/>
          <p:nvPr/>
        </p:nvSpPr>
        <p:spPr>
          <a:xfrm>
            <a:off x="446099" y="1216920"/>
            <a:ext cx="11504925" cy="504753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5. License Waiver Simplification</a:t>
            </a:r>
          </a:p>
          <a:p>
            <a:pPr marL="342900" marR="0" lvl="0" indent="-342900" algn="l" defTabSz="914400" rtl="0" fontAlgn="auto" hangingPunct="1">
              <a:lnSpc>
                <a:spcPct val="100000"/>
              </a:lnSpc>
              <a:spcBef>
                <a:spcPts val="0"/>
              </a:spcBef>
              <a:spcAft>
                <a:spcPts val="0"/>
              </a:spcAft>
              <a:buSzPct val="100000"/>
              <a:buAutoNum type="arabicPeriod"/>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implementation of a temporary License Waiver Simplification in GB will introduce a new ‘</a:t>
            </a:r>
            <a:r>
              <a:rPr lang="en-GB" sz="1400" b="1" i="0" u="none" strike="noStrike" kern="1200" cap="none" spc="0" baseline="0">
                <a:solidFill>
                  <a:srgbClr val="333333"/>
                </a:solidFill>
                <a:uFillTx/>
                <a:latin typeface="Calibri (body)"/>
              </a:rPr>
              <a:t>999L</a:t>
            </a:r>
            <a:r>
              <a:rPr lang="en-GB" sz="1400" b="0" i="0" u="none" strike="noStrike" kern="1200" cap="none" spc="0" baseline="0">
                <a:solidFill>
                  <a:srgbClr val="333333"/>
                </a:solidFill>
                <a:uFillTx/>
                <a:latin typeface="Calibri (body)"/>
              </a:rPr>
              <a:t>’ document code, this document code will satisfy measures where a licence waiver is permitted - Where prohibited and restricted goods are not subject to licensing measures (i.e. you do not need a specific licence to import or export your goods), the CDS waiver code can be applied to your declaration. This eliminates the need to fill-out different document codes for a single goods item, as would ordinarily be needed where those goods are subject to more than one licence measure but are exempt from the controls; entering document code 999L once against that goods item will satisfy all measures those goods are exempt from, where 999L is shown on those measures. The License Waiver Simplification is similar to the LIC99 functionality in CHIEF; this simplification will not waive the requirement for a licence unless the measure can be satisfied by Document Code 999L or other specific waiver codes. The 999L code will act as a universal document code with no requirement to be authorised to use. Furthermore, 999L is not constrained by procedures or declaration types, only whether the measure permits its use.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Please Note:</a:t>
            </a:r>
            <a:r>
              <a:rPr lang="en-GB" sz="1400" b="0" i="0" u="none" strike="noStrike" kern="1200" cap="none" spc="0" baseline="0">
                <a:solidFill>
                  <a:srgbClr val="333333"/>
                </a:solidFill>
                <a:uFillTx/>
                <a:latin typeface="Calibri (body)"/>
              </a:rPr>
              <a:t> The 999L Licence Waiver Simplification is not available for use on declarations in NI at import or export.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Declaration requirements with the 999L Document Waiver Code,</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allow </a:t>
            </a:r>
            <a:r>
              <a:rPr lang="en-GB" sz="1400" b="1" i="0" u="none" strike="noStrike" kern="1200" cap="none" spc="0" baseline="0">
                <a:solidFill>
                  <a:srgbClr val="333333"/>
                </a:solidFill>
                <a:uFillTx/>
                <a:latin typeface="Calibri (body)"/>
              </a:rPr>
              <a:t>Document Code 999L </a:t>
            </a:r>
            <a:r>
              <a:rPr lang="en-GB" sz="1400" b="0" i="0" u="none" strike="noStrike" kern="1200" cap="none" spc="0" baseline="0">
                <a:solidFill>
                  <a:srgbClr val="333333"/>
                </a:solidFill>
                <a:uFillTx/>
                <a:latin typeface="Calibri (body)"/>
              </a:rPr>
              <a:t>to be entered in </a:t>
            </a:r>
            <a:r>
              <a:rPr lang="en-GB" sz="1400" b="1" i="0" u="none" strike="noStrike" kern="1200" cap="none" spc="0" baseline="0">
                <a:solidFill>
                  <a:srgbClr val="333333"/>
                </a:solidFill>
                <a:uFillTx/>
                <a:latin typeface="Calibri (body)"/>
              </a:rPr>
              <a:t>DE 2/3</a:t>
            </a:r>
            <a:r>
              <a:rPr lang="en-GB" sz="1400" b="0" i="0" u="none" strike="noStrike" kern="1200" cap="none" spc="0" baseline="0">
                <a:solidFill>
                  <a:srgbClr val="333333"/>
                </a:solidFill>
                <a:uFillTx/>
                <a:latin typeface="Calibri (body)"/>
              </a:rPr>
              <a:t>, on declaration types </a:t>
            </a:r>
            <a:r>
              <a:rPr lang="en-GB" sz="1400" b="1" i="0" u="none" strike="noStrike" kern="1200" cap="none" spc="0" baseline="0">
                <a:solidFill>
                  <a:srgbClr val="333333"/>
                </a:solidFill>
                <a:uFillTx/>
                <a:latin typeface="Calibri (body)"/>
              </a:rPr>
              <a:t>A, B, C, D, E, F, Y</a:t>
            </a:r>
            <a:r>
              <a:rPr lang="en-GB" sz="1400" b="0" i="0" u="none" strike="noStrike" kern="1200" cap="none" spc="0" baseline="0">
                <a:solidFill>
                  <a:srgbClr val="333333"/>
                </a:solidFill>
                <a:uFillTx/>
                <a:latin typeface="Calibri (body)"/>
              </a:rPr>
              <a:t> </a:t>
            </a:r>
            <a:r>
              <a:rPr lang="en-GB" sz="1400" b="1" i="0" u="none" strike="noStrike" kern="1200" cap="none" spc="0" baseline="0">
                <a:solidFill>
                  <a:srgbClr val="333333"/>
                </a:solidFill>
                <a:uFillTx/>
                <a:latin typeface="Calibri (body)"/>
              </a:rPr>
              <a:t>&amp; Z. </a:t>
            </a:r>
            <a:r>
              <a:rPr lang="en-GB" sz="1400" b="0" i="0" u="none" strike="noStrike" kern="1200" cap="none" spc="0" baseline="0">
                <a:solidFill>
                  <a:srgbClr val="333333"/>
                </a:solidFill>
                <a:uFillTx/>
                <a:latin typeface="Calibri (body)"/>
              </a:rPr>
              <a:t>The new document waiver code can be used on GB import, export and CO declarations.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Document Code 999L is declared,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 valid Document Status Code (DE 2/3) and Document ID can be optionally provided.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valid licence is entered against the same goods line item, CDS will validate the license.</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name="Slide456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7E3D41F6-B282-4743-A47D-ACA69D704A2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A2857B6-09BC-4979-AAFF-68974CFF61C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9AC66F7-6264-49ED-97D9-3288B1982602}"/>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3B3EBE4D-2EEB-425F-9BD4-A8ED8C8A2095}"/>
              </a:ext>
            </a:extLst>
          </p:cNvPr>
          <p:cNvSpPr txBox="1"/>
          <p:nvPr/>
        </p:nvSpPr>
        <p:spPr>
          <a:xfrm>
            <a:off x="11661402"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B61922C-62C3-4522-9AA3-72FEC3A7BC72}" type="slidenum">
              <a:rPr sz="1200"/>
              <a:t>379</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B2629BDA-8456-4D70-B63E-A1C628A414B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E6E30C60-B123-4FD6-A365-D7F7406EDFC4}"/>
              </a:ext>
            </a:extLst>
          </p:cNvPr>
          <p:cNvSpPr/>
          <p:nvPr/>
        </p:nvSpPr>
        <p:spPr>
          <a:xfrm>
            <a:off x="465155" y="1310207"/>
            <a:ext cx="11504925" cy="3539432"/>
          </a:xfrm>
          <a:prstGeom prst="rect">
            <a:avLst/>
          </a:prstGeom>
          <a:noFill/>
          <a:ln cap="flat">
            <a:noFill/>
            <a:prstDash val="solid"/>
          </a:ln>
        </p:spPr>
        <p:txBody>
          <a:bodyPr vert="horz" wrap="square" lIns="91440" tIns="45720" rIns="91440" bIns="45720" anchor="t" anchorCtr="0" compatLnSpc="1">
            <a:spAutoFit/>
          </a:bodyPr>
          <a:lstStyle/>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following criteria submitted alongside Document Code 999L in DE 2/3 will result in CDS rejecting the declaration and a DMSREJ notification sent to the trader:</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Document Code 999L is submitted on a type </a:t>
            </a:r>
            <a:r>
              <a:rPr lang="en-GB" sz="1400" b="1" i="0" u="none" strike="noStrike" kern="1200" cap="none" spc="0" baseline="0">
                <a:solidFill>
                  <a:srgbClr val="333333"/>
                </a:solidFill>
                <a:uFillTx/>
                <a:latin typeface="Calibri (body)"/>
              </a:rPr>
              <a:t>J, K </a:t>
            </a:r>
            <a:r>
              <a:rPr lang="en-GB" sz="1400" b="0" i="0" u="none" strike="noStrike" kern="1200" cap="none" spc="0" baseline="0">
                <a:solidFill>
                  <a:srgbClr val="333333"/>
                </a:solidFill>
                <a:uFillTx/>
                <a:latin typeface="Calibri (body)"/>
              </a:rPr>
              <a:t>or </a:t>
            </a:r>
            <a:r>
              <a:rPr lang="en-GB" sz="1400" b="1" i="0" u="none" strike="noStrike" kern="1200" cap="none" spc="0" baseline="0">
                <a:solidFill>
                  <a:srgbClr val="333333"/>
                </a:solidFill>
                <a:uFillTx/>
                <a:latin typeface="Calibri (body)"/>
              </a:rPr>
              <a:t>Q</a:t>
            </a:r>
            <a:r>
              <a:rPr lang="en-GB" sz="1400" b="0" i="0" u="none" strike="noStrike" kern="1200" cap="none" spc="0" baseline="0">
                <a:solidFill>
                  <a:srgbClr val="333333"/>
                </a:solidFill>
                <a:uFillTx/>
                <a:latin typeface="Calibri (body)"/>
              </a:rPr>
              <a:t> declaration.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t>
            </a:r>
            <a:r>
              <a:rPr lang="en-GB" sz="1400" b="1" i="0" u="none" strike="noStrike" kern="1200" cap="none" spc="0" baseline="0">
                <a:solidFill>
                  <a:srgbClr val="333333"/>
                </a:solidFill>
                <a:uFillTx/>
                <a:latin typeface="Calibri (body)"/>
              </a:rPr>
              <a:t>NIIMP</a:t>
            </a:r>
            <a:r>
              <a:rPr lang="en-GB" sz="1400" b="0" i="0" u="none" strike="noStrike" kern="1200" cap="none" spc="0" baseline="0">
                <a:solidFill>
                  <a:srgbClr val="333333"/>
                </a:solidFill>
                <a:uFillTx/>
                <a:latin typeface="Calibri (body)"/>
              </a:rPr>
              <a:t>’ or ‘</a:t>
            </a:r>
            <a:r>
              <a:rPr lang="en-GB" sz="1400" b="1" i="0" u="none" strike="noStrike" kern="1200" cap="none" spc="0" baseline="0">
                <a:solidFill>
                  <a:srgbClr val="333333"/>
                </a:solidFill>
                <a:uFillTx/>
                <a:latin typeface="Calibri (body)"/>
              </a:rPr>
              <a:t>NIDOM</a:t>
            </a:r>
            <a:r>
              <a:rPr lang="en-GB" sz="1400" b="0" i="0" u="none" strike="noStrike" kern="1200" cap="none" spc="0" baseline="0">
                <a:solidFill>
                  <a:srgbClr val="333333"/>
                </a:solidFill>
                <a:uFillTx/>
                <a:latin typeface="Calibri (body)"/>
              </a:rPr>
              <a:t>’ is entered at item level in DE 2/2 on an </a:t>
            </a:r>
            <a:r>
              <a:rPr lang="en-GB" sz="1400" b="1" i="0" u="none" strike="noStrike" kern="1200" cap="none" spc="0" baseline="0">
                <a:solidFill>
                  <a:srgbClr val="333333"/>
                </a:solidFill>
                <a:uFillTx/>
                <a:latin typeface="Calibri (body)"/>
              </a:rPr>
              <a:t>import</a:t>
            </a:r>
            <a:r>
              <a:rPr lang="en-GB" sz="1400" b="0" i="0" u="none" strike="noStrike" kern="1200" cap="none" spc="0" baseline="0">
                <a:solidFill>
                  <a:srgbClr val="333333"/>
                </a:solidFill>
                <a:uFillTx/>
                <a:latin typeface="Calibri (body)"/>
              </a:rPr>
              <a:t> declaration.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Times New Roman" pitchFamily="18"/>
              </a:rPr>
              <a:t>Where </a:t>
            </a:r>
            <a:r>
              <a:rPr lang="en-GB" sz="1400" b="1" i="0" u="none" strike="noStrike" kern="1200" cap="none" spc="0" baseline="0">
                <a:solidFill>
                  <a:srgbClr val="333333"/>
                </a:solidFill>
                <a:uFillTx/>
                <a:latin typeface="Calibri (body)"/>
                <a:ea typeface="Times New Roman" pitchFamily="18"/>
              </a:rPr>
              <a:t>'NIEXP</a:t>
            </a:r>
            <a:r>
              <a:rPr lang="en-GB" sz="1400" b="0" i="0" u="none" strike="noStrike" kern="1200" cap="none" spc="0" baseline="0">
                <a:solidFill>
                  <a:srgbClr val="333333"/>
                </a:solidFill>
                <a:uFillTx/>
                <a:latin typeface="Calibri (body)"/>
                <a:ea typeface="Times New Roman" pitchFamily="18"/>
              </a:rPr>
              <a:t>' is entered at item level in DE 2/2 on an </a:t>
            </a:r>
            <a:r>
              <a:rPr lang="en-GB" sz="1400" b="1" i="0" u="none" strike="noStrike" kern="1200" cap="none" spc="0" baseline="0">
                <a:solidFill>
                  <a:srgbClr val="333333"/>
                </a:solidFill>
                <a:uFillTx/>
                <a:latin typeface="Calibri (body)"/>
                <a:ea typeface="Times New Roman" pitchFamily="18"/>
              </a:rPr>
              <a:t>export</a:t>
            </a:r>
            <a:r>
              <a:rPr lang="en-GB" sz="1400" b="0" i="0" u="none" strike="noStrike" kern="1200" cap="none" spc="0" baseline="0">
                <a:solidFill>
                  <a:srgbClr val="333333"/>
                </a:solidFill>
                <a:uFillTx/>
                <a:latin typeface="Calibri (body)"/>
                <a:ea typeface="Times New Roman" pitchFamily="18"/>
              </a:rPr>
              <a:t> declaration.</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no reason statement is provided against the Document Code 999L.</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Document Code 999L is entered more than once in DE 2/3.</a:t>
            </a:r>
            <a:endParaRPr lang="en-GB" sz="1400" b="0" i="0" u="none"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Additional completion requirements for 999L,</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Traders must either enter Document Code 999L or other relevant Document Codes at item level that would satisfy the measure, so the declaration may continue to be processed.</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no Document Codes are entered at item level in DE 2/3 that satisfy the measure(s), CDS will reject the declaration and send a DMSREJ notification to the trader.</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there are multiple measures against a commodity code that can be satisfied by Document Code 999L, the code can be entered</a:t>
            </a:r>
            <a:r>
              <a:rPr lang="en-GB" sz="1400" b="1" i="0" u="none" strike="noStrike" kern="1200" cap="none" spc="0" baseline="0">
                <a:solidFill>
                  <a:srgbClr val="333333"/>
                </a:solidFill>
                <a:uFillTx/>
                <a:latin typeface="Calibri (body)"/>
              </a:rPr>
              <a:t> once </a:t>
            </a:r>
            <a:r>
              <a:rPr lang="en-GB" sz="1400" b="0" i="0" u="none" strike="noStrike" kern="1200" cap="none" spc="0" baseline="0">
                <a:solidFill>
                  <a:srgbClr val="333333"/>
                </a:solidFill>
                <a:uFillTx/>
                <a:latin typeface="Calibri (body)"/>
              </a:rPr>
              <a:t>to satisfy all those relevant measures.</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name="Slide83884037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4D8C91AD-95C9-41EE-99B4-0E378CD56F6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72E02D0-5CFB-4D5A-BC4D-0CC8603F09F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F3DB864-496B-444A-B652-8FC501ED162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57AA705-1981-45DD-A9A5-9FEA4222390C}"/>
              </a:ext>
            </a:extLst>
          </p:cNvPr>
          <p:cNvSpPr txBox="1"/>
          <p:nvPr/>
        </p:nvSpPr>
        <p:spPr>
          <a:xfrm>
            <a:off x="11629597"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5AB4095-772E-44DD-B509-73DF2591C1A7}" type="slidenum">
              <a:rPr sz="1200"/>
              <a:t>380</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B4B049CA-7829-42CA-9FB9-6AE1BE61F727}"/>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16BF378F-8D52-4A9C-AAE0-604202A6424C}"/>
              </a:ext>
            </a:extLst>
          </p:cNvPr>
          <p:cNvSpPr/>
          <p:nvPr/>
        </p:nvSpPr>
        <p:spPr>
          <a:xfrm>
            <a:off x="465155" y="1310207"/>
            <a:ext cx="11504925" cy="33080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ea typeface="Geneva"/>
                <a:cs typeface="Arial"/>
              </a:rPr>
              <a:t>Please note - </a:t>
            </a:r>
            <a:r>
              <a:rPr lang="en-GB" sz="1400" b="0" i="0" u="none" strike="noStrike" kern="1200" cap="none" spc="0" baseline="0">
                <a:solidFill>
                  <a:srgbClr val="000000"/>
                </a:solidFill>
                <a:uFillTx/>
                <a:latin typeface="Calibri"/>
                <a:ea typeface="Geneva"/>
                <a:cs typeface="Arial"/>
              </a:rPr>
              <a:t>Prior to TTM17.0.1, the ability to use document code '999L' to satisfy any measure where a license waiver is permitted, can only be tested against a limited range of commodity codes. </a:t>
            </a:r>
            <a:r>
              <a:rPr lang="en-GB" sz="1400" b="0" i="0" u="none" strike="noStrike" kern="1200" cap="none" spc="0" baseline="0">
                <a:solidFill>
                  <a:srgbClr val="000000"/>
                </a:solidFill>
                <a:uFillTx/>
                <a:latin typeface="Calibri" pitchFamily="34"/>
                <a:ea typeface="Calibri" pitchFamily="34"/>
              </a:rPr>
              <a:t>The CDS Trade Test environment has currently been configured to allow document code ‘999L’ to be entered against the following commodity codes: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0101210000 - Animal Health Certificate</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9701100000 - DCMS Open General Export Licence</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0702000099 - HMI Conformity Certificate</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2924230000 - Home Office Pre-cursor chemicals</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0106120000 - Import control - CITES</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0602905010 - Phytosanitary Certificate</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1211300000 - Home Office Controlled Drugs</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4401110000 - Quarantine Release Certificate</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5000"/>
              </a:lnSpc>
              <a:spcBef>
                <a:spcPts val="0"/>
              </a:spcBef>
              <a:spcAft>
                <a:spcPts val="80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pitchFamily="34"/>
                <a:ea typeface="Times New Roman" pitchFamily="18"/>
              </a:rPr>
              <a:t>0301941000 - Control on illegal, unreported and unregulated fishing</a:t>
            </a:r>
            <a:endParaRPr lang="en-GB" sz="1400" b="0" i="0" u="none" strike="noStrike" kern="1200" cap="none" spc="0" baseline="0">
              <a:solidFill>
                <a:srgbClr val="000000"/>
              </a:solidFill>
              <a:uFillTx/>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p:txBody>
      </p:sp>
      <p:sp>
        <p:nvSpPr>
          <p:cNvPr id="9" name="Rectangle 8">
            <a:extLst>
              <a:ext uri="{FF2B5EF4-FFF2-40B4-BE49-F238E27FC236}">
                <a16:creationId xmlns:a16="http://schemas.microsoft.com/office/drawing/2014/main" id="{F5BE0F45-BEC6-45D3-BE9C-8A3B45B9ED8B}"/>
              </a:ext>
            </a:extLst>
          </p:cNvPr>
          <p:cNvSpPr/>
          <p:nvPr/>
        </p:nvSpPr>
        <p:spPr>
          <a:xfrm>
            <a:off x="983702" y="4648233"/>
            <a:ext cx="10844326" cy="899568"/>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TT_IM76a </a:t>
            </a:r>
            <a:r>
              <a:rPr lang="en-GB" sz="1100" b="0" i="0" u="none" strike="noStrike" kern="1200" cap="none" spc="0" baseline="0">
                <a:solidFill>
                  <a:srgbClr val="000000"/>
                </a:solidFill>
                <a:uFillTx/>
                <a:latin typeface="Calibri"/>
              </a:rPr>
              <a:t>- Import frontier declaration, for goods moving from RoW to GB, that are subject to a Tariff prohibition and restriction (P&amp;R) licence measure and are eligible for a waiver by</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                     using the document waiver code 999L.</a:t>
            </a:r>
          </a:p>
        </p:txBody>
      </p:sp>
      <p:sp>
        <p:nvSpPr>
          <p:cNvPr id="10" name="Rectangle 9">
            <a:extLst>
              <a:ext uri="{FF2B5EF4-FFF2-40B4-BE49-F238E27FC236}">
                <a16:creationId xmlns:a16="http://schemas.microsoft.com/office/drawing/2014/main" id="{6C3E62A7-9408-46B9-8AF2-E9765AD70BA0}"/>
              </a:ext>
            </a:extLst>
          </p:cNvPr>
          <p:cNvSpPr/>
          <p:nvPr/>
        </p:nvSpPr>
        <p:spPr>
          <a:xfrm>
            <a:off x="465155" y="4648233"/>
            <a:ext cx="518556" cy="899568"/>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name="Slide83884037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E015C12-8FD2-441F-89A4-D16467488B2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7BA7336-985D-416C-8DB5-95DCDA082B5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5FF5C85-9C45-462A-9025-DB24C8D4DC0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CE92F76F-6438-4F84-93F3-BB843A119E64}"/>
              </a:ext>
            </a:extLst>
          </p:cNvPr>
          <p:cNvSpPr txBox="1"/>
          <p:nvPr/>
        </p:nvSpPr>
        <p:spPr>
          <a:xfrm>
            <a:off x="11621646"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85834BC-50C7-4A10-9529-8D2D91B9A029}" type="slidenum">
              <a:rPr sz="1200"/>
              <a:t>381</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90E393AB-8CAC-4955-BBA2-A8D2F51E60D7}"/>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EF307908-D131-46E3-8A99-CC1391EFF66E}"/>
              </a:ext>
            </a:extLst>
          </p:cNvPr>
          <p:cNvSpPr/>
          <p:nvPr/>
        </p:nvSpPr>
        <p:spPr>
          <a:xfrm>
            <a:off x="465155" y="1199866"/>
            <a:ext cx="11504925" cy="440120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6. Tariff Validation Type C &amp; Type F</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The introduction of this functionality will enable Type C &amp; Type F declarations to undergo Tariff validation in CDS. Currently, Type C &amp; Type F Simplified Frontier Declarations (SFD) do not always contain a full commodity code and country of Origin on import declarations, preventing prohibitions and restrictions to become enforced on these declarations.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provide Tariff validation and application of Tariff measures on Type C &amp; F import declarations where a I1 Procedure Category is derived and when the following criteria is met,</a:t>
            </a:r>
            <a:r>
              <a:rPr lang="en-GB" sz="1400" b="0" i="0" u="none" strike="sngStrike" kern="1200" cap="none" spc="0" baseline="0">
                <a:solidFill>
                  <a:srgbClr val="333333"/>
                </a:solidFill>
                <a:uFillTx/>
                <a:latin typeface="Calibri (body)"/>
              </a:rPr>
              <a:t>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Times New Roman" pitchFamily="18"/>
              </a:rPr>
              <a:t>Where a commodity code has been entered in DE 6/14 and 6/15 (</a:t>
            </a:r>
            <a:r>
              <a:rPr lang="en-GB" sz="1400" b="0" i="0" u="none" strike="noStrike" kern="1200" cap="none" spc="0" baseline="0">
                <a:solidFill>
                  <a:srgbClr val="333333"/>
                </a:solidFill>
                <a:uFillTx/>
                <a:latin typeface="Calibri (body)"/>
                <a:ea typeface="Times New Roman" pitchFamily="18"/>
                <a:cs typeface="Times New Roman" pitchFamily="18"/>
              </a:rPr>
              <a:t>Combined Nomenclature Code) </a:t>
            </a:r>
            <a:r>
              <a:rPr lang="en-GB" sz="1400" b="0" i="0" u="none" strike="noStrike" kern="1200" cap="none" spc="0" baseline="0">
                <a:solidFill>
                  <a:srgbClr val="333333"/>
                </a:solidFill>
                <a:uFillTx/>
                <a:latin typeface="Calibri (body)"/>
                <a:ea typeface="Times New Roman" pitchFamily="18"/>
              </a:rPr>
              <a:t>against </a:t>
            </a:r>
            <a:r>
              <a:rPr lang="en-GB" sz="1400" b="1" i="0" u="none" strike="noStrike" kern="1200" cap="none" spc="0" baseline="0">
                <a:solidFill>
                  <a:srgbClr val="333333"/>
                </a:solidFill>
                <a:uFillTx/>
                <a:latin typeface="Calibri (body)"/>
                <a:ea typeface="Times New Roman" pitchFamily="18"/>
              </a:rPr>
              <a:t>all</a:t>
            </a:r>
            <a:r>
              <a:rPr lang="en-GB" sz="1400" b="0" i="0" u="none" strike="noStrike" kern="1200" cap="none" spc="0" baseline="0">
                <a:solidFill>
                  <a:srgbClr val="333333"/>
                </a:solidFill>
                <a:uFillTx/>
                <a:latin typeface="Calibri (body)"/>
                <a:ea typeface="Times New Roman" pitchFamily="18"/>
              </a:rPr>
              <a:t> goods items</a:t>
            </a:r>
            <a:r>
              <a:rPr lang="en-GB" sz="1400" b="0" i="0" u="none" strike="sngStrike" kern="1200" cap="none" spc="0" baseline="0">
                <a:solidFill>
                  <a:srgbClr val="333333"/>
                </a:solidFill>
                <a:uFillTx/>
                <a:latin typeface="Calibri (body)"/>
                <a:ea typeface="Times New Roman" pitchFamily="18"/>
              </a:rPr>
              <a:t> </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ea typeface="Times New Roman" pitchFamily="18"/>
              </a:rPr>
              <a:t>Note: </a:t>
            </a:r>
            <a:r>
              <a:rPr lang="en-GB" sz="1400" b="0" i="0" u="none" strike="noStrike" kern="1200" cap="none" spc="0" baseline="0">
                <a:solidFill>
                  <a:srgbClr val="333333"/>
                </a:solidFill>
                <a:uFillTx/>
                <a:latin typeface="Calibri (body)"/>
                <a:ea typeface="Times New Roman" pitchFamily="18"/>
              </a:rPr>
              <a:t>CDS will reject the declaration and send a DMSREJ notification to the trader in in the following scenarios:</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Times New Roman" pitchFamily="18"/>
                <a:cs typeface="Times New Roman" pitchFamily="18"/>
              </a:rPr>
              <a:t>Where a commodity code has been entered in DE 6/14 and 6/15 </a:t>
            </a:r>
            <a:r>
              <a:rPr lang="en-GB" sz="1400" b="0" i="0" u="none" strike="noStrike" kern="1200" cap="none" spc="0" baseline="0">
                <a:solidFill>
                  <a:srgbClr val="333333"/>
                </a:solidFill>
                <a:uFillTx/>
                <a:latin typeface="Calibri (body)"/>
                <a:ea typeface="Times New Roman" pitchFamily="18"/>
              </a:rPr>
              <a:t>(</a:t>
            </a:r>
            <a:r>
              <a:rPr lang="en-GB" sz="1400" b="0" i="0" u="none" strike="noStrike" kern="1200" cap="none" spc="0" baseline="0">
                <a:solidFill>
                  <a:srgbClr val="333333"/>
                </a:solidFill>
                <a:uFillTx/>
                <a:latin typeface="Calibri (body)"/>
                <a:ea typeface="Times New Roman" pitchFamily="18"/>
                <a:cs typeface="Times New Roman" pitchFamily="18"/>
              </a:rPr>
              <a:t>Combined Nomenclature Code) on </a:t>
            </a:r>
            <a:r>
              <a:rPr lang="en-GB" sz="1400" b="1" i="0" u="none" strike="noStrike" kern="1200" cap="none" spc="0" baseline="0">
                <a:solidFill>
                  <a:srgbClr val="333333"/>
                </a:solidFill>
                <a:uFillTx/>
                <a:latin typeface="Calibri (body)"/>
                <a:ea typeface="Times New Roman" pitchFamily="18"/>
                <a:cs typeface="Times New Roman" pitchFamily="18"/>
              </a:rPr>
              <a:t>some but not all</a:t>
            </a:r>
            <a:r>
              <a:rPr lang="en-GB" sz="1400" b="0" i="0" u="none" strike="noStrike" kern="1200" cap="none" spc="0" baseline="0">
                <a:solidFill>
                  <a:srgbClr val="333333"/>
                </a:solidFill>
                <a:uFillTx/>
                <a:latin typeface="Calibri (body)"/>
                <a:ea typeface="Times New Roman" pitchFamily="18"/>
                <a:cs typeface="Times New Roman" pitchFamily="18"/>
              </a:rPr>
              <a:t> of the goods items on a Type C or F import declaration.</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commodity code is entered in either DE 6/14 or 6/15 </a:t>
            </a:r>
            <a:r>
              <a:rPr lang="en-GB" sz="1400" b="0" i="0" u="none" strike="noStrike" kern="1200" cap="none" spc="0" baseline="0">
                <a:solidFill>
                  <a:srgbClr val="333333"/>
                </a:solidFill>
                <a:uFillTx/>
                <a:latin typeface="Calibri (body)"/>
                <a:ea typeface="Times New Roman" pitchFamily="18"/>
              </a:rPr>
              <a:t>(</a:t>
            </a:r>
            <a:r>
              <a:rPr lang="en-GB" sz="1400" b="0" i="0" u="none" strike="noStrike" kern="1200" cap="none" spc="0" baseline="0">
                <a:solidFill>
                  <a:srgbClr val="333333"/>
                </a:solidFill>
                <a:uFillTx/>
                <a:latin typeface="Calibri (body)"/>
                <a:ea typeface="Times New Roman" pitchFamily="18"/>
                <a:cs typeface="Times New Roman" pitchFamily="18"/>
              </a:rPr>
              <a:t>Combined Nomenclature Code)</a:t>
            </a:r>
            <a:r>
              <a:rPr lang="en-GB" sz="1400" b="0" i="0" u="none" strike="noStrike" kern="1200" cap="none" spc="0" baseline="0">
                <a:solidFill>
                  <a:srgbClr val="333333"/>
                </a:solidFill>
                <a:uFillTx/>
                <a:latin typeface="Calibri (body)"/>
              </a:rPr>
              <a:t> </a:t>
            </a:r>
            <a:r>
              <a:rPr lang="en-GB" sz="1400" b="1" i="0" u="none" strike="noStrike" kern="1200" cap="none" spc="0" baseline="0">
                <a:solidFill>
                  <a:srgbClr val="333333"/>
                </a:solidFill>
                <a:uFillTx/>
                <a:latin typeface="Calibri (body)"/>
              </a:rPr>
              <a:t>but not both</a:t>
            </a:r>
            <a:r>
              <a:rPr lang="en-GB" sz="1400" b="0" i="0" u="none" strike="noStrike" kern="1200" cap="none" spc="0" baseline="0">
                <a:solidFill>
                  <a:srgbClr val="333333"/>
                </a:solidFill>
                <a:uFillTx/>
                <a:latin typeface="Calibri (body)"/>
              </a:rPr>
              <a:t> for any given goods item, on a Type C or F import declaration.</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commodity code has been entered in DE 6/14 and DE 6/15 (Combined Nomenclature Code) on any goods item, but no country code has been given in DE 5/15 (Country of Origin) or DE 5/16 (Country of Preferential Origin). </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333333"/>
                </a:solidFill>
                <a:uFillTx/>
                <a:latin typeface="Calibri (body)"/>
              </a:rPr>
              <a:t>Please Note:</a:t>
            </a:r>
            <a:r>
              <a:rPr lang="en-GB" sz="1400" b="0" i="0" u="none" strike="noStrike" kern="1200" cap="none" spc="0" baseline="0">
                <a:solidFill>
                  <a:srgbClr val="333333"/>
                </a:solidFill>
                <a:uFillTx/>
                <a:latin typeface="Calibri (body)"/>
              </a:rPr>
              <a:t> Trader guidance will stipulate that where a Type C or F declaration is being used to import controlled goods and a commodity code is entered against a goods item, the trader should enter a commodity code against </a:t>
            </a:r>
            <a:r>
              <a:rPr lang="en-GB" sz="1400" b="1" i="0" u="none" strike="noStrike" kern="1200" cap="none" spc="0" baseline="0">
                <a:solidFill>
                  <a:srgbClr val="333333"/>
                </a:solidFill>
                <a:uFillTx/>
                <a:latin typeface="Calibri (body)"/>
              </a:rPr>
              <a:t>all</a:t>
            </a:r>
            <a:r>
              <a:rPr lang="en-GB" sz="1400" b="0" i="0" u="none" strike="noStrike" kern="1200" cap="none" spc="0" baseline="0">
                <a:solidFill>
                  <a:srgbClr val="333333"/>
                </a:solidFill>
                <a:uFillTx/>
                <a:latin typeface="Calibri (body)"/>
              </a:rPr>
              <a:t> goods items on the declaration, otherwise CDS will reject the declaration.</a:t>
            </a:r>
            <a:endParaRPr lang="en-GB" sz="1400" b="0" i="0" u="none" strike="noStrike" kern="1200" cap="none" spc="0" baseline="0">
              <a:solidFill>
                <a:srgbClr val="333333"/>
              </a:solidFill>
              <a:uFillTx/>
              <a:latin typeface="Calibri (body)"/>
              <a:cs typeface="Times New Roman" pitchFamily="18"/>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p:txBody>
      </p:sp>
      <p:sp>
        <p:nvSpPr>
          <p:cNvPr id="9" name="TextBox 10">
            <a:extLst>
              <a:ext uri="{FF2B5EF4-FFF2-40B4-BE49-F238E27FC236}">
                <a16:creationId xmlns:a16="http://schemas.microsoft.com/office/drawing/2014/main" id="{9CCA21FE-B912-455A-AB52-3187AA7B3B76}"/>
              </a:ext>
            </a:extLst>
          </p:cNvPr>
          <p:cNvSpPr txBox="1"/>
          <p:nvPr/>
        </p:nvSpPr>
        <p:spPr>
          <a:xfrm>
            <a:off x="446099" y="5372703"/>
            <a:ext cx="11375867" cy="95410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CDS will provide Tariff validation and application of Tariff measures on Type C &amp; F export declarations where a C1 Procedure Category is derived, where the following criteria is met,</a:t>
            </a:r>
            <a:endParaRPr lang="en-GB" sz="1400" b="0" i="0" u="none" strike="sng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commodity code has been entered in DE 6/14 </a:t>
            </a:r>
            <a:r>
              <a:rPr lang="en-GB" sz="1400" b="0" i="0" u="none" strike="noStrike" kern="1200" cap="none" spc="0" baseline="0">
                <a:solidFill>
                  <a:srgbClr val="333333"/>
                </a:solidFill>
                <a:uFillTx/>
                <a:latin typeface="Calibri (body)"/>
                <a:ea typeface="Times New Roman" pitchFamily="18"/>
              </a:rPr>
              <a:t>(</a:t>
            </a:r>
            <a:r>
              <a:rPr lang="en-GB" sz="1400" b="0" i="0" u="none" strike="noStrike" kern="1200" cap="none" spc="0" baseline="0">
                <a:solidFill>
                  <a:srgbClr val="333333"/>
                </a:solidFill>
                <a:uFillTx/>
                <a:latin typeface="Calibri (body)"/>
                <a:ea typeface="Times New Roman" pitchFamily="18"/>
                <a:cs typeface="Times New Roman" pitchFamily="18"/>
              </a:rPr>
              <a:t>Combined Nomenclature Code) </a:t>
            </a:r>
            <a:r>
              <a:rPr lang="en-GB" sz="1400" b="0" i="0" u="none" strike="noStrike" kern="1200" cap="none" spc="0" baseline="0">
                <a:solidFill>
                  <a:srgbClr val="333333"/>
                </a:solidFill>
                <a:uFillTx/>
                <a:latin typeface="Calibri (body)"/>
              </a:rPr>
              <a:t>against </a:t>
            </a:r>
            <a:r>
              <a:rPr lang="en-GB" sz="1400" b="1" i="0" u="none" strike="noStrike" kern="1200" cap="none" spc="0" baseline="0">
                <a:solidFill>
                  <a:srgbClr val="333333"/>
                </a:solidFill>
                <a:uFillTx/>
                <a:latin typeface="Calibri (body)"/>
              </a:rPr>
              <a:t>all</a:t>
            </a:r>
            <a:r>
              <a:rPr lang="en-GB" sz="1400" b="0" i="0" u="none" strike="noStrike" kern="1200" cap="none" spc="0" baseline="0">
                <a:solidFill>
                  <a:srgbClr val="333333"/>
                </a:solidFill>
                <a:uFillTx/>
                <a:latin typeface="Calibri (body)"/>
              </a:rPr>
              <a:t> goods item on the declaration, CDS will send every goods item on the declaration to Tariff for validation.</a:t>
            </a:r>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name="Slide83884037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77999706-255F-442C-B01C-6705D0C1E0B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B8E6D8B-EADA-4DF3-BFE1-BE25549923E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809501F-E20A-4DD0-BD78-3F2A50D867B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29CB0F39-E816-4819-9978-149CA9ACA557}"/>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BA7057D7-2DC9-470B-BAE6-19D80B2BB475}"/>
              </a:ext>
            </a:extLst>
          </p:cNvPr>
          <p:cNvSpPr txBox="1"/>
          <p:nvPr/>
        </p:nvSpPr>
        <p:spPr>
          <a:xfrm>
            <a:off x="1165345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F99EEA9-2754-4EE4-B7F3-73F16DAEC1B4}" type="slidenum">
              <a:rPr sz="1200"/>
              <a:t>382</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BBD09274-397E-4BFC-8A56-0A1A47956119}"/>
              </a:ext>
            </a:extLst>
          </p:cNvPr>
          <p:cNvSpPr txBox="1"/>
          <p:nvPr/>
        </p:nvSpPr>
        <p:spPr>
          <a:xfrm>
            <a:off x="2907078" y="6490795"/>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7">
            <a:extLst>
              <a:ext uri="{FF2B5EF4-FFF2-40B4-BE49-F238E27FC236}">
                <a16:creationId xmlns:a16="http://schemas.microsoft.com/office/drawing/2014/main" id="{C645FB70-2C3B-4F66-9FF1-8281701FDF89}"/>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31">
            <a:extLst>
              <a:ext uri="{FF2B5EF4-FFF2-40B4-BE49-F238E27FC236}">
                <a16:creationId xmlns:a16="http://schemas.microsoft.com/office/drawing/2014/main" id="{783D55C3-38EA-429A-91EF-3B1CA5D3B12C}"/>
              </a:ext>
            </a:extLst>
          </p:cNvPr>
          <p:cNvSpPr/>
          <p:nvPr/>
        </p:nvSpPr>
        <p:spPr>
          <a:xfrm>
            <a:off x="446099" y="999814"/>
            <a:ext cx="11504925" cy="5047533"/>
          </a:xfrm>
          <a:prstGeom prst="rect">
            <a:avLst/>
          </a:prstGeom>
          <a:noFill/>
          <a:ln cap="flat">
            <a:noFill/>
            <a:prstDash val="solid"/>
          </a:ln>
        </p:spPr>
        <p:txBody>
          <a:bodyPr vert="horz" wrap="square" lIns="91440" tIns="45720" rIns="91440" bIns="45720" anchor="t" anchorCtr="0" compatLnSpc="1">
            <a:spAutoFit/>
          </a:bodyPr>
          <a:lstStyle/>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ea typeface="Times New Roman" pitchFamily="18"/>
              </a:rPr>
              <a:t>CDS will reject the declaration and send a DMSREJ notification to the trader in in the following scenarios:</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commodity code has been entered in DE 6/14 </a:t>
            </a:r>
            <a:r>
              <a:rPr lang="en-GB" sz="1400" b="0" i="0" u="none" strike="noStrike" kern="1200" cap="none" spc="0" baseline="0">
                <a:solidFill>
                  <a:srgbClr val="333333"/>
                </a:solidFill>
                <a:uFillTx/>
                <a:latin typeface="Calibri (body)"/>
                <a:ea typeface="Times New Roman" pitchFamily="18"/>
              </a:rPr>
              <a:t>(</a:t>
            </a:r>
            <a:r>
              <a:rPr lang="en-GB" sz="1400" b="0" i="0" u="none" strike="noStrike" kern="1200" cap="none" spc="0" baseline="0">
                <a:solidFill>
                  <a:srgbClr val="333333"/>
                </a:solidFill>
                <a:uFillTx/>
                <a:latin typeface="Calibri (body)"/>
                <a:ea typeface="Times New Roman" pitchFamily="18"/>
                <a:cs typeface="Times New Roman" pitchFamily="18"/>
              </a:rPr>
              <a:t>Combined Nomenclature Code) </a:t>
            </a:r>
            <a:r>
              <a:rPr lang="en-GB" sz="1400" b="0" i="0" u="none" strike="noStrike" kern="1200" cap="none" spc="0" baseline="0">
                <a:solidFill>
                  <a:srgbClr val="333333"/>
                </a:solidFill>
                <a:uFillTx/>
                <a:latin typeface="Calibri (body)"/>
              </a:rPr>
              <a:t>on </a:t>
            </a:r>
            <a:r>
              <a:rPr lang="en-GB" sz="1400" b="1" i="0" u="none" strike="noStrike" kern="1200" cap="none" spc="0" baseline="0">
                <a:solidFill>
                  <a:srgbClr val="333333"/>
                </a:solidFill>
                <a:uFillTx/>
                <a:latin typeface="Calibri (body)"/>
              </a:rPr>
              <a:t>some but not all</a:t>
            </a:r>
            <a:r>
              <a:rPr lang="en-GB" sz="1400" b="0" i="0" u="none" strike="noStrike" kern="1200" cap="none" spc="0" baseline="0">
                <a:solidFill>
                  <a:srgbClr val="333333"/>
                </a:solidFill>
                <a:uFillTx/>
                <a:latin typeface="Calibri (body)"/>
              </a:rPr>
              <a:t> of the goods item on the declaration.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body)"/>
              </a:rPr>
              <a:t>CDS will then validate the commodity code to ensure t</a:t>
            </a:r>
            <a:r>
              <a:rPr lang="en-GB" sz="1400" b="0" i="0" u="none" strike="noStrike" kern="1200" cap="none" spc="0" baseline="0">
                <a:solidFill>
                  <a:srgbClr val="333333"/>
                </a:solidFill>
                <a:uFillTx/>
                <a:latin typeface="Calibri (body)"/>
              </a:rPr>
              <a:t>ariff measures can be applied against goods items,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Where a declaration has been sent to the Tariff for validation, CDS will verify if the commodity code is valid.</a:t>
            </a:r>
            <a:r>
              <a:rPr lang="en-GB" sz="1400" b="0" i="0" u="none" strike="sngStrike" kern="1200" cap="none" spc="0" baseline="0">
                <a:solidFill>
                  <a:srgbClr val="333333"/>
                </a:solidFill>
                <a:uFillTx/>
                <a:latin typeface="Calibri (body)"/>
              </a:rPr>
              <a:t>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the commodity code is not valid, CDS will reject the declaration and send a DMSREJ notification to the trader.</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Measures against the commodity code will then be validated by CDS in the following scenarios:</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goods item on the declaration requires a licence, CDS will ensure that a Document Code required to satisfy the condition against the good item is declared in DE 2/3.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goods item on the declaration attracts excise duty, CDS will ensure all the necessary Data Elements and Codes required for the measure have been entered by the trader and are validated.</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a preference claim has been made, CDS will require a Preference code to be entered against the goods item in DE 4/17, and a valid Preference document code, reference and document status code is entered in DE 2/3 – Please note, if the commodity code is an authorised-use/end-use only commodity code, DE 4/17 must be completed with the appropriate code.</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Net mass must be entered in DE 6/1 for Tariff validation – Note: This is a change from the current schema in the CDS Tariff Appendix 21F</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the commodity code entered on the declaration requires a supplementary unit (Tariff quantity) in DE 6/2 it must be entered.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the commodity code entered on the declaration requires an additional, national or TARIC code in DE 6/16 or DE 6/17 it must be entered.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body)"/>
              </a:rPr>
              <a:t>If the above </a:t>
            </a:r>
            <a:r>
              <a:rPr lang="en-GB" sz="1400" b="1" i="0" u="none" strike="noStrike" kern="1200" cap="none" spc="0" baseline="0">
                <a:solidFill>
                  <a:srgbClr val="333333"/>
                </a:solidFill>
                <a:uFillTx/>
                <a:latin typeface="Calibri (body)"/>
              </a:rPr>
              <a:t>required</a:t>
            </a:r>
            <a:r>
              <a:rPr lang="en-GB" sz="1400" b="0" i="0" u="none" strike="noStrike" kern="1200" cap="none" spc="0" baseline="0">
                <a:solidFill>
                  <a:srgbClr val="333333"/>
                </a:solidFill>
                <a:uFillTx/>
                <a:latin typeface="Calibri (body)"/>
              </a:rPr>
              <a:t> information has </a:t>
            </a:r>
            <a:r>
              <a:rPr lang="en-GB" sz="1400" b="1" i="0" u="none" strike="noStrike" kern="1200" cap="none" spc="0" baseline="0">
                <a:solidFill>
                  <a:srgbClr val="333333"/>
                </a:solidFill>
                <a:uFillTx/>
                <a:latin typeface="Calibri (body)"/>
              </a:rPr>
              <a:t>not</a:t>
            </a:r>
            <a:r>
              <a:rPr lang="en-GB" sz="1400" b="0" i="0" u="none" strike="noStrike" kern="1200" cap="none" spc="0" baseline="0">
                <a:solidFill>
                  <a:srgbClr val="333333"/>
                </a:solidFill>
                <a:uFillTx/>
                <a:latin typeface="Calibri (body)"/>
              </a:rPr>
              <a:t> been provided, CDS will reject the declaration and send a DMSREJ notification to the trader.</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body)"/>
            </a:endParaRPr>
          </a:p>
        </p:txBody>
      </p:sp>
      <p:sp>
        <p:nvSpPr>
          <p:cNvPr id="10" name="Rectangle 9">
            <a:extLst>
              <a:ext uri="{FF2B5EF4-FFF2-40B4-BE49-F238E27FC236}">
                <a16:creationId xmlns:a16="http://schemas.microsoft.com/office/drawing/2014/main" id="{19C821BB-636A-4902-A6A4-22273FD5A8A6}"/>
              </a:ext>
            </a:extLst>
          </p:cNvPr>
          <p:cNvSpPr/>
          <p:nvPr/>
        </p:nvSpPr>
        <p:spPr>
          <a:xfrm>
            <a:off x="901570" y="5757254"/>
            <a:ext cx="10844326" cy="920745"/>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100" b="1"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TT_EX28a - </a:t>
            </a:r>
            <a:r>
              <a:rPr lang="en-GB" sz="1100" b="0" i="0" u="none" strike="noStrike" kern="1200" cap="none" spc="0" baseline="0">
                <a:solidFill>
                  <a:srgbClr val="000000"/>
                </a:solidFill>
                <a:uFillTx/>
                <a:latin typeface="Calibri"/>
              </a:rPr>
              <a:t>Export pre-lodged simplified declaration, for goods moving from GB to RoW, where Tariff prohibition and restriction (P&amp;R) measures are enforced to ensure traders provide</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                           relevant information/ documentation.</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TT_IM74a - </a:t>
            </a:r>
            <a:r>
              <a:rPr lang="en-GB" sz="1100" b="0" i="0" u="none" strike="noStrike" kern="1200" cap="none" spc="0" baseline="0">
                <a:solidFill>
                  <a:srgbClr val="000000"/>
                </a:solidFill>
                <a:uFillTx/>
                <a:latin typeface="Calibri"/>
              </a:rPr>
              <a:t>Import frontier simplified declaration, for goods moving from RoW to NI, with items that require a licence where prohibition and restriction (P&amp;R) measures are enforced to</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                           ensure traders provide all relevant information/ documentation.</a:t>
            </a: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a:p>
            <a:pPr marL="0" marR="0" lvl="0" indent="0" algn="just"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100" b="0" i="0" u="none" strike="noStrike" kern="1200" cap="none" spc="0" baseline="0">
              <a:solidFill>
                <a:srgbClr val="000000"/>
              </a:solidFill>
              <a:uFillTx/>
              <a:latin typeface="Calibri"/>
            </a:endParaRPr>
          </a:p>
        </p:txBody>
      </p:sp>
      <p:sp>
        <p:nvSpPr>
          <p:cNvPr id="11" name="Rectangle 10">
            <a:extLst>
              <a:ext uri="{FF2B5EF4-FFF2-40B4-BE49-F238E27FC236}">
                <a16:creationId xmlns:a16="http://schemas.microsoft.com/office/drawing/2014/main" id="{36B81C3E-C5EE-4CAF-8B47-5ED7F4673F34}"/>
              </a:ext>
            </a:extLst>
          </p:cNvPr>
          <p:cNvSpPr/>
          <p:nvPr/>
        </p:nvSpPr>
        <p:spPr>
          <a:xfrm>
            <a:off x="383023" y="5757254"/>
            <a:ext cx="518556" cy="920745"/>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dirty="0">
                <a:solidFill>
                  <a:srgbClr val="FFFFFF"/>
                </a:solidFill>
                <a:uFillTx/>
                <a:latin typeface="Calibri"/>
              </a:rPr>
              <a:t>XML Samples</a:t>
            </a:r>
          </a:p>
        </p:txBody>
      </p:sp>
    </p:spTree>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name="Slide4568">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D32731D3-2A45-4CA3-86BC-6F65765E1CD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CF50614F-CE4A-43E3-8D14-C19BCCB7E4B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8CD1763-0057-4C21-BF7E-6CECEDF9686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78B3B1E7-F709-43EB-877C-85904C6FC5FC}"/>
              </a:ext>
            </a:extLst>
          </p:cNvPr>
          <p:cNvSpPr txBox="1"/>
          <p:nvPr/>
        </p:nvSpPr>
        <p:spPr>
          <a:xfrm>
            <a:off x="11685257"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21D5977-5700-4FD2-88C8-FEA87A1D2E00}" type="slidenum">
              <a:rPr sz="1200"/>
              <a:t>383</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7264D0A0-A5DC-4D08-A4C3-7DFA8EF040A4}"/>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39DC7C8C-97CD-43A8-9D0F-4D9D053430DE}"/>
              </a:ext>
            </a:extLst>
          </p:cNvPr>
          <p:cNvSpPr/>
          <p:nvPr/>
        </p:nvSpPr>
        <p:spPr>
          <a:xfrm>
            <a:off x="399245" y="1199866"/>
            <a:ext cx="11282159" cy="323165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
              </a:rPr>
              <a:t>7. Outbound ILI Notifications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introduction of this functionality will allow CDS schemas to process spaces correctly within the ICR format, this will trigger a validate movement request notification. This change will enable CDS to request the linking validation between the MRN and ICR, confirming whether the reference held on the declaration is present on the CSP inventory system. The presence of a reference will enable one-way notifications to be sent to CSPs, following a change of state in the declaration, after linking has been validated.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For CDS to process and preserve spaces within the ICR, so</a:t>
            </a:r>
            <a:r>
              <a:rPr lang="en-GB" sz="1400" b="1" i="0" u="none" strike="noStrike" kern="1200" cap="none" spc="0" baseline="0">
                <a:solidFill>
                  <a:srgbClr val="333333"/>
                </a:solidFill>
                <a:uFillTx/>
                <a:latin typeface="Calibri  "/>
              </a:rPr>
              <a:t> </a:t>
            </a:r>
            <a:r>
              <a:rPr lang="en-GB" sz="1400" b="0" i="0" u="none" strike="noStrike" kern="1200" cap="none" spc="0" baseline="0">
                <a:solidFill>
                  <a:srgbClr val="333333"/>
                </a:solidFill>
                <a:uFillTx/>
                <a:latin typeface="Calibri  "/>
              </a:rPr>
              <a:t>CSPs may receive a validate movement request notification,</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It is mandatory for CDS to process the previous document.id field (DE 2/1) with 8 embedded spaces; CSPs must also receive a validate movement request in this format.</a:t>
            </a:r>
            <a:endParaRPr lang="en-GB" sz="1400" b="0" i="0" u="none" strike="noStrike" kern="1200" cap="none" spc="0" baseline="0">
              <a:solidFill>
                <a:srgbClr val="000000"/>
              </a:solidFill>
              <a:uFillTx/>
              <a:latin typeface="Calibri  "/>
              <a:ea typeface="Calibri"/>
              <a:cs typeface="Calibri"/>
            </a:endParaRP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
                <a:ea typeface="Calibri"/>
                <a:cs typeface="Calibri"/>
              </a:rPr>
              <a:t>Please Note: </a:t>
            </a:r>
            <a:r>
              <a:rPr lang="en-GB" sz="1400" b="0" i="0" u="none" strike="noStrike" kern="1200" cap="none" spc="0" baseline="0">
                <a:solidFill>
                  <a:srgbClr val="000000"/>
                </a:solidFill>
                <a:uFillTx/>
                <a:latin typeface="Calibri  "/>
                <a:ea typeface="Calibri"/>
                <a:cs typeface="Calibri"/>
              </a:rPr>
              <a:t>No change to user behaviour will be expected </a:t>
            </a:r>
            <a:r>
              <a:rPr lang="en-GB" sz="1400" b="0" i="0" u="none" strike="noStrike" kern="1200" cap="none" spc="0" baseline="0">
                <a:solidFill>
                  <a:srgbClr val="000000"/>
                </a:solidFill>
                <a:uFillTx/>
                <a:latin typeface="Calibri (body)"/>
                <a:ea typeface="Calibri"/>
                <a:cs typeface="Calibri"/>
              </a:rPr>
              <a:t>from the implementation of Outbound ILI Notifications. This functionality is a change </a:t>
            </a:r>
            <a:r>
              <a:rPr lang="en-GB" sz="1400" b="0" i="0" u="none" strike="noStrike" kern="1200" cap="none" spc="0" baseline="0">
                <a:solidFill>
                  <a:srgbClr val="000000"/>
                </a:solidFill>
                <a:uFillTx/>
                <a:latin typeface="Calibri (body)"/>
                <a:ea typeface="Times New Roman" pitchFamily="18"/>
              </a:rPr>
              <a:t>to accommodate current behaviour by the CSP systems.</a:t>
            </a:r>
            <a:endParaRPr lang="en-GB" sz="1400" b="0" i="0" u="none" strike="noStrike" kern="1200" cap="none" spc="0" baseline="0">
              <a:solidFill>
                <a:srgbClr val="000000"/>
              </a:solidFill>
              <a:uFillTx/>
              <a:latin typeface="Calibri (body)"/>
              <a:ea typeface="Calibri"/>
              <a:cs typeface="Calibri"/>
            </a:endParaRP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a typeface="Calibri"/>
              <a:cs typeface="Calibri"/>
            </a:endParaRPr>
          </a:p>
        </p:txBody>
      </p:sp>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name="Slide189">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6E9F161F-A207-4080-87D0-2609C19DA0CD}"/>
              </a:ext>
            </a:extLst>
          </p:cNvPr>
          <p:cNvSpPr/>
          <p:nvPr/>
        </p:nvSpPr>
        <p:spPr>
          <a:xfrm>
            <a:off x="285612" y="1313288"/>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66C5679C-5308-4578-AD1B-18D846C59B58}"/>
              </a:ext>
            </a:extLst>
          </p:cNvPr>
          <p:cNvSpPr/>
          <p:nvPr/>
        </p:nvSpPr>
        <p:spPr>
          <a:xfrm>
            <a:off x="196577" y="872621"/>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AD906EB0-09CB-438E-97FB-279027D4E2BB}"/>
              </a:ext>
            </a:extLst>
          </p:cNvPr>
          <p:cNvGraphicFramePr>
            <a:graphicFrameLocks noGrp="1"/>
          </p:cNvGraphicFramePr>
          <p:nvPr/>
        </p:nvGraphicFramePr>
        <p:xfrm>
          <a:off x="307878" y="1822088"/>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1861067119"/>
                    </a:ext>
                  </a:extLst>
                </a:gridCol>
              </a:tblGrid>
              <a:tr h="220434">
                <a:tc>
                  <a:txBody>
                    <a:bodyPr/>
                    <a:lstStyle/>
                    <a:p>
                      <a:pPr lvl="0" algn="ctr"/>
                      <a:r>
                        <a:rPr lang="en-GB" sz="1200"/>
                        <a:t>TTM16.2 (CDS 3.4.2)</a:t>
                      </a:r>
                    </a:p>
                  </a:txBody>
                  <a:tcPr>
                    <a:solidFill>
                      <a:srgbClr val="595959"/>
                    </a:solidFill>
                  </a:tcPr>
                </a:tc>
                <a:extLst>
                  <a:ext uri="{0D108BD9-81ED-4DB2-BD59-A6C34878D82A}">
                    <a16:rowId xmlns:a16="http://schemas.microsoft.com/office/drawing/2014/main" val="68587088"/>
                  </a:ext>
                </a:extLst>
              </a:tr>
              <a:tr h="261975">
                <a:tc>
                  <a:txBody>
                    <a:bodyPr/>
                    <a:lstStyle/>
                    <a:p>
                      <a:pPr lvl="0" algn="ctr"/>
                      <a:r>
                        <a:rPr lang="en-GB" sz="1200" b="1" dirty="0">
                          <a:solidFill>
                            <a:srgbClr val="000000"/>
                          </a:solidFill>
                        </a:rPr>
                        <a:t>TT: </a:t>
                      </a:r>
                      <a:r>
                        <a:rPr lang="en-GB" sz="1200" b="0" dirty="0">
                          <a:solidFill>
                            <a:srgbClr val="000000"/>
                          </a:solidFill>
                        </a:rPr>
                        <a:t>17/11/2021   </a:t>
                      </a:r>
                      <a:r>
                        <a:rPr lang="en-GB" sz="1200" b="1" dirty="0">
                          <a:solidFill>
                            <a:srgbClr val="000000"/>
                          </a:solidFill>
                        </a:rPr>
                        <a:t>TDR: </a:t>
                      </a:r>
                      <a:r>
                        <a:rPr lang="en-GB" sz="1200" b="0" dirty="0">
                          <a:solidFill>
                            <a:srgbClr val="000000"/>
                          </a:solidFill>
                        </a:rPr>
                        <a:t>30/11/2021   </a:t>
                      </a:r>
                      <a:r>
                        <a:rPr lang="en-GB" sz="1200" b="1" dirty="0">
                          <a:solidFill>
                            <a:srgbClr val="000000"/>
                          </a:solidFill>
                        </a:rPr>
                        <a:t>Live: </a:t>
                      </a:r>
                      <a:r>
                        <a:rPr lang="en-GB" sz="1200" b="0" dirty="0">
                          <a:solidFill>
                            <a:srgbClr val="000000"/>
                          </a:solidFill>
                        </a:rPr>
                        <a:t>27/11/2021</a:t>
                      </a:r>
                    </a:p>
                  </a:txBody>
                  <a:tcPr>
                    <a:solidFill>
                      <a:srgbClr val="E7E6E6"/>
                    </a:solidFill>
                  </a:tcPr>
                </a:tc>
                <a:extLst>
                  <a:ext uri="{0D108BD9-81ED-4DB2-BD59-A6C34878D82A}">
                    <a16:rowId xmlns:a16="http://schemas.microsoft.com/office/drawing/2014/main" val="29984597"/>
                  </a:ext>
                </a:extLst>
              </a:tr>
            </a:tbl>
          </a:graphicData>
        </a:graphic>
      </p:graphicFrame>
      <p:cxnSp>
        <p:nvCxnSpPr>
          <p:cNvPr id="6" name="Straight Connector 11">
            <a:extLst>
              <a:ext uri="{FF2B5EF4-FFF2-40B4-BE49-F238E27FC236}">
                <a16:creationId xmlns:a16="http://schemas.microsoft.com/office/drawing/2014/main" id="{1D8A76A3-B371-4358-ACC7-506A6B71E1A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EB3867CB-ED25-49B6-AF13-B270EE5F3A0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E44B5986-D434-47D4-8ECE-2B29AEAD5B23}"/>
              </a:ext>
            </a:extLst>
          </p:cNvPr>
          <p:cNvSpPr/>
          <p:nvPr/>
        </p:nvSpPr>
        <p:spPr>
          <a:xfrm>
            <a:off x="216109" y="1809350"/>
            <a:ext cx="11397328" cy="1772719"/>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4CF83981-AAEC-4A33-A3D4-2565AEEFC98D}"/>
              </a:ext>
            </a:extLst>
          </p:cNvPr>
          <p:cNvGrpSpPr/>
          <p:nvPr/>
        </p:nvGrpSpPr>
        <p:grpSpPr>
          <a:xfrm>
            <a:off x="730852" y="1328641"/>
            <a:ext cx="2801739" cy="276999"/>
            <a:chOff x="730852" y="1328641"/>
            <a:chExt cx="2801739" cy="276999"/>
          </a:xfrm>
        </p:grpSpPr>
        <p:sp>
          <p:nvSpPr>
            <p:cNvPr id="10" name="TextBox 7">
              <a:extLst>
                <a:ext uri="{FF2B5EF4-FFF2-40B4-BE49-F238E27FC236}">
                  <a16:creationId xmlns:a16="http://schemas.microsoft.com/office/drawing/2014/main" id="{C29D4450-BBDC-4AEC-942E-9BD9F621AF68}"/>
                </a:ext>
              </a:extLst>
            </p:cNvPr>
            <p:cNvSpPr txBox="1"/>
            <p:nvPr/>
          </p:nvSpPr>
          <p:spPr>
            <a:xfrm>
              <a:off x="730852" y="1328641"/>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0F731A70-B1DE-4260-AED5-70CCFAA64CF6}"/>
                </a:ext>
              </a:extLst>
            </p:cNvPr>
            <p:cNvSpPr/>
            <p:nvPr/>
          </p:nvSpPr>
          <p:spPr>
            <a:xfrm>
              <a:off x="777925" y="139361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1F243500-3432-48B0-99F8-C05B83ECBFA5}"/>
              </a:ext>
            </a:extLst>
          </p:cNvPr>
          <p:cNvGraphicFramePr>
            <a:graphicFrameLocks noGrp="1"/>
          </p:cNvGraphicFramePr>
          <p:nvPr/>
        </p:nvGraphicFramePr>
        <p:xfrm>
          <a:off x="307878" y="2334911"/>
          <a:ext cx="11213807" cy="1203624"/>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771111280"/>
                    </a:ext>
                  </a:extLst>
                </a:gridCol>
                <a:gridCol w="2877205">
                  <a:extLst>
                    <a:ext uri="{9D8B030D-6E8A-4147-A177-3AD203B41FA5}">
                      <a16:colId xmlns:a16="http://schemas.microsoft.com/office/drawing/2014/main" val="3088837300"/>
                    </a:ext>
                  </a:extLst>
                </a:gridCol>
                <a:gridCol w="2877205">
                  <a:extLst>
                    <a:ext uri="{9D8B030D-6E8A-4147-A177-3AD203B41FA5}">
                      <a16:colId xmlns:a16="http://schemas.microsoft.com/office/drawing/2014/main" val="1583073324"/>
                    </a:ext>
                  </a:extLst>
                </a:gridCol>
                <a:gridCol w="2877205">
                  <a:extLst>
                    <a:ext uri="{9D8B030D-6E8A-4147-A177-3AD203B41FA5}">
                      <a16:colId xmlns:a16="http://schemas.microsoft.com/office/drawing/2014/main" val="1320626652"/>
                    </a:ext>
                  </a:extLst>
                </a:gridCol>
              </a:tblGrid>
              <a:tr h="627836">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rPr>
                        <a:t>BIRDS (Bulk Imports Reduced Data Set)</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rtl="0" fontAlgn="auto" hangingPunct="1">
                        <a:lnSpc>
                          <a:spcPct val="100000"/>
                        </a:lnSpc>
                        <a:spcBef>
                          <a:spcPts val="0"/>
                        </a:spcBef>
                        <a:spcAft>
                          <a:spcPts val="0"/>
                        </a:spcAft>
                        <a:buSzPct val="100000"/>
                        <a:buFont typeface="Arial" pitchFamily="34"/>
                        <a:buChar char="•"/>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525674509"/>
                  </a:ext>
                </a:extLst>
              </a:tr>
              <a:tr h="575788">
                <a:tc>
                  <a:txBody>
                    <a:bodyPr/>
                    <a:lstStyle/>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a:lnSpc>
                          <a:spcPct val="100000"/>
                        </a:lnSpc>
                        <a:spcBef>
                          <a:spcPts val="0"/>
                        </a:spcBef>
                        <a:spcAft>
                          <a:spcPts val="0"/>
                        </a:spcAft>
                        <a:buNone/>
                      </a:pPr>
                      <a:endParaRPr lang="en-GB" sz="1200" b="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627527233"/>
                  </a:ext>
                </a:extLst>
              </a:tr>
            </a:tbl>
          </a:graphicData>
        </a:graphic>
      </p:graphicFrame>
      <p:grpSp>
        <p:nvGrpSpPr>
          <p:cNvPr id="13" name="Group 4">
            <a:extLst>
              <a:ext uri="{FF2B5EF4-FFF2-40B4-BE49-F238E27FC236}">
                <a16:creationId xmlns:a16="http://schemas.microsoft.com/office/drawing/2014/main" id="{71100799-9184-427D-B1C0-473757B707F4}"/>
              </a:ext>
            </a:extLst>
          </p:cNvPr>
          <p:cNvGrpSpPr/>
          <p:nvPr/>
        </p:nvGrpSpPr>
        <p:grpSpPr>
          <a:xfrm>
            <a:off x="2496193" y="1336907"/>
            <a:ext cx="3199302" cy="276999"/>
            <a:chOff x="2496193" y="1336907"/>
            <a:chExt cx="3199302" cy="276999"/>
          </a:xfrm>
        </p:grpSpPr>
        <p:sp>
          <p:nvSpPr>
            <p:cNvPr id="14" name="TextBox 7">
              <a:extLst>
                <a:ext uri="{FF2B5EF4-FFF2-40B4-BE49-F238E27FC236}">
                  <a16:creationId xmlns:a16="http://schemas.microsoft.com/office/drawing/2014/main" id="{9F3F3A6F-02CB-4C6C-853E-A6E0F7EE234F}"/>
                </a:ext>
              </a:extLst>
            </p:cNvPr>
            <p:cNvSpPr txBox="1"/>
            <p:nvPr/>
          </p:nvSpPr>
          <p:spPr>
            <a:xfrm>
              <a:off x="2496193" y="1336907"/>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F1872064-230D-43A3-BDCA-6C6FE6A7744D}"/>
                </a:ext>
              </a:extLst>
            </p:cNvPr>
            <p:cNvSpPr/>
            <p:nvPr/>
          </p:nvSpPr>
          <p:spPr>
            <a:xfrm>
              <a:off x="2521768" y="140526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A826BD15-B430-4410-A9F4-D7A2D5273D7A}"/>
              </a:ext>
            </a:extLst>
          </p:cNvPr>
          <p:cNvSpPr/>
          <p:nvPr/>
        </p:nvSpPr>
        <p:spPr>
          <a:xfrm>
            <a:off x="285612" y="1309804"/>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EC358699-30DC-4D9F-9CA5-A8BBFD79579E}"/>
              </a:ext>
            </a:extLst>
          </p:cNvPr>
          <p:cNvGrpSpPr/>
          <p:nvPr/>
        </p:nvGrpSpPr>
        <p:grpSpPr>
          <a:xfrm>
            <a:off x="5721071" y="1336377"/>
            <a:ext cx="4848834" cy="276999"/>
            <a:chOff x="5721071" y="1336377"/>
            <a:chExt cx="4848834" cy="276999"/>
          </a:xfrm>
        </p:grpSpPr>
        <p:sp>
          <p:nvSpPr>
            <p:cNvPr id="18" name="TextBox 7">
              <a:extLst>
                <a:ext uri="{FF2B5EF4-FFF2-40B4-BE49-F238E27FC236}">
                  <a16:creationId xmlns:a16="http://schemas.microsoft.com/office/drawing/2014/main" id="{6B21195B-33E3-4441-89D8-8732103598CD}"/>
                </a:ext>
              </a:extLst>
            </p:cNvPr>
            <p:cNvSpPr txBox="1"/>
            <p:nvPr/>
          </p:nvSpPr>
          <p:spPr>
            <a:xfrm>
              <a:off x="5721071" y="1336377"/>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21B1A1EB-4583-446B-AC0D-18F5C02EA595}"/>
                </a:ext>
              </a:extLst>
            </p:cNvPr>
            <p:cNvSpPr/>
            <p:nvPr/>
          </p:nvSpPr>
          <p:spPr>
            <a:xfrm>
              <a:off x="5773430" y="140781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EA05FE04-4705-4155-9B96-DDCC9AD8014C}"/>
              </a:ext>
            </a:extLst>
          </p:cNvPr>
          <p:cNvSpPr/>
          <p:nvPr/>
        </p:nvSpPr>
        <p:spPr>
          <a:xfrm>
            <a:off x="357795" y="238346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E13E7C07-E3EF-4337-8037-390AA508D91C}"/>
              </a:ext>
            </a:extLst>
          </p:cNvPr>
          <p:cNvSpPr txBox="1"/>
          <p:nvPr/>
        </p:nvSpPr>
        <p:spPr>
          <a:xfrm>
            <a:off x="11709111"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03E05B8-753B-4E1D-AF08-E66A91EE76EB}" type="slidenum">
              <a:rPr sz="1200"/>
              <a:t>384</a:t>
            </a:fld>
            <a:endParaRPr lang="en-GB" sz="1200" b="0" i="0" u="none" strike="noStrike" kern="1200" cap="none" spc="0" baseline="0">
              <a:solidFill>
                <a:srgbClr val="000000"/>
              </a:solidFill>
              <a:uFillTx/>
              <a:latin typeface="Calibri"/>
            </a:endParaRPr>
          </a:p>
        </p:txBody>
      </p:sp>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name="Slide83884036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8FB7860-D9D0-40E3-96D4-6CF050CBAC2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A3638EB-08CC-4B69-ADFF-F52CB977338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2C8721B-9BD1-47C3-963B-CD2ADC31E7A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D51D312-F18E-4783-A19C-F6FDE530A2AA}"/>
              </a:ext>
            </a:extLst>
          </p:cNvPr>
          <p:cNvSpPr txBox="1"/>
          <p:nvPr/>
        </p:nvSpPr>
        <p:spPr>
          <a:xfrm>
            <a:off x="11637548"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8A8171F-0C17-49DE-B593-6408E1FA5C38}" type="slidenum">
              <a:rPr sz="1200"/>
              <a:t>385</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AB866C30-2C73-4FED-83F1-7C9390EBEC3F}"/>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C4433BDD-93AC-4AB5-ACDB-9586C5342000}"/>
              </a:ext>
            </a:extLst>
          </p:cNvPr>
          <p:cNvSpPr/>
          <p:nvPr/>
        </p:nvSpPr>
        <p:spPr>
          <a:xfrm>
            <a:off x="465155" y="1310207"/>
            <a:ext cx="11504925" cy="5047533"/>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BIRDS (Bulk Imports Reduced Data Set)</a:t>
            </a:r>
            <a:endParaRPr lang="en-US" sz="18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introduction of </a:t>
            </a:r>
            <a:r>
              <a:rPr lang="en-GB" sz="1400" b="0" i="0" u="none" strike="noStrike" kern="1200" cap="none" spc="0" baseline="0">
                <a:solidFill>
                  <a:srgbClr val="000000"/>
                </a:solidFill>
                <a:uFillTx/>
                <a:latin typeface="Calibri  "/>
              </a:rPr>
              <a:t>BIRDS</a:t>
            </a:r>
            <a:r>
              <a:rPr lang="en-GB" sz="1400" b="0" i="0" u="none" strike="noStrike" kern="1200" cap="none" spc="0" baseline="0">
                <a:solidFill>
                  <a:srgbClr val="333333"/>
                </a:solidFill>
                <a:uFillTx/>
                <a:latin typeface="Calibri  "/>
              </a:rPr>
              <a:t> in CDS is a method of customs simplification and trade facilitation. </a:t>
            </a:r>
            <a:r>
              <a:rPr lang="en-GB" sz="1400" b="0" i="0" u="none" strike="noStrike" kern="1200" cap="none" spc="0" baseline="0">
                <a:solidFill>
                  <a:srgbClr val="000000"/>
                </a:solidFill>
                <a:uFillTx/>
                <a:latin typeface="Calibri  "/>
              </a:rPr>
              <a:t>The new data set </a:t>
            </a:r>
            <a:r>
              <a:rPr lang="en-GB" sz="1400" b="0" i="0" u="none" strike="noStrike" kern="1200" cap="none" spc="0" baseline="0">
                <a:solidFill>
                  <a:srgbClr val="333333"/>
                </a:solidFill>
                <a:uFillTx/>
                <a:latin typeface="Calibri  "/>
              </a:rPr>
              <a:t>enables authorised traders to declare multiple consignments of low value goods, on a single customs import declaration. The </a:t>
            </a:r>
            <a:r>
              <a:rPr lang="en-GB" sz="1400" b="0" i="0" u="none" strike="noStrike" kern="1200" cap="none" spc="0" baseline="0">
                <a:solidFill>
                  <a:srgbClr val="000000"/>
                </a:solidFill>
                <a:uFillTx/>
                <a:latin typeface="Calibri  "/>
              </a:rPr>
              <a:t>BIRDS</a:t>
            </a:r>
            <a:r>
              <a:rPr lang="en-GB" sz="1400" b="0" i="0" u="none" strike="noStrike" kern="1200" cap="none" spc="0" baseline="0">
                <a:solidFill>
                  <a:srgbClr val="333333"/>
                </a:solidFill>
                <a:uFillTx/>
                <a:latin typeface="Calibri  "/>
              </a:rPr>
              <a:t> functionality is an enhanced version of the existing C21i dataset and will be available for RoW to GB imports only and</a:t>
            </a:r>
            <a:r>
              <a:rPr lang="en-GB" sz="1400" b="0" i="0" u="none" strike="noStrike" kern="1200" cap="none" spc="0" baseline="0">
                <a:solidFill>
                  <a:srgbClr val="000000"/>
                </a:solidFill>
                <a:uFillTx/>
                <a:latin typeface="Calibri  "/>
              </a:rPr>
              <a:t> will be only be </a:t>
            </a:r>
            <a:r>
              <a:rPr lang="en-GB" sz="1400" b="0" i="0" u="none" strike="noStrike" kern="1200" cap="none" spc="0" baseline="0">
                <a:solidFill>
                  <a:srgbClr val="333333"/>
                </a:solidFill>
                <a:uFillTx/>
                <a:latin typeface="Calibri  "/>
              </a:rPr>
              <a:t>applicable on non-excise and non-restricted goods of a value up-to £135.  Goods imported using BIRDS will be validated accordingly to existing requirements for Type J &amp; K declarations. Further details on BIRDS can be found here: </a:t>
            </a:r>
            <a:r>
              <a:rPr lang="en-GB" sz="1400" b="0" i="0" u="none" strike="noStrike" kern="1200" cap="none" spc="0" baseline="0">
                <a:solidFill>
                  <a:srgbClr val="333333"/>
                </a:solidFill>
                <a:uFillTx/>
                <a:latin typeface="Calibri  "/>
                <a:hlinkClick r:id="rId3"/>
              </a:rPr>
              <a:t>https://www.gov.uk/guidance/apply-to-import-multiple-low-value-parcels-on-one-declaration--2</a:t>
            </a:r>
            <a:r>
              <a:rPr lang="en-GB" sz="1400" b="0" i="0" u="none" strike="noStrike" kern="1200" cap="none" spc="0" baseline="0">
                <a:solidFill>
                  <a:srgbClr val="333333"/>
                </a:solidFill>
                <a:uFillTx/>
                <a:latin typeface="Calibri  "/>
              </a:rPr>
              <a:t> </a:t>
            </a: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To derive the BIRDS functionality on CDS, to allow authorised Express Operators to bulk declarations for low-value consignments imported into GB:</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When Procedure '</a:t>
            </a:r>
            <a:r>
              <a:rPr lang="en-GB" sz="1400" b="1" i="0" u="none" strike="noStrike" kern="1200" cap="none" spc="0" baseline="0">
                <a:solidFill>
                  <a:srgbClr val="333333"/>
                </a:solidFill>
                <a:uFillTx/>
                <a:latin typeface="Calibri  "/>
              </a:rPr>
              <a:t>0020</a:t>
            </a:r>
            <a:r>
              <a:rPr lang="en-GB" sz="1400" b="0" i="0" u="none" strike="noStrike" kern="1200" cap="none" spc="0" baseline="0">
                <a:solidFill>
                  <a:srgbClr val="333333"/>
                </a:solidFill>
                <a:uFillTx/>
                <a:latin typeface="Calibri  "/>
              </a:rPr>
              <a:t>' is entered in DE 1/10 at item level, and Additional Procedure '</a:t>
            </a:r>
            <a:r>
              <a:rPr lang="en-GB" sz="1400" b="1" i="0" u="none" strike="noStrike" kern="1200" cap="none" spc="0" baseline="0">
                <a:solidFill>
                  <a:srgbClr val="333333"/>
                </a:solidFill>
                <a:uFillTx/>
                <a:latin typeface="Calibri  "/>
              </a:rPr>
              <a:t>21V</a:t>
            </a:r>
            <a:r>
              <a:rPr lang="en-GB" sz="1400" b="0" i="0" u="none" strike="noStrike" kern="1200" cap="none" spc="0" baseline="0">
                <a:solidFill>
                  <a:srgbClr val="333333"/>
                </a:solidFill>
                <a:uFillTx/>
                <a:latin typeface="Calibri  "/>
              </a:rPr>
              <a:t>' is declared in DE 1/11 at item level, on a </a:t>
            </a:r>
            <a:r>
              <a:rPr lang="en-GB" sz="1400" b="1" i="0" u="none" strike="noStrike" kern="1200" cap="none" spc="0" baseline="0">
                <a:solidFill>
                  <a:srgbClr val="333333"/>
                </a:solidFill>
                <a:uFillTx/>
                <a:latin typeface="Calibri  "/>
              </a:rPr>
              <a:t>Type J or K import Customs Clearance Request (IM or CO)</a:t>
            </a:r>
            <a:r>
              <a:rPr lang="en-GB" sz="1400" b="0" i="0" u="none" strike="noStrike" kern="1200" cap="none" spc="0" baseline="0">
                <a:solidFill>
                  <a:srgbClr val="333333"/>
                </a:solidFill>
                <a:uFillTx/>
                <a:latin typeface="Calibri  "/>
              </a:rPr>
              <a:t>, CDS will derive and enforce the existing C21i Procedure Category. </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When moving goods from Jersey (JE) or Guernsey (GG), the Additional Procedure (DE 1/11) </a:t>
            </a:r>
            <a:r>
              <a:rPr lang="en-GB" sz="1400" b="1" i="0" u="none" strike="noStrike" kern="1200" cap="none" spc="0" baseline="0">
                <a:solidFill>
                  <a:srgbClr val="333333"/>
                </a:solidFill>
                <a:uFillTx/>
                <a:latin typeface="Calibri  "/>
              </a:rPr>
              <a:t>'15F’</a:t>
            </a:r>
            <a:r>
              <a:rPr lang="en-GB" sz="1400" b="0" i="0" u="none" strike="noStrike" kern="1200" cap="none" spc="0" baseline="0">
                <a:solidFill>
                  <a:srgbClr val="333333"/>
                </a:solidFill>
                <a:uFillTx/>
                <a:latin typeface="Calibri  "/>
              </a:rPr>
              <a:t> must be declared in addition to '21V’ and the BIRDS PC/APC combination and Declaration Type (DE 1/1) ‘CO’</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When the BIRDS declaration contains more than one exporter, traders must declare ‘00200’ within DE 2/2 (Additional Information) and all sub-fields (except Country sub-field which should contain a valid Country Code) of DE 3/1 (Exporter)</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The following criteria will result in a CDS rejection, with a DMSREJ notification sent to the trader:</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Procedure code ‘0020’ and Additional Procedure ‘21V’ is declared on an import that is not Type J or K (C21i)</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If Procedure code ‘0020’ or Additional Procedure ‘21V’ is entered on a Type J or K import declaration in isolation, i.e. without the other one present</a:t>
            </a:r>
          </a:p>
          <a:p>
            <a:pPr marL="1200150" marR="0" lvl="2"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CDS will mandate the C21i Procedure Category to one goods item only.</a:t>
            </a:r>
          </a:p>
        </p:txBody>
      </p:sp>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name="Slide4548">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BBE470A-2CD0-4C30-9E63-3997E2504EF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6369DC8-1E9E-44A1-808E-FC3176BACCC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6B46FB7-7DEC-4CEF-9B08-879B24E08BAE}"/>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2AFC4DD8-0EA4-41B0-B7F6-CB4EA7BBC618}"/>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524064A6-8153-4669-BC84-25615934338D}"/>
              </a:ext>
            </a:extLst>
          </p:cNvPr>
          <p:cNvSpPr txBox="1"/>
          <p:nvPr/>
        </p:nvSpPr>
        <p:spPr>
          <a:xfrm>
            <a:off x="11677306"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C26F436-8CEC-4D51-A278-B17528C505A4}" type="slidenum">
              <a:rPr sz="1200"/>
              <a:t>386</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09A352A4-3333-438B-86CB-EFCE7DB4ECEE}"/>
              </a:ext>
            </a:extLst>
          </p:cNvPr>
          <p:cNvSpPr/>
          <p:nvPr/>
        </p:nvSpPr>
        <p:spPr>
          <a:xfrm>
            <a:off x="465155" y="807214"/>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B0105F6F-6A66-4D21-B532-685228F51E64}"/>
              </a:ext>
            </a:extLst>
          </p:cNvPr>
          <p:cNvSpPr/>
          <p:nvPr/>
        </p:nvSpPr>
        <p:spPr>
          <a:xfrm>
            <a:off x="423934" y="1071841"/>
            <a:ext cx="11504925" cy="52321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Mandatory Fields when the BIRDS PC/APC combination is declared</a:t>
            </a:r>
            <a:endParaRPr lang="en-GB" sz="1400" b="0" i="0" u="none" strike="noStrike" kern="1200" cap="none" spc="0" baseline="0">
              <a:solidFill>
                <a:srgbClr val="000000"/>
              </a:solidFill>
              <a:uFillTx/>
              <a:latin typeface="Calibri"/>
            </a:endParaRPr>
          </a:p>
        </p:txBody>
      </p:sp>
      <p:sp>
        <p:nvSpPr>
          <p:cNvPr id="9" name="Rectangle 2">
            <a:extLst>
              <a:ext uri="{FF2B5EF4-FFF2-40B4-BE49-F238E27FC236}">
                <a16:creationId xmlns:a16="http://schemas.microsoft.com/office/drawing/2014/main" id="{386884E8-F0A3-4A22-B7BF-04F20A121166}"/>
              </a:ext>
            </a:extLst>
          </p:cNvPr>
          <p:cNvSpPr/>
          <p:nvPr/>
        </p:nvSpPr>
        <p:spPr>
          <a:xfrm>
            <a:off x="3344866" y="2187573"/>
            <a:ext cx="12191996" cy="0"/>
          </a:xfrm>
          <a:prstGeom prst="rect">
            <a:avLst/>
          </a:prstGeom>
          <a:noFill/>
          <a:ln cap="flat">
            <a:noFill/>
            <a:prstDash val="solid"/>
          </a:ln>
        </p:spPr>
        <p:txBody>
          <a:bodyPr vert="horz" wrap="square" lIns="91440" tIns="45720" rIns="91440" bIns="45720" anchor="ctr" anchorCtr="0" compatLnSpc="1">
            <a:spAutoFit/>
          </a:bodyPr>
          <a:lstStyle/>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US" sz="1800" b="0" i="0" u="none" strike="noStrike" kern="1200" cap="none" spc="0" baseline="0">
                <a:solidFill>
                  <a:srgbClr val="000000"/>
                </a:solidFill>
                <a:uFillTx/>
                <a:latin typeface="Times New Roman" pitchFamily="18"/>
                <a:cs typeface="Times New Roman" pitchFamily="18"/>
              </a:rPr>
              <a:t> </a:t>
            </a:r>
            <a:endParaRPr lang="en-US" sz="1800" b="0" i="0" u="none" strike="noStrike" kern="1200" cap="none" spc="0" baseline="0">
              <a:solidFill>
                <a:srgbClr val="000000"/>
              </a:solidFill>
              <a:uFillTx/>
              <a:latin typeface="Arial" pitchFamily="34"/>
            </a:endParaRPr>
          </a:p>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000000"/>
              </a:solidFill>
              <a:uFillTx/>
              <a:latin typeface="Arial" pitchFamily="34"/>
            </a:endParaRPr>
          </a:p>
        </p:txBody>
      </p:sp>
      <p:graphicFrame>
        <p:nvGraphicFramePr>
          <p:cNvPr id="10" name="Table 5">
            <a:extLst>
              <a:ext uri="{FF2B5EF4-FFF2-40B4-BE49-F238E27FC236}">
                <a16:creationId xmlns:a16="http://schemas.microsoft.com/office/drawing/2014/main" id="{E015ABA6-6571-47AE-999C-7CF1F994C0DF}"/>
              </a:ext>
            </a:extLst>
          </p:cNvPr>
          <p:cNvGraphicFramePr>
            <a:graphicFrameLocks noGrp="1"/>
          </p:cNvGraphicFramePr>
          <p:nvPr/>
        </p:nvGraphicFramePr>
        <p:xfrm>
          <a:off x="446099" y="1565507"/>
          <a:ext cx="11234700" cy="5043629"/>
        </p:xfrm>
        <a:graphic>
          <a:graphicData uri="http://schemas.openxmlformats.org/drawingml/2006/table">
            <a:tbl>
              <a:tblPr firstRow="1" bandRow="1">
                <a:effectLst/>
                <a:tableStyleId>{5C22544A-7EE6-4342-B048-85BDC9FD1C3A}</a:tableStyleId>
              </a:tblPr>
              <a:tblGrid>
                <a:gridCol w="1045003">
                  <a:extLst>
                    <a:ext uri="{9D8B030D-6E8A-4147-A177-3AD203B41FA5}">
                      <a16:colId xmlns:a16="http://schemas.microsoft.com/office/drawing/2014/main" val="4119082484"/>
                    </a:ext>
                  </a:extLst>
                </a:gridCol>
                <a:gridCol w="4009726">
                  <a:extLst>
                    <a:ext uri="{9D8B030D-6E8A-4147-A177-3AD203B41FA5}">
                      <a16:colId xmlns:a16="http://schemas.microsoft.com/office/drawing/2014/main" val="3894241380"/>
                    </a:ext>
                  </a:extLst>
                </a:gridCol>
                <a:gridCol w="1499387">
                  <a:extLst>
                    <a:ext uri="{9D8B030D-6E8A-4147-A177-3AD203B41FA5}">
                      <a16:colId xmlns:a16="http://schemas.microsoft.com/office/drawing/2014/main" val="3233268599"/>
                    </a:ext>
                  </a:extLst>
                </a:gridCol>
                <a:gridCol w="4680584">
                  <a:extLst>
                    <a:ext uri="{9D8B030D-6E8A-4147-A177-3AD203B41FA5}">
                      <a16:colId xmlns:a16="http://schemas.microsoft.com/office/drawing/2014/main" val="113070795"/>
                    </a:ext>
                  </a:extLst>
                </a:gridCol>
              </a:tblGrid>
              <a:tr h="284186">
                <a:tc>
                  <a:txBody>
                    <a:bodyPr/>
                    <a:lstStyle/>
                    <a:p>
                      <a:pPr lvl="0"/>
                      <a:r>
                        <a:rPr lang="en-GB" sz="1200"/>
                        <a:t>Data Element</a:t>
                      </a:r>
                    </a:p>
                  </a:txBody>
                  <a:tcPr/>
                </a:tc>
                <a:tc>
                  <a:txBody>
                    <a:bodyPr/>
                    <a:lstStyle/>
                    <a:p>
                      <a:pPr lvl="0"/>
                      <a:r>
                        <a:rPr lang="en-GB" sz="1200"/>
                        <a:t>Description</a:t>
                      </a:r>
                    </a:p>
                  </a:txBody>
                  <a:tcPr/>
                </a:tc>
                <a:tc>
                  <a:txBody>
                    <a:bodyPr/>
                    <a:lstStyle/>
                    <a:p>
                      <a:pPr lvl="0"/>
                      <a:r>
                        <a:rPr lang="en-GB" sz="1200"/>
                        <a:t>Header (H), Item (I)</a:t>
                      </a:r>
                    </a:p>
                  </a:txBody>
                  <a:tcPr/>
                </a:tc>
                <a:tc>
                  <a:txBody>
                    <a:bodyPr/>
                    <a:lstStyle/>
                    <a:p>
                      <a:pPr lvl="0"/>
                      <a:r>
                        <a:rPr lang="en-GB" sz="1200"/>
                        <a:t>Notes</a:t>
                      </a:r>
                    </a:p>
                  </a:txBody>
                  <a:tcPr/>
                </a:tc>
                <a:extLst>
                  <a:ext uri="{0D108BD9-81ED-4DB2-BD59-A6C34878D82A}">
                    <a16:rowId xmlns:a16="http://schemas.microsoft.com/office/drawing/2014/main" val="1499631146"/>
                  </a:ext>
                </a:extLst>
              </a:tr>
              <a:tr h="261847">
                <a:tc>
                  <a:txBody>
                    <a:bodyPr/>
                    <a:lstStyle/>
                    <a:p>
                      <a:pPr lvl="0"/>
                      <a:r>
                        <a:rPr lang="en-GB" sz="1050">
                          <a:latin typeface="Calibri"/>
                        </a:rPr>
                        <a:t>1/1</a:t>
                      </a:r>
                    </a:p>
                  </a:txBody>
                  <a:tcPr/>
                </a:tc>
                <a:tc>
                  <a:txBody>
                    <a:bodyPr/>
                    <a:lstStyle/>
                    <a:p>
                      <a:pPr lvl="0"/>
                      <a:r>
                        <a:rPr lang="en-GB" sz="1050">
                          <a:latin typeface="Calibri"/>
                        </a:rPr>
                        <a:t>Declaration Type</a:t>
                      </a:r>
                    </a:p>
                  </a:txBody>
                  <a:tcPr/>
                </a:tc>
                <a:tc>
                  <a:txBody>
                    <a:bodyPr/>
                    <a:lstStyle/>
                    <a:p>
                      <a:pPr lvl="0"/>
                      <a:r>
                        <a:rPr lang="en-GB" sz="1050">
                          <a:solidFill>
                            <a:srgbClr val="000000"/>
                          </a:solidFill>
                          <a:latin typeface="Calibri"/>
                        </a:rPr>
                        <a:t>H</a:t>
                      </a:r>
                    </a:p>
                  </a:txBody>
                  <a:tcPr/>
                </a:tc>
                <a:tc>
                  <a:txBody>
                    <a:bodyPr/>
                    <a:lstStyle/>
                    <a:p>
                      <a:pPr lvl="0"/>
                      <a:r>
                        <a:rPr lang="en-GB" sz="1050">
                          <a:solidFill>
                            <a:srgbClr val="000000"/>
                          </a:solidFill>
                          <a:latin typeface="Calibri"/>
                          <a:ea typeface="Times New Roman" pitchFamily="18"/>
                        </a:rPr>
                        <a:t>This will be either 'IM' (Import) or 'CO' (Special Fiscal Territory)</a:t>
                      </a:r>
                      <a:r>
                        <a:rPr lang="en-US" sz="1050">
                          <a:solidFill>
                            <a:srgbClr val="000000"/>
                          </a:solidFill>
                          <a:latin typeface="Calibri"/>
                          <a:ea typeface="Times New Roman" pitchFamily="18"/>
                        </a:rPr>
                        <a:t>​</a:t>
                      </a:r>
                      <a:endParaRPr lang="en-GB" sz="1050">
                        <a:latin typeface="Calibri"/>
                      </a:endParaRPr>
                    </a:p>
                  </a:txBody>
                  <a:tcPr/>
                </a:tc>
                <a:extLst>
                  <a:ext uri="{0D108BD9-81ED-4DB2-BD59-A6C34878D82A}">
                    <a16:rowId xmlns:a16="http://schemas.microsoft.com/office/drawing/2014/main" val="3199678407"/>
                  </a:ext>
                </a:extLst>
              </a:tr>
              <a:tr h="261847">
                <a:tc>
                  <a:txBody>
                    <a:bodyPr/>
                    <a:lstStyle/>
                    <a:p>
                      <a:pPr lvl="0"/>
                      <a:r>
                        <a:rPr lang="en-GB" sz="1050">
                          <a:latin typeface="Calibri"/>
                        </a:rPr>
                        <a:t>1/2</a:t>
                      </a:r>
                    </a:p>
                  </a:txBody>
                  <a:tcPr/>
                </a:tc>
                <a:tc>
                  <a:txBody>
                    <a:bodyPr/>
                    <a:lstStyle/>
                    <a:p>
                      <a:pPr lvl="0"/>
                      <a:r>
                        <a:rPr lang="en-GB" sz="1050">
                          <a:latin typeface="Calibri"/>
                        </a:rPr>
                        <a:t>Additional Declaration Type</a:t>
                      </a:r>
                    </a:p>
                  </a:txBody>
                  <a:tcPr/>
                </a:tc>
                <a:tc>
                  <a:txBody>
                    <a:bodyPr/>
                    <a:lstStyle/>
                    <a:p>
                      <a:pPr lvl="0"/>
                      <a:r>
                        <a:rPr lang="en-GB" sz="1050">
                          <a:solidFill>
                            <a:srgbClr val="000000"/>
                          </a:solidFill>
                          <a:latin typeface="Calibri"/>
                        </a:rPr>
                        <a:t>H</a:t>
                      </a:r>
                    </a:p>
                  </a:txBody>
                  <a:tcPr/>
                </a:tc>
                <a:tc>
                  <a:txBody>
                    <a:bodyPr/>
                    <a:lstStyle/>
                    <a:p>
                      <a:pPr lvl="0"/>
                      <a:r>
                        <a:rPr lang="en-GB" sz="1050">
                          <a:solidFill>
                            <a:srgbClr val="000000"/>
                          </a:solidFill>
                          <a:latin typeface="Calibri"/>
                          <a:ea typeface="Times New Roman" pitchFamily="18"/>
                        </a:rPr>
                        <a:t>Declaration Type K (pre-lodged) or J (Goods arrived)</a:t>
                      </a:r>
                      <a:r>
                        <a:rPr lang="en-US" sz="1050">
                          <a:solidFill>
                            <a:srgbClr val="000000"/>
                          </a:solidFill>
                          <a:latin typeface="Calibri"/>
                          <a:ea typeface="Times New Roman" pitchFamily="18"/>
                        </a:rPr>
                        <a:t>​</a:t>
                      </a:r>
                      <a:endParaRPr lang="en-GB" sz="1050">
                        <a:latin typeface="Calibri"/>
                      </a:endParaRPr>
                    </a:p>
                  </a:txBody>
                  <a:tcPr/>
                </a:tc>
                <a:extLst>
                  <a:ext uri="{0D108BD9-81ED-4DB2-BD59-A6C34878D82A}">
                    <a16:rowId xmlns:a16="http://schemas.microsoft.com/office/drawing/2014/main" val="1302489635"/>
                  </a:ext>
                </a:extLst>
              </a:tr>
              <a:tr h="261847">
                <a:tc>
                  <a:txBody>
                    <a:bodyPr/>
                    <a:lstStyle/>
                    <a:p>
                      <a:pPr lvl="0"/>
                      <a:r>
                        <a:rPr lang="en-GB" sz="1050">
                          <a:latin typeface="Calibri"/>
                        </a:rPr>
                        <a:t>1/6</a:t>
                      </a:r>
                    </a:p>
                  </a:txBody>
                  <a:tcPr/>
                </a:tc>
                <a:tc>
                  <a:txBody>
                    <a:bodyPr/>
                    <a:lstStyle/>
                    <a:p>
                      <a:pPr lvl="0"/>
                      <a:r>
                        <a:rPr lang="en-GB" sz="1050">
                          <a:latin typeface="Calibri"/>
                        </a:rPr>
                        <a:t>Goods Item Number</a:t>
                      </a:r>
                    </a:p>
                  </a:txBody>
                  <a:tcPr/>
                </a:tc>
                <a:tc>
                  <a:txBody>
                    <a:bodyPr/>
                    <a:lstStyle/>
                    <a:p>
                      <a:pPr lvl="0"/>
                      <a:r>
                        <a:rPr lang="en-GB" sz="1050">
                          <a:solidFill>
                            <a:srgbClr val="000000"/>
                          </a:solidFill>
                          <a:latin typeface="Calibri"/>
                        </a:rPr>
                        <a:t>I</a:t>
                      </a:r>
                    </a:p>
                  </a:txBody>
                  <a:tcPr/>
                </a:tc>
                <a:tc>
                  <a:txBody>
                    <a:bodyPr/>
                    <a:lstStyle/>
                    <a:p>
                      <a:pPr lvl="0"/>
                      <a:endParaRPr lang="en-GB" sz="1050">
                        <a:latin typeface="Calibri"/>
                      </a:endParaRPr>
                    </a:p>
                  </a:txBody>
                  <a:tcPr/>
                </a:tc>
                <a:extLst>
                  <a:ext uri="{0D108BD9-81ED-4DB2-BD59-A6C34878D82A}">
                    <a16:rowId xmlns:a16="http://schemas.microsoft.com/office/drawing/2014/main" val="1728704751"/>
                  </a:ext>
                </a:extLst>
              </a:tr>
              <a:tr h="261847">
                <a:tc>
                  <a:txBody>
                    <a:bodyPr/>
                    <a:lstStyle/>
                    <a:p>
                      <a:pPr lvl="0"/>
                      <a:r>
                        <a:rPr lang="en-GB" sz="1050">
                          <a:latin typeface="Calibri"/>
                        </a:rPr>
                        <a:t>1/9</a:t>
                      </a:r>
                    </a:p>
                  </a:txBody>
                  <a:tcPr/>
                </a:tc>
                <a:tc>
                  <a:txBody>
                    <a:bodyPr/>
                    <a:lstStyle/>
                    <a:p>
                      <a:pPr lvl="0"/>
                      <a:r>
                        <a:rPr lang="en-GB" sz="1050">
                          <a:latin typeface="Calibri"/>
                        </a:rPr>
                        <a:t>Total Number of Items</a:t>
                      </a:r>
                    </a:p>
                  </a:txBody>
                  <a:tcPr/>
                </a:tc>
                <a:tc>
                  <a:txBody>
                    <a:bodyPr/>
                    <a:lstStyle/>
                    <a:p>
                      <a:pPr lvl="0"/>
                      <a:r>
                        <a:rPr lang="en-GB" sz="1050">
                          <a:solidFill>
                            <a:srgbClr val="000000"/>
                          </a:solidFill>
                          <a:latin typeface="Calibri"/>
                        </a:rPr>
                        <a:t>H</a:t>
                      </a:r>
                    </a:p>
                  </a:txBody>
                  <a:tcPr/>
                </a:tc>
                <a:tc>
                  <a:txBody>
                    <a:bodyPr/>
                    <a:lstStyle/>
                    <a:p>
                      <a:pPr lvl="0"/>
                      <a:endParaRPr lang="en-GB" sz="1050" b="1">
                        <a:latin typeface="Calibri"/>
                      </a:endParaRPr>
                    </a:p>
                  </a:txBody>
                  <a:tcPr/>
                </a:tc>
                <a:extLst>
                  <a:ext uri="{0D108BD9-81ED-4DB2-BD59-A6C34878D82A}">
                    <a16:rowId xmlns:a16="http://schemas.microsoft.com/office/drawing/2014/main" val="94541604"/>
                  </a:ext>
                </a:extLst>
              </a:tr>
              <a:tr h="261847">
                <a:tc>
                  <a:txBody>
                    <a:bodyPr/>
                    <a:lstStyle/>
                    <a:p>
                      <a:pPr lvl="0"/>
                      <a:r>
                        <a:rPr lang="en-GB" sz="1050">
                          <a:latin typeface="Calibri"/>
                        </a:rPr>
                        <a:t>1/10</a:t>
                      </a:r>
                    </a:p>
                  </a:txBody>
                  <a:tcPr/>
                </a:tc>
                <a:tc>
                  <a:txBody>
                    <a:bodyPr/>
                    <a:lstStyle/>
                    <a:p>
                      <a:pPr lvl="0"/>
                      <a:r>
                        <a:rPr lang="en-GB" sz="1050">
                          <a:latin typeface="Calibri"/>
                        </a:rPr>
                        <a:t>Procedure</a:t>
                      </a:r>
                    </a:p>
                  </a:txBody>
                  <a:tcPr/>
                </a:tc>
                <a:tc>
                  <a:txBody>
                    <a:bodyPr/>
                    <a:lstStyle/>
                    <a:p>
                      <a:pPr lvl="0"/>
                      <a:r>
                        <a:rPr lang="en-GB" sz="1050">
                          <a:solidFill>
                            <a:srgbClr val="000000"/>
                          </a:solidFill>
                          <a:latin typeface="Calibri"/>
                        </a:rPr>
                        <a:t>I</a:t>
                      </a:r>
                    </a:p>
                  </a:txBody>
                  <a:tcPr/>
                </a:tc>
                <a:tc>
                  <a:txBody>
                    <a:bodyPr/>
                    <a:lstStyle/>
                    <a:p>
                      <a:pPr lvl="0"/>
                      <a:r>
                        <a:rPr lang="en-GB" sz="1050">
                          <a:latin typeface="Calibri"/>
                        </a:rPr>
                        <a:t>A new unique procedure code will be set up for BIRDS:</a:t>
                      </a:r>
                      <a:r>
                        <a:rPr lang="en-GB" sz="1050" b="1">
                          <a:latin typeface="Calibri"/>
                        </a:rPr>
                        <a:t> ‘0020’</a:t>
                      </a:r>
                    </a:p>
                  </a:txBody>
                  <a:tcPr/>
                </a:tc>
                <a:extLst>
                  <a:ext uri="{0D108BD9-81ED-4DB2-BD59-A6C34878D82A}">
                    <a16:rowId xmlns:a16="http://schemas.microsoft.com/office/drawing/2014/main" val="3552497608"/>
                  </a:ext>
                </a:extLst>
              </a:tr>
              <a:tr h="261847">
                <a:tc>
                  <a:txBody>
                    <a:bodyPr/>
                    <a:lstStyle/>
                    <a:p>
                      <a:pPr lvl="0"/>
                      <a:r>
                        <a:rPr lang="en-GB" sz="1050">
                          <a:latin typeface="Calibri"/>
                        </a:rPr>
                        <a:t>1/11</a:t>
                      </a:r>
                    </a:p>
                  </a:txBody>
                  <a:tcPr/>
                </a:tc>
                <a:tc>
                  <a:txBody>
                    <a:bodyPr/>
                    <a:lstStyle/>
                    <a:p>
                      <a:pPr lvl="0"/>
                      <a:r>
                        <a:rPr lang="en-GB" sz="1050">
                          <a:latin typeface="Calibri"/>
                        </a:rPr>
                        <a:t>Additional Procedure</a:t>
                      </a:r>
                    </a:p>
                  </a:txBody>
                  <a:tcPr/>
                </a:tc>
                <a:tc>
                  <a:txBody>
                    <a:bodyPr/>
                    <a:lstStyle/>
                    <a:p>
                      <a:pPr lvl="0"/>
                      <a:r>
                        <a:rPr lang="en-GB" sz="1050">
                          <a:solidFill>
                            <a:srgbClr val="000000"/>
                          </a:solidFill>
                          <a:latin typeface="Calibri"/>
                        </a:rPr>
                        <a:t>I</a:t>
                      </a:r>
                    </a:p>
                  </a:txBody>
                  <a:tcPr/>
                </a:tc>
                <a:tc>
                  <a:txBody>
                    <a:bodyPr/>
                    <a:lstStyle/>
                    <a:p>
                      <a:pPr lvl="0"/>
                      <a:r>
                        <a:rPr lang="en-GB" sz="1050">
                          <a:latin typeface="Calibri"/>
                        </a:rPr>
                        <a:t>A new unique additional procedure code will be set up for BIRDS: </a:t>
                      </a:r>
                      <a:r>
                        <a:rPr lang="en-GB" sz="1050" b="1">
                          <a:latin typeface="Calibri"/>
                        </a:rPr>
                        <a:t>‘21V’</a:t>
                      </a:r>
                    </a:p>
                  </a:txBody>
                  <a:tcPr/>
                </a:tc>
                <a:extLst>
                  <a:ext uri="{0D108BD9-81ED-4DB2-BD59-A6C34878D82A}">
                    <a16:rowId xmlns:a16="http://schemas.microsoft.com/office/drawing/2014/main" val="2510911037"/>
                  </a:ext>
                </a:extLst>
              </a:tr>
              <a:tr h="600705">
                <a:tc>
                  <a:txBody>
                    <a:bodyPr/>
                    <a:lstStyle/>
                    <a:p>
                      <a:pPr lvl="0"/>
                      <a:r>
                        <a:rPr lang="en-GB" sz="1050">
                          <a:latin typeface="Calibri"/>
                        </a:rPr>
                        <a:t>2/1</a:t>
                      </a:r>
                    </a:p>
                  </a:txBody>
                  <a:tcPr/>
                </a:tc>
                <a:tc>
                  <a:txBody>
                    <a:bodyPr/>
                    <a:lstStyle/>
                    <a:p>
                      <a:pPr lvl="0"/>
                      <a:r>
                        <a:rPr lang="en-GB" sz="1050" b="0" i="0" kern="1200">
                          <a:solidFill>
                            <a:srgbClr val="000000"/>
                          </a:solidFill>
                          <a:latin typeface="Calibri"/>
                        </a:rPr>
                        <a:t>Simplified declaration/Previous documents. </a:t>
                      </a:r>
                      <a:endParaRPr lang="en-GB" sz="1050" strike="sngStrike">
                        <a:latin typeface="Calibri"/>
                      </a:endParaRPr>
                    </a:p>
                  </a:txBody>
                  <a:tcPr/>
                </a:tc>
                <a:tc>
                  <a:txBody>
                    <a:bodyPr/>
                    <a:lstStyle/>
                    <a:p>
                      <a:pPr lvl="0"/>
                      <a:r>
                        <a:rPr lang="en-GB" sz="1050">
                          <a:solidFill>
                            <a:srgbClr val="000000"/>
                          </a:solidFill>
                          <a:latin typeface="Calibri"/>
                        </a:rPr>
                        <a:t>H or I</a:t>
                      </a:r>
                    </a:p>
                  </a:txBody>
                  <a:tcPr/>
                </a:tc>
                <a:tc>
                  <a:txBody>
                    <a:bodyPr/>
                    <a:lstStyle/>
                    <a:p>
                      <a:pPr lvl="0"/>
                      <a:r>
                        <a:rPr lang="en-GB" sz="1050" b="0" i="0" kern="1200">
                          <a:solidFill>
                            <a:srgbClr val="000000"/>
                          </a:solidFill>
                          <a:latin typeface="Calibri"/>
                        </a:rPr>
                        <a:t>Document Category, Previous Document Type and Previous Document Reference will all be mandated as per existing C21i rules - </a:t>
                      </a:r>
                      <a:r>
                        <a:rPr lang="en-GB" sz="1050">
                          <a:solidFill>
                            <a:srgbClr val="000000"/>
                          </a:solidFill>
                          <a:latin typeface="Calibri"/>
                          <a:ea typeface="Times New Roman" pitchFamily="18"/>
                        </a:rPr>
                        <a:t>Inventory Linking details can be declared here as per existing BAU processes. </a:t>
                      </a:r>
                      <a:r>
                        <a:rPr lang="en-US" sz="1050">
                          <a:solidFill>
                            <a:srgbClr val="000000"/>
                          </a:solidFill>
                          <a:latin typeface="Calibri"/>
                          <a:ea typeface="Times New Roman" pitchFamily="18"/>
                        </a:rPr>
                        <a:t>​</a:t>
                      </a:r>
                      <a:endParaRPr lang="en-GB" sz="1050">
                        <a:latin typeface="Calibri"/>
                      </a:endParaRPr>
                    </a:p>
                  </a:txBody>
                  <a:tcPr/>
                </a:tc>
                <a:extLst>
                  <a:ext uri="{0D108BD9-81ED-4DB2-BD59-A6C34878D82A}">
                    <a16:rowId xmlns:a16="http://schemas.microsoft.com/office/drawing/2014/main" val="2519695484"/>
                  </a:ext>
                </a:extLst>
              </a:tr>
              <a:tr h="431276">
                <a:tc>
                  <a:txBody>
                    <a:bodyPr/>
                    <a:lstStyle/>
                    <a:p>
                      <a:pPr lvl="0"/>
                      <a:r>
                        <a:rPr lang="en-GB" sz="1050">
                          <a:latin typeface="Calibri"/>
                        </a:rPr>
                        <a:t>2/3</a:t>
                      </a:r>
                    </a:p>
                  </a:txBody>
                  <a:tcPr/>
                </a:tc>
                <a:tc>
                  <a:txBody>
                    <a:bodyPr/>
                    <a:lstStyle/>
                    <a:p>
                      <a:pPr lvl="0"/>
                      <a:r>
                        <a:rPr lang="en-GB" sz="1050">
                          <a:latin typeface="Calibri"/>
                        </a:rPr>
                        <a:t>Documents produced, certificates and authorisations, additional references and DE 8/7 Writing off</a:t>
                      </a:r>
                    </a:p>
                  </a:txBody>
                  <a:tcPr/>
                </a:tc>
                <a:tc>
                  <a:txBody>
                    <a:bodyPr/>
                    <a:lstStyle/>
                    <a:p>
                      <a:pPr lvl="0"/>
                      <a:r>
                        <a:rPr lang="en-GB" sz="1050">
                          <a:solidFill>
                            <a:srgbClr val="000000"/>
                          </a:solidFill>
                          <a:latin typeface="Calibri"/>
                        </a:rPr>
                        <a:t>I</a:t>
                      </a:r>
                    </a:p>
                  </a:txBody>
                  <a:tcPr/>
                </a:tc>
                <a:tc>
                  <a:txBody>
                    <a:bodyPr/>
                    <a:lstStyle/>
                    <a:p>
                      <a:pPr lvl="0"/>
                      <a:r>
                        <a:rPr lang="en-GB" sz="1050">
                          <a:latin typeface="Calibri"/>
                        </a:rPr>
                        <a:t>Traders will be expected to declare their BIRDS authorisation in Authorisation Document Code and Authorisation Number.</a:t>
                      </a:r>
                    </a:p>
                  </a:txBody>
                  <a:tcPr/>
                </a:tc>
                <a:extLst>
                  <a:ext uri="{0D108BD9-81ED-4DB2-BD59-A6C34878D82A}">
                    <a16:rowId xmlns:a16="http://schemas.microsoft.com/office/drawing/2014/main" val="260243792"/>
                  </a:ext>
                </a:extLst>
              </a:tr>
              <a:tr h="261847">
                <a:tc>
                  <a:txBody>
                    <a:bodyPr/>
                    <a:lstStyle/>
                    <a:p>
                      <a:pPr lvl="0"/>
                      <a:r>
                        <a:rPr lang="en-GB" sz="1050">
                          <a:latin typeface="Calibri"/>
                        </a:rPr>
                        <a:t>2/5</a:t>
                      </a:r>
                    </a:p>
                  </a:txBody>
                  <a:tcPr/>
                </a:tc>
                <a:tc>
                  <a:txBody>
                    <a:bodyPr/>
                    <a:lstStyle/>
                    <a:p>
                      <a:pPr lvl="0"/>
                      <a:r>
                        <a:rPr lang="en-GB" sz="1050">
                          <a:latin typeface="Calibri"/>
                        </a:rPr>
                        <a:t>Local Reference Number (LRN)</a:t>
                      </a:r>
                    </a:p>
                  </a:txBody>
                  <a:tcPr/>
                </a:tc>
                <a:tc>
                  <a:txBody>
                    <a:bodyPr/>
                    <a:lstStyle/>
                    <a:p>
                      <a:pPr lvl="0"/>
                      <a:r>
                        <a:rPr lang="en-GB" sz="1050">
                          <a:solidFill>
                            <a:srgbClr val="000000"/>
                          </a:solidFill>
                          <a:latin typeface="Calibri"/>
                        </a:rPr>
                        <a:t>H</a:t>
                      </a:r>
                    </a:p>
                  </a:txBody>
                  <a:tcPr/>
                </a:tc>
                <a:tc>
                  <a:txBody>
                    <a:bodyPr/>
                    <a:lstStyle/>
                    <a:p>
                      <a:pPr lvl="0"/>
                      <a:endParaRPr lang="en-GB" sz="1050">
                        <a:latin typeface="Calibri"/>
                      </a:endParaRPr>
                    </a:p>
                  </a:txBody>
                  <a:tcPr/>
                </a:tc>
                <a:extLst>
                  <a:ext uri="{0D108BD9-81ED-4DB2-BD59-A6C34878D82A}">
                    <a16:rowId xmlns:a16="http://schemas.microsoft.com/office/drawing/2014/main" val="659856280"/>
                  </a:ext>
                </a:extLst>
              </a:tr>
              <a:tr h="600705">
                <a:tc>
                  <a:txBody>
                    <a:bodyPr/>
                    <a:lstStyle/>
                    <a:p>
                      <a:pPr lvl="0"/>
                      <a:r>
                        <a:rPr lang="en-GB" sz="1050">
                          <a:latin typeface="Calibri"/>
                        </a:rPr>
                        <a:t>3/1</a:t>
                      </a:r>
                    </a:p>
                  </a:txBody>
                  <a:tcPr/>
                </a:tc>
                <a:tc>
                  <a:txBody>
                    <a:bodyPr/>
                    <a:lstStyle/>
                    <a:p>
                      <a:pPr lvl="0"/>
                      <a:r>
                        <a:rPr lang="en-GB" sz="1050">
                          <a:latin typeface="Calibri"/>
                        </a:rPr>
                        <a:t>Exporter</a:t>
                      </a:r>
                    </a:p>
                  </a:txBody>
                  <a:tcPr/>
                </a:tc>
                <a:tc>
                  <a:txBody>
                    <a:bodyPr/>
                    <a:lstStyle/>
                    <a:p>
                      <a:pPr lvl="0"/>
                      <a:r>
                        <a:rPr lang="en-GB" sz="1050">
                          <a:solidFill>
                            <a:srgbClr val="000000"/>
                          </a:solidFill>
                          <a:latin typeface="Calibri"/>
                        </a:rPr>
                        <a:t>H</a:t>
                      </a:r>
                    </a:p>
                  </a:txBody>
                  <a:tcPr/>
                </a:tc>
                <a:tc>
                  <a:txBody>
                    <a:bodyPr/>
                    <a:lstStyle/>
                    <a:p>
                      <a:pPr lvl="0"/>
                      <a:r>
                        <a:rPr lang="en-GB" sz="1050" b="0" i="0" u="none" strike="noStrike">
                          <a:solidFill>
                            <a:srgbClr val="000000"/>
                          </a:solidFill>
                          <a:latin typeface="Calibri"/>
                        </a:rPr>
                        <a:t>CDS will require the code </a:t>
                      </a:r>
                      <a:r>
                        <a:rPr lang="en-GB" sz="1050" b="1" i="0" u="none" strike="noStrike">
                          <a:solidFill>
                            <a:srgbClr val="000000"/>
                          </a:solidFill>
                          <a:latin typeface="Calibri"/>
                        </a:rPr>
                        <a:t>'00200' </a:t>
                      </a:r>
                      <a:r>
                        <a:rPr lang="en-GB" sz="1050" b="0" i="0" u="none" strike="noStrike">
                          <a:solidFill>
                            <a:srgbClr val="000000"/>
                          </a:solidFill>
                          <a:latin typeface="Calibri"/>
                        </a:rPr>
                        <a:t>to be declared in all sub-fields of DE 3/1 to indicate 'multiple parties' where the BIRDS contains more than one exporter.</a:t>
                      </a:r>
                      <a:endParaRPr lang="en-GB" sz="1050">
                        <a:latin typeface="Calibri"/>
                      </a:endParaRPr>
                    </a:p>
                  </a:txBody>
                  <a:tcPr/>
                </a:tc>
                <a:extLst>
                  <a:ext uri="{0D108BD9-81ED-4DB2-BD59-A6C34878D82A}">
                    <a16:rowId xmlns:a16="http://schemas.microsoft.com/office/drawing/2014/main" val="1539977007"/>
                  </a:ext>
                </a:extLst>
              </a:tr>
              <a:tr h="431276">
                <a:tc>
                  <a:txBody>
                    <a:bodyPr/>
                    <a:lstStyle/>
                    <a:p>
                      <a:pPr lvl="0"/>
                      <a:r>
                        <a:rPr lang="en-GB" sz="1050">
                          <a:latin typeface="Calibri"/>
                        </a:rPr>
                        <a:t>3/15</a:t>
                      </a:r>
                    </a:p>
                  </a:txBody>
                  <a:tcPr/>
                </a:tc>
                <a:tc>
                  <a:txBody>
                    <a:bodyPr/>
                    <a:lstStyle/>
                    <a:p>
                      <a:pPr lvl="0"/>
                      <a:r>
                        <a:rPr lang="en-GB" sz="1050">
                          <a:latin typeface="Calibri"/>
                        </a:rPr>
                        <a:t>Importer</a:t>
                      </a:r>
                    </a:p>
                  </a:txBody>
                  <a:tcPr/>
                </a:tc>
                <a:tc>
                  <a:txBody>
                    <a:bodyPr/>
                    <a:lstStyle/>
                    <a:p>
                      <a:pPr lvl="0"/>
                      <a:r>
                        <a:rPr lang="en-GB" sz="1050">
                          <a:solidFill>
                            <a:srgbClr val="000000"/>
                          </a:solidFill>
                          <a:latin typeface="Calibri"/>
                        </a:rPr>
                        <a:t>H</a:t>
                      </a:r>
                    </a:p>
                  </a:txBody>
                  <a:tcPr/>
                </a:tc>
                <a:tc>
                  <a:txBody>
                    <a:bodyPr/>
                    <a:lstStyle/>
                    <a:p>
                      <a:pPr lvl="0"/>
                      <a:r>
                        <a:rPr lang="en-GB" sz="1050">
                          <a:solidFill>
                            <a:srgbClr val="000000"/>
                          </a:solidFill>
                          <a:latin typeface="Calibri" pitchFamily="34"/>
                          <a:ea typeface="Calibri" pitchFamily="34"/>
                        </a:rPr>
                        <a:t>NR</a:t>
                      </a:r>
                      <a:endParaRPr lang="en-GB" sz="1050">
                        <a:latin typeface="Calibri"/>
                      </a:endParaRPr>
                    </a:p>
                  </a:txBody>
                  <a:tcPr/>
                </a:tc>
                <a:extLst>
                  <a:ext uri="{0D108BD9-81ED-4DB2-BD59-A6C34878D82A}">
                    <a16:rowId xmlns:a16="http://schemas.microsoft.com/office/drawing/2014/main" val="2349144955"/>
                  </a:ext>
                </a:extLst>
              </a:tr>
              <a:tr h="431276">
                <a:tc>
                  <a:txBody>
                    <a:bodyPr/>
                    <a:lstStyle/>
                    <a:p>
                      <a:pPr lvl="0"/>
                      <a:r>
                        <a:rPr lang="en-GB" sz="1050">
                          <a:latin typeface="Calibri"/>
                        </a:rPr>
                        <a:t>3/16</a:t>
                      </a:r>
                    </a:p>
                  </a:txBody>
                  <a:tcPr/>
                </a:tc>
                <a:tc>
                  <a:txBody>
                    <a:bodyPr/>
                    <a:lstStyle/>
                    <a:p>
                      <a:pPr lvl="0"/>
                      <a:r>
                        <a:rPr lang="en-GB" sz="1050">
                          <a:latin typeface="Calibri"/>
                        </a:rPr>
                        <a:t>Importer Identification Number</a:t>
                      </a:r>
                    </a:p>
                  </a:txBody>
                  <a:tcPr/>
                </a:tc>
                <a:tc>
                  <a:txBody>
                    <a:bodyPr/>
                    <a:lstStyle/>
                    <a:p>
                      <a:pPr lvl="0"/>
                      <a:r>
                        <a:rPr lang="en-GB" sz="1050">
                          <a:solidFill>
                            <a:srgbClr val="000000"/>
                          </a:solidFill>
                          <a:latin typeface="Calibri"/>
                        </a:rPr>
                        <a:t>H</a:t>
                      </a:r>
                    </a:p>
                  </a:txBody>
                  <a:tcPr/>
                </a:tc>
                <a:tc>
                  <a:txBody>
                    <a:bodyPr/>
                    <a:lstStyle/>
                    <a:p>
                      <a:pPr lvl="0"/>
                      <a:r>
                        <a:rPr lang="en-GB" sz="1050">
                          <a:solidFill>
                            <a:srgbClr val="000000"/>
                          </a:solidFill>
                          <a:latin typeface="Calibri" pitchFamily="34"/>
                          <a:ea typeface="Calibri" pitchFamily="34"/>
                        </a:rPr>
                        <a:t>CDS will require the EORI of the BIRDS authorisation holder.</a:t>
                      </a:r>
                      <a:endParaRPr lang="en-GB" sz="1050">
                        <a:latin typeface="Calibri"/>
                      </a:endParaRPr>
                    </a:p>
                  </a:txBody>
                  <a:tcPr/>
                </a:tc>
                <a:extLst>
                  <a:ext uri="{0D108BD9-81ED-4DB2-BD59-A6C34878D82A}">
                    <a16:rowId xmlns:a16="http://schemas.microsoft.com/office/drawing/2014/main" val="2409817330"/>
                  </a:ext>
                </a:extLst>
              </a:tr>
              <a:tr h="431276">
                <a:tc>
                  <a:txBody>
                    <a:bodyPr/>
                    <a:lstStyle/>
                    <a:p>
                      <a:pPr lvl="0"/>
                      <a:r>
                        <a:rPr lang="en-GB" sz="1050">
                          <a:latin typeface="Calibri"/>
                        </a:rPr>
                        <a:t>3/18</a:t>
                      </a:r>
                    </a:p>
                  </a:txBody>
                  <a:tcPr/>
                </a:tc>
                <a:tc>
                  <a:txBody>
                    <a:bodyPr/>
                    <a:lstStyle/>
                    <a:p>
                      <a:pPr lvl="0"/>
                      <a:r>
                        <a:rPr lang="en-GB" sz="1050">
                          <a:latin typeface="Calibri"/>
                        </a:rPr>
                        <a:t>Declaration Identification Number</a:t>
                      </a:r>
                    </a:p>
                  </a:txBody>
                  <a:tcPr/>
                </a:tc>
                <a:tc>
                  <a:txBody>
                    <a:bodyPr/>
                    <a:lstStyle/>
                    <a:p>
                      <a:pPr lvl="0"/>
                      <a:r>
                        <a:rPr lang="en-GB" sz="1050">
                          <a:solidFill>
                            <a:srgbClr val="000000"/>
                          </a:solidFill>
                          <a:latin typeface="Calibri"/>
                        </a:rPr>
                        <a:t>H</a:t>
                      </a:r>
                    </a:p>
                  </a:txBody>
                  <a:tcPr/>
                </a:tc>
                <a:tc>
                  <a:txBody>
                    <a:bodyPr/>
                    <a:lstStyle/>
                    <a:p>
                      <a:pPr marL="0" marR="0" lvl="0" indent="0" algn="l" defTabSz="914400" rtl="0" fontAlgn="auto" hangingPunct="1">
                        <a:lnSpc>
                          <a:spcPct val="100000"/>
                        </a:lnSpc>
                        <a:spcBef>
                          <a:spcPts val="0"/>
                        </a:spcBef>
                        <a:spcAft>
                          <a:spcPts val="0"/>
                        </a:spcAft>
                        <a:buNone/>
                        <a:tabLst/>
                      </a:pPr>
                      <a:r>
                        <a:rPr lang="en-GB" sz="1050" dirty="0">
                          <a:latin typeface="Calibri"/>
                        </a:rPr>
                        <a:t>The </a:t>
                      </a:r>
                      <a:r>
                        <a:rPr lang="en-GB" sz="1050" b="0" i="0" kern="1200" dirty="0">
                          <a:solidFill>
                            <a:srgbClr val="000000"/>
                          </a:solidFill>
                          <a:latin typeface="Calibri"/>
                        </a:rPr>
                        <a:t>EORI should be validated to confirm it is valid. If the EORI is invalid, CDS will reject the declaration and send the trader a DMSREJ notification.</a:t>
                      </a:r>
                      <a:endParaRPr lang="en-GB" sz="1050" dirty="0">
                        <a:latin typeface="Calibri"/>
                      </a:endParaRPr>
                    </a:p>
                  </a:txBody>
                  <a:tcPr/>
                </a:tc>
                <a:extLst>
                  <a:ext uri="{0D108BD9-81ED-4DB2-BD59-A6C34878D82A}">
                    <a16:rowId xmlns:a16="http://schemas.microsoft.com/office/drawing/2014/main" val="1397373998"/>
                  </a:ext>
                </a:extLst>
              </a:tr>
            </a:tbl>
          </a:graphicData>
        </a:graphic>
      </p:graphicFrame>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name="Slide454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E25ED6F2-3086-4CEE-8489-EDD035436B5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069E92D-C518-4F13-BB20-7CA0A67EAFF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AC0DD46-49DF-4547-9497-908078539C2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pic>
        <p:nvPicPr>
          <p:cNvPr id="5" name="Picture 106" descr="57% HMRCppt logo">
            <a:extLst>
              <a:ext uri="{FF2B5EF4-FFF2-40B4-BE49-F238E27FC236}">
                <a16:creationId xmlns:a16="http://schemas.microsoft.com/office/drawing/2014/main" id="{9A7189B1-A474-46AC-90F7-DF9DAE0140F8}"/>
              </a:ext>
            </a:extLst>
          </p:cNvPr>
          <p:cNvPicPr>
            <a:picLocks noChangeAspect="1"/>
          </p:cNvPicPr>
          <p:nvPr/>
        </p:nvPicPr>
        <p:blipFill>
          <a:blip r:embed="rId3"/>
          <a:srcRect/>
          <a:stretch>
            <a:fillRect/>
          </a:stretch>
        </p:blipFill>
        <p:spPr>
          <a:xfrm>
            <a:off x="446099" y="5929033"/>
            <a:ext cx="1030227" cy="633980"/>
          </a:xfrm>
          <a:prstGeom prst="rect">
            <a:avLst/>
          </a:prstGeom>
          <a:noFill/>
          <a:ln cap="flat">
            <a:noFill/>
          </a:ln>
        </p:spPr>
      </p:pic>
      <p:sp>
        <p:nvSpPr>
          <p:cNvPr id="6" name="Slide Number Placeholder 5">
            <a:extLst>
              <a:ext uri="{FF2B5EF4-FFF2-40B4-BE49-F238E27FC236}">
                <a16:creationId xmlns:a16="http://schemas.microsoft.com/office/drawing/2014/main" id="{26D2DE74-CB44-4329-AEA6-3F844AE5681B}"/>
              </a:ext>
            </a:extLst>
          </p:cNvPr>
          <p:cNvSpPr txBox="1"/>
          <p:nvPr/>
        </p:nvSpPr>
        <p:spPr>
          <a:xfrm>
            <a:off x="11637549"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7982E7C-4023-4FD1-B79B-117E28A0105B}" type="slidenum">
              <a:rPr sz="1200"/>
              <a:t>387</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47539E3B-CDCF-4676-8A7E-5E454BF779FC}"/>
              </a:ext>
            </a:extLst>
          </p:cNvPr>
          <p:cNvSpPr/>
          <p:nvPr/>
        </p:nvSpPr>
        <p:spPr>
          <a:xfrm>
            <a:off x="465155" y="807214"/>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B9ECAF16-1CB4-4481-9808-BD2DBB67BD4B}"/>
              </a:ext>
            </a:extLst>
          </p:cNvPr>
          <p:cNvSpPr/>
          <p:nvPr/>
        </p:nvSpPr>
        <p:spPr>
          <a:xfrm>
            <a:off x="446099" y="1071841"/>
            <a:ext cx="11504925" cy="52321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sng" strike="noStrike" kern="1200" cap="none" spc="0" baseline="0">
              <a:solidFill>
                <a:srgbClr val="333333"/>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Mandatory Fields when the BIRDS PC/APC combination is declared</a:t>
            </a:r>
            <a:endParaRPr lang="en-GB" sz="1400" b="0" i="0" u="none" strike="noStrike" kern="1200" cap="none" spc="0" baseline="0">
              <a:solidFill>
                <a:srgbClr val="000000"/>
              </a:solidFill>
              <a:uFillTx/>
              <a:latin typeface="Calibri"/>
            </a:endParaRPr>
          </a:p>
        </p:txBody>
      </p:sp>
      <p:sp>
        <p:nvSpPr>
          <p:cNvPr id="9" name="Rectangle 2">
            <a:extLst>
              <a:ext uri="{FF2B5EF4-FFF2-40B4-BE49-F238E27FC236}">
                <a16:creationId xmlns:a16="http://schemas.microsoft.com/office/drawing/2014/main" id="{45F6CCBF-27B6-4366-B07D-95E9E81883FB}"/>
              </a:ext>
            </a:extLst>
          </p:cNvPr>
          <p:cNvSpPr/>
          <p:nvPr/>
        </p:nvSpPr>
        <p:spPr>
          <a:xfrm>
            <a:off x="3344866" y="2187573"/>
            <a:ext cx="12191996" cy="0"/>
          </a:xfrm>
          <a:prstGeom prst="rect">
            <a:avLst/>
          </a:prstGeom>
          <a:noFill/>
          <a:ln cap="flat">
            <a:noFill/>
            <a:prstDash val="solid"/>
          </a:ln>
        </p:spPr>
        <p:txBody>
          <a:bodyPr vert="horz" wrap="square" lIns="91440" tIns="45720" rIns="91440" bIns="45720" anchor="ctr" anchorCtr="0" compatLnSpc="1">
            <a:spAutoFit/>
          </a:bodyPr>
          <a:lstStyle/>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US" sz="1800" b="0" i="0" u="none" strike="noStrike" kern="1200" cap="none" spc="0" baseline="0">
                <a:solidFill>
                  <a:srgbClr val="000000"/>
                </a:solidFill>
                <a:uFillTx/>
                <a:latin typeface="Times New Roman" pitchFamily="18"/>
                <a:cs typeface="Times New Roman" pitchFamily="18"/>
              </a:rPr>
              <a:t> </a:t>
            </a:r>
            <a:endParaRPr lang="en-US" sz="1800" b="0" i="0" u="none" strike="noStrike" kern="1200" cap="none" spc="0" baseline="0">
              <a:solidFill>
                <a:srgbClr val="000000"/>
              </a:solidFill>
              <a:uFillTx/>
              <a:latin typeface="Arial" pitchFamily="34"/>
            </a:endParaRPr>
          </a:p>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000000"/>
              </a:solidFill>
              <a:uFillTx/>
              <a:latin typeface="Arial" pitchFamily="34"/>
            </a:endParaRPr>
          </a:p>
        </p:txBody>
      </p:sp>
      <p:graphicFrame>
        <p:nvGraphicFramePr>
          <p:cNvPr id="10" name="Table 11">
            <a:extLst>
              <a:ext uri="{FF2B5EF4-FFF2-40B4-BE49-F238E27FC236}">
                <a16:creationId xmlns:a16="http://schemas.microsoft.com/office/drawing/2014/main" id="{02DFC157-CD77-4175-91E1-9FD0DCA8C192}"/>
              </a:ext>
            </a:extLst>
          </p:cNvPr>
          <p:cNvGraphicFramePr>
            <a:graphicFrameLocks noGrp="1"/>
          </p:cNvGraphicFramePr>
          <p:nvPr/>
        </p:nvGraphicFramePr>
        <p:xfrm>
          <a:off x="446099" y="1547704"/>
          <a:ext cx="11210925" cy="5136998"/>
        </p:xfrm>
        <a:graphic>
          <a:graphicData uri="http://schemas.openxmlformats.org/drawingml/2006/table">
            <a:tbl>
              <a:tblPr firstRow="1" bandRow="1">
                <a:effectLst/>
                <a:tableStyleId>{5C22544A-7EE6-4342-B048-85BDC9FD1C3A}</a:tableStyleId>
              </a:tblPr>
              <a:tblGrid>
                <a:gridCol w="1045588">
                  <a:extLst>
                    <a:ext uri="{9D8B030D-6E8A-4147-A177-3AD203B41FA5}">
                      <a16:colId xmlns:a16="http://schemas.microsoft.com/office/drawing/2014/main" val="1986820048"/>
                    </a:ext>
                  </a:extLst>
                </a:gridCol>
                <a:gridCol w="4015404">
                  <a:extLst>
                    <a:ext uri="{9D8B030D-6E8A-4147-A177-3AD203B41FA5}">
                      <a16:colId xmlns:a16="http://schemas.microsoft.com/office/drawing/2014/main" val="3329464397"/>
                    </a:ext>
                  </a:extLst>
                </a:gridCol>
                <a:gridCol w="1493708">
                  <a:extLst>
                    <a:ext uri="{9D8B030D-6E8A-4147-A177-3AD203B41FA5}">
                      <a16:colId xmlns:a16="http://schemas.microsoft.com/office/drawing/2014/main" val="2178673130"/>
                    </a:ext>
                  </a:extLst>
                </a:gridCol>
                <a:gridCol w="4656225">
                  <a:extLst>
                    <a:ext uri="{9D8B030D-6E8A-4147-A177-3AD203B41FA5}">
                      <a16:colId xmlns:a16="http://schemas.microsoft.com/office/drawing/2014/main" val="3947681724"/>
                    </a:ext>
                  </a:extLst>
                </a:gridCol>
              </a:tblGrid>
              <a:tr h="228087">
                <a:tc>
                  <a:txBody>
                    <a:bodyPr/>
                    <a:lstStyle/>
                    <a:p>
                      <a:pPr lvl="0" fontAlgn="auto"/>
                      <a:r>
                        <a:rPr lang="en-GB" sz="1200"/>
                        <a:t>Data Element​</a:t>
                      </a:r>
                      <a:endParaRPr lang="en-GB" sz="1200" b="1">
                        <a:solidFill>
                          <a:srgbClr val="FFFFFF"/>
                        </a:solidFill>
                      </a:endParaRPr>
                    </a:p>
                  </a:txBody>
                  <a:tcPr/>
                </a:tc>
                <a:tc>
                  <a:txBody>
                    <a:bodyPr/>
                    <a:lstStyle/>
                    <a:p>
                      <a:pPr lvl="0" fontAlgn="auto"/>
                      <a:r>
                        <a:rPr lang="en-GB" sz="1200"/>
                        <a:t>Description​</a:t>
                      </a:r>
                      <a:endParaRPr lang="en-GB" sz="1200" b="1">
                        <a:solidFill>
                          <a:srgbClr val="FFFFFF"/>
                        </a:solidFill>
                      </a:endParaRPr>
                    </a:p>
                  </a:txBody>
                  <a:tcPr/>
                </a:tc>
                <a:tc>
                  <a:txBody>
                    <a:bodyPr/>
                    <a:lstStyle/>
                    <a:p>
                      <a:pPr lvl="0" fontAlgn="auto"/>
                      <a:r>
                        <a:rPr lang="en-GB" sz="1200"/>
                        <a:t>Header (H), Item (I)​</a:t>
                      </a:r>
                      <a:endParaRPr lang="en-GB" sz="1200" b="1">
                        <a:solidFill>
                          <a:srgbClr val="FFFFFF"/>
                        </a:solidFill>
                      </a:endParaRPr>
                    </a:p>
                  </a:txBody>
                  <a:tcPr/>
                </a:tc>
                <a:tc>
                  <a:txBody>
                    <a:bodyPr/>
                    <a:lstStyle/>
                    <a:p>
                      <a:pPr lvl="0" fontAlgn="auto"/>
                      <a:r>
                        <a:rPr lang="en-GB" sz="1200"/>
                        <a:t>Notes​</a:t>
                      </a:r>
                      <a:endParaRPr lang="en-GB" sz="1200" b="1">
                        <a:solidFill>
                          <a:srgbClr val="FFFFFF"/>
                        </a:solidFill>
                      </a:endParaRPr>
                    </a:p>
                  </a:txBody>
                  <a:tcPr/>
                </a:tc>
                <a:extLst>
                  <a:ext uri="{0D108BD9-81ED-4DB2-BD59-A6C34878D82A}">
                    <a16:rowId xmlns:a16="http://schemas.microsoft.com/office/drawing/2014/main" val="1133046347"/>
                  </a:ext>
                </a:extLst>
              </a:tr>
              <a:tr h="354805">
                <a:tc>
                  <a:txBody>
                    <a:bodyPr/>
                    <a:lstStyle/>
                    <a:p>
                      <a:pPr lvl="0" fontAlgn="auto"/>
                      <a:r>
                        <a:rPr lang="en-GB" sz="1050"/>
                        <a:t>3/39</a:t>
                      </a:r>
                    </a:p>
                  </a:txBody>
                  <a:tcPr/>
                </a:tc>
                <a:tc>
                  <a:txBody>
                    <a:bodyPr/>
                    <a:lstStyle/>
                    <a:p>
                      <a:pPr lvl="0" fontAlgn="auto"/>
                      <a:r>
                        <a:rPr lang="en-GB" sz="1050"/>
                        <a:t>Holder of the Authorisation Identification Number</a:t>
                      </a:r>
                    </a:p>
                  </a:txBody>
                  <a:tcPr/>
                </a:tc>
                <a:tc>
                  <a:txBody>
                    <a:bodyPr/>
                    <a:lstStyle/>
                    <a:p>
                      <a:pPr lvl="0" fontAlgn="auto"/>
                      <a:r>
                        <a:rPr lang="en-GB" sz="1050"/>
                        <a:t>H</a:t>
                      </a:r>
                    </a:p>
                  </a:txBody>
                  <a:tcPr/>
                </a:tc>
                <a:tc>
                  <a:txBody>
                    <a:bodyPr/>
                    <a:lstStyle/>
                    <a:p>
                      <a:pPr lvl="0" fontAlgn="auto"/>
                      <a:r>
                        <a:rPr lang="en-GB" sz="1050"/>
                        <a:t>Authorised traders will need to declare their EORI number against </a:t>
                      </a:r>
                      <a:r>
                        <a:rPr lang="en-GB" sz="1050" i="0">
                          <a:solidFill>
                            <a:srgbClr val="333333"/>
                          </a:solidFill>
                          <a:latin typeface="Calibri  "/>
                        </a:rPr>
                        <a:t>Authorisation Type Code 'BRD’.</a:t>
                      </a:r>
                      <a:endParaRPr lang="en-GB" sz="1050"/>
                    </a:p>
                  </a:txBody>
                  <a:tcPr/>
                </a:tc>
                <a:extLst>
                  <a:ext uri="{0D108BD9-81ED-4DB2-BD59-A6C34878D82A}">
                    <a16:rowId xmlns:a16="http://schemas.microsoft.com/office/drawing/2014/main" val="921548963"/>
                  </a:ext>
                </a:extLst>
              </a:tr>
              <a:tr h="494187">
                <a:tc>
                  <a:txBody>
                    <a:bodyPr/>
                    <a:lstStyle/>
                    <a:p>
                      <a:pPr lvl="0" fontAlgn="auto"/>
                      <a:r>
                        <a:rPr lang="en-GB" sz="1050"/>
                        <a:t>4/14​</a:t>
                      </a:r>
                    </a:p>
                  </a:txBody>
                  <a:tcPr/>
                </a:tc>
                <a:tc>
                  <a:txBody>
                    <a:bodyPr/>
                    <a:lstStyle/>
                    <a:p>
                      <a:pPr lvl="0" fontAlgn="auto"/>
                      <a:r>
                        <a:rPr lang="en-GB" sz="1050"/>
                        <a:t>Item Price​</a:t>
                      </a:r>
                    </a:p>
                  </a:txBody>
                  <a:tcPr/>
                </a:tc>
                <a:tc>
                  <a:txBody>
                    <a:bodyPr/>
                    <a:lstStyle/>
                    <a:p>
                      <a:pPr lvl="0" fontAlgn="auto"/>
                      <a:r>
                        <a:rPr lang="en-GB" sz="1050"/>
                        <a:t>I​</a:t>
                      </a:r>
                    </a:p>
                  </a:txBody>
                  <a:tcPr/>
                </a:tc>
                <a:tc>
                  <a:txBody>
                    <a:bodyPr/>
                    <a:lstStyle/>
                    <a:p>
                      <a:pPr lvl="0"/>
                      <a:r>
                        <a:rPr lang="en-GB" sz="1050">
                          <a:solidFill>
                            <a:srgbClr val="000000"/>
                          </a:solidFill>
                          <a:latin typeface="Calibri" pitchFamily="34"/>
                          <a:ea typeface="Calibri" pitchFamily="34"/>
                        </a:rPr>
                        <a:t>Enter the value of the most expensive individual consignment being sent to a single importer, using the BIRDS declaration. The maximum value of a consignment sent to a single individual importer, and cleared using BIRDS, cannot exceed £135. The value entered in DE 4/14 must be declared in GBP only.</a:t>
                      </a:r>
                      <a:endParaRPr lang="en-GB" sz="1050"/>
                    </a:p>
                  </a:txBody>
                  <a:tcPr/>
                </a:tc>
                <a:extLst>
                  <a:ext uri="{0D108BD9-81ED-4DB2-BD59-A6C34878D82A}">
                    <a16:rowId xmlns:a16="http://schemas.microsoft.com/office/drawing/2014/main" val="2836990805"/>
                  </a:ext>
                </a:extLst>
              </a:tr>
              <a:tr h="215414">
                <a:tc>
                  <a:txBody>
                    <a:bodyPr/>
                    <a:lstStyle/>
                    <a:p>
                      <a:pPr lvl="0" fontAlgn="auto"/>
                      <a:r>
                        <a:rPr lang="en-GB" sz="1050"/>
                        <a:t>5/14​</a:t>
                      </a:r>
                    </a:p>
                  </a:txBody>
                  <a:tcPr/>
                </a:tc>
                <a:tc>
                  <a:txBody>
                    <a:bodyPr/>
                    <a:lstStyle/>
                    <a:p>
                      <a:pPr lvl="0" fontAlgn="auto"/>
                      <a:r>
                        <a:rPr lang="en-GB" sz="1050"/>
                        <a:t>Country of Dispatch/Export Code​</a:t>
                      </a:r>
                    </a:p>
                  </a:txBody>
                  <a:tcPr/>
                </a:tc>
                <a:tc>
                  <a:txBody>
                    <a:bodyPr/>
                    <a:lstStyle/>
                    <a:p>
                      <a:pPr lvl="0" fontAlgn="auto"/>
                      <a:r>
                        <a:rPr lang="en-GB" sz="1050"/>
                        <a:t>H or I​</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3561560322"/>
                  </a:ext>
                </a:extLst>
              </a:tr>
              <a:tr h="215414">
                <a:tc>
                  <a:txBody>
                    <a:bodyPr/>
                    <a:lstStyle/>
                    <a:p>
                      <a:pPr lvl="0" fontAlgn="auto"/>
                      <a:r>
                        <a:rPr lang="en-GB" sz="1050"/>
                        <a:t>5/23​</a:t>
                      </a:r>
                    </a:p>
                  </a:txBody>
                  <a:tcPr/>
                </a:tc>
                <a:tc>
                  <a:txBody>
                    <a:bodyPr/>
                    <a:lstStyle/>
                    <a:p>
                      <a:pPr lvl="0" fontAlgn="auto"/>
                      <a:r>
                        <a:rPr lang="en-GB" sz="1050"/>
                        <a:t>Location of Goods​</a:t>
                      </a:r>
                    </a:p>
                  </a:txBody>
                  <a:tcPr/>
                </a:tc>
                <a:tc>
                  <a:txBody>
                    <a:bodyPr/>
                    <a:lstStyle/>
                    <a:p>
                      <a:pPr lvl="0" fontAlgn="auto"/>
                      <a:r>
                        <a:rPr lang="en-GB" sz="1050"/>
                        <a:t>H​</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2026542291"/>
                  </a:ext>
                </a:extLst>
              </a:tr>
              <a:tr h="215414">
                <a:tc>
                  <a:txBody>
                    <a:bodyPr/>
                    <a:lstStyle/>
                    <a:p>
                      <a:pPr lvl="0" fontAlgn="auto"/>
                      <a:r>
                        <a:rPr lang="en-GB" sz="1050"/>
                        <a:t>5/27​</a:t>
                      </a:r>
                    </a:p>
                  </a:txBody>
                  <a:tcPr/>
                </a:tc>
                <a:tc>
                  <a:txBody>
                    <a:bodyPr/>
                    <a:lstStyle/>
                    <a:p>
                      <a:pPr lvl="0" fontAlgn="auto"/>
                      <a:r>
                        <a:rPr lang="en-GB" sz="1050"/>
                        <a:t>Supervising Customs Office​</a:t>
                      </a:r>
                    </a:p>
                  </a:txBody>
                  <a:tcPr/>
                </a:tc>
                <a:tc>
                  <a:txBody>
                    <a:bodyPr/>
                    <a:lstStyle/>
                    <a:p>
                      <a:pPr lvl="0" fontAlgn="auto"/>
                      <a:r>
                        <a:rPr lang="en-GB" sz="1050"/>
                        <a:t>H​</a:t>
                      </a:r>
                    </a:p>
                  </a:txBody>
                  <a:tcPr/>
                </a:tc>
                <a:tc>
                  <a:txBody>
                    <a:bodyPr/>
                    <a:lstStyle/>
                    <a:p>
                      <a:pPr lvl="0" fontAlgn="auto"/>
                      <a:r>
                        <a:rPr lang="en-GB" sz="1050"/>
                        <a:t>​</a:t>
                      </a:r>
                      <a:r>
                        <a:rPr lang="en-GB" sz="1050">
                          <a:solidFill>
                            <a:srgbClr val="000000"/>
                          </a:solidFill>
                          <a:latin typeface="Calibri" pitchFamily="34"/>
                          <a:ea typeface="Calibri" pitchFamily="34"/>
                        </a:rPr>
                        <a:t>Enter the code for the supervising office as shown on the BIRDS authorisation. </a:t>
                      </a:r>
                      <a:endParaRPr lang="en-GB" sz="1050">
                        <a:latin typeface="Calibri"/>
                      </a:endParaRPr>
                    </a:p>
                  </a:txBody>
                  <a:tcPr/>
                </a:tc>
                <a:extLst>
                  <a:ext uri="{0D108BD9-81ED-4DB2-BD59-A6C34878D82A}">
                    <a16:rowId xmlns:a16="http://schemas.microsoft.com/office/drawing/2014/main" val="4280985416"/>
                  </a:ext>
                </a:extLst>
              </a:tr>
              <a:tr h="354805">
                <a:tc>
                  <a:txBody>
                    <a:bodyPr/>
                    <a:lstStyle/>
                    <a:p>
                      <a:pPr lvl="0" fontAlgn="auto"/>
                      <a:r>
                        <a:rPr lang="en-GB" sz="1050"/>
                        <a:t>6/5​</a:t>
                      </a:r>
                    </a:p>
                  </a:txBody>
                  <a:tcPr/>
                </a:tc>
                <a:tc>
                  <a:txBody>
                    <a:bodyPr/>
                    <a:lstStyle/>
                    <a:p>
                      <a:pPr lvl="0" fontAlgn="auto"/>
                      <a:r>
                        <a:rPr lang="en-GB" sz="1050"/>
                        <a:t>Gross Mass​</a:t>
                      </a:r>
                    </a:p>
                    <a:p>
                      <a:pPr lvl="0" fontAlgn="auto"/>
                      <a:r>
                        <a:rPr lang="en-GB" sz="1050"/>
                        <a:t>As per existing rules configured for the C21i EIDR NOP​</a:t>
                      </a:r>
                    </a:p>
                  </a:txBody>
                  <a:tcPr/>
                </a:tc>
                <a:tc>
                  <a:txBody>
                    <a:bodyPr/>
                    <a:lstStyle/>
                    <a:p>
                      <a:pPr lvl="0" fontAlgn="auto"/>
                      <a:r>
                        <a:rPr lang="en-GB" sz="1050"/>
                        <a:t>H or I​</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2794319424"/>
                  </a:ext>
                </a:extLst>
              </a:tr>
              <a:tr h="215414">
                <a:tc>
                  <a:txBody>
                    <a:bodyPr/>
                    <a:lstStyle/>
                    <a:p>
                      <a:pPr lvl="0" fontAlgn="auto"/>
                      <a:r>
                        <a:rPr lang="en-GB" sz="1050"/>
                        <a:t>6/8​</a:t>
                      </a:r>
                    </a:p>
                  </a:txBody>
                  <a:tcPr/>
                </a:tc>
                <a:tc>
                  <a:txBody>
                    <a:bodyPr/>
                    <a:lstStyle/>
                    <a:p>
                      <a:pPr lvl="0" fontAlgn="auto"/>
                      <a:r>
                        <a:rPr lang="en-GB" sz="1050"/>
                        <a:t>Description of Goods​</a:t>
                      </a:r>
                    </a:p>
                  </a:txBody>
                  <a:tcPr/>
                </a:tc>
                <a:tc>
                  <a:txBody>
                    <a:bodyPr/>
                    <a:lstStyle/>
                    <a:p>
                      <a:pPr lvl="0" fontAlgn="auto"/>
                      <a:r>
                        <a:rPr lang="en-GB" sz="1050"/>
                        <a:t>I​</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3791531982"/>
                  </a:ext>
                </a:extLst>
              </a:tr>
              <a:tr h="215414">
                <a:tc>
                  <a:txBody>
                    <a:bodyPr/>
                    <a:lstStyle/>
                    <a:p>
                      <a:pPr lvl="0" fontAlgn="auto"/>
                      <a:r>
                        <a:rPr lang="en-GB" sz="1050"/>
                        <a:t>6/9​</a:t>
                      </a:r>
                    </a:p>
                  </a:txBody>
                  <a:tcPr/>
                </a:tc>
                <a:tc>
                  <a:txBody>
                    <a:bodyPr/>
                    <a:lstStyle/>
                    <a:p>
                      <a:pPr lvl="0" fontAlgn="auto"/>
                      <a:r>
                        <a:rPr lang="en-GB" sz="1050"/>
                        <a:t>Type of Packages​</a:t>
                      </a:r>
                    </a:p>
                  </a:txBody>
                  <a:tcPr/>
                </a:tc>
                <a:tc>
                  <a:txBody>
                    <a:bodyPr/>
                    <a:lstStyle/>
                    <a:p>
                      <a:pPr lvl="0" fontAlgn="auto"/>
                      <a:r>
                        <a:rPr lang="en-GB" sz="1050"/>
                        <a:t>I​</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3493379327"/>
                  </a:ext>
                </a:extLst>
              </a:tr>
              <a:tr h="354805">
                <a:tc>
                  <a:txBody>
                    <a:bodyPr/>
                    <a:lstStyle/>
                    <a:p>
                      <a:pPr lvl="0" fontAlgn="auto"/>
                      <a:r>
                        <a:rPr lang="en-GB" sz="1050"/>
                        <a:t>6/10​</a:t>
                      </a:r>
                    </a:p>
                  </a:txBody>
                  <a:tcPr/>
                </a:tc>
                <a:tc>
                  <a:txBody>
                    <a:bodyPr/>
                    <a:lstStyle/>
                    <a:p>
                      <a:pPr lvl="0" fontAlgn="auto"/>
                      <a:r>
                        <a:rPr lang="en-GB" sz="1050"/>
                        <a:t>Number of Packages​</a:t>
                      </a:r>
                    </a:p>
                  </a:txBody>
                  <a:tcPr/>
                </a:tc>
                <a:tc>
                  <a:txBody>
                    <a:bodyPr/>
                    <a:lstStyle/>
                    <a:p>
                      <a:pPr lvl="0" fontAlgn="auto"/>
                      <a:r>
                        <a:rPr lang="en-GB" sz="1050"/>
                        <a:t>I​</a:t>
                      </a:r>
                    </a:p>
                  </a:txBody>
                  <a:tcPr/>
                </a:tc>
                <a:tc>
                  <a:txBody>
                    <a:bodyPr/>
                    <a:lstStyle/>
                    <a:p>
                      <a:pPr marL="0" marR="0" lvl="0" indent="0" algn="l" defTabSz="914400" rtl="0" fontAlgn="auto" hangingPunct="1">
                        <a:lnSpc>
                          <a:spcPct val="100000"/>
                        </a:lnSpc>
                        <a:spcBef>
                          <a:spcPts val="0"/>
                        </a:spcBef>
                        <a:spcAft>
                          <a:spcPts val="0"/>
                        </a:spcAft>
                        <a:buNone/>
                        <a:tabLst/>
                      </a:pPr>
                      <a:r>
                        <a:rPr lang="en-GB" sz="1050">
                          <a:highlight>
                            <a:srgbClr val="FFFF00"/>
                          </a:highlight>
                        </a:rPr>
                        <a:t>​</a:t>
                      </a:r>
                      <a:r>
                        <a:rPr lang="en-GB" sz="1050">
                          <a:solidFill>
                            <a:srgbClr val="000000"/>
                          </a:solidFill>
                          <a:latin typeface="Calibri" pitchFamily="34"/>
                          <a:ea typeface="Calibri" pitchFamily="34"/>
                        </a:rPr>
                        <a:t>This should be completed with the number of packages being declared using BIRDS declaration.</a:t>
                      </a:r>
                      <a:endParaRPr lang="en-GB" sz="1050"/>
                    </a:p>
                  </a:txBody>
                  <a:tcPr/>
                </a:tc>
                <a:extLst>
                  <a:ext uri="{0D108BD9-81ED-4DB2-BD59-A6C34878D82A}">
                    <a16:rowId xmlns:a16="http://schemas.microsoft.com/office/drawing/2014/main" val="1390506080"/>
                  </a:ext>
                </a:extLst>
              </a:tr>
              <a:tr h="215414">
                <a:tc>
                  <a:txBody>
                    <a:bodyPr/>
                    <a:lstStyle/>
                    <a:p>
                      <a:pPr lvl="0" fontAlgn="auto"/>
                      <a:r>
                        <a:rPr lang="en-GB" sz="1050"/>
                        <a:t>6/11​</a:t>
                      </a:r>
                    </a:p>
                  </a:txBody>
                  <a:tcPr/>
                </a:tc>
                <a:tc>
                  <a:txBody>
                    <a:bodyPr/>
                    <a:lstStyle/>
                    <a:p>
                      <a:pPr lvl="0" fontAlgn="auto"/>
                      <a:r>
                        <a:rPr lang="en-GB" sz="1050"/>
                        <a:t>Shipping Marks​</a:t>
                      </a:r>
                    </a:p>
                  </a:txBody>
                  <a:tcPr/>
                </a:tc>
                <a:tc>
                  <a:txBody>
                    <a:bodyPr/>
                    <a:lstStyle/>
                    <a:p>
                      <a:pPr lvl="0" fontAlgn="auto"/>
                      <a:r>
                        <a:rPr lang="en-GB" sz="1050"/>
                        <a:t>I​</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472859476"/>
                  </a:ext>
                </a:extLst>
              </a:tr>
              <a:tr h="633578">
                <a:tc>
                  <a:txBody>
                    <a:bodyPr/>
                    <a:lstStyle/>
                    <a:p>
                      <a:pPr lvl="0" fontAlgn="auto"/>
                      <a:r>
                        <a:rPr lang="en-GB" sz="1050"/>
                        <a:t>6/18​</a:t>
                      </a:r>
                    </a:p>
                  </a:txBody>
                  <a:tcPr/>
                </a:tc>
                <a:tc>
                  <a:txBody>
                    <a:bodyPr/>
                    <a:lstStyle/>
                    <a:p>
                      <a:pPr lvl="0" fontAlgn="auto"/>
                      <a:r>
                        <a:rPr lang="en-GB" sz="1050"/>
                        <a:t>Total Packages​</a:t>
                      </a:r>
                    </a:p>
                  </a:txBody>
                  <a:tcPr/>
                </a:tc>
                <a:tc>
                  <a:txBody>
                    <a:bodyPr/>
                    <a:lstStyle/>
                    <a:p>
                      <a:pPr lvl="0" fontAlgn="auto"/>
                      <a:r>
                        <a:rPr lang="en-GB" sz="1050"/>
                        <a:t>H​</a:t>
                      </a:r>
                    </a:p>
                  </a:txBody>
                  <a:tcPr/>
                </a:tc>
                <a:tc>
                  <a:txBody>
                    <a:bodyPr/>
                    <a:lstStyle/>
                    <a:p>
                      <a:pPr lvl="0"/>
                      <a:r>
                        <a:rPr lang="en-GB" sz="1050">
                          <a:solidFill>
                            <a:srgbClr val="000000"/>
                          </a:solidFill>
                          <a:latin typeface="Calibri" pitchFamily="34"/>
                          <a:ea typeface="Calibri" pitchFamily="34"/>
                        </a:rPr>
                        <a:t>This should be completed with the total number of packages being declared using BIRDS declaration ​​</a:t>
                      </a:r>
                      <a:endParaRPr lang="en-GB" sz="1050">
                        <a:latin typeface="Calibri" pitchFamily="34"/>
                        <a:ea typeface="Calibri" pitchFamily="34"/>
                      </a:endParaRPr>
                    </a:p>
                    <a:p>
                      <a:pPr lvl="0"/>
                      <a:r>
                        <a:rPr lang="en-GB" sz="1050">
                          <a:solidFill>
                            <a:srgbClr val="000000"/>
                          </a:solidFill>
                          <a:latin typeface="Calibri" pitchFamily="34"/>
                          <a:ea typeface="Calibri" pitchFamily="34"/>
                        </a:rPr>
                        <a:t>Note: As a C21 is a single goods item submission this must always match DE 6/10</a:t>
                      </a:r>
                      <a:endParaRPr lang="en-GB" sz="1050"/>
                    </a:p>
                  </a:txBody>
                  <a:tcPr/>
                </a:tc>
                <a:extLst>
                  <a:ext uri="{0D108BD9-81ED-4DB2-BD59-A6C34878D82A}">
                    <a16:rowId xmlns:a16="http://schemas.microsoft.com/office/drawing/2014/main" val="2747731243"/>
                  </a:ext>
                </a:extLst>
              </a:tr>
              <a:tr h="215414">
                <a:tc>
                  <a:txBody>
                    <a:bodyPr/>
                    <a:lstStyle/>
                    <a:p>
                      <a:pPr lvl="0" fontAlgn="auto"/>
                      <a:r>
                        <a:rPr lang="en-GB" sz="1050"/>
                        <a:t>7/2​</a:t>
                      </a:r>
                    </a:p>
                  </a:txBody>
                  <a:tcPr/>
                </a:tc>
                <a:tc>
                  <a:txBody>
                    <a:bodyPr/>
                    <a:lstStyle/>
                    <a:p>
                      <a:pPr lvl="0" fontAlgn="auto"/>
                      <a:r>
                        <a:rPr lang="en-GB" sz="1050"/>
                        <a:t>Container​</a:t>
                      </a:r>
                    </a:p>
                  </a:txBody>
                  <a:tcPr/>
                </a:tc>
                <a:tc>
                  <a:txBody>
                    <a:bodyPr/>
                    <a:lstStyle/>
                    <a:p>
                      <a:pPr lvl="0" fontAlgn="auto"/>
                      <a:r>
                        <a:rPr lang="en-GB" sz="1050"/>
                        <a:t>H​</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2435038897"/>
                  </a:ext>
                </a:extLst>
              </a:tr>
              <a:tr h="215414">
                <a:tc>
                  <a:txBody>
                    <a:bodyPr/>
                    <a:lstStyle/>
                    <a:p>
                      <a:pPr lvl="0" fontAlgn="auto"/>
                      <a:r>
                        <a:rPr lang="en-GB" sz="1050"/>
                        <a:t>7/4​</a:t>
                      </a:r>
                    </a:p>
                  </a:txBody>
                  <a:tcPr/>
                </a:tc>
                <a:tc>
                  <a:txBody>
                    <a:bodyPr/>
                    <a:lstStyle/>
                    <a:p>
                      <a:pPr lvl="0" fontAlgn="auto"/>
                      <a:r>
                        <a:rPr lang="en-GB" sz="1050"/>
                        <a:t>Mode of Transport at Border​</a:t>
                      </a:r>
                    </a:p>
                  </a:txBody>
                  <a:tcPr/>
                </a:tc>
                <a:tc>
                  <a:txBody>
                    <a:bodyPr/>
                    <a:lstStyle/>
                    <a:p>
                      <a:pPr lvl="0" fontAlgn="auto"/>
                      <a:r>
                        <a:rPr lang="en-GB" sz="1050"/>
                        <a:t>H​</a:t>
                      </a:r>
                    </a:p>
                  </a:txBody>
                  <a:tcPr/>
                </a:tc>
                <a:tc>
                  <a:txBody>
                    <a:bodyPr/>
                    <a:lstStyle/>
                    <a:p>
                      <a:pPr lvl="0" fontAlgn="auto"/>
                      <a:r>
                        <a:rPr lang="en-GB" sz="1050"/>
                        <a:t>​</a:t>
                      </a:r>
                      <a:endParaRPr lang="en-GB" sz="1050">
                        <a:latin typeface="Calibri"/>
                      </a:endParaRPr>
                    </a:p>
                  </a:txBody>
                  <a:tcPr/>
                </a:tc>
                <a:extLst>
                  <a:ext uri="{0D108BD9-81ED-4DB2-BD59-A6C34878D82A}">
                    <a16:rowId xmlns:a16="http://schemas.microsoft.com/office/drawing/2014/main" val="1235368479"/>
                  </a:ext>
                </a:extLst>
              </a:tr>
              <a:tr h="215414">
                <a:tc>
                  <a:txBody>
                    <a:bodyPr/>
                    <a:lstStyle/>
                    <a:p>
                      <a:pPr lvl="0" fontAlgn="auto"/>
                      <a:r>
                        <a:rPr lang="en-GB" sz="1050"/>
                        <a:t>7/9​</a:t>
                      </a:r>
                    </a:p>
                  </a:txBody>
                  <a:tcPr/>
                </a:tc>
                <a:tc>
                  <a:txBody>
                    <a:bodyPr/>
                    <a:lstStyle/>
                    <a:p>
                      <a:pPr lvl="0" fontAlgn="auto"/>
                      <a:r>
                        <a:rPr lang="en-GB" sz="1050"/>
                        <a:t>Identity of means of Transport on Arrival​</a:t>
                      </a:r>
                    </a:p>
                  </a:txBody>
                  <a:tcPr/>
                </a:tc>
                <a:tc>
                  <a:txBody>
                    <a:bodyPr/>
                    <a:lstStyle/>
                    <a:p>
                      <a:pPr lvl="0" fontAlgn="auto"/>
                      <a:r>
                        <a:rPr lang="en-GB" sz="1050"/>
                        <a:t>H​</a:t>
                      </a:r>
                    </a:p>
                  </a:txBody>
                  <a:tcPr/>
                </a:tc>
                <a:tc>
                  <a:txBody>
                    <a:bodyPr/>
                    <a:lstStyle/>
                    <a:p>
                      <a:pPr lvl="0" fontAlgn="auto"/>
                      <a:r>
                        <a:rPr lang="en-GB" sz="1050" dirty="0"/>
                        <a:t>​</a:t>
                      </a:r>
                      <a:endParaRPr lang="en-GB" sz="1050" dirty="0">
                        <a:latin typeface="Calibri"/>
                      </a:endParaRPr>
                    </a:p>
                  </a:txBody>
                  <a:tcPr/>
                </a:tc>
                <a:extLst>
                  <a:ext uri="{0D108BD9-81ED-4DB2-BD59-A6C34878D82A}">
                    <a16:rowId xmlns:a16="http://schemas.microsoft.com/office/drawing/2014/main" val="3379745520"/>
                  </a:ext>
                </a:extLst>
              </a:tr>
            </a:tbl>
          </a:graphicData>
        </a:graphic>
      </p:graphicFrame>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name="Slide83884036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CE223FF-0389-4CA4-A3B9-FD4529D0C0A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E2357BB-593E-4149-A589-FF5457D9DF1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F9EB50F1-35B6-4631-8C4E-B943BE910FAB}"/>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589EC7A5-3576-4FC8-AFA0-FD22299706A5}"/>
              </a:ext>
            </a:extLst>
          </p:cNvPr>
          <p:cNvSpPr txBox="1"/>
          <p:nvPr/>
        </p:nvSpPr>
        <p:spPr>
          <a:xfrm>
            <a:off x="11645500"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D570FF3-3733-4852-BDCC-D9526261EDDA}" type="slidenum">
              <a:rPr sz="1200"/>
              <a:t>388</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2C7E6AC8-5FFC-46F2-86A8-F4B12C4E5CE8}"/>
              </a:ext>
            </a:extLst>
          </p:cNvPr>
          <p:cNvSpPr/>
          <p:nvPr/>
        </p:nvSpPr>
        <p:spPr>
          <a:xfrm>
            <a:off x="465155" y="807214"/>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1A726203-B167-48E0-BC30-683AB4DC9823}"/>
              </a:ext>
            </a:extLst>
          </p:cNvPr>
          <p:cNvSpPr/>
          <p:nvPr/>
        </p:nvSpPr>
        <p:spPr>
          <a:xfrm>
            <a:off x="435217" y="1303029"/>
            <a:ext cx="11504925" cy="295465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333333"/>
                </a:solidFill>
                <a:uFillTx/>
                <a:latin typeface="Calibri   "/>
              </a:rPr>
              <a:t>Mandatory Fields when the BIRDS PC/APC combination is declared</a:t>
            </a: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Traders will need to be BIRDS authorised to take up this easement. Traders will be expected to declare their BIRDS authorisation in Authorisation Document Code and Authorisation Number within the relevant sub-fields, Document Code and Document Identifier respectively, of DE 2/3 (Documents Produced, Certificates and authorisations, additional references) at item level.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333333"/>
              </a:solidFill>
              <a:uFillTx/>
              <a:latin typeface="Calibri   "/>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When traders declare the Additional Procedure Code '21V' in DE 1/11, they will need to declare the Authorisation Type Code 'BRD' and a valid EORI number within the respective sub-fields of DE 3/39 (Holder of the authorisation identification no.) at header level.</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333333"/>
              </a:solidFill>
              <a:uFillTx/>
              <a:latin typeface="Calibri" pitchFamily="34"/>
              <a:ea typeface="Calibri" pitchFamily="34"/>
              <a:cs typeface="Times New Roman" pitchFamily="18"/>
            </a:endParaRP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p:txBody>
      </p:sp>
      <p:sp>
        <p:nvSpPr>
          <p:cNvPr id="9" name="Rectangle 2">
            <a:extLst>
              <a:ext uri="{FF2B5EF4-FFF2-40B4-BE49-F238E27FC236}">
                <a16:creationId xmlns:a16="http://schemas.microsoft.com/office/drawing/2014/main" id="{EA4491F1-DE94-4951-A7B8-E551D247D13F}"/>
              </a:ext>
            </a:extLst>
          </p:cNvPr>
          <p:cNvSpPr/>
          <p:nvPr/>
        </p:nvSpPr>
        <p:spPr>
          <a:xfrm>
            <a:off x="3344866" y="2187573"/>
            <a:ext cx="12191996" cy="0"/>
          </a:xfrm>
          <a:prstGeom prst="rect">
            <a:avLst/>
          </a:prstGeom>
          <a:noFill/>
          <a:ln cap="flat">
            <a:noFill/>
            <a:prstDash val="solid"/>
          </a:ln>
        </p:spPr>
        <p:txBody>
          <a:bodyPr vert="horz" wrap="square" lIns="91440" tIns="45720" rIns="91440" bIns="45720" anchor="ctr" anchorCtr="0" compatLnSpc="1">
            <a:spAutoFit/>
          </a:bodyPr>
          <a:lstStyle/>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US" sz="1800" b="0" i="0" u="none" strike="noStrike" kern="1200" cap="none" spc="0" baseline="0">
                <a:solidFill>
                  <a:srgbClr val="000000"/>
                </a:solidFill>
                <a:uFillTx/>
                <a:latin typeface="Times New Roman" pitchFamily="18"/>
                <a:cs typeface="Times New Roman" pitchFamily="18"/>
              </a:rPr>
              <a:t> </a:t>
            </a:r>
            <a:endParaRPr lang="en-US" sz="1800" b="0" i="0" u="none" strike="noStrike" kern="1200" cap="none" spc="0" baseline="0">
              <a:solidFill>
                <a:srgbClr val="000000"/>
              </a:solidFill>
              <a:uFillTx/>
              <a:latin typeface="Arial" pitchFamily="34"/>
            </a:endParaRPr>
          </a:p>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000000"/>
              </a:solidFill>
              <a:uFillTx/>
              <a:latin typeface="Arial" pitchFamily="34"/>
            </a:endParaRPr>
          </a:p>
        </p:txBody>
      </p:sp>
      <p:sp>
        <p:nvSpPr>
          <p:cNvPr id="10" name="Rectangle 11">
            <a:extLst>
              <a:ext uri="{FF2B5EF4-FFF2-40B4-BE49-F238E27FC236}">
                <a16:creationId xmlns:a16="http://schemas.microsoft.com/office/drawing/2014/main" id="{3CD6F61C-CBDF-40D2-A707-E6E03331BD72}"/>
              </a:ext>
            </a:extLst>
          </p:cNvPr>
          <p:cNvSpPr/>
          <p:nvPr/>
        </p:nvSpPr>
        <p:spPr>
          <a:xfrm>
            <a:off x="446099" y="3251377"/>
            <a:ext cx="11179518" cy="267765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Additional Fields </a:t>
            </a:r>
            <a:r>
              <a:rPr lang="en-GB" sz="1400" b="1" i="0" u="sng" strike="noStrike" kern="1200" cap="none" spc="0" baseline="0">
                <a:solidFill>
                  <a:srgbClr val="333333"/>
                </a:solidFill>
                <a:uFillTx/>
                <a:latin typeface="Calibri   "/>
              </a:rPr>
              <a:t>when the BIRDS PC/APC combination is declared</a:t>
            </a:r>
            <a:endParaRPr lang="en-GB" sz="1400" b="1" i="0" u="sng"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Please note the following fields are optional, allowing developers to provide additional declaration details when required: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p:txBody>
      </p:sp>
      <p:graphicFrame>
        <p:nvGraphicFramePr>
          <p:cNvPr id="11" name="Table 12">
            <a:extLst>
              <a:ext uri="{FF2B5EF4-FFF2-40B4-BE49-F238E27FC236}">
                <a16:creationId xmlns:a16="http://schemas.microsoft.com/office/drawing/2014/main" id="{3D2368A9-CE8A-4902-8750-4097EC49AC09}"/>
              </a:ext>
            </a:extLst>
          </p:cNvPr>
          <p:cNvGraphicFramePr>
            <a:graphicFrameLocks noGrp="1"/>
          </p:cNvGraphicFramePr>
          <p:nvPr/>
        </p:nvGraphicFramePr>
        <p:xfrm>
          <a:off x="502179" y="3734473"/>
          <a:ext cx="11280704" cy="2194560"/>
        </p:xfrm>
        <a:graphic>
          <a:graphicData uri="http://schemas.openxmlformats.org/drawingml/2006/table">
            <a:tbl>
              <a:tblPr firstRow="1" bandRow="1">
                <a:effectLst/>
                <a:tableStyleId>{5C22544A-7EE6-4342-B048-85BDC9FD1C3A}</a:tableStyleId>
              </a:tblPr>
              <a:tblGrid>
                <a:gridCol w="1178222">
                  <a:extLst>
                    <a:ext uri="{9D8B030D-6E8A-4147-A177-3AD203B41FA5}">
                      <a16:colId xmlns:a16="http://schemas.microsoft.com/office/drawing/2014/main" val="143085540"/>
                    </a:ext>
                  </a:extLst>
                </a:gridCol>
                <a:gridCol w="8645231">
                  <a:extLst>
                    <a:ext uri="{9D8B030D-6E8A-4147-A177-3AD203B41FA5}">
                      <a16:colId xmlns:a16="http://schemas.microsoft.com/office/drawing/2014/main" val="3620210353"/>
                    </a:ext>
                  </a:extLst>
                </a:gridCol>
                <a:gridCol w="1457251">
                  <a:extLst>
                    <a:ext uri="{9D8B030D-6E8A-4147-A177-3AD203B41FA5}">
                      <a16:colId xmlns:a16="http://schemas.microsoft.com/office/drawing/2014/main" val="751533181"/>
                    </a:ext>
                  </a:extLst>
                </a:gridCol>
              </a:tblGrid>
              <a:tr h="0">
                <a:tc>
                  <a:txBody>
                    <a:bodyPr/>
                    <a:lstStyle/>
                    <a:p>
                      <a:pPr lvl="0"/>
                      <a:r>
                        <a:rPr lang="en-GB" sz="1200"/>
                        <a:t>Data Element</a:t>
                      </a:r>
                    </a:p>
                  </a:txBody>
                  <a:tcPr/>
                </a:tc>
                <a:tc>
                  <a:txBody>
                    <a:bodyPr/>
                    <a:lstStyle/>
                    <a:p>
                      <a:pPr lvl="0"/>
                      <a:r>
                        <a:rPr lang="en-GB" sz="1200"/>
                        <a:t>Description </a:t>
                      </a:r>
                    </a:p>
                  </a:txBody>
                  <a:tcPr/>
                </a:tc>
                <a:tc>
                  <a:txBody>
                    <a:bodyPr/>
                    <a:lstStyle/>
                    <a:p>
                      <a:pPr lvl="0"/>
                      <a:r>
                        <a:rPr lang="en-GB" sz="1200"/>
                        <a:t>Header (H), Item (I)</a:t>
                      </a:r>
                    </a:p>
                  </a:txBody>
                  <a:tcPr/>
                </a:tc>
                <a:extLst>
                  <a:ext uri="{0D108BD9-81ED-4DB2-BD59-A6C34878D82A}">
                    <a16:rowId xmlns:a16="http://schemas.microsoft.com/office/drawing/2014/main" val="1452527008"/>
                  </a:ext>
                </a:extLst>
              </a:tr>
              <a:tr h="0">
                <a:tc>
                  <a:txBody>
                    <a:bodyPr/>
                    <a:lstStyle/>
                    <a:p>
                      <a:pPr lvl="0"/>
                      <a:r>
                        <a:rPr lang="en-GB" sz="1200"/>
                        <a:t>2/2</a:t>
                      </a:r>
                    </a:p>
                  </a:txBody>
                  <a:tcPr/>
                </a:tc>
                <a:tc>
                  <a:txBody>
                    <a:bodyPr/>
                    <a:lstStyle/>
                    <a:p>
                      <a:pPr lvl="0"/>
                      <a:r>
                        <a:rPr lang="en-GB" sz="1200"/>
                        <a:t>Additional Information</a:t>
                      </a:r>
                    </a:p>
                  </a:txBody>
                  <a:tcPr/>
                </a:tc>
                <a:tc>
                  <a:txBody>
                    <a:bodyPr/>
                    <a:lstStyle/>
                    <a:p>
                      <a:pPr lvl="0"/>
                      <a:r>
                        <a:rPr lang="en-GB" sz="1200"/>
                        <a:t>I</a:t>
                      </a:r>
                    </a:p>
                  </a:txBody>
                  <a:tcPr/>
                </a:tc>
                <a:extLst>
                  <a:ext uri="{0D108BD9-81ED-4DB2-BD59-A6C34878D82A}">
                    <a16:rowId xmlns:a16="http://schemas.microsoft.com/office/drawing/2014/main" val="3709336987"/>
                  </a:ext>
                </a:extLst>
              </a:tr>
              <a:tr h="0">
                <a:tc>
                  <a:txBody>
                    <a:bodyPr/>
                    <a:lstStyle/>
                    <a:p>
                      <a:pPr lvl="0"/>
                      <a:r>
                        <a:rPr lang="en-GB" sz="1200"/>
                        <a:t>2/4</a:t>
                      </a:r>
                    </a:p>
                  </a:txBody>
                  <a:tcPr/>
                </a:tc>
                <a:tc>
                  <a:txBody>
                    <a:bodyPr/>
                    <a:lstStyle/>
                    <a:p>
                      <a:pPr lvl="0"/>
                      <a:r>
                        <a:rPr lang="en-GB" sz="1200"/>
                        <a:t>Reference number/UCR </a:t>
                      </a:r>
                    </a:p>
                  </a:txBody>
                  <a:tcPr/>
                </a:tc>
                <a:tc>
                  <a:txBody>
                    <a:bodyPr/>
                    <a:lstStyle/>
                    <a:p>
                      <a:pPr lvl="0"/>
                      <a:r>
                        <a:rPr lang="en-GB" sz="1200"/>
                        <a:t>H</a:t>
                      </a:r>
                    </a:p>
                  </a:txBody>
                  <a:tcPr/>
                </a:tc>
                <a:extLst>
                  <a:ext uri="{0D108BD9-81ED-4DB2-BD59-A6C34878D82A}">
                    <a16:rowId xmlns:a16="http://schemas.microsoft.com/office/drawing/2014/main" val="2541048021"/>
                  </a:ext>
                </a:extLst>
              </a:tr>
              <a:tr h="0">
                <a:tc>
                  <a:txBody>
                    <a:bodyPr/>
                    <a:lstStyle/>
                    <a:p>
                      <a:pPr lvl="0"/>
                      <a:r>
                        <a:rPr lang="en-GB" sz="1200"/>
                        <a:t>2/7</a:t>
                      </a:r>
                    </a:p>
                  </a:txBody>
                  <a:tcPr/>
                </a:tc>
                <a:tc>
                  <a:txBody>
                    <a:bodyPr/>
                    <a:lstStyle/>
                    <a:p>
                      <a:pPr lvl="0"/>
                      <a:r>
                        <a:rPr lang="en-GB" sz="1200"/>
                        <a:t>Identification of Warehouse</a:t>
                      </a:r>
                    </a:p>
                  </a:txBody>
                  <a:tcPr/>
                </a:tc>
                <a:tc>
                  <a:txBody>
                    <a:bodyPr/>
                    <a:lstStyle/>
                    <a:p>
                      <a:pPr lvl="0"/>
                      <a:r>
                        <a:rPr lang="en-GB" sz="1200"/>
                        <a:t>H</a:t>
                      </a:r>
                    </a:p>
                  </a:txBody>
                  <a:tcPr/>
                </a:tc>
                <a:extLst>
                  <a:ext uri="{0D108BD9-81ED-4DB2-BD59-A6C34878D82A}">
                    <a16:rowId xmlns:a16="http://schemas.microsoft.com/office/drawing/2014/main" val="4202707927"/>
                  </a:ext>
                </a:extLst>
              </a:tr>
              <a:tr h="0">
                <a:tc>
                  <a:txBody>
                    <a:bodyPr/>
                    <a:lstStyle/>
                    <a:p>
                      <a:pPr lvl="0"/>
                      <a:r>
                        <a:rPr lang="en-GB" sz="1200"/>
                        <a:t>3/20</a:t>
                      </a:r>
                    </a:p>
                  </a:txBody>
                  <a:tcPr/>
                </a:tc>
                <a:tc>
                  <a:txBody>
                    <a:bodyPr/>
                    <a:lstStyle/>
                    <a:p>
                      <a:pPr lvl="0"/>
                      <a:r>
                        <a:rPr lang="en-GB" sz="1200"/>
                        <a:t>Representative Identification Number</a:t>
                      </a:r>
                    </a:p>
                  </a:txBody>
                  <a:tcPr/>
                </a:tc>
                <a:tc>
                  <a:txBody>
                    <a:bodyPr/>
                    <a:lstStyle/>
                    <a:p>
                      <a:pPr lvl="0"/>
                      <a:r>
                        <a:rPr lang="en-GB" sz="1200"/>
                        <a:t>H</a:t>
                      </a:r>
                    </a:p>
                  </a:txBody>
                  <a:tcPr/>
                </a:tc>
                <a:extLst>
                  <a:ext uri="{0D108BD9-81ED-4DB2-BD59-A6C34878D82A}">
                    <a16:rowId xmlns:a16="http://schemas.microsoft.com/office/drawing/2014/main" val="1737733429"/>
                  </a:ext>
                </a:extLst>
              </a:tr>
              <a:tr h="0">
                <a:tc>
                  <a:txBody>
                    <a:bodyPr/>
                    <a:lstStyle/>
                    <a:p>
                      <a:pPr lvl="0"/>
                      <a:r>
                        <a:rPr lang="en-GB" sz="1200"/>
                        <a:t>3/21</a:t>
                      </a:r>
                    </a:p>
                  </a:txBody>
                  <a:tcPr/>
                </a:tc>
                <a:tc>
                  <a:txBody>
                    <a:bodyPr/>
                    <a:lstStyle/>
                    <a:p>
                      <a:pPr lvl="0"/>
                      <a:r>
                        <a:rPr lang="en-GB" sz="1200"/>
                        <a:t>Representative Status Code</a:t>
                      </a:r>
                    </a:p>
                  </a:txBody>
                  <a:tcPr/>
                </a:tc>
                <a:tc>
                  <a:txBody>
                    <a:bodyPr/>
                    <a:lstStyle/>
                    <a:p>
                      <a:pPr lvl="0"/>
                      <a:r>
                        <a:rPr lang="en-GB" sz="1200"/>
                        <a:t>H</a:t>
                      </a:r>
                    </a:p>
                  </a:txBody>
                  <a:tcPr/>
                </a:tc>
                <a:extLst>
                  <a:ext uri="{0D108BD9-81ED-4DB2-BD59-A6C34878D82A}">
                    <a16:rowId xmlns:a16="http://schemas.microsoft.com/office/drawing/2014/main" val="1414087726"/>
                  </a:ext>
                </a:extLst>
              </a:tr>
              <a:tr h="0">
                <a:tc>
                  <a:txBody>
                    <a:bodyPr/>
                    <a:lstStyle/>
                    <a:p>
                      <a:pPr lvl="0"/>
                      <a:r>
                        <a:rPr lang="en-GB" sz="1200"/>
                        <a:t>6/1</a:t>
                      </a:r>
                    </a:p>
                  </a:txBody>
                  <a:tcPr/>
                </a:tc>
                <a:tc>
                  <a:txBody>
                    <a:bodyPr/>
                    <a:lstStyle/>
                    <a:p>
                      <a:pPr lvl="0"/>
                      <a:r>
                        <a:rPr lang="en-GB" sz="1200"/>
                        <a:t>Net Mass</a:t>
                      </a:r>
                    </a:p>
                  </a:txBody>
                  <a:tcPr/>
                </a:tc>
                <a:tc>
                  <a:txBody>
                    <a:bodyPr/>
                    <a:lstStyle/>
                    <a:p>
                      <a:pPr lvl="0"/>
                      <a:r>
                        <a:rPr lang="en-GB" sz="1200"/>
                        <a:t>I</a:t>
                      </a:r>
                    </a:p>
                  </a:txBody>
                  <a:tcPr/>
                </a:tc>
                <a:extLst>
                  <a:ext uri="{0D108BD9-81ED-4DB2-BD59-A6C34878D82A}">
                    <a16:rowId xmlns:a16="http://schemas.microsoft.com/office/drawing/2014/main" val="1442932789"/>
                  </a:ext>
                </a:extLst>
              </a:tr>
              <a:tr h="0">
                <a:tc>
                  <a:txBody>
                    <a:bodyPr/>
                    <a:lstStyle/>
                    <a:p>
                      <a:pPr lvl="0"/>
                      <a:r>
                        <a:rPr lang="en-GB" sz="1200"/>
                        <a:t>7/10</a:t>
                      </a:r>
                    </a:p>
                  </a:txBody>
                  <a:tcPr/>
                </a:tc>
                <a:tc>
                  <a:txBody>
                    <a:bodyPr/>
                    <a:lstStyle/>
                    <a:p>
                      <a:pPr lvl="0"/>
                      <a:r>
                        <a:rPr lang="en-GB" sz="1200"/>
                        <a:t>Container Identification Number</a:t>
                      </a:r>
                    </a:p>
                  </a:txBody>
                  <a:tcPr/>
                </a:tc>
                <a:tc>
                  <a:txBody>
                    <a:bodyPr/>
                    <a:lstStyle/>
                    <a:p>
                      <a:pPr lvl="0"/>
                      <a:r>
                        <a:rPr lang="en-GB" sz="1200" dirty="0"/>
                        <a:t>H or I</a:t>
                      </a:r>
                    </a:p>
                  </a:txBody>
                  <a:tcPr/>
                </a:tc>
                <a:extLst>
                  <a:ext uri="{0D108BD9-81ED-4DB2-BD59-A6C34878D82A}">
                    <a16:rowId xmlns:a16="http://schemas.microsoft.com/office/drawing/2014/main" val="1198976904"/>
                  </a:ext>
                </a:extLst>
              </a:tr>
            </a:tbl>
          </a:graphicData>
        </a:graphic>
      </p:graphicFrame>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name="Slide83884036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7030C864-36B8-4B78-9757-55B195E8E08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6D8EF2E-7D2F-4998-B9E1-A729DC624BA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4275F33-8C98-4EA5-BE3C-FA515A4AAD93}"/>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42D1939C-D23E-4EF4-8E0F-FD7ED9796463}"/>
              </a:ext>
            </a:extLst>
          </p:cNvPr>
          <p:cNvSpPr txBox="1"/>
          <p:nvPr/>
        </p:nvSpPr>
        <p:spPr>
          <a:xfrm>
            <a:off x="11661403"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9A9162A-0417-42C9-8A9C-70B017B1C9A7}" type="slidenum">
              <a:rPr sz="1200"/>
              <a:t>389</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54A9AB78-4580-473A-955B-F00C701A7465}"/>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TextBox 13">
            <a:extLst>
              <a:ext uri="{FF2B5EF4-FFF2-40B4-BE49-F238E27FC236}">
                <a16:creationId xmlns:a16="http://schemas.microsoft.com/office/drawing/2014/main" id="{02CF6D84-E392-4398-907E-5260C634327C}"/>
              </a:ext>
            </a:extLst>
          </p:cNvPr>
          <p:cNvSpPr txBox="1"/>
          <p:nvPr/>
        </p:nvSpPr>
        <p:spPr>
          <a:xfrm>
            <a:off x="446099" y="1341781"/>
            <a:ext cx="11362873" cy="160043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
              </a:rPr>
              <a:t>Inventory Linking</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
              </a:rPr>
              <a:t>CDS will allow BIRDS declarations to be processed via </a:t>
            </a:r>
            <a:r>
              <a:rPr lang="en-GB" sz="1400" b="0" i="0" u="none" strike="noStrike" kern="1200" cap="none" spc="0" baseline="0">
                <a:solidFill>
                  <a:srgbClr val="333333"/>
                </a:solidFill>
                <a:uFillTx/>
                <a:latin typeface="Calibri   "/>
              </a:rPr>
              <a:t>Inventory Linking when the following is entered in the sub-fields of D.E. 2/1 (Simplified declaration/Previous documents) at header level:</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Document Category - '</a:t>
            </a:r>
            <a:r>
              <a:rPr lang="en-GB" sz="1400" b="1" i="0" u="none" strike="noStrike" kern="1200" cap="none" spc="0" baseline="0">
                <a:solidFill>
                  <a:srgbClr val="333333"/>
                </a:solidFill>
                <a:uFillTx/>
                <a:latin typeface="Calibri   "/>
              </a:rPr>
              <a:t>Z</a:t>
            </a:r>
            <a:r>
              <a:rPr lang="en-GB" sz="1400" b="0" i="0" u="none" strike="noStrike" kern="1200" cap="none" spc="0" baseline="0">
                <a:solidFill>
                  <a:srgbClr val="333333"/>
                </a:solidFill>
                <a:uFillTx/>
                <a:latin typeface="Calibri   "/>
              </a:rPr>
              <a:t>' to indicate previous document. </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Previous Document Type - MCR to indicate Master Unique Consignment Reference (MUCR)</a:t>
            </a:r>
          </a:p>
          <a:p>
            <a:pPr marL="1200150" marR="0" lvl="2" indent="-2857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333333"/>
                </a:solidFill>
                <a:uFillTx/>
                <a:latin typeface="Calibri   "/>
              </a:rPr>
              <a:t>Previous Document Reference - the MCR reference number</a:t>
            </a:r>
            <a:endParaRPr lang="en-GB" sz="1400" b="1" i="0" u="none" strike="noStrike" kern="1200" cap="none" spc="0" baseline="0">
              <a:solidFill>
                <a:srgbClr val="333333"/>
              </a:solidFill>
              <a:uFillTx/>
              <a:latin typeface="Calibri   "/>
            </a:endParaRP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
            </a:endParaRPr>
          </a:p>
        </p:txBody>
      </p:sp>
      <p:grpSp>
        <p:nvGrpSpPr>
          <p:cNvPr id="9" name="Group 9">
            <a:extLst>
              <a:ext uri="{FF2B5EF4-FFF2-40B4-BE49-F238E27FC236}">
                <a16:creationId xmlns:a16="http://schemas.microsoft.com/office/drawing/2014/main" id="{D53D6DFB-4589-4C35-8A92-FE4D6E7B8CA0}"/>
              </a:ext>
            </a:extLst>
          </p:cNvPr>
          <p:cNvGrpSpPr/>
          <p:nvPr/>
        </p:nvGrpSpPr>
        <p:grpSpPr>
          <a:xfrm>
            <a:off x="465155" y="2852324"/>
            <a:ext cx="11061066" cy="962936"/>
            <a:chOff x="465155" y="2852324"/>
            <a:chExt cx="11061066" cy="962936"/>
          </a:xfrm>
        </p:grpSpPr>
        <p:sp>
          <p:nvSpPr>
            <p:cNvPr id="10" name="Rectangle 10">
              <a:extLst>
                <a:ext uri="{FF2B5EF4-FFF2-40B4-BE49-F238E27FC236}">
                  <a16:creationId xmlns:a16="http://schemas.microsoft.com/office/drawing/2014/main" id="{3F6EDC8F-86FC-4C49-B3B6-38D6424DC304}"/>
                </a:ext>
              </a:extLst>
            </p:cNvPr>
            <p:cNvSpPr/>
            <p:nvPr/>
          </p:nvSpPr>
          <p:spPr>
            <a:xfrm>
              <a:off x="969931" y="2852324"/>
              <a:ext cx="10556290" cy="962936"/>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TT_IM72a - </a:t>
              </a:r>
              <a:r>
                <a:rPr lang="en-GB" sz="1100" b="0" i="0" u="none" strike="noStrike" kern="1200" cap="none" spc="0" baseline="0">
                  <a:solidFill>
                    <a:srgbClr val="000000"/>
                  </a:solidFill>
                  <a:uFillTx/>
                  <a:latin typeface="Calibri"/>
                </a:rPr>
                <a:t>Imports frontier EIDR declaration from JE to GB for multiple consignments of low value goods items.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TT_IM73a - </a:t>
              </a:r>
              <a:r>
                <a:rPr lang="en-GB" sz="1100" b="0" i="0" u="none" strike="noStrike" kern="1200" cap="none" spc="0" baseline="0">
                  <a:solidFill>
                    <a:srgbClr val="000000"/>
                  </a:solidFill>
                  <a:uFillTx/>
                  <a:latin typeface="Calibri"/>
                </a:rPr>
                <a:t>Imports frontier EIDR declaration with inventory linking from RoW to GB for multiple consignments of low value goods items.</a:t>
              </a:r>
            </a:p>
          </p:txBody>
        </p:sp>
        <p:sp>
          <p:nvSpPr>
            <p:cNvPr id="11" name="Rectangle 11">
              <a:extLst>
                <a:ext uri="{FF2B5EF4-FFF2-40B4-BE49-F238E27FC236}">
                  <a16:creationId xmlns:a16="http://schemas.microsoft.com/office/drawing/2014/main" id="{0B4229D9-1690-47D4-BA72-1B93579D1252}"/>
                </a:ext>
              </a:extLst>
            </p:cNvPr>
            <p:cNvSpPr/>
            <p:nvPr/>
          </p:nvSpPr>
          <p:spPr>
            <a:xfrm>
              <a:off x="465155" y="2852324"/>
              <a:ext cx="504785" cy="962936"/>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FFFFFF"/>
                  </a:solidFill>
                  <a:uFillTx/>
                  <a:latin typeface="Calibri"/>
                </a:rPr>
                <a:t>XML Samples</a:t>
              </a:r>
            </a:p>
          </p:txBody>
        </p:sp>
      </p:grpSp>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name="Slide838840362">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3DD5482-55DA-4043-807F-0471BEC96E63}"/>
              </a:ext>
            </a:extLst>
          </p:cNvPr>
          <p:cNvSpPr/>
          <p:nvPr/>
        </p:nvSpPr>
        <p:spPr>
          <a:xfrm>
            <a:off x="306698" y="1370283"/>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3DC9C106-DF6F-4A62-A774-0510DEA62AF7}"/>
              </a:ext>
            </a:extLst>
          </p:cNvPr>
          <p:cNvSpPr/>
          <p:nvPr/>
        </p:nvSpPr>
        <p:spPr>
          <a:xfrm>
            <a:off x="217663" y="929615"/>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1D20713C-E051-4271-931A-1CCFCDC31A67}"/>
              </a:ext>
            </a:extLst>
          </p:cNvPr>
          <p:cNvGraphicFramePr>
            <a:graphicFrameLocks noGrp="1"/>
          </p:cNvGraphicFramePr>
          <p:nvPr/>
        </p:nvGraphicFramePr>
        <p:xfrm>
          <a:off x="328964" y="1877290"/>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2661627760"/>
                    </a:ext>
                  </a:extLst>
                </a:gridCol>
              </a:tblGrid>
              <a:tr h="220434">
                <a:tc>
                  <a:txBody>
                    <a:bodyPr/>
                    <a:lstStyle/>
                    <a:p>
                      <a:pPr lvl="0" algn="ctr"/>
                      <a:r>
                        <a:rPr lang="en-GB" sz="1200"/>
                        <a:t>TTM16.1 (CDS 3.4.1)</a:t>
                      </a:r>
                    </a:p>
                  </a:txBody>
                  <a:tcPr>
                    <a:solidFill>
                      <a:srgbClr val="595959"/>
                    </a:solidFill>
                  </a:tcPr>
                </a:tc>
                <a:extLst>
                  <a:ext uri="{0D108BD9-81ED-4DB2-BD59-A6C34878D82A}">
                    <a16:rowId xmlns:a16="http://schemas.microsoft.com/office/drawing/2014/main" val="2774957450"/>
                  </a:ext>
                </a:extLst>
              </a:tr>
              <a:tr h="261975">
                <a:tc>
                  <a:txBody>
                    <a:bodyPr/>
                    <a:lstStyle/>
                    <a:p>
                      <a:pPr lvl="0" algn="ctr"/>
                      <a:r>
                        <a:rPr lang="en-GB" sz="1200" b="1" dirty="0">
                          <a:solidFill>
                            <a:srgbClr val="000000"/>
                          </a:solidFill>
                        </a:rPr>
                        <a:t>TT: </a:t>
                      </a:r>
                      <a:r>
                        <a:rPr lang="en-GB" sz="1200" b="0" dirty="0">
                          <a:solidFill>
                            <a:srgbClr val="000000"/>
                          </a:solidFill>
                        </a:rPr>
                        <a:t>07/10/2021   </a:t>
                      </a:r>
                      <a:r>
                        <a:rPr lang="en-GB" sz="1200" b="1" dirty="0">
                          <a:solidFill>
                            <a:srgbClr val="000000"/>
                          </a:solidFill>
                        </a:rPr>
                        <a:t>TDR: </a:t>
                      </a:r>
                      <a:r>
                        <a:rPr lang="en-GB" sz="1200" b="0" dirty="0">
                          <a:solidFill>
                            <a:srgbClr val="000000"/>
                          </a:solidFill>
                        </a:rPr>
                        <a:t>19/10/2021   </a:t>
                      </a:r>
                      <a:r>
                        <a:rPr lang="en-GB" sz="1200" b="1" dirty="0">
                          <a:solidFill>
                            <a:srgbClr val="000000"/>
                          </a:solidFill>
                        </a:rPr>
                        <a:t>Live: </a:t>
                      </a:r>
                      <a:r>
                        <a:rPr lang="en-GB" sz="1200" b="0" dirty="0">
                          <a:solidFill>
                            <a:srgbClr val="000000"/>
                          </a:solidFill>
                        </a:rPr>
                        <a:t>16/10/2021</a:t>
                      </a:r>
                    </a:p>
                  </a:txBody>
                  <a:tcPr>
                    <a:solidFill>
                      <a:srgbClr val="E7E6E6"/>
                    </a:solidFill>
                  </a:tcPr>
                </a:tc>
                <a:extLst>
                  <a:ext uri="{0D108BD9-81ED-4DB2-BD59-A6C34878D82A}">
                    <a16:rowId xmlns:a16="http://schemas.microsoft.com/office/drawing/2014/main" val="228159719"/>
                  </a:ext>
                </a:extLst>
              </a:tr>
            </a:tbl>
          </a:graphicData>
        </a:graphic>
      </p:graphicFrame>
      <p:cxnSp>
        <p:nvCxnSpPr>
          <p:cNvPr id="6" name="Straight Connector 11">
            <a:extLst>
              <a:ext uri="{FF2B5EF4-FFF2-40B4-BE49-F238E27FC236}">
                <a16:creationId xmlns:a16="http://schemas.microsoft.com/office/drawing/2014/main" id="{D51F1B1F-7BF9-4255-9B3F-81B3D900064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A8BD75DF-0754-4ED7-AF4D-5F5E17C3814E}"/>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0A545F29-EAAA-4167-BF94-4FFAC6EF8138}"/>
              </a:ext>
            </a:extLst>
          </p:cNvPr>
          <p:cNvSpPr/>
          <p:nvPr/>
        </p:nvSpPr>
        <p:spPr>
          <a:xfrm>
            <a:off x="217663" y="1830098"/>
            <a:ext cx="11397328" cy="1901695"/>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F2C56D59-11A0-4643-8A3E-2EFEFCF06859}"/>
              </a:ext>
            </a:extLst>
          </p:cNvPr>
          <p:cNvGrpSpPr/>
          <p:nvPr/>
        </p:nvGrpSpPr>
        <p:grpSpPr>
          <a:xfrm>
            <a:off x="751938" y="1385645"/>
            <a:ext cx="2801739" cy="276999"/>
            <a:chOff x="751938" y="1385645"/>
            <a:chExt cx="2801739" cy="276999"/>
          </a:xfrm>
        </p:grpSpPr>
        <p:sp>
          <p:nvSpPr>
            <p:cNvPr id="10" name="TextBox 7">
              <a:extLst>
                <a:ext uri="{FF2B5EF4-FFF2-40B4-BE49-F238E27FC236}">
                  <a16:creationId xmlns:a16="http://schemas.microsoft.com/office/drawing/2014/main" id="{4BB7F9A1-650E-4262-BEE1-98DA14C4D8FE}"/>
                </a:ext>
              </a:extLst>
            </p:cNvPr>
            <p:cNvSpPr txBox="1"/>
            <p:nvPr/>
          </p:nvSpPr>
          <p:spPr>
            <a:xfrm>
              <a:off x="751938" y="1385645"/>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539252B1-3F18-42C5-959B-54C3237BE859}"/>
                </a:ext>
              </a:extLst>
            </p:cNvPr>
            <p:cNvSpPr/>
            <p:nvPr/>
          </p:nvSpPr>
          <p:spPr>
            <a:xfrm>
              <a:off x="799011" y="145062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52A99E2E-D24F-43CC-B2E9-91BF6CCCD1EF}"/>
              </a:ext>
            </a:extLst>
          </p:cNvPr>
          <p:cNvGraphicFramePr>
            <a:graphicFrameLocks noGrp="1"/>
          </p:cNvGraphicFramePr>
          <p:nvPr/>
        </p:nvGraphicFramePr>
        <p:xfrm>
          <a:off x="328964" y="2371596"/>
          <a:ext cx="11213807" cy="128016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3779061303"/>
                    </a:ext>
                  </a:extLst>
                </a:gridCol>
                <a:gridCol w="2877205">
                  <a:extLst>
                    <a:ext uri="{9D8B030D-6E8A-4147-A177-3AD203B41FA5}">
                      <a16:colId xmlns:a16="http://schemas.microsoft.com/office/drawing/2014/main" val="1752900225"/>
                    </a:ext>
                  </a:extLst>
                </a:gridCol>
                <a:gridCol w="2877205">
                  <a:extLst>
                    <a:ext uri="{9D8B030D-6E8A-4147-A177-3AD203B41FA5}">
                      <a16:colId xmlns:a16="http://schemas.microsoft.com/office/drawing/2014/main" val="2657294004"/>
                    </a:ext>
                  </a:extLst>
                </a:gridCol>
                <a:gridCol w="2877205">
                  <a:extLst>
                    <a:ext uri="{9D8B030D-6E8A-4147-A177-3AD203B41FA5}">
                      <a16:colId xmlns:a16="http://schemas.microsoft.com/office/drawing/2014/main" val="1221242690"/>
                    </a:ext>
                  </a:extLst>
                </a:gridCol>
              </a:tblGrid>
              <a:tr h="34439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3" action="ppaction://hlinksldjump"/>
                        </a:rPr>
                        <a:t>Removal of Low Value Bulking Imports (LVBI) for NI Imports</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pP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rtl="0" fontAlgn="auto" hangingPunct="1">
                        <a:lnSpc>
                          <a:spcPct val="100000"/>
                        </a:lnSpc>
                        <a:spcBef>
                          <a:spcPts val="0"/>
                        </a:spcBef>
                        <a:spcAft>
                          <a:spcPts val="0"/>
                        </a:spcAft>
                        <a:buSzPct val="100000"/>
                        <a:buFont typeface="Arial" pitchFamily="34"/>
                        <a:buChar char="•"/>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216501723"/>
                  </a:ext>
                </a:extLst>
              </a:tr>
              <a:tr h="403067">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hlinkClick r:id="rId4" action="ppaction://hlinksldjump"/>
                        </a:rPr>
                        <a:t>Raise a Query: Systems Notification Message  </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pP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rtl="0">
                        <a:lnSpc>
                          <a:spcPct val="100000"/>
                        </a:lnSpc>
                        <a:spcBef>
                          <a:spcPts val="0"/>
                        </a:spcBef>
                        <a:spcAft>
                          <a:spcPts val="0"/>
                        </a:spcAft>
                        <a:buNone/>
                      </a:pPr>
                      <a:endParaRPr lang="en-GB" sz="1200" b="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05559296"/>
                  </a:ext>
                </a:extLst>
              </a:tr>
            </a:tbl>
          </a:graphicData>
        </a:graphic>
      </p:graphicFrame>
      <p:grpSp>
        <p:nvGrpSpPr>
          <p:cNvPr id="13" name="Group 4">
            <a:extLst>
              <a:ext uri="{FF2B5EF4-FFF2-40B4-BE49-F238E27FC236}">
                <a16:creationId xmlns:a16="http://schemas.microsoft.com/office/drawing/2014/main" id="{FFD9685D-66CC-44B9-9C0E-106C43570793}"/>
              </a:ext>
            </a:extLst>
          </p:cNvPr>
          <p:cNvGrpSpPr/>
          <p:nvPr/>
        </p:nvGrpSpPr>
        <p:grpSpPr>
          <a:xfrm>
            <a:off x="2517279" y="1393911"/>
            <a:ext cx="3199302" cy="276999"/>
            <a:chOff x="2517279" y="1393911"/>
            <a:chExt cx="3199302" cy="276999"/>
          </a:xfrm>
        </p:grpSpPr>
        <p:sp>
          <p:nvSpPr>
            <p:cNvPr id="14" name="TextBox 7">
              <a:extLst>
                <a:ext uri="{FF2B5EF4-FFF2-40B4-BE49-F238E27FC236}">
                  <a16:creationId xmlns:a16="http://schemas.microsoft.com/office/drawing/2014/main" id="{A6161A5E-0A27-4FA9-994D-BAADEBE6824C}"/>
                </a:ext>
              </a:extLst>
            </p:cNvPr>
            <p:cNvSpPr txBox="1"/>
            <p:nvPr/>
          </p:nvSpPr>
          <p:spPr>
            <a:xfrm>
              <a:off x="2517279" y="1393911"/>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47A7885A-2141-4D5B-ADCF-4EB167453983}"/>
                </a:ext>
              </a:extLst>
            </p:cNvPr>
            <p:cNvSpPr/>
            <p:nvPr/>
          </p:nvSpPr>
          <p:spPr>
            <a:xfrm>
              <a:off x="2542854" y="146227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29D8094F-0E27-4E44-98AD-87AE50167018}"/>
              </a:ext>
            </a:extLst>
          </p:cNvPr>
          <p:cNvSpPr/>
          <p:nvPr/>
        </p:nvSpPr>
        <p:spPr>
          <a:xfrm>
            <a:off x="306698" y="1366799"/>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2F3CB5C8-82DB-4662-95C6-959B419E8AAB}"/>
              </a:ext>
            </a:extLst>
          </p:cNvPr>
          <p:cNvGrpSpPr/>
          <p:nvPr/>
        </p:nvGrpSpPr>
        <p:grpSpPr>
          <a:xfrm>
            <a:off x="5742157" y="1393371"/>
            <a:ext cx="4848834" cy="276999"/>
            <a:chOff x="5742157" y="1393371"/>
            <a:chExt cx="4848834" cy="276999"/>
          </a:xfrm>
        </p:grpSpPr>
        <p:sp>
          <p:nvSpPr>
            <p:cNvPr id="18" name="TextBox 7">
              <a:extLst>
                <a:ext uri="{FF2B5EF4-FFF2-40B4-BE49-F238E27FC236}">
                  <a16:creationId xmlns:a16="http://schemas.microsoft.com/office/drawing/2014/main" id="{E169AB41-9449-4F22-A8FB-E60E099F39D3}"/>
                </a:ext>
              </a:extLst>
            </p:cNvPr>
            <p:cNvSpPr txBox="1"/>
            <p:nvPr/>
          </p:nvSpPr>
          <p:spPr>
            <a:xfrm>
              <a:off x="5742157" y="1393371"/>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E803A80C-3973-4D1B-A5E9-72C9D925212C}"/>
                </a:ext>
              </a:extLst>
            </p:cNvPr>
            <p:cNvSpPr/>
            <p:nvPr/>
          </p:nvSpPr>
          <p:spPr>
            <a:xfrm>
              <a:off x="5794516" y="146481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Slide Number Placeholder 5">
            <a:extLst>
              <a:ext uri="{FF2B5EF4-FFF2-40B4-BE49-F238E27FC236}">
                <a16:creationId xmlns:a16="http://schemas.microsoft.com/office/drawing/2014/main" id="{F68B5FA4-B979-4161-8C5B-914499DCE4AB}"/>
              </a:ext>
            </a:extLst>
          </p:cNvPr>
          <p:cNvSpPr txBox="1"/>
          <p:nvPr/>
        </p:nvSpPr>
        <p:spPr>
          <a:xfrm>
            <a:off x="11653451"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4C23648-CEB8-4770-BE06-0CE4A591E014}" type="slidenum">
              <a:rPr sz="1200"/>
              <a:t>390</a:t>
            </a:fld>
            <a:endParaRPr lang="en-GB" sz="1200" b="0" i="0" u="none" strike="noStrike" kern="1200" cap="none" spc="0" baseline="0">
              <a:solidFill>
                <a:srgbClr val="000000"/>
              </a:solidFill>
              <a:uFillTx/>
              <a:latin typeface="Calibri"/>
            </a:endParaRPr>
          </a:p>
        </p:txBody>
      </p:sp>
      <p:sp>
        <p:nvSpPr>
          <p:cNvPr id="21" name="Oval 16">
            <a:extLst>
              <a:ext uri="{FF2B5EF4-FFF2-40B4-BE49-F238E27FC236}">
                <a16:creationId xmlns:a16="http://schemas.microsoft.com/office/drawing/2014/main" id="{0B7C8863-BDF4-44AC-AE2A-63C0D059CB27}"/>
              </a:ext>
            </a:extLst>
          </p:cNvPr>
          <p:cNvSpPr/>
          <p:nvPr/>
        </p:nvSpPr>
        <p:spPr>
          <a:xfrm>
            <a:off x="400095" y="24731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Oval 16">
            <a:extLst>
              <a:ext uri="{FF2B5EF4-FFF2-40B4-BE49-F238E27FC236}">
                <a16:creationId xmlns:a16="http://schemas.microsoft.com/office/drawing/2014/main" id="{C5670C9E-6116-4981-9FF3-D7AFAE7ED37F}"/>
              </a:ext>
            </a:extLst>
          </p:cNvPr>
          <p:cNvSpPr/>
          <p:nvPr/>
        </p:nvSpPr>
        <p:spPr>
          <a:xfrm>
            <a:off x="400095" y="31054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name="Slide455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646C536-4C61-4ACF-B7C1-7D131C2BFF7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8DEE7D9-40BD-4D75-A2C5-6528CAF9E80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5D94156-4ACC-49CF-B7DB-2C8916064B4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DE0C38A2-F6B0-445E-8B06-3432B0F3F10C}"/>
              </a:ext>
            </a:extLst>
          </p:cNvPr>
          <p:cNvSpPr txBox="1"/>
          <p:nvPr/>
        </p:nvSpPr>
        <p:spPr>
          <a:xfrm>
            <a:off x="11685257"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84F1526-6C16-486F-8809-82236E87933C}" type="slidenum">
              <a:rPr sz="1200"/>
              <a:t>391</a:t>
            </a:fld>
            <a:endParaRPr lang="en-GB" sz="1200" b="0" i="0" u="none" strike="noStrike" kern="1200" cap="none" spc="0" baseline="0" dirty="0">
              <a:solidFill>
                <a:srgbClr val="000000"/>
              </a:solidFill>
              <a:uFillTx/>
              <a:latin typeface="Calibri"/>
            </a:endParaRPr>
          </a:p>
        </p:txBody>
      </p:sp>
      <p:sp>
        <p:nvSpPr>
          <p:cNvPr id="7" name="Rectangle 7">
            <a:extLst>
              <a:ext uri="{FF2B5EF4-FFF2-40B4-BE49-F238E27FC236}">
                <a16:creationId xmlns:a16="http://schemas.microsoft.com/office/drawing/2014/main" id="{EED9C9F6-0CB8-41D6-A73D-20CB461764B3}"/>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6EAE1298-1398-40D7-ADED-F17C438CE099}"/>
              </a:ext>
            </a:extLst>
          </p:cNvPr>
          <p:cNvSpPr/>
          <p:nvPr/>
        </p:nvSpPr>
        <p:spPr>
          <a:xfrm>
            <a:off x="522579" y="1206651"/>
            <a:ext cx="11282159" cy="3877988"/>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Removal of Low Value Bulking Imports (LVBI) for NI Imports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cs typeface="Calibri"/>
              </a:rPr>
              <a:t>From TTM16.1, CDS will reject declarations where Low Value Bulking Imports (LVBI) are claimed for movements into NI, from GB or RoW. </a:t>
            </a:r>
            <a:r>
              <a:rPr lang="en-GB" sz="1400" b="0" i="0" u="none" strike="noStrike" kern="1200" cap="none" spc="0" baseline="0">
                <a:solidFill>
                  <a:srgbClr val="000000"/>
                </a:solidFill>
                <a:uFillTx/>
                <a:latin typeface="Calibri"/>
              </a:rPr>
              <a:t>The LVBI scheme ended on 31/12/2020 and the instructions in the CDS Trade Tariff confirmed that the Additional Procedure Codes for this process (shown below) should not be used.</a:t>
            </a:r>
            <a:endParaRPr lang="en-GB" sz="1400" b="0" i="0" u="none" strike="noStrike" kern="1200" cap="none" spc="0" baseline="0">
              <a:solidFill>
                <a:srgbClr val="000000"/>
              </a:solidFill>
              <a:uFillTx/>
              <a:latin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a:cs typeface="Calibri"/>
              </a:rPr>
              <a:t>Introduction of this functionality means that the below combinations of codes will result in CDS rejecting the declaration, and the trader being sent a DMSREJ notification:</a:t>
            </a:r>
            <a:endParaRPr lang="en-GB" sz="1400" b="0" i="0" u="none" strike="sngStrike" kern="1200" cap="none" spc="0" baseline="0">
              <a:solidFill>
                <a:srgbClr val="000000"/>
              </a:solidFill>
              <a:highlight>
                <a:srgbClr val="FFFF00"/>
              </a:highlight>
              <a:uFillTx/>
              <a:latin typeface="Calibri"/>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US" sz="1400" b="0" i="0" u="none" strike="noStrike" kern="1200" cap="none" spc="0" baseline="0">
                <a:solidFill>
                  <a:srgbClr val="000000"/>
                </a:solidFill>
                <a:uFillTx/>
                <a:latin typeface="Calibri"/>
                <a:ea typeface="Calibri"/>
                <a:cs typeface="Calibri"/>
              </a:rPr>
              <a:t>Additional Procedure Code ‘1LV’ is declared in D.E. 1/11 at item level, and either AI code 'NIDOM' or 'NIIMP' in D.E 2/2 at item level, on the same goods item on all declaration types.</a:t>
            </a: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US" sz="1400" b="0" i="0" u="none" strike="noStrike" kern="1200" cap="none" spc="0" baseline="0">
                <a:solidFill>
                  <a:srgbClr val="000000"/>
                </a:solidFill>
                <a:uFillTx/>
                <a:latin typeface="Calibri"/>
                <a:ea typeface="Calibri"/>
                <a:cs typeface="Calibri"/>
              </a:rPr>
              <a:t>Additional Procedure Code ‘2LV’ is declared in D.E. 1/11 at item level, and either AI code 'NIDOM' or 'NIIMP' is declared in D.E 2/2 at item level, on the same goods item on all declaration types.</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400" b="0"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Note: </a:t>
            </a:r>
            <a:r>
              <a:rPr lang="en-GB" sz="1400" b="0" i="0" u="none" strike="noStrike" kern="1200" cap="none" spc="0" baseline="0">
                <a:solidFill>
                  <a:srgbClr val="000000"/>
                </a:solidFill>
                <a:uFillTx/>
                <a:latin typeface="Calibri"/>
              </a:rPr>
              <a:t>For Imports to GB, LVBI will be replaced by BIRDS in TTM16.2 (November Release)</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GB" sz="1800" b="0" i="0" u="none" strike="noStrike" kern="1200" cap="none" spc="0" baseline="0">
                <a:solidFill>
                  <a:srgbClr val="000000"/>
                </a:solidFill>
                <a:uFillTx/>
                <a:latin typeface="Calibri"/>
              </a:rPr>
            </a:br>
            <a:endParaRPr lang="en-US" sz="1400" b="0" i="0" u="none" strike="noStrike" kern="1200" cap="none" spc="0" baseline="0">
              <a:solidFill>
                <a:srgbClr val="000000"/>
              </a:solidFill>
              <a:uFillTx/>
              <a:latin typeface="Calibri"/>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endParaRPr lang="en-US" sz="1400" b="0" i="0" u="none" strike="noStrike" kern="1200" cap="none" spc="0" baseline="0">
              <a:solidFill>
                <a:srgbClr val="000000"/>
              </a:solidFill>
              <a:uFillTx/>
              <a:latin typeface="Calibri"/>
              <a:ea typeface="Calibri"/>
              <a:cs typeface="Calibri"/>
            </a:endParaRPr>
          </a:p>
        </p:txBody>
      </p:sp>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name="Slide455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773E271-9536-473C-8640-407FDC9FE48F}"/>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9617C6DD-0BE9-4D58-8D30-39F0D0547BC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41C3411-DBC8-46BC-BEC9-EF1B98CF78EA}"/>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FDE1FA7-65C9-416E-92BD-03EEBC1EEBD9}"/>
              </a:ext>
            </a:extLst>
          </p:cNvPr>
          <p:cNvSpPr txBox="1"/>
          <p:nvPr/>
        </p:nvSpPr>
        <p:spPr>
          <a:xfrm>
            <a:off x="11709111"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E59EA08-B6B9-4411-A689-EF6CB3404DC3}" type="slidenum">
              <a:rPr sz="1200"/>
              <a:t>392</a:t>
            </a:fld>
            <a:endParaRPr lang="en-GB" sz="1200" b="0" i="0" u="none" strike="noStrike" kern="1200" cap="none" spc="0" baseline="0" dirty="0">
              <a:solidFill>
                <a:srgbClr val="000000"/>
              </a:solidFill>
              <a:uFillTx/>
              <a:latin typeface="Calibri"/>
            </a:endParaRPr>
          </a:p>
        </p:txBody>
      </p:sp>
      <p:sp>
        <p:nvSpPr>
          <p:cNvPr id="7" name="Rectangle 7">
            <a:extLst>
              <a:ext uri="{FF2B5EF4-FFF2-40B4-BE49-F238E27FC236}">
                <a16:creationId xmlns:a16="http://schemas.microsoft.com/office/drawing/2014/main" id="{968EE1FE-543E-4260-98D5-E0B8B35A96EB}"/>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80574D77-CBD2-4684-88A2-04FDE22378D3}"/>
              </a:ext>
            </a:extLst>
          </p:cNvPr>
          <p:cNvSpPr/>
          <p:nvPr/>
        </p:nvSpPr>
        <p:spPr>
          <a:xfrm>
            <a:off x="522579" y="1199866"/>
            <a:ext cx="11282159" cy="526297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a:t>
            </a:r>
            <a:r>
              <a:rPr lang="en-GB" sz="1400" b="1" i="0" u="none" strike="noStrike" kern="1200" cap="none" spc="0" baseline="0">
                <a:solidFill>
                  <a:srgbClr val="000000"/>
                </a:solidFill>
                <a:uFillTx/>
                <a:latin typeface="Calibri"/>
                <a:ea typeface="Calibri"/>
                <a:cs typeface="Calibri"/>
              </a:rPr>
              <a:t> Raise a Query: Systems Notification Message  </a:t>
            </a:r>
            <a:endParaRPr lang="en-GB" sz="18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a:cs typeface="Calibri"/>
              </a:rPr>
              <a:t>This function delivers a systems notification ‘DMSQRY’ for API users, informing declarants of queries via a systems message. This process is in addition to the existing email notification and will ensure the declarant receives timely notification, enabling them to take the required action to progress their declaration. The notification will be used as a prompt, for the trader to login to their Government Gateway account in order to understand the exact nature of the query:</a:t>
            </a:r>
            <a:endParaRPr lang="en-GB" sz="1400" b="0" i="0" u="none" strike="sngStrike" kern="1200" cap="none" spc="0" baseline="0">
              <a:solidFill>
                <a:srgbClr val="000000"/>
              </a:solidFill>
              <a:highlight>
                <a:srgbClr val="FFFF00"/>
              </a:highlight>
              <a:uFillTx/>
              <a:latin typeface="Calibri"/>
              <a:ea typeface="Calibri"/>
              <a:cs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a:cs typeface="Calibri"/>
              </a:rPr>
              <a:t>       </a:t>
            </a:r>
            <a:endParaRPr lang="en-GB" sz="1800" b="0" i="0" u="none" strike="noStrike" kern="1200" cap="none" spc="0" baseline="0">
              <a:solidFill>
                <a:srgbClr val="000000"/>
              </a:solidFill>
              <a:uFillTx/>
              <a:latin typeface="Calibri"/>
            </a:endParaRP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a:cs typeface="Calibri"/>
              </a:rPr>
              <a:t>When a query is raised on a declaration by a caseworker, CDS will send a query notification message to notify traders of the query. </a:t>
            </a:r>
            <a:endParaRPr lang="en-GB" sz="1800" b="0" i="0" u="none" strike="noStrike" kern="1200" cap="none" spc="0" baseline="0">
              <a:solidFill>
                <a:srgbClr val="000000"/>
              </a:solidFill>
              <a:uFillTx/>
              <a:latin typeface="Calibri"/>
              <a:ea typeface="Calibri"/>
              <a:cs typeface="Calibri"/>
            </a:endParaRP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ea typeface="Calibri"/>
                <a:cs typeface="Calibri"/>
              </a:rPr>
              <a:t>The notification will include an MRN, Statement Description (Max. 512 characters) and a Local reference ID (D.E. 2/5).</a:t>
            </a: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a query notification message is sent to the trader as per US1AC1, the Exports UI must display an alert to the user, notifying them of the presence of the query.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Note:</a:t>
            </a:r>
            <a:r>
              <a:rPr lang="en-GB" sz="1400" b="0" i="0" u="none" strike="noStrike" kern="1200" cap="none" spc="0" baseline="0">
                <a:solidFill>
                  <a:srgbClr val="000000"/>
                </a:solidFill>
                <a:uFillTx/>
                <a:latin typeface="Calibri"/>
              </a:rPr>
              <a:t> The statement description of the query notification will not be applicable for Exports UI.</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sng" strike="noStrike" kern="1200" cap="none" spc="0" baseline="0">
                <a:solidFill>
                  <a:srgbClr val="000000"/>
                </a:solidFill>
                <a:uFillTx/>
                <a:latin typeface="Calibri"/>
              </a:rPr>
              <a:t>Example of a Statement Description</a:t>
            </a:r>
            <a:r>
              <a:rPr lang="en-GB" sz="1400" b="0" i="0" u="sng" strike="noStrike" kern="1200" cap="none" spc="0" baseline="0">
                <a:solidFill>
                  <a:srgbClr val="000000"/>
                </a:solidFill>
                <a:uFillTx/>
                <a:latin typeface="Calibri"/>
              </a:rPr>
              <a: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Urgent: Your Declaration or Goods are being queried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Customs authorities have raised a query, or they have a further query for you.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 You must sign in to view and act on the query message each time, in order for your declaration to progress.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Step 1. Search online for ‘Upload documents and get messages for the Customs Declaration Service’ on the </a:t>
            </a:r>
            <a:r>
              <a:rPr lang="en-GB" sz="1400" b="0" i="0" u="sng" strike="noStrike" kern="1200" cap="none" spc="0" baseline="0">
                <a:solidFill>
                  <a:srgbClr val="000000"/>
                </a:solidFill>
                <a:uFillTx/>
                <a:latin typeface="Calibri"/>
                <a:hlinkClick r:id="rId3"/>
              </a:rPr>
              <a:t>GOV.UK</a:t>
            </a:r>
            <a:r>
              <a:rPr lang="en-GB" sz="1400" b="0" i="0" u="none" strike="noStrike" kern="1200" cap="none" spc="0" baseline="0">
                <a:solidFill>
                  <a:srgbClr val="000000"/>
                </a:solidFill>
                <a:uFillTx/>
                <a:latin typeface="Calibri"/>
              </a:rPr>
              <a:t> website.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Step 2. Sign in using the Government Gateway account that is linked to your EORI number.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Step 3. Select the View messages option.</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742950" marR="0" lvl="1" indent="-285750" algn="l" defTabSz="914400" rtl="0" fontAlgn="auto" hangingPunct="1">
              <a:lnSpc>
                <a:spcPct val="100000"/>
              </a:lnSpc>
              <a:spcBef>
                <a:spcPts val="0"/>
              </a:spcBef>
              <a:spcAft>
                <a:spcPts val="0"/>
              </a:spcAft>
              <a:buSzPct val="100000"/>
              <a:buFont typeface="Arial"/>
              <a:buChar char="•"/>
              <a:tabLst/>
              <a:defRPr sz="1800" b="0" i="0" u="none" strike="noStrike" kern="0" cap="none" spc="0" baseline="0">
                <a:solidFill>
                  <a:srgbClr val="000000"/>
                </a:solidFill>
                <a:uFillTx/>
              </a:defRPr>
            </a:pPr>
            <a:endParaRPr lang="en-US" sz="1400" b="0" i="0" u="none" strike="noStrike" kern="1200" cap="none" spc="0" baseline="0">
              <a:solidFill>
                <a:srgbClr val="000000"/>
              </a:solidFill>
              <a:uFillTx/>
              <a:latin typeface="Calibri"/>
              <a:ea typeface="Calibri"/>
              <a:cs typeface="Calibri"/>
            </a:endParaRPr>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name="Slide838840359">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948F7525-6A74-497E-9CC1-D860BC92DD27}"/>
              </a:ext>
            </a:extLst>
          </p:cNvPr>
          <p:cNvSpPr/>
          <p:nvPr/>
        </p:nvSpPr>
        <p:spPr>
          <a:xfrm>
            <a:off x="314782" y="1391762"/>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C1DAF336-F365-4C87-BCF1-7673418D341F}"/>
              </a:ext>
            </a:extLst>
          </p:cNvPr>
          <p:cNvSpPr/>
          <p:nvPr/>
        </p:nvSpPr>
        <p:spPr>
          <a:xfrm>
            <a:off x="225747" y="95109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F980FA37-A63B-4349-89B9-F9C62B4F6AEC}"/>
              </a:ext>
            </a:extLst>
          </p:cNvPr>
          <p:cNvGraphicFramePr>
            <a:graphicFrameLocks noGrp="1"/>
          </p:cNvGraphicFramePr>
          <p:nvPr/>
        </p:nvGraphicFramePr>
        <p:xfrm>
          <a:off x="337038" y="189876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980090915"/>
                    </a:ext>
                  </a:extLst>
                </a:gridCol>
              </a:tblGrid>
              <a:tr h="220434">
                <a:tc>
                  <a:txBody>
                    <a:bodyPr/>
                    <a:lstStyle/>
                    <a:p>
                      <a:pPr lvl="0" algn="ctr"/>
                      <a:r>
                        <a:rPr lang="en-GB" sz="1200"/>
                        <a:t>TTM16.0 (CDS 3.4.0)</a:t>
                      </a:r>
                    </a:p>
                  </a:txBody>
                  <a:tcPr>
                    <a:solidFill>
                      <a:srgbClr val="595959"/>
                    </a:solidFill>
                  </a:tcPr>
                </a:tc>
                <a:extLst>
                  <a:ext uri="{0D108BD9-81ED-4DB2-BD59-A6C34878D82A}">
                    <a16:rowId xmlns:a16="http://schemas.microsoft.com/office/drawing/2014/main" val="2816962780"/>
                  </a:ext>
                </a:extLst>
              </a:tr>
              <a:tr h="261975">
                <a:tc>
                  <a:txBody>
                    <a:bodyPr/>
                    <a:lstStyle/>
                    <a:p>
                      <a:pPr lvl="0" algn="ctr"/>
                      <a:r>
                        <a:rPr lang="en-GB" sz="1200" b="1" dirty="0">
                          <a:solidFill>
                            <a:srgbClr val="000000"/>
                          </a:solidFill>
                        </a:rPr>
                        <a:t>TT: </a:t>
                      </a:r>
                      <a:r>
                        <a:rPr lang="en-GB" sz="1200" b="0" dirty="0">
                          <a:solidFill>
                            <a:srgbClr val="000000"/>
                          </a:solidFill>
                        </a:rPr>
                        <a:t>20/08/2021   </a:t>
                      </a:r>
                      <a:r>
                        <a:rPr lang="en-GB" sz="1200" b="1" dirty="0">
                          <a:solidFill>
                            <a:srgbClr val="000000"/>
                          </a:solidFill>
                        </a:rPr>
                        <a:t>TDR: </a:t>
                      </a:r>
                      <a:r>
                        <a:rPr lang="en-GB" sz="1200" b="0" dirty="0">
                          <a:solidFill>
                            <a:srgbClr val="000000"/>
                          </a:solidFill>
                        </a:rPr>
                        <a:t>07/09/2021   </a:t>
                      </a:r>
                      <a:r>
                        <a:rPr lang="en-GB" sz="1200" b="1" dirty="0">
                          <a:solidFill>
                            <a:srgbClr val="000000"/>
                          </a:solidFill>
                        </a:rPr>
                        <a:t>Live: </a:t>
                      </a:r>
                      <a:r>
                        <a:rPr lang="en-GB" sz="1200" b="0" dirty="0">
                          <a:solidFill>
                            <a:srgbClr val="000000"/>
                          </a:solidFill>
                        </a:rPr>
                        <a:t>04/09/2021</a:t>
                      </a:r>
                    </a:p>
                  </a:txBody>
                  <a:tcPr>
                    <a:solidFill>
                      <a:srgbClr val="E7E6E6"/>
                    </a:solidFill>
                  </a:tcPr>
                </a:tc>
                <a:extLst>
                  <a:ext uri="{0D108BD9-81ED-4DB2-BD59-A6C34878D82A}">
                    <a16:rowId xmlns:a16="http://schemas.microsoft.com/office/drawing/2014/main" val="2512212482"/>
                  </a:ext>
                </a:extLst>
              </a:tr>
            </a:tbl>
          </a:graphicData>
        </a:graphic>
      </p:graphicFrame>
      <p:cxnSp>
        <p:nvCxnSpPr>
          <p:cNvPr id="6" name="Straight Connector 11">
            <a:extLst>
              <a:ext uri="{FF2B5EF4-FFF2-40B4-BE49-F238E27FC236}">
                <a16:creationId xmlns:a16="http://schemas.microsoft.com/office/drawing/2014/main" id="{40B0B7F9-C888-4884-B60F-1D4AC890287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6D8EE361-1E3A-4D9A-8FA1-7EF434EB958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94E18ED1-8197-4B87-9304-D586B9B0FEC1}"/>
              </a:ext>
            </a:extLst>
          </p:cNvPr>
          <p:cNvSpPr/>
          <p:nvPr/>
        </p:nvSpPr>
        <p:spPr>
          <a:xfrm>
            <a:off x="292470" y="1851577"/>
            <a:ext cx="11330604" cy="1184705"/>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664347AC-A66C-436C-BD01-9E798FDACEE3}"/>
              </a:ext>
            </a:extLst>
          </p:cNvPr>
          <p:cNvGrpSpPr/>
          <p:nvPr/>
        </p:nvGrpSpPr>
        <p:grpSpPr>
          <a:xfrm>
            <a:off x="760012" y="1407124"/>
            <a:ext cx="2801739" cy="276999"/>
            <a:chOff x="760012" y="1407124"/>
            <a:chExt cx="2801739" cy="276999"/>
          </a:xfrm>
        </p:grpSpPr>
        <p:sp>
          <p:nvSpPr>
            <p:cNvPr id="10" name="TextBox 7">
              <a:extLst>
                <a:ext uri="{FF2B5EF4-FFF2-40B4-BE49-F238E27FC236}">
                  <a16:creationId xmlns:a16="http://schemas.microsoft.com/office/drawing/2014/main" id="{0712221B-7143-4609-8ED6-46F42476295A}"/>
                </a:ext>
              </a:extLst>
            </p:cNvPr>
            <p:cNvSpPr txBox="1"/>
            <p:nvPr/>
          </p:nvSpPr>
          <p:spPr>
            <a:xfrm>
              <a:off x="760012" y="140712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F0B1B3D7-9272-46A3-8127-A77DD2646D87}"/>
                </a:ext>
              </a:extLst>
            </p:cNvPr>
            <p:cNvSpPr/>
            <p:nvPr/>
          </p:nvSpPr>
          <p:spPr>
            <a:xfrm>
              <a:off x="807095" y="147209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6FEE38D0-1FD8-4CF3-B8B1-21DF452BFF6C}"/>
              </a:ext>
            </a:extLst>
          </p:cNvPr>
          <p:cNvGraphicFramePr>
            <a:graphicFrameLocks noGrp="1"/>
          </p:cNvGraphicFramePr>
          <p:nvPr/>
        </p:nvGraphicFramePr>
        <p:xfrm>
          <a:off x="337038" y="2413385"/>
          <a:ext cx="11213807" cy="45720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1436892918"/>
                    </a:ext>
                  </a:extLst>
                </a:gridCol>
                <a:gridCol w="2877205">
                  <a:extLst>
                    <a:ext uri="{9D8B030D-6E8A-4147-A177-3AD203B41FA5}">
                      <a16:colId xmlns:a16="http://schemas.microsoft.com/office/drawing/2014/main" val="262491093"/>
                    </a:ext>
                  </a:extLst>
                </a:gridCol>
                <a:gridCol w="2877205">
                  <a:extLst>
                    <a:ext uri="{9D8B030D-6E8A-4147-A177-3AD203B41FA5}">
                      <a16:colId xmlns:a16="http://schemas.microsoft.com/office/drawing/2014/main" val="140845960"/>
                    </a:ext>
                  </a:extLst>
                </a:gridCol>
                <a:gridCol w="2877205">
                  <a:extLst>
                    <a:ext uri="{9D8B030D-6E8A-4147-A177-3AD203B41FA5}">
                      <a16:colId xmlns:a16="http://schemas.microsoft.com/office/drawing/2014/main" val="3703562469"/>
                    </a:ext>
                  </a:extLst>
                </a:gridCol>
              </a:tblGrid>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Tariff Differential (includes ROW-NI Subsidy)​</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4" action="ppaction://hlinksldjump"/>
                        </a:rPr>
                        <a:t>GVMS Location Codes</a:t>
                      </a:r>
                      <a:r>
                        <a:rPr lang="en-GB" sz="1200" b="0" i="0" kern="1200">
                          <a:solidFill>
                            <a:srgbClr val="000000"/>
                          </a:solidFill>
                          <a:latin typeface="Calibri"/>
                          <a:hlinkClick r:id="rId3" action="ppaction://hlinksldjump"/>
                        </a:rPr>
                        <a:t>​</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670759430"/>
                  </a:ext>
                </a:extLst>
              </a:tr>
            </a:tbl>
          </a:graphicData>
        </a:graphic>
      </p:graphicFrame>
      <p:grpSp>
        <p:nvGrpSpPr>
          <p:cNvPr id="13" name="Group 4">
            <a:extLst>
              <a:ext uri="{FF2B5EF4-FFF2-40B4-BE49-F238E27FC236}">
                <a16:creationId xmlns:a16="http://schemas.microsoft.com/office/drawing/2014/main" id="{C3355DD1-DDD9-401E-A737-4EB9A217489A}"/>
              </a:ext>
            </a:extLst>
          </p:cNvPr>
          <p:cNvGrpSpPr/>
          <p:nvPr/>
        </p:nvGrpSpPr>
        <p:grpSpPr>
          <a:xfrm>
            <a:off x="2525362" y="1415381"/>
            <a:ext cx="3199302" cy="276999"/>
            <a:chOff x="2525362" y="1415381"/>
            <a:chExt cx="3199302" cy="276999"/>
          </a:xfrm>
        </p:grpSpPr>
        <p:sp>
          <p:nvSpPr>
            <p:cNvPr id="14" name="TextBox 7">
              <a:extLst>
                <a:ext uri="{FF2B5EF4-FFF2-40B4-BE49-F238E27FC236}">
                  <a16:creationId xmlns:a16="http://schemas.microsoft.com/office/drawing/2014/main" id="{B238DBE9-9E14-4D66-B650-A6BC8E0D997F}"/>
                </a:ext>
              </a:extLst>
            </p:cNvPr>
            <p:cNvSpPr txBox="1"/>
            <p:nvPr/>
          </p:nvSpPr>
          <p:spPr>
            <a:xfrm>
              <a:off x="2525362" y="1415381"/>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B3CB4918-951F-48EC-8A08-E700F47F01C4}"/>
                </a:ext>
              </a:extLst>
            </p:cNvPr>
            <p:cNvSpPr/>
            <p:nvPr/>
          </p:nvSpPr>
          <p:spPr>
            <a:xfrm>
              <a:off x="2550938" y="148375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2EDFF624-3A16-4902-9671-7F4281D2FA01}"/>
              </a:ext>
            </a:extLst>
          </p:cNvPr>
          <p:cNvSpPr/>
          <p:nvPr/>
        </p:nvSpPr>
        <p:spPr>
          <a:xfrm>
            <a:off x="314782" y="1388278"/>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03BE5536-F50D-4A66-AC4D-B9241E271357}"/>
              </a:ext>
            </a:extLst>
          </p:cNvPr>
          <p:cNvGrpSpPr/>
          <p:nvPr/>
        </p:nvGrpSpPr>
        <p:grpSpPr>
          <a:xfrm>
            <a:off x="5750240" y="1414851"/>
            <a:ext cx="4848834" cy="276999"/>
            <a:chOff x="5750240" y="1414851"/>
            <a:chExt cx="4848834" cy="276999"/>
          </a:xfrm>
        </p:grpSpPr>
        <p:sp>
          <p:nvSpPr>
            <p:cNvPr id="18" name="TextBox 7">
              <a:extLst>
                <a:ext uri="{FF2B5EF4-FFF2-40B4-BE49-F238E27FC236}">
                  <a16:creationId xmlns:a16="http://schemas.microsoft.com/office/drawing/2014/main" id="{C4B5C194-7501-4889-884F-6D7758071718}"/>
                </a:ext>
              </a:extLst>
            </p:cNvPr>
            <p:cNvSpPr txBox="1"/>
            <p:nvPr/>
          </p:nvSpPr>
          <p:spPr>
            <a:xfrm>
              <a:off x="5750240" y="1414851"/>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381BBC8E-4942-46D8-BE68-AC5BAFE41F6F}"/>
                </a:ext>
              </a:extLst>
            </p:cNvPr>
            <p:cNvSpPr/>
            <p:nvPr/>
          </p:nvSpPr>
          <p:spPr>
            <a:xfrm>
              <a:off x="5802599" y="148629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59E7B30F-DEDE-49CA-A847-9D6B81C47DC3}"/>
              </a:ext>
            </a:extLst>
          </p:cNvPr>
          <p:cNvSpPr/>
          <p:nvPr/>
        </p:nvSpPr>
        <p:spPr>
          <a:xfrm>
            <a:off x="386964" y="246194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A5D1471A-A54A-4281-A5E6-BB405B9FB999}"/>
              </a:ext>
            </a:extLst>
          </p:cNvPr>
          <p:cNvSpPr txBox="1"/>
          <p:nvPr/>
        </p:nvSpPr>
        <p:spPr>
          <a:xfrm>
            <a:off x="11653452" y="637199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AE16691-19FE-4690-8DEF-C8F6532A7102}" type="slidenum">
              <a:rPr sz="1200"/>
              <a:t>393</a:t>
            </a:fld>
            <a:endParaRPr lang="en-GB" sz="1200" b="0" i="0" u="none" strike="noStrike" kern="1200" cap="none" spc="0" baseline="0" dirty="0">
              <a:solidFill>
                <a:srgbClr val="000000"/>
              </a:solidFill>
              <a:uFillTx/>
              <a:latin typeface="Calibri"/>
            </a:endParaRPr>
          </a:p>
        </p:txBody>
      </p:sp>
      <p:sp>
        <p:nvSpPr>
          <p:cNvPr id="22" name="Oval 16">
            <a:extLst>
              <a:ext uri="{FF2B5EF4-FFF2-40B4-BE49-F238E27FC236}">
                <a16:creationId xmlns:a16="http://schemas.microsoft.com/office/drawing/2014/main" id="{9CAB255B-9A3D-4C8C-83F0-1FCABE4B5AFE}"/>
              </a:ext>
            </a:extLst>
          </p:cNvPr>
          <p:cNvSpPr/>
          <p:nvPr/>
        </p:nvSpPr>
        <p:spPr>
          <a:xfrm>
            <a:off x="2961933" y="250112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name="Slide83884036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8F1F328-4B34-4722-B063-BF1CEA59FDC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EED3425C-3186-457E-9D7D-D81C3F385ED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1EA32C9-49ED-41CF-8E5D-E7C142287E49}"/>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3B3A68CC-80FE-4103-A6EA-5F39C51AA77C}"/>
              </a:ext>
            </a:extLst>
          </p:cNvPr>
          <p:cNvSpPr txBox="1"/>
          <p:nvPr/>
        </p:nvSpPr>
        <p:spPr>
          <a:xfrm>
            <a:off x="11661403" y="637199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44AC818-0E60-4334-9FF0-380D0AB37E69}" type="slidenum">
              <a:rPr sz="1200"/>
              <a:t>394</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674A1A94-A04B-4CF1-9619-04DD06CCB235}"/>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56DA8AE7-EDEC-4728-9235-4797212CD0FA}"/>
              </a:ext>
            </a:extLst>
          </p:cNvPr>
          <p:cNvSpPr/>
          <p:nvPr/>
        </p:nvSpPr>
        <p:spPr>
          <a:xfrm>
            <a:off x="363967" y="1304263"/>
            <a:ext cx="11381929" cy="1384995"/>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AutoNum type="arabicPeriod"/>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Tariff Differential (includes ROW-NI Subsidy)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CDS facilitates the Northern Ireland Protocol by implementing specific requirements on declaration submission in NI. Different AI Statement codes are required in CDS to identify the different journey types. In summary, goods moving from RoW to NI use AI Statement ‘NIIMP’, whereas UK domestic goods moving from GB to NI use AI Statement ‘NIDOM’. However, goods moving from GB to NI that do not have UK domestic status are declared with the RoW statement ‘NIIMP’. These specific journeys are then subject to different calculation and Tariff treatment.</a:t>
            </a:r>
            <a:endParaRPr lang="en-GB" sz="1400" b="0" i="0" u="none" strike="sng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a:t>
            </a:r>
          </a:p>
        </p:txBody>
      </p:sp>
      <p:sp>
        <p:nvSpPr>
          <p:cNvPr id="9" name="Rectangle 11">
            <a:extLst>
              <a:ext uri="{FF2B5EF4-FFF2-40B4-BE49-F238E27FC236}">
                <a16:creationId xmlns:a16="http://schemas.microsoft.com/office/drawing/2014/main" id="{435B74F3-C93B-4428-966D-41E124FC8BC7}"/>
              </a:ext>
            </a:extLst>
          </p:cNvPr>
          <p:cNvSpPr/>
          <p:nvPr/>
        </p:nvSpPr>
        <p:spPr>
          <a:xfrm>
            <a:off x="363967" y="2857682"/>
            <a:ext cx="11162254" cy="187743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Submission and Validation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CDS will validate import declarations moving from RoW-NI against the measures in the EU Tariff and the UK Tariff.</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Therefore when a trader enters AI Statement code ‘NIIMP’ in D.E. 2/2 at item level, CDS will validate the import declaration against the measures in both the EU &amp; UK Tariff (irrespective of whether the goods are "at risk" or "not at risk").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If the declaration </a:t>
            </a:r>
            <a:r>
              <a:rPr lang="en-GB" sz="1400" b="1" i="0" u="none" strike="noStrike" kern="1200" cap="none" spc="0" baseline="0">
                <a:solidFill>
                  <a:srgbClr val="000000"/>
                </a:solidFill>
                <a:uFillTx/>
                <a:latin typeface="Calibri"/>
              </a:rPr>
              <a:t>fails either the EU or UK Tariff validation </a:t>
            </a:r>
            <a:r>
              <a:rPr lang="en-GB" sz="1400" b="0" i="0" u="none" strike="noStrike" kern="1200" cap="none" spc="0" baseline="0">
                <a:solidFill>
                  <a:srgbClr val="000000"/>
                </a:solidFill>
                <a:uFillTx/>
                <a:latin typeface="Calibri"/>
              </a:rPr>
              <a:t>then CDS will reject the declaration and a DMSREJ will be sent to the declarant.</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If the declaration </a:t>
            </a:r>
            <a:r>
              <a:rPr lang="en-GB" sz="1400" b="1" i="0" u="none" strike="noStrike" kern="1200" cap="none" spc="0" baseline="0">
                <a:solidFill>
                  <a:srgbClr val="000000"/>
                </a:solidFill>
                <a:uFillTx/>
                <a:latin typeface="Calibri"/>
              </a:rPr>
              <a:t>fails both the EU and UK Tariff validation </a:t>
            </a:r>
            <a:r>
              <a:rPr lang="en-GB" sz="1400" b="0" i="0" u="none" strike="noStrike" kern="1200" cap="none" spc="0" baseline="0">
                <a:solidFill>
                  <a:srgbClr val="000000"/>
                </a:solidFill>
                <a:uFillTx/>
                <a:latin typeface="Calibri"/>
              </a:rPr>
              <a:t>then declaration will be rejected and a combined error message will be sent back to the trader.</a:t>
            </a:r>
          </a:p>
        </p:txBody>
      </p:sp>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name="Slide4547">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2EF6082-F924-4F2D-AE9F-55BDD5AF5C7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4EA077C-75DB-49C1-80C3-C27FC81BA4E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7314BC70-81EA-42F5-9952-68AD3BE13CC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2F31ED2-6F8D-4C20-A72E-3CDB1317BD0B}"/>
              </a:ext>
            </a:extLst>
          </p:cNvPr>
          <p:cNvSpPr txBox="1"/>
          <p:nvPr/>
        </p:nvSpPr>
        <p:spPr>
          <a:xfrm>
            <a:off x="11621646" y="637199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178A610-D9F2-4C84-80ED-4C641FB7624F}" type="slidenum">
              <a:rPr sz="1200"/>
              <a:t>395</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EEC55676-ACC3-4740-A9FB-DCAADB8E2829}"/>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B0819CE6-9902-4759-B8AD-0AEE1CA3C3FA}"/>
              </a:ext>
            </a:extLst>
          </p:cNvPr>
          <p:cNvSpPr/>
          <p:nvPr/>
        </p:nvSpPr>
        <p:spPr>
          <a:xfrm>
            <a:off x="467907" y="1260226"/>
            <a:ext cx="11256181" cy="332399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RoW-NI Subsidy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CDS will now allow a subsidy to account for the difference between the EU and UK Customs Duties calculated when;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‘At Risk’ goods are imported from RoW to NI with AI Statement ‘NIIMP’ entered;</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The declaration includes the AI statement ‘NIAID’;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All the individual EU customs duty tax types are greater or equal in amount to their UK equivalent, and; </a:t>
            </a:r>
          </a:p>
          <a:p>
            <a:pPr marL="742950" marR="0" lvl="1" indent="-2857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The total EU Customs Duty is greater than the UK Customs Duty.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these conditions are met, subsidy will account for the calculated difference between the total EU Customs Duty due and the total UK Customs Duty due. The outstanding liability due on the declaration will be equivalent to the UK Customs Duty. The VAT due on the Customs Duty will also be recalculated following the calculation of subsidy on Customs Duty.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the above conditions are not met, the full EU Customs Duty for the goods will be charged at the EU Tariff rate and CDS will not allow subsidy to account for any difference from the UK to EU Customs Duty amount.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all EU duties are equal to UK duties or where one EU tax type is less than the UK tax type, Subsidy cannot apply.</a:t>
            </a:r>
          </a:p>
        </p:txBody>
      </p:sp>
      <p:sp>
        <p:nvSpPr>
          <p:cNvPr id="9" name="Rectangle 1">
            <a:extLst>
              <a:ext uri="{FF2B5EF4-FFF2-40B4-BE49-F238E27FC236}">
                <a16:creationId xmlns:a16="http://schemas.microsoft.com/office/drawing/2014/main" id="{CADDC785-D298-4BA5-AE9C-22BE2083C35D}"/>
              </a:ext>
            </a:extLst>
          </p:cNvPr>
          <p:cNvSpPr/>
          <p:nvPr/>
        </p:nvSpPr>
        <p:spPr>
          <a:xfrm>
            <a:off x="465155" y="4584216"/>
            <a:ext cx="11237125" cy="1631216"/>
          </a:xfrm>
          <a:prstGeom prst="rect">
            <a:avLst/>
          </a:prstGeom>
          <a:solidFill>
            <a:srgbClr val="E7E6E6"/>
          </a:solidFill>
          <a:ln cap="flat">
            <a:noFill/>
            <a:prstDash val="solid"/>
          </a:ln>
        </p:spPr>
        <p:txBody>
          <a:bodyPr vert="horz" wrap="squar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Tariff Differential Calculation Example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Calculating the differential amount between both the UK and EU Customs Duties.</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Tariff Differential amount = Total EU Customs Duty (£100) - Total UK Customs Duty (£65) = £35.</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Subsidy will account for the differential amount = £35</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remainder of the Custom Duties liable against the method of payment entered: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	Total amount charged to the trader’s declared MOP = EU Customs Duty (£100) - Tariff differential amount (£35) = £65.</a:t>
            </a:r>
          </a:p>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VAT due on customs duties (assuming 20% VAT rate) = </a:t>
            </a:r>
            <a:r>
              <a:rPr lang="en-GB" sz="1200" b="1" i="0" u="none" strike="noStrike" kern="1200" cap="none" spc="0" baseline="0">
                <a:solidFill>
                  <a:srgbClr val="000000"/>
                </a:solidFill>
                <a:uFillTx/>
                <a:latin typeface="Calibri"/>
              </a:rPr>
              <a:t>£13</a:t>
            </a:r>
            <a:endParaRPr lang="en-GB" sz="1200" b="0" i="0" u="none" strike="noStrike" kern="1200" cap="none" spc="0" baseline="0">
              <a:solidFill>
                <a:srgbClr val="000000"/>
              </a:solidFill>
              <a:uFillTx/>
              <a:latin typeface="Calibri"/>
            </a:endParaRPr>
          </a:p>
        </p:txBody>
      </p:sp>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name="Slide454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0727B23-D992-4181-9AD5-49666D6EE62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9619172-0BD7-49DF-AD6B-B0499871105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040C1D3-9711-48E3-9E73-D287008F85C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B117B362-16C1-4CEF-85F7-AE1FC28E3F84}"/>
              </a:ext>
            </a:extLst>
          </p:cNvPr>
          <p:cNvSpPr txBox="1"/>
          <p:nvPr/>
        </p:nvSpPr>
        <p:spPr>
          <a:xfrm>
            <a:off x="11621646"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022CBC4-F744-4638-96A2-E2D2CB2980F7}" type="slidenum">
              <a:rPr sz="1200"/>
              <a:t>396</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DFBC075B-5D4F-4FE9-B5AE-01C1BE6954CD}"/>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13">
            <a:extLst>
              <a:ext uri="{FF2B5EF4-FFF2-40B4-BE49-F238E27FC236}">
                <a16:creationId xmlns:a16="http://schemas.microsoft.com/office/drawing/2014/main" id="{5C5352DD-8226-4220-AD50-27D09B932CA7}"/>
              </a:ext>
            </a:extLst>
          </p:cNvPr>
          <p:cNvSpPr/>
          <p:nvPr/>
        </p:nvSpPr>
        <p:spPr>
          <a:xfrm>
            <a:off x="325937" y="1362318"/>
            <a:ext cx="1115394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ROW-NI Subsidy</a:t>
            </a:r>
          </a:p>
        </p:txBody>
      </p:sp>
      <p:graphicFrame>
        <p:nvGraphicFramePr>
          <p:cNvPr id="9" name="Table 2">
            <a:extLst>
              <a:ext uri="{FF2B5EF4-FFF2-40B4-BE49-F238E27FC236}">
                <a16:creationId xmlns:a16="http://schemas.microsoft.com/office/drawing/2014/main" id="{3F0750F1-0617-4260-B31C-311A09F51894}"/>
              </a:ext>
            </a:extLst>
          </p:cNvPr>
          <p:cNvGraphicFramePr>
            <a:graphicFrameLocks noGrp="1"/>
          </p:cNvGraphicFramePr>
          <p:nvPr/>
        </p:nvGraphicFramePr>
        <p:xfrm>
          <a:off x="465155" y="1670096"/>
          <a:ext cx="11061076" cy="3064708"/>
        </p:xfrm>
        <a:graphic>
          <a:graphicData uri="http://schemas.openxmlformats.org/drawingml/2006/table">
            <a:tbl>
              <a:tblPr firstRow="1" bandRow="1">
                <a:effectLst/>
                <a:tableStyleId>{5C22544A-7EE6-4342-B048-85BDC9FD1C3A}</a:tableStyleId>
              </a:tblPr>
              <a:tblGrid>
                <a:gridCol w="5530538">
                  <a:extLst>
                    <a:ext uri="{9D8B030D-6E8A-4147-A177-3AD203B41FA5}">
                      <a16:colId xmlns:a16="http://schemas.microsoft.com/office/drawing/2014/main" val="177056508"/>
                    </a:ext>
                  </a:extLst>
                </a:gridCol>
                <a:gridCol w="5530538">
                  <a:extLst>
                    <a:ext uri="{9D8B030D-6E8A-4147-A177-3AD203B41FA5}">
                      <a16:colId xmlns:a16="http://schemas.microsoft.com/office/drawing/2014/main" val="1462486469"/>
                    </a:ext>
                  </a:extLst>
                </a:gridCol>
              </a:tblGrid>
              <a:tr h="313154">
                <a:tc gridSpan="2">
                  <a:txBody>
                    <a:bodyPr/>
                    <a:lstStyle/>
                    <a:p>
                      <a:pPr lvl="0" algn="ctr"/>
                      <a:r>
                        <a:rPr lang="en-GB" sz="1400" b="1"/>
                        <a:t> RoW-NI goods ‘At Risk’ </a:t>
                      </a:r>
                      <a:endParaRPr lang="en-GB" sz="1400"/>
                    </a:p>
                  </a:txBody>
                  <a:tcPr>
                    <a:solidFill>
                      <a:srgbClr val="7F7F7F"/>
                    </a:solidFill>
                  </a:tcPr>
                </a:tc>
                <a:tc hMerge="1">
                  <a:txBody>
                    <a:bodyPr/>
                    <a:lstStyle/>
                    <a:p>
                      <a:endParaRPr lang="en-GB"/>
                    </a:p>
                  </a:txBody>
                  <a:tcPr/>
                </a:tc>
                <a:extLst>
                  <a:ext uri="{0D108BD9-81ED-4DB2-BD59-A6C34878D82A}">
                    <a16:rowId xmlns:a16="http://schemas.microsoft.com/office/drawing/2014/main" val="4286739183"/>
                  </a:ext>
                </a:extLst>
              </a:tr>
              <a:tr h="313154">
                <a:tc>
                  <a:txBody>
                    <a:bodyPr/>
                    <a:lstStyle/>
                    <a:p>
                      <a:pPr marL="0" lvl="0" algn="ctr" defTabSz="914400" rtl="0" hangingPunct="1"/>
                      <a:r>
                        <a:rPr lang="en-GB" sz="1400" b="1">
                          <a:solidFill>
                            <a:srgbClr val="000000"/>
                          </a:solidFill>
                        </a:rPr>
                        <a:t>Suspension procedure is applied</a:t>
                      </a:r>
                      <a:endParaRPr lang="en-GB" sz="1400" b="1" kern="1200">
                        <a:solidFill>
                          <a:srgbClr val="000000"/>
                        </a:solidFill>
                        <a:latin typeface="Calibri"/>
                      </a:endParaRPr>
                    </a:p>
                  </a:txBody>
                  <a:tcPr>
                    <a:solidFill>
                      <a:srgbClr val="E7E6E6"/>
                    </a:solidFill>
                  </a:tcPr>
                </a:tc>
                <a:tc>
                  <a:txBody>
                    <a:bodyPr/>
                    <a:lstStyle/>
                    <a:p>
                      <a:pPr marL="0" lvl="0" algn="ctr" defTabSz="914400" rtl="0" hangingPunct="1"/>
                      <a:r>
                        <a:rPr lang="en-GB" sz="1400" b="1">
                          <a:solidFill>
                            <a:srgbClr val="000000"/>
                          </a:solidFill>
                        </a:rPr>
                        <a:t>Relief procedure is applied</a:t>
                      </a:r>
                      <a:endParaRPr lang="en-GB" sz="1400" b="1" kern="1200">
                        <a:solidFill>
                          <a:srgbClr val="000000"/>
                        </a:solidFill>
                        <a:latin typeface="Calibri"/>
                      </a:endParaRPr>
                    </a:p>
                  </a:txBody>
                  <a:tcPr>
                    <a:solidFill>
                      <a:srgbClr val="E7E6E6"/>
                    </a:solidFill>
                  </a:tcPr>
                </a:tc>
                <a:extLst>
                  <a:ext uri="{0D108BD9-81ED-4DB2-BD59-A6C34878D82A}">
                    <a16:rowId xmlns:a16="http://schemas.microsoft.com/office/drawing/2014/main" val="3859419500"/>
                  </a:ext>
                </a:extLst>
              </a:tr>
              <a:tr h="1909834">
                <a:tc>
                  <a:txBody>
                    <a:bodyPr/>
                    <a:lstStyle/>
                    <a:p>
                      <a:pPr marL="742950" lvl="1" indent="-285750">
                        <a:buSzPct val="100000"/>
                        <a:buFont typeface="Arial" pitchFamily="34"/>
                        <a:buChar char="•"/>
                      </a:pPr>
                      <a:r>
                        <a:rPr lang="en-GB" sz="1400">
                          <a:solidFill>
                            <a:srgbClr val="000000"/>
                          </a:solidFill>
                        </a:rPr>
                        <a:t>CDS will not apply a subsidy to cover Customs Duty for goods where a suspension procedure has been successfully applied on Customs Duty.</a:t>
                      </a:r>
                    </a:p>
                    <a:p>
                      <a:pPr marL="742950" lvl="1" indent="-285750">
                        <a:buSzPct val="100000"/>
                        <a:buFont typeface="Arial" pitchFamily="34"/>
                        <a:buChar char="•"/>
                      </a:pPr>
                      <a:endParaRPr lang="en-GB" sz="1400">
                        <a:solidFill>
                          <a:srgbClr val="000000"/>
                        </a:solidFill>
                      </a:endParaRPr>
                    </a:p>
                    <a:p>
                      <a:pPr marL="742950" lvl="1" indent="-285750">
                        <a:buSzPct val="100000"/>
                        <a:buFont typeface="Arial" pitchFamily="34"/>
                        <a:buChar char="•"/>
                      </a:pPr>
                      <a:r>
                        <a:rPr lang="en-GB" sz="1400">
                          <a:solidFill>
                            <a:srgbClr val="000000"/>
                          </a:solidFill>
                        </a:rPr>
                        <a:t>However, CDS will allow subsidy to cover additional EU duty amounts where a suspension procedure has been successfully applied to cover VAT and/or Excise only, (i.e. the difference between the EU charges and equivalent UK charges).</a:t>
                      </a:r>
                    </a:p>
                    <a:p>
                      <a:pPr marL="457200" lvl="1" indent="0">
                        <a:buNone/>
                      </a:pPr>
                      <a:endParaRPr lang="en-GB" sz="1400">
                        <a:solidFill>
                          <a:srgbClr val="000000"/>
                        </a:solidFill>
                      </a:endParaRPr>
                    </a:p>
                    <a:p>
                      <a:pPr marL="742950" lvl="1" indent="-285750">
                        <a:buSzPct val="100000"/>
                        <a:buFont typeface="Arial" pitchFamily="34"/>
                        <a:buChar char="•"/>
                      </a:pPr>
                      <a:r>
                        <a:rPr lang="en-GB" sz="1400">
                          <a:solidFill>
                            <a:srgbClr val="000000"/>
                          </a:solidFill>
                        </a:rPr>
                        <a:t>DMSTAX notification will be sent to the trader of the duties liable on the declaration. </a:t>
                      </a:r>
                    </a:p>
                  </a:txBody>
                  <a:tcPr>
                    <a:solidFill>
                      <a:srgbClr val="F2F2F2"/>
                    </a:solidFill>
                  </a:tcPr>
                </a:tc>
                <a:tc>
                  <a:txBody>
                    <a:bodyPr/>
                    <a:lstStyle/>
                    <a:p>
                      <a:pPr marL="742950" lvl="1" indent="-285750">
                        <a:buSzPct val="100000"/>
                        <a:buFont typeface="Arial" pitchFamily="34"/>
                        <a:buChar char="•"/>
                      </a:pPr>
                      <a:r>
                        <a:rPr lang="en-GB" sz="1400" dirty="0">
                          <a:solidFill>
                            <a:srgbClr val="000000"/>
                          </a:solidFill>
                        </a:rPr>
                        <a:t>CDS will allow RoW-NI subsidy to account for the difference between the EU and UK Tariff where a relief procedure is applied, but relief does not cover all the Customs Duties. </a:t>
                      </a:r>
                    </a:p>
                    <a:p>
                      <a:pPr marL="742950" lvl="1" indent="-285750">
                        <a:buSzPct val="100000"/>
                        <a:buFont typeface="Arial" pitchFamily="34"/>
                        <a:buChar char="•"/>
                      </a:pPr>
                      <a:endParaRPr lang="en-GB" sz="1400" dirty="0">
                        <a:solidFill>
                          <a:srgbClr val="000000"/>
                        </a:solidFill>
                      </a:endParaRPr>
                    </a:p>
                    <a:p>
                      <a:pPr marL="742950" lvl="1" indent="-285750">
                        <a:buSzPct val="100000"/>
                        <a:buFont typeface="Arial" pitchFamily="34"/>
                        <a:buChar char="•"/>
                      </a:pPr>
                      <a:r>
                        <a:rPr lang="en-GB" sz="1400" dirty="0">
                          <a:solidFill>
                            <a:srgbClr val="000000"/>
                          </a:solidFill>
                        </a:rPr>
                        <a:t>CDS will not allow RoW-NI subsidy to account for the difference between the EU and UK Tariff where a relief procedure is applied, but the relief covers all the Customs Duties. </a:t>
                      </a:r>
                    </a:p>
                    <a:p>
                      <a:pPr marL="742950" lvl="1" indent="-285750">
                        <a:buSzPct val="100000"/>
                        <a:buFont typeface="Arial" pitchFamily="34"/>
                        <a:buChar char="•"/>
                      </a:pPr>
                      <a:endParaRPr lang="en-GB" sz="1400" dirty="0">
                        <a:solidFill>
                          <a:srgbClr val="000000"/>
                        </a:solidFill>
                      </a:endParaRPr>
                    </a:p>
                    <a:p>
                      <a:pPr marL="742950" lvl="1" indent="-285750">
                        <a:buSzPct val="100000"/>
                        <a:buFont typeface="Arial" pitchFamily="34"/>
                        <a:buChar char="•"/>
                      </a:pPr>
                      <a:r>
                        <a:rPr lang="en-GB" sz="1400" dirty="0">
                          <a:solidFill>
                            <a:srgbClr val="000000"/>
                          </a:solidFill>
                        </a:rPr>
                        <a:t>DMSTAX notification will be sent to the trader of the duties liable on the declaration</a:t>
                      </a:r>
                      <a:endParaRPr lang="en-GB" sz="1800" dirty="0">
                        <a:solidFill>
                          <a:srgbClr val="000000"/>
                        </a:solidFill>
                      </a:endParaRPr>
                    </a:p>
                  </a:txBody>
                  <a:tcPr>
                    <a:solidFill>
                      <a:srgbClr val="F2F2F2"/>
                    </a:solidFill>
                  </a:tcPr>
                </a:tc>
                <a:extLst>
                  <a:ext uri="{0D108BD9-81ED-4DB2-BD59-A6C34878D82A}">
                    <a16:rowId xmlns:a16="http://schemas.microsoft.com/office/drawing/2014/main" val="299960591"/>
                  </a:ext>
                </a:extLst>
              </a:tr>
            </a:tbl>
          </a:graphicData>
        </a:graphic>
      </p:graphicFrame>
      <p:grpSp>
        <p:nvGrpSpPr>
          <p:cNvPr id="10" name="Group 3">
            <a:extLst>
              <a:ext uri="{FF2B5EF4-FFF2-40B4-BE49-F238E27FC236}">
                <a16:creationId xmlns:a16="http://schemas.microsoft.com/office/drawing/2014/main" id="{3B2AC333-94E2-4D61-B3C4-CEE215858ED7}"/>
              </a:ext>
            </a:extLst>
          </p:cNvPr>
          <p:cNvGrpSpPr/>
          <p:nvPr/>
        </p:nvGrpSpPr>
        <p:grpSpPr>
          <a:xfrm>
            <a:off x="465155" y="4912952"/>
            <a:ext cx="11061066" cy="962936"/>
            <a:chOff x="465155" y="4912952"/>
            <a:chExt cx="11061066" cy="962936"/>
          </a:xfrm>
        </p:grpSpPr>
        <p:sp>
          <p:nvSpPr>
            <p:cNvPr id="11" name="Rectangle 11">
              <a:extLst>
                <a:ext uri="{FF2B5EF4-FFF2-40B4-BE49-F238E27FC236}">
                  <a16:creationId xmlns:a16="http://schemas.microsoft.com/office/drawing/2014/main" id="{D25DDA77-38E7-48BA-91A2-45173933F948}"/>
                </a:ext>
              </a:extLst>
            </p:cNvPr>
            <p:cNvSpPr/>
            <p:nvPr/>
          </p:nvSpPr>
          <p:spPr>
            <a:xfrm>
              <a:off x="969931" y="4912952"/>
              <a:ext cx="10556290" cy="962936"/>
            </a:xfrm>
            <a:prstGeom prst="rect">
              <a:avLst/>
            </a:prstGeom>
            <a:solidFill>
              <a:srgbClr val="FBE5D6"/>
            </a:solidFill>
            <a:ln cap="flat">
              <a:noFill/>
              <a:prstDash val="solid"/>
            </a:ln>
          </p:spPr>
          <p:txBody>
            <a:bodyPr vert="horz" wrap="square" lIns="91440" tIns="45720" rIns="91440" bIns="45720" anchor="ctr" anchorCtr="0" compatLnSpc="1">
              <a:noAutofit/>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TT_IM69a - </a:t>
              </a:r>
              <a:r>
                <a:rPr lang="en-GB" sz="1100" b="0" i="0" u="none" strike="noStrike" kern="1200" cap="none" spc="0" baseline="0">
                  <a:solidFill>
                    <a:srgbClr val="000000"/>
                  </a:solidFill>
                  <a:uFillTx/>
                  <a:latin typeface="Calibri"/>
                </a:rPr>
                <a:t>Imports supplementary declaration from ROW to NI, goods are 'at risk' and subsidy with suspension of VAT only is claimed.</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TT_IM70a - </a:t>
              </a:r>
              <a:r>
                <a:rPr lang="en-GB" sz="1100" b="0" i="0" u="none" strike="noStrike" kern="1200" cap="none" spc="0" baseline="0">
                  <a:solidFill>
                    <a:srgbClr val="000000"/>
                  </a:solidFill>
                  <a:uFillTx/>
                  <a:latin typeface="Calibri"/>
                </a:rPr>
                <a:t>Imports frontier declaration  from ROW to NI , goods are 'at risk' and  subsidy for relief or suspension is not applicable as EU duties are equal to UK duties.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1" i="0" u="none" strike="noStrike" kern="1200" cap="none" spc="0" baseline="0">
                  <a:solidFill>
                    <a:srgbClr val="000000"/>
                  </a:solidFill>
                  <a:uFillTx/>
                  <a:latin typeface="Calibri"/>
                </a:rPr>
                <a:t>TT_IM38b - </a:t>
              </a:r>
              <a:r>
                <a:rPr lang="en-GB" sz="1100" b="0" i="0" u="none" strike="noStrike" kern="1200" cap="none" spc="0" baseline="0">
                  <a:solidFill>
                    <a:srgbClr val="000000"/>
                  </a:solidFill>
                  <a:uFillTx/>
                  <a:latin typeface="Calibri"/>
                </a:rPr>
                <a:t>Imports frontier declaration from ROW to NI, goods are 'at risk’, and subsidy with relief or suspension is not applicable as EU duties are greater than UK duties.</a:t>
              </a:r>
            </a:p>
          </p:txBody>
        </p:sp>
        <p:sp>
          <p:nvSpPr>
            <p:cNvPr id="12" name="Rectangle 2">
              <a:extLst>
                <a:ext uri="{FF2B5EF4-FFF2-40B4-BE49-F238E27FC236}">
                  <a16:creationId xmlns:a16="http://schemas.microsoft.com/office/drawing/2014/main" id="{36E95FAE-D370-42DE-A4BD-063A15F2CE49}"/>
                </a:ext>
              </a:extLst>
            </p:cNvPr>
            <p:cNvSpPr/>
            <p:nvPr/>
          </p:nvSpPr>
          <p:spPr>
            <a:xfrm>
              <a:off x="465155" y="4912952"/>
              <a:ext cx="504785" cy="962936"/>
            </a:xfrm>
            <a:prstGeom prst="rect">
              <a:avLst/>
            </a:prstGeom>
            <a:solidFill>
              <a:srgbClr val="EC732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0" i="0" u="none" strike="noStrike" kern="1200" cap="none" spc="0" baseline="0">
                  <a:solidFill>
                    <a:srgbClr val="FFFFFF"/>
                  </a:solidFill>
                  <a:uFillTx/>
                  <a:latin typeface="Calibri"/>
                </a:rPr>
                <a:t>XML Samples</a:t>
              </a:r>
            </a:p>
          </p:txBody>
        </p:sp>
      </p:grpSp>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name="Slide455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BF9EB3B-F54D-41E6-ACFF-1256A5A1C88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242E945-2FB8-4510-82F7-8346481FF66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740052D-1976-4A4C-9EA6-2B5F2E102DDF}"/>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0938F0DC-8674-4615-ADEB-11CB8341E355}"/>
              </a:ext>
            </a:extLst>
          </p:cNvPr>
          <p:cNvSpPr txBox="1"/>
          <p:nvPr/>
        </p:nvSpPr>
        <p:spPr>
          <a:xfrm>
            <a:off x="11637549"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B56AA46-6DB4-4E91-BB84-2CD476269927}" type="slidenum">
              <a:rPr sz="1200"/>
              <a:t>397</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B7C0F273-95CC-49F6-8A98-61047CB2D4F7}"/>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8" name="Rectangle 31">
            <a:extLst>
              <a:ext uri="{FF2B5EF4-FFF2-40B4-BE49-F238E27FC236}">
                <a16:creationId xmlns:a16="http://schemas.microsoft.com/office/drawing/2014/main" id="{72B8813F-55F4-40F3-B152-47359860B095}"/>
              </a:ext>
            </a:extLst>
          </p:cNvPr>
          <p:cNvSpPr/>
          <p:nvPr/>
        </p:nvSpPr>
        <p:spPr>
          <a:xfrm>
            <a:off x="363967" y="1304263"/>
            <a:ext cx="11381929" cy="738661"/>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2"/>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GVMS Location Codes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From TTM16.0, CDS will instate 39 GVMS specific GB goods location codes to enable traders to use GVMS to move import and export declarations when transporting goods using the additional GVMS ports. The full list of location codes is in the Codelist and WCO Reference document. </a:t>
            </a:r>
            <a:endParaRPr lang="en-GB" sz="1400" b="1" i="0" u="none" strike="noStrike" kern="1200" cap="none" spc="0" baseline="0">
              <a:solidFill>
                <a:srgbClr val="000000"/>
              </a:solidFill>
              <a:uFillTx/>
              <a:latin typeface="Calibri"/>
            </a:endParaRPr>
          </a:p>
        </p:txBody>
      </p:sp>
      <p:graphicFrame>
        <p:nvGraphicFramePr>
          <p:cNvPr id="9" name="Table 4">
            <a:extLst>
              <a:ext uri="{FF2B5EF4-FFF2-40B4-BE49-F238E27FC236}">
                <a16:creationId xmlns:a16="http://schemas.microsoft.com/office/drawing/2014/main" id="{BD06A568-A0C6-4CF0-8249-19B446F6EB27}"/>
              </a:ext>
            </a:extLst>
          </p:cNvPr>
          <p:cNvGraphicFramePr>
            <a:graphicFrameLocks noGrp="1"/>
          </p:cNvGraphicFramePr>
          <p:nvPr/>
        </p:nvGraphicFramePr>
        <p:xfrm>
          <a:off x="465155" y="2042925"/>
          <a:ext cx="5480144" cy="3805900"/>
        </p:xfrm>
        <a:graphic>
          <a:graphicData uri="http://schemas.openxmlformats.org/drawingml/2006/table">
            <a:tbl>
              <a:tblPr firstRow="1" bandRow="1">
                <a:effectLst/>
                <a:tableStyleId>{5C22544A-7EE6-4342-B048-85BDC9FD1C3A}</a:tableStyleId>
              </a:tblPr>
              <a:tblGrid>
                <a:gridCol w="1965237">
                  <a:extLst>
                    <a:ext uri="{9D8B030D-6E8A-4147-A177-3AD203B41FA5}">
                      <a16:colId xmlns:a16="http://schemas.microsoft.com/office/drawing/2014/main" val="506334786"/>
                    </a:ext>
                  </a:extLst>
                </a:gridCol>
                <a:gridCol w="3514907">
                  <a:extLst>
                    <a:ext uri="{9D8B030D-6E8A-4147-A177-3AD203B41FA5}">
                      <a16:colId xmlns:a16="http://schemas.microsoft.com/office/drawing/2014/main" val="2040387508"/>
                    </a:ext>
                  </a:extLst>
                </a:gridCol>
              </a:tblGrid>
              <a:tr h="0">
                <a:tc>
                  <a:txBody>
                    <a:bodyPr/>
                    <a:lstStyle/>
                    <a:p>
                      <a:pPr lvl="0"/>
                      <a:r>
                        <a:rPr lang="en-GB" sz="1200"/>
                        <a:t>GVMS Location codes</a:t>
                      </a:r>
                    </a:p>
                  </a:txBody>
                  <a:tcPr/>
                </a:tc>
                <a:tc>
                  <a:txBody>
                    <a:bodyPr/>
                    <a:lstStyle/>
                    <a:p>
                      <a:pPr lvl="0"/>
                      <a:r>
                        <a:rPr lang="en-GB" sz="1200"/>
                        <a:t>Description</a:t>
                      </a:r>
                    </a:p>
                  </a:txBody>
                  <a:tcPr/>
                </a:tc>
                <a:extLst>
                  <a:ext uri="{0D108BD9-81ED-4DB2-BD59-A6C34878D82A}">
                    <a16:rowId xmlns:a16="http://schemas.microsoft.com/office/drawing/2014/main" val="193022968"/>
                  </a:ext>
                </a:extLst>
              </a:tr>
              <a:tr h="176579">
                <a:tc>
                  <a:txBody>
                    <a:bodyPr/>
                    <a:lstStyle/>
                    <a:p>
                      <a:pPr lvl="0" algn="l" fontAlgn="b"/>
                      <a:r>
                        <a:rPr lang="en-GB" sz="1000" b="0" i="0" u="none" strike="noStrike">
                          <a:solidFill>
                            <a:srgbClr val="000000"/>
                          </a:solidFill>
                          <a:latin typeface="Calibri" pitchFamily="34"/>
                        </a:rPr>
                        <a:t>GBAUIVGIVGAMPGVM</a:t>
                      </a:r>
                    </a:p>
                  </a:txBody>
                  <a:tcPr marL="2350" marR="2350" marT="2350" marB="0" anchor="b"/>
                </a:tc>
                <a:tc>
                  <a:txBody>
                    <a:bodyPr/>
                    <a:lstStyle/>
                    <a:p>
                      <a:pPr lvl="0" algn="l" fontAlgn="b"/>
                      <a:r>
                        <a:rPr lang="en-GB" sz="1000" b="0" i="0" u="none" strike="noStrike">
                          <a:solidFill>
                            <a:srgbClr val="000000"/>
                          </a:solidFill>
                          <a:latin typeface="Calibri" pitchFamily="34"/>
                        </a:rPr>
                        <a:t>Admiralty Pier - (Invergordon) GVMS Port</a:t>
                      </a:r>
                    </a:p>
                  </a:txBody>
                  <a:tcPr marL="2350" marR="2350" marT="2350" marB="0" anchor="b"/>
                </a:tc>
                <a:extLst>
                  <a:ext uri="{0D108BD9-81ED-4DB2-BD59-A6C34878D82A}">
                    <a16:rowId xmlns:a16="http://schemas.microsoft.com/office/drawing/2014/main" val="1036030266"/>
                  </a:ext>
                </a:extLst>
              </a:tr>
              <a:tr h="176579">
                <a:tc>
                  <a:txBody>
                    <a:bodyPr/>
                    <a:lstStyle/>
                    <a:p>
                      <a:pPr lvl="0" algn="l" fontAlgn="b"/>
                      <a:r>
                        <a:rPr lang="en-GB" sz="1000" b="0" i="0" u="none" strike="noStrike">
                          <a:solidFill>
                            <a:srgbClr val="000000"/>
                          </a:solidFill>
                          <a:latin typeface="Calibri" pitchFamily="34"/>
                        </a:rPr>
                        <a:t>GBAUERIMEDEOWGVM</a:t>
                      </a:r>
                    </a:p>
                  </a:txBody>
                  <a:tcPr marL="2350" marR="2350" marT="2350" marB="0" anchor="b"/>
                </a:tc>
                <a:tc>
                  <a:txBody>
                    <a:bodyPr/>
                    <a:lstStyle/>
                    <a:p>
                      <a:pPr lvl="0" algn="l" fontAlgn="b"/>
                      <a:r>
                        <a:rPr lang="en-GB" sz="1000" b="0" i="0" u="none" strike="noStrike">
                          <a:solidFill>
                            <a:srgbClr val="000000"/>
                          </a:solidFill>
                          <a:latin typeface="Calibri" pitchFamily="34"/>
                        </a:rPr>
                        <a:t>Albion Wharf - (Erith Oil Works - Jetties 1, 2 &amp; 3) GVMS Port</a:t>
                      </a:r>
                    </a:p>
                  </a:txBody>
                  <a:tcPr marL="2350" marR="2350" marT="2350" marB="0" anchor="b"/>
                </a:tc>
                <a:extLst>
                  <a:ext uri="{0D108BD9-81ED-4DB2-BD59-A6C34878D82A}">
                    <a16:rowId xmlns:a16="http://schemas.microsoft.com/office/drawing/2014/main" val="980659091"/>
                  </a:ext>
                </a:extLst>
              </a:tr>
              <a:tr h="176579">
                <a:tc>
                  <a:txBody>
                    <a:bodyPr/>
                    <a:lstStyle/>
                    <a:p>
                      <a:pPr lvl="0" algn="l" fontAlgn="b"/>
                      <a:r>
                        <a:rPr lang="en-GB" sz="1000" b="0" i="0" u="none" strike="noStrike">
                          <a:solidFill>
                            <a:srgbClr val="000000"/>
                          </a:solidFill>
                          <a:latin typeface="Calibri" pitchFamily="34"/>
                        </a:rPr>
                        <a:t>GBAUGOAHRHGOAGVM</a:t>
                      </a:r>
                    </a:p>
                  </a:txBody>
                  <a:tcPr marL="2350" marR="2350" marT="2350" marB="0" anchor="b"/>
                </a:tc>
                <a:tc>
                  <a:txBody>
                    <a:bodyPr/>
                    <a:lstStyle/>
                    <a:p>
                      <a:pPr lvl="0" algn="l" fontAlgn="b"/>
                      <a:r>
                        <a:rPr lang="en-GB" sz="1000" b="0" i="0" u="none" strike="noStrike">
                          <a:solidFill>
                            <a:srgbClr val="000000"/>
                          </a:solidFill>
                          <a:latin typeface="Calibri" pitchFamily="34"/>
                        </a:rPr>
                        <a:t>Bramble Island - (Great Oakley Works) GVMS Port</a:t>
                      </a:r>
                    </a:p>
                  </a:txBody>
                  <a:tcPr marL="2350" marR="2350" marT="2350" marB="0" anchor="b"/>
                </a:tc>
                <a:extLst>
                  <a:ext uri="{0D108BD9-81ED-4DB2-BD59-A6C34878D82A}">
                    <a16:rowId xmlns:a16="http://schemas.microsoft.com/office/drawing/2014/main" val="1395453749"/>
                  </a:ext>
                </a:extLst>
              </a:tr>
              <a:tr h="176579">
                <a:tc>
                  <a:txBody>
                    <a:bodyPr/>
                    <a:lstStyle/>
                    <a:p>
                      <a:pPr lvl="0" algn="l" fontAlgn="b"/>
                      <a:r>
                        <a:rPr lang="en-GB" sz="1000" b="0" i="0" u="none" strike="noStrike">
                          <a:solidFill>
                            <a:srgbClr val="000000"/>
                          </a:solidFill>
                          <a:latin typeface="Calibri" pitchFamily="34"/>
                        </a:rPr>
                        <a:t>GBAUBLSCOLBOWGVM</a:t>
                      </a:r>
                    </a:p>
                  </a:txBody>
                  <a:tcPr marL="2350" marR="2350" marT="2350" marB="0" anchor="b"/>
                </a:tc>
                <a:tc>
                  <a:txBody>
                    <a:bodyPr/>
                    <a:lstStyle/>
                    <a:p>
                      <a:pPr lvl="0" algn="l" fontAlgn="b"/>
                      <a:r>
                        <a:rPr lang="en-GB" sz="1000" b="0" i="0" u="none" strike="noStrike">
                          <a:solidFill>
                            <a:srgbClr val="000000"/>
                          </a:solidFill>
                          <a:latin typeface="Calibri" pitchFamily="34"/>
                        </a:rPr>
                        <a:t>Brightlingsea - Olivers Wharf GVMS Port</a:t>
                      </a:r>
                    </a:p>
                  </a:txBody>
                  <a:tcPr marL="2350" marR="2350" marT="2350" marB="0" anchor="b"/>
                </a:tc>
                <a:extLst>
                  <a:ext uri="{0D108BD9-81ED-4DB2-BD59-A6C34878D82A}">
                    <a16:rowId xmlns:a16="http://schemas.microsoft.com/office/drawing/2014/main" val="4010220269"/>
                  </a:ext>
                </a:extLst>
              </a:tr>
              <a:tr h="176579">
                <a:tc>
                  <a:txBody>
                    <a:bodyPr/>
                    <a:lstStyle/>
                    <a:p>
                      <a:pPr lvl="0" algn="l" fontAlgn="b"/>
                      <a:r>
                        <a:rPr lang="en-GB" sz="1000" b="0" i="0" u="none" strike="noStrike">
                          <a:solidFill>
                            <a:srgbClr val="000000"/>
                          </a:solidFill>
                          <a:latin typeface="Calibri" pitchFamily="34"/>
                        </a:rPr>
                        <a:t>GBAUBUCFRBBUCGVM</a:t>
                      </a:r>
                    </a:p>
                  </a:txBody>
                  <a:tcPr marL="2350" marR="2350" marT="2350" marB="0" anchor="b"/>
                </a:tc>
                <a:tc>
                  <a:txBody>
                    <a:bodyPr/>
                    <a:lstStyle/>
                    <a:p>
                      <a:pPr lvl="0" algn="l" fontAlgn="b"/>
                      <a:r>
                        <a:rPr lang="en-GB" sz="1000" b="0" i="0" u="none" strike="noStrike">
                          <a:solidFill>
                            <a:srgbClr val="000000"/>
                          </a:solidFill>
                          <a:latin typeface="Calibri" pitchFamily="34"/>
                        </a:rPr>
                        <a:t>Buckie Harbour - Cluny Harbour GVMS Port</a:t>
                      </a:r>
                    </a:p>
                  </a:txBody>
                  <a:tcPr marL="2350" marR="2350" marT="2350" marB="0" anchor="b"/>
                </a:tc>
                <a:extLst>
                  <a:ext uri="{0D108BD9-81ED-4DB2-BD59-A6C34878D82A}">
                    <a16:rowId xmlns:a16="http://schemas.microsoft.com/office/drawing/2014/main" val="509881130"/>
                  </a:ext>
                </a:extLst>
              </a:tr>
              <a:tr h="176579">
                <a:tc>
                  <a:txBody>
                    <a:bodyPr/>
                    <a:lstStyle/>
                    <a:p>
                      <a:pPr lvl="0" algn="l" fontAlgn="b"/>
                      <a:r>
                        <a:rPr lang="en-GB" sz="1000" b="0" i="0" u="none" strike="noStrike">
                          <a:solidFill>
                            <a:srgbClr val="000000"/>
                          </a:solidFill>
                          <a:latin typeface="Calibri" pitchFamily="34"/>
                        </a:rPr>
                        <a:t>GBAUCYNAYRCYNGVM</a:t>
                      </a:r>
                    </a:p>
                  </a:txBody>
                  <a:tcPr marL="2350" marR="2350" marT="2350" marB="0" anchor="b"/>
                </a:tc>
                <a:tc>
                  <a:txBody>
                    <a:bodyPr/>
                    <a:lstStyle/>
                    <a:p>
                      <a:pPr lvl="0" algn="l" fontAlgn="b"/>
                      <a:r>
                        <a:rPr lang="en-GB" sz="1000" b="0" i="0" u="none" strike="noStrike">
                          <a:solidFill>
                            <a:srgbClr val="000000"/>
                          </a:solidFill>
                          <a:latin typeface="Calibri" pitchFamily="34"/>
                        </a:rPr>
                        <a:t>Cairnryan GVMS Port</a:t>
                      </a:r>
                    </a:p>
                  </a:txBody>
                  <a:tcPr marL="2350" marR="2350" marT="2350" marB="0" anchor="b"/>
                </a:tc>
                <a:extLst>
                  <a:ext uri="{0D108BD9-81ED-4DB2-BD59-A6C34878D82A}">
                    <a16:rowId xmlns:a16="http://schemas.microsoft.com/office/drawing/2014/main" val="1452535182"/>
                  </a:ext>
                </a:extLst>
              </a:tr>
              <a:tr h="176579">
                <a:tc>
                  <a:txBody>
                    <a:bodyPr/>
                    <a:lstStyle/>
                    <a:p>
                      <a:pPr lvl="0" algn="l" fontAlgn="b"/>
                      <a:r>
                        <a:rPr lang="en-GB" sz="1000" b="0" i="0" u="none" strike="noStrike">
                          <a:solidFill>
                            <a:srgbClr val="000000"/>
                          </a:solidFill>
                          <a:latin typeface="Calibri" pitchFamily="34"/>
                        </a:rPr>
                        <a:t>GBAUCTMMEDNO2GVM</a:t>
                      </a:r>
                    </a:p>
                  </a:txBody>
                  <a:tcPr marL="2350" marR="2350" marT="2350" marB="0" anchor="b"/>
                </a:tc>
                <a:tc>
                  <a:txBody>
                    <a:bodyPr/>
                    <a:lstStyle/>
                    <a:p>
                      <a:pPr lvl="0" algn="l" fontAlgn="b"/>
                      <a:r>
                        <a:rPr lang="en-GB" sz="1000" b="0" i="0" u="none" strike="noStrike">
                          <a:solidFill>
                            <a:srgbClr val="000000"/>
                          </a:solidFill>
                          <a:latin typeface="Calibri" pitchFamily="34"/>
                        </a:rPr>
                        <a:t>Chatham Docks - (No.2 Berth) GVMS Port</a:t>
                      </a:r>
                    </a:p>
                  </a:txBody>
                  <a:tcPr marL="2350" marR="2350" marT="2350" marB="0" anchor="b"/>
                </a:tc>
                <a:extLst>
                  <a:ext uri="{0D108BD9-81ED-4DB2-BD59-A6C34878D82A}">
                    <a16:rowId xmlns:a16="http://schemas.microsoft.com/office/drawing/2014/main" val="3712849125"/>
                  </a:ext>
                </a:extLst>
              </a:tr>
              <a:tr h="176579">
                <a:tc>
                  <a:txBody>
                    <a:bodyPr/>
                    <a:lstStyle/>
                    <a:p>
                      <a:pPr lvl="0" algn="l" fontAlgn="b"/>
                      <a:r>
                        <a:rPr lang="en-GB" sz="1000" b="0" i="0" u="none" strike="noStrike">
                          <a:solidFill>
                            <a:srgbClr val="000000"/>
                          </a:solidFill>
                          <a:latin typeface="Calibri" pitchFamily="34"/>
                        </a:rPr>
                        <a:t>GBAUPFTLONCMJGVM</a:t>
                      </a:r>
                    </a:p>
                  </a:txBody>
                  <a:tcPr marL="2350" marR="2350" marT="2350" marB="0" anchor="b"/>
                </a:tc>
                <a:tc>
                  <a:txBody>
                    <a:bodyPr/>
                    <a:lstStyle/>
                    <a:p>
                      <a:pPr lvl="0" algn="l" fontAlgn="b"/>
                      <a:r>
                        <a:rPr lang="en-GB" sz="1000" b="0" i="0" u="none" strike="noStrike">
                          <a:solidFill>
                            <a:srgbClr val="000000"/>
                          </a:solidFill>
                          <a:latin typeface="Calibri" pitchFamily="34"/>
                        </a:rPr>
                        <a:t>Civil and Marine Jetty - (Purfleet) GVMS Port</a:t>
                      </a:r>
                    </a:p>
                  </a:txBody>
                  <a:tcPr marL="2350" marR="2350" marT="2350" marB="0" anchor="b"/>
                </a:tc>
                <a:extLst>
                  <a:ext uri="{0D108BD9-81ED-4DB2-BD59-A6C34878D82A}">
                    <a16:rowId xmlns:a16="http://schemas.microsoft.com/office/drawing/2014/main" val="1282680137"/>
                  </a:ext>
                </a:extLst>
              </a:tr>
              <a:tr h="176579">
                <a:tc>
                  <a:txBody>
                    <a:bodyPr/>
                    <a:lstStyle/>
                    <a:p>
                      <a:pPr lvl="0" algn="l" fontAlgn="b"/>
                      <a:r>
                        <a:rPr lang="en-GB" sz="1000" b="0" i="0" u="none" strike="noStrike">
                          <a:solidFill>
                            <a:srgbClr val="000000"/>
                          </a:solidFill>
                          <a:latin typeface="Calibri" pitchFamily="34"/>
                        </a:rPr>
                        <a:t>GBAUDEUDEUDEUGVM</a:t>
                      </a:r>
                    </a:p>
                  </a:txBody>
                  <a:tcPr marL="2350" marR="2350" marT="2350" marB="0" anchor="b"/>
                </a:tc>
                <a:tc>
                  <a:txBody>
                    <a:bodyPr/>
                    <a:lstStyle/>
                    <a:p>
                      <a:pPr lvl="0" algn="l" fontAlgn="b"/>
                      <a:r>
                        <a:rPr lang="en-GB" sz="1000" b="0" i="0" u="none" strike="noStrike">
                          <a:solidFill>
                            <a:srgbClr val="000000"/>
                          </a:solidFill>
                          <a:latin typeface="Calibri" pitchFamily="34"/>
                        </a:rPr>
                        <a:t>Dover/Eurotunnel* GVMS Port</a:t>
                      </a:r>
                    </a:p>
                  </a:txBody>
                  <a:tcPr marL="2350" marR="2350" marT="2350" marB="0" anchor="b"/>
                </a:tc>
                <a:extLst>
                  <a:ext uri="{0D108BD9-81ED-4DB2-BD59-A6C34878D82A}">
                    <a16:rowId xmlns:a16="http://schemas.microsoft.com/office/drawing/2014/main" val="997234311"/>
                  </a:ext>
                </a:extLst>
              </a:tr>
              <a:tr h="176579">
                <a:tc>
                  <a:txBody>
                    <a:bodyPr/>
                    <a:lstStyle/>
                    <a:p>
                      <a:pPr lvl="0" algn="l" fontAlgn="b"/>
                      <a:r>
                        <a:rPr lang="en-GB" sz="1000" b="0" i="0" u="none" strike="noStrike">
                          <a:solidFill>
                            <a:srgbClr val="000000"/>
                          </a:solidFill>
                          <a:latin typeface="Calibri" pitchFamily="34"/>
                        </a:rPr>
                        <a:t>GBAUDVRDOVDVRGVM</a:t>
                      </a:r>
                    </a:p>
                  </a:txBody>
                  <a:tcPr marL="2350" marR="2350" marT="2350" marB="0" anchor="b"/>
                </a:tc>
                <a:tc>
                  <a:txBody>
                    <a:bodyPr/>
                    <a:lstStyle/>
                    <a:p>
                      <a:pPr lvl="0" algn="l" fontAlgn="b"/>
                      <a:r>
                        <a:rPr lang="en-GB" sz="1000" b="0" i="0" u="none" strike="noStrike">
                          <a:solidFill>
                            <a:srgbClr val="000000"/>
                          </a:solidFill>
                          <a:latin typeface="Calibri" pitchFamily="34"/>
                        </a:rPr>
                        <a:t>Dover GVMS Port</a:t>
                      </a:r>
                    </a:p>
                  </a:txBody>
                  <a:tcPr marL="2350" marR="2350" marT="2350" marB="0" anchor="b"/>
                </a:tc>
                <a:extLst>
                  <a:ext uri="{0D108BD9-81ED-4DB2-BD59-A6C34878D82A}">
                    <a16:rowId xmlns:a16="http://schemas.microsoft.com/office/drawing/2014/main" val="1800554777"/>
                  </a:ext>
                </a:extLst>
              </a:tr>
              <a:tr h="176579">
                <a:tc>
                  <a:txBody>
                    <a:bodyPr/>
                    <a:lstStyle/>
                    <a:p>
                      <a:pPr lvl="0" algn="l" fontAlgn="b"/>
                      <a:r>
                        <a:rPr lang="en-GB" sz="1000" b="0" i="0" u="none" strike="noStrike">
                          <a:solidFill>
                            <a:srgbClr val="000000"/>
                          </a:solidFill>
                          <a:latin typeface="Calibri" pitchFamily="34"/>
                        </a:rPr>
                        <a:t>GBAURIDMEDRBSGVM</a:t>
                      </a:r>
                    </a:p>
                  </a:txBody>
                  <a:tcPr marL="2350" marR="2350" marT="2350" marB="0" anchor="b"/>
                </a:tc>
                <a:tc>
                  <a:txBody>
                    <a:bodyPr/>
                    <a:lstStyle/>
                    <a:p>
                      <a:pPr lvl="0" algn="l" fontAlgn="b"/>
                      <a:r>
                        <a:rPr lang="en-GB" sz="1000" b="0" i="0" u="none" strike="noStrike">
                          <a:solidFill>
                            <a:srgbClr val="000000"/>
                          </a:solidFill>
                          <a:latin typeface="Calibri" pitchFamily="34"/>
                        </a:rPr>
                        <a:t>East Side Ridham Dock  GVMS Port</a:t>
                      </a:r>
                    </a:p>
                  </a:txBody>
                  <a:tcPr marL="2350" marR="2350" marT="2350" marB="0" anchor="b"/>
                </a:tc>
                <a:extLst>
                  <a:ext uri="{0D108BD9-81ED-4DB2-BD59-A6C34878D82A}">
                    <a16:rowId xmlns:a16="http://schemas.microsoft.com/office/drawing/2014/main" val="2111214547"/>
                  </a:ext>
                </a:extLst>
              </a:tr>
              <a:tr h="176579">
                <a:tc>
                  <a:txBody>
                    <a:bodyPr/>
                    <a:lstStyle/>
                    <a:p>
                      <a:pPr lvl="0" algn="l" fontAlgn="b"/>
                      <a:r>
                        <a:rPr lang="en-GB" sz="1000" b="0" i="0" u="none" strike="noStrike">
                          <a:solidFill>
                            <a:srgbClr val="000000"/>
                          </a:solidFill>
                          <a:latin typeface="Calibri" pitchFamily="34"/>
                        </a:rPr>
                        <a:t>GBAUELLELLELLGVM</a:t>
                      </a:r>
                    </a:p>
                  </a:txBody>
                  <a:tcPr marL="2350" marR="2350" marT="2350" marB="0" anchor="b"/>
                </a:tc>
                <a:tc>
                  <a:txBody>
                    <a:bodyPr/>
                    <a:lstStyle/>
                    <a:p>
                      <a:pPr lvl="0" algn="l" fontAlgn="b"/>
                      <a:r>
                        <a:rPr lang="en-GB" sz="1000" b="0" i="0" u="none" strike="noStrike">
                          <a:solidFill>
                            <a:srgbClr val="000000"/>
                          </a:solidFill>
                          <a:latin typeface="Calibri" pitchFamily="34"/>
                        </a:rPr>
                        <a:t>Ellesmere Port GVMS Port</a:t>
                      </a:r>
                    </a:p>
                  </a:txBody>
                  <a:tcPr marL="2350" marR="2350" marT="2350" marB="0" anchor="b"/>
                </a:tc>
                <a:extLst>
                  <a:ext uri="{0D108BD9-81ED-4DB2-BD59-A6C34878D82A}">
                    <a16:rowId xmlns:a16="http://schemas.microsoft.com/office/drawing/2014/main" val="2355073071"/>
                  </a:ext>
                </a:extLst>
              </a:tr>
              <a:tr h="176579">
                <a:tc>
                  <a:txBody>
                    <a:bodyPr/>
                    <a:lstStyle/>
                    <a:p>
                      <a:pPr lvl="0" algn="l" fontAlgn="b"/>
                      <a:r>
                        <a:rPr lang="en-GB" sz="1000" b="0" i="0" u="none" strike="noStrike">
                          <a:solidFill>
                            <a:srgbClr val="000000"/>
                          </a:solidFill>
                          <a:latin typeface="Calibri" pitchFamily="34"/>
                        </a:rPr>
                        <a:t>GBAUEUTEUTEUTGVM</a:t>
                      </a:r>
                    </a:p>
                  </a:txBody>
                  <a:tcPr marL="2350" marR="2350" marT="2350" marB="0" anchor="b"/>
                </a:tc>
                <a:tc>
                  <a:txBody>
                    <a:bodyPr/>
                    <a:lstStyle/>
                    <a:p>
                      <a:pPr lvl="0" algn="l" fontAlgn="b"/>
                      <a:r>
                        <a:rPr lang="en-GB" sz="1000" b="0" i="0" u="none" strike="noStrike">
                          <a:solidFill>
                            <a:srgbClr val="000000"/>
                          </a:solidFill>
                          <a:latin typeface="Calibri" pitchFamily="34"/>
                        </a:rPr>
                        <a:t>Eurotunnel (Folkestone) GVMS Port</a:t>
                      </a:r>
                    </a:p>
                  </a:txBody>
                  <a:tcPr marL="2350" marR="2350" marT="2350" marB="0" anchor="b"/>
                </a:tc>
                <a:extLst>
                  <a:ext uri="{0D108BD9-81ED-4DB2-BD59-A6C34878D82A}">
                    <a16:rowId xmlns:a16="http://schemas.microsoft.com/office/drawing/2014/main" val="3043294573"/>
                  </a:ext>
                </a:extLst>
              </a:tr>
              <a:tr h="176579">
                <a:tc>
                  <a:txBody>
                    <a:bodyPr/>
                    <a:lstStyle/>
                    <a:p>
                      <a:pPr lvl="0" algn="l" fontAlgn="b"/>
                      <a:r>
                        <a:rPr lang="en-GB" sz="1000" b="0" i="0" u="none" strike="noStrike">
                          <a:solidFill>
                            <a:srgbClr val="000000"/>
                          </a:solidFill>
                          <a:latin typeface="Calibri" pitchFamily="34"/>
                        </a:rPr>
                        <a:t>GBAUFXTFXTFXTGVM</a:t>
                      </a:r>
                    </a:p>
                  </a:txBody>
                  <a:tcPr marL="2350" marR="2350" marT="2350" marB="0" anchor="b"/>
                </a:tc>
                <a:tc>
                  <a:txBody>
                    <a:bodyPr/>
                    <a:lstStyle/>
                    <a:p>
                      <a:pPr lvl="0" algn="l" fontAlgn="b"/>
                      <a:r>
                        <a:rPr lang="en-GB" sz="1000" b="0" i="0" u="none" strike="noStrike">
                          <a:solidFill>
                            <a:srgbClr val="000000"/>
                          </a:solidFill>
                          <a:latin typeface="Calibri" pitchFamily="34"/>
                        </a:rPr>
                        <a:t>Felixstowe GVMS Port</a:t>
                      </a:r>
                    </a:p>
                  </a:txBody>
                  <a:tcPr marL="2350" marR="2350" marT="2350" marB="0" anchor="b"/>
                </a:tc>
                <a:extLst>
                  <a:ext uri="{0D108BD9-81ED-4DB2-BD59-A6C34878D82A}">
                    <a16:rowId xmlns:a16="http://schemas.microsoft.com/office/drawing/2014/main" val="1700758505"/>
                  </a:ext>
                </a:extLst>
              </a:tr>
              <a:tr h="176579">
                <a:tc>
                  <a:txBody>
                    <a:bodyPr/>
                    <a:lstStyle/>
                    <a:p>
                      <a:pPr lvl="0" algn="l" fontAlgn="b"/>
                      <a:r>
                        <a:rPr lang="en-GB" sz="1000" b="0" i="0" u="none" strike="noStrike">
                          <a:solidFill>
                            <a:srgbClr val="000000"/>
                          </a:solidFill>
                          <a:latin typeface="Calibri" pitchFamily="34"/>
                        </a:rPr>
                        <a:t>GBAUFISFISFISGVM</a:t>
                      </a:r>
                    </a:p>
                  </a:txBody>
                  <a:tcPr marL="2350" marR="2350" marT="2350" marB="0" anchor="b"/>
                </a:tc>
                <a:tc>
                  <a:txBody>
                    <a:bodyPr/>
                    <a:lstStyle/>
                    <a:p>
                      <a:pPr lvl="0" algn="l" fontAlgn="b"/>
                      <a:r>
                        <a:rPr lang="en-GB" sz="1000" b="0" i="0" u="none" strike="noStrike">
                          <a:solidFill>
                            <a:srgbClr val="000000"/>
                          </a:solidFill>
                          <a:latin typeface="Calibri" pitchFamily="34"/>
                        </a:rPr>
                        <a:t>Fishguard GVMS Port</a:t>
                      </a:r>
                    </a:p>
                  </a:txBody>
                  <a:tcPr marL="2350" marR="2350" marT="2350" marB="0" anchor="b"/>
                </a:tc>
                <a:extLst>
                  <a:ext uri="{0D108BD9-81ED-4DB2-BD59-A6C34878D82A}">
                    <a16:rowId xmlns:a16="http://schemas.microsoft.com/office/drawing/2014/main" val="3469222101"/>
                  </a:ext>
                </a:extLst>
              </a:tr>
              <a:tr h="176579">
                <a:tc>
                  <a:txBody>
                    <a:bodyPr/>
                    <a:lstStyle/>
                    <a:p>
                      <a:pPr lvl="0" algn="l" fontAlgn="b"/>
                      <a:r>
                        <a:rPr lang="en-GB" sz="1000" b="0" i="0" u="none" strike="noStrike">
                          <a:solidFill>
                            <a:srgbClr val="000000"/>
                          </a:solidFill>
                          <a:latin typeface="Calibri" pitchFamily="34"/>
                        </a:rPr>
                        <a:t>GBAURIDMEDGHJGVM</a:t>
                      </a:r>
                    </a:p>
                  </a:txBody>
                  <a:tcPr marL="2350" marR="2350" marT="2350" marB="0" anchor="b"/>
                </a:tc>
                <a:tc>
                  <a:txBody>
                    <a:bodyPr/>
                    <a:lstStyle/>
                    <a:p>
                      <a:pPr lvl="0" algn="l" fontAlgn="b"/>
                      <a:r>
                        <a:rPr lang="en-GB" sz="1000" b="0" i="0" u="none" strike="noStrike">
                          <a:solidFill>
                            <a:srgbClr val="000000"/>
                          </a:solidFill>
                          <a:latin typeface="Calibri" pitchFamily="34"/>
                        </a:rPr>
                        <a:t>Grovehurst Jetty GVMS Port</a:t>
                      </a:r>
                    </a:p>
                  </a:txBody>
                  <a:tcPr marL="2350" marR="2350" marT="2350" marB="0" anchor="b"/>
                </a:tc>
                <a:extLst>
                  <a:ext uri="{0D108BD9-81ED-4DB2-BD59-A6C34878D82A}">
                    <a16:rowId xmlns:a16="http://schemas.microsoft.com/office/drawing/2014/main" val="3053634318"/>
                  </a:ext>
                </a:extLst>
              </a:tr>
              <a:tr h="176579">
                <a:tc>
                  <a:txBody>
                    <a:bodyPr/>
                    <a:lstStyle/>
                    <a:p>
                      <a:pPr lvl="0" algn="l" fontAlgn="b"/>
                      <a:r>
                        <a:rPr lang="en-GB" sz="1000" b="0" i="0" u="none" strike="noStrike">
                          <a:solidFill>
                            <a:srgbClr val="000000"/>
                          </a:solidFill>
                          <a:latin typeface="Calibri" pitchFamily="34"/>
                        </a:rPr>
                        <a:t>GBAUHRHHRHHRHGVM</a:t>
                      </a:r>
                    </a:p>
                  </a:txBody>
                  <a:tcPr marL="2350" marR="2350" marT="2350" marB="0" anchor="b"/>
                </a:tc>
                <a:tc>
                  <a:txBody>
                    <a:bodyPr/>
                    <a:lstStyle/>
                    <a:p>
                      <a:pPr lvl="0" algn="l" fontAlgn="b"/>
                      <a:r>
                        <a:rPr lang="en-GB" sz="1000" b="0" i="0" u="none" strike="noStrike">
                          <a:solidFill>
                            <a:srgbClr val="000000"/>
                          </a:solidFill>
                          <a:latin typeface="Calibri" pitchFamily="34"/>
                        </a:rPr>
                        <a:t>Harwich GVMS Port</a:t>
                      </a:r>
                    </a:p>
                  </a:txBody>
                  <a:tcPr marL="2350" marR="2350" marT="2350" marB="0" anchor="b"/>
                </a:tc>
                <a:extLst>
                  <a:ext uri="{0D108BD9-81ED-4DB2-BD59-A6C34878D82A}">
                    <a16:rowId xmlns:a16="http://schemas.microsoft.com/office/drawing/2014/main" val="99163502"/>
                  </a:ext>
                </a:extLst>
              </a:tr>
              <a:tr h="176579">
                <a:tc>
                  <a:txBody>
                    <a:bodyPr/>
                    <a:lstStyle/>
                    <a:p>
                      <a:pPr lvl="0" algn="l" fontAlgn="b"/>
                      <a:r>
                        <a:rPr lang="en-GB" sz="1000" b="0" i="0" u="none" strike="noStrike">
                          <a:solidFill>
                            <a:srgbClr val="000000"/>
                          </a:solidFill>
                          <a:latin typeface="Calibri" pitchFamily="34"/>
                        </a:rPr>
                        <a:t>GBAUHYMHEYHYMGVM</a:t>
                      </a:r>
                    </a:p>
                  </a:txBody>
                  <a:tcPr marL="2350" marR="2350" marT="2350" marB="0" anchor="b"/>
                </a:tc>
                <a:tc>
                  <a:txBody>
                    <a:bodyPr/>
                    <a:lstStyle/>
                    <a:p>
                      <a:pPr lvl="0" algn="l" fontAlgn="b"/>
                      <a:r>
                        <a:rPr lang="en-GB" sz="1000" b="0" i="0" u="none" strike="noStrike">
                          <a:solidFill>
                            <a:srgbClr val="000000"/>
                          </a:solidFill>
                          <a:latin typeface="Calibri" pitchFamily="34"/>
                        </a:rPr>
                        <a:t>Heysham GVMS Port</a:t>
                      </a:r>
                    </a:p>
                  </a:txBody>
                  <a:tcPr marL="2350" marR="2350" marT="2350" marB="0" anchor="b"/>
                </a:tc>
                <a:extLst>
                  <a:ext uri="{0D108BD9-81ED-4DB2-BD59-A6C34878D82A}">
                    <a16:rowId xmlns:a16="http://schemas.microsoft.com/office/drawing/2014/main" val="2959539795"/>
                  </a:ext>
                </a:extLst>
              </a:tr>
              <a:tr h="176579">
                <a:tc>
                  <a:txBody>
                    <a:bodyPr/>
                    <a:lstStyle/>
                    <a:p>
                      <a:pPr lvl="0" algn="l" fontAlgn="b"/>
                      <a:r>
                        <a:rPr lang="en-GB" sz="1000" b="0" i="0" u="none" strike="noStrike">
                          <a:solidFill>
                            <a:srgbClr val="000000"/>
                          </a:solidFill>
                          <a:latin typeface="Calibri" pitchFamily="34"/>
                        </a:rPr>
                        <a:t>GBAUHLYHLDHLYGVM</a:t>
                      </a:r>
                    </a:p>
                  </a:txBody>
                  <a:tcPr marL="2350" marR="2350" marT="2350" marB="0" anchor="b"/>
                </a:tc>
                <a:tc>
                  <a:txBody>
                    <a:bodyPr/>
                    <a:lstStyle/>
                    <a:p>
                      <a:pPr lvl="0" algn="l" fontAlgn="b"/>
                      <a:r>
                        <a:rPr lang="en-GB" sz="1000" b="0" i="0" u="none" strike="noStrike">
                          <a:solidFill>
                            <a:srgbClr val="000000"/>
                          </a:solidFill>
                          <a:latin typeface="Calibri" pitchFamily="34"/>
                        </a:rPr>
                        <a:t>Holyhead GVMS Port</a:t>
                      </a:r>
                    </a:p>
                  </a:txBody>
                  <a:tcPr marL="2350" marR="2350" marT="2350" marB="0" anchor="b"/>
                </a:tc>
                <a:extLst>
                  <a:ext uri="{0D108BD9-81ED-4DB2-BD59-A6C34878D82A}">
                    <a16:rowId xmlns:a16="http://schemas.microsoft.com/office/drawing/2014/main" val="1756598350"/>
                  </a:ext>
                </a:extLst>
              </a:tr>
              <a:tr h="176579">
                <a:tc>
                  <a:txBody>
                    <a:bodyPr/>
                    <a:lstStyle/>
                    <a:p>
                      <a:pPr lvl="0" algn="l" fontAlgn="b"/>
                      <a:r>
                        <a:rPr lang="en-GB" sz="1000" b="0" i="0" u="none" strike="noStrike">
                          <a:solidFill>
                            <a:srgbClr val="000000"/>
                          </a:solidFill>
                          <a:latin typeface="Calibri" pitchFamily="34"/>
                        </a:rPr>
                        <a:t>GBAUHULHULHULGVM</a:t>
                      </a:r>
                    </a:p>
                  </a:txBody>
                  <a:tcPr marL="2350" marR="2350" marT="2350" marB="0" anchor="b"/>
                </a:tc>
                <a:tc>
                  <a:txBody>
                    <a:bodyPr/>
                    <a:lstStyle/>
                    <a:p>
                      <a:pPr lvl="0" algn="l" fontAlgn="b"/>
                      <a:r>
                        <a:rPr lang="en-GB" sz="1000" b="0" i="0" u="none" strike="noStrike" dirty="0">
                          <a:solidFill>
                            <a:srgbClr val="000000"/>
                          </a:solidFill>
                          <a:latin typeface="Calibri" pitchFamily="34"/>
                        </a:rPr>
                        <a:t>Hull GVMS Port</a:t>
                      </a:r>
                    </a:p>
                  </a:txBody>
                  <a:tcPr marL="2350" marR="2350" marT="2350" marB="0" anchor="b"/>
                </a:tc>
                <a:extLst>
                  <a:ext uri="{0D108BD9-81ED-4DB2-BD59-A6C34878D82A}">
                    <a16:rowId xmlns:a16="http://schemas.microsoft.com/office/drawing/2014/main" val="1668188840"/>
                  </a:ext>
                </a:extLst>
              </a:tr>
            </a:tbl>
          </a:graphicData>
        </a:graphic>
      </p:graphicFrame>
      <p:graphicFrame>
        <p:nvGraphicFramePr>
          <p:cNvPr id="10" name="Table 4">
            <a:extLst>
              <a:ext uri="{FF2B5EF4-FFF2-40B4-BE49-F238E27FC236}">
                <a16:creationId xmlns:a16="http://schemas.microsoft.com/office/drawing/2014/main" id="{7B1001D4-02C3-464B-80A4-B3FA9ED92E5F}"/>
              </a:ext>
            </a:extLst>
          </p:cNvPr>
          <p:cNvGraphicFramePr>
            <a:graphicFrameLocks noGrp="1"/>
          </p:cNvGraphicFramePr>
          <p:nvPr/>
        </p:nvGraphicFramePr>
        <p:xfrm>
          <a:off x="6265752" y="2042925"/>
          <a:ext cx="5480144" cy="3629321"/>
        </p:xfrm>
        <a:graphic>
          <a:graphicData uri="http://schemas.openxmlformats.org/drawingml/2006/table">
            <a:tbl>
              <a:tblPr firstRow="1" bandRow="1">
                <a:effectLst/>
                <a:tableStyleId>{5C22544A-7EE6-4342-B048-85BDC9FD1C3A}</a:tableStyleId>
              </a:tblPr>
              <a:tblGrid>
                <a:gridCol w="1965237">
                  <a:extLst>
                    <a:ext uri="{9D8B030D-6E8A-4147-A177-3AD203B41FA5}">
                      <a16:colId xmlns:a16="http://schemas.microsoft.com/office/drawing/2014/main" val="1321402917"/>
                    </a:ext>
                  </a:extLst>
                </a:gridCol>
                <a:gridCol w="3514907">
                  <a:extLst>
                    <a:ext uri="{9D8B030D-6E8A-4147-A177-3AD203B41FA5}">
                      <a16:colId xmlns:a16="http://schemas.microsoft.com/office/drawing/2014/main" val="2450685940"/>
                    </a:ext>
                  </a:extLst>
                </a:gridCol>
              </a:tblGrid>
              <a:tr h="0">
                <a:tc>
                  <a:txBody>
                    <a:bodyPr/>
                    <a:lstStyle/>
                    <a:p>
                      <a:pPr lvl="0"/>
                      <a:r>
                        <a:rPr lang="en-GB" sz="1200"/>
                        <a:t>GVMS Location codes</a:t>
                      </a:r>
                    </a:p>
                  </a:txBody>
                  <a:tcPr/>
                </a:tc>
                <a:tc>
                  <a:txBody>
                    <a:bodyPr/>
                    <a:lstStyle/>
                    <a:p>
                      <a:pPr lvl="0"/>
                      <a:r>
                        <a:rPr lang="en-GB" sz="1200"/>
                        <a:t>Description</a:t>
                      </a:r>
                    </a:p>
                  </a:txBody>
                  <a:tcPr/>
                </a:tc>
                <a:extLst>
                  <a:ext uri="{0D108BD9-81ED-4DB2-BD59-A6C34878D82A}">
                    <a16:rowId xmlns:a16="http://schemas.microsoft.com/office/drawing/2014/main" val="2486643524"/>
                  </a:ext>
                </a:extLst>
              </a:tr>
              <a:tr h="176579">
                <a:tc>
                  <a:txBody>
                    <a:bodyPr/>
                    <a:lstStyle/>
                    <a:p>
                      <a:pPr lvl="0" algn="l" fontAlgn="b"/>
                      <a:r>
                        <a:rPr lang="en-GB" sz="1000" b="0" i="0" u="none" strike="noStrike">
                          <a:solidFill>
                            <a:srgbClr val="000000"/>
                          </a:solidFill>
                          <a:latin typeface="Calibri" pitchFamily="34"/>
                        </a:rPr>
                        <a:t>GBAUIMMIMMIMMGVM</a:t>
                      </a:r>
                    </a:p>
                  </a:txBody>
                  <a:tcPr marL="2350" marR="2350" marT="2350" marB="0" anchor="b"/>
                </a:tc>
                <a:tc>
                  <a:txBody>
                    <a:bodyPr/>
                    <a:lstStyle/>
                    <a:p>
                      <a:pPr lvl="0" algn="l" fontAlgn="b"/>
                      <a:r>
                        <a:rPr lang="en-GB" sz="1000" b="0" i="0" u="none" strike="noStrike">
                          <a:solidFill>
                            <a:srgbClr val="000000"/>
                          </a:solidFill>
                          <a:latin typeface="Calibri" pitchFamily="34"/>
                        </a:rPr>
                        <a:t>Immingham GVMS Port</a:t>
                      </a:r>
                    </a:p>
                  </a:txBody>
                  <a:tcPr marL="2350" marR="2350" marT="2350" marB="0" anchor="b"/>
                </a:tc>
                <a:extLst>
                  <a:ext uri="{0D108BD9-81ED-4DB2-BD59-A6C34878D82A}">
                    <a16:rowId xmlns:a16="http://schemas.microsoft.com/office/drawing/2014/main" val="1861023917"/>
                  </a:ext>
                </a:extLst>
              </a:tr>
              <a:tr h="176579">
                <a:tc>
                  <a:txBody>
                    <a:bodyPr/>
                    <a:lstStyle/>
                    <a:p>
                      <a:pPr lvl="0" algn="l" fontAlgn="b"/>
                      <a:r>
                        <a:rPr lang="en-GB" sz="1000" b="0" i="0" u="none" strike="noStrike">
                          <a:solidFill>
                            <a:srgbClr val="000000"/>
                          </a:solidFill>
                          <a:latin typeface="Calibri" pitchFamily="34"/>
                        </a:rPr>
                        <a:t>GBAUKLHKILKLHGVM</a:t>
                      </a:r>
                    </a:p>
                  </a:txBody>
                  <a:tcPr marL="2350" marR="2350" marT="2350" marB="0" anchor="b"/>
                </a:tc>
                <a:tc>
                  <a:txBody>
                    <a:bodyPr/>
                    <a:lstStyle/>
                    <a:p>
                      <a:pPr lvl="0" algn="l" fontAlgn="b"/>
                      <a:r>
                        <a:rPr lang="en-GB" sz="1000" b="0" i="0" u="none" strike="noStrike">
                          <a:solidFill>
                            <a:srgbClr val="000000"/>
                          </a:solidFill>
                          <a:latin typeface="Calibri" pitchFamily="34"/>
                        </a:rPr>
                        <a:t>Killingholme GVMS Port</a:t>
                      </a:r>
                    </a:p>
                  </a:txBody>
                  <a:tcPr marL="2350" marR="2350" marT="2350" marB="0" anchor="b"/>
                </a:tc>
                <a:extLst>
                  <a:ext uri="{0D108BD9-81ED-4DB2-BD59-A6C34878D82A}">
                    <a16:rowId xmlns:a16="http://schemas.microsoft.com/office/drawing/2014/main" val="1469163001"/>
                  </a:ext>
                </a:extLst>
              </a:tr>
              <a:tr h="176579">
                <a:tc>
                  <a:txBody>
                    <a:bodyPr/>
                    <a:lstStyle/>
                    <a:p>
                      <a:pPr lvl="0" algn="l" fontAlgn="b"/>
                      <a:r>
                        <a:rPr lang="en-GB" sz="1000" b="0" i="0" u="none" strike="noStrike">
                          <a:solidFill>
                            <a:srgbClr val="000000"/>
                          </a:solidFill>
                          <a:latin typeface="Calibri" pitchFamily="34"/>
                        </a:rPr>
                        <a:t>GBAULIVLIVLIVGVM</a:t>
                      </a:r>
                    </a:p>
                  </a:txBody>
                  <a:tcPr marL="2350" marR="2350" marT="2350" marB="0" anchor="b"/>
                </a:tc>
                <a:tc>
                  <a:txBody>
                    <a:bodyPr/>
                    <a:lstStyle/>
                    <a:p>
                      <a:pPr lvl="0" algn="l" fontAlgn="b"/>
                      <a:r>
                        <a:rPr lang="en-GB" sz="1000" b="0" i="0" u="none" strike="noStrike">
                          <a:solidFill>
                            <a:srgbClr val="000000"/>
                          </a:solidFill>
                          <a:latin typeface="Calibri" pitchFamily="34"/>
                        </a:rPr>
                        <a:t>Liverpool GVMS Port</a:t>
                      </a:r>
                    </a:p>
                  </a:txBody>
                  <a:tcPr marL="2350" marR="2350" marT="2350" marB="0" anchor="b"/>
                </a:tc>
                <a:extLst>
                  <a:ext uri="{0D108BD9-81ED-4DB2-BD59-A6C34878D82A}">
                    <a16:rowId xmlns:a16="http://schemas.microsoft.com/office/drawing/2014/main" val="3624623641"/>
                  </a:ext>
                </a:extLst>
              </a:tr>
              <a:tr h="176579">
                <a:tc>
                  <a:txBody>
                    <a:bodyPr/>
                    <a:lstStyle/>
                    <a:p>
                      <a:pPr lvl="0" algn="l" fontAlgn="b"/>
                      <a:r>
                        <a:rPr lang="en-GB" sz="1000" b="0" i="0" u="none" strike="noStrike">
                          <a:solidFill>
                            <a:srgbClr val="000000"/>
                          </a:solidFill>
                          <a:latin typeface="Calibri" pitchFamily="34"/>
                        </a:rPr>
                        <a:t>GBAUNHVNHVNHVGVM</a:t>
                      </a:r>
                    </a:p>
                  </a:txBody>
                  <a:tcPr marL="2350" marR="2350" marT="2350" marB="0" anchor="b"/>
                </a:tc>
                <a:tc>
                  <a:txBody>
                    <a:bodyPr/>
                    <a:lstStyle/>
                    <a:p>
                      <a:pPr lvl="0" algn="l" fontAlgn="b"/>
                      <a:r>
                        <a:rPr lang="en-GB" sz="1000" b="0" i="0" u="none" strike="noStrike">
                          <a:solidFill>
                            <a:srgbClr val="000000"/>
                          </a:solidFill>
                          <a:latin typeface="Calibri" pitchFamily="34"/>
                        </a:rPr>
                        <a:t>Newhaven GVMS Port</a:t>
                      </a:r>
                    </a:p>
                  </a:txBody>
                  <a:tcPr marL="2350" marR="2350" marT="2350" marB="0" anchor="b"/>
                </a:tc>
                <a:extLst>
                  <a:ext uri="{0D108BD9-81ED-4DB2-BD59-A6C34878D82A}">
                    <a16:rowId xmlns:a16="http://schemas.microsoft.com/office/drawing/2014/main" val="4256312621"/>
                  </a:ext>
                </a:extLst>
              </a:tr>
              <a:tr h="176579">
                <a:tc>
                  <a:txBody>
                    <a:bodyPr/>
                    <a:lstStyle/>
                    <a:p>
                      <a:pPr lvl="0" algn="l" fontAlgn="b"/>
                      <a:r>
                        <a:rPr lang="en-GB" sz="1000" b="0" i="0" u="none" strike="noStrike">
                          <a:solidFill>
                            <a:srgbClr val="000000"/>
                          </a:solidFill>
                          <a:latin typeface="Calibri" pitchFamily="34"/>
                        </a:rPr>
                        <a:t>GBAUIOGMEDNSJGVM</a:t>
                      </a:r>
                    </a:p>
                  </a:txBody>
                  <a:tcPr marL="2350" marR="2350" marT="2350" marB="0" anchor="b"/>
                </a:tc>
                <a:tc>
                  <a:txBody>
                    <a:bodyPr/>
                    <a:lstStyle/>
                    <a:p>
                      <a:pPr lvl="0" algn="l" fontAlgn="b"/>
                      <a:r>
                        <a:rPr lang="en-GB" sz="1000" b="0" i="0" u="none" strike="noStrike">
                          <a:solidFill>
                            <a:srgbClr val="000000"/>
                          </a:solidFill>
                          <a:latin typeface="Calibri" pitchFamily="34"/>
                        </a:rPr>
                        <a:t>No 6 Jetty - (Isle of Grain) GVMS Port</a:t>
                      </a:r>
                    </a:p>
                  </a:txBody>
                  <a:tcPr marL="2350" marR="2350" marT="2350" marB="0" anchor="b"/>
                </a:tc>
                <a:extLst>
                  <a:ext uri="{0D108BD9-81ED-4DB2-BD59-A6C34878D82A}">
                    <a16:rowId xmlns:a16="http://schemas.microsoft.com/office/drawing/2014/main" val="257575306"/>
                  </a:ext>
                </a:extLst>
              </a:tr>
              <a:tr h="176579">
                <a:tc>
                  <a:txBody>
                    <a:bodyPr/>
                    <a:lstStyle/>
                    <a:p>
                      <a:pPr lvl="0" algn="l" fontAlgn="b"/>
                      <a:r>
                        <a:rPr lang="en-GB" sz="1000" b="0" i="0" u="none" strike="noStrike">
                          <a:solidFill>
                            <a:srgbClr val="000000"/>
                          </a:solidFill>
                          <a:latin typeface="Calibri" pitchFamily="34"/>
                        </a:rPr>
                        <a:t>GBAUPEDMILPEDGVM</a:t>
                      </a:r>
                    </a:p>
                  </a:txBody>
                  <a:tcPr marL="2350" marR="2350" marT="2350" marB="0" anchor="b"/>
                </a:tc>
                <a:tc>
                  <a:txBody>
                    <a:bodyPr/>
                    <a:lstStyle/>
                    <a:p>
                      <a:pPr lvl="0" algn="l" fontAlgn="b"/>
                      <a:r>
                        <a:rPr lang="en-GB" sz="1000" b="0" i="0" u="none" strike="noStrike">
                          <a:solidFill>
                            <a:srgbClr val="000000"/>
                          </a:solidFill>
                          <a:latin typeface="Calibri" pitchFamily="34"/>
                        </a:rPr>
                        <a:t>Pembroke GVMS Port</a:t>
                      </a:r>
                    </a:p>
                  </a:txBody>
                  <a:tcPr marL="2350" marR="2350" marT="2350" marB="0" anchor="b"/>
                </a:tc>
                <a:extLst>
                  <a:ext uri="{0D108BD9-81ED-4DB2-BD59-A6C34878D82A}">
                    <a16:rowId xmlns:a16="http://schemas.microsoft.com/office/drawing/2014/main" val="3416429606"/>
                  </a:ext>
                </a:extLst>
              </a:tr>
              <a:tr h="176579">
                <a:tc>
                  <a:txBody>
                    <a:bodyPr/>
                    <a:lstStyle/>
                    <a:p>
                      <a:pPr lvl="0" algn="l" fontAlgn="b"/>
                      <a:r>
                        <a:rPr lang="en-GB" sz="1000" b="0" i="0" u="none" strike="noStrike">
                          <a:solidFill>
                            <a:srgbClr val="000000"/>
                          </a:solidFill>
                          <a:latin typeface="Calibri" pitchFamily="34"/>
                        </a:rPr>
                        <a:t>GBAUPLYPLYPLYGVM</a:t>
                      </a:r>
                    </a:p>
                  </a:txBody>
                  <a:tcPr marL="2350" marR="2350" marT="2350" marB="0" anchor="b"/>
                </a:tc>
                <a:tc>
                  <a:txBody>
                    <a:bodyPr/>
                    <a:lstStyle/>
                    <a:p>
                      <a:pPr lvl="0" algn="l" fontAlgn="b"/>
                      <a:r>
                        <a:rPr lang="en-GB" sz="1000" b="0" i="0" u="none" strike="noStrike">
                          <a:solidFill>
                            <a:srgbClr val="000000"/>
                          </a:solidFill>
                          <a:latin typeface="Calibri" pitchFamily="34"/>
                        </a:rPr>
                        <a:t>Plymouth GVMS Port</a:t>
                      </a:r>
                    </a:p>
                  </a:txBody>
                  <a:tcPr marL="2350" marR="2350" marT="2350" marB="0" anchor="b"/>
                </a:tc>
                <a:extLst>
                  <a:ext uri="{0D108BD9-81ED-4DB2-BD59-A6C34878D82A}">
                    <a16:rowId xmlns:a16="http://schemas.microsoft.com/office/drawing/2014/main" val="1123509971"/>
                  </a:ext>
                </a:extLst>
              </a:tr>
              <a:tr h="176579">
                <a:tc>
                  <a:txBody>
                    <a:bodyPr/>
                    <a:lstStyle/>
                    <a:p>
                      <a:pPr lvl="0" algn="l" fontAlgn="b"/>
                      <a:r>
                        <a:rPr lang="en-GB" sz="1000" b="0" i="0" u="none" strike="noStrike">
                          <a:solidFill>
                            <a:srgbClr val="000000"/>
                          </a:solidFill>
                          <a:latin typeface="Calibri" pitchFamily="34"/>
                        </a:rPr>
                        <a:t>GBAUPOOPOOPOOGVM</a:t>
                      </a:r>
                    </a:p>
                  </a:txBody>
                  <a:tcPr marL="2350" marR="2350" marT="2350" marB="0" anchor="b"/>
                </a:tc>
                <a:tc>
                  <a:txBody>
                    <a:bodyPr/>
                    <a:lstStyle/>
                    <a:p>
                      <a:pPr lvl="0" algn="l" fontAlgn="b"/>
                      <a:r>
                        <a:rPr lang="en-GB" sz="1000" b="0" i="0" u="none" strike="noStrike">
                          <a:solidFill>
                            <a:srgbClr val="000000"/>
                          </a:solidFill>
                          <a:latin typeface="Calibri" pitchFamily="34"/>
                        </a:rPr>
                        <a:t>Poole GVMS Port</a:t>
                      </a:r>
                    </a:p>
                  </a:txBody>
                  <a:tcPr marL="2350" marR="2350" marT="2350" marB="0" anchor="b"/>
                </a:tc>
                <a:extLst>
                  <a:ext uri="{0D108BD9-81ED-4DB2-BD59-A6C34878D82A}">
                    <a16:rowId xmlns:a16="http://schemas.microsoft.com/office/drawing/2014/main" val="3098079092"/>
                  </a:ext>
                </a:extLst>
              </a:tr>
              <a:tr h="176579">
                <a:tc>
                  <a:txBody>
                    <a:bodyPr/>
                    <a:lstStyle/>
                    <a:p>
                      <a:pPr lvl="0" algn="l" fontAlgn="b"/>
                      <a:r>
                        <a:rPr lang="en-GB" sz="1000" b="0" i="0" u="none" strike="noStrike">
                          <a:solidFill>
                            <a:srgbClr val="000000"/>
                          </a:solidFill>
                          <a:latin typeface="Calibri" pitchFamily="34"/>
                        </a:rPr>
                        <a:t>GBAUNCLTYNNCLGVM</a:t>
                      </a:r>
                    </a:p>
                  </a:txBody>
                  <a:tcPr marL="2350" marR="2350" marT="2350" marB="0" anchor="b"/>
                </a:tc>
                <a:tc>
                  <a:txBody>
                    <a:bodyPr/>
                    <a:lstStyle/>
                    <a:p>
                      <a:pPr lvl="0" algn="l" fontAlgn="b"/>
                      <a:r>
                        <a:rPr lang="fr-FR" sz="1000" b="0" i="0" u="none" strike="noStrike">
                          <a:solidFill>
                            <a:srgbClr val="000000"/>
                          </a:solidFill>
                          <a:latin typeface="Calibri" pitchFamily="34"/>
                        </a:rPr>
                        <a:t>Port of Tyne GVMS Port</a:t>
                      </a:r>
                    </a:p>
                  </a:txBody>
                  <a:tcPr marL="2350" marR="2350" marT="2350" marB="0" anchor="b"/>
                </a:tc>
                <a:extLst>
                  <a:ext uri="{0D108BD9-81ED-4DB2-BD59-A6C34878D82A}">
                    <a16:rowId xmlns:a16="http://schemas.microsoft.com/office/drawing/2014/main" val="1872281711"/>
                  </a:ext>
                </a:extLst>
              </a:tr>
              <a:tr h="176579">
                <a:tc>
                  <a:txBody>
                    <a:bodyPr/>
                    <a:lstStyle/>
                    <a:p>
                      <a:pPr lvl="0" algn="l" fontAlgn="b"/>
                      <a:r>
                        <a:rPr lang="en-GB" sz="1000" b="0" i="0" u="none" strike="noStrike">
                          <a:solidFill>
                            <a:srgbClr val="000000"/>
                          </a:solidFill>
                          <a:latin typeface="Calibri" pitchFamily="34"/>
                        </a:rPr>
                        <a:t>GBAUPMEPTMPMEGVM</a:t>
                      </a:r>
                    </a:p>
                  </a:txBody>
                  <a:tcPr marL="2350" marR="2350" marT="2350" marB="0" anchor="b"/>
                </a:tc>
                <a:tc>
                  <a:txBody>
                    <a:bodyPr/>
                    <a:lstStyle/>
                    <a:p>
                      <a:pPr lvl="0" algn="l" fontAlgn="b"/>
                      <a:r>
                        <a:rPr lang="en-GB" sz="1000" b="0" i="0" u="none" strike="noStrike">
                          <a:solidFill>
                            <a:srgbClr val="000000"/>
                          </a:solidFill>
                          <a:latin typeface="Calibri" pitchFamily="34"/>
                        </a:rPr>
                        <a:t>Portsmouth GVMS Port</a:t>
                      </a:r>
                    </a:p>
                  </a:txBody>
                  <a:tcPr marL="2350" marR="2350" marT="2350" marB="0" anchor="b"/>
                </a:tc>
                <a:extLst>
                  <a:ext uri="{0D108BD9-81ED-4DB2-BD59-A6C34878D82A}">
                    <a16:rowId xmlns:a16="http://schemas.microsoft.com/office/drawing/2014/main" val="1553371818"/>
                  </a:ext>
                </a:extLst>
              </a:tr>
              <a:tr h="176579">
                <a:tc>
                  <a:txBody>
                    <a:bodyPr/>
                    <a:lstStyle/>
                    <a:p>
                      <a:pPr lvl="0" algn="l" fontAlgn="b"/>
                      <a:r>
                        <a:rPr lang="en-GB" sz="1000" b="0" i="0" u="none" strike="noStrike">
                          <a:solidFill>
                            <a:srgbClr val="000000"/>
                          </a:solidFill>
                          <a:latin typeface="Calibri" pitchFamily="34"/>
                        </a:rPr>
                        <a:t>GBAUPUFPUFPUFGVM</a:t>
                      </a:r>
                    </a:p>
                  </a:txBody>
                  <a:tcPr marL="2350" marR="2350" marT="2350" marB="0" anchor="b"/>
                </a:tc>
                <a:tc>
                  <a:txBody>
                    <a:bodyPr/>
                    <a:lstStyle/>
                    <a:p>
                      <a:pPr lvl="0" algn="l" fontAlgn="b"/>
                      <a:r>
                        <a:rPr lang="en-GB" sz="1000" b="0" i="0" u="none" strike="noStrike">
                          <a:solidFill>
                            <a:srgbClr val="000000"/>
                          </a:solidFill>
                          <a:latin typeface="Calibri" pitchFamily="34"/>
                        </a:rPr>
                        <a:t>Purfleet GVMS Port</a:t>
                      </a:r>
                    </a:p>
                  </a:txBody>
                  <a:tcPr marL="2350" marR="2350" marT="2350" marB="0" anchor="b"/>
                </a:tc>
                <a:extLst>
                  <a:ext uri="{0D108BD9-81ED-4DB2-BD59-A6C34878D82A}">
                    <a16:rowId xmlns:a16="http://schemas.microsoft.com/office/drawing/2014/main" val="2400111049"/>
                  </a:ext>
                </a:extLst>
              </a:tr>
              <a:tr h="176579">
                <a:tc>
                  <a:txBody>
                    <a:bodyPr/>
                    <a:lstStyle/>
                    <a:p>
                      <a:pPr lvl="0" algn="l" fontAlgn="b"/>
                      <a:r>
                        <a:rPr lang="en-GB" sz="1000" b="0" i="0" u="none" strike="noStrike">
                          <a:solidFill>
                            <a:srgbClr val="000000"/>
                          </a:solidFill>
                          <a:latin typeface="Calibri" pitchFamily="34"/>
                        </a:rPr>
                        <a:t>GBAURMGRMGRMGGVM</a:t>
                      </a:r>
                    </a:p>
                  </a:txBody>
                  <a:tcPr marL="2350" marR="2350" marT="2350" marB="0" anchor="b"/>
                </a:tc>
                <a:tc>
                  <a:txBody>
                    <a:bodyPr/>
                    <a:lstStyle/>
                    <a:p>
                      <a:pPr lvl="0" algn="l" fontAlgn="b"/>
                      <a:r>
                        <a:rPr lang="en-GB" sz="1000" b="0" i="0" u="none" strike="noStrike">
                          <a:solidFill>
                            <a:srgbClr val="000000"/>
                          </a:solidFill>
                          <a:latin typeface="Calibri" pitchFamily="34"/>
                        </a:rPr>
                        <a:t>Port of Ramsgate  GVMS Port</a:t>
                      </a:r>
                    </a:p>
                  </a:txBody>
                  <a:tcPr marL="2350" marR="2350" marT="2350" marB="0" anchor="b"/>
                </a:tc>
                <a:extLst>
                  <a:ext uri="{0D108BD9-81ED-4DB2-BD59-A6C34878D82A}">
                    <a16:rowId xmlns:a16="http://schemas.microsoft.com/office/drawing/2014/main" val="4065478181"/>
                  </a:ext>
                </a:extLst>
              </a:tr>
              <a:tr h="176579">
                <a:tc>
                  <a:txBody>
                    <a:bodyPr/>
                    <a:lstStyle/>
                    <a:p>
                      <a:pPr lvl="0" algn="l" fontAlgn="b"/>
                      <a:r>
                        <a:rPr lang="en-GB" sz="1000" b="0" i="0" u="none" strike="noStrike">
                          <a:solidFill>
                            <a:srgbClr val="000000"/>
                          </a:solidFill>
                          <a:latin typeface="Calibri" pitchFamily="34"/>
                        </a:rPr>
                        <a:t>GBAUNFTMEDRLWGVM</a:t>
                      </a:r>
                    </a:p>
                  </a:txBody>
                  <a:tcPr marL="2350" marR="2350" marT="2350" marB="0" anchor="b"/>
                </a:tc>
                <a:tc>
                  <a:txBody>
                    <a:bodyPr/>
                    <a:lstStyle/>
                    <a:p>
                      <a:pPr lvl="0" algn="l" fontAlgn="b"/>
                      <a:r>
                        <a:rPr lang="en-GB" sz="1000" b="0" i="0" u="none" strike="noStrike">
                          <a:solidFill>
                            <a:srgbClr val="000000"/>
                          </a:solidFill>
                          <a:latin typeface="Calibri" pitchFamily="34"/>
                        </a:rPr>
                        <a:t>Northfleet  - Red Lion Wharf GVMS Port</a:t>
                      </a:r>
                    </a:p>
                  </a:txBody>
                  <a:tcPr marL="2350" marR="2350" marT="2350" marB="0" anchor="b"/>
                </a:tc>
                <a:extLst>
                  <a:ext uri="{0D108BD9-81ED-4DB2-BD59-A6C34878D82A}">
                    <a16:rowId xmlns:a16="http://schemas.microsoft.com/office/drawing/2014/main" val="981353044"/>
                  </a:ext>
                </a:extLst>
              </a:tr>
              <a:tr h="176579">
                <a:tc>
                  <a:txBody>
                    <a:bodyPr/>
                    <a:lstStyle/>
                    <a:p>
                      <a:pPr lvl="0" algn="l" fontAlgn="b"/>
                      <a:r>
                        <a:rPr lang="en-GB" sz="1000" b="0" i="0" u="none" strike="noStrike">
                          <a:solidFill>
                            <a:srgbClr val="000000"/>
                          </a:solidFill>
                          <a:latin typeface="Calibri" pitchFamily="34"/>
                        </a:rPr>
                        <a:t>GBAUGLWGLWGRBGVM</a:t>
                      </a:r>
                    </a:p>
                  </a:txBody>
                  <a:tcPr marL="2350" marR="2350" marT="2350" marB="0" anchor="b"/>
                </a:tc>
                <a:tc>
                  <a:txBody>
                    <a:bodyPr/>
                    <a:lstStyle/>
                    <a:p>
                      <a:pPr lvl="0" algn="l" fontAlgn="b"/>
                      <a:r>
                        <a:rPr lang="en-GB" sz="1000" b="0" i="0" u="none" strike="noStrike">
                          <a:solidFill>
                            <a:srgbClr val="000000"/>
                          </a:solidFill>
                          <a:latin typeface="Calibri" pitchFamily="34"/>
                        </a:rPr>
                        <a:t>Glasgow King George V Dock - Riverside Berth GVMS Port</a:t>
                      </a:r>
                    </a:p>
                  </a:txBody>
                  <a:tcPr marL="2350" marR="2350" marT="2350" marB="0" anchor="b"/>
                </a:tc>
                <a:extLst>
                  <a:ext uri="{0D108BD9-81ED-4DB2-BD59-A6C34878D82A}">
                    <a16:rowId xmlns:a16="http://schemas.microsoft.com/office/drawing/2014/main" val="3856062550"/>
                  </a:ext>
                </a:extLst>
              </a:tr>
              <a:tr h="176579">
                <a:tc>
                  <a:txBody>
                    <a:bodyPr/>
                    <a:lstStyle/>
                    <a:p>
                      <a:pPr lvl="0" algn="l" fontAlgn="b"/>
                      <a:r>
                        <a:rPr lang="en-GB" sz="1000" b="0" i="0" u="none" strike="noStrike">
                          <a:solidFill>
                            <a:srgbClr val="000000"/>
                          </a:solidFill>
                          <a:latin typeface="Calibri" pitchFamily="34"/>
                        </a:rPr>
                        <a:t>GBAUSCRINVSCRGVM</a:t>
                      </a:r>
                    </a:p>
                  </a:txBody>
                  <a:tcPr marL="2350" marR="2350" marT="2350" marB="0" anchor="b"/>
                </a:tc>
                <a:tc>
                  <a:txBody>
                    <a:bodyPr/>
                    <a:lstStyle/>
                    <a:p>
                      <a:pPr lvl="0" algn="l" fontAlgn="b"/>
                      <a:r>
                        <a:rPr lang="en-GB" sz="1000" b="0" i="0" u="none" strike="noStrike">
                          <a:solidFill>
                            <a:srgbClr val="000000"/>
                          </a:solidFill>
                          <a:latin typeface="Calibri" pitchFamily="34"/>
                        </a:rPr>
                        <a:t>Scrabster GVMS Port</a:t>
                      </a:r>
                    </a:p>
                  </a:txBody>
                  <a:tcPr marL="2350" marR="2350" marT="2350" marB="0" anchor="b"/>
                </a:tc>
                <a:extLst>
                  <a:ext uri="{0D108BD9-81ED-4DB2-BD59-A6C34878D82A}">
                    <a16:rowId xmlns:a16="http://schemas.microsoft.com/office/drawing/2014/main" val="2468316708"/>
                  </a:ext>
                </a:extLst>
              </a:tr>
              <a:tr h="176579">
                <a:tc>
                  <a:txBody>
                    <a:bodyPr/>
                    <a:lstStyle/>
                    <a:p>
                      <a:pPr lvl="0" algn="l" fontAlgn="b"/>
                      <a:r>
                        <a:rPr lang="en-GB" sz="1000" b="0" i="0" u="none" strike="noStrike">
                          <a:solidFill>
                            <a:srgbClr val="000000"/>
                          </a:solidFill>
                          <a:latin typeface="Calibri" pitchFamily="34"/>
                        </a:rPr>
                        <a:t>GBAUMEDMEDMEDGVM</a:t>
                      </a:r>
                    </a:p>
                  </a:txBody>
                  <a:tcPr marL="2350" marR="2350" marT="2350" marB="0" anchor="b"/>
                </a:tc>
                <a:tc>
                  <a:txBody>
                    <a:bodyPr/>
                    <a:lstStyle/>
                    <a:p>
                      <a:pPr lvl="0" algn="l" fontAlgn="b"/>
                      <a:r>
                        <a:rPr lang="en-GB" sz="1000" b="0" i="0" u="none" strike="noStrike">
                          <a:solidFill>
                            <a:srgbClr val="000000"/>
                          </a:solidFill>
                          <a:latin typeface="Calibri" pitchFamily="34"/>
                        </a:rPr>
                        <a:t>Sheerness GVMS Port</a:t>
                      </a:r>
                    </a:p>
                  </a:txBody>
                  <a:tcPr marL="2350" marR="2350" marT="2350" marB="0" anchor="b"/>
                </a:tc>
                <a:extLst>
                  <a:ext uri="{0D108BD9-81ED-4DB2-BD59-A6C34878D82A}">
                    <a16:rowId xmlns:a16="http://schemas.microsoft.com/office/drawing/2014/main" val="2114692028"/>
                  </a:ext>
                </a:extLst>
              </a:tr>
              <a:tr h="176579">
                <a:tc>
                  <a:txBody>
                    <a:bodyPr/>
                    <a:lstStyle/>
                    <a:p>
                      <a:pPr lvl="0" algn="l" fontAlgn="b"/>
                      <a:r>
                        <a:rPr lang="en-GB" sz="1000" b="0" i="0" u="none" strike="noStrike">
                          <a:solidFill>
                            <a:srgbClr val="000000"/>
                          </a:solidFill>
                          <a:latin typeface="Calibri" pitchFamily="34"/>
                        </a:rPr>
                        <a:t>GBAUTEEMIDTEEGVM</a:t>
                      </a:r>
                    </a:p>
                  </a:txBody>
                  <a:tcPr marL="2350" marR="2350" marT="2350" marB="0" anchor="b"/>
                </a:tc>
                <a:tc>
                  <a:txBody>
                    <a:bodyPr/>
                    <a:lstStyle/>
                    <a:p>
                      <a:pPr lvl="0" algn="l" fontAlgn="b"/>
                      <a:r>
                        <a:rPr lang="en-GB" sz="1000" b="0" i="0" u="none" strike="noStrike">
                          <a:solidFill>
                            <a:srgbClr val="000000"/>
                          </a:solidFill>
                          <a:latin typeface="Calibri" pitchFamily="34"/>
                        </a:rPr>
                        <a:t>Teesport GVMS Port</a:t>
                      </a:r>
                    </a:p>
                  </a:txBody>
                  <a:tcPr marL="2350" marR="2350" marT="2350" marB="0" anchor="b"/>
                </a:tc>
                <a:extLst>
                  <a:ext uri="{0D108BD9-81ED-4DB2-BD59-A6C34878D82A}">
                    <a16:rowId xmlns:a16="http://schemas.microsoft.com/office/drawing/2014/main" val="3737969630"/>
                  </a:ext>
                </a:extLst>
              </a:tr>
              <a:tr h="176579">
                <a:tc>
                  <a:txBody>
                    <a:bodyPr/>
                    <a:lstStyle/>
                    <a:p>
                      <a:pPr lvl="0" algn="l" fontAlgn="b"/>
                      <a:r>
                        <a:rPr lang="en-GB" sz="1000" b="0" i="0" u="none" strike="noStrike">
                          <a:solidFill>
                            <a:srgbClr val="000000"/>
                          </a:solidFill>
                          <a:latin typeface="Calibri" pitchFamily="34"/>
                        </a:rPr>
                        <a:t>GBAUTILLONTILGVM</a:t>
                      </a:r>
                    </a:p>
                  </a:txBody>
                  <a:tcPr marL="2350" marR="2350" marT="2350" marB="0" anchor="b"/>
                </a:tc>
                <a:tc>
                  <a:txBody>
                    <a:bodyPr/>
                    <a:lstStyle/>
                    <a:p>
                      <a:pPr lvl="0" algn="l" fontAlgn="b"/>
                      <a:r>
                        <a:rPr lang="en-GB" sz="1000" b="0" i="0" u="none" strike="noStrike">
                          <a:solidFill>
                            <a:srgbClr val="000000"/>
                          </a:solidFill>
                          <a:latin typeface="Calibri" pitchFamily="34"/>
                        </a:rPr>
                        <a:t>Tilbury GVMS Port</a:t>
                      </a:r>
                    </a:p>
                  </a:txBody>
                  <a:tcPr marL="2350" marR="2350" marT="2350" marB="0" anchor="b"/>
                </a:tc>
                <a:extLst>
                  <a:ext uri="{0D108BD9-81ED-4DB2-BD59-A6C34878D82A}">
                    <a16:rowId xmlns:a16="http://schemas.microsoft.com/office/drawing/2014/main" val="2838738270"/>
                  </a:ext>
                </a:extLst>
              </a:tr>
              <a:tr h="176579">
                <a:tc>
                  <a:txBody>
                    <a:bodyPr/>
                    <a:lstStyle/>
                    <a:p>
                      <a:pPr lvl="0" algn="l" fontAlgn="b"/>
                      <a:r>
                        <a:rPr lang="en-GB" sz="1000" b="0" i="0" u="none" strike="noStrike">
                          <a:solidFill>
                            <a:srgbClr val="000000"/>
                          </a:solidFill>
                          <a:latin typeface="Calibri" pitchFamily="34"/>
                        </a:rPr>
                        <a:t>GBAUWTSWTSWTSGVM</a:t>
                      </a:r>
                    </a:p>
                  </a:txBody>
                  <a:tcPr marL="2350" marR="2350" marT="2350" marB="0" anchor="b"/>
                </a:tc>
                <a:tc>
                  <a:txBody>
                    <a:bodyPr/>
                    <a:lstStyle/>
                    <a:p>
                      <a:pPr lvl="0" algn="l" fontAlgn="b"/>
                      <a:r>
                        <a:rPr lang="en-GB" sz="1000" b="0" i="0" u="none" strike="noStrike" dirty="0">
                          <a:solidFill>
                            <a:srgbClr val="000000"/>
                          </a:solidFill>
                          <a:latin typeface="Calibri" pitchFamily="34"/>
                        </a:rPr>
                        <a:t>Whitstable GVMS Port</a:t>
                      </a:r>
                    </a:p>
                  </a:txBody>
                  <a:tcPr marL="2350" marR="2350" marT="2350" marB="0" anchor="b"/>
                </a:tc>
                <a:extLst>
                  <a:ext uri="{0D108BD9-81ED-4DB2-BD59-A6C34878D82A}">
                    <a16:rowId xmlns:a16="http://schemas.microsoft.com/office/drawing/2014/main" val="2760124376"/>
                  </a:ext>
                </a:extLst>
              </a:tr>
            </a:tbl>
          </a:graphicData>
        </a:graphic>
      </p:graphicFrame>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name="Slide838840347">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F2761D46-E6D8-4CA5-94B5-C823852D0F20}"/>
              </a:ext>
            </a:extLst>
          </p:cNvPr>
          <p:cNvSpPr/>
          <p:nvPr/>
        </p:nvSpPr>
        <p:spPr>
          <a:xfrm>
            <a:off x="373102" y="1159962"/>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23B777F9-5723-4C01-854C-9B2A84C4443A}"/>
              </a:ext>
            </a:extLst>
          </p:cNvPr>
          <p:cNvSpPr/>
          <p:nvPr/>
        </p:nvSpPr>
        <p:spPr>
          <a:xfrm>
            <a:off x="284067" y="71929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D09BF737-461D-44DB-A2F0-D43B289C31F0}"/>
              </a:ext>
            </a:extLst>
          </p:cNvPr>
          <p:cNvGraphicFramePr>
            <a:graphicFrameLocks noGrp="1"/>
          </p:cNvGraphicFramePr>
          <p:nvPr/>
        </p:nvGraphicFramePr>
        <p:xfrm>
          <a:off x="395368" y="166696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1634249461"/>
                    </a:ext>
                  </a:extLst>
                </a:gridCol>
              </a:tblGrid>
              <a:tr h="220434">
                <a:tc>
                  <a:txBody>
                    <a:bodyPr/>
                    <a:lstStyle/>
                    <a:p>
                      <a:pPr lvl="0" algn="ctr"/>
                      <a:r>
                        <a:rPr lang="en-GB" sz="1200"/>
                        <a:t>TTM15.1 (CDS 3.3.0)</a:t>
                      </a:r>
                    </a:p>
                  </a:txBody>
                  <a:tcPr>
                    <a:solidFill>
                      <a:srgbClr val="7F7F7F"/>
                    </a:solidFill>
                  </a:tcPr>
                </a:tc>
                <a:extLst>
                  <a:ext uri="{0D108BD9-81ED-4DB2-BD59-A6C34878D82A}">
                    <a16:rowId xmlns:a16="http://schemas.microsoft.com/office/drawing/2014/main" val="3588519085"/>
                  </a:ext>
                </a:extLst>
              </a:tr>
              <a:tr h="261975">
                <a:tc>
                  <a:txBody>
                    <a:bodyPr/>
                    <a:lstStyle/>
                    <a:p>
                      <a:pPr lvl="0" algn="ctr"/>
                      <a:r>
                        <a:rPr lang="en-GB" sz="1200" b="1" dirty="0">
                          <a:solidFill>
                            <a:srgbClr val="000000"/>
                          </a:solidFill>
                        </a:rPr>
                        <a:t>TT: </a:t>
                      </a:r>
                      <a:r>
                        <a:rPr lang="en-GB" sz="1200" b="0" dirty="0">
                          <a:solidFill>
                            <a:srgbClr val="000000"/>
                          </a:solidFill>
                        </a:rPr>
                        <a:t>22/07/2021   </a:t>
                      </a:r>
                      <a:r>
                        <a:rPr lang="en-GB" sz="1200" b="1" dirty="0">
                          <a:solidFill>
                            <a:srgbClr val="000000"/>
                          </a:solidFill>
                        </a:rPr>
                        <a:t>TDR: </a:t>
                      </a:r>
                      <a:r>
                        <a:rPr lang="en-GB" sz="1200" b="0" dirty="0">
                          <a:solidFill>
                            <a:srgbClr val="000000"/>
                          </a:solidFill>
                        </a:rPr>
                        <a:t>03/08/2021   </a:t>
                      </a:r>
                      <a:r>
                        <a:rPr lang="en-GB" sz="1200" b="1" dirty="0">
                          <a:solidFill>
                            <a:srgbClr val="000000"/>
                          </a:solidFill>
                        </a:rPr>
                        <a:t>Live: </a:t>
                      </a:r>
                      <a:r>
                        <a:rPr lang="en-GB" sz="1200" b="0" dirty="0">
                          <a:solidFill>
                            <a:srgbClr val="000000"/>
                          </a:solidFill>
                        </a:rPr>
                        <a:t>31/07/2021</a:t>
                      </a:r>
                    </a:p>
                  </a:txBody>
                  <a:tcPr>
                    <a:solidFill>
                      <a:srgbClr val="E7E6E6"/>
                    </a:solidFill>
                  </a:tcPr>
                </a:tc>
                <a:extLst>
                  <a:ext uri="{0D108BD9-81ED-4DB2-BD59-A6C34878D82A}">
                    <a16:rowId xmlns:a16="http://schemas.microsoft.com/office/drawing/2014/main" val="680906583"/>
                  </a:ext>
                </a:extLst>
              </a:tr>
            </a:tbl>
          </a:graphicData>
        </a:graphic>
      </p:graphicFrame>
      <p:cxnSp>
        <p:nvCxnSpPr>
          <p:cNvPr id="6" name="Straight Connector 11">
            <a:extLst>
              <a:ext uri="{FF2B5EF4-FFF2-40B4-BE49-F238E27FC236}">
                <a16:creationId xmlns:a16="http://schemas.microsoft.com/office/drawing/2014/main" id="{2CB3E5D9-45DB-4359-AC8B-08C245EFF282}"/>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B9E78724-F74C-4AF7-AEB5-82F343D5F55C}"/>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CC02F4A9-0838-4069-BD33-AF4EFF2E0284}"/>
              </a:ext>
            </a:extLst>
          </p:cNvPr>
          <p:cNvSpPr/>
          <p:nvPr/>
        </p:nvSpPr>
        <p:spPr>
          <a:xfrm>
            <a:off x="350791" y="1619777"/>
            <a:ext cx="11330604" cy="161560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0A42C15B-5DE4-477A-AE70-4BDE4B39F5EF}"/>
              </a:ext>
            </a:extLst>
          </p:cNvPr>
          <p:cNvGrpSpPr/>
          <p:nvPr/>
        </p:nvGrpSpPr>
        <p:grpSpPr>
          <a:xfrm>
            <a:off x="818342" y="1175314"/>
            <a:ext cx="2801739" cy="276999"/>
            <a:chOff x="818342" y="1175314"/>
            <a:chExt cx="2801739" cy="276999"/>
          </a:xfrm>
        </p:grpSpPr>
        <p:sp>
          <p:nvSpPr>
            <p:cNvPr id="10" name="TextBox 7">
              <a:extLst>
                <a:ext uri="{FF2B5EF4-FFF2-40B4-BE49-F238E27FC236}">
                  <a16:creationId xmlns:a16="http://schemas.microsoft.com/office/drawing/2014/main" id="{CB88BAF6-D61D-478A-8092-E884073C9C65}"/>
                </a:ext>
              </a:extLst>
            </p:cNvPr>
            <p:cNvSpPr txBox="1"/>
            <p:nvPr/>
          </p:nvSpPr>
          <p:spPr>
            <a:xfrm>
              <a:off x="818342" y="117531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96EBCCF0-58E4-4E3A-AFD4-EBCA77850387}"/>
                </a:ext>
              </a:extLst>
            </p:cNvPr>
            <p:cNvSpPr/>
            <p:nvPr/>
          </p:nvSpPr>
          <p:spPr>
            <a:xfrm>
              <a:off x="865415" y="124029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C5DEBC7B-7FA4-4D5E-A70A-6FA4B6C96607}"/>
              </a:ext>
            </a:extLst>
          </p:cNvPr>
          <p:cNvGraphicFramePr>
            <a:graphicFrameLocks noGrp="1"/>
          </p:cNvGraphicFramePr>
          <p:nvPr/>
        </p:nvGraphicFramePr>
        <p:xfrm>
          <a:off x="395359" y="2181575"/>
          <a:ext cx="11213807" cy="91440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1071077788"/>
                    </a:ext>
                  </a:extLst>
                </a:gridCol>
                <a:gridCol w="2877205">
                  <a:extLst>
                    <a:ext uri="{9D8B030D-6E8A-4147-A177-3AD203B41FA5}">
                      <a16:colId xmlns:a16="http://schemas.microsoft.com/office/drawing/2014/main" val="1427886225"/>
                    </a:ext>
                  </a:extLst>
                </a:gridCol>
                <a:gridCol w="2877205">
                  <a:extLst>
                    <a:ext uri="{9D8B030D-6E8A-4147-A177-3AD203B41FA5}">
                      <a16:colId xmlns:a16="http://schemas.microsoft.com/office/drawing/2014/main" val="1073019982"/>
                    </a:ext>
                  </a:extLst>
                </a:gridCol>
                <a:gridCol w="2877205">
                  <a:extLst>
                    <a:ext uri="{9D8B030D-6E8A-4147-A177-3AD203B41FA5}">
                      <a16:colId xmlns:a16="http://schemas.microsoft.com/office/drawing/2014/main" val="1907373258"/>
                    </a:ext>
                  </a:extLst>
                </a:gridCol>
              </a:tblGrid>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Allow reuse of a DUCR once any declaration has been rejected</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hlinkClick r:id="rId4" action="ppaction://hlinksldjump"/>
                        </a:rPr>
                        <a:t>Defining authorisation to (dis) associate an UCR with an arrived &amp; shut MUCR</a:t>
                      </a: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fr-FR" sz="1200" b="0">
                          <a:solidFill>
                            <a:srgbClr val="000000"/>
                          </a:solidFill>
                          <a:hlinkClick r:id="rId5" action="ppaction://hlinksldjump"/>
                        </a:rPr>
                        <a:t>ILE - Change UCR/MUCR Arrival Logic</a:t>
                      </a:r>
                      <a:endParaRPr lang="fr-FR" sz="1200" b="0">
                        <a:solidFill>
                          <a:srgbClr val="000000"/>
                        </a:solidFill>
                      </a:endParaRPr>
                    </a:p>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4" action="ppaction://hlinksldjump"/>
                        </a:rPr>
                        <a:t>Introduction of the Super Reduced Data Set (SRDS)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2963843137"/>
                  </a:ext>
                </a:extLst>
              </a:tr>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fr-FR" sz="1200">
                          <a:solidFill>
                            <a:srgbClr val="000000"/>
                          </a:solidFill>
                          <a:cs typeface="Calibri"/>
                          <a:hlinkClick r:id="rId6" action="ppaction://hlinksldjump"/>
                        </a:rPr>
                        <a:t>Tariff Validation - NI-ROW Exports</a:t>
                      </a:r>
                      <a:endParaRPr lang="fr-FR" sz="1200">
                        <a:solidFill>
                          <a:srgbClr val="000000"/>
                        </a:solidFill>
                        <a:cs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6" action="ppaction://hlinksldjump"/>
                        </a:rPr>
                        <a:t>Indirect Complex NI Movements &amp; Duty Calculation </a:t>
                      </a:r>
                      <a:endParaRPr lang="fr-FR"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lvl="0"/>
                      <a:endParaRPr lang="en-GB"/>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752539213"/>
                  </a:ext>
                </a:extLst>
              </a:tr>
            </a:tbl>
          </a:graphicData>
        </a:graphic>
      </p:graphicFrame>
      <p:grpSp>
        <p:nvGrpSpPr>
          <p:cNvPr id="13" name="Group 4">
            <a:extLst>
              <a:ext uri="{FF2B5EF4-FFF2-40B4-BE49-F238E27FC236}">
                <a16:creationId xmlns:a16="http://schemas.microsoft.com/office/drawing/2014/main" id="{4505C159-83AA-4575-8CFD-7D573D777FF6}"/>
              </a:ext>
            </a:extLst>
          </p:cNvPr>
          <p:cNvGrpSpPr/>
          <p:nvPr/>
        </p:nvGrpSpPr>
        <p:grpSpPr>
          <a:xfrm>
            <a:off x="2583682" y="1183581"/>
            <a:ext cx="3199302" cy="276999"/>
            <a:chOff x="2583682" y="1183581"/>
            <a:chExt cx="3199302" cy="276999"/>
          </a:xfrm>
        </p:grpSpPr>
        <p:sp>
          <p:nvSpPr>
            <p:cNvPr id="14" name="TextBox 7">
              <a:extLst>
                <a:ext uri="{FF2B5EF4-FFF2-40B4-BE49-F238E27FC236}">
                  <a16:creationId xmlns:a16="http://schemas.microsoft.com/office/drawing/2014/main" id="{AFBEFCB4-8010-4F47-82F2-D628FB298F92}"/>
                </a:ext>
              </a:extLst>
            </p:cNvPr>
            <p:cNvSpPr txBox="1"/>
            <p:nvPr/>
          </p:nvSpPr>
          <p:spPr>
            <a:xfrm>
              <a:off x="2583682" y="1183581"/>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DBCE31D5-043D-49B6-93AE-13D22D74403A}"/>
                </a:ext>
              </a:extLst>
            </p:cNvPr>
            <p:cNvSpPr/>
            <p:nvPr/>
          </p:nvSpPr>
          <p:spPr>
            <a:xfrm>
              <a:off x="2609258" y="125194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2F468381-4ECF-48C4-897F-AA90D8B40517}"/>
              </a:ext>
            </a:extLst>
          </p:cNvPr>
          <p:cNvSpPr/>
          <p:nvPr/>
        </p:nvSpPr>
        <p:spPr>
          <a:xfrm>
            <a:off x="373102" y="1156469"/>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5E150682-76DA-4E70-BCA9-B93D20C21D74}"/>
              </a:ext>
            </a:extLst>
          </p:cNvPr>
          <p:cNvGrpSpPr/>
          <p:nvPr/>
        </p:nvGrpSpPr>
        <p:grpSpPr>
          <a:xfrm>
            <a:off x="5808561" y="1183041"/>
            <a:ext cx="4848834" cy="276999"/>
            <a:chOff x="5808561" y="1183041"/>
            <a:chExt cx="4848834" cy="276999"/>
          </a:xfrm>
        </p:grpSpPr>
        <p:sp>
          <p:nvSpPr>
            <p:cNvPr id="18" name="TextBox 7">
              <a:extLst>
                <a:ext uri="{FF2B5EF4-FFF2-40B4-BE49-F238E27FC236}">
                  <a16:creationId xmlns:a16="http://schemas.microsoft.com/office/drawing/2014/main" id="{8E6DFC78-0E19-40E8-B146-6B0C56104EBC}"/>
                </a:ext>
              </a:extLst>
            </p:cNvPr>
            <p:cNvSpPr txBox="1"/>
            <p:nvPr/>
          </p:nvSpPr>
          <p:spPr>
            <a:xfrm>
              <a:off x="5808561" y="1183041"/>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D6B9AAFA-7E7B-4F9D-B890-0040C9094A80}"/>
                </a:ext>
              </a:extLst>
            </p:cNvPr>
            <p:cNvSpPr/>
            <p:nvPr/>
          </p:nvSpPr>
          <p:spPr>
            <a:xfrm>
              <a:off x="5860919" y="125448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E12F53BE-C544-48F9-A035-57F8BC512BAF}"/>
              </a:ext>
            </a:extLst>
          </p:cNvPr>
          <p:cNvSpPr/>
          <p:nvPr/>
        </p:nvSpPr>
        <p:spPr>
          <a:xfrm>
            <a:off x="445285" y="223013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Slide Number Placeholder 5">
            <a:extLst>
              <a:ext uri="{FF2B5EF4-FFF2-40B4-BE49-F238E27FC236}">
                <a16:creationId xmlns:a16="http://schemas.microsoft.com/office/drawing/2014/main" id="{14C7F20A-3409-43AB-8C53-8A26613C8EF4}"/>
              </a:ext>
            </a:extLst>
          </p:cNvPr>
          <p:cNvSpPr txBox="1"/>
          <p:nvPr/>
        </p:nvSpPr>
        <p:spPr>
          <a:xfrm>
            <a:off x="11653453" y="637199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3CFD1FB-6EB6-4715-A2D9-46E01F03BA53}" type="slidenum">
              <a:rPr sz="1200"/>
              <a:t>398</a:t>
            </a:fld>
            <a:endParaRPr lang="en-GB" sz="1200" b="0" i="0" u="none" strike="noStrike" kern="1200" cap="none" spc="0" baseline="0">
              <a:solidFill>
                <a:srgbClr val="000000"/>
              </a:solidFill>
              <a:uFillTx/>
              <a:latin typeface="Calibri"/>
            </a:endParaRPr>
          </a:p>
        </p:txBody>
      </p:sp>
      <p:sp>
        <p:nvSpPr>
          <p:cNvPr id="22" name="Oval 16">
            <a:extLst>
              <a:ext uri="{FF2B5EF4-FFF2-40B4-BE49-F238E27FC236}">
                <a16:creationId xmlns:a16="http://schemas.microsoft.com/office/drawing/2014/main" id="{DD44E725-AEFD-4FD0-8A80-F8C941FC529C}"/>
              </a:ext>
            </a:extLst>
          </p:cNvPr>
          <p:cNvSpPr/>
          <p:nvPr/>
        </p:nvSpPr>
        <p:spPr>
          <a:xfrm>
            <a:off x="3032827" y="224958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Oval 16">
            <a:extLst>
              <a:ext uri="{FF2B5EF4-FFF2-40B4-BE49-F238E27FC236}">
                <a16:creationId xmlns:a16="http://schemas.microsoft.com/office/drawing/2014/main" id="{D39DFB48-042B-485A-AEA6-65E544FACF3C}"/>
              </a:ext>
            </a:extLst>
          </p:cNvPr>
          <p:cNvSpPr/>
          <p:nvPr/>
        </p:nvSpPr>
        <p:spPr>
          <a:xfrm>
            <a:off x="5925888" y="224958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16">
            <a:extLst>
              <a:ext uri="{FF2B5EF4-FFF2-40B4-BE49-F238E27FC236}">
                <a16:creationId xmlns:a16="http://schemas.microsoft.com/office/drawing/2014/main" id="{8B5BEE91-AD26-4874-BBBF-67A111889A44}"/>
              </a:ext>
            </a:extLst>
          </p:cNvPr>
          <p:cNvSpPr/>
          <p:nvPr/>
        </p:nvSpPr>
        <p:spPr>
          <a:xfrm>
            <a:off x="3032827" y="269786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16">
            <a:extLst>
              <a:ext uri="{FF2B5EF4-FFF2-40B4-BE49-F238E27FC236}">
                <a16:creationId xmlns:a16="http://schemas.microsoft.com/office/drawing/2014/main" id="{5CC7E089-BC90-49B6-8BF8-818324DC198D}"/>
              </a:ext>
            </a:extLst>
          </p:cNvPr>
          <p:cNvSpPr/>
          <p:nvPr/>
        </p:nvSpPr>
        <p:spPr>
          <a:xfrm>
            <a:off x="8773411" y="227368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6" name="Table 163">
            <a:extLst>
              <a:ext uri="{FF2B5EF4-FFF2-40B4-BE49-F238E27FC236}">
                <a16:creationId xmlns:a16="http://schemas.microsoft.com/office/drawing/2014/main" id="{0F815A33-FE27-46D9-9B99-602EDEF5EA60}"/>
              </a:ext>
            </a:extLst>
          </p:cNvPr>
          <p:cNvGraphicFramePr>
            <a:graphicFrameLocks noGrp="1"/>
          </p:cNvGraphicFramePr>
          <p:nvPr/>
        </p:nvGraphicFramePr>
        <p:xfrm>
          <a:off x="407429" y="3322316"/>
          <a:ext cx="11214000" cy="274320"/>
        </p:xfrm>
        <a:graphic>
          <a:graphicData uri="http://schemas.openxmlformats.org/drawingml/2006/table">
            <a:tbl>
              <a:tblPr firstRow="1" bandRow="1">
                <a:effectLst/>
                <a:tableStyleId>{5C22544A-7EE6-4342-B048-85BDC9FD1C3A}</a:tableStyleId>
              </a:tblPr>
              <a:tblGrid>
                <a:gridCol w="11214000">
                  <a:extLst>
                    <a:ext uri="{9D8B030D-6E8A-4147-A177-3AD203B41FA5}">
                      <a16:colId xmlns:a16="http://schemas.microsoft.com/office/drawing/2014/main" val="2468842276"/>
                    </a:ext>
                  </a:extLst>
                </a:gridCol>
              </a:tblGrid>
              <a:tr h="261975">
                <a:tc>
                  <a:txBody>
                    <a:bodyPr/>
                    <a:lstStyle/>
                    <a:p>
                      <a:pPr lvl="0" algn="ctr"/>
                      <a:r>
                        <a:rPr lang="en-GB" sz="1200" b="1" dirty="0">
                          <a:solidFill>
                            <a:srgbClr val="000000"/>
                          </a:solidFill>
                        </a:rPr>
                        <a:t>Additional Release Updates</a:t>
                      </a:r>
                      <a:endParaRPr lang="en-GB" sz="1200" b="0" dirty="0">
                        <a:solidFill>
                          <a:srgbClr val="000000"/>
                        </a:solidFill>
                      </a:endParaRPr>
                    </a:p>
                  </a:txBody>
                  <a:tcPr>
                    <a:solidFill>
                      <a:srgbClr val="E7E6E6"/>
                    </a:solidFill>
                  </a:tcPr>
                </a:tc>
                <a:extLst>
                  <a:ext uri="{0D108BD9-81ED-4DB2-BD59-A6C34878D82A}">
                    <a16:rowId xmlns:a16="http://schemas.microsoft.com/office/drawing/2014/main" val="3775018497"/>
                  </a:ext>
                </a:extLst>
              </a:tr>
            </a:tbl>
          </a:graphicData>
        </a:graphic>
      </p:graphicFrame>
      <p:graphicFrame>
        <p:nvGraphicFramePr>
          <p:cNvPr id="27" name="Table 21">
            <a:extLst>
              <a:ext uri="{FF2B5EF4-FFF2-40B4-BE49-F238E27FC236}">
                <a16:creationId xmlns:a16="http://schemas.microsoft.com/office/drawing/2014/main" id="{12E00805-42D2-45FC-8D03-B66296C214AB}"/>
              </a:ext>
            </a:extLst>
          </p:cNvPr>
          <p:cNvGraphicFramePr>
            <a:graphicFrameLocks noGrp="1"/>
          </p:cNvGraphicFramePr>
          <p:nvPr/>
        </p:nvGraphicFramePr>
        <p:xfrm>
          <a:off x="417825" y="3585334"/>
          <a:ext cx="11213807" cy="45720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1927372013"/>
                    </a:ext>
                  </a:extLst>
                </a:gridCol>
                <a:gridCol w="2877205">
                  <a:extLst>
                    <a:ext uri="{9D8B030D-6E8A-4147-A177-3AD203B41FA5}">
                      <a16:colId xmlns:a16="http://schemas.microsoft.com/office/drawing/2014/main" val="574834316"/>
                    </a:ext>
                  </a:extLst>
                </a:gridCol>
                <a:gridCol w="2877205">
                  <a:extLst>
                    <a:ext uri="{9D8B030D-6E8A-4147-A177-3AD203B41FA5}">
                      <a16:colId xmlns:a16="http://schemas.microsoft.com/office/drawing/2014/main" val="3220080472"/>
                    </a:ext>
                  </a:extLst>
                </a:gridCol>
                <a:gridCol w="2877205">
                  <a:extLst>
                    <a:ext uri="{9D8B030D-6E8A-4147-A177-3AD203B41FA5}">
                      <a16:colId xmlns:a16="http://schemas.microsoft.com/office/drawing/2014/main" val="475749849"/>
                    </a:ext>
                  </a:extLst>
                </a:gridCol>
              </a:tblGrid>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5" action="ppaction://hlinksldjump"/>
                        </a:rPr>
                        <a:t>Immediate payment reference format</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highlight>
                          <a:srgbClr val="FFFF00"/>
                        </a:highligh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462136958"/>
                  </a:ext>
                </a:extLst>
              </a:tr>
            </a:tbl>
          </a:graphicData>
        </a:graphic>
      </p:graphicFrame>
      <p:sp>
        <p:nvSpPr>
          <p:cNvPr id="28" name="Oval 16">
            <a:extLst>
              <a:ext uri="{FF2B5EF4-FFF2-40B4-BE49-F238E27FC236}">
                <a16:creationId xmlns:a16="http://schemas.microsoft.com/office/drawing/2014/main" id="{CD104C62-C020-46D0-B212-9B570F1C3FDB}"/>
              </a:ext>
            </a:extLst>
          </p:cNvPr>
          <p:cNvSpPr/>
          <p:nvPr/>
        </p:nvSpPr>
        <p:spPr>
          <a:xfrm>
            <a:off x="457355" y="366716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16">
            <a:extLst>
              <a:ext uri="{FF2B5EF4-FFF2-40B4-BE49-F238E27FC236}">
                <a16:creationId xmlns:a16="http://schemas.microsoft.com/office/drawing/2014/main" id="{EAB0632E-4D08-4B33-B30C-4890A903CAE6}"/>
              </a:ext>
            </a:extLst>
          </p:cNvPr>
          <p:cNvSpPr/>
          <p:nvPr/>
        </p:nvSpPr>
        <p:spPr>
          <a:xfrm>
            <a:off x="445285" y="272678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Oval 32">
            <a:hlinkClick r:id="rId7" action="ppaction://hlinksldjump"/>
            <a:extLst>
              <a:ext uri="{FF2B5EF4-FFF2-40B4-BE49-F238E27FC236}">
                <a16:creationId xmlns:a16="http://schemas.microsoft.com/office/drawing/2014/main" id="{9B9E7E78-DC33-42FA-A161-F86C2356BE0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1" name="Oval 34">
            <a:hlinkClick r:id="rId7" action="ppaction://hlinksldjump"/>
            <a:extLst>
              <a:ext uri="{FF2B5EF4-FFF2-40B4-BE49-F238E27FC236}">
                <a16:creationId xmlns:a16="http://schemas.microsoft.com/office/drawing/2014/main" id="{E4DED569-D15A-4458-BA51-76A33AAAD97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Oval 40">
            <a:hlinkClick r:id="rId8" action="ppaction://hlinksldjump"/>
            <a:extLst>
              <a:ext uri="{FF2B5EF4-FFF2-40B4-BE49-F238E27FC236}">
                <a16:creationId xmlns:a16="http://schemas.microsoft.com/office/drawing/2014/main" id="{3DE8CD01-7F4D-46A2-8AC5-E7BA9CA8B1E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3" name="Oval 41">
            <a:hlinkClick r:id="rId9" action="ppaction://hlinksldjump"/>
            <a:extLst>
              <a:ext uri="{FF2B5EF4-FFF2-40B4-BE49-F238E27FC236}">
                <a16:creationId xmlns:a16="http://schemas.microsoft.com/office/drawing/2014/main" id="{97587C4C-9DF4-49CA-A4D0-EB3B3C22205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4" name="TextBox 42">
            <a:hlinkClick r:id="rId7" action="ppaction://hlinksldjump"/>
            <a:extLst>
              <a:ext uri="{FF2B5EF4-FFF2-40B4-BE49-F238E27FC236}">
                <a16:creationId xmlns:a16="http://schemas.microsoft.com/office/drawing/2014/main" id="{65D0768A-EBE6-4D3C-BB68-86A33958B5C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35" name="TextBox 43">
            <a:hlinkClick r:id="rId7" action="ppaction://hlinksldjump"/>
            <a:extLst>
              <a:ext uri="{FF2B5EF4-FFF2-40B4-BE49-F238E27FC236}">
                <a16:creationId xmlns:a16="http://schemas.microsoft.com/office/drawing/2014/main" id="{DB55251B-3E6F-43C4-9C90-D422326FCF9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36" name="TextBox 44">
            <a:hlinkClick r:id="rId8" action="ppaction://hlinksldjump"/>
            <a:extLst>
              <a:ext uri="{FF2B5EF4-FFF2-40B4-BE49-F238E27FC236}">
                <a16:creationId xmlns:a16="http://schemas.microsoft.com/office/drawing/2014/main" id="{EBF5BA49-9CFD-496F-9E75-8957DF9E026A}"/>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37" name="TextBox 45">
            <a:hlinkClick r:id="rId8" action="ppaction://hlinksldjump"/>
            <a:extLst>
              <a:ext uri="{FF2B5EF4-FFF2-40B4-BE49-F238E27FC236}">
                <a16:creationId xmlns:a16="http://schemas.microsoft.com/office/drawing/2014/main" id="{359559BE-7F23-44F2-BAC4-61EB13DB90D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8" name="Oval 46">
            <a:extLst>
              <a:ext uri="{FF2B5EF4-FFF2-40B4-BE49-F238E27FC236}">
                <a16:creationId xmlns:a16="http://schemas.microsoft.com/office/drawing/2014/main" id="{9ACA43D4-BA37-479F-BA7D-C91DDBE1BED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TextBox 47">
            <a:hlinkClick r:id="rId10" action="ppaction://hlinksldjump"/>
            <a:extLst>
              <a:ext uri="{FF2B5EF4-FFF2-40B4-BE49-F238E27FC236}">
                <a16:creationId xmlns:a16="http://schemas.microsoft.com/office/drawing/2014/main" id="{A866D64E-1965-452F-BFEC-7B37E9227E18}"/>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40" name="Picture 48">
            <a:hlinkClick r:id="rId7" action="ppaction://hlinksldjump"/>
            <a:extLst>
              <a:ext uri="{FF2B5EF4-FFF2-40B4-BE49-F238E27FC236}">
                <a16:creationId xmlns:a16="http://schemas.microsoft.com/office/drawing/2014/main" id="{7BE8B95E-147F-4C0D-AEB4-FED089A509E4}"/>
              </a:ext>
            </a:extLst>
          </p:cNvPr>
          <p:cNvPicPr>
            <a:picLocks noChangeAspect="1"/>
          </p:cNvPicPr>
          <p:nvPr/>
        </p:nvPicPr>
        <p:blipFill>
          <a:blip r:embed="rId11">
            <a:alphaModFix amt="35000"/>
          </a:blip>
          <a:srcRect l="20606" t="21077" r="21527" b="31021"/>
          <a:stretch>
            <a:fillRect/>
          </a:stretch>
        </p:blipFill>
        <p:spPr>
          <a:xfrm>
            <a:off x="10028188" y="272070"/>
            <a:ext cx="256918" cy="210595"/>
          </a:xfrm>
          <a:prstGeom prst="rect">
            <a:avLst/>
          </a:prstGeom>
          <a:noFill/>
          <a:ln cap="flat">
            <a:noFill/>
          </a:ln>
        </p:spPr>
      </p:pic>
      <p:sp>
        <p:nvSpPr>
          <p:cNvPr id="41" name="Oval 49">
            <a:hlinkClick r:id="rId7" action="ppaction://hlinksldjump"/>
            <a:extLst>
              <a:ext uri="{FF2B5EF4-FFF2-40B4-BE49-F238E27FC236}">
                <a16:creationId xmlns:a16="http://schemas.microsoft.com/office/drawing/2014/main" id="{34675AA7-8718-4F0A-865A-B42EE774E070}"/>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name="Slide453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F2CF494-BBD0-4349-B130-9C83765C2B3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4C46606-672E-4A6B-8B6C-50EF6911DB5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6CCED06-3894-4C18-97C5-D9459B82B98E}"/>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F7F6139-78A2-454E-818C-7064D10C8A62}"/>
              </a:ext>
            </a:extLst>
          </p:cNvPr>
          <p:cNvSpPr txBox="1"/>
          <p:nvPr/>
        </p:nvSpPr>
        <p:spPr>
          <a:xfrm>
            <a:off x="11669354" y="637199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173E533-BC84-4B49-9B94-0B077943BE8C}" type="slidenum">
              <a:rPr sz="1200"/>
              <a:t>399</a:t>
            </a:fld>
            <a:endParaRPr lang="en-GB" sz="1200" b="0" i="0" u="none" strike="noStrike" kern="1200" cap="none" spc="0" baseline="0">
              <a:solidFill>
                <a:srgbClr val="000000"/>
              </a:solidFill>
              <a:uFillTx/>
              <a:latin typeface="Calibri"/>
            </a:endParaRPr>
          </a:p>
        </p:txBody>
      </p:sp>
      <p:sp>
        <p:nvSpPr>
          <p:cNvPr id="7" name="Rectangle 31">
            <a:extLst>
              <a:ext uri="{FF2B5EF4-FFF2-40B4-BE49-F238E27FC236}">
                <a16:creationId xmlns:a16="http://schemas.microsoft.com/office/drawing/2014/main" id="{A492CC5F-DF3E-4722-ACF4-FEB40D2A821A}"/>
              </a:ext>
            </a:extLst>
          </p:cNvPr>
          <p:cNvSpPr/>
          <p:nvPr/>
        </p:nvSpPr>
        <p:spPr>
          <a:xfrm>
            <a:off x="319116" y="719294"/>
            <a:ext cx="11381929" cy="307777"/>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AutoNum type="arabicPeriod"/>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Allow Reuse of a DUCR once any Declaration has been Rejected</a:t>
            </a:r>
          </a:p>
        </p:txBody>
      </p:sp>
      <p:sp>
        <p:nvSpPr>
          <p:cNvPr id="8" name="Rectangle 1">
            <a:extLst>
              <a:ext uri="{FF2B5EF4-FFF2-40B4-BE49-F238E27FC236}">
                <a16:creationId xmlns:a16="http://schemas.microsoft.com/office/drawing/2014/main" id="{880D6657-07E6-4E9C-90C7-308BACAA42ED}"/>
              </a:ext>
            </a:extLst>
          </p:cNvPr>
          <p:cNvSpPr/>
          <p:nvPr/>
        </p:nvSpPr>
        <p:spPr>
          <a:xfrm>
            <a:off x="400068" y="4981120"/>
            <a:ext cx="11220026" cy="307777"/>
          </a:xfrm>
          <a:prstGeom prst="rect">
            <a:avLst/>
          </a:prstGeom>
          <a:no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that when the DUCR is currently of GVMS interest, the trader is not be able to re-present the declaration using the same DUCR.</a:t>
            </a:r>
          </a:p>
        </p:txBody>
      </p:sp>
      <p:graphicFrame>
        <p:nvGraphicFramePr>
          <p:cNvPr id="9" name="Table 3">
            <a:extLst>
              <a:ext uri="{FF2B5EF4-FFF2-40B4-BE49-F238E27FC236}">
                <a16:creationId xmlns:a16="http://schemas.microsoft.com/office/drawing/2014/main" id="{FD45F6F2-6210-488F-A677-703AFFFF7D4B}"/>
              </a:ext>
            </a:extLst>
          </p:cNvPr>
          <p:cNvGraphicFramePr>
            <a:graphicFrameLocks noGrp="1"/>
          </p:cNvGraphicFramePr>
          <p:nvPr/>
        </p:nvGraphicFramePr>
        <p:xfrm>
          <a:off x="420303" y="1063035"/>
          <a:ext cx="11220025" cy="3795546"/>
        </p:xfrm>
        <a:graphic>
          <a:graphicData uri="http://schemas.openxmlformats.org/drawingml/2006/table">
            <a:tbl>
              <a:tblPr firstRow="1" bandRow="1">
                <a:effectLst/>
                <a:tableStyleId>{5C22544A-7EE6-4342-B048-85BDC9FD1C3A}</a:tableStyleId>
              </a:tblPr>
              <a:tblGrid>
                <a:gridCol w="5796500">
                  <a:extLst>
                    <a:ext uri="{9D8B030D-6E8A-4147-A177-3AD203B41FA5}">
                      <a16:colId xmlns:a16="http://schemas.microsoft.com/office/drawing/2014/main" val="3236021305"/>
                    </a:ext>
                  </a:extLst>
                </a:gridCol>
                <a:gridCol w="5423525">
                  <a:extLst>
                    <a:ext uri="{9D8B030D-6E8A-4147-A177-3AD203B41FA5}">
                      <a16:colId xmlns:a16="http://schemas.microsoft.com/office/drawing/2014/main" val="3991446968"/>
                    </a:ext>
                  </a:extLst>
                </a:gridCol>
              </a:tblGrid>
              <a:tr h="389013">
                <a:tc gridSpan="2">
                  <a:txBody>
                    <a:bodyPr/>
                    <a:lstStyle/>
                    <a:p>
                      <a:pPr marL="0" marR="0" lvl="0" indent="0" algn="l" defTabSz="914400" rtl="0" fontAlgn="auto" hangingPunct="1">
                        <a:lnSpc>
                          <a:spcPct val="100000"/>
                        </a:lnSpc>
                        <a:spcBef>
                          <a:spcPts val="0"/>
                        </a:spcBef>
                        <a:spcAft>
                          <a:spcPts val="0"/>
                        </a:spcAft>
                        <a:buNone/>
                        <a:tabLst/>
                      </a:pPr>
                      <a:r>
                        <a:rPr lang="en-GB" sz="1800" b="1"/>
                        <a:t>Reuse of DUCR on Declarations following rejection due to SOE of 5 or 11</a:t>
                      </a:r>
                    </a:p>
                  </a:txBody>
                  <a:tcPr>
                    <a:solidFill>
                      <a:srgbClr val="7F7F7F"/>
                    </a:solidFill>
                  </a:tcPr>
                </a:tc>
                <a:tc hMerge="1">
                  <a:txBody>
                    <a:bodyPr/>
                    <a:lstStyle/>
                    <a:p>
                      <a:endParaRPr lang="en-GB"/>
                    </a:p>
                  </a:txBody>
                  <a:tcPr/>
                </a:tc>
                <a:extLst>
                  <a:ext uri="{0D108BD9-81ED-4DB2-BD59-A6C34878D82A}">
                    <a16:rowId xmlns:a16="http://schemas.microsoft.com/office/drawing/2014/main" val="1062821427"/>
                  </a:ext>
                </a:extLst>
              </a:tr>
              <a:tr h="389013">
                <a:tc>
                  <a:txBody>
                    <a:bodyPr/>
                    <a:lstStyle/>
                    <a:p>
                      <a:pPr lvl="0" algn="ctr"/>
                      <a:r>
                        <a:rPr lang="en-GB" sz="1400" b="1">
                          <a:solidFill>
                            <a:srgbClr val="FFFFFF"/>
                          </a:solidFill>
                        </a:rPr>
                        <a:t>Declaration Types A, B, C, J (arrived)</a:t>
                      </a:r>
                      <a:endParaRPr lang="en-GB" sz="1400">
                        <a:solidFill>
                          <a:srgbClr val="FFFFFF"/>
                        </a:solidFill>
                      </a:endParaRPr>
                    </a:p>
                  </a:txBody>
                  <a:tcPr>
                    <a:solidFill>
                      <a:srgbClr val="A6A6A6"/>
                    </a:solidFill>
                  </a:tcPr>
                </a:tc>
                <a:tc>
                  <a:txBody>
                    <a:bodyPr/>
                    <a:lstStyle/>
                    <a:p>
                      <a:pPr lvl="0" algn="ctr"/>
                      <a:r>
                        <a:rPr lang="en-GB" sz="1400" b="1">
                          <a:solidFill>
                            <a:srgbClr val="FFFFFF"/>
                          </a:solidFill>
                        </a:rPr>
                        <a:t>Declaration Types D, E, F, K (pre-lodged) ) or A, B, C, J (arrived)</a:t>
                      </a:r>
                      <a:endParaRPr lang="en-GB" sz="1400">
                        <a:solidFill>
                          <a:srgbClr val="FFFFFF"/>
                        </a:solidFill>
                      </a:endParaRPr>
                    </a:p>
                  </a:txBody>
                  <a:tcPr>
                    <a:solidFill>
                      <a:srgbClr val="A6A6A6"/>
                    </a:solidFill>
                  </a:tcPr>
                </a:tc>
                <a:extLst>
                  <a:ext uri="{0D108BD9-81ED-4DB2-BD59-A6C34878D82A}">
                    <a16:rowId xmlns:a16="http://schemas.microsoft.com/office/drawing/2014/main" val="3603201486"/>
                  </a:ext>
                </a:extLst>
              </a:tr>
              <a:tr h="2973573">
                <a:tc>
                  <a:txBody>
                    <a:bodyPr/>
                    <a:lstStyle/>
                    <a:p>
                      <a:pPr lvl="1"/>
                      <a:r>
                        <a:rPr lang="en-GB" sz="1200"/>
                        <a:t>From TTM15.1, traders will be able to re-present a DUCR from a declaration (declaration type A, B, C and J) that has been rejected due to SOE of 5 or 11. </a:t>
                      </a:r>
                    </a:p>
                    <a:p>
                      <a:pPr lvl="1"/>
                      <a:endParaRPr lang="en-GB" sz="1200"/>
                    </a:p>
                    <a:p>
                      <a:pPr lvl="1"/>
                      <a:r>
                        <a:rPr lang="en-GB" sz="1200"/>
                        <a:t>The declaration can be re-presented with the same DUCR, and the DUCR can be associated with a MUCR following the rejection.</a:t>
                      </a:r>
                    </a:p>
                    <a:p>
                      <a:pPr lvl="1"/>
                      <a:endParaRPr lang="en-GB" sz="1200"/>
                    </a:p>
                    <a:p>
                      <a:pPr lvl="1"/>
                      <a:r>
                        <a:rPr lang="en-GB" sz="1200"/>
                        <a:t>If the DUCR that was previously in the rejected declaration is now associated with a new MUCR, in which case the DUCR will be disassociated from the old MUCR, the trader can still re-present the declaration.</a:t>
                      </a:r>
                    </a:p>
                    <a:p>
                      <a:pPr lvl="1"/>
                      <a:endParaRPr lang="en-GB" sz="1200">
                        <a:solidFill>
                          <a:srgbClr val="000000"/>
                        </a:solidFill>
                      </a:endParaRPr>
                    </a:p>
                    <a:p>
                      <a:pPr lvl="1"/>
                      <a:r>
                        <a:rPr lang="en-GB" sz="1200"/>
                        <a:t>When a declaration is re-presented with the same DUCR following rejection, and that DUCR is associated to a MUCR, then the trader will be able to re-present the Declaration with or without a MUCR.</a:t>
                      </a:r>
                    </a:p>
                    <a:p>
                      <a:pPr lvl="1"/>
                      <a:endParaRPr lang="en-GB" sz="1200"/>
                    </a:p>
                    <a:p>
                      <a:pPr lvl="1"/>
                      <a:r>
                        <a:rPr lang="en-GB" sz="1200"/>
                        <a:t>In this scenario, the DUCR will be disassociated from the original MUCR and should not be associated to another MUCR at the point of declaration acceptance.</a:t>
                      </a:r>
                    </a:p>
                  </a:txBody>
                  <a:tcPr>
                    <a:solidFill>
                      <a:srgbClr val="F2F2F2"/>
                    </a:solidFill>
                  </a:tcPr>
                </a:tc>
                <a:tc>
                  <a:txBody>
                    <a:bodyPr/>
                    <a:lstStyle/>
                    <a:p>
                      <a:pPr lvl="1"/>
                      <a:r>
                        <a:rPr lang="en-GB" sz="1200" dirty="0"/>
                        <a:t>When a declaration is re-presented with the same DUCR following rejection of a pre-lodged (D, E, F, K) or arrived (A, B, C, J) declaration, and that DUCR is or is not associated to a MUCR, any valid previous movements (EAL, EAA, RET) applied to the MUCR will be automatically applied to the re-presented declaration. </a:t>
                      </a:r>
                    </a:p>
                    <a:p>
                      <a:pPr lvl="1"/>
                      <a:endParaRPr lang="en-GB" sz="1200" dirty="0"/>
                    </a:p>
                    <a:p>
                      <a:pPr marL="457200" marR="0" lvl="1" indent="0" algn="l" defTabSz="914400" rtl="0" fontAlgn="auto" hangingPunct="1">
                        <a:lnSpc>
                          <a:spcPct val="100000"/>
                        </a:lnSpc>
                        <a:spcBef>
                          <a:spcPts val="0"/>
                        </a:spcBef>
                        <a:spcAft>
                          <a:spcPts val="0"/>
                        </a:spcAft>
                        <a:buNone/>
                        <a:tabLst/>
                      </a:pPr>
                      <a:r>
                        <a:rPr lang="en-GB" sz="1200" dirty="0"/>
                        <a:t>All other UCR uniqueness validation still apply to arrived Exports declarations.</a:t>
                      </a:r>
                    </a:p>
                    <a:p>
                      <a:pPr lvl="1"/>
                      <a:endParaRPr lang="en-GB" sz="1200" dirty="0"/>
                    </a:p>
                    <a:p>
                      <a:pPr lvl="0"/>
                      <a:endParaRPr lang="en-GB" dirty="0"/>
                    </a:p>
                  </a:txBody>
                  <a:tcPr>
                    <a:solidFill>
                      <a:srgbClr val="F2F2F2"/>
                    </a:solidFill>
                  </a:tcPr>
                </a:tc>
                <a:extLst>
                  <a:ext uri="{0D108BD9-81ED-4DB2-BD59-A6C34878D82A}">
                    <a16:rowId xmlns:a16="http://schemas.microsoft.com/office/drawing/2014/main" val="3951336475"/>
                  </a:ext>
                </a:extLst>
              </a:tr>
            </a:tbl>
          </a:graphicData>
        </a:graphic>
      </p:graphicFrame>
      <p:sp>
        <p:nvSpPr>
          <p:cNvPr id="10" name="Oval 11">
            <a:hlinkClick r:id="rId3" action="ppaction://hlinksldjump"/>
            <a:extLst>
              <a:ext uri="{FF2B5EF4-FFF2-40B4-BE49-F238E27FC236}">
                <a16:creationId xmlns:a16="http://schemas.microsoft.com/office/drawing/2014/main" id="{DD449888-99B8-492B-8A46-34FFF3A502C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2">
            <a:hlinkClick r:id="rId3" action="ppaction://hlinksldjump"/>
            <a:extLst>
              <a:ext uri="{FF2B5EF4-FFF2-40B4-BE49-F238E27FC236}">
                <a16:creationId xmlns:a16="http://schemas.microsoft.com/office/drawing/2014/main" id="{CA10142D-CE6F-410E-BEDD-21EA93D69357}"/>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3">
            <a:hlinkClick r:id="rId4" action="ppaction://hlinksldjump"/>
            <a:extLst>
              <a:ext uri="{FF2B5EF4-FFF2-40B4-BE49-F238E27FC236}">
                <a16:creationId xmlns:a16="http://schemas.microsoft.com/office/drawing/2014/main" id="{07E1D577-B2B1-4E34-AD80-6D5BEA14586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4">
            <a:hlinkClick r:id="rId5" action="ppaction://hlinksldjump"/>
            <a:extLst>
              <a:ext uri="{FF2B5EF4-FFF2-40B4-BE49-F238E27FC236}">
                <a16:creationId xmlns:a16="http://schemas.microsoft.com/office/drawing/2014/main" id="{11A51AA1-0531-4E08-832C-E9498A5C38D0}"/>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15">
            <a:hlinkClick r:id="rId3" action="ppaction://hlinksldjump"/>
            <a:extLst>
              <a:ext uri="{FF2B5EF4-FFF2-40B4-BE49-F238E27FC236}">
                <a16:creationId xmlns:a16="http://schemas.microsoft.com/office/drawing/2014/main" id="{7BB2D441-585F-4C55-8417-FA5E06B2A6C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16">
            <a:hlinkClick r:id="rId3" action="ppaction://hlinksldjump"/>
            <a:extLst>
              <a:ext uri="{FF2B5EF4-FFF2-40B4-BE49-F238E27FC236}">
                <a16:creationId xmlns:a16="http://schemas.microsoft.com/office/drawing/2014/main" id="{BA179A74-6EB3-404C-8C5A-A114427F867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20">
            <a:hlinkClick r:id="rId4" action="ppaction://hlinksldjump"/>
            <a:extLst>
              <a:ext uri="{FF2B5EF4-FFF2-40B4-BE49-F238E27FC236}">
                <a16:creationId xmlns:a16="http://schemas.microsoft.com/office/drawing/2014/main" id="{6A637F79-2F1E-4F37-88C2-6231B979A82D}"/>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21">
            <a:hlinkClick r:id="rId4" action="ppaction://hlinksldjump"/>
            <a:extLst>
              <a:ext uri="{FF2B5EF4-FFF2-40B4-BE49-F238E27FC236}">
                <a16:creationId xmlns:a16="http://schemas.microsoft.com/office/drawing/2014/main" id="{5F513A2D-4783-4F9A-8A89-C49A5C12C24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22">
            <a:extLst>
              <a:ext uri="{FF2B5EF4-FFF2-40B4-BE49-F238E27FC236}">
                <a16:creationId xmlns:a16="http://schemas.microsoft.com/office/drawing/2014/main" id="{F9DBEA6F-DF8C-4DE6-ADC9-6358E6AAEB6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23">
            <a:hlinkClick r:id="rId6" action="ppaction://hlinksldjump"/>
            <a:extLst>
              <a:ext uri="{FF2B5EF4-FFF2-40B4-BE49-F238E27FC236}">
                <a16:creationId xmlns:a16="http://schemas.microsoft.com/office/drawing/2014/main" id="{AFD28F09-DC26-495E-A617-04983785CFF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24">
            <a:hlinkClick r:id="rId3" action="ppaction://hlinksldjump"/>
            <a:extLst>
              <a:ext uri="{FF2B5EF4-FFF2-40B4-BE49-F238E27FC236}">
                <a16:creationId xmlns:a16="http://schemas.microsoft.com/office/drawing/2014/main" id="{E613F712-4269-4B8C-90F8-8A273760549D}"/>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26">
            <a:hlinkClick r:id="rId3" action="ppaction://hlinksldjump"/>
            <a:extLst>
              <a:ext uri="{FF2B5EF4-FFF2-40B4-BE49-F238E27FC236}">
                <a16:creationId xmlns:a16="http://schemas.microsoft.com/office/drawing/2014/main" id="{BCA4EB86-3202-4F1A-B9AC-6BA01F4EA7E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name="Slide454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D238831-0733-4B03-AE3E-8D9D90D403B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328568C-0676-4721-B016-0CFA4CE6EEA1}"/>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6066BFBE-DDC4-4DB5-AE47-B7C07DF13BA8}"/>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BE512550-BE09-4C24-8554-DC393BFD275F}"/>
              </a:ext>
            </a:extLst>
          </p:cNvPr>
          <p:cNvSpPr txBox="1"/>
          <p:nvPr/>
        </p:nvSpPr>
        <p:spPr>
          <a:xfrm>
            <a:off x="11637549"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F580710-8BCE-4F2E-866A-49AA50C38490}" type="slidenum">
              <a:rPr sz="1200"/>
              <a:t>400</a:t>
            </a:fld>
            <a:endParaRPr lang="en-GB" sz="1200" b="0" i="0" u="none" strike="noStrike" kern="1200" cap="none" spc="0" baseline="0">
              <a:solidFill>
                <a:srgbClr val="000000"/>
              </a:solidFill>
              <a:uFillTx/>
              <a:latin typeface="Calibri"/>
            </a:endParaRPr>
          </a:p>
        </p:txBody>
      </p:sp>
      <p:sp>
        <p:nvSpPr>
          <p:cNvPr id="7" name="Rectangle 11">
            <a:extLst>
              <a:ext uri="{FF2B5EF4-FFF2-40B4-BE49-F238E27FC236}">
                <a16:creationId xmlns:a16="http://schemas.microsoft.com/office/drawing/2014/main" id="{803FB235-8943-41B2-8C5E-60CC7D646A7C}"/>
              </a:ext>
            </a:extLst>
          </p:cNvPr>
          <p:cNvSpPr/>
          <p:nvPr/>
        </p:nvSpPr>
        <p:spPr>
          <a:xfrm>
            <a:off x="292946" y="719294"/>
            <a:ext cx="11606104" cy="1815879"/>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2"/>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Defining authorisation to (dis) associate an UCR with an arrived &amp; shut MUCR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Previously during the testing of Inventory Linking Exports, developers found that CDS had limited restriction on which parties were authorised to perform the transaction. From TTM15.1, CDS will further restrict the ability to associate an UCR to an arrived and shut MUCR, preventing UCRs from being associated by unauthorised parties.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change will prevent additional UCRs from being associated or disassociated by unauthorised parties where MUCRs have already been shut and are ready to depart. Therefore:</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last submitter to arrive or shut an immediate parent MUCR, as identified by the Submitter ID in the most recent valid message, will be able to associate/disassociate a lower level UCR from an arrived and shut MUCR.</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BAU, HMRC personnel will be able to associate/disassociate a lower level UCR from an arrived and shut MUCR.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8" name="Rectangle 12">
            <a:extLst>
              <a:ext uri="{FF2B5EF4-FFF2-40B4-BE49-F238E27FC236}">
                <a16:creationId xmlns:a16="http://schemas.microsoft.com/office/drawing/2014/main" id="{50141C99-93B7-427F-8D64-E1096A72E3A7}"/>
              </a:ext>
            </a:extLst>
          </p:cNvPr>
          <p:cNvSpPr/>
          <p:nvPr/>
        </p:nvSpPr>
        <p:spPr>
          <a:xfrm>
            <a:off x="256580" y="2624373"/>
            <a:ext cx="11650955" cy="2923876"/>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3"/>
              <a:tabLst/>
              <a:defRPr sz="1800" b="0" i="0" u="none" strike="noStrike" kern="0" cap="none" spc="0" baseline="0">
                <a:solidFill>
                  <a:srgbClr val="000000"/>
                </a:solidFill>
                <a:uFillTx/>
              </a:defRPr>
            </a:pPr>
            <a:r>
              <a:rPr lang="fr-FR" sz="1400" b="1" i="0" u="none" strike="noStrike" kern="1200" cap="none" spc="0" baseline="0">
                <a:solidFill>
                  <a:srgbClr val="000000"/>
                </a:solidFill>
                <a:uFillTx/>
                <a:latin typeface="Calibri"/>
              </a:rPr>
              <a:t>ILE - Change UCR/MUCR Arrival Logic</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Currently CSPs cannot individually arrive underlying UCRs in CDS (i.e. below a parent MUCR), meaning that CSPs must arrive the highest level UCR (the parent MUCR). If they attempt to arrive underlying UCRs without this top-level MUCR arrival, then the arrival will be rejected. The functionality to arrive an underlying UCR is something that is both possible and standard in CHIEF, and helps CSPs deal with short-shipped Exports in alignment with Border Force and regulatory requirements, consequently this means CDS needs to deliver a similar functionality.</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GB" sz="1200" b="1" i="0" u="none" strike="noStrike" kern="1200" cap="none" spc="0" baseline="0">
                <a:solidFill>
                  <a:srgbClr val="000000"/>
                </a:solidFill>
                <a:uFillTx/>
                <a:latin typeface="Calibri"/>
              </a:rPr>
            </a:br>
            <a:r>
              <a:rPr lang="en-GB" sz="1200" b="0" i="0" u="none" strike="noStrike" kern="1200" cap="none" spc="0" baseline="0">
                <a:solidFill>
                  <a:srgbClr val="000000"/>
                </a:solidFill>
                <a:uFillTx/>
                <a:latin typeface="Calibri"/>
              </a:rPr>
              <a:t>From TTM15.1, CSPs will be able to complete anticipated and arrival  movements (EAA/EAL) for an UCR which is below a MUCR to successfully process an UCR before the MUCR is arrived at the frontier.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Loader will be able to complete an arrival or re-arrival movement (EAA/EAL) on individual DUCRs or MUCRs that are below a parent MUCR.</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the arrival of a lower level UCR consolidated within a MUCR, if there is an existing valid EAA/EAL for the top-level MUCR, CDS will send an EMR for the top-level MUCR to the latest EAA/EAL requester.</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there is no existing valid EAA/EAL for the top-level MUCR then CDS will not send an EMR for the top-level MUCR.</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the arrival of a DUCR consolidated within a MUCR, CDS will send an ERS for that UCR.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9" name="Oval 10">
            <a:hlinkClick r:id="rId3" action="ppaction://hlinksldjump"/>
            <a:extLst>
              <a:ext uri="{FF2B5EF4-FFF2-40B4-BE49-F238E27FC236}">
                <a16:creationId xmlns:a16="http://schemas.microsoft.com/office/drawing/2014/main" id="{F3813E6D-27A8-4B98-AB88-33AB2CAA358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13">
            <a:hlinkClick r:id="rId3" action="ppaction://hlinksldjump"/>
            <a:extLst>
              <a:ext uri="{FF2B5EF4-FFF2-40B4-BE49-F238E27FC236}">
                <a16:creationId xmlns:a16="http://schemas.microsoft.com/office/drawing/2014/main" id="{7B0B4645-E0A3-48A9-89E6-E726B69BD831}"/>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4">
            <a:hlinkClick r:id="rId4" action="ppaction://hlinksldjump"/>
            <a:extLst>
              <a:ext uri="{FF2B5EF4-FFF2-40B4-BE49-F238E27FC236}">
                <a16:creationId xmlns:a16="http://schemas.microsoft.com/office/drawing/2014/main" id="{7565B3D3-1F7F-4CB2-B927-5BAA9781E631}"/>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5">
            <a:hlinkClick r:id="rId5" action="ppaction://hlinksldjump"/>
            <a:extLst>
              <a:ext uri="{FF2B5EF4-FFF2-40B4-BE49-F238E27FC236}">
                <a16:creationId xmlns:a16="http://schemas.microsoft.com/office/drawing/2014/main" id="{27EBA06E-F76A-4D06-91A1-C911EA3A199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16">
            <a:hlinkClick r:id="rId3" action="ppaction://hlinksldjump"/>
            <a:extLst>
              <a:ext uri="{FF2B5EF4-FFF2-40B4-BE49-F238E27FC236}">
                <a16:creationId xmlns:a16="http://schemas.microsoft.com/office/drawing/2014/main" id="{C5FC35A8-9442-44FB-944F-4C1DF73D5197}"/>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20">
            <a:hlinkClick r:id="rId3" action="ppaction://hlinksldjump"/>
            <a:extLst>
              <a:ext uri="{FF2B5EF4-FFF2-40B4-BE49-F238E27FC236}">
                <a16:creationId xmlns:a16="http://schemas.microsoft.com/office/drawing/2014/main" id="{1C785D66-A061-4070-AB98-27A434AEFEB6}"/>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5" name="TextBox 21">
            <a:hlinkClick r:id="rId4" action="ppaction://hlinksldjump"/>
            <a:extLst>
              <a:ext uri="{FF2B5EF4-FFF2-40B4-BE49-F238E27FC236}">
                <a16:creationId xmlns:a16="http://schemas.microsoft.com/office/drawing/2014/main" id="{91EFD26E-3F77-4EBF-B733-707E5732B629}"/>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6" name="TextBox 22">
            <a:hlinkClick r:id="rId4" action="ppaction://hlinksldjump"/>
            <a:extLst>
              <a:ext uri="{FF2B5EF4-FFF2-40B4-BE49-F238E27FC236}">
                <a16:creationId xmlns:a16="http://schemas.microsoft.com/office/drawing/2014/main" id="{56666009-D988-4315-AE06-31BC72E9F3A4}"/>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23">
            <a:extLst>
              <a:ext uri="{FF2B5EF4-FFF2-40B4-BE49-F238E27FC236}">
                <a16:creationId xmlns:a16="http://schemas.microsoft.com/office/drawing/2014/main" id="{BECFC907-8E36-47B9-9DFA-E87B5DA68767}"/>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24">
            <a:hlinkClick r:id="rId6" action="ppaction://hlinksldjump"/>
            <a:extLst>
              <a:ext uri="{FF2B5EF4-FFF2-40B4-BE49-F238E27FC236}">
                <a16:creationId xmlns:a16="http://schemas.microsoft.com/office/drawing/2014/main" id="{7E67051F-2C20-409B-B1E2-AF5200363F2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26">
            <a:hlinkClick r:id="rId3" action="ppaction://hlinksldjump"/>
            <a:extLst>
              <a:ext uri="{FF2B5EF4-FFF2-40B4-BE49-F238E27FC236}">
                <a16:creationId xmlns:a16="http://schemas.microsoft.com/office/drawing/2014/main" id="{77A0BFF5-E41E-477A-BBA4-DDA1F04704DB}"/>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27">
            <a:hlinkClick r:id="rId3" action="ppaction://hlinksldjump"/>
            <a:extLst>
              <a:ext uri="{FF2B5EF4-FFF2-40B4-BE49-F238E27FC236}">
                <a16:creationId xmlns:a16="http://schemas.microsoft.com/office/drawing/2014/main" id="{584D1227-C214-4FAE-B242-F29C11F857CC}"/>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name="Slide453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1595BE6-C456-4825-9E4F-72C28942CA65}"/>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E23564E-281E-41B0-9FF4-C01437F5FAA3}"/>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333EC6B-6EE1-4A86-8665-2299977542B7}"/>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15CABE18-A179-47D4-BF61-721CEC5FC4AC}"/>
              </a:ext>
            </a:extLst>
          </p:cNvPr>
          <p:cNvSpPr txBox="1"/>
          <p:nvPr/>
        </p:nvSpPr>
        <p:spPr>
          <a:xfrm>
            <a:off x="11637548"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1E59F50-606D-414C-9D77-119066F64F17}" type="slidenum">
              <a:rPr sz="1200"/>
              <a:t>401</a:t>
            </a:fld>
            <a:endParaRPr lang="en-GB" sz="1200" b="0" i="0" u="none" strike="noStrike" kern="1200" cap="none" spc="0" baseline="0">
              <a:solidFill>
                <a:srgbClr val="000000"/>
              </a:solidFill>
              <a:uFillTx/>
              <a:latin typeface="Calibri"/>
            </a:endParaRPr>
          </a:p>
        </p:txBody>
      </p:sp>
      <p:sp>
        <p:nvSpPr>
          <p:cNvPr id="7" name="Rectangle 13">
            <a:extLst>
              <a:ext uri="{FF2B5EF4-FFF2-40B4-BE49-F238E27FC236}">
                <a16:creationId xmlns:a16="http://schemas.microsoft.com/office/drawing/2014/main" id="{251D0333-77CE-442C-8BC8-C23450360EA4}"/>
              </a:ext>
            </a:extLst>
          </p:cNvPr>
          <p:cNvSpPr/>
          <p:nvPr/>
        </p:nvSpPr>
        <p:spPr>
          <a:xfrm>
            <a:off x="292946" y="786329"/>
            <a:ext cx="11606104" cy="1600437"/>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4"/>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Introduction of the Super Reduced Data Set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br>
              <a:rPr lang="en-US" sz="1200" b="0" i="0" u="none" strike="noStrike" kern="1200" cap="none" spc="0" baseline="0">
                <a:solidFill>
                  <a:srgbClr val="000000"/>
                </a:solidFill>
                <a:uFillTx/>
                <a:latin typeface="Calibri"/>
                <a:cs typeface="Arial" pitchFamily="34"/>
              </a:rPr>
            </a:br>
            <a:r>
              <a:rPr lang="en-US" sz="1200" b="0" i="0" u="none" strike="noStrike" kern="1200" cap="none" spc="0" baseline="0">
                <a:solidFill>
                  <a:srgbClr val="000000"/>
                </a:solidFill>
                <a:uFillTx/>
                <a:latin typeface="Calibri"/>
                <a:cs typeface="Arial" pitchFamily="34"/>
              </a:rPr>
              <a:t>CDS will allow the NI AI codes 'NIDOM' and 'NIIMP' to be declared on SRDS (Super Reduced Data Set) declarations to ensure Northern Ireland declarations continue to be identified separately from GB declarations. Therefore, </a:t>
            </a:r>
            <a:r>
              <a:rPr lang="en-GB" sz="1200" b="0" i="0" u="none" strike="noStrike" kern="1200" cap="none" spc="0" baseline="0">
                <a:solidFill>
                  <a:srgbClr val="000000"/>
                </a:solidFill>
                <a:uFillTx/>
                <a:latin typeface="Calibri"/>
                <a:cs typeface="Arial" pitchFamily="34"/>
              </a:rPr>
              <a:t>at item level on the same goods item on SRDS declarations:</a:t>
            </a:r>
            <a:endParaRPr lang="en-US" sz="1200" b="0" i="0" u="none" strike="noStrike" kern="1200" cap="none" spc="0" baseline="0">
              <a:solidFill>
                <a:srgbClr val="000000"/>
              </a:solidFill>
              <a:uFillTx/>
              <a:latin typeface="Calibri"/>
            </a:endParaRP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cs typeface="Arial" pitchFamily="34"/>
              </a:rPr>
              <a:t>Traders can use the GB-NI domestic movement AI code 'NIDOM' in D.E. 2/2 at item level on SRDS declarations.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cs typeface="Arial" pitchFamily="34"/>
              </a:rPr>
              <a:t>Traders can use the RoW-NI AI code 'NIIMP' in D.E. 2/2 at item level on SRDS declarations.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cs typeface="Arial" pitchFamily="34"/>
              </a:rPr>
              <a:t>Traders cannot use any combination of AI codes 'NIDOM', 'NIIMP' and 'NIEXP' in D.E. 2/2.</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cs typeface="Arial" pitchFamily="34"/>
              </a:rPr>
              <a:t>If the Gross Mass (D.E. 6/5) is '0' or NULL on an SRDS declaration, CDS will reject the declaration and send a DMSREJ notification to the trader.</a:t>
            </a:r>
          </a:p>
        </p:txBody>
      </p:sp>
      <p:sp>
        <p:nvSpPr>
          <p:cNvPr id="8" name="Rectangle 2">
            <a:extLst>
              <a:ext uri="{FF2B5EF4-FFF2-40B4-BE49-F238E27FC236}">
                <a16:creationId xmlns:a16="http://schemas.microsoft.com/office/drawing/2014/main" id="{BFA5EF84-F633-42DC-BC98-4DC25EA3C374}"/>
              </a:ext>
            </a:extLst>
          </p:cNvPr>
          <p:cNvSpPr/>
          <p:nvPr/>
        </p:nvSpPr>
        <p:spPr>
          <a:xfrm>
            <a:off x="292946" y="2463814"/>
            <a:ext cx="11523442" cy="646334"/>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US" sz="1200" b="1" i="0" u="none" strike="noStrike" kern="1200" cap="none" spc="0" baseline="0">
                <a:solidFill>
                  <a:srgbClr val="000000"/>
                </a:solidFill>
                <a:uFillTx/>
                <a:latin typeface="Calibri"/>
                <a:cs typeface="Arial" pitchFamily="34"/>
              </a:rPr>
              <a:t>Movements involving Goods Vehicle Movement Service (GVMS)</a:t>
            </a:r>
            <a:br>
              <a:rPr lang="en-US" sz="1200" b="0" i="0" u="none" strike="noStrike" kern="1200" cap="none" spc="0" baseline="0">
                <a:solidFill>
                  <a:srgbClr val="000000"/>
                </a:solidFill>
                <a:uFillTx/>
                <a:latin typeface="Calibri"/>
                <a:cs typeface="Arial" pitchFamily="34"/>
              </a:rPr>
            </a:br>
            <a:r>
              <a:rPr lang="en-US" sz="1200" b="0" i="0" u="none" strike="noStrike" kern="1200" cap="none" spc="0" baseline="0">
                <a:solidFill>
                  <a:srgbClr val="000000"/>
                </a:solidFill>
                <a:uFillTx/>
                <a:latin typeface="Calibri"/>
                <a:cs typeface="Arial" pitchFamily="34"/>
              </a:rPr>
              <a:t>For GB-NI goods imported using the SRDS, as per current functionality, CDS will allow the GVMS RRS01 code to be declared so that the declaration can be processed through GVMS. As per current BAU processes, if a trader has declared ‘NIDOM’ in D.E. 2/2 on an SRDS declaration and they should also declare AI code 'RRS01' in D.E. 2/2 at header level on the SRDS.</a:t>
            </a:r>
          </a:p>
        </p:txBody>
      </p:sp>
      <p:sp>
        <p:nvSpPr>
          <p:cNvPr id="9" name="Rectangle 12">
            <a:extLst>
              <a:ext uri="{FF2B5EF4-FFF2-40B4-BE49-F238E27FC236}">
                <a16:creationId xmlns:a16="http://schemas.microsoft.com/office/drawing/2014/main" id="{92BA2CAA-5B4D-41EE-8557-48448278C1AE}"/>
              </a:ext>
            </a:extLst>
          </p:cNvPr>
          <p:cNvSpPr/>
          <p:nvPr/>
        </p:nvSpPr>
        <p:spPr>
          <a:xfrm>
            <a:off x="292946" y="3232477"/>
            <a:ext cx="11606104" cy="212365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TTM15.1, traders can submit declarations with Super Reduced Data Set (SRDS) so that low value goods can be imported efficiently and with minimal disruption at the Northern Ireland border. Where the following combination of data elements is declared, CDS will derive the SRDS declaration. If the completion rules (format, obligation) are not followed, CDS will reject the declaration and send a DMSREJ notification to the trader. The following combination of data elements derive SRDS: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Declaration type 'IM' in D.E. 1/1 at header level </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Additional declaration type 'A' or 'D' in D.E. 1/2 at header level </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Procedure Type '40 00' in D.E. 1/10 at item level</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Additional Procedure Code ‘1H7’ and ‘C07’ in DE 1/11 at item level.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refer to SRDS column in the TCM Imports for a list of other data elements that must be completed for this data set. C07 is currently mandated with 1H7 to derive SRDS, however this may be subject to change. For RoW-NI, HMRC may require additional information to indicate the different journey types e.g. B2B for compliance purposes, but this does not form part of this current release.</a:t>
            </a:r>
          </a:p>
        </p:txBody>
      </p:sp>
      <p:sp>
        <p:nvSpPr>
          <p:cNvPr id="10" name="Oval 11">
            <a:hlinkClick r:id="rId3" action="ppaction://hlinksldjump"/>
            <a:extLst>
              <a:ext uri="{FF2B5EF4-FFF2-40B4-BE49-F238E27FC236}">
                <a16:creationId xmlns:a16="http://schemas.microsoft.com/office/drawing/2014/main" id="{A8D7FF2B-9ED9-4C16-8798-ABCFD90D7E7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4">
            <a:hlinkClick r:id="rId3" action="ppaction://hlinksldjump"/>
            <a:extLst>
              <a:ext uri="{FF2B5EF4-FFF2-40B4-BE49-F238E27FC236}">
                <a16:creationId xmlns:a16="http://schemas.microsoft.com/office/drawing/2014/main" id="{177F1A16-0570-4760-AAE4-EBCE3D9844F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5">
            <a:hlinkClick r:id="rId4" action="ppaction://hlinksldjump"/>
            <a:extLst>
              <a:ext uri="{FF2B5EF4-FFF2-40B4-BE49-F238E27FC236}">
                <a16:creationId xmlns:a16="http://schemas.microsoft.com/office/drawing/2014/main" id="{59175F8A-7EAB-489F-A701-9A52F361FBE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6">
            <a:hlinkClick r:id="rId5" action="ppaction://hlinksldjump"/>
            <a:extLst>
              <a:ext uri="{FF2B5EF4-FFF2-40B4-BE49-F238E27FC236}">
                <a16:creationId xmlns:a16="http://schemas.microsoft.com/office/drawing/2014/main" id="{5166A146-A580-487D-A6F7-027537422DB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0">
            <a:hlinkClick r:id="rId3" action="ppaction://hlinksldjump"/>
            <a:extLst>
              <a:ext uri="{FF2B5EF4-FFF2-40B4-BE49-F238E27FC236}">
                <a16:creationId xmlns:a16="http://schemas.microsoft.com/office/drawing/2014/main" id="{9DA4BE87-CA11-44A6-99F9-81AD89FCBD8A}"/>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21">
            <a:hlinkClick r:id="rId3" action="ppaction://hlinksldjump"/>
            <a:extLst>
              <a:ext uri="{FF2B5EF4-FFF2-40B4-BE49-F238E27FC236}">
                <a16:creationId xmlns:a16="http://schemas.microsoft.com/office/drawing/2014/main" id="{438D90D0-D2AA-45D8-B610-2C6F29E497EB}"/>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22">
            <a:hlinkClick r:id="rId4" action="ppaction://hlinksldjump"/>
            <a:extLst>
              <a:ext uri="{FF2B5EF4-FFF2-40B4-BE49-F238E27FC236}">
                <a16:creationId xmlns:a16="http://schemas.microsoft.com/office/drawing/2014/main" id="{E49F99B8-EE74-43AE-A852-4BE192B0BC25}"/>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23">
            <a:hlinkClick r:id="rId4" action="ppaction://hlinksldjump"/>
            <a:extLst>
              <a:ext uri="{FF2B5EF4-FFF2-40B4-BE49-F238E27FC236}">
                <a16:creationId xmlns:a16="http://schemas.microsoft.com/office/drawing/2014/main" id="{2295087D-48D9-45FD-B397-1EC96C48F0A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24">
            <a:extLst>
              <a:ext uri="{FF2B5EF4-FFF2-40B4-BE49-F238E27FC236}">
                <a16:creationId xmlns:a16="http://schemas.microsoft.com/office/drawing/2014/main" id="{27D8B830-0F2B-4C6A-A71A-E4405B42E8B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26">
            <a:hlinkClick r:id="rId6" action="ppaction://hlinksldjump"/>
            <a:extLst>
              <a:ext uri="{FF2B5EF4-FFF2-40B4-BE49-F238E27FC236}">
                <a16:creationId xmlns:a16="http://schemas.microsoft.com/office/drawing/2014/main" id="{B658F5F0-7A1C-4729-8D19-9DC17A76F61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27">
            <a:hlinkClick r:id="rId3" action="ppaction://hlinksldjump"/>
            <a:extLst>
              <a:ext uri="{FF2B5EF4-FFF2-40B4-BE49-F238E27FC236}">
                <a16:creationId xmlns:a16="http://schemas.microsoft.com/office/drawing/2014/main" id="{C00E23CD-022D-4450-9634-CEDFD93C2247}"/>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28">
            <a:hlinkClick r:id="rId3" action="ppaction://hlinksldjump"/>
            <a:extLst>
              <a:ext uri="{FF2B5EF4-FFF2-40B4-BE49-F238E27FC236}">
                <a16:creationId xmlns:a16="http://schemas.microsoft.com/office/drawing/2014/main" id="{4E75F182-14C6-416E-8C68-5C97ADBF74E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name="Slide453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153514D2-BC47-4788-8CBE-B4C7DCA6AC9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2A4917F-2EDC-454B-9871-C3F9112050F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56061147-69AD-4A03-8C64-DDE511661F84}"/>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FB34D7EF-5DA1-4BA0-9C9C-A2B7F65776DE}"/>
              </a:ext>
            </a:extLst>
          </p:cNvPr>
          <p:cNvSpPr txBox="1"/>
          <p:nvPr/>
        </p:nvSpPr>
        <p:spPr>
          <a:xfrm>
            <a:off x="11645500"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9BBFD4E-6B8E-42D7-B5A5-5135472A9553}" type="slidenum">
              <a:rPr sz="1200"/>
              <a:t>402</a:t>
            </a:fld>
            <a:endParaRPr lang="en-GB" sz="1200" b="0" i="0" u="none" strike="noStrike" kern="1200" cap="none" spc="0" baseline="0">
              <a:solidFill>
                <a:srgbClr val="000000"/>
              </a:solidFill>
              <a:uFillTx/>
              <a:latin typeface="Calibri"/>
            </a:endParaRPr>
          </a:p>
        </p:txBody>
      </p:sp>
      <p:sp>
        <p:nvSpPr>
          <p:cNvPr id="7" name="Rectangle 13">
            <a:extLst>
              <a:ext uri="{FF2B5EF4-FFF2-40B4-BE49-F238E27FC236}">
                <a16:creationId xmlns:a16="http://schemas.microsoft.com/office/drawing/2014/main" id="{7B519AFF-61CC-4ADE-A85E-ECC4666F5435}"/>
              </a:ext>
            </a:extLst>
          </p:cNvPr>
          <p:cNvSpPr/>
          <p:nvPr/>
        </p:nvSpPr>
        <p:spPr>
          <a:xfrm>
            <a:off x="319116" y="719495"/>
            <a:ext cx="11061076" cy="2154436"/>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5"/>
              <a:tabLst/>
              <a:defRPr sz="1800" b="0" i="0" u="none" strike="noStrike" kern="0" cap="none" spc="0" baseline="0">
                <a:solidFill>
                  <a:srgbClr val="000000"/>
                </a:solidFill>
                <a:uFillTx/>
              </a:defRPr>
            </a:pPr>
            <a:r>
              <a:rPr lang="fr-FR" sz="1400" b="1" i="0" u="none" strike="noStrike" kern="1200" cap="none" spc="0" baseline="0">
                <a:solidFill>
                  <a:srgbClr val="000000"/>
                </a:solidFill>
                <a:uFillTx/>
                <a:latin typeface="Calibri"/>
              </a:rPr>
              <a:t>Indirect Complex NI Movements &amp; Duty Calculation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GB-NI movements, the trader will be required to use the existing manual override functionality to manually calculate and input the correct excise duty liability, if the excise duty applicable to the goods when they enter NI is higher than the excise duty already paid on the goods in GB. This might happen is if there has been an increase in the excise duty rate, for example if there has been a budget rate change, between the time of first payment of the GB excise duty in GB and the time when those goods are moved into NI.</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A trader will be able to calculate and declare additional excise duty (if any) is due on entry to NI.</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OVR06 in DE 2/2 confirms that a trader is making a manual calculation of the additional excise due on the GB-NI movement. </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OVR06 must be combined with OVR01 in order to enter the charges due on the goods.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a trader only declares "OVR06" in D.E. 2/2, CDS will reject the declaration and send a DMSREJ trader notification.</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a trader has declared "OVR06" without the use of "NIDOM", CDS will reject the declaration and send a DMSREJ trader notification. (Note this does not include Declaration types C, F, J or K and if Declaration category is H2 or FSD (type Q declaration)).</a:t>
            </a:r>
          </a:p>
        </p:txBody>
      </p:sp>
      <p:sp>
        <p:nvSpPr>
          <p:cNvPr id="8" name="Rectangle 12">
            <a:extLst>
              <a:ext uri="{FF2B5EF4-FFF2-40B4-BE49-F238E27FC236}">
                <a16:creationId xmlns:a16="http://schemas.microsoft.com/office/drawing/2014/main" id="{999F853A-296A-42F0-B25A-345C314EC0B1}"/>
              </a:ext>
            </a:extLst>
          </p:cNvPr>
          <p:cNvSpPr/>
          <p:nvPr/>
        </p:nvSpPr>
        <p:spPr>
          <a:xfrm>
            <a:off x="319116" y="3138101"/>
            <a:ext cx="11061076" cy="861776"/>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6"/>
              <a:tabLst/>
              <a:defRPr sz="1800" b="0" i="0" u="none" strike="noStrike" kern="0" cap="none" spc="0" baseline="0">
                <a:solidFill>
                  <a:srgbClr val="000000"/>
                </a:solidFill>
                <a:uFillTx/>
              </a:defRPr>
            </a:pPr>
            <a:r>
              <a:rPr lang="fr-FR" sz="1400" b="1" i="0" u="none" strike="noStrike" kern="1200" cap="none" spc="0" baseline="0">
                <a:solidFill>
                  <a:srgbClr val="000000"/>
                </a:solidFill>
                <a:uFillTx/>
                <a:latin typeface="Calibri"/>
              </a:rPr>
              <a:t>Tariff Validation - NI-ROW Exports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TTM15.1, CDS will validate full export declarations moving between NI-RoW against the EU &amp; UK tariff to ensure that exports from NI to RoW follow both EU &amp; UK regulation. The objective is to perform prohibition and restriction checks (P&amp;R checks) against both tariffs.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9" name="Rectangle 3">
            <a:extLst>
              <a:ext uri="{FF2B5EF4-FFF2-40B4-BE49-F238E27FC236}">
                <a16:creationId xmlns:a16="http://schemas.microsoft.com/office/drawing/2014/main" id="{B8E344F2-6382-4937-9D6B-5FA713A175D9}"/>
              </a:ext>
            </a:extLst>
          </p:cNvPr>
          <p:cNvSpPr/>
          <p:nvPr/>
        </p:nvSpPr>
        <p:spPr>
          <a:xfrm>
            <a:off x="319116" y="3961473"/>
            <a:ext cx="10890421" cy="276999"/>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that declaration types F, C, B, E, J and K do not currently undergo Tariff Validation.</a:t>
            </a:r>
          </a:p>
        </p:txBody>
      </p:sp>
      <p:sp>
        <p:nvSpPr>
          <p:cNvPr id="10" name="Oval 11">
            <a:hlinkClick r:id="rId3" action="ppaction://hlinksldjump"/>
            <a:extLst>
              <a:ext uri="{FF2B5EF4-FFF2-40B4-BE49-F238E27FC236}">
                <a16:creationId xmlns:a16="http://schemas.microsoft.com/office/drawing/2014/main" id="{2CC88C13-64D7-4F1E-9137-79429ECC39CB}"/>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4">
            <a:hlinkClick r:id="rId3" action="ppaction://hlinksldjump"/>
            <a:extLst>
              <a:ext uri="{FF2B5EF4-FFF2-40B4-BE49-F238E27FC236}">
                <a16:creationId xmlns:a16="http://schemas.microsoft.com/office/drawing/2014/main" id="{2B13F7FC-4D59-4F8D-A3A0-5761F7AD02D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5">
            <a:hlinkClick r:id="rId4" action="ppaction://hlinksldjump"/>
            <a:extLst>
              <a:ext uri="{FF2B5EF4-FFF2-40B4-BE49-F238E27FC236}">
                <a16:creationId xmlns:a16="http://schemas.microsoft.com/office/drawing/2014/main" id="{C61C1CE5-6B4B-4BEC-B88D-702F9B53423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6">
            <a:hlinkClick r:id="rId5" action="ppaction://hlinksldjump"/>
            <a:extLst>
              <a:ext uri="{FF2B5EF4-FFF2-40B4-BE49-F238E27FC236}">
                <a16:creationId xmlns:a16="http://schemas.microsoft.com/office/drawing/2014/main" id="{7D6EB238-76E2-4499-92F2-6B27446D70C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0">
            <a:hlinkClick r:id="rId3" action="ppaction://hlinksldjump"/>
            <a:extLst>
              <a:ext uri="{FF2B5EF4-FFF2-40B4-BE49-F238E27FC236}">
                <a16:creationId xmlns:a16="http://schemas.microsoft.com/office/drawing/2014/main" id="{A62E2524-DC07-4CCA-9D08-1C21F0CE7DBF}"/>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21">
            <a:hlinkClick r:id="rId3" action="ppaction://hlinksldjump"/>
            <a:extLst>
              <a:ext uri="{FF2B5EF4-FFF2-40B4-BE49-F238E27FC236}">
                <a16:creationId xmlns:a16="http://schemas.microsoft.com/office/drawing/2014/main" id="{6B86D1AB-0F6F-4B85-9612-E7C04DF41782}"/>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22">
            <a:hlinkClick r:id="rId4" action="ppaction://hlinksldjump"/>
            <a:extLst>
              <a:ext uri="{FF2B5EF4-FFF2-40B4-BE49-F238E27FC236}">
                <a16:creationId xmlns:a16="http://schemas.microsoft.com/office/drawing/2014/main" id="{07E65B41-F6A4-4AF8-81C6-0455F08852F5}"/>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23">
            <a:hlinkClick r:id="rId4" action="ppaction://hlinksldjump"/>
            <a:extLst>
              <a:ext uri="{FF2B5EF4-FFF2-40B4-BE49-F238E27FC236}">
                <a16:creationId xmlns:a16="http://schemas.microsoft.com/office/drawing/2014/main" id="{F31D255F-3252-4E86-A7D1-BE0239E2229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24">
            <a:extLst>
              <a:ext uri="{FF2B5EF4-FFF2-40B4-BE49-F238E27FC236}">
                <a16:creationId xmlns:a16="http://schemas.microsoft.com/office/drawing/2014/main" id="{5FB93954-2A3A-4B07-B48E-92C5EA919A5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26">
            <a:hlinkClick r:id="rId6" action="ppaction://hlinksldjump"/>
            <a:extLst>
              <a:ext uri="{FF2B5EF4-FFF2-40B4-BE49-F238E27FC236}">
                <a16:creationId xmlns:a16="http://schemas.microsoft.com/office/drawing/2014/main" id="{9D979918-CC8B-47AD-A1E0-B0D7E047ED3A}"/>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27">
            <a:hlinkClick r:id="rId3" action="ppaction://hlinksldjump"/>
            <a:extLst>
              <a:ext uri="{FF2B5EF4-FFF2-40B4-BE49-F238E27FC236}">
                <a16:creationId xmlns:a16="http://schemas.microsoft.com/office/drawing/2014/main" id="{E6CC9050-B55C-4920-BDB6-26CC42F59D63}"/>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28">
            <a:hlinkClick r:id="rId3" action="ppaction://hlinksldjump"/>
            <a:extLst>
              <a:ext uri="{FF2B5EF4-FFF2-40B4-BE49-F238E27FC236}">
                <a16:creationId xmlns:a16="http://schemas.microsoft.com/office/drawing/2014/main" id="{0C3B5138-9880-49E3-86C0-8EFF73D7C02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name="Slide454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877A770-AC61-4134-AE70-B082DBEBE07D}"/>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D27CAB06-20C2-425B-8F24-31BB0C5C2B9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AF98EE1-5F53-4D02-A115-BF982201FA05}"/>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81073164-3F24-443A-BF74-C3E1AA343746}"/>
              </a:ext>
            </a:extLst>
          </p:cNvPr>
          <p:cNvSpPr txBox="1"/>
          <p:nvPr/>
        </p:nvSpPr>
        <p:spPr>
          <a:xfrm>
            <a:off x="11605742"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0006AAE-E92A-4C2A-A451-A1F8C3E2F607}" type="slidenum">
              <a:rPr sz="1200"/>
              <a:t>403</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D53B9272-26B5-408C-9035-DF653E04505A}"/>
              </a:ext>
            </a:extLst>
          </p:cNvPr>
          <p:cNvSpPr/>
          <p:nvPr/>
        </p:nvSpPr>
        <p:spPr>
          <a:xfrm>
            <a:off x="465155" y="799761"/>
            <a:ext cx="3716322"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Additional Release Updates</a:t>
            </a:r>
          </a:p>
        </p:txBody>
      </p:sp>
      <p:sp>
        <p:nvSpPr>
          <p:cNvPr id="8" name="Rectangle 13">
            <a:extLst>
              <a:ext uri="{FF2B5EF4-FFF2-40B4-BE49-F238E27FC236}">
                <a16:creationId xmlns:a16="http://schemas.microsoft.com/office/drawing/2014/main" id="{DF2BBD04-91EF-4580-BE60-A32E0D1FCCB7}"/>
              </a:ext>
            </a:extLst>
          </p:cNvPr>
          <p:cNvSpPr/>
          <p:nvPr/>
        </p:nvSpPr>
        <p:spPr>
          <a:xfrm>
            <a:off x="363967" y="1300194"/>
            <a:ext cx="11517846" cy="2000548"/>
          </a:xfrm>
          <a:prstGeom prst="rect">
            <a:avLst/>
          </a:prstGeom>
          <a:noFill/>
          <a:ln cap="flat">
            <a:noFill/>
            <a:prstDash val="solid"/>
          </a:ln>
        </p:spPr>
        <p:txBody>
          <a:bodyPr vert="horz" wrap="square" lIns="91440" tIns="45720" rIns="91440" bIns="45720" anchor="t" anchorCtr="0" compatLnSpc="1">
            <a:spAutoFit/>
          </a:bodyPr>
          <a:lstStyle/>
          <a:p>
            <a:pPr marL="342900" marR="0" lvl="0" indent="-342900" algn="l" defTabSz="914400" rtl="0" fontAlgn="auto" hangingPunct="1">
              <a:lnSpc>
                <a:spcPct val="100000"/>
              </a:lnSpc>
              <a:spcBef>
                <a:spcPts val="0"/>
              </a:spcBef>
              <a:spcAft>
                <a:spcPts val="0"/>
              </a:spcAft>
              <a:buSzPct val="100000"/>
              <a:buFont typeface="Calibri Light"/>
              <a:buAutoNum type="arabicPeriod" startAt="7"/>
              <a:tabLst/>
              <a:defRPr sz="1800" b="0" i="0" u="none" strike="noStrike" kern="0" cap="none" spc="0" baseline="0">
                <a:solidFill>
                  <a:srgbClr val="000000"/>
                </a:solidFill>
                <a:uFillTx/>
              </a:defRPr>
            </a:pPr>
            <a:r>
              <a:rPr lang="en-GB" sz="1400" b="1" i="0" u="none" strike="noStrike" kern="1200" cap="none" spc="0" baseline="0" dirty="0">
                <a:solidFill>
                  <a:srgbClr val="000000"/>
                </a:solidFill>
                <a:uFillTx/>
                <a:latin typeface="Calibri"/>
              </a:rPr>
              <a:t>Immediate</a:t>
            </a:r>
            <a:r>
              <a:rPr lang="fr-FR" sz="1400" b="1" i="0" u="none" strike="noStrike" kern="1200" cap="none" spc="0" baseline="0" dirty="0">
                <a:solidFill>
                  <a:srgbClr val="000000"/>
                </a:solidFill>
                <a:uFillTx/>
                <a:latin typeface="Calibri"/>
              </a:rPr>
              <a:t> </a:t>
            </a:r>
            <a:r>
              <a:rPr lang="en-GB" sz="1400" b="1" i="0" u="none" strike="noStrike" kern="1200" cap="none" spc="0" baseline="0" dirty="0">
                <a:solidFill>
                  <a:srgbClr val="000000"/>
                </a:solidFill>
                <a:uFillTx/>
                <a:latin typeface="Calibri"/>
              </a:rPr>
              <a:t>Payment</a:t>
            </a:r>
            <a:r>
              <a:rPr lang="fr-FR" sz="1400" b="1" i="0" u="none" strike="noStrike" kern="1200" cap="none" spc="0" baseline="0" dirty="0">
                <a:solidFill>
                  <a:srgbClr val="000000"/>
                </a:solidFill>
                <a:uFillTx/>
                <a:latin typeface="Calibri"/>
              </a:rPr>
              <a:t> Reference Format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fr-FR" sz="1400" b="1"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Please note that within TT and TDR, when testing an immediate payment the following example reference format is generated "&lt;</a:t>
            </a:r>
            <a:r>
              <a:rPr lang="en-GB" sz="1200" b="0" i="0" u="none" strike="noStrike" kern="1200" cap="none" spc="0" baseline="0" dirty="0" err="1">
                <a:solidFill>
                  <a:srgbClr val="000000"/>
                </a:solidFill>
                <a:uFillTx/>
                <a:latin typeface="Calibri"/>
              </a:rPr>
              <a:t>ReferenceID</a:t>
            </a:r>
            <a:r>
              <a:rPr lang="en-GB" sz="1200" b="0" i="0" u="none" strike="noStrike" kern="1200" cap="none" spc="0" baseline="0" dirty="0">
                <a:solidFill>
                  <a:srgbClr val="000000"/>
                </a:solidFill>
                <a:uFillTx/>
                <a:latin typeface="Calibri"/>
              </a:rPr>
              <a:t>&gt;5ef36ae&lt;/</a:t>
            </a:r>
            <a:r>
              <a:rPr lang="en-GB" sz="1200" b="0" i="0" u="none" strike="noStrike" kern="1200" cap="none" spc="0" baseline="0" dirty="0" err="1">
                <a:solidFill>
                  <a:srgbClr val="000000"/>
                </a:solidFill>
                <a:uFillTx/>
                <a:latin typeface="Calibri"/>
              </a:rPr>
              <a:t>ReferenceID</a:t>
            </a:r>
            <a:r>
              <a:rPr lang="en-GB" sz="1200" b="0" i="0" u="none" strike="noStrike" kern="1200" cap="none" spc="0" baseline="0" dirty="0">
                <a:solidFill>
                  <a:srgbClr val="000000"/>
                </a:solidFill>
                <a:uFillTx/>
                <a:latin typeface="Calibri"/>
              </a:rPr>
              <a:t>&gt;".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However this unique format differs from the immediate payment reference format expected within production e.g.: CDSI21ZQ2KP6AR00. The production reference is the accurate format as it follows the expected details of CDSI - Last two digits of the current year - Last 8 digits of the declaration ID (MRN) -Two numeric digits to ensure uniqueness.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dirty="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 </a:t>
            </a:r>
            <a:br>
              <a:rPr lang="en-GB" sz="1200" b="0" i="0" u="none" strike="noStrike" kern="1200" cap="none" spc="0" baseline="0" dirty="0">
                <a:solidFill>
                  <a:srgbClr val="000000"/>
                </a:solidFill>
                <a:uFillTx/>
                <a:latin typeface="Calibri"/>
              </a:rPr>
            </a:br>
            <a:endParaRPr lang="en-GB" sz="1200" b="1" i="0" u="none" strike="noStrike" kern="1200" cap="none" spc="0" baseline="0" dirty="0">
              <a:solidFill>
                <a:srgbClr val="000000"/>
              </a:solidFill>
              <a:uFillTx/>
              <a:latin typeface="Calibri"/>
            </a:endParaRPr>
          </a:p>
        </p:txBody>
      </p:sp>
      <p:graphicFrame>
        <p:nvGraphicFramePr>
          <p:cNvPr id="9" name="Table 1">
            <a:extLst>
              <a:ext uri="{FF2B5EF4-FFF2-40B4-BE49-F238E27FC236}">
                <a16:creationId xmlns:a16="http://schemas.microsoft.com/office/drawing/2014/main" id="{896D636F-CC9F-4797-A896-CBF4A4594A15}"/>
              </a:ext>
            </a:extLst>
          </p:cNvPr>
          <p:cNvGraphicFramePr>
            <a:graphicFrameLocks noGrp="1"/>
          </p:cNvGraphicFramePr>
          <p:nvPr>
            <p:extLst>
              <p:ext uri="{D42A27DB-BD31-4B8C-83A1-F6EECF244321}">
                <p14:modId xmlns:p14="http://schemas.microsoft.com/office/powerpoint/2010/main" val="1935633213"/>
              </p:ext>
            </p:extLst>
          </p:nvPr>
        </p:nvGraphicFramePr>
        <p:xfrm>
          <a:off x="465155" y="2931410"/>
          <a:ext cx="11456480" cy="839026"/>
        </p:xfrm>
        <a:graphic>
          <a:graphicData uri="http://schemas.openxmlformats.org/drawingml/2006/table">
            <a:tbl>
              <a:tblPr firstRow="1" bandRow="1">
                <a:effectLst/>
                <a:tableStyleId>{5C22544A-7EE6-4342-B048-85BDC9FD1C3A}</a:tableStyleId>
              </a:tblPr>
              <a:tblGrid>
                <a:gridCol w="5728240">
                  <a:extLst>
                    <a:ext uri="{9D8B030D-6E8A-4147-A177-3AD203B41FA5}">
                      <a16:colId xmlns:a16="http://schemas.microsoft.com/office/drawing/2014/main" val="3455257146"/>
                    </a:ext>
                  </a:extLst>
                </a:gridCol>
                <a:gridCol w="5728240">
                  <a:extLst>
                    <a:ext uri="{9D8B030D-6E8A-4147-A177-3AD203B41FA5}">
                      <a16:colId xmlns:a16="http://schemas.microsoft.com/office/drawing/2014/main" val="1293366155"/>
                    </a:ext>
                  </a:extLst>
                </a:gridCol>
              </a:tblGrid>
              <a:tr h="161647">
                <a:tc>
                  <a:txBody>
                    <a:bodyPr/>
                    <a:lstStyle/>
                    <a:p>
                      <a:pPr lvl="0"/>
                      <a:r>
                        <a:rPr lang="en-GB" sz="1200"/>
                        <a:t>External Test immediate payment reference format </a:t>
                      </a:r>
                    </a:p>
                  </a:txBody>
                  <a:tcPr anchor="ctr">
                    <a:solidFill>
                      <a:srgbClr val="009999"/>
                    </a:solidFill>
                  </a:tcPr>
                </a:tc>
                <a:tc>
                  <a:txBody>
                    <a:bodyPr/>
                    <a:lstStyle/>
                    <a:p>
                      <a:pPr lvl="0"/>
                      <a:r>
                        <a:rPr lang="en-GB" sz="1200"/>
                        <a:t>Production immediate payment reference format </a:t>
                      </a:r>
                    </a:p>
                  </a:txBody>
                  <a:tcPr anchor="ctr">
                    <a:lnR w="57150" cap="flat" cmpd="sng" algn="ctr">
                      <a:solidFill>
                        <a:srgbClr val="FFFFFF"/>
                      </a:solidFill>
                      <a:prstDash val="solid"/>
                      <a:round/>
                      <a:headEnd type="none" w="med" len="med"/>
                      <a:tailEnd type="none" w="med" len="med"/>
                    </a:lnR>
                    <a:solidFill>
                      <a:srgbClr val="0070C0"/>
                    </a:solidFill>
                  </a:tcPr>
                </a:tc>
                <a:extLst>
                  <a:ext uri="{0D108BD9-81ED-4DB2-BD59-A6C34878D82A}">
                    <a16:rowId xmlns:a16="http://schemas.microsoft.com/office/drawing/2014/main" val="952285418"/>
                  </a:ext>
                </a:extLst>
              </a:tr>
              <a:tr h="564706">
                <a:tc>
                  <a:txBody>
                    <a:bodyPr/>
                    <a:lstStyle/>
                    <a:p>
                      <a:pPr lvl="0">
                        <a:spcAft>
                          <a:spcPts val="600"/>
                        </a:spcAft>
                      </a:pPr>
                      <a:r>
                        <a:rPr lang="en-GB" sz="1200" dirty="0"/>
                        <a:t>&lt;</a:t>
                      </a:r>
                      <a:r>
                        <a:rPr lang="en-GB" sz="1200" dirty="0" err="1"/>
                        <a:t>ReferenceID</a:t>
                      </a:r>
                      <a:r>
                        <a:rPr lang="en-GB" sz="1200" dirty="0"/>
                        <a:t>&gt;5ef36ae&lt;/</a:t>
                      </a:r>
                      <a:r>
                        <a:rPr lang="en-GB" sz="1200" dirty="0" err="1"/>
                        <a:t>ReferenceID</a:t>
                      </a:r>
                      <a:r>
                        <a:rPr lang="en-GB" sz="1200" dirty="0"/>
                        <a:t>&gt;</a:t>
                      </a:r>
                      <a:endParaRPr lang="en-GB" sz="1200" b="0" dirty="0"/>
                    </a:p>
                  </a:txBody>
                  <a:tcPr>
                    <a:solidFill>
                      <a:srgbClr val="F2F2F2"/>
                    </a:solidFill>
                  </a:tcPr>
                </a:tc>
                <a:tc>
                  <a:txBody>
                    <a:bodyPr/>
                    <a:lstStyle/>
                    <a:p>
                      <a:pPr lvl="0">
                        <a:spcAft>
                          <a:spcPts val="600"/>
                        </a:spcAft>
                      </a:pPr>
                      <a:r>
                        <a:rPr lang="en-GB" sz="1200" dirty="0"/>
                        <a:t>CDSI21ZQ2KP6AR00</a:t>
                      </a:r>
                      <a:endParaRPr lang="en-GB" sz="1200" b="0" dirty="0"/>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054485565"/>
                  </a:ext>
                </a:extLst>
              </a:tr>
            </a:tbl>
          </a:graphicData>
        </a:graphic>
      </p:graphicFrame>
      <p:sp>
        <p:nvSpPr>
          <p:cNvPr id="10" name="Oval 10">
            <a:hlinkClick r:id="rId3" action="ppaction://hlinksldjump"/>
            <a:extLst>
              <a:ext uri="{FF2B5EF4-FFF2-40B4-BE49-F238E27FC236}">
                <a16:creationId xmlns:a16="http://schemas.microsoft.com/office/drawing/2014/main" id="{53396803-ABC4-4D5C-982F-7E2C88B7D6F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1">
            <a:hlinkClick r:id="rId3" action="ppaction://hlinksldjump"/>
            <a:extLst>
              <a:ext uri="{FF2B5EF4-FFF2-40B4-BE49-F238E27FC236}">
                <a16:creationId xmlns:a16="http://schemas.microsoft.com/office/drawing/2014/main" id="{12F4F812-D998-4CE6-B4D9-B7420A849AC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2">
            <a:hlinkClick r:id="rId4" action="ppaction://hlinksldjump"/>
            <a:extLst>
              <a:ext uri="{FF2B5EF4-FFF2-40B4-BE49-F238E27FC236}">
                <a16:creationId xmlns:a16="http://schemas.microsoft.com/office/drawing/2014/main" id="{2005A280-9EC8-4CEB-B0CF-7645173A483D}"/>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4">
            <a:hlinkClick r:id="rId5" action="ppaction://hlinksldjump"/>
            <a:extLst>
              <a:ext uri="{FF2B5EF4-FFF2-40B4-BE49-F238E27FC236}">
                <a16:creationId xmlns:a16="http://schemas.microsoft.com/office/drawing/2014/main" id="{1D7F7EB0-80A0-444C-ADF1-8626959BDEE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15">
            <a:hlinkClick r:id="rId3" action="ppaction://hlinksldjump"/>
            <a:extLst>
              <a:ext uri="{FF2B5EF4-FFF2-40B4-BE49-F238E27FC236}">
                <a16:creationId xmlns:a16="http://schemas.microsoft.com/office/drawing/2014/main" id="{51A8837F-1E93-43E4-995F-AB97E2DE37F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16">
            <a:hlinkClick r:id="rId3" action="ppaction://hlinksldjump"/>
            <a:extLst>
              <a:ext uri="{FF2B5EF4-FFF2-40B4-BE49-F238E27FC236}">
                <a16:creationId xmlns:a16="http://schemas.microsoft.com/office/drawing/2014/main" id="{81AE39EC-86B7-4A3A-B143-8766E9BF8897}"/>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20">
            <a:hlinkClick r:id="rId4" action="ppaction://hlinksldjump"/>
            <a:extLst>
              <a:ext uri="{FF2B5EF4-FFF2-40B4-BE49-F238E27FC236}">
                <a16:creationId xmlns:a16="http://schemas.microsoft.com/office/drawing/2014/main" id="{E58FC096-E0BE-4A93-903D-471E531AADEF}"/>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21">
            <a:hlinkClick r:id="rId4" action="ppaction://hlinksldjump"/>
            <a:extLst>
              <a:ext uri="{FF2B5EF4-FFF2-40B4-BE49-F238E27FC236}">
                <a16:creationId xmlns:a16="http://schemas.microsoft.com/office/drawing/2014/main" id="{144B8437-CE8D-4FAC-8DA7-887B7359AD0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22">
            <a:extLst>
              <a:ext uri="{FF2B5EF4-FFF2-40B4-BE49-F238E27FC236}">
                <a16:creationId xmlns:a16="http://schemas.microsoft.com/office/drawing/2014/main" id="{BA6B323F-6DB9-4815-BF44-17FCC6192346}"/>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23">
            <a:hlinkClick r:id="rId6" action="ppaction://hlinksldjump"/>
            <a:extLst>
              <a:ext uri="{FF2B5EF4-FFF2-40B4-BE49-F238E27FC236}">
                <a16:creationId xmlns:a16="http://schemas.microsoft.com/office/drawing/2014/main" id="{63B5FC93-E00A-4CE8-AF5F-F328571CD937}"/>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24">
            <a:hlinkClick r:id="rId3" action="ppaction://hlinksldjump"/>
            <a:extLst>
              <a:ext uri="{FF2B5EF4-FFF2-40B4-BE49-F238E27FC236}">
                <a16:creationId xmlns:a16="http://schemas.microsoft.com/office/drawing/2014/main" id="{2F06C179-6F4F-4C9C-BA3F-B4E022EE72C5}"/>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26">
            <a:hlinkClick r:id="rId3" action="ppaction://hlinksldjump"/>
            <a:extLst>
              <a:ext uri="{FF2B5EF4-FFF2-40B4-BE49-F238E27FC236}">
                <a16:creationId xmlns:a16="http://schemas.microsoft.com/office/drawing/2014/main" id="{2EC09881-6979-4B03-B061-0934D4CFD912}"/>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name="Slide454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92F0C8C-EBD1-4A75-B2D9-3754C894576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161A651-AFD6-44E3-88C7-9BBD76DB181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91337A2C-A37F-45E1-8972-1C57ED04AB40}"/>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65F6A23E-E26E-4EBC-8207-63057F6D9C9F}"/>
              </a:ext>
            </a:extLst>
          </p:cNvPr>
          <p:cNvSpPr txBox="1"/>
          <p:nvPr/>
        </p:nvSpPr>
        <p:spPr>
          <a:xfrm>
            <a:off x="11677306"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B8930E-2ABE-42B8-A2C6-C508014775A1}" type="slidenum">
              <a:rPr sz="1200"/>
              <a:t>404</a:t>
            </a:fld>
            <a:endParaRPr lang="en-GB" sz="1200" b="0" i="0" u="none" strike="noStrike" kern="1200" cap="none" spc="0" baseline="0">
              <a:solidFill>
                <a:srgbClr val="000000"/>
              </a:solidFill>
              <a:uFillTx/>
              <a:latin typeface="Calibri"/>
            </a:endParaRPr>
          </a:p>
        </p:txBody>
      </p:sp>
      <p:sp>
        <p:nvSpPr>
          <p:cNvPr id="7" name="Rectangle 7">
            <a:extLst>
              <a:ext uri="{FF2B5EF4-FFF2-40B4-BE49-F238E27FC236}">
                <a16:creationId xmlns:a16="http://schemas.microsoft.com/office/drawing/2014/main" id="{885A8630-C61B-4FB4-BF35-BDFC397BC17D}"/>
              </a:ext>
            </a:extLst>
          </p:cNvPr>
          <p:cNvSpPr/>
          <p:nvPr/>
        </p:nvSpPr>
        <p:spPr>
          <a:xfrm>
            <a:off x="465155" y="799761"/>
            <a:ext cx="3716322"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Additional Release Updates</a:t>
            </a:r>
          </a:p>
        </p:txBody>
      </p:sp>
      <p:sp>
        <p:nvSpPr>
          <p:cNvPr id="8" name="Rectangle 13">
            <a:extLst>
              <a:ext uri="{FF2B5EF4-FFF2-40B4-BE49-F238E27FC236}">
                <a16:creationId xmlns:a16="http://schemas.microsoft.com/office/drawing/2014/main" id="{4E35F616-084F-43DD-95DD-788D24FD2C45}"/>
              </a:ext>
            </a:extLst>
          </p:cNvPr>
          <p:cNvSpPr/>
          <p:nvPr/>
        </p:nvSpPr>
        <p:spPr>
          <a:xfrm>
            <a:off x="363967" y="1300194"/>
            <a:ext cx="11061076"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1" i="0" u="none" strike="noStrike" kern="1200" cap="none" spc="0" baseline="0">
                <a:solidFill>
                  <a:srgbClr val="000000"/>
                </a:solidFill>
                <a:uFillTx/>
                <a:latin typeface="Calibri"/>
              </a:rPr>
              <a:t>XML Samples</a:t>
            </a:r>
            <a:endParaRPr lang="en-GB" sz="1200" b="1" i="0" u="none" strike="noStrike" kern="1200" cap="none" spc="0" baseline="0">
              <a:solidFill>
                <a:srgbClr val="000000"/>
              </a:solidFill>
              <a:uFillTx/>
              <a:latin typeface="Calibri"/>
            </a:endParaRPr>
          </a:p>
        </p:txBody>
      </p:sp>
      <p:graphicFrame>
        <p:nvGraphicFramePr>
          <p:cNvPr id="9" name="Table 3">
            <a:extLst>
              <a:ext uri="{FF2B5EF4-FFF2-40B4-BE49-F238E27FC236}">
                <a16:creationId xmlns:a16="http://schemas.microsoft.com/office/drawing/2014/main" id="{20A8D53B-438D-48AF-AC86-BBFC49B126C4}"/>
              </a:ext>
            </a:extLst>
          </p:cNvPr>
          <p:cNvGraphicFramePr>
            <a:graphicFrameLocks noGrp="1"/>
          </p:cNvGraphicFramePr>
          <p:nvPr/>
        </p:nvGraphicFramePr>
        <p:xfrm>
          <a:off x="446099" y="1669639"/>
          <a:ext cx="11299797" cy="3736566"/>
        </p:xfrm>
        <a:graphic>
          <a:graphicData uri="http://schemas.openxmlformats.org/drawingml/2006/table">
            <a:tbl>
              <a:tblPr>
                <a:effectLst/>
                <a:tableStyleId>{5C22544A-7EE6-4342-B048-85BDC9FD1C3A}</a:tableStyleId>
              </a:tblPr>
              <a:tblGrid>
                <a:gridCol w="947016">
                  <a:extLst>
                    <a:ext uri="{9D8B030D-6E8A-4147-A177-3AD203B41FA5}">
                      <a16:colId xmlns:a16="http://schemas.microsoft.com/office/drawing/2014/main" val="3760668675"/>
                    </a:ext>
                  </a:extLst>
                </a:gridCol>
                <a:gridCol w="10352781">
                  <a:extLst>
                    <a:ext uri="{9D8B030D-6E8A-4147-A177-3AD203B41FA5}">
                      <a16:colId xmlns:a16="http://schemas.microsoft.com/office/drawing/2014/main" val="1111545961"/>
                    </a:ext>
                  </a:extLst>
                </a:gridCol>
              </a:tblGrid>
              <a:tr h="520659">
                <a:tc>
                  <a:txBody>
                    <a:bodyPr/>
                    <a:lstStyle/>
                    <a:p>
                      <a:pPr lvl="0" algn="ctr" fontAlgn="ctr"/>
                      <a:r>
                        <a:rPr lang="en-GB" sz="1200" b="1" u="none" strike="noStrike"/>
                        <a:t>TT_EX19a</a:t>
                      </a:r>
                      <a:endParaRPr lang="en-GB" sz="1200" b="1" i="0" u="none" strike="noStrike">
                        <a:solidFill>
                          <a:srgbClr val="000000"/>
                        </a:solidFill>
                        <a:latin typeface="Calibri" pitchFamily="34"/>
                      </a:endParaRPr>
                    </a:p>
                  </a:txBody>
                  <a:tcPr marL="3090" marR="3090" marT="3090" marB="0" anchor="ctr">
                    <a:solidFill>
                      <a:srgbClr val="A6A6A6"/>
                    </a:solidFill>
                  </a:tcPr>
                </a:tc>
                <a:tc>
                  <a:txBody>
                    <a:bodyPr/>
                    <a:lstStyle/>
                    <a:p>
                      <a:pPr lvl="0" algn="l" fontAlgn="ctr"/>
                      <a:r>
                        <a:rPr lang="en-GB" sz="1200" u="none" strike="noStrike"/>
                        <a:t>Exports pre-lodged declaration with a DUCR and MUCR that is then associated with new low level MUCR2 in the most recent valid EAL</a:t>
                      </a:r>
                      <a:endParaRPr lang="en-GB" sz="1200" b="0" i="0" u="none" strike="noStrike">
                        <a:solidFill>
                          <a:srgbClr val="000000"/>
                        </a:solidFill>
                        <a:latin typeface="Calibri" pitchFamily="34"/>
                      </a:endParaRPr>
                    </a:p>
                  </a:txBody>
                  <a:tcPr marL="3090" marR="3090" marT="3090" marB="0" anchor="ctr">
                    <a:solidFill>
                      <a:srgbClr val="F2F2F2"/>
                    </a:solidFill>
                  </a:tcPr>
                </a:tc>
                <a:extLst>
                  <a:ext uri="{0D108BD9-81ED-4DB2-BD59-A6C34878D82A}">
                    <a16:rowId xmlns:a16="http://schemas.microsoft.com/office/drawing/2014/main" val="4129248925"/>
                  </a:ext>
                </a:extLst>
              </a:tr>
              <a:tr h="393402">
                <a:tc>
                  <a:txBody>
                    <a:bodyPr/>
                    <a:lstStyle/>
                    <a:p>
                      <a:pPr lvl="0" algn="ctr" fontAlgn="ctr"/>
                      <a:r>
                        <a:rPr lang="en-GB" sz="1200" b="1" u="none" strike="noStrike"/>
                        <a:t>TT_EX20a</a:t>
                      </a:r>
                      <a:endParaRPr lang="en-GB" sz="1200" b="1" i="0" u="none" strike="noStrike">
                        <a:solidFill>
                          <a:srgbClr val="000000"/>
                        </a:solidFill>
                        <a:latin typeface="Calibri" pitchFamily="34"/>
                      </a:endParaRPr>
                    </a:p>
                  </a:txBody>
                  <a:tcPr marL="3090" marR="3090" marT="3090" marB="0" anchor="ctr">
                    <a:solidFill>
                      <a:srgbClr val="A6A6A6"/>
                    </a:solidFill>
                  </a:tcPr>
                </a:tc>
                <a:tc>
                  <a:txBody>
                    <a:bodyPr/>
                    <a:lstStyle/>
                    <a:p>
                      <a:pPr lvl="0" algn="l" fontAlgn="ctr"/>
                      <a:r>
                        <a:rPr lang="en-GB" sz="1200" b="0" i="0" u="none" strike="noStrike">
                          <a:solidFill>
                            <a:srgbClr val="000000"/>
                          </a:solidFill>
                          <a:latin typeface="Calibri" pitchFamily="34"/>
                        </a:rPr>
                        <a:t>Exports pre-lodged declaration where a loader completes an arrival movement (EAA/EAL) on individual DUCRs that are below a parent MUCR</a:t>
                      </a:r>
                    </a:p>
                  </a:txBody>
                  <a:tcPr marL="3090" marR="3090" marT="3090" marB="0" anchor="ctr">
                    <a:solidFill>
                      <a:srgbClr val="F2F2F2"/>
                    </a:solidFill>
                  </a:tcPr>
                </a:tc>
                <a:extLst>
                  <a:ext uri="{0D108BD9-81ED-4DB2-BD59-A6C34878D82A}">
                    <a16:rowId xmlns:a16="http://schemas.microsoft.com/office/drawing/2014/main" val="2036028549"/>
                  </a:ext>
                </a:extLst>
              </a:tr>
              <a:tr h="470413">
                <a:tc>
                  <a:txBody>
                    <a:bodyPr/>
                    <a:lstStyle/>
                    <a:p>
                      <a:pPr lvl="0" algn="ctr" fontAlgn="ctr"/>
                      <a:r>
                        <a:rPr lang="en-GB" sz="1200" b="1" u="none" strike="noStrike"/>
                        <a:t>TT_EX21a</a:t>
                      </a:r>
                      <a:endParaRPr lang="en-GB" sz="1200" b="1" i="0" u="none" strike="noStrike">
                        <a:solidFill>
                          <a:srgbClr val="000000"/>
                        </a:solidFill>
                        <a:latin typeface="Calibri" pitchFamily="34"/>
                      </a:endParaRPr>
                    </a:p>
                  </a:txBody>
                  <a:tcPr marL="3090" marR="3090" marT="3090" marB="0" anchor="ctr">
                    <a:solidFill>
                      <a:srgbClr val="A6A6A6"/>
                    </a:solidFill>
                  </a:tcPr>
                </a:tc>
                <a:tc>
                  <a:txBody>
                    <a:bodyPr/>
                    <a:lstStyle/>
                    <a:p>
                      <a:pPr lvl="0" algn="l" fontAlgn="ctr"/>
                      <a:r>
                        <a:rPr lang="en-GB" sz="1200" u="none" strike="noStrike"/>
                        <a:t>Exports frontier declaration with DUCR only, when rejected with an SOE of 5, is successfully re-presented using the same DUCR on the new declaration and the new declaration takes precedence</a:t>
                      </a:r>
                      <a:endParaRPr lang="en-GB" sz="1200" b="0" i="0" u="none" strike="noStrike">
                        <a:solidFill>
                          <a:srgbClr val="000000"/>
                        </a:solidFill>
                        <a:latin typeface="Calibri" pitchFamily="34"/>
                      </a:endParaRPr>
                    </a:p>
                  </a:txBody>
                  <a:tcPr marL="3090" marR="3090" marT="3090" marB="0" anchor="ctr">
                    <a:solidFill>
                      <a:srgbClr val="F2F2F2"/>
                    </a:solidFill>
                  </a:tcPr>
                </a:tc>
                <a:extLst>
                  <a:ext uri="{0D108BD9-81ED-4DB2-BD59-A6C34878D82A}">
                    <a16:rowId xmlns:a16="http://schemas.microsoft.com/office/drawing/2014/main" val="388366195"/>
                  </a:ext>
                </a:extLst>
              </a:tr>
              <a:tr h="588023">
                <a:tc>
                  <a:txBody>
                    <a:bodyPr/>
                    <a:lstStyle/>
                    <a:p>
                      <a:pPr lvl="0" algn="ctr" fontAlgn="ctr"/>
                      <a:r>
                        <a:rPr lang="en-GB" sz="1200" b="1" u="none" strike="noStrike"/>
                        <a:t>TT_EX22a</a:t>
                      </a:r>
                      <a:endParaRPr lang="en-GB" sz="1200" b="1" i="0" u="none" strike="noStrike">
                        <a:solidFill>
                          <a:srgbClr val="000000"/>
                        </a:solidFill>
                        <a:latin typeface="Calibri" pitchFamily="34"/>
                      </a:endParaRPr>
                    </a:p>
                  </a:txBody>
                  <a:tcPr marL="3090" marR="3090" marT="3090" marB="0" anchor="ctr">
                    <a:solidFill>
                      <a:srgbClr val="A6A6A6"/>
                    </a:solidFill>
                  </a:tcPr>
                </a:tc>
                <a:tc>
                  <a:txBody>
                    <a:bodyPr/>
                    <a:lstStyle/>
                    <a:p>
                      <a:pPr lvl="0" algn="l" fontAlgn="ctr"/>
                      <a:r>
                        <a:rPr lang="en-GB" sz="1200" u="none" strike="noStrike"/>
                        <a:t>Exports frontier declaration at a GVMS location with DUCR only is rejected, and then the same DUCR is used on another declaration at a RoRo location and the new declaration takes precedence</a:t>
                      </a:r>
                      <a:endParaRPr lang="en-GB" sz="1200" b="0" i="0" u="none" strike="noStrike">
                        <a:solidFill>
                          <a:srgbClr val="000000"/>
                        </a:solidFill>
                        <a:latin typeface="Calibri" pitchFamily="34"/>
                      </a:endParaRPr>
                    </a:p>
                  </a:txBody>
                  <a:tcPr marL="3090" marR="3090" marT="3090" marB="0" anchor="ctr">
                    <a:solidFill>
                      <a:srgbClr val="F2F2F2"/>
                    </a:solidFill>
                  </a:tcPr>
                </a:tc>
                <a:extLst>
                  <a:ext uri="{0D108BD9-81ED-4DB2-BD59-A6C34878D82A}">
                    <a16:rowId xmlns:a16="http://schemas.microsoft.com/office/drawing/2014/main" val="3378010999"/>
                  </a:ext>
                </a:extLst>
              </a:tr>
              <a:tr h="588023">
                <a:tc>
                  <a:txBody>
                    <a:bodyPr/>
                    <a:lstStyle/>
                    <a:p>
                      <a:pPr lvl="0" algn="ctr" fontAlgn="ctr"/>
                      <a:r>
                        <a:rPr lang="en-GB" sz="1200" b="1" u="none" strike="noStrike"/>
                        <a:t>TT_IM66a</a:t>
                      </a:r>
                      <a:endParaRPr lang="en-GB" sz="1200" b="1" i="0" u="none" strike="noStrike">
                        <a:solidFill>
                          <a:srgbClr val="000000"/>
                        </a:solidFill>
                        <a:latin typeface="Calibri" pitchFamily="34"/>
                      </a:endParaRPr>
                    </a:p>
                  </a:txBody>
                  <a:tcPr marL="3090" marR="3090" marT="3090" marB="0" anchor="ctr">
                    <a:solidFill>
                      <a:srgbClr val="A6A6A6"/>
                    </a:solidFill>
                  </a:tcPr>
                </a:tc>
                <a:tc>
                  <a:txBody>
                    <a:bodyPr/>
                    <a:lstStyle/>
                    <a:p>
                      <a:pPr lvl="0" algn="l" fontAlgn="ctr"/>
                      <a:r>
                        <a:rPr lang="en-GB" sz="1200" u="none" strike="noStrike"/>
                        <a:t>Imports frontier indirect declaration from EU to GB via NI, with duties calculation and VAT suppression</a:t>
                      </a:r>
                      <a:endParaRPr lang="en-GB" sz="1200" b="0" i="0" u="none" strike="noStrike">
                        <a:solidFill>
                          <a:srgbClr val="000000"/>
                        </a:solidFill>
                        <a:latin typeface="Calibri" pitchFamily="34"/>
                      </a:endParaRPr>
                    </a:p>
                  </a:txBody>
                  <a:tcPr marL="3090" marR="3090" marT="3090" marB="0" anchor="ctr">
                    <a:solidFill>
                      <a:srgbClr val="F2F2F2"/>
                    </a:solidFill>
                  </a:tcPr>
                </a:tc>
                <a:extLst>
                  <a:ext uri="{0D108BD9-81ED-4DB2-BD59-A6C34878D82A}">
                    <a16:rowId xmlns:a16="http://schemas.microsoft.com/office/drawing/2014/main" val="1004973717"/>
                  </a:ext>
                </a:extLst>
              </a:tr>
              <a:tr h="588023">
                <a:tc>
                  <a:txBody>
                    <a:bodyPr/>
                    <a:lstStyle/>
                    <a:p>
                      <a:pPr lvl="0" algn="ctr" fontAlgn="ctr"/>
                      <a:r>
                        <a:rPr lang="en-GB" sz="1200" b="1" i="0" u="none" strike="noStrike">
                          <a:solidFill>
                            <a:srgbClr val="000000"/>
                          </a:solidFill>
                          <a:latin typeface="Calibri" pitchFamily="34"/>
                        </a:rPr>
                        <a:t>TT_IM67a</a:t>
                      </a:r>
                    </a:p>
                  </a:txBody>
                  <a:tcPr marL="3090" marR="3090" marT="3090" marB="0" anchor="ctr">
                    <a:solidFill>
                      <a:srgbClr val="A6A6A6"/>
                    </a:solidFill>
                  </a:tcPr>
                </a:tc>
                <a:tc>
                  <a:txBody>
                    <a:bodyPr/>
                    <a:lstStyle/>
                    <a:p>
                      <a:pPr lvl="0" algn="l" fontAlgn="ctr"/>
                      <a:r>
                        <a:rPr lang="en-GB" sz="1200" b="0" i="0" u="none" strike="noStrike">
                          <a:solidFill>
                            <a:srgbClr val="000000"/>
                          </a:solidFill>
                          <a:latin typeface="Calibri" pitchFamily="34"/>
                        </a:rPr>
                        <a:t>Imports frontier inventory-linked declaration from ROW to NI using SRDS for low value goods imported into Northern Ireland</a:t>
                      </a:r>
                    </a:p>
                  </a:txBody>
                  <a:tcPr marL="3090" marR="3090" marT="3090" marB="0" anchor="ctr">
                    <a:solidFill>
                      <a:srgbClr val="F2F2F2"/>
                    </a:solidFill>
                  </a:tcPr>
                </a:tc>
                <a:extLst>
                  <a:ext uri="{0D108BD9-81ED-4DB2-BD59-A6C34878D82A}">
                    <a16:rowId xmlns:a16="http://schemas.microsoft.com/office/drawing/2014/main" val="3064626259"/>
                  </a:ext>
                </a:extLst>
              </a:tr>
              <a:tr h="588023">
                <a:tc>
                  <a:txBody>
                    <a:bodyPr/>
                    <a:lstStyle/>
                    <a:p>
                      <a:pPr lvl="0" algn="ctr" fontAlgn="ctr"/>
                      <a:r>
                        <a:rPr lang="en-GB" sz="1200" b="1" i="0" u="none" strike="noStrike">
                          <a:solidFill>
                            <a:srgbClr val="000000"/>
                          </a:solidFill>
                          <a:latin typeface="Calibri" pitchFamily="34"/>
                        </a:rPr>
                        <a:t>TT_IM68a</a:t>
                      </a:r>
                    </a:p>
                  </a:txBody>
                  <a:tcPr marL="3090" marR="3090" marT="3090" marB="0" anchor="ctr">
                    <a:solidFill>
                      <a:srgbClr val="A6A6A6"/>
                    </a:solidFill>
                  </a:tcPr>
                </a:tc>
                <a:tc>
                  <a:txBody>
                    <a:bodyPr/>
                    <a:lstStyle/>
                    <a:p>
                      <a:pPr lvl="0" algn="l" fontAlgn="ctr"/>
                      <a:r>
                        <a:rPr lang="en-GB" sz="1200" b="0" i="0" u="none" strike="noStrike" dirty="0">
                          <a:solidFill>
                            <a:srgbClr val="000000"/>
                          </a:solidFill>
                          <a:latin typeface="Calibri" pitchFamily="34"/>
                        </a:rPr>
                        <a:t>Imports frontier declaration from ROW to NI using SRDS for low value goods imported into Northern Ireland, which is then followed with an amendment to data elements 4/18 and 4/19 </a:t>
                      </a:r>
                    </a:p>
                  </a:txBody>
                  <a:tcPr marL="3090" marR="3090" marT="3090" marB="0" anchor="ctr">
                    <a:solidFill>
                      <a:srgbClr val="F2F2F2"/>
                    </a:solidFill>
                  </a:tcPr>
                </a:tc>
                <a:extLst>
                  <a:ext uri="{0D108BD9-81ED-4DB2-BD59-A6C34878D82A}">
                    <a16:rowId xmlns:a16="http://schemas.microsoft.com/office/drawing/2014/main" val="2136364811"/>
                  </a:ext>
                </a:extLst>
              </a:tr>
            </a:tbl>
          </a:graphicData>
        </a:graphic>
      </p:graphicFrame>
      <p:sp>
        <p:nvSpPr>
          <p:cNvPr id="10" name="Oval 10">
            <a:hlinkClick r:id="rId3" action="ppaction://hlinksldjump"/>
            <a:extLst>
              <a:ext uri="{FF2B5EF4-FFF2-40B4-BE49-F238E27FC236}">
                <a16:creationId xmlns:a16="http://schemas.microsoft.com/office/drawing/2014/main" id="{FD89D7CC-B2A2-4BF5-826C-9B8E566227D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11">
            <a:hlinkClick r:id="rId3" action="ppaction://hlinksldjump"/>
            <a:extLst>
              <a:ext uri="{FF2B5EF4-FFF2-40B4-BE49-F238E27FC236}">
                <a16:creationId xmlns:a16="http://schemas.microsoft.com/office/drawing/2014/main" id="{73DADAE1-EE66-4F25-8D64-BF24D34B0752}"/>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12">
            <a:hlinkClick r:id="rId4" action="ppaction://hlinksldjump"/>
            <a:extLst>
              <a:ext uri="{FF2B5EF4-FFF2-40B4-BE49-F238E27FC236}">
                <a16:creationId xmlns:a16="http://schemas.microsoft.com/office/drawing/2014/main" id="{548EB92F-91F1-42D5-87E1-7614375A0BD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4">
            <a:hlinkClick r:id="rId5" action="ppaction://hlinksldjump"/>
            <a:extLst>
              <a:ext uri="{FF2B5EF4-FFF2-40B4-BE49-F238E27FC236}">
                <a16:creationId xmlns:a16="http://schemas.microsoft.com/office/drawing/2014/main" id="{AA9C37D2-1FF8-402A-A5B8-49A993ABD6F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15">
            <a:hlinkClick r:id="rId3" action="ppaction://hlinksldjump"/>
            <a:extLst>
              <a:ext uri="{FF2B5EF4-FFF2-40B4-BE49-F238E27FC236}">
                <a16:creationId xmlns:a16="http://schemas.microsoft.com/office/drawing/2014/main" id="{EF322A46-F817-4E3E-899D-E146CE8E61AE}"/>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16">
            <a:hlinkClick r:id="rId3" action="ppaction://hlinksldjump"/>
            <a:extLst>
              <a:ext uri="{FF2B5EF4-FFF2-40B4-BE49-F238E27FC236}">
                <a16:creationId xmlns:a16="http://schemas.microsoft.com/office/drawing/2014/main" id="{7A167E9D-0B30-4E2D-9048-9AE8E9FD2BBC}"/>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6" name="TextBox 20">
            <a:hlinkClick r:id="rId4" action="ppaction://hlinksldjump"/>
            <a:extLst>
              <a:ext uri="{FF2B5EF4-FFF2-40B4-BE49-F238E27FC236}">
                <a16:creationId xmlns:a16="http://schemas.microsoft.com/office/drawing/2014/main" id="{76510205-75A4-4193-95DD-4B3F29EFA98A}"/>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21">
            <a:hlinkClick r:id="rId4" action="ppaction://hlinksldjump"/>
            <a:extLst>
              <a:ext uri="{FF2B5EF4-FFF2-40B4-BE49-F238E27FC236}">
                <a16:creationId xmlns:a16="http://schemas.microsoft.com/office/drawing/2014/main" id="{5A12B556-41AD-4199-A53E-3AE8D1F05DC1}"/>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22">
            <a:extLst>
              <a:ext uri="{FF2B5EF4-FFF2-40B4-BE49-F238E27FC236}">
                <a16:creationId xmlns:a16="http://schemas.microsoft.com/office/drawing/2014/main" id="{2A6E49D0-6832-4E30-87DB-F37DCA2A69EF}"/>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23">
            <a:hlinkClick r:id="rId6" action="ppaction://hlinksldjump"/>
            <a:extLst>
              <a:ext uri="{FF2B5EF4-FFF2-40B4-BE49-F238E27FC236}">
                <a16:creationId xmlns:a16="http://schemas.microsoft.com/office/drawing/2014/main" id="{19185A07-47BC-4B2F-843A-094CE5D6D24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24">
            <a:hlinkClick r:id="rId3" action="ppaction://hlinksldjump"/>
            <a:extLst>
              <a:ext uri="{FF2B5EF4-FFF2-40B4-BE49-F238E27FC236}">
                <a16:creationId xmlns:a16="http://schemas.microsoft.com/office/drawing/2014/main" id="{A9B165E1-7570-4076-B5E1-61C0434E474F}"/>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26">
            <a:hlinkClick r:id="rId3" action="ppaction://hlinksldjump"/>
            <a:extLst>
              <a:ext uri="{FF2B5EF4-FFF2-40B4-BE49-F238E27FC236}">
                <a16:creationId xmlns:a16="http://schemas.microsoft.com/office/drawing/2014/main" id="{002B7233-97FB-4DED-9EF0-52321C75F1D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name="Slide838840346">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E2864244-75D1-4F31-90A8-C896AF1BD947}"/>
              </a:ext>
            </a:extLst>
          </p:cNvPr>
          <p:cNvSpPr/>
          <p:nvPr/>
        </p:nvSpPr>
        <p:spPr>
          <a:xfrm>
            <a:off x="373102" y="1159962"/>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0ECF8D87-2151-4B73-853B-DA7F7F3CE660}"/>
              </a:ext>
            </a:extLst>
          </p:cNvPr>
          <p:cNvSpPr/>
          <p:nvPr/>
        </p:nvSpPr>
        <p:spPr>
          <a:xfrm>
            <a:off x="284067" y="71929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A7F5A659-EBDC-4260-A18F-FECA05B0FE93}"/>
              </a:ext>
            </a:extLst>
          </p:cNvPr>
          <p:cNvGraphicFramePr>
            <a:graphicFrameLocks noGrp="1"/>
          </p:cNvGraphicFramePr>
          <p:nvPr/>
        </p:nvGraphicFramePr>
        <p:xfrm>
          <a:off x="395368" y="166696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932636969"/>
                    </a:ext>
                  </a:extLst>
                </a:gridCol>
              </a:tblGrid>
              <a:tr h="220434">
                <a:tc>
                  <a:txBody>
                    <a:bodyPr/>
                    <a:lstStyle/>
                    <a:p>
                      <a:pPr lvl="0" algn="ctr"/>
                      <a:r>
                        <a:rPr lang="en-GB" sz="1200"/>
                        <a:t>TTM15.0 (CDS 3.2.2)</a:t>
                      </a:r>
                    </a:p>
                  </a:txBody>
                  <a:tcPr>
                    <a:solidFill>
                      <a:srgbClr val="7F7F7F"/>
                    </a:solidFill>
                  </a:tcPr>
                </a:tc>
                <a:extLst>
                  <a:ext uri="{0D108BD9-81ED-4DB2-BD59-A6C34878D82A}">
                    <a16:rowId xmlns:a16="http://schemas.microsoft.com/office/drawing/2014/main" val="1054342581"/>
                  </a:ext>
                </a:extLst>
              </a:tr>
              <a:tr h="261975">
                <a:tc>
                  <a:txBody>
                    <a:bodyPr/>
                    <a:lstStyle/>
                    <a:p>
                      <a:pPr lvl="0" algn="ctr"/>
                      <a:r>
                        <a:rPr lang="en-GB" sz="1200" b="1" dirty="0">
                          <a:solidFill>
                            <a:srgbClr val="000000"/>
                          </a:solidFill>
                        </a:rPr>
                        <a:t>TT: </a:t>
                      </a:r>
                      <a:r>
                        <a:rPr lang="en-GB" sz="1200" b="0" dirty="0">
                          <a:solidFill>
                            <a:srgbClr val="000000"/>
                          </a:solidFill>
                        </a:rPr>
                        <a:t>04/06/2021   </a:t>
                      </a:r>
                      <a:r>
                        <a:rPr lang="en-GB" sz="1200" b="1" dirty="0">
                          <a:solidFill>
                            <a:srgbClr val="000000"/>
                          </a:solidFill>
                        </a:rPr>
                        <a:t>TDR: </a:t>
                      </a:r>
                      <a:r>
                        <a:rPr lang="en-GB" sz="1200" b="0" dirty="0">
                          <a:solidFill>
                            <a:srgbClr val="000000"/>
                          </a:solidFill>
                        </a:rPr>
                        <a:t>15/06/2021   </a:t>
                      </a:r>
                      <a:r>
                        <a:rPr lang="en-GB" sz="1200" b="1" dirty="0">
                          <a:solidFill>
                            <a:srgbClr val="000000"/>
                          </a:solidFill>
                        </a:rPr>
                        <a:t>Live: </a:t>
                      </a:r>
                      <a:r>
                        <a:rPr lang="en-GB" sz="1200" b="0" dirty="0">
                          <a:solidFill>
                            <a:srgbClr val="000000"/>
                          </a:solidFill>
                        </a:rPr>
                        <a:t>12/06/2021</a:t>
                      </a:r>
                    </a:p>
                  </a:txBody>
                  <a:tcPr>
                    <a:solidFill>
                      <a:srgbClr val="E7E6E6"/>
                    </a:solidFill>
                  </a:tcPr>
                </a:tc>
                <a:extLst>
                  <a:ext uri="{0D108BD9-81ED-4DB2-BD59-A6C34878D82A}">
                    <a16:rowId xmlns:a16="http://schemas.microsoft.com/office/drawing/2014/main" val="1650741121"/>
                  </a:ext>
                </a:extLst>
              </a:tr>
            </a:tbl>
          </a:graphicData>
        </a:graphic>
      </p:graphicFrame>
      <p:cxnSp>
        <p:nvCxnSpPr>
          <p:cNvPr id="6" name="Straight Connector 11">
            <a:extLst>
              <a:ext uri="{FF2B5EF4-FFF2-40B4-BE49-F238E27FC236}">
                <a16:creationId xmlns:a16="http://schemas.microsoft.com/office/drawing/2014/main" id="{C9278503-5E51-480E-B266-E558ED094B80}"/>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67CD8542-D05D-4EF4-9278-3E4A8E225695}"/>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8" name="Rectangle 103">
            <a:extLst>
              <a:ext uri="{FF2B5EF4-FFF2-40B4-BE49-F238E27FC236}">
                <a16:creationId xmlns:a16="http://schemas.microsoft.com/office/drawing/2014/main" id="{B935B25A-F54D-4450-810D-BE5F4EE61E4C}"/>
              </a:ext>
            </a:extLst>
          </p:cNvPr>
          <p:cNvSpPr/>
          <p:nvPr/>
        </p:nvSpPr>
        <p:spPr>
          <a:xfrm>
            <a:off x="350791" y="1619777"/>
            <a:ext cx="11330604" cy="1149364"/>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B8FEAC8B-50CA-4650-930A-E4F98B3ACDFF}"/>
              </a:ext>
            </a:extLst>
          </p:cNvPr>
          <p:cNvGrpSpPr/>
          <p:nvPr/>
        </p:nvGrpSpPr>
        <p:grpSpPr>
          <a:xfrm>
            <a:off x="818342" y="1175314"/>
            <a:ext cx="2801739" cy="276999"/>
            <a:chOff x="818342" y="1175314"/>
            <a:chExt cx="2801739" cy="276999"/>
          </a:xfrm>
        </p:grpSpPr>
        <p:sp>
          <p:nvSpPr>
            <p:cNvPr id="10" name="TextBox 7">
              <a:extLst>
                <a:ext uri="{FF2B5EF4-FFF2-40B4-BE49-F238E27FC236}">
                  <a16:creationId xmlns:a16="http://schemas.microsoft.com/office/drawing/2014/main" id="{279F7513-F909-44BB-B3AF-8AFAFAA3A205}"/>
                </a:ext>
              </a:extLst>
            </p:cNvPr>
            <p:cNvSpPr txBox="1"/>
            <p:nvPr/>
          </p:nvSpPr>
          <p:spPr>
            <a:xfrm>
              <a:off x="818342" y="117531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716B67B2-77A2-4A19-89DC-2B1FAA9D506C}"/>
                </a:ext>
              </a:extLst>
            </p:cNvPr>
            <p:cNvSpPr/>
            <p:nvPr/>
          </p:nvSpPr>
          <p:spPr>
            <a:xfrm>
              <a:off x="865415" y="124029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5505E120-6C5A-49CE-A04E-C1448D0EC3F5}"/>
              </a:ext>
            </a:extLst>
          </p:cNvPr>
          <p:cNvGraphicFramePr>
            <a:graphicFrameLocks noGrp="1"/>
          </p:cNvGraphicFramePr>
          <p:nvPr/>
        </p:nvGraphicFramePr>
        <p:xfrm>
          <a:off x="395359" y="2181575"/>
          <a:ext cx="11213807" cy="45720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336696974"/>
                    </a:ext>
                  </a:extLst>
                </a:gridCol>
                <a:gridCol w="2877205">
                  <a:extLst>
                    <a:ext uri="{9D8B030D-6E8A-4147-A177-3AD203B41FA5}">
                      <a16:colId xmlns:a16="http://schemas.microsoft.com/office/drawing/2014/main" val="2218657841"/>
                    </a:ext>
                  </a:extLst>
                </a:gridCol>
                <a:gridCol w="2877205">
                  <a:extLst>
                    <a:ext uri="{9D8B030D-6E8A-4147-A177-3AD203B41FA5}">
                      <a16:colId xmlns:a16="http://schemas.microsoft.com/office/drawing/2014/main" val="2990318951"/>
                    </a:ext>
                  </a:extLst>
                </a:gridCol>
                <a:gridCol w="2877205">
                  <a:extLst>
                    <a:ext uri="{9D8B030D-6E8A-4147-A177-3AD203B41FA5}">
                      <a16:colId xmlns:a16="http://schemas.microsoft.com/office/drawing/2014/main" val="3973485355"/>
                    </a:ext>
                  </a:extLst>
                </a:gridCol>
              </a:tblGrid>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Customs Duty Relief for GB to NI Goods</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0" marR="0" lvl="0" indent="0" algn="l" defTabSz="914400" rtl="0" fontAlgn="auto" hangingPunct="1">
                        <a:lnSpc>
                          <a:spcPct val="100000"/>
                        </a:lnSpc>
                        <a:spcBef>
                          <a:spcPts val="0"/>
                        </a:spcBef>
                        <a:spcAft>
                          <a:spcPts val="0"/>
                        </a:spcAft>
                        <a:buNone/>
                        <a:tabLst/>
                      </a:pP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highlight>
                          <a:srgbClr val="FFFF00"/>
                        </a:highligh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highlight>
                          <a:srgbClr val="FFFF00"/>
                        </a:highligh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2738764269"/>
                  </a:ext>
                </a:extLst>
              </a:tr>
            </a:tbl>
          </a:graphicData>
        </a:graphic>
      </p:graphicFrame>
      <p:grpSp>
        <p:nvGrpSpPr>
          <p:cNvPr id="13" name="Group 4">
            <a:extLst>
              <a:ext uri="{FF2B5EF4-FFF2-40B4-BE49-F238E27FC236}">
                <a16:creationId xmlns:a16="http://schemas.microsoft.com/office/drawing/2014/main" id="{DCF4E03E-4248-4792-87A7-0A0DBD8268E1}"/>
              </a:ext>
            </a:extLst>
          </p:cNvPr>
          <p:cNvGrpSpPr/>
          <p:nvPr/>
        </p:nvGrpSpPr>
        <p:grpSpPr>
          <a:xfrm>
            <a:off x="2583682" y="1183581"/>
            <a:ext cx="3199302" cy="276999"/>
            <a:chOff x="2583682" y="1183581"/>
            <a:chExt cx="3199302" cy="276999"/>
          </a:xfrm>
        </p:grpSpPr>
        <p:sp>
          <p:nvSpPr>
            <p:cNvPr id="14" name="TextBox 7">
              <a:extLst>
                <a:ext uri="{FF2B5EF4-FFF2-40B4-BE49-F238E27FC236}">
                  <a16:creationId xmlns:a16="http://schemas.microsoft.com/office/drawing/2014/main" id="{B4E8B495-BC83-4902-B064-A104A28CD7F5}"/>
                </a:ext>
              </a:extLst>
            </p:cNvPr>
            <p:cNvSpPr txBox="1"/>
            <p:nvPr/>
          </p:nvSpPr>
          <p:spPr>
            <a:xfrm>
              <a:off x="2583682" y="1183581"/>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F7450CD1-2AF4-4796-BC17-43B5F70AA4E3}"/>
                </a:ext>
              </a:extLst>
            </p:cNvPr>
            <p:cNvSpPr/>
            <p:nvPr/>
          </p:nvSpPr>
          <p:spPr>
            <a:xfrm>
              <a:off x="2609258" y="125194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B370702E-5981-4FCF-8845-2C9347BD4773}"/>
              </a:ext>
            </a:extLst>
          </p:cNvPr>
          <p:cNvSpPr/>
          <p:nvPr/>
        </p:nvSpPr>
        <p:spPr>
          <a:xfrm>
            <a:off x="373102" y="1156469"/>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grpSp>
        <p:nvGrpSpPr>
          <p:cNvPr id="17" name="Group 7">
            <a:extLst>
              <a:ext uri="{FF2B5EF4-FFF2-40B4-BE49-F238E27FC236}">
                <a16:creationId xmlns:a16="http://schemas.microsoft.com/office/drawing/2014/main" id="{0FA1C6EA-4132-431C-9970-ADB829622ADD}"/>
              </a:ext>
            </a:extLst>
          </p:cNvPr>
          <p:cNvGrpSpPr/>
          <p:nvPr/>
        </p:nvGrpSpPr>
        <p:grpSpPr>
          <a:xfrm>
            <a:off x="5808561" y="1183041"/>
            <a:ext cx="4848834" cy="276999"/>
            <a:chOff x="5808561" y="1183041"/>
            <a:chExt cx="4848834" cy="276999"/>
          </a:xfrm>
        </p:grpSpPr>
        <p:sp>
          <p:nvSpPr>
            <p:cNvPr id="18" name="TextBox 7">
              <a:extLst>
                <a:ext uri="{FF2B5EF4-FFF2-40B4-BE49-F238E27FC236}">
                  <a16:creationId xmlns:a16="http://schemas.microsoft.com/office/drawing/2014/main" id="{9C1060A4-DFA2-41E0-BEAA-5B0A4013AE9C}"/>
                </a:ext>
              </a:extLst>
            </p:cNvPr>
            <p:cNvSpPr txBox="1"/>
            <p:nvPr/>
          </p:nvSpPr>
          <p:spPr>
            <a:xfrm>
              <a:off x="5808561" y="1183041"/>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DB86CC58-CDBE-4A17-85D9-2DF582B2CC70}"/>
                </a:ext>
              </a:extLst>
            </p:cNvPr>
            <p:cNvSpPr/>
            <p:nvPr/>
          </p:nvSpPr>
          <p:spPr>
            <a:xfrm>
              <a:off x="5860919" y="125448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0" name="Oval 16">
            <a:extLst>
              <a:ext uri="{FF2B5EF4-FFF2-40B4-BE49-F238E27FC236}">
                <a16:creationId xmlns:a16="http://schemas.microsoft.com/office/drawing/2014/main" id="{F90CD7E0-490A-4FAA-8D9B-68A886D98F68}"/>
              </a:ext>
            </a:extLst>
          </p:cNvPr>
          <p:cNvSpPr/>
          <p:nvPr/>
        </p:nvSpPr>
        <p:spPr>
          <a:xfrm>
            <a:off x="445285" y="223013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1" name="Table 163">
            <a:extLst>
              <a:ext uri="{FF2B5EF4-FFF2-40B4-BE49-F238E27FC236}">
                <a16:creationId xmlns:a16="http://schemas.microsoft.com/office/drawing/2014/main" id="{7AAC216C-1F08-4D87-94CC-66EB039AB0FE}"/>
              </a:ext>
            </a:extLst>
          </p:cNvPr>
          <p:cNvGraphicFramePr>
            <a:graphicFrameLocks noGrp="1"/>
          </p:cNvGraphicFramePr>
          <p:nvPr/>
        </p:nvGraphicFramePr>
        <p:xfrm>
          <a:off x="395368" y="2876766"/>
          <a:ext cx="11214000" cy="274320"/>
        </p:xfrm>
        <a:graphic>
          <a:graphicData uri="http://schemas.openxmlformats.org/drawingml/2006/table">
            <a:tbl>
              <a:tblPr firstRow="1" bandRow="1">
                <a:effectLst/>
                <a:tableStyleId>{5C22544A-7EE6-4342-B048-85BDC9FD1C3A}</a:tableStyleId>
              </a:tblPr>
              <a:tblGrid>
                <a:gridCol w="11214000">
                  <a:extLst>
                    <a:ext uri="{9D8B030D-6E8A-4147-A177-3AD203B41FA5}">
                      <a16:colId xmlns:a16="http://schemas.microsoft.com/office/drawing/2014/main" val="1508083204"/>
                    </a:ext>
                  </a:extLst>
                </a:gridCol>
              </a:tblGrid>
              <a:tr h="261975">
                <a:tc>
                  <a:txBody>
                    <a:bodyPr/>
                    <a:lstStyle/>
                    <a:p>
                      <a:pPr lvl="0" algn="ctr"/>
                      <a:r>
                        <a:rPr lang="en-GB" sz="1200" b="1" dirty="0">
                          <a:solidFill>
                            <a:srgbClr val="000000"/>
                          </a:solidFill>
                        </a:rPr>
                        <a:t>Additional Release Updates</a:t>
                      </a:r>
                      <a:endParaRPr lang="en-GB" sz="1200" b="0" dirty="0">
                        <a:solidFill>
                          <a:srgbClr val="000000"/>
                        </a:solidFill>
                      </a:endParaRPr>
                    </a:p>
                  </a:txBody>
                  <a:tcPr>
                    <a:solidFill>
                      <a:srgbClr val="E7E6E6"/>
                    </a:solidFill>
                  </a:tcPr>
                </a:tc>
                <a:extLst>
                  <a:ext uri="{0D108BD9-81ED-4DB2-BD59-A6C34878D82A}">
                    <a16:rowId xmlns:a16="http://schemas.microsoft.com/office/drawing/2014/main" val="2985090015"/>
                  </a:ext>
                </a:extLst>
              </a:tr>
            </a:tbl>
          </a:graphicData>
        </a:graphic>
      </p:graphicFrame>
      <p:graphicFrame>
        <p:nvGraphicFramePr>
          <p:cNvPr id="22" name="Table 21">
            <a:extLst>
              <a:ext uri="{FF2B5EF4-FFF2-40B4-BE49-F238E27FC236}">
                <a16:creationId xmlns:a16="http://schemas.microsoft.com/office/drawing/2014/main" id="{BA13F322-6F1C-4784-90CF-249ECC5DA35D}"/>
              </a:ext>
            </a:extLst>
          </p:cNvPr>
          <p:cNvGraphicFramePr>
            <a:graphicFrameLocks noGrp="1"/>
          </p:cNvGraphicFramePr>
          <p:nvPr/>
        </p:nvGraphicFramePr>
        <p:xfrm>
          <a:off x="405765" y="3139784"/>
          <a:ext cx="11213807" cy="640080"/>
        </p:xfrm>
        <a:graphic>
          <a:graphicData uri="http://schemas.openxmlformats.org/drawingml/2006/table">
            <a:tbl>
              <a:tblPr firstRow="1" bandRow="1">
                <a:effectLst/>
                <a:tableStyleId>{5C22544A-7EE6-4342-B048-85BDC9FD1C3A}</a:tableStyleId>
              </a:tblPr>
              <a:tblGrid>
                <a:gridCol w="2582192">
                  <a:extLst>
                    <a:ext uri="{9D8B030D-6E8A-4147-A177-3AD203B41FA5}">
                      <a16:colId xmlns:a16="http://schemas.microsoft.com/office/drawing/2014/main" val="3780394416"/>
                    </a:ext>
                  </a:extLst>
                </a:gridCol>
                <a:gridCol w="2877205">
                  <a:extLst>
                    <a:ext uri="{9D8B030D-6E8A-4147-A177-3AD203B41FA5}">
                      <a16:colId xmlns:a16="http://schemas.microsoft.com/office/drawing/2014/main" val="1852366442"/>
                    </a:ext>
                  </a:extLst>
                </a:gridCol>
                <a:gridCol w="2877205">
                  <a:extLst>
                    <a:ext uri="{9D8B030D-6E8A-4147-A177-3AD203B41FA5}">
                      <a16:colId xmlns:a16="http://schemas.microsoft.com/office/drawing/2014/main" val="122864825"/>
                    </a:ext>
                  </a:extLst>
                </a:gridCol>
                <a:gridCol w="2877205">
                  <a:extLst>
                    <a:ext uri="{9D8B030D-6E8A-4147-A177-3AD203B41FA5}">
                      <a16:colId xmlns:a16="http://schemas.microsoft.com/office/drawing/2014/main" val="248269623"/>
                    </a:ext>
                  </a:extLst>
                </a:gridCol>
              </a:tblGrid>
              <a:tr h="0">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4" action="ppaction://hlinksldjump"/>
                        </a:rPr>
                        <a:t>Trade Test authentication for traders performing Loader functions</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dirty="0">
                          <a:solidFill>
                            <a:srgbClr val="000000"/>
                          </a:solidFill>
                          <a:hlinkClick r:id="rId4" action="ppaction://hlinksldjump"/>
                        </a:rPr>
                        <a:t>Trigger words relating to Case Emulator functionality are case sensitive</a:t>
                      </a:r>
                      <a:endParaRPr lang="en-GB" sz="1200" b="0" i="0" kern="1200" dirty="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dirty="0">
                        <a:solidFill>
                          <a:srgbClr val="000000"/>
                        </a:solidFill>
                        <a:highlight>
                          <a:srgbClr val="FFFF00"/>
                        </a:highlight>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50104770"/>
                  </a:ext>
                </a:extLst>
              </a:tr>
            </a:tbl>
          </a:graphicData>
        </a:graphic>
      </p:graphicFrame>
      <p:sp>
        <p:nvSpPr>
          <p:cNvPr id="23" name="Oval 16">
            <a:extLst>
              <a:ext uri="{FF2B5EF4-FFF2-40B4-BE49-F238E27FC236}">
                <a16:creationId xmlns:a16="http://schemas.microsoft.com/office/drawing/2014/main" id="{3D18DB21-29B9-47A3-86AC-FF72990A50A6}"/>
              </a:ext>
            </a:extLst>
          </p:cNvPr>
          <p:cNvSpPr/>
          <p:nvPr/>
        </p:nvSpPr>
        <p:spPr>
          <a:xfrm>
            <a:off x="445285" y="322161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16">
            <a:extLst>
              <a:ext uri="{FF2B5EF4-FFF2-40B4-BE49-F238E27FC236}">
                <a16:creationId xmlns:a16="http://schemas.microsoft.com/office/drawing/2014/main" id="{CD0802D3-BAB0-4534-9D22-F89AE18585B4}"/>
              </a:ext>
            </a:extLst>
          </p:cNvPr>
          <p:cNvSpPr/>
          <p:nvPr/>
        </p:nvSpPr>
        <p:spPr>
          <a:xfrm>
            <a:off x="2993160" y="322161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Slide Number Placeholder 5">
            <a:extLst>
              <a:ext uri="{FF2B5EF4-FFF2-40B4-BE49-F238E27FC236}">
                <a16:creationId xmlns:a16="http://schemas.microsoft.com/office/drawing/2014/main" id="{BE09C65C-11F7-4074-982E-67071702E741}"/>
              </a:ext>
            </a:extLst>
          </p:cNvPr>
          <p:cNvSpPr txBox="1"/>
          <p:nvPr/>
        </p:nvSpPr>
        <p:spPr>
          <a:xfrm>
            <a:off x="11669354" y="6379946"/>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0AC3F3A-CDFD-4B54-AA17-107C1F19629D}" type="slidenum">
              <a:rPr sz="1200"/>
              <a:t>405</a:t>
            </a:fld>
            <a:endParaRPr lang="en-GB" sz="1200" b="0" i="0" u="none" strike="noStrike" kern="1200" cap="none" spc="0" baseline="0">
              <a:solidFill>
                <a:srgbClr val="000000"/>
              </a:solidFill>
              <a:uFillTx/>
              <a:latin typeface="Calibri"/>
            </a:endParaRPr>
          </a:p>
        </p:txBody>
      </p:sp>
      <p:sp>
        <p:nvSpPr>
          <p:cNvPr id="26" name="Oval 29">
            <a:hlinkClick r:id="rId5" action="ppaction://hlinksldjump"/>
            <a:extLst>
              <a:ext uri="{FF2B5EF4-FFF2-40B4-BE49-F238E27FC236}">
                <a16:creationId xmlns:a16="http://schemas.microsoft.com/office/drawing/2014/main" id="{F122BF92-59FB-46BC-99E7-16D219454383}"/>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30">
            <a:hlinkClick r:id="rId5" action="ppaction://hlinksldjump"/>
            <a:extLst>
              <a:ext uri="{FF2B5EF4-FFF2-40B4-BE49-F238E27FC236}">
                <a16:creationId xmlns:a16="http://schemas.microsoft.com/office/drawing/2014/main" id="{317F3694-079D-4EE7-8C94-F78C0CB8444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31">
            <a:hlinkClick r:id="rId6" action="ppaction://hlinksldjump"/>
            <a:extLst>
              <a:ext uri="{FF2B5EF4-FFF2-40B4-BE49-F238E27FC236}">
                <a16:creationId xmlns:a16="http://schemas.microsoft.com/office/drawing/2014/main" id="{EC8AFFBF-1F45-46A8-8F2C-0466AA97707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32">
            <a:hlinkClick r:id="rId7" action="ppaction://hlinksldjump"/>
            <a:extLst>
              <a:ext uri="{FF2B5EF4-FFF2-40B4-BE49-F238E27FC236}">
                <a16:creationId xmlns:a16="http://schemas.microsoft.com/office/drawing/2014/main" id="{A75CBCDD-4028-4643-A725-53774E9B6B8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TextBox 33">
            <a:hlinkClick r:id="rId5" action="ppaction://hlinksldjump"/>
            <a:extLst>
              <a:ext uri="{FF2B5EF4-FFF2-40B4-BE49-F238E27FC236}">
                <a16:creationId xmlns:a16="http://schemas.microsoft.com/office/drawing/2014/main" id="{2C035234-EE2A-4AC3-8122-8A938DDB11D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31" name="TextBox 34">
            <a:hlinkClick r:id="rId5" action="ppaction://hlinksldjump"/>
            <a:extLst>
              <a:ext uri="{FF2B5EF4-FFF2-40B4-BE49-F238E27FC236}">
                <a16:creationId xmlns:a16="http://schemas.microsoft.com/office/drawing/2014/main" id="{F045838C-BE25-4BE1-AE00-0822EAA81A68}"/>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32" name="TextBox 35">
            <a:hlinkClick r:id="rId6" action="ppaction://hlinksldjump"/>
            <a:extLst>
              <a:ext uri="{FF2B5EF4-FFF2-40B4-BE49-F238E27FC236}">
                <a16:creationId xmlns:a16="http://schemas.microsoft.com/office/drawing/2014/main" id="{B8F52FA1-2C46-493F-AF69-A445439B0B07}"/>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33" name="TextBox 36">
            <a:hlinkClick r:id="rId6" action="ppaction://hlinksldjump"/>
            <a:extLst>
              <a:ext uri="{FF2B5EF4-FFF2-40B4-BE49-F238E27FC236}">
                <a16:creationId xmlns:a16="http://schemas.microsoft.com/office/drawing/2014/main" id="{5C77C135-8E0A-4203-AB87-366EED1260F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4" name="Oval 37">
            <a:extLst>
              <a:ext uri="{FF2B5EF4-FFF2-40B4-BE49-F238E27FC236}">
                <a16:creationId xmlns:a16="http://schemas.microsoft.com/office/drawing/2014/main" id="{350000F9-F2E8-400A-B5E1-BEDDDCC4BB71}"/>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TextBox 40">
            <a:hlinkClick r:id="rId8" action="ppaction://hlinksldjump"/>
            <a:extLst>
              <a:ext uri="{FF2B5EF4-FFF2-40B4-BE49-F238E27FC236}">
                <a16:creationId xmlns:a16="http://schemas.microsoft.com/office/drawing/2014/main" id="{1D1FB546-26FE-450B-8AE7-25209B4EAFD9}"/>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6" name="Picture 41">
            <a:hlinkClick r:id="rId5" action="ppaction://hlinksldjump"/>
            <a:extLst>
              <a:ext uri="{FF2B5EF4-FFF2-40B4-BE49-F238E27FC236}">
                <a16:creationId xmlns:a16="http://schemas.microsoft.com/office/drawing/2014/main" id="{4610211B-CFAC-44B4-9DDA-5DCA7F92B729}"/>
              </a:ext>
            </a:extLst>
          </p:cNvPr>
          <p:cNvPicPr>
            <a:picLocks noChangeAspect="1"/>
          </p:cNvPicPr>
          <p:nvPr/>
        </p:nvPicPr>
        <p:blipFill>
          <a:blip r:embed="rId9">
            <a:alphaModFix amt="35000"/>
          </a:blip>
          <a:srcRect l="20606" t="21077" r="21527" b="31021"/>
          <a:stretch>
            <a:fillRect/>
          </a:stretch>
        </p:blipFill>
        <p:spPr>
          <a:xfrm>
            <a:off x="10028188" y="272070"/>
            <a:ext cx="256918" cy="210595"/>
          </a:xfrm>
          <a:prstGeom prst="rect">
            <a:avLst/>
          </a:prstGeom>
          <a:noFill/>
          <a:ln cap="flat">
            <a:noFill/>
          </a:ln>
        </p:spPr>
      </p:pic>
      <p:sp>
        <p:nvSpPr>
          <p:cNvPr id="37" name="Oval 42">
            <a:hlinkClick r:id="rId5" action="ppaction://hlinksldjump"/>
            <a:extLst>
              <a:ext uri="{FF2B5EF4-FFF2-40B4-BE49-F238E27FC236}">
                <a16:creationId xmlns:a16="http://schemas.microsoft.com/office/drawing/2014/main" id="{2196EAC7-4F59-4DE3-97BB-0308CBDCAFE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name="Slide453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F46C7EF-95D5-4BC0-B037-975790F3D67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B4F17EC6-155A-4262-AA94-CA022A69566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40AF2CF-222C-4B04-97A1-998654601CF6}"/>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AB52E8BD-70E8-4B49-AF54-C5203488CA4C}"/>
              </a:ext>
            </a:extLst>
          </p:cNvPr>
          <p:cNvSpPr txBox="1"/>
          <p:nvPr/>
        </p:nvSpPr>
        <p:spPr>
          <a:xfrm>
            <a:off x="11701159"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06E6DAA-85EA-4935-B0F4-D457A3EF01E3}" type="slidenum">
              <a:rPr sz="1200"/>
              <a:t>406</a:t>
            </a:fld>
            <a:endParaRPr lang="en-GB" sz="1200" b="0" i="0" u="none" strike="noStrike" kern="1200" cap="none" spc="0" baseline="0">
              <a:solidFill>
                <a:srgbClr val="000000"/>
              </a:solidFill>
              <a:uFillTx/>
              <a:latin typeface="Calibri"/>
            </a:endParaRPr>
          </a:p>
        </p:txBody>
      </p:sp>
      <p:sp>
        <p:nvSpPr>
          <p:cNvPr id="7" name="Rectangle 31">
            <a:extLst>
              <a:ext uri="{FF2B5EF4-FFF2-40B4-BE49-F238E27FC236}">
                <a16:creationId xmlns:a16="http://schemas.microsoft.com/office/drawing/2014/main" id="{EEE4B26B-9B43-457F-BE61-3EC12ACCCD1F}"/>
              </a:ext>
            </a:extLst>
          </p:cNvPr>
          <p:cNvSpPr/>
          <p:nvPr/>
        </p:nvSpPr>
        <p:spPr>
          <a:xfrm>
            <a:off x="262789" y="719294"/>
            <a:ext cx="3287185"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Customs Duty Relief for GB to NI Goods</a:t>
            </a:r>
            <a:endParaRPr lang="en-GB" sz="1400" b="1" i="0" u="none" strike="noStrike" kern="1200" cap="none" spc="0" baseline="0">
              <a:solidFill>
                <a:srgbClr val="FF0000"/>
              </a:solidFill>
              <a:highlight>
                <a:srgbClr val="FFFF00"/>
              </a:highlight>
              <a:uFillTx/>
              <a:latin typeface="Calibri"/>
            </a:endParaRPr>
          </a:p>
        </p:txBody>
      </p:sp>
      <p:sp>
        <p:nvSpPr>
          <p:cNvPr id="8" name="Rectangle 2">
            <a:extLst>
              <a:ext uri="{FF2B5EF4-FFF2-40B4-BE49-F238E27FC236}">
                <a16:creationId xmlns:a16="http://schemas.microsoft.com/office/drawing/2014/main" id="{F8F01CBF-92B2-4D74-8BC5-3977287C9B68}"/>
              </a:ext>
            </a:extLst>
          </p:cNvPr>
          <p:cNvSpPr/>
          <p:nvPr/>
        </p:nvSpPr>
        <p:spPr>
          <a:xfrm>
            <a:off x="363967" y="963055"/>
            <a:ext cx="11216249" cy="310853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From TTM15.0, CDS will allow declarants to claim relief from customs duty for personal belongings moved from GB to NI e.g. when moving their home to NI from GB. Declarations made in CDS (e.g. if a removal company is moving the belongings) will need the new Additional Procedure Code to claim relief.</a:t>
            </a:r>
            <a:endParaRPr lang="en-GB" sz="1400" b="0" i="0" u="none" strike="noStrike" kern="1200" cap="none" spc="0" baseline="0">
              <a:solidFill>
                <a:srgbClr val="000000"/>
              </a:solidFill>
              <a:highlight>
                <a:srgbClr val="FFFF00"/>
              </a:highlight>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To test this functionality:</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Declarants can declare Additional Procedure Code '1PP' in D.E. 1/11 at item level on any import declaration types (Types A, B, C, D, E, F, J, K, Y, and Z).</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the </a:t>
            </a:r>
            <a:r>
              <a:rPr lang="en-GB" sz="1400" b="1" i="0" u="none" strike="noStrike" kern="1200" cap="none" spc="0" baseline="0">
                <a:solidFill>
                  <a:srgbClr val="000000"/>
                </a:solidFill>
                <a:uFillTx/>
                <a:latin typeface="Calibri"/>
              </a:rPr>
              <a:t>Additional Procedure Code '1PP'</a:t>
            </a:r>
            <a:r>
              <a:rPr lang="en-GB" sz="1400" b="0" i="0" u="none" strike="noStrike" kern="1200" cap="none" spc="0" baseline="0">
                <a:solidFill>
                  <a:srgbClr val="000000"/>
                </a:solidFill>
                <a:uFillTx/>
                <a:latin typeface="Calibri"/>
              </a:rPr>
              <a:t> is entered in D.E. 1/11 at item level, the declarant also needs to enter </a:t>
            </a:r>
            <a:r>
              <a:rPr lang="en-GB" sz="1400" b="1" i="0" u="none" strike="noStrike" kern="1200" cap="none" spc="0" baseline="0">
                <a:solidFill>
                  <a:srgbClr val="000000"/>
                </a:solidFill>
                <a:uFillTx/>
                <a:latin typeface="Calibri"/>
              </a:rPr>
              <a:t>Additional Information code</a:t>
            </a:r>
            <a:r>
              <a:rPr lang="en-GB" sz="1400" b="0" i="0" u="none" strike="noStrike" kern="1200" cap="none" spc="0" baseline="0">
                <a:solidFill>
                  <a:srgbClr val="000000"/>
                </a:solidFill>
                <a:uFillTx/>
                <a:latin typeface="Calibri"/>
              </a:rPr>
              <a:t> </a:t>
            </a:r>
            <a:r>
              <a:rPr lang="en-GB" sz="1400" b="1" i="0" u="none" strike="noStrike" kern="1200" cap="none" spc="0" baseline="0">
                <a:solidFill>
                  <a:srgbClr val="000000"/>
                </a:solidFill>
                <a:uFillTx/>
                <a:latin typeface="Calibri"/>
              </a:rPr>
              <a:t>'NIDOM’</a:t>
            </a:r>
            <a:r>
              <a:rPr lang="en-GB" sz="1400" b="0" i="0" u="none" strike="noStrike" kern="1200" cap="none" spc="0" baseline="0">
                <a:solidFill>
                  <a:srgbClr val="000000"/>
                </a:solidFill>
                <a:uFillTx/>
                <a:latin typeface="Calibri"/>
              </a:rPr>
              <a:t> in D.E. 2/2 and </a:t>
            </a:r>
            <a:r>
              <a:rPr lang="en-GB" sz="1400" b="1" i="0" u="none" strike="noStrike" kern="1200" cap="none" spc="0" baseline="0">
                <a:solidFill>
                  <a:srgbClr val="000000"/>
                </a:solidFill>
                <a:uFillTx/>
                <a:latin typeface="Calibri"/>
              </a:rPr>
              <a:t>Procedure Code combination '40 00' </a:t>
            </a:r>
            <a:r>
              <a:rPr lang="en-GB" sz="1400" b="0" i="0" u="none" strike="noStrike" kern="1200" cap="none" spc="0" baseline="0">
                <a:solidFill>
                  <a:srgbClr val="000000"/>
                </a:solidFill>
                <a:uFillTx/>
                <a:latin typeface="Calibri"/>
              </a:rPr>
              <a:t>in D.E. 1/10, both at item level on the same goods item, otherwise the declaration would be rejected and send a DMSREJ notification to the trader.	</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CDS will reject declarations and send a DMSREJ notification to the declarant if the Additional Procedure Code '1PP' is entered on an export declaration, or a declaration to a special fiscal territory.</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Where the Additional Procedure Code '1PP' is entered in D.E. 1/11 at item level it is not possible to manually override the tax calculations via OVR01/UVC01 otherwise the declaration will be rejected.	</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CDS will return calculated taxes duties due with the customs duty relief applied in a DMSTAX notification sent to the declarant.</a:t>
            </a:r>
            <a:endParaRPr lang="en-GB" sz="1200" b="0" i="0" u="none" strike="noStrike" kern="1200" cap="none" spc="0" baseline="0">
              <a:solidFill>
                <a:srgbClr val="000000"/>
              </a:solidFill>
              <a:uFillTx/>
              <a:latin typeface="Calibri"/>
            </a:endParaRPr>
          </a:p>
        </p:txBody>
      </p:sp>
      <p:grpSp>
        <p:nvGrpSpPr>
          <p:cNvPr id="9" name="Group 4">
            <a:extLst>
              <a:ext uri="{FF2B5EF4-FFF2-40B4-BE49-F238E27FC236}">
                <a16:creationId xmlns:a16="http://schemas.microsoft.com/office/drawing/2014/main" id="{A75415C6-093D-42F5-96B1-E91F35B6EB1C}"/>
              </a:ext>
            </a:extLst>
          </p:cNvPr>
          <p:cNvGrpSpPr/>
          <p:nvPr/>
        </p:nvGrpSpPr>
        <p:grpSpPr>
          <a:xfrm>
            <a:off x="344920" y="4218739"/>
            <a:ext cx="11235296" cy="829772"/>
            <a:chOff x="344920" y="4218739"/>
            <a:chExt cx="11235296" cy="829772"/>
          </a:xfrm>
        </p:grpSpPr>
        <p:sp>
          <p:nvSpPr>
            <p:cNvPr id="10" name="Rectangle 3">
              <a:extLst>
                <a:ext uri="{FF2B5EF4-FFF2-40B4-BE49-F238E27FC236}">
                  <a16:creationId xmlns:a16="http://schemas.microsoft.com/office/drawing/2014/main" id="{7620A7B3-4755-4180-B6FF-A4F2C11936D6}"/>
                </a:ext>
              </a:extLst>
            </p:cNvPr>
            <p:cNvSpPr/>
            <p:nvPr/>
          </p:nvSpPr>
          <p:spPr>
            <a:xfrm>
              <a:off x="344920" y="4218739"/>
              <a:ext cx="707599" cy="829772"/>
            </a:xfrm>
            <a:prstGeom prst="rect">
              <a:avLst/>
            </a:prstGeom>
            <a:solidFill>
              <a:srgbClr val="D86212"/>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XML SAMPLE</a:t>
              </a:r>
            </a:p>
          </p:txBody>
        </p:sp>
        <p:sp>
          <p:nvSpPr>
            <p:cNvPr id="11" name="Rectangle 13">
              <a:extLst>
                <a:ext uri="{FF2B5EF4-FFF2-40B4-BE49-F238E27FC236}">
                  <a16:creationId xmlns:a16="http://schemas.microsoft.com/office/drawing/2014/main" id="{3FF61A66-E06F-4A20-BF21-2422D00769A3}"/>
                </a:ext>
              </a:extLst>
            </p:cNvPr>
            <p:cNvSpPr/>
            <p:nvPr/>
          </p:nvSpPr>
          <p:spPr>
            <a:xfrm>
              <a:off x="1052510" y="4218739"/>
              <a:ext cx="10527706" cy="829772"/>
            </a:xfrm>
            <a:prstGeom prst="rect">
              <a:avLst/>
            </a:prstGeom>
            <a:solidFill>
              <a:srgbClr val="F8CBAD"/>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TT_IM63a  -   GB-NI personal belongings - relief from customs duty (e.g. when moving home to NI from GB)</a:t>
              </a:r>
            </a:p>
          </p:txBody>
        </p:sp>
      </p:grpSp>
      <p:sp>
        <p:nvSpPr>
          <p:cNvPr id="12" name="Oval 14">
            <a:hlinkClick r:id="rId3" action="ppaction://hlinksldjump"/>
            <a:extLst>
              <a:ext uri="{FF2B5EF4-FFF2-40B4-BE49-F238E27FC236}">
                <a16:creationId xmlns:a16="http://schemas.microsoft.com/office/drawing/2014/main" id="{C852E275-81E5-4C95-B900-2CD824B1009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5">
            <a:hlinkClick r:id="rId3" action="ppaction://hlinksldjump"/>
            <a:extLst>
              <a:ext uri="{FF2B5EF4-FFF2-40B4-BE49-F238E27FC236}">
                <a16:creationId xmlns:a16="http://schemas.microsoft.com/office/drawing/2014/main" id="{6BF308FA-0351-4B06-AB61-3839A86163A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16">
            <a:hlinkClick r:id="rId4" action="ppaction://hlinksldjump"/>
            <a:extLst>
              <a:ext uri="{FF2B5EF4-FFF2-40B4-BE49-F238E27FC236}">
                <a16:creationId xmlns:a16="http://schemas.microsoft.com/office/drawing/2014/main" id="{4B72BE07-CD60-4C96-B88A-011C6DA2471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20">
            <a:hlinkClick r:id="rId5" action="ppaction://hlinksldjump"/>
            <a:extLst>
              <a:ext uri="{FF2B5EF4-FFF2-40B4-BE49-F238E27FC236}">
                <a16:creationId xmlns:a16="http://schemas.microsoft.com/office/drawing/2014/main" id="{7FE1B1F9-D5A6-4970-ABE2-733BD1ECC938}"/>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21">
            <a:hlinkClick r:id="rId3" action="ppaction://hlinksldjump"/>
            <a:extLst>
              <a:ext uri="{FF2B5EF4-FFF2-40B4-BE49-F238E27FC236}">
                <a16:creationId xmlns:a16="http://schemas.microsoft.com/office/drawing/2014/main" id="{2A04D6E1-A5B6-44CD-A88A-342566DFE94C}"/>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22">
            <a:hlinkClick r:id="rId3" action="ppaction://hlinksldjump"/>
            <a:extLst>
              <a:ext uri="{FF2B5EF4-FFF2-40B4-BE49-F238E27FC236}">
                <a16:creationId xmlns:a16="http://schemas.microsoft.com/office/drawing/2014/main" id="{C675DF06-EA36-4400-BB7E-F4CC9B139E85}"/>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8" name="TextBox 23">
            <a:hlinkClick r:id="rId4" action="ppaction://hlinksldjump"/>
            <a:extLst>
              <a:ext uri="{FF2B5EF4-FFF2-40B4-BE49-F238E27FC236}">
                <a16:creationId xmlns:a16="http://schemas.microsoft.com/office/drawing/2014/main" id="{5E868918-199A-49BD-9B3E-06C4A315198B}"/>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24">
            <a:hlinkClick r:id="rId4" action="ppaction://hlinksldjump"/>
            <a:extLst>
              <a:ext uri="{FF2B5EF4-FFF2-40B4-BE49-F238E27FC236}">
                <a16:creationId xmlns:a16="http://schemas.microsoft.com/office/drawing/2014/main" id="{CA2B7703-6DA1-47E2-ADF7-3B5F9FADBFA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26">
            <a:extLst>
              <a:ext uri="{FF2B5EF4-FFF2-40B4-BE49-F238E27FC236}">
                <a16:creationId xmlns:a16="http://schemas.microsoft.com/office/drawing/2014/main" id="{B6A24DA3-6BB9-4754-943F-D140506D293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27">
            <a:hlinkClick r:id="rId6" action="ppaction://hlinksldjump"/>
            <a:extLst>
              <a:ext uri="{FF2B5EF4-FFF2-40B4-BE49-F238E27FC236}">
                <a16:creationId xmlns:a16="http://schemas.microsoft.com/office/drawing/2014/main" id="{F2B3A644-BFA0-4158-BBE7-F0CD8702D42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28">
            <a:hlinkClick r:id="rId3" action="ppaction://hlinksldjump"/>
            <a:extLst>
              <a:ext uri="{FF2B5EF4-FFF2-40B4-BE49-F238E27FC236}">
                <a16:creationId xmlns:a16="http://schemas.microsoft.com/office/drawing/2014/main" id="{A98B9C8F-A1FC-4F9F-8B0F-3CA9FF0FDE0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29">
            <a:hlinkClick r:id="rId3" action="ppaction://hlinksldjump"/>
            <a:extLst>
              <a:ext uri="{FF2B5EF4-FFF2-40B4-BE49-F238E27FC236}">
                <a16:creationId xmlns:a16="http://schemas.microsoft.com/office/drawing/2014/main" id="{8039EEC1-9117-4337-9F3B-0F878F6CA55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name="Slide453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7E3957F-D6A7-4489-B07C-5A2D56D1C21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988DC1CE-018D-492C-AD2A-BC0F7FB964B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65029D28-5532-4E07-BADC-DF84CA62656B}"/>
              </a:ext>
            </a:extLst>
          </p:cNvPr>
          <p:cNvSpPr txBox="1"/>
          <p:nvPr/>
        </p:nvSpPr>
        <p:spPr>
          <a:xfrm>
            <a:off x="363967" y="248844"/>
            <a:ext cx="232172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SCOPE GUIDANCE</a:t>
            </a:r>
          </a:p>
        </p:txBody>
      </p:sp>
      <p:sp>
        <p:nvSpPr>
          <p:cNvPr id="6" name="Slide Number Placeholder 5">
            <a:extLst>
              <a:ext uri="{FF2B5EF4-FFF2-40B4-BE49-F238E27FC236}">
                <a16:creationId xmlns:a16="http://schemas.microsoft.com/office/drawing/2014/main" id="{36EB71C0-FAAC-4A1A-A034-284B91786DBF}"/>
              </a:ext>
            </a:extLst>
          </p:cNvPr>
          <p:cNvSpPr txBox="1"/>
          <p:nvPr/>
        </p:nvSpPr>
        <p:spPr>
          <a:xfrm>
            <a:off x="11693208" y="636404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29311B21-BD50-44F7-AB90-EFCD0611CA2A}" type="slidenum">
              <a:rPr sz="1200"/>
              <a:t>407</a:t>
            </a:fld>
            <a:endParaRPr lang="en-GB" sz="1200" b="0" i="0" u="none" strike="noStrike" kern="1200" cap="none" spc="0" baseline="0" dirty="0">
              <a:solidFill>
                <a:srgbClr val="000000"/>
              </a:solidFill>
              <a:uFillTx/>
              <a:latin typeface="Calibri"/>
            </a:endParaRPr>
          </a:p>
        </p:txBody>
      </p:sp>
      <p:sp>
        <p:nvSpPr>
          <p:cNvPr id="7" name="Rectangle 31">
            <a:extLst>
              <a:ext uri="{FF2B5EF4-FFF2-40B4-BE49-F238E27FC236}">
                <a16:creationId xmlns:a16="http://schemas.microsoft.com/office/drawing/2014/main" id="{0FF911BD-E5D3-4F96-919E-8E634A97189C}"/>
              </a:ext>
            </a:extLst>
          </p:cNvPr>
          <p:cNvSpPr/>
          <p:nvPr/>
        </p:nvSpPr>
        <p:spPr>
          <a:xfrm>
            <a:off x="363967" y="1393536"/>
            <a:ext cx="7788923"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Trade Test authentication for traders performing Loader functions using data in the Test Data Library</a:t>
            </a:r>
            <a:endParaRPr lang="en-GB" sz="1400" b="1" i="0" u="none" strike="noStrike" kern="1200" cap="none" spc="0" baseline="0">
              <a:solidFill>
                <a:srgbClr val="FF0000"/>
              </a:solidFill>
              <a:uFillTx/>
              <a:latin typeface="Calibri"/>
            </a:endParaRPr>
          </a:p>
        </p:txBody>
      </p:sp>
      <p:sp>
        <p:nvSpPr>
          <p:cNvPr id="8" name="Rectangle 2">
            <a:extLst>
              <a:ext uri="{FF2B5EF4-FFF2-40B4-BE49-F238E27FC236}">
                <a16:creationId xmlns:a16="http://schemas.microsoft.com/office/drawing/2014/main" id="{3A31C735-F5B7-4810-973B-C9695AFF9E06}"/>
              </a:ext>
            </a:extLst>
          </p:cNvPr>
          <p:cNvSpPr/>
          <p:nvPr/>
        </p:nvSpPr>
        <p:spPr>
          <a:xfrm>
            <a:off x="363967" y="1699842"/>
            <a:ext cx="11402055" cy="224677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Previously, Digital authentication was preventing Traders from using the authorised loader roles documented in the Test Data Library to submit export movement requests in their end to end testing.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Part of the change implemented were updates to the documentation for the Create Test User service. The Create Test User documentation and CDS service documentation on the Developer Hub have been updated and it is now possible to pass in an optional EORI number. Please use an EORI number from the approved Test Data Library (TDL), your own EORI number cannot be used.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Previously, the test user API generated an EORI and didn’t let traders specify one, whereas now a CDS 3</a:t>
            </a:r>
            <a:r>
              <a:rPr lang="en-GB" sz="1400" b="0" i="0" u="none" strike="noStrike" kern="1200" cap="none" spc="0" baseline="30000">
                <a:solidFill>
                  <a:srgbClr val="000000"/>
                </a:solidFill>
                <a:uFillTx/>
                <a:latin typeface="Calibri"/>
              </a:rPr>
              <a:t>rd</a:t>
            </a:r>
            <a:r>
              <a:rPr lang="en-GB" sz="1400" b="0" i="0" u="none" strike="noStrike" kern="1200" cap="none" spc="0" baseline="0">
                <a:solidFill>
                  <a:srgbClr val="000000"/>
                </a:solidFill>
                <a:uFillTx/>
                <a:latin typeface="Calibri"/>
              </a:rPr>
              <a:t> Party Software developer can test some of the CDS journeys, and are able to specify the EORI number for a test user so that it matches the backend test systems EORI. If the EORI number is not provided, a random generated EORI number is still returned. </a:t>
            </a:r>
          </a:p>
        </p:txBody>
      </p:sp>
      <p:sp>
        <p:nvSpPr>
          <p:cNvPr id="9" name="Rectangle 7">
            <a:extLst>
              <a:ext uri="{FF2B5EF4-FFF2-40B4-BE49-F238E27FC236}">
                <a16:creationId xmlns:a16="http://schemas.microsoft.com/office/drawing/2014/main" id="{78C1791C-603A-428A-A944-25DC8E0D8794}"/>
              </a:ext>
            </a:extLst>
          </p:cNvPr>
          <p:cNvSpPr/>
          <p:nvPr/>
        </p:nvSpPr>
        <p:spPr>
          <a:xfrm>
            <a:off x="465155" y="799761"/>
            <a:ext cx="3716624"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Additional Release Updates</a:t>
            </a:r>
          </a:p>
        </p:txBody>
      </p:sp>
      <p:sp>
        <p:nvSpPr>
          <p:cNvPr id="10" name="Rectangle 1">
            <a:extLst>
              <a:ext uri="{FF2B5EF4-FFF2-40B4-BE49-F238E27FC236}">
                <a16:creationId xmlns:a16="http://schemas.microsoft.com/office/drawing/2014/main" id="{3A3A7056-C746-4A7C-9BDA-ABF51623DBA1}"/>
              </a:ext>
            </a:extLst>
          </p:cNvPr>
          <p:cNvSpPr/>
          <p:nvPr/>
        </p:nvSpPr>
        <p:spPr>
          <a:xfrm>
            <a:off x="363967" y="3989344"/>
            <a:ext cx="11100249"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dirty="0">
                <a:solidFill>
                  <a:srgbClr val="000000"/>
                </a:solidFill>
                <a:uFillTx/>
                <a:latin typeface="Calibri"/>
              </a:rPr>
              <a:t>2. Trigger words relating to Case Emulator functionality are case sensitive</a:t>
            </a:r>
          </a:p>
        </p:txBody>
      </p:sp>
      <p:sp>
        <p:nvSpPr>
          <p:cNvPr id="11" name="Rectangle 20">
            <a:extLst>
              <a:ext uri="{FF2B5EF4-FFF2-40B4-BE49-F238E27FC236}">
                <a16:creationId xmlns:a16="http://schemas.microsoft.com/office/drawing/2014/main" id="{EDE96AF5-272E-4818-9268-117F57E05212}"/>
              </a:ext>
            </a:extLst>
          </p:cNvPr>
          <p:cNvSpPr/>
          <p:nvPr/>
        </p:nvSpPr>
        <p:spPr>
          <a:xfrm>
            <a:off x="319116" y="4348831"/>
            <a:ext cx="11402055" cy="73866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0" i="0" u="none" strike="noStrike" kern="1200" cap="none" spc="0" baseline="0" dirty="0">
                <a:solidFill>
                  <a:srgbClr val="000000"/>
                </a:solidFill>
                <a:uFillTx/>
                <a:latin typeface="Calibri"/>
              </a:rPr>
              <a:t>To test control notification, e.g. DMSALV, DMSQRY, DMSCTL in CDS TT/TDR environments, the original declaration should include the appropriate ‘trigger word’ in Goods Description DE 6/8 (e.g. "ttalvsdecisionMat1"). The trigger words relating to the Case Emulator are case sensitive and should be entered as described (e.g. "ttalvsdecisionMat1") and if not, (e.g. capital letters are used) the expected notification will not be returned. </a:t>
            </a:r>
          </a:p>
        </p:txBody>
      </p:sp>
      <p:sp>
        <p:nvSpPr>
          <p:cNvPr id="12" name="Oval 12">
            <a:hlinkClick r:id="rId3" action="ppaction://hlinksldjump"/>
            <a:extLst>
              <a:ext uri="{FF2B5EF4-FFF2-40B4-BE49-F238E27FC236}">
                <a16:creationId xmlns:a16="http://schemas.microsoft.com/office/drawing/2014/main" id="{49709C62-FB2A-4127-BB39-106B414846A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3">
            <a:hlinkClick r:id="rId3" action="ppaction://hlinksldjump"/>
            <a:extLst>
              <a:ext uri="{FF2B5EF4-FFF2-40B4-BE49-F238E27FC236}">
                <a16:creationId xmlns:a16="http://schemas.microsoft.com/office/drawing/2014/main" id="{51A2AE2D-1B96-4147-931C-D647C133200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15">
            <a:hlinkClick r:id="rId4" action="ppaction://hlinksldjump"/>
            <a:extLst>
              <a:ext uri="{FF2B5EF4-FFF2-40B4-BE49-F238E27FC236}">
                <a16:creationId xmlns:a16="http://schemas.microsoft.com/office/drawing/2014/main" id="{65B7011A-A38E-4620-A2A8-5E7FC9114F1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16">
            <a:hlinkClick r:id="rId5" action="ppaction://hlinksldjump"/>
            <a:extLst>
              <a:ext uri="{FF2B5EF4-FFF2-40B4-BE49-F238E27FC236}">
                <a16:creationId xmlns:a16="http://schemas.microsoft.com/office/drawing/2014/main" id="{8EC01B04-029B-40CD-A45C-D86BFC0BC2B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21">
            <a:hlinkClick r:id="rId3" action="ppaction://hlinksldjump"/>
            <a:extLst>
              <a:ext uri="{FF2B5EF4-FFF2-40B4-BE49-F238E27FC236}">
                <a16:creationId xmlns:a16="http://schemas.microsoft.com/office/drawing/2014/main" id="{02137C4B-7E6F-4451-B4B4-CB3132BC423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22">
            <a:hlinkClick r:id="rId3" action="ppaction://hlinksldjump"/>
            <a:extLst>
              <a:ext uri="{FF2B5EF4-FFF2-40B4-BE49-F238E27FC236}">
                <a16:creationId xmlns:a16="http://schemas.microsoft.com/office/drawing/2014/main" id="{E570DBE8-4346-4BEC-B80C-3CBE43063673}"/>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18" name="TextBox 23">
            <a:hlinkClick r:id="rId4" action="ppaction://hlinksldjump"/>
            <a:extLst>
              <a:ext uri="{FF2B5EF4-FFF2-40B4-BE49-F238E27FC236}">
                <a16:creationId xmlns:a16="http://schemas.microsoft.com/office/drawing/2014/main" id="{B8463A27-6539-4E6E-A98B-35D0FD6F6C93}"/>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24">
            <a:hlinkClick r:id="rId4" action="ppaction://hlinksldjump"/>
            <a:extLst>
              <a:ext uri="{FF2B5EF4-FFF2-40B4-BE49-F238E27FC236}">
                <a16:creationId xmlns:a16="http://schemas.microsoft.com/office/drawing/2014/main" id="{9C38E0D6-CFC0-416F-AD68-103BC13BBFE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25">
            <a:extLst>
              <a:ext uri="{FF2B5EF4-FFF2-40B4-BE49-F238E27FC236}">
                <a16:creationId xmlns:a16="http://schemas.microsoft.com/office/drawing/2014/main" id="{07402463-E85F-440E-9748-65AF421C562D}"/>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26">
            <a:hlinkClick r:id="rId6" action="ppaction://hlinksldjump"/>
            <a:extLst>
              <a:ext uri="{FF2B5EF4-FFF2-40B4-BE49-F238E27FC236}">
                <a16:creationId xmlns:a16="http://schemas.microsoft.com/office/drawing/2014/main" id="{21183162-5348-48C9-92AD-37F58DF81AD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27">
            <a:hlinkClick r:id="rId3" action="ppaction://hlinksldjump"/>
            <a:extLst>
              <a:ext uri="{FF2B5EF4-FFF2-40B4-BE49-F238E27FC236}">
                <a16:creationId xmlns:a16="http://schemas.microsoft.com/office/drawing/2014/main" id="{DF8228AF-C6A1-4F68-8A99-F9A5F6874809}"/>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28">
            <a:hlinkClick r:id="rId3" action="ppaction://hlinksldjump"/>
            <a:extLst>
              <a:ext uri="{FF2B5EF4-FFF2-40B4-BE49-F238E27FC236}">
                <a16:creationId xmlns:a16="http://schemas.microsoft.com/office/drawing/2014/main" id="{B3C35D67-D674-4855-8C24-6BC4F055960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name="Slide838840363">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4A417E38-28C5-4BB1-8698-98D05C7A6AE6}"/>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072135B1-3911-400B-87C7-C3EFA27A48A5}"/>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4C7F9DF4-906C-4131-A024-D0E53BEAE0BE}"/>
              </a:ext>
            </a:extLst>
          </p:cNvPr>
          <p:cNvGraphicFramePr>
            <a:graphicFrameLocks noGrp="1"/>
          </p:cNvGraphicFramePr>
          <p:nvPr/>
        </p:nvGraphicFramePr>
        <p:xfrm>
          <a:off x="475268" y="163823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048537978"/>
                    </a:ext>
                  </a:extLst>
                </a:gridCol>
              </a:tblGrid>
              <a:tr h="220434">
                <a:tc>
                  <a:txBody>
                    <a:bodyPr/>
                    <a:lstStyle/>
                    <a:p>
                      <a:pPr lvl="0" algn="ctr"/>
                      <a:r>
                        <a:rPr lang="en-GB" sz="1200"/>
                        <a:t>TTM14.2 (CDS 3.2.1)</a:t>
                      </a:r>
                    </a:p>
                  </a:txBody>
                  <a:tcPr>
                    <a:solidFill>
                      <a:srgbClr val="A6A6A6"/>
                    </a:solidFill>
                  </a:tcPr>
                </a:tc>
                <a:extLst>
                  <a:ext uri="{0D108BD9-81ED-4DB2-BD59-A6C34878D82A}">
                    <a16:rowId xmlns:a16="http://schemas.microsoft.com/office/drawing/2014/main" val="225970140"/>
                  </a:ext>
                </a:extLst>
              </a:tr>
              <a:tr h="261975">
                <a:tc>
                  <a:txBody>
                    <a:bodyPr/>
                    <a:lstStyle/>
                    <a:p>
                      <a:pPr lvl="0" algn="ctr"/>
                      <a:r>
                        <a:rPr lang="en-GB" sz="1200" b="1" dirty="0">
                          <a:solidFill>
                            <a:srgbClr val="000000"/>
                          </a:solidFill>
                        </a:rPr>
                        <a:t>TT: </a:t>
                      </a:r>
                      <a:r>
                        <a:rPr lang="en-GB" sz="1200" b="0" dirty="0">
                          <a:solidFill>
                            <a:srgbClr val="000000"/>
                          </a:solidFill>
                        </a:rPr>
                        <a:t>28/04/2021   </a:t>
                      </a:r>
                      <a:r>
                        <a:rPr lang="en-GB" sz="1200" b="1" dirty="0">
                          <a:solidFill>
                            <a:srgbClr val="000000"/>
                          </a:solidFill>
                        </a:rPr>
                        <a:t>TDR: </a:t>
                      </a:r>
                      <a:r>
                        <a:rPr lang="en-GB" sz="1200" b="0" dirty="0">
                          <a:solidFill>
                            <a:srgbClr val="000000"/>
                          </a:solidFill>
                        </a:rPr>
                        <a:t>11/05/2021   </a:t>
                      </a:r>
                      <a:r>
                        <a:rPr lang="en-GB" sz="1200" b="1" dirty="0">
                          <a:solidFill>
                            <a:srgbClr val="000000"/>
                          </a:solidFill>
                        </a:rPr>
                        <a:t>Live: </a:t>
                      </a:r>
                      <a:r>
                        <a:rPr lang="en-GB" sz="1200" b="0" dirty="0">
                          <a:solidFill>
                            <a:srgbClr val="000000"/>
                          </a:solidFill>
                        </a:rPr>
                        <a:t>08/05/2021</a:t>
                      </a:r>
                    </a:p>
                  </a:txBody>
                  <a:tcPr>
                    <a:solidFill>
                      <a:srgbClr val="E7E6E6"/>
                    </a:solidFill>
                  </a:tcPr>
                </a:tc>
                <a:extLst>
                  <a:ext uri="{0D108BD9-81ED-4DB2-BD59-A6C34878D82A}">
                    <a16:rowId xmlns:a16="http://schemas.microsoft.com/office/drawing/2014/main" val="1206610707"/>
                  </a:ext>
                </a:extLst>
              </a:tr>
            </a:tbl>
          </a:graphicData>
        </a:graphic>
      </p:graphicFrame>
      <p:cxnSp>
        <p:nvCxnSpPr>
          <p:cNvPr id="6" name="Straight Connector 11">
            <a:extLst>
              <a:ext uri="{FF2B5EF4-FFF2-40B4-BE49-F238E27FC236}">
                <a16:creationId xmlns:a16="http://schemas.microsoft.com/office/drawing/2014/main" id="{0725979D-4215-4579-860C-4CDFDCEF002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4FAA8D64-1251-40C4-98BC-F1F0257B1D69}"/>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 name="Rectangle 103">
            <a:extLst>
              <a:ext uri="{FF2B5EF4-FFF2-40B4-BE49-F238E27FC236}">
                <a16:creationId xmlns:a16="http://schemas.microsoft.com/office/drawing/2014/main" id="{D818379C-3F3C-4B26-BAE0-B604D2E6148D}"/>
              </a:ext>
            </a:extLst>
          </p:cNvPr>
          <p:cNvSpPr/>
          <p:nvPr/>
        </p:nvSpPr>
        <p:spPr>
          <a:xfrm>
            <a:off x="430700" y="1591046"/>
            <a:ext cx="11330604" cy="1399809"/>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ECB4CB68-0E62-47DE-B87B-6140A830A572}"/>
              </a:ext>
            </a:extLst>
          </p:cNvPr>
          <p:cNvGrpSpPr/>
          <p:nvPr/>
        </p:nvGrpSpPr>
        <p:grpSpPr>
          <a:xfrm>
            <a:off x="898242" y="1146584"/>
            <a:ext cx="2801739" cy="276999"/>
            <a:chOff x="898242" y="1146584"/>
            <a:chExt cx="2801739" cy="276999"/>
          </a:xfrm>
        </p:grpSpPr>
        <p:sp>
          <p:nvSpPr>
            <p:cNvPr id="10" name="TextBox 7">
              <a:extLst>
                <a:ext uri="{FF2B5EF4-FFF2-40B4-BE49-F238E27FC236}">
                  <a16:creationId xmlns:a16="http://schemas.microsoft.com/office/drawing/2014/main" id="{B830A911-9EF5-4918-8AE7-B3F2B9052515}"/>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DA968DFE-DB2B-4539-B20B-74E116A7FE0A}"/>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FF88A877-B7D5-4972-83B7-360C12902E20}"/>
              </a:ext>
            </a:extLst>
          </p:cNvPr>
          <p:cNvGraphicFramePr>
            <a:graphicFrameLocks noGrp="1"/>
          </p:cNvGraphicFramePr>
          <p:nvPr/>
        </p:nvGraphicFramePr>
        <p:xfrm>
          <a:off x="475268" y="2209217"/>
          <a:ext cx="11188652" cy="640080"/>
        </p:xfrm>
        <a:graphic>
          <a:graphicData uri="http://schemas.openxmlformats.org/drawingml/2006/table">
            <a:tbl>
              <a:tblPr firstRow="1" bandRow="1">
                <a:effectLst/>
                <a:tableStyleId>{5C22544A-7EE6-4342-B048-85BDC9FD1C3A}</a:tableStyleId>
              </a:tblPr>
              <a:tblGrid>
                <a:gridCol w="811886">
                  <a:extLst>
                    <a:ext uri="{9D8B030D-6E8A-4147-A177-3AD203B41FA5}">
                      <a16:colId xmlns:a16="http://schemas.microsoft.com/office/drawing/2014/main" val="3609622098"/>
                    </a:ext>
                  </a:extLst>
                </a:gridCol>
                <a:gridCol w="2389446">
                  <a:extLst>
                    <a:ext uri="{9D8B030D-6E8A-4147-A177-3AD203B41FA5}">
                      <a16:colId xmlns:a16="http://schemas.microsoft.com/office/drawing/2014/main" val="3537042631"/>
                    </a:ext>
                  </a:extLst>
                </a:gridCol>
                <a:gridCol w="2662440">
                  <a:extLst>
                    <a:ext uri="{9D8B030D-6E8A-4147-A177-3AD203B41FA5}">
                      <a16:colId xmlns:a16="http://schemas.microsoft.com/office/drawing/2014/main" val="475244852"/>
                    </a:ext>
                  </a:extLst>
                </a:gridCol>
                <a:gridCol w="2662440">
                  <a:extLst>
                    <a:ext uri="{9D8B030D-6E8A-4147-A177-3AD203B41FA5}">
                      <a16:colId xmlns:a16="http://schemas.microsoft.com/office/drawing/2014/main" val="796099969"/>
                    </a:ext>
                  </a:extLst>
                </a:gridCol>
                <a:gridCol w="2662440">
                  <a:extLst>
                    <a:ext uri="{9D8B030D-6E8A-4147-A177-3AD203B41FA5}">
                      <a16:colId xmlns:a16="http://schemas.microsoft.com/office/drawing/2014/main" val="4086260146"/>
                    </a:ext>
                  </a:extLst>
                </a:gridCol>
              </a:tblGrid>
              <a:tr h="0">
                <a:tc>
                  <a:txBody>
                    <a:bodyPr/>
                    <a:lstStyle/>
                    <a:p>
                      <a:pPr lvl="0"/>
                      <a:r>
                        <a:rPr lang="en-GB" sz="1100"/>
                        <a:t>CCP </a:t>
                      </a:r>
                    </a:p>
                    <a:p>
                      <a:pPr lvl="0"/>
                      <a:endParaRPr lang="en-GB" sz="1100"/>
                    </a:p>
                    <a:p>
                      <a:pPr lvl="0"/>
                      <a:endParaRPr lang="en-GB" sz="1100"/>
                    </a:p>
                  </a:txBody>
                  <a:tcPr>
                    <a:lnR w="12701" cap="flat" cmpd="sng" algn="ctr">
                      <a:solidFill>
                        <a:srgbClr val="FFFFFF"/>
                      </a:solidFill>
                      <a:prstDash val="solid"/>
                      <a:round/>
                      <a:headEnd type="none" w="med" len="med"/>
                      <a:tailEnd type="none" w="med" len="med"/>
                    </a:lnR>
                    <a:solidFill>
                      <a:srgbClr val="FFC000"/>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Prevent Auto-disassociation of a DUCR/MUCR from a rejected MUCR</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hlinkClick r:id="rId4" action="ppaction://hlinksldjump"/>
                        </a:rPr>
                        <a:t>Declaration Submission of Final Supplementary Declarations </a:t>
                      </a: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dirty="0">
                          <a:solidFill>
                            <a:srgbClr val="000000"/>
                          </a:solidFill>
                          <a:hlinkClick r:id="rId5" action="ppaction://hlinksldjump"/>
                        </a:rPr>
                        <a:t>Receiving a Query on a Control Task (External Test Controls Emulator)</a:t>
                      </a: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dirty="0">
                          <a:solidFill>
                            <a:srgbClr val="000000"/>
                          </a:solidFill>
                          <a:hlinkClick r:id="rId6" action="ppaction://hlinksldjump"/>
                        </a:rPr>
                        <a:t>CDS Tariff Volume 3 Rules Rework Package</a:t>
                      </a: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931237905"/>
                  </a:ext>
                </a:extLst>
              </a:tr>
            </a:tbl>
          </a:graphicData>
        </a:graphic>
      </p:graphicFrame>
      <p:grpSp>
        <p:nvGrpSpPr>
          <p:cNvPr id="13" name="Group 4">
            <a:extLst>
              <a:ext uri="{FF2B5EF4-FFF2-40B4-BE49-F238E27FC236}">
                <a16:creationId xmlns:a16="http://schemas.microsoft.com/office/drawing/2014/main" id="{2A27AD7F-0036-4800-AFA8-19BE748D4EDB}"/>
              </a:ext>
            </a:extLst>
          </p:cNvPr>
          <p:cNvGrpSpPr/>
          <p:nvPr/>
        </p:nvGrpSpPr>
        <p:grpSpPr>
          <a:xfrm>
            <a:off x="2663583" y="1154850"/>
            <a:ext cx="3199302" cy="276999"/>
            <a:chOff x="2663583" y="1154850"/>
            <a:chExt cx="3199302" cy="276999"/>
          </a:xfrm>
        </p:grpSpPr>
        <p:sp>
          <p:nvSpPr>
            <p:cNvPr id="14" name="TextBox 7">
              <a:extLst>
                <a:ext uri="{FF2B5EF4-FFF2-40B4-BE49-F238E27FC236}">
                  <a16:creationId xmlns:a16="http://schemas.microsoft.com/office/drawing/2014/main" id="{CD99ABC7-A5EC-44F4-AA98-1E8B5E236B35}"/>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4243F296-7072-430D-B131-9420A5664B8E}"/>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C65ECF9B-EA23-4672-8C0E-AAC5BF7ACE35}"/>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7" name="TextBox 13">
            <a:extLst>
              <a:ext uri="{FF2B5EF4-FFF2-40B4-BE49-F238E27FC236}">
                <a16:creationId xmlns:a16="http://schemas.microsoft.com/office/drawing/2014/main" id="{CB711F6F-5507-4159-8A7A-64B54BF2BBB6}"/>
              </a:ext>
            </a:extLst>
          </p:cNvPr>
          <p:cNvSpPr txBox="1"/>
          <p:nvPr/>
        </p:nvSpPr>
        <p:spPr>
          <a:xfrm>
            <a:off x="430700" y="1932218"/>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8" name="Group 7">
            <a:extLst>
              <a:ext uri="{FF2B5EF4-FFF2-40B4-BE49-F238E27FC236}">
                <a16:creationId xmlns:a16="http://schemas.microsoft.com/office/drawing/2014/main" id="{CC58C375-AD04-4028-A9EA-D567F0D317A4}"/>
              </a:ext>
            </a:extLst>
          </p:cNvPr>
          <p:cNvGrpSpPr/>
          <p:nvPr/>
        </p:nvGrpSpPr>
        <p:grpSpPr>
          <a:xfrm>
            <a:off x="5888461" y="1154320"/>
            <a:ext cx="4848834" cy="276999"/>
            <a:chOff x="5888461" y="1154320"/>
            <a:chExt cx="4848834" cy="276999"/>
          </a:xfrm>
        </p:grpSpPr>
        <p:sp>
          <p:nvSpPr>
            <p:cNvPr id="19" name="TextBox 7">
              <a:extLst>
                <a:ext uri="{FF2B5EF4-FFF2-40B4-BE49-F238E27FC236}">
                  <a16:creationId xmlns:a16="http://schemas.microsoft.com/office/drawing/2014/main" id="{61231E42-51E5-493F-ABA1-5F2095AF75A0}"/>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20" name="Oval 16">
              <a:extLst>
                <a:ext uri="{FF2B5EF4-FFF2-40B4-BE49-F238E27FC236}">
                  <a16:creationId xmlns:a16="http://schemas.microsoft.com/office/drawing/2014/main" id="{902D04B1-55EF-45D9-B5AB-0B24368041BD}"/>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Oval 16">
            <a:extLst>
              <a:ext uri="{FF2B5EF4-FFF2-40B4-BE49-F238E27FC236}">
                <a16:creationId xmlns:a16="http://schemas.microsoft.com/office/drawing/2014/main" id="{B13E85A8-AAE1-4AD4-9B26-D3FF74BCD549}"/>
              </a:ext>
            </a:extLst>
          </p:cNvPr>
          <p:cNvSpPr/>
          <p:nvPr/>
        </p:nvSpPr>
        <p:spPr>
          <a:xfrm>
            <a:off x="1317814" y="22686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Oval 16">
            <a:extLst>
              <a:ext uri="{FF2B5EF4-FFF2-40B4-BE49-F238E27FC236}">
                <a16:creationId xmlns:a16="http://schemas.microsoft.com/office/drawing/2014/main" id="{0E6BE7C2-A5A4-475A-AD8C-02D15CFEAFF9}"/>
              </a:ext>
            </a:extLst>
          </p:cNvPr>
          <p:cNvSpPr/>
          <p:nvPr/>
        </p:nvSpPr>
        <p:spPr>
          <a:xfrm>
            <a:off x="9097438" y="22686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Oval 16">
            <a:extLst>
              <a:ext uri="{FF2B5EF4-FFF2-40B4-BE49-F238E27FC236}">
                <a16:creationId xmlns:a16="http://schemas.microsoft.com/office/drawing/2014/main" id="{C0DB69C8-8CC9-4FD0-B656-F3799B4DBDC0}"/>
              </a:ext>
            </a:extLst>
          </p:cNvPr>
          <p:cNvSpPr/>
          <p:nvPr/>
        </p:nvSpPr>
        <p:spPr>
          <a:xfrm>
            <a:off x="3723948" y="227045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16">
            <a:extLst>
              <a:ext uri="{FF2B5EF4-FFF2-40B4-BE49-F238E27FC236}">
                <a16:creationId xmlns:a16="http://schemas.microsoft.com/office/drawing/2014/main" id="{21FCDFF7-7270-4E84-9297-102ECD4688E5}"/>
              </a:ext>
            </a:extLst>
          </p:cNvPr>
          <p:cNvSpPr/>
          <p:nvPr/>
        </p:nvSpPr>
        <p:spPr>
          <a:xfrm>
            <a:off x="6410693" y="22686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36">
            <a:hlinkClick r:id="rId7" action="ppaction://hlinksldjump"/>
            <a:extLst>
              <a:ext uri="{FF2B5EF4-FFF2-40B4-BE49-F238E27FC236}">
                <a16:creationId xmlns:a16="http://schemas.microsoft.com/office/drawing/2014/main" id="{6EBFDAAD-B092-403C-87FC-55EC06F51B1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38">
            <a:hlinkClick r:id="rId7" action="ppaction://hlinksldjump"/>
            <a:extLst>
              <a:ext uri="{FF2B5EF4-FFF2-40B4-BE49-F238E27FC236}">
                <a16:creationId xmlns:a16="http://schemas.microsoft.com/office/drawing/2014/main" id="{7884950A-E716-431A-8569-1547E898279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39">
            <a:hlinkClick r:id="rId8" action="ppaction://hlinksldjump"/>
            <a:extLst>
              <a:ext uri="{FF2B5EF4-FFF2-40B4-BE49-F238E27FC236}">
                <a16:creationId xmlns:a16="http://schemas.microsoft.com/office/drawing/2014/main" id="{CB138834-313C-4248-958D-4B7E356FAB8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40">
            <a:hlinkClick r:id="rId9" action="ppaction://hlinksldjump"/>
            <a:extLst>
              <a:ext uri="{FF2B5EF4-FFF2-40B4-BE49-F238E27FC236}">
                <a16:creationId xmlns:a16="http://schemas.microsoft.com/office/drawing/2014/main" id="{52D22165-5B7F-444E-B170-F08C068080D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TextBox 41">
            <a:hlinkClick r:id="rId7" action="ppaction://hlinksldjump"/>
            <a:extLst>
              <a:ext uri="{FF2B5EF4-FFF2-40B4-BE49-F238E27FC236}">
                <a16:creationId xmlns:a16="http://schemas.microsoft.com/office/drawing/2014/main" id="{328C73F8-40BD-4583-80F1-6F4B53987D7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30" name="TextBox 42">
            <a:hlinkClick r:id="rId7" action="ppaction://hlinksldjump"/>
            <a:extLst>
              <a:ext uri="{FF2B5EF4-FFF2-40B4-BE49-F238E27FC236}">
                <a16:creationId xmlns:a16="http://schemas.microsoft.com/office/drawing/2014/main" id="{9A148139-CA80-4757-B40E-8987DABBA89E}"/>
              </a:ext>
            </a:extLst>
          </p:cNvPr>
          <p:cNvSpPr txBox="1"/>
          <p:nvPr/>
        </p:nvSpPr>
        <p:spPr>
          <a:xfrm>
            <a:off x="10661172" y="211290"/>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B2B2B2"/>
                </a:solidFill>
                <a:uFillTx/>
                <a:latin typeface="Calibri"/>
              </a:rPr>
              <a:t>2</a:t>
            </a:r>
          </a:p>
        </p:txBody>
      </p:sp>
      <p:sp>
        <p:nvSpPr>
          <p:cNvPr id="31" name="TextBox 43">
            <a:hlinkClick r:id="rId8" action="ppaction://hlinksldjump"/>
            <a:extLst>
              <a:ext uri="{FF2B5EF4-FFF2-40B4-BE49-F238E27FC236}">
                <a16:creationId xmlns:a16="http://schemas.microsoft.com/office/drawing/2014/main" id="{6D0CC7F0-A50B-43D0-A344-CF6E9A2C7D2B}"/>
              </a:ext>
            </a:extLst>
          </p:cNvPr>
          <p:cNvSpPr txBox="1"/>
          <p:nvPr/>
        </p:nvSpPr>
        <p:spPr>
          <a:xfrm>
            <a:off x="10968502" y="196102"/>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32" name="TextBox 44">
            <a:hlinkClick r:id="rId8" action="ppaction://hlinksldjump"/>
            <a:extLst>
              <a:ext uri="{FF2B5EF4-FFF2-40B4-BE49-F238E27FC236}">
                <a16:creationId xmlns:a16="http://schemas.microsoft.com/office/drawing/2014/main" id="{19FD7B72-8AD4-4857-9049-57EBDAED5CF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3" name="Oval 46">
            <a:extLst>
              <a:ext uri="{FF2B5EF4-FFF2-40B4-BE49-F238E27FC236}">
                <a16:creationId xmlns:a16="http://schemas.microsoft.com/office/drawing/2014/main" id="{FCA7A653-893B-4A1E-B791-2A52474E77B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4" name="TextBox 47">
            <a:hlinkClick r:id="rId10" action="ppaction://hlinksldjump"/>
            <a:extLst>
              <a:ext uri="{FF2B5EF4-FFF2-40B4-BE49-F238E27FC236}">
                <a16:creationId xmlns:a16="http://schemas.microsoft.com/office/drawing/2014/main" id="{0CDFA7AA-79BC-4638-A03A-6EB955A89A1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5" name="Picture 48">
            <a:hlinkClick r:id="rId7" action="ppaction://hlinksldjump"/>
            <a:extLst>
              <a:ext uri="{FF2B5EF4-FFF2-40B4-BE49-F238E27FC236}">
                <a16:creationId xmlns:a16="http://schemas.microsoft.com/office/drawing/2014/main" id="{8FA807E4-E768-429E-B997-0C8164ED58ED}"/>
              </a:ext>
            </a:extLst>
          </p:cNvPr>
          <p:cNvPicPr>
            <a:picLocks noChangeAspect="1"/>
          </p:cNvPicPr>
          <p:nvPr/>
        </p:nvPicPr>
        <p:blipFill>
          <a:blip r:embed="rId11">
            <a:alphaModFix amt="35000"/>
          </a:blip>
          <a:srcRect l="20606" t="21077" r="21527" b="31021"/>
          <a:stretch>
            <a:fillRect/>
          </a:stretch>
        </p:blipFill>
        <p:spPr>
          <a:xfrm>
            <a:off x="10028188" y="272070"/>
            <a:ext cx="256918" cy="210595"/>
          </a:xfrm>
          <a:prstGeom prst="rect">
            <a:avLst/>
          </a:prstGeom>
          <a:noFill/>
          <a:ln cap="flat">
            <a:noFill/>
          </a:ln>
        </p:spPr>
      </p:pic>
      <p:sp>
        <p:nvSpPr>
          <p:cNvPr id="36" name="Oval 49">
            <a:hlinkClick r:id="rId7" action="ppaction://hlinksldjump"/>
            <a:extLst>
              <a:ext uri="{FF2B5EF4-FFF2-40B4-BE49-F238E27FC236}">
                <a16:creationId xmlns:a16="http://schemas.microsoft.com/office/drawing/2014/main" id="{707BCD67-7866-4588-8ABF-118E468DBDB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7" name="Footer Placeholder 1">
            <a:extLst>
              <a:ext uri="{FF2B5EF4-FFF2-40B4-BE49-F238E27FC236}">
                <a16:creationId xmlns:a16="http://schemas.microsoft.com/office/drawing/2014/main" id="{40C7B84F-65E9-4E9F-B99F-8849E21C73A0}"/>
              </a:ext>
            </a:extLst>
          </p:cNvPr>
          <p:cNvSpPr txBox="1"/>
          <p:nvPr/>
        </p:nvSpPr>
        <p:spPr>
          <a:xfrm>
            <a:off x="3319029" y="6501394"/>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3B3A3D"/>
                </a:solidFill>
                <a:uFillTx/>
                <a:latin typeface="Calibri"/>
                <a:ea typeface="Geneva"/>
                <a:cs typeface="Arial"/>
              </a:rPr>
              <a:t>  </a:t>
            </a:r>
            <a:r>
              <a:rPr lang="en-GB" sz="1200" b="0" i="0" u="none" strike="noStrike" kern="1200" cap="none" spc="0" baseline="0" dirty="0">
                <a:uFillTx/>
                <a:latin typeface="Calibri"/>
                <a:ea typeface="Geneva"/>
                <a:cs typeface="Arial"/>
              </a:rPr>
              <a:t>373</a:t>
            </a:r>
            <a:endParaRPr lang="en-GB" sz="1200" b="1" i="0" u="none" strike="noStrike" kern="1200" cap="none" spc="0" baseline="0" dirty="0">
              <a:uFillTx/>
              <a:latin typeface="Calibri"/>
              <a:ea typeface="Geneva"/>
              <a:cs typeface="Arial"/>
            </a:endParaRPr>
          </a:p>
        </p:txBody>
      </p:sp>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name="Slide4522">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AD72A338-15B0-4C6A-A0F4-CFD8C4A75931}"/>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6D6F7D0-E021-4B71-81FC-CAF768A6C1A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8543F3C-6B71-4891-B428-271AFB7803C3}"/>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278CF6FA-8346-453D-AFE1-84A086DC870D}"/>
              </a:ext>
            </a:extLst>
          </p:cNvPr>
          <p:cNvSpPr txBox="1"/>
          <p:nvPr/>
        </p:nvSpPr>
        <p:spPr>
          <a:xfrm>
            <a:off x="11682354" y="635111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2057D66-C53C-4484-83C5-22F350193154}" type="slidenum">
              <a:rPr sz="1200"/>
              <a:t>409</a:t>
            </a:fld>
            <a:endParaRPr lang="en-GB" sz="1200" b="0" i="0" u="none" strike="noStrike" kern="1200" cap="none" spc="0" baseline="0">
              <a:uFillTx/>
              <a:latin typeface="Calibri"/>
            </a:endParaRPr>
          </a:p>
        </p:txBody>
      </p:sp>
      <p:sp>
        <p:nvSpPr>
          <p:cNvPr id="7" name="Rectangle 4">
            <a:extLst>
              <a:ext uri="{FF2B5EF4-FFF2-40B4-BE49-F238E27FC236}">
                <a16:creationId xmlns:a16="http://schemas.microsoft.com/office/drawing/2014/main" id="{09802B84-D315-4B0E-8F3B-6D72ED8D0E41}"/>
              </a:ext>
            </a:extLst>
          </p:cNvPr>
          <p:cNvSpPr/>
          <p:nvPr/>
        </p:nvSpPr>
        <p:spPr>
          <a:xfrm>
            <a:off x="325937" y="716295"/>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8" name="Rectangle 31">
            <a:extLst>
              <a:ext uri="{FF2B5EF4-FFF2-40B4-BE49-F238E27FC236}">
                <a16:creationId xmlns:a16="http://schemas.microsoft.com/office/drawing/2014/main" id="{739537E3-5644-4E92-8935-21CAF08EDEA0}"/>
              </a:ext>
            </a:extLst>
          </p:cNvPr>
          <p:cNvSpPr/>
          <p:nvPr/>
        </p:nvSpPr>
        <p:spPr>
          <a:xfrm>
            <a:off x="315468" y="1060630"/>
            <a:ext cx="801187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Exports Declarations: Prevent Auto-disassociation of a rejected DUCR from its immediate parent MUCR</a:t>
            </a:r>
            <a:endParaRPr lang="en-GB" sz="1400" b="1" i="0" u="none" strike="noStrike" kern="1200" cap="none" spc="0" baseline="0">
              <a:solidFill>
                <a:srgbClr val="FF0000"/>
              </a:solidFill>
              <a:highlight>
                <a:srgbClr val="FFFF00"/>
              </a:highlight>
              <a:uFillTx/>
              <a:latin typeface="Calibri"/>
            </a:endParaRPr>
          </a:p>
        </p:txBody>
      </p:sp>
      <p:sp>
        <p:nvSpPr>
          <p:cNvPr id="9" name="TextBox 42">
            <a:extLst>
              <a:ext uri="{FF2B5EF4-FFF2-40B4-BE49-F238E27FC236}">
                <a16:creationId xmlns:a16="http://schemas.microsoft.com/office/drawing/2014/main" id="{B08C3F87-85E2-4654-8122-C9259E72588D}"/>
              </a:ext>
            </a:extLst>
          </p:cNvPr>
          <p:cNvSpPr txBox="1"/>
          <p:nvPr/>
        </p:nvSpPr>
        <p:spPr>
          <a:xfrm>
            <a:off x="315468" y="1313032"/>
            <a:ext cx="11464061" cy="46166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Previously, CDS would auto-disassociate a rejected DUCR from its immediate parent MUCR, however it was flagged by externals that this is not desirable behaviour. This is due to the risk that CSPs may receive no notification of the auto-disassociation and therefore not be aware that goods need to be physically removed from the consignment prior to export.</a:t>
            </a:r>
          </a:p>
        </p:txBody>
      </p:sp>
      <p:sp>
        <p:nvSpPr>
          <p:cNvPr id="10" name="Oval 43">
            <a:extLst>
              <a:ext uri="{FF2B5EF4-FFF2-40B4-BE49-F238E27FC236}">
                <a16:creationId xmlns:a16="http://schemas.microsoft.com/office/drawing/2014/main" id="{AE82E491-1F26-4111-8814-64119C1876D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4">
            <a:extLst>
              <a:ext uri="{FF2B5EF4-FFF2-40B4-BE49-F238E27FC236}">
                <a16:creationId xmlns:a16="http://schemas.microsoft.com/office/drawing/2014/main" id="{A940A788-55E4-4E2E-A070-53A696F5948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5">
            <a:extLst>
              <a:ext uri="{FF2B5EF4-FFF2-40B4-BE49-F238E27FC236}">
                <a16:creationId xmlns:a16="http://schemas.microsoft.com/office/drawing/2014/main" id="{6EA44536-DEB8-4CD2-BDF1-12E1B7C70EE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6">
            <a:extLst>
              <a:ext uri="{FF2B5EF4-FFF2-40B4-BE49-F238E27FC236}">
                <a16:creationId xmlns:a16="http://schemas.microsoft.com/office/drawing/2014/main" id="{A52CBE1C-89C1-4D12-973B-98832AD60899}"/>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8">
            <a:extLst>
              <a:ext uri="{FF2B5EF4-FFF2-40B4-BE49-F238E27FC236}">
                <a16:creationId xmlns:a16="http://schemas.microsoft.com/office/drawing/2014/main" id="{A0814DC9-110A-413D-8F2C-5614C0CF407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9">
            <a:extLst>
              <a:ext uri="{FF2B5EF4-FFF2-40B4-BE49-F238E27FC236}">
                <a16:creationId xmlns:a16="http://schemas.microsoft.com/office/drawing/2014/main" id="{B6DEFBE0-67C4-400A-889A-6C0D1D81DB98}"/>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51">
            <a:extLst>
              <a:ext uri="{FF2B5EF4-FFF2-40B4-BE49-F238E27FC236}">
                <a16:creationId xmlns:a16="http://schemas.microsoft.com/office/drawing/2014/main" id="{141AD2E4-E6F9-4B92-97C1-EB9298EC3EA1}"/>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52">
            <a:extLst>
              <a:ext uri="{FF2B5EF4-FFF2-40B4-BE49-F238E27FC236}">
                <a16:creationId xmlns:a16="http://schemas.microsoft.com/office/drawing/2014/main" id="{693E9F94-201A-43DD-8F82-C013AC5BA5BE}"/>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53">
            <a:extLst>
              <a:ext uri="{FF2B5EF4-FFF2-40B4-BE49-F238E27FC236}">
                <a16:creationId xmlns:a16="http://schemas.microsoft.com/office/drawing/2014/main" id="{7DEB2E90-14BD-4D0B-A429-1AA8F512D35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54">
            <a:extLst>
              <a:ext uri="{FF2B5EF4-FFF2-40B4-BE49-F238E27FC236}">
                <a16:creationId xmlns:a16="http://schemas.microsoft.com/office/drawing/2014/main" id="{C7847B4E-9258-4A24-A932-2E09D19C03A7}"/>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extLst>
              <a:ext uri="{FF2B5EF4-FFF2-40B4-BE49-F238E27FC236}">
                <a16:creationId xmlns:a16="http://schemas.microsoft.com/office/drawing/2014/main" id="{C2091776-99A3-46F8-8F48-32023318AE61}"/>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56">
            <a:extLst>
              <a:ext uri="{FF2B5EF4-FFF2-40B4-BE49-F238E27FC236}">
                <a16:creationId xmlns:a16="http://schemas.microsoft.com/office/drawing/2014/main" id="{E7331279-2209-4E2F-AC04-EFDECB33CE22}"/>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Rectangle 1">
            <a:extLst>
              <a:ext uri="{FF2B5EF4-FFF2-40B4-BE49-F238E27FC236}">
                <a16:creationId xmlns:a16="http://schemas.microsoft.com/office/drawing/2014/main" id="{D18B99E7-D2E5-4956-A84C-123A199501B5}"/>
              </a:ext>
            </a:extLst>
          </p:cNvPr>
          <p:cNvSpPr/>
          <p:nvPr/>
        </p:nvSpPr>
        <p:spPr>
          <a:xfrm>
            <a:off x="363967" y="1852931"/>
            <a:ext cx="11402055" cy="3416317"/>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TTM14.2, CDS will ensure that </a:t>
            </a:r>
            <a:r>
              <a:rPr lang="en-GB" sz="1200" b="1" i="0" u="none" strike="noStrike" kern="1200" cap="none" spc="0" baseline="0">
                <a:solidFill>
                  <a:srgbClr val="000000"/>
                </a:solidFill>
                <a:uFillTx/>
                <a:latin typeface="Calibri"/>
              </a:rPr>
              <a:t>only DUCRs with a Status of Entry (SOE) of 4 or 6 will be auto-disassociated </a:t>
            </a:r>
            <a:r>
              <a:rPr lang="en-GB" sz="1200" b="0" i="0" u="none" strike="noStrike" kern="1200" cap="none" spc="0" baseline="0">
                <a:solidFill>
                  <a:srgbClr val="000000"/>
                </a:solidFill>
                <a:uFillTx/>
                <a:latin typeface="Calibri"/>
              </a:rPr>
              <a:t>and an EMR for the MUCR and an ERS for the DUCR will be sent to the last EAA/EAL requester. This is in order to ensure CSPs/Loaders/Consolidators are aware of instances which require the need to physically remove goods from a consignment prior to export. </a:t>
            </a:r>
            <a:r>
              <a:rPr lang="en-GB" sz="1200" b="1" i="0" u="none" strike="noStrike" kern="1200" cap="none" spc="0" baseline="0">
                <a:solidFill>
                  <a:srgbClr val="000000"/>
                </a:solidFill>
                <a:uFillTx/>
                <a:latin typeface="Calibri"/>
              </a:rPr>
              <a:t>DUCRs with a Status of Entry (SOE) of 5 or 11 will not be auto-disassociated </a:t>
            </a:r>
            <a:r>
              <a:rPr lang="en-GB" sz="1200" b="0" i="0" u="none" strike="noStrike" kern="1200" cap="none" spc="0" baseline="0">
                <a:solidFill>
                  <a:srgbClr val="000000"/>
                </a:solidFill>
                <a:uFillTx/>
                <a:latin typeface="Calibri"/>
              </a:rPr>
              <a:t>and an EMR will be sent to the last EAA/EAL requestor.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this functionality:</a:t>
            </a:r>
            <a:endParaRPr lang="en-GB" sz="9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 DUCR has an SOE of ‘5’ or ’11’, the DUCR will not be auto-disassociated from a MUCR. An EMR will be sent to the last EAA/EAL requester. The consolidator/HMRC will be able to disassociate the DUCR through the EAC disassociate transaction.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 DUCR has an SOE of ‘4’ or ‘6’ then the declaration will be auto-disassociated from its (immediate) parent MUCR. An EMR will be sent for the MUCR and an ERS for the DUCR will be sent to the last EAA/EAL requestor for the UCR.</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 MUCR contains at least one DUCR with an SOE of '5', '6' or '11’, then no further movement messages for the MUCR will be accepted until the declaration(s) has been disassociated or re-presented (SOE ‘5’ or ‘11’), a negative response will be sent to the requester.</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 DUCR has an SOE of '4', '5', '6' or ‘11’, then mean no further movement messages for the DUCR will be accepted unless the declaration(s) has been re-presented. If attempted a negative response (UKCTRL) will be sent to the requester.</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not allow the loader/CSP/consolidator to associate a DUCR, or a MUCR that contains a DUCR, with an SOE of '4', '5' or '11' to a MUCR. If attempted, a negative response (UKCTRL) will be sent to the requester.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not allow the loader/CSP/consolidator to associate an UCR into a MUCR which contains and SOE of ‘4’, ‘5’ or 11. If attempted, a negative response (UKCTRL) will be sent to the requester.</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DUCR with an SOE of '6', or an SOE of '4' alongside an ICS of '6’, can be associated with a new empty MUCR.</a:t>
            </a:r>
          </a:p>
        </p:txBody>
      </p:sp>
      <p:graphicFrame>
        <p:nvGraphicFramePr>
          <p:cNvPr id="23" name="Table 3">
            <a:extLst>
              <a:ext uri="{FF2B5EF4-FFF2-40B4-BE49-F238E27FC236}">
                <a16:creationId xmlns:a16="http://schemas.microsoft.com/office/drawing/2014/main" id="{A2E26F6A-E426-4B99-B9A4-84DBEC6CFD02}"/>
              </a:ext>
            </a:extLst>
          </p:cNvPr>
          <p:cNvGraphicFramePr>
            <a:graphicFrameLocks noGrp="1"/>
          </p:cNvGraphicFramePr>
          <p:nvPr/>
        </p:nvGraphicFramePr>
        <p:xfrm>
          <a:off x="8958047" y="4813630"/>
          <a:ext cx="2788920" cy="981120"/>
        </p:xfrm>
        <a:graphic>
          <a:graphicData uri="http://schemas.openxmlformats.org/drawingml/2006/table">
            <a:tbl>
              <a:tblPr>
                <a:effectLst/>
              </a:tblPr>
              <a:tblGrid>
                <a:gridCol w="512064">
                  <a:extLst>
                    <a:ext uri="{9D8B030D-6E8A-4147-A177-3AD203B41FA5}">
                      <a16:colId xmlns:a16="http://schemas.microsoft.com/office/drawing/2014/main" val="4146849187"/>
                    </a:ext>
                  </a:extLst>
                </a:gridCol>
                <a:gridCol w="2276856">
                  <a:extLst>
                    <a:ext uri="{9D8B030D-6E8A-4147-A177-3AD203B41FA5}">
                      <a16:colId xmlns:a16="http://schemas.microsoft.com/office/drawing/2014/main" val="3119632907"/>
                    </a:ext>
                  </a:extLst>
                </a:gridCol>
              </a:tblGrid>
              <a:tr h="146111">
                <a:tc>
                  <a:txBody>
                    <a:bodyPr/>
                    <a:lstStyle/>
                    <a:p>
                      <a:pPr lvl="0" algn="ctr"/>
                      <a:r>
                        <a:rPr lang="en-GB" sz="1100" b="1">
                          <a:latin typeface="Calibri"/>
                        </a:rPr>
                        <a:t>SOE</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tc>
                  <a:txBody>
                    <a:bodyPr/>
                    <a:lstStyle/>
                    <a:p>
                      <a:pPr lvl="0" algn="ctr"/>
                      <a:r>
                        <a:rPr lang="en-GB" sz="1100" b="1">
                          <a:latin typeface="Calibri"/>
                        </a:rPr>
                        <a:t>Description</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469873318"/>
                  </a:ext>
                </a:extLst>
              </a:tr>
              <a:tr h="146111">
                <a:tc>
                  <a:txBody>
                    <a:bodyPr/>
                    <a:lstStyle/>
                    <a:p>
                      <a:pPr lvl="0"/>
                      <a:r>
                        <a:rPr lang="en-GB" sz="1100">
                          <a:latin typeface="Calibri"/>
                        </a:rPr>
                        <a:t>4</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tc>
                  <a:txBody>
                    <a:bodyPr/>
                    <a:lstStyle/>
                    <a:p>
                      <a:pPr lvl="0"/>
                      <a:r>
                        <a:rPr lang="en-GB" sz="1100">
                          <a:latin typeface="Calibri"/>
                        </a:rPr>
                        <a:t>Declaration Invalidation</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692224308"/>
                  </a:ext>
                </a:extLst>
              </a:tr>
              <a:tr h="146111">
                <a:tc>
                  <a:txBody>
                    <a:bodyPr/>
                    <a:lstStyle/>
                    <a:p>
                      <a:pPr lvl="0"/>
                      <a:r>
                        <a:rPr lang="en-GB" sz="1100">
                          <a:latin typeface="Calibri"/>
                        </a:rPr>
                        <a:t>5</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tc>
                  <a:txBody>
                    <a:bodyPr/>
                    <a:lstStyle/>
                    <a:p>
                      <a:pPr lvl="0"/>
                      <a:r>
                        <a:rPr lang="en-GB" sz="1100">
                          <a:latin typeface="Calibri"/>
                        </a:rPr>
                        <a:t>Declaration Rejected</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4086694623"/>
                  </a:ext>
                </a:extLst>
              </a:tr>
              <a:tr h="146111">
                <a:tc>
                  <a:txBody>
                    <a:bodyPr/>
                    <a:lstStyle/>
                    <a:p>
                      <a:pPr lvl="0"/>
                      <a:r>
                        <a:rPr lang="en-GB" sz="1100">
                          <a:latin typeface="Calibri"/>
                        </a:rPr>
                        <a:t>6</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tc>
                  <a:txBody>
                    <a:bodyPr/>
                    <a:lstStyle/>
                    <a:p>
                      <a:pPr lvl="0"/>
                      <a:r>
                        <a:rPr lang="en-GB" sz="1100">
                          <a:latin typeface="Calibri"/>
                        </a:rPr>
                        <a:t>Declaration Handled Externally</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874886169"/>
                  </a:ext>
                </a:extLst>
              </a:tr>
              <a:tr h="146111">
                <a:tc>
                  <a:txBody>
                    <a:bodyPr/>
                    <a:lstStyle/>
                    <a:p>
                      <a:pPr lvl="0"/>
                      <a:r>
                        <a:rPr lang="en-GB" sz="1100">
                          <a:latin typeface="Calibri"/>
                        </a:rPr>
                        <a:t>11</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tc>
                  <a:txBody>
                    <a:bodyPr/>
                    <a:lstStyle/>
                    <a:p>
                      <a:pPr lvl="0"/>
                      <a:r>
                        <a:rPr lang="en-GB" sz="1100" dirty="0">
                          <a:latin typeface="Calibri"/>
                        </a:rPr>
                        <a:t>Declaration Rejection at Goods Arrival</a:t>
                      </a:r>
                    </a:p>
                  </a:txBody>
                  <a:tcPr marL="19046" marR="19046" marT="14292" marB="14292"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760802163"/>
                  </a:ext>
                </a:extLst>
              </a:tr>
            </a:tbl>
          </a:graphicData>
        </a:graphic>
      </p:graphicFrame>
      <p:grpSp>
        <p:nvGrpSpPr>
          <p:cNvPr id="24" name="Group 2">
            <a:extLst>
              <a:ext uri="{FF2B5EF4-FFF2-40B4-BE49-F238E27FC236}">
                <a16:creationId xmlns:a16="http://schemas.microsoft.com/office/drawing/2014/main" id="{391BB205-4989-4D15-8DAF-9F4B60556033}"/>
              </a:ext>
            </a:extLst>
          </p:cNvPr>
          <p:cNvGrpSpPr/>
          <p:nvPr/>
        </p:nvGrpSpPr>
        <p:grpSpPr>
          <a:xfrm>
            <a:off x="1531474" y="5786359"/>
            <a:ext cx="10234549" cy="617522"/>
            <a:chOff x="1531474" y="5786359"/>
            <a:chExt cx="10234549" cy="617522"/>
          </a:xfrm>
        </p:grpSpPr>
        <p:sp>
          <p:nvSpPr>
            <p:cNvPr id="25" name="Rectangle 9">
              <a:extLst>
                <a:ext uri="{FF2B5EF4-FFF2-40B4-BE49-F238E27FC236}">
                  <a16:creationId xmlns:a16="http://schemas.microsoft.com/office/drawing/2014/main" id="{B48542AE-002F-4488-BC03-50B373F4D55E}"/>
                </a:ext>
              </a:extLst>
            </p:cNvPr>
            <p:cNvSpPr/>
            <p:nvPr/>
          </p:nvSpPr>
          <p:spPr>
            <a:xfrm>
              <a:off x="1531482" y="5786359"/>
              <a:ext cx="10234540" cy="564760"/>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Rectangle 29">
              <a:extLst>
                <a:ext uri="{FF2B5EF4-FFF2-40B4-BE49-F238E27FC236}">
                  <a16:creationId xmlns:a16="http://schemas.microsoft.com/office/drawing/2014/main" id="{D9C7F35B-8636-4ED2-BB8D-08B08A767F4D}"/>
                </a:ext>
              </a:extLst>
            </p:cNvPr>
            <p:cNvSpPr/>
            <p:nvPr/>
          </p:nvSpPr>
          <p:spPr>
            <a:xfrm rot="16200004">
              <a:off x="1481690" y="5836154"/>
              <a:ext cx="564760" cy="465191"/>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600" b="1" i="0" u="none" strike="noStrike" kern="1200" cap="none" spc="0" baseline="0">
                  <a:solidFill>
                    <a:srgbClr val="FFFFFF"/>
                  </a:solidFill>
                  <a:uFillTx/>
                  <a:latin typeface="Calibri"/>
                </a:rPr>
                <a:t>RELEVANT XML SAMPLE</a:t>
              </a:r>
            </a:p>
          </p:txBody>
        </p:sp>
        <p:sp>
          <p:nvSpPr>
            <p:cNvPr id="27" name="Rectangle 33">
              <a:extLst>
                <a:ext uri="{FF2B5EF4-FFF2-40B4-BE49-F238E27FC236}">
                  <a16:creationId xmlns:a16="http://schemas.microsoft.com/office/drawing/2014/main" id="{26832DC7-4433-4B17-AE2A-573EB45B9B64}"/>
                </a:ext>
              </a:extLst>
            </p:cNvPr>
            <p:cNvSpPr/>
            <p:nvPr/>
          </p:nvSpPr>
          <p:spPr>
            <a:xfrm>
              <a:off x="1996674" y="5849883"/>
              <a:ext cx="9769349" cy="553998"/>
            </a:xfrm>
            <a:prstGeom prst="rect">
              <a:avLst/>
            </a:prstGeom>
            <a:noFill/>
            <a:ln cap="flat">
              <a:noFill/>
              <a:prstDash val="solid"/>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0"/>
                </a:spcAft>
                <a:buSzPct val="100000"/>
                <a:buFont typeface="Calibri Light"/>
                <a:buAutoNum type="arabicPeriod" startAt="3"/>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pitchFamily="34"/>
                  <a:ea typeface="Times New Roman" pitchFamily="18"/>
                </a:rPr>
                <a:t>TT_EX18a </a:t>
              </a:r>
            </a:p>
            <a:p>
              <a:pPr marL="342900" marR="0" lvl="0" indent="-342900" algn="l" defTabSz="914400" rtl="0" fontAlgn="auto" hangingPunct="1">
                <a:lnSpc>
                  <a:spcPct val="100000"/>
                </a:lnSpc>
                <a:spcBef>
                  <a:spcPts val="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pitchFamily="34"/>
                </a:rPr>
                <a:t>Two pre-lodged Exports declarations in CDS and CHIEF are consolidated to a MUCR and the CDS declaration is then cancelled and auto disassociated from the MUCR</a:t>
              </a:r>
              <a:endParaRPr lang="en-GB" sz="1000" b="1" i="0" u="none" strike="noStrike" kern="1200" cap="none" spc="0" baseline="0">
                <a:solidFill>
                  <a:srgbClr val="000000"/>
                </a:solidFill>
                <a:uFillTx/>
                <a:latin typeface="Calibri" pitchFamily="34"/>
                <a:ea typeface="Times New Roman" pitchFamily="18"/>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name="Slide4523">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4E13F4A8-57D2-4673-8443-B4A1C5B8D81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FFA122FF-CAA7-4EC6-B203-D1E364E5D45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392913A-AA6D-4042-BEBD-7281F7D281B4}"/>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D1C3DF7F-FA92-43BC-A177-244775027BC3}"/>
              </a:ext>
            </a:extLst>
          </p:cNvPr>
          <p:cNvSpPr txBox="1"/>
          <p:nvPr/>
        </p:nvSpPr>
        <p:spPr>
          <a:xfrm>
            <a:off x="11741747" y="650358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E22DCD6-3425-4972-BC02-D9B6981E8917}" type="slidenum">
              <a:rPr sz="1200"/>
              <a:t>410</a:t>
            </a:fld>
            <a:endParaRPr lang="en-GB" sz="1200" b="0" i="0" u="none" strike="noStrike" kern="1200" cap="none" spc="0" baseline="0" dirty="0">
              <a:solidFill>
                <a:srgbClr val="000000"/>
              </a:solidFill>
              <a:uFillTx/>
              <a:latin typeface="Calibri"/>
            </a:endParaRPr>
          </a:p>
        </p:txBody>
      </p:sp>
      <p:sp>
        <p:nvSpPr>
          <p:cNvPr id="7" name="Rectangle 4">
            <a:extLst>
              <a:ext uri="{FF2B5EF4-FFF2-40B4-BE49-F238E27FC236}">
                <a16:creationId xmlns:a16="http://schemas.microsoft.com/office/drawing/2014/main" id="{4E755950-AD71-45AB-B176-054EB1193B8F}"/>
              </a:ext>
            </a:extLst>
          </p:cNvPr>
          <p:cNvSpPr/>
          <p:nvPr/>
        </p:nvSpPr>
        <p:spPr>
          <a:xfrm>
            <a:off x="363967" y="712143"/>
            <a:ext cx="810441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 </a:t>
            </a:r>
            <a:endParaRPr lang="en-GB" sz="1600" b="1" i="0" u="none" strike="noStrike" kern="1200" cap="none" spc="0" baseline="0">
              <a:solidFill>
                <a:srgbClr val="FF0000"/>
              </a:solidFill>
              <a:highlight>
                <a:srgbClr val="FFFF00"/>
              </a:highlight>
              <a:uFillTx/>
              <a:latin typeface="Calibri" pitchFamily="34"/>
              <a:ea typeface="Calibri" pitchFamily="34"/>
            </a:endParaRPr>
          </a:p>
        </p:txBody>
      </p:sp>
      <p:sp>
        <p:nvSpPr>
          <p:cNvPr id="8" name="Rectangle 31">
            <a:extLst>
              <a:ext uri="{FF2B5EF4-FFF2-40B4-BE49-F238E27FC236}">
                <a16:creationId xmlns:a16="http://schemas.microsoft.com/office/drawing/2014/main" id="{28114492-9F9C-47B9-BEE4-A993936D26BD}"/>
              </a:ext>
            </a:extLst>
          </p:cNvPr>
          <p:cNvSpPr/>
          <p:nvPr/>
        </p:nvSpPr>
        <p:spPr>
          <a:xfrm>
            <a:off x="363967" y="1050700"/>
            <a:ext cx="4888391"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Declaration Submission of Final Supplementary Declarations </a:t>
            </a:r>
          </a:p>
        </p:txBody>
      </p:sp>
      <p:sp>
        <p:nvSpPr>
          <p:cNvPr id="9" name="TextBox 42">
            <a:extLst>
              <a:ext uri="{FF2B5EF4-FFF2-40B4-BE49-F238E27FC236}">
                <a16:creationId xmlns:a16="http://schemas.microsoft.com/office/drawing/2014/main" id="{B6E32983-2C96-41F3-82E7-F23FEBC15BEB}"/>
              </a:ext>
            </a:extLst>
          </p:cNvPr>
          <p:cNvSpPr txBox="1"/>
          <p:nvPr/>
        </p:nvSpPr>
        <p:spPr>
          <a:xfrm>
            <a:off x="363967" y="1368710"/>
            <a:ext cx="5483528" cy="494750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Final Supplementary Declarations (FSDs) are declarations which are submitted by CFSP (Customs Freight Simplified Procedures) traders to comply with their CFSP authorisation. From TTM14.2, CFSP traders will be able to submit Final Supplementary Declarations on CDS. Final Supplementary Declarations have a new declaration type of FSD (Q).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submission guidance is covered in more detail in the FSD Solution Design Slide Pack (please refer embedded ppt in this slide), however the following are key declaration submission requirements that must be met:</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Procedure code“00 90” must be declared in D.E. 1/10 to indicate this is a FSD declaration. This Procedure Code can only be declared on an Import declaration with the Additional Declaration Type (D.E. 1/2) Q, otherwise the declaration will be rejected.</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Currently, FSD can only be submitted for non-excise goods by declaring an APC (D.E. 1/11) of "97F“</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 acceptance date – for the 1</a:t>
            </a:r>
            <a:r>
              <a:rPr lang="en-GB" sz="1200" b="0" i="0" u="none" strike="noStrike" kern="1200" cap="none" spc="0" baseline="30000">
                <a:solidFill>
                  <a:srgbClr val="000000"/>
                </a:solidFill>
                <a:uFillTx/>
                <a:latin typeface="Calibri"/>
              </a:rPr>
              <a:t>st</a:t>
            </a:r>
            <a:r>
              <a:rPr lang="en-GB" sz="1200" b="0" i="0" u="none" strike="noStrike" kern="1200" cap="none" spc="0" baseline="0">
                <a:solidFill>
                  <a:srgbClr val="000000"/>
                </a:solidFill>
                <a:uFillTx/>
                <a:latin typeface="Calibri"/>
              </a:rPr>
              <a:t> of the month that the FSD covers, the FSD needs to be submitted on the 4</a:t>
            </a:r>
            <a:r>
              <a:rPr lang="en-GB" sz="1200" b="0" i="0" u="none" strike="noStrike" kern="1200" cap="none" spc="0" baseline="30000">
                <a:solidFill>
                  <a:srgbClr val="000000"/>
                </a:solidFill>
                <a:uFillTx/>
                <a:latin typeface="Calibri"/>
              </a:rPr>
              <a:t>th</a:t>
            </a:r>
            <a:r>
              <a:rPr lang="en-GB" sz="1200" b="0" i="0" u="none" strike="noStrike" kern="1200" cap="none" spc="0" baseline="0">
                <a:solidFill>
                  <a:srgbClr val="000000"/>
                </a:solidFill>
                <a:uFillTx/>
                <a:latin typeface="Calibri"/>
              </a:rPr>
              <a:t> working date of the following month. The date the FSD acceptance must be the 4</a:t>
            </a:r>
            <a:r>
              <a:rPr lang="en-GB" sz="1200" b="0" i="0" u="none" strike="noStrike" kern="1200" cap="none" spc="0" baseline="30000">
                <a:solidFill>
                  <a:srgbClr val="000000"/>
                </a:solidFill>
                <a:uFillTx/>
                <a:latin typeface="Calibri"/>
              </a:rPr>
              <a:t>th</a:t>
            </a:r>
            <a:r>
              <a:rPr lang="en-GB" sz="1200" b="0" i="0" u="none" strike="noStrike" kern="1200" cap="none" spc="0" baseline="0">
                <a:solidFill>
                  <a:srgbClr val="000000"/>
                </a:solidFill>
                <a:uFillTx/>
                <a:latin typeface="Calibri"/>
              </a:rPr>
              <a:t> of the previous month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Total Number of Items (D.E. 1/9) on the FSD must be "1“</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following values must be declared at header level in the sub-fields of D.E. 2/1:</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“Z” for the “Document Category” sub-field.</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“ZZZ” for the “Previous Document Type” sub-field.</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“FSD” for the “Previous Document Reference” sub-field.</a:t>
            </a:r>
          </a:p>
        </p:txBody>
      </p:sp>
      <p:sp>
        <p:nvSpPr>
          <p:cNvPr id="10" name="Oval 43">
            <a:extLst>
              <a:ext uri="{FF2B5EF4-FFF2-40B4-BE49-F238E27FC236}">
                <a16:creationId xmlns:a16="http://schemas.microsoft.com/office/drawing/2014/main" id="{C33F2BDB-3D30-4DE1-9C90-8E9BEDB9FCC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4">
            <a:extLst>
              <a:ext uri="{FF2B5EF4-FFF2-40B4-BE49-F238E27FC236}">
                <a16:creationId xmlns:a16="http://schemas.microsoft.com/office/drawing/2014/main" id="{B4055378-8699-4503-81B6-59AB2D0F1CD5}"/>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5">
            <a:extLst>
              <a:ext uri="{FF2B5EF4-FFF2-40B4-BE49-F238E27FC236}">
                <a16:creationId xmlns:a16="http://schemas.microsoft.com/office/drawing/2014/main" id="{120AADB0-9F37-4466-A385-103A8E1E3B8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6">
            <a:extLst>
              <a:ext uri="{FF2B5EF4-FFF2-40B4-BE49-F238E27FC236}">
                <a16:creationId xmlns:a16="http://schemas.microsoft.com/office/drawing/2014/main" id="{E71C1731-DC86-454D-B8E9-A8BA04C6813F}"/>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8">
            <a:extLst>
              <a:ext uri="{FF2B5EF4-FFF2-40B4-BE49-F238E27FC236}">
                <a16:creationId xmlns:a16="http://schemas.microsoft.com/office/drawing/2014/main" id="{CF0C1F23-8A49-4C83-B194-7019144E9072}"/>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9">
            <a:extLst>
              <a:ext uri="{FF2B5EF4-FFF2-40B4-BE49-F238E27FC236}">
                <a16:creationId xmlns:a16="http://schemas.microsoft.com/office/drawing/2014/main" id="{079F94D5-1629-4FDA-A9A3-9026D986DEDB}"/>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51">
            <a:extLst>
              <a:ext uri="{FF2B5EF4-FFF2-40B4-BE49-F238E27FC236}">
                <a16:creationId xmlns:a16="http://schemas.microsoft.com/office/drawing/2014/main" id="{D80EFA43-3724-4960-8471-57428C0A9024}"/>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52">
            <a:extLst>
              <a:ext uri="{FF2B5EF4-FFF2-40B4-BE49-F238E27FC236}">
                <a16:creationId xmlns:a16="http://schemas.microsoft.com/office/drawing/2014/main" id="{618AEFD4-B1B1-4777-9F90-CDFC2807EA5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53">
            <a:extLst>
              <a:ext uri="{FF2B5EF4-FFF2-40B4-BE49-F238E27FC236}">
                <a16:creationId xmlns:a16="http://schemas.microsoft.com/office/drawing/2014/main" id="{BFC2EA5B-A8EC-4204-8F28-3AA68B0D850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54">
            <a:extLst>
              <a:ext uri="{FF2B5EF4-FFF2-40B4-BE49-F238E27FC236}">
                <a16:creationId xmlns:a16="http://schemas.microsoft.com/office/drawing/2014/main" id="{8C565146-BAAD-4722-9DED-44DEB2488BF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extLst>
              <a:ext uri="{FF2B5EF4-FFF2-40B4-BE49-F238E27FC236}">
                <a16:creationId xmlns:a16="http://schemas.microsoft.com/office/drawing/2014/main" id="{87649ACD-2A33-4AAF-B42F-5E38740001B1}"/>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56">
            <a:extLst>
              <a:ext uri="{FF2B5EF4-FFF2-40B4-BE49-F238E27FC236}">
                <a16:creationId xmlns:a16="http://schemas.microsoft.com/office/drawing/2014/main" id="{01BDF030-FDE7-4522-AE24-2A1ACA2631A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2" name="Table 32">
            <a:extLst>
              <a:ext uri="{FF2B5EF4-FFF2-40B4-BE49-F238E27FC236}">
                <a16:creationId xmlns:a16="http://schemas.microsoft.com/office/drawing/2014/main" id="{C8D342B1-C2CD-4AB4-8917-8925E32E764A}"/>
              </a:ext>
            </a:extLst>
          </p:cNvPr>
          <p:cNvGraphicFramePr>
            <a:graphicFrameLocks noGrp="1"/>
          </p:cNvGraphicFramePr>
          <p:nvPr/>
        </p:nvGraphicFramePr>
        <p:xfrm>
          <a:off x="5820348" y="1291699"/>
          <a:ext cx="6043560" cy="4349980"/>
        </p:xfrm>
        <a:graphic>
          <a:graphicData uri="http://schemas.openxmlformats.org/drawingml/2006/table">
            <a:tbl>
              <a:tblPr>
                <a:effectLst/>
                <a:tableStyleId>{5C22544A-7EE6-4342-B048-85BDC9FD1C3A}</a:tableStyleId>
              </a:tblPr>
              <a:tblGrid>
                <a:gridCol w="434852">
                  <a:extLst>
                    <a:ext uri="{9D8B030D-6E8A-4147-A177-3AD203B41FA5}">
                      <a16:colId xmlns:a16="http://schemas.microsoft.com/office/drawing/2014/main" val="1696889105"/>
                    </a:ext>
                  </a:extLst>
                </a:gridCol>
                <a:gridCol w="1549240">
                  <a:extLst>
                    <a:ext uri="{9D8B030D-6E8A-4147-A177-3AD203B41FA5}">
                      <a16:colId xmlns:a16="http://schemas.microsoft.com/office/drawing/2014/main" val="1249338850"/>
                    </a:ext>
                  </a:extLst>
                </a:gridCol>
                <a:gridCol w="605716">
                  <a:extLst>
                    <a:ext uri="{9D8B030D-6E8A-4147-A177-3AD203B41FA5}">
                      <a16:colId xmlns:a16="http://schemas.microsoft.com/office/drawing/2014/main" val="2787512278"/>
                    </a:ext>
                  </a:extLst>
                </a:gridCol>
                <a:gridCol w="3453752">
                  <a:extLst>
                    <a:ext uri="{9D8B030D-6E8A-4147-A177-3AD203B41FA5}">
                      <a16:colId xmlns:a16="http://schemas.microsoft.com/office/drawing/2014/main" val="1611089858"/>
                    </a:ext>
                  </a:extLst>
                </a:gridCol>
              </a:tblGrid>
              <a:tr h="161163">
                <a:tc>
                  <a:txBody>
                    <a:bodyPr/>
                    <a:lstStyle/>
                    <a:p>
                      <a:pPr lvl="0" algn="l" fontAlgn="b"/>
                      <a:r>
                        <a:rPr lang="en-GB" sz="1000" b="1" u="sng" strike="noStrike">
                          <a:solidFill>
                            <a:srgbClr val="FFFFFF"/>
                          </a:solidFill>
                        </a:rPr>
                        <a:t>UCC</a:t>
                      </a:r>
                      <a:endParaRPr lang="en-GB" sz="1000" b="1" i="0" u="sng" strike="noStrike">
                        <a:solidFill>
                          <a:srgbClr val="FFFFFF"/>
                        </a:solidFill>
                        <a:latin typeface="Calibri" pitchFamily="34"/>
                      </a:endParaRPr>
                    </a:p>
                  </a:txBody>
                  <a:tcPr marL="8485" marR="8485" marT="8485" marB="0" anchor="b">
                    <a:solidFill>
                      <a:srgbClr val="009999"/>
                    </a:solidFill>
                  </a:tcPr>
                </a:tc>
                <a:tc>
                  <a:txBody>
                    <a:bodyPr/>
                    <a:lstStyle/>
                    <a:p>
                      <a:pPr lvl="0" algn="l" fontAlgn="b"/>
                      <a:r>
                        <a:rPr lang="en-GB" sz="1000" b="1" u="sng" strike="noStrike">
                          <a:solidFill>
                            <a:srgbClr val="FFFFFF"/>
                          </a:solidFill>
                        </a:rPr>
                        <a:t>Field Name</a:t>
                      </a:r>
                      <a:endParaRPr lang="en-GB" sz="1000" b="1" i="0" u="sng" strike="noStrike">
                        <a:solidFill>
                          <a:srgbClr val="FFFFFF"/>
                        </a:solidFill>
                        <a:latin typeface="Calibri" pitchFamily="34"/>
                      </a:endParaRPr>
                    </a:p>
                  </a:txBody>
                  <a:tcPr marL="8485" marR="8485" marT="8485" marB="0" anchor="b">
                    <a:solidFill>
                      <a:srgbClr val="009999"/>
                    </a:solidFill>
                  </a:tcPr>
                </a:tc>
                <a:tc>
                  <a:txBody>
                    <a:bodyPr/>
                    <a:lstStyle/>
                    <a:p>
                      <a:pPr lvl="0" algn="l" fontAlgn="b"/>
                      <a:r>
                        <a:rPr lang="en-GB" sz="1000" b="1" u="sng" strike="noStrike">
                          <a:solidFill>
                            <a:srgbClr val="FFFFFF"/>
                          </a:solidFill>
                        </a:rPr>
                        <a:t>Obligation</a:t>
                      </a:r>
                      <a:endParaRPr lang="en-GB" sz="1000" b="1" i="0" u="sng" strike="noStrike">
                        <a:solidFill>
                          <a:srgbClr val="FFFFFF"/>
                        </a:solidFill>
                        <a:latin typeface="Calibri" pitchFamily="34"/>
                      </a:endParaRPr>
                    </a:p>
                  </a:txBody>
                  <a:tcPr marL="8485" marR="8485" marT="8485" marB="0" anchor="b">
                    <a:solidFill>
                      <a:srgbClr val="009999"/>
                    </a:solidFill>
                  </a:tcPr>
                </a:tc>
                <a:tc>
                  <a:txBody>
                    <a:bodyPr/>
                    <a:lstStyle/>
                    <a:p>
                      <a:pPr lvl="0" algn="l" fontAlgn="b"/>
                      <a:r>
                        <a:rPr lang="en-GB" sz="1000" b="1" u="sng" strike="noStrike">
                          <a:solidFill>
                            <a:srgbClr val="FFFFFF"/>
                          </a:solidFill>
                        </a:rPr>
                        <a:t>Example</a:t>
                      </a:r>
                      <a:endParaRPr lang="en-GB" sz="1000" b="1" i="0" u="sng" strike="noStrike">
                        <a:solidFill>
                          <a:srgbClr val="FFFFFF"/>
                        </a:solidFill>
                        <a:latin typeface="Calibri" pitchFamily="34"/>
                      </a:endParaRPr>
                    </a:p>
                  </a:txBody>
                  <a:tcPr marL="8485" marR="8485" marT="8485" marB="0" anchor="b">
                    <a:solidFill>
                      <a:srgbClr val="009999"/>
                    </a:solidFill>
                  </a:tcPr>
                </a:tc>
                <a:extLst>
                  <a:ext uri="{0D108BD9-81ED-4DB2-BD59-A6C34878D82A}">
                    <a16:rowId xmlns:a16="http://schemas.microsoft.com/office/drawing/2014/main" val="264029728"/>
                  </a:ext>
                </a:extLst>
              </a:tr>
              <a:tr h="161163">
                <a:tc>
                  <a:txBody>
                    <a:bodyPr/>
                    <a:lstStyle/>
                    <a:p>
                      <a:pPr lvl="0" algn="l" fontAlgn="b"/>
                      <a:r>
                        <a:rPr lang="en-GB" sz="1000" u="none" strike="noStrike"/>
                        <a:t>1/1</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Dec Type</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b="0" i="0" u="none" strike="noStrike">
                          <a:solidFill>
                            <a:srgbClr val="000000"/>
                          </a:solidFill>
                          <a:latin typeface="Calibri" pitchFamily="34"/>
                        </a:rPr>
                        <a:t>IM</a:t>
                      </a:r>
                    </a:p>
                  </a:txBody>
                  <a:tcPr marL="8485" marR="8485" marT="8485" marB="0" anchor="b">
                    <a:solidFill>
                      <a:srgbClr val="F2F2F2"/>
                    </a:solidFill>
                  </a:tcPr>
                </a:tc>
                <a:extLst>
                  <a:ext uri="{0D108BD9-81ED-4DB2-BD59-A6C34878D82A}">
                    <a16:rowId xmlns:a16="http://schemas.microsoft.com/office/drawing/2014/main" val="1192644082"/>
                  </a:ext>
                </a:extLst>
              </a:tr>
              <a:tr h="161163">
                <a:tc>
                  <a:txBody>
                    <a:bodyPr/>
                    <a:lstStyle/>
                    <a:p>
                      <a:pPr lvl="0" algn="l" fontAlgn="b"/>
                      <a:r>
                        <a:rPr lang="en-GB" sz="1000" u="none" strike="noStrike"/>
                        <a:t>1/2</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Additional Dec Type</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b="0" i="0" u="none" strike="noStrike">
                          <a:solidFill>
                            <a:srgbClr val="000000"/>
                          </a:solidFill>
                          <a:latin typeface="Calibri" pitchFamily="34"/>
                        </a:rPr>
                        <a:t>Q</a:t>
                      </a:r>
                    </a:p>
                  </a:txBody>
                  <a:tcPr marL="8485" marR="8485" marT="8485" marB="0" anchor="b">
                    <a:solidFill>
                      <a:srgbClr val="D9D9D9"/>
                    </a:solidFill>
                  </a:tcPr>
                </a:tc>
                <a:extLst>
                  <a:ext uri="{0D108BD9-81ED-4DB2-BD59-A6C34878D82A}">
                    <a16:rowId xmlns:a16="http://schemas.microsoft.com/office/drawing/2014/main" val="818085175"/>
                  </a:ext>
                </a:extLst>
              </a:tr>
              <a:tr h="161163">
                <a:tc>
                  <a:txBody>
                    <a:bodyPr/>
                    <a:lstStyle/>
                    <a:p>
                      <a:pPr lvl="0" algn="l" fontAlgn="b"/>
                      <a:r>
                        <a:rPr lang="en-GB" sz="1000" u="none" strike="noStrike"/>
                        <a:t>1/6</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Goods Item Number</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1</a:t>
                      </a:r>
                      <a:endParaRPr lang="en-GB" sz="1000" b="0" i="0" u="none" strike="noStrike">
                        <a:solidFill>
                          <a:srgbClr val="000000"/>
                        </a:solidFill>
                        <a:latin typeface="Calibri" pitchFamily="34"/>
                      </a:endParaRPr>
                    </a:p>
                  </a:txBody>
                  <a:tcPr marL="8485" marR="8485" marT="8485" marB="0" anchor="b">
                    <a:solidFill>
                      <a:srgbClr val="F2F2F2"/>
                    </a:solidFill>
                  </a:tcPr>
                </a:tc>
                <a:extLst>
                  <a:ext uri="{0D108BD9-81ED-4DB2-BD59-A6C34878D82A}">
                    <a16:rowId xmlns:a16="http://schemas.microsoft.com/office/drawing/2014/main" val="1284405550"/>
                  </a:ext>
                </a:extLst>
              </a:tr>
              <a:tr h="161163">
                <a:tc>
                  <a:txBody>
                    <a:bodyPr/>
                    <a:lstStyle/>
                    <a:p>
                      <a:pPr lvl="0" algn="l" fontAlgn="b"/>
                      <a:r>
                        <a:rPr lang="en-GB" sz="1000" u="none" strike="noStrike"/>
                        <a:t>1/8</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Signature/ Authentication</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D</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2998426955"/>
                  </a:ext>
                </a:extLst>
              </a:tr>
              <a:tr h="161163">
                <a:tc>
                  <a:txBody>
                    <a:bodyPr/>
                    <a:lstStyle/>
                    <a:p>
                      <a:pPr lvl="0" algn="l" fontAlgn="b"/>
                      <a:r>
                        <a:rPr lang="en-GB" sz="1000" u="none" strike="noStrike"/>
                        <a:t>1/9</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Total Number of Items</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1</a:t>
                      </a:r>
                      <a:endParaRPr lang="en-GB" sz="1000" b="0" i="0" u="none" strike="noStrike">
                        <a:solidFill>
                          <a:srgbClr val="000000"/>
                        </a:solidFill>
                        <a:latin typeface="Calibri" pitchFamily="34"/>
                      </a:endParaRPr>
                    </a:p>
                  </a:txBody>
                  <a:tcPr marL="8485" marR="8485" marT="8485" marB="0" anchor="b">
                    <a:solidFill>
                      <a:srgbClr val="F2F2F2"/>
                    </a:solidFill>
                  </a:tcPr>
                </a:tc>
                <a:extLst>
                  <a:ext uri="{0D108BD9-81ED-4DB2-BD59-A6C34878D82A}">
                    <a16:rowId xmlns:a16="http://schemas.microsoft.com/office/drawing/2014/main" val="3947880701"/>
                  </a:ext>
                </a:extLst>
              </a:tr>
              <a:tr h="161163">
                <a:tc>
                  <a:txBody>
                    <a:bodyPr/>
                    <a:lstStyle/>
                    <a:p>
                      <a:pPr lvl="0" algn="l" fontAlgn="b"/>
                      <a:r>
                        <a:rPr lang="en-GB" sz="1000" u="none" strike="noStrike"/>
                        <a:t>1/10</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Procedure</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90</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2449158423"/>
                  </a:ext>
                </a:extLst>
              </a:tr>
              <a:tr h="161163">
                <a:tc>
                  <a:txBody>
                    <a:bodyPr/>
                    <a:lstStyle/>
                    <a:p>
                      <a:pPr lvl="0" algn="l" fontAlgn="b"/>
                      <a:r>
                        <a:rPr lang="en-GB" sz="1000" u="none" strike="noStrike"/>
                        <a:t>1/11</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Additional Procedure</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97F</a:t>
                      </a:r>
                      <a:endParaRPr lang="en-GB" sz="1000" b="0" i="0" u="none" strike="noStrike">
                        <a:solidFill>
                          <a:srgbClr val="000000"/>
                        </a:solidFill>
                        <a:latin typeface="Calibri" pitchFamily="34"/>
                      </a:endParaRPr>
                    </a:p>
                  </a:txBody>
                  <a:tcPr marL="8485" marR="8485" marT="8485" marB="0" anchor="b">
                    <a:solidFill>
                      <a:srgbClr val="F2F2F2"/>
                    </a:solidFill>
                  </a:tcPr>
                </a:tc>
                <a:extLst>
                  <a:ext uri="{0D108BD9-81ED-4DB2-BD59-A6C34878D82A}">
                    <a16:rowId xmlns:a16="http://schemas.microsoft.com/office/drawing/2014/main" val="3933188161"/>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Acceptance Date</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rtl="0" fontAlgn="b"/>
                      <a:r>
                        <a:rPr lang="en-GB" sz="1000" u="none" strike="noStrike"/>
                        <a:t>20211201120000</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3785604433"/>
                  </a:ext>
                </a:extLst>
              </a:tr>
              <a:tr h="161163">
                <a:tc>
                  <a:txBody>
                    <a:bodyPr/>
                    <a:lstStyle/>
                    <a:p>
                      <a:pPr lvl="0" algn="l" fontAlgn="b"/>
                      <a:r>
                        <a:rPr lang="en-GB" sz="1000" u="none" strike="noStrike"/>
                        <a:t>2/1</a:t>
                      </a:r>
                      <a:endParaRPr lang="en-GB" sz="1000" b="0" i="0" u="none" strike="noStrike">
                        <a:solidFill>
                          <a:srgbClr val="000000"/>
                        </a:solidFill>
                        <a:latin typeface="Calibri" pitchFamily="34"/>
                      </a:endParaRPr>
                    </a:p>
                  </a:txBody>
                  <a:tcPr marL="8485" marR="8485" marT="8485" marB="0" anchor="b">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Previous Documents</a:t>
                      </a:r>
                      <a:endParaRPr lang="en-GB" sz="1000" b="0" i="0" u="none" strike="noStrike">
                        <a:solidFill>
                          <a:srgbClr val="000000"/>
                        </a:solidFill>
                        <a:latin typeface="Calibri" pitchFamily="34"/>
                      </a:endParaRPr>
                    </a:p>
                  </a:txBody>
                  <a:tcPr marL="8485" marR="8485" marT="8485" marB="0" anchor="b">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Category: Z</a:t>
                      </a:r>
                      <a:endParaRPr lang="en-GB" sz="1000" b="0" i="0" u="none" strike="noStrike">
                        <a:solidFill>
                          <a:srgbClr val="000000"/>
                        </a:solidFill>
                        <a:latin typeface="Calibri" pitchFamily="34"/>
                      </a:endParaRPr>
                    </a:p>
                  </a:txBody>
                  <a:tcPr marL="8485" marR="8485" marT="8485" marB="0" anchor="b">
                    <a:lnB w="12701" cap="flat" cmpd="sng" algn="ctr">
                      <a:solidFill>
                        <a:srgbClr val="F2F2F2"/>
                      </a:solidFill>
                      <a:prstDash val="solid"/>
                      <a:round/>
                      <a:headEnd type="none" w="med" len="med"/>
                      <a:tailEnd type="none" w="med" len="med"/>
                    </a:lnB>
                    <a:solidFill>
                      <a:srgbClr val="F2F2F2"/>
                    </a:solidFill>
                  </a:tcPr>
                </a:tc>
                <a:extLst>
                  <a:ext uri="{0D108BD9-81ED-4DB2-BD59-A6C34878D82A}">
                    <a16:rowId xmlns:a16="http://schemas.microsoft.com/office/drawing/2014/main" val="3201176437"/>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2F2F2"/>
                      </a:solidFill>
                      <a:prstDash val="solid"/>
                      <a:round/>
                      <a:headEnd type="none" w="med" len="med"/>
                      <a:tailEnd type="none" w="med" len="med"/>
                    </a:lnB>
                    <a:solidFill>
                      <a:srgbClr val="F2F2F2"/>
                    </a:solidFill>
                  </a:tcPr>
                </a:tc>
                <a:tc>
                  <a:txBody>
                    <a:bodyPr/>
                    <a:lstStyle/>
                    <a:p>
                      <a:pPr lvl="0" algn="l" fontAlgn="b"/>
                      <a:r>
                        <a:rPr lang="en-GB" sz="1000" u="none" strike="noStrike"/>
                        <a:t>Document Type: ZZZ</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2F2F2"/>
                      </a:solidFill>
                      <a:prstDash val="solid"/>
                      <a:round/>
                      <a:headEnd type="none" w="med" len="med"/>
                      <a:tailEnd type="none" w="med" len="med"/>
                    </a:lnB>
                    <a:solidFill>
                      <a:srgbClr val="F2F2F2"/>
                    </a:solidFill>
                  </a:tcPr>
                </a:tc>
                <a:extLst>
                  <a:ext uri="{0D108BD9-81ED-4DB2-BD59-A6C34878D82A}">
                    <a16:rowId xmlns:a16="http://schemas.microsoft.com/office/drawing/2014/main" val="3327819064"/>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solidFill>
                      <a:srgbClr val="F2F2F2"/>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solidFill>
                      <a:srgbClr val="F2F2F2"/>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lgn="l" fontAlgn="b"/>
                      <a:r>
                        <a:rPr lang="en-GB" sz="1000" u="none" strike="noStrike"/>
                        <a:t>Document Reference: FSD</a:t>
                      </a:r>
                      <a:endParaRPr lang="en-GB" sz="1000" b="0" i="0" u="none" strike="noStrike">
                        <a:solidFill>
                          <a:srgbClr val="000000"/>
                        </a:solidFill>
                        <a:latin typeface="Calibri" pitchFamily="34"/>
                      </a:endParaRPr>
                    </a:p>
                  </a:txBody>
                  <a:tcPr marL="8485" marR="8485" marT="8485" marB="0" anchor="b">
                    <a:lnT w="12701" cap="flat" cmpd="sng" algn="ctr">
                      <a:solidFill>
                        <a:srgbClr val="F2F2F2"/>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80907733"/>
                  </a:ext>
                </a:extLst>
              </a:tr>
              <a:tr h="161163">
                <a:tc>
                  <a:txBody>
                    <a:bodyPr/>
                    <a:lstStyle/>
                    <a:p>
                      <a:pPr lvl="0" algn="l" fontAlgn="b"/>
                      <a:r>
                        <a:rPr lang="en-GB" sz="1000" u="none" strike="noStrike"/>
                        <a:t>2/2</a:t>
                      </a:r>
                      <a:endParaRPr lang="en-GB" sz="1000" b="0" i="0" u="none" strike="noStrike">
                        <a:solidFill>
                          <a:srgbClr val="000000"/>
                        </a:solidFill>
                        <a:latin typeface="Calibri" pitchFamily="34"/>
                      </a:endParaRPr>
                    </a:p>
                  </a:txBody>
                  <a:tcPr marL="8485" marR="8485" marT="8485" marB="0" anchor="b">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Additional Information</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Code: FINSY</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2357979920"/>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Text: SDY=4/8</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3022570255"/>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2557140111"/>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Code: FINSZ</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1105346954"/>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Text: SDZ=10/10</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1728233646"/>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300113891"/>
                  </a:ext>
                </a:extLst>
              </a:tr>
              <a:tr h="161163">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D9D9D9"/>
                      </a:solidFill>
                      <a:prstDash val="solid"/>
                      <a:round/>
                      <a:headEnd type="none" w="med" len="med"/>
                      <a:tailEnd type="none" w="med" len="med"/>
                    </a:lnT>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solidFill>
                      <a:srgbClr val="D9D9D9"/>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tc>
                  <a:txBody>
                    <a:bodyPr/>
                    <a:lstStyle/>
                    <a:p>
                      <a:pPr lvl="0">
                        <a:lnSpc>
                          <a:spcPct val="105000"/>
                        </a:lnSpc>
                        <a:spcAft>
                          <a:spcPts val="0"/>
                        </a:spcAft>
                      </a:pPr>
                      <a:r>
                        <a:rPr lang="en-GB" sz="1000">
                          <a:latin typeface="Arial" pitchFamily="34"/>
                          <a:ea typeface="Times New Roman" pitchFamily="18"/>
                          <a:cs typeface="Arial" pitchFamily="34"/>
                        </a:rPr>
                        <a:t>Code: FINSL</a:t>
                      </a:r>
                      <a:endParaRPr lang="en-GB" sz="1100">
                        <a:latin typeface="Arial" pitchFamily="34"/>
                        <a:ea typeface="Arial" pitchFamily="34"/>
                        <a:cs typeface="Times New Roman" pitchFamily="18"/>
                      </a:endParaRPr>
                    </a:p>
                    <a:p>
                      <a:pPr lvl="0"/>
                      <a:r>
                        <a:rPr lang="en-GB" sz="1000">
                          <a:latin typeface="Arial" pitchFamily="34"/>
                          <a:ea typeface="Times New Roman" pitchFamily="18"/>
                        </a:rPr>
                        <a:t>Text: 01/20=Y 1 01/20=Z 3 02/20=Y 3 02/20=Z 1</a:t>
                      </a:r>
                      <a:endParaRPr lang="es-ES" sz="1000" b="0" i="0" u="none" strike="noStrike">
                        <a:solidFill>
                          <a:srgbClr val="000000"/>
                        </a:solidFill>
                        <a:latin typeface="Calibri" pitchFamily="34"/>
                      </a:endParaRPr>
                    </a:p>
                  </a:txBody>
                  <a:tcPr marL="8485" marR="8485" marT="8485" marB="0" anchor="b">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D9D9D9"/>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672161148"/>
                  </a:ext>
                </a:extLst>
              </a:tr>
              <a:tr h="161163">
                <a:tc>
                  <a:txBody>
                    <a:bodyPr/>
                    <a:lstStyle/>
                    <a:p>
                      <a:pPr lvl="0" algn="l" fontAlgn="b"/>
                      <a:r>
                        <a:rPr lang="en-GB" sz="1000" u="none" strike="noStrike"/>
                        <a:t>2/4</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Reference Number / UCR</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O</a:t>
                      </a:r>
                      <a:endParaRPr lang="en-GB" sz="1000" b="0" i="0" u="none" strike="noStrike">
                        <a:solidFill>
                          <a:srgbClr val="000000"/>
                        </a:solidFill>
                        <a:latin typeface="Calibri" pitchFamily="34"/>
                      </a:endParaRPr>
                    </a:p>
                  </a:txBody>
                  <a:tcPr marL="8485" marR="8485" marT="8485" marB="0" anchor="b">
                    <a:lnT w="12701" cap="flat" cmpd="sng" algn="ctr">
                      <a:solidFill>
                        <a:srgbClr val="FFFFFF"/>
                      </a:solidFill>
                      <a:prstDash val="solid"/>
                      <a:round/>
                      <a:headEnd type="none" w="med" len="med"/>
                      <a:tailEnd type="none" w="med" len="med"/>
                    </a:lnT>
                    <a:solidFill>
                      <a:srgbClr val="F2F2F2"/>
                    </a:solidFill>
                  </a:tcPr>
                </a:tc>
                <a:tc>
                  <a:txBody>
                    <a:bodyPr/>
                    <a:lstStyle/>
                    <a:p>
                      <a:pPr lvl="0" algn="l" fontAlgn="b"/>
                      <a:r>
                        <a:rPr lang="en-GB" sz="1000" u="none" strike="noStrike"/>
                        <a:t> </a:t>
                      </a:r>
                      <a:endParaRPr lang="en-GB" sz="1000" b="0" i="0" u="none" strike="noStrike">
                        <a:solidFill>
                          <a:srgbClr val="000000"/>
                        </a:solidFill>
                        <a:latin typeface="Calibri" pitchFamily="34"/>
                      </a:endParaRPr>
                    </a:p>
                  </a:txBody>
                  <a:tcPr marL="8485" marR="8485" marT="8485" marB="0" anchor="b">
                    <a:lnT w="12701" cap="flat" cmpd="sng" algn="ctr">
                      <a:solidFill>
                        <a:srgbClr val="FFFFFF"/>
                      </a:solidFill>
                      <a:prstDash val="solid"/>
                      <a:round/>
                      <a:headEnd type="none" w="med" len="med"/>
                      <a:tailEnd type="none" w="med" len="med"/>
                    </a:lnT>
                    <a:solidFill>
                      <a:srgbClr val="F2F2F2"/>
                    </a:solidFill>
                  </a:tcPr>
                </a:tc>
                <a:extLst>
                  <a:ext uri="{0D108BD9-81ED-4DB2-BD59-A6C34878D82A}">
                    <a16:rowId xmlns:a16="http://schemas.microsoft.com/office/drawing/2014/main" val="172998840"/>
                  </a:ext>
                </a:extLst>
              </a:tr>
              <a:tr h="161163">
                <a:tc>
                  <a:txBody>
                    <a:bodyPr/>
                    <a:lstStyle/>
                    <a:p>
                      <a:pPr lvl="0" algn="l" fontAlgn="b"/>
                      <a:r>
                        <a:rPr lang="en-GB" sz="1000" u="none" strike="noStrike"/>
                        <a:t>2/5</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LRN</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FSD_12345</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3306165768"/>
                  </a:ext>
                </a:extLst>
              </a:tr>
              <a:tr h="161163">
                <a:tc>
                  <a:txBody>
                    <a:bodyPr/>
                    <a:lstStyle/>
                    <a:p>
                      <a:pPr lvl="0" algn="l" fontAlgn="b"/>
                      <a:r>
                        <a:rPr lang="en-GB" sz="1000" u="none" strike="noStrike"/>
                        <a:t>3/18</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Declarant ID</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F2F2F2"/>
                    </a:solidFill>
                  </a:tcPr>
                </a:tc>
                <a:tc>
                  <a:txBody>
                    <a:bodyPr/>
                    <a:lstStyle/>
                    <a:p>
                      <a:pPr lvl="0" algn="l" fontAlgn="b"/>
                      <a:r>
                        <a:rPr lang="en-GB" sz="1000" u="none" strike="noStrike"/>
                        <a:t>GB725115003000</a:t>
                      </a:r>
                      <a:endParaRPr lang="en-GB" sz="1000" b="0" i="0" u="none" strike="noStrike">
                        <a:solidFill>
                          <a:srgbClr val="000000"/>
                        </a:solidFill>
                        <a:latin typeface="Calibri" pitchFamily="34"/>
                      </a:endParaRPr>
                    </a:p>
                  </a:txBody>
                  <a:tcPr marL="8485" marR="8485" marT="8485" marB="0" anchor="b">
                    <a:solidFill>
                      <a:srgbClr val="F2F2F2"/>
                    </a:solidFill>
                  </a:tcPr>
                </a:tc>
                <a:extLst>
                  <a:ext uri="{0D108BD9-81ED-4DB2-BD59-A6C34878D82A}">
                    <a16:rowId xmlns:a16="http://schemas.microsoft.com/office/drawing/2014/main" val="648173448"/>
                  </a:ext>
                </a:extLst>
              </a:tr>
              <a:tr h="161163">
                <a:tc>
                  <a:txBody>
                    <a:bodyPr/>
                    <a:lstStyle/>
                    <a:p>
                      <a:pPr lvl="0" algn="l" fontAlgn="b"/>
                      <a:r>
                        <a:rPr lang="en-GB" sz="1000" u="none" strike="noStrike"/>
                        <a:t>3/20</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Representative ID</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D</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GB725115003000</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458585425"/>
                  </a:ext>
                </a:extLst>
              </a:tr>
              <a:tr h="161163">
                <a:tc>
                  <a:txBody>
                    <a:bodyPr/>
                    <a:lstStyle/>
                    <a:p>
                      <a:pPr marL="0" lvl="0" algn="l" defTabSz="914400" rtl="0" fontAlgn="b" hangingPunct="1"/>
                      <a:r>
                        <a:rPr lang="en-GB" sz="1000" u="none" strike="noStrike" kern="1200">
                          <a:solidFill>
                            <a:srgbClr val="000000"/>
                          </a:solidFill>
                          <a:latin typeface="Calibri"/>
                        </a:rPr>
                        <a:t>3/21</a:t>
                      </a:r>
                    </a:p>
                  </a:txBody>
                  <a:tcPr marL="8485" marR="8485" marT="8485" marB="0" anchor="b">
                    <a:solidFill>
                      <a:srgbClr val="F2F2F2"/>
                    </a:solidFill>
                  </a:tcPr>
                </a:tc>
                <a:tc>
                  <a:txBody>
                    <a:bodyPr/>
                    <a:lstStyle/>
                    <a:p>
                      <a:pPr marL="0" lvl="0" algn="l" defTabSz="914400" rtl="0" fontAlgn="b" hangingPunct="1"/>
                      <a:r>
                        <a:rPr lang="en-GB" sz="1000" u="none" strike="noStrike" kern="1200">
                          <a:solidFill>
                            <a:srgbClr val="000000"/>
                          </a:solidFill>
                          <a:latin typeface="Calibri"/>
                        </a:rPr>
                        <a:t>Representative Status Code</a:t>
                      </a:r>
                    </a:p>
                  </a:txBody>
                  <a:tcPr marL="8485" marR="8485" marT="8485" marB="0" anchor="b">
                    <a:solidFill>
                      <a:srgbClr val="F2F2F2"/>
                    </a:solidFill>
                  </a:tcPr>
                </a:tc>
                <a:tc>
                  <a:txBody>
                    <a:bodyPr/>
                    <a:lstStyle/>
                    <a:p>
                      <a:pPr marL="0" lvl="0" algn="l" defTabSz="914400" rtl="0" fontAlgn="b" hangingPunct="1"/>
                      <a:r>
                        <a:rPr lang="en-GB" sz="1000" u="none" strike="noStrike" kern="1200">
                          <a:solidFill>
                            <a:srgbClr val="000000"/>
                          </a:solidFill>
                          <a:latin typeface="Calibri"/>
                        </a:rPr>
                        <a:t>D</a:t>
                      </a:r>
                    </a:p>
                  </a:txBody>
                  <a:tcPr marL="8485" marR="8485" marT="8485" marB="0" anchor="b">
                    <a:solidFill>
                      <a:srgbClr val="F2F2F2"/>
                    </a:solidFill>
                  </a:tcPr>
                </a:tc>
                <a:tc>
                  <a:txBody>
                    <a:bodyPr/>
                    <a:lstStyle/>
                    <a:p>
                      <a:pPr marL="0" lvl="0" algn="l" defTabSz="914400" rtl="0" fontAlgn="b" hangingPunct="1"/>
                      <a:r>
                        <a:rPr lang="en-GB" sz="1000" u="none" strike="noStrike" kern="1200">
                          <a:solidFill>
                            <a:srgbClr val="000000"/>
                          </a:solidFill>
                          <a:latin typeface="Calibri"/>
                        </a:rPr>
                        <a:t>2</a:t>
                      </a:r>
                    </a:p>
                  </a:txBody>
                  <a:tcPr marL="8485" marR="8485" marT="8485" marB="0" anchor="b">
                    <a:solidFill>
                      <a:srgbClr val="F2F2F2"/>
                    </a:solidFill>
                  </a:tcPr>
                </a:tc>
                <a:extLst>
                  <a:ext uri="{0D108BD9-81ED-4DB2-BD59-A6C34878D82A}">
                    <a16:rowId xmlns:a16="http://schemas.microsoft.com/office/drawing/2014/main" val="4125857714"/>
                  </a:ext>
                </a:extLst>
              </a:tr>
              <a:tr h="161163">
                <a:tc>
                  <a:txBody>
                    <a:bodyPr/>
                    <a:lstStyle/>
                    <a:p>
                      <a:pPr marL="0" lvl="0" algn="l" defTabSz="914400" rtl="0" fontAlgn="b" hangingPunct="1"/>
                      <a:r>
                        <a:rPr lang="en-GB" sz="1000" u="none" strike="noStrike" kern="1200">
                          <a:solidFill>
                            <a:srgbClr val="000000"/>
                          </a:solidFill>
                          <a:latin typeface="Calibri"/>
                        </a:rPr>
                        <a:t>5/23</a:t>
                      </a:r>
                    </a:p>
                  </a:txBody>
                  <a:tcPr marL="8485" marR="8485" marT="8485" marB="0" anchor="b">
                    <a:solidFill>
                      <a:srgbClr val="D9D9D9"/>
                    </a:solidFill>
                  </a:tcPr>
                </a:tc>
                <a:tc>
                  <a:txBody>
                    <a:bodyPr/>
                    <a:lstStyle/>
                    <a:p>
                      <a:pPr lvl="0" algn="l" fontAlgn="b"/>
                      <a:r>
                        <a:rPr lang="en-GB" sz="1000" u="none" strike="noStrike"/>
                        <a:t>Location of Goods</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M</a:t>
                      </a:r>
                      <a:endParaRPr lang="en-GB" sz="1000" b="0" i="0" u="none" strike="noStrike">
                        <a:solidFill>
                          <a:srgbClr val="000000"/>
                        </a:solidFill>
                        <a:latin typeface="Calibri" pitchFamily="34"/>
                      </a:endParaRPr>
                    </a:p>
                  </a:txBody>
                  <a:tcPr marL="8485" marR="8485" marT="8485" marB="0" anchor="b">
                    <a:solidFill>
                      <a:srgbClr val="D9D9D9"/>
                    </a:solidFill>
                  </a:tcPr>
                </a:tc>
                <a:tc>
                  <a:txBody>
                    <a:bodyPr/>
                    <a:lstStyle/>
                    <a:p>
                      <a:pPr lvl="0" algn="l" fontAlgn="b"/>
                      <a:r>
                        <a:rPr lang="en-GB" sz="1000" u="none" strike="noStrike"/>
                        <a:t>GBBYFSDGBEIR72511500300020200101105713</a:t>
                      </a:r>
                      <a:endParaRPr lang="en-GB" sz="1000" b="0" i="0" u="none" strike="noStrike">
                        <a:solidFill>
                          <a:srgbClr val="000000"/>
                        </a:solidFill>
                        <a:latin typeface="Calibri" pitchFamily="34"/>
                      </a:endParaRPr>
                    </a:p>
                  </a:txBody>
                  <a:tcPr marL="8485" marR="8485" marT="8485" marB="0" anchor="b">
                    <a:solidFill>
                      <a:srgbClr val="D9D9D9"/>
                    </a:solidFill>
                  </a:tcPr>
                </a:tc>
                <a:extLst>
                  <a:ext uri="{0D108BD9-81ED-4DB2-BD59-A6C34878D82A}">
                    <a16:rowId xmlns:a16="http://schemas.microsoft.com/office/drawing/2014/main" val="1131269127"/>
                  </a:ext>
                </a:extLst>
              </a:tr>
              <a:tr h="161163">
                <a:tc>
                  <a:txBody>
                    <a:bodyPr/>
                    <a:lstStyle/>
                    <a:p>
                      <a:pPr marL="0" lvl="0" algn="l" defTabSz="914400" rtl="0" fontAlgn="b" hangingPunct="1">
                        <a:lnSpc>
                          <a:spcPct val="105000"/>
                        </a:lnSpc>
                        <a:spcAft>
                          <a:spcPts val="0"/>
                        </a:spcAft>
                      </a:pPr>
                      <a:r>
                        <a:rPr lang="en-GB" sz="1000" u="none" strike="noStrike" kern="1200">
                          <a:solidFill>
                            <a:srgbClr val="000000"/>
                          </a:solidFill>
                          <a:latin typeface="Calibri"/>
                        </a:rPr>
                        <a:t>6/1</a:t>
                      </a:r>
                    </a:p>
                  </a:txBody>
                  <a:tcPr marL="68580" marR="68580" marT="0" marB="0">
                    <a:solidFill>
                      <a:srgbClr val="F2F2F2"/>
                    </a:solidFill>
                  </a:tcPr>
                </a:tc>
                <a:tc>
                  <a:txBody>
                    <a:bodyPr/>
                    <a:lstStyle/>
                    <a:p>
                      <a:pPr marL="0" lvl="0" algn="l" defTabSz="914400" rtl="0" fontAlgn="b" hangingPunct="1">
                        <a:lnSpc>
                          <a:spcPct val="105000"/>
                        </a:lnSpc>
                        <a:spcAft>
                          <a:spcPts val="0"/>
                        </a:spcAft>
                      </a:pPr>
                      <a:r>
                        <a:rPr lang="en-GB" sz="1000" u="none" strike="noStrike" kern="1200">
                          <a:solidFill>
                            <a:srgbClr val="000000"/>
                          </a:solidFill>
                          <a:latin typeface="Calibri"/>
                        </a:rPr>
                        <a:t>Net Mass</a:t>
                      </a:r>
                    </a:p>
                  </a:txBody>
                  <a:tcPr marL="68580" marR="68580" marT="0" marB="0">
                    <a:solidFill>
                      <a:srgbClr val="F2F2F2"/>
                    </a:solidFill>
                  </a:tcPr>
                </a:tc>
                <a:tc>
                  <a:txBody>
                    <a:bodyPr/>
                    <a:lstStyle/>
                    <a:p>
                      <a:pPr marL="0" lvl="0" algn="l" defTabSz="914400" rtl="0" fontAlgn="b" hangingPunct="1">
                        <a:lnSpc>
                          <a:spcPct val="105000"/>
                        </a:lnSpc>
                        <a:spcAft>
                          <a:spcPts val="0"/>
                        </a:spcAft>
                      </a:pPr>
                      <a:r>
                        <a:rPr lang="en-GB" sz="1000" u="none" strike="noStrike" kern="1200">
                          <a:solidFill>
                            <a:srgbClr val="000000"/>
                          </a:solidFill>
                          <a:latin typeface="Calibri"/>
                        </a:rPr>
                        <a:t>O</a:t>
                      </a:r>
                    </a:p>
                  </a:txBody>
                  <a:tcPr marL="68580" marR="68580" marT="0" marB="0">
                    <a:solidFill>
                      <a:srgbClr val="F2F2F2"/>
                    </a:solidFill>
                  </a:tcPr>
                </a:tc>
                <a:tc>
                  <a:txBody>
                    <a:bodyPr/>
                    <a:lstStyle/>
                    <a:p>
                      <a:pPr marL="0" lvl="0" algn="l" defTabSz="914400" rtl="0" fontAlgn="b" hangingPunct="1">
                        <a:lnSpc>
                          <a:spcPct val="105000"/>
                        </a:lnSpc>
                        <a:spcAft>
                          <a:spcPts val="0"/>
                        </a:spcAft>
                      </a:pPr>
                      <a:r>
                        <a:rPr lang="en-GB" sz="1000" u="none" strike="noStrike" kern="1200" dirty="0">
                          <a:solidFill>
                            <a:srgbClr val="000000"/>
                          </a:solidFill>
                          <a:latin typeface="Calibri"/>
                        </a:rPr>
                        <a:t> </a:t>
                      </a:r>
                    </a:p>
                  </a:txBody>
                  <a:tcPr marL="68580" marR="68580" marT="0" marB="0">
                    <a:solidFill>
                      <a:srgbClr val="F2F2F2"/>
                    </a:solidFill>
                  </a:tcPr>
                </a:tc>
                <a:extLst>
                  <a:ext uri="{0D108BD9-81ED-4DB2-BD59-A6C34878D82A}">
                    <a16:rowId xmlns:a16="http://schemas.microsoft.com/office/drawing/2014/main" val="388956993"/>
                  </a:ext>
                </a:extLst>
              </a:tr>
            </a:tbl>
          </a:graphicData>
        </a:graphic>
      </p:graphicFrame>
      <p:sp>
        <p:nvSpPr>
          <p:cNvPr id="23" name="TextBox 4">
            <a:extLst>
              <a:ext uri="{FF2B5EF4-FFF2-40B4-BE49-F238E27FC236}">
                <a16:creationId xmlns:a16="http://schemas.microsoft.com/office/drawing/2014/main" id="{E995E8F5-DBE9-43CC-A363-388A31E91C91}"/>
              </a:ext>
            </a:extLst>
          </p:cNvPr>
          <p:cNvSpPr txBox="1"/>
          <p:nvPr/>
        </p:nvSpPr>
        <p:spPr>
          <a:xfrm>
            <a:off x="5738737" y="1023341"/>
            <a:ext cx="6453268"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Example of a completed FSD declaration with sample data. </a:t>
            </a:r>
          </a:p>
        </p:txBody>
      </p:sp>
      <p:grpSp>
        <p:nvGrpSpPr>
          <p:cNvPr id="24" name="Group 5">
            <a:extLst>
              <a:ext uri="{FF2B5EF4-FFF2-40B4-BE49-F238E27FC236}">
                <a16:creationId xmlns:a16="http://schemas.microsoft.com/office/drawing/2014/main" id="{4B77C34C-67CC-4B4D-A0E6-E43CA7DBAD2A}"/>
              </a:ext>
            </a:extLst>
          </p:cNvPr>
          <p:cNvGrpSpPr/>
          <p:nvPr/>
        </p:nvGrpSpPr>
        <p:grpSpPr>
          <a:xfrm>
            <a:off x="5817778" y="5656772"/>
            <a:ext cx="6245654" cy="985922"/>
            <a:chOff x="5817778" y="5656772"/>
            <a:chExt cx="6245654" cy="985922"/>
          </a:xfrm>
        </p:grpSpPr>
        <p:grpSp>
          <p:nvGrpSpPr>
            <p:cNvPr id="25" name="Group 3">
              <a:extLst>
                <a:ext uri="{FF2B5EF4-FFF2-40B4-BE49-F238E27FC236}">
                  <a16:creationId xmlns:a16="http://schemas.microsoft.com/office/drawing/2014/main" id="{63E833BA-6E3A-414D-9562-DED8EEBD367D}"/>
                </a:ext>
              </a:extLst>
            </p:cNvPr>
            <p:cNvGrpSpPr/>
            <p:nvPr/>
          </p:nvGrpSpPr>
          <p:grpSpPr>
            <a:xfrm>
              <a:off x="5817778" y="5656772"/>
              <a:ext cx="6046132" cy="985922"/>
              <a:chOff x="5817778" y="5656772"/>
              <a:chExt cx="6046132" cy="985922"/>
            </a:xfrm>
          </p:grpSpPr>
          <p:sp>
            <p:nvSpPr>
              <p:cNvPr id="26" name="Rectangle 9">
                <a:extLst>
                  <a:ext uri="{FF2B5EF4-FFF2-40B4-BE49-F238E27FC236}">
                    <a16:creationId xmlns:a16="http://schemas.microsoft.com/office/drawing/2014/main" id="{142D952A-FFE8-4077-B04A-3F01807F9664}"/>
                  </a:ext>
                </a:extLst>
              </p:cNvPr>
              <p:cNvSpPr/>
              <p:nvPr/>
            </p:nvSpPr>
            <p:spPr>
              <a:xfrm>
                <a:off x="5820348" y="5661891"/>
                <a:ext cx="6043562" cy="980803"/>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Rectangle 28">
                <a:extLst>
                  <a:ext uri="{FF2B5EF4-FFF2-40B4-BE49-F238E27FC236}">
                    <a16:creationId xmlns:a16="http://schemas.microsoft.com/office/drawing/2014/main" id="{EF8A6300-2C29-4C6D-88D2-97473A91BB56}"/>
                  </a:ext>
                </a:extLst>
              </p:cNvPr>
              <p:cNvSpPr/>
              <p:nvPr/>
            </p:nvSpPr>
            <p:spPr>
              <a:xfrm rot="16200004">
                <a:off x="5597801" y="5876749"/>
                <a:ext cx="975628" cy="535673"/>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FFFFFF"/>
                    </a:solidFill>
                    <a:uFillTx/>
                    <a:latin typeface="Calibri"/>
                  </a:rPr>
                  <a:t>RELEVANT XML SAMPLES</a:t>
                </a:r>
              </a:p>
            </p:txBody>
          </p:sp>
        </p:grpSp>
        <p:sp>
          <p:nvSpPr>
            <p:cNvPr id="28" name="Rectangle 29">
              <a:extLst>
                <a:ext uri="{FF2B5EF4-FFF2-40B4-BE49-F238E27FC236}">
                  <a16:creationId xmlns:a16="http://schemas.microsoft.com/office/drawing/2014/main" id="{F9D63796-2878-42C9-9BE6-53A00793B809}"/>
                </a:ext>
              </a:extLst>
            </p:cNvPr>
            <p:cNvSpPr/>
            <p:nvPr/>
          </p:nvSpPr>
          <p:spPr>
            <a:xfrm>
              <a:off x="6859408" y="5685135"/>
              <a:ext cx="5204024"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1. TT_IM61a - </a:t>
              </a:r>
              <a:r>
                <a:rPr lang="en-GB" sz="1200" b="0" i="0" u="none" strike="noStrike" kern="1200" cap="none" spc="0" baseline="0">
                  <a:solidFill>
                    <a:srgbClr val="000000"/>
                  </a:solidFill>
                  <a:uFillTx/>
                  <a:latin typeface="Calibri" pitchFamily="34"/>
                  <a:ea typeface="Times New Roman" pitchFamily="18"/>
                </a:rPr>
                <a:t>Imports non-excise Final Supplementary Declaration (FSD)</a:t>
              </a:r>
              <a:endParaRPr lang="en-GB" sz="1200" b="0" i="0" u="none" strike="noStrike" kern="1200" cap="none" spc="0" baseline="0">
                <a:solidFill>
                  <a:srgbClr val="000000"/>
                </a:solidFill>
                <a:uFillTx/>
                <a:latin typeface="Calibri" pitchFamily="34"/>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rPr>
                <a:t>2. TT_IM61b - </a:t>
              </a:r>
              <a:r>
                <a:rPr lang="en-GB" sz="1200" b="0" i="0" u="none" strike="noStrike" kern="1200" cap="none" spc="0" baseline="0">
                  <a:solidFill>
                    <a:srgbClr val="000000"/>
                  </a:solidFill>
                  <a:uFillTx/>
                  <a:latin typeface="Calibri"/>
                </a:rPr>
                <a:t>Imports non-excise Final Supplementary Declaration (FSD) with amendment</a:t>
              </a:r>
            </a:p>
          </p:txBody>
        </p:sp>
      </p:grpSp>
      <p:graphicFrame>
        <p:nvGraphicFramePr>
          <p:cNvPr id="29" name="Object 1">
            <a:extLst>
              <a:ext uri="{FF2B5EF4-FFF2-40B4-BE49-F238E27FC236}">
                <a16:creationId xmlns:a16="http://schemas.microsoft.com/office/drawing/2014/main" id="{6EE5FF67-E019-404B-B30C-0ECB658AA63C}"/>
              </a:ext>
            </a:extLst>
          </p:cNvPr>
          <p:cNvGraphicFramePr/>
          <p:nvPr/>
        </p:nvGraphicFramePr>
        <p:xfrm>
          <a:off x="5181603" y="272070"/>
          <a:ext cx="914400" cy="806445"/>
        </p:xfrm>
        <a:graphic>
          <a:graphicData uri="http://schemas.openxmlformats.org/presentationml/2006/ole">
            <mc:AlternateContent xmlns:mc="http://schemas.openxmlformats.org/markup-compatibility/2006">
              <mc:Choice xmlns:v="urn:schemas-microsoft-com:vml" Requires="v">
                <p:oleObj name="Document" r:id="rId4" imgW="1371600" imgH="1209675" progId="">
                  <p:embed/>
                </p:oleObj>
              </mc:Choice>
              <mc:Fallback>
                <p:oleObj name="Document" r:id="rId4" imgW="1371600" imgH="1209675" progId="">
                  <p:embed/>
                  <p:pic>
                    <p:nvPicPr>
                      <p:cNvPr id="29" name="Object 1">
                        <a:extLst>
                          <a:ext uri="{FF2B5EF4-FFF2-40B4-BE49-F238E27FC236}">
                            <a16:creationId xmlns:a16="http://schemas.microsoft.com/office/drawing/2014/main" id="{6EE5FF67-E019-404B-B30C-0ECB658AA63C}"/>
                          </a:ext>
                        </a:extLst>
                      </p:cNvPr>
                      <p:cNvPicPr/>
                      <p:nvPr/>
                    </p:nvPicPr>
                    <p:blipFill>
                      <a:blip r:embed="rId5"/>
                      <a:stretch>
                        <a:fillRect/>
                      </a:stretch>
                    </p:blipFill>
                    <p:spPr>
                      <a:xfrm>
                        <a:off x="5181603" y="272070"/>
                        <a:ext cx="914400" cy="806445"/>
                      </a:xfrm>
                      <a:prstGeom prst="rect">
                        <a:avLst/>
                      </a:prstGeom>
                      <a:noFill/>
                      <a:ln cap="flat">
                        <a:noFill/>
                      </a:ln>
                    </p:spPr>
                  </p:pic>
                </p:oleObj>
              </mc:Fallback>
            </mc:AlternateContent>
          </a:graphicData>
        </a:graphic>
      </p:graphicFrame>
      <p:sp>
        <p:nvSpPr>
          <p:cNvPr id="30" name="Footer Placeholder 1">
            <a:extLst>
              <a:ext uri="{FF2B5EF4-FFF2-40B4-BE49-F238E27FC236}">
                <a16:creationId xmlns:a16="http://schemas.microsoft.com/office/drawing/2014/main" id="{10A0703E-EFD4-4F08-B8E5-3D5986193B88}"/>
              </a:ext>
            </a:extLst>
          </p:cNvPr>
          <p:cNvSpPr txBox="1"/>
          <p:nvPr/>
        </p:nvSpPr>
        <p:spPr>
          <a:xfrm>
            <a:off x="2875175" y="666583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name="Slide453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ECD93022-B4DE-48F5-AC53-25509FCB3456}"/>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055FEE7-5D73-4A23-A697-822C488C307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0196E1C1-70F0-4394-9892-A9AE85E9ECE7}"/>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FDC6CD4A-8754-482E-8EEF-D5F0543611AD}"/>
              </a:ext>
            </a:extLst>
          </p:cNvPr>
          <p:cNvSpPr txBox="1"/>
          <p:nvPr/>
        </p:nvSpPr>
        <p:spPr>
          <a:xfrm>
            <a:off x="11690823"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1D215D9-0670-4CDD-96FF-13B481128F6B}" type="slidenum">
              <a:rPr sz="1200"/>
              <a:t>411</a:t>
            </a:fld>
            <a:endParaRPr lang="en-GB" sz="1200" b="0"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A02781AA-D0A6-4E60-A98E-D9BFE97C4D61}"/>
              </a:ext>
            </a:extLst>
          </p:cNvPr>
          <p:cNvSpPr/>
          <p:nvPr/>
        </p:nvSpPr>
        <p:spPr>
          <a:xfrm>
            <a:off x="363967" y="712143"/>
            <a:ext cx="810441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 </a:t>
            </a:r>
            <a:endParaRPr lang="en-GB" sz="1600" b="1" i="0" u="none" strike="noStrike" kern="1200" cap="none" spc="0" baseline="0">
              <a:solidFill>
                <a:srgbClr val="FF0000"/>
              </a:solidFill>
              <a:highlight>
                <a:srgbClr val="FFFF00"/>
              </a:highlight>
              <a:uFillTx/>
              <a:latin typeface="Calibri" pitchFamily="34"/>
              <a:ea typeface="Calibri" pitchFamily="34"/>
            </a:endParaRPr>
          </a:p>
        </p:txBody>
      </p:sp>
      <p:sp>
        <p:nvSpPr>
          <p:cNvPr id="8" name="Oval 43">
            <a:extLst>
              <a:ext uri="{FF2B5EF4-FFF2-40B4-BE49-F238E27FC236}">
                <a16:creationId xmlns:a16="http://schemas.microsoft.com/office/drawing/2014/main" id="{292F4514-19D1-4169-8B84-D3BC8BC6896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44">
            <a:extLst>
              <a:ext uri="{FF2B5EF4-FFF2-40B4-BE49-F238E27FC236}">
                <a16:creationId xmlns:a16="http://schemas.microsoft.com/office/drawing/2014/main" id="{F17BA16B-AF1B-409C-89F2-5CA38535F26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5">
            <a:extLst>
              <a:ext uri="{FF2B5EF4-FFF2-40B4-BE49-F238E27FC236}">
                <a16:creationId xmlns:a16="http://schemas.microsoft.com/office/drawing/2014/main" id="{6A1667EA-E846-4618-A165-56D8E431C0E6}"/>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6">
            <a:extLst>
              <a:ext uri="{FF2B5EF4-FFF2-40B4-BE49-F238E27FC236}">
                <a16:creationId xmlns:a16="http://schemas.microsoft.com/office/drawing/2014/main" id="{470823A1-20FE-471D-B1ED-DAE2E9A1F1C4}"/>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48">
            <a:extLst>
              <a:ext uri="{FF2B5EF4-FFF2-40B4-BE49-F238E27FC236}">
                <a16:creationId xmlns:a16="http://schemas.microsoft.com/office/drawing/2014/main" id="{1DC11195-4A56-4CE9-9094-7EC9970EBF0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49">
            <a:extLst>
              <a:ext uri="{FF2B5EF4-FFF2-40B4-BE49-F238E27FC236}">
                <a16:creationId xmlns:a16="http://schemas.microsoft.com/office/drawing/2014/main" id="{2258D12A-D4AF-4EB4-B9B4-310DF0E14FD8}"/>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51">
            <a:extLst>
              <a:ext uri="{FF2B5EF4-FFF2-40B4-BE49-F238E27FC236}">
                <a16:creationId xmlns:a16="http://schemas.microsoft.com/office/drawing/2014/main" id="{F7908B88-8621-4810-A65A-FAF203294CCC}"/>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52">
            <a:extLst>
              <a:ext uri="{FF2B5EF4-FFF2-40B4-BE49-F238E27FC236}">
                <a16:creationId xmlns:a16="http://schemas.microsoft.com/office/drawing/2014/main" id="{D92605FF-EB70-4EB8-987E-0E1C0F3E07E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53">
            <a:extLst>
              <a:ext uri="{FF2B5EF4-FFF2-40B4-BE49-F238E27FC236}">
                <a16:creationId xmlns:a16="http://schemas.microsoft.com/office/drawing/2014/main" id="{AB106780-CBAE-4DAD-8E3A-153853FD4F5C}"/>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4">
            <a:extLst>
              <a:ext uri="{FF2B5EF4-FFF2-40B4-BE49-F238E27FC236}">
                <a16:creationId xmlns:a16="http://schemas.microsoft.com/office/drawing/2014/main" id="{D0A86D39-9916-46C8-927C-CCA5BB94DE9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extLst>
              <a:ext uri="{FF2B5EF4-FFF2-40B4-BE49-F238E27FC236}">
                <a16:creationId xmlns:a16="http://schemas.microsoft.com/office/drawing/2014/main" id="{F4DA5EF3-1DF9-4499-BDF2-EDF1FF594312}"/>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56">
            <a:extLst>
              <a:ext uri="{FF2B5EF4-FFF2-40B4-BE49-F238E27FC236}">
                <a16:creationId xmlns:a16="http://schemas.microsoft.com/office/drawing/2014/main" id="{F8DE7191-1789-4C26-8D88-E79439A4635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33">
            <a:extLst>
              <a:ext uri="{FF2B5EF4-FFF2-40B4-BE49-F238E27FC236}">
                <a16:creationId xmlns:a16="http://schemas.microsoft.com/office/drawing/2014/main" id="{D3193C89-10D4-4EE1-AC82-538158ABCA5C}"/>
              </a:ext>
            </a:extLst>
          </p:cNvPr>
          <p:cNvSpPr/>
          <p:nvPr/>
        </p:nvSpPr>
        <p:spPr>
          <a:xfrm>
            <a:off x="363967" y="1063977"/>
            <a:ext cx="10816730"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CDS Tariff Volume 3 Rules Rework</a:t>
            </a:r>
          </a:p>
        </p:txBody>
      </p:sp>
      <p:sp>
        <p:nvSpPr>
          <p:cNvPr id="21" name="Rectangle 39">
            <a:extLst>
              <a:ext uri="{FF2B5EF4-FFF2-40B4-BE49-F238E27FC236}">
                <a16:creationId xmlns:a16="http://schemas.microsoft.com/office/drawing/2014/main" id="{031EFB30-4FA6-4F20-89F3-08840F76E1C4}"/>
              </a:ext>
            </a:extLst>
          </p:cNvPr>
          <p:cNvSpPr/>
          <p:nvPr/>
        </p:nvSpPr>
        <p:spPr>
          <a:xfrm>
            <a:off x="421986" y="1402534"/>
            <a:ext cx="11548085" cy="193899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functionality is part of the CDS Tariff alignment work which is being introduced to CDS to ensure that CDS aligns with the Tariff Vol. 3.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CDS Tariff Volume 3, from TTM14.2, CDS will:</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Permit the use of Authorisation by Declaration (AI code '00100") on Previous Procedures , as well as against requested procedures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Ensure that any valid preference and/or special procedure code can be declared along with Authorisation by Declaration AI code ‘00100’ in D.E. 2/2.</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Allow Authorisation by Declaration (AI code '00100') at GB and Isle of Man locations (GB or IM prefix to DE 5/23)</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Allow declarants that are importing from the US, as well as other visiting NATO forces to declare a VAT tax type, therefore enabling traders to provide security if required.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Extend use of ABD (AI code '001000') beyond End Use : allow any special procedure document type code to be declared in DE 2/3 and allow any preference type code to be declared in DE 4/17</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name="Slide838840351">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5D8D3A07-B14F-4C9B-8C0F-F36FEEF2DDC0}"/>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BC9F060E-CE88-4210-8E5D-F7D168CF979E}"/>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58BF3AC7-0651-4F05-A3B6-0F35BA642D69}"/>
              </a:ext>
            </a:extLst>
          </p:cNvPr>
          <p:cNvGraphicFramePr>
            <a:graphicFrameLocks noGrp="1"/>
          </p:cNvGraphicFramePr>
          <p:nvPr/>
        </p:nvGraphicFramePr>
        <p:xfrm>
          <a:off x="475268" y="158108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1690789516"/>
                    </a:ext>
                  </a:extLst>
                </a:gridCol>
              </a:tblGrid>
              <a:tr h="220434">
                <a:tc>
                  <a:txBody>
                    <a:bodyPr/>
                    <a:lstStyle/>
                    <a:p>
                      <a:pPr lvl="0" algn="ctr"/>
                      <a:r>
                        <a:rPr lang="en-GB" sz="1200"/>
                        <a:t>TTM14.1 (CDS 3.2.0)</a:t>
                      </a:r>
                    </a:p>
                  </a:txBody>
                  <a:tcPr>
                    <a:solidFill>
                      <a:srgbClr val="A6A6A6"/>
                    </a:solidFill>
                  </a:tcPr>
                </a:tc>
                <a:extLst>
                  <a:ext uri="{0D108BD9-81ED-4DB2-BD59-A6C34878D82A}">
                    <a16:rowId xmlns:a16="http://schemas.microsoft.com/office/drawing/2014/main" val="1249015940"/>
                  </a:ext>
                </a:extLst>
              </a:tr>
              <a:tr h="261975">
                <a:tc>
                  <a:txBody>
                    <a:bodyPr/>
                    <a:lstStyle/>
                    <a:p>
                      <a:pPr lvl="0" algn="ctr"/>
                      <a:r>
                        <a:rPr lang="en-GB" sz="1200" b="1" dirty="0">
                          <a:solidFill>
                            <a:srgbClr val="000000"/>
                          </a:solidFill>
                        </a:rPr>
                        <a:t>TT: </a:t>
                      </a:r>
                      <a:r>
                        <a:rPr lang="en-GB" sz="1200" b="0" dirty="0">
                          <a:solidFill>
                            <a:srgbClr val="000000"/>
                          </a:solidFill>
                        </a:rPr>
                        <a:t>24/03/2021   </a:t>
                      </a:r>
                      <a:r>
                        <a:rPr lang="en-GB" sz="1200" b="1" dirty="0">
                          <a:solidFill>
                            <a:srgbClr val="000000"/>
                          </a:solidFill>
                        </a:rPr>
                        <a:t>TDR: </a:t>
                      </a:r>
                      <a:r>
                        <a:rPr lang="en-GB" sz="1200" b="0" dirty="0">
                          <a:solidFill>
                            <a:srgbClr val="000000"/>
                          </a:solidFill>
                        </a:rPr>
                        <a:t>07/04/2021   </a:t>
                      </a:r>
                      <a:r>
                        <a:rPr lang="en-GB" sz="1200" b="1" dirty="0">
                          <a:solidFill>
                            <a:srgbClr val="000000"/>
                          </a:solidFill>
                        </a:rPr>
                        <a:t>Live: </a:t>
                      </a:r>
                      <a:r>
                        <a:rPr lang="en-GB" sz="1200" b="0" dirty="0">
                          <a:solidFill>
                            <a:srgbClr val="000000"/>
                          </a:solidFill>
                        </a:rPr>
                        <a:t>01/04/2021</a:t>
                      </a:r>
                    </a:p>
                  </a:txBody>
                  <a:tcPr>
                    <a:solidFill>
                      <a:srgbClr val="E7E6E6"/>
                    </a:solidFill>
                  </a:tcPr>
                </a:tc>
                <a:extLst>
                  <a:ext uri="{0D108BD9-81ED-4DB2-BD59-A6C34878D82A}">
                    <a16:rowId xmlns:a16="http://schemas.microsoft.com/office/drawing/2014/main" val="3630523922"/>
                  </a:ext>
                </a:extLst>
              </a:tr>
            </a:tbl>
          </a:graphicData>
        </a:graphic>
      </p:graphicFrame>
      <p:cxnSp>
        <p:nvCxnSpPr>
          <p:cNvPr id="6" name="Straight Connector 11">
            <a:extLst>
              <a:ext uri="{FF2B5EF4-FFF2-40B4-BE49-F238E27FC236}">
                <a16:creationId xmlns:a16="http://schemas.microsoft.com/office/drawing/2014/main" id="{30CC7D90-6B51-4898-838C-1C6DA9717F5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182F397F-681F-4443-B3B4-B8A1768E45E7}"/>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 name="Rectangle 103">
            <a:extLst>
              <a:ext uri="{FF2B5EF4-FFF2-40B4-BE49-F238E27FC236}">
                <a16:creationId xmlns:a16="http://schemas.microsoft.com/office/drawing/2014/main" id="{7707CD05-C1C0-42B1-BD51-59537E799716}"/>
              </a:ext>
            </a:extLst>
          </p:cNvPr>
          <p:cNvSpPr/>
          <p:nvPr/>
        </p:nvSpPr>
        <p:spPr>
          <a:xfrm>
            <a:off x="430700" y="1533896"/>
            <a:ext cx="11330604" cy="2028459"/>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13D976A5-5700-4C53-9690-A431DB52CBE2}"/>
              </a:ext>
            </a:extLst>
          </p:cNvPr>
          <p:cNvGrpSpPr/>
          <p:nvPr/>
        </p:nvGrpSpPr>
        <p:grpSpPr>
          <a:xfrm>
            <a:off x="898242" y="1146584"/>
            <a:ext cx="2801739" cy="276999"/>
            <a:chOff x="898242" y="1146584"/>
            <a:chExt cx="2801739" cy="276999"/>
          </a:xfrm>
        </p:grpSpPr>
        <p:sp>
          <p:nvSpPr>
            <p:cNvPr id="10" name="TextBox 7">
              <a:extLst>
                <a:ext uri="{FF2B5EF4-FFF2-40B4-BE49-F238E27FC236}">
                  <a16:creationId xmlns:a16="http://schemas.microsoft.com/office/drawing/2014/main" id="{18255B18-1D77-4611-BA67-618B881958A8}"/>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F3AEAA52-6F9D-4666-B3E6-7AB11FF01391}"/>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E8244974-5515-4685-B53E-9626FDCEB71A}"/>
              </a:ext>
            </a:extLst>
          </p:cNvPr>
          <p:cNvGraphicFramePr>
            <a:graphicFrameLocks noGrp="1"/>
          </p:cNvGraphicFramePr>
          <p:nvPr/>
        </p:nvGraphicFramePr>
        <p:xfrm>
          <a:off x="475268" y="2150303"/>
          <a:ext cx="11188652" cy="1280160"/>
        </p:xfrm>
        <a:graphic>
          <a:graphicData uri="http://schemas.openxmlformats.org/drawingml/2006/table">
            <a:tbl>
              <a:tblPr firstRow="1" bandRow="1">
                <a:effectLst/>
                <a:tableStyleId>{5C22544A-7EE6-4342-B048-85BDC9FD1C3A}</a:tableStyleId>
              </a:tblPr>
              <a:tblGrid>
                <a:gridCol w="811886">
                  <a:extLst>
                    <a:ext uri="{9D8B030D-6E8A-4147-A177-3AD203B41FA5}">
                      <a16:colId xmlns:a16="http://schemas.microsoft.com/office/drawing/2014/main" val="337315854"/>
                    </a:ext>
                  </a:extLst>
                </a:gridCol>
                <a:gridCol w="2389446">
                  <a:extLst>
                    <a:ext uri="{9D8B030D-6E8A-4147-A177-3AD203B41FA5}">
                      <a16:colId xmlns:a16="http://schemas.microsoft.com/office/drawing/2014/main" val="3586220138"/>
                    </a:ext>
                  </a:extLst>
                </a:gridCol>
                <a:gridCol w="2662440">
                  <a:extLst>
                    <a:ext uri="{9D8B030D-6E8A-4147-A177-3AD203B41FA5}">
                      <a16:colId xmlns:a16="http://schemas.microsoft.com/office/drawing/2014/main" val="3288719060"/>
                    </a:ext>
                  </a:extLst>
                </a:gridCol>
                <a:gridCol w="2662440">
                  <a:extLst>
                    <a:ext uri="{9D8B030D-6E8A-4147-A177-3AD203B41FA5}">
                      <a16:colId xmlns:a16="http://schemas.microsoft.com/office/drawing/2014/main" val="361343148"/>
                    </a:ext>
                  </a:extLst>
                </a:gridCol>
                <a:gridCol w="2662440">
                  <a:extLst>
                    <a:ext uri="{9D8B030D-6E8A-4147-A177-3AD203B41FA5}">
                      <a16:colId xmlns:a16="http://schemas.microsoft.com/office/drawing/2014/main" val="1276339684"/>
                    </a:ext>
                  </a:extLst>
                </a:gridCol>
              </a:tblGrid>
              <a:tr h="0">
                <a:tc rowSpan="2">
                  <a:txBody>
                    <a:bodyPr/>
                    <a:lstStyle/>
                    <a:p>
                      <a:pPr lvl="0"/>
                      <a:r>
                        <a:rPr lang="en-GB" sz="1100"/>
                        <a:t>CCP </a:t>
                      </a:r>
                    </a:p>
                    <a:p>
                      <a:pPr lvl="0"/>
                      <a:endParaRPr lang="en-GB" sz="1100"/>
                    </a:p>
                    <a:p>
                      <a:pPr lvl="0"/>
                      <a:endParaRPr lang="en-GB" sz="1100"/>
                    </a:p>
                  </a:txBody>
                  <a:tcPr>
                    <a:lnR w="12701" cap="flat" cmpd="sng" algn="ctr">
                      <a:solidFill>
                        <a:srgbClr val="FFFFFF"/>
                      </a:solidFill>
                      <a:prstDash val="solid"/>
                      <a:round/>
                      <a:headEnd type="none" w="med" len="med"/>
                      <a:tailEnd type="none" w="med" len="med"/>
                    </a:lnR>
                    <a:solidFill>
                      <a:srgbClr val="FFC000"/>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hlinkClick r:id="rId3" action="ppaction://hlinksldjump"/>
                        </a:rPr>
                        <a:t>Imports from Special Fiscal Territories (NI)</a:t>
                      </a:r>
                      <a:endParaRPr lang="en-GB" sz="120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hlinkClick r:id="rId4" action="ppaction://hlinksldjump"/>
                        </a:rPr>
                        <a:t>Retaliatory Rates and Safeguarding Charges</a:t>
                      </a: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5" action="ppaction://hlinksldjump"/>
                        </a:rPr>
                        <a:t>New Goods Location Codes for D.E. 5/23</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6" action="ppaction://hlinksldjump"/>
                        </a:rPr>
                        <a:t>New Document Code for Plant Health Controlled Commodity Codes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888120258"/>
                  </a:ext>
                </a:extLst>
              </a:tr>
              <a:tr h="0">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a:solidFill>
                            <a:srgbClr val="000000"/>
                          </a:solidFill>
                          <a:hlinkClick r:id="rId7" action="ppaction://hlinksldjump"/>
                        </a:rPr>
                        <a:t>Respond to a Query on a Control Task</a:t>
                      </a:r>
                      <a:endParaRPr lang="en-GB" sz="1200">
                        <a:solidFill>
                          <a:srgbClr val="000000"/>
                        </a:solidFill>
                      </a:endParaRPr>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hlinkClick r:id="rId8" action="ppaction://hlinksldjump"/>
                        </a:rPr>
                        <a:t>Digital Application for Reimbursement</a:t>
                      </a: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hlinkClick r:id="rId8" action="ppaction://hlinksldjump"/>
                        </a:rPr>
                        <a:t>Automatic Direct Debit Instructions </a:t>
                      </a: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dirty="0">
                          <a:solidFill>
                            <a:srgbClr val="000000"/>
                          </a:solidFill>
                          <a:uFillTx/>
                          <a:latin typeface="Calibri"/>
                          <a:hlinkClick r:id="rId8" action="ppaction://hlinksldjump"/>
                        </a:rPr>
                        <a:t>Trader Notifications (No Response from CDS) - Financial Journeys </a:t>
                      </a:r>
                      <a:endParaRPr lang="en-GB" sz="1200" b="0" i="0" u="none" strike="noStrike" kern="1200" cap="none" spc="0" baseline="0" dirty="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338017750"/>
                  </a:ext>
                </a:extLst>
              </a:tr>
            </a:tbl>
          </a:graphicData>
        </a:graphic>
      </p:graphicFrame>
      <p:grpSp>
        <p:nvGrpSpPr>
          <p:cNvPr id="13" name="Group 4">
            <a:extLst>
              <a:ext uri="{FF2B5EF4-FFF2-40B4-BE49-F238E27FC236}">
                <a16:creationId xmlns:a16="http://schemas.microsoft.com/office/drawing/2014/main" id="{65E66217-E1EA-44F2-83A4-8C91E63886E3}"/>
              </a:ext>
            </a:extLst>
          </p:cNvPr>
          <p:cNvGrpSpPr/>
          <p:nvPr/>
        </p:nvGrpSpPr>
        <p:grpSpPr>
          <a:xfrm>
            <a:off x="2663583" y="1154850"/>
            <a:ext cx="3199302" cy="276999"/>
            <a:chOff x="2663583" y="1154850"/>
            <a:chExt cx="3199302" cy="276999"/>
          </a:xfrm>
        </p:grpSpPr>
        <p:sp>
          <p:nvSpPr>
            <p:cNvPr id="14" name="TextBox 7">
              <a:extLst>
                <a:ext uri="{FF2B5EF4-FFF2-40B4-BE49-F238E27FC236}">
                  <a16:creationId xmlns:a16="http://schemas.microsoft.com/office/drawing/2014/main" id="{BE98BBE1-74B8-45EC-8609-C352C648F6DB}"/>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F1865AF0-843A-45CE-B2E2-CD0C993EFA34}"/>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82B9DBAA-5E38-4CEA-930F-4F864D762F71}"/>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7" name="TextBox 13">
            <a:extLst>
              <a:ext uri="{FF2B5EF4-FFF2-40B4-BE49-F238E27FC236}">
                <a16:creationId xmlns:a16="http://schemas.microsoft.com/office/drawing/2014/main" id="{B75F099F-E06F-41DB-9F6F-918765588218}"/>
              </a:ext>
            </a:extLst>
          </p:cNvPr>
          <p:cNvSpPr txBox="1"/>
          <p:nvPr/>
        </p:nvSpPr>
        <p:spPr>
          <a:xfrm>
            <a:off x="430700" y="1875068"/>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8" name="Group 7">
            <a:extLst>
              <a:ext uri="{FF2B5EF4-FFF2-40B4-BE49-F238E27FC236}">
                <a16:creationId xmlns:a16="http://schemas.microsoft.com/office/drawing/2014/main" id="{DC6C082F-F00B-4FF5-BE28-33A4E1E56659}"/>
              </a:ext>
            </a:extLst>
          </p:cNvPr>
          <p:cNvGrpSpPr/>
          <p:nvPr/>
        </p:nvGrpSpPr>
        <p:grpSpPr>
          <a:xfrm>
            <a:off x="5888461" y="1154320"/>
            <a:ext cx="4848834" cy="276999"/>
            <a:chOff x="5888461" y="1154320"/>
            <a:chExt cx="4848834" cy="276999"/>
          </a:xfrm>
        </p:grpSpPr>
        <p:sp>
          <p:nvSpPr>
            <p:cNvPr id="19" name="TextBox 7">
              <a:extLst>
                <a:ext uri="{FF2B5EF4-FFF2-40B4-BE49-F238E27FC236}">
                  <a16:creationId xmlns:a16="http://schemas.microsoft.com/office/drawing/2014/main" id="{5EFD4A53-BC2D-4C83-94A0-15820E49D332}"/>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20" name="Oval 16">
              <a:extLst>
                <a:ext uri="{FF2B5EF4-FFF2-40B4-BE49-F238E27FC236}">
                  <a16:creationId xmlns:a16="http://schemas.microsoft.com/office/drawing/2014/main" id="{A7F040C9-06DB-4EC8-9E44-572B4C149B40}"/>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Oval 87">
            <a:hlinkClick r:id="rId9" action="ppaction://hlinksldjump"/>
            <a:extLst>
              <a:ext uri="{FF2B5EF4-FFF2-40B4-BE49-F238E27FC236}">
                <a16:creationId xmlns:a16="http://schemas.microsoft.com/office/drawing/2014/main" id="{383B85D4-9BDA-4C8B-B9F3-C0BB698FF40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Oval 88">
            <a:hlinkClick r:id="rId9" action="ppaction://hlinksldjump"/>
            <a:extLst>
              <a:ext uri="{FF2B5EF4-FFF2-40B4-BE49-F238E27FC236}">
                <a16:creationId xmlns:a16="http://schemas.microsoft.com/office/drawing/2014/main" id="{47C60D5B-C635-48DF-8DC0-AFF153E40F41}"/>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Oval 89">
            <a:hlinkClick r:id="rId10" action="ppaction://hlinksldjump"/>
            <a:extLst>
              <a:ext uri="{FF2B5EF4-FFF2-40B4-BE49-F238E27FC236}">
                <a16:creationId xmlns:a16="http://schemas.microsoft.com/office/drawing/2014/main" id="{B991E79F-9450-43EC-93C8-9AC3D9C6912B}"/>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90">
            <a:hlinkClick r:id="rId11" action="ppaction://hlinksldjump"/>
            <a:extLst>
              <a:ext uri="{FF2B5EF4-FFF2-40B4-BE49-F238E27FC236}">
                <a16:creationId xmlns:a16="http://schemas.microsoft.com/office/drawing/2014/main" id="{7A11F1CD-641C-4714-871A-C03D412822A8}"/>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TextBox 91">
            <a:hlinkClick r:id="rId9" action="ppaction://hlinksldjump"/>
            <a:extLst>
              <a:ext uri="{FF2B5EF4-FFF2-40B4-BE49-F238E27FC236}">
                <a16:creationId xmlns:a16="http://schemas.microsoft.com/office/drawing/2014/main" id="{D18DAA2E-32B8-4366-8465-063C589BD1E2}"/>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6" name="TextBox 92">
            <a:hlinkClick r:id="rId9" action="ppaction://hlinksldjump"/>
            <a:extLst>
              <a:ext uri="{FF2B5EF4-FFF2-40B4-BE49-F238E27FC236}">
                <a16:creationId xmlns:a16="http://schemas.microsoft.com/office/drawing/2014/main" id="{FBA3BD71-98D7-4360-B0F6-89F27E9E112D}"/>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27" name="TextBox 93">
            <a:hlinkClick r:id="rId10" action="ppaction://hlinksldjump"/>
            <a:extLst>
              <a:ext uri="{FF2B5EF4-FFF2-40B4-BE49-F238E27FC236}">
                <a16:creationId xmlns:a16="http://schemas.microsoft.com/office/drawing/2014/main" id="{DB86C894-0D06-4B8A-8009-2FA0E8F63ED1}"/>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28" name="TextBox 94">
            <a:hlinkClick r:id="rId10" action="ppaction://hlinksldjump"/>
            <a:extLst>
              <a:ext uri="{FF2B5EF4-FFF2-40B4-BE49-F238E27FC236}">
                <a16:creationId xmlns:a16="http://schemas.microsoft.com/office/drawing/2014/main" id="{7DB5326B-3F27-4CF4-87D2-45256981506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9" name="Oval 95">
            <a:extLst>
              <a:ext uri="{FF2B5EF4-FFF2-40B4-BE49-F238E27FC236}">
                <a16:creationId xmlns:a16="http://schemas.microsoft.com/office/drawing/2014/main" id="{1CE60A78-4F08-4430-A646-50E1F711A32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TextBox 96">
            <a:hlinkClick r:id="rId12" action="ppaction://hlinksldjump"/>
            <a:extLst>
              <a:ext uri="{FF2B5EF4-FFF2-40B4-BE49-F238E27FC236}">
                <a16:creationId xmlns:a16="http://schemas.microsoft.com/office/drawing/2014/main" id="{C9FF197A-DD82-48B9-B0A3-118D6CED4033}"/>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1" name="Picture 40">
            <a:hlinkClick r:id="rId9" action="ppaction://hlinksldjump"/>
            <a:extLst>
              <a:ext uri="{FF2B5EF4-FFF2-40B4-BE49-F238E27FC236}">
                <a16:creationId xmlns:a16="http://schemas.microsoft.com/office/drawing/2014/main" id="{EE59F31F-4D25-4E91-8CB2-EFE574098F67}"/>
              </a:ext>
            </a:extLst>
          </p:cNvPr>
          <p:cNvPicPr>
            <a:picLocks noChangeAspect="1"/>
          </p:cNvPicPr>
          <p:nvPr/>
        </p:nvPicPr>
        <p:blipFill>
          <a:blip r:embed="rId13">
            <a:alphaModFix amt="35000"/>
          </a:blip>
          <a:srcRect l="20606" t="21077" r="21527" b="31021"/>
          <a:stretch>
            <a:fillRect/>
          </a:stretch>
        </p:blipFill>
        <p:spPr>
          <a:xfrm>
            <a:off x="10028188" y="272070"/>
            <a:ext cx="256918" cy="210595"/>
          </a:xfrm>
          <a:prstGeom prst="rect">
            <a:avLst/>
          </a:prstGeom>
          <a:noFill/>
          <a:ln cap="flat">
            <a:noFill/>
          </a:ln>
        </p:spPr>
      </p:pic>
      <p:sp>
        <p:nvSpPr>
          <p:cNvPr id="32" name="Oval 98">
            <a:hlinkClick r:id="rId9" action="ppaction://hlinksldjump"/>
            <a:extLst>
              <a:ext uri="{FF2B5EF4-FFF2-40B4-BE49-F238E27FC236}">
                <a16:creationId xmlns:a16="http://schemas.microsoft.com/office/drawing/2014/main" id="{5B11FFDE-312E-48E3-84BC-D250C001074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3" name="Oval 16">
            <a:extLst>
              <a:ext uri="{FF2B5EF4-FFF2-40B4-BE49-F238E27FC236}">
                <a16:creationId xmlns:a16="http://schemas.microsoft.com/office/drawing/2014/main" id="{9E2A650B-EE4B-44B6-9D81-B067EB9003DB}"/>
              </a:ext>
            </a:extLst>
          </p:cNvPr>
          <p:cNvSpPr/>
          <p:nvPr/>
        </p:nvSpPr>
        <p:spPr>
          <a:xfrm>
            <a:off x="1317814"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4" name="Oval 16">
            <a:extLst>
              <a:ext uri="{FF2B5EF4-FFF2-40B4-BE49-F238E27FC236}">
                <a16:creationId xmlns:a16="http://schemas.microsoft.com/office/drawing/2014/main" id="{DD9FD6A7-9ECC-4CD0-A437-03CBE8FBBF13}"/>
              </a:ext>
            </a:extLst>
          </p:cNvPr>
          <p:cNvSpPr/>
          <p:nvPr/>
        </p:nvSpPr>
        <p:spPr>
          <a:xfrm>
            <a:off x="9097438"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Oval 16">
            <a:extLst>
              <a:ext uri="{FF2B5EF4-FFF2-40B4-BE49-F238E27FC236}">
                <a16:creationId xmlns:a16="http://schemas.microsoft.com/office/drawing/2014/main" id="{21C908A7-8658-4071-9625-96CBC5A5CDF3}"/>
              </a:ext>
            </a:extLst>
          </p:cNvPr>
          <p:cNvSpPr/>
          <p:nvPr/>
        </p:nvSpPr>
        <p:spPr>
          <a:xfrm>
            <a:off x="3723948" y="221330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6" name="Oval 16">
            <a:extLst>
              <a:ext uri="{FF2B5EF4-FFF2-40B4-BE49-F238E27FC236}">
                <a16:creationId xmlns:a16="http://schemas.microsoft.com/office/drawing/2014/main" id="{87E62523-3D63-422C-A192-998334CF275E}"/>
              </a:ext>
            </a:extLst>
          </p:cNvPr>
          <p:cNvSpPr/>
          <p:nvPr/>
        </p:nvSpPr>
        <p:spPr>
          <a:xfrm>
            <a:off x="6414488"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7" name="Oval 16">
            <a:extLst>
              <a:ext uri="{FF2B5EF4-FFF2-40B4-BE49-F238E27FC236}">
                <a16:creationId xmlns:a16="http://schemas.microsoft.com/office/drawing/2014/main" id="{B57D049C-C527-4A4B-9B82-9BDB98B073BC}"/>
              </a:ext>
            </a:extLst>
          </p:cNvPr>
          <p:cNvSpPr/>
          <p:nvPr/>
        </p:nvSpPr>
        <p:spPr>
          <a:xfrm>
            <a:off x="1317814" y="288765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8" name="Oval 16">
            <a:extLst>
              <a:ext uri="{FF2B5EF4-FFF2-40B4-BE49-F238E27FC236}">
                <a16:creationId xmlns:a16="http://schemas.microsoft.com/office/drawing/2014/main" id="{CD383295-3AE1-4615-8C10-E7F64E466DD8}"/>
              </a:ext>
            </a:extLst>
          </p:cNvPr>
          <p:cNvSpPr/>
          <p:nvPr/>
        </p:nvSpPr>
        <p:spPr>
          <a:xfrm>
            <a:off x="3723948" y="28886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Oval 16">
            <a:extLst>
              <a:ext uri="{FF2B5EF4-FFF2-40B4-BE49-F238E27FC236}">
                <a16:creationId xmlns:a16="http://schemas.microsoft.com/office/drawing/2014/main" id="{AB950604-6E38-43B5-A63A-58B87B318519}"/>
              </a:ext>
            </a:extLst>
          </p:cNvPr>
          <p:cNvSpPr/>
          <p:nvPr/>
        </p:nvSpPr>
        <p:spPr>
          <a:xfrm>
            <a:off x="6414488" y="288853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0" name="Oval 16">
            <a:extLst>
              <a:ext uri="{FF2B5EF4-FFF2-40B4-BE49-F238E27FC236}">
                <a16:creationId xmlns:a16="http://schemas.microsoft.com/office/drawing/2014/main" id="{922CBC97-4343-406D-8399-E901C85DC7AA}"/>
              </a:ext>
            </a:extLst>
          </p:cNvPr>
          <p:cNvSpPr/>
          <p:nvPr/>
        </p:nvSpPr>
        <p:spPr>
          <a:xfrm>
            <a:off x="9095363" y="282411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1" name="Footer Placeholder 1">
            <a:extLst>
              <a:ext uri="{FF2B5EF4-FFF2-40B4-BE49-F238E27FC236}">
                <a16:creationId xmlns:a16="http://schemas.microsoft.com/office/drawing/2014/main" id="{8E3B3324-EDCE-4722-BD83-13A05D606CD8}"/>
              </a:ext>
            </a:extLst>
          </p:cNvPr>
          <p:cNvSpPr txBox="1"/>
          <p:nvPr/>
        </p:nvSpPr>
        <p:spPr>
          <a:xfrm>
            <a:off x="3306479" y="6487193"/>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solidFill>
                  <a:srgbClr val="3B3A3D"/>
                </a:solidFill>
                <a:uFillTx/>
                <a:latin typeface="Calibri"/>
                <a:ea typeface="Geneva"/>
                <a:cs typeface="Arial"/>
              </a:rPr>
              <a:t>377</a:t>
            </a:r>
            <a:endParaRPr lang="en-GB" sz="1200" b="0" i="0" u="none" strike="noStrike" kern="1200" cap="none" spc="0" baseline="0" dirty="0">
              <a:solidFill>
                <a:srgbClr val="008D8E"/>
              </a:solidFill>
              <a:uFillTx/>
              <a:latin typeface="Calibri"/>
              <a:ea typeface="Geneva"/>
              <a:cs typeface="Arial"/>
            </a:endParaRPr>
          </a:p>
        </p:txBody>
      </p:sp>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name="Slide83884034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AE946A1-90B7-49F3-B090-2B2723EF721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3369344D-9508-49E8-8B13-16812872899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F11F43A2-6290-4A92-B6DB-71C377595F6F}"/>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8B324CE6-EAFF-4E80-8652-74376A0BA141}"/>
              </a:ext>
            </a:extLst>
          </p:cNvPr>
          <p:cNvSpPr txBox="1"/>
          <p:nvPr/>
        </p:nvSpPr>
        <p:spPr>
          <a:xfrm>
            <a:off x="11744937" y="6380448"/>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79FF08B-E34E-4EE3-9327-0825F59BB36D}" type="slidenum">
              <a:rPr sz="1200"/>
              <a:t>413</a:t>
            </a:fld>
            <a:endParaRPr lang="en-GB" sz="1200" b="0"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A7CD7F78-F440-45C8-8590-2ACF17623154}"/>
              </a:ext>
            </a:extLst>
          </p:cNvPr>
          <p:cNvSpPr/>
          <p:nvPr/>
        </p:nvSpPr>
        <p:spPr>
          <a:xfrm>
            <a:off x="363967" y="1268675"/>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8" name="Rectangle 7">
            <a:extLst>
              <a:ext uri="{FF2B5EF4-FFF2-40B4-BE49-F238E27FC236}">
                <a16:creationId xmlns:a16="http://schemas.microsoft.com/office/drawing/2014/main" id="{BA34D586-7C9E-4164-8C43-6CD005C3A420}"/>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9" name="Rectangle 31">
            <a:extLst>
              <a:ext uri="{FF2B5EF4-FFF2-40B4-BE49-F238E27FC236}">
                <a16:creationId xmlns:a16="http://schemas.microsoft.com/office/drawing/2014/main" id="{5C17EB8C-0D12-4075-B128-030294E49071}"/>
              </a:ext>
            </a:extLst>
          </p:cNvPr>
          <p:cNvSpPr/>
          <p:nvPr/>
        </p:nvSpPr>
        <p:spPr>
          <a:xfrm>
            <a:off x="363967" y="1594247"/>
            <a:ext cx="934044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Northern Ireland Imports from UK and EU Special Fiscal Territories and Countries with which the EU has a Customs Union </a:t>
            </a:r>
          </a:p>
        </p:txBody>
      </p:sp>
      <p:sp>
        <p:nvSpPr>
          <p:cNvPr id="10" name="TextBox 42">
            <a:extLst>
              <a:ext uri="{FF2B5EF4-FFF2-40B4-BE49-F238E27FC236}">
                <a16:creationId xmlns:a16="http://schemas.microsoft.com/office/drawing/2014/main" id="{14503842-7C96-438F-B63C-B4C15760B453}"/>
              </a:ext>
            </a:extLst>
          </p:cNvPr>
          <p:cNvSpPr txBox="1"/>
          <p:nvPr/>
        </p:nvSpPr>
        <p:spPr>
          <a:xfrm>
            <a:off x="363967" y="1940512"/>
            <a:ext cx="2851666" cy="442428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the UK and EU trade deal, please note that from January 1</a:t>
            </a:r>
            <a:r>
              <a:rPr lang="en-GB" sz="1200" b="0" i="0" u="none" strike="noStrike" kern="1200" cap="none" spc="0" baseline="30000">
                <a:solidFill>
                  <a:srgbClr val="000000"/>
                </a:solidFill>
                <a:uFillTx/>
                <a:latin typeface="Calibri"/>
              </a:rPr>
              <a:t>st</a:t>
            </a:r>
            <a:r>
              <a:rPr lang="en-GB" sz="1200" b="0" i="0" u="none" strike="noStrike" kern="1200" cap="none" spc="0" baseline="0">
                <a:solidFill>
                  <a:srgbClr val="000000"/>
                </a:solidFill>
                <a:uFillTx/>
                <a:latin typeface="Calibri"/>
              </a:rPr>
              <a:t> 2021:</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Imports from UK SFTs and former SFTs (EU SFTs) will now be expected to only be liable to pay UK VAT &amp; Excise. Please note, customs duty may be liable if traders cannot prove that the goods meet the origins requirement for the FTA or if there are safeguarding duties or countervailing duties on EU imports.</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NI Imports from UK SFTs, Guernsey and Jersey, must use 'IM' instead of 'CO' as post-transition, they will not be considered SFTs of the EU. For 'at risk' imports into NI, Guernsey and Jersey will be treated by the EU as part of the UK for tariff purposes.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More information can be found on </a:t>
            </a:r>
            <a:r>
              <a:rPr lang="en-GB" sz="1200" b="0" i="0" u="none" strike="noStrike" kern="1200" cap="none" spc="0" baseline="0">
                <a:solidFill>
                  <a:srgbClr val="000000"/>
                </a:solidFill>
                <a:uFillTx/>
                <a:latin typeface="Calibri"/>
                <a:hlinkClick r:id="rId3"/>
              </a:rPr>
              <a:t>GOV.UK</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1" name="Oval 43">
            <a:extLst>
              <a:ext uri="{FF2B5EF4-FFF2-40B4-BE49-F238E27FC236}">
                <a16:creationId xmlns:a16="http://schemas.microsoft.com/office/drawing/2014/main" id="{7B711F20-EDB5-469A-8E54-AB2F34D645E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4">
            <a:extLst>
              <a:ext uri="{FF2B5EF4-FFF2-40B4-BE49-F238E27FC236}">
                <a16:creationId xmlns:a16="http://schemas.microsoft.com/office/drawing/2014/main" id="{E61B8B5E-A5BA-40A4-A46F-8ED03636A631}"/>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5">
            <a:extLst>
              <a:ext uri="{FF2B5EF4-FFF2-40B4-BE49-F238E27FC236}">
                <a16:creationId xmlns:a16="http://schemas.microsoft.com/office/drawing/2014/main" id="{3F5258DF-F5DD-4698-986D-C63B90AA7A5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6">
            <a:extLst>
              <a:ext uri="{FF2B5EF4-FFF2-40B4-BE49-F238E27FC236}">
                <a16:creationId xmlns:a16="http://schemas.microsoft.com/office/drawing/2014/main" id="{D6CF308B-E483-476C-9C54-4DF72C2F59A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48">
            <a:extLst>
              <a:ext uri="{FF2B5EF4-FFF2-40B4-BE49-F238E27FC236}">
                <a16:creationId xmlns:a16="http://schemas.microsoft.com/office/drawing/2014/main" id="{31457556-8A5A-4F3B-8649-8CAF3377A43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49">
            <a:extLst>
              <a:ext uri="{FF2B5EF4-FFF2-40B4-BE49-F238E27FC236}">
                <a16:creationId xmlns:a16="http://schemas.microsoft.com/office/drawing/2014/main" id="{E6B837E2-DEE2-4A83-B3E1-B62C9512718F}"/>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7" name="TextBox 51">
            <a:extLst>
              <a:ext uri="{FF2B5EF4-FFF2-40B4-BE49-F238E27FC236}">
                <a16:creationId xmlns:a16="http://schemas.microsoft.com/office/drawing/2014/main" id="{31A61975-1988-4683-9AD6-AB6F3590D8CE}"/>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8" name="TextBox 52">
            <a:extLst>
              <a:ext uri="{FF2B5EF4-FFF2-40B4-BE49-F238E27FC236}">
                <a16:creationId xmlns:a16="http://schemas.microsoft.com/office/drawing/2014/main" id="{85294992-79C6-4A9D-BC69-17BB9373BA2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53">
            <a:extLst>
              <a:ext uri="{FF2B5EF4-FFF2-40B4-BE49-F238E27FC236}">
                <a16:creationId xmlns:a16="http://schemas.microsoft.com/office/drawing/2014/main" id="{FA3DCAFC-322C-4E64-91BE-9F8B7D58DD5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54">
            <a:extLst>
              <a:ext uri="{FF2B5EF4-FFF2-40B4-BE49-F238E27FC236}">
                <a16:creationId xmlns:a16="http://schemas.microsoft.com/office/drawing/2014/main" id="{401FC87C-7BD0-42D4-BDB0-B5F3EB5BDCE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extLst>
              <a:ext uri="{FF2B5EF4-FFF2-40B4-BE49-F238E27FC236}">
                <a16:creationId xmlns:a16="http://schemas.microsoft.com/office/drawing/2014/main" id="{86AEDC91-4317-4B9E-8689-A626734C19C1}"/>
              </a:ext>
            </a:extLst>
          </p:cNvPr>
          <p:cNvPicPr>
            <a:picLocks noChangeAspect="1"/>
          </p:cNvPicPr>
          <p:nvPr/>
        </p:nvPicPr>
        <p:blipFill>
          <a:blip r:embed="rId4">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6">
            <a:extLst>
              <a:ext uri="{FF2B5EF4-FFF2-40B4-BE49-F238E27FC236}">
                <a16:creationId xmlns:a16="http://schemas.microsoft.com/office/drawing/2014/main" id="{FC271369-06A9-4087-A2A6-4D73C6F7418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3" name="Table 1">
            <a:extLst>
              <a:ext uri="{FF2B5EF4-FFF2-40B4-BE49-F238E27FC236}">
                <a16:creationId xmlns:a16="http://schemas.microsoft.com/office/drawing/2014/main" id="{ED9726C2-DFE9-49BE-B6FD-3710E50EDEC3}"/>
              </a:ext>
            </a:extLst>
          </p:cNvPr>
          <p:cNvGraphicFramePr>
            <a:graphicFrameLocks noGrp="1"/>
          </p:cNvGraphicFramePr>
          <p:nvPr/>
        </p:nvGraphicFramePr>
        <p:xfrm>
          <a:off x="3365092" y="1828644"/>
          <a:ext cx="8826910" cy="4647993"/>
        </p:xfrm>
        <a:graphic>
          <a:graphicData uri="http://schemas.openxmlformats.org/drawingml/2006/table">
            <a:tbl>
              <a:tblPr firstRow="1" bandRow="1">
                <a:effectLst/>
                <a:tableStyleId>{5C22544A-7EE6-4342-B048-85BDC9FD1C3A}</a:tableStyleId>
              </a:tblPr>
              <a:tblGrid>
                <a:gridCol w="912763">
                  <a:extLst>
                    <a:ext uri="{9D8B030D-6E8A-4147-A177-3AD203B41FA5}">
                      <a16:colId xmlns:a16="http://schemas.microsoft.com/office/drawing/2014/main" val="1360033583"/>
                    </a:ext>
                  </a:extLst>
                </a:gridCol>
                <a:gridCol w="1120944">
                  <a:extLst>
                    <a:ext uri="{9D8B030D-6E8A-4147-A177-3AD203B41FA5}">
                      <a16:colId xmlns:a16="http://schemas.microsoft.com/office/drawing/2014/main" val="3042921288"/>
                    </a:ext>
                  </a:extLst>
                </a:gridCol>
                <a:gridCol w="702277">
                  <a:extLst>
                    <a:ext uri="{9D8B030D-6E8A-4147-A177-3AD203B41FA5}">
                      <a16:colId xmlns:a16="http://schemas.microsoft.com/office/drawing/2014/main" val="2869253502"/>
                    </a:ext>
                  </a:extLst>
                </a:gridCol>
                <a:gridCol w="918368">
                  <a:extLst>
                    <a:ext uri="{9D8B030D-6E8A-4147-A177-3AD203B41FA5}">
                      <a16:colId xmlns:a16="http://schemas.microsoft.com/office/drawing/2014/main" val="284677970"/>
                    </a:ext>
                  </a:extLst>
                </a:gridCol>
                <a:gridCol w="486195">
                  <a:extLst>
                    <a:ext uri="{9D8B030D-6E8A-4147-A177-3AD203B41FA5}">
                      <a16:colId xmlns:a16="http://schemas.microsoft.com/office/drawing/2014/main" val="3312652315"/>
                    </a:ext>
                  </a:extLst>
                </a:gridCol>
                <a:gridCol w="614495">
                  <a:extLst>
                    <a:ext uri="{9D8B030D-6E8A-4147-A177-3AD203B41FA5}">
                      <a16:colId xmlns:a16="http://schemas.microsoft.com/office/drawing/2014/main" val="1366997936"/>
                    </a:ext>
                  </a:extLst>
                </a:gridCol>
                <a:gridCol w="4071868">
                  <a:extLst>
                    <a:ext uri="{9D8B030D-6E8A-4147-A177-3AD203B41FA5}">
                      <a16:colId xmlns:a16="http://schemas.microsoft.com/office/drawing/2014/main" val="3535045106"/>
                    </a:ext>
                  </a:extLst>
                </a:gridCol>
              </a:tblGrid>
              <a:tr h="414470">
                <a:tc>
                  <a:txBody>
                    <a:bodyPr/>
                    <a:lstStyle/>
                    <a:p>
                      <a:pPr lvl="0"/>
                      <a:r>
                        <a:rPr lang="en-GB" sz="1000">
                          <a:solidFill>
                            <a:srgbClr val="000000"/>
                          </a:solidFill>
                        </a:rPr>
                        <a:t>NI Import from:</a:t>
                      </a:r>
                    </a:p>
                  </a:txBody>
                  <a:tcPr>
                    <a:solidFill>
                      <a:srgbClr val="BFBFBF"/>
                    </a:solidFill>
                  </a:tcPr>
                </a:tc>
                <a:tc>
                  <a:txBody>
                    <a:bodyPr/>
                    <a:lstStyle/>
                    <a:p>
                      <a:pPr lvl="0"/>
                      <a:r>
                        <a:rPr lang="en-GB" sz="1000">
                          <a:solidFill>
                            <a:srgbClr val="000000"/>
                          </a:solidFill>
                        </a:rPr>
                        <a:t>Country</a:t>
                      </a:r>
                    </a:p>
                  </a:txBody>
                  <a:tcPr>
                    <a:solidFill>
                      <a:srgbClr val="BFBFBF"/>
                    </a:solidFill>
                  </a:tcPr>
                </a:tc>
                <a:tc>
                  <a:txBody>
                    <a:bodyPr/>
                    <a:lstStyle/>
                    <a:p>
                      <a:pPr lvl="0"/>
                      <a:r>
                        <a:rPr lang="en-GB" sz="1000">
                          <a:solidFill>
                            <a:srgbClr val="000000"/>
                          </a:solidFill>
                        </a:rPr>
                        <a:t>Country Code</a:t>
                      </a:r>
                    </a:p>
                  </a:txBody>
                  <a:tcPr>
                    <a:solidFill>
                      <a:srgbClr val="BFBFBF"/>
                    </a:solidFill>
                  </a:tcPr>
                </a:tc>
                <a:tc>
                  <a:txBody>
                    <a:bodyPr/>
                    <a:lstStyle/>
                    <a:p>
                      <a:pPr lvl="0"/>
                      <a:r>
                        <a:rPr lang="en-GB" sz="1000">
                          <a:solidFill>
                            <a:srgbClr val="000000"/>
                          </a:solidFill>
                        </a:rPr>
                        <a:t>Declaration type</a:t>
                      </a:r>
                    </a:p>
                  </a:txBody>
                  <a:tcPr>
                    <a:solidFill>
                      <a:srgbClr val="BFBFBF"/>
                    </a:solidFill>
                  </a:tcPr>
                </a:tc>
                <a:tc>
                  <a:txBody>
                    <a:bodyPr/>
                    <a:lstStyle/>
                    <a:p>
                      <a:pPr lvl="0"/>
                      <a:r>
                        <a:rPr lang="en-GB" sz="1000">
                          <a:solidFill>
                            <a:srgbClr val="000000"/>
                          </a:solidFill>
                        </a:rPr>
                        <a:t>VAT</a:t>
                      </a:r>
                    </a:p>
                  </a:txBody>
                  <a:tcPr>
                    <a:solidFill>
                      <a:srgbClr val="BFBFBF"/>
                    </a:solidFill>
                  </a:tcPr>
                </a:tc>
                <a:tc>
                  <a:txBody>
                    <a:bodyPr/>
                    <a:lstStyle/>
                    <a:p>
                      <a:pPr lvl="0"/>
                      <a:r>
                        <a:rPr lang="en-GB" sz="1000">
                          <a:solidFill>
                            <a:srgbClr val="000000"/>
                          </a:solidFill>
                        </a:rPr>
                        <a:t>Excise</a:t>
                      </a:r>
                    </a:p>
                  </a:txBody>
                  <a:tcPr>
                    <a:solidFill>
                      <a:srgbClr val="BFBFBF"/>
                    </a:solidFill>
                  </a:tcPr>
                </a:tc>
                <a:tc>
                  <a:txBody>
                    <a:bodyPr/>
                    <a:lstStyle/>
                    <a:p>
                      <a:pPr lvl="0"/>
                      <a:r>
                        <a:rPr lang="en-GB" sz="1000">
                          <a:solidFill>
                            <a:srgbClr val="000000"/>
                          </a:solidFill>
                        </a:rPr>
                        <a:t>Customs Duty?</a:t>
                      </a:r>
                    </a:p>
                  </a:txBody>
                  <a:tcPr>
                    <a:solidFill>
                      <a:srgbClr val="BFBFBF"/>
                    </a:solidFill>
                  </a:tcPr>
                </a:tc>
                <a:extLst>
                  <a:ext uri="{0D108BD9-81ED-4DB2-BD59-A6C34878D82A}">
                    <a16:rowId xmlns:a16="http://schemas.microsoft.com/office/drawing/2014/main" val="2502239888"/>
                  </a:ext>
                </a:extLst>
              </a:tr>
              <a:tr h="251642">
                <a:tc rowSpan="2">
                  <a:txBody>
                    <a:bodyPr/>
                    <a:lstStyle/>
                    <a:p>
                      <a:pPr lvl="0"/>
                      <a:r>
                        <a:rPr lang="en-GB" sz="1000" b="1">
                          <a:solidFill>
                            <a:srgbClr val="000000"/>
                          </a:solidFill>
                        </a:rPr>
                        <a:t>UK SFT</a:t>
                      </a:r>
                    </a:p>
                  </a:txBody>
                  <a:tcPr>
                    <a:lnB w="57150" cap="flat" cmpd="sng" algn="ctr">
                      <a:solidFill>
                        <a:srgbClr val="FFFFFF"/>
                      </a:solidFill>
                      <a:prstDash val="solid"/>
                      <a:round/>
                      <a:headEnd type="none" w="med" len="med"/>
                      <a:tailEnd type="none" w="med" len="med"/>
                    </a:lnB>
                    <a:solidFill>
                      <a:srgbClr val="DEEBF7"/>
                    </a:solidFill>
                  </a:tcPr>
                </a:tc>
                <a:tc>
                  <a:txBody>
                    <a:bodyPr/>
                    <a:lstStyle/>
                    <a:p>
                      <a:pPr lvl="0"/>
                      <a:r>
                        <a:rPr lang="en-GB" sz="1000"/>
                        <a:t>Jersey </a:t>
                      </a:r>
                    </a:p>
                  </a:txBody>
                  <a:tcPr>
                    <a:solidFill>
                      <a:srgbClr val="F2F2F2"/>
                    </a:solidFill>
                  </a:tcPr>
                </a:tc>
                <a:tc>
                  <a:txBody>
                    <a:bodyPr/>
                    <a:lstStyle/>
                    <a:p>
                      <a:pPr lvl="0"/>
                      <a:r>
                        <a:rPr lang="en-GB" sz="1000"/>
                        <a:t>JE</a:t>
                      </a:r>
                    </a:p>
                  </a:txBody>
                  <a:tcPr>
                    <a:solidFill>
                      <a:srgbClr val="F2F2F2"/>
                    </a:solidFill>
                  </a:tcPr>
                </a:tc>
                <a:tc>
                  <a:txBody>
                    <a:bodyPr/>
                    <a:lstStyle/>
                    <a:p>
                      <a:pPr lvl="0"/>
                      <a:r>
                        <a:rPr lang="en-GB" sz="1000"/>
                        <a:t>IM</a:t>
                      </a:r>
                    </a:p>
                  </a:txBody>
                  <a:tcPr>
                    <a:solidFill>
                      <a:srgbClr val="F2F2F2"/>
                    </a:solidFill>
                  </a:tcPr>
                </a:tc>
                <a:tc>
                  <a:txBody>
                    <a:bodyPr/>
                    <a:lstStyle/>
                    <a:p>
                      <a:pPr marL="171450" lvl="0" indent="-171450">
                        <a:buSzPct val="100000"/>
                        <a:buFont typeface="Wingdings" pitchFamily="2"/>
                        <a:buChar char="ü"/>
                      </a:pPr>
                      <a:r>
                        <a:rPr lang="en-GB" sz="1000"/>
                        <a:t> </a:t>
                      </a:r>
                    </a:p>
                  </a:txBody>
                  <a:tcPr>
                    <a:solidFill>
                      <a:srgbClr val="F2F2F2"/>
                    </a:solidFill>
                  </a:tcPr>
                </a:tc>
                <a:tc>
                  <a:txBody>
                    <a:bodyPr/>
                    <a:lstStyle/>
                    <a:p>
                      <a:pPr marL="171450" lvl="0" indent="-171450">
                        <a:buSzPct val="100000"/>
                        <a:buFont typeface="Wingdings" pitchFamily="2"/>
                        <a:buChar char="ü"/>
                      </a:pPr>
                      <a:r>
                        <a:rPr lang="en-GB" sz="1000"/>
                        <a:t> </a:t>
                      </a:r>
                    </a:p>
                  </a:txBody>
                  <a:tcPr>
                    <a:solidFill>
                      <a:srgbClr val="F2F2F2"/>
                    </a:solidFill>
                  </a:tcPr>
                </a:tc>
                <a:tc rowSpan="2">
                  <a:txBody>
                    <a:bodyPr/>
                    <a:lstStyle/>
                    <a:p>
                      <a:pPr marL="0" marR="0" lvl="0" indent="0" algn="l" defTabSz="914400" rtl="0" fontAlgn="auto" hangingPunct="1">
                        <a:lnSpc>
                          <a:spcPct val="100000"/>
                        </a:lnSpc>
                        <a:spcBef>
                          <a:spcPts val="0"/>
                        </a:spcBef>
                        <a:spcAft>
                          <a:spcPts val="0"/>
                        </a:spcAft>
                        <a:buNone/>
                        <a:tabLst/>
                      </a:pPr>
                      <a:r>
                        <a:rPr lang="en-GB" sz="1000" b="0" i="0" u="none" strike="noStrike" kern="1200" cap="none" spc="0" baseline="0">
                          <a:solidFill>
                            <a:srgbClr val="000000"/>
                          </a:solidFill>
                          <a:uFillTx/>
                          <a:latin typeface="Calibri"/>
                        </a:rPr>
                        <a:t>Following the EU and UK trade deal, NI importers from UK SFTs should not be liable for customs duty. However, due to system limitations until EU-UK T</a:t>
                      </a:r>
                      <a:r>
                        <a:rPr lang="en-GB" sz="1000"/>
                        <a:t>ariff Differential is delivered, NI traders will be charged customs duty. As a workaround, traders will need to claim this back via the repayments process. </a:t>
                      </a:r>
                    </a:p>
                  </a:txBody>
                  <a:tcPr>
                    <a:lnB w="571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941625"/>
                  </a:ext>
                </a:extLst>
              </a:tr>
              <a:tr h="651317">
                <a:tc vMerge="1">
                  <a:txBody>
                    <a:bodyPr/>
                    <a:lstStyle/>
                    <a:p>
                      <a:endParaRPr lang="en-GB"/>
                    </a:p>
                  </a:txBody>
                  <a:tcPr/>
                </a:tc>
                <a:tc>
                  <a:txBody>
                    <a:bodyPr/>
                    <a:lstStyle/>
                    <a:p>
                      <a:pPr lvl="0"/>
                      <a:r>
                        <a:rPr lang="en-GB" sz="1000"/>
                        <a:t>Guernsey</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lvl="0"/>
                      <a:r>
                        <a:rPr lang="en-GB" sz="1000"/>
                        <a:t>GG</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lvl="0"/>
                      <a:r>
                        <a:rPr lang="en-GB" sz="1000"/>
                        <a:t>IM</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marL="171450" lvl="0" indent="-171450">
                        <a:buSzPct val="100000"/>
                        <a:buFont typeface="Wingdings" pitchFamily="2"/>
                        <a:buChar char="ü"/>
                      </a:pPr>
                      <a:r>
                        <a:rPr lang="en-GB" sz="1000"/>
                        <a:t> </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marL="171450" lvl="0" indent="-171450">
                        <a:buSzPct val="100000"/>
                        <a:buFont typeface="Wingdings" pitchFamily="2"/>
                        <a:buChar char="ü"/>
                      </a:pPr>
                      <a:r>
                        <a:rPr lang="en-GB" sz="1000"/>
                        <a:t> </a:t>
                      </a:r>
                    </a:p>
                  </a:txBody>
                  <a:tcPr>
                    <a:lnB w="57150" cap="flat" cmpd="sng" algn="ctr">
                      <a:solidFill>
                        <a:srgbClr val="FFFFFF"/>
                      </a:solidFill>
                      <a:prstDash val="solid"/>
                      <a:round/>
                      <a:headEnd type="none" w="med" len="med"/>
                      <a:tailEnd type="none" w="med" len="med"/>
                    </a:lnB>
                    <a:solidFill>
                      <a:srgbClr val="F2F2F2"/>
                    </a:solidFill>
                  </a:tcPr>
                </a:tc>
                <a:tc vMerge="1">
                  <a:txBody>
                    <a:bodyPr/>
                    <a:lstStyle/>
                    <a:p>
                      <a:endParaRPr lang="en-GB"/>
                    </a:p>
                  </a:txBody>
                  <a:tcPr/>
                </a:tc>
                <a:extLst>
                  <a:ext uri="{0D108BD9-81ED-4DB2-BD59-A6C34878D82A}">
                    <a16:rowId xmlns:a16="http://schemas.microsoft.com/office/drawing/2014/main" val="1440994273"/>
                  </a:ext>
                </a:extLst>
              </a:tr>
              <a:tr h="251642">
                <a:tc rowSpan="9">
                  <a:txBody>
                    <a:bodyPr/>
                    <a:lstStyle/>
                    <a:p>
                      <a:pPr marL="0" marR="0" lvl="0" indent="0" algn="l" defTabSz="914400" rtl="0" fontAlgn="auto" hangingPunct="1">
                        <a:lnSpc>
                          <a:spcPct val="100000"/>
                        </a:lnSpc>
                        <a:spcBef>
                          <a:spcPts val="0"/>
                        </a:spcBef>
                        <a:spcAft>
                          <a:spcPts val="0"/>
                        </a:spcAft>
                        <a:buNone/>
                        <a:tabLst/>
                      </a:pPr>
                      <a:r>
                        <a:rPr lang="en-GB" sz="1000" b="1">
                          <a:solidFill>
                            <a:srgbClr val="000000"/>
                          </a:solidFill>
                        </a:rPr>
                        <a:t>EU SFT (Former UK SFT pre-transition)</a:t>
                      </a:r>
                    </a:p>
                  </a:txBody>
                  <a:tcP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FFF2CC"/>
                    </a:solidFill>
                  </a:tcPr>
                </a:tc>
                <a:tc>
                  <a:txBody>
                    <a:bodyPr/>
                    <a:lstStyle/>
                    <a:p>
                      <a:pPr lvl="0"/>
                      <a:r>
                        <a:rPr lang="en-GB" sz="1000"/>
                        <a:t>Aland Islands</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lvl="0"/>
                      <a:r>
                        <a:rPr lang="en-GB" sz="1000"/>
                        <a:t>FI</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lvl="0"/>
                      <a:r>
                        <a:rPr lang="en-GB" sz="1000"/>
                        <a:t>CO</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marL="171450" lvl="0" indent="-171450">
                        <a:buSzPct val="100000"/>
                        <a:buFont typeface="Wingdings" pitchFamily="2"/>
                        <a:buChar char="ü"/>
                      </a:pPr>
                      <a:r>
                        <a:rPr lang="en-GB" sz="1000"/>
                        <a:t> </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marL="171450" lvl="0" indent="-171450">
                        <a:buSzPct val="100000"/>
                        <a:buFont typeface="Wingdings" pitchFamily="2"/>
                        <a:buChar char="ü"/>
                      </a:pPr>
                      <a:r>
                        <a:rPr lang="en-GB" sz="1000"/>
                        <a:t> </a:t>
                      </a:r>
                    </a:p>
                  </a:txBody>
                  <a:tcPr>
                    <a:lnT w="57150" cap="flat" cmpd="sng" algn="ctr">
                      <a:solidFill>
                        <a:srgbClr val="FFFFFF"/>
                      </a:solidFill>
                      <a:prstDash val="solid"/>
                      <a:round/>
                      <a:headEnd type="none" w="med" len="med"/>
                      <a:tailEnd type="none" w="med" len="med"/>
                    </a:lnT>
                    <a:solidFill>
                      <a:srgbClr val="E7E6E6"/>
                    </a:solidFill>
                  </a:tcPr>
                </a:tc>
                <a:tc rowSpan="9">
                  <a:txBody>
                    <a:bodyPr/>
                    <a:lstStyle/>
                    <a:p>
                      <a:pPr marL="0" marR="0" lvl="0" indent="0" algn="l" defTabSz="914400" rtl="0" fontAlgn="auto" hangingPunct="1">
                        <a:lnSpc>
                          <a:spcPct val="100000"/>
                        </a:lnSpc>
                        <a:spcBef>
                          <a:spcPts val="0"/>
                        </a:spcBef>
                        <a:spcAft>
                          <a:spcPts val="0"/>
                        </a:spcAft>
                        <a:buNone/>
                        <a:tabLst/>
                      </a:pPr>
                      <a:r>
                        <a:rPr lang="en-GB" sz="1000" b="0" i="0" u="none" strike="noStrike" kern="1200" cap="none" spc="0" baseline="0">
                          <a:solidFill>
                            <a:srgbClr val="000000"/>
                          </a:solidFill>
                          <a:uFillTx/>
                          <a:latin typeface="Calibri"/>
                        </a:rPr>
                        <a:t>No customs duty is expected to be charged. However, please note, c</a:t>
                      </a:r>
                      <a:r>
                        <a:rPr lang="en-GB" sz="1000">
                          <a:solidFill>
                            <a:srgbClr val="000000"/>
                          </a:solidFill>
                        </a:rPr>
                        <a:t>ustoms duty may be liable if traders cannot prove that the goods meet the origins requirement for the FTA or if there are safeguarding duties or countervailing duties on EU imports.</a:t>
                      </a:r>
                    </a:p>
                    <a:p>
                      <a:pPr marL="171450" marR="0" lvl="0" indent="-171450" algn="l" defTabSz="914400" rtl="0" fontAlgn="auto" hangingPunct="1">
                        <a:lnSpc>
                          <a:spcPct val="100000"/>
                        </a:lnSpc>
                        <a:spcBef>
                          <a:spcPts val="0"/>
                        </a:spcBef>
                        <a:spcAft>
                          <a:spcPts val="0"/>
                        </a:spcAft>
                        <a:buSzPct val="100000"/>
                        <a:buFont typeface="Calibri" pitchFamily="34"/>
                        <a:buChar char="ꭗ"/>
                        <a:tabLst/>
                      </a:pPr>
                      <a:endParaRPr lang="en-GB" sz="1000" b="0" i="0" u="none" strike="noStrike" kern="1200" cap="none" spc="0" baseline="0">
                        <a:solidFill>
                          <a:srgbClr val="000000"/>
                        </a:solidFill>
                        <a:uFillTx/>
                        <a:latin typeface="Calibri"/>
                      </a:endParaRPr>
                    </a:p>
                  </a:txBody>
                  <a:tcP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500329"/>
                  </a:ext>
                </a:extLst>
              </a:tr>
              <a:tr h="251642">
                <a:tc vMerge="1">
                  <a:txBody>
                    <a:bodyPr/>
                    <a:lstStyle/>
                    <a:p>
                      <a:endParaRPr lang="en-GB"/>
                    </a:p>
                  </a:txBody>
                  <a:tcPr/>
                </a:tc>
                <a:tc>
                  <a:txBody>
                    <a:bodyPr/>
                    <a:lstStyle/>
                    <a:p>
                      <a:pPr lvl="0"/>
                      <a:r>
                        <a:rPr lang="en-GB" sz="1000"/>
                        <a:t>Canary Islands</a:t>
                      </a:r>
                    </a:p>
                  </a:txBody>
                  <a:tcPr>
                    <a:solidFill>
                      <a:srgbClr val="E7E6E6"/>
                    </a:solidFill>
                  </a:tcPr>
                </a:tc>
                <a:tc>
                  <a:txBody>
                    <a:bodyPr/>
                    <a:lstStyle/>
                    <a:p>
                      <a:pPr lvl="0"/>
                      <a:r>
                        <a:rPr lang="en-GB" sz="1000"/>
                        <a:t>ES</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3777584455"/>
                  </a:ext>
                </a:extLst>
              </a:tr>
              <a:tr h="251642">
                <a:tc vMerge="1">
                  <a:txBody>
                    <a:bodyPr/>
                    <a:lstStyle/>
                    <a:p>
                      <a:endParaRPr lang="en-GB"/>
                    </a:p>
                  </a:txBody>
                  <a:tcPr/>
                </a:tc>
                <a:tc>
                  <a:txBody>
                    <a:bodyPr/>
                    <a:lstStyle/>
                    <a:p>
                      <a:pPr lvl="0"/>
                      <a:r>
                        <a:rPr lang="en-GB" sz="1000"/>
                        <a:t>Mayotte</a:t>
                      </a:r>
                    </a:p>
                  </a:txBody>
                  <a:tcPr>
                    <a:solidFill>
                      <a:srgbClr val="E7E6E6"/>
                    </a:solidFill>
                  </a:tcPr>
                </a:tc>
                <a:tc>
                  <a:txBody>
                    <a:bodyPr/>
                    <a:lstStyle/>
                    <a:p>
                      <a:pPr lvl="0"/>
                      <a:r>
                        <a:rPr lang="en-GB" sz="10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2770292441"/>
                  </a:ext>
                </a:extLst>
              </a:tr>
              <a:tr h="251642">
                <a:tc vMerge="1">
                  <a:txBody>
                    <a:bodyPr/>
                    <a:lstStyle/>
                    <a:p>
                      <a:endParaRPr lang="en-GB"/>
                    </a:p>
                  </a:txBody>
                  <a:tcPr/>
                </a:tc>
                <a:tc>
                  <a:txBody>
                    <a:bodyPr/>
                    <a:lstStyle/>
                    <a:p>
                      <a:pPr lvl="0"/>
                      <a:r>
                        <a:rPr lang="en-GB" sz="1000"/>
                        <a:t>Mount Athos</a:t>
                      </a:r>
                    </a:p>
                  </a:txBody>
                  <a:tcPr>
                    <a:solidFill>
                      <a:srgbClr val="E7E6E6"/>
                    </a:solidFill>
                  </a:tcPr>
                </a:tc>
                <a:tc>
                  <a:txBody>
                    <a:bodyPr/>
                    <a:lstStyle/>
                    <a:p>
                      <a:pPr lvl="0"/>
                      <a:r>
                        <a:rPr lang="en-GB" sz="1000"/>
                        <a:t>GR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1236119006"/>
                  </a:ext>
                </a:extLst>
              </a:tr>
              <a:tr h="251642">
                <a:tc vMerge="1">
                  <a:txBody>
                    <a:bodyPr/>
                    <a:lstStyle/>
                    <a:p>
                      <a:endParaRPr lang="en-GB"/>
                    </a:p>
                  </a:txBody>
                  <a:tcPr/>
                </a:tc>
                <a:tc>
                  <a:txBody>
                    <a:bodyPr/>
                    <a:lstStyle/>
                    <a:p>
                      <a:pPr lvl="0"/>
                      <a:r>
                        <a:rPr lang="en-GB" sz="1000"/>
                        <a:t>Guadeloupe</a:t>
                      </a:r>
                    </a:p>
                  </a:txBody>
                  <a:tcPr>
                    <a:solidFill>
                      <a:srgbClr val="E7E6E6"/>
                    </a:solidFill>
                  </a:tcPr>
                </a:tc>
                <a:tc>
                  <a:txBody>
                    <a:bodyPr/>
                    <a:lstStyle/>
                    <a:p>
                      <a:pPr lvl="0"/>
                      <a:r>
                        <a:rPr lang="en-GB" sz="10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381886948"/>
                  </a:ext>
                </a:extLst>
              </a:tr>
              <a:tr h="251642">
                <a:tc vMerge="1">
                  <a:txBody>
                    <a:bodyPr/>
                    <a:lstStyle/>
                    <a:p>
                      <a:endParaRPr lang="en-GB"/>
                    </a:p>
                  </a:txBody>
                  <a:tcPr/>
                </a:tc>
                <a:tc>
                  <a:txBody>
                    <a:bodyPr/>
                    <a:lstStyle/>
                    <a:p>
                      <a:pPr lvl="0"/>
                      <a:r>
                        <a:rPr lang="en-GB" sz="1000"/>
                        <a:t>French Guiana</a:t>
                      </a:r>
                    </a:p>
                  </a:txBody>
                  <a:tcPr>
                    <a:solidFill>
                      <a:srgbClr val="E7E6E6"/>
                    </a:solidFill>
                  </a:tcPr>
                </a:tc>
                <a:tc>
                  <a:txBody>
                    <a:bodyPr/>
                    <a:lstStyle/>
                    <a:p>
                      <a:pPr lvl="0"/>
                      <a:r>
                        <a:rPr lang="en-GB" sz="10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469035414"/>
                  </a:ext>
                </a:extLst>
              </a:tr>
              <a:tr h="251642">
                <a:tc vMerge="1">
                  <a:txBody>
                    <a:bodyPr/>
                    <a:lstStyle/>
                    <a:p>
                      <a:endParaRPr lang="en-GB"/>
                    </a:p>
                  </a:txBody>
                  <a:tcPr/>
                </a:tc>
                <a:tc>
                  <a:txBody>
                    <a:bodyPr/>
                    <a:lstStyle/>
                    <a:p>
                      <a:pPr lvl="0"/>
                      <a:r>
                        <a:rPr lang="en-GB" sz="1000"/>
                        <a:t>Reunion</a:t>
                      </a:r>
                    </a:p>
                  </a:txBody>
                  <a:tcPr>
                    <a:solidFill>
                      <a:srgbClr val="E7E6E6"/>
                    </a:solidFill>
                  </a:tcPr>
                </a:tc>
                <a:tc>
                  <a:txBody>
                    <a:bodyPr/>
                    <a:lstStyle/>
                    <a:p>
                      <a:pPr lvl="0"/>
                      <a:r>
                        <a:rPr lang="en-GB" sz="10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67224906"/>
                  </a:ext>
                </a:extLst>
              </a:tr>
              <a:tr h="251642">
                <a:tc vMerge="1">
                  <a:txBody>
                    <a:bodyPr/>
                    <a:lstStyle/>
                    <a:p>
                      <a:endParaRPr lang="en-GB"/>
                    </a:p>
                  </a:txBody>
                  <a:tcPr/>
                </a:tc>
                <a:tc>
                  <a:txBody>
                    <a:bodyPr/>
                    <a:lstStyle/>
                    <a:p>
                      <a:pPr lvl="0"/>
                      <a:r>
                        <a:rPr lang="en-GB" sz="1000"/>
                        <a:t>Martinique</a:t>
                      </a:r>
                    </a:p>
                  </a:txBody>
                  <a:tcPr>
                    <a:solidFill>
                      <a:srgbClr val="E7E6E6"/>
                    </a:solidFill>
                  </a:tcPr>
                </a:tc>
                <a:tc>
                  <a:txBody>
                    <a:bodyPr/>
                    <a:lstStyle/>
                    <a:p>
                      <a:pPr lvl="0"/>
                      <a:r>
                        <a:rPr lang="en-GB" sz="10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E7E6E6"/>
                    </a:solidFill>
                  </a:tcPr>
                </a:tc>
                <a:tc vMerge="1">
                  <a:txBody>
                    <a:bodyPr/>
                    <a:lstStyle/>
                    <a:p>
                      <a:endParaRPr lang="en-GB"/>
                    </a:p>
                  </a:txBody>
                  <a:tcPr/>
                </a:tc>
                <a:extLst>
                  <a:ext uri="{0D108BD9-81ED-4DB2-BD59-A6C34878D82A}">
                    <a16:rowId xmlns:a16="http://schemas.microsoft.com/office/drawing/2014/main" val="1365070801"/>
                  </a:ext>
                </a:extLst>
              </a:tr>
              <a:tr h="251642">
                <a:tc vMerge="1">
                  <a:txBody>
                    <a:bodyPr/>
                    <a:lstStyle/>
                    <a:p>
                      <a:endParaRPr lang="en-GB"/>
                    </a:p>
                  </a:txBody>
                  <a:tcPr/>
                </a:tc>
                <a:tc>
                  <a:txBody>
                    <a:bodyPr/>
                    <a:lstStyle/>
                    <a:p>
                      <a:pPr lvl="0"/>
                      <a:r>
                        <a:rPr lang="en-GB" sz="1000"/>
                        <a:t>Saint Martin</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lvl="0"/>
                      <a:r>
                        <a:rPr lang="en-GB" sz="1000"/>
                        <a:t>FR</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lnB w="57150" cap="flat" cmpd="sng" algn="ctr">
                      <a:solidFill>
                        <a:srgbClr val="FFFFFF"/>
                      </a:solidFill>
                      <a:prstDash val="solid"/>
                      <a:round/>
                      <a:headEnd type="none" w="med" len="med"/>
                      <a:tailEnd type="none" w="med" len="med"/>
                    </a:lnB>
                    <a:solidFill>
                      <a:srgbClr val="E7E6E6"/>
                    </a:solidFill>
                  </a:tcPr>
                </a:tc>
                <a:tc vMerge="1">
                  <a:txBody>
                    <a:bodyPr/>
                    <a:lstStyle/>
                    <a:p>
                      <a:endParaRPr lang="en-GB"/>
                    </a:p>
                  </a:txBody>
                  <a:tcPr/>
                </a:tc>
                <a:extLst>
                  <a:ext uri="{0D108BD9-81ED-4DB2-BD59-A6C34878D82A}">
                    <a16:rowId xmlns:a16="http://schemas.microsoft.com/office/drawing/2014/main" val="321064999"/>
                  </a:ext>
                </a:extLst>
              </a:tr>
              <a:tr h="251642">
                <a:tc rowSpan="3">
                  <a:txBody>
                    <a:bodyPr/>
                    <a:lstStyle/>
                    <a:p>
                      <a:pPr marL="0" marR="0" lvl="0" indent="0" algn="l" defTabSz="914400" rtl="0" fontAlgn="auto" hangingPunct="1">
                        <a:lnSpc>
                          <a:spcPct val="100000"/>
                        </a:lnSpc>
                        <a:spcBef>
                          <a:spcPts val="0"/>
                        </a:spcBef>
                        <a:spcAft>
                          <a:spcPts val="0"/>
                        </a:spcAft>
                        <a:buNone/>
                        <a:tabLst/>
                      </a:pPr>
                      <a:r>
                        <a:rPr lang="en-GB" sz="1000" b="1">
                          <a:solidFill>
                            <a:srgbClr val="000000"/>
                          </a:solidFill>
                        </a:rPr>
                        <a:t>Countries which EU has a Customs Union </a:t>
                      </a:r>
                    </a:p>
                  </a:txBody>
                  <a:tcPr>
                    <a:lnT w="57150" cap="flat" cmpd="sng" algn="ctr">
                      <a:solidFill>
                        <a:srgbClr val="FFFFFF"/>
                      </a:solidFill>
                      <a:prstDash val="solid"/>
                      <a:round/>
                      <a:headEnd type="none" w="med" len="med"/>
                      <a:tailEnd type="none" w="med" len="med"/>
                    </a:lnT>
                    <a:solidFill>
                      <a:srgbClr val="E2F0D9"/>
                    </a:solidFill>
                  </a:tcPr>
                </a:tc>
                <a:tc>
                  <a:txBody>
                    <a:bodyPr/>
                    <a:lstStyle/>
                    <a:p>
                      <a:pPr lvl="0"/>
                      <a:r>
                        <a:rPr lang="en-GB" sz="1000" b="0" i="0" u="none" strike="noStrike" kern="1200">
                          <a:solidFill>
                            <a:srgbClr val="000000"/>
                          </a:solidFill>
                          <a:latin typeface="Calibri"/>
                        </a:rPr>
                        <a:t>Andorra</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lvl="0"/>
                      <a:r>
                        <a:rPr lang="en-GB" sz="1000"/>
                        <a:t>AD</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lnT w="57150" cap="flat" cmpd="sng" algn="ctr">
                      <a:solidFill>
                        <a:srgbClr val="FFFFFF"/>
                      </a:solidFill>
                      <a:prstDash val="solid"/>
                      <a:round/>
                      <a:headEnd type="none" w="med" len="med"/>
                      <a:tailEnd type="none" w="med" len="med"/>
                    </a:lnT>
                    <a:solidFill>
                      <a:srgbClr val="F2F2F2"/>
                    </a:solidFill>
                  </a:tcPr>
                </a:tc>
                <a:tc rowSpan="3">
                  <a:txBody>
                    <a:bodyPr/>
                    <a:lstStyle/>
                    <a:p>
                      <a:pPr marL="0" marR="0" lvl="0" indent="0" algn="l" defTabSz="914400" rtl="0" fontAlgn="auto" hangingPunct="1">
                        <a:lnSpc>
                          <a:spcPct val="100000"/>
                        </a:lnSpc>
                        <a:spcBef>
                          <a:spcPts val="0"/>
                        </a:spcBef>
                        <a:spcAft>
                          <a:spcPts val="0"/>
                        </a:spcAft>
                        <a:buNone/>
                        <a:tabLst/>
                      </a:pPr>
                      <a:r>
                        <a:rPr lang="en-GB" sz="1000">
                          <a:solidFill>
                            <a:srgbClr val="000000"/>
                          </a:solidFill>
                        </a:rPr>
                        <a:t>May still be liable for both UK or EU Customs Duties where applicable. All products originating in San Marino and all non-agricultural products originating in Andorra will be treated as originating in the EU and benefit from zero tariffs where they meet the relevant rules of origin. Trade with Andorra of agricultural products will revert to WTO terms.</a:t>
                      </a:r>
                    </a:p>
                  </a:txBody>
                  <a:tcPr>
                    <a:lnT w="57150" cap="flat" cmpd="sng" algn="ctr">
                      <a:solidFill>
                        <a:srgbClr val="FFFFFF"/>
                      </a:solidFill>
                      <a:prstDash val="solid"/>
                      <a:round/>
                      <a:headEnd type="none" w="med" len="med"/>
                      <a:tailEnd type="none" w="med" len="med"/>
                    </a:lnT>
                    <a:solidFill>
                      <a:srgbClr val="F2F2F2"/>
                    </a:solidFill>
                  </a:tcPr>
                </a:tc>
                <a:extLst>
                  <a:ext uri="{0D108BD9-81ED-4DB2-BD59-A6C34878D82A}">
                    <a16:rowId xmlns:a16="http://schemas.microsoft.com/office/drawing/2014/main" val="4035309453"/>
                  </a:ext>
                </a:extLst>
              </a:tr>
              <a:tr h="251642">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000" b="0" i="0" u="none" strike="noStrike" kern="1200">
                          <a:solidFill>
                            <a:srgbClr val="000000"/>
                          </a:solidFill>
                          <a:latin typeface="Calibri"/>
                        </a:rPr>
                        <a:t>San Marino</a:t>
                      </a:r>
                      <a:endParaRPr lang="en-GB" sz="1000"/>
                    </a:p>
                  </a:txBody>
                  <a:tcPr>
                    <a:solidFill>
                      <a:srgbClr val="F2F2F2"/>
                    </a:solidFill>
                  </a:tcPr>
                </a:tc>
                <a:tc>
                  <a:txBody>
                    <a:bodyPr/>
                    <a:lstStyle/>
                    <a:p>
                      <a:pPr lvl="0"/>
                      <a:r>
                        <a:rPr lang="en-GB" sz="1000"/>
                        <a:t>SM</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F2F2F2"/>
                    </a:solidFill>
                  </a:tcPr>
                </a:tc>
                <a:tc vMerge="1">
                  <a:txBody>
                    <a:bodyPr/>
                    <a:lstStyle/>
                    <a:p>
                      <a:endParaRPr lang="en-GB"/>
                    </a:p>
                  </a:txBody>
                  <a:tcPr/>
                </a:tc>
                <a:extLst>
                  <a:ext uri="{0D108BD9-81ED-4DB2-BD59-A6C34878D82A}">
                    <a16:rowId xmlns:a16="http://schemas.microsoft.com/office/drawing/2014/main" val="1444559473"/>
                  </a:ext>
                </a:extLst>
              </a:tr>
              <a:tr h="562502">
                <a:tc vMerge="1">
                  <a:txBody>
                    <a:bodyPr/>
                    <a:lstStyle/>
                    <a:p>
                      <a:endParaRPr lang="en-GB"/>
                    </a:p>
                  </a:txBody>
                  <a:tcPr/>
                </a:tc>
                <a:tc>
                  <a:txBody>
                    <a:bodyPr/>
                    <a:lstStyle/>
                    <a:p>
                      <a:pPr lvl="0"/>
                      <a:r>
                        <a:rPr lang="en-GB" sz="1000"/>
                        <a:t>Turkey</a:t>
                      </a:r>
                    </a:p>
                  </a:txBody>
                  <a:tcPr>
                    <a:solidFill>
                      <a:srgbClr val="F2F2F2"/>
                    </a:solidFill>
                  </a:tcPr>
                </a:tc>
                <a:tc>
                  <a:txBody>
                    <a:bodyPr/>
                    <a:lstStyle/>
                    <a:p>
                      <a:pPr lvl="0"/>
                      <a:r>
                        <a:rPr lang="en-GB" sz="1000"/>
                        <a:t>TR</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000"/>
                        <a:t>CO</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000" dirty="0"/>
                        <a:t> </a:t>
                      </a:r>
                    </a:p>
                  </a:txBody>
                  <a:tcPr>
                    <a:solidFill>
                      <a:srgbClr val="F2F2F2"/>
                    </a:solidFill>
                  </a:tcPr>
                </a:tc>
                <a:tc vMerge="1">
                  <a:txBody>
                    <a:bodyPr/>
                    <a:lstStyle/>
                    <a:p>
                      <a:endParaRPr lang="en-GB"/>
                    </a:p>
                  </a:txBody>
                  <a:tcPr/>
                </a:tc>
                <a:extLst>
                  <a:ext uri="{0D108BD9-81ED-4DB2-BD59-A6C34878D82A}">
                    <a16:rowId xmlns:a16="http://schemas.microsoft.com/office/drawing/2014/main" val="4171137444"/>
                  </a:ext>
                </a:extLst>
              </a:tr>
            </a:tbl>
          </a:graphicData>
        </a:graphic>
      </p:graphicFrame>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name="Slide83884035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0C65E7D-F5FC-4DBD-930F-9F1AA419643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3E875653-3AB1-484D-BC7A-0B18989F569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4314E471-ADDC-4739-8915-F89A7EB9A0AC}"/>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8F235E71-4B53-4487-BF2A-3A47AC24F463}"/>
              </a:ext>
            </a:extLst>
          </p:cNvPr>
          <p:cNvSpPr txBox="1"/>
          <p:nvPr/>
        </p:nvSpPr>
        <p:spPr>
          <a:xfrm>
            <a:off x="11739298" y="6375154"/>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C2AA17-C641-4753-9797-1171F2378B80}" type="slidenum">
              <a:rPr sz="1200"/>
              <a:t>414</a:t>
            </a:fld>
            <a:endParaRPr lang="en-GB" sz="1200" b="0"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3F3A70D4-5C13-48BD-8CB6-3EAC61FC607B}"/>
              </a:ext>
            </a:extLst>
          </p:cNvPr>
          <p:cNvSpPr/>
          <p:nvPr/>
        </p:nvSpPr>
        <p:spPr>
          <a:xfrm>
            <a:off x="363967" y="712143"/>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8" name="Rectangle 31">
            <a:extLst>
              <a:ext uri="{FF2B5EF4-FFF2-40B4-BE49-F238E27FC236}">
                <a16:creationId xmlns:a16="http://schemas.microsoft.com/office/drawing/2014/main" id="{23E3BF27-43D4-4322-9599-D5F709F4FD26}"/>
              </a:ext>
            </a:extLst>
          </p:cNvPr>
          <p:cNvSpPr/>
          <p:nvPr/>
        </p:nvSpPr>
        <p:spPr>
          <a:xfrm>
            <a:off x="363967" y="1050700"/>
            <a:ext cx="8951299"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Imports from UK and EU Special Fiscal Territories and Countries with which the EU has a Customs Union (NI Imports)</a:t>
            </a:r>
          </a:p>
        </p:txBody>
      </p:sp>
      <p:sp>
        <p:nvSpPr>
          <p:cNvPr id="9" name="TextBox 42">
            <a:extLst>
              <a:ext uri="{FF2B5EF4-FFF2-40B4-BE49-F238E27FC236}">
                <a16:creationId xmlns:a16="http://schemas.microsoft.com/office/drawing/2014/main" id="{F40737EB-B45A-4356-8E2F-D87577295B14}"/>
              </a:ext>
            </a:extLst>
          </p:cNvPr>
          <p:cNvSpPr txBox="1"/>
          <p:nvPr/>
        </p:nvSpPr>
        <p:spPr>
          <a:xfrm>
            <a:off x="363967" y="1368344"/>
            <a:ext cx="11513128" cy="387028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TTM14.1, CDS will have the ability to process NI import declarations from </a:t>
            </a:r>
            <a:r>
              <a:rPr lang="en-GB" sz="1200" b="1" i="0" u="none" strike="noStrike" kern="1200" cap="none" spc="0" baseline="0">
                <a:solidFill>
                  <a:srgbClr val="000000"/>
                </a:solidFill>
                <a:uFillTx/>
                <a:latin typeface="Calibri"/>
              </a:rPr>
              <a:t>UK and EU Special Fiscal Territories and Countries which the EU has a customs union</a:t>
            </a:r>
            <a:r>
              <a:rPr lang="en-GB" sz="1200" b="0" i="0" u="none" strike="noStrike" kern="1200" cap="none" spc="0" baseline="0">
                <a:solidFill>
                  <a:srgbClr val="000000"/>
                </a:solidFill>
                <a:uFillTx/>
                <a:latin typeface="Calibri"/>
              </a:rPr>
              <a:t>. This will include declaration submission and validation of an import declaration and calculation of the correct duties that are liable.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NI imports from </a:t>
            </a:r>
            <a:r>
              <a:rPr lang="en-GB" sz="1200" b="1" i="0" u="none" strike="noStrike" kern="1200" cap="none" spc="0" baseline="0">
                <a:solidFill>
                  <a:srgbClr val="000000"/>
                </a:solidFill>
                <a:uFillTx/>
                <a:latin typeface="Calibri"/>
              </a:rPr>
              <a:t>EU Special Fiscal Territories or Countries with which the EU has a Customs Union</a:t>
            </a:r>
            <a:r>
              <a:rPr lang="en-GB" sz="1200" b="0" i="0" u="none" strike="noStrike" kern="1200" cap="none" spc="0" baseline="0">
                <a:solidFill>
                  <a:srgbClr val="000000"/>
                </a:solidFill>
                <a:uFillTx/>
                <a:latin typeface="Calibri"/>
              </a:rPr>
              <a: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NI declarants should declare AI code ‘NIIMP’ in D.E. 2/2, the declaration type ‘CO’ in D.E. 1/1 and additional procedure code ‘F15’ in D.E. 1/11, and the relevant EU SFT country code.</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calculate the duties liable as per the below:</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EU SFTs: </a:t>
            </a:r>
            <a:r>
              <a:rPr lang="en-GB" sz="1200" b="0" i="0" u="none" strike="noStrike" kern="1200" cap="none" spc="0" baseline="0">
                <a:solidFill>
                  <a:srgbClr val="000000"/>
                </a:solidFill>
                <a:uFillTx/>
                <a:latin typeface="Calibri"/>
              </a:rPr>
              <a:t>CDS will calculate Excise and VAT where applicable, and no customs duty is expected to be charged. However, customs duty may be liable if traders cannot prove that the goods meet the origins requirement for the FTA or if there are there are safeguarding duties or countervailing duties on EU imports.</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then send a DMSTAX notification and collect duties against the declared method of payment. </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Countries with which the EU has a Customs Union: </a:t>
            </a:r>
            <a:r>
              <a:rPr lang="en-GB" sz="1200" b="0" i="0" u="none" strike="noStrike" kern="1200" cap="none" spc="0" baseline="0">
                <a:solidFill>
                  <a:srgbClr val="000000"/>
                </a:solidFill>
                <a:uFillTx/>
                <a:latin typeface="Calibri"/>
              </a:rPr>
              <a:t>CDS will calculate Excise and VAT where applicable. Customs duty may still be charged. CDS will then send a DMSTAX notification and collect duties against the declared method of payment.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NI imports from </a:t>
            </a:r>
            <a:r>
              <a:rPr lang="en-GB" sz="1200" b="1" i="0" u="none" strike="noStrike" kern="1200" cap="none" spc="0" baseline="0">
                <a:solidFill>
                  <a:srgbClr val="000000"/>
                </a:solidFill>
                <a:uFillTx/>
                <a:latin typeface="Calibri"/>
              </a:rPr>
              <a:t>UK Special Fiscal Territories</a:t>
            </a:r>
            <a:r>
              <a:rPr lang="en-GB" sz="1200" b="0" i="0" u="none" strike="noStrike" kern="1200" cap="none" spc="0" baseline="0">
                <a:solidFill>
                  <a:srgbClr val="000000"/>
                </a:solidFill>
                <a:uFillTx/>
                <a:latin typeface="Calibri"/>
              </a:rPr>
              <a: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NI declarants must declare AI code ‘NIIMP’ in D.E. 2/2, the declaration type ‘IM’ in D.E. 1/1, and either the ‘GG’ country code for Guernsey or ‘JE’ country code for Jersey.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calculate the duties liable:</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UK SFTs: </a:t>
            </a:r>
            <a:r>
              <a:rPr lang="en-GB" sz="1200" b="0" i="0" u="none" strike="noStrike" kern="1200" cap="none" spc="0" baseline="0">
                <a:solidFill>
                  <a:srgbClr val="000000"/>
                </a:solidFill>
                <a:uFillTx/>
                <a:latin typeface="Calibri"/>
              </a:rPr>
              <a:t>CDS will calculate Excise and VAT where applicable. Following the EU and UK trade deal, NI importers from UK SFTs should not be liable for customs duty. However, due to system limitations until EU-UK Tariff Differential is delivered, NI traders will be charged customs duty. As a workaround, traders will need to claim this back via the repayments process. </a:t>
            </a:r>
          </a:p>
          <a:p>
            <a:pPr marL="628650" marR="0" lvl="1"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then send a DMSTAX notification and collect duties against the declared method of payment. </a:t>
            </a:r>
          </a:p>
        </p:txBody>
      </p:sp>
      <p:sp>
        <p:nvSpPr>
          <p:cNvPr id="10" name="Oval 43">
            <a:extLst>
              <a:ext uri="{FF2B5EF4-FFF2-40B4-BE49-F238E27FC236}">
                <a16:creationId xmlns:a16="http://schemas.microsoft.com/office/drawing/2014/main" id="{A5E70750-7CE5-4AD4-834F-4C7E2B89BD3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4">
            <a:extLst>
              <a:ext uri="{FF2B5EF4-FFF2-40B4-BE49-F238E27FC236}">
                <a16:creationId xmlns:a16="http://schemas.microsoft.com/office/drawing/2014/main" id="{EC8B44A8-5765-4EDD-89E7-B9533551491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5">
            <a:extLst>
              <a:ext uri="{FF2B5EF4-FFF2-40B4-BE49-F238E27FC236}">
                <a16:creationId xmlns:a16="http://schemas.microsoft.com/office/drawing/2014/main" id="{83126FE9-2E04-4273-887E-7C7F8A27F02D}"/>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6">
            <a:extLst>
              <a:ext uri="{FF2B5EF4-FFF2-40B4-BE49-F238E27FC236}">
                <a16:creationId xmlns:a16="http://schemas.microsoft.com/office/drawing/2014/main" id="{C984C7C0-5FC6-47BA-94AF-5C1BD86D2CB9}"/>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48">
            <a:extLst>
              <a:ext uri="{FF2B5EF4-FFF2-40B4-BE49-F238E27FC236}">
                <a16:creationId xmlns:a16="http://schemas.microsoft.com/office/drawing/2014/main" id="{555E746D-922E-43A0-9EA5-0CE22316E43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49">
            <a:extLst>
              <a:ext uri="{FF2B5EF4-FFF2-40B4-BE49-F238E27FC236}">
                <a16:creationId xmlns:a16="http://schemas.microsoft.com/office/drawing/2014/main" id="{ED32EC69-7847-4A68-A412-0A6726F489FE}"/>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51">
            <a:extLst>
              <a:ext uri="{FF2B5EF4-FFF2-40B4-BE49-F238E27FC236}">
                <a16:creationId xmlns:a16="http://schemas.microsoft.com/office/drawing/2014/main" id="{95FAA5B6-647D-4EF1-9F62-1595C062872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52">
            <a:extLst>
              <a:ext uri="{FF2B5EF4-FFF2-40B4-BE49-F238E27FC236}">
                <a16:creationId xmlns:a16="http://schemas.microsoft.com/office/drawing/2014/main" id="{5D638C8F-7613-43B8-B17D-2A5D268BE65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53">
            <a:extLst>
              <a:ext uri="{FF2B5EF4-FFF2-40B4-BE49-F238E27FC236}">
                <a16:creationId xmlns:a16="http://schemas.microsoft.com/office/drawing/2014/main" id="{7D06542A-067A-43E1-A42A-49E4714EF66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54">
            <a:extLst>
              <a:ext uri="{FF2B5EF4-FFF2-40B4-BE49-F238E27FC236}">
                <a16:creationId xmlns:a16="http://schemas.microsoft.com/office/drawing/2014/main" id="{070D6D37-72BB-4984-A9E7-7BAD6F0C23E2}"/>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extLst>
              <a:ext uri="{FF2B5EF4-FFF2-40B4-BE49-F238E27FC236}">
                <a16:creationId xmlns:a16="http://schemas.microsoft.com/office/drawing/2014/main" id="{4829363D-E9FA-4D4E-B4B9-EC79E427D0B0}"/>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56">
            <a:extLst>
              <a:ext uri="{FF2B5EF4-FFF2-40B4-BE49-F238E27FC236}">
                <a16:creationId xmlns:a16="http://schemas.microsoft.com/office/drawing/2014/main" id="{BC9E6BDF-59C3-4782-8B31-E3C7C49E574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22" name="Group 1">
            <a:extLst>
              <a:ext uri="{FF2B5EF4-FFF2-40B4-BE49-F238E27FC236}">
                <a16:creationId xmlns:a16="http://schemas.microsoft.com/office/drawing/2014/main" id="{F898F854-9AED-4143-9DCD-2875D891CD1D}"/>
              </a:ext>
            </a:extLst>
          </p:cNvPr>
          <p:cNvGrpSpPr/>
          <p:nvPr/>
        </p:nvGrpSpPr>
        <p:grpSpPr>
          <a:xfrm>
            <a:off x="363968" y="5194726"/>
            <a:ext cx="11606112" cy="847966"/>
            <a:chOff x="363968" y="5194726"/>
            <a:chExt cx="11606112" cy="847966"/>
          </a:xfrm>
        </p:grpSpPr>
        <p:sp>
          <p:nvSpPr>
            <p:cNvPr id="23" name="Rectangle 9">
              <a:extLst>
                <a:ext uri="{FF2B5EF4-FFF2-40B4-BE49-F238E27FC236}">
                  <a16:creationId xmlns:a16="http://schemas.microsoft.com/office/drawing/2014/main" id="{7528ACE4-EF62-4894-8D09-EB7D82920CCF}"/>
                </a:ext>
              </a:extLst>
            </p:cNvPr>
            <p:cNvSpPr/>
            <p:nvPr/>
          </p:nvSpPr>
          <p:spPr>
            <a:xfrm>
              <a:off x="466846" y="5201463"/>
              <a:ext cx="11503234" cy="830997"/>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27">
              <a:extLst>
                <a:ext uri="{FF2B5EF4-FFF2-40B4-BE49-F238E27FC236}">
                  <a16:creationId xmlns:a16="http://schemas.microsoft.com/office/drawing/2014/main" id="{D7D04652-ACF3-4D96-A908-374864EB5E75}"/>
                </a:ext>
              </a:extLst>
            </p:cNvPr>
            <p:cNvSpPr/>
            <p:nvPr/>
          </p:nvSpPr>
          <p:spPr>
            <a:xfrm rot="16200004">
              <a:off x="249998" y="5308696"/>
              <a:ext cx="837736" cy="609795"/>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700" b="1" i="0" u="none" strike="noStrike" kern="1200" cap="none" spc="0" baseline="0">
                  <a:solidFill>
                    <a:srgbClr val="FFFFFF"/>
                  </a:solidFill>
                  <a:uFillTx/>
                  <a:latin typeface="Calibri"/>
                </a:rPr>
                <a:t>RELEVANT XML SAMPLES</a:t>
              </a:r>
            </a:p>
          </p:txBody>
        </p:sp>
        <p:sp>
          <p:nvSpPr>
            <p:cNvPr id="25" name="Rectangle 28">
              <a:extLst>
                <a:ext uri="{FF2B5EF4-FFF2-40B4-BE49-F238E27FC236}">
                  <a16:creationId xmlns:a16="http://schemas.microsoft.com/office/drawing/2014/main" id="{7D110C8C-D189-477B-806B-DACDEF304FE9}"/>
                </a:ext>
              </a:extLst>
            </p:cNvPr>
            <p:cNvSpPr/>
            <p:nvPr/>
          </p:nvSpPr>
          <p:spPr>
            <a:xfrm>
              <a:off x="1015368" y="5211695"/>
              <a:ext cx="10210839" cy="83099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TT_IM59a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Imports from EU Special Fiscal Territories into NI where the Goods are 'At Risk’.</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TT_IM60a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Imports from countries with which the EU has a Customs Union, into Northern Ireland where the Goods are deemed to be 'At Risk’.</a:t>
              </a:r>
            </a:p>
          </p:txBody>
        </p:sp>
      </p:grpSp>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name="Slide450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92DF777-29A3-47BB-A8A5-0044A4253FB9}"/>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87D77BD-E721-4C64-B79F-4AA7FCA53A1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04276E9-7097-482C-99F4-926C195CF4D1}"/>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32505AF7-7C8C-472C-99ED-4F2818C111C2}"/>
              </a:ext>
            </a:extLst>
          </p:cNvPr>
          <p:cNvSpPr txBox="1"/>
          <p:nvPr/>
        </p:nvSpPr>
        <p:spPr>
          <a:xfrm>
            <a:off x="1175483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5739AF7-6856-47D2-827A-AFD594C3074B}" type="slidenum">
              <a:rPr sz="1200"/>
              <a:t>415</a:t>
            </a:fld>
            <a:endParaRPr lang="en-GB" sz="1200" b="0" i="0" u="none" strike="noStrike" kern="1200" cap="none" spc="0" baseline="0">
              <a:solidFill>
                <a:srgbClr val="000000"/>
              </a:solidFill>
              <a:uFillTx/>
              <a:latin typeface="Calibri"/>
            </a:endParaRPr>
          </a:p>
        </p:txBody>
      </p:sp>
      <p:sp>
        <p:nvSpPr>
          <p:cNvPr id="7" name="Rectangle 31">
            <a:extLst>
              <a:ext uri="{FF2B5EF4-FFF2-40B4-BE49-F238E27FC236}">
                <a16:creationId xmlns:a16="http://schemas.microsoft.com/office/drawing/2014/main" id="{3CDD1FEF-3CD6-4EC3-B74A-ED109AB08965}"/>
              </a:ext>
            </a:extLst>
          </p:cNvPr>
          <p:cNvSpPr/>
          <p:nvPr/>
        </p:nvSpPr>
        <p:spPr>
          <a:xfrm>
            <a:off x="363967" y="991639"/>
            <a:ext cx="11225933" cy="381643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Retaliatory Rates and  Safeguarding Charges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functionality will enable CDS to accurately calculate additional duties in the form of retaliatory rates and safeguarding charges for Steel commodities. Retaliatory rates are additional duties collected against certain commodities imported from the US - these rates form a part of TARIC measure 695. Safeguarding charges are additional duties collected against Steel commodities imported from certain countries - these rates form a part of TARIC measure 696.</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Duty Calculation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There are instances where a commodity can attract a retaliatory rate as well as a safeguarding charge. In such instances, it is expected that the duty calculation will be made up of a total of Ad Valorem customs duty plus the additional duties (retaliatory rates and safeguarding charges).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Where steel safeguard quota is not allocated.</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calculate the additional duties (as per measure 695 and 696), as well as the standard customs duty calculation. CDS calculates:</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ERGA OMNES standard customs duty; and</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Additional duties (695) at the specified rate + Additional duties (696) at the specified rate</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then return a DMSTAX notification with the total duties owed.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Where steel safeguard quota is allocated and steel safeguards are not charged.</a:t>
            </a:r>
            <a:r>
              <a:rPr lang="en-GB" sz="1200" b="0" i="0" u="none" strike="noStrike" kern="1200" cap="none" spc="0" baseline="0">
                <a:solidFill>
                  <a:srgbClr val="000000"/>
                </a:solidFill>
                <a:uFillTx/>
                <a:latin typeface="Calibri"/>
              </a:rPr>
              <a:t> </a:t>
            </a:r>
            <a:endParaRPr lang="en-GB" sz="1200" b="1" i="0" u="none" strike="noStrike" kern="1200" cap="none" spc="0" baseline="0">
              <a:solidFill>
                <a:srgbClr val="000000"/>
              </a:solidFill>
              <a:uFillTx/>
              <a:latin typeface="Calibri"/>
            </a:endParaRP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calculates:</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ERGA OMNES standard customs duty; and</a:t>
            </a:r>
          </a:p>
          <a:p>
            <a:pPr marL="914400" marR="0" lvl="2"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Additional duties (695) at the specified rate + No additional duties for steel safeguards (696)</a:t>
            </a:r>
          </a:p>
          <a:p>
            <a:pPr marL="457200" marR="0" lvl="1"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then return a DMSTAX notification with the total duties owed.</a:t>
            </a:r>
          </a:p>
        </p:txBody>
      </p:sp>
      <p:sp>
        <p:nvSpPr>
          <p:cNvPr id="8" name="Oval 43">
            <a:hlinkClick r:id="rId3" action="ppaction://hlinksldjump"/>
            <a:extLst>
              <a:ext uri="{FF2B5EF4-FFF2-40B4-BE49-F238E27FC236}">
                <a16:creationId xmlns:a16="http://schemas.microsoft.com/office/drawing/2014/main" id="{34F0485C-1FCB-4AC7-AF84-E0955F0839F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44">
            <a:hlinkClick r:id="rId3" action="ppaction://hlinksldjump"/>
            <a:extLst>
              <a:ext uri="{FF2B5EF4-FFF2-40B4-BE49-F238E27FC236}">
                <a16:creationId xmlns:a16="http://schemas.microsoft.com/office/drawing/2014/main" id="{BF3421B5-3B01-4517-B42C-4F828B8B7437}"/>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5">
            <a:hlinkClick r:id="rId4" action="ppaction://hlinksldjump"/>
            <a:extLst>
              <a:ext uri="{FF2B5EF4-FFF2-40B4-BE49-F238E27FC236}">
                <a16:creationId xmlns:a16="http://schemas.microsoft.com/office/drawing/2014/main" id="{9B0B28CC-4E02-42ED-B35F-AD32F5426DFA}"/>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6">
            <a:hlinkClick r:id="rId5" action="ppaction://hlinksldjump"/>
            <a:extLst>
              <a:ext uri="{FF2B5EF4-FFF2-40B4-BE49-F238E27FC236}">
                <a16:creationId xmlns:a16="http://schemas.microsoft.com/office/drawing/2014/main" id="{FA7F6BEC-6D2D-45AF-84C2-74F826DC8312}"/>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48">
            <a:hlinkClick r:id="rId3" action="ppaction://hlinksldjump"/>
            <a:extLst>
              <a:ext uri="{FF2B5EF4-FFF2-40B4-BE49-F238E27FC236}">
                <a16:creationId xmlns:a16="http://schemas.microsoft.com/office/drawing/2014/main" id="{1D093F6B-51B6-4901-9CC0-A16358ED19B6}"/>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49">
            <a:hlinkClick r:id="rId3" action="ppaction://hlinksldjump"/>
            <a:extLst>
              <a:ext uri="{FF2B5EF4-FFF2-40B4-BE49-F238E27FC236}">
                <a16:creationId xmlns:a16="http://schemas.microsoft.com/office/drawing/2014/main" id="{8B85FE77-EC4F-402B-BAFE-A51E1C657BF9}"/>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51">
            <a:hlinkClick r:id="rId4" action="ppaction://hlinksldjump"/>
            <a:extLst>
              <a:ext uri="{FF2B5EF4-FFF2-40B4-BE49-F238E27FC236}">
                <a16:creationId xmlns:a16="http://schemas.microsoft.com/office/drawing/2014/main" id="{61559225-BC40-4C97-BD68-3115AC120B2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52">
            <a:hlinkClick r:id="rId4" action="ppaction://hlinksldjump"/>
            <a:extLst>
              <a:ext uri="{FF2B5EF4-FFF2-40B4-BE49-F238E27FC236}">
                <a16:creationId xmlns:a16="http://schemas.microsoft.com/office/drawing/2014/main" id="{A545B260-D209-4701-89E2-13F163F02B0A}"/>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53">
            <a:extLst>
              <a:ext uri="{FF2B5EF4-FFF2-40B4-BE49-F238E27FC236}">
                <a16:creationId xmlns:a16="http://schemas.microsoft.com/office/drawing/2014/main" id="{8994BE3E-2442-49A3-87F0-F445B6E3EBD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4">
            <a:hlinkClick r:id="rId6" action="ppaction://hlinksldjump"/>
            <a:extLst>
              <a:ext uri="{FF2B5EF4-FFF2-40B4-BE49-F238E27FC236}">
                <a16:creationId xmlns:a16="http://schemas.microsoft.com/office/drawing/2014/main" id="{BF9D2375-377D-41E1-8941-75866E386B38}"/>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1C401650-2F6C-4987-963A-5AEB97856107}"/>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56">
            <a:hlinkClick r:id="rId3" action="ppaction://hlinksldjump"/>
            <a:extLst>
              <a:ext uri="{FF2B5EF4-FFF2-40B4-BE49-F238E27FC236}">
                <a16:creationId xmlns:a16="http://schemas.microsoft.com/office/drawing/2014/main" id="{A910A409-FC18-4782-B72E-D625BF1E556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587F0F59-D1A8-4AE8-934A-055A1068A9B0}"/>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21" name="Rectangle 1">
            <a:extLst>
              <a:ext uri="{FF2B5EF4-FFF2-40B4-BE49-F238E27FC236}">
                <a16:creationId xmlns:a16="http://schemas.microsoft.com/office/drawing/2014/main" id="{5F0FB1C2-417D-4673-A998-639EAF6B9AB9}"/>
              </a:ext>
            </a:extLst>
          </p:cNvPr>
          <p:cNvSpPr/>
          <p:nvPr/>
        </p:nvSpPr>
        <p:spPr>
          <a:xfrm>
            <a:off x="446099" y="4821183"/>
            <a:ext cx="6096003" cy="276999"/>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These two duties are independent as separate charges but are the same tax type. </a:t>
            </a:r>
          </a:p>
        </p:txBody>
      </p:sp>
      <p:grpSp>
        <p:nvGrpSpPr>
          <p:cNvPr id="22" name="Group 2">
            <a:extLst>
              <a:ext uri="{FF2B5EF4-FFF2-40B4-BE49-F238E27FC236}">
                <a16:creationId xmlns:a16="http://schemas.microsoft.com/office/drawing/2014/main" id="{2D42A6DF-6172-4671-8340-E8E249C107AB}"/>
              </a:ext>
            </a:extLst>
          </p:cNvPr>
          <p:cNvGrpSpPr/>
          <p:nvPr/>
        </p:nvGrpSpPr>
        <p:grpSpPr>
          <a:xfrm>
            <a:off x="446099" y="5221223"/>
            <a:ext cx="11421102" cy="597488"/>
            <a:chOff x="446099" y="5221223"/>
            <a:chExt cx="11421102" cy="597488"/>
          </a:xfrm>
        </p:grpSpPr>
        <p:sp>
          <p:nvSpPr>
            <p:cNvPr id="23" name="Rectangle 9">
              <a:extLst>
                <a:ext uri="{FF2B5EF4-FFF2-40B4-BE49-F238E27FC236}">
                  <a16:creationId xmlns:a16="http://schemas.microsoft.com/office/drawing/2014/main" id="{811B9ED7-496F-4FCF-A874-79FDB3E41DE8}"/>
                </a:ext>
              </a:extLst>
            </p:cNvPr>
            <p:cNvSpPr/>
            <p:nvPr/>
          </p:nvSpPr>
          <p:spPr>
            <a:xfrm>
              <a:off x="446099" y="5221233"/>
              <a:ext cx="11421102" cy="597478"/>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27">
              <a:extLst>
                <a:ext uri="{FF2B5EF4-FFF2-40B4-BE49-F238E27FC236}">
                  <a16:creationId xmlns:a16="http://schemas.microsoft.com/office/drawing/2014/main" id="{C022313B-5CCC-4D0A-B3F8-9214A7D3EB76}"/>
                </a:ext>
              </a:extLst>
            </p:cNvPr>
            <p:cNvSpPr/>
            <p:nvPr/>
          </p:nvSpPr>
          <p:spPr>
            <a:xfrm rot="16200004">
              <a:off x="450081" y="5217241"/>
              <a:ext cx="597478" cy="605442"/>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700" b="1" i="0" u="none" strike="noStrike" kern="1200" cap="none" spc="0" baseline="0">
                  <a:solidFill>
                    <a:srgbClr val="FFFFFF"/>
                  </a:solidFill>
                  <a:uFillTx/>
                  <a:latin typeface="Calibri"/>
                </a:rPr>
                <a:t>RELEVANT XML SAMPLES</a:t>
              </a:r>
            </a:p>
          </p:txBody>
        </p:sp>
        <p:sp>
          <p:nvSpPr>
            <p:cNvPr id="25" name="Rectangle 29">
              <a:extLst>
                <a:ext uri="{FF2B5EF4-FFF2-40B4-BE49-F238E27FC236}">
                  <a16:creationId xmlns:a16="http://schemas.microsoft.com/office/drawing/2014/main" id="{065A9463-7192-4764-82E1-24AFF1965951}"/>
                </a:ext>
              </a:extLst>
            </p:cNvPr>
            <p:cNvSpPr/>
            <p:nvPr/>
          </p:nvSpPr>
          <p:spPr>
            <a:xfrm>
              <a:off x="1126495" y="5243553"/>
              <a:ext cx="10740706"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TT_IM58a</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Import of steel goods into GB from the US, which is subject to UK steel safeguarding retaliatory measures, but where no Quota claim is made.</a:t>
              </a:r>
              <a:endParaRPr lang="en-GB" sz="1200" b="0" i="0" u="none" strike="noStrike" kern="1200" cap="none" spc="0" baseline="0">
                <a:solidFill>
                  <a:srgbClr val="000000"/>
                </a:solidFill>
                <a:uFillTx/>
                <a:latin typeface="Calibri"/>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name="Slide4518">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8EA80FCA-FF99-4339-84BB-CC55E97DB4E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2D50A002-B811-4AD1-8FCD-991F27B211A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FC36DD4-81C2-4ADD-8645-3BE6EF59D8C3}"/>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D27F2DB0-D12C-431F-B4C4-DF3EE60FF97F}"/>
              </a:ext>
            </a:extLst>
          </p:cNvPr>
          <p:cNvSpPr txBox="1"/>
          <p:nvPr/>
        </p:nvSpPr>
        <p:spPr>
          <a:xfrm>
            <a:off x="11718255"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2EFBDC4-F8EB-4CD1-8454-45923997B9BF}" type="slidenum">
              <a:rPr sz="1200"/>
              <a:t>416</a:t>
            </a:fld>
            <a:endParaRPr lang="en-GB" sz="1200" b="0" i="0" u="none" strike="noStrike" kern="1200" cap="none" spc="0" baseline="0">
              <a:solidFill>
                <a:srgbClr val="000000"/>
              </a:solidFill>
              <a:uFillTx/>
              <a:latin typeface="Calibri"/>
            </a:endParaRPr>
          </a:p>
        </p:txBody>
      </p:sp>
      <p:sp>
        <p:nvSpPr>
          <p:cNvPr id="7" name="Rectangle 31">
            <a:extLst>
              <a:ext uri="{FF2B5EF4-FFF2-40B4-BE49-F238E27FC236}">
                <a16:creationId xmlns:a16="http://schemas.microsoft.com/office/drawing/2014/main" id="{C1681789-4168-4DCD-8650-841D37559139}"/>
              </a:ext>
            </a:extLst>
          </p:cNvPr>
          <p:cNvSpPr/>
          <p:nvPr/>
        </p:nvSpPr>
        <p:spPr>
          <a:xfrm>
            <a:off x="363967" y="979349"/>
            <a:ext cx="10816730" cy="129265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New Document Code for Plant Health Controlled Commodity Codes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EU have extended the use of the Common Health Entry Document (CHED) to now include coverage for plant products. The Common Health Entry Document – Plant Products ‘CHED-PP’ document will be identified by a new Union Document code ‘C085’ which allows traders to pre-notify imports of controlled goods and must be declared on an import declaration (type A, C, D, F or Y) when importing plant and plant related commodities.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TTM14.1, the following declaration submission and validation rules will be enforced on CDS: </a:t>
            </a:r>
          </a:p>
        </p:txBody>
      </p:sp>
      <p:sp>
        <p:nvSpPr>
          <p:cNvPr id="8" name="Oval 43">
            <a:hlinkClick r:id="rId3" action="ppaction://hlinksldjump"/>
            <a:extLst>
              <a:ext uri="{FF2B5EF4-FFF2-40B4-BE49-F238E27FC236}">
                <a16:creationId xmlns:a16="http://schemas.microsoft.com/office/drawing/2014/main" id="{B3215969-D7E0-44DF-9544-B691B7B2FBB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44">
            <a:hlinkClick r:id="rId3" action="ppaction://hlinksldjump"/>
            <a:extLst>
              <a:ext uri="{FF2B5EF4-FFF2-40B4-BE49-F238E27FC236}">
                <a16:creationId xmlns:a16="http://schemas.microsoft.com/office/drawing/2014/main" id="{155517E9-2023-497D-9D7F-B63B15F1171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5">
            <a:hlinkClick r:id="rId4" action="ppaction://hlinksldjump"/>
            <a:extLst>
              <a:ext uri="{FF2B5EF4-FFF2-40B4-BE49-F238E27FC236}">
                <a16:creationId xmlns:a16="http://schemas.microsoft.com/office/drawing/2014/main" id="{3D2F439E-A8C8-46BC-B308-302096A4E8E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6">
            <a:hlinkClick r:id="rId5" action="ppaction://hlinksldjump"/>
            <a:extLst>
              <a:ext uri="{FF2B5EF4-FFF2-40B4-BE49-F238E27FC236}">
                <a16:creationId xmlns:a16="http://schemas.microsoft.com/office/drawing/2014/main" id="{E009D691-38B9-487E-8AF6-7DA0C33BDA2D}"/>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48">
            <a:hlinkClick r:id="rId3" action="ppaction://hlinksldjump"/>
            <a:extLst>
              <a:ext uri="{FF2B5EF4-FFF2-40B4-BE49-F238E27FC236}">
                <a16:creationId xmlns:a16="http://schemas.microsoft.com/office/drawing/2014/main" id="{842AA442-C84B-4A26-B1D6-9AFDBBC6605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49">
            <a:hlinkClick r:id="rId3" action="ppaction://hlinksldjump"/>
            <a:extLst>
              <a:ext uri="{FF2B5EF4-FFF2-40B4-BE49-F238E27FC236}">
                <a16:creationId xmlns:a16="http://schemas.microsoft.com/office/drawing/2014/main" id="{665E7D17-4A39-41CF-9D4C-1EB68C82F923}"/>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51">
            <a:hlinkClick r:id="rId4" action="ppaction://hlinksldjump"/>
            <a:extLst>
              <a:ext uri="{FF2B5EF4-FFF2-40B4-BE49-F238E27FC236}">
                <a16:creationId xmlns:a16="http://schemas.microsoft.com/office/drawing/2014/main" id="{734F47FE-EA27-43AB-8F55-10577B7CD0B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52">
            <a:hlinkClick r:id="rId4" action="ppaction://hlinksldjump"/>
            <a:extLst>
              <a:ext uri="{FF2B5EF4-FFF2-40B4-BE49-F238E27FC236}">
                <a16:creationId xmlns:a16="http://schemas.microsoft.com/office/drawing/2014/main" id="{22C79BE2-9020-41B2-A59E-E183E6EB5BED}"/>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53">
            <a:extLst>
              <a:ext uri="{FF2B5EF4-FFF2-40B4-BE49-F238E27FC236}">
                <a16:creationId xmlns:a16="http://schemas.microsoft.com/office/drawing/2014/main" id="{93F43B02-452F-4919-BA9B-A0493362DE2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4">
            <a:hlinkClick r:id="rId6" action="ppaction://hlinksldjump"/>
            <a:extLst>
              <a:ext uri="{FF2B5EF4-FFF2-40B4-BE49-F238E27FC236}">
                <a16:creationId xmlns:a16="http://schemas.microsoft.com/office/drawing/2014/main" id="{B76AE047-0BA6-47A3-9523-F29093DA79A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AD89044F-1F06-458E-A4C7-D3C8E764BCE2}"/>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56">
            <a:hlinkClick r:id="rId3" action="ppaction://hlinksldjump"/>
            <a:extLst>
              <a:ext uri="{FF2B5EF4-FFF2-40B4-BE49-F238E27FC236}">
                <a16:creationId xmlns:a16="http://schemas.microsoft.com/office/drawing/2014/main" id="{B1EC3479-2DD6-423D-9001-635F53E22A52}"/>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2212F101-E81D-4D44-A4C7-147681F0FE6A}"/>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21" name="Rectangle 2">
            <a:extLst>
              <a:ext uri="{FF2B5EF4-FFF2-40B4-BE49-F238E27FC236}">
                <a16:creationId xmlns:a16="http://schemas.microsoft.com/office/drawing/2014/main" id="{C6805AF4-8C41-4617-B634-8DD9C0798645}"/>
              </a:ext>
            </a:extLst>
          </p:cNvPr>
          <p:cNvSpPr/>
          <p:nvPr/>
        </p:nvSpPr>
        <p:spPr>
          <a:xfrm>
            <a:off x="363967" y="2382350"/>
            <a:ext cx="11503234" cy="2862318"/>
          </a:xfrm>
          <a:prstGeom prst="rect">
            <a:avLst/>
          </a:prstGeom>
          <a:solidFill>
            <a:srgbClr val="F2F2F2"/>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submission:</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Document code "C085" is declared at item level in D.E. 2/3.</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a commodity code covered under CHED-PP measure restriction requires the “C085” document code to be declared, the trader must declare “C085” in D.E. 2/3 at item level. If “C085” is not declared in D.E. 2/3 at item level, CDS will reject the declaration. </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Document code N851 may additionally be required to be declared if the new CHED-PP measure does not replace the existing phytosanitary measure for controlled plant and plant related commodities.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Declaration validation:</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 applicable document status code must be declared against document code "C085" for the licence in D.E. 2/3: “AE”, “JA”, “JE”, “LE”, “LP”, “XX” or “XW”. </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an applicable document status code has not been provided, the declaration will be rejected.</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document code "C085" is declared in the first component of D.E. 2/3 and a valid document status code excluding any of the waiver status codes ("XX" or "XW") is declared in the third component of D.E. 2/3, the trader should enter "GBCHD" followed by the CHED-PP reference in the second component of D.E. 2/3</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document code "C085" is declared in D.E. 2/3 and a valid waiver status code of "XW“ or “XX” is declared in the third component of D.E. 2/3: </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statement supporting the use of the waiver status code must be provided in the fourth component of D.E. 2/3.</a:t>
            </a:r>
          </a:p>
          <a:p>
            <a:pPr marL="1085850" marR="0" lvl="2" indent="-171450" algn="l" defTabSz="914400" rtl="0" fontAlgn="auto" hangingPunct="1">
              <a:lnSpc>
                <a:spcPct val="100000"/>
              </a:lnSpc>
              <a:spcBef>
                <a:spcPts val="0"/>
              </a:spcBef>
              <a:spcAft>
                <a:spcPts val="0"/>
              </a:spcAft>
              <a:buSzPct val="100000"/>
              <a:buFont typeface="Courier New" pitchFamily="49"/>
              <a:buChar char="o"/>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trader should enter the country code and license type of "GBCHD" in the second component of D.E. 2/3.</a:t>
            </a:r>
          </a:p>
        </p:txBody>
      </p:sp>
      <p:grpSp>
        <p:nvGrpSpPr>
          <p:cNvPr id="22" name="Group 26">
            <a:extLst>
              <a:ext uri="{FF2B5EF4-FFF2-40B4-BE49-F238E27FC236}">
                <a16:creationId xmlns:a16="http://schemas.microsoft.com/office/drawing/2014/main" id="{B9A47357-4C9F-4F98-BEA9-542C61A19C9E}"/>
              </a:ext>
            </a:extLst>
          </p:cNvPr>
          <p:cNvGrpSpPr/>
          <p:nvPr/>
        </p:nvGrpSpPr>
        <p:grpSpPr>
          <a:xfrm>
            <a:off x="363967" y="5299204"/>
            <a:ext cx="11532714" cy="607107"/>
            <a:chOff x="363967" y="5299204"/>
            <a:chExt cx="11532714" cy="607107"/>
          </a:xfrm>
        </p:grpSpPr>
        <p:sp>
          <p:nvSpPr>
            <p:cNvPr id="23" name="Rectangle 9">
              <a:extLst>
                <a:ext uri="{FF2B5EF4-FFF2-40B4-BE49-F238E27FC236}">
                  <a16:creationId xmlns:a16="http://schemas.microsoft.com/office/drawing/2014/main" id="{D95E1977-2C37-4971-875D-5C9E2F1688CF}"/>
                </a:ext>
              </a:extLst>
            </p:cNvPr>
            <p:cNvSpPr/>
            <p:nvPr/>
          </p:nvSpPr>
          <p:spPr>
            <a:xfrm>
              <a:off x="363967" y="5299204"/>
              <a:ext cx="11532714" cy="597478"/>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29">
              <a:extLst>
                <a:ext uri="{FF2B5EF4-FFF2-40B4-BE49-F238E27FC236}">
                  <a16:creationId xmlns:a16="http://schemas.microsoft.com/office/drawing/2014/main" id="{EA6BEF5F-669C-4A59-894B-90EA565B795A}"/>
                </a:ext>
              </a:extLst>
            </p:cNvPr>
            <p:cNvSpPr/>
            <p:nvPr/>
          </p:nvSpPr>
          <p:spPr>
            <a:xfrm rot="16200004">
              <a:off x="370913" y="5301897"/>
              <a:ext cx="597478" cy="611349"/>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700" b="1" i="0" u="none" strike="noStrike" kern="1200" cap="none" spc="0" baseline="0">
                  <a:solidFill>
                    <a:srgbClr val="FFFFFF"/>
                  </a:solidFill>
                  <a:uFillTx/>
                  <a:latin typeface="Calibri"/>
                </a:rPr>
                <a:t>RELEVANT XML SAMPLES</a:t>
              </a:r>
            </a:p>
          </p:txBody>
        </p:sp>
        <p:sp>
          <p:nvSpPr>
            <p:cNvPr id="25" name="Rectangle 30">
              <a:extLst>
                <a:ext uri="{FF2B5EF4-FFF2-40B4-BE49-F238E27FC236}">
                  <a16:creationId xmlns:a16="http://schemas.microsoft.com/office/drawing/2014/main" id="{4DAD163A-9668-4864-A9B4-E2621D3A59A0}"/>
                </a:ext>
              </a:extLst>
            </p:cNvPr>
            <p:cNvSpPr/>
            <p:nvPr/>
          </p:nvSpPr>
          <p:spPr>
            <a:xfrm>
              <a:off x="1071594" y="5388321"/>
              <a:ext cx="7827209"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pitchFamily="34"/>
                  <a:ea typeface="Times New Roman" pitchFamily="18"/>
                </a:rPr>
                <a:t>TT_IM57a</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GB to NI 'At Risk' with Common Health Entry Document Licence waiver declared.</a:t>
              </a:r>
            </a:p>
          </p:txBody>
        </p:sp>
      </p:gr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name="Slide452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B8BAE736-EAC6-459E-B17B-F685D8BA379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0AE2590-EAB3-412E-8211-F35AE046D23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88EAF0F-4340-4EC1-9DAB-24648732A7E8}"/>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E4A70EA5-B621-4BF3-878C-FF268CFAB2B1}"/>
              </a:ext>
            </a:extLst>
          </p:cNvPr>
          <p:cNvSpPr txBox="1"/>
          <p:nvPr/>
        </p:nvSpPr>
        <p:spPr>
          <a:xfrm>
            <a:off x="11718255" y="63696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28F6C65-89AE-4F71-9C68-E22FE90925CC}" type="slidenum">
              <a:rPr sz="1200"/>
              <a:t>417</a:t>
            </a:fld>
            <a:endParaRPr lang="en-GB" sz="1200" b="0" i="0" u="none" strike="noStrike" kern="1200" cap="none" spc="0" baseline="0">
              <a:solidFill>
                <a:srgbClr val="000000"/>
              </a:solidFill>
              <a:uFillTx/>
              <a:latin typeface="Calibri"/>
            </a:endParaRPr>
          </a:p>
        </p:txBody>
      </p:sp>
      <p:sp>
        <p:nvSpPr>
          <p:cNvPr id="7" name="Rectangle 31">
            <a:extLst>
              <a:ext uri="{FF2B5EF4-FFF2-40B4-BE49-F238E27FC236}">
                <a16:creationId xmlns:a16="http://schemas.microsoft.com/office/drawing/2014/main" id="{6B3982DC-ABC3-4D1E-9F6D-5EDEFB723274}"/>
              </a:ext>
            </a:extLst>
          </p:cNvPr>
          <p:cNvSpPr/>
          <p:nvPr/>
        </p:nvSpPr>
        <p:spPr>
          <a:xfrm>
            <a:off x="363967" y="991639"/>
            <a:ext cx="11225933" cy="74636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4. New CDS Goods Location Codes for D.E. 5/23</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TTM14.1, traders may now declare the following Goods Location Codes in D.E. 5/23 (this is not an exhaustive list of all Goods Location Codes that can be declared):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8" name="Oval 43">
            <a:hlinkClick r:id="rId3" action="ppaction://hlinksldjump"/>
            <a:extLst>
              <a:ext uri="{FF2B5EF4-FFF2-40B4-BE49-F238E27FC236}">
                <a16:creationId xmlns:a16="http://schemas.microsoft.com/office/drawing/2014/main" id="{7D29E27E-3BA7-46EA-94DD-4AD06EA4C71F}"/>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44">
            <a:hlinkClick r:id="rId3" action="ppaction://hlinksldjump"/>
            <a:extLst>
              <a:ext uri="{FF2B5EF4-FFF2-40B4-BE49-F238E27FC236}">
                <a16:creationId xmlns:a16="http://schemas.microsoft.com/office/drawing/2014/main" id="{19E9BE9A-82BF-49C2-A14A-2568E1313023}"/>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5">
            <a:hlinkClick r:id="rId4" action="ppaction://hlinksldjump"/>
            <a:extLst>
              <a:ext uri="{FF2B5EF4-FFF2-40B4-BE49-F238E27FC236}">
                <a16:creationId xmlns:a16="http://schemas.microsoft.com/office/drawing/2014/main" id="{4630966B-660B-406B-ABF1-B7679D3E7EA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6">
            <a:hlinkClick r:id="rId5" action="ppaction://hlinksldjump"/>
            <a:extLst>
              <a:ext uri="{FF2B5EF4-FFF2-40B4-BE49-F238E27FC236}">
                <a16:creationId xmlns:a16="http://schemas.microsoft.com/office/drawing/2014/main" id="{D0643169-35DD-4F70-B6B5-7611C474ADBB}"/>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48">
            <a:hlinkClick r:id="rId3" action="ppaction://hlinksldjump"/>
            <a:extLst>
              <a:ext uri="{FF2B5EF4-FFF2-40B4-BE49-F238E27FC236}">
                <a16:creationId xmlns:a16="http://schemas.microsoft.com/office/drawing/2014/main" id="{8FF87BB7-FDE0-48CC-BAE2-B86B66F48E8E}"/>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49">
            <a:hlinkClick r:id="rId3" action="ppaction://hlinksldjump"/>
            <a:extLst>
              <a:ext uri="{FF2B5EF4-FFF2-40B4-BE49-F238E27FC236}">
                <a16:creationId xmlns:a16="http://schemas.microsoft.com/office/drawing/2014/main" id="{97B62D59-D9E3-43B3-AC8A-0B17F705368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51">
            <a:hlinkClick r:id="rId4" action="ppaction://hlinksldjump"/>
            <a:extLst>
              <a:ext uri="{FF2B5EF4-FFF2-40B4-BE49-F238E27FC236}">
                <a16:creationId xmlns:a16="http://schemas.microsoft.com/office/drawing/2014/main" id="{EE8F3D54-1870-47FD-8E63-EA60B1BA37F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52">
            <a:hlinkClick r:id="rId4" action="ppaction://hlinksldjump"/>
            <a:extLst>
              <a:ext uri="{FF2B5EF4-FFF2-40B4-BE49-F238E27FC236}">
                <a16:creationId xmlns:a16="http://schemas.microsoft.com/office/drawing/2014/main" id="{CA75BEF4-67BD-4AE8-8732-7C524C5388B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53">
            <a:extLst>
              <a:ext uri="{FF2B5EF4-FFF2-40B4-BE49-F238E27FC236}">
                <a16:creationId xmlns:a16="http://schemas.microsoft.com/office/drawing/2014/main" id="{0AB8C403-EF32-422A-A5EA-C7ABD86C2D6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4">
            <a:hlinkClick r:id="rId6" action="ppaction://hlinksldjump"/>
            <a:extLst>
              <a:ext uri="{FF2B5EF4-FFF2-40B4-BE49-F238E27FC236}">
                <a16:creationId xmlns:a16="http://schemas.microsoft.com/office/drawing/2014/main" id="{1E5D70CA-0098-4311-90F1-1E026078236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hlinkClick r:id="rId3" action="ppaction://hlinksldjump"/>
            <a:extLst>
              <a:ext uri="{FF2B5EF4-FFF2-40B4-BE49-F238E27FC236}">
                <a16:creationId xmlns:a16="http://schemas.microsoft.com/office/drawing/2014/main" id="{9A2E7B2E-9E07-4647-A78E-DF851D45970B}"/>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56">
            <a:hlinkClick r:id="rId3" action="ppaction://hlinksldjump"/>
            <a:extLst>
              <a:ext uri="{FF2B5EF4-FFF2-40B4-BE49-F238E27FC236}">
                <a16:creationId xmlns:a16="http://schemas.microsoft.com/office/drawing/2014/main" id="{42470393-8933-4CE7-A9FB-28290B62FB4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C5DABD5E-C4B2-42AA-A8E9-7043737893C4}"/>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graphicFrame>
        <p:nvGraphicFramePr>
          <p:cNvPr id="21" name="Table 1">
            <a:extLst>
              <a:ext uri="{FF2B5EF4-FFF2-40B4-BE49-F238E27FC236}">
                <a16:creationId xmlns:a16="http://schemas.microsoft.com/office/drawing/2014/main" id="{644F631F-5E0E-4783-B6CB-DD30E3D28CB1}"/>
              </a:ext>
            </a:extLst>
          </p:cNvPr>
          <p:cNvGraphicFramePr>
            <a:graphicFrameLocks noGrp="1"/>
          </p:cNvGraphicFramePr>
          <p:nvPr/>
        </p:nvGraphicFramePr>
        <p:xfrm>
          <a:off x="1193365" y="1623444"/>
          <a:ext cx="9580616" cy="3840480"/>
        </p:xfrm>
        <a:graphic>
          <a:graphicData uri="http://schemas.openxmlformats.org/drawingml/2006/table">
            <a:tbl>
              <a:tblPr firstRow="1" bandRow="1">
                <a:effectLst/>
                <a:tableStyleId>{5C22544A-7EE6-4342-B048-85BDC9FD1C3A}</a:tableStyleId>
              </a:tblPr>
              <a:tblGrid>
                <a:gridCol w="2394383">
                  <a:extLst>
                    <a:ext uri="{9D8B030D-6E8A-4147-A177-3AD203B41FA5}">
                      <a16:colId xmlns:a16="http://schemas.microsoft.com/office/drawing/2014/main" val="561214089"/>
                    </a:ext>
                  </a:extLst>
                </a:gridCol>
                <a:gridCol w="7186233">
                  <a:extLst>
                    <a:ext uri="{9D8B030D-6E8A-4147-A177-3AD203B41FA5}">
                      <a16:colId xmlns:a16="http://schemas.microsoft.com/office/drawing/2014/main" val="3455315061"/>
                    </a:ext>
                  </a:extLst>
                </a:gridCol>
              </a:tblGrid>
              <a:tr h="175683">
                <a:tc>
                  <a:txBody>
                    <a:bodyPr/>
                    <a:lstStyle/>
                    <a:p>
                      <a:pPr lvl="0"/>
                      <a:r>
                        <a:rPr lang="en-GB" sz="1200">
                          <a:latin typeface="Calibri"/>
                        </a:rPr>
                        <a:t>Goods Location Code in D.E. 5/23</a:t>
                      </a:r>
                    </a:p>
                  </a:txBody>
                  <a:tcPr>
                    <a:solidFill>
                      <a:srgbClr val="A6A6A6"/>
                    </a:solidFill>
                  </a:tcPr>
                </a:tc>
                <a:tc>
                  <a:txBody>
                    <a:bodyPr/>
                    <a:lstStyle/>
                    <a:p>
                      <a:pPr lvl="0"/>
                      <a:r>
                        <a:rPr lang="en-GB" sz="1200">
                          <a:latin typeface="Calibri"/>
                        </a:rPr>
                        <a:t>Location</a:t>
                      </a:r>
                    </a:p>
                  </a:txBody>
                  <a:tcPr>
                    <a:solidFill>
                      <a:srgbClr val="A6A6A6"/>
                    </a:solidFill>
                  </a:tcPr>
                </a:tc>
                <a:extLst>
                  <a:ext uri="{0D108BD9-81ED-4DB2-BD59-A6C34878D82A}">
                    <a16:rowId xmlns:a16="http://schemas.microsoft.com/office/drawing/2014/main" val="2276697676"/>
                  </a:ext>
                </a:extLst>
              </a:tr>
              <a:tr h="0">
                <a:tc>
                  <a:txBody>
                    <a:bodyPr/>
                    <a:lstStyle/>
                    <a:p>
                      <a:pPr lvl="0"/>
                      <a:r>
                        <a:rPr lang="en-GB" sz="1200" b="1">
                          <a:latin typeface="Calibri"/>
                        </a:rPr>
                        <a:t>GBAUPBKEMAPDX</a:t>
                      </a:r>
                    </a:p>
                  </a:txBody>
                  <a:tcPr>
                    <a:solidFill>
                      <a:srgbClr val="F2F2F2"/>
                    </a:solidFill>
                  </a:tcPr>
                </a:tc>
                <a:tc>
                  <a:txBody>
                    <a:bodyPr/>
                    <a:lstStyle/>
                    <a:p>
                      <a:pPr lvl="0"/>
                      <a:r>
                        <a:rPr lang="en-GB" sz="1200" kern="1200">
                          <a:solidFill>
                            <a:srgbClr val="000000"/>
                          </a:solidFill>
                          <a:latin typeface="Calibri"/>
                        </a:rPr>
                        <a:t>Perishable Movements Limited Wardentree Park, Pinchbeck, Spalding, Lincolnshire PE11 3ZN</a:t>
                      </a:r>
                    </a:p>
                  </a:txBody>
                  <a:tcPr>
                    <a:solidFill>
                      <a:srgbClr val="F2F2F2"/>
                    </a:solidFill>
                  </a:tcPr>
                </a:tc>
                <a:extLst>
                  <a:ext uri="{0D108BD9-81ED-4DB2-BD59-A6C34878D82A}">
                    <a16:rowId xmlns:a16="http://schemas.microsoft.com/office/drawing/2014/main" val="2135579590"/>
                  </a:ext>
                </a:extLst>
              </a:tr>
              <a:tr h="0">
                <a:tc>
                  <a:txBody>
                    <a:bodyPr/>
                    <a:lstStyle/>
                    <a:p>
                      <a:pPr lvl="0"/>
                      <a:r>
                        <a:rPr lang="en-GB" sz="1200" b="1">
                          <a:solidFill>
                            <a:srgbClr val="000000"/>
                          </a:solidFill>
                          <a:latin typeface="Calibri"/>
                        </a:rPr>
                        <a:t>GBAUCVTBHXFPX</a:t>
                      </a:r>
                      <a:endParaRPr lang="en-GB" sz="1200" b="1">
                        <a:latin typeface="Calibri"/>
                      </a:endParaRPr>
                    </a:p>
                  </a:txBody>
                  <a:tcPr>
                    <a:solidFill>
                      <a:srgbClr val="E7E6E6"/>
                    </a:solidFill>
                  </a:tcPr>
                </a:tc>
                <a:tc>
                  <a:txBody>
                    <a:bodyPr/>
                    <a:lstStyle/>
                    <a:p>
                      <a:pPr lvl="0"/>
                      <a:r>
                        <a:rPr lang="en-GB" sz="1200">
                          <a:solidFill>
                            <a:srgbClr val="000000"/>
                          </a:solidFill>
                          <a:latin typeface="Calibri"/>
                        </a:rPr>
                        <a:t>C4 Logistics Limited, Bailey House, Curriers Close, Coventry, CV48AW</a:t>
                      </a:r>
                      <a:endParaRPr lang="en-GB" sz="1200">
                        <a:latin typeface="Calibri"/>
                      </a:endParaRPr>
                    </a:p>
                  </a:txBody>
                  <a:tcPr>
                    <a:solidFill>
                      <a:srgbClr val="E7E6E6"/>
                    </a:solidFill>
                  </a:tcPr>
                </a:tc>
                <a:extLst>
                  <a:ext uri="{0D108BD9-81ED-4DB2-BD59-A6C34878D82A}">
                    <a16:rowId xmlns:a16="http://schemas.microsoft.com/office/drawing/2014/main" val="473714404"/>
                  </a:ext>
                </a:extLst>
              </a:tr>
              <a:tr h="0">
                <a:tc>
                  <a:txBody>
                    <a:bodyPr/>
                    <a:lstStyle/>
                    <a:p>
                      <a:pPr lvl="0"/>
                      <a:r>
                        <a:rPr lang="en-GB" sz="1200" b="1" kern="1200">
                          <a:solidFill>
                            <a:srgbClr val="000000"/>
                          </a:solidFill>
                          <a:latin typeface="Calibri"/>
                        </a:rPr>
                        <a:t>GBAUCOOBFSDXX </a:t>
                      </a:r>
                      <a:endParaRPr lang="en-GB" sz="1200" b="1">
                        <a:latin typeface="Calibri"/>
                      </a:endParaRPr>
                    </a:p>
                  </a:txBody>
                  <a:tcPr>
                    <a:solidFill>
                      <a:srgbClr val="F2F2F2"/>
                    </a:solidFill>
                  </a:tcPr>
                </a:tc>
                <a:tc>
                  <a:txBody>
                    <a:bodyPr/>
                    <a:lstStyle/>
                    <a:p>
                      <a:pPr lvl="0"/>
                      <a:r>
                        <a:rPr lang="en-GB" sz="1200" kern="1200">
                          <a:solidFill>
                            <a:srgbClr val="000000"/>
                          </a:solidFill>
                          <a:latin typeface="Calibri"/>
                        </a:rPr>
                        <a:t>DHL, 6 Grange Road, Cookstown, Londonderry, BT80 8SB.</a:t>
                      </a:r>
                      <a:endParaRPr lang="en-GB" sz="1200">
                        <a:latin typeface="Calibri"/>
                      </a:endParaRPr>
                    </a:p>
                  </a:txBody>
                  <a:tcPr>
                    <a:solidFill>
                      <a:srgbClr val="F2F2F2"/>
                    </a:solidFill>
                  </a:tcPr>
                </a:tc>
                <a:extLst>
                  <a:ext uri="{0D108BD9-81ED-4DB2-BD59-A6C34878D82A}">
                    <a16:rowId xmlns:a16="http://schemas.microsoft.com/office/drawing/2014/main" val="268684567"/>
                  </a:ext>
                </a:extLst>
              </a:tr>
              <a:tr h="238512">
                <a:tc>
                  <a:txBody>
                    <a:bodyPr/>
                    <a:lstStyle/>
                    <a:p>
                      <a:pPr lvl="0"/>
                      <a:r>
                        <a:rPr lang="en-GB" sz="1200" b="1">
                          <a:latin typeface="Calibri"/>
                        </a:rPr>
                        <a:t>GBAUAGLBELAGL</a:t>
                      </a:r>
                    </a:p>
                  </a:txBody>
                  <a:tcPr>
                    <a:solidFill>
                      <a:srgbClr val="E7E6E6"/>
                    </a:solidFill>
                  </a:tcPr>
                </a:tc>
                <a:tc>
                  <a:txBody>
                    <a:bodyPr/>
                    <a:lstStyle/>
                    <a:p>
                      <a:pPr lvl="0" algn="l" fontAlgn="ctr"/>
                      <a:r>
                        <a:rPr lang="en-GB" sz="1200" b="0" i="0" u="none" strike="noStrike">
                          <a:solidFill>
                            <a:srgbClr val="000000"/>
                          </a:solidFill>
                          <a:latin typeface="Calibri"/>
                        </a:rPr>
                        <a:t>   Ardglass, The Harbour, Ardglass, Downpatrick BT30 7TZ &amp; 19 Quay St, Ardglass, Downpatrick BT30 7SA</a:t>
                      </a:r>
                    </a:p>
                  </a:txBody>
                  <a:tcPr marL="4764" marR="4764" marT="4764" marB="0" anchor="ctr">
                    <a:solidFill>
                      <a:srgbClr val="E7E6E6"/>
                    </a:solidFill>
                  </a:tcPr>
                </a:tc>
                <a:extLst>
                  <a:ext uri="{0D108BD9-81ED-4DB2-BD59-A6C34878D82A}">
                    <a16:rowId xmlns:a16="http://schemas.microsoft.com/office/drawing/2014/main" val="1661180994"/>
                  </a:ext>
                </a:extLst>
              </a:tr>
              <a:tr h="0">
                <a:tc>
                  <a:txBody>
                    <a:bodyPr/>
                    <a:lstStyle/>
                    <a:p>
                      <a:pPr lvl="0"/>
                      <a:r>
                        <a:rPr lang="en-GB" sz="1200" b="1">
                          <a:solidFill>
                            <a:srgbClr val="000000"/>
                          </a:solidFill>
                          <a:latin typeface="Calibri"/>
                        </a:rPr>
                        <a:t>GBAUBYCCLRBYC</a:t>
                      </a:r>
                      <a:endParaRPr lang="en-GB" sz="1200" b="1">
                        <a:latin typeface="Calibri"/>
                      </a:endParaRPr>
                    </a:p>
                  </a:txBody>
                  <a:tcPr>
                    <a:solidFill>
                      <a:srgbClr val="F2F2F2"/>
                    </a:solidFill>
                  </a:tcPr>
                </a:tc>
                <a:tc>
                  <a:txBody>
                    <a:bodyPr/>
                    <a:lstStyle/>
                    <a:p>
                      <a:pPr lvl="0"/>
                      <a:r>
                        <a:rPr lang="en-GB" sz="1200">
                          <a:solidFill>
                            <a:srgbClr val="000000"/>
                          </a:solidFill>
                          <a:latin typeface="Calibri"/>
                        </a:rPr>
                        <a:t>Ballycastle BT54 6BT</a:t>
                      </a:r>
                      <a:endParaRPr lang="en-GB" sz="1200">
                        <a:latin typeface="Calibri"/>
                      </a:endParaRPr>
                    </a:p>
                  </a:txBody>
                  <a:tcPr>
                    <a:solidFill>
                      <a:srgbClr val="F2F2F2"/>
                    </a:solidFill>
                  </a:tcPr>
                </a:tc>
                <a:extLst>
                  <a:ext uri="{0D108BD9-81ED-4DB2-BD59-A6C34878D82A}">
                    <a16:rowId xmlns:a16="http://schemas.microsoft.com/office/drawing/2014/main" val="681465520"/>
                  </a:ext>
                </a:extLst>
              </a:tr>
              <a:tr h="0">
                <a:tc>
                  <a:txBody>
                    <a:bodyPr/>
                    <a:lstStyle/>
                    <a:p>
                      <a:pPr lvl="0"/>
                      <a:r>
                        <a:rPr lang="en-GB" sz="1200" b="1">
                          <a:solidFill>
                            <a:srgbClr val="000000"/>
                          </a:solidFill>
                          <a:latin typeface="Calibri"/>
                        </a:rPr>
                        <a:t>GBAUBLRBELBLR</a:t>
                      </a:r>
                      <a:endParaRPr lang="en-GB" sz="1200" b="1">
                        <a:latin typeface="Calibri"/>
                      </a:endParaRPr>
                    </a:p>
                  </a:txBody>
                  <a:tcPr>
                    <a:solidFill>
                      <a:srgbClr val="E7E6E6"/>
                    </a:solidFill>
                  </a:tcPr>
                </a:tc>
                <a:tc>
                  <a:txBody>
                    <a:bodyPr/>
                    <a:lstStyle/>
                    <a:p>
                      <a:pPr lvl="0"/>
                      <a:r>
                        <a:rPr lang="en-GB" sz="1200">
                          <a:solidFill>
                            <a:srgbClr val="000000"/>
                          </a:solidFill>
                          <a:latin typeface="Calibri"/>
                        </a:rPr>
                        <a:t>Ballylumford Power Station</a:t>
                      </a:r>
                      <a:endParaRPr lang="en-GB" sz="1200">
                        <a:latin typeface="Calibri"/>
                      </a:endParaRPr>
                    </a:p>
                  </a:txBody>
                  <a:tcPr>
                    <a:solidFill>
                      <a:srgbClr val="E7E6E6"/>
                    </a:solidFill>
                  </a:tcPr>
                </a:tc>
                <a:extLst>
                  <a:ext uri="{0D108BD9-81ED-4DB2-BD59-A6C34878D82A}">
                    <a16:rowId xmlns:a16="http://schemas.microsoft.com/office/drawing/2014/main" val="1487137279"/>
                  </a:ext>
                </a:extLst>
              </a:tr>
              <a:tr h="0">
                <a:tc>
                  <a:txBody>
                    <a:bodyPr/>
                    <a:lstStyle/>
                    <a:p>
                      <a:pPr lvl="0"/>
                      <a:r>
                        <a:rPr lang="en-GB" sz="1200" b="1">
                          <a:solidFill>
                            <a:srgbClr val="000000"/>
                          </a:solidFill>
                          <a:latin typeface="Calibri"/>
                        </a:rPr>
                        <a:t>GBAUBANBELBAN</a:t>
                      </a:r>
                      <a:endParaRPr lang="en-GB" sz="1200" b="1">
                        <a:latin typeface="Calibri"/>
                      </a:endParaRPr>
                    </a:p>
                  </a:txBody>
                  <a:tcPr>
                    <a:solidFill>
                      <a:srgbClr val="F2F2F2"/>
                    </a:solidFill>
                  </a:tcPr>
                </a:tc>
                <a:tc>
                  <a:txBody>
                    <a:bodyPr/>
                    <a:lstStyle/>
                    <a:p>
                      <a:pPr lvl="0"/>
                      <a:r>
                        <a:rPr lang="en-GB" sz="1200">
                          <a:solidFill>
                            <a:srgbClr val="000000"/>
                          </a:solidFill>
                          <a:latin typeface="Calibri"/>
                        </a:rPr>
                        <a:t>Bangor,Bregenz House, 5 Quay St, Bangor BT20 5ED</a:t>
                      </a:r>
                      <a:endParaRPr lang="en-GB" sz="1200">
                        <a:latin typeface="Calibri"/>
                      </a:endParaRPr>
                    </a:p>
                  </a:txBody>
                  <a:tcPr>
                    <a:solidFill>
                      <a:srgbClr val="F2F2F2"/>
                    </a:solidFill>
                  </a:tcPr>
                </a:tc>
                <a:extLst>
                  <a:ext uri="{0D108BD9-81ED-4DB2-BD59-A6C34878D82A}">
                    <a16:rowId xmlns:a16="http://schemas.microsoft.com/office/drawing/2014/main" val="1440253209"/>
                  </a:ext>
                </a:extLst>
              </a:tr>
              <a:tr h="0">
                <a:tc>
                  <a:txBody>
                    <a:bodyPr/>
                    <a:lstStyle/>
                    <a:p>
                      <a:pPr lvl="0"/>
                      <a:r>
                        <a:rPr lang="en-GB" sz="1200" b="1">
                          <a:solidFill>
                            <a:srgbClr val="000000"/>
                          </a:solidFill>
                          <a:latin typeface="Calibri"/>
                        </a:rPr>
                        <a:t>GBAUKLKWPTKLK</a:t>
                      </a:r>
                      <a:endParaRPr lang="en-GB" sz="1200" b="1">
                        <a:latin typeface="Calibri"/>
                      </a:endParaRPr>
                    </a:p>
                  </a:txBody>
                  <a:tcPr>
                    <a:solidFill>
                      <a:srgbClr val="E7E6E6"/>
                    </a:solidFill>
                  </a:tcPr>
                </a:tc>
                <a:tc>
                  <a:txBody>
                    <a:bodyPr/>
                    <a:lstStyle/>
                    <a:p>
                      <a:pPr lvl="0"/>
                      <a:r>
                        <a:rPr lang="en-GB" sz="1200">
                          <a:solidFill>
                            <a:srgbClr val="000000"/>
                          </a:solidFill>
                          <a:latin typeface="Calibri"/>
                        </a:rPr>
                        <a:t>Kilkeel, Newry BT34 4AX</a:t>
                      </a:r>
                      <a:endParaRPr lang="en-GB" sz="1200">
                        <a:latin typeface="Calibri"/>
                      </a:endParaRPr>
                    </a:p>
                  </a:txBody>
                  <a:tcPr>
                    <a:solidFill>
                      <a:srgbClr val="E7E6E6"/>
                    </a:solidFill>
                  </a:tcPr>
                </a:tc>
                <a:extLst>
                  <a:ext uri="{0D108BD9-81ED-4DB2-BD59-A6C34878D82A}">
                    <a16:rowId xmlns:a16="http://schemas.microsoft.com/office/drawing/2014/main" val="3381991878"/>
                  </a:ext>
                </a:extLst>
              </a:tr>
              <a:tr h="0">
                <a:tc>
                  <a:txBody>
                    <a:bodyPr/>
                    <a:lstStyle/>
                    <a:p>
                      <a:pPr lvl="0"/>
                      <a:r>
                        <a:rPr lang="en-GB" sz="1200" b="1">
                          <a:solidFill>
                            <a:srgbClr val="000000"/>
                          </a:solidFill>
                          <a:latin typeface="Calibri"/>
                        </a:rPr>
                        <a:t>GBAUPVGBELPVG</a:t>
                      </a:r>
                      <a:endParaRPr lang="en-GB" sz="1200" b="1">
                        <a:latin typeface="Calibri"/>
                      </a:endParaRPr>
                    </a:p>
                  </a:txBody>
                  <a:tcPr>
                    <a:solidFill>
                      <a:srgbClr val="F2F2F2"/>
                    </a:solidFill>
                  </a:tcPr>
                </a:tc>
                <a:tc>
                  <a:txBody>
                    <a:bodyPr/>
                    <a:lstStyle/>
                    <a:p>
                      <a:pPr lvl="0"/>
                      <a:r>
                        <a:rPr lang="en-GB" sz="1200">
                          <a:solidFill>
                            <a:srgbClr val="000000"/>
                          </a:solidFill>
                          <a:latin typeface="Calibri"/>
                        </a:rPr>
                        <a:t>Portavogie,Harbour Rd, Portavogie, Newtownards BT22 1EA</a:t>
                      </a:r>
                      <a:endParaRPr lang="en-GB" sz="1200">
                        <a:latin typeface="Calibri"/>
                      </a:endParaRPr>
                    </a:p>
                  </a:txBody>
                  <a:tcPr>
                    <a:solidFill>
                      <a:srgbClr val="F2F2F2"/>
                    </a:solidFill>
                  </a:tcPr>
                </a:tc>
                <a:extLst>
                  <a:ext uri="{0D108BD9-81ED-4DB2-BD59-A6C34878D82A}">
                    <a16:rowId xmlns:a16="http://schemas.microsoft.com/office/drawing/2014/main" val="3140093174"/>
                  </a:ext>
                </a:extLst>
              </a:tr>
              <a:tr h="0">
                <a:tc>
                  <a:txBody>
                    <a:bodyPr/>
                    <a:lstStyle/>
                    <a:p>
                      <a:pPr lvl="0"/>
                      <a:r>
                        <a:rPr lang="en-GB" sz="1200" b="1">
                          <a:solidFill>
                            <a:srgbClr val="000000"/>
                          </a:solidFill>
                          <a:latin typeface="Calibri"/>
                        </a:rPr>
                        <a:t>GBAUWHEBELWHE</a:t>
                      </a:r>
                      <a:endParaRPr lang="en-GB" sz="1200" b="1">
                        <a:latin typeface="Calibri"/>
                      </a:endParaRP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200">
                          <a:solidFill>
                            <a:srgbClr val="000000"/>
                          </a:solidFill>
                          <a:latin typeface="Calibri"/>
                        </a:rPr>
                        <a:t>Cloghan Point Oil Jetty, The Oil Terminal, Quay Lane, Whitehead, BT38 9SS</a:t>
                      </a:r>
                    </a:p>
                  </a:txBody>
                  <a:tcPr>
                    <a:solidFill>
                      <a:srgbClr val="E7E6E6"/>
                    </a:solidFill>
                  </a:tcPr>
                </a:tc>
                <a:extLst>
                  <a:ext uri="{0D108BD9-81ED-4DB2-BD59-A6C34878D82A}">
                    <a16:rowId xmlns:a16="http://schemas.microsoft.com/office/drawing/2014/main" val="1858318463"/>
                  </a:ext>
                </a:extLst>
              </a:tr>
              <a:tr h="0">
                <a:tc>
                  <a:txBody>
                    <a:bodyPr/>
                    <a:lstStyle/>
                    <a:p>
                      <a:pPr lvl="0"/>
                      <a:r>
                        <a:rPr lang="en-GB" sz="1200" b="1">
                          <a:solidFill>
                            <a:srgbClr val="000000"/>
                          </a:solidFill>
                          <a:latin typeface="Calibri"/>
                        </a:rPr>
                        <a:t>GBAUSJLBELSJL</a:t>
                      </a:r>
                      <a:endParaRPr lang="en-GB" sz="1200" b="1">
                        <a:latin typeface="Calibri"/>
                      </a:endParaRPr>
                    </a:p>
                  </a:txBody>
                  <a:tcPr>
                    <a:solidFill>
                      <a:srgbClr val="F2F2F2"/>
                    </a:solidFill>
                  </a:tcPr>
                </a:tc>
                <a:tc>
                  <a:txBody>
                    <a:bodyPr/>
                    <a:lstStyle/>
                    <a:p>
                      <a:pPr lvl="0"/>
                      <a:r>
                        <a:rPr lang="en-GB" sz="1200">
                          <a:solidFill>
                            <a:srgbClr val="000000"/>
                          </a:solidFill>
                          <a:latin typeface="Calibri"/>
                        </a:rPr>
                        <a:t>Strangford, Downpatrick BT30 7BU</a:t>
                      </a:r>
                      <a:endParaRPr lang="en-GB" sz="1200">
                        <a:latin typeface="Calibri"/>
                      </a:endParaRPr>
                    </a:p>
                  </a:txBody>
                  <a:tcPr>
                    <a:solidFill>
                      <a:srgbClr val="F2F2F2"/>
                    </a:solidFill>
                  </a:tcPr>
                </a:tc>
                <a:extLst>
                  <a:ext uri="{0D108BD9-81ED-4DB2-BD59-A6C34878D82A}">
                    <a16:rowId xmlns:a16="http://schemas.microsoft.com/office/drawing/2014/main" val="4216018711"/>
                  </a:ext>
                </a:extLst>
              </a:tr>
              <a:tr h="0">
                <a:tc>
                  <a:txBody>
                    <a:bodyPr/>
                    <a:lstStyle/>
                    <a:p>
                      <a:pPr lvl="0"/>
                      <a:r>
                        <a:rPr lang="en-GB" sz="1200" b="1">
                          <a:solidFill>
                            <a:srgbClr val="000000"/>
                          </a:solidFill>
                          <a:latin typeface="Calibri"/>
                        </a:rPr>
                        <a:t>GBAU8TNBFSFBD2</a:t>
                      </a:r>
                      <a:endParaRPr lang="en-GB" sz="1200" b="1">
                        <a:latin typeface="Calibri"/>
                      </a:endParaRPr>
                    </a:p>
                  </a:txBody>
                  <a:tcPr>
                    <a:solidFill>
                      <a:srgbClr val="E7E6E6"/>
                    </a:solidFill>
                  </a:tcPr>
                </a:tc>
                <a:tc>
                  <a:txBody>
                    <a:bodyPr/>
                    <a:lstStyle/>
                    <a:p>
                      <a:pPr lvl="0"/>
                      <a:r>
                        <a:rPr lang="en-GB" sz="1200">
                          <a:solidFill>
                            <a:srgbClr val="000000"/>
                          </a:solidFill>
                          <a:latin typeface="Calibri"/>
                        </a:rPr>
                        <a:t>Fedex Express UK Transportation Limited, 14 Belfast Road, Nutts Corner, Crumlin, Co. Antrim BT29 4TQ</a:t>
                      </a:r>
                      <a:endParaRPr lang="en-GB" sz="1200">
                        <a:latin typeface="Calibri"/>
                      </a:endParaRPr>
                    </a:p>
                  </a:txBody>
                  <a:tcPr>
                    <a:solidFill>
                      <a:srgbClr val="E7E6E6"/>
                    </a:solidFill>
                  </a:tcPr>
                </a:tc>
                <a:extLst>
                  <a:ext uri="{0D108BD9-81ED-4DB2-BD59-A6C34878D82A}">
                    <a16:rowId xmlns:a16="http://schemas.microsoft.com/office/drawing/2014/main" val="4193515019"/>
                  </a:ext>
                </a:extLst>
              </a:tr>
              <a:tr h="0">
                <a:tc>
                  <a:txBody>
                    <a:bodyPr/>
                    <a:lstStyle/>
                    <a:p>
                      <a:pPr lvl="0"/>
                      <a:r>
                        <a:rPr lang="en-GB" sz="1200" b="1">
                          <a:solidFill>
                            <a:srgbClr val="000000"/>
                          </a:solidFill>
                          <a:latin typeface="Calibri"/>
                        </a:rPr>
                        <a:t>GBAUCFGBFSFDC2</a:t>
                      </a:r>
                      <a:endParaRPr lang="en-GB" sz="1200" b="1">
                        <a:latin typeface="Calibri"/>
                      </a:endParaRPr>
                    </a:p>
                  </a:txBody>
                  <a:tcPr>
                    <a:solidFill>
                      <a:srgbClr val="F2F2F2"/>
                    </a:solidFill>
                  </a:tcPr>
                </a:tc>
                <a:tc>
                  <a:txBody>
                    <a:bodyPr/>
                    <a:lstStyle/>
                    <a:p>
                      <a:pPr marL="0" lvl="0" indent="0">
                        <a:spcBef>
                          <a:spcPts val="300"/>
                        </a:spcBef>
                        <a:buNone/>
                        <a:tabLst>
                          <a:tab pos="3678238" algn="l"/>
                        </a:tabLst>
                      </a:pPr>
                      <a:r>
                        <a:rPr lang="en-GB" sz="1200" dirty="0" err="1">
                          <a:solidFill>
                            <a:srgbClr val="000000"/>
                          </a:solidFill>
                          <a:latin typeface="Calibri"/>
                        </a:rPr>
                        <a:t>Fedex</a:t>
                      </a:r>
                      <a:r>
                        <a:rPr lang="en-GB" sz="1200" dirty="0">
                          <a:solidFill>
                            <a:srgbClr val="000000"/>
                          </a:solidFill>
                          <a:latin typeface="Calibri"/>
                        </a:rPr>
                        <a:t> Express UK Transportation Limited, Unit 22A </a:t>
                      </a:r>
                      <a:r>
                        <a:rPr lang="en-GB" sz="1200" dirty="0" err="1">
                          <a:solidFill>
                            <a:srgbClr val="000000"/>
                          </a:solidFill>
                          <a:latin typeface="Calibri"/>
                        </a:rPr>
                        <a:t>Kilroot</a:t>
                      </a:r>
                      <a:r>
                        <a:rPr lang="en-GB" sz="1200" dirty="0">
                          <a:solidFill>
                            <a:srgbClr val="000000"/>
                          </a:solidFill>
                          <a:latin typeface="Calibri"/>
                        </a:rPr>
                        <a:t> Business Park, Carrickfergus, Co. Antrim BT38 7Pr</a:t>
                      </a:r>
                    </a:p>
                  </a:txBody>
                  <a:tcPr>
                    <a:solidFill>
                      <a:srgbClr val="F2F2F2"/>
                    </a:solidFill>
                  </a:tcPr>
                </a:tc>
                <a:extLst>
                  <a:ext uri="{0D108BD9-81ED-4DB2-BD59-A6C34878D82A}">
                    <a16:rowId xmlns:a16="http://schemas.microsoft.com/office/drawing/2014/main" val="2534578873"/>
                  </a:ext>
                </a:extLst>
              </a:tr>
            </a:tbl>
          </a:graphicData>
        </a:graphic>
      </p:graphicFrame>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name="Slide451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0A3F650-E547-4BC1-89AC-89282CDC267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77C7C085-68FD-463E-A8A0-83423DC3EB8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9EE87FC-1742-4E5B-84A5-57E660EC9E69}"/>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4E805798-1FB5-4290-9E90-F5550DBD9709}"/>
              </a:ext>
            </a:extLst>
          </p:cNvPr>
          <p:cNvSpPr txBox="1"/>
          <p:nvPr/>
        </p:nvSpPr>
        <p:spPr>
          <a:xfrm>
            <a:off x="11745687" y="63696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A281E5D-38B0-47AA-922A-4FCD534FA52B}" type="slidenum">
              <a:rPr sz="1200"/>
              <a:t>418</a:t>
            </a:fld>
            <a:endParaRPr lang="en-GB" sz="1200" b="0" i="0" u="none" strike="noStrike" kern="1200" cap="none" spc="0" baseline="0">
              <a:solidFill>
                <a:srgbClr val="000000"/>
              </a:solidFill>
              <a:uFillTx/>
              <a:latin typeface="Calibri"/>
            </a:endParaRPr>
          </a:p>
        </p:txBody>
      </p:sp>
      <p:sp>
        <p:nvSpPr>
          <p:cNvPr id="7" name="TextBox 24">
            <a:hlinkClick r:id="rId3" action="ppaction://hlinksldjump"/>
            <a:extLst>
              <a:ext uri="{FF2B5EF4-FFF2-40B4-BE49-F238E27FC236}">
                <a16:creationId xmlns:a16="http://schemas.microsoft.com/office/drawing/2014/main" id="{B54FD2C3-AE58-4ED4-BB97-18A909D15C2D}"/>
              </a:ext>
            </a:extLst>
          </p:cNvPr>
          <p:cNvSpPr txBox="1"/>
          <p:nvPr/>
        </p:nvSpPr>
        <p:spPr>
          <a:xfrm>
            <a:off x="9688287" y="721827"/>
            <a:ext cx="2178914" cy="276999"/>
          </a:xfrm>
          <a:prstGeom prst="rect">
            <a:avLst/>
          </a:prstGeom>
          <a:solidFill>
            <a:srgbClr val="F8CBAD"/>
          </a:solid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 ONLY</a:t>
            </a:r>
          </a:p>
        </p:txBody>
      </p:sp>
      <p:sp>
        <p:nvSpPr>
          <p:cNvPr id="8" name="Rectangle 31">
            <a:extLst>
              <a:ext uri="{FF2B5EF4-FFF2-40B4-BE49-F238E27FC236}">
                <a16:creationId xmlns:a16="http://schemas.microsoft.com/office/drawing/2014/main" id="{2AD388C7-AD65-4987-B853-A3C319BD29C8}"/>
              </a:ext>
            </a:extLst>
          </p:cNvPr>
          <p:cNvSpPr/>
          <p:nvPr/>
        </p:nvSpPr>
        <p:spPr>
          <a:xfrm>
            <a:off x="363967" y="991639"/>
            <a:ext cx="11225933" cy="538609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5. Trader Notifications (No Response from CDS on Financial Journeys)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Previously, CDS received a high volume of external queries regarding “missing response” issues, whereby traders submitted declarations which were accepted in CDS, but no notifications were returned.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functionality will ensure that, for financial journeys, the submitter of a message will always receive a trader notification when one is expected up to the point of declaration acceptance (DMSACC).</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6. Digital Application for Repayment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Currently, if an overpayment of duties on a declaration made by the trader, they would need to request a repayment by completing a C285 form on GOV.UK and then either printing and posting it, or emailing it to the NDRC. From CDS3.2.2, a trader will be able to complete and submit a digital version of the C285 form for Bulk or CMA claims from the Financial UI Dashboard and will automatically create the claim in CDS for further processing.</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Using this Digital Service, traders will have their MRN checked against the chosen declaration with details auto-populated onto the claim (and manually be able to enter for CHIEF Entries), indicate whether they are submitting new resubmitted claims and  individual or bulk claims. Traders will also have the ability to add or change their bank details and upload supporting documents for their claim.</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7. Automatic Direct Debit Instructions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functionality will provide traders with a self-service option to view and amend their Direct Debit Instruction (DDI) for their Duty Deferment Account via the UI.</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Phase 2 enhancements: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Traders will have the option to select which Deferment Account’s information they want to view and they will be able to view the deferment account’s EORI, Deferment Account Number (DAN), Contact Name, Contact Address, Contact Phone Number and Contact Email address.</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the trader owns the deferment account and their account status is open, they will be able to update the contact information associated with that Deferment Account, including Contact Name, Address, Phone Number and Email.</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the trader owns the deferment account and their account status is open, traders will be able to view and update the bank details for their deferment account, including bank or building society account name (if available), account number (in masked format) and sort code.</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Traders will also be able to view the date of the next scheduled collection to be taken against any duty deferment account, where applicable.</a:t>
            </a:r>
          </a:p>
        </p:txBody>
      </p:sp>
      <p:sp>
        <p:nvSpPr>
          <p:cNvPr id="9" name="Oval 43">
            <a:hlinkClick r:id="rId4" action="ppaction://hlinksldjump"/>
            <a:extLst>
              <a:ext uri="{FF2B5EF4-FFF2-40B4-BE49-F238E27FC236}">
                <a16:creationId xmlns:a16="http://schemas.microsoft.com/office/drawing/2014/main" id="{F218DE48-D785-4F6F-84D8-60C7CE5A939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4">
            <a:hlinkClick r:id="rId4" action="ppaction://hlinksldjump"/>
            <a:extLst>
              <a:ext uri="{FF2B5EF4-FFF2-40B4-BE49-F238E27FC236}">
                <a16:creationId xmlns:a16="http://schemas.microsoft.com/office/drawing/2014/main" id="{1DA13CA3-017E-4580-A41D-1A5876E8002D}"/>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5">
            <a:hlinkClick r:id="rId5" action="ppaction://hlinksldjump"/>
            <a:extLst>
              <a:ext uri="{FF2B5EF4-FFF2-40B4-BE49-F238E27FC236}">
                <a16:creationId xmlns:a16="http://schemas.microsoft.com/office/drawing/2014/main" id="{57205069-720E-42AF-8EAB-C67F1075513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6">
            <a:hlinkClick r:id="rId6" action="ppaction://hlinksldjump"/>
            <a:extLst>
              <a:ext uri="{FF2B5EF4-FFF2-40B4-BE49-F238E27FC236}">
                <a16:creationId xmlns:a16="http://schemas.microsoft.com/office/drawing/2014/main" id="{16D5F702-FE72-4EA0-81E2-353526A93CE4}"/>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48">
            <a:hlinkClick r:id="rId4" action="ppaction://hlinksldjump"/>
            <a:extLst>
              <a:ext uri="{FF2B5EF4-FFF2-40B4-BE49-F238E27FC236}">
                <a16:creationId xmlns:a16="http://schemas.microsoft.com/office/drawing/2014/main" id="{67584AAC-222C-4117-ADD2-C01990938F20}"/>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49">
            <a:hlinkClick r:id="rId4" action="ppaction://hlinksldjump"/>
            <a:extLst>
              <a:ext uri="{FF2B5EF4-FFF2-40B4-BE49-F238E27FC236}">
                <a16:creationId xmlns:a16="http://schemas.microsoft.com/office/drawing/2014/main" id="{F679C59C-984B-4321-B763-CBB07F7F0F13}"/>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51">
            <a:hlinkClick r:id="rId5" action="ppaction://hlinksldjump"/>
            <a:extLst>
              <a:ext uri="{FF2B5EF4-FFF2-40B4-BE49-F238E27FC236}">
                <a16:creationId xmlns:a16="http://schemas.microsoft.com/office/drawing/2014/main" id="{E6F43A49-31E9-4E89-B4DF-A75B0FFB6A3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6" name="TextBox 52">
            <a:hlinkClick r:id="rId5" action="ppaction://hlinksldjump"/>
            <a:extLst>
              <a:ext uri="{FF2B5EF4-FFF2-40B4-BE49-F238E27FC236}">
                <a16:creationId xmlns:a16="http://schemas.microsoft.com/office/drawing/2014/main" id="{67D723C0-A05A-4FD2-A530-ED45F8818C5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53">
            <a:extLst>
              <a:ext uri="{FF2B5EF4-FFF2-40B4-BE49-F238E27FC236}">
                <a16:creationId xmlns:a16="http://schemas.microsoft.com/office/drawing/2014/main" id="{5CB3407C-499E-4755-A650-B87A98C43FB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54">
            <a:hlinkClick r:id="rId7" action="ppaction://hlinksldjump"/>
            <a:extLst>
              <a:ext uri="{FF2B5EF4-FFF2-40B4-BE49-F238E27FC236}">
                <a16:creationId xmlns:a16="http://schemas.microsoft.com/office/drawing/2014/main" id="{677B8C42-5DBC-4174-9768-9BD07CBDD85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40">
            <a:hlinkClick r:id="rId4" action="ppaction://hlinksldjump"/>
            <a:extLst>
              <a:ext uri="{FF2B5EF4-FFF2-40B4-BE49-F238E27FC236}">
                <a16:creationId xmlns:a16="http://schemas.microsoft.com/office/drawing/2014/main" id="{043340EE-475A-4656-BEAE-21BD4C61931F}"/>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56">
            <a:hlinkClick r:id="rId4" action="ppaction://hlinksldjump"/>
            <a:extLst>
              <a:ext uri="{FF2B5EF4-FFF2-40B4-BE49-F238E27FC236}">
                <a16:creationId xmlns:a16="http://schemas.microsoft.com/office/drawing/2014/main" id="{3669AE45-AD83-4D5F-9D9B-43380F0C950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Rectangle 4">
            <a:extLst>
              <a:ext uri="{FF2B5EF4-FFF2-40B4-BE49-F238E27FC236}">
                <a16:creationId xmlns:a16="http://schemas.microsoft.com/office/drawing/2014/main" id="{5C6F1347-9564-4C4E-B9F5-1A80E1F7668A}"/>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name="Slide4520">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F9A1822E-5EA4-4992-8ECD-EFED2297097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5DED20E0-3113-49D5-9F76-FD624B10FD8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B7BD4D3E-9394-4BD0-BCEC-DE6A76046561}"/>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5D50FD88-C79A-46D4-AA34-F44994D6B1E0}"/>
              </a:ext>
            </a:extLst>
          </p:cNvPr>
          <p:cNvSpPr txBox="1"/>
          <p:nvPr/>
        </p:nvSpPr>
        <p:spPr>
          <a:xfrm>
            <a:off x="11763975"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19E33A5-2AAE-459D-907E-5670E4446A7B}" type="slidenum">
              <a:rPr sz="1200"/>
              <a:t>419</a:t>
            </a:fld>
            <a:endParaRPr lang="en-GB" sz="1200" b="0" i="0" u="none" strike="noStrike" kern="1200" cap="none" spc="0" baseline="0">
              <a:solidFill>
                <a:srgbClr val="000000"/>
              </a:solidFill>
              <a:uFillTx/>
              <a:latin typeface="Calibri"/>
            </a:endParaRPr>
          </a:p>
        </p:txBody>
      </p:sp>
      <p:sp>
        <p:nvSpPr>
          <p:cNvPr id="7" name="TextBox 24">
            <a:hlinkClick r:id="rId3" action="ppaction://hlinksldjump"/>
            <a:extLst>
              <a:ext uri="{FF2B5EF4-FFF2-40B4-BE49-F238E27FC236}">
                <a16:creationId xmlns:a16="http://schemas.microsoft.com/office/drawing/2014/main" id="{9BC2246C-5CC0-4BEA-A313-00C2F8B3011B}"/>
              </a:ext>
            </a:extLst>
          </p:cNvPr>
          <p:cNvSpPr txBox="1"/>
          <p:nvPr/>
        </p:nvSpPr>
        <p:spPr>
          <a:xfrm>
            <a:off x="9688287" y="721827"/>
            <a:ext cx="2178914" cy="276999"/>
          </a:xfrm>
          <a:prstGeom prst="rect">
            <a:avLst/>
          </a:prstGeom>
          <a:solidFill>
            <a:srgbClr val="F8CBAD"/>
          </a:solid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 ONLY</a:t>
            </a:r>
          </a:p>
        </p:txBody>
      </p:sp>
      <p:sp>
        <p:nvSpPr>
          <p:cNvPr id="8" name="Rectangle 31">
            <a:extLst>
              <a:ext uri="{FF2B5EF4-FFF2-40B4-BE49-F238E27FC236}">
                <a16:creationId xmlns:a16="http://schemas.microsoft.com/office/drawing/2014/main" id="{725C87F4-8264-42E1-9F3C-86FAFE303223}"/>
              </a:ext>
            </a:extLst>
          </p:cNvPr>
          <p:cNvSpPr/>
          <p:nvPr/>
        </p:nvSpPr>
        <p:spPr>
          <a:xfrm>
            <a:off x="363967" y="991639"/>
            <a:ext cx="11225933" cy="381643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8. Respond to a Query on a Control Task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the submission and validation of a declaration, customs officers may need to raise a query on a declaration for a variety of reasons. The declarant will be notified that a query has been raised by an email to their registered email address. To view the query the trader must then login to the Secure File Upload Services (UI). The trader must respond to the query using the same UI service in addition to taking any requested action(s), for example uploading documents or amending the declaration. This is a quick way to resolve any issues on the declaration and therefore avoiding further delays in clearance.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the declaration has either a blocking documentary control or blocking physical control, a HMRC customs officer will be able to send a free text query to the declarant. Once the trader has received this query, the declarant must respond to the query via free text message.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For declarations with blocking documentary control or blocking physical control:</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The declarant may submit a request to amend the declaration, upload document(s) to the declaration or submit a request to invalidate the declaration.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For declarations with non-blocking documentary control:</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 </a:t>
            </a:r>
            <a:r>
              <a:rPr lang="en-GB" sz="1200" b="0" i="0" u="none" strike="noStrike" kern="1200" cap="none" spc="0" baseline="0">
                <a:solidFill>
                  <a:srgbClr val="000000"/>
                </a:solidFill>
                <a:uFillTx/>
                <a:latin typeface="Calibri"/>
              </a:rPr>
              <a:t>The declarant may upload document(s) to the declaration. For export declarations, traders may submit a request to invalidate the declaration or amend the declaration until the departure of goods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Once all queries are resolved, CDS will have the ability to close blocking and non-blocking control tasks. Once blocking control tasks are closed, the declarant will be notified that goods can be released (DMSROG). Once all blocking and non-blocking control tasks are closed, the trader will be notified that the declaration has cleared (DMSCLE).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9" name="Oval 43">
            <a:hlinkClick r:id="rId4" action="ppaction://hlinksldjump"/>
            <a:extLst>
              <a:ext uri="{FF2B5EF4-FFF2-40B4-BE49-F238E27FC236}">
                <a16:creationId xmlns:a16="http://schemas.microsoft.com/office/drawing/2014/main" id="{A51CFC39-7915-4FDF-9586-485066155FD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4">
            <a:hlinkClick r:id="rId4" action="ppaction://hlinksldjump"/>
            <a:extLst>
              <a:ext uri="{FF2B5EF4-FFF2-40B4-BE49-F238E27FC236}">
                <a16:creationId xmlns:a16="http://schemas.microsoft.com/office/drawing/2014/main" id="{946068B9-D00F-4BC6-8036-14EF42058B1F}"/>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5">
            <a:hlinkClick r:id="rId5" action="ppaction://hlinksldjump"/>
            <a:extLst>
              <a:ext uri="{FF2B5EF4-FFF2-40B4-BE49-F238E27FC236}">
                <a16:creationId xmlns:a16="http://schemas.microsoft.com/office/drawing/2014/main" id="{B9122908-61D3-4770-851B-D1757F23AAFD}"/>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6">
            <a:hlinkClick r:id="rId6" action="ppaction://hlinksldjump"/>
            <a:extLst>
              <a:ext uri="{FF2B5EF4-FFF2-40B4-BE49-F238E27FC236}">
                <a16:creationId xmlns:a16="http://schemas.microsoft.com/office/drawing/2014/main" id="{9099A05E-E0F9-4213-9FEE-3077145CFB0A}"/>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48">
            <a:hlinkClick r:id="rId4" action="ppaction://hlinksldjump"/>
            <a:extLst>
              <a:ext uri="{FF2B5EF4-FFF2-40B4-BE49-F238E27FC236}">
                <a16:creationId xmlns:a16="http://schemas.microsoft.com/office/drawing/2014/main" id="{4DB48C6B-C21C-4027-853F-FB572C341D82}"/>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49">
            <a:hlinkClick r:id="rId4" action="ppaction://hlinksldjump"/>
            <a:extLst>
              <a:ext uri="{FF2B5EF4-FFF2-40B4-BE49-F238E27FC236}">
                <a16:creationId xmlns:a16="http://schemas.microsoft.com/office/drawing/2014/main" id="{D4E67B21-FE29-40AD-B0F6-7943B058E9D6}"/>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51">
            <a:hlinkClick r:id="rId5" action="ppaction://hlinksldjump"/>
            <a:extLst>
              <a:ext uri="{FF2B5EF4-FFF2-40B4-BE49-F238E27FC236}">
                <a16:creationId xmlns:a16="http://schemas.microsoft.com/office/drawing/2014/main" id="{02B5D359-6FA6-46B5-9095-A9157052CB25}"/>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6" name="TextBox 52">
            <a:hlinkClick r:id="rId5" action="ppaction://hlinksldjump"/>
            <a:extLst>
              <a:ext uri="{FF2B5EF4-FFF2-40B4-BE49-F238E27FC236}">
                <a16:creationId xmlns:a16="http://schemas.microsoft.com/office/drawing/2014/main" id="{A5865346-F9F9-4B28-A2F1-0BEFC45999B0}"/>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53">
            <a:extLst>
              <a:ext uri="{FF2B5EF4-FFF2-40B4-BE49-F238E27FC236}">
                <a16:creationId xmlns:a16="http://schemas.microsoft.com/office/drawing/2014/main" id="{3FFAD005-BB61-4CB7-AAFA-EBD3255FE05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54">
            <a:hlinkClick r:id="rId7" action="ppaction://hlinksldjump"/>
            <a:extLst>
              <a:ext uri="{FF2B5EF4-FFF2-40B4-BE49-F238E27FC236}">
                <a16:creationId xmlns:a16="http://schemas.microsoft.com/office/drawing/2014/main" id="{D55DB1E3-92C3-4D72-AE82-C9D7268D76F6}"/>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40">
            <a:hlinkClick r:id="rId4" action="ppaction://hlinksldjump"/>
            <a:extLst>
              <a:ext uri="{FF2B5EF4-FFF2-40B4-BE49-F238E27FC236}">
                <a16:creationId xmlns:a16="http://schemas.microsoft.com/office/drawing/2014/main" id="{58801274-AE1B-41D7-B255-7BF4E15AF9C7}"/>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56">
            <a:hlinkClick r:id="rId4" action="ppaction://hlinksldjump"/>
            <a:extLst>
              <a:ext uri="{FF2B5EF4-FFF2-40B4-BE49-F238E27FC236}">
                <a16:creationId xmlns:a16="http://schemas.microsoft.com/office/drawing/2014/main" id="{9A191E24-6CFD-45B9-99D1-32C9A9C2A93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Rectangle 4">
            <a:extLst>
              <a:ext uri="{FF2B5EF4-FFF2-40B4-BE49-F238E27FC236}">
                <a16:creationId xmlns:a16="http://schemas.microsoft.com/office/drawing/2014/main" id="{2BC1C0ED-3A7D-4F91-B032-6B1C450B420E}"/>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Tree>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name="Slide838840352">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6A440B36-5554-4417-8808-516110301D62}"/>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09EED66D-613E-4F80-A21D-3EBE8CBEF29E}"/>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0126F75-7E82-43F7-B8C5-86BAF805D6BB}"/>
              </a:ext>
            </a:extLst>
          </p:cNvPr>
          <p:cNvGraphicFramePr>
            <a:graphicFrameLocks noGrp="1"/>
          </p:cNvGraphicFramePr>
          <p:nvPr/>
        </p:nvGraphicFramePr>
        <p:xfrm>
          <a:off x="475268" y="158108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078349384"/>
                    </a:ext>
                  </a:extLst>
                </a:gridCol>
              </a:tblGrid>
              <a:tr h="220434">
                <a:tc>
                  <a:txBody>
                    <a:bodyPr/>
                    <a:lstStyle/>
                    <a:p>
                      <a:pPr lvl="0" algn="ctr"/>
                      <a:r>
                        <a:rPr lang="en-GB" sz="1200"/>
                        <a:t>TTM14.0 (CDS 3.1.2)</a:t>
                      </a:r>
                    </a:p>
                  </a:txBody>
                  <a:tcPr>
                    <a:solidFill>
                      <a:srgbClr val="A6A6A6"/>
                    </a:solidFill>
                  </a:tcPr>
                </a:tc>
                <a:extLst>
                  <a:ext uri="{0D108BD9-81ED-4DB2-BD59-A6C34878D82A}">
                    <a16:rowId xmlns:a16="http://schemas.microsoft.com/office/drawing/2014/main" val="2758276946"/>
                  </a:ext>
                </a:extLst>
              </a:tr>
              <a:tr h="261975">
                <a:tc>
                  <a:txBody>
                    <a:bodyPr/>
                    <a:lstStyle/>
                    <a:p>
                      <a:pPr lvl="0" algn="ctr"/>
                      <a:r>
                        <a:rPr lang="en-GB" sz="1200" b="1" dirty="0">
                          <a:solidFill>
                            <a:srgbClr val="000000"/>
                          </a:solidFill>
                        </a:rPr>
                        <a:t>TT: </a:t>
                      </a:r>
                      <a:r>
                        <a:rPr lang="en-GB" sz="1200" b="0" dirty="0">
                          <a:solidFill>
                            <a:srgbClr val="000000"/>
                          </a:solidFill>
                        </a:rPr>
                        <a:t>18/02/2021   </a:t>
                      </a:r>
                      <a:r>
                        <a:rPr lang="en-GB" sz="1200" b="1" dirty="0">
                          <a:solidFill>
                            <a:srgbClr val="000000"/>
                          </a:solidFill>
                        </a:rPr>
                        <a:t>TDR: </a:t>
                      </a:r>
                      <a:r>
                        <a:rPr lang="en-GB" sz="1200" b="0" dirty="0">
                          <a:solidFill>
                            <a:srgbClr val="000000"/>
                          </a:solidFill>
                        </a:rPr>
                        <a:t>02/03/2021   </a:t>
                      </a:r>
                      <a:r>
                        <a:rPr lang="en-GB" sz="1200" b="1" dirty="0">
                          <a:solidFill>
                            <a:srgbClr val="000000"/>
                          </a:solidFill>
                        </a:rPr>
                        <a:t>Live: </a:t>
                      </a:r>
                      <a:r>
                        <a:rPr lang="en-GB" sz="1200" b="0" dirty="0">
                          <a:solidFill>
                            <a:srgbClr val="000000"/>
                          </a:solidFill>
                        </a:rPr>
                        <a:t>27/02/2021</a:t>
                      </a:r>
                    </a:p>
                  </a:txBody>
                  <a:tcPr>
                    <a:solidFill>
                      <a:srgbClr val="E7E6E6"/>
                    </a:solidFill>
                  </a:tcPr>
                </a:tc>
                <a:extLst>
                  <a:ext uri="{0D108BD9-81ED-4DB2-BD59-A6C34878D82A}">
                    <a16:rowId xmlns:a16="http://schemas.microsoft.com/office/drawing/2014/main" val="2842747327"/>
                  </a:ext>
                </a:extLst>
              </a:tr>
            </a:tbl>
          </a:graphicData>
        </a:graphic>
      </p:graphicFrame>
      <p:cxnSp>
        <p:nvCxnSpPr>
          <p:cNvPr id="6" name="Straight Connector 11">
            <a:extLst>
              <a:ext uri="{FF2B5EF4-FFF2-40B4-BE49-F238E27FC236}">
                <a16:creationId xmlns:a16="http://schemas.microsoft.com/office/drawing/2014/main" id="{D26F3739-22C5-47C0-9F85-B82AD07B54E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588FFD76-C595-48C7-B6F3-377B96C29366}"/>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 name="Rectangle 103">
            <a:extLst>
              <a:ext uri="{FF2B5EF4-FFF2-40B4-BE49-F238E27FC236}">
                <a16:creationId xmlns:a16="http://schemas.microsoft.com/office/drawing/2014/main" id="{D55BD7FC-55A3-4FB4-B0D0-233EC411C759}"/>
              </a:ext>
            </a:extLst>
          </p:cNvPr>
          <p:cNvSpPr/>
          <p:nvPr/>
        </p:nvSpPr>
        <p:spPr>
          <a:xfrm>
            <a:off x="430700" y="1533896"/>
            <a:ext cx="11330604" cy="3179725"/>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6DFA92B9-B856-4A74-A86B-FA5012C9CC99}"/>
              </a:ext>
            </a:extLst>
          </p:cNvPr>
          <p:cNvGrpSpPr/>
          <p:nvPr/>
        </p:nvGrpSpPr>
        <p:grpSpPr>
          <a:xfrm>
            <a:off x="898242" y="1146584"/>
            <a:ext cx="2801739" cy="276999"/>
            <a:chOff x="898242" y="1146584"/>
            <a:chExt cx="2801739" cy="276999"/>
          </a:xfrm>
        </p:grpSpPr>
        <p:sp>
          <p:nvSpPr>
            <p:cNvPr id="10" name="TextBox 7">
              <a:extLst>
                <a:ext uri="{FF2B5EF4-FFF2-40B4-BE49-F238E27FC236}">
                  <a16:creationId xmlns:a16="http://schemas.microsoft.com/office/drawing/2014/main" id="{B2DF2903-32F7-41B3-8843-33EE80A33347}"/>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CD4620DB-F504-443B-94B5-100849091493}"/>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6D94EFD4-5299-41FD-A16E-177AF2AA771E}"/>
              </a:ext>
            </a:extLst>
          </p:cNvPr>
          <p:cNvGraphicFramePr>
            <a:graphicFrameLocks noGrp="1"/>
          </p:cNvGraphicFramePr>
          <p:nvPr/>
        </p:nvGraphicFramePr>
        <p:xfrm>
          <a:off x="475268" y="2150303"/>
          <a:ext cx="11188652" cy="594360"/>
        </p:xfrm>
        <a:graphic>
          <a:graphicData uri="http://schemas.openxmlformats.org/drawingml/2006/table">
            <a:tbl>
              <a:tblPr firstRow="1" bandRow="1">
                <a:effectLst/>
                <a:tableStyleId>{5C22544A-7EE6-4342-B048-85BDC9FD1C3A}</a:tableStyleId>
              </a:tblPr>
              <a:tblGrid>
                <a:gridCol w="811886">
                  <a:extLst>
                    <a:ext uri="{9D8B030D-6E8A-4147-A177-3AD203B41FA5}">
                      <a16:colId xmlns:a16="http://schemas.microsoft.com/office/drawing/2014/main" val="4116036075"/>
                    </a:ext>
                  </a:extLst>
                </a:gridCol>
                <a:gridCol w="2389446">
                  <a:extLst>
                    <a:ext uri="{9D8B030D-6E8A-4147-A177-3AD203B41FA5}">
                      <a16:colId xmlns:a16="http://schemas.microsoft.com/office/drawing/2014/main" val="977754706"/>
                    </a:ext>
                  </a:extLst>
                </a:gridCol>
                <a:gridCol w="2662440">
                  <a:extLst>
                    <a:ext uri="{9D8B030D-6E8A-4147-A177-3AD203B41FA5}">
                      <a16:colId xmlns:a16="http://schemas.microsoft.com/office/drawing/2014/main" val="79424466"/>
                    </a:ext>
                  </a:extLst>
                </a:gridCol>
                <a:gridCol w="2662440">
                  <a:extLst>
                    <a:ext uri="{9D8B030D-6E8A-4147-A177-3AD203B41FA5}">
                      <a16:colId xmlns:a16="http://schemas.microsoft.com/office/drawing/2014/main" val="3115441728"/>
                    </a:ext>
                  </a:extLst>
                </a:gridCol>
                <a:gridCol w="2662440">
                  <a:extLst>
                    <a:ext uri="{9D8B030D-6E8A-4147-A177-3AD203B41FA5}">
                      <a16:colId xmlns:a16="http://schemas.microsoft.com/office/drawing/2014/main" val="517297406"/>
                    </a:ext>
                  </a:extLst>
                </a:gridCol>
              </a:tblGrid>
              <a:tr h="0">
                <a:tc>
                  <a:txBody>
                    <a:bodyPr/>
                    <a:lstStyle/>
                    <a:p>
                      <a:pPr lvl="0"/>
                      <a:r>
                        <a:rPr lang="en-GB" sz="1100"/>
                        <a:t>CCP </a:t>
                      </a:r>
                    </a:p>
                    <a:p>
                      <a:pPr lvl="0"/>
                      <a:endParaRPr lang="en-GB" sz="1100"/>
                    </a:p>
                    <a:p>
                      <a:pPr lvl="0"/>
                      <a:endParaRPr lang="en-GB" sz="1100"/>
                    </a:p>
                  </a:txBody>
                  <a:tcPr>
                    <a:lnR w="12701" cap="flat" cmpd="sng" algn="ctr">
                      <a:solidFill>
                        <a:srgbClr val="FFFFFF"/>
                      </a:solidFill>
                      <a:prstDash val="solid"/>
                      <a:round/>
                      <a:headEnd type="none" w="med" len="med"/>
                      <a:tailEnd type="none" w="med" len="med"/>
                    </a:lnR>
                    <a:solidFill>
                      <a:srgbClr val="FFC000"/>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i="0" kern="1200">
                          <a:solidFill>
                            <a:srgbClr val="000000"/>
                          </a:solidFill>
                          <a:latin typeface="Calibri"/>
                        </a:rPr>
                        <a:t>Imports from Special Fiscal Territories (GB)</a:t>
                      </a:r>
                      <a:endParaRPr lang="en-GB" sz="120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rPr>
                        <a:t>Returning UCR in all UK CTRL responses </a:t>
                      </a:r>
                      <a:endParaRPr lang="en-GB" sz="1200" b="0" i="1"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rPr>
                        <a:t>New Goods Location Codes for D.E. 5/23 (DHL)</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i="0" u="none" strike="noStrike" kern="1200" cap="none" spc="0" baseline="0" dirty="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982363167"/>
                  </a:ext>
                </a:extLst>
              </a:tr>
            </a:tbl>
          </a:graphicData>
        </a:graphic>
      </p:graphicFrame>
      <p:grpSp>
        <p:nvGrpSpPr>
          <p:cNvPr id="13" name="Group 4">
            <a:extLst>
              <a:ext uri="{FF2B5EF4-FFF2-40B4-BE49-F238E27FC236}">
                <a16:creationId xmlns:a16="http://schemas.microsoft.com/office/drawing/2014/main" id="{CE2CDA13-1EF9-4F34-8BE7-F83D7D7B6F29}"/>
              </a:ext>
            </a:extLst>
          </p:cNvPr>
          <p:cNvGrpSpPr/>
          <p:nvPr/>
        </p:nvGrpSpPr>
        <p:grpSpPr>
          <a:xfrm>
            <a:off x="2663583" y="1154850"/>
            <a:ext cx="3199302" cy="276999"/>
            <a:chOff x="2663583" y="1154850"/>
            <a:chExt cx="3199302" cy="276999"/>
          </a:xfrm>
        </p:grpSpPr>
        <p:sp>
          <p:nvSpPr>
            <p:cNvPr id="14" name="TextBox 7">
              <a:extLst>
                <a:ext uri="{FF2B5EF4-FFF2-40B4-BE49-F238E27FC236}">
                  <a16:creationId xmlns:a16="http://schemas.microsoft.com/office/drawing/2014/main" id="{02AFB2CF-7F30-401B-B459-B9BF4B20CAB1}"/>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146B335B-315F-47AD-BE0B-613F7FC578A6}"/>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166FF214-BA95-4C3A-8EC8-D0EEDB6F5D75}"/>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7" name="TextBox 13">
            <a:extLst>
              <a:ext uri="{FF2B5EF4-FFF2-40B4-BE49-F238E27FC236}">
                <a16:creationId xmlns:a16="http://schemas.microsoft.com/office/drawing/2014/main" id="{658DE58B-D24B-4476-83D8-F865C9D7ED0E}"/>
              </a:ext>
            </a:extLst>
          </p:cNvPr>
          <p:cNvSpPr txBox="1"/>
          <p:nvPr/>
        </p:nvSpPr>
        <p:spPr>
          <a:xfrm>
            <a:off x="430700" y="1875068"/>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8" name="Group 7">
            <a:extLst>
              <a:ext uri="{FF2B5EF4-FFF2-40B4-BE49-F238E27FC236}">
                <a16:creationId xmlns:a16="http://schemas.microsoft.com/office/drawing/2014/main" id="{0A65FD54-6BC3-443A-BC5F-0368CB346A68}"/>
              </a:ext>
            </a:extLst>
          </p:cNvPr>
          <p:cNvGrpSpPr/>
          <p:nvPr/>
        </p:nvGrpSpPr>
        <p:grpSpPr>
          <a:xfrm>
            <a:off x="5888461" y="1154320"/>
            <a:ext cx="4848834" cy="276999"/>
            <a:chOff x="5888461" y="1154320"/>
            <a:chExt cx="4848834" cy="276999"/>
          </a:xfrm>
        </p:grpSpPr>
        <p:sp>
          <p:nvSpPr>
            <p:cNvPr id="19" name="TextBox 7">
              <a:extLst>
                <a:ext uri="{FF2B5EF4-FFF2-40B4-BE49-F238E27FC236}">
                  <a16:creationId xmlns:a16="http://schemas.microsoft.com/office/drawing/2014/main" id="{DBCD03AB-7F2B-4440-8E96-CB41E6BBB104}"/>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20" name="Oval 16">
              <a:extLst>
                <a:ext uri="{FF2B5EF4-FFF2-40B4-BE49-F238E27FC236}">
                  <a16:creationId xmlns:a16="http://schemas.microsoft.com/office/drawing/2014/main" id="{639B4B2D-E363-4C8D-A788-16914FAB4507}"/>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5E6BAB85-B94F-4463-9071-A02E56055887}"/>
              </a:ext>
            </a:extLst>
          </p:cNvPr>
          <p:cNvSpPr txBox="1"/>
          <p:nvPr/>
        </p:nvSpPr>
        <p:spPr>
          <a:xfrm>
            <a:off x="11690823"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F4CB8B06-AC94-472E-965E-63EAECEA63B2}" type="slidenum">
              <a:rPr sz="1200"/>
              <a:t>420</a:t>
            </a:fld>
            <a:endParaRPr lang="en-GB" sz="1200" b="0" i="0" u="none" strike="noStrike" kern="1200" cap="none" spc="0" baseline="0">
              <a:solidFill>
                <a:srgbClr val="000000"/>
              </a:solidFill>
              <a:uFillTx/>
              <a:latin typeface="Calibri"/>
            </a:endParaRPr>
          </a:p>
        </p:txBody>
      </p:sp>
      <p:sp>
        <p:nvSpPr>
          <p:cNvPr id="22" name="Footer Placeholder 1">
            <a:extLst>
              <a:ext uri="{FF2B5EF4-FFF2-40B4-BE49-F238E27FC236}">
                <a16:creationId xmlns:a16="http://schemas.microsoft.com/office/drawing/2014/main" id="{AD810E1D-1BE5-4097-9232-109C47C187EE}"/>
              </a:ext>
            </a:extLst>
          </p:cNvPr>
          <p:cNvSpPr txBox="1"/>
          <p:nvPr/>
        </p:nvSpPr>
        <p:spPr>
          <a:xfrm>
            <a:off x="2875175" y="65021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23" name="Oval 87">
            <a:hlinkClick r:id="rId3" action="ppaction://hlinksldjump"/>
            <a:extLst>
              <a:ext uri="{FF2B5EF4-FFF2-40B4-BE49-F238E27FC236}">
                <a16:creationId xmlns:a16="http://schemas.microsoft.com/office/drawing/2014/main" id="{549ACE4F-4F62-4763-B073-C0865D6BCBF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88">
            <a:hlinkClick r:id="rId3" action="ppaction://hlinksldjump"/>
            <a:extLst>
              <a:ext uri="{FF2B5EF4-FFF2-40B4-BE49-F238E27FC236}">
                <a16:creationId xmlns:a16="http://schemas.microsoft.com/office/drawing/2014/main" id="{81F71653-B4F2-407A-AB0E-3D503670840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89">
            <a:hlinkClick r:id="rId4" action="ppaction://hlinksldjump"/>
            <a:extLst>
              <a:ext uri="{FF2B5EF4-FFF2-40B4-BE49-F238E27FC236}">
                <a16:creationId xmlns:a16="http://schemas.microsoft.com/office/drawing/2014/main" id="{7ECF6F54-FE53-4639-B70A-B245EBD3900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90">
            <a:hlinkClick r:id="rId5" action="ppaction://hlinksldjump"/>
            <a:extLst>
              <a:ext uri="{FF2B5EF4-FFF2-40B4-BE49-F238E27FC236}">
                <a16:creationId xmlns:a16="http://schemas.microsoft.com/office/drawing/2014/main" id="{4EDEFA31-004A-4698-B639-BB8C8494F43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TextBox 91">
            <a:hlinkClick r:id="rId3" action="ppaction://hlinksldjump"/>
            <a:extLst>
              <a:ext uri="{FF2B5EF4-FFF2-40B4-BE49-F238E27FC236}">
                <a16:creationId xmlns:a16="http://schemas.microsoft.com/office/drawing/2014/main" id="{10C0824F-B8C7-4983-9479-46F59CDC8195}"/>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8" name="TextBox 92">
            <a:hlinkClick r:id="rId3" action="ppaction://hlinksldjump"/>
            <a:extLst>
              <a:ext uri="{FF2B5EF4-FFF2-40B4-BE49-F238E27FC236}">
                <a16:creationId xmlns:a16="http://schemas.microsoft.com/office/drawing/2014/main" id="{31A8714D-D3EA-4C03-9CAE-13B3E1858105}"/>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29" name="TextBox 93">
            <a:hlinkClick r:id="rId4" action="ppaction://hlinksldjump"/>
            <a:extLst>
              <a:ext uri="{FF2B5EF4-FFF2-40B4-BE49-F238E27FC236}">
                <a16:creationId xmlns:a16="http://schemas.microsoft.com/office/drawing/2014/main" id="{53A79EFF-057E-4745-ABDF-2CDFA3B26479}"/>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30" name="TextBox 94">
            <a:hlinkClick r:id="rId4" action="ppaction://hlinksldjump"/>
            <a:extLst>
              <a:ext uri="{FF2B5EF4-FFF2-40B4-BE49-F238E27FC236}">
                <a16:creationId xmlns:a16="http://schemas.microsoft.com/office/drawing/2014/main" id="{52F0D133-33B8-46CF-8398-B01DB51D5265}"/>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1" name="Oval 95">
            <a:extLst>
              <a:ext uri="{FF2B5EF4-FFF2-40B4-BE49-F238E27FC236}">
                <a16:creationId xmlns:a16="http://schemas.microsoft.com/office/drawing/2014/main" id="{D1A26847-9B1E-4FCD-BADE-F96B03FAEBC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TextBox 96">
            <a:hlinkClick r:id="rId6" action="ppaction://hlinksldjump"/>
            <a:extLst>
              <a:ext uri="{FF2B5EF4-FFF2-40B4-BE49-F238E27FC236}">
                <a16:creationId xmlns:a16="http://schemas.microsoft.com/office/drawing/2014/main" id="{CFFC5882-4F04-424E-8C76-1A26F3D3238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3" name="Picture 40">
            <a:hlinkClick r:id="rId3" action="ppaction://hlinksldjump"/>
            <a:extLst>
              <a:ext uri="{FF2B5EF4-FFF2-40B4-BE49-F238E27FC236}">
                <a16:creationId xmlns:a16="http://schemas.microsoft.com/office/drawing/2014/main" id="{0B81050A-BB6B-4959-9E1A-3289C924514A}"/>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34" name="Oval 98">
            <a:hlinkClick r:id="rId3" action="ppaction://hlinksldjump"/>
            <a:extLst>
              <a:ext uri="{FF2B5EF4-FFF2-40B4-BE49-F238E27FC236}">
                <a16:creationId xmlns:a16="http://schemas.microsoft.com/office/drawing/2014/main" id="{CF28BD40-A1E9-48BF-9B84-9B195F94FEE5}"/>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Oval 16">
            <a:extLst>
              <a:ext uri="{FF2B5EF4-FFF2-40B4-BE49-F238E27FC236}">
                <a16:creationId xmlns:a16="http://schemas.microsoft.com/office/drawing/2014/main" id="{E2A28EC8-2733-4B52-9ACB-559CA5427F81}"/>
              </a:ext>
            </a:extLst>
          </p:cNvPr>
          <p:cNvSpPr/>
          <p:nvPr/>
        </p:nvSpPr>
        <p:spPr>
          <a:xfrm>
            <a:off x="1317814"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36" name="Table 21">
            <a:extLst>
              <a:ext uri="{FF2B5EF4-FFF2-40B4-BE49-F238E27FC236}">
                <a16:creationId xmlns:a16="http://schemas.microsoft.com/office/drawing/2014/main" id="{4DAAC024-A7F3-41A4-9AE6-E55C82086C3B}"/>
              </a:ext>
            </a:extLst>
          </p:cNvPr>
          <p:cNvGraphicFramePr>
            <a:graphicFrameLocks noGrp="1"/>
          </p:cNvGraphicFramePr>
          <p:nvPr/>
        </p:nvGraphicFramePr>
        <p:xfrm>
          <a:off x="475268" y="2757135"/>
          <a:ext cx="11188651" cy="1828800"/>
        </p:xfrm>
        <a:graphic>
          <a:graphicData uri="http://schemas.openxmlformats.org/drawingml/2006/table">
            <a:tbl>
              <a:tblPr firstRow="1" bandRow="1">
                <a:effectLst/>
                <a:tableStyleId>{5C22544A-7EE6-4342-B048-85BDC9FD1C3A}</a:tableStyleId>
              </a:tblPr>
              <a:tblGrid>
                <a:gridCol w="808530">
                  <a:extLst>
                    <a:ext uri="{9D8B030D-6E8A-4147-A177-3AD203B41FA5}">
                      <a16:colId xmlns:a16="http://schemas.microsoft.com/office/drawing/2014/main" val="2519909565"/>
                    </a:ext>
                  </a:extLst>
                </a:gridCol>
                <a:gridCol w="2392801">
                  <a:extLst>
                    <a:ext uri="{9D8B030D-6E8A-4147-A177-3AD203B41FA5}">
                      <a16:colId xmlns:a16="http://schemas.microsoft.com/office/drawing/2014/main" val="4208144383"/>
                    </a:ext>
                  </a:extLst>
                </a:gridCol>
                <a:gridCol w="2662440">
                  <a:extLst>
                    <a:ext uri="{9D8B030D-6E8A-4147-A177-3AD203B41FA5}">
                      <a16:colId xmlns:a16="http://schemas.microsoft.com/office/drawing/2014/main" val="2553389514"/>
                    </a:ext>
                  </a:extLst>
                </a:gridCol>
                <a:gridCol w="2662440">
                  <a:extLst>
                    <a:ext uri="{9D8B030D-6E8A-4147-A177-3AD203B41FA5}">
                      <a16:colId xmlns:a16="http://schemas.microsoft.com/office/drawing/2014/main" val="614511324"/>
                    </a:ext>
                  </a:extLst>
                </a:gridCol>
                <a:gridCol w="2662440">
                  <a:extLst>
                    <a:ext uri="{9D8B030D-6E8A-4147-A177-3AD203B41FA5}">
                      <a16:colId xmlns:a16="http://schemas.microsoft.com/office/drawing/2014/main" val="2907048488"/>
                    </a:ext>
                  </a:extLst>
                </a:gridCol>
              </a:tblGrid>
              <a:tr h="0">
                <a:tc rowSpan="4">
                  <a:txBody>
                    <a:bodyPr/>
                    <a:lstStyle/>
                    <a:p>
                      <a:pPr lvl="0"/>
                      <a:r>
                        <a:rPr lang="en-GB" sz="1100"/>
                        <a:t>CDS Tariff Volume 3 Rules Rework </a:t>
                      </a:r>
                    </a:p>
                    <a:p>
                      <a:pPr lvl="0"/>
                      <a:endParaRPr lang="en-GB" sz="1100"/>
                    </a:p>
                    <a:p>
                      <a:pPr lvl="0"/>
                      <a:r>
                        <a:rPr lang="en-GB" sz="1100"/>
                        <a:t> </a:t>
                      </a:r>
                    </a:p>
                  </a:txBody>
                  <a:tcPr>
                    <a:lnR w="12701" cap="flat" cmpd="sng" algn="ctr">
                      <a:solidFill>
                        <a:srgbClr val="FFFFFF"/>
                      </a:solidFill>
                      <a:prstDash val="solid"/>
                      <a:round/>
                      <a:headEnd type="none" w="med" len="med"/>
                      <a:tailEnd type="none" w="med" len="med"/>
                    </a:lnR>
                    <a:solidFill>
                      <a:srgbClr val="70AD47"/>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Transfer of Residence (TOR) Relief on CDS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Preference Code Mandated on I1 Declarations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rPr>
                        <a:t>Previous Document Type Code - Road List SMGS (N722)</a:t>
                      </a:r>
                      <a:endParaRPr lang="en-GB" sz="1200" b="1"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rPr>
                        <a:t>EIDR permitted with APC Codes for Type Z, K or J declaration</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2226291847"/>
                  </a:ext>
                </a:extLst>
              </a:tr>
              <a:tr h="0">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Ship Work End Use Procedure - H1 declarations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Rejected OSR procedure codes on EIDR declarations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rPr>
                        <a:t>Claiming VAT Relief  - Document Code 9AIV</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rPr>
                        <a:t>Relief of Duties - Document Code 9AID</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2935755605"/>
                  </a:ext>
                </a:extLst>
              </a:tr>
              <a:tr h="0">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Waived CCG Authorisation for Exemption Status Codes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rPr>
                        <a:t>C21i Declaration Completion for Net Mass and Commodity Codes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rPr>
                        <a:t>Tariff Volume 3 Document Codes with Permitted Status Codes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i="0" u="none" strike="noStrike" kern="1200" cap="none" spc="0" baseline="0">
                          <a:solidFill>
                            <a:srgbClr val="000000"/>
                          </a:solidFill>
                          <a:uFillTx/>
                          <a:latin typeface="Calibri"/>
                        </a:rPr>
                        <a:t>VAT only Outward Processing</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788693199"/>
                  </a:ext>
                </a:extLst>
              </a:tr>
              <a:tr h="0">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fr-FR" sz="1200" b="0">
                          <a:solidFill>
                            <a:srgbClr val="000000"/>
                          </a:solidFill>
                        </a:rPr>
                        <a:t>ALVS Document Codes on a Type Y declarations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lvl="0" indent="-285750">
                        <a:buSzPct val="100000"/>
                        <a:buFont typeface="Arial" pitchFamily="34"/>
                        <a:buChar char="•"/>
                      </a:pP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i="0" u="none" strike="noStrike" kern="1200" cap="none" spc="0" baseline="0" dirty="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3335379036"/>
                  </a:ext>
                </a:extLst>
              </a:tr>
            </a:tbl>
          </a:graphicData>
        </a:graphic>
      </p:graphicFrame>
      <p:sp>
        <p:nvSpPr>
          <p:cNvPr id="37" name="Oval 16">
            <a:extLst>
              <a:ext uri="{FF2B5EF4-FFF2-40B4-BE49-F238E27FC236}">
                <a16:creationId xmlns:a16="http://schemas.microsoft.com/office/drawing/2014/main" id="{835DD965-F859-4EA4-92C8-81C378119226}"/>
              </a:ext>
            </a:extLst>
          </p:cNvPr>
          <p:cNvSpPr/>
          <p:nvPr/>
        </p:nvSpPr>
        <p:spPr>
          <a:xfrm>
            <a:off x="1317814" y="28262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8" name="Oval 16">
            <a:extLst>
              <a:ext uri="{FF2B5EF4-FFF2-40B4-BE49-F238E27FC236}">
                <a16:creationId xmlns:a16="http://schemas.microsoft.com/office/drawing/2014/main" id="{39515C93-A17D-4D5C-B7E6-C8D323A989EE}"/>
              </a:ext>
            </a:extLst>
          </p:cNvPr>
          <p:cNvSpPr/>
          <p:nvPr/>
        </p:nvSpPr>
        <p:spPr>
          <a:xfrm>
            <a:off x="3699982" y="28262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Oval 16">
            <a:extLst>
              <a:ext uri="{FF2B5EF4-FFF2-40B4-BE49-F238E27FC236}">
                <a16:creationId xmlns:a16="http://schemas.microsoft.com/office/drawing/2014/main" id="{778089F2-4B91-496E-A2B6-1D50E2D3848C}"/>
              </a:ext>
            </a:extLst>
          </p:cNvPr>
          <p:cNvSpPr/>
          <p:nvPr/>
        </p:nvSpPr>
        <p:spPr>
          <a:xfrm>
            <a:off x="6414488" y="28262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0" name="Oval 16">
            <a:extLst>
              <a:ext uri="{FF2B5EF4-FFF2-40B4-BE49-F238E27FC236}">
                <a16:creationId xmlns:a16="http://schemas.microsoft.com/office/drawing/2014/main" id="{15DC4BD6-3EA8-4FA3-AA74-BBF3864B0E0D}"/>
              </a:ext>
            </a:extLst>
          </p:cNvPr>
          <p:cNvSpPr/>
          <p:nvPr/>
        </p:nvSpPr>
        <p:spPr>
          <a:xfrm>
            <a:off x="9102458" y="28262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1" name="Oval 16">
            <a:extLst>
              <a:ext uri="{FF2B5EF4-FFF2-40B4-BE49-F238E27FC236}">
                <a16:creationId xmlns:a16="http://schemas.microsoft.com/office/drawing/2014/main" id="{F4B0B070-FFE3-4DE6-9AB6-A10149ADE09F}"/>
              </a:ext>
            </a:extLst>
          </p:cNvPr>
          <p:cNvSpPr/>
          <p:nvPr/>
        </p:nvSpPr>
        <p:spPr>
          <a:xfrm>
            <a:off x="3723948" y="221330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2" name="Oval 16">
            <a:extLst>
              <a:ext uri="{FF2B5EF4-FFF2-40B4-BE49-F238E27FC236}">
                <a16:creationId xmlns:a16="http://schemas.microsoft.com/office/drawing/2014/main" id="{BD9C3A5B-5B56-40CC-BBA7-57E438EBBD44}"/>
              </a:ext>
            </a:extLst>
          </p:cNvPr>
          <p:cNvSpPr/>
          <p:nvPr/>
        </p:nvSpPr>
        <p:spPr>
          <a:xfrm>
            <a:off x="1317814" y="326327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3" name="Oval 16">
            <a:extLst>
              <a:ext uri="{FF2B5EF4-FFF2-40B4-BE49-F238E27FC236}">
                <a16:creationId xmlns:a16="http://schemas.microsoft.com/office/drawing/2014/main" id="{60194C1B-16A8-4A0E-844B-FB57E15D1C60}"/>
              </a:ext>
            </a:extLst>
          </p:cNvPr>
          <p:cNvSpPr/>
          <p:nvPr/>
        </p:nvSpPr>
        <p:spPr>
          <a:xfrm>
            <a:off x="3699982" y="326327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4" name="Oval 16">
            <a:extLst>
              <a:ext uri="{FF2B5EF4-FFF2-40B4-BE49-F238E27FC236}">
                <a16:creationId xmlns:a16="http://schemas.microsoft.com/office/drawing/2014/main" id="{D20C2BA3-5B28-4AFC-8146-286479C2DE38}"/>
              </a:ext>
            </a:extLst>
          </p:cNvPr>
          <p:cNvSpPr/>
          <p:nvPr/>
        </p:nvSpPr>
        <p:spPr>
          <a:xfrm>
            <a:off x="6414488" y="326327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5" name="Oval 16">
            <a:extLst>
              <a:ext uri="{FF2B5EF4-FFF2-40B4-BE49-F238E27FC236}">
                <a16:creationId xmlns:a16="http://schemas.microsoft.com/office/drawing/2014/main" id="{7CF08ED9-509E-425E-93C7-ACD9F0F7B1F5}"/>
              </a:ext>
            </a:extLst>
          </p:cNvPr>
          <p:cNvSpPr/>
          <p:nvPr/>
        </p:nvSpPr>
        <p:spPr>
          <a:xfrm>
            <a:off x="9102458" y="326327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Oval 16">
            <a:extLst>
              <a:ext uri="{FF2B5EF4-FFF2-40B4-BE49-F238E27FC236}">
                <a16:creationId xmlns:a16="http://schemas.microsoft.com/office/drawing/2014/main" id="{188604D7-3AA2-4F99-A63A-867D029FEF90}"/>
              </a:ext>
            </a:extLst>
          </p:cNvPr>
          <p:cNvSpPr/>
          <p:nvPr/>
        </p:nvSpPr>
        <p:spPr>
          <a:xfrm>
            <a:off x="1317814" y="373568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7" name="Oval 16">
            <a:extLst>
              <a:ext uri="{FF2B5EF4-FFF2-40B4-BE49-F238E27FC236}">
                <a16:creationId xmlns:a16="http://schemas.microsoft.com/office/drawing/2014/main" id="{F7A3BFC3-CD8F-49E7-95C4-BC47BB16E23D}"/>
              </a:ext>
            </a:extLst>
          </p:cNvPr>
          <p:cNvSpPr/>
          <p:nvPr/>
        </p:nvSpPr>
        <p:spPr>
          <a:xfrm>
            <a:off x="3699982" y="373568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8" name="Oval 16">
            <a:extLst>
              <a:ext uri="{FF2B5EF4-FFF2-40B4-BE49-F238E27FC236}">
                <a16:creationId xmlns:a16="http://schemas.microsoft.com/office/drawing/2014/main" id="{E67AB578-B3DB-49E2-B165-97C42D0F383C}"/>
              </a:ext>
            </a:extLst>
          </p:cNvPr>
          <p:cNvSpPr/>
          <p:nvPr/>
        </p:nvSpPr>
        <p:spPr>
          <a:xfrm>
            <a:off x="6414488" y="373568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9" name="Oval 16">
            <a:extLst>
              <a:ext uri="{FF2B5EF4-FFF2-40B4-BE49-F238E27FC236}">
                <a16:creationId xmlns:a16="http://schemas.microsoft.com/office/drawing/2014/main" id="{5ACE16E7-33D5-435F-BFA3-B38651A0A037}"/>
              </a:ext>
            </a:extLst>
          </p:cNvPr>
          <p:cNvSpPr/>
          <p:nvPr/>
        </p:nvSpPr>
        <p:spPr>
          <a:xfrm>
            <a:off x="9102458" y="373568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0" name="Oval 16">
            <a:extLst>
              <a:ext uri="{FF2B5EF4-FFF2-40B4-BE49-F238E27FC236}">
                <a16:creationId xmlns:a16="http://schemas.microsoft.com/office/drawing/2014/main" id="{B53BB055-C993-4059-B0C4-877E96C3FEF5}"/>
              </a:ext>
            </a:extLst>
          </p:cNvPr>
          <p:cNvSpPr/>
          <p:nvPr/>
        </p:nvSpPr>
        <p:spPr>
          <a:xfrm>
            <a:off x="1317814" y="417889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1" name="Oval 16">
            <a:extLst>
              <a:ext uri="{FF2B5EF4-FFF2-40B4-BE49-F238E27FC236}">
                <a16:creationId xmlns:a16="http://schemas.microsoft.com/office/drawing/2014/main" id="{99D69711-7831-42D1-8A75-43C7547855E9}"/>
              </a:ext>
            </a:extLst>
          </p:cNvPr>
          <p:cNvSpPr/>
          <p:nvPr/>
        </p:nvSpPr>
        <p:spPr>
          <a:xfrm>
            <a:off x="6414488"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name="Slide451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53AD39A-7B53-445E-AD06-DA0DE4B94CCA}"/>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DB03492-012E-4852-8F9D-DEF99C2D950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C9400668-1DF9-4B8C-AD27-A33A1E6D85EA}"/>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E7A5A410-E945-4254-A97C-603055ACFEEB}"/>
              </a:ext>
            </a:extLst>
          </p:cNvPr>
          <p:cNvSpPr txBox="1"/>
          <p:nvPr/>
        </p:nvSpPr>
        <p:spPr>
          <a:xfrm>
            <a:off x="1172739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2F46E4C-8040-4141-BA8E-038002C9AFAC}" type="slidenum">
              <a:rPr sz="1200"/>
              <a:t>421</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9D34786C-C681-4FC5-A84E-98305602C4E0}"/>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4">
            <a:extLst>
              <a:ext uri="{FF2B5EF4-FFF2-40B4-BE49-F238E27FC236}">
                <a16:creationId xmlns:a16="http://schemas.microsoft.com/office/drawing/2014/main" id="{530211EC-1C41-4889-9B94-297E01AB1553}"/>
              </a:ext>
            </a:extLst>
          </p:cNvPr>
          <p:cNvSpPr/>
          <p:nvPr/>
        </p:nvSpPr>
        <p:spPr>
          <a:xfrm>
            <a:off x="363967" y="1268675"/>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9" name="Rectangle 7">
            <a:extLst>
              <a:ext uri="{FF2B5EF4-FFF2-40B4-BE49-F238E27FC236}">
                <a16:creationId xmlns:a16="http://schemas.microsoft.com/office/drawing/2014/main" id="{78D35CC6-CF3F-420B-B1E6-8EF35CC24844}"/>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31">
            <a:extLst>
              <a:ext uri="{FF2B5EF4-FFF2-40B4-BE49-F238E27FC236}">
                <a16:creationId xmlns:a16="http://schemas.microsoft.com/office/drawing/2014/main" id="{D2E6ABE5-4D29-44B3-BCE4-36969BC7E512}"/>
              </a:ext>
            </a:extLst>
          </p:cNvPr>
          <p:cNvSpPr/>
          <p:nvPr/>
        </p:nvSpPr>
        <p:spPr>
          <a:xfrm>
            <a:off x="363967" y="1599587"/>
            <a:ext cx="842391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Imports from EU Special Fiscal Territories and Countries with which the EU has a Customs Union (GB Imports)</a:t>
            </a:r>
          </a:p>
        </p:txBody>
      </p:sp>
      <p:sp>
        <p:nvSpPr>
          <p:cNvPr id="11" name="TextBox 42">
            <a:extLst>
              <a:ext uri="{FF2B5EF4-FFF2-40B4-BE49-F238E27FC236}">
                <a16:creationId xmlns:a16="http://schemas.microsoft.com/office/drawing/2014/main" id="{6E05CE8D-FA11-4914-B1A9-A70F8079E933}"/>
              </a:ext>
            </a:extLst>
          </p:cNvPr>
          <p:cNvSpPr txBox="1"/>
          <p:nvPr/>
        </p:nvSpPr>
        <p:spPr>
          <a:xfrm>
            <a:off x="363967" y="1940512"/>
            <a:ext cx="3957431" cy="453201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the UK and EU trade deal, please note that from January 1</a:t>
            </a:r>
            <a:r>
              <a:rPr lang="en-GB" sz="1200" b="0" i="0" u="none" strike="noStrike" kern="1200" cap="none" spc="0" baseline="30000">
                <a:solidFill>
                  <a:srgbClr val="000000"/>
                </a:solidFill>
                <a:uFillTx/>
                <a:latin typeface="Calibri"/>
              </a:rPr>
              <a:t>st</a:t>
            </a:r>
            <a:r>
              <a:rPr lang="en-GB" sz="1200" b="0" i="0" u="none" strike="noStrike" kern="1200" cap="none" spc="0" baseline="0">
                <a:solidFill>
                  <a:srgbClr val="000000"/>
                </a:solidFill>
                <a:uFillTx/>
                <a:latin typeface="Calibri"/>
              </a:rPr>
              <a:t> 2021:</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Only Guernsey and Jersey will be SFTs to the UK</a:t>
            </a:r>
            <a:r>
              <a:rPr lang="en-GB" sz="1200" b="0" i="0" u="none" strike="noStrike" kern="1200" cap="none" spc="0" baseline="0">
                <a:solidFill>
                  <a:srgbClr val="000000"/>
                </a:solidFill>
                <a:uFillTx/>
                <a:latin typeface="Calibri"/>
              </a:rPr>
              <a:t>. All former SFTs to the UK (e.g. Canary Islands) and countries with which the EU has a customs union (e.g. San Marino) will now have a third party relationship with the UK.</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Imports from UK SFTs will now be </a:t>
            </a:r>
            <a:r>
              <a:rPr lang="en-GB" sz="1200" b="1" i="0" u="none" strike="noStrike" kern="1200" cap="none" spc="0" baseline="0">
                <a:solidFill>
                  <a:srgbClr val="000000"/>
                </a:solidFill>
                <a:uFillTx/>
                <a:latin typeface="Calibri"/>
              </a:rPr>
              <a:t>liable to pay UK VAT &amp; Excise but no customs duty</a:t>
            </a:r>
            <a:r>
              <a:rPr lang="en-GB" sz="1200" b="0" i="0" u="none" strike="noStrike" kern="1200" cap="none" spc="0" baseline="0">
                <a:solidFill>
                  <a:srgbClr val="000000"/>
                </a:solidFill>
                <a:uFillTx/>
                <a:latin typeface="Calibri"/>
              </a:rPr>
              <a:t> is expected to be charged. This is because, whilst Guernsey and Jersey are part of the UK’s customs territory, they are not part of the UK VAT territory.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Imports from EU SFTs (former UK SFTs) will be </a:t>
            </a:r>
            <a:r>
              <a:rPr lang="en-GB" sz="1200" b="1" i="0" u="none" strike="noStrike" kern="1200" cap="none" spc="0" baseline="0">
                <a:solidFill>
                  <a:srgbClr val="000000"/>
                </a:solidFill>
                <a:uFillTx/>
                <a:latin typeface="Calibri"/>
              </a:rPr>
              <a:t>liable to pay UK VAT &amp; Excise. </a:t>
            </a:r>
            <a:r>
              <a:rPr lang="en-GB" sz="1200" b="0" i="0" u="none" strike="noStrike" kern="1200" cap="none" spc="0" baseline="0">
                <a:solidFill>
                  <a:srgbClr val="000000"/>
                </a:solidFill>
                <a:uFillTx/>
                <a:latin typeface="Calibri"/>
              </a:rPr>
              <a:t>No customs duty is expected to be charged although duty may be liable if traders cannot prove that the goods meet the origins requirement for the FTA or if there are there are safeguarding duties or countervailing duties on EU imports.</a:t>
            </a:r>
            <a:r>
              <a:rPr lang="en-GB" sz="1200" b="1" i="0" u="none" strike="noStrike" kern="1200" cap="none" spc="0" baseline="0">
                <a:solidFill>
                  <a:srgbClr val="000000"/>
                </a:solidFill>
                <a:uFillTx/>
                <a:latin typeface="Calibri"/>
              </a:rPr>
              <a:t> </a:t>
            </a:r>
            <a:r>
              <a:rPr lang="en-GB" sz="1200" b="0" i="0" u="none" strike="noStrike" kern="1200" cap="none" spc="0" baseline="0">
                <a:solidFill>
                  <a:srgbClr val="000000"/>
                </a:solidFill>
                <a:uFillTx/>
                <a:latin typeface="Calibri"/>
              </a:rPr>
              <a:t> Furthermore, Countries with which the EU has a customs union may still be liable for both UK or EU Customs Duties where applicable. Please note, the UK has now agreed an FTA with Turkey.</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2" name="Oval 43">
            <a:extLst>
              <a:ext uri="{FF2B5EF4-FFF2-40B4-BE49-F238E27FC236}">
                <a16:creationId xmlns:a16="http://schemas.microsoft.com/office/drawing/2014/main" id="{A341F361-84BF-4CAF-BC82-8527EC8868E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4">
            <a:extLst>
              <a:ext uri="{FF2B5EF4-FFF2-40B4-BE49-F238E27FC236}">
                <a16:creationId xmlns:a16="http://schemas.microsoft.com/office/drawing/2014/main" id="{43224309-5B28-4087-B551-B65DC483ABD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5">
            <a:extLst>
              <a:ext uri="{FF2B5EF4-FFF2-40B4-BE49-F238E27FC236}">
                <a16:creationId xmlns:a16="http://schemas.microsoft.com/office/drawing/2014/main" id="{8F36FC04-9956-446E-856E-8C681BFDC7F8}"/>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6">
            <a:extLst>
              <a:ext uri="{FF2B5EF4-FFF2-40B4-BE49-F238E27FC236}">
                <a16:creationId xmlns:a16="http://schemas.microsoft.com/office/drawing/2014/main" id="{22D4B9FB-8381-445A-9441-7BAB94F72E1F}"/>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48">
            <a:extLst>
              <a:ext uri="{FF2B5EF4-FFF2-40B4-BE49-F238E27FC236}">
                <a16:creationId xmlns:a16="http://schemas.microsoft.com/office/drawing/2014/main" id="{4EFF6E3F-53DE-4C87-B38F-B146548B781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49">
            <a:extLst>
              <a:ext uri="{FF2B5EF4-FFF2-40B4-BE49-F238E27FC236}">
                <a16:creationId xmlns:a16="http://schemas.microsoft.com/office/drawing/2014/main" id="{85C6EF01-9DF6-42B1-B704-1AD4FD55CBB5}"/>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8" name="TextBox 51">
            <a:extLst>
              <a:ext uri="{FF2B5EF4-FFF2-40B4-BE49-F238E27FC236}">
                <a16:creationId xmlns:a16="http://schemas.microsoft.com/office/drawing/2014/main" id="{77714769-6DDB-40A7-897E-A177673753BA}"/>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52">
            <a:extLst>
              <a:ext uri="{FF2B5EF4-FFF2-40B4-BE49-F238E27FC236}">
                <a16:creationId xmlns:a16="http://schemas.microsoft.com/office/drawing/2014/main" id="{CB51B565-1FD8-4195-8250-70BD9F4D2EC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53">
            <a:extLst>
              <a:ext uri="{FF2B5EF4-FFF2-40B4-BE49-F238E27FC236}">
                <a16:creationId xmlns:a16="http://schemas.microsoft.com/office/drawing/2014/main" id="{A98BD00F-8CCA-48D9-BD15-B6E9D6C756FA}"/>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54">
            <a:extLst>
              <a:ext uri="{FF2B5EF4-FFF2-40B4-BE49-F238E27FC236}">
                <a16:creationId xmlns:a16="http://schemas.microsoft.com/office/drawing/2014/main" id="{EB226E22-9A55-4FA2-A850-8BD0E425608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extLst>
              <a:ext uri="{FF2B5EF4-FFF2-40B4-BE49-F238E27FC236}">
                <a16:creationId xmlns:a16="http://schemas.microsoft.com/office/drawing/2014/main" id="{2AE77016-6D43-423C-A885-F2D9972FA545}"/>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56">
            <a:extLst>
              <a:ext uri="{FF2B5EF4-FFF2-40B4-BE49-F238E27FC236}">
                <a16:creationId xmlns:a16="http://schemas.microsoft.com/office/drawing/2014/main" id="{9CF77E1D-CCBA-4DC6-819D-CDF93ABD3B5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24" name="Table 1">
            <a:extLst>
              <a:ext uri="{FF2B5EF4-FFF2-40B4-BE49-F238E27FC236}">
                <a16:creationId xmlns:a16="http://schemas.microsoft.com/office/drawing/2014/main" id="{DCEF990F-AF0B-47CF-ACDD-651CBC099BE2}"/>
              </a:ext>
            </a:extLst>
          </p:cNvPr>
          <p:cNvGraphicFramePr>
            <a:graphicFrameLocks noGrp="1"/>
          </p:cNvGraphicFramePr>
          <p:nvPr/>
        </p:nvGraphicFramePr>
        <p:xfrm>
          <a:off x="4495528" y="1938143"/>
          <a:ext cx="7124756" cy="4053840"/>
        </p:xfrm>
        <a:graphic>
          <a:graphicData uri="http://schemas.openxmlformats.org/drawingml/2006/table">
            <a:tbl>
              <a:tblPr firstRow="1" bandRow="1">
                <a:effectLst/>
                <a:tableStyleId>{5C22544A-7EE6-4342-B048-85BDC9FD1C3A}</a:tableStyleId>
              </a:tblPr>
              <a:tblGrid>
                <a:gridCol w="1312063">
                  <a:extLst>
                    <a:ext uri="{9D8B030D-6E8A-4147-A177-3AD203B41FA5}">
                      <a16:colId xmlns:a16="http://schemas.microsoft.com/office/drawing/2014/main" val="4289645925"/>
                    </a:ext>
                  </a:extLst>
                </a:gridCol>
                <a:gridCol w="1124355">
                  <a:extLst>
                    <a:ext uri="{9D8B030D-6E8A-4147-A177-3AD203B41FA5}">
                      <a16:colId xmlns:a16="http://schemas.microsoft.com/office/drawing/2014/main" val="3220320555"/>
                    </a:ext>
                  </a:extLst>
                </a:gridCol>
                <a:gridCol w="1095378">
                  <a:extLst>
                    <a:ext uri="{9D8B030D-6E8A-4147-A177-3AD203B41FA5}">
                      <a16:colId xmlns:a16="http://schemas.microsoft.com/office/drawing/2014/main" val="548709789"/>
                    </a:ext>
                  </a:extLst>
                </a:gridCol>
                <a:gridCol w="1104896">
                  <a:extLst>
                    <a:ext uri="{9D8B030D-6E8A-4147-A177-3AD203B41FA5}">
                      <a16:colId xmlns:a16="http://schemas.microsoft.com/office/drawing/2014/main" val="1228703260"/>
                    </a:ext>
                  </a:extLst>
                </a:gridCol>
                <a:gridCol w="457200">
                  <a:extLst>
                    <a:ext uri="{9D8B030D-6E8A-4147-A177-3AD203B41FA5}">
                      <a16:colId xmlns:a16="http://schemas.microsoft.com/office/drawing/2014/main" val="4270963"/>
                    </a:ext>
                  </a:extLst>
                </a:gridCol>
                <a:gridCol w="552453">
                  <a:extLst>
                    <a:ext uri="{9D8B030D-6E8A-4147-A177-3AD203B41FA5}">
                      <a16:colId xmlns:a16="http://schemas.microsoft.com/office/drawing/2014/main" val="672301038"/>
                    </a:ext>
                  </a:extLst>
                </a:gridCol>
                <a:gridCol w="1478411">
                  <a:extLst>
                    <a:ext uri="{9D8B030D-6E8A-4147-A177-3AD203B41FA5}">
                      <a16:colId xmlns:a16="http://schemas.microsoft.com/office/drawing/2014/main" val="3188718345"/>
                    </a:ext>
                  </a:extLst>
                </a:gridCol>
              </a:tblGrid>
              <a:tr h="362760">
                <a:tc>
                  <a:txBody>
                    <a:bodyPr/>
                    <a:lstStyle/>
                    <a:p>
                      <a:pPr lvl="0"/>
                      <a:endParaRPr lang="en-GB" sz="1100"/>
                    </a:p>
                  </a:txBody>
                  <a:tcPr>
                    <a:solidFill>
                      <a:srgbClr val="FFFFFF"/>
                    </a:solidFill>
                  </a:tcPr>
                </a:tc>
                <a:tc>
                  <a:txBody>
                    <a:bodyPr/>
                    <a:lstStyle/>
                    <a:p>
                      <a:pPr lvl="0"/>
                      <a:r>
                        <a:rPr lang="en-GB" sz="1100"/>
                        <a:t>Country</a:t>
                      </a:r>
                    </a:p>
                  </a:txBody>
                  <a:tcPr>
                    <a:solidFill>
                      <a:srgbClr val="A6A6A6"/>
                    </a:solidFill>
                  </a:tcPr>
                </a:tc>
                <a:tc>
                  <a:txBody>
                    <a:bodyPr/>
                    <a:lstStyle/>
                    <a:p>
                      <a:pPr lvl="0"/>
                      <a:r>
                        <a:rPr lang="en-GB" sz="1100"/>
                        <a:t>Country Code in D.E. 5/15</a:t>
                      </a:r>
                    </a:p>
                  </a:txBody>
                  <a:tcPr>
                    <a:solidFill>
                      <a:srgbClr val="A6A6A6"/>
                    </a:solidFill>
                  </a:tcPr>
                </a:tc>
                <a:tc>
                  <a:txBody>
                    <a:bodyPr/>
                    <a:lstStyle/>
                    <a:p>
                      <a:pPr lvl="0"/>
                      <a:r>
                        <a:rPr lang="en-GB" sz="1100"/>
                        <a:t>Declaration type in D.E. 1/1</a:t>
                      </a:r>
                    </a:p>
                  </a:txBody>
                  <a:tcPr>
                    <a:solidFill>
                      <a:srgbClr val="A6A6A6"/>
                    </a:solidFill>
                  </a:tcPr>
                </a:tc>
                <a:tc>
                  <a:txBody>
                    <a:bodyPr/>
                    <a:lstStyle/>
                    <a:p>
                      <a:pPr lvl="0"/>
                      <a:r>
                        <a:rPr lang="en-GB" sz="1100"/>
                        <a:t>VAT</a:t>
                      </a:r>
                    </a:p>
                  </a:txBody>
                  <a:tcPr>
                    <a:solidFill>
                      <a:srgbClr val="A6A6A6"/>
                    </a:solidFill>
                  </a:tcPr>
                </a:tc>
                <a:tc>
                  <a:txBody>
                    <a:bodyPr/>
                    <a:lstStyle/>
                    <a:p>
                      <a:pPr lvl="0"/>
                      <a:r>
                        <a:rPr lang="en-GB" sz="1100"/>
                        <a:t>Excise</a:t>
                      </a:r>
                    </a:p>
                  </a:txBody>
                  <a:tcPr>
                    <a:solidFill>
                      <a:srgbClr val="A6A6A6"/>
                    </a:solidFill>
                  </a:tcPr>
                </a:tc>
                <a:tc>
                  <a:txBody>
                    <a:bodyPr/>
                    <a:lstStyle/>
                    <a:p>
                      <a:pPr lvl="0"/>
                      <a:r>
                        <a:rPr lang="en-GB" sz="1100"/>
                        <a:t>Customs Duty?</a:t>
                      </a:r>
                    </a:p>
                  </a:txBody>
                  <a:tcPr>
                    <a:solidFill>
                      <a:srgbClr val="A6A6A6"/>
                    </a:solidFill>
                  </a:tcPr>
                </a:tc>
                <a:extLst>
                  <a:ext uri="{0D108BD9-81ED-4DB2-BD59-A6C34878D82A}">
                    <a16:rowId xmlns:a16="http://schemas.microsoft.com/office/drawing/2014/main" val="1071331082"/>
                  </a:ext>
                </a:extLst>
              </a:tr>
              <a:tr h="213558">
                <a:tc rowSpan="2">
                  <a:txBody>
                    <a:bodyPr/>
                    <a:lstStyle/>
                    <a:p>
                      <a:pPr lvl="0"/>
                      <a:r>
                        <a:rPr lang="en-GB" sz="1100" b="1">
                          <a:solidFill>
                            <a:srgbClr val="FFFFFF"/>
                          </a:solidFill>
                        </a:rPr>
                        <a:t>UK SFT</a:t>
                      </a:r>
                    </a:p>
                  </a:txBody>
                  <a:tcPr>
                    <a:lnB w="57150" cap="flat" cmpd="sng" algn="ctr">
                      <a:solidFill>
                        <a:srgbClr val="FFFFFF"/>
                      </a:solidFill>
                      <a:prstDash val="solid"/>
                      <a:round/>
                      <a:headEnd type="none" w="med" len="med"/>
                      <a:tailEnd type="none" w="med" len="med"/>
                    </a:lnB>
                    <a:solidFill>
                      <a:srgbClr val="A6A6A6"/>
                    </a:solidFill>
                  </a:tcPr>
                </a:tc>
                <a:tc>
                  <a:txBody>
                    <a:bodyPr/>
                    <a:lstStyle/>
                    <a:p>
                      <a:pPr lvl="0"/>
                      <a:r>
                        <a:rPr lang="en-GB" sz="1100"/>
                        <a:t>Jersey </a:t>
                      </a:r>
                    </a:p>
                  </a:txBody>
                  <a:tcPr>
                    <a:solidFill>
                      <a:srgbClr val="F2F2F2"/>
                    </a:solidFill>
                  </a:tcPr>
                </a:tc>
                <a:tc>
                  <a:txBody>
                    <a:bodyPr/>
                    <a:lstStyle/>
                    <a:p>
                      <a:pPr lvl="0"/>
                      <a:r>
                        <a:rPr lang="en-GB" sz="1100"/>
                        <a:t>JE</a:t>
                      </a:r>
                    </a:p>
                  </a:txBody>
                  <a:tcPr>
                    <a:solidFill>
                      <a:srgbClr val="F2F2F2"/>
                    </a:solidFill>
                  </a:tcPr>
                </a:tc>
                <a:tc>
                  <a:txBody>
                    <a:bodyPr/>
                    <a:lstStyle/>
                    <a:p>
                      <a:pPr lvl="0"/>
                      <a:r>
                        <a:rPr lang="en-GB" sz="1100"/>
                        <a:t>CO</a:t>
                      </a:r>
                    </a:p>
                  </a:txBody>
                  <a:tcPr>
                    <a:solidFill>
                      <a:srgbClr val="F2F2F2"/>
                    </a:solidFill>
                  </a:tcPr>
                </a:tc>
                <a:tc>
                  <a:txBody>
                    <a:bodyPr/>
                    <a:lstStyle/>
                    <a:p>
                      <a:pPr marL="171450" lvl="0" indent="-171450">
                        <a:buSzPct val="100000"/>
                        <a:buFont typeface="Wingdings" pitchFamily="2"/>
                        <a:buChar char="ü"/>
                      </a:pPr>
                      <a:r>
                        <a:rPr lang="en-GB" sz="1100"/>
                        <a:t> </a:t>
                      </a:r>
                    </a:p>
                  </a:txBody>
                  <a:tcPr>
                    <a:solidFill>
                      <a:srgbClr val="F2F2F2"/>
                    </a:solidFill>
                  </a:tcPr>
                </a:tc>
                <a:tc>
                  <a:txBody>
                    <a:bodyPr/>
                    <a:lstStyle/>
                    <a:p>
                      <a:pPr marL="171450" lvl="0" indent="-171450">
                        <a:buSzPct val="100000"/>
                        <a:buFont typeface="Wingdings" pitchFamily="2"/>
                        <a:buChar char="ü"/>
                      </a:pPr>
                      <a:r>
                        <a:rPr lang="en-GB" sz="1100"/>
                        <a:t> </a:t>
                      </a:r>
                    </a:p>
                  </a:txBody>
                  <a:tcPr>
                    <a:solidFill>
                      <a:srgbClr val="F2F2F2"/>
                    </a:solidFill>
                  </a:tcPr>
                </a:tc>
                <a:tc>
                  <a:txBody>
                    <a:bodyPr/>
                    <a:lstStyle/>
                    <a:p>
                      <a:pPr marL="171450" lvl="0" indent="-171450">
                        <a:buSzPct val="100000"/>
                        <a:buFont typeface="Calibri" pitchFamily="34"/>
                        <a:buChar char="ꭗ"/>
                      </a:pPr>
                      <a:r>
                        <a:rPr lang="en-GB" sz="1100"/>
                        <a:t> </a:t>
                      </a:r>
                    </a:p>
                  </a:txBody>
                  <a:tcPr>
                    <a:solidFill>
                      <a:srgbClr val="F2F2F2"/>
                    </a:solidFill>
                  </a:tcPr>
                </a:tc>
                <a:extLst>
                  <a:ext uri="{0D108BD9-81ED-4DB2-BD59-A6C34878D82A}">
                    <a16:rowId xmlns:a16="http://schemas.microsoft.com/office/drawing/2014/main" val="4240029193"/>
                  </a:ext>
                </a:extLst>
              </a:tr>
              <a:tr h="213558">
                <a:tc vMerge="1">
                  <a:txBody>
                    <a:bodyPr/>
                    <a:lstStyle/>
                    <a:p>
                      <a:endParaRPr lang="en-GB"/>
                    </a:p>
                  </a:txBody>
                  <a:tcPr/>
                </a:tc>
                <a:tc>
                  <a:txBody>
                    <a:bodyPr/>
                    <a:lstStyle/>
                    <a:p>
                      <a:pPr lvl="0"/>
                      <a:r>
                        <a:rPr lang="en-GB" sz="1100"/>
                        <a:t>Guernsey</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lvl="0"/>
                      <a:r>
                        <a:rPr lang="en-GB" sz="1100"/>
                        <a:t>GG</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lvl="0"/>
                      <a:r>
                        <a:rPr lang="en-GB" sz="1100"/>
                        <a:t>CO</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171450" lvl="0" indent="-171450">
                        <a:buSzPct val="100000"/>
                        <a:buFont typeface="Wingdings" pitchFamily="2"/>
                        <a:buChar char="ü"/>
                      </a:pPr>
                      <a:r>
                        <a:rPr lang="en-GB" sz="1100"/>
                        <a:t> </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171450" lvl="0" indent="-171450">
                        <a:buSzPct val="100000"/>
                        <a:buFont typeface="Wingdings" pitchFamily="2"/>
                        <a:buChar char="ü"/>
                      </a:pPr>
                      <a:r>
                        <a:rPr lang="en-GB" sz="1100"/>
                        <a:t> </a:t>
                      </a:r>
                    </a:p>
                  </a:txBody>
                  <a:tcPr>
                    <a:lnB w="57150" cap="flat" cmpd="sng" algn="ctr">
                      <a:solidFill>
                        <a:srgbClr val="FFFFFF"/>
                      </a:solidFill>
                      <a:prstDash val="solid"/>
                      <a:round/>
                      <a:headEnd type="none" w="med" len="med"/>
                      <a:tailEnd type="none" w="med" len="med"/>
                    </a:lnB>
                    <a:solidFill>
                      <a:srgbClr val="E7E6E6"/>
                    </a:solidFill>
                  </a:tcPr>
                </a:tc>
                <a:tc>
                  <a:txBody>
                    <a:bodyPr/>
                    <a:lstStyle/>
                    <a:p>
                      <a:pPr marL="171450" lvl="0" indent="-171450">
                        <a:buSzPct val="100000"/>
                        <a:buFont typeface="Calibri" pitchFamily="34"/>
                        <a:buChar char="ꭗ"/>
                      </a:pPr>
                      <a:r>
                        <a:rPr lang="en-GB" sz="1100"/>
                        <a:t> </a:t>
                      </a:r>
                    </a:p>
                  </a:txBody>
                  <a:tcPr>
                    <a:lnB w="57150"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4046102479"/>
                  </a:ext>
                </a:extLst>
              </a:tr>
              <a:tr h="213558">
                <a:tc rowSpan="9">
                  <a:txBody>
                    <a:bodyPr/>
                    <a:lstStyle/>
                    <a:p>
                      <a:pPr marL="0" marR="0" lvl="0" indent="0" algn="l" defTabSz="914400" rtl="0" fontAlgn="auto" hangingPunct="1">
                        <a:lnSpc>
                          <a:spcPct val="100000"/>
                        </a:lnSpc>
                        <a:spcBef>
                          <a:spcPts val="0"/>
                        </a:spcBef>
                        <a:spcAft>
                          <a:spcPts val="0"/>
                        </a:spcAft>
                        <a:buNone/>
                        <a:tabLst/>
                      </a:pPr>
                      <a:r>
                        <a:rPr lang="en-GB" sz="1100" b="1">
                          <a:solidFill>
                            <a:srgbClr val="FFFFFF"/>
                          </a:solidFill>
                        </a:rPr>
                        <a:t>EU SFT (Former UK SFT pre-transition)</a:t>
                      </a:r>
                    </a:p>
                  </a:txBody>
                  <a:tcP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A6A6A6"/>
                    </a:solidFill>
                  </a:tcPr>
                </a:tc>
                <a:tc>
                  <a:txBody>
                    <a:bodyPr/>
                    <a:lstStyle/>
                    <a:p>
                      <a:pPr lvl="0"/>
                      <a:r>
                        <a:rPr lang="en-GB" sz="1100"/>
                        <a:t>Aland Islands</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lvl="0"/>
                      <a:r>
                        <a:rPr lang="en-GB" sz="1100"/>
                        <a:t>FI</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lvl="0"/>
                      <a:r>
                        <a:rPr lang="en-GB" sz="1100"/>
                        <a:t>IM</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marL="171450" lvl="0" indent="-171450">
                        <a:buSzPct val="100000"/>
                        <a:buFont typeface="Wingdings" pitchFamily="2"/>
                        <a:buChar char="ü"/>
                      </a:pPr>
                      <a:r>
                        <a:rPr lang="en-GB" sz="1100"/>
                        <a:t> </a:t>
                      </a:r>
                    </a:p>
                  </a:txBody>
                  <a:tcPr>
                    <a:lnT w="57150" cap="flat" cmpd="sng" algn="ctr">
                      <a:solidFill>
                        <a:srgbClr val="FFFFFF"/>
                      </a:solidFill>
                      <a:prstDash val="solid"/>
                      <a:round/>
                      <a:headEnd type="none" w="med" len="med"/>
                      <a:tailEnd type="none" w="med" len="med"/>
                    </a:lnT>
                    <a:solidFill>
                      <a:srgbClr val="F2F2F2"/>
                    </a:solidFill>
                  </a:tcPr>
                </a:tc>
                <a:tc>
                  <a:txBody>
                    <a:bodyPr/>
                    <a:lstStyle/>
                    <a:p>
                      <a:pPr marL="171450" lvl="0" indent="-171450">
                        <a:buSzPct val="100000"/>
                        <a:buFont typeface="Wingdings" pitchFamily="2"/>
                        <a:buChar char="ü"/>
                      </a:pPr>
                      <a:r>
                        <a:rPr lang="en-GB" sz="1100"/>
                        <a:t> </a:t>
                      </a:r>
                    </a:p>
                  </a:txBody>
                  <a:tcPr>
                    <a:lnT w="57150" cap="flat" cmpd="sng" algn="ctr">
                      <a:solidFill>
                        <a:srgbClr val="FFFFFF"/>
                      </a:solidFill>
                      <a:prstDash val="solid"/>
                      <a:round/>
                      <a:headEnd type="none" w="med" len="med"/>
                      <a:tailEnd type="none" w="med" len="med"/>
                    </a:lnT>
                    <a:solidFill>
                      <a:srgbClr val="F2F2F2"/>
                    </a:solidFill>
                  </a:tcPr>
                </a:tc>
                <a:tc rowSpan="9">
                  <a:txBody>
                    <a:bodyPr/>
                    <a:lstStyle/>
                    <a:p>
                      <a:pPr marL="0" lvl="0" indent="0">
                        <a:buNone/>
                      </a:pPr>
                      <a:r>
                        <a:rPr lang="en-GB" sz="1100">
                          <a:solidFill>
                            <a:srgbClr val="000000"/>
                          </a:solidFill>
                        </a:rPr>
                        <a:t>No customs duty is expected to be charged although duty may be </a:t>
                      </a:r>
                      <a:r>
                        <a:rPr lang="en-GB" sz="1100"/>
                        <a:t>liable if traders cannot prove that the goods meet the origins requirement for the FTA or if there are there are safeguarding duties or countervailing duties on EU imports.</a:t>
                      </a:r>
                      <a:r>
                        <a:rPr lang="en-GB" sz="1100" b="1">
                          <a:solidFill>
                            <a:srgbClr val="000000"/>
                          </a:solidFill>
                        </a:rPr>
                        <a:t> </a:t>
                      </a:r>
                      <a:endParaRPr lang="en-GB" sz="1100"/>
                    </a:p>
                  </a:txBody>
                  <a:tcP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3994211772"/>
                  </a:ext>
                </a:extLst>
              </a:tr>
              <a:tr h="213558">
                <a:tc vMerge="1">
                  <a:txBody>
                    <a:bodyPr/>
                    <a:lstStyle/>
                    <a:p>
                      <a:endParaRPr lang="en-GB"/>
                    </a:p>
                  </a:txBody>
                  <a:tcPr/>
                </a:tc>
                <a:tc>
                  <a:txBody>
                    <a:bodyPr/>
                    <a:lstStyle/>
                    <a:p>
                      <a:pPr lvl="0"/>
                      <a:r>
                        <a:rPr lang="en-GB" sz="1100"/>
                        <a:t>Canary Islands</a:t>
                      </a:r>
                    </a:p>
                  </a:txBody>
                  <a:tcPr>
                    <a:solidFill>
                      <a:srgbClr val="E7E6E6"/>
                    </a:solidFill>
                  </a:tcPr>
                </a:tc>
                <a:tc>
                  <a:txBody>
                    <a:bodyPr/>
                    <a:lstStyle/>
                    <a:p>
                      <a:pPr lvl="0"/>
                      <a:r>
                        <a:rPr lang="en-GB" sz="1100"/>
                        <a:t>ES</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vMerge="1">
                  <a:txBody>
                    <a:bodyPr/>
                    <a:lstStyle/>
                    <a:p>
                      <a:endParaRPr lang="en-GB"/>
                    </a:p>
                  </a:txBody>
                  <a:tcPr/>
                </a:tc>
                <a:extLst>
                  <a:ext uri="{0D108BD9-81ED-4DB2-BD59-A6C34878D82A}">
                    <a16:rowId xmlns:a16="http://schemas.microsoft.com/office/drawing/2014/main" val="2015977746"/>
                  </a:ext>
                </a:extLst>
              </a:tr>
              <a:tr h="213558">
                <a:tc vMerge="1">
                  <a:txBody>
                    <a:bodyPr/>
                    <a:lstStyle/>
                    <a:p>
                      <a:endParaRPr lang="en-GB"/>
                    </a:p>
                  </a:txBody>
                  <a:tcPr/>
                </a:tc>
                <a:tc>
                  <a:txBody>
                    <a:bodyPr/>
                    <a:lstStyle/>
                    <a:p>
                      <a:pPr lvl="0"/>
                      <a:r>
                        <a:rPr lang="en-GB" sz="1100"/>
                        <a:t>Mayotte</a:t>
                      </a:r>
                    </a:p>
                  </a:txBody>
                  <a:tcPr>
                    <a:solidFill>
                      <a:srgbClr val="F2F2F2"/>
                    </a:solidFill>
                  </a:tcPr>
                </a:tc>
                <a:tc>
                  <a:txBody>
                    <a:bodyPr/>
                    <a:lstStyle/>
                    <a:p>
                      <a:pPr lvl="0"/>
                      <a:r>
                        <a:rPr lang="en-GB" sz="1100"/>
                        <a:t>FR</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vMerge="1">
                  <a:txBody>
                    <a:bodyPr/>
                    <a:lstStyle/>
                    <a:p>
                      <a:endParaRPr lang="en-GB"/>
                    </a:p>
                  </a:txBody>
                  <a:tcPr/>
                </a:tc>
                <a:extLst>
                  <a:ext uri="{0D108BD9-81ED-4DB2-BD59-A6C34878D82A}">
                    <a16:rowId xmlns:a16="http://schemas.microsoft.com/office/drawing/2014/main" val="3268761990"/>
                  </a:ext>
                </a:extLst>
              </a:tr>
              <a:tr h="213558">
                <a:tc vMerge="1">
                  <a:txBody>
                    <a:bodyPr/>
                    <a:lstStyle/>
                    <a:p>
                      <a:endParaRPr lang="en-GB"/>
                    </a:p>
                  </a:txBody>
                  <a:tcPr/>
                </a:tc>
                <a:tc>
                  <a:txBody>
                    <a:bodyPr/>
                    <a:lstStyle/>
                    <a:p>
                      <a:pPr lvl="0"/>
                      <a:r>
                        <a:rPr lang="en-GB" sz="1100"/>
                        <a:t>Mount Athos</a:t>
                      </a:r>
                    </a:p>
                  </a:txBody>
                  <a:tcPr>
                    <a:solidFill>
                      <a:srgbClr val="E7E6E6"/>
                    </a:solidFill>
                  </a:tcPr>
                </a:tc>
                <a:tc>
                  <a:txBody>
                    <a:bodyPr/>
                    <a:lstStyle/>
                    <a:p>
                      <a:pPr lvl="0"/>
                      <a:r>
                        <a:rPr lang="en-GB" sz="1100"/>
                        <a:t>GR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vMerge="1">
                  <a:txBody>
                    <a:bodyPr/>
                    <a:lstStyle/>
                    <a:p>
                      <a:endParaRPr lang="en-GB"/>
                    </a:p>
                  </a:txBody>
                  <a:tcPr/>
                </a:tc>
                <a:extLst>
                  <a:ext uri="{0D108BD9-81ED-4DB2-BD59-A6C34878D82A}">
                    <a16:rowId xmlns:a16="http://schemas.microsoft.com/office/drawing/2014/main" val="2203860299"/>
                  </a:ext>
                </a:extLst>
              </a:tr>
              <a:tr h="213558">
                <a:tc vMerge="1">
                  <a:txBody>
                    <a:bodyPr/>
                    <a:lstStyle/>
                    <a:p>
                      <a:endParaRPr lang="en-GB"/>
                    </a:p>
                  </a:txBody>
                  <a:tcPr/>
                </a:tc>
                <a:tc>
                  <a:txBody>
                    <a:bodyPr/>
                    <a:lstStyle/>
                    <a:p>
                      <a:pPr lvl="0"/>
                      <a:r>
                        <a:rPr lang="en-GB" sz="1100"/>
                        <a:t>Guadeloupe</a:t>
                      </a:r>
                    </a:p>
                  </a:txBody>
                  <a:tcPr>
                    <a:solidFill>
                      <a:srgbClr val="F2F2F2"/>
                    </a:solidFill>
                  </a:tcPr>
                </a:tc>
                <a:tc>
                  <a:txBody>
                    <a:bodyPr/>
                    <a:lstStyle/>
                    <a:p>
                      <a:pPr lvl="0"/>
                      <a:r>
                        <a:rPr lang="en-GB" sz="1100"/>
                        <a:t>FR</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vMerge="1">
                  <a:txBody>
                    <a:bodyPr/>
                    <a:lstStyle/>
                    <a:p>
                      <a:endParaRPr lang="en-GB"/>
                    </a:p>
                  </a:txBody>
                  <a:tcPr/>
                </a:tc>
                <a:extLst>
                  <a:ext uri="{0D108BD9-81ED-4DB2-BD59-A6C34878D82A}">
                    <a16:rowId xmlns:a16="http://schemas.microsoft.com/office/drawing/2014/main" val="2140697049"/>
                  </a:ext>
                </a:extLst>
              </a:tr>
              <a:tr h="213558">
                <a:tc vMerge="1">
                  <a:txBody>
                    <a:bodyPr/>
                    <a:lstStyle/>
                    <a:p>
                      <a:endParaRPr lang="en-GB"/>
                    </a:p>
                  </a:txBody>
                  <a:tcPr/>
                </a:tc>
                <a:tc>
                  <a:txBody>
                    <a:bodyPr/>
                    <a:lstStyle/>
                    <a:p>
                      <a:pPr lvl="0"/>
                      <a:r>
                        <a:rPr lang="en-GB" sz="1100"/>
                        <a:t>French Guiana</a:t>
                      </a:r>
                    </a:p>
                  </a:txBody>
                  <a:tcPr>
                    <a:solidFill>
                      <a:srgbClr val="E7E6E6"/>
                    </a:solidFill>
                  </a:tcPr>
                </a:tc>
                <a:tc>
                  <a:txBody>
                    <a:bodyPr/>
                    <a:lstStyle/>
                    <a:p>
                      <a:pPr lvl="0"/>
                      <a:r>
                        <a:rPr lang="en-GB" sz="11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vMerge="1">
                  <a:txBody>
                    <a:bodyPr/>
                    <a:lstStyle/>
                    <a:p>
                      <a:endParaRPr lang="en-GB"/>
                    </a:p>
                  </a:txBody>
                  <a:tcPr/>
                </a:tc>
                <a:extLst>
                  <a:ext uri="{0D108BD9-81ED-4DB2-BD59-A6C34878D82A}">
                    <a16:rowId xmlns:a16="http://schemas.microsoft.com/office/drawing/2014/main" val="3981600886"/>
                  </a:ext>
                </a:extLst>
              </a:tr>
              <a:tr h="213558">
                <a:tc vMerge="1">
                  <a:txBody>
                    <a:bodyPr/>
                    <a:lstStyle/>
                    <a:p>
                      <a:endParaRPr lang="en-GB"/>
                    </a:p>
                  </a:txBody>
                  <a:tcPr/>
                </a:tc>
                <a:tc>
                  <a:txBody>
                    <a:bodyPr/>
                    <a:lstStyle/>
                    <a:p>
                      <a:pPr lvl="0"/>
                      <a:r>
                        <a:rPr lang="en-GB" sz="1100"/>
                        <a:t>Reunion</a:t>
                      </a:r>
                    </a:p>
                  </a:txBody>
                  <a:tcPr>
                    <a:solidFill>
                      <a:srgbClr val="F2F2F2"/>
                    </a:solidFill>
                  </a:tcPr>
                </a:tc>
                <a:tc>
                  <a:txBody>
                    <a:bodyPr/>
                    <a:lstStyle/>
                    <a:p>
                      <a:pPr lvl="0"/>
                      <a:r>
                        <a:rPr lang="en-GB" sz="1100"/>
                        <a:t>FR</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vMerge="1">
                  <a:txBody>
                    <a:bodyPr/>
                    <a:lstStyle/>
                    <a:p>
                      <a:endParaRPr lang="en-GB"/>
                    </a:p>
                  </a:txBody>
                  <a:tcPr/>
                </a:tc>
                <a:extLst>
                  <a:ext uri="{0D108BD9-81ED-4DB2-BD59-A6C34878D82A}">
                    <a16:rowId xmlns:a16="http://schemas.microsoft.com/office/drawing/2014/main" val="3637254099"/>
                  </a:ext>
                </a:extLst>
              </a:tr>
              <a:tr h="213558">
                <a:tc vMerge="1">
                  <a:txBody>
                    <a:bodyPr/>
                    <a:lstStyle/>
                    <a:p>
                      <a:endParaRPr lang="en-GB"/>
                    </a:p>
                  </a:txBody>
                  <a:tcPr/>
                </a:tc>
                <a:tc>
                  <a:txBody>
                    <a:bodyPr/>
                    <a:lstStyle/>
                    <a:p>
                      <a:pPr lvl="0"/>
                      <a:r>
                        <a:rPr lang="en-GB" sz="1100"/>
                        <a:t>Martinique</a:t>
                      </a:r>
                    </a:p>
                  </a:txBody>
                  <a:tcPr>
                    <a:solidFill>
                      <a:srgbClr val="E7E6E6"/>
                    </a:solidFill>
                  </a:tcPr>
                </a:tc>
                <a:tc>
                  <a:txBody>
                    <a:bodyPr/>
                    <a:lstStyle/>
                    <a:p>
                      <a:pPr lvl="0"/>
                      <a:r>
                        <a:rPr lang="en-GB" sz="1100"/>
                        <a:t>FR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vMerge="1">
                  <a:txBody>
                    <a:bodyPr/>
                    <a:lstStyle/>
                    <a:p>
                      <a:endParaRPr lang="en-GB"/>
                    </a:p>
                  </a:txBody>
                  <a:tcPr/>
                </a:tc>
                <a:extLst>
                  <a:ext uri="{0D108BD9-81ED-4DB2-BD59-A6C34878D82A}">
                    <a16:rowId xmlns:a16="http://schemas.microsoft.com/office/drawing/2014/main" val="686431843"/>
                  </a:ext>
                </a:extLst>
              </a:tr>
              <a:tr h="213558">
                <a:tc vMerge="1">
                  <a:txBody>
                    <a:bodyPr/>
                    <a:lstStyle/>
                    <a:p>
                      <a:endParaRPr lang="en-GB"/>
                    </a:p>
                  </a:txBody>
                  <a:tcPr/>
                </a:tc>
                <a:tc>
                  <a:txBody>
                    <a:bodyPr/>
                    <a:lstStyle/>
                    <a:p>
                      <a:pPr lvl="0"/>
                      <a:r>
                        <a:rPr lang="en-GB" sz="1100"/>
                        <a:t>Saint Martin</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lvl="0"/>
                      <a:r>
                        <a:rPr lang="en-GB" sz="1100"/>
                        <a:t>FR</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lnB w="57150" cap="flat" cmpd="sng" algn="ctr">
                      <a:solidFill>
                        <a:srgbClr val="FFFFFF"/>
                      </a:solidFill>
                      <a:prstDash val="solid"/>
                      <a:round/>
                      <a:headEnd type="none" w="med" len="med"/>
                      <a:tailEnd type="none" w="med" len="med"/>
                    </a:lnB>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lnB w="57150" cap="flat" cmpd="sng" algn="ctr">
                      <a:solidFill>
                        <a:srgbClr val="FFFFFF"/>
                      </a:solidFill>
                      <a:prstDash val="solid"/>
                      <a:round/>
                      <a:headEnd type="none" w="med" len="med"/>
                      <a:tailEnd type="none" w="med" len="med"/>
                    </a:lnB>
                    <a:solidFill>
                      <a:srgbClr val="F2F2F2"/>
                    </a:solidFill>
                  </a:tcPr>
                </a:tc>
                <a:tc vMerge="1">
                  <a:txBody>
                    <a:bodyPr/>
                    <a:lstStyle/>
                    <a:p>
                      <a:endParaRPr lang="en-GB"/>
                    </a:p>
                  </a:txBody>
                  <a:tcPr/>
                </a:tc>
                <a:extLst>
                  <a:ext uri="{0D108BD9-81ED-4DB2-BD59-A6C34878D82A}">
                    <a16:rowId xmlns:a16="http://schemas.microsoft.com/office/drawing/2014/main" val="361006925"/>
                  </a:ext>
                </a:extLst>
              </a:tr>
              <a:tr h="213558">
                <a:tc rowSpan="3">
                  <a:txBody>
                    <a:bodyPr/>
                    <a:lstStyle/>
                    <a:p>
                      <a:pPr marL="0" marR="0" lvl="0" indent="0" algn="l" defTabSz="914400" rtl="0" fontAlgn="auto" hangingPunct="1">
                        <a:lnSpc>
                          <a:spcPct val="100000"/>
                        </a:lnSpc>
                        <a:spcBef>
                          <a:spcPts val="0"/>
                        </a:spcBef>
                        <a:spcAft>
                          <a:spcPts val="0"/>
                        </a:spcAft>
                        <a:buNone/>
                        <a:tabLst/>
                      </a:pPr>
                      <a:r>
                        <a:rPr lang="en-GB" sz="1100" b="1">
                          <a:solidFill>
                            <a:srgbClr val="FFFFFF"/>
                          </a:solidFill>
                        </a:rPr>
                        <a:t>Country which EU has a Customs Union </a:t>
                      </a:r>
                    </a:p>
                  </a:txBody>
                  <a:tcPr>
                    <a:lnT w="57150" cap="flat" cmpd="sng" algn="ctr">
                      <a:solidFill>
                        <a:srgbClr val="FFFFFF"/>
                      </a:solidFill>
                      <a:prstDash val="solid"/>
                      <a:round/>
                      <a:headEnd type="none" w="med" len="med"/>
                      <a:tailEnd type="none" w="med" len="med"/>
                    </a:lnT>
                    <a:solidFill>
                      <a:srgbClr val="A6A6A6"/>
                    </a:solidFill>
                  </a:tcPr>
                </a:tc>
                <a:tc>
                  <a:txBody>
                    <a:bodyPr/>
                    <a:lstStyle/>
                    <a:p>
                      <a:pPr lvl="0"/>
                      <a:r>
                        <a:rPr lang="en-GB" sz="1100" b="0" i="0" u="none" strike="noStrike" kern="1200">
                          <a:solidFill>
                            <a:srgbClr val="000000"/>
                          </a:solidFill>
                          <a:latin typeface="Calibri"/>
                        </a:rPr>
                        <a:t>Andorra</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lvl="0"/>
                      <a:r>
                        <a:rPr lang="en-GB" sz="1100"/>
                        <a:t>AD</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lnT w="57150" cap="flat" cmpd="sng" algn="ctr">
                      <a:solidFill>
                        <a:srgbClr val="FFFFFF"/>
                      </a:solidFill>
                      <a:prstDash val="solid"/>
                      <a:round/>
                      <a:headEnd type="none" w="med" len="med"/>
                      <a:tailEnd type="none" w="med" len="med"/>
                    </a:lnT>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lnT w="57150" cap="flat" cmpd="sng" algn="ctr">
                      <a:solidFill>
                        <a:srgbClr val="FFFFFF"/>
                      </a:solidFill>
                      <a:prstDash val="solid"/>
                      <a:round/>
                      <a:headEnd type="none" w="med" len="med"/>
                      <a:tailEnd type="none" w="med" len="med"/>
                    </a:lnT>
                    <a:solidFill>
                      <a:srgbClr val="E7E6E6"/>
                    </a:solidFill>
                  </a:tcPr>
                </a:tc>
                <a:tc rowSpan="3">
                  <a:txBody>
                    <a:bodyPr/>
                    <a:lstStyle/>
                    <a:p>
                      <a:pPr marL="0" marR="0" lvl="0" indent="0" algn="l" defTabSz="914400" rtl="0" fontAlgn="auto" hangingPunct="1">
                        <a:lnSpc>
                          <a:spcPct val="100000"/>
                        </a:lnSpc>
                        <a:spcBef>
                          <a:spcPts val="0"/>
                        </a:spcBef>
                        <a:spcAft>
                          <a:spcPts val="0"/>
                        </a:spcAft>
                        <a:buNone/>
                        <a:tabLst/>
                      </a:pPr>
                      <a:r>
                        <a:rPr lang="en-GB" sz="1100">
                          <a:solidFill>
                            <a:srgbClr val="000000"/>
                          </a:solidFill>
                        </a:rPr>
                        <a:t>May still be liable for both UK or EU Customs Duties where applicable.</a:t>
                      </a:r>
                    </a:p>
                  </a:txBody>
                  <a:tcPr>
                    <a:lnT w="57150" cap="flat" cmpd="sng" algn="ctr">
                      <a:solidFill>
                        <a:srgbClr val="FFFFFF"/>
                      </a:solidFill>
                      <a:prstDash val="solid"/>
                      <a:round/>
                      <a:headEnd type="none" w="med" len="med"/>
                      <a:tailEnd type="none" w="med" len="med"/>
                    </a:lnT>
                    <a:solidFill>
                      <a:srgbClr val="E7E6E6"/>
                    </a:solidFill>
                  </a:tcPr>
                </a:tc>
                <a:extLst>
                  <a:ext uri="{0D108BD9-81ED-4DB2-BD59-A6C34878D82A}">
                    <a16:rowId xmlns:a16="http://schemas.microsoft.com/office/drawing/2014/main" val="2104629010"/>
                  </a:ext>
                </a:extLst>
              </a:tr>
              <a:tr h="213558">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b="0" i="0" u="none" strike="noStrike" kern="1200">
                          <a:solidFill>
                            <a:srgbClr val="000000"/>
                          </a:solidFill>
                          <a:latin typeface="Calibri"/>
                        </a:rPr>
                        <a:t>San Marino</a:t>
                      </a:r>
                      <a:endParaRPr lang="en-GB" sz="1100"/>
                    </a:p>
                  </a:txBody>
                  <a:tcPr>
                    <a:solidFill>
                      <a:srgbClr val="F2F2F2"/>
                    </a:solidFill>
                  </a:tcPr>
                </a:tc>
                <a:tc>
                  <a:txBody>
                    <a:bodyPr/>
                    <a:lstStyle/>
                    <a:p>
                      <a:pPr lvl="0"/>
                      <a:r>
                        <a:rPr lang="en-GB" sz="1100"/>
                        <a:t>SM</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F2F2F2"/>
                    </a:solidFill>
                  </a:tcPr>
                </a:tc>
                <a:tc vMerge="1">
                  <a:txBody>
                    <a:bodyPr/>
                    <a:lstStyle/>
                    <a:p>
                      <a:endParaRPr lang="en-GB"/>
                    </a:p>
                  </a:txBody>
                  <a:tcPr/>
                </a:tc>
                <a:extLst>
                  <a:ext uri="{0D108BD9-81ED-4DB2-BD59-A6C34878D82A}">
                    <a16:rowId xmlns:a16="http://schemas.microsoft.com/office/drawing/2014/main" val="4273745379"/>
                  </a:ext>
                </a:extLst>
              </a:tr>
              <a:tr h="213558">
                <a:tc vMerge="1">
                  <a:txBody>
                    <a:bodyPr/>
                    <a:lstStyle/>
                    <a:p>
                      <a:endParaRPr lang="en-GB"/>
                    </a:p>
                  </a:txBody>
                  <a:tcPr/>
                </a:tc>
                <a:tc>
                  <a:txBody>
                    <a:bodyPr/>
                    <a:lstStyle/>
                    <a:p>
                      <a:pPr lvl="0"/>
                      <a:r>
                        <a:rPr lang="en-GB" sz="1100"/>
                        <a:t>Turkey</a:t>
                      </a:r>
                    </a:p>
                  </a:txBody>
                  <a:tcPr>
                    <a:solidFill>
                      <a:srgbClr val="E7E6E6"/>
                    </a:solidFill>
                  </a:tcPr>
                </a:tc>
                <a:tc>
                  <a:txBody>
                    <a:bodyPr/>
                    <a:lstStyle/>
                    <a:p>
                      <a:pPr lvl="0"/>
                      <a:r>
                        <a:rPr lang="en-GB" sz="1100"/>
                        <a:t>TR</a:t>
                      </a:r>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IM</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a:t> </a:t>
                      </a:r>
                    </a:p>
                  </a:txBody>
                  <a:tcPr>
                    <a:solidFill>
                      <a:srgbClr val="E7E6E6"/>
                    </a:solidFill>
                  </a:tcPr>
                </a:tc>
                <a:tc>
                  <a:txBody>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100" dirty="0"/>
                        <a:t> </a:t>
                      </a:r>
                    </a:p>
                  </a:txBody>
                  <a:tcPr>
                    <a:solidFill>
                      <a:srgbClr val="E7E6E6"/>
                    </a:solidFill>
                  </a:tcPr>
                </a:tc>
                <a:tc vMerge="1">
                  <a:txBody>
                    <a:bodyPr/>
                    <a:lstStyle/>
                    <a:p>
                      <a:endParaRPr lang="en-GB"/>
                    </a:p>
                  </a:txBody>
                  <a:tcPr/>
                </a:tc>
                <a:extLst>
                  <a:ext uri="{0D108BD9-81ED-4DB2-BD59-A6C34878D82A}">
                    <a16:rowId xmlns:a16="http://schemas.microsoft.com/office/drawing/2014/main" val="1160456605"/>
                  </a:ext>
                </a:extLst>
              </a:tr>
            </a:tbl>
          </a:graphicData>
        </a:graphic>
      </p:graphicFrame>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name="Slide838840353">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2F68C05A-FF72-40F9-BE07-8949BC5E939C}"/>
              </a:ext>
            </a:extLst>
          </p:cNvPr>
          <p:cNvSpPr/>
          <p:nvPr/>
        </p:nvSpPr>
        <p:spPr>
          <a:xfrm>
            <a:off x="324429" y="3005011"/>
            <a:ext cx="11585301" cy="2026264"/>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cxnSp>
        <p:nvCxnSpPr>
          <p:cNvPr id="3" name="Straight Connector 17">
            <a:extLst>
              <a:ext uri="{FF2B5EF4-FFF2-40B4-BE49-F238E27FC236}">
                <a16:creationId xmlns:a16="http://schemas.microsoft.com/office/drawing/2014/main" id="{ABEA9C91-CC40-47C6-966E-560EF8B6D22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27FB2C08-A647-4C3B-B95A-6AB24392F81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E92C2F27-B53D-49E4-9504-82D3B5DA5331}"/>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7" name="Slide Number Placeholder 5">
            <a:extLst>
              <a:ext uri="{FF2B5EF4-FFF2-40B4-BE49-F238E27FC236}">
                <a16:creationId xmlns:a16="http://schemas.microsoft.com/office/drawing/2014/main" id="{83E80A6E-7D89-4C57-B121-75438F0FDF0A}"/>
              </a:ext>
            </a:extLst>
          </p:cNvPr>
          <p:cNvSpPr txBox="1"/>
          <p:nvPr/>
        </p:nvSpPr>
        <p:spPr>
          <a:xfrm>
            <a:off x="11745687"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A130D82-B98D-4EB7-AAEE-E7208DA15B42}" type="slidenum">
              <a:rPr sz="1200"/>
              <a:t>422</a:t>
            </a:fld>
            <a:endParaRPr lang="en-GB" sz="1200" b="0" i="0" u="none" strike="noStrike" kern="1200" cap="none" spc="0" baseline="0">
              <a:solidFill>
                <a:srgbClr val="000000"/>
              </a:solidFill>
              <a:uFillTx/>
              <a:latin typeface="Calibri"/>
            </a:endParaRPr>
          </a:p>
        </p:txBody>
      </p:sp>
      <p:sp>
        <p:nvSpPr>
          <p:cNvPr id="8" name="Footer Placeholder 1">
            <a:extLst>
              <a:ext uri="{FF2B5EF4-FFF2-40B4-BE49-F238E27FC236}">
                <a16:creationId xmlns:a16="http://schemas.microsoft.com/office/drawing/2014/main" id="{2D8F83D5-5065-4CE5-985C-225C6AE54B4C}"/>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9" name="Rectangle 4">
            <a:extLst>
              <a:ext uri="{FF2B5EF4-FFF2-40B4-BE49-F238E27FC236}">
                <a16:creationId xmlns:a16="http://schemas.microsoft.com/office/drawing/2014/main" id="{0AA60776-EF8F-4195-B844-C7D0B03020B8}"/>
              </a:ext>
            </a:extLst>
          </p:cNvPr>
          <p:cNvSpPr/>
          <p:nvPr/>
        </p:nvSpPr>
        <p:spPr>
          <a:xfrm>
            <a:off x="363967" y="712143"/>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
        <p:nvSpPr>
          <p:cNvPr id="10" name="Rectangle 31">
            <a:extLst>
              <a:ext uri="{FF2B5EF4-FFF2-40B4-BE49-F238E27FC236}">
                <a16:creationId xmlns:a16="http://schemas.microsoft.com/office/drawing/2014/main" id="{CE674029-1E11-49BF-A333-9A82AE474B2D}"/>
              </a:ext>
            </a:extLst>
          </p:cNvPr>
          <p:cNvSpPr/>
          <p:nvPr/>
        </p:nvSpPr>
        <p:spPr>
          <a:xfrm>
            <a:off x="363967" y="1050700"/>
            <a:ext cx="8423910"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Imports from EU Special Fiscal Territories and Countries with which the EU has a Customs Union (GB Imports)</a:t>
            </a:r>
          </a:p>
        </p:txBody>
      </p:sp>
      <p:sp>
        <p:nvSpPr>
          <p:cNvPr id="11" name="TextBox 42">
            <a:extLst>
              <a:ext uri="{FF2B5EF4-FFF2-40B4-BE49-F238E27FC236}">
                <a16:creationId xmlns:a16="http://schemas.microsoft.com/office/drawing/2014/main" id="{C2CE52DD-EA54-418E-86BC-10A3F22856E4}"/>
              </a:ext>
            </a:extLst>
          </p:cNvPr>
          <p:cNvSpPr txBox="1"/>
          <p:nvPr/>
        </p:nvSpPr>
        <p:spPr>
          <a:xfrm>
            <a:off x="363967" y="1368344"/>
            <a:ext cx="11513128" cy="250838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TTM14.0, CDS will have the ability to process GB import declarations from </a:t>
            </a:r>
            <a:r>
              <a:rPr lang="en-GB" sz="1200" b="1" i="0" u="none" strike="noStrike" kern="1200" cap="none" spc="0" baseline="0">
                <a:solidFill>
                  <a:srgbClr val="000000"/>
                </a:solidFill>
                <a:uFillTx/>
                <a:latin typeface="Calibri"/>
              </a:rPr>
              <a:t>EU Special Fiscal Territories and countries which the EU has a customs union</a:t>
            </a:r>
            <a:r>
              <a:rPr lang="en-GB" sz="1200" b="0" i="0" u="none" strike="noStrike" kern="1200" cap="none" spc="0" baseline="0">
                <a:solidFill>
                  <a:srgbClr val="000000"/>
                </a:solidFill>
                <a:uFillTx/>
                <a:latin typeface="Calibri"/>
              </a:rPr>
              <a:t>. This will include declaration submission and validation of an import declaration and calculation of the correct duties that are liable.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following scenarios are </a:t>
            </a:r>
            <a:r>
              <a:rPr lang="en-GB" sz="1200" b="1" i="0" u="none" strike="noStrike" kern="1200" cap="none" spc="0" baseline="0">
                <a:solidFill>
                  <a:srgbClr val="000000"/>
                </a:solidFill>
                <a:uFillTx/>
                <a:latin typeface="Calibri"/>
              </a:rPr>
              <a:t>in scope </a:t>
            </a:r>
            <a:r>
              <a:rPr lang="en-GB" sz="1200" b="0" i="0" u="none" strike="noStrike" kern="1200" cap="none" spc="0" baseline="0">
                <a:solidFill>
                  <a:srgbClr val="000000"/>
                </a:solidFill>
                <a:uFillTx/>
                <a:latin typeface="Calibri"/>
              </a:rPr>
              <a:t>for CDS users: GB imports from EU SFT or Countries which EU has a Customs Union:</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Tariff Volume 3 guidance, GB declarants submitting an import declaration from EU SFTs or Countries which EU has a Customs Union should declare the declaration type ‘IM’ in D.E. 1/1 and the relevant country code which is provided on the previous slide.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validate the declaration against the UK tariff. CDS will then calculate any liable UK VAT and Excise duties and, where applicable, customs duties on the import, send a DMSTAX notification and collect duties against the declared method of payment.</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2" name="Oval 43">
            <a:extLst>
              <a:ext uri="{FF2B5EF4-FFF2-40B4-BE49-F238E27FC236}">
                <a16:creationId xmlns:a16="http://schemas.microsoft.com/office/drawing/2014/main" id="{9467C38D-6612-48B9-ABCD-3BEB5A9F023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4">
            <a:extLst>
              <a:ext uri="{FF2B5EF4-FFF2-40B4-BE49-F238E27FC236}">
                <a16:creationId xmlns:a16="http://schemas.microsoft.com/office/drawing/2014/main" id="{2F227FDF-516A-4BFB-B8A2-6329F822CC9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5">
            <a:extLst>
              <a:ext uri="{FF2B5EF4-FFF2-40B4-BE49-F238E27FC236}">
                <a16:creationId xmlns:a16="http://schemas.microsoft.com/office/drawing/2014/main" id="{5DF3E2A0-69DC-4556-9A72-D431456338F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6">
            <a:extLst>
              <a:ext uri="{FF2B5EF4-FFF2-40B4-BE49-F238E27FC236}">
                <a16:creationId xmlns:a16="http://schemas.microsoft.com/office/drawing/2014/main" id="{6438F685-01B5-4DA8-B9A6-DF90F0B587D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48">
            <a:extLst>
              <a:ext uri="{FF2B5EF4-FFF2-40B4-BE49-F238E27FC236}">
                <a16:creationId xmlns:a16="http://schemas.microsoft.com/office/drawing/2014/main" id="{9382AEBB-AFC5-4C61-86ED-7EB50D37E11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7" name="TextBox 49">
            <a:extLst>
              <a:ext uri="{FF2B5EF4-FFF2-40B4-BE49-F238E27FC236}">
                <a16:creationId xmlns:a16="http://schemas.microsoft.com/office/drawing/2014/main" id="{58302CC3-4888-4213-9638-E1704A9799C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8" name="TextBox 51">
            <a:extLst>
              <a:ext uri="{FF2B5EF4-FFF2-40B4-BE49-F238E27FC236}">
                <a16:creationId xmlns:a16="http://schemas.microsoft.com/office/drawing/2014/main" id="{1329A462-4891-4134-B9E5-8CBC76834F5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9" name="TextBox 52">
            <a:extLst>
              <a:ext uri="{FF2B5EF4-FFF2-40B4-BE49-F238E27FC236}">
                <a16:creationId xmlns:a16="http://schemas.microsoft.com/office/drawing/2014/main" id="{6EDC533C-F7F3-4934-A02B-F611EC5CED6E}"/>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0" name="Oval 53">
            <a:extLst>
              <a:ext uri="{FF2B5EF4-FFF2-40B4-BE49-F238E27FC236}">
                <a16:creationId xmlns:a16="http://schemas.microsoft.com/office/drawing/2014/main" id="{1FA337C0-9A44-45B9-AE8A-81AAB52D77EF}"/>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54">
            <a:extLst>
              <a:ext uri="{FF2B5EF4-FFF2-40B4-BE49-F238E27FC236}">
                <a16:creationId xmlns:a16="http://schemas.microsoft.com/office/drawing/2014/main" id="{69187C6C-EFBA-44FA-9E19-88C029108BB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2" name="Picture 40">
            <a:extLst>
              <a:ext uri="{FF2B5EF4-FFF2-40B4-BE49-F238E27FC236}">
                <a16:creationId xmlns:a16="http://schemas.microsoft.com/office/drawing/2014/main" id="{B21F2189-9FDA-4A26-B549-8F39956B5237}"/>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23" name="Oval 56">
            <a:extLst>
              <a:ext uri="{FF2B5EF4-FFF2-40B4-BE49-F238E27FC236}">
                <a16:creationId xmlns:a16="http://schemas.microsoft.com/office/drawing/2014/main" id="{DAAA6C19-A2F9-4B43-8F5D-A9C8C138B344}"/>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Rectangle 3">
            <a:extLst>
              <a:ext uri="{FF2B5EF4-FFF2-40B4-BE49-F238E27FC236}">
                <a16:creationId xmlns:a16="http://schemas.microsoft.com/office/drawing/2014/main" id="{E8EB30B7-31CD-449E-84AE-6B002AB664B7}"/>
              </a:ext>
            </a:extLst>
          </p:cNvPr>
          <p:cNvSpPr/>
          <p:nvPr/>
        </p:nvSpPr>
        <p:spPr>
          <a:xfrm>
            <a:off x="387065" y="3052486"/>
            <a:ext cx="11440963" cy="190821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due to Department for International Trade delays with updating Tariff data, the country codes JE and GG (Jersey and Guernsey) are not currently recognised by CDS.  Until this is fixed, CDS users will not be able to submit import declarations from UK SFTs (Jersey or Guernsey) and </a:t>
            </a:r>
            <a:r>
              <a:rPr lang="en-GB" sz="1200" b="1" i="0" u="none" strike="noStrike" kern="1200" cap="none" spc="0" baseline="0">
                <a:solidFill>
                  <a:srgbClr val="000000"/>
                </a:solidFill>
                <a:uFillTx/>
                <a:latin typeface="Calibri"/>
              </a:rPr>
              <a:t>the following scenario GB imports from UK Special Fiscal Territories (Jersey/Guernsey) cannot be successfully run in Trade Test: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Tariff Volume 3 guidance, GB declarants submitting an import declaration from UK SFTs should declare the declaration type ‘CO’ in D.E. 1/1 and either the ‘GG’ country code for Guernsey or ‘JE’ country code for Jersey. Where applicable, declarants should also declare the SFT Additional Procedure Code ‘F15’ in D.E. 1/11.</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declarants may only declare preference code (dutyRegimeCode) 100 on declarations for GB imports for Guernsey and Jersey as customs duty is not applicable.</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validate the declaration against the UK tariff.  CDS will then calculate any liable VAT and Excise duties on the import, send a DMSTAX notification and collect duties against the declared method of payment.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‘CO’ can be used with all additional declaration types (Dec Type A/B/C/D/E/F/Y/Z) and ‘F15’ can be used for all additional declaration types except Type B or E.</a:t>
            </a:r>
          </a:p>
        </p:txBody>
      </p:sp>
      <p:sp>
        <p:nvSpPr>
          <p:cNvPr id="25" name="Rectangle 9">
            <a:extLst>
              <a:ext uri="{FF2B5EF4-FFF2-40B4-BE49-F238E27FC236}">
                <a16:creationId xmlns:a16="http://schemas.microsoft.com/office/drawing/2014/main" id="{C91A2239-1823-4A51-A0F0-7231985C2E2E}"/>
              </a:ext>
            </a:extLst>
          </p:cNvPr>
          <p:cNvSpPr/>
          <p:nvPr/>
        </p:nvSpPr>
        <p:spPr>
          <a:xfrm>
            <a:off x="325937" y="5115327"/>
            <a:ext cx="11583783" cy="743132"/>
          </a:xfrm>
          <a:prstGeom prst="rect">
            <a:avLst/>
          </a:prstGeom>
          <a:solidFill>
            <a:srgbClr val="FBE5D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600" b="0" i="0" u="none" strike="noStrike" kern="1200" cap="none" spc="0" baseline="0">
              <a:solidFill>
                <a:srgbClr val="FFFFFF"/>
              </a:solidFill>
              <a:uFillTx/>
              <a:latin typeface="Calibri"/>
            </a:endParaRPr>
          </a:p>
        </p:txBody>
      </p:sp>
      <p:sp>
        <p:nvSpPr>
          <p:cNvPr id="26" name="Rectangle 28">
            <a:extLst>
              <a:ext uri="{FF2B5EF4-FFF2-40B4-BE49-F238E27FC236}">
                <a16:creationId xmlns:a16="http://schemas.microsoft.com/office/drawing/2014/main" id="{E06060C5-4432-4631-8820-8FA7E6A755B8}"/>
              </a:ext>
            </a:extLst>
          </p:cNvPr>
          <p:cNvSpPr/>
          <p:nvPr/>
        </p:nvSpPr>
        <p:spPr>
          <a:xfrm rot="16200004">
            <a:off x="141934" y="5299350"/>
            <a:ext cx="743123" cy="375096"/>
          </a:xfrm>
          <a:prstGeom prst="rect">
            <a:avLst/>
          </a:prstGeom>
          <a:solidFill>
            <a:srgbClr val="ED7D31"/>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FFFFFF"/>
                </a:solidFill>
                <a:uFillTx/>
                <a:latin typeface="Calibri"/>
              </a:rPr>
              <a:t>XML SAMPLES</a:t>
            </a:r>
          </a:p>
        </p:txBody>
      </p:sp>
      <p:sp>
        <p:nvSpPr>
          <p:cNvPr id="27" name="Rectangle 29">
            <a:extLst>
              <a:ext uri="{FF2B5EF4-FFF2-40B4-BE49-F238E27FC236}">
                <a16:creationId xmlns:a16="http://schemas.microsoft.com/office/drawing/2014/main" id="{D2FA8C6D-9FA3-458F-AF99-52EBFB2FA957}"/>
              </a:ext>
            </a:extLst>
          </p:cNvPr>
          <p:cNvSpPr/>
          <p:nvPr/>
        </p:nvSpPr>
        <p:spPr>
          <a:xfrm>
            <a:off x="788523" y="5115327"/>
            <a:ext cx="10794894" cy="500140"/>
          </a:xfrm>
          <a:prstGeom prst="rect">
            <a:avLst/>
          </a:prstGeom>
          <a:noFill/>
          <a:ln cap="flat">
            <a:noFill/>
            <a:prstDash val="solid"/>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300"/>
              </a:spcAft>
              <a:buSzPct val="100000"/>
              <a:buFont typeface="Calibri Light"/>
              <a:buAutoNum type="arabicPeriod"/>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TT_IM56a </a:t>
            </a:r>
            <a:endParaRPr lang="de-DE" sz="1200" b="1" i="0" u="none" strike="noStrike" kern="1200" cap="none" spc="0" baseline="0">
              <a:solidFill>
                <a:srgbClr val="FF0000"/>
              </a:solidFill>
              <a:uFillTx/>
              <a:latin typeface="Calibri" pitchFamily="34"/>
            </a:endParaRPr>
          </a:p>
          <a:p>
            <a:pPr marL="228600" marR="0" lvl="0" indent="-22860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rPr>
              <a:t>Imports Declaration into Mainland UK from an EU Special Fiscal Territory</a:t>
            </a:r>
          </a:p>
        </p:txBody>
      </p:sp>
      <p:sp>
        <p:nvSpPr>
          <p:cNvPr id="28" name="Rectangle 2">
            <a:extLst>
              <a:ext uri="{FF2B5EF4-FFF2-40B4-BE49-F238E27FC236}">
                <a16:creationId xmlns:a16="http://schemas.microsoft.com/office/drawing/2014/main" id="{5488B23B-D95D-47D1-82CC-50D582522C74}"/>
              </a:ext>
            </a:extLst>
          </p:cNvPr>
          <p:cNvSpPr/>
          <p:nvPr/>
        </p:nvSpPr>
        <p:spPr>
          <a:xfrm>
            <a:off x="5797488" y="5129747"/>
            <a:ext cx="6096003" cy="684803"/>
          </a:xfrm>
          <a:prstGeom prst="rect">
            <a:avLst/>
          </a:prstGeom>
          <a:noFill/>
          <a:ln cap="flat">
            <a:noFill/>
            <a:prstDash val="solid"/>
          </a:ln>
        </p:spPr>
        <p:txBody>
          <a:bodyPr vert="horz" wrap="square" lIns="91440" tIns="45720" rIns="91440" bIns="45720" anchor="t" anchorCtr="0" compatLnSpc="1">
            <a:spAutoFit/>
          </a:bodyPr>
          <a:lstStyle/>
          <a:p>
            <a:pPr marL="228600" marR="0" lvl="0" indent="-228600" algn="l" defTabSz="914400" rtl="0" fontAlgn="auto" hangingPunct="1">
              <a:lnSpc>
                <a:spcPct val="100000"/>
              </a:lnSpc>
              <a:spcBef>
                <a:spcPts val="0"/>
              </a:spcBef>
              <a:spcAft>
                <a:spcPts val="300"/>
              </a:spcAft>
              <a:buSzPct val="100000"/>
              <a:buFont typeface="Calibri Light"/>
              <a:buAutoNum type="arabicPeriod" startAt="2"/>
              <a:tabLst>
                <a:tab pos="3678238" algn="l"/>
              </a:tabLst>
              <a:defRPr sz="1800" b="0" i="0" u="none" strike="noStrike" kern="0" cap="none" spc="0" baseline="0">
                <a:solidFill>
                  <a:srgbClr val="000000"/>
                </a:solidFill>
                <a:uFillTx/>
              </a:defRPr>
            </a:pPr>
            <a:r>
              <a:rPr lang="de-DE" sz="1200" b="1" i="0" u="none" strike="noStrike" kern="1200" cap="none" spc="0" baseline="0">
                <a:solidFill>
                  <a:srgbClr val="000000"/>
                </a:solidFill>
                <a:uFillTx/>
                <a:latin typeface="Calibri" pitchFamily="34"/>
              </a:rPr>
              <a:t>TT_IM57a</a:t>
            </a:r>
          </a:p>
          <a:p>
            <a:pPr marL="171450" marR="0" lvl="0" indent="-171450" algn="l" defTabSz="914400" rtl="0" fontAlgn="auto" hangingPunct="1">
              <a:lnSpc>
                <a:spcPct val="100000"/>
              </a:lnSpc>
              <a:spcBef>
                <a:spcPts val="0"/>
              </a:spcBef>
              <a:spcAft>
                <a:spcPts val="30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Imports Declaration into Mainland UK from territories with which the EU has a Customs Union </a:t>
            </a:r>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name="Slide83884035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64493D98-21D7-4FC0-89DF-402F7A63EB64}"/>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C13546E-7209-425C-A62D-3A20FA4425AA}"/>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B521780-6BC0-49ED-869F-37179DBEC791}"/>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5FBCA8C2-4252-4410-9DEB-BF36DC338F97}"/>
              </a:ext>
            </a:extLst>
          </p:cNvPr>
          <p:cNvSpPr txBox="1"/>
          <p:nvPr/>
        </p:nvSpPr>
        <p:spPr>
          <a:xfrm>
            <a:off x="11718255"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C55933E9-304B-4ED4-9675-C90AF57E0063}" type="slidenum">
              <a:rPr sz="1200"/>
              <a:t>423</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8E80535E-0935-4CFA-B1AF-D1B15037868C}"/>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31">
            <a:extLst>
              <a:ext uri="{FF2B5EF4-FFF2-40B4-BE49-F238E27FC236}">
                <a16:creationId xmlns:a16="http://schemas.microsoft.com/office/drawing/2014/main" id="{D4332F8A-6FE4-487B-8592-B0FA400945F3}"/>
              </a:ext>
            </a:extLst>
          </p:cNvPr>
          <p:cNvSpPr/>
          <p:nvPr/>
        </p:nvSpPr>
        <p:spPr>
          <a:xfrm>
            <a:off x="363967" y="991639"/>
            <a:ext cx="358707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CDS Returning UCR in all UK CTRL Reponses</a:t>
            </a:r>
          </a:p>
        </p:txBody>
      </p:sp>
      <p:sp>
        <p:nvSpPr>
          <p:cNvPr id="9" name="Oval 43">
            <a:hlinkClick r:id="rId3" action="ppaction://hlinksldjump"/>
            <a:extLst>
              <a:ext uri="{FF2B5EF4-FFF2-40B4-BE49-F238E27FC236}">
                <a16:creationId xmlns:a16="http://schemas.microsoft.com/office/drawing/2014/main" id="{E596F45E-52A7-40D1-963A-0C443F7735B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44">
            <a:hlinkClick r:id="rId3" action="ppaction://hlinksldjump"/>
            <a:extLst>
              <a:ext uri="{FF2B5EF4-FFF2-40B4-BE49-F238E27FC236}">
                <a16:creationId xmlns:a16="http://schemas.microsoft.com/office/drawing/2014/main" id="{7A2AAC85-A932-43EC-AEF2-35276C390F1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5">
            <a:hlinkClick r:id="rId4" action="ppaction://hlinksldjump"/>
            <a:extLst>
              <a:ext uri="{FF2B5EF4-FFF2-40B4-BE49-F238E27FC236}">
                <a16:creationId xmlns:a16="http://schemas.microsoft.com/office/drawing/2014/main" id="{53302E8C-2360-4A83-9DC7-8EF88B164047}"/>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6">
            <a:hlinkClick r:id="rId5" action="ppaction://hlinksldjump"/>
            <a:extLst>
              <a:ext uri="{FF2B5EF4-FFF2-40B4-BE49-F238E27FC236}">
                <a16:creationId xmlns:a16="http://schemas.microsoft.com/office/drawing/2014/main" id="{22D4E9AB-8FE2-49DA-9707-F4B2DC3FC6AB}"/>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48">
            <a:hlinkClick r:id="rId3" action="ppaction://hlinksldjump"/>
            <a:extLst>
              <a:ext uri="{FF2B5EF4-FFF2-40B4-BE49-F238E27FC236}">
                <a16:creationId xmlns:a16="http://schemas.microsoft.com/office/drawing/2014/main" id="{2A042EF6-27F6-4665-A5B2-4D2F49795316}"/>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49">
            <a:hlinkClick r:id="rId3" action="ppaction://hlinksldjump"/>
            <a:extLst>
              <a:ext uri="{FF2B5EF4-FFF2-40B4-BE49-F238E27FC236}">
                <a16:creationId xmlns:a16="http://schemas.microsoft.com/office/drawing/2014/main" id="{98011536-E34B-4DF2-8656-0146C0E27D89}"/>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51">
            <a:hlinkClick r:id="rId4" action="ppaction://hlinksldjump"/>
            <a:extLst>
              <a:ext uri="{FF2B5EF4-FFF2-40B4-BE49-F238E27FC236}">
                <a16:creationId xmlns:a16="http://schemas.microsoft.com/office/drawing/2014/main" id="{86868BD1-022D-42BA-8775-938D26EF4286}"/>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6" name="TextBox 52">
            <a:hlinkClick r:id="rId4" action="ppaction://hlinksldjump"/>
            <a:extLst>
              <a:ext uri="{FF2B5EF4-FFF2-40B4-BE49-F238E27FC236}">
                <a16:creationId xmlns:a16="http://schemas.microsoft.com/office/drawing/2014/main" id="{D7C9EA7E-9635-4A2A-94CB-11A906DECC5F}"/>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53">
            <a:extLst>
              <a:ext uri="{FF2B5EF4-FFF2-40B4-BE49-F238E27FC236}">
                <a16:creationId xmlns:a16="http://schemas.microsoft.com/office/drawing/2014/main" id="{D14B1115-B163-4887-9916-4CF07E70BC78}"/>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54">
            <a:hlinkClick r:id="rId6" action="ppaction://hlinksldjump"/>
            <a:extLst>
              <a:ext uri="{FF2B5EF4-FFF2-40B4-BE49-F238E27FC236}">
                <a16:creationId xmlns:a16="http://schemas.microsoft.com/office/drawing/2014/main" id="{EE8271E5-3E52-46BE-BB4C-00AE8DC1B9EE}"/>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40">
            <a:hlinkClick r:id="rId3" action="ppaction://hlinksldjump"/>
            <a:extLst>
              <a:ext uri="{FF2B5EF4-FFF2-40B4-BE49-F238E27FC236}">
                <a16:creationId xmlns:a16="http://schemas.microsoft.com/office/drawing/2014/main" id="{8A3DDFB6-CE02-4832-AC9D-0B85DC09CC7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56">
            <a:hlinkClick r:id="rId3" action="ppaction://hlinksldjump"/>
            <a:extLst>
              <a:ext uri="{FF2B5EF4-FFF2-40B4-BE49-F238E27FC236}">
                <a16:creationId xmlns:a16="http://schemas.microsoft.com/office/drawing/2014/main" id="{2F79DDCD-66D0-4A0E-B8CA-ACA94F5A28D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23">
            <a:extLst>
              <a:ext uri="{FF2B5EF4-FFF2-40B4-BE49-F238E27FC236}">
                <a16:creationId xmlns:a16="http://schemas.microsoft.com/office/drawing/2014/main" id="{9B590018-8045-4268-9838-F3B087EEA812}"/>
              </a:ext>
            </a:extLst>
          </p:cNvPr>
          <p:cNvSpPr txBox="1"/>
          <p:nvPr/>
        </p:nvSpPr>
        <p:spPr>
          <a:xfrm>
            <a:off x="369097" y="1324517"/>
            <a:ext cx="11453810" cy="197746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During testing, CDS external stakeholders previously flagged that CDS did not return an UCR for all UK CTRL responses, which meant it was not always possible to link the UK CTRL with the respective EAC, CST or EDL and thereby determine which UCRs have been successfully associated, shut or departed. In order to match CHIEF functionality and resolve this issue, from TTM14.0, CDS will ensure that the relevant UCR is returned in all UK CTRL responses.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1200" b="1" i="0" u="none" strike="noStrike" kern="1200" cap="none" spc="0" baseline="0">
                <a:solidFill>
                  <a:srgbClr val="000000"/>
                </a:solidFill>
                <a:uFillTx/>
                <a:latin typeface="Calibri"/>
              </a:rPr>
              <a:t>As a result, the following scenarios will be supported on CDS:</a:t>
            </a:r>
            <a:endParaRPr lang="en-GB" sz="1200" b="0" i="0" u="none" strike="noStrike" kern="1200" cap="none" spc="0" baseline="0">
              <a:solidFill>
                <a:srgbClr val="000000"/>
              </a:solidFill>
              <a:uFillTx/>
              <a:latin typeface="Calibri"/>
            </a:endParaRP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rPr>
              <a:t>CDS will always provide the linked UCR on all UK CTRL responses</a:t>
            </a:r>
            <a:endParaRPr lang="en-GB" sz="1200" b="0" i="0" u="none" strike="noStrike" kern="1200" cap="none" spc="0" baseline="0">
              <a:solidFill>
                <a:srgbClr val="000000"/>
              </a:solidFill>
              <a:uFillTx/>
              <a:latin typeface="Calibri"/>
            </a:endParaRP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rPr>
              <a:t>Where an UCR is provided and the DUCR originates from CHIEF, then the Part ID value will also be returned to the CSP/GVMS user, where possible. </a:t>
            </a:r>
            <a:endParaRPr lang="en-GB" sz="1200" b="0" i="0" u="none" strike="noStrike" kern="1200" cap="none" spc="0" baseline="0">
              <a:solidFill>
                <a:srgbClr val="000000"/>
              </a:solidFill>
              <a:uFillTx/>
              <a:latin typeface="Calibri"/>
            </a:endParaRP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rPr>
              <a:t>Where an UCR is provided and the UCR is a MUCR, and/or originated on CDS, then the Part ID value will not be provided</a:t>
            </a: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1200" b="0" i="0" u="none" strike="noStrike" kern="1200" cap="none" spc="0" baseline="0">
                <a:solidFill>
                  <a:srgbClr val="000000"/>
                </a:solidFill>
                <a:uFillTx/>
                <a:latin typeface="Calibri"/>
              </a:rPr>
              <a:t> </a:t>
            </a:r>
            <a:endParaRPr lang="en-GB" sz="1200" b="1" i="0" u="sng"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22" name="Rectangle 25">
            <a:extLst>
              <a:ext uri="{FF2B5EF4-FFF2-40B4-BE49-F238E27FC236}">
                <a16:creationId xmlns:a16="http://schemas.microsoft.com/office/drawing/2014/main" id="{A66FEBC1-D237-4002-AD87-4978E643E8BA}"/>
              </a:ext>
            </a:extLst>
          </p:cNvPr>
          <p:cNvSpPr/>
          <p:nvPr/>
        </p:nvSpPr>
        <p:spPr>
          <a:xfrm>
            <a:off x="325937" y="2955825"/>
            <a:ext cx="3548219"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New CDS Goods Location Code in D.E. 5/23</a:t>
            </a:r>
          </a:p>
        </p:txBody>
      </p:sp>
      <p:sp>
        <p:nvSpPr>
          <p:cNvPr id="23" name="TextBox 27">
            <a:extLst>
              <a:ext uri="{FF2B5EF4-FFF2-40B4-BE49-F238E27FC236}">
                <a16:creationId xmlns:a16="http://schemas.microsoft.com/office/drawing/2014/main" id="{A29971B1-0297-41BA-9775-1A33AACFA44B}"/>
              </a:ext>
            </a:extLst>
          </p:cNvPr>
          <p:cNvSpPr txBox="1"/>
          <p:nvPr/>
        </p:nvSpPr>
        <p:spPr>
          <a:xfrm>
            <a:off x="331067" y="3288703"/>
            <a:ext cx="11453810" cy="72327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Following an urgent external request, CDS has introduced the following Goods Location Codes which may now be declared in D.E. 5/23:</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Goods location Code ‘GBAULUTLTNDHS’ represents the location ‘DHL Aviation UK Limited, President Way, Luton Airport, Bedfordshire LU2 9NL’.</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Goods location Code ‘GBAUDYLBFSAGE’ represents the location ‘A1 Global Logistics ETSF, 19 Killynick Road, Aghalene, Derrylin, Enniskillen, Co. Fermanagh BT92 9HJ’.</a:t>
            </a:r>
          </a:p>
        </p:txBody>
      </p:sp>
      <p:sp>
        <p:nvSpPr>
          <p:cNvPr id="24" name="Rectangle 4">
            <a:extLst>
              <a:ext uri="{FF2B5EF4-FFF2-40B4-BE49-F238E27FC236}">
                <a16:creationId xmlns:a16="http://schemas.microsoft.com/office/drawing/2014/main" id="{208222D2-A0BF-4027-AEAE-4C5EC413BF1D}"/>
              </a:ext>
            </a:extLst>
          </p:cNvPr>
          <p:cNvSpPr/>
          <p:nvPr/>
        </p:nvSpPr>
        <p:spPr>
          <a:xfrm>
            <a:off x="363967" y="6546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Core Customs Processing</a:t>
            </a:r>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name="Slide838840355">
    <p:spTree>
      <p:nvGrpSpPr>
        <p:cNvPr id="1" name=""/>
        <p:cNvGrpSpPr/>
        <p:nvPr/>
      </p:nvGrpSpPr>
      <p:grpSpPr>
        <a:xfrm>
          <a:off x="0" y="0"/>
          <a:ext cx="0" cy="0"/>
          <a:chOff x="0" y="0"/>
          <a:chExt cx="0" cy="0"/>
        </a:xfrm>
      </p:grpSpPr>
      <p:sp>
        <p:nvSpPr>
          <p:cNvPr id="3" name="Rectangle 10">
            <a:extLst>
              <a:ext uri="{FF2B5EF4-FFF2-40B4-BE49-F238E27FC236}">
                <a16:creationId xmlns:a16="http://schemas.microsoft.com/office/drawing/2014/main" id="{8A8EED5C-43C2-4521-AE45-24A84749114D}"/>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DF48F191-3866-47A6-8D56-C4E43065FA32}"/>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EC6DD9FC-FEA6-4C1D-9B56-AB9C18CB6596}"/>
              </a:ext>
            </a:extLst>
          </p:cNvPr>
          <p:cNvGraphicFramePr>
            <a:graphicFrameLocks noGrp="1"/>
          </p:cNvGraphicFramePr>
          <p:nvPr/>
        </p:nvGraphicFramePr>
        <p:xfrm>
          <a:off x="475268" y="158108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558866442"/>
                    </a:ext>
                  </a:extLst>
                </a:gridCol>
              </a:tblGrid>
              <a:tr h="220434">
                <a:tc>
                  <a:txBody>
                    <a:bodyPr/>
                    <a:lstStyle/>
                    <a:p>
                      <a:pPr lvl="0" algn="ctr"/>
                      <a:r>
                        <a:rPr lang="en-GB" sz="1200"/>
                        <a:t>TTM12.3 (CDS 3.1.1)</a:t>
                      </a:r>
                    </a:p>
                  </a:txBody>
                  <a:tcPr>
                    <a:solidFill>
                      <a:srgbClr val="A6A6A6"/>
                    </a:solidFill>
                  </a:tcPr>
                </a:tc>
                <a:extLst>
                  <a:ext uri="{0D108BD9-81ED-4DB2-BD59-A6C34878D82A}">
                    <a16:rowId xmlns:a16="http://schemas.microsoft.com/office/drawing/2014/main" val="3733476848"/>
                  </a:ext>
                </a:extLst>
              </a:tr>
              <a:tr h="261975">
                <a:tc>
                  <a:txBody>
                    <a:bodyPr/>
                    <a:lstStyle/>
                    <a:p>
                      <a:pPr lvl="0" algn="ctr"/>
                      <a:r>
                        <a:rPr lang="en-GB" sz="1200" b="1" dirty="0">
                          <a:solidFill>
                            <a:srgbClr val="000000"/>
                          </a:solidFill>
                        </a:rPr>
                        <a:t>TT: </a:t>
                      </a:r>
                      <a:r>
                        <a:rPr lang="en-GB" sz="1200" b="0" dirty="0">
                          <a:solidFill>
                            <a:srgbClr val="000000"/>
                          </a:solidFill>
                        </a:rPr>
                        <a:t>27/01/2020   </a:t>
                      </a:r>
                      <a:r>
                        <a:rPr lang="en-GB" sz="1200" b="1" dirty="0">
                          <a:solidFill>
                            <a:srgbClr val="000000"/>
                          </a:solidFill>
                        </a:rPr>
                        <a:t>TDR: </a:t>
                      </a:r>
                      <a:r>
                        <a:rPr lang="en-GB" sz="1200" b="0" dirty="0">
                          <a:solidFill>
                            <a:srgbClr val="000000"/>
                          </a:solidFill>
                        </a:rPr>
                        <a:t>TBC   </a:t>
                      </a:r>
                      <a:r>
                        <a:rPr lang="en-GB" sz="1200" b="1" dirty="0">
                          <a:solidFill>
                            <a:srgbClr val="000000"/>
                          </a:solidFill>
                        </a:rPr>
                        <a:t>Live: </a:t>
                      </a:r>
                      <a:r>
                        <a:rPr lang="en-GB" sz="1200" b="0" dirty="0">
                          <a:solidFill>
                            <a:srgbClr val="000000"/>
                          </a:solidFill>
                        </a:rPr>
                        <a:t>30/01/2021</a:t>
                      </a:r>
                    </a:p>
                  </a:txBody>
                  <a:tcPr>
                    <a:solidFill>
                      <a:srgbClr val="E7E6E6"/>
                    </a:solidFill>
                  </a:tcPr>
                </a:tc>
                <a:extLst>
                  <a:ext uri="{0D108BD9-81ED-4DB2-BD59-A6C34878D82A}">
                    <a16:rowId xmlns:a16="http://schemas.microsoft.com/office/drawing/2014/main" val="1588863525"/>
                  </a:ext>
                </a:extLst>
              </a:tr>
            </a:tbl>
          </a:graphicData>
        </a:graphic>
      </p:graphicFrame>
      <p:cxnSp>
        <p:nvCxnSpPr>
          <p:cNvPr id="6" name="Straight Connector 11">
            <a:extLst>
              <a:ext uri="{FF2B5EF4-FFF2-40B4-BE49-F238E27FC236}">
                <a16:creationId xmlns:a16="http://schemas.microsoft.com/office/drawing/2014/main" id="{ED74D150-9312-48CB-8EBB-3E3732485EF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9A69F8D1-8596-4D76-A3F1-033BCAFAE1E5}"/>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 name="Rectangle 103">
            <a:extLst>
              <a:ext uri="{FF2B5EF4-FFF2-40B4-BE49-F238E27FC236}">
                <a16:creationId xmlns:a16="http://schemas.microsoft.com/office/drawing/2014/main" id="{A356180B-F372-4060-8B12-B70BB622FFC0}"/>
              </a:ext>
            </a:extLst>
          </p:cNvPr>
          <p:cNvSpPr/>
          <p:nvPr/>
        </p:nvSpPr>
        <p:spPr>
          <a:xfrm>
            <a:off x="430700" y="1533896"/>
            <a:ext cx="11330604" cy="2677600"/>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A7705F6F-5EC6-4EA9-A44A-1CF9C277F0AC}"/>
              </a:ext>
            </a:extLst>
          </p:cNvPr>
          <p:cNvGrpSpPr/>
          <p:nvPr/>
        </p:nvGrpSpPr>
        <p:grpSpPr>
          <a:xfrm>
            <a:off x="898242" y="1146584"/>
            <a:ext cx="2801739" cy="276999"/>
            <a:chOff x="898242" y="1146584"/>
            <a:chExt cx="2801739" cy="276999"/>
          </a:xfrm>
        </p:grpSpPr>
        <p:sp>
          <p:nvSpPr>
            <p:cNvPr id="10" name="TextBox 7">
              <a:extLst>
                <a:ext uri="{FF2B5EF4-FFF2-40B4-BE49-F238E27FC236}">
                  <a16:creationId xmlns:a16="http://schemas.microsoft.com/office/drawing/2014/main" id="{939CD716-013D-4513-95C6-2E8B95F2F4CA}"/>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0F91E33D-7864-44FB-9D32-A404C5BDC422}"/>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CA4DB602-5BF3-4E46-A759-340986BFE40E}"/>
              </a:ext>
            </a:extLst>
          </p:cNvPr>
          <p:cNvGraphicFramePr>
            <a:graphicFrameLocks noGrp="1"/>
          </p:cNvGraphicFramePr>
          <p:nvPr/>
        </p:nvGraphicFramePr>
        <p:xfrm>
          <a:off x="475268" y="2150303"/>
          <a:ext cx="11188652" cy="822960"/>
        </p:xfrm>
        <a:graphic>
          <a:graphicData uri="http://schemas.openxmlformats.org/drawingml/2006/table">
            <a:tbl>
              <a:tblPr firstRow="1" bandRow="1">
                <a:effectLst/>
                <a:tableStyleId>{5C22544A-7EE6-4342-B048-85BDC9FD1C3A}</a:tableStyleId>
              </a:tblPr>
              <a:tblGrid>
                <a:gridCol w="811886">
                  <a:extLst>
                    <a:ext uri="{9D8B030D-6E8A-4147-A177-3AD203B41FA5}">
                      <a16:colId xmlns:a16="http://schemas.microsoft.com/office/drawing/2014/main" val="2865702309"/>
                    </a:ext>
                  </a:extLst>
                </a:gridCol>
                <a:gridCol w="2389446">
                  <a:extLst>
                    <a:ext uri="{9D8B030D-6E8A-4147-A177-3AD203B41FA5}">
                      <a16:colId xmlns:a16="http://schemas.microsoft.com/office/drawing/2014/main" val="2980195153"/>
                    </a:ext>
                  </a:extLst>
                </a:gridCol>
                <a:gridCol w="2662440">
                  <a:extLst>
                    <a:ext uri="{9D8B030D-6E8A-4147-A177-3AD203B41FA5}">
                      <a16:colId xmlns:a16="http://schemas.microsoft.com/office/drawing/2014/main" val="367016920"/>
                    </a:ext>
                  </a:extLst>
                </a:gridCol>
                <a:gridCol w="2662440">
                  <a:extLst>
                    <a:ext uri="{9D8B030D-6E8A-4147-A177-3AD203B41FA5}">
                      <a16:colId xmlns:a16="http://schemas.microsoft.com/office/drawing/2014/main" val="2141870839"/>
                    </a:ext>
                  </a:extLst>
                </a:gridCol>
                <a:gridCol w="2662440">
                  <a:extLst>
                    <a:ext uri="{9D8B030D-6E8A-4147-A177-3AD203B41FA5}">
                      <a16:colId xmlns:a16="http://schemas.microsoft.com/office/drawing/2014/main" val="2865417681"/>
                    </a:ext>
                  </a:extLst>
                </a:gridCol>
              </a:tblGrid>
              <a:tr h="0">
                <a:tc>
                  <a:txBody>
                    <a:bodyPr/>
                    <a:lstStyle/>
                    <a:p>
                      <a:pPr lvl="0"/>
                      <a:r>
                        <a:rPr lang="en-GB" sz="1100"/>
                        <a:t>CCP </a:t>
                      </a:r>
                    </a:p>
                    <a:p>
                      <a:pPr lvl="0"/>
                      <a:endParaRPr lang="en-GB" sz="1100"/>
                    </a:p>
                    <a:p>
                      <a:pPr lvl="0"/>
                      <a:endParaRPr lang="en-GB" sz="1100"/>
                    </a:p>
                  </a:txBody>
                  <a:tcPr>
                    <a:lnR w="12701" cap="flat" cmpd="sng" algn="ctr">
                      <a:solidFill>
                        <a:srgbClr val="FFFFFF"/>
                      </a:solidFill>
                      <a:prstDash val="solid"/>
                      <a:round/>
                      <a:headEnd type="none" w="med" len="med"/>
                      <a:tailEnd type="none" w="med" len="med"/>
                    </a:lnR>
                    <a:solidFill>
                      <a:srgbClr val="FFC000"/>
                    </a:solidFill>
                  </a:tcPr>
                </a:tc>
                <a:tc>
                  <a:txBody>
                    <a:bodyPr/>
                    <a:lstStyle/>
                    <a:p>
                      <a:pPr marL="171450" marR="0" lvl="0" indent="-171450" algn="l" rtl="0" fontAlgn="auto" hangingPunct="1">
                        <a:lnSpc>
                          <a:spcPct val="100000"/>
                        </a:lnSpc>
                        <a:spcBef>
                          <a:spcPts val="0"/>
                        </a:spcBef>
                        <a:spcAft>
                          <a:spcPts val="0"/>
                        </a:spcAft>
                        <a:buSzPct val="100000"/>
                        <a:buFont typeface="Arial" pitchFamily="34"/>
                        <a:buChar char="•"/>
                      </a:pPr>
                      <a:r>
                        <a:rPr lang="en-GB" sz="1200" b="0" i="0" u="none" strike="noStrike" kern="1200">
                          <a:solidFill>
                            <a:srgbClr val="000000"/>
                          </a:solidFill>
                        </a:rPr>
                        <a:t>CDS Returning the Correct ROE/SOE in EMRs (Inventory Linking Exports)</a:t>
                      </a:r>
                      <a:endParaRPr lang="en-GB" sz="1200" b="0" i="0" kern="1200">
                        <a:solidFill>
                          <a:srgbClr val="00000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u="none">
                          <a:solidFill>
                            <a:srgbClr val="000000"/>
                          </a:solidFill>
                          <a:hlinkClick r:id="rId3" action="ppaction://hlinksldjump"/>
                        </a:rPr>
                        <a:t>GVMS Exports Declaration Submission</a:t>
                      </a:r>
                      <a:r>
                        <a:rPr lang="en-GB" sz="1200" b="0" u="none">
                          <a:solidFill>
                            <a:srgbClr val="000000"/>
                          </a:solidFill>
                        </a:rPr>
                        <a:t> </a:t>
                      </a:r>
                      <a:r>
                        <a:rPr lang="en-GB" sz="1200" b="0" i="1" u="none">
                          <a:solidFill>
                            <a:srgbClr val="000000"/>
                          </a:solidFill>
                        </a:rPr>
                        <a:t>(Previously released in External Test)</a:t>
                      </a:r>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lvl="0" indent="-285750">
                        <a:buSzPct val="100000"/>
                        <a:buFont typeface="Arial" pitchFamily="34"/>
                        <a:buChar char="•"/>
                      </a:pPr>
                      <a:r>
                        <a:rPr lang="en-GB" sz="1200" b="0" i="0" u="none" strike="noStrike" kern="1200" cap="none" spc="0" baseline="0">
                          <a:solidFill>
                            <a:srgbClr val="000000"/>
                          </a:solidFill>
                          <a:uFillTx/>
                          <a:latin typeface="Calibri"/>
                          <a:hlinkClick r:id="rId4" action="ppaction://hlinksldjump"/>
                        </a:rPr>
                        <a:t>Freight Location Codes</a:t>
                      </a:r>
                      <a:endParaRPr lang="en-GB" sz="1200" b="0"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endParaRPr lang="en-GB" sz="1200" b="0" i="0" u="none" strike="noStrike" kern="1200" cap="none" spc="0" baseline="0" dirty="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2094884225"/>
                  </a:ext>
                </a:extLst>
              </a:tr>
            </a:tbl>
          </a:graphicData>
        </a:graphic>
      </p:graphicFrame>
      <p:grpSp>
        <p:nvGrpSpPr>
          <p:cNvPr id="13" name="Group 4">
            <a:extLst>
              <a:ext uri="{FF2B5EF4-FFF2-40B4-BE49-F238E27FC236}">
                <a16:creationId xmlns:a16="http://schemas.microsoft.com/office/drawing/2014/main" id="{7988D3D2-AACB-4A34-A45E-2E5AE29B7CF6}"/>
              </a:ext>
            </a:extLst>
          </p:cNvPr>
          <p:cNvGrpSpPr/>
          <p:nvPr/>
        </p:nvGrpSpPr>
        <p:grpSpPr>
          <a:xfrm>
            <a:off x="2663583" y="1154850"/>
            <a:ext cx="3199302" cy="276999"/>
            <a:chOff x="2663583" y="1154850"/>
            <a:chExt cx="3199302" cy="276999"/>
          </a:xfrm>
        </p:grpSpPr>
        <p:sp>
          <p:nvSpPr>
            <p:cNvPr id="14" name="TextBox 7">
              <a:extLst>
                <a:ext uri="{FF2B5EF4-FFF2-40B4-BE49-F238E27FC236}">
                  <a16:creationId xmlns:a16="http://schemas.microsoft.com/office/drawing/2014/main" id="{EE5D0847-D1FF-4A12-B742-C6625EABF44E}"/>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9FC6E267-E50B-4E4D-BD14-4600794254CA}"/>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7CBEA254-FA78-4519-818D-9BD2F1F3E753}"/>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7" name="TextBox 13">
            <a:extLst>
              <a:ext uri="{FF2B5EF4-FFF2-40B4-BE49-F238E27FC236}">
                <a16:creationId xmlns:a16="http://schemas.microsoft.com/office/drawing/2014/main" id="{8DE1D5D3-7C5D-4025-97C5-AA8874152DEC}"/>
              </a:ext>
            </a:extLst>
          </p:cNvPr>
          <p:cNvSpPr txBox="1"/>
          <p:nvPr/>
        </p:nvSpPr>
        <p:spPr>
          <a:xfrm>
            <a:off x="430700" y="1875068"/>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8" name="Group 7">
            <a:extLst>
              <a:ext uri="{FF2B5EF4-FFF2-40B4-BE49-F238E27FC236}">
                <a16:creationId xmlns:a16="http://schemas.microsoft.com/office/drawing/2014/main" id="{6403F37B-3AD5-4E00-B390-D781B3A84100}"/>
              </a:ext>
            </a:extLst>
          </p:cNvPr>
          <p:cNvGrpSpPr/>
          <p:nvPr/>
        </p:nvGrpSpPr>
        <p:grpSpPr>
          <a:xfrm>
            <a:off x="5888461" y="1154320"/>
            <a:ext cx="4848834" cy="276999"/>
            <a:chOff x="5888461" y="1154320"/>
            <a:chExt cx="4848834" cy="276999"/>
          </a:xfrm>
        </p:grpSpPr>
        <p:sp>
          <p:nvSpPr>
            <p:cNvPr id="19" name="TextBox 7">
              <a:extLst>
                <a:ext uri="{FF2B5EF4-FFF2-40B4-BE49-F238E27FC236}">
                  <a16:creationId xmlns:a16="http://schemas.microsoft.com/office/drawing/2014/main" id="{0E009731-C58F-4CEC-9FB9-65F1B7EBCBE6}"/>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20" name="Oval 16">
              <a:extLst>
                <a:ext uri="{FF2B5EF4-FFF2-40B4-BE49-F238E27FC236}">
                  <a16:creationId xmlns:a16="http://schemas.microsoft.com/office/drawing/2014/main" id="{38BBFB56-2C68-4F37-A90E-8C22D8683337}"/>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AFBFC566-A99C-442A-873D-5D45C1818E60}"/>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94DAD9B-D46D-46A6-9231-D1DFA7BDA3AC}" type="slidenum">
              <a:rPr sz="1200"/>
              <a:t>424</a:t>
            </a:fld>
            <a:endParaRPr lang="en-GB" sz="1200" b="0" i="0" u="none" strike="noStrike" kern="1200" cap="none" spc="0" baseline="0">
              <a:solidFill>
                <a:srgbClr val="000000"/>
              </a:solidFill>
              <a:uFillTx/>
              <a:latin typeface="Calibri"/>
            </a:endParaRPr>
          </a:p>
        </p:txBody>
      </p:sp>
      <p:sp>
        <p:nvSpPr>
          <p:cNvPr id="22" name="Footer Placeholder 1">
            <a:extLst>
              <a:ext uri="{FF2B5EF4-FFF2-40B4-BE49-F238E27FC236}">
                <a16:creationId xmlns:a16="http://schemas.microsoft.com/office/drawing/2014/main" id="{0AD13323-0DFF-4D25-ACF7-63473914FEA6}"/>
              </a:ext>
            </a:extLst>
          </p:cNvPr>
          <p:cNvSpPr txBox="1"/>
          <p:nvPr/>
        </p:nvSpPr>
        <p:spPr>
          <a:xfrm>
            <a:off x="2875175" y="65021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23" name="Oval 87">
            <a:hlinkClick r:id="rId5" action="ppaction://hlinksldjump"/>
            <a:extLst>
              <a:ext uri="{FF2B5EF4-FFF2-40B4-BE49-F238E27FC236}">
                <a16:creationId xmlns:a16="http://schemas.microsoft.com/office/drawing/2014/main" id="{6DA07DE7-6CA2-460C-9AD8-4337CE3D980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88">
            <a:hlinkClick r:id="rId5" action="ppaction://hlinksldjump"/>
            <a:extLst>
              <a:ext uri="{FF2B5EF4-FFF2-40B4-BE49-F238E27FC236}">
                <a16:creationId xmlns:a16="http://schemas.microsoft.com/office/drawing/2014/main" id="{6B32849A-F32E-4708-8190-0C09E7A3358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89">
            <a:hlinkClick r:id="rId6" action="ppaction://hlinksldjump"/>
            <a:extLst>
              <a:ext uri="{FF2B5EF4-FFF2-40B4-BE49-F238E27FC236}">
                <a16:creationId xmlns:a16="http://schemas.microsoft.com/office/drawing/2014/main" id="{412D02C7-6211-40D5-ADC8-6AB6ED265C61}"/>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90">
            <a:hlinkClick r:id="rId7" action="ppaction://hlinksldjump"/>
            <a:extLst>
              <a:ext uri="{FF2B5EF4-FFF2-40B4-BE49-F238E27FC236}">
                <a16:creationId xmlns:a16="http://schemas.microsoft.com/office/drawing/2014/main" id="{ECD71C46-CC42-44FB-A1D6-AB0E41F5C94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TextBox 91">
            <a:hlinkClick r:id="rId5" action="ppaction://hlinksldjump"/>
            <a:extLst>
              <a:ext uri="{FF2B5EF4-FFF2-40B4-BE49-F238E27FC236}">
                <a16:creationId xmlns:a16="http://schemas.microsoft.com/office/drawing/2014/main" id="{8652E0B9-0C6E-41B3-B9F8-08F13A7458ED}"/>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8" name="TextBox 92">
            <a:hlinkClick r:id="rId5" action="ppaction://hlinksldjump"/>
            <a:extLst>
              <a:ext uri="{FF2B5EF4-FFF2-40B4-BE49-F238E27FC236}">
                <a16:creationId xmlns:a16="http://schemas.microsoft.com/office/drawing/2014/main" id="{AD919BE3-A71F-43A0-BFAB-2F59834CE6E9}"/>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29" name="TextBox 93">
            <a:hlinkClick r:id="rId6" action="ppaction://hlinksldjump"/>
            <a:extLst>
              <a:ext uri="{FF2B5EF4-FFF2-40B4-BE49-F238E27FC236}">
                <a16:creationId xmlns:a16="http://schemas.microsoft.com/office/drawing/2014/main" id="{6E0D7731-2E65-4F80-873F-5A5C09B7147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30" name="TextBox 94">
            <a:hlinkClick r:id="rId6" action="ppaction://hlinksldjump"/>
            <a:extLst>
              <a:ext uri="{FF2B5EF4-FFF2-40B4-BE49-F238E27FC236}">
                <a16:creationId xmlns:a16="http://schemas.microsoft.com/office/drawing/2014/main" id="{2448C05F-DE5E-4BB7-B64C-F5CA900C3817}"/>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1" name="Oval 95">
            <a:extLst>
              <a:ext uri="{FF2B5EF4-FFF2-40B4-BE49-F238E27FC236}">
                <a16:creationId xmlns:a16="http://schemas.microsoft.com/office/drawing/2014/main" id="{B9A69317-4EE6-4B14-9CC0-660F16E8A3A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TextBox 96">
            <a:hlinkClick r:id="rId8" action="ppaction://hlinksldjump"/>
            <a:extLst>
              <a:ext uri="{FF2B5EF4-FFF2-40B4-BE49-F238E27FC236}">
                <a16:creationId xmlns:a16="http://schemas.microsoft.com/office/drawing/2014/main" id="{89E79888-F6EE-435B-9986-D7457AD31D4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3" name="Picture 40">
            <a:hlinkClick r:id="rId5" action="ppaction://hlinksldjump"/>
            <a:extLst>
              <a:ext uri="{FF2B5EF4-FFF2-40B4-BE49-F238E27FC236}">
                <a16:creationId xmlns:a16="http://schemas.microsoft.com/office/drawing/2014/main" id="{5AA6FD46-9931-4B39-95AD-AD1AB77600F6}"/>
              </a:ext>
            </a:extLst>
          </p:cNvPr>
          <p:cNvPicPr>
            <a:picLocks noChangeAspect="1"/>
          </p:cNvPicPr>
          <p:nvPr/>
        </p:nvPicPr>
        <p:blipFill>
          <a:blip r:embed="rId9">
            <a:alphaModFix amt="35000"/>
          </a:blip>
          <a:srcRect l="20606" t="21077" r="21527" b="31021"/>
          <a:stretch>
            <a:fillRect/>
          </a:stretch>
        </p:blipFill>
        <p:spPr>
          <a:xfrm>
            <a:off x="10028188" y="272070"/>
            <a:ext cx="256918" cy="210595"/>
          </a:xfrm>
          <a:prstGeom prst="rect">
            <a:avLst/>
          </a:prstGeom>
          <a:noFill/>
          <a:ln cap="flat">
            <a:noFill/>
          </a:ln>
        </p:spPr>
      </p:pic>
      <p:sp>
        <p:nvSpPr>
          <p:cNvPr id="34" name="Oval 98">
            <a:hlinkClick r:id="rId5" action="ppaction://hlinksldjump"/>
            <a:extLst>
              <a:ext uri="{FF2B5EF4-FFF2-40B4-BE49-F238E27FC236}">
                <a16:creationId xmlns:a16="http://schemas.microsoft.com/office/drawing/2014/main" id="{59369791-BFB5-4516-B3E6-A77997D8711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Oval 16">
            <a:extLst>
              <a:ext uri="{FF2B5EF4-FFF2-40B4-BE49-F238E27FC236}">
                <a16:creationId xmlns:a16="http://schemas.microsoft.com/office/drawing/2014/main" id="{5E2DB161-6961-4F78-BE00-DC771CAAEA0D}"/>
              </a:ext>
            </a:extLst>
          </p:cNvPr>
          <p:cNvSpPr/>
          <p:nvPr/>
        </p:nvSpPr>
        <p:spPr>
          <a:xfrm>
            <a:off x="1317814"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36" name="Table 21">
            <a:extLst>
              <a:ext uri="{FF2B5EF4-FFF2-40B4-BE49-F238E27FC236}">
                <a16:creationId xmlns:a16="http://schemas.microsoft.com/office/drawing/2014/main" id="{B06980FA-1B67-47E4-98DB-60EC0CFEA91D}"/>
              </a:ext>
            </a:extLst>
          </p:cNvPr>
          <p:cNvGraphicFramePr>
            <a:graphicFrameLocks noGrp="1"/>
          </p:cNvGraphicFramePr>
          <p:nvPr/>
        </p:nvGraphicFramePr>
        <p:xfrm>
          <a:off x="475268" y="2782272"/>
          <a:ext cx="11188651" cy="1280160"/>
        </p:xfrm>
        <a:graphic>
          <a:graphicData uri="http://schemas.openxmlformats.org/drawingml/2006/table">
            <a:tbl>
              <a:tblPr firstRow="1" bandRow="1">
                <a:effectLst/>
                <a:tableStyleId>{5C22544A-7EE6-4342-B048-85BDC9FD1C3A}</a:tableStyleId>
              </a:tblPr>
              <a:tblGrid>
                <a:gridCol w="808530">
                  <a:extLst>
                    <a:ext uri="{9D8B030D-6E8A-4147-A177-3AD203B41FA5}">
                      <a16:colId xmlns:a16="http://schemas.microsoft.com/office/drawing/2014/main" val="1325604841"/>
                    </a:ext>
                  </a:extLst>
                </a:gridCol>
                <a:gridCol w="2392801">
                  <a:extLst>
                    <a:ext uri="{9D8B030D-6E8A-4147-A177-3AD203B41FA5}">
                      <a16:colId xmlns:a16="http://schemas.microsoft.com/office/drawing/2014/main" val="809912008"/>
                    </a:ext>
                  </a:extLst>
                </a:gridCol>
                <a:gridCol w="2662440">
                  <a:extLst>
                    <a:ext uri="{9D8B030D-6E8A-4147-A177-3AD203B41FA5}">
                      <a16:colId xmlns:a16="http://schemas.microsoft.com/office/drawing/2014/main" val="1122146787"/>
                    </a:ext>
                  </a:extLst>
                </a:gridCol>
                <a:gridCol w="2662440">
                  <a:extLst>
                    <a:ext uri="{9D8B030D-6E8A-4147-A177-3AD203B41FA5}">
                      <a16:colId xmlns:a16="http://schemas.microsoft.com/office/drawing/2014/main" val="892576209"/>
                    </a:ext>
                  </a:extLst>
                </a:gridCol>
                <a:gridCol w="2662440">
                  <a:extLst>
                    <a:ext uri="{9D8B030D-6E8A-4147-A177-3AD203B41FA5}">
                      <a16:colId xmlns:a16="http://schemas.microsoft.com/office/drawing/2014/main" val="233648131"/>
                    </a:ext>
                  </a:extLst>
                </a:gridCol>
              </a:tblGrid>
              <a:tr h="202182">
                <a:tc rowSpan="2">
                  <a:txBody>
                    <a:bodyPr/>
                    <a:lstStyle/>
                    <a:p>
                      <a:pPr lvl="0"/>
                      <a:r>
                        <a:rPr lang="en-GB" sz="1100"/>
                        <a:t>CDS Tariff Volume 3 Rules Rework </a:t>
                      </a:r>
                    </a:p>
                    <a:p>
                      <a:pPr lvl="0"/>
                      <a:endParaRPr lang="en-GB" sz="1100"/>
                    </a:p>
                    <a:p>
                      <a:pPr lvl="0"/>
                      <a:r>
                        <a:rPr lang="en-GB" sz="1100"/>
                        <a:t> </a:t>
                      </a:r>
                    </a:p>
                  </a:txBody>
                  <a:tcPr>
                    <a:lnR w="12701" cap="flat" cmpd="sng" algn="ctr">
                      <a:solidFill>
                        <a:srgbClr val="FFFFFF"/>
                      </a:solidFill>
                      <a:prstDash val="solid"/>
                      <a:round/>
                      <a:headEnd type="none" w="med" len="med"/>
                      <a:tailEnd type="none" w="med" len="med"/>
                    </a:lnR>
                    <a:solidFill>
                      <a:srgbClr val="70AD47"/>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10" action="ppaction://hlinksldjump"/>
                        </a:rPr>
                        <a:t>Declaring Non-Monetary Measures as the Tax Base for SIV and SPV Goods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11" action="ppaction://hlinksldjump"/>
                        </a:rPr>
                        <a:t>Declaring Isle of Man location codes on Imports Declaration</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11" action="ppaction://hlinksldjump"/>
                        </a:rPr>
                        <a:t>Declaring Tax Data Elements for Manual Override </a:t>
                      </a:r>
                      <a:endParaRPr lang="en-GB" sz="1200" b="0" i="0" u="none" strike="noStrike" kern="1200" cap="none" spc="0" baseline="0">
                        <a:solidFill>
                          <a:srgbClr val="000000"/>
                        </a:solidFill>
                        <a:uFillTx/>
                        <a:latin typeface="Calibri"/>
                      </a:endParaRPr>
                    </a:p>
                    <a:p>
                      <a:pPr marL="285750" lvl="0" indent="-285750">
                        <a:buSzPct val="100000"/>
                        <a:buFont typeface="Arial" pitchFamily="34"/>
                        <a:buChar char="•"/>
                      </a:pPr>
                      <a:endParaRPr lang="en-GB" sz="1200" b="1" i="0" u="none" strike="noStrike" kern="1200" cap="none" spc="0" baseline="0">
                        <a:solidFill>
                          <a:srgbClr val="000000"/>
                        </a:solidFill>
                        <a:uFillTx/>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285750" marR="0" lvl="0" indent="-285750" algn="l" rtl="0" fontAlgn="auto" hangingPunct="1">
                        <a:lnSpc>
                          <a:spcPct val="100000"/>
                        </a:lnSpc>
                        <a:spcBef>
                          <a:spcPts val="0"/>
                        </a:spcBef>
                        <a:spcAft>
                          <a:spcPts val="0"/>
                        </a:spcAft>
                        <a:buSzPct val="100000"/>
                        <a:buFont typeface="Arial" pitchFamily="34"/>
                        <a:buChar char="•"/>
                      </a:pPr>
                      <a:r>
                        <a:rPr lang="en-GB" sz="1200" b="0" i="0" u="none" strike="noStrike">
                          <a:solidFill>
                            <a:srgbClr val="000000"/>
                          </a:solidFill>
                          <a:latin typeface="Calibri"/>
                          <a:hlinkClick r:id="rId11" action="ppaction://hlinksldjump"/>
                        </a:rPr>
                        <a:t>Type B and Type E</a:t>
                      </a:r>
                      <a:r>
                        <a:rPr lang="en-GB" sz="1200" b="0" i="0" u="none" strike="noStrike">
                          <a:solidFill>
                            <a:srgbClr val="000000"/>
                          </a:solidFill>
                          <a:latin typeface="Calibri"/>
                        </a:rPr>
                        <a:t> Declarations – Authorisation ID </a:t>
                      </a:r>
                      <a:r>
                        <a:rPr lang="en-GB" sz="1200" b="0" i="0" u="none" strike="noStrike">
                          <a:solidFill>
                            <a:srgbClr val="000000"/>
                          </a:solidFill>
                          <a:latin typeface="Calibri"/>
                          <a:hlinkClick r:id="rId11" action="ppaction://hlinksldjump"/>
                        </a:rPr>
                        <a:t>and </a:t>
                      </a:r>
                      <a:r>
                        <a:rPr lang="en-GB" sz="1200" b="0" i="0" u="none" strike="noStrike">
                          <a:solidFill>
                            <a:srgbClr val="000000"/>
                          </a:solidFill>
                          <a:latin typeface="Calibri"/>
                        </a:rPr>
                        <a:t>Additional Information</a:t>
                      </a:r>
                      <a:endParaRPr lang="en-GB" sz="1200" b="0" u="none">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2928724147"/>
                  </a:ext>
                </a:extLst>
              </a:tr>
              <a:tr h="640080">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12" action="ppaction://hlinksldjump"/>
                        </a:rPr>
                        <a:t>Controlled Goods Mandating Supplementary Units </a:t>
                      </a:r>
                      <a:endParaRPr lang="en-GB" sz="1200" b="0">
                        <a:solidFill>
                          <a:srgbClr val="000000"/>
                        </a:solidFill>
                      </a:endParaRPr>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lvl="0" indent="-171450">
                        <a:buSzPct val="100000"/>
                        <a:buFont typeface="Arial" pitchFamily="34"/>
                        <a:buChar char="•"/>
                      </a:pPr>
                      <a:r>
                        <a:rPr lang="en-GB" sz="1200" b="0">
                          <a:solidFill>
                            <a:srgbClr val="000000"/>
                          </a:solidFill>
                          <a:hlinkClick r:id="rId11" action="ppaction://hlinksldjump"/>
                        </a:rPr>
                        <a:t>DUCR and Previous Document Codes on Simplified Frontier Declarations</a:t>
                      </a:r>
                      <a:endParaRPr lang="en-GB" sz="1200" b="0">
                        <a:solidFill>
                          <a:srgbClr val="000000"/>
                        </a:solidFill>
                      </a:endParaRPr>
                    </a:p>
                    <a:p>
                      <a:pPr marL="171450" lvl="0" indent="-171450">
                        <a:buSzPct val="100000"/>
                        <a:buFont typeface="Arial" pitchFamily="34"/>
                        <a:buChar char="•"/>
                      </a:pP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lvl="0" indent="-171450">
                        <a:buSzPct val="100000"/>
                        <a:buFont typeface="Arial" pitchFamily="34"/>
                        <a:buChar char="•"/>
                      </a:pPr>
                      <a:r>
                        <a:rPr lang="en-GB" sz="1200" b="0">
                          <a:hlinkClick r:id="rId10" action="ppaction://hlinksldjump"/>
                        </a:rPr>
                        <a:t>Authorisation by Customs Declaration (ABD) </a:t>
                      </a:r>
                      <a:r>
                        <a:rPr lang="en-GB" sz="1200" b="0"/>
                        <a:t>and OP Relief</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tc>
                  <a:txBody>
                    <a:bodyPr/>
                    <a:lstStyle/>
                    <a:p>
                      <a:pPr marL="171450" lvl="0" indent="-171450">
                        <a:buSzPct val="100000"/>
                        <a:buFont typeface="Arial" pitchFamily="34"/>
                        <a:buChar char="•"/>
                      </a:pPr>
                      <a:r>
                        <a:rPr lang="en-GB" sz="1200" b="0" dirty="0">
                          <a:hlinkClick r:id="rId10" action="ppaction://hlinksldjump"/>
                        </a:rPr>
                        <a:t>Temporary Waiver on DEFRA Licenses (GB-NI) for Foods for Retail Consumption</a:t>
                      </a: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2F0D9"/>
                    </a:solidFill>
                  </a:tcPr>
                </a:tc>
                <a:extLst>
                  <a:ext uri="{0D108BD9-81ED-4DB2-BD59-A6C34878D82A}">
                    <a16:rowId xmlns:a16="http://schemas.microsoft.com/office/drawing/2014/main" val="3428570803"/>
                  </a:ext>
                </a:extLst>
              </a:tr>
            </a:tbl>
          </a:graphicData>
        </a:graphic>
      </p:graphicFrame>
      <p:sp>
        <p:nvSpPr>
          <p:cNvPr id="37" name="Oval 16">
            <a:extLst>
              <a:ext uri="{FF2B5EF4-FFF2-40B4-BE49-F238E27FC236}">
                <a16:creationId xmlns:a16="http://schemas.microsoft.com/office/drawing/2014/main" id="{B4591F51-B08B-43CA-8DD1-49865DA06D89}"/>
              </a:ext>
            </a:extLst>
          </p:cNvPr>
          <p:cNvSpPr/>
          <p:nvPr/>
        </p:nvSpPr>
        <p:spPr>
          <a:xfrm>
            <a:off x="3699982"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8" name="Oval 16">
            <a:extLst>
              <a:ext uri="{FF2B5EF4-FFF2-40B4-BE49-F238E27FC236}">
                <a16:creationId xmlns:a16="http://schemas.microsoft.com/office/drawing/2014/main" id="{D5D9B4EC-70FE-403C-8529-B228BD27F8CD}"/>
              </a:ext>
            </a:extLst>
          </p:cNvPr>
          <p:cNvSpPr/>
          <p:nvPr/>
        </p:nvSpPr>
        <p:spPr>
          <a:xfrm>
            <a:off x="1317814" y="286123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Oval 16">
            <a:extLst>
              <a:ext uri="{FF2B5EF4-FFF2-40B4-BE49-F238E27FC236}">
                <a16:creationId xmlns:a16="http://schemas.microsoft.com/office/drawing/2014/main" id="{E3E5850D-2355-4FEC-BFE8-494F76B63B22}"/>
              </a:ext>
            </a:extLst>
          </p:cNvPr>
          <p:cNvSpPr/>
          <p:nvPr/>
        </p:nvSpPr>
        <p:spPr>
          <a:xfrm>
            <a:off x="3699982" y="28612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0" name="Oval 16">
            <a:extLst>
              <a:ext uri="{FF2B5EF4-FFF2-40B4-BE49-F238E27FC236}">
                <a16:creationId xmlns:a16="http://schemas.microsoft.com/office/drawing/2014/main" id="{71AE7851-C415-4339-9437-65F8542BC14C}"/>
              </a:ext>
            </a:extLst>
          </p:cNvPr>
          <p:cNvSpPr/>
          <p:nvPr/>
        </p:nvSpPr>
        <p:spPr>
          <a:xfrm>
            <a:off x="1317814" y="349143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1" name="Oval 16">
            <a:extLst>
              <a:ext uri="{FF2B5EF4-FFF2-40B4-BE49-F238E27FC236}">
                <a16:creationId xmlns:a16="http://schemas.microsoft.com/office/drawing/2014/main" id="{134921DB-97BC-4C1C-AF06-6842919D5343}"/>
              </a:ext>
            </a:extLst>
          </p:cNvPr>
          <p:cNvSpPr/>
          <p:nvPr/>
        </p:nvSpPr>
        <p:spPr>
          <a:xfrm>
            <a:off x="3699982" y="348389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2" name="Oval 16">
            <a:extLst>
              <a:ext uri="{FF2B5EF4-FFF2-40B4-BE49-F238E27FC236}">
                <a16:creationId xmlns:a16="http://schemas.microsoft.com/office/drawing/2014/main" id="{123B613F-E6C2-4265-A76C-B8C09A6C507E}"/>
              </a:ext>
            </a:extLst>
          </p:cNvPr>
          <p:cNvSpPr/>
          <p:nvPr/>
        </p:nvSpPr>
        <p:spPr>
          <a:xfrm>
            <a:off x="6414488" y="28612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3" name="Oval 16">
            <a:extLst>
              <a:ext uri="{FF2B5EF4-FFF2-40B4-BE49-F238E27FC236}">
                <a16:creationId xmlns:a16="http://schemas.microsoft.com/office/drawing/2014/main" id="{9E85B1A6-4799-473C-A6FA-5E3C7C33D945}"/>
              </a:ext>
            </a:extLst>
          </p:cNvPr>
          <p:cNvSpPr/>
          <p:nvPr/>
        </p:nvSpPr>
        <p:spPr>
          <a:xfrm>
            <a:off x="9102458" y="28612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4" name="Oval 16">
            <a:extLst>
              <a:ext uri="{FF2B5EF4-FFF2-40B4-BE49-F238E27FC236}">
                <a16:creationId xmlns:a16="http://schemas.microsoft.com/office/drawing/2014/main" id="{03B15619-2038-447F-8DB3-81FD2E7AC2D9}"/>
              </a:ext>
            </a:extLst>
          </p:cNvPr>
          <p:cNvSpPr/>
          <p:nvPr/>
        </p:nvSpPr>
        <p:spPr>
          <a:xfrm>
            <a:off x="6414488" y="221153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5" name="Oval 16">
            <a:extLst>
              <a:ext uri="{FF2B5EF4-FFF2-40B4-BE49-F238E27FC236}">
                <a16:creationId xmlns:a16="http://schemas.microsoft.com/office/drawing/2014/main" id="{C5995D75-6DF1-40A1-AF9C-04618FBD46D3}"/>
              </a:ext>
            </a:extLst>
          </p:cNvPr>
          <p:cNvSpPr/>
          <p:nvPr/>
        </p:nvSpPr>
        <p:spPr>
          <a:xfrm>
            <a:off x="6414488" y="348251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Oval 16">
            <a:extLst>
              <a:ext uri="{FF2B5EF4-FFF2-40B4-BE49-F238E27FC236}">
                <a16:creationId xmlns:a16="http://schemas.microsoft.com/office/drawing/2014/main" id="{6D1AA8FE-1873-4189-AC93-7EAB036E99D5}"/>
              </a:ext>
            </a:extLst>
          </p:cNvPr>
          <p:cNvSpPr/>
          <p:nvPr/>
        </p:nvSpPr>
        <p:spPr>
          <a:xfrm>
            <a:off x="9079050" y="349143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name="Slide450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C9DD86DD-EA47-40E6-979C-F382FED2E178}"/>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3568E112-2E9D-43E7-A431-29688823AF3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8EC3594B-71A3-46D2-9931-6C8417DBD9C6}"/>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BC8379C5-6F26-4E3E-8CFF-C6CD0C6E5B13}"/>
              </a:ext>
            </a:extLst>
          </p:cNvPr>
          <p:cNvSpPr txBox="1"/>
          <p:nvPr/>
        </p:nvSpPr>
        <p:spPr>
          <a:xfrm>
            <a:off x="11745687"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7ACBFC14-98BA-443F-87C5-79B606144D75}" type="slidenum">
              <a:rPr sz="1200"/>
              <a:t>425</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4DE23739-CF88-4F13-BF60-4804AA184A57}"/>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4">
            <a:extLst>
              <a:ext uri="{FF2B5EF4-FFF2-40B4-BE49-F238E27FC236}">
                <a16:creationId xmlns:a16="http://schemas.microsoft.com/office/drawing/2014/main" id="{7D69A558-7932-432D-9F9D-DF05D5C3E123}"/>
              </a:ext>
            </a:extLst>
          </p:cNvPr>
          <p:cNvSpPr/>
          <p:nvPr/>
        </p:nvSpPr>
        <p:spPr>
          <a:xfrm>
            <a:off x="364626" y="1221702"/>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pitchFamily="34"/>
                <a:ea typeface="Calibri" pitchFamily="34"/>
              </a:rPr>
              <a:t>Core Customs Processing</a:t>
            </a:r>
          </a:p>
        </p:txBody>
      </p:sp>
      <p:sp>
        <p:nvSpPr>
          <p:cNvPr id="9" name="Rectangle 7">
            <a:extLst>
              <a:ext uri="{FF2B5EF4-FFF2-40B4-BE49-F238E27FC236}">
                <a16:creationId xmlns:a16="http://schemas.microsoft.com/office/drawing/2014/main" id="{00959514-9DD1-4B17-BFB9-1EFE7CD11BFD}"/>
              </a:ext>
            </a:extLst>
          </p:cNvPr>
          <p:cNvSpPr/>
          <p:nvPr/>
        </p:nvSpPr>
        <p:spPr>
          <a:xfrm>
            <a:off x="465155" y="799761"/>
            <a:ext cx="3563745" cy="400114"/>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0" cap="none" spc="0" baseline="0">
                <a:solidFill>
                  <a:srgbClr val="FFFFFF"/>
                </a:solidFill>
                <a:uFillTx/>
                <a:latin typeface="Calibri"/>
              </a:rPr>
              <a:t>New Release Functionality</a:t>
            </a:r>
          </a:p>
        </p:txBody>
      </p:sp>
      <p:sp>
        <p:nvSpPr>
          <p:cNvPr id="10" name="Rectangle 47">
            <a:extLst>
              <a:ext uri="{FF2B5EF4-FFF2-40B4-BE49-F238E27FC236}">
                <a16:creationId xmlns:a16="http://schemas.microsoft.com/office/drawing/2014/main" id="{FAD4A1B3-A000-401E-BF3E-B697D0F13AFE}"/>
              </a:ext>
            </a:extLst>
          </p:cNvPr>
          <p:cNvSpPr/>
          <p:nvPr/>
        </p:nvSpPr>
        <p:spPr>
          <a:xfrm>
            <a:off x="384249" y="1593250"/>
            <a:ext cx="5702198"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CDS Returning the Correct ROE/SOE in EMRs (Inventory Linking Exports)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11" name="TextBox 50">
            <a:extLst>
              <a:ext uri="{FF2B5EF4-FFF2-40B4-BE49-F238E27FC236}">
                <a16:creationId xmlns:a16="http://schemas.microsoft.com/office/drawing/2014/main" id="{362677DB-0727-4D0C-9215-48B113660052}"/>
              </a:ext>
            </a:extLst>
          </p:cNvPr>
          <p:cNvSpPr txBox="1"/>
          <p:nvPr/>
        </p:nvSpPr>
        <p:spPr>
          <a:xfrm>
            <a:off x="413400" y="1907731"/>
            <a:ext cx="11476058" cy="194668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During the testing of inventory linking exports, it was previously identified that when an arrival of a MUCR was made to CDS, and the MUCR exists on CHIEF only, an incorrect status was returned on the EMR which means the MUCR cannot be departed unless there is manual intervention to resolve each issue.</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this release, CDS will deliver functional which ensures, when a MUCR is empty in ILE, CDS will return the correct ROE and SOE in the EMR messages in order to enable CSPs to successfully depart the MUCR consignment. As part of this new functionality:</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continue to return CRC 101 and CRC 102 messages with an SOE of 0.</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an empty MUCR (i.e. a MUCR with no declaration), ILE will provide an SOE value of 'E' on both the EMR and within the ILE Query Service, regardless of whether the MUCR is open or shut in ILE. A relevant message will also be displayed on the Digital UI for users.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an EMR is received from both CHIEF and CDS, and the CDS EMR has an SOE of 'E', then the CHIEF EMR will be sent.</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allow a MUCR with an SOE of 'E' to be departed when relevant MUCR validations have passed - Valid Goods location, UCR format, goods departure date and time.</a:t>
            </a:r>
          </a:p>
        </p:txBody>
      </p:sp>
      <p:sp>
        <p:nvSpPr>
          <p:cNvPr id="12" name="Rectangle 31">
            <a:extLst>
              <a:ext uri="{FF2B5EF4-FFF2-40B4-BE49-F238E27FC236}">
                <a16:creationId xmlns:a16="http://schemas.microsoft.com/office/drawing/2014/main" id="{ECE6A8E3-E864-4708-ABA0-A39C3BDAFD8F}"/>
              </a:ext>
            </a:extLst>
          </p:cNvPr>
          <p:cNvSpPr/>
          <p:nvPr/>
        </p:nvSpPr>
        <p:spPr>
          <a:xfrm>
            <a:off x="413400" y="4118905"/>
            <a:ext cx="3254285"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GVMS Exports Declaration Submission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13" name="TextBox 42">
            <a:extLst>
              <a:ext uri="{FF2B5EF4-FFF2-40B4-BE49-F238E27FC236}">
                <a16:creationId xmlns:a16="http://schemas.microsoft.com/office/drawing/2014/main" id="{B444C207-5173-4349-A685-AB455999DCE7}"/>
              </a:ext>
            </a:extLst>
          </p:cNvPr>
          <p:cNvSpPr txBox="1"/>
          <p:nvPr/>
        </p:nvSpPr>
        <p:spPr>
          <a:xfrm>
            <a:off x="413400" y="4412729"/>
            <a:ext cx="11453810" cy="113107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TTM12.3, CDS will deliver functionality to ensure that NI export declarations from GVMS ports can be submitted. Please note the following requirements: </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When a NI Goods Location code is provided in D.E. 5/23 on an export declaration, identifying a location in which GVMS operates, then traders must ensure a valid GVMS specific additional information code of ‘RRS01’ is declared in D.E 2/2 at header level. If RRS01 is not declared in D.E 2/2, CDS will reject the declaration and return a DMSREJ.</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if the GVMS specific additional information code of ‘RRS01’ is entered in D.E 2/2 on an export declaration and a Goods Location code is provided that is not a GVMS port, CDS will reject the declaration and send a DMSREJ.</a:t>
            </a:r>
          </a:p>
        </p:txBody>
      </p:sp>
      <p:sp>
        <p:nvSpPr>
          <p:cNvPr id="14" name="Oval 43">
            <a:hlinkClick r:id="rId3" action="ppaction://hlinksldjump"/>
            <a:extLst>
              <a:ext uri="{FF2B5EF4-FFF2-40B4-BE49-F238E27FC236}">
                <a16:creationId xmlns:a16="http://schemas.microsoft.com/office/drawing/2014/main" id="{AE366DB3-2631-4280-9AF4-0916EBDE0DB2}"/>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44">
            <a:hlinkClick r:id="rId3" action="ppaction://hlinksldjump"/>
            <a:extLst>
              <a:ext uri="{FF2B5EF4-FFF2-40B4-BE49-F238E27FC236}">
                <a16:creationId xmlns:a16="http://schemas.microsoft.com/office/drawing/2014/main" id="{2CD2D7B8-DF52-4454-AFAB-7C74FCAC6542}"/>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45">
            <a:hlinkClick r:id="rId4" action="ppaction://hlinksldjump"/>
            <a:extLst>
              <a:ext uri="{FF2B5EF4-FFF2-40B4-BE49-F238E27FC236}">
                <a16:creationId xmlns:a16="http://schemas.microsoft.com/office/drawing/2014/main" id="{A45ADE18-5831-4936-BD22-5C3DF10F2C7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46">
            <a:hlinkClick r:id="rId5" action="ppaction://hlinksldjump"/>
            <a:extLst>
              <a:ext uri="{FF2B5EF4-FFF2-40B4-BE49-F238E27FC236}">
                <a16:creationId xmlns:a16="http://schemas.microsoft.com/office/drawing/2014/main" id="{D485A430-2744-4C8A-9FE9-7BC8BB1D146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48">
            <a:hlinkClick r:id="rId3" action="ppaction://hlinksldjump"/>
            <a:extLst>
              <a:ext uri="{FF2B5EF4-FFF2-40B4-BE49-F238E27FC236}">
                <a16:creationId xmlns:a16="http://schemas.microsoft.com/office/drawing/2014/main" id="{2D0E757B-6181-455F-A0CB-12DC166987E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49">
            <a:hlinkClick r:id="rId3" action="ppaction://hlinksldjump"/>
            <a:extLst>
              <a:ext uri="{FF2B5EF4-FFF2-40B4-BE49-F238E27FC236}">
                <a16:creationId xmlns:a16="http://schemas.microsoft.com/office/drawing/2014/main" id="{6FC29740-F23D-4F96-8CFF-87AE0C061AAF}"/>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0" name="TextBox 51">
            <a:hlinkClick r:id="rId4" action="ppaction://hlinksldjump"/>
            <a:extLst>
              <a:ext uri="{FF2B5EF4-FFF2-40B4-BE49-F238E27FC236}">
                <a16:creationId xmlns:a16="http://schemas.microsoft.com/office/drawing/2014/main" id="{181E60B9-86D2-4D3A-A84E-752FA3EFE05C}"/>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1" name="TextBox 52">
            <a:hlinkClick r:id="rId4" action="ppaction://hlinksldjump"/>
            <a:extLst>
              <a:ext uri="{FF2B5EF4-FFF2-40B4-BE49-F238E27FC236}">
                <a16:creationId xmlns:a16="http://schemas.microsoft.com/office/drawing/2014/main" id="{C3B9544A-75E6-4457-B5B7-59479D11853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53">
            <a:extLst>
              <a:ext uri="{FF2B5EF4-FFF2-40B4-BE49-F238E27FC236}">
                <a16:creationId xmlns:a16="http://schemas.microsoft.com/office/drawing/2014/main" id="{18F2E42A-581A-422E-BEEA-BD7D7DFA83C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54">
            <a:hlinkClick r:id="rId6" action="ppaction://hlinksldjump"/>
            <a:extLst>
              <a:ext uri="{FF2B5EF4-FFF2-40B4-BE49-F238E27FC236}">
                <a16:creationId xmlns:a16="http://schemas.microsoft.com/office/drawing/2014/main" id="{2EC2324B-FAD9-4FCC-B6C3-D75DB4E8B101}"/>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3" action="ppaction://hlinksldjump"/>
            <a:extLst>
              <a:ext uri="{FF2B5EF4-FFF2-40B4-BE49-F238E27FC236}">
                <a16:creationId xmlns:a16="http://schemas.microsoft.com/office/drawing/2014/main" id="{E9969F88-C738-483F-B67F-375229B88785}"/>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56">
            <a:hlinkClick r:id="rId3" action="ppaction://hlinksldjump"/>
            <a:extLst>
              <a:ext uri="{FF2B5EF4-FFF2-40B4-BE49-F238E27FC236}">
                <a16:creationId xmlns:a16="http://schemas.microsoft.com/office/drawing/2014/main" id="{D98803C6-4A26-4FC5-8EF2-F37BE70B75C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name="Slide450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904117D8-9E64-4F78-BE34-CFB83C37B082}"/>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AC5D310-E25D-44A6-B365-81DDBDB7E58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DF87C39-A9E5-4B1F-B2FD-EFA51E897915}"/>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Footer Placeholder 1">
            <a:extLst>
              <a:ext uri="{FF2B5EF4-FFF2-40B4-BE49-F238E27FC236}">
                <a16:creationId xmlns:a16="http://schemas.microsoft.com/office/drawing/2014/main" id="{5BA32C3D-35F1-4861-A5EF-78785C4BEDB9}"/>
              </a:ext>
            </a:extLst>
          </p:cNvPr>
          <p:cNvSpPr txBox="1"/>
          <p:nvPr/>
        </p:nvSpPr>
        <p:spPr>
          <a:xfrm>
            <a:off x="2959108" y="6517788"/>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7" name="Rectangle 4">
            <a:extLst>
              <a:ext uri="{FF2B5EF4-FFF2-40B4-BE49-F238E27FC236}">
                <a16:creationId xmlns:a16="http://schemas.microsoft.com/office/drawing/2014/main" id="{B02B5886-4336-49E8-A44F-BBA3AE9E7D33}"/>
              </a:ext>
            </a:extLst>
          </p:cNvPr>
          <p:cNvSpPr/>
          <p:nvPr/>
        </p:nvSpPr>
        <p:spPr>
          <a:xfrm>
            <a:off x="364626" y="764438"/>
            <a:ext cx="5496558"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pitchFamily="34"/>
                <a:ea typeface="Calibri" pitchFamily="34"/>
              </a:rPr>
              <a:t>Core Customs Processing</a:t>
            </a:r>
          </a:p>
        </p:txBody>
      </p:sp>
      <p:sp>
        <p:nvSpPr>
          <p:cNvPr id="8" name="Rectangle 42">
            <a:extLst>
              <a:ext uri="{FF2B5EF4-FFF2-40B4-BE49-F238E27FC236}">
                <a16:creationId xmlns:a16="http://schemas.microsoft.com/office/drawing/2014/main" id="{6DF7407A-AE67-4EFF-88F8-02F4B9981EBA}"/>
              </a:ext>
            </a:extLst>
          </p:cNvPr>
          <p:cNvSpPr/>
          <p:nvPr/>
        </p:nvSpPr>
        <p:spPr>
          <a:xfrm>
            <a:off x="363967" y="1133764"/>
            <a:ext cx="2085892"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Freight Location Codes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9" name="TextBox 43">
            <a:extLst>
              <a:ext uri="{FF2B5EF4-FFF2-40B4-BE49-F238E27FC236}">
                <a16:creationId xmlns:a16="http://schemas.microsoft.com/office/drawing/2014/main" id="{EC918709-B7EF-4CC9-907E-7A70841B886F}"/>
              </a:ext>
            </a:extLst>
          </p:cNvPr>
          <p:cNvSpPr txBox="1"/>
          <p:nvPr/>
        </p:nvSpPr>
        <p:spPr>
          <a:xfrm>
            <a:off x="363967" y="1431246"/>
            <a:ext cx="11464061" cy="46166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TTM12.3, CDS will introduce the remaining freight location codes allowing CSPs to identify the location of goods as declared in an import declaration and also as goods location in an export movement message. Further information on the goods location codes below can be found in the CSD Codelist and WCO Reference Data on the CDS Documentation Store.</a:t>
            </a:r>
            <a:endParaRPr lang="en-GB" sz="1200" b="1" i="1" u="none" strike="noStrike" kern="1200" cap="none" spc="0" baseline="0">
              <a:solidFill>
                <a:srgbClr val="000000"/>
              </a:solidFill>
              <a:uFillTx/>
              <a:latin typeface="Calibri"/>
            </a:endParaRPr>
          </a:p>
        </p:txBody>
      </p:sp>
      <p:graphicFrame>
        <p:nvGraphicFramePr>
          <p:cNvPr id="10" name="Table 58">
            <a:extLst>
              <a:ext uri="{FF2B5EF4-FFF2-40B4-BE49-F238E27FC236}">
                <a16:creationId xmlns:a16="http://schemas.microsoft.com/office/drawing/2014/main" id="{68710E82-D32F-499B-9B79-F760925B9C24}"/>
              </a:ext>
            </a:extLst>
          </p:cNvPr>
          <p:cNvGraphicFramePr>
            <a:graphicFrameLocks noGrp="1"/>
          </p:cNvGraphicFramePr>
          <p:nvPr/>
        </p:nvGraphicFramePr>
        <p:xfrm>
          <a:off x="585965" y="2288057"/>
          <a:ext cx="1206395" cy="3132342"/>
        </p:xfrm>
        <a:graphic>
          <a:graphicData uri="http://schemas.openxmlformats.org/drawingml/2006/table">
            <a:tbl>
              <a:tblPr firstRow="1" bandRow="1">
                <a:effectLst/>
                <a:tableStyleId>{5C22544A-7EE6-4342-B048-85BDC9FD1C3A}</a:tableStyleId>
              </a:tblPr>
              <a:tblGrid>
                <a:gridCol w="1206395">
                  <a:extLst>
                    <a:ext uri="{9D8B030D-6E8A-4147-A177-3AD203B41FA5}">
                      <a16:colId xmlns:a16="http://schemas.microsoft.com/office/drawing/2014/main" val="991759076"/>
                    </a:ext>
                  </a:extLst>
                </a:gridCol>
              </a:tblGrid>
              <a:tr h="0">
                <a:tc>
                  <a:txBody>
                    <a:bodyPr/>
                    <a:lstStyle/>
                    <a:p>
                      <a:pPr lvl="0" algn="l" fontAlgn="b"/>
                      <a:r>
                        <a:rPr lang="en-GB" sz="1100" b="0" i="0" u="none" strike="noStrike">
                          <a:solidFill>
                            <a:srgbClr val="000000"/>
                          </a:solidFill>
                          <a:latin typeface="Calibri" pitchFamily="34"/>
                        </a:rPr>
                        <a:t>GBAUBA5ABDCGD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438776761"/>
                  </a:ext>
                </a:extLst>
              </a:tr>
              <a:tr h="174723">
                <a:tc>
                  <a:txBody>
                    <a:bodyPr/>
                    <a:lstStyle/>
                    <a:p>
                      <a:pPr lvl="0" algn="l" fontAlgn="b"/>
                      <a:r>
                        <a:rPr lang="en-GB" sz="1100" b="0" i="0" u="none" strike="noStrike">
                          <a:solidFill>
                            <a:srgbClr val="000000"/>
                          </a:solidFill>
                          <a:latin typeface="Calibri" pitchFamily="34"/>
                        </a:rPr>
                        <a:t>GBAUBELBFSXXX</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867850849"/>
                  </a:ext>
                </a:extLst>
              </a:tr>
              <a:tr h="174723">
                <a:tc>
                  <a:txBody>
                    <a:bodyPr/>
                    <a:lstStyle/>
                    <a:p>
                      <a:pPr lvl="0" algn="l" fontAlgn="b"/>
                      <a:r>
                        <a:rPr lang="en-GB" sz="1100" b="0" i="0" u="none" strike="noStrike">
                          <a:solidFill>
                            <a:srgbClr val="000000"/>
                          </a:solidFill>
                          <a:latin typeface="Calibri" pitchFamily="34"/>
                        </a:rPr>
                        <a:t>GBAUBFSBFSPBE</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106480244"/>
                  </a:ext>
                </a:extLst>
              </a:tr>
              <a:tr h="180548">
                <a:tc>
                  <a:txBody>
                    <a:bodyPr/>
                    <a:lstStyle/>
                    <a:p>
                      <a:pPr lvl="0" algn="l" fontAlgn="b"/>
                      <a:r>
                        <a:rPr lang="en-GB" sz="1100" b="0" i="0" u="none" strike="noStrike">
                          <a:solidFill>
                            <a:srgbClr val="000000"/>
                          </a:solidFill>
                          <a:latin typeface="Calibri" pitchFamily="34"/>
                        </a:rPr>
                        <a:t>GBAUBRFMANXCJ</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31566110"/>
                  </a:ext>
                </a:extLst>
              </a:tr>
              <a:tr h="174723">
                <a:tc>
                  <a:txBody>
                    <a:bodyPr/>
                    <a:lstStyle/>
                    <a:p>
                      <a:pPr lvl="0" algn="l" fontAlgn="b"/>
                      <a:r>
                        <a:rPr lang="en-GB" sz="1100" b="0" i="0" u="none" strike="noStrike">
                          <a:solidFill>
                            <a:srgbClr val="000000"/>
                          </a:solidFill>
                          <a:latin typeface="Calibri" pitchFamily="34"/>
                        </a:rPr>
                        <a:t>GBAUCBRLHROND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10987620"/>
                  </a:ext>
                </a:extLst>
              </a:tr>
              <a:tr h="186373">
                <a:tc>
                  <a:txBody>
                    <a:bodyPr/>
                    <a:lstStyle/>
                    <a:p>
                      <a:pPr lvl="0" algn="l" fontAlgn="b"/>
                      <a:r>
                        <a:rPr lang="en-GB" sz="1100" b="0" i="0" u="none" strike="noStrike">
                          <a:solidFill>
                            <a:srgbClr val="000000"/>
                          </a:solidFill>
                          <a:latin typeface="Calibri" pitchFamily="34"/>
                        </a:rPr>
                        <a:t>GBAUCBRLHRXAI</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40312913"/>
                  </a:ext>
                </a:extLst>
              </a:tr>
              <a:tr h="163074">
                <a:tc>
                  <a:txBody>
                    <a:bodyPr/>
                    <a:lstStyle/>
                    <a:p>
                      <a:pPr lvl="0" algn="l" fontAlgn="b"/>
                      <a:r>
                        <a:rPr lang="en-GB" sz="1100" b="0" i="0" u="none" strike="noStrike">
                          <a:solidFill>
                            <a:srgbClr val="000000"/>
                          </a:solidFill>
                          <a:latin typeface="Calibri" pitchFamily="34"/>
                        </a:rPr>
                        <a:t>GBAUCBRLHRXBD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693120321"/>
                  </a:ext>
                </a:extLst>
              </a:tr>
              <a:tr h="163074">
                <a:tc>
                  <a:txBody>
                    <a:bodyPr/>
                    <a:lstStyle/>
                    <a:p>
                      <a:pPr lvl="0" algn="l" fontAlgn="b"/>
                      <a:r>
                        <a:rPr lang="en-GB" sz="1100" b="0" i="0" u="none" strike="noStrike">
                          <a:solidFill>
                            <a:srgbClr val="000000"/>
                          </a:solidFill>
                          <a:latin typeface="Calibri" pitchFamily="34"/>
                        </a:rPr>
                        <a:t>GBAUCLPTILCTD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714870890"/>
                  </a:ext>
                </a:extLst>
              </a:tr>
              <a:tr h="163074">
                <a:tc>
                  <a:txBody>
                    <a:bodyPr/>
                    <a:lstStyle/>
                    <a:p>
                      <a:pPr lvl="0" algn="l" fontAlgn="b"/>
                      <a:r>
                        <a:rPr lang="en-GB" sz="1100" b="0" i="0" u="none" strike="noStrike">
                          <a:solidFill>
                            <a:srgbClr val="000000"/>
                          </a:solidFill>
                          <a:latin typeface="Calibri" pitchFamily="34"/>
                        </a:rPr>
                        <a:t>GBAUDFDTHPEUD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62434698"/>
                  </a:ext>
                </a:extLst>
              </a:tr>
              <a:tr h="163074">
                <a:tc>
                  <a:txBody>
                    <a:bodyPr/>
                    <a:lstStyle/>
                    <a:p>
                      <a:pPr lvl="0" algn="l" fontAlgn="b"/>
                      <a:r>
                        <a:rPr lang="en-GB" sz="1100" b="0" i="0" u="none" strike="noStrike">
                          <a:solidFill>
                            <a:srgbClr val="000000"/>
                          </a:solidFill>
                          <a:latin typeface="Calibri" pitchFamily="34"/>
                        </a:rPr>
                        <a:t>GBAUDVRDOGFSA</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90491348"/>
                  </a:ext>
                </a:extLst>
              </a:tr>
              <a:tr h="163074">
                <a:tc>
                  <a:txBody>
                    <a:bodyPr/>
                    <a:lstStyle/>
                    <a:p>
                      <a:pPr lvl="0" algn="l" fontAlgn="b"/>
                      <a:r>
                        <a:rPr lang="en-GB" sz="1100" b="0" i="0" u="none" strike="noStrike">
                          <a:solidFill>
                            <a:srgbClr val="000000"/>
                          </a:solidFill>
                          <a:latin typeface="Calibri" pitchFamily="34"/>
                        </a:rPr>
                        <a:t>GBAUDVRDOGWDG</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80540053"/>
                  </a:ext>
                </a:extLst>
              </a:tr>
              <a:tr h="163074">
                <a:tc>
                  <a:txBody>
                    <a:bodyPr/>
                    <a:lstStyle/>
                    <a:p>
                      <a:pPr lvl="0" algn="l" fontAlgn="b"/>
                      <a:r>
                        <a:rPr lang="en-GB" sz="1100" b="0" i="0" u="none" strike="noStrike">
                          <a:solidFill>
                            <a:srgbClr val="000000"/>
                          </a:solidFill>
                          <a:latin typeface="Calibri" pitchFamily="34"/>
                        </a:rPr>
                        <a:t>GBAUDVRDOGWNL</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21808019"/>
                  </a:ext>
                </a:extLst>
              </a:tr>
              <a:tr h="163074">
                <a:tc>
                  <a:txBody>
                    <a:bodyPr/>
                    <a:lstStyle/>
                    <a:p>
                      <a:pPr lvl="0" algn="l" fontAlgn="b"/>
                      <a:r>
                        <a:rPr lang="en-GB" sz="1100" b="0" i="0" u="none" strike="noStrike">
                          <a:solidFill>
                            <a:srgbClr val="000000"/>
                          </a:solidFill>
                          <a:latin typeface="Calibri" pitchFamily="34"/>
                        </a:rPr>
                        <a:t>GBAULY9DOGWSE</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12057581"/>
                  </a:ext>
                </a:extLst>
              </a:tr>
              <a:tr h="163074">
                <a:tc>
                  <a:txBody>
                    <a:bodyPr/>
                    <a:lstStyle/>
                    <a:p>
                      <a:pPr lvl="0" algn="l" fontAlgn="b"/>
                      <a:r>
                        <a:rPr lang="en-GB" sz="1100" b="0" i="0" u="none" strike="noStrike">
                          <a:solidFill>
                            <a:srgbClr val="000000"/>
                          </a:solidFill>
                          <a:latin typeface="Calibri" pitchFamily="34"/>
                        </a:rPr>
                        <a:t>GBAUFEMLHRXCK</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109824292"/>
                  </a:ext>
                </a:extLst>
              </a:tr>
              <a:tr h="163074">
                <a:tc>
                  <a:txBody>
                    <a:bodyPr/>
                    <a:lstStyle/>
                    <a:p>
                      <a:pPr lvl="0" algn="l" fontAlgn="b"/>
                      <a:r>
                        <a:rPr lang="en-GB" sz="1100" b="0" i="0" u="none" strike="noStrike">
                          <a:solidFill>
                            <a:srgbClr val="000000"/>
                          </a:solidFill>
                          <a:latin typeface="Calibri" pitchFamily="34"/>
                        </a:rPr>
                        <a:t>GBAUOBYBHXPDE</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22645669"/>
                  </a:ext>
                </a:extLst>
              </a:tr>
              <a:tr h="163074">
                <a:tc>
                  <a:txBody>
                    <a:bodyPr/>
                    <a:lstStyle/>
                    <a:p>
                      <a:pPr lvl="0" algn="l" fontAlgn="b"/>
                      <a:r>
                        <a:rPr lang="en-GB" sz="1100" b="0" i="0" u="none" strike="noStrike">
                          <a:solidFill>
                            <a:srgbClr val="000000"/>
                          </a:solidFill>
                          <a:latin typeface="Calibri" pitchFamily="34"/>
                        </a:rPr>
                        <a:t>GBAUOBYBHXPFE</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704814018"/>
                  </a:ext>
                </a:extLst>
              </a:tr>
              <a:tr h="163074">
                <a:tc>
                  <a:txBody>
                    <a:bodyPr/>
                    <a:lstStyle/>
                    <a:p>
                      <a:pPr lvl="0" algn="l" fontAlgn="b"/>
                      <a:r>
                        <a:rPr lang="en-GB" sz="1100" b="0" i="0" u="none" strike="noStrike">
                          <a:solidFill>
                            <a:srgbClr val="000000"/>
                          </a:solidFill>
                          <a:latin typeface="Calibri" pitchFamily="34"/>
                        </a:rPr>
                        <a:t>GBAUPTLPTLPTL</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863579173"/>
                  </a:ext>
                </a:extLst>
              </a:tr>
              <a:tr h="163074">
                <a:tc>
                  <a:txBody>
                    <a:bodyPr/>
                    <a:lstStyle/>
                    <a:p>
                      <a:pPr lvl="0" algn="l" fontAlgn="ctr"/>
                      <a:r>
                        <a:rPr lang="en-GB" sz="1100" b="0" i="0" u="none" strike="noStrike" dirty="0">
                          <a:solidFill>
                            <a:srgbClr val="000000"/>
                          </a:solidFill>
                          <a:latin typeface="Calibri" pitchFamily="34"/>
                        </a:rPr>
                        <a:t>GBAURDNLHRXXX</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386546869"/>
                  </a:ext>
                </a:extLst>
              </a:tr>
            </a:tbl>
          </a:graphicData>
        </a:graphic>
      </p:graphicFrame>
      <p:graphicFrame>
        <p:nvGraphicFramePr>
          <p:cNvPr id="11" name="Table 59">
            <a:extLst>
              <a:ext uri="{FF2B5EF4-FFF2-40B4-BE49-F238E27FC236}">
                <a16:creationId xmlns:a16="http://schemas.microsoft.com/office/drawing/2014/main" id="{B4D0B26E-FE6C-485E-B405-7C3C13CC018D}"/>
              </a:ext>
            </a:extLst>
          </p:cNvPr>
          <p:cNvGraphicFramePr>
            <a:graphicFrameLocks noGrp="1"/>
          </p:cNvGraphicFramePr>
          <p:nvPr/>
        </p:nvGraphicFramePr>
        <p:xfrm>
          <a:off x="1933443" y="2288057"/>
          <a:ext cx="1254437" cy="1896444"/>
        </p:xfrm>
        <a:graphic>
          <a:graphicData uri="http://schemas.openxmlformats.org/drawingml/2006/table">
            <a:tbl>
              <a:tblPr firstRow="1" bandRow="1">
                <a:effectLst/>
                <a:tableStyleId>{5C22544A-7EE6-4342-B048-85BDC9FD1C3A}</a:tableStyleId>
              </a:tblPr>
              <a:tblGrid>
                <a:gridCol w="1254437">
                  <a:extLst>
                    <a:ext uri="{9D8B030D-6E8A-4147-A177-3AD203B41FA5}">
                      <a16:colId xmlns:a16="http://schemas.microsoft.com/office/drawing/2014/main" val="3998279953"/>
                    </a:ext>
                  </a:extLst>
                </a:gridCol>
              </a:tblGrid>
              <a:tr h="163074">
                <a:tc>
                  <a:txBody>
                    <a:bodyPr/>
                    <a:lstStyle/>
                    <a:p>
                      <a:pPr lvl="0" algn="l" fontAlgn="ctr"/>
                      <a:r>
                        <a:rPr lang="en-GB" sz="1100" b="0" i="0" u="none" strike="noStrike">
                          <a:solidFill>
                            <a:srgbClr val="000000"/>
                          </a:solidFill>
                          <a:latin typeface="Calibri" pitchFamily="34"/>
                        </a:rPr>
                        <a:t>GBAUGLDGLDGLD</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886050287"/>
                  </a:ext>
                </a:extLst>
              </a:tr>
              <a:tr h="163074">
                <a:tc>
                  <a:txBody>
                    <a:bodyPr/>
                    <a:lstStyle/>
                    <a:p>
                      <a:pPr lvl="0" algn="l" fontAlgn="ctr"/>
                      <a:r>
                        <a:rPr lang="en-GB" sz="1100" b="0" i="0" u="none" strike="noStrike">
                          <a:solidFill>
                            <a:srgbClr val="000000"/>
                          </a:solidFill>
                          <a:latin typeface="Calibri" pitchFamily="34"/>
                        </a:rPr>
                        <a:t>GBAURYEDOGRYE</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98022227"/>
                  </a:ext>
                </a:extLst>
              </a:tr>
              <a:tr h="163074">
                <a:tc>
                  <a:txBody>
                    <a:bodyPr/>
                    <a:lstStyle/>
                    <a:p>
                      <a:pPr lvl="0" algn="l" fontAlgn="b"/>
                      <a:r>
                        <a:rPr lang="en-GB" sz="1100" b="0" i="0" u="none" strike="noStrike">
                          <a:solidFill>
                            <a:srgbClr val="000000"/>
                          </a:solidFill>
                          <a:latin typeface="Calibri" pitchFamily="34"/>
                        </a:rPr>
                        <a:t>GBAUNFTLONTER</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98315345"/>
                  </a:ext>
                </a:extLst>
              </a:tr>
              <a:tr h="163074">
                <a:tc>
                  <a:txBody>
                    <a:bodyPr/>
                    <a:lstStyle/>
                    <a:p>
                      <a:pPr lvl="0" algn="l" fontAlgn="b"/>
                      <a:r>
                        <a:rPr lang="en-GB" sz="1100" b="0" i="0" u="none" strike="noStrike">
                          <a:solidFill>
                            <a:srgbClr val="000000"/>
                          </a:solidFill>
                          <a:latin typeface="Calibri" pitchFamily="34"/>
                        </a:rPr>
                        <a:t>GBAUNFTLONTOW</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269901186"/>
                  </a:ext>
                </a:extLst>
              </a:tr>
              <a:tr h="163074">
                <a:tc>
                  <a:txBody>
                    <a:bodyPr/>
                    <a:lstStyle/>
                    <a:p>
                      <a:pPr lvl="0" algn="l" fontAlgn="b"/>
                      <a:r>
                        <a:rPr lang="en-GB" sz="1100" b="0" i="0" u="none" strike="noStrike">
                          <a:solidFill>
                            <a:srgbClr val="000000"/>
                          </a:solidFill>
                          <a:latin typeface="Calibri" pitchFamily="34"/>
                        </a:rPr>
                        <a:t>GBAUEMAEMAUPS4</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677686247"/>
                  </a:ext>
                </a:extLst>
              </a:tr>
              <a:tr h="163074">
                <a:tc>
                  <a:txBody>
                    <a:bodyPr/>
                    <a:lstStyle/>
                    <a:p>
                      <a:pPr lvl="0" algn="l" fontAlgn="b"/>
                      <a:r>
                        <a:rPr lang="en-GB" sz="1100" b="0" i="0" u="none" strike="noStrike">
                          <a:solidFill>
                            <a:srgbClr val="000000"/>
                          </a:solidFill>
                          <a:latin typeface="Calibri" pitchFamily="34"/>
                        </a:rPr>
                        <a:t>GBAUMLFMILSOH</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004174485"/>
                  </a:ext>
                </a:extLst>
              </a:tr>
              <a:tr h="163074">
                <a:tc>
                  <a:txBody>
                    <a:bodyPr/>
                    <a:lstStyle/>
                    <a:p>
                      <a:pPr lvl="0" algn="l" fontAlgn="ctr"/>
                      <a:r>
                        <a:rPr lang="en-GB" sz="1100" b="0" i="0" u="none" strike="noStrike">
                          <a:solidFill>
                            <a:srgbClr val="000000"/>
                          </a:solidFill>
                          <a:latin typeface="Calibri" pitchFamily="34"/>
                        </a:rPr>
                        <a:t>GBAUMLFMILDRA</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064895841"/>
                  </a:ext>
                </a:extLst>
              </a:tr>
              <a:tr h="163074">
                <a:tc>
                  <a:txBody>
                    <a:bodyPr/>
                    <a:lstStyle/>
                    <a:p>
                      <a:pPr lvl="0" algn="l" fontAlgn="b"/>
                      <a:r>
                        <a:rPr lang="en-GB" sz="1100" b="0" i="0" u="none" strike="noStrike">
                          <a:solidFill>
                            <a:srgbClr val="0B0C0C"/>
                          </a:solidFill>
                          <a:latin typeface="Calibri" pitchFamily="34"/>
                        </a:rPr>
                        <a:t>GBAUSFDMANXDH</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39877230"/>
                  </a:ext>
                </a:extLst>
              </a:tr>
              <a:tr h="163074">
                <a:tc>
                  <a:txBody>
                    <a:bodyPr/>
                    <a:lstStyle/>
                    <a:p>
                      <a:pPr lvl="0" algn="l" fontAlgn="b"/>
                      <a:r>
                        <a:rPr lang="en-GB" sz="1100" b="0" i="0" u="none" strike="noStrike">
                          <a:solidFill>
                            <a:srgbClr val="0B0C0C"/>
                          </a:solidFill>
                          <a:latin typeface="Calibri" pitchFamily="34"/>
                        </a:rPr>
                        <a:t>GBAURCSRCSXDI</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414525136"/>
                  </a:ext>
                </a:extLst>
              </a:tr>
              <a:tr h="163074">
                <a:tc>
                  <a:txBody>
                    <a:bodyPr/>
                    <a:lstStyle/>
                    <a:p>
                      <a:pPr lvl="0" algn="l" fontAlgn="b"/>
                      <a:r>
                        <a:rPr lang="en-GB" sz="1100" b="0" i="0" u="none" strike="noStrike">
                          <a:solidFill>
                            <a:srgbClr val="0B0C0C"/>
                          </a:solidFill>
                          <a:latin typeface="Calibri" pitchFamily="34"/>
                        </a:rPr>
                        <a:t>GBAULRKMEDWSG</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088333021"/>
                  </a:ext>
                </a:extLst>
              </a:tr>
              <a:tr h="163074">
                <a:tc>
                  <a:txBody>
                    <a:bodyPr/>
                    <a:lstStyle/>
                    <a:p>
                      <a:pPr lvl="0" algn="l" fontAlgn="b"/>
                      <a:r>
                        <a:rPr lang="en-GB" sz="1100" b="0" i="0" u="none" strike="noStrike" dirty="0">
                          <a:solidFill>
                            <a:srgbClr val="0B0C0C"/>
                          </a:solidFill>
                          <a:latin typeface="Calibri" pitchFamily="34"/>
                        </a:rPr>
                        <a:t>GBAULAILONXAM</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179785310"/>
                  </a:ext>
                </a:extLst>
              </a:tr>
            </a:tbl>
          </a:graphicData>
        </a:graphic>
      </p:graphicFrame>
      <p:sp>
        <p:nvSpPr>
          <p:cNvPr id="12" name="Rectangle 60">
            <a:extLst>
              <a:ext uri="{FF2B5EF4-FFF2-40B4-BE49-F238E27FC236}">
                <a16:creationId xmlns:a16="http://schemas.microsoft.com/office/drawing/2014/main" id="{6E105775-0DD4-42AF-B280-7CD9A7864D79}"/>
              </a:ext>
            </a:extLst>
          </p:cNvPr>
          <p:cNvSpPr/>
          <p:nvPr/>
        </p:nvSpPr>
        <p:spPr>
          <a:xfrm>
            <a:off x="8444392" y="1932584"/>
            <a:ext cx="3380555" cy="3972546"/>
          </a:xfrm>
          <a:prstGeom prst="rect">
            <a:avLst/>
          </a:prstGeom>
          <a:noFill/>
          <a:ln w="12701" cap="flat">
            <a:solidFill>
              <a:srgbClr val="A6A6A6"/>
            </a:solidFill>
            <a:custDash>
              <a:ds d="799921" sp="799921"/>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Rectangle 61">
            <a:extLst>
              <a:ext uri="{FF2B5EF4-FFF2-40B4-BE49-F238E27FC236}">
                <a16:creationId xmlns:a16="http://schemas.microsoft.com/office/drawing/2014/main" id="{910EE7EA-FB96-478C-9715-5E6D864C6D78}"/>
              </a:ext>
            </a:extLst>
          </p:cNvPr>
          <p:cNvSpPr/>
          <p:nvPr/>
        </p:nvSpPr>
        <p:spPr>
          <a:xfrm>
            <a:off x="3610234" y="1953734"/>
            <a:ext cx="992581"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Rail Codes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graphicFrame>
        <p:nvGraphicFramePr>
          <p:cNvPr id="14" name="Table 62">
            <a:extLst>
              <a:ext uri="{FF2B5EF4-FFF2-40B4-BE49-F238E27FC236}">
                <a16:creationId xmlns:a16="http://schemas.microsoft.com/office/drawing/2014/main" id="{88FC7493-9EB8-4F60-9C14-ED519D3B5062}"/>
              </a:ext>
            </a:extLst>
          </p:cNvPr>
          <p:cNvGraphicFramePr>
            <a:graphicFrameLocks noGrp="1"/>
          </p:cNvGraphicFramePr>
          <p:nvPr/>
        </p:nvGraphicFramePr>
        <p:xfrm>
          <a:off x="3730889" y="2315068"/>
          <a:ext cx="1913903" cy="3386076"/>
        </p:xfrm>
        <a:graphic>
          <a:graphicData uri="http://schemas.openxmlformats.org/drawingml/2006/table">
            <a:tbl>
              <a:tblPr firstRow="1" bandRow="1">
                <a:effectLst/>
                <a:tableStyleId>{5C22544A-7EE6-4342-B048-85BDC9FD1C3A}</a:tableStyleId>
              </a:tblPr>
              <a:tblGrid>
                <a:gridCol w="1913903">
                  <a:extLst>
                    <a:ext uri="{9D8B030D-6E8A-4147-A177-3AD203B41FA5}">
                      <a16:colId xmlns:a16="http://schemas.microsoft.com/office/drawing/2014/main" val="3095245996"/>
                    </a:ext>
                  </a:extLst>
                </a:gridCol>
              </a:tblGrid>
              <a:tr h="0">
                <a:tc>
                  <a:txBody>
                    <a:bodyPr/>
                    <a:lstStyle/>
                    <a:p>
                      <a:pPr lvl="0" algn="l" fontAlgn="b"/>
                      <a:r>
                        <a:rPr lang="en-GB" sz="1050" b="0" u="none" strike="noStrike">
                          <a:solidFill>
                            <a:srgbClr val="000000"/>
                          </a:solidFill>
                          <a:latin typeface="Calibri"/>
                        </a:rPr>
                        <a:t>GBAUDVYDVYES1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53518720"/>
                  </a:ext>
                </a:extLst>
              </a:tr>
              <a:tr h="174723">
                <a:tc>
                  <a:txBody>
                    <a:bodyPr/>
                    <a:lstStyle/>
                    <a:p>
                      <a:pPr lvl="0" algn="l" fontAlgn="b"/>
                      <a:r>
                        <a:rPr lang="en-GB" sz="1050" b="0" u="none" strike="noStrike">
                          <a:solidFill>
                            <a:srgbClr val="000000"/>
                          </a:solidFill>
                          <a:latin typeface="Calibri"/>
                        </a:rPr>
                        <a:t>GBAUDVYDVYES2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48706574"/>
                  </a:ext>
                </a:extLst>
              </a:tr>
              <a:tr h="174723">
                <a:tc>
                  <a:txBody>
                    <a:bodyPr/>
                    <a:lstStyle/>
                    <a:p>
                      <a:pPr lvl="0" algn="l" fontAlgn="b"/>
                      <a:r>
                        <a:rPr lang="en-GB" sz="1050" b="0" u="none" strike="noStrike">
                          <a:solidFill>
                            <a:srgbClr val="000000"/>
                          </a:solidFill>
                          <a:latin typeface="Calibri"/>
                        </a:rPr>
                        <a:t>GBAUDAGDAGFRD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10607973"/>
                  </a:ext>
                </a:extLst>
              </a:tr>
              <a:tr h="180548">
                <a:tc>
                  <a:txBody>
                    <a:bodyPr/>
                    <a:lstStyle/>
                    <a:p>
                      <a:pPr lvl="0" algn="l" fontAlgn="b"/>
                      <a:r>
                        <a:rPr lang="en-GB" sz="1050" b="0" u="none" strike="noStrike">
                          <a:solidFill>
                            <a:srgbClr val="000000"/>
                          </a:solidFill>
                          <a:latin typeface="Calibri"/>
                        </a:rPr>
                        <a:t>GBAUKMKKMKUPM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00814598"/>
                  </a:ext>
                </a:extLst>
              </a:tr>
              <a:tr h="174723">
                <a:tc>
                  <a:txBody>
                    <a:bodyPr/>
                    <a:lstStyle/>
                    <a:p>
                      <a:pPr lvl="0" algn="l" fontAlgn="b"/>
                      <a:r>
                        <a:rPr lang="en-GB" sz="1050" b="0" u="none" strike="noStrike">
                          <a:solidFill>
                            <a:srgbClr val="000000"/>
                          </a:solidFill>
                          <a:latin typeface="Calibri"/>
                        </a:rPr>
                        <a:t>GBAUSCPSCPBRS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869533781"/>
                  </a:ext>
                </a:extLst>
              </a:tr>
              <a:tr h="186373">
                <a:tc>
                  <a:txBody>
                    <a:bodyPr/>
                    <a:lstStyle/>
                    <a:p>
                      <a:pPr lvl="0" algn="l" fontAlgn="b"/>
                      <a:r>
                        <a:rPr lang="en-GB" sz="1050" b="0" u="none" strike="noStrike">
                          <a:solidFill>
                            <a:srgbClr val="000000"/>
                          </a:solidFill>
                          <a:latin typeface="Calibri"/>
                        </a:rPr>
                        <a:t>GBAUWDNWDNEST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70632684"/>
                  </a:ext>
                </a:extLst>
              </a:tr>
              <a:tr h="163074">
                <a:tc>
                  <a:txBody>
                    <a:bodyPr/>
                    <a:lstStyle/>
                    <a:p>
                      <a:pPr lvl="0" algn="l" fontAlgn="b"/>
                      <a:r>
                        <a:rPr lang="en-GB" sz="1050" b="0" u="none" strike="noStrike">
                          <a:solidFill>
                            <a:srgbClr val="000000"/>
                          </a:solidFill>
                          <a:latin typeface="Calibri"/>
                        </a:rPr>
                        <a:t>GBAUNGONGONGO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688502159"/>
                  </a:ext>
                </a:extLst>
              </a:tr>
              <a:tr h="163074">
                <a:tc>
                  <a:txBody>
                    <a:bodyPr/>
                    <a:lstStyle/>
                    <a:p>
                      <a:pPr lvl="0" algn="l" fontAlgn="b"/>
                      <a:r>
                        <a:rPr lang="en-GB" sz="1050" b="0" u="none" strike="noStrike">
                          <a:solidFill>
                            <a:srgbClr val="000000"/>
                          </a:solidFill>
                          <a:latin typeface="Calibri"/>
                        </a:rPr>
                        <a:t>GBAUASDASDASD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95054129"/>
                  </a:ext>
                </a:extLst>
              </a:tr>
              <a:tr h="163074">
                <a:tc>
                  <a:txBody>
                    <a:bodyPr/>
                    <a:lstStyle/>
                    <a:p>
                      <a:pPr lvl="0" algn="l" fontAlgn="b"/>
                      <a:r>
                        <a:rPr lang="en-GB" sz="1050" b="0" u="none" strike="noStrike">
                          <a:solidFill>
                            <a:srgbClr val="000000"/>
                          </a:solidFill>
                          <a:latin typeface="Calibri"/>
                        </a:rPr>
                        <a:t>GBAULBKLBKLBK </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116876014"/>
                  </a:ext>
                </a:extLst>
              </a:tr>
              <a:tr h="163074">
                <a:tc>
                  <a:txBody>
                    <a:bodyPr/>
                    <a:lstStyle/>
                    <a:p>
                      <a:pPr lvl="0" algn="l" fontAlgn="b"/>
                      <a:r>
                        <a:rPr lang="en-GB" sz="1050" b="0" u="none" strike="noStrike">
                          <a:solidFill>
                            <a:srgbClr val="000000"/>
                          </a:solidFill>
                          <a:latin typeface="Calibri"/>
                        </a:rPr>
                        <a:t>GBAUEATELWELW</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1460037"/>
                  </a:ext>
                </a:extLst>
              </a:tr>
              <a:tr h="163074">
                <a:tc>
                  <a:txBody>
                    <a:bodyPr/>
                    <a:lstStyle/>
                    <a:p>
                      <a:pPr lvl="0" algn="l" fontAlgn="b"/>
                      <a:r>
                        <a:rPr lang="en-GB" sz="1050" b="0" u="none" strike="noStrike">
                          <a:solidFill>
                            <a:srgbClr val="000000"/>
                          </a:solidFill>
                          <a:latin typeface="Calibri"/>
                        </a:rPr>
                        <a:t>GBAUXLWLLNTSU</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933458260"/>
                  </a:ext>
                </a:extLst>
              </a:tr>
              <a:tr h="163074">
                <a:tc>
                  <a:txBody>
                    <a:bodyPr/>
                    <a:lstStyle/>
                    <a:p>
                      <a:pPr lvl="0" algn="l" fontAlgn="ctr"/>
                      <a:r>
                        <a:rPr lang="en-GB" sz="1050" b="0" u="none" strike="noStrike">
                          <a:solidFill>
                            <a:srgbClr val="000000"/>
                          </a:solidFill>
                          <a:latin typeface="Calibri"/>
                        </a:rPr>
                        <a:t>GBAUKYNABDKYN</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6820240"/>
                  </a:ext>
                </a:extLst>
              </a:tr>
              <a:tr h="163074">
                <a:tc>
                  <a:txBody>
                    <a:bodyPr/>
                    <a:lstStyle/>
                    <a:p>
                      <a:pPr lvl="0" algn="l" fontAlgn="b"/>
                      <a:r>
                        <a:rPr lang="en-GB" sz="1050" b="0" u="none" strike="noStrike">
                          <a:solidFill>
                            <a:srgbClr val="000000"/>
                          </a:solidFill>
                          <a:latin typeface="Calibri"/>
                        </a:rPr>
                        <a:t>GBAUGLSNPTGLS</a:t>
                      </a:r>
                      <a:endParaRPr lang="en-GB" sz="1050" b="0"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882393956"/>
                  </a:ext>
                </a:extLst>
              </a:tr>
              <a:tr h="163074">
                <a:tc>
                  <a:txBody>
                    <a:bodyPr/>
                    <a:lstStyle/>
                    <a:p>
                      <a:pPr lvl="0" algn="l" fontAlgn="ctr"/>
                      <a:r>
                        <a:rPr lang="en-GB" sz="1100" u="none" strike="noStrike">
                          <a:latin typeface="Calibri"/>
                        </a:rPr>
                        <a:t>GBAUPLYPLYBBN</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07791590"/>
                  </a:ext>
                </a:extLst>
              </a:tr>
              <a:tr h="163074">
                <a:tc>
                  <a:txBody>
                    <a:bodyPr/>
                    <a:lstStyle/>
                    <a:p>
                      <a:pPr lvl="0" algn="l" fontAlgn="ctr"/>
                      <a:r>
                        <a:rPr lang="en-GB" sz="1100" u="none" strike="noStrike">
                          <a:latin typeface="Calibri"/>
                        </a:rPr>
                        <a:t>GBAUPLYPLYTPT</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660708808"/>
                  </a:ext>
                </a:extLst>
              </a:tr>
              <a:tr h="163074">
                <a:tc>
                  <a:txBody>
                    <a:bodyPr/>
                    <a:lstStyle/>
                    <a:p>
                      <a:pPr lvl="0" algn="l" fontAlgn="ctr"/>
                      <a:r>
                        <a:rPr lang="en-GB" sz="1100" u="none" strike="noStrike">
                          <a:latin typeface="Calibri"/>
                        </a:rPr>
                        <a:t>GBAUBRXTNMBRX</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58101364"/>
                  </a:ext>
                </a:extLst>
              </a:tr>
              <a:tr h="163074">
                <a:tc>
                  <a:txBody>
                    <a:bodyPr/>
                    <a:lstStyle/>
                    <a:p>
                      <a:pPr lvl="0" algn="l" fontAlgn="ctr"/>
                      <a:r>
                        <a:rPr lang="en-GB" sz="1100" u="none" strike="noStrike">
                          <a:latin typeface="Calibri"/>
                        </a:rPr>
                        <a:t>GBAUPOCMIDPOC</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604856726"/>
                  </a:ext>
                </a:extLst>
              </a:tr>
              <a:tr h="163074">
                <a:tc>
                  <a:txBody>
                    <a:bodyPr/>
                    <a:lstStyle/>
                    <a:p>
                      <a:pPr lvl="0" algn="l" fontAlgn="ctr"/>
                      <a:r>
                        <a:rPr lang="en-GB" sz="1100" u="none" strike="noStrike">
                          <a:latin typeface="Calibri"/>
                        </a:rPr>
                        <a:t>GBAUBKGLONBKG</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457743428"/>
                  </a:ext>
                </a:extLst>
              </a:tr>
              <a:tr h="163074">
                <a:tc>
                  <a:txBody>
                    <a:bodyPr/>
                    <a:lstStyle/>
                    <a:p>
                      <a:pPr lvl="0" algn="l" fontAlgn="ctr"/>
                      <a:r>
                        <a:rPr lang="en-GB" sz="1100" u="none" strike="noStrike">
                          <a:latin typeface="Calibri"/>
                        </a:rPr>
                        <a:t>GBAUBKGTILRVR</a:t>
                      </a:r>
                      <a:endParaRPr lang="en-GB" sz="1100" b="1" i="0" u="none" strike="noStrike">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666478153"/>
                  </a:ext>
                </a:extLst>
              </a:tr>
              <a:tr h="163074">
                <a:tc>
                  <a:txBody>
                    <a:bodyPr/>
                    <a:lstStyle/>
                    <a:p>
                      <a:pPr lvl="0" algn="l" fontAlgn="ctr"/>
                      <a:r>
                        <a:rPr lang="en-GB" sz="1100" u="none" strike="noStrike" dirty="0">
                          <a:latin typeface="Calibri"/>
                        </a:rPr>
                        <a:t>GBAUSLHLONSLH</a:t>
                      </a:r>
                      <a:endParaRPr lang="en-GB" sz="1100" b="1" i="0" u="none" strike="noStrike" dirty="0">
                        <a:solidFill>
                          <a:srgbClr val="000000"/>
                        </a:solidFill>
                        <a:latin typeface="Calibri"/>
                      </a:endParaRPr>
                    </a:p>
                  </a:txBody>
                  <a:tcPr marL="2496" marR="2496" marT="2496"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83840561"/>
                  </a:ext>
                </a:extLst>
              </a:tr>
            </a:tbl>
          </a:graphicData>
        </a:graphic>
      </p:graphicFrame>
      <p:sp>
        <p:nvSpPr>
          <p:cNvPr id="15" name="Rectangle 63">
            <a:extLst>
              <a:ext uri="{FF2B5EF4-FFF2-40B4-BE49-F238E27FC236}">
                <a16:creationId xmlns:a16="http://schemas.microsoft.com/office/drawing/2014/main" id="{1E958A3C-B176-4B1E-82DA-07885C31F109}"/>
              </a:ext>
            </a:extLst>
          </p:cNvPr>
          <p:cNvSpPr/>
          <p:nvPr/>
        </p:nvSpPr>
        <p:spPr>
          <a:xfrm>
            <a:off x="6326998" y="1961022"/>
            <a:ext cx="526813"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ITSF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graphicFrame>
        <p:nvGraphicFramePr>
          <p:cNvPr id="16" name="Table 64">
            <a:extLst>
              <a:ext uri="{FF2B5EF4-FFF2-40B4-BE49-F238E27FC236}">
                <a16:creationId xmlns:a16="http://schemas.microsoft.com/office/drawing/2014/main" id="{E4BBA181-3DB9-4F13-9BBA-3276762C1D48}"/>
              </a:ext>
            </a:extLst>
          </p:cNvPr>
          <p:cNvGraphicFramePr>
            <a:graphicFrameLocks noGrp="1"/>
          </p:cNvGraphicFramePr>
          <p:nvPr/>
        </p:nvGraphicFramePr>
        <p:xfrm>
          <a:off x="6429905" y="2315068"/>
          <a:ext cx="1368573" cy="1893817"/>
        </p:xfrm>
        <a:graphic>
          <a:graphicData uri="http://schemas.openxmlformats.org/drawingml/2006/table">
            <a:tbl>
              <a:tblPr firstRow="1" bandRow="1">
                <a:effectLst/>
                <a:tableStyleId>{5C22544A-7EE6-4342-B048-85BDC9FD1C3A}</a:tableStyleId>
              </a:tblPr>
              <a:tblGrid>
                <a:gridCol w="1368573">
                  <a:extLst>
                    <a:ext uri="{9D8B030D-6E8A-4147-A177-3AD203B41FA5}">
                      <a16:colId xmlns:a16="http://schemas.microsoft.com/office/drawing/2014/main" val="1158619050"/>
                    </a:ext>
                  </a:extLst>
                </a:gridCol>
              </a:tblGrid>
              <a:tr h="0">
                <a:tc>
                  <a:txBody>
                    <a:bodyPr/>
                    <a:lstStyle/>
                    <a:p>
                      <a:pPr lvl="0" algn="l" fontAlgn="ctr"/>
                      <a:r>
                        <a:rPr lang="en-GB" sz="1000" b="0" i="0" u="none" strike="noStrike">
                          <a:solidFill>
                            <a:srgbClr val="000000"/>
                          </a:solidFill>
                          <a:latin typeface="Calibri" pitchFamily="34"/>
                        </a:rPr>
                        <a:t>GBAUBELBFSHYS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590243932"/>
                  </a:ext>
                </a:extLst>
              </a:tr>
              <a:tr h="174723">
                <a:tc>
                  <a:txBody>
                    <a:bodyPr/>
                    <a:lstStyle/>
                    <a:p>
                      <a:pPr lvl="0" algn="l" fontAlgn="ctr"/>
                      <a:r>
                        <a:rPr lang="en-GB" sz="1000" b="0" i="0" u="none" strike="noStrike">
                          <a:solidFill>
                            <a:srgbClr val="000000"/>
                          </a:solidFill>
                          <a:latin typeface="Calibri" pitchFamily="34"/>
                        </a:rPr>
                        <a:t>GBAUBELBFSHWS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51703995"/>
                  </a:ext>
                </a:extLst>
              </a:tr>
              <a:tr h="174723">
                <a:tc>
                  <a:txBody>
                    <a:bodyPr/>
                    <a:lstStyle/>
                    <a:p>
                      <a:pPr lvl="0" algn="l" fontAlgn="ctr"/>
                      <a:r>
                        <a:rPr lang="en-GB" sz="1000" b="0" i="0" u="none" strike="noStrike">
                          <a:solidFill>
                            <a:srgbClr val="000000"/>
                          </a:solidFill>
                          <a:latin typeface="Calibri" pitchFamily="34"/>
                        </a:rPr>
                        <a:t>GBAUEMAEMAHWS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649925355"/>
                  </a:ext>
                </a:extLst>
              </a:tr>
              <a:tr h="180548">
                <a:tc>
                  <a:txBody>
                    <a:bodyPr/>
                    <a:lstStyle/>
                    <a:p>
                      <a:pPr lvl="0" algn="l" fontAlgn="ctr"/>
                      <a:r>
                        <a:rPr lang="en-GB" sz="1000" b="0" i="0" u="none" strike="noStrike">
                          <a:solidFill>
                            <a:srgbClr val="000000"/>
                          </a:solidFill>
                          <a:latin typeface="Calibri" pitchFamily="34"/>
                        </a:rPr>
                        <a:t>GBAUKMGHUYNGS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330941209"/>
                  </a:ext>
                </a:extLst>
              </a:tr>
              <a:tr h="174723">
                <a:tc>
                  <a:txBody>
                    <a:bodyPr/>
                    <a:lstStyle/>
                    <a:p>
                      <a:pPr lvl="0" algn="l" fontAlgn="ctr"/>
                      <a:r>
                        <a:rPr lang="en-GB" sz="1000" b="0" i="0" u="none" strike="noStrike">
                          <a:solidFill>
                            <a:srgbClr val="000000"/>
                          </a:solidFill>
                          <a:latin typeface="Calibri" pitchFamily="34"/>
                        </a:rPr>
                        <a:t>GBAULHRLHRACS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598722609"/>
                  </a:ext>
                </a:extLst>
              </a:tr>
              <a:tr h="186373">
                <a:tc>
                  <a:txBody>
                    <a:bodyPr/>
                    <a:lstStyle/>
                    <a:p>
                      <a:pPr lvl="0" algn="l" fontAlgn="b"/>
                      <a:r>
                        <a:rPr lang="en-GB" sz="1000" b="0" i="0" u="none" strike="noStrike">
                          <a:solidFill>
                            <a:srgbClr val="000000"/>
                          </a:solidFill>
                          <a:latin typeface="Calibri" pitchFamily="34"/>
                        </a:rPr>
                        <a:t>GBAULHRLHRAPH</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568506651"/>
                  </a:ext>
                </a:extLst>
              </a:tr>
              <a:tr h="163074">
                <a:tc>
                  <a:txBody>
                    <a:bodyPr/>
                    <a:lstStyle/>
                    <a:p>
                      <a:pPr lvl="0" algn="l" fontAlgn="b"/>
                      <a:r>
                        <a:rPr lang="en-GB" sz="1000" b="0" i="0" u="none" strike="noStrike">
                          <a:solidFill>
                            <a:srgbClr val="000000"/>
                          </a:solidFill>
                          <a:latin typeface="Calibri" pitchFamily="34"/>
                        </a:rPr>
                        <a:t>GBAULHRLHRARC</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717864676"/>
                  </a:ext>
                </a:extLst>
              </a:tr>
              <a:tr h="163074">
                <a:tc>
                  <a:txBody>
                    <a:bodyPr/>
                    <a:lstStyle/>
                    <a:p>
                      <a:pPr lvl="0" algn="l" fontAlgn="b"/>
                      <a:r>
                        <a:rPr lang="en-GB" sz="1000" b="0" i="0" u="none" strike="noStrike">
                          <a:solidFill>
                            <a:srgbClr val="000000"/>
                          </a:solidFill>
                          <a:latin typeface="Calibri" pitchFamily="34"/>
                        </a:rPr>
                        <a:t>GBAUSWLLHRPHS</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150555079"/>
                  </a:ext>
                </a:extLst>
              </a:tr>
              <a:tr h="163074">
                <a:tc>
                  <a:txBody>
                    <a:bodyPr/>
                    <a:lstStyle/>
                    <a:p>
                      <a:pPr lvl="0" algn="l" fontAlgn="ctr"/>
                      <a:r>
                        <a:rPr lang="en-GB" sz="1000" b="0" i="0" u="none" strike="noStrike">
                          <a:solidFill>
                            <a:srgbClr val="000000"/>
                          </a:solidFill>
                          <a:latin typeface="Calibri" pitchFamily="34"/>
                        </a:rPr>
                        <a:t>GBAUMNCMANBIP</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74947668"/>
                  </a:ext>
                </a:extLst>
              </a:tr>
              <a:tr h="163074">
                <a:tc>
                  <a:txBody>
                    <a:bodyPr/>
                    <a:lstStyle/>
                    <a:p>
                      <a:pPr lvl="0" algn="l" fontAlgn="ctr"/>
                      <a:r>
                        <a:rPr lang="en-GB" sz="1000" b="0" i="0" u="none" strike="noStrike">
                          <a:solidFill>
                            <a:srgbClr val="000000"/>
                          </a:solidFill>
                          <a:latin typeface="Calibri" pitchFamily="34"/>
                        </a:rPr>
                        <a:t>GBAUMNCMANNBS</a:t>
                      </a:r>
                    </a:p>
                  </a:txBody>
                  <a:tcPr marL="4764" marR="4764" marT="4764" marB="0" anchor="ctr">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45069495"/>
                  </a:ext>
                </a:extLst>
              </a:tr>
              <a:tr h="193267">
                <a:tc>
                  <a:txBody>
                    <a:bodyPr/>
                    <a:lstStyle/>
                    <a:p>
                      <a:pPr lvl="0" algn="l" fontAlgn="b"/>
                      <a:r>
                        <a:rPr lang="en-GB" sz="1000" b="0" i="0" u="none" strike="noStrike" dirty="0">
                          <a:solidFill>
                            <a:srgbClr val="000000"/>
                          </a:solidFill>
                          <a:latin typeface="Calibri" pitchFamily="34"/>
                        </a:rPr>
                        <a:t>GBAUGLWGLABIP</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97469057"/>
                  </a:ext>
                </a:extLst>
              </a:tr>
            </a:tbl>
          </a:graphicData>
        </a:graphic>
      </p:graphicFrame>
      <p:sp>
        <p:nvSpPr>
          <p:cNvPr id="17" name="Rectangle 65">
            <a:extLst>
              <a:ext uri="{FF2B5EF4-FFF2-40B4-BE49-F238E27FC236}">
                <a16:creationId xmlns:a16="http://schemas.microsoft.com/office/drawing/2014/main" id="{3D2DD86D-36E7-4703-AF17-BA8472C20C00}"/>
              </a:ext>
            </a:extLst>
          </p:cNvPr>
          <p:cNvSpPr/>
          <p:nvPr/>
        </p:nvSpPr>
        <p:spPr>
          <a:xfrm>
            <a:off x="8535640" y="1932584"/>
            <a:ext cx="566882"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ETSF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graphicFrame>
        <p:nvGraphicFramePr>
          <p:cNvPr id="18" name="Table 66">
            <a:extLst>
              <a:ext uri="{FF2B5EF4-FFF2-40B4-BE49-F238E27FC236}">
                <a16:creationId xmlns:a16="http://schemas.microsoft.com/office/drawing/2014/main" id="{3A689FCD-9478-4F1D-A77B-EF930684C15F}"/>
              </a:ext>
            </a:extLst>
          </p:cNvPr>
          <p:cNvGraphicFramePr>
            <a:graphicFrameLocks noGrp="1"/>
          </p:cNvGraphicFramePr>
          <p:nvPr/>
        </p:nvGraphicFramePr>
        <p:xfrm>
          <a:off x="8624026" y="2293918"/>
          <a:ext cx="1368573" cy="3494364"/>
        </p:xfrm>
        <a:graphic>
          <a:graphicData uri="http://schemas.openxmlformats.org/drawingml/2006/table">
            <a:tbl>
              <a:tblPr firstRow="1" bandRow="1">
                <a:effectLst/>
                <a:tableStyleId>{5C22544A-7EE6-4342-B048-85BDC9FD1C3A}</a:tableStyleId>
              </a:tblPr>
              <a:tblGrid>
                <a:gridCol w="1368573">
                  <a:extLst>
                    <a:ext uri="{9D8B030D-6E8A-4147-A177-3AD203B41FA5}">
                      <a16:colId xmlns:a16="http://schemas.microsoft.com/office/drawing/2014/main" val="1875936560"/>
                    </a:ext>
                  </a:extLst>
                </a:gridCol>
              </a:tblGrid>
              <a:tr h="0">
                <a:tc>
                  <a:txBody>
                    <a:bodyPr/>
                    <a:lstStyle/>
                    <a:p>
                      <a:pPr lvl="0" algn="l" fontAlgn="b"/>
                      <a:r>
                        <a:rPr lang="en-GB" sz="1000" b="0" i="0" u="none" strike="noStrike">
                          <a:solidFill>
                            <a:srgbClr val="000000"/>
                          </a:solidFill>
                          <a:latin typeface="Calibri" pitchFamily="34"/>
                        </a:rPr>
                        <a:t>GBAUPOEABZEBX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071128736"/>
                  </a:ext>
                </a:extLst>
              </a:tr>
              <a:tr h="174723">
                <a:tc>
                  <a:txBody>
                    <a:bodyPr/>
                    <a:lstStyle/>
                    <a:p>
                      <a:pPr lvl="0" algn="l" fontAlgn="b"/>
                      <a:r>
                        <a:rPr lang="en-GB" sz="1000" b="0" i="0" u="none" strike="noStrike">
                          <a:solidFill>
                            <a:srgbClr val="000000"/>
                          </a:solidFill>
                          <a:latin typeface="Calibri" pitchFamily="34"/>
                        </a:rPr>
                        <a:t>GBAUBELBELDHX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27566518"/>
                  </a:ext>
                </a:extLst>
              </a:tr>
              <a:tr h="174723">
                <a:tc>
                  <a:txBody>
                    <a:bodyPr/>
                    <a:lstStyle/>
                    <a:p>
                      <a:pPr lvl="0" algn="l" fontAlgn="b"/>
                      <a:r>
                        <a:rPr lang="en-GB" sz="1000" b="0" i="0" u="none" strike="noStrike">
                          <a:solidFill>
                            <a:srgbClr val="000000"/>
                          </a:solidFill>
                          <a:latin typeface="Calibri" pitchFamily="34"/>
                        </a:rPr>
                        <a:t>GBAULISBFSEOX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43531692"/>
                  </a:ext>
                </a:extLst>
              </a:tr>
              <a:tr h="180548">
                <a:tc>
                  <a:txBody>
                    <a:bodyPr/>
                    <a:lstStyle/>
                    <a:p>
                      <a:pPr lvl="0" algn="l" fontAlgn="b"/>
                      <a:r>
                        <a:rPr lang="en-GB" sz="1000" b="0" i="0" u="none" strike="noStrike">
                          <a:solidFill>
                            <a:srgbClr val="000000"/>
                          </a:solidFill>
                          <a:latin typeface="Calibri" pitchFamily="34"/>
                        </a:rPr>
                        <a:t>GBAUBHMBHXLKX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222956382"/>
                  </a:ext>
                </a:extLst>
              </a:tr>
              <a:tr h="174723">
                <a:tc>
                  <a:txBody>
                    <a:bodyPr/>
                    <a:lstStyle/>
                    <a:p>
                      <a:pPr lvl="0" algn="l" fontAlgn="b"/>
                      <a:r>
                        <a:rPr lang="en-GB" sz="1000" b="0" i="0" u="none" strike="noStrike">
                          <a:solidFill>
                            <a:srgbClr val="000000"/>
                          </a:solidFill>
                          <a:latin typeface="Calibri" pitchFamily="34"/>
                        </a:rPr>
                        <a:t>GBAUATHBHXRMX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941696963"/>
                  </a:ext>
                </a:extLst>
              </a:tr>
              <a:tr h="186373">
                <a:tc>
                  <a:txBody>
                    <a:bodyPr/>
                    <a:lstStyle/>
                    <a:p>
                      <a:pPr lvl="0" algn="l" fontAlgn="b"/>
                      <a:r>
                        <a:rPr lang="en-GB" sz="1000" b="0" i="0" u="none" strike="noStrike">
                          <a:solidFill>
                            <a:srgbClr val="000000"/>
                          </a:solidFill>
                          <a:latin typeface="Calibri" pitchFamily="34"/>
                        </a:rPr>
                        <a:t>GBAUCNKBHXRUX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20068758"/>
                  </a:ext>
                </a:extLst>
              </a:tr>
              <a:tr h="163074">
                <a:tc>
                  <a:txBody>
                    <a:bodyPr/>
                    <a:lstStyle/>
                    <a:p>
                      <a:pPr lvl="0" algn="l" fontAlgn="b"/>
                      <a:r>
                        <a:rPr lang="en-GB" sz="1000" b="0" i="0" u="none" strike="noStrike">
                          <a:solidFill>
                            <a:srgbClr val="000000"/>
                          </a:solidFill>
                          <a:latin typeface="Calibri" pitchFamily="34"/>
                        </a:rPr>
                        <a:t>GBAUBHMBHXTFX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444327420"/>
                  </a:ext>
                </a:extLst>
              </a:tr>
              <a:tr h="163074">
                <a:tc>
                  <a:txBody>
                    <a:bodyPr/>
                    <a:lstStyle/>
                    <a:p>
                      <a:pPr lvl="0" algn="l" fontAlgn="b"/>
                      <a:r>
                        <a:rPr lang="en-GB" sz="1000" b="0" i="0" u="none" strike="noStrike">
                          <a:solidFill>
                            <a:srgbClr val="000000"/>
                          </a:solidFill>
                          <a:latin typeface="Calibri" pitchFamily="34"/>
                        </a:rPr>
                        <a:t> GBAUPOOPOOBXX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055037801"/>
                  </a:ext>
                </a:extLst>
              </a:tr>
              <a:tr h="163074">
                <a:tc>
                  <a:txBody>
                    <a:bodyPr/>
                    <a:lstStyle/>
                    <a:p>
                      <a:pPr lvl="0" algn="l" fontAlgn="b"/>
                      <a:r>
                        <a:rPr lang="en-GB" sz="1000" b="0" i="0" u="none" strike="noStrike">
                          <a:solidFill>
                            <a:srgbClr val="000000"/>
                          </a:solidFill>
                          <a:latin typeface="Calibri" pitchFamily="34"/>
                        </a:rPr>
                        <a:t>GBAULIOGLAGEX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640199199"/>
                  </a:ext>
                </a:extLst>
              </a:tr>
              <a:tr h="163074">
                <a:tc>
                  <a:txBody>
                    <a:bodyPr/>
                    <a:lstStyle/>
                    <a:p>
                      <a:pPr lvl="0" algn="l" fontAlgn="b"/>
                      <a:r>
                        <a:rPr lang="en-GB" sz="1000" b="0" i="0" u="none" strike="noStrike">
                          <a:solidFill>
                            <a:srgbClr val="000000"/>
                          </a:solidFill>
                          <a:latin typeface="Calibri" pitchFamily="34"/>
                        </a:rPr>
                        <a:t>GBAULWMLBARUX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925313461"/>
                  </a:ext>
                </a:extLst>
              </a:tr>
              <a:tr h="163074">
                <a:tc>
                  <a:txBody>
                    <a:bodyPr/>
                    <a:lstStyle/>
                    <a:p>
                      <a:pPr lvl="0" algn="l" fontAlgn="b"/>
                      <a:r>
                        <a:rPr lang="en-GB" sz="1000" b="0" i="0" u="none" strike="noStrike">
                          <a:solidFill>
                            <a:srgbClr val="000000"/>
                          </a:solidFill>
                          <a:latin typeface="Calibri" pitchFamily="34"/>
                        </a:rPr>
                        <a:t>GBAUHTOLHREBX </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461893600"/>
                  </a:ext>
                </a:extLst>
              </a:tr>
              <a:tr h="163074">
                <a:tc>
                  <a:txBody>
                    <a:bodyPr/>
                    <a:lstStyle/>
                    <a:p>
                      <a:pPr lvl="0" algn="l" fontAlgn="b"/>
                      <a:r>
                        <a:rPr lang="en-GB" sz="1000" b="0" i="0" u="none" strike="noStrike">
                          <a:solidFill>
                            <a:srgbClr val="000000"/>
                          </a:solidFill>
                          <a:latin typeface="Calibri" pitchFamily="34"/>
                        </a:rPr>
                        <a:t>GBAUCBRLHRFKX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47757559"/>
                  </a:ext>
                </a:extLst>
              </a:tr>
              <a:tr h="163074">
                <a:tc>
                  <a:txBody>
                    <a:bodyPr/>
                    <a:lstStyle/>
                    <a:p>
                      <a:pPr lvl="0" algn="l" fontAlgn="b"/>
                      <a:r>
                        <a:rPr lang="en-GB" sz="1000" b="0" i="0" u="none" strike="noStrike">
                          <a:solidFill>
                            <a:srgbClr val="000000"/>
                          </a:solidFill>
                          <a:latin typeface="Calibri" pitchFamily="34"/>
                        </a:rPr>
                        <a:t>GBAUFEMLHRFLX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38386678"/>
                  </a:ext>
                </a:extLst>
              </a:tr>
              <a:tr h="163074">
                <a:tc>
                  <a:txBody>
                    <a:bodyPr/>
                    <a:lstStyle/>
                    <a:p>
                      <a:pPr lvl="0" algn="l" fontAlgn="b"/>
                      <a:r>
                        <a:rPr lang="en-GB" sz="1000" b="0" i="0" u="none" strike="noStrike">
                          <a:solidFill>
                            <a:srgbClr val="000000"/>
                          </a:solidFill>
                          <a:latin typeface="Calibri" pitchFamily="34"/>
                        </a:rPr>
                        <a:t>GBAUCBRLHRHGX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95962101"/>
                  </a:ext>
                </a:extLst>
              </a:tr>
              <a:tr h="163074">
                <a:tc>
                  <a:txBody>
                    <a:bodyPr/>
                    <a:lstStyle/>
                    <a:p>
                      <a:pPr lvl="0" algn="l" fontAlgn="b"/>
                      <a:r>
                        <a:rPr lang="en-GB" sz="1000" b="0" i="0" u="none" strike="noStrike">
                          <a:solidFill>
                            <a:srgbClr val="000000"/>
                          </a:solidFill>
                          <a:latin typeface="Calibri" pitchFamily="34"/>
                        </a:rPr>
                        <a:t>GBAUCBRLHRHSX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671260629"/>
                  </a:ext>
                </a:extLst>
              </a:tr>
              <a:tr h="163074">
                <a:tc>
                  <a:txBody>
                    <a:bodyPr/>
                    <a:lstStyle/>
                    <a:p>
                      <a:pPr lvl="0" algn="l" fontAlgn="b"/>
                      <a:r>
                        <a:rPr lang="en-GB" sz="1000" b="0" i="0" u="none" strike="noStrike">
                          <a:solidFill>
                            <a:srgbClr val="000000"/>
                          </a:solidFill>
                          <a:latin typeface="Calibri" pitchFamily="34"/>
                        </a:rPr>
                        <a:t>GBAUHESLHRIWX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55620649"/>
                  </a:ext>
                </a:extLst>
              </a:tr>
              <a:tr h="163074">
                <a:tc>
                  <a:txBody>
                    <a:bodyPr/>
                    <a:lstStyle/>
                    <a:p>
                      <a:pPr lvl="0" algn="l" fontAlgn="b"/>
                      <a:r>
                        <a:rPr lang="en-GB" sz="1000" b="0" i="0" u="none" strike="noStrike">
                          <a:solidFill>
                            <a:srgbClr val="000000"/>
                          </a:solidFill>
                          <a:latin typeface="Calibri" pitchFamily="34"/>
                        </a:rPr>
                        <a:t>GBAUSWLLHRJPX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710303147"/>
                  </a:ext>
                </a:extLst>
              </a:tr>
              <a:tr h="163074">
                <a:tc>
                  <a:txBody>
                    <a:bodyPr/>
                    <a:lstStyle/>
                    <a:p>
                      <a:pPr lvl="0" algn="l" fontAlgn="b"/>
                      <a:r>
                        <a:rPr lang="en-GB" sz="1000" b="0" i="0" u="none" strike="noStrike">
                          <a:solidFill>
                            <a:srgbClr val="000000"/>
                          </a:solidFill>
                          <a:latin typeface="Calibri" pitchFamily="34"/>
                        </a:rPr>
                        <a:t>GBAUEGHLHRLLX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227935617"/>
                  </a:ext>
                </a:extLst>
              </a:tr>
              <a:tr h="163074">
                <a:tc>
                  <a:txBody>
                    <a:bodyPr/>
                    <a:lstStyle/>
                    <a:p>
                      <a:pPr lvl="0" algn="l" fontAlgn="b"/>
                      <a:r>
                        <a:rPr lang="en-GB" sz="1000" b="0" i="0" u="none" strike="noStrike">
                          <a:solidFill>
                            <a:srgbClr val="000000"/>
                          </a:solidFill>
                          <a:latin typeface="Calibri" pitchFamily="34"/>
                        </a:rPr>
                        <a:t>GBAUHOULHRLRX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650242931"/>
                  </a:ext>
                </a:extLst>
              </a:tr>
              <a:tr h="163074">
                <a:tc>
                  <a:txBody>
                    <a:bodyPr/>
                    <a:lstStyle/>
                    <a:p>
                      <a:pPr lvl="0" algn="l" fontAlgn="b"/>
                      <a:r>
                        <a:rPr lang="en-GB" sz="1000" b="0" i="0" u="none" strike="noStrike">
                          <a:solidFill>
                            <a:srgbClr val="000000"/>
                          </a:solidFill>
                          <a:latin typeface="Calibri" pitchFamily="34"/>
                        </a:rPr>
                        <a:t>GBAULYOLCYMNX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991865797"/>
                  </a:ext>
                </a:extLst>
              </a:tr>
              <a:tr h="163074">
                <a:tc>
                  <a:txBody>
                    <a:bodyPr/>
                    <a:lstStyle/>
                    <a:p>
                      <a:pPr lvl="0" algn="l" fontAlgn="b"/>
                      <a:r>
                        <a:rPr lang="en-GB" sz="1000" b="0" i="0" u="none" strike="noStrike" dirty="0">
                          <a:solidFill>
                            <a:srgbClr val="000000"/>
                          </a:solidFill>
                          <a:latin typeface="Calibri" pitchFamily="34"/>
                        </a:rPr>
                        <a:t>GBAUSBYLHRMZX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899793942"/>
                  </a:ext>
                </a:extLst>
              </a:tr>
            </a:tbl>
          </a:graphicData>
        </a:graphic>
      </p:graphicFrame>
      <p:graphicFrame>
        <p:nvGraphicFramePr>
          <p:cNvPr id="19" name="Table 67">
            <a:extLst>
              <a:ext uri="{FF2B5EF4-FFF2-40B4-BE49-F238E27FC236}">
                <a16:creationId xmlns:a16="http://schemas.microsoft.com/office/drawing/2014/main" id="{94003F25-B081-40D1-803D-A88F8E60A2DB}"/>
              </a:ext>
            </a:extLst>
          </p:cNvPr>
          <p:cNvGraphicFramePr>
            <a:graphicFrameLocks noGrp="1"/>
          </p:cNvGraphicFramePr>
          <p:nvPr/>
        </p:nvGraphicFramePr>
        <p:xfrm>
          <a:off x="10146447" y="2293918"/>
          <a:ext cx="1368573" cy="2364153"/>
        </p:xfrm>
        <a:graphic>
          <a:graphicData uri="http://schemas.openxmlformats.org/drawingml/2006/table">
            <a:tbl>
              <a:tblPr firstRow="1" bandRow="1">
                <a:effectLst/>
                <a:tableStyleId>{5C22544A-7EE6-4342-B048-85BDC9FD1C3A}</a:tableStyleId>
              </a:tblPr>
              <a:tblGrid>
                <a:gridCol w="1368573">
                  <a:extLst>
                    <a:ext uri="{9D8B030D-6E8A-4147-A177-3AD203B41FA5}">
                      <a16:colId xmlns:a16="http://schemas.microsoft.com/office/drawing/2014/main" val="4236241410"/>
                    </a:ext>
                  </a:extLst>
                </a:gridCol>
              </a:tblGrid>
              <a:tr h="0">
                <a:tc>
                  <a:txBody>
                    <a:bodyPr/>
                    <a:lstStyle/>
                    <a:p>
                      <a:pPr lvl="0" algn="l" fontAlgn="b"/>
                      <a:r>
                        <a:rPr lang="en-GB" sz="1000" b="0" i="0" u="none" strike="noStrike">
                          <a:solidFill>
                            <a:srgbClr val="000000"/>
                          </a:solidFill>
                          <a:latin typeface="Calibri" pitchFamily="34"/>
                        </a:rPr>
                        <a:t>GBAUCBRLHRNEX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025024167"/>
                  </a:ext>
                </a:extLst>
              </a:tr>
              <a:tr h="0">
                <a:tc>
                  <a:txBody>
                    <a:bodyPr/>
                    <a:lstStyle/>
                    <a:p>
                      <a:pPr lvl="0" algn="l" fontAlgn="b"/>
                      <a:r>
                        <a:rPr lang="en-GB" sz="1000" b="0" i="0" u="none" strike="noStrike">
                          <a:solidFill>
                            <a:srgbClr val="000000"/>
                          </a:solidFill>
                          <a:latin typeface="Calibri" pitchFamily="34"/>
                        </a:rPr>
                        <a:t>GBAUPYALHRNFX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103635993"/>
                  </a:ext>
                </a:extLst>
              </a:tr>
              <a:tr h="0">
                <a:tc>
                  <a:txBody>
                    <a:bodyPr/>
                    <a:lstStyle/>
                    <a:p>
                      <a:pPr lvl="0" algn="l" fontAlgn="b"/>
                      <a:r>
                        <a:rPr lang="en-GB" sz="1000" b="0" i="0" u="none" strike="noStrike">
                          <a:solidFill>
                            <a:srgbClr val="000000"/>
                          </a:solidFill>
                          <a:latin typeface="Calibri" pitchFamily="34"/>
                        </a:rPr>
                        <a:t>GBAUSLPLHRNJX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337784432"/>
                  </a:ext>
                </a:extLst>
              </a:tr>
              <a:tr h="0">
                <a:tc>
                  <a:txBody>
                    <a:bodyPr/>
                    <a:lstStyle/>
                    <a:p>
                      <a:pPr lvl="0" algn="l" fontAlgn="b"/>
                      <a:r>
                        <a:rPr lang="en-GB" sz="1000" b="0" i="0" u="none" strike="noStrike">
                          <a:solidFill>
                            <a:srgbClr val="000000"/>
                          </a:solidFill>
                          <a:latin typeface="Calibri" pitchFamily="34"/>
                        </a:rPr>
                        <a:t>GBAUCBRLHROTX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29727712"/>
                  </a:ext>
                </a:extLst>
              </a:tr>
              <a:tr h="0">
                <a:tc>
                  <a:txBody>
                    <a:bodyPr/>
                    <a:lstStyle/>
                    <a:p>
                      <a:pPr lvl="0" algn="l" fontAlgn="b"/>
                      <a:r>
                        <a:rPr lang="en-GB" sz="1000" b="0" i="0" u="none" strike="noStrike">
                          <a:solidFill>
                            <a:srgbClr val="000000"/>
                          </a:solidFill>
                          <a:latin typeface="Calibri" pitchFamily="34"/>
                        </a:rPr>
                        <a:t>GBAUCBRLHRRWX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334146262"/>
                  </a:ext>
                </a:extLst>
              </a:tr>
              <a:tr h="174723">
                <a:tc>
                  <a:txBody>
                    <a:bodyPr/>
                    <a:lstStyle/>
                    <a:p>
                      <a:pPr lvl="0" algn="l" fontAlgn="b"/>
                      <a:r>
                        <a:rPr lang="en-GB" sz="1000" b="0" i="0" u="none" strike="noStrike">
                          <a:solidFill>
                            <a:srgbClr val="000000"/>
                          </a:solidFill>
                          <a:latin typeface="Calibri" pitchFamily="34"/>
                        </a:rPr>
                        <a:t>GBAUCBRLHRTFX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560411146"/>
                  </a:ext>
                </a:extLst>
              </a:tr>
              <a:tr h="174723">
                <a:tc>
                  <a:txBody>
                    <a:bodyPr/>
                    <a:lstStyle/>
                    <a:p>
                      <a:pPr lvl="0" algn="l" fontAlgn="b"/>
                      <a:r>
                        <a:rPr lang="en-GB" sz="1000" b="0" i="0" u="none" strike="noStrike">
                          <a:solidFill>
                            <a:srgbClr val="000000"/>
                          </a:solidFill>
                          <a:latin typeface="Calibri" pitchFamily="34"/>
                        </a:rPr>
                        <a:t>GBAUCBRLHRTOX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054436685"/>
                  </a:ext>
                </a:extLst>
              </a:tr>
              <a:tr h="174723">
                <a:tc>
                  <a:txBody>
                    <a:bodyPr/>
                    <a:lstStyle/>
                    <a:p>
                      <a:pPr lvl="0" algn="l" fontAlgn="b"/>
                      <a:r>
                        <a:rPr lang="en-GB" sz="1000" b="0" i="0" u="none" strike="noStrike">
                          <a:solidFill>
                            <a:srgbClr val="000000"/>
                          </a:solidFill>
                          <a:latin typeface="Calibri" pitchFamily="34"/>
                        </a:rPr>
                        <a:t>GBAUSLOLHRPTX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893927488"/>
                  </a:ext>
                </a:extLst>
              </a:tr>
              <a:tr h="174723">
                <a:tc>
                  <a:txBody>
                    <a:bodyPr/>
                    <a:lstStyle/>
                    <a:p>
                      <a:pPr lvl="0" algn="l" fontAlgn="b"/>
                      <a:r>
                        <a:rPr lang="en-GB" sz="1000" b="0" i="0" u="none" strike="noStrike">
                          <a:solidFill>
                            <a:srgbClr val="000000"/>
                          </a:solidFill>
                          <a:latin typeface="Calibri" pitchFamily="34"/>
                        </a:rPr>
                        <a:t>GBAUHMWLHRUPX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478174465"/>
                  </a:ext>
                </a:extLst>
              </a:tr>
              <a:tr h="174723">
                <a:tc>
                  <a:txBody>
                    <a:bodyPr/>
                    <a:lstStyle/>
                    <a:p>
                      <a:pPr lvl="0" algn="l" fontAlgn="b"/>
                      <a:r>
                        <a:rPr lang="en-GB" sz="1000" b="0" i="0" u="none" strike="noStrike">
                          <a:solidFill>
                            <a:srgbClr val="000000"/>
                          </a:solidFill>
                          <a:latin typeface="Calibri" pitchFamily="34"/>
                        </a:rPr>
                        <a:t>GBAUNWPLTNEXX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354304838"/>
                  </a:ext>
                </a:extLst>
              </a:tr>
              <a:tr h="180548">
                <a:tc>
                  <a:txBody>
                    <a:bodyPr/>
                    <a:lstStyle/>
                    <a:p>
                      <a:pPr lvl="0" algn="l" fontAlgn="b"/>
                      <a:r>
                        <a:rPr lang="en-GB" sz="1000" b="0" i="0" u="none" strike="noStrike">
                          <a:solidFill>
                            <a:srgbClr val="000000"/>
                          </a:solidFill>
                          <a:latin typeface="Calibri" pitchFamily="34"/>
                        </a:rPr>
                        <a:t>GBAUWYHMANDNX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16085716"/>
                  </a:ext>
                </a:extLst>
              </a:tr>
              <a:tr h="174723">
                <a:tc>
                  <a:txBody>
                    <a:bodyPr/>
                    <a:lstStyle/>
                    <a:p>
                      <a:pPr lvl="0" algn="l" fontAlgn="b"/>
                      <a:r>
                        <a:rPr lang="en-GB" sz="1000" b="0" i="0" u="none" strike="noStrike">
                          <a:solidFill>
                            <a:srgbClr val="000000"/>
                          </a:solidFill>
                          <a:latin typeface="Calibri" pitchFamily="34"/>
                        </a:rPr>
                        <a:t>GBAUMNCMANHSX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892996445"/>
                  </a:ext>
                </a:extLst>
              </a:tr>
              <a:tr h="186373">
                <a:tc>
                  <a:txBody>
                    <a:bodyPr/>
                    <a:lstStyle/>
                    <a:p>
                      <a:pPr lvl="0" algn="l" fontAlgn="b"/>
                      <a:r>
                        <a:rPr lang="en-GB" sz="1000" b="0" i="0" u="none" strike="noStrike">
                          <a:solidFill>
                            <a:srgbClr val="000000"/>
                          </a:solidFill>
                          <a:latin typeface="Calibri" pitchFamily="34"/>
                        </a:rPr>
                        <a:t>GBAUECSMANRUX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490332872"/>
                  </a:ext>
                </a:extLst>
              </a:tr>
              <a:tr h="163074">
                <a:tc>
                  <a:txBody>
                    <a:bodyPr/>
                    <a:lstStyle/>
                    <a:p>
                      <a:pPr lvl="0" algn="l" fontAlgn="b"/>
                      <a:r>
                        <a:rPr lang="en-GB" sz="1000" b="0" i="0" u="none" strike="noStrike" dirty="0">
                          <a:solidFill>
                            <a:srgbClr val="000000"/>
                          </a:solidFill>
                          <a:latin typeface="Calibri" pitchFamily="34"/>
                        </a:rPr>
                        <a:t>GBAUWYHMANQJX</a:t>
                      </a:r>
                    </a:p>
                  </a:txBody>
                  <a:tcPr marL="4764" marR="4764" marT="4764" marB="0" anchor="b">
                    <a:lnL w="12701" cap="flat" cmpd="sng" algn="ctr">
                      <a:solidFill>
                        <a:srgbClr val="000000"/>
                      </a:solidFill>
                      <a:prstDash val="solid"/>
                      <a:round/>
                      <a:headEnd type="none" w="med" len="med"/>
                      <a:tailEnd type="none" w="med" len="med"/>
                    </a:lnL>
                    <a:lnR w="12701" cap="flat" cmpd="sng" algn="ctr">
                      <a:solidFill>
                        <a:srgbClr val="000000"/>
                      </a:solidFill>
                      <a:prstDash val="solid"/>
                      <a:round/>
                      <a:headEnd type="none" w="med" len="med"/>
                      <a:tailEnd type="none" w="med" len="med"/>
                    </a:lnR>
                    <a:lnT w="12701" cap="flat" cmpd="sng" algn="ctr">
                      <a:solidFill>
                        <a:srgbClr val="000000"/>
                      </a:solidFill>
                      <a:prstDash val="solid"/>
                      <a:round/>
                      <a:headEnd type="none" w="med" len="med"/>
                      <a:tailEnd type="none" w="med" len="med"/>
                    </a:lnT>
                    <a:lnB w="12701"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345928932"/>
                  </a:ext>
                </a:extLst>
              </a:tr>
            </a:tbl>
          </a:graphicData>
        </a:graphic>
      </p:graphicFrame>
      <p:sp>
        <p:nvSpPr>
          <p:cNvPr id="20" name="Rectangle 68">
            <a:extLst>
              <a:ext uri="{FF2B5EF4-FFF2-40B4-BE49-F238E27FC236}">
                <a16:creationId xmlns:a16="http://schemas.microsoft.com/office/drawing/2014/main" id="{AB09D08A-2C3F-433F-AB28-FC29C8646717}"/>
              </a:ext>
            </a:extLst>
          </p:cNvPr>
          <p:cNvSpPr/>
          <p:nvPr/>
        </p:nvSpPr>
        <p:spPr>
          <a:xfrm>
            <a:off x="3610234" y="1932584"/>
            <a:ext cx="2456178" cy="3972546"/>
          </a:xfrm>
          <a:prstGeom prst="rect">
            <a:avLst/>
          </a:prstGeom>
          <a:noFill/>
          <a:ln w="12701" cap="flat">
            <a:solidFill>
              <a:srgbClr val="A6A6A6"/>
            </a:solidFill>
            <a:custDash>
              <a:ds d="799921" sp="799921"/>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Rectangle 69">
            <a:extLst>
              <a:ext uri="{FF2B5EF4-FFF2-40B4-BE49-F238E27FC236}">
                <a16:creationId xmlns:a16="http://schemas.microsoft.com/office/drawing/2014/main" id="{C5A27270-0F2D-4E93-B248-74CA8F8F6864}"/>
              </a:ext>
            </a:extLst>
          </p:cNvPr>
          <p:cNvSpPr/>
          <p:nvPr/>
        </p:nvSpPr>
        <p:spPr>
          <a:xfrm>
            <a:off x="6288822" y="1936260"/>
            <a:ext cx="1957081" cy="3972546"/>
          </a:xfrm>
          <a:prstGeom prst="rect">
            <a:avLst/>
          </a:prstGeom>
          <a:noFill/>
          <a:ln w="12701" cap="flat">
            <a:solidFill>
              <a:srgbClr val="A6A6A6"/>
            </a:solidFill>
            <a:custDash>
              <a:ds d="799921" sp="799921"/>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Rectangle 70">
            <a:extLst>
              <a:ext uri="{FF2B5EF4-FFF2-40B4-BE49-F238E27FC236}">
                <a16:creationId xmlns:a16="http://schemas.microsoft.com/office/drawing/2014/main" id="{65832CE3-B9EC-4F24-A1F3-A1B70239CB10}"/>
              </a:ext>
            </a:extLst>
          </p:cNvPr>
          <p:cNvSpPr/>
          <p:nvPr/>
        </p:nvSpPr>
        <p:spPr>
          <a:xfrm>
            <a:off x="465155" y="1932584"/>
            <a:ext cx="2493952"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General Location Codes</a:t>
            </a:r>
          </a:p>
        </p:txBody>
      </p:sp>
      <p:sp>
        <p:nvSpPr>
          <p:cNvPr id="23" name="Rectangle 71">
            <a:extLst>
              <a:ext uri="{FF2B5EF4-FFF2-40B4-BE49-F238E27FC236}">
                <a16:creationId xmlns:a16="http://schemas.microsoft.com/office/drawing/2014/main" id="{92FFE38C-C83F-4100-81A9-739F0B5DB5CF}"/>
              </a:ext>
            </a:extLst>
          </p:cNvPr>
          <p:cNvSpPr/>
          <p:nvPr/>
        </p:nvSpPr>
        <p:spPr>
          <a:xfrm>
            <a:off x="465155" y="1932584"/>
            <a:ext cx="2955807" cy="3972546"/>
          </a:xfrm>
          <a:prstGeom prst="rect">
            <a:avLst/>
          </a:prstGeom>
          <a:noFill/>
          <a:ln w="12701" cap="flat">
            <a:solidFill>
              <a:srgbClr val="A6A6A6"/>
            </a:solidFill>
            <a:custDash>
              <a:ds d="799921" sp="799921"/>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44">
            <a:hlinkClick r:id="rId3" action="ppaction://hlinksldjump"/>
            <a:extLst>
              <a:ext uri="{FF2B5EF4-FFF2-40B4-BE49-F238E27FC236}">
                <a16:creationId xmlns:a16="http://schemas.microsoft.com/office/drawing/2014/main" id="{DFE4B013-2276-4C51-B442-EA4B113BC0E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45">
            <a:hlinkClick r:id="rId3" action="ppaction://hlinksldjump"/>
            <a:extLst>
              <a:ext uri="{FF2B5EF4-FFF2-40B4-BE49-F238E27FC236}">
                <a16:creationId xmlns:a16="http://schemas.microsoft.com/office/drawing/2014/main" id="{1342E2F4-AFF7-43F3-879B-AFAEA3ABDC2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46">
            <a:hlinkClick r:id="rId4" action="ppaction://hlinksldjump"/>
            <a:extLst>
              <a:ext uri="{FF2B5EF4-FFF2-40B4-BE49-F238E27FC236}">
                <a16:creationId xmlns:a16="http://schemas.microsoft.com/office/drawing/2014/main" id="{BF32CC84-65DC-4C59-A588-CB3565469BA8}"/>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47">
            <a:hlinkClick r:id="rId5" action="ppaction://hlinksldjump"/>
            <a:extLst>
              <a:ext uri="{FF2B5EF4-FFF2-40B4-BE49-F238E27FC236}">
                <a16:creationId xmlns:a16="http://schemas.microsoft.com/office/drawing/2014/main" id="{A2B277CB-EE00-426B-AA8C-8034D709BC9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TextBox 48">
            <a:hlinkClick r:id="rId3" action="ppaction://hlinksldjump"/>
            <a:extLst>
              <a:ext uri="{FF2B5EF4-FFF2-40B4-BE49-F238E27FC236}">
                <a16:creationId xmlns:a16="http://schemas.microsoft.com/office/drawing/2014/main" id="{DD0BDF6D-767C-4E12-83DF-93490D5428E5}"/>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9" name="TextBox 49">
            <a:hlinkClick r:id="rId3" action="ppaction://hlinksldjump"/>
            <a:extLst>
              <a:ext uri="{FF2B5EF4-FFF2-40B4-BE49-F238E27FC236}">
                <a16:creationId xmlns:a16="http://schemas.microsoft.com/office/drawing/2014/main" id="{144026E4-28E4-487B-829A-DFA66805950A}"/>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30" name="TextBox 50">
            <a:hlinkClick r:id="rId4" action="ppaction://hlinksldjump"/>
            <a:extLst>
              <a:ext uri="{FF2B5EF4-FFF2-40B4-BE49-F238E27FC236}">
                <a16:creationId xmlns:a16="http://schemas.microsoft.com/office/drawing/2014/main" id="{E79721CB-D8FB-4FDD-8647-939D2547BD6E}"/>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31" name="TextBox 51">
            <a:hlinkClick r:id="rId4" action="ppaction://hlinksldjump"/>
            <a:extLst>
              <a:ext uri="{FF2B5EF4-FFF2-40B4-BE49-F238E27FC236}">
                <a16:creationId xmlns:a16="http://schemas.microsoft.com/office/drawing/2014/main" id="{4ECCFCED-C1D4-4531-93CD-3652B88F379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2" name="Oval 52">
            <a:extLst>
              <a:ext uri="{FF2B5EF4-FFF2-40B4-BE49-F238E27FC236}">
                <a16:creationId xmlns:a16="http://schemas.microsoft.com/office/drawing/2014/main" id="{C9D867D4-39CB-40A3-A302-FB0F4043141A}"/>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3" name="TextBox 53">
            <a:hlinkClick r:id="rId6" action="ppaction://hlinksldjump"/>
            <a:extLst>
              <a:ext uri="{FF2B5EF4-FFF2-40B4-BE49-F238E27FC236}">
                <a16:creationId xmlns:a16="http://schemas.microsoft.com/office/drawing/2014/main" id="{289C154F-F0F0-4C20-A2CA-2D91F95586E9}"/>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4" name="Picture 40">
            <a:hlinkClick r:id="rId3" action="ppaction://hlinksldjump"/>
            <a:extLst>
              <a:ext uri="{FF2B5EF4-FFF2-40B4-BE49-F238E27FC236}">
                <a16:creationId xmlns:a16="http://schemas.microsoft.com/office/drawing/2014/main" id="{1938813E-3021-432D-B25A-37EBBBEA12A7}"/>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35" name="Oval 55">
            <a:hlinkClick r:id="rId3" action="ppaction://hlinksldjump"/>
            <a:extLst>
              <a:ext uri="{FF2B5EF4-FFF2-40B4-BE49-F238E27FC236}">
                <a16:creationId xmlns:a16="http://schemas.microsoft.com/office/drawing/2014/main" id="{56EAF18D-DE07-4356-B4BF-B46051F389B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6" name="Footer Placeholder 1">
            <a:extLst>
              <a:ext uri="{FF2B5EF4-FFF2-40B4-BE49-F238E27FC236}">
                <a16:creationId xmlns:a16="http://schemas.microsoft.com/office/drawing/2014/main" id="{93475A90-D465-4109-AF4A-D07EED16A755}"/>
              </a:ext>
            </a:extLst>
          </p:cNvPr>
          <p:cNvSpPr txBox="1"/>
          <p:nvPr/>
        </p:nvSpPr>
        <p:spPr>
          <a:xfrm>
            <a:off x="3343329" y="6513697"/>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dirty="0">
                <a:uFillTx/>
                <a:latin typeface="Calibri"/>
                <a:ea typeface="Geneva"/>
                <a:cs typeface="Arial"/>
              </a:rPr>
              <a:t>391</a:t>
            </a:r>
            <a:endParaRPr lang="en-GB" sz="1200" b="1" i="0" u="none" strike="noStrike" kern="1200" cap="none" spc="0" baseline="0" dirty="0">
              <a:uFillTx/>
              <a:latin typeface="Calibri"/>
              <a:ea typeface="Geneva"/>
              <a:cs typeface="Arial"/>
            </a:endParaRPr>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name="Slide4464">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B086E5A5-F5A0-4E24-BEDA-63461A3E058B}"/>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9DA9659F-9553-4A1B-9180-449702773B1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6277A67E-603E-4781-937E-92B1898DD9CC}"/>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1746E37B-BD3E-43DE-95A1-C48E886FAC1B}"/>
              </a:ext>
            </a:extLst>
          </p:cNvPr>
          <p:cNvSpPr txBox="1"/>
          <p:nvPr/>
        </p:nvSpPr>
        <p:spPr>
          <a:xfrm>
            <a:off x="11736543"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E8609BB-A311-4683-A9D7-972AC89AE741}" type="slidenum">
              <a:rPr sz="1200"/>
              <a:t>427</a:t>
            </a:fld>
            <a:endParaRPr lang="en-GB" sz="1200" b="0" i="0" u="none" strike="noStrike" kern="1200" cap="none" spc="0" baseline="0">
              <a:uFillTx/>
              <a:latin typeface="Calibri"/>
            </a:endParaRPr>
          </a:p>
        </p:txBody>
      </p:sp>
      <p:sp>
        <p:nvSpPr>
          <p:cNvPr id="7" name="Footer Placeholder 1">
            <a:extLst>
              <a:ext uri="{FF2B5EF4-FFF2-40B4-BE49-F238E27FC236}">
                <a16:creationId xmlns:a16="http://schemas.microsoft.com/office/drawing/2014/main" id="{C813E510-D318-4794-B4C7-0A363231A0EE}"/>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21">
            <a:extLst>
              <a:ext uri="{FF2B5EF4-FFF2-40B4-BE49-F238E27FC236}">
                <a16:creationId xmlns:a16="http://schemas.microsoft.com/office/drawing/2014/main" id="{02EB092D-4502-4229-A9AF-3EEDDFDC1C9D}"/>
              </a:ext>
            </a:extLst>
          </p:cNvPr>
          <p:cNvSpPr/>
          <p:nvPr/>
        </p:nvSpPr>
        <p:spPr>
          <a:xfrm>
            <a:off x="336627" y="1815440"/>
            <a:ext cx="8255852"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1. Declaring Non-Monetary Units for Standard Import Value (SIV) and Simplified Procedure Value (SPV) Goods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9" name="TextBox 23">
            <a:extLst>
              <a:ext uri="{FF2B5EF4-FFF2-40B4-BE49-F238E27FC236}">
                <a16:creationId xmlns:a16="http://schemas.microsoft.com/office/drawing/2014/main" id="{605A8B47-FE21-4F05-AC3B-CCB0CD0089E5}"/>
              </a:ext>
            </a:extLst>
          </p:cNvPr>
          <p:cNvSpPr txBox="1"/>
          <p:nvPr/>
        </p:nvSpPr>
        <p:spPr>
          <a:xfrm>
            <a:off x="331479" y="2079043"/>
            <a:ext cx="11461373" cy="194668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current Tariff guidance, traders using commodity codes relating to imports of fresh fruit and vegetables (SIV/SPV goods) may be required to declare a non-monetary amount in D.E. 4/4 when additional procedure codes ‘E02’ or ‘E01’ are declared in D.E. 1/11. From TTM12.3, CDS will allow a declarant to declare a non-monetary value in D.E. 4/4 (Tax Base under ‘Measurement Unit’), where the declarant has also declared the following on their declaration:</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 commodity code relating to SIV/SPV goods has been declared</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Valuation Method of ‘4’ has been declared in D.E. 4/16</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additional procedure code "E01" or "E02" is declared in D.E. 1/11</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where "E01" or "E02" is declared in D.E. 1/11 and "GBP" is declared in D.E. 4/4 (Tax Base, under "Measurement Unit"), CDS will reject the declaration and send a rejection trader notification.</a:t>
            </a:r>
          </a:p>
          <a:p>
            <a:pPr marL="171450" marR="0" lvl="0" indent="-171450" algn="l" defTabSz="914400" rtl="0" fontAlgn="auto" hangingPunct="1">
              <a:lnSpc>
                <a:spcPct val="100000"/>
              </a:lnSpc>
              <a:spcBef>
                <a:spcPts val="300"/>
              </a:spcBef>
              <a:spcAft>
                <a:spcPts val="0"/>
              </a:spcAft>
              <a:buSzPct val="100000"/>
              <a:buFont typeface="Arial" pitchFamily="34"/>
              <a:buChar char="•"/>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0" name="Rectangle 39">
            <a:extLst>
              <a:ext uri="{FF2B5EF4-FFF2-40B4-BE49-F238E27FC236}">
                <a16:creationId xmlns:a16="http://schemas.microsoft.com/office/drawing/2014/main" id="{4E81EB28-234D-4F0F-9D70-4F66AD9BAF6C}"/>
              </a:ext>
            </a:extLst>
          </p:cNvPr>
          <p:cNvSpPr/>
          <p:nvPr/>
        </p:nvSpPr>
        <p:spPr>
          <a:xfrm>
            <a:off x="362879" y="783604"/>
            <a:ext cx="4765084" cy="369335"/>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CDS Tariff Volume 3 Rules Rework Functionality</a:t>
            </a:r>
          </a:p>
        </p:txBody>
      </p:sp>
      <p:sp>
        <p:nvSpPr>
          <p:cNvPr id="11" name="TextBox 40">
            <a:extLst>
              <a:ext uri="{FF2B5EF4-FFF2-40B4-BE49-F238E27FC236}">
                <a16:creationId xmlns:a16="http://schemas.microsoft.com/office/drawing/2014/main" id="{233EE61E-DEA5-4129-AA0E-8D214B7A72D5}"/>
              </a:ext>
            </a:extLst>
          </p:cNvPr>
          <p:cNvSpPr txBox="1"/>
          <p:nvPr/>
        </p:nvSpPr>
        <p:spPr>
          <a:xfrm>
            <a:off x="362879" y="1130756"/>
            <a:ext cx="11461373" cy="64633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On CDS, a number of current rules have been identified that do not reflect current UK Trade Tariff guidance or intended CDS end state functionality. The following requirements are being delivered in TTM12.3 as part of the new CDS Tariff Volume 3 Rules Rework scope. These requirements were identified as critical for January 2021, whilst the remaining requirements scheduled for delivery in February and March release can be found </a:t>
            </a:r>
            <a:r>
              <a:rPr lang="en-GB" sz="1200" b="0" i="0" u="none" strike="noStrike" kern="1200" cap="none" spc="0" baseline="0">
                <a:solidFill>
                  <a:srgbClr val="000000"/>
                </a:solidFill>
                <a:uFillTx/>
                <a:latin typeface="Calibri"/>
                <a:hlinkClick r:id="rId3" action="ppaction://hlinksldjump"/>
              </a:rPr>
              <a:t>here</a:t>
            </a:r>
            <a:r>
              <a:rPr lang="en-GB" sz="1200" b="0" i="0" u="none" strike="noStrike" kern="1200" cap="none" spc="0" baseline="0">
                <a:solidFill>
                  <a:srgbClr val="000000"/>
                </a:solidFill>
                <a:uFillTx/>
                <a:latin typeface="Calibri"/>
              </a:rPr>
              <a:t>.</a:t>
            </a:r>
          </a:p>
        </p:txBody>
      </p:sp>
      <p:sp>
        <p:nvSpPr>
          <p:cNvPr id="12" name="Rectangle 42">
            <a:extLst>
              <a:ext uri="{FF2B5EF4-FFF2-40B4-BE49-F238E27FC236}">
                <a16:creationId xmlns:a16="http://schemas.microsoft.com/office/drawing/2014/main" id="{26F5C1FC-26C8-4CE9-BFDF-BFCE91CC3D78}"/>
              </a:ext>
            </a:extLst>
          </p:cNvPr>
          <p:cNvSpPr/>
          <p:nvPr/>
        </p:nvSpPr>
        <p:spPr>
          <a:xfrm>
            <a:off x="337505" y="4804175"/>
            <a:ext cx="6174193"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3. Temporary Waiver on DEFRA Licenses (GB-NI) for Foods for Retail Consumption</a:t>
            </a:r>
          </a:p>
        </p:txBody>
      </p:sp>
      <p:sp>
        <p:nvSpPr>
          <p:cNvPr id="13" name="TextBox 43">
            <a:extLst>
              <a:ext uri="{FF2B5EF4-FFF2-40B4-BE49-F238E27FC236}">
                <a16:creationId xmlns:a16="http://schemas.microsoft.com/office/drawing/2014/main" id="{CB1D5560-E48C-4DD0-A609-A21E83E2CF3D}"/>
              </a:ext>
            </a:extLst>
          </p:cNvPr>
          <p:cNvSpPr txBox="1"/>
          <p:nvPr/>
        </p:nvSpPr>
        <p:spPr>
          <a:xfrm>
            <a:off x="337505" y="5084374"/>
            <a:ext cx="11476058" cy="684803"/>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TTM12.3, CDS will introduce temporary waivers on DEFRA/DAERA licenses for food for retail consumption. As a result, CDS will allow a Waiver Status Code ("XW" in D.E. 2/3) to be declared against ALVS Document Codes; "N002", "N851", "C640", "N853", "C673", &amp; "C678“ for food for retail consumption.</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14" name="Rectangle 44">
            <a:extLst>
              <a:ext uri="{FF2B5EF4-FFF2-40B4-BE49-F238E27FC236}">
                <a16:creationId xmlns:a16="http://schemas.microsoft.com/office/drawing/2014/main" id="{7556C0CE-05D6-4FAB-BE3D-8ECB90E15B9B}"/>
              </a:ext>
            </a:extLst>
          </p:cNvPr>
          <p:cNvSpPr/>
          <p:nvPr/>
        </p:nvSpPr>
        <p:spPr>
          <a:xfrm>
            <a:off x="316793" y="3805815"/>
            <a:ext cx="4703591"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2. Authorisation by Customs Declaration (ABD) and OP Relief</a:t>
            </a:r>
          </a:p>
        </p:txBody>
      </p:sp>
      <p:sp>
        <p:nvSpPr>
          <p:cNvPr id="15" name="TextBox 45">
            <a:extLst>
              <a:ext uri="{FF2B5EF4-FFF2-40B4-BE49-F238E27FC236}">
                <a16:creationId xmlns:a16="http://schemas.microsoft.com/office/drawing/2014/main" id="{E705C6CB-BE7E-4500-85CB-37193FE2D66C}"/>
              </a:ext>
            </a:extLst>
          </p:cNvPr>
          <p:cNvSpPr txBox="1"/>
          <p:nvPr/>
        </p:nvSpPr>
        <p:spPr>
          <a:xfrm>
            <a:off x="316793" y="4079687"/>
            <a:ext cx="11476058" cy="64633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current Tariff guidance, the additional procedure code ‘B02’ may be declared in D.E. 1/11, to discharge goods from OP and enable the relief of customs duty, VAT and other duties. From TTM12.3, CDS will ensure that, where the AI code ‘01100’ is declared in 2/2 and ‘B02’ has been declared in D.E. 1/11, a security deposit will not be taken as a result of the trader declaring ‘B02’ in D.E. 1/11. </a:t>
            </a:r>
          </a:p>
        </p:txBody>
      </p:sp>
      <p:sp>
        <p:nvSpPr>
          <p:cNvPr id="16" name="Oval 27">
            <a:hlinkClick r:id="rId4" action="ppaction://hlinksldjump"/>
            <a:extLst>
              <a:ext uri="{FF2B5EF4-FFF2-40B4-BE49-F238E27FC236}">
                <a16:creationId xmlns:a16="http://schemas.microsoft.com/office/drawing/2014/main" id="{8DA55C03-DC74-40C4-90FA-7F86AEADACA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41">
            <a:hlinkClick r:id="rId4" action="ppaction://hlinksldjump"/>
            <a:extLst>
              <a:ext uri="{FF2B5EF4-FFF2-40B4-BE49-F238E27FC236}">
                <a16:creationId xmlns:a16="http://schemas.microsoft.com/office/drawing/2014/main" id="{0ECAD4DE-16AE-47A4-9A77-047D2E9D688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47">
            <a:hlinkClick r:id="rId5" action="ppaction://hlinksldjump"/>
            <a:extLst>
              <a:ext uri="{FF2B5EF4-FFF2-40B4-BE49-F238E27FC236}">
                <a16:creationId xmlns:a16="http://schemas.microsoft.com/office/drawing/2014/main" id="{AD29DC4B-F4C8-4753-8FBD-0DC62F5CC353}"/>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48">
            <a:hlinkClick r:id="rId6" action="ppaction://hlinksldjump"/>
            <a:extLst>
              <a:ext uri="{FF2B5EF4-FFF2-40B4-BE49-F238E27FC236}">
                <a16:creationId xmlns:a16="http://schemas.microsoft.com/office/drawing/2014/main" id="{4525BFEA-5A2E-49B9-9BB5-73E873D5DF64}"/>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49">
            <a:hlinkClick r:id="rId4" action="ppaction://hlinksldjump"/>
            <a:extLst>
              <a:ext uri="{FF2B5EF4-FFF2-40B4-BE49-F238E27FC236}">
                <a16:creationId xmlns:a16="http://schemas.microsoft.com/office/drawing/2014/main" id="{684B5CDB-4C6D-4022-91D2-1D8BB7400219}"/>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1" name="TextBox 50">
            <a:hlinkClick r:id="rId4" action="ppaction://hlinksldjump"/>
            <a:extLst>
              <a:ext uri="{FF2B5EF4-FFF2-40B4-BE49-F238E27FC236}">
                <a16:creationId xmlns:a16="http://schemas.microsoft.com/office/drawing/2014/main" id="{6066013B-0ED6-4890-8968-8E1EB84BD448}"/>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2" name="TextBox 51">
            <a:hlinkClick r:id="rId5" action="ppaction://hlinksldjump"/>
            <a:extLst>
              <a:ext uri="{FF2B5EF4-FFF2-40B4-BE49-F238E27FC236}">
                <a16:creationId xmlns:a16="http://schemas.microsoft.com/office/drawing/2014/main" id="{EA513D1A-B8C5-43F0-A06D-253FEAB00924}"/>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3" name="TextBox 52">
            <a:hlinkClick r:id="rId5" action="ppaction://hlinksldjump"/>
            <a:extLst>
              <a:ext uri="{FF2B5EF4-FFF2-40B4-BE49-F238E27FC236}">
                <a16:creationId xmlns:a16="http://schemas.microsoft.com/office/drawing/2014/main" id="{536BD5FB-6E65-4B07-AED2-7A5C94695072}"/>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4" name="Oval 53">
            <a:extLst>
              <a:ext uri="{FF2B5EF4-FFF2-40B4-BE49-F238E27FC236}">
                <a16:creationId xmlns:a16="http://schemas.microsoft.com/office/drawing/2014/main" id="{EDF6D76C-1019-456F-BC12-0F713215089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TextBox 54">
            <a:hlinkClick r:id="rId7" action="ppaction://hlinksldjump"/>
            <a:extLst>
              <a:ext uri="{FF2B5EF4-FFF2-40B4-BE49-F238E27FC236}">
                <a16:creationId xmlns:a16="http://schemas.microsoft.com/office/drawing/2014/main" id="{A6B5072B-B2CA-4ED0-8677-B58DC7ADA97B}"/>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6" name="Picture 40">
            <a:hlinkClick r:id="rId4" action="ppaction://hlinksldjump"/>
            <a:extLst>
              <a:ext uri="{FF2B5EF4-FFF2-40B4-BE49-F238E27FC236}">
                <a16:creationId xmlns:a16="http://schemas.microsoft.com/office/drawing/2014/main" id="{45297B83-D997-42F8-8ED1-7BA6D67AA326}"/>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7" name="Oval 56">
            <a:hlinkClick r:id="rId4" action="ppaction://hlinksldjump"/>
            <a:extLst>
              <a:ext uri="{FF2B5EF4-FFF2-40B4-BE49-F238E27FC236}">
                <a16:creationId xmlns:a16="http://schemas.microsoft.com/office/drawing/2014/main" id="{2F825433-3A42-4BA0-BBFE-1B0C46C91878}"/>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name="Slide449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45F7BB20-385A-4534-BAFD-75D58084E5E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376DBB4B-76CF-48E2-9AC9-9374E62F500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82C293B-407F-4505-8EE8-45373FA1A96C}"/>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084EB126-B1AA-42AF-9B89-6E42C56D0E5F}"/>
              </a:ext>
            </a:extLst>
          </p:cNvPr>
          <p:cNvSpPr txBox="1"/>
          <p:nvPr/>
        </p:nvSpPr>
        <p:spPr>
          <a:xfrm>
            <a:off x="1174568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20AD60E-8EBB-4F9B-A2BD-0666DDBFC015}" type="slidenum">
              <a:rPr sz="1200"/>
              <a:t>428</a:t>
            </a:fld>
            <a:endParaRPr lang="en-GB" sz="1200" b="0" i="0" u="none" strike="noStrike" kern="1200" cap="none" spc="0" baseline="0">
              <a:uFillTx/>
              <a:latin typeface="Calibri"/>
            </a:endParaRPr>
          </a:p>
        </p:txBody>
      </p:sp>
      <p:sp>
        <p:nvSpPr>
          <p:cNvPr id="7" name="Footer Placeholder 1">
            <a:extLst>
              <a:ext uri="{FF2B5EF4-FFF2-40B4-BE49-F238E27FC236}">
                <a16:creationId xmlns:a16="http://schemas.microsoft.com/office/drawing/2014/main" id="{B31863BC-54A6-4F64-84B4-90416EEE3A32}"/>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39">
            <a:extLst>
              <a:ext uri="{FF2B5EF4-FFF2-40B4-BE49-F238E27FC236}">
                <a16:creationId xmlns:a16="http://schemas.microsoft.com/office/drawing/2014/main" id="{F1F8243F-E692-4F21-9FC9-724222ACEA95}"/>
              </a:ext>
            </a:extLst>
          </p:cNvPr>
          <p:cNvSpPr/>
          <p:nvPr/>
        </p:nvSpPr>
        <p:spPr>
          <a:xfrm>
            <a:off x="325937" y="2170282"/>
            <a:ext cx="4429609" cy="52321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5. Declaring Manual Override Codes (OVR02 and OVR03)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9" name="TextBox 41">
            <a:extLst>
              <a:ext uri="{FF2B5EF4-FFF2-40B4-BE49-F238E27FC236}">
                <a16:creationId xmlns:a16="http://schemas.microsoft.com/office/drawing/2014/main" id="{C6E6A904-979E-4195-B79D-2B4DA65DF22E}"/>
              </a:ext>
            </a:extLst>
          </p:cNvPr>
          <p:cNvSpPr txBox="1"/>
          <p:nvPr/>
        </p:nvSpPr>
        <p:spPr>
          <a:xfrm>
            <a:off x="338437" y="2465889"/>
            <a:ext cx="11476058" cy="1000271"/>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current UK Trade Tariff guidance, declarants must ensure that when the manual override for safeguard duties tax (OVR02) or additional duties tax (OVR03) has been declared in D.E. 2/2, the manual override code ‘OVR01’ should also be declared in D.E. 2/2 against the same goods item. If ‘OVR01’ is not declared, CDS will reject the declaration. </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Furthermore, as per current Tariff guidance, CDS will ensure that where manual override ‘OVR01’ is declared in D.E. 2/2 on a type C or F declaration, the Tax Base in D.E. 4/4 and Payable Tax Amount in D.E. 4/6 must also be declared to ensure duties are correctly calculated. </a:t>
            </a:r>
          </a:p>
        </p:txBody>
      </p:sp>
      <p:sp>
        <p:nvSpPr>
          <p:cNvPr id="10" name="Rectangle 22">
            <a:extLst>
              <a:ext uri="{FF2B5EF4-FFF2-40B4-BE49-F238E27FC236}">
                <a16:creationId xmlns:a16="http://schemas.microsoft.com/office/drawing/2014/main" id="{BBCB96D3-AC6D-41E2-A900-BC23F56F214C}"/>
              </a:ext>
            </a:extLst>
          </p:cNvPr>
          <p:cNvSpPr/>
          <p:nvPr/>
        </p:nvSpPr>
        <p:spPr>
          <a:xfrm>
            <a:off x="362879" y="783604"/>
            <a:ext cx="4712186" cy="369335"/>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CDS Tariff Volume 3 Rules Rework Functionality</a:t>
            </a:r>
          </a:p>
        </p:txBody>
      </p:sp>
      <p:sp>
        <p:nvSpPr>
          <p:cNvPr id="11" name="Rectangle 27">
            <a:extLst>
              <a:ext uri="{FF2B5EF4-FFF2-40B4-BE49-F238E27FC236}">
                <a16:creationId xmlns:a16="http://schemas.microsoft.com/office/drawing/2014/main" id="{C5B27FE2-2F21-4ED6-8F80-877723C4941C}"/>
              </a:ext>
            </a:extLst>
          </p:cNvPr>
          <p:cNvSpPr/>
          <p:nvPr/>
        </p:nvSpPr>
        <p:spPr>
          <a:xfrm>
            <a:off x="329805" y="1201293"/>
            <a:ext cx="3096231" cy="738661"/>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4. Declaring Isle of Man Location Codes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12" name="TextBox 40">
            <a:extLst>
              <a:ext uri="{FF2B5EF4-FFF2-40B4-BE49-F238E27FC236}">
                <a16:creationId xmlns:a16="http://schemas.microsoft.com/office/drawing/2014/main" id="{C157B3F9-EC20-40E8-A1E0-F06EC8795FEC}"/>
              </a:ext>
            </a:extLst>
          </p:cNvPr>
          <p:cNvSpPr txBox="1"/>
          <p:nvPr/>
        </p:nvSpPr>
        <p:spPr>
          <a:xfrm>
            <a:off x="319116" y="1471443"/>
            <a:ext cx="11701083" cy="64633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current UK Trade Tariff guidance, the 'GB' country code in D.E. 5/23 is not mandatory where declaration type ‘IM’ or ‘CO’ is declared in D.E. 1/1. From TTM12.3, CDS will ensure ‘GB’ is not mandated in D.E. 5/23 where declaration type ‘IM’ or ‘CO’ is declared in D.E. 1/1. This is intended to enable Custom declaration at Isle of Mans locations. The CDS location Code list will be updated at a later release to include new location codes for Isle of Man which use country code IM rather than GB. </a:t>
            </a:r>
          </a:p>
        </p:txBody>
      </p:sp>
      <p:sp>
        <p:nvSpPr>
          <p:cNvPr id="13" name="Rectangle 44">
            <a:extLst>
              <a:ext uri="{FF2B5EF4-FFF2-40B4-BE49-F238E27FC236}">
                <a16:creationId xmlns:a16="http://schemas.microsoft.com/office/drawing/2014/main" id="{F1B09489-0DDA-4883-B3DD-A8976D840D7D}"/>
              </a:ext>
            </a:extLst>
          </p:cNvPr>
          <p:cNvSpPr/>
          <p:nvPr/>
        </p:nvSpPr>
        <p:spPr>
          <a:xfrm>
            <a:off x="325937" y="3543043"/>
            <a:ext cx="649825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6. Type B and Type E Declarations – Authorisation ID and Additional Information D.E.</a:t>
            </a:r>
          </a:p>
        </p:txBody>
      </p:sp>
      <p:sp>
        <p:nvSpPr>
          <p:cNvPr id="14" name="TextBox 45">
            <a:extLst>
              <a:ext uri="{FF2B5EF4-FFF2-40B4-BE49-F238E27FC236}">
                <a16:creationId xmlns:a16="http://schemas.microsoft.com/office/drawing/2014/main" id="{0396B155-5B79-4E87-B58C-B3825BE85AC7}"/>
              </a:ext>
            </a:extLst>
          </p:cNvPr>
          <p:cNvSpPr txBox="1"/>
          <p:nvPr/>
        </p:nvSpPr>
        <p:spPr>
          <a:xfrm>
            <a:off x="337514" y="3842098"/>
            <a:ext cx="11476058" cy="86946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per current Tariff guidance, completion of D.E. 3/39 is only required where an authorisation is needed to declare the goods to a specific customs procedure and does not require the authorisation holders’ details to be declared where an authorisation by customs declaration for a special procedure is made. However, CDS recently identified that D.E. 3/39 and D.E. 2/2 were being incorrectly mandated on type ‘B’ or ‘E’ declarations.</a:t>
            </a:r>
          </a:p>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TTM12.3, where the declarant has declared additional declaration type ‘B’ or ‘E’ in D.E. 1/2, CDS will ensure D.E. 3/39 or D.E. 2/2 are not mandated solely for that reason. </a:t>
            </a:r>
          </a:p>
        </p:txBody>
      </p:sp>
      <p:sp>
        <p:nvSpPr>
          <p:cNvPr id="15" name="Rectangle 46">
            <a:extLst>
              <a:ext uri="{FF2B5EF4-FFF2-40B4-BE49-F238E27FC236}">
                <a16:creationId xmlns:a16="http://schemas.microsoft.com/office/drawing/2014/main" id="{742B6002-F61D-4ABD-BDE3-E4BF4A6EF54E}"/>
              </a:ext>
            </a:extLst>
          </p:cNvPr>
          <p:cNvSpPr/>
          <p:nvPr/>
        </p:nvSpPr>
        <p:spPr>
          <a:xfrm>
            <a:off x="325937" y="4829586"/>
            <a:ext cx="5030416"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7. Import Simplified Declarations Mandating Unit Type and DUCR</a:t>
            </a:r>
          </a:p>
        </p:txBody>
      </p:sp>
      <p:sp>
        <p:nvSpPr>
          <p:cNvPr id="16" name="TextBox 47">
            <a:extLst>
              <a:ext uri="{FF2B5EF4-FFF2-40B4-BE49-F238E27FC236}">
                <a16:creationId xmlns:a16="http://schemas.microsoft.com/office/drawing/2014/main" id="{B588DEEF-CED9-40CA-B8E9-A8B3E7A984C2}"/>
              </a:ext>
            </a:extLst>
          </p:cNvPr>
          <p:cNvSpPr txBox="1"/>
          <p:nvPr/>
        </p:nvSpPr>
        <p:spPr>
          <a:xfrm>
            <a:off x="337514" y="5128641"/>
            <a:ext cx="11476058" cy="64633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TTM12.3, declarants must ensure that where C or F has been declared in D.E. 1/2 (Additional Declaration Type) and the total taxes in D.E. 4/7, a unit type of ‘GBP’ must be declared to ensure that duties can be correctly calculated. Furthermore, declarants must ensure where C or F has been declared in D.E. 1/2 (Additional Declaration Type), the declarant must declare ‘DCR’ in D.E. 2/1 at header level.</a:t>
            </a:r>
          </a:p>
        </p:txBody>
      </p:sp>
      <p:sp>
        <p:nvSpPr>
          <p:cNvPr id="17" name="Oval 35">
            <a:hlinkClick r:id="rId3" action="ppaction://hlinksldjump"/>
            <a:extLst>
              <a:ext uri="{FF2B5EF4-FFF2-40B4-BE49-F238E27FC236}">
                <a16:creationId xmlns:a16="http://schemas.microsoft.com/office/drawing/2014/main" id="{B026C141-BA20-4A55-98F4-B1F7D36B3502}"/>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42">
            <a:hlinkClick r:id="rId3" action="ppaction://hlinksldjump"/>
            <a:extLst>
              <a:ext uri="{FF2B5EF4-FFF2-40B4-BE49-F238E27FC236}">
                <a16:creationId xmlns:a16="http://schemas.microsoft.com/office/drawing/2014/main" id="{9F25708B-C4C3-4B18-A222-3F586E66EF0E}"/>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48">
            <a:hlinkClick r:id="rId4" action="ppaction://hlinksldjump"/>
            <a:extLst>
              <a:ext uri="{FF2B5EF4-FFF2-40B4-BE49-F238E27FC236}">
                <a16:creationId xmlns:a16="http://schemas.microsoft.com/office/drawing/2014/main" id="{E54E3F6B-DF38-4790-AF6D-FC67AD9E4EC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Oval 49">
            <a:hlinkClick r:id="rId5" action="ppaction://hlinksldjump"/>
            <a:extLst>
              <a:ext uri="{FF2B5EF4-FFF2-40B4-BE49-F238E27FC236}">
                <a16:creationId xmlns:a16="http://schemas.microsoft.com/office/drawing/2014/main" id="{D61ADE11-EC0B-4F4A-AC52-276E4E2A2C3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TextBox 50">
            <a:hlinkClick r:id="rId3" action="ppaction://hlinksldjump"/>
            <a:extLst>
              <a:ext uri="{FF2B5EF4-FFF2-40B4-BE49-F238E27FC236}">
                <a16:creationId xmlns:a16="http://schemas.microsoft.com/office/drawing/2014/main" id="{5312F931-A7DD-42F5-B84E-4D33CE93B9C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2" name="TextBox 51">
            <a:hlinkClick r:id="rId3" action="ppaction://hlinksldjump"/>
            <a:extLst>
              <a:ext uri="{FF2B5EF4-FFF2-40B4-BE49-F238E27FC236}">
                <a16:creationId xmlns:a16="http://schemas.microsoft.com/office/drawing/2014/main" id="{5E89109C-A5F2-42C6-B5B3-B98962CC2333}"/>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3" name="TextBox 52">
            <a:hlinkClick r:id="rId4" action="ppaction://hlinksldjump"/>
            <a:extLst>
              <a:ext uri="{FF2B5EF4-FFF2-40B4-BE49-F238E27FC236}">
                <a16:creationId xmlns:a16="http://schemas.microsoft.com/office/drawing/2014/main" id="{74BF5CFE-E6A6-4B65-8971-DE5623640762}"/>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4" name="TextBox 53">
            <a:hlinkClick r:id="rId4" action="ppaction://hlinksldjump"/>
            <a:extLst>
              <a:ext uri="{FF2B5EF4-FFF2-40B4-BE49-F238E27FC236}">
                <a16:creationId xmlns:a16="http://schemas.microsoft.com/office/drawing/2014/main" id="{25546AD9-0EF1-4FAE-9B72-5041BFDAFA09}"/>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5" name="Oval 54">
            <a:extLst>
              <a:ext uri="{FF2B5EF4-FFF2-40B4-BE49-F238E27FC236}">
                <a16:creationId xmlns:a16="http://schemas.microsoft.com/office/drawing/2014/main" id="{69A9E964-C886-440E-89A3-65240983E587}"/>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TextBox 55">
            <a:hlinkClick r:id="rId6" action="ppaction://hlinksldjump"/>
            <a:extLst>
              <a:ext uri="{FF2B5EF4-FFF2-40B4-BE49-F238E27FC236}">
                <a16:creationId xmlns:a16="http://schemas.microsoft.com/office/drawing/2014/main" id="{CD38680F-07D9-427F-830A-3A6F58C00B39}"/>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7" name="Picture 40">
            <a:hlinkClick r:id="rId3" action="ppaction://hlinksldjump"/>
            <a:extLst>
              <a:ext uri="{FF2B5EF4-FFF2-40B4-BE49-F238E27FC236}">
                <a16:creationId xmlns:a16="http://schemas.microsoft.com/office/drawing/2014/main" id="{EA66740A-FEC4-4A1F-9913-0A119F26951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8" name="Oval 57">
            <a:hlinkClick r:id="rId3" action="ppaction://hlinksldjump"/>
            <a:extLst>
              <a:ext uri="{FF2B5EF4-FFF2-40B4-BE49-F238E27FC236}">
                <a16:creationId xmlns:a16="http://schemas.microsoft.com/office/drawing/2014/main" id="{39BFFA7B-4EBE-49D2-B5F3-DB2292B757F4}"/>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name="Slide4501">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2088D0F8-2F91-48D1-ADBD-B3D3264EBC9F}"/>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0C26B585-4244-407C-A6DA-24296224A77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2BFBEFA8-F8DF-4010-8864-4FC085656ACA}"/>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67AD6546-7AF6-4F70-9C5C-6580D690C329}"/>
              </a:ext>
            </a:extLst>
          </p:cNvPr>
          <p:cNvSpPr txBox="1"/>
          <p:nvPr/>
        </p:nvSpPr>
        <p:spPr>
          <a:xfrm>
            <a:off x="11736543"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C8431EE-219A-493A-BE50-E4DC70F772B4}" type="slidenum">
              <a:rPr sz="1200"/>
              <a:t>429</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4DBA29C9-3D96-44AA-A97A-ECC75588916C}"/>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Rectangle 4">
            <a:extLst>
              <a:ext uri="{FF2B5EF4-FFF2-40B4-BE49-F238E27FC236}">
                <a16:creationId xmlns:a16="http://schemas.microsoft.com/office/drawing/2014/main" id="{02E5ADB1-6AE3-4D59-8A49-93664E777D1C}"/>
              </a:ext>
            </a:extLst>
          </p:cNvPr>
          <p:cNvSpPr/>
          <p:nvPr/>
        </p:nvSpPr>
        <p:spPr>
          <a:xfrm>
            <a:off x="388053" y="775978"/>
            <a:ext cx="6830577" cy="369335"/>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800" b="1" i="0" u="none" strike="noStrike" kern="1200" cap="none" spc="0" baseline="0">
                <a:solidFill>
                  <a:srgbClr val="000000"/>
                </a:solidFill>
                <a:uFillTx/>
                <a:latin typeface="Calibri"/>
              </a:rPr>
              <a:t>CDS Tariff Volume 3 Rules Rework Functionality</a:t>
            </a:r>
          </a:p>
        </p:txBody>
      </p:sp>
      <p:sp>
        <p:nvSpPr>
          <p:cNvPr id="9" name="Rectangle 35">
            <a:extLst>
              <a:ext uri="{FF2B5EF4-FFF2-40B4-BE49-F238E27FC236}">
                <a16:creationId xmlns:a16="http://schemas.microsoft.com/office/drawing/2014/main" id="{377AB116-7AAE-4B0D-ADE3-D8BC6FED8F8B}"/>
              </a:ext>
            </a:extLst>
          </p:cNvPr>
          <p:cNvSpPr/>
          <p:nvPr/>
        </p:nvSpPr>
        <p:spPr>
          <a:xfrm>
            <a:off x="390055" y="1198952"/>
            <a:ext cx="4163190" cy="954103"/>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8. Controlled Goods Mandating Supplementary Units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1" i="0" u="none" strike="noStrike" kern="1200" cap="none" spc="0" baseline="0">
              <a:solidFill>
                <a:srgbClr val="000000"/>
              </a:solidFill>
              <a:uFillTx/>
              <a:latin typeface="Calibri"/>
            </a:endParaRPr>
          </a:p>
        </p:txBody>
      </p:sp>
      <p:sp>
        <p:nvSpPr>
          <p:cNvPr id="10" name="TextBox 39">
            <a:extLst>
              <a:ext uri="{FF2B5EF4-FFF2-40B4-BE49-F238E27FC236}">
                <a16:creationId xmlns:a16="http://schemas.microsoft.com/office/drawing/2014/main" id="{6DCAE6B8-AAB6-4D7A-8AE4-DEFFDFD99338}"/>
              </a:ext>
            </a:extLst>
          </p:cNvPr>
          <p:cNvSpPr txBox="1"/>
          <p:nvPr/>
        </p:nvSpPr>
        <p:spPr>
          <a:xfrm>
            <a:off x="388053" y="1506501"/>
            <a:ext cx="11476058" cy="46166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dirty="0">
                <a:solidFill>
                  <a:srgbClr val="000000"/>
                </a:solidFill>
                <a:uFillTx/>
                <a:latin typeface="Calibri"/>
              </a:rPr>
              <a:t>From TTM12.3, declarants will no longer be required to declare supplementary units in D.E. 6/2 where the commodity code declared in D.E. 6/14 or D.E. 6/15 does not require supplementary units. Please note, if supplementary unit is required by the commodity code in D.E. 6/15 or D.E. 6/14, the supplementary unit field (D.E. 6/2) must be declared.</a:t>
            </a:r>
          </a:p>
        </p:txBody>
      </p:sp>
      <p:sp>
        <p:nvSpPr>
          <p:cNvPr id="11" name="Oval 23">
            <a:hlinkClick r:id="rId3" action="ppaction://hlinksldjump"/>
            <a:extLst>
              <a:ext uri="{FF2B5EF4-FFF2-40B4-BE49-F238E27FC236}">
                <a16:creationId xmlns:a16="http://schemas.microsoft.com/office/drawing/2014/main" id="{5FC45048-A335-4559-82E8-87297A0238E5}"/>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40">
            <a:hlinkClick r:id="rId3" action="ppaction://hlinksldjump"/>
            <a:extLst>
              <a:ext uri="{FF2B5EF4-FFF2-40B4-BE49-F238E27FC236}">
                <a16:creationId xmlns:a16="http://schemas.microsoft.com/office/drawing/2014/main" id="{E97C312E-7F69-4310-8286-532C59B1784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41">
            <a:hlinkClick r:id="rId4" action="ppaction://hlinksldjump"/>
            <a:extLst>
              <a:ext uri="{FF2B5EF4-FFF2-40B4-BE49-F238E27FC236}">
                <a16:creationId xmlns:a16="http://schemas.microsoft.com/office/drawing/2014/main" id="{2E204B0F-38C4-408D-872D-A6D83F604350}"/>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42">
            <a:hlinkClick r:id="rId5" action="ppaction://hlinksldjump"/>
            <a:extLst>
              <a:ext uri="{FF2B5EF4-FFF2-40B4-BE49-F238E27FC236}">
                <a16:creationId xmlns:a16="http://schemas.microsoft.com/office/drawing/2014/main" id="{DC5D31B6-0F94-4C6D-A13F-8D3D7D5C842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43">
            <a:hlinkClick r:id="rId3" action="ppaction://hlinksldjump"/>
            <a:extLst>
              <a:ext uri="{FF2B5EF4-FFF2-40B4-BE49-F238E27FC236}">
                <a16:creationId xmlns:a16="http://schemas.microsoft.com/office/drawing/2014/main" id="{18A1FA5D-7D58-4FF6-B85A-8D4896D5995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44">
            <a:hlinkClick r:id="rId3" action="ppaction://hlinksldjump"/>
            <a:extLst>
              <a:ext uri="{FF2B5EF4-FFF2-40B4-BE49-F238E27FC236}">
                <a16:creationId xmlns:a16="http://schemas.microsoft.com/office/drawing/2014/main" id="{6EEDAB9F-5D7A-4CD0-A2E4-E602C32D9BDD}"/>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7" name="TextBox 45">
            <a:hlinkClick r:id="rId4" action="ppaction://hlinksldjump"/>
            <a:extLst>
              <a:ext uri="{FF2B5EF4-FFF2-40B4-BE49-F238E27FC236}">
                <a16:creationId xmlns:a16="http://schemas.microsoft.com/office/drawing/2014/main" id="{B40C7E27-9282-4422-A202-E2A737C8EF3C}"/>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8" name="TextBox 47">
            <a:hlinkClick r:id="rId4" action="ppaction://hlinksldjump"/>
            <a:extLst>
              <a:ext uri="{FF2B5EF4-FFF2-40B4-BE49-F238E27FC236}">
                <a16:creationId xmlns:a16="http://schemas.microsoft.com/office/drawing/2014/main" id="{59E97B82-B179-4BE9-AD3B-E4B31FA719C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48">
            <a:extLst>
              <a:ext uri="{FF2B5EF4-FFF2-40B4-BE49-F238E27FC236}">
                <a16:creationId xmlns:a16="http://schemas.microsoft.com/office/drawing/2014/main" id="{8594D3F8-CF76-4211-A854-9C87D1C4A40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49">
            <a:hlinkClick r:id="rId6" action="ppaction://hlinksldjump"/>
            <a:extLst>
              <a:ext uri="{FF2B5EF4-FFF2-40B4-BE49-F238E27FC236}">
                <a16:creationId xmlns:a16="http://schemas.microsoft.com/office/drawing/2014/main" id="{837E229C-A46B-4E60-9F0C-5E0DFE700A8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1" name="Picture 40">
            <a:hlinkClick r:id="rId3" action="ppaction://hlinksldjump"/>
            <a:extLst>
              <a:ext uri="{FF2B5EF4-FFF2-40B4-BE49-F238E27FC236}">
                <a16:creationId xmlns:a16="http://schemas.microsoft.com/office/drawing/2014/main" id="{8EA4DC77-E319-4ED6-8694-9B4F61DF245A}"/>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1">
            <a:hlinkClick r:id="rId3" action="ppaction://hlinksldjump"/>
            <a:extLst>
              <a:ext uri="{FF2B5EF4-FFF2-40B4-BE49-F238E27FC236}">
                <a16:creationId xmlns:a16="http://schemas.microsoft.com/office/drawing/2014/main" id="{C6223E8A-78C4-433B-9CEE-DCC02C40215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name="Slide838840356">
    <p:spTree>
      <p:nvGrpSpPr>
        <p:cNvPr id="1" name=""/>
        <p:cNvGrpSpPr/>
        <p:nvPr/>
      </p:nvGrpSpPr>
      <p:grpSpPr>
        <a:xfrm>
          <a:off x="0" y="0"/>
          <a:ext cx="0" cy="0"/>
          <a:chOff x="0" y="0"/>
          <a:chExt cx="0" cy="0"/>
        </a:xfrm>
      </p:grpSpPr>
      <p:pic>
        <p:nvPicPr>
          <p:cNvPr id="2" name="Picture 106" descr="57% HMRCppt logo">
            <a:extLst>
              <a:ext uri="{FF2B5EF4-FFF2-40B4-BE49-F238E27FC236}">
                <a16:creationId xmlns:a16="http://schemas.microsoft.com/office/drawing/2014/main" id="{D0076BC7-294F-4F65-9BB8-D3A0090178CC}"/>
              </a:ext>
            </a:extLst>
          </p:cNvPr>
          <p:cNvPicPr>
            <a:picLocks noChangeAspect="1"/>
          </p:cNvPicPr>
          <p:nvPr/>
        </p:nvPicPr>
        <p:blipFill>
          <a:blip r:embed="rId3"/>
          <a:srcRect/>
          <a:stretch>
            <a:fillRect/>
          </a:stretch>
        </p:blipFill>
        <p:spPr>
          <a:xfrm>
            <a:off x="363967" y="6094082"/>
            <a:ext cx="1030227" cy="633980"/>
          </a:xfrm>
          <a:prstGeom prst="rect">
            <a:avLst/>
          </a:prstGeom>
          <a:noFill/>
          <a:ln cap="flat">
            <a:noFill/>
          </a:ln>
        </p:spPr>
      </p:pic>
      <p:sp>
        <p:nvSpPr>
          <p:cNvPr id="3" name="Rectangle 10">
            <a:extLst>
              <a:ext uri="{FF2B5EF4-FFF2-40B4-BE49-F238E27FC236}">
                <a16:creationId xmlns:a16="http://schemas.microsoft.com/office/drawing/2014/main" id="{18542D44-2D50-48A4-84A7-101057A3CC17}"/>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 name="Rectangle 4">
            <a:extLst>
              <a:ext uri="{FF2B5EF4-FFF2-40B4-BE49-F238E27FC236}">
                <a16:creationId xmlns:a16="http://schemas.microsoft.com/office/drawing/2014/main" id="{9FBCDDA2-C390-4E1E-92B9-0E0B8CD67DF1}"/>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5" name="Table 163">
            <a:extLst>
              <a:ext uri="{FF2B5EF4-FFF2-40B4-BE49-F238E27FC236}">
                <a16:creationId xmlns:a16="http://schemas.microsoft.com/office/drawing/2014/main" id="{67EFD173-E80F-45B4-AE57-2863C5A72021}"/>
              </a:ext>
            </a:extLst>
          </p:cNvPr>
          <p:cNvGraphicFramePr>
            <a:graphicFrameLocks noGrp="1"/>
          </p:cNvGraphicFramePr>
          <p:nvPr/>
        </p:nvGraphicFramePr>
        <p:xfrm>
          <a:off x="475268" y="158108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2419735905"/>
                    </a:ext>
                  </a:extLst>
                </a:gridCol>
              </a:tblGrid>
              <a:tr h="220434">
                <a:tc>
                  <a:txBody>
                    <a:bodyPr/>
                    <a:lstStyle/>
                    <a:p>
                      <a:pPr lvl="0" algn="ctr"/>
                      <a:r>
                        <a:rPr lang="en-GB" sz="1200"/>
                        <a:t>TTM12.2 (CDS 3.1.0)</a:t>
                      </a:r>
                    </a:p>
                  </a:txBody>
                  <a:tcPr>
                    <a:solidFill>
                      <a:srgbClr val="A6A6A6"/>
                    </a:solidFill>
                  </a:tcPr>
                </a:tc>
                <a:extLst>
                  <a:ext uri="{0D108BD9-81ED-4DB2-BD59-A6C34878D82A}">
                    <a16:rowId xmlns:a16="http://schemas.microsoft.com/office/drawing/2014/main" val="2429047234"/>
                  </a:ext>
                </a:extLst>
              </a:tr>
              <a:tr h="261975">
                <a:tc>
                  <a:txBody>
                    <a:bodyPr/>
                    <a:lstStyle/>
                    <a:p>
                      <a:pPr lvl="0" algn="ctr"/>
                      <a:r>
                        <a:rPr lang="en-GB" sz="1200" b="1" dirty="0">
                          <a:solidFill>
                            <a:srgbClr val="000000"/>
                          </a:solidFill>
                        </a:rPr>
                        <a:t>TT: </a:t>
                      </a:r>
                      <a:r>
                        <a:rPr lang="en-GB" sz="1200" b="0" dirty="0">
                          <a:solidFill>
                            <a:srgbClr val="000000"/>
                          </a:solidFill>
                        </a:rPr>
                        <a:t>10/12/2020     </a:t>
                      </a:r>
                      <a:r>
                        <a:rPr lang="en-GB" sz="1200" b="1" dirty="0">
                          <a:solidFill>
                            <a:srgbClr val="000000"/>
                          </a:solidFill>
                        </a:rPr>
                        <a:t>TDR: </a:t>
                      </a:r>
                      <a:r>
                        <a:rPr lang="en-GB" sz="1200" b="0" dirty="0">
                          <a:solidFill>
                            <a:srgbClr val="000000"/>
                          </a:solidFill>
                        </a:rPr>
                        <a:t>15/12/2020 </a:t>
                      </a:r>
                      <a:r>
                        <a:rPr lang="en-GB" sz="1200" b="1" dirty="0">
                          <a:solidFill>
                            <a:srgbClr val="000000"/>
                          </a:solidFill>
                        </a:rPr>
                        <a:t>Live: </a:t>
                      </a:r>
                      <a:r>
                        <a:rPr lang="en-GB" sz="1200" b="0" dirty="0">
                          <a:solidFill>
                            <a:srgbClr val="000000"/>
                          </a:solidFill>
                        </a:rPr>
                        <a:t>22/12/2020</a:t>
                      </a:r>
                    </a:p>
                  </a:txBody>
                  <a:tcPr>
                    <a:solidFill>
                      <a:srgbClr val="E7E6E6"/>
                    </a:solidFill>
                  </a:tcPr>
                </a:tc>
                <a:extLst>
                  <a:ext uri="{0D108BD9-81ED-4DB2-BD59-A6C34878D82A}">
                    <a16:rowId xmlns:a16="http://schemas.microsoft.com/office/drawing/2014/main" val="4249225731"/>
                  </a:ext>
                </a:extLst>
              </a:tr>
            </a:tbl>
          </a:graphicData>
        </a:graphic>
      </p:graphicFrame>
      <p:cxnSp>
        <p:nvCxnSpPr>
          <p:cNvPr id="6" name="Straight Connector 11">
            <a:extLst>
              <a:ext uri="{FF2B5EF4-FFF2-40B4-BE49-F238E27FC236}">
                <a16:creationId xmlns:a16="http://schemas.microsoft.com/office/drawing/2014/main" id="{A209EF58-3BE8-4EA2-A771-3EA18AC0370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7" name="TextBox 12">
            <a:extLst>
              <a:ext uri="{FF2B5EF4-FFF2-40B4-BE49-F238E27FC236}">
                <a16:creationId xmlns:a16="http://schemas.microsoft.com/office/drawing/2014/main" id="{930B625B-0A6A-45FE-A26F-1B10689E3EF2}"/>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8" name="Rectangle 103">
            <a:extLst>
              <a:ext uri="{FF2B5EF4-FFF2-40B4-BE49-F238E27FC236}">
                <a16:creationId xmlns:a16="http://schemas.microsoft.com/office/drawing/2014/main" id="{AE9B751F-0AE0-4038-B725-56A5671C14C5}"/>
              </a:ext>
            </a:extLst>
          </p:cNvPr>
          <p:cNvSpPr/>
          <p:nvPr/>
        </p:nvSpPr>
        <p:spPr>
          <a:xfrm>
            <a:off x="430700" y="1533896"/>
            <a:ext cx="11330604" cy="445377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9" name="Group 1">
            <a:extLst>
              <a:ext uri="{FF2B5EF4-FFF2-40B4-BE49-F238E27FC236}">
                <a16:creationId xmlns:a16="http://schemas.microsoft.com/office/drawing/2014/main" id="{79ADB21B-A662-4295-90D2-07ECA0BC7211}"/>
              </a:ext>
            </a:extLst>
          </p:cNvPr>
          <p:cNvGrpSpPr/>
          <p:nvPr/>
        </p:nvGrpSpPr>
        <p:grpSpPr>
          <a:xfrm>
            <a:off x="898242" y="1146584"/>
            <a:ext cx="2801739" cy="276999"/>
            <a:chOff x="898242" y="1146584"/>
            <a:chExt cx="2801739" cy="276999"/>
          </a:xfrm>
        </p:grpSpPr>
        <p:sp>
          <p:nvSpPr>
            <p:cNvPr id="10" name="TextBox 7">
              <a:extLst>
                <a:ext uri="{FF2B5EF4-FFF2-40B4-BE49-F238E27FC236}">
                  <a16:creationId xmlns:a16="http://schemas.microsoft.com/office/drawing/2014/main" id="{0FA1B997-4D14-415C-A6A1-3189BF6CC302}"/>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1" name="Oval 16">
              <a:extLst>
                <a:ext uri="{FF2B5EF4-FFF2-40B4-BE49-F238E27FC236}">
                  <a16:creationId xmlns:a16="http://schemas.microsoft.com/office/drawing/2014/main" id="{CE3C69D1-25FE-4F73-950D-7BC723582577}"/>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2" name="Table 21">
            <a:extLst>
              <a:ext uri="{FF2B5EF4-FFF2-40B4-BE49-F238E27FC236}">
                <a16:creationId xmlns:a16="http://schemas.microsoft.com/office/drawing/2014/main" id="{D3715283-4756-4CC5-B116-45813EAF1E42}"/>
              </a:ext>
            </a:extLst>
          </p:cNvPr>
          <p:cNvGraphicFramePr>
            <a:graphicFrameLocks noGrp="1"/>
          </p:cNvGraphicFramePr>
          <p:nvPr/>
        </p:nvGraphicFramePr>
        <p:xfrm>
          <a:off x="475268" y="2150303"/>
          <a:ext cx="11188642" cy="914400"/>
        </p:xfrm>
        <a:graphic>
          <a:graphicData uri="http://schemas.openxmlformats.org/drawingml/2006/table">
            <a:tbl>
              <a:tblPr firstRow="1" bandRow="1">
                <a:effectLst/>
                <a:tableStyleId>{5C22544A-7EE6-4342-B048-85BDC9FD1C3A}</a:tableStyleId>
              </a:tblPr>
              <a:tblGrid>
                <a:gridCol w="538883">
                  <a:extLst>
                    <a:ext uri="{9D8B030D-6E8A-4147-A177-3AD203B41FA5}">
                      <a16:colId xmlns:a16="http://schemas.microsoft.com/office/drawing/2014/main" val="1573160389"/>
                    </a:ext>
                  </a:extLst>
                </a:gridCol>
                <a:gridCol w="2778815">
                  <a:extLst>
                    <a:ext uri="{9D8B030D-6E8A-4147-A177-3AD203B41FA5}">
                      <a16:colId xmlns:a16="http://schemas.microsoft.com/office/drawing/2014/main" val="1508306374"/>
                    </a:ext>
                  </a:extLst>
                </a:gridCol>
                <a:gridCol w="2623651">
                  <a:extLst>
                    <a:ext uri="{9D8B030D-6E8A-4147-A177-3AD203B41FA5}">
                      <a16:colId xmlns:a16="http://schemas.microsoft.com/office/drawing/2014/main" val="3615362503"/>
                    </a:ext>
                  </a:extLst>
                </a:gridCol>
                <a:gridCol w="2923318">
                  <a:extLst>
                    <a:ext uri="{9D8B030D-6E8A-4147-A177-3AD203B41FA5}">
                      <a16:colId xmlns:a16="http://schemas.microsoft.com/office/drawing/2014/main" val="724190625"/>
                    </a:ext>
                  </a:extLst>
                </a:gridCol>
                <a:gridCol w="2323975">
                  <a:extLst>
                    <a:ext uri="{9D8B030D-6E8A-4147-A177-3AD203B41FA5}">
                      <a16:colId xmlns:a16="http://schemas.microsoft.com/office/drawing/2014/main" val="3476370088"/>
                    </a:ext>
                  </a:extLst>
                </a:gridCol>
              </a:tblGrid>
              <a:tr h="121395">
                <a:tc rowSpan="2">
                  <a:txBody>
                    <a:bodyPr/>
                    <a:lstStyle/>
                    <a:p>
                      <a:pPr lvl="0"/>
                      <a:r>
                        <a:rPr lang="en-GB" sz="1100"/>
                        <a:t>CCP </a:t>
                      </a:r>
                    </a:p>
                    <a:p>
                      <a:pPr lvl="0"/>
                      <a:endParaRPr lang="en-GB" sz="1100"/>
                    </a:p>
                    <a:p>
                      <a:pPr lvl="0"/>
                      <a:endParaRPr lang="en-GB" sz="1100"/>
                    </a:p>
                  </a:txBody>
                  <a:tcPr>
                    <a:lnR w="12701" cap="flat" cmpd="sng" algn="ctr">
                      <a:solidFill>
                        <a:srgbClr val="FFFFFF"/>
                      </a:solidFill>
                      <a:prstDash val="solid"/>
                      <a:round/>
                      <a:headEnd type="none" w="med" len="med"/>
                      <a:tailEnd type="none" w="med" len="med"/>
                    </a:lnR>
                    <a:solidFill>
                      <a:srgbClr val="FFC000"/>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4" action="ppaction://hlinksldjump"/>
                        </a:rPr>
                        <a:t>Improved Handling for “No Responses” Scenarios</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hlinkClick r:id="rId5" action="ppaction://hlinksldjump"/>
                        </a:rPr>
                        <a:t>Customs Route Granularity</a:t>
                      </a:r>
                      <a:endParaRPr lang="en-GB" sz="1200" b="0"/>
                    </a:p>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200" b="0">
                        <a:solidFill>
                          <a:srgbClr val="FF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6" action="ppaction://hlinksldjump"/>
                        </a:rPr>
                        <a:t>Provisional Duty Calculation (pre-dwell time)</a:t>
                      </a:r>
                      <a:endParaRPr lang="en-GB" sz="1200" b="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lvl="0" indent="-171450">
                        <a:buSzPct val="100000"/>
                        <a:buFont typeface="Arial" pitchFamily="34"/>
                        <a:buChar char="•"/>
                      </a:pPr>
                      <a:r>
                        <a:rPr lang="en-GB" sz="1200" b="0">
                          <a:solidFill>
                            <a:srgbClr val="000000"/>
                          </a:solidFill>
                        </a:rPr>
                        <a:t>Expansion of Quota Emulator in External Test</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951294032"/>
                  </a:ext>
                </a:extLst>
              </a:tr>
              <a:tr h="121395">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0000"/>
                          </a:solidFill>
                          <a:hlinkClick r:id="rId4" action="ppaction://hlinksldjump"/>
                        </a:rPr>
                        <a:t>DUCR Part Numbers in CHIEF - CDS Dual Running</a:t>
                      </a:r>
                      <a:endParaRPr lang="en-GB" sz="1200" b="0"/>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70C0"/>
                          </a:solidFill>
                        </a:rPr>
                        <a:t>Customs Route Granularity Emulator Uplift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200" b="0">
                          <a:solidFill>
                            <a:srgbClr val="0070C0"/>
                          </a:solidFill>
                        </a:rPr>
                        <a:t>DMSALV Notification for TT and TDR</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tc>
                  <a:txBody>
                    <a:bodyPr/>
                    <a:lstStyle/>
                    <a:p>
                      <a:pPr marL="171450" lvl="0" indent="-171450">
                        <a:buSzPct val="100000"/>
                        <a:buFont typeface="Arial" pitchFamily="34"/>
                        <a:buChar char="•"/>
                      </a:pPr>
                      <a:r>
                        <a:rPr lang="en-GB" sz="1200" b="0" dirty="0">
                          <a:solidFill>
                            <a:srgbClr val="000000"/>
                          </a:solidFill>
                          <a:hlinkClick r:id="rId4" action="ppaction://hlinksldjump"/>
                        </a:rPr>
                        <a:t>Direct Representation Account Validation</a:t>
                      </a:r>
                      <a:endParaRPr lang="en-GB" sz="1200" b="0" dirty="0">
                        <a:solidFill>
                          <a:srgbClr val="000000"/>
                        </a:solidFill>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FF2CC"/>
                    </a:solidFill>
                  </a:tcPr>
                </a:tc>
                <a:extLst>
                  <a:ext uri="{0D108BD9-81ED-4DB2-BD59-A6C34878D82A}">
                    <a16:rowId xmlns:a16="http://schemas.microsoft.com/office/drawing/2014/main" val="1643708988"/>
                  </a:ext>
                </a:extLst>
              </a:tr>
            </a:tbl>
          </a:graphicData>
        </a:graphic>
      </p:graphicFrame>
      <p:grpSp>
        <p:nvGrpSpPr>
          <p:cNvPr id="13" name="Group 4">
            <a:extLst>
              <a:ext uri="{FF2B5EF4-FFF2-40B4-BE49-F238E27FC236}">
                <a16:creationId xmlns:a16="http://schemas.microsoft.com/office/drawing/2014/main" id="{35CB34CE-ACEF-4672-A237-4E3674DDC8AF}"/>
              </a:ext>
            </a:extLst>
          </p:cNvPr>
          <p:cNvGrpSpPr/>
          <p:nvPr/>
        </p:nvGrpSpPr>
        <p:grpSpPr>
          <a:xfrm>
            <a:off x="2663583" y="1154850"/>
            <a:ext cx="3199302" cy="276999"/>
            <a:chOff x="2663583" y="1154850"/>
            <a:chExt cx="3199302" cy="276999"/>
          </a:xfrm>
        </p:grpSpPr>
        <p:sp>
          <p:nvSpPr>
            <p:cNvPr id="14" name="TextBox 7">
              <a:extLst>
                <a:ext uri="{FF2B5EF4-FFF2-40B4-BE49-F238E27FC236}">
                  <a16:creationId xmlns:a16="http://schemas.microsoft.com/office/drawing/2014/main" id="{200FABEB-E03E-4FB4-98C9-298CB41C586E}"/>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5" name="Oval 16">
              <a:extLst>
                <a:ext uri="{FF2B5EF4-FFF2-40B4-BE49-F238E27FC236}">
                  <a16:creationId xmlns:a16="http://schemas.microsoft.com/office/drawing/2014/main" id="{F7325571-AFAA-4252-81E5-1FD86A791F02}"/>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6" name="Rectangle 11">
            <a:extLst>
              <a:ext uri="{FF2B5EF4-FFF2-40B4-BE49-F238E27FC236}">
                <a16:creationId xmlns:a16="http://schemas.microsoft.com/office/drawing/2014/main" id="{71A74E0B-3A2D-4543-AF50-2B9AA5B81229}"/>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7" name="TextBox 13">
            <a:extLst>
              <a:ext uri="{FF2B5EF4-FFF2-40B4-BE49-F238E27FC236}">
                <a16:creationId xmlns:a16="http://schemas.microsoft.com/office/drawing/2014/main" id="{650B7AA9-E85A-4336-BCB4-B445BCF616BE}"/>
              </a:ext>
            </a:extLst>
          </p:cNvPr>
          <p:cNvSpPr txBox="1"/>
          <p:nvPr/>
        </p:nvSpPr>
        <p:spPr>
          <a:xfrm>
            <a:off x="430700" y="1863675"/>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8" name="Group 7">
            <a:extLst>
              <a:ext uri="{FF2B5EF4-FFF2-40B4-BE49-F238E27FC236}">
                <a16:creationId xmlns:a16="http://schemas.microsoft.com/office/drawing/2014/main" id="{75490DBF-1DC2-4085-B591-DA861AD3460D}"/>
              </a:ext>
            </a:extLst>
          </p:cNvPr>
          <p:cNvGrpSpPr/>
          <p:nvPr/>
        </p:nvGrpSpPr>
        <p:grpSpPr>
          <a:xfrm>
            <a:off x="5888461" y="1154320"/>
            <a:ext cx="4848834" cy="276999"/>
            <a:chOff x="5888461" y="1154320"/>
            <a:chExt cx="4848834" cy="276999"/>
          </a:xfrm>
        </p:grpSpPr>
        <p:sp>
          <p:nvSpPr>
            <p:cNvPr id="19" name="TextBox 7">
              <a:extLst>
                <a:ext uri="{FF2B5EF4-FFF2-40B4-BE49-F238E27FC236}">
                  <a16:creationId xmlns:a16="http://schemas.microsoft.com/office/drawing/2014/main" id="{E8ACA478-31FC-4999-BB52-E613EAFAFC2D}"/>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20" name="Oval 16">
              <a:extLst>
                <a:ext uri="{FF2B5EF4-FFF2-40B4-BE49-F238E27FC236}">
                  <a16:creationId xmlns:a16="http://schemas.microsoft.com/office/drawing/2014/main" id="{68DF63CE-62CA-42CD-A1D5-931BBA4EECCC}"/>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E5FB7B2B-0FD0-41FD-8872-CBF80EE7EA77}"/>
              </a:ext>
            </a:extLst>
          </p:cNvPr>
          <p:cNvSpPr txBox="1"/>
          <p:nvPr/>
        </p:nvSpPr>
        <p:spPr>
          <a:xfrm>
            <a:off x="1171825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59E95CA-AEFB-4E4B-BFC4-B4CFFDE34530}" type="slidenum">
              <a:rPr sz="1200"/>
              <a:t>430</a:t>
            </a:fld>
            <a:endParaRPr lang="en-GB" sz="1200" b="0" i="0" u="none" strike="noStrike" kern="1200" cap="none" spc="0" baseline="0">
              <a:uFillTx/>
              <a:latin typeface="Calibri"/>
            </a:endParaRPr>
          </a:p>
        </p:txBody>
      </p:sp>
      <p:sp>
        <p:nvSpPr>
          <p:cNvPr id="22" name="Footer Placeholder 1">
            <a:extLst>
              <a:ext uri="{FF2B5EF4-FFF2-40B4-BE49-F238E27FC236}">
                <a16:creationId xmlns:a16="http://schemas.microsoft.com/office/drawing/2014/main" id="{77BE4CE3-A8C8-46E5-BCA9-609A415887BF}"/>
              </a:ext>
            </a:extLst>
          </p:cNvPr>
          <p:cNvSpPr txBox="1"/>
          <p:nvPr/>
        </p:nvSpPr>
        <p:spPr>
          <a:xfrm>
            <a:off x="2875175" y="65021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23" name="Oval 87">
            <a:hlinkClick r:id="rId7" action="ppaction://hlinksldjump"/>
            <a:extLst>
              <a:ext uri="{FF2B5EF4-FFF2-40B4-BE49-F238E27FC236}">
                <a16:creationId xmlns:a16="http://schemas.microsoft.com/office/drawing/2014/main" id="{B84A7F06-9654-4889-A952-13F7F797D67C}"/>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88">
            <a:hlinkClick r:id="rId7" action="ppaction://hlinksldjump"/>
            <a:extLst>
              <a:ext uri="{FF2B5EF4-FFF2-40B4-BE49-F238E27FC236}">
                <a16:creationId xmlns:a16="http://schemas.microsoft.com/office/drawing/2014/main" id="{5AD90915-8F78-4FCF-8AD8-B06A613807AB}"/>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89">
            <a:hlinkClick r:id="rId8" action="ppaction://hlinksldjump"/>
            <a:extLst>
              <a:ext uri="{FF2B5EF4-FFF2-40B4-BE49-F238E27FC236}">
                <a16:creationId xmlns:a16="http://schemas.microsoft.com/office/drawing/2014/main" id="{9E59FFC9-9602-494C-AA51-5B3E2886B0D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90">
            <a:hlinkClick r:id="rId9" action="ppaction://hlinksldjump"/>
            <a:extLst>
              <a:ext uri="{FF2B5EF4-FFF2-40B4-BE49-F238E27FC236}">
                <a16:creationId xmlns:a16="http://schemas.microsoft.com/office/drawing/2014/main" id="{2DCBCE30-1FE9-42E5-9E73-610AB93BE839}"/>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TextBox 91">
            <a:hlinkClick r:id="rId7" action="ppaction://hlinksldjump"/>
            <a:extLst>
              <a:ext uri="{FF2B5EF4-FFF2-40B4-BE49-F238E27FC236}">
                <a16:creationId xmlns:a16="http://schemas.microsoft.com/office/drawing/2014/main" id="{9A79D3E5-866B-40D0-AFD8-5D0FEA4338E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8" name="TextBox 92">
            <a:hlinkClick r:id="rId7" action="ppaction://hlinksldjump"/>
            <a:extLst>
              <a:ext uri="{FF2B5EF4-FFF2-40B4-BE49-F238E27FC236}">
                <a16:creationId xmlns:a16="http://schemas.microsoft.com/office/drawing/2014/main" id="{5EA5E7AE-4AF2-4EF3-A06D-60AD4B537A9C}"/>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29" name="TextBox 93">
            <a:hlinkClick r:id="rId8" action="ppaction://hlinksldjump"/>
            <a:extLst>
              <a:ext uri="{FF2B5EF4-FFF2-40B4-BE49-F238E27FC236}">
                <a16:creationId xmlns:a16="http://schemas.microsoft.com/office/drawing/2014/main" id="{E5ACC8A9-8A1B-4336-84F4-130217C5C28A}"/>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30" name="TextBox 94">
            <a:hlinkClick r:id="rId8" action="ppaction://hlinksldjump"/>
            <a:extLst>
              <a:ext uri="{FF2B5EF4-FFF2-40B4-BE49-F238E27FC236}">
                <a16:creationId xmlns:a16="http://schemas.microsoft.com/office/drawing/2014/main" id="{2F1C3B27-E8CD-4A22-9B36-8ECE86A5783A}"/>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1" name="Oval 95">
            <a:extLst>
              <a:ext uri="{FF2B5EF4-FFF2-40B4-BE49-F238E27FC236}">
                <a16:creationId xmlns:a16="http://schemas.microsoft.com/office/drawing/2014/main" id="{C784FEE8-8AC0-428E-8EC7-FF85E3D31F3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TextBox 96">
            <a:hlinkClick r:id="rId10" action="ppaction://hlinksldjump"/>
            <a:extLst>
              <a:ext uri="{FF2B5EF4-FFF2-40B4-BE49-F238E27FC236}">
                <a16:creationId xmlns:a16="http://schemas.microsoft.com/office/drawing/2014/main" id="{298D02AA-2A22-42E9-9205-5DF23D117AC9}"/>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3" name="Picture 40">
            <a:hlinkClick r:id="rId7" action="ppaction://hlinksldjump"/>
            <a:extLst>
              <a:ext uri="{FF2B5EF4-FFF2-40B4-BE49-F238E27FC236}">
                <a16:creationId xmlns:a16="http://schemas.microsoft.com/office/drawing/2014/main" id="{EDA1BB0F-A809-435A-8BBB-C4E7CDE04EEB}"/>
              </a:ext>
            </a:extLst>
          </p:cNvPr>
          <p:cNvPicPr>
            <a:picLocks noChangeAspect="1"/>
          </p:cNvPicPr>
          <p:nvPr/>
        </p:nvPicPr>
        <p:blipFill>
          <a:blip r:embed="rId11">
            <a:alphaModFix amt="35000"/>
          </a:blip>
          <a:srcRect l="20606" t="21077" r="21527" b="31021"/>
          <a:stretch>
            <a:fillRect/>
          </a:stretch>
        </p:blipFill>
        <p:spPr>
          <a:xfrm>
            <a:off x="10028188" y="272070"/>
            <a:ext cx="256918" cy="210595"/>
          </a:xfrm>
          <a:prstGeom prst="rect">
            <a:avLst/>
          </a:prstGeom>
          <a:noFill/>
          <a:ln cap="flat">
            <a:noFill/>
          </a:ln>
        </p:spPr>
      </p:pic>
      <p:sp>
        <p:nvSpPr>
          <p:cNvPr id="34" name="Oval 98">
            <a:hlinkClick r:id="rId7" action="ppaction://hlinksldjump"/>
            <a:extLst>
              <a:ext uri="{FF2B5EF4-FFF2-40B4-BE49-F238E27FC236}">
                <a16:creationId xmlns:a16="http://schemas.microsoft.com/office/drawing/2014/main" id="{71E3A57F-50D0-426B-9D0F-34C8DFAC30B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Oval 16">
            <a:extLst>
              <a:ext uri="{FF2B5EF4-FFF2-40B4-BE49-F238E27FC236}">
                <a16:creationId xmlns:a16="http://schemas.microsoft.com/office/drawing/2014/main" id="{57AC2E94-D727-4565-8ED9-BB4CF7BBD918}"/>
              </a:ext>
            </a:extLst>
          </p:cNvPr>
          <p:cNvSpPr/>
          <p:nvPr/>
        </p:nvSpPr>
        <p:spPr>
          <a:xfrm>
            <a:off x="9387596" y="221977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6" name="Oval 16">
            <a:extLst>
              <a:ext uri="{FF2B5EF4-FFF2-40B4-BE49-F238E27FC236}">
                <a16:creationId xmlns:a16="http://schemas.microsoft.com/office/drawing/2014/main" id="{B24EC7EC-EDFF-4454-B904-20CC829BDE0B}"/>
              </a:ext>
            </a:extLst>
          </p:cNvPr>
          <p:cNvSpPr/>
          <p:nvPr/>
        </p:nvSpPr>
        <p:spPr>
          <a:xfrm>
            <a:off x="3852614" y="26483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7" name="Oval 16">
            <a:extLst>
              <a:ext uri="{FF2B5EF4-FFF2-40B4-BE49-F238E27FC236}">
                <a16:creationId xmlns:a16="http://schemas.microsoft.com/office/drawing/2014/main" id="{D91C2795-3E8A-44FF-BCB2-D943E4B963B9}"/>
              </a:ext>
            </a:extLst>
          </p:cNvPr>
          <p:cNvSpPr/>
          <p:nvPr/>
        </p:nvSpPr>
        <p:spPr>
          <a:xfrm>
            <a:off x="6483105" y="221102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8" name="Oval 16">
            <a:extLst>
              <a:ext uri="{FF2B5EF4-FFF2-40B4-BE49-F238E27FC236}">
                <a16:creationId xmlns:a16="http://schemas.microsoft.com/office/drawing/2014/main" id="{048EACBE-598A-4B29-BA7C-82D1064079AA}"/>
              </a:ext>
            </a:extLst>
          </p:cNvPr>
          <p:cNvSpPr/>
          <p:nvPr/>
        </p:nvSpPr>
        <p:spPr>
          <a:xfrm>
            <a:off x="1083865" y="2654777"/>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Oval 16">
            <a:extLst>
              <a:ext uri="{FF2B5EF4-FFF2-40B4-BE49-F238E27FC236}">
                <a16:creationId xmlns:a16="http://schemas.microsoft.com/office/drawing/2014/main" id="{251713C4-40BC-4582-B75D-1533D6F03937}"/>
              </a:ext>
            </a:extLst>
          </p:cNvPr>
          <p:cNvSpPr/>
          <p:nvPr/>
        </p:nvSpPr>
        <p:spPr>
          <a:xfrm>
            <a:off x="1083865" y="219504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40" name="Table 21">
            <a:extLst>
              <a:ext uri="{FF2B5EF4-FFF2-40B4-BE49-F238E27FC236}">
                <a16:creationId xmlns:a16="http://schemas.microsoft.com/office/drawing/2014/main" id="{0AABCA11-56D5-4D93-8080-F4965ECC4B3C}"/>
              </a:ext>
            </a:extLst>
          </p:cNvPr>
          <p:cNvGraphicFramePr>
            <a:graphicFrameLocks noGrp="1"/>
          </p:cNvGraphicFramePr>
          <p:nvPr/>
        </p:nvGraphicFramePr>
        <p:xfrm>
          <a:off x="475268" y="3064703"/>
          <a:ext cx="11188651" cy="3718560"/>
        </p:xfrm>
        <a:graphic>
          <a:graphicData uri="http://schemas.openxmlformats.org/drawingml/2006/table">
            <a:tbl>
              <a:tblPr firstRow="1" bandRow="1">
                <a:effectLst/>
                <a:tableStyleId>{5C22544A-7EE6-4342-B048-85BDC9FD1C3A}</a:tableStyleId>
              </a:tblPr>
              <a:tblGrid>
                <a:gridCol w="208282">
                  <a:extLst>
                    <a:ext uri="{9D8B030D-6E8A-4147-A177-3AD203B41FA5}">
                      <a16:colId xmlns:a16="http://schemas.microsoft.com/office/drawing/2014/main" val="4072378340"/>
                    </a:ext>
                  </a:extLst>
                </a:gridCol>
                <a:gridCol w="325160">
                  <a:extLst>
                    <a:ext uri="{9D8B030D-6E8A-4147-A177-3AD203B41FA5}">
                      <a16:colId xmlns:a16="http://schemas.microsoft.com/office/drawing/2014/main" val="3525928950"/>
                    </a:ext>
                  </a:extLst>
                </a:gridCol>
                <a:gridCol w="2784457">
                  <a:extLst>
                    <a:ext uri="{9D8B030D-6E8A-4147-A177-3AD203B41FA5}">
                      <a16:colId xmlns:a16="http://schemas.microsoft.com/office/drawing/2014/main" val="1500697275"/>
                    </a:ext>
                  </a:extLst>
                </a:gridCol>
                <a:gridCol w="2623587">
                  <a:extLst>
                    <a:ext uri="{9D8B030D-6E8A-4147-A177-3AD203B41FA5}">
                      <a16:colId xmlns:a16="http://schemas.microsoft.com/office/drawing/2014/main" val="1499725041"/>
                    </a:ext>
                  </a:extLst>
                </a:gridCol>
                <a:gridCol w="2923190">
                  <a:extLst>
                    <a:ext uri="{9D8B030D-6E8A-4147-A177-3AD203B41FA5}">
                      <a16:colId xmlns:a16="http://schemas.microsoft.com/office/drawing/2014/main" val="2672775359"/>
                    </a:ext>
                  </a:extLst>
                </a:gridCol>
                <a:gridCol w="2323975">
                  <a:extLst>
                    <a:ext uri="{9D8B030D-6E8A-4147-A177-3AD203B41FA5}">
                      <a16:colId xmlns:a16="http://schemas.microsoft.com/office/drawing/2014/main" val="1888599708"/>
                    </a:ext>
                  </a:extLst>
                </a:gridCol>
              </a:tblGrid>
              <a:tr h="356158">
                <a:tc rowSpan="6">
                  <a:txBody>
                    <a:bodyPr/>
                    <a:lstStyle/>
                    <a:p>
                      <a:pPr lvl="0" algn="ctr"/>
                      <a:r>
                        <a:rPr lang="en-GB" sz="1100" b="1">
                          <a:solidFill>
                            <a:srgbClr val="FFFFFF"/>
                          </a:solidFill>
                        </a:rPr>
                        <a:t>EU Exit</a:t>
                      </a:r>
                    </a:p>
                  </a:txBody>
                  <a:tcPr anchor="ctr">
                    <a:lnR w="12701" cap="flat" cmpd="sng" algn="ctr">
                      <a:solidFill>
                        <a:srgbClr val="FFFFFF"/>
                      </a:solidFill>
                      <a:prstDash val="solid"/>
                      <a:round/>
                      <a:headEnd type="none" w="med" len="med"/>
                      <a:tailEnd type="none" w="med" len="med"/>
                    </a:lnR>
                    <a:solidFill>
                      <a:srgbClr val="7030A0"/>
                    </a:solidFill>
                  </a:tcPr>
                </a:tc>
                <a:tc rowSpan="2">
                  <a:txBody>
                    <a:bodyPr/>
                    <a:lstStyle/>
                    <a:p>
                      <a:pPr lvl="0" algn="ctr"/>
                      <a:r>
                        <a:rPr lang="en-GB" sz="1100" b="1">
                          <a:solidFill>
                            <a:srgbClr val="FFFFFF"/>
                          </a:solidFill>
                        </a:rPr>
                        <a:t>NI Protocol</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7030A0"/>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NI Exports Declaration Submission and Validation</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Subsidy Declaration Submission, Calculation and Notification</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EU Retaliatory Duties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Rejection of EU Quota</a:t>
                      </a:r>
                    </a:p>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endParaRPr lang="en-GB" sz="1200" b="0" kern="1200">
                        <a:solidFill>
                          <a:srgbClr val="0070C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2844325885"/>
                  </a:ext>
                </a:extLst>
              </a:tr>
              <a:tr h="356158">
                <a:tc vMerge="1">
                  <a:txBody>
                    <a:bodyPr/>
                    <a:lstStyle/>
                    <a:p>
                      <a:endParaRPr lang="en-GB"/>
                    </a:p>
                  </a:txBody>
                  <a:tcPr/>
                </a:tc>
                <a:tc v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NI Relief Procedures </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EU Suspension and Relief Measures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NI Suspension Procedures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endParaRPr lang="en-GB" sz="1200" b="0" kern="1200">
                        <a:solidFill>
                          <a:srgbClr val="0070C0"/>
                        </a:solidFill>
                        <a:latin typeface="Calibri"/>
                      </a:endParaRP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732638299"/>
                  </a:ext>
                </a:extLst>
              </a:tr>
              <a:tr h="395496">
                <a:tc vMerge="1">
                  <a:txBody>
                    <a:bodyPr/>
                    <a:lstStyle/>
                    <a:p>
                      <a:endParaRPr lang="en-GB"/>
                    </a:p>
                  </a:txBody>
                  <a:tcPr/>
                </a:tc>
                <a:tc rowSpan="2">
                  <a:txBody>
                    <a:bodyPr/>
                    <a:lstStyle/>
                    <a:p>
                      <a:pPr lvl="0" algn="ctr"/>
                      <a:r>
                        <a:rPr lang="en-GB" sz="1100" b="1">
                          <a:solidFill>
                            <a:srgbClr val="FFFFFF"/>
                          </a:solidFill>
                        </a:rPr>
                        <a:t>UK Tariff</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7030A0"/>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UK Retaliatory Duties</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lvl="0" indent="-171450">
                        <a:buClr>
                          <a:srgbClr val="E6D5F3"/>
                        </a:buClr>
                        <a:buSzPct val="100000"/>
                        <a:buFont typeface="Arial" pitchFamily="34"/>
                        <a:buChar char="•"/>
                      </a:pPr>
                      <a:r>
                        <a:rPr lang="en-GB" sz="1200" b="0" kern="1200">
                          <a:solidFill>
                            <a:srgbClr val="0070C0"/>
                          </a:solidFill>
                          <a:latin typeface="Calibri"/>
                        </a:rPr>
                        <a:t>  UK FCFS Quota Validation and Calculation</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lvl="0" indent="-171450">
                        <a:buClr>
                          <a:srgbClr val="E6D5F3"/>
                        </a:buClr>
                        <a:buSzPct val="100000"/>
                        <a:buFont typeface="Arial" pitchFamily="34"/>
                        <a:buChar char="•"/>
                      </a:pPr>
                      <a:r>
                        <a:rPr lang="en-GB" sz="1200" b="0" kern="1200">
                          <a:solidFill>
                            <a:srgbClr val="0070C0"/>
                          </a:solidFill>
                          <a:latin typeface="Calibri"/>
                        </a:rPr>
                        <a:t>  UK Licence Quota Validation and Calculation</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   UK Preferential FCFS Quota Validation and Calculation</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877742415"/>
                  </a:ext>
                </a:extLst>
              </a:tr>
              <a:tr h="323853">
                <a:tc vMerge="1">
                  <a:txBody>
                    <a:bodyPr/>
                    <a:lstStyle/>
                    <a:p>
                      <a:endParaRPr lang="en-GB"/>
                    </a:p>
                  </a:txBody>
                  <a:tcPr/>
                </a:tc>
                <a:tc vMerge="1">
                  <a:txBody>
                    <a:bodyPr/>
                    <a:lstStyle/>
                    <a:p>
                      <a:endParaRPr lang="en-GB"/>
                    </a:p>
                  </a:txBody>
                  <a:tcPr/>
                </a:tc>
                <a:tc>
                  <a:txBody>
                    <a:bodyPr/>
                    <a:lstStyle/>
                    <a:p>
                      <a:pPr marL="171450" lvl="0" indent="-171450">
                        <a:buClr>
                          <a:srgbClr val="E6D5F3"/>
                        </a:buClr>
                        <a:buSzPct val="100000"/>
                        <a:buFont typeface="Arial" pitchFamily="34"/>
                        <a:buChar char="•"/>
                      </a:pPr>
                      <a:r>
                        <a:rPr lang="en-GB" sz="1200" b="0" kern="1200">
                          <a:solidFill>
                            <a:srgbClr val="0070C0"/>
                          </a:solidFill>
                          <a:latin typeface="Calibri"/>
                        </a:rPr>
                        <a:t>UK FCFS Quota Allocation and Duty Finalisation</a:t>
                      </a:r>
                    </a:p>
                  </a:txBody>
                  <a:tcP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0" lvl="0" indent="0">
                        <a:buNone/>
                      </a:pPr>
                      <a:endParaRPr lang="en-GB" sz="1200" b="0" kern="1200">
                        <a:solidFill>
                          <a:srgbClr val="0070C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lvl="0" indent="-171450">
                        <a:buClr>
                          <a:srgbClr val="E6D5F3"/>
                        </a:buClr>
                        <a:buSzPct val="100000"/>
                        <a:buFont typeface="Arial" pitchFamily="34"/>
                        <a:buChar char="•"/>
                      </a:pPr>
                      <a:endParaRPr lang="en-GB" sz="1200" b="0" kern="1200">
                        <a:solidFill>
                          <a:srgbClr val="0070C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auto" hangingPunct="1">
                        <a:lnSpc>
                          <a:spcPct val="100000"/>
                        </a:lnSpc>
                        <a:spcBef>
                          <a:spcPts val="0"/>
                        </a:spcBef>
                        <a:spcAft>
                          <a:spcPts val="0"/>
                        </a:spcAft>
                        <a:buClr>
                          <a:srgbClr val="E6D5F3"/>
                        </a:buClr>
                        <a:buSzPct val="100000"/>
                        <a:buFont typeface="Arial" pitchFamily="34"/>
                        <a:buChar char="•"/>
                        <a:tabLst/>
                      </a:pPr>
                      <a:endParaRPr lang="en-GB" sz="1200" b="0" kern="1200">
                        <a:solidFill>
                          <a:srgbClr val="0070C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846212665"/>
                  </a:ext>
                </a:extLst>
              </a:tr>
              <a:tr h="653055">
                <a:tc vMerge="1">
                  <a:txBody>
                    <a:bodyPr/>
                    <a:lstStyle/>
                    <a:p>
                      <a:endParaRPr lang="en-GB"/>
                    </a:p>
                  </a:txBody>
                  <a:tcPr/>
                </a:tc>
                <a:tc>
                  <a:txBody>
                    <a:bodyPr/>
                    <a:lstStyle/>
                    <a:p>
                      <a:pPr lvl="0" algn="ctr"/>
                      <a:r>
                        <a:rPr lang="en-GB" sz="1100" b="1">
                          <a:solidFill>
                            <a:srgbClr val="FFFFFF"/>
                          </a:solidFill>
                        </a:rPr>
                        <a:t>GB EU Exit</a:t>
                      </a:r>
                      <a:endParaRPr lang="en-GB"/>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solidFill>
                      <a:srgbClr val="7030A0"/>
                    </a:solidFill>
                  </a:tcPr>
                </a:tc>
                <a:tc>
                  <a:txBody>
                    <a:bodyPr/>
                    <a:lstStyle/>
                    <a:p>
                      <a:pPr marL="171450" marR="0" lvl="0" indent="-171450" algn="l" defTabSz="914400" rtl="0" fontAlgn="t"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  Accepting Declarations From EU Countries</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marR="0" lvl="0" indent="-171450" algn="l" defTabSz="914400" rtl="0" fontAlgn="t"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   Onward Supply Relief - Removal of OSR for GB</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285750" marR="0" lvl="0" indent="-285750" algn="l" defTabSz="914400" rtl="0" fontAlgn="auto" hangingPunct="1">
                        <a:lnSpc>
                          <a:spcPct val="100000"/>
                        </a:lnSpc>
                        <a:spcBef>
                          <a:spcPts val="0"/>
                        </a:spcBef>
                        <a:spcAft>
                          <a:spcPts val="0"/>
                        </a:spcAft>
                        <a:buClr>
                          <a:srgbClr val="E6D5F3"/>
                        </a:buClr>
                        <a:buSzPct val="100000"/>
                        <a:buFont typeface="Arial" pitchFamily="34"/>
                        <a:buChar char="•"/>
                        <a:tabLst/>
                      </a:pPr>
                      <a:r>
                        <a:rPr lang="en-GB" sz="1200" b="0" kern="1200">
                          <a:solidFill>
                            <a:srgbClr val="0070C0"/>
                          </a:solidFill>
                          <a:latin typeface="Calibri"/>
                        </a:rPr>
                        <a:t>Postponed VAT Accounting</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lvl="0"/>
                      <a:endParaRPr lang="en-GB" sz="1200" b="0" kern="1200">
                        <a:solidFill>
                          <a:srgbClr val="0070C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extLst>
                  <a:ext uri="{0D108BD9-81ED-4DB2-BD59-A6C34878D82A}">
                    <a16:rowId xmlns:a16="http://schemas.microsoft.com/office/drawing/2014/main" val="1177275358"/>
                  </a:ext>
                </a:extLst>
              </a:tr>
              <a:tr h="490831">
                <a:tc vMerge="1">
                  <a:txBody>
                    <a:bodyPr/>
                    <a:lstStyle/>
                    <a:p>
                      <a:endParaRPr lang="en-GB"/>
                    </a:p>
                  </a:txBody>
                  <a:tcPr/>
                </a:tc>
                <a:tc>
                  <a:txBody>
                    <a:bodyPr/>
                    <a:lstStyle/>
                    <a:p>
                      <a:pPr lvl="0" algn="ctr"/>
                      <a:r>
                        <a:rPr lang="en-GB" sz="1100" b="1">
                          <a:solidFill>
                            <a:srgbClr val="FFFFFF"/>
                          </a:solidFill>
                        </a:rPr>
                        <a:t>RoRo</a:t>
                      </a:r>
                      <a:endParaRPr lang="en-GB"/>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solidFill>
                      <a:srgbClr val="7030A0"/>
                    </a:solidFill>
                  </a:tcPr>
                </a:tc>
                <a:tc>
                  <a:txBody>
                    <a:bodyPr/>
                    <a:lstStyle/>
                    <a:p>
                      <a:pPr marL="171450" marR="0" lvl="0" indent="-171450" algn="l" defTabSz="914400" rtl="0" fontAlgn="t" hangingPunct="1">
                        <a:lnSpc>
                          <a:spcPct val="100000"/>
                        </a:lnSpc>
                        <a:spcBef>
                          <a:spcPts val="0"/>
                        </a:spcBef>
                        <a:spcAft>
                          <a:spcPts val="0"/>
                        </a:spcAft>
                        <a:buClr>
                          <a:srgbClr val="E6D5F3"/>
                        </a:buClr>
                        <a:buSzPct val="100000"/>
                        <a:buFont typeface="Arial" pitchFamily="34"/>
                        <a:buChar char="•"/>
                        <a:tabLst/>
                      </a:pPr>
                      <a:r>
                        <a:rPr lang="en-GB" sz="1100" b="0" i="0" u="none" strike="noStrike">
                          <a:solidFill>
                            <a:srgbClr val="0070C0"/>
                          </a:solidFill>
                          <a:latin typeface="Calibri"/>
                        </a:rPr>
                        <a:t>   </a:t>
                      </a:r>
                      <a:r>
                        <a:rPr lang="en-GB" sz="1200" b="0" i="0" u="none" strike="noStrike">
                          <a:solidFill>
                            <a:srgbClr val="0070C0"/>
                          </a:solidFill>
                          <a:latin typeface="Calibri"/>
                        </a:rPr>
                        <a:t>Limiting GVMS to NI Imports</a:t>
                      </a: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6D5F3"/>
                    </a:solidFill>
                  </a:tcPr>
                </a:tc>
                <a:tc>
                  <a:txBody>
                    <a:bodyPr/>
                    <a:lstStyle/>
                    <a:p>
                      <a:pPr marL="171450" lvl="0" indent="-171450" algn="l" fontAlgn="t">
                        <a:buClr>
                          <a:srgbClr val="E6D5F3"/>
                        </a:buClr>
                        <a:buSzPct val="100000"/>
                        <a:buFont typeface="Arial" pitchFamily="34"/>
                        <a:buChar char="•"/>
                      </a:pPr>
                      <a:endParaRPr lang="en-GB" sz="1100" b="0" i="0" u="none" strike="noStrike">
                        <a:solidFill>
                          <a:srgbClr val="00000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marL="171450" lvl="0" indent="-171450" algn="l" fontAlgn="t">
                        <a:buClr>
                          <a:srgbClr val="E6D5F3"/>
                        </a:buClr>
                        <a:buSzPct val="100000"/>
                        <a:buFont typeface="Arial" pitchFamily="34"/>
                        <a:buChar char="•"/>
                      </a:pPr>
                      <a:endParaRPr lang="en-GB" sz="1100" b="0" i="0" u="none" strike="noStrike">
                        <a:solidFill>
                          <a:srgbClr val="00000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marL="171450" lvl="0" indent="-171450" algn="l" fontAlgn="t">
                        <a:buClr>
                          <a:srgbClr val="E6D5F3"/>
                        </a:buClr>
                        <a:buSzPct val="100000"/>
                        <a:buFont typeface="Arial" pitchFamily="34"/>
                        <a:buChar char="•"/>
                      </a:pPr>
                      <a:endParaRPr lang="en-GB" sz="1100" b="0" i="0" u="none" strike="noStrike" dirty="0">
                        <a:solidFill>
                          <a:srgbClr val="000000"/>
                        </a:solidFill>
                        <a:latin typeface="Calibri"/>
                      </a:endParaRPr>
                    </a:p>
                  </a:txBody>
                  <a:tcPr marL="6345" marR="6345" marT="6345"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80997856"/>
                  </a:ext>
                </a:extLst>
              </a:tr>
            </a:tbl>
          </a:graphicData>
        </a:graphic>
      </p:graphicFrame>
      <p:sp>
        <p:nvSpPr>
          <p:cNvPr id="41" name="Oval 16">
            <a:extLst>
              <a:ext uri="{FF2B5EF4-FFF2-40B4-BE49-F238E27FC236}">
                <a16:creationId xmlns:a16="http://schemas.microsoft.com/office/drawing/2014/main" id="{B92BEA06-B36A-40AB-A9A7-4FDD51153368}"/>
              </a:ext>
            </a:extLst>
          </p:cNvPr>
          <p:cNvSpPr/>
          <p:nvPr/>
        </p:nvSpPr>
        <p:spPr>
          <a:xfrm>
            <a:off x="1088382" y="313459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42" name="Oval 16">
            <a:extLst>
              <a:ext uri="{FF2B5EF4-FFF2-40B4-BE49-F238E27FC236}">
                <a16:creationId xmlns:a16="http://schemas.microsoft.com/office/drawing/2014/main" id="{1C284525-004A-40B0-A6AC-625949579521}"/>
              </a:ext>
            </a:extLst>
          </p:cNvPr>
          <p:cNvSpPr/>
          <p:nvPr/>
        </p:nvSpPr>
        <p:spPr>
          <a:xfrm>
            <a:off x="6478588" y="264833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3" name="Oval 16">
            <a:extLst>
              <a:ext uri="{FF2B5EF4-FFF2-40B4-BE49-F238E27FC236}">
                <a16:creationId xmlns:a16="http://schemas.microsoft.com/office/drawing/2014/main" id="{EC19423D-D36D-45A5-B332-3DBA8B1E9698}"/>
              </a:ext>
            </a:extLst>
          </p:cNvPr>
          <p:cNvSpPr/>
          <p:nvPr/>
        </p:nvSpPr>
        <p:spPr>
          <a:xfrm>
            <a:off x="1081305" y="396871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44" name="Oval 16">
            <a:extLst>
              <a:ext uri="{FF2B5EF4-FFF2-40B4-BE49-F238E27FC236}">
                <a16:creationId xmlns:a16="http://schemas.microsoft.com/office/drawing/2014/main" id="{618C34D4-F63D-439D-AB63-9122B370D1F1}"/>
              </a:ext>
            </a:extLst>
          </p:cNvPr>
          <p:cNvSpPr/>
          <p:nvPr/>
        </p:nvSpPr>
        <p:spPr>
          <a:xfrm>
            <a:off x="1090623" y="541904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45" name="Oval 16">
            <a:extLst>
              <a:ext uri="{FF2B5EF4-FFF2-40B4-BE49-F238E27FC236}">
                <a16:creationId xmlns:a16="http://schemas.microsoft.com/office/drawing/2014/main" id="{8F97EF26-5237-4956-B049-A7BF0932AB7E}"/>
              </a:ext>
            </a:extLst>
          </p:cNvPr>
          <p:cNvSpPr/>
          <p:nvPr/>
        </p:nvSpPr>
        <p:spPr>
          <a:xfrm>
            <a:off x="6489926" y="312670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Oval 16">
            <a:extLst>
              <a:ext uri="{FF2B5EF4-FFF2-40B4-BE49-F238E27FC236}">
                <a16:creationId xmlns:a16="http://schemas.microsoft.com/office/drawing/2014/main" id="{974F58F6-ECDD-4A5B-8BCF-C45B50A148C5}"/>
              </a:ext>
            </a:extLst>
          </p:cNvPr>
          <p:cNvSpPr/>
          <p:nvPr/>
        </p:nvSpPr>
        <p:spPr>
          <a:xfrm>
            <a:off x="3864117" y="310303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7" name="Oval 16">
            <a:extLst>
              <a:ext uri="{FF2B5EF4-FFF2-40B4-BE49-F238E27FC236}">
                <a16:creationId xmlns:a16="http://schemas.microsoft.com/office/drawing/2014/main" id="{75AC6C46-4096-4365-A5AE-9A2825409953}"/>
              </a:ext>
            </a:extLst>
          </p:cNvPr>
          <p:cNvSpPr/>
          <p:nvPr/>
        </p:nvSpPr>
        <p:spPr>
          <a:xfrm>
            <a:off x="1076788" y="436193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48" name="Oval 16">
            <a:extLst>
              <a:ext uri="{FF2B5EF4-FFF2-40B4-BE49-F238E27FC236}">
                <a16:creationId xmlns:a16="http://schemas.microsoft.com/office/drawing/2014/main" id="{F8F20826-AA0F-4F9D-8572-1E815091B1F1}"/>
              </a:ext>
            </a:extLst>
          </p:cNvPr>
          <p:cNvSpPr/>
          <p:nvPr/>
        </p:nvSpPr>
        <p:spPr>
          <a:xfrm>
            <a:off x="1077922" y="476481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9" name="Oval 16">
            <a:extLst>
              <a:ext uri="{FF2B5EF4-FFF2-40B4-BE49-F238E27FC236}">
                <a16:creationId xmlns:a16="http://schemas.microsoft.com/office/drawing/2014/main" id="{92B129B3-58FB-40C3-94C6-A4EDCDABA26E}"/>
              </a:ext>
            </a:extLst>
          </p:cNvPr>
          <p:cNvSpPr/>
          <p:nvPr/>
        </p:nvSpPr>
        <p:spPr>
          <a:xfrm>
            <a:off x="6472671" y="476076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0" name="Oval 16">
            <a:extLst>
              <a:ext uri="{FF2B5EF4-FFF2-40B4-BE49-F238E27FC236}">
                <a16:creationId xmlns:a16="http://schemas.microsoft.com/office/drawing/2014/main" id="{714600A9-C5D3-4398-955C-97AC6C2634C0}"/>
              </a:ext>
            </a:extLst>
          </p:cNvPr>
          <p:cNvSpPr/>
          <p:nvPr/>
        </p:nvSpPr>
        <p:spPr>
          <a:xfrm>
            <a:off x="9387596" y="268462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1" name="Oval 16">
            <a:extLst>
              <a:ext uri="{FF2B5EF4-FFF2-40B4-BE49-F238E27FC236}">
                <a16:creationId xmlns:a16="http://schemas.microsoft.com/office/drawing/2014/main" id="{5CF8D778-1AFD-4C26-A333-4B058C8E00D6}"/>
              </a:ext>
            </a:extLst>
          </p:cNvPr>
          <p:cNvSpPr/>
          <p:nvPr/>
        </p:nvSpPr>
        <p:spPr>
          <a:xfrm>
            <a:off x="3852614" y="221102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2" name="Oval 16">
            <a:extLst>
              <a:ext uri="{FF2B5EF4-FFF2-40B4-BE49-F238E27FC236}">
                <a16:creationId xmlns:a16="http://schemas.microsoft.com/office/drawing/2014/main" id="{C4B2B1B8-EF66-4A5D-8566-51A37D4CDD29}"/>
              </a:ext>
            </a:extLst>
          </p:cNvPr>
          <p:cNvSpPr/>
          <p:nvPr/>
        </p:nvSpPr>
        <p:spPr>
          <a:xfrm>
            <a:off x="3857771" y="478110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3" name="Oval 16">
            <a:extLst>
              <a:ext uri="{FF2B5EF4-FFF2-40B4-BE49-F238E27FC236}">
                <a16:creationId xmlns:a16="http://schemas.microsoft.com/office/drawing/2014/main" id="{11EDA8FD-4411-4933-A613-7B7F4F649A64}"/>
              </a:ext>
            </a:extLst>
          </p:cNvPr>
          <p:cNvSpPr/>
          <p:nvPr/>
        </p:nvSpPr>
        <p:spPr>
          <a:xfrm>
            <a:off x="9387596" y="312592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4" name="Oval 16">
            <a:extLst>
              <a:ext uri="{FF2B5EF4-FFF2-40B4-BE49-F238E27FC236}">
                <a16:creationId xmlns:a16="http://schemas.microsoft.com/office/drawing/2014/main" id="{BA2E3B7B-6F83-473E-85EA-19B32FDF9FC3}"/>
              </a:ext>
            </a:extLst>
          </p:cNvPr>
          <p:cNvSpPr/>
          <p:nvPr/>
        </p:nvSpPr>
        <p:spPr>
          <a:xfrm>
            <a:off x="6472671" y="359539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5" name="Oval 16">
            <a:extLst>
              <a:ext uri="{FF2B5EF4-FFF2-40B4-BE49-F238E27FC236}">
                <a16:creationId xmlns:a16="http://schemas.microsoft.com/office/drawing/2014/main" id="{770860F2-E1D6-41A5-96FE-4AFADC833831}"/>
              </a:ext>
            </a:extLst>
          </p:cNvPr>
          <p:cNvSpPr/>
          <p:nvPr/>
        </p:nvSpPr>
        <p:spPr>
          <a:xfrm>
            <a:off x="1076788" y="357972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56" name="Oval 16">
            <a:extLst>
              <a:ext uri="{FF2B5EF4-FFF2-40B4-BE49-F238E27FC236}">
                <a16:creationId xmlns:a16="http://schemas.microsoft.com/office/drawing/2014/main" id="{6139903E-B80E-4621-8EC8-2DAA8A8F365F}"/>
              </a:ext>
            </a:extLst>
          </p:cNvPr>
          <p:cNvSpPr/>
          <p:nvPr/>
        </p:nvSpPr>
        <p:spPr>
          <a:xfrm>
            <a:off x="3852614" y="358006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57" name="Oval 16">
            <a:extLst>
              <a:ext uri="{FF2B5EF4-FFF2-40B4-BE49-F238E27FC236}">
                <a16:creationId xmlns:a16="http://schemas.microsoft.com/office/drawing/2014/main" id="{D599EE6C-8670-4CD1-89E7-7E8F8B45A3D3}"/>
              </a:ext>
            </a:extLst>
          </p:cNvPr>
          <p:cNvSpPr/>
          <p:nvPr/>
        </p:nvSpPr>
        <p:spPr>
          <a:xfrm>
            <a:off x="9387596" y="39158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8" name="Oval 16">
            <a:extLst>
              <a:ext uri="{FF2B5EF4-FFF2-40B4-BE49-F238E27FC236}">
                <a16:creationId xmlns:a16="http://schemas.microsoft.com/office/drawing/2014/main" id="{8D14DA68-61E9-4454-A4CC-E9955C9F222B}"/>
              </a:ext>
            </a:extLst>
          </p:cNvPr>
          <p:cNvSpPr/>
          <p:nvPr/>
        </p:nvSpPr>
        <p:spPr>
          <a:xfrm>
            <a:off x="6472671" y="39158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9" name="Oval 16">
            <a:extLst>
              <a:ext uri="{FF2B5EF4-FFF2-40B4-BE49-F238E27FC236}">
                <a16:creationId xmlns:a16="http://schemas.microsoft.com/office/drawing/2014/main" id="{FA4F79A6-03A6-4425-BEC9-86B2B65031C1}"/>
              </a:ext>
            </a:extLst>
          </p:cNvPr>
          <p:cNvSpPr/>
          <p:nvPr/>
        </p:nvSpPr>
        <p:spPr>
          <a:xfrm>
            <a:off x="3852614" y="391144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name="Slide4426">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0F6D244B-227C-489B-985F-60547280E22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A4BB1302-356C-4764-B400-81BBEE37DC34}"/>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3146A60D-6AED-4931-93C2-897803BC622A}"/>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277ED4A5-1885-4809-8C72-DA383AEFEFB6}"/>
              </a:ext>
            </a:extLst>
          </p:cNvPr>
          <p:cNvSpPr txBox="1"/>
          <p:nvPr/>
        </p:nvSpPr>
        <p:spPr>
          <a:xfrm>
            <a:off x="11736543"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D576180-0BD7-43EF-9D5A-6BF61A34476E}" type="slidenum">
              <a:rPr sz="1200"/>
              <a:t>431</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03CD4096-A391-4728-A9DE-A2A5F7FAE833}"/>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Oval 1">
            <a:extLst>
              <a:ext uri="{FF2B5EF4-FFF2-40B4-BE49-F238E27FC236}">
                <a16:creationId xmlns:a16="http://schemas.microsoft.com/office/drawing/2014/main" id="{6A7E0979-29ED-49BB-A812-1951D6395066}"/>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2">
            <a:extLst>
              <a:ext uri="{FF2B5EF4-FFF2-40B4-BE49-F238E27FC236}">
                <a16:creationId xmlns:a16="http://schemas.microsoft.com/office/drawing/2014/main" id="{94684D2F-19D3-403F-91BA-73C8E67C0DFD}"/>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3">
            <a:extLst>
              <a:ext uri="{FF2B5EF4-FFF2-40B4-BE49-F238E27FC236}">
                <a16:creationId xmlns:a16="http://schemas.microsoft.com/office/drawing/2014/main" id="{CDA95795-BDF4-4C95-AB5E-37B94DD43FB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
            <a:extLst>
              <a:ext uri="{FF2B5EF4-FFF2-40B4-BE49-F238E27FC236}">
                <a16:creationId xmlns:a16="http://schemas.microsoft.com/office/drawing/2014/main" id="{D335AF81-34FD-46B8-87A6-6ED1D2031DA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5">
            <a:extLst>
              <a:ext uri="{FF2B5EF4-FFF2-40B4-BE49-F238E27FC236}">
                <a16:creationId xmlns:a16="http://schemas.microsoft.com/office/drawing/2014/main" id="{EFFD5DB4-5EED-46FC-86A8-37771DAE6288}"/>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6">
            <a:extLst>
              <a:ext uri="{FF2B5EF4-FFF2-40B4-BE49-F238E27FC236}">
                <a16:creationId xmlns:a16="http://schemas.microsoft.com/office/drawing/2014/main" id="{381F2525-C76D-43C3-88F2-189F139CBFED}"/>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7">
            <a:extLst>
              <a:ext uri="{FF2B5EF4-FFF2-40B4-BE49-F238E27FC236}">
                <a16:creationId xmlns:a16="http://schemas.microsoft.com/office/drawing/2014/main" id="{E7C315CF-2184-4E7F-A753-54B8C75B09D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8">
            <a:extLst>
              <a:ext uri="{FF2B5EF4-FFF2-40B4-BE49-F238E27FC236}">
                <a16:creationId xmlns:a16="http://schemas.microsoft.com/office/drawing/2014/main" id="{7FC7D295-3103-4615-84E9-B3DB5DF71EF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9">
            <a:extLst>
              <a:ext uri="{FF2B5EF4-FFF2-40B4-BE49-F238E27FC236}">
                <a16:creationId xmlns:a16="http://schemas.microsoft.com/office/drawing/2014/main" id="{4131D667-3E33-45C9-9E30-9B82DD9139A5}"/>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10">
            <a:extLst>
              <a:ext uri="{FF2B5EF4-FFF2-40B4-BE49-F238E27FC236}">
                <a16:creationId xmlns:a16="http://schemas.microsoft.com/office/drawing/2014/main" id="{7F847ECC-9289-4809-8BC2-36FF250BA7FF}"/>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extLst>
              <a:ext uri="{FF2B5EF4-FFF2-40B4-BE49-F238E27FC236}">
                <a16:creationId xmlns:a16="http://schemas.microsoft.com/office/drawing/2014/main" id="{E790D0CD-6D26-455B-9998-4196E00FCB96}"/>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12">
            <a:extLst>
              <a:ext uri="{FF2B5EF4-FFF2-40B4-BE49-F238E27FC236}">
                <a16:creationId xmlns:a16="http://schemas.microsoft.com/office/drawing/2014/main" id="{F2B8EC5D-3A58-4F61-9863-F5D9ECAE020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4A695467-827D-451E-BEC8-0BDB245FD22F}"/>
              </a:ext>
            </a:extLst>
          </p:cNvPr>
          <p:cNvSpPr/>
          <p:nvPr/>
        </p:nvSpPr>
        <p:spPr>
          <a:xfrm>
            <a:off x="364626" y="762536"/>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New Release Functionality: CCP</a:t>
            </a:r>
          </a:p>
        </p:txBody>
      </p:sp>
      <p:sp>
        <p:nvSpPr>
          <p:cNvPr id="21" name="Rectangle 4">
            <a:extLst>
              <a:ext uri="{FF2B5EF4-FFF2-40B4-BE49-F238E27FC236}">
                <a16:creationId xmlns:a16="http://schemas.microsoft.com/office/drawing/2014/main" id="{D603CF7A-A860-471E-BC2A-F83D8CC53D16}"/>
              </a:ext>
            </a:extLst>
          </p:cNvPr>
          <p:cNvSpPr/>
          <p:nvPr/>
        </p:nvSpPr>
        <p:spPr>
          <a:xfrm>
            <a:off x="362879" y="2440314"/>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2. No Response Improved Handling</a:t>
            </a:r>
            <a:endParaRPr lang="en-GB" sz="1800" b="1" i="0" u="none" strike="noStrike" kern="1200" cap="none" spc="0" baseline="0">
              <a:solidFill>
                <a:srgbClr val="000000"/>
              </a:solidFill>
              <a:uFillTx/>
              <a:latin typeface="Calibri" pitchFamily="34"/>
              <a:ea typeface="Calibri" pitchFamily="34"/>
            </a:endParaRPr>
          </a:p>
        </p:txBody>
      </p:sp>
      <p:sp>
        <p:nvSpPr>
          <p:cNvPr id="22" name="Rectangle 4">
            <a:extLst>
              <a:ext uri="{FF2B5EF4-FFF2-40B4-BE49-F238E27FC236}">
                <a16:creationId xmlns:a16="http://schemas.microsoft.com/office/drawing/2014/main" id="{484290F2-5AD6-4730-B868-9D90E5919E04}"/>
              </a:ext>
            </a:extLst>
          </p:cNvPr>
          <p:cNvSpPr/>
          <p:nvPr/>
        </p:nvSpPr>
        <p:spPr>
          <a:xfrm>
            <a:off x="363967" y="1162650"/>
            <a:ext cx="6830577"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1. Direct Representation and Duty Deferment Accounts (KEL 252) </a:t>
            </a:r>
          </a:p>
        </p:txBody>
      </p:sp>
      <p:sp>
        <p:nvSpPr>
          <p:cNvPr id="23" name="Rectangle 15">
            <a:extLst>
              <a:ext uri="{FF2B5EF4-FFF2-40B4-BE49-F238E27FC236}">
                <a16:creationId xmlns:a16="http://schemas.microsoft.com/office/drawing/2014/main" id="{669F8710-2F3B-44E0-8B08-EB266078B7A7}"/>
              </a:ext>
            </a:extLst>
          </p:cNvPr>
          <p:cNvSpPr/>
          <p:nvPr/>
        </p:nvSpPr>
        <p:spPr>
          <a:xfrm>
            <a:off x="362879" y="1481940"/>
            <a:ext cx="11435760" cy="83099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Previously, an issue was identified whereby declarations were being rejected where direct representation is declared (code 2 in D.E. 3/21) and the deferment account used was owned by the Declarant rather than the Importer. This is linked to Known Error 252, whereby validation is currently preventing the use of an agent's or representative's deferment account with direct representation. For TTM12.2, this error will be resolved to allow subsequent validation of the deferment account on a declaration where direct representation is declared belonging to either the importer, the declarant, or the representative.</a:t>
            </a:r>
          </a:p>
        </p:txBody>
      </p:sp>
      <p:sp>
        <p:nvSpPr>
          <p:cNvPr id="24" name="Rectangle 4">
            <a:extLst>
              <a:ext uri="{FF2B5EF4-FFF2-40B4-BE49-F238E27FC236}">
                <a16:creationId xmlns:a16="http://schemas.microsoft.com/office/drawing/2014/main" id="{796D91E8-76C0-465E-B5DB-052D3D781D03}"/>
              </a:ext>
            </a:extLst>
          </p:cNvPr>
          <p:cNvSpPr/>
          <p:nvPr/>
        </p:nvSpPr>
        <p:spPr>
          <a:xfrm>
            <a:off x="362879" y="3575761"/>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3. CDS Dual Running: DUCR Part Numbers</a:t>
            </a:r>
            <a:endParaRPr lang="en-GB" sz="1800" b="1" i="0" u="none" strike="noStrike" kern="1200" cap="none" spc="0" baseline="0">
              <a:solidFill>
                <a:srgbClr val="000000"/>
              </a:solidFill>
              <a:uFillTx/>
              <a:latin typeface="Calibri" pitchFamily="34"/>
              <a:ea typeface="Calibri" pitchFamily="34"/>
            </a:endParaRPr>
          </a:p>
        </p:txBody>
      </p:sp>
      <p:sp>
        <p:nvSpPr>
          <p:cNvPr id="25" name="Rectangle 15">
            <a:extLst>
              <a:ext uri="{FF2B5EF4-FFF2-40B4-BE49-F238E27FC236}">
                <a16:creationId xmlns:a16="http://schemas.microsoft.com/office/drawing/2014/main" id="{D05FD8FE-7984-4E9A-BF10-37AEDC535428}"/>
              </a:ext>
            </a:extLst>
          </p:cNvPr>
          <p:cNvSpPr/>
          <p:nvPr/>
        </p:nvSpPr>
        <p:spPr>
          <a:xfrm>
            <a:off x="362879" y="3909773"/>
            <a:ext cx="11435760" cy="193899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To facilitate CDS/CHIEF exports dual running, CDS will introduce functionality allows for the DUCR Part ID to be provided in all inventory linking requests. The DUCR Part ID can be declared by using up to 3 digits and 1 uppercase alpha character (n..3, a1), which acts as the unique identifier for arrivals and consolidations. The DUCR Part ID is used as it allows the trader to declare more than one declaration using a single UCR.</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TTM12.2.0, the following scenarios will be facilitated on CDS: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CSP Loaders/Consolidators will be able to include a DUCR Part ID in their inventory linking messages (i.e. EAA, EAL, EDL and EAC).</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CDS will be able to receive the DUCR and Part ID on all inventory linking requests for movements and check whether the DUCR exists in CDS. If the DUCR is not recognised, CDS will send the request to CHIEF.</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a CDS declaration, CDS will always return the most recent DUCR Part ID that was received in a movement request (i.e. the last movement/consolidation). If a DUCR Part ID is present in a response from ILE, all subsequent control notifications from CDS will include the DUCR Part ID.</a:t>
            </a:r>
          </a:p>
        </p:txBody>
      </p:sp>
      <p:sp>
        <p:nvSpPr>
          <p:cNvPr id="26" name="Rectangle 15">
            <a:extLst>
              <a:ext uri="{FF2B5EF4-FFF2-40B4-BE49-F238E27FC236}">
                <a16:creationId xmlns:a16="http://schemas.microsoft.com/office/drawing/2014/main" id="{6D74AE3E-3DCF-48B2-8186-E7A8E1E82B7A}"/>
              </a:ext>
            </a:extLst>
          </p:cNvPr>
          <p:cNvSpPr/>
          <p:nvPr/>
        </p:nvSpPr>
        <p:spPr>
          <a:xfrm>
            <a:off x="362879" y="2762420"/>
            <a:ext cx="11435760" cy="64633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TTM12.2 and CDS3.1.0, CDS will introduce a new component to resolve a number of ‘no response’ issues that were previously raised by external stakeholders. This new component is the ‘Events Coordinator’ and will ensure that CDS sends all valid messages to the destination system/recipient in all instances, unless that message cannot technically be sent. This will mitigate the issue of traders not receiving a notification when declarations are rejected.</a:t>
            </a:r>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name="Slide4425">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3756E67C-1CA5-4F89-A76E-9FE79995DF03}"/>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6C67C43-E088-4DE4-97BF-A5AAEED257C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F5BC717-43D7-4BB2-B18C-AB5DA5727F57}"/>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98F21BD7-788A-4492-849D-FD708E406441}"/>
              </a:ext>
            </a:extLst>
          </p:cNvPr>
          <p:cNvSpPr txBox="1"/>
          <p:nvPr/>
        </p:nvSpPr>
        <p:spPr>
          <a:xfrm>
            <a:off x="11763975" y="6360465"/>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457C366-C087-4CA0-959A-70702948654B}" type="slidenum">
              <a:rPr sz="1200"/>
              <a:t>432</a:t>
            </a:fld>
            <a:endParaRPr lang="en-GB" sz="1200" b="0" i="0" u="none" strike="noStrike" kern="1200" cap="none" spc="0" baseline="0">
              <a:solidFill>
                <a:srgbClr val="000000"/>
              </a:solidFill>
              <a:uFillTx/>
              <a:latin typeface="Calibri"/>
            </a:endParaRPr>
          </a:p>
        </p:txBody>
      </p:sp>
      <p:sp>
        <p:nvSpPr>
          <p:cNvPr id="7" name="Footer Placeholder 1">
            <a:extLst>
              <a:ext uri="{FF2B5EF4-FFF2-40B4-BE49-F238E27FC236}">
                <a16:creationId xmlns:a16="http://schemas.microsoft.com/office/drawing/2014/main" id="{394F253E-2046-488C-B71E-D2AB543BA4D1}"/>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Oval 1">
            <a:extLst>
              <a:ext uri="{FF2B5EF4-FFF2-40B4-BE49-F238E27FC236}">
                <a16:creationId xmlns:a16="http://schemas.microsoft.com/office/drawing/2014/main" id="{86AA6981-47D8-46D6-87AD-1AF0F8F5866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2">
            <a:extLst>
              <a:ext uri="{FF2B5EF4-FFF2-40B4-BE49-F238E27FC236}">
                <a16:creationId xmlns:a16="http://schemas.microsoft.com/office/drawing/2014/main" id="{03A2716E-AE21-42C8-B4E2-DB4F057EF032}"/>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3">
            <a:extLst>
              <a:ext uri="{FF2B5EF4-FFF2-40B4-BE49-F238E27FC236}">
                <a16:creationId xmlns:a16="http://schemas.microsoft.com/office/drawing/2014/main" id="{D6D61A92-F256-47D9-A08B-0ABE50E2F99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
            <a:extLst>
              <a:ext uri="{FF2B5EF4-FFF2-40B4-BE49-F238E27FC236}">
                <a16:creationId xmlns:a16="http://schemas.microsoft.com/office/drawing/2014/main" id="{3DE5A731-27DA-4519-945C-543546F3174B}"/>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5">
            <a:extLst>
              <a:ext uri="{FF2B5EF4-FFF2-40B4-BE49-F238E27FC236}">
                <a16:creationId xmlns:a16="http://schemas.microsoft.com/office/drawing/2014/main" id="{00F5CF81-85A7-45B7-B7FF-13F3F9C9DC3F}"/>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6">
            <a:extLst>
              <a:ext uri="{FF2B5EF4-FFF2-40B4-BE49-F238E27FC236}">
                <a16:creationId xmlns:a16="http://schemas.microsoft.com/office/drawing/2014/main" id="{09BAA052-1D0E-4DA5-A176-EFAF47D35487}"/>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7">
            <a:extLst>
              <a:ext uri="{FF2B5EF4-FFF2-40B4-BE49-F238E27FC236}">
                <a16:creationId xmlns:a16="http://schemas.microsoft.com/office/drawing/2014/main" id="{B11A1801-0D3E-4B8E-BFD8-2582DC40F289}"/>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8">
            <a:extLst>
              <a:ext uri="{FF2B5EF4-FFF2-40B4-BE49-F238E27FC236}">
                <a16:creationId xmlns:a16="http://schemas.microsoft.com/office/drawing/2014/main" id="{F7F3B3E7-705C-4DBD-9C70-240C86329CB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9">
            <a:extLst>
              <a:ext uri="{FF2B5EF4-FFF2-40B4-BE49-F238E27FC236}">
                <a16:creationId xmlns:a16="http://schemas.microsoft.com/office/drawing/2014/main" id="{787EFDC1-3271-4FB1-A040-22369B98074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10">
            <a:extLst>
              <a:ext uri="{FF2B5EF4-FFF2-40B4-BE49-F238E27FC236}">
                <a16:creationId xmlns:a16="http://schemas.microsoft.com/office/drawing/2014/main" id="{C0F21D22-5374-4D7B-91A9-1498F22F100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extLst>
              <a:ext uri="{FF2B5EF4-FFF2-40B4-BE49-F238E27FC236}">
                <a16:creationId xmlns:a16="http://schemas.microsoft.com/office/drawing/2014/main" id="{1D2E2E3F-0AF1-4C88-A3BC-090912AA1BD1}"/>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12">
            <a:extLst>
              <a:ext uri="{FF2B5EF4-FFF2-40B4-BE49-F238E27FC236}">
                <a16:creationId xmlns:a16="http://schemas.microsoft.com/office/drawing/2014/main" id="{586A0F51-4EE1-4683-A28C-1AB26342AE36}"/>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BBB34E9B-DF38-4571-AEC5-A9654513389B}"/>
              </a:ext>
            </a:extLst>
          </p:cNvPr>
          <p:cNvSpPr/>
          <p:nvPr/>
        </p:nvSpPr>
        <p:spPr>
          <a:xfrm>
            <a:off x="363967" y="710296"/>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4. Customs Route Granularity</a:t>
            </a:r>
            <a:endParaRPr lang="en-GB" sz="1800" b="1" i="0" u="none" strike="noStrike" kern="1200" cap="none" spc="0" baseline="0">
              <a:solidFill>
                <a:srgbClr val="000000"/>
              </a:solidFill>
              <a:uFillTx/>
              <a:latin typeface="Calibri" pitchFamily="34"/>
              <a:ea typeface="Calibri" pitchFamily="34"/>
            </a:endParaRPr>
          </a:p>
        </p:txBody>
      </p:sp>
      <p:sp>
        <p:nvSpPr>
          <p:cNvPr id="21" name="Rectangle 15">
            <a:extLst>
              <a:ext uri="{FF2B5EF4-FFF2-40B4-BE49-F238E27FC236}">
                <a16:creationId xmlns:a16="http://schemas.microsoft.com/office/drawing/2014/main" id="{0EEE4EDA-A68B-4D8D-840C-878310B0BE3A}"/>
              </a:ext>
            </a:extLst>
          </p:cNvPr>
          <p:cNvSpPr/>
          <p:nvPr/>
        </p:nvSpPr>
        <p:spPr>
          <a:xfrm>
            <a:off x="363967" y="1048853"/>
            <a:ext cx="11435760" cy="212365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As part of CDS3.1.0 release, CDS will introduce functionality which allows CSPS to receive additional information in the routing information to identify which government department raised a particular documentary or physical control task. Please note, exports routes and the inclusion of the document requested in the DMSCDOC notification are not in scope for this release.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When a blocking documentary control (route 1), non-blocking documentary control (route 3), physical control (route 2) is raised, CDS will inform the CSP which government department is responsible for the control.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When an ALVS control (route 0) is raised, CDS will inform the CSP which DEFRA department is responsible for the control.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Please note, Customs Route follows a compounding pattern. Where controls are raised on an imports declaration, the returned customs route will identify the most severe open control and all of the organisations involved across all open controls (e.g. Route 2W is returned if there is at least one control with OGD (ALVS), at least one control with Trading Standards, at least one control with Customs NCH control, no involvement from Border Force, and at least one of the controls raised is a route 2).</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If a DIS query is raised for an Exports declaration, the ROE returned will identify the most severe open control on the declaration. There will be no suffix identifying the government departments involved across all controls. E.g. an ROE of 2 will be sent if the most severe open control on a declaration is a physical control.</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0000"/>
                </a:solidFill>
                <a:uFillTx/>
                <a:latin typeface="Calibri"/>
              </a:rPr>
              <a:t>When all controls have been completed, a route 6 must be returned (in both Inventory Linked Imports notifications and DIS). If it has not been possible to identify a route/Government department (e.g. due to new or unexpected data), CDS must return a route code of ‘E’ (in both Inventory Linked Imports notifications and DIS). </a:t>
            </a:r>
          </a:p>
        </p:txBody>
      </p:sp>
      <p:graphicFrame>
        <p:nvGraphicFramePr>
          <p:cNvPr id="22" name="Table 4">
            <a:extLst>
              <a:ext uri="{FF2B5EF4-FFF2-40B4-BE49-F238E27FC236}">
                <a16:creationId xmlns:a16="http://schemas.microsoft.com/office/drawing/2014/main" id="{1FD4A2DB-8330-4A50-A451-EA2CEF7745AA}"/>
              </a:ext>
            </a:extLst>
          </p:cNvPr>
          <p:cNvGraphicFramePr>
            <a:graphicFrameLocks noGrp="1"/>
          </p:cNvGraphicFramePr>
          <p:nvPr/>
        </p:nvGraphicFramePr>
        <p:xfrm>
          <a:off x="392268" y="3191905"/>
          <a:ext cx="11489271" cy="3142399"/>
        </p:xfrm>
        <a:graphic>
          <a:graphicData uri="http://schemas.openxmlformats.org/drawingml/2006/table">
            <a:tbl>
              <a:tblPr firstRow="1" bandRow="1">
                <a:effectLst/>
                <a:tableStyleId>{5C22544A-7EE6-4342-B048-85BDC9FD1C3A}</a:tableStyleId>
              </a:tblPr>
              <a:tblGrid>
                <a:gridCol w="11489271">
                  <a:extLst>
                    <a:ext uri="{9D8B030D-6E8A-4147-A177-3AD203B41FA5}">
                      <a16:colId xmlns:a16="http://schemas.microsoft.com/office/drawing/2014/main" val="1269085168"/>
                    </a:ext>
                  </a:extLst>
                </a:gridCol>
              </a:tblGrid>
              <a:tr h="3142399">
                <a:tc>
                  <a:txBody>
                    <a:bodyPr/>
                    <a:lstStyle/>
                    <a:p>
                      <a:pPr marL="0" marR="0" lvl="0" indent="0" algn="l" defTabSz="914400" rtl="0" fontAlgn="auto" hangingPunct="1">
                        <a:lnSpc>
                          <a:spcPct val="100000"/>
                        </a:lnSpc>
                        <a:spcBef>
                          <a:spcPts val="0"/>
                        </a:spcBef>
                        <a:spcAft>
                          <a:spcPts val="0"/>
                        </a:spcAft>
                        <a:buNone/>
                        <a:tabLst/>
                      </a:pPr>
                      <a:endParaRPr lang="en-GB" sz="1200" dirty="0">
                        <a:solidFill>
                          <a:srgbClr val="000000"/>
                        </a:solidFill>
                      </a:endParaRP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238931874"/>
                  </a:ext>
                </a:extLst>
              </a:tr>
            </a:tbl>
          </a:graphicData>
        </a:graphic>
      </p:graphicFrame>
      <p:graphicFrame>
        <p:nvGraphicFramePr>
          <p:cNvPr id="23" name="Table 6">
            <a:extLst>
              <a:ext uri="{FF2B5EF4-FFF2-40B4-BE49-F238E27FC236}">
                <a16:creationId xmlns:a16="http://schemas.microsoft.com/office/drawing/2014/main" id="{72D4210E-9DF5-4C40-A50B-40EA907FD9CC}"/>
              </a:ext>
            </a:extLst>
          </p:cNvPr>
          <p:cNvGraphicFramePr>
            <a:graphicFrameLocks noGrp="1"/>
          </p:cNvGraphicFramePr>
          <p:nvPr/>
        </p:nvGraphicFramePr>
        <p:xfrm>
          <a:off x="522908" y="3525789"/>
          <a:ext cx="5431662" cy="2367118"/>
        </p:xfrm>
        <a:graphic>
          <a:graphicData uri="http://schemas.openxmlformats.org/drawingml/2006/table">
            <a:tbl>
              <a:tblPr>
                <a:effectLst/>
              </a:tblPr>
              <a:tblGrid>
                <a:gridCol w="3615921">
                  <a:extLst>
                    <a:ext uri="{9D8B030D-6E8A-4147-A177-3AD203B41FA5}">
                      <a16:colId xmlns:a16="http://schemas.microsoft.com/office/drawing/2014/main" val="859234983"/>
                    </a:ext>
                  </a:extLst>
                </a:gridCol>
                <a:gridCol w="580296">
                  <a:extLst>
                    <a:ext uri="{9D8B030D-6E8A-4147-A177-3AD203B41FA5}">
                      <a16:colId xmlns:a16="http://schemas.microsoft.com/office/drawing/2014/main" val="4053559651"/>
                    </a:ext>
                  </a:extLst>
                </a:gridCol>
                <a:gridCol w="580296">
                  <a:extLst>
                    <a:ext uri="{9D8B030D-6E8A-4147-A177-3AD203B41FA5}">
                      <a16:colId xmlns:a16="http://schemas.microsoft.com/office/drawing/2014/main" val="1855220864"/>
                    </a:ext>
                  </a:extLst>
                </a:gridCol>
                <a:gridCol w="655149">
                  <a:extLst>
                    <a:ext uri="{9D8B030D-6E8A-4147-A177-3AD203B41FA5}">
                      <a16:colId xmlns:a16="http://schemas.microsoft.com/office/drawing/2014/main" val="3538564668"/>
                    </a:ext>
                  </a:extLst>
                </a:gridCol>
              </a:tblGrid>
              <a:tr h="112772">
                <a:tc>
                  <a:txBody>
                    <a:bodyPr/>
                    <a:lstStyle/>
                    <a:p>
                      <a:pPr lvl="0" algn="ctr"/>
                      <a:r>
                        <a:rPr lang="en-GB" sz="1100" b="1">
                          <a:solidFill>
                            <a:srgbClr val="FFFFFF"/>
                          </a:solidFill>
                        </a:rPr>
                        <a:t>Description</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r>
                        <a:rPr lang="en-GB" sz="1100" b="1">
                          <a:solidFill>
                            <a:srgbClr val="FFFFFF"/>
                          </a:solidFill>
                        </a:rPr>
                        <a:t>Route 1</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r>
                        <a:rPr lang="en-GB" sz="1100" b="1">
                          <a:solidFill>
                            <a:srgbClr val="FFFFFF"/>
                          </a:solidFill>
                        </a:rPr>
                        <a:t>Route 2</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r>
                        <a:rPr lang="en-GB" sz="1100" b="1">
                          <a:solidFill>
                            <a:srgbClr val="FFFFFF"/>
                          </a:solidFill>
                        </a:rPr>
                        <a:t>Route 3</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extLst>
                  <a:ext uri="{0D108BD9-81ED-4DB2-BD59-A6C34878D82A}">
                    <a16:rowId xmlns:a16="http://schemas.microsoft.com/office/drawing/2014/main" val="940682825"/>
                  </a:ext>
                </a:extLst>
              </a:tr>
              <a:tr h="155832">
                <a:tc>
                  <a:txBody>
                    <a:bodyPr/>
                    <a:lstStyle/>
                    <a:p>
                      <a:pPr lvl="0"/>
                      <a:r>
                        <a:rPr lang="en-GB" sz="1100"/>
                        <a:t>Pending documentary check/examination (NCH)</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2</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3</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4177843581"/>
                  </a:ext>
                </a:extLst>
              </a:tr>
              <a:tr h="155832">
                <a:tc>
                  <a:txBody>
                    <a:bodyPr/>
                    <a:lstStyle/>
                    <a:p>
                      <a:pPr lvl="0"/>
                      <a:r>
                        <a:rPr lang="en-GB" sz="1100"/>
                        <a:t>Documentary check/goods examination by Border Force</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1F</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2F</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2F</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128915287"/>
                  </a:ext>
                </a:extLst>
              </a:tr>
              <a:tr h="155832">
                <a:tc>
                  <a:txBody>
                    <a:bodyPr/>
                    <a:lstStyle/>
                    <a:p>
                      <a:pPr lvl="0"/>
                      <a:r>
                        <a:rPr lang="en-GB" sz="1100"/>
                        <a:t>OGD and Trading Standards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1Q</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2Q</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2Q</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510348080"/>
                  </a:ext>
                </a:extLst>
              </a:tr>
              <a:tr h="155832">
                <a:tc>
                  <a:txBody>
                    <a:bodyPr/>
                    <a:lstStyle/>
                    <a:p>
                      <a:pPr lvl="0"/>
                      <a:r>
                        <a:rPr lang="en-GB" sz="1100"/>
                        <a:t>OGD, Trading Standards and Border Force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1R</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2R</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3R</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4074990540"/>
                  </a:ext>
                </a:extLst>
              </a:tr>
              <a:tr h="155832">
                <a:tc>
                  <a:txBody>
                    <a:bodyPr/>
                    <a:lstStyle/>
                    <a:p>
                      <a:pPr lvl="0"/>
                      <a:r>
                        <a:rPr lang="en-GB" sz="1100"/>
                        <a:t>Trading Standards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1S</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2S</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3S</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4163653574"/>
                  </a:ext>
                </a:extLst>
              </a:tr>
              <a:tr h="155832">
                <a:tc>
                  <a:txBody>
                    <a:bodyPr/>
                    <a:lstStyle/>
                    <a:p>
                      <a:pPr lvl="0"/>
                      <a:r>
                        <a:rPr lang="en-GB" sz="1100"/>
                        <a:t>Trading Standards and Customs (NCH)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1U</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2U</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3U</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11999672"/>
                  </a:ext>
                </a:extLst>
              </a:tr>
              <a:tr h="155832">
                <a:tc>
                  <a:txBody>
                    <a:bodyPr/>
                    <a:lstStyle/>
                    <a:p>
                      <a:pPr lvl="0"/>
                      <a:r>
                        <a:rPr lang="en-GB" sz="1100"/>
                        <a:t>Trading Standards and Border Force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1V</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2V</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3V</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539485445"/>
                  </a:ext>
                </a:extLst>
              </a:tr>
              <a:tr h="155832">
                <a:tc>
                  <a:txBody>
                    <a:bodyPr/>
                    <a:lstStyle/>
                    <a:p>
                      <a:pPr lvl="0"/>
                      <a:r>
                        <a:rPr lang="en-GB" sz="1100"/>
                        <a:t>OGD, Trading Standards and Customs (NCH) involvement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1W</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2W</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3W</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3694571679"/>
                  </a:ext>
                </a:extLst>
              </a:tr>
              <a:tr h="155832">
                <a:tc>
                  <a:txBody>
                    <a:bodyPr/>
                    <a:lstStyle/>
                    <a:p>
                      <a:pPr lvl="0"/>
                      <a:r>
                        <a:rPr lang="en-GB" sz="1100"/>
                        <a:t>OGD, and additional check by Border Force</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1Y</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595301222"/>
                  </a:ext>
                </a:extLst>
              </a:tr>
              <a:tr h="155832">
                <a:tc>
                  <a:txBody>
                    <a:bodyPr/>
                    <a:lstStyle/>
                    <a:p>
                      <a:pPr lvl="0"/>
                      <a:r>
                        <a:rPr lang="en-GB" sz="1100"/>
                        <a:t>Awaiting results of inspection by more than one authority</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2Y</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3391607725"/>
                  </a:ext>
                </a:extLst>
              </a:tr>
              <a:tr h="155832">
                <a:tc>
                  <a:txBody>
                    <a:bodyPr/>
                    <a:lstStyle/>
                    <a:p>
                      <a:pPr lvl="0"/>
                      <a:r>
                        <a:rPr lang="en-GB" sz="1100"/>
                        <a:t>OGD, and additional check by Border Force</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1Z</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024742732"/>
                  </a:ext>
                </a:extLst>
              </a:tr>
              <a:tr h="155832">
                <a:tc>
                  <a:txBody>
                    <a:bodyPr/>
                    <a:lstStyle/>
                    <a:p>
                      <a:pPr lvl="0"/>
                      <a:r>
                        <a:rPr lang="en-GB" sz="1100"/>
                        <a:t>Additional goods examination by HMRC</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a:t>2Z</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lvl="0"/>
                      <a:r>
                        <a:rPr lang="en-GB" sz="1100" dirty="0"/>
                        <a:t>-</a:t>
                      </a:r>
                    </a:p>
                  </a:txBody>
                  <a:tcPr marL="9637" marR="9637" marT="7223" marB="7223"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extLst>
                  <a:ext uri="{0D108BD9-81ED-4DB2-BD59-A6C34878D82A}">
                    <a16:rowId xmlns:a16="http://schemas.microsoft.com/office/drawing/2014/main" val="3728066584"/>
                  </a:ext>
                </a:extLst>
              </a:tr>
            </a:tbl>
          </a:graphicData>
        </a:graphic>
      </p:graphicFrame>
      <p:graphicFrame>
        <p:nvGraphicFramePr>
          <p:cNvPr id="24" name="Table 32">
            <a:extLst>
              <a:ext uri="{FF2B5EF4-FFF2-40B4-BE49-F238E27FC236}">
                <a16:creationId xmlns:a16="http://schemas.microsoft.com/office/drawing/2014/main" id="{FE5C9BE2-1065-4E92-BE96-E73315863C70}"/>
              </a:ext>
            </a:extLst>
          </p:cNvPr>
          <p:cNvGraphicFramePr>
            <a:graphicFrameLocks noGrp="1"/>
          </p:cNvGraphicFramePr>
          <p:nvPr/>
        </p:nvGraphicFramePr>
        <p:xfrm>
          <a:off x="6226935" y="3528761"/>
          <a:ext cx="5503745" cy="2725558"/>
        </p:xfrm>
        <a:graphic>
          <a:graphicData uri="http://schemas.openxmlformats.org/drawingml/2006/table">
            <a:tbl>
              <a:tblPr>
                <a:effectLst/>
              </a:tblPr>
              <a:tblGrid>
                <a:gridCol w="3804114">
                  <a:extLst>
                    <a:ext uri="{9D8B030D-6E8A-4147-A177-3AD203B41FA5}">
                      <a16:colId xmlns:a16="http://schemas.microsoft.com/office/drawing/2014/main" val="258523879"/>
                    </a:ext>
                  </a:extLst>
                </a:gridCol>
                <a:gridCol w="1699631">
                  <a:extLst>
                    <a:ext uri="{9D8B030D-6E8A-4147-A177-3AD203B41FA5}">
                      <a16:colId xmlns:a16="http://schemas.microsoft.com/office/drawing/2014/main" val="2627373675"/>
                    </a:ext>
                  </a:extLst>
                </a:gridCol>
              </a:tblGrid>
              <a:tr h="124193">
                <a:tc>
                  <a:txBody>
                    <a:bodyPr/>
                    <a:lstStyle/>
                    <a:p>
                      <a:pPr lvl="0" algn="ctr"/>
                      <a:r>
                        <a:rPr lang="en-GB" sz="1100" b="1">
                          <a:solidFill>
                            <a:srgbClr val="FFFFFF"/>
                          </a:solidFill>
                        </a:rPr>
                        <a:t>Description</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A6A6A6"/>
                    </a:solidFill>
                  </a:tcPr>
                </a:tc>
                <a:tc>
                  <a:txBody>
                    <a:bodyPr/>
                    <a:lstStyle/>
                    <a:p>
                      <a:pPr lvl="0" algn="ctr"/>
                      <a:r>
                        <a:rPr lang="en-GB" sz="1100" b="1">
                          <a:solidFill>
                            <a:srgbClr val="FFFFFF"/>
                          </a:solidFill>
                        </a:rPr>
                        <a:t>Route 0</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A6A6A6"/>
                    </a:solidFill>
                  </a:tcPr>
                </a:tc>
                <a:extLst>
                  <a:ext uri="{0D108BD9-81ED-4DB2-BD59-A6C34878D82A}">
                    <a16:rowId xmlns:a16="http://schemas.microsoft.com/office/drawing/2014/main" val="419973875"/>
                  </a:ext>
                </a:extLst>
              </a:tr>
              <a:tr h="124193">
                <a:tc>
                  <a:txBody>
                    <a:bodyPr/>
                    <a:lstStyle/>
                    <a:p>
                      <a:pPr lvl="0"/>
                      <a:r>
                        <a:rPr lang="en-GB" sz="1100"/>
                        <a:t>Awaiting decision from Animal Health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tc>
                  <a:txBody>
                    <a:bodyPr/>
                    <a:lstStyle/>
                    <a:p>
                      <a:pPr lvl="0"/>
                      <a:r>
                        <a:rPr lang="en-GB" sz="1100"/>
                        <a:t>0A</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F2F2F2"/>
                    </a:solidFill>
                  </a:tcPr>
                </a:tc>
                <a:extLst>
                  <a:ext uri="{0D108BD9-81ED-4DB2-BD59-A6C34878D82A}">
                    <a16:rowId xmlns:a16="http://schemas.microsoft.com/office/drawing/2014/main" val="2308272579"/>
                  </a:ext>
                </a:extLst>
              </a:tr>
              <a:tr h="124193">
                <a:tc>
                  <a:txBody>
                    <a:bodyPr/>
                    <a:lstStyle/>
                    <a:p>
                      <a:pPr lvl="0"/>
                      <a:r>
                        <a:rPr lang="en-GB" sz="1100"/>
                        <a:t>Awaiting decision from Port Health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0B</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3917607918"/>
                  </a:ext>
                </a:extLst>
              </a:tr>
              <a:tr h="124193">
                <a:tc>
                  <a:txBody>
                    <a:bodyPr/>
                    <a:lstStyle/>
                    <a:p>
                      <a:pPr lvl="0"/>
                      <a:r>
                        <a:rPr lang="en-GB" sz="1100"/>
                        <a:t>Awaiting decision from HMI</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0H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666670229"/>
                  </a:ext>
                </a:extLst>
              </a:tr>
              <a:tr h="124193">
                <a:tc>
                  <a:txBody>
                    <a:bodyPr/>
                    <a:lstStyle/>
                    <a:p>
                      <a:pPr lvl="0"/>
                      <a:r>
                        <a:rPr lang="en-GB" sz="1100"/>
                        <a:t>Awaiting decision from Plant Health (PHSI)</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0P</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3012564039"/>
                  </a:ext>
                </a:extLst>
              </a:tr>
              <a:tr h="232870">
                <a:tc>
                  <a:txBody>
                    <a:bodyPr/>
                    <a:lstStyle/>
                    <a:p>
                      <a:pPr lvl="0"/>
                      <a:r>
                        <a:rPr lang="en-GB" sz="1100"/>
                        <a:t>Awaiting decision (declaration contains item(s) that require inspection by more than one authority)</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0X</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538366467"/>
                  </a:ext>
                </a:extLst>
              </a:tr>
              <a:tr h="124193">
                <a:tc>
                  <a:txBody>
                    <a:bodyPr/>
                    <a:lstStyle/>
                    <a:p>
                      <a:pPr lvl="0"/>
                      <a:r>
                        <a:rPr lang="en-GB" sz="1100"/>
                        <a:t>Awaiting results of inspection by Animal Health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0A</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2050057840"/>
                  </a:ext>
                </a:extLst>
              </a:tr>
              <a:tr h="124193">
                <a:tc>
                  <a:txBody>
                    <a:bodyPr/>
                    <a:lstStyle/>
                    <a:p>
                      <a:pPr lvl="0"/>
                      <a:r>
                        <a:rPr lang="en-GB" sz="1100"/>
                        <a:t>Awaiting results of inspection by Port Health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0B</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3513281597"/>
                  </a:ext>
                </a:extLst>
              </a:tr>
              <a:tr h="124193">
                <a:tc>
                  <a:txBody>
                    <a:bodyPr/>
                    <a:lstStyle/>
                    <a:p>
                      <a:pPr lvl="0"/>
                      <a:r>
                        <a:rPr lang="en-GB" sz="1100"/>
                        <a:t>Awaiting results of inspection by HMI</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0H</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3169039608"/>
                  </a:ext>
                </a:extLst>
              </a:tr>
              <a:tr h="124193">
                <a:tc>
                  <a:txBody>
                    <a:bodyPr/>
                    <a:lstStyle/>
                    <a:p>
                      <a:pPr lvl="0"/>
                      <a:r>
                        <a:rPr lang="en-GB" sz="1100"/>
                        <a:t>Awaiting results of inspection by PHSI</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0P</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948179831"/>
                  </a:ext>
                </a:extLst>
              </a:tr>
              <a:tr h="149742">
                <a:tc>
                  <a:txBody>
                    <a:bodyPr/>
                    <a:lstStyle/>
                    <a:p>
                      <a:pPr lvl="0"/>
                      <a:r>
                        <a:rPr lang="en-GB" sz="1100"/>
                        <a:t>Awaiting results of inspection by more than one authority</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a:t>0X</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2293325723"/>
                  </a:ext>
                </a:extLst>
              </a:tr>
              <a:tr h="232870">
                <a:tc>
                  <a:txBody>
                    <a:bodyPr/>
                    <a:lstStyle/>
                    <a:p>
                      <a:pPr lvl="0"/>
                      <a:r>
                        <a:rPr lang="en-GB" sz="1100"/>
                        <a:t>DEFRA inspection required + NCH/BF/TS documentary check</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tc>
                  <a:txBody>
                    <a:bodyPr/>
                    <a:lstStyle/>
                    <a:p>
                      <a:pPr lvl="0"/>
                      <a:r>
                        <a:rPr lang="en-GB" sz="1100"/>
                        <a:t>ROE of DEFRA Inspection</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tcPr>
                </a:tc>
                <a:extLst>
                  <a:ext uri="{0D108BD9-81ED-4DB2-BD59-A6C34878D82A}">
                    <a16:rowId xmlns:a16="http://schemas.microsoft.com/office/drawing/2014/main" val="1264729605"/>
                  </a:ext>
                </a:extLst>
              </a:tr>
              <a:tr h="149742">
                <a:tc>
                  <a:txBody>
                    <a:bodyPr/>
                    <a:lstStyle/>
                    <a:p>
                      <a:pPr lvl="0"/>
                      <a:r>
                        <a:rPr lang="en-GB" sz="1100"/>
                        <a:t>DEFRA inspection required + NCH/BF/TS physical check</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tc>
                  <a:txBody>
                    <a:bodyPr/>
                    <a:lstStyle/>
                    <a:p>
                      <a:pPr lvl="0"/>
                      <a:r>
                        <a:rPr lang="en-GB" sz="1100" dirty="0"/>
                        <a:t>ROE of Route 2</a:t>
                      </a:r>
                    </a:p>
                  </a:txBody>
                  <a:tcPr marL="17410" marR="17410" marT="13057" marB="13057" anchor="ctr">
                    <a:lnL w="4764" cap="flat" cmpd="sng" algn="ctr">
                      <a:solidFill>
                        <a:srgbClr val="CCCCCC"/>
                      </a:solidFill>
                      <a:prstDash val="solid"/>
                      <a:round/>
                      <a:headEnd type="none" w="med" len="med"/>
                      <a:tailEnd type="none" w="med" len="med"/>
                    </a:lnL>
                    <a:lnR w="4764" cap="flat" cmpd="sng" algn="ctr">
                      <a:solidFill>
                        <a:srgbClr val="CCCCCC"/>
                      </a:solidFill>
                      <a:prstDash val="solid"/>
                      <a:round/>
                      <a:headEnd type="none" w="med" len="med"/>
                      <a:tailEnd type="none" w="med" len="med"/>
                    </a:lnR>
                    <a:lnT w="4764" cap="flat" cmpd="sng" algn="ctr">
                      <a:solidFill>
                        <a:srgbClr val="CCCCCC"/>
                      </a:solidFill>
                      <a:prstDash val="solid"/>
                      <a:round/>
                      <a:headEnd type="none" w="med" len="med"/>
                      <a:tailEnd type="none" w="med" len="med"/>
                    </a:lnT>
                    <a:lnB w="4764" cap="flat" cmpd="sng" algn="ctr">
                      <a:solidFill>
                        <a:srgbClr val="CCCCCC"/>
                      </a:solidFill>
                      <a:prstDash val="solid"/>
                      <a:round/>
                      <a:headEnd type="none" w="med" len="med"/>
                      <a:tailEnd type="none" w="med" len="med"/>
                    </a:lnB>
                    <a:solidFill>
                      <a:srgbClr val="E7E6E6"/>
                    </a:solidFill>
                  </a:tcPr>
                </a:tc>
                <a:extLst>
                  <a:ext uri="{0D108BD9-81ED-4DB2-BD59-A6C34878D82A}">
                    <a16:rowId xmlns:a16="http://schemas.microsoft.com/office/drawing/2014/main" val="3491447934"/>
                  </a:ext>
                </a:extLst>
              </a:tr>
            </a:tbl>
          </a:graphicData>
        </a:graphic>
      </p:graphicFrame>
      <p:sp>
        <p:nvSpPr>
          <p:cNvPr id="25" name="Rectangle 33">
            <a:extLst>
              <a:ext uri="{FF2B5EF4-FFF2-40B4-BE49-F238E27FC236}">
                <a16:creationId xmlns:a16="http://schemas.microsoft.com/office/drawing/2014/main" id="{3921D046-AEB7-4AB5-B48B-79BDC8D6EE65}"/>
              </a:ext>
            </a:extLst>
          </p:cNvPr>
          <p:cNvSpPr/>
          <p:nvPr/>
        </p:nvSpPr>
        <p:spPr>
          <a:xfrm>
            <a:off x="429493" y="3238329"/>
            <a:ext cx="1606783" cy="276999"/>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Customs Route Codes:</a:t>
            </a:r>
          </a:p>
        </p:txBody>
      </p:sp>
      <p:sp>
        <p:nvSpPr>
          <p:cNvPr id="26" name="Rectangle 34">
            <a:extLst>
              <a:ext uri="{FF2B5EF4-FFF2-40B4-BE49-F238E27FC236}">
                <a16:creationId xmlns:a16="http://schemas.microsoft.com/office/drawing/2014/main" id="{B8E40D5D-ACBD-40CA-B722-7AB52D616245}"/>
              </a:ext>
            </a:extLst>
          </p:cNvPr>
          <p:cNvSpPr/>
          <p:nvPr/>
        </p:nvSpPr>
        <p:spPr>
          <a:xfrm>
            <a:off x="6184059" y="3248415"/>
            <a:ext cx="2066937" cy="27699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ALVS Route Codes:</a:t>
            </a:r>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name="Slide442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4FF29897-4FDB-4021-B4E4-79AC47EE02C0}"/>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4CC83310-DB84-4E36-899C-250475E38C2F}"/>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D2372ABF-E60D-48B0-BAC6-D4EF8F2E2113}"/>
              </a:ext>
            </a:extLst>
          </p:cNvPr>
          <p:cNvSpPr txBox="1"/>
          <p:nvPr/>
        </p:nvSpPr>
        <p:spPr>
          <a:xfrm>
            <a:off x="363967" y="248844"/>
            <a:ext cx="395743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NEW FUNCTIONALITY</a:t>
            </a:r>
          </a:p>
        </p:txBody>
      </p:sp>
      <p:sp>
        <p:nvSpPr>
          <p:cNvPr id="6" name="Slide Number Placeholder 5">
            <a:extLst>
              <a:ext uri="{FF2B5EF4-FFF2-40B4-BE49-F238E27FC236}">
                <a16:creationId xmlns:a16="http://schemas.microsoft.com/office/drawing/2014/main" id="{78046CEF-0F20-4B48-8946-7969C742CB88}"/>
              </a:ext>
            </a:extLst>
          </p:cNvPr>
          <p:cNvSpPr txBox="1"/>
          <p:nvPr/>
        </p:nvSpPr>
        <p:spPr>
          <a:xfrm>
            <a:off x="11727399" y="6369609"/>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03C681E-A278-47B0-837B-79223E31172E}" type="slidenum">
              <a:rPr sz="1200"/>
              <a:t>433</a:t>
            </a:fld>
            <a:endParaRPr lang="en-GB" sz="1200" b="0" i="0" u="none" strike="noStrike" kern="1200" cap="none" spc="0" baseline="0" dirty="0">
              <a:solidFill>
                <a:srgbClr val="000000"/>
              </a:solidFill>
              <a:uFillTx/>
              <a:latin typeface="Calibri"/>
            </a:endParaRPr>
          </a:p>
        </p:txBody>
      </p:sp>
      <p:sp>
        <p:nvSpPr>
          <p:cNvPr id="7" name="Footer Placeholder 1">
            <a:extLst>
              <a:ext uri="{FF2B5EF4-FFF2-40B4-BE49-F238E27FC236}">
                <a16:creationId xmlns:a16="http://schemas.microsoft.com/office/drawing/2014/main" id="{043F301E-C2F6-4619-9B71-46D363EEB5FF}"/>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8" name="Oval 1">
            <a:extLst>
              <a:ext uri="{FF2B5EF4-FFF2-40B4-BE49-F238E27FC236}">
                <a16:creationId xmlns:a16="http://schemas.microsoft.com/office/drawing/2014/main" id="{2D99E19D-8E90-431D-92B8-F29F65619257}"/>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2">
            <a:extLst>
              <a:ext uri="{FF2B5EF4-FFF2-40B4-BE49-F238E27FC236}">
                <a16:creationId xmlns:a16="http://schemas.microsoft.com/office/drawing/2014/main" id="{5ECA7F18-3D87-4FB6-835D-945A3790189B}"/>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3">
            <a:extLst>
              <a:ext uri="{FF2B5EF4-FFF2-40B4-BE49-F238E27FC236}">
                <a16:creationId xmlns:a16="http://schemas.microsoft.com/office/drawing/2014/main" id="{97C53FA0-1E96-4EAB-A5F4-404F2CE47291}"/>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4">
            <a:extLst>
              <a:ext uri="{FF2B5EF4-FFF2-40B4-BE49-F238E27FC236}">
                <a16:creationId xmlns:a16="http://schemas.microsoft.com/office/drawing/2014/main" id="{B7B73C7A-757F-4BD3-A1A3-B28A22632A0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5">
            <a:extLst>
              <a:ext uri="{FF2B5EF4-FFF2-40B4-BE49-F238E27FC236}">
                <a16:creationId xmlns:a16="http://schemas.microsoft.com/office/drawing/2014/main" id="{76453956-B72C-4192-AA97-3012345283DD}"/>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6">
            <a:extLst>
              <a:ext uri="{FF2B5EF4-FFF2-40B4-BE49-F238E27FC236}">
                <a16:creationId xmlns:a16="http://schemas.microsoft.com/office/drawing/2014/main" id="{D504FB79-4129-4320-9C4A-4AA828DFBCEA}"/>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7">
            <a:extLst>
              <a:ext uri="{FF2B5EF4-FFF2-40B4-BE49-F238E27FC236}">
                <a16:creationId xmlns:a16="http://schemas.microsoft.com/office/drawing/2014/main" id="{67FA1C6F-3B97-4FC0-9508-4929D19A24D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5" name="TextBox 8">
            <a:extLst>
              <a:ext uri="{FF2B5EF4-FFF2-40B4-BE49-F238E27FC236}">
                <a16:creationId xmlns:a16="http://schemas.microsoft.com/office/drawing/2014/main" id="{BE1C8BDD-3B39-4827-8EED-B5FEBC654266}"/>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9">
            <a:extLst>
              <a:ext uri="{FF2B5EF4-FFF2-40B4-BE49-F238E27FC236}">
                <a16:creationId xmlns:a16="http://schemas.microsoft.com/office/drawing/2014/main" id="{DD272BB1-9332-445E-80E9-D45CA7CA6E64}"/>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10">
            <a:extLst>
              <a:ext uri="{FF2B5EF4-FFF2-40B4-BE49-F238E27FC236}">
                <a16:creationId xmlns:a16="http://schemas.microsoft.com/office/drawing/2014/main" id="{6FEB276B-884D-4D29-8E99-7E084690A6EC}"/>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0">
            <a:extLst>
              <a:ext uri="{FF2B5EF4-FFF2-40B4-BE49-F238E27FC236}">
                <a16:creationId xmlns:a16="http://schemas.microsoft.com/office/drawing/2014/main" id="{260D79D0-3853-4D1D-BFAF-6E3D8C1F10A9}"/>
              </a:ext>
            </a:extLst>
          </p:cNvPr>
          <p:cNvPicPr>
            <a:picLocks noChangeAspect="1"/>
          </p:cNvPicPr>
          <p:nvPr/>
        </p:nvPicPr>
        <p:blipFill>
          <a:blip r:embed="rId3">
            <a:alphaModFix amt="35000"/>
          </a:blip>
          <a:srcRect l="20606" t="21077" r="21527" b="31021"/>
          <a:stretch>
            <a:fillRect/>
          </a:stretch>
        </p:blipFill>
        <p:spPr>
          <a:xfrm>
            <a:off x="10028188" y="272070"/>
            <a:ext cx="256918" cy="210595"/>
          </a:xfrm>
          <a:prstGeom prst="rect">
            <a:avLst/>
          </a:prstGeom>
          <a:noFill/>
          <a:ln cap="flat">
            <a:noFill/>
          </a:ln>
        </p:spPr>
      </p:pic>
      <p:sp>
        <p:nvSpPr>
          <p:cNvPr id="19" name="Oval 12">
            <a:extLst>
              <a:ext uri="{FF2B5EF4-FFF2-40B4-BE49-F238E27FC236}">
                <a16:creationId xmlns:a16="http://schemas.microsoft.com/office/drawing/2014/main" id="{A31E1CA9-60A1-40C8-BDE7-556B17881AE0}"/>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Rectangle 4">
            <a:extLst>
              <a:ext uri="{FF2B5EF4-FFF2-40B4-BE49-F238E27FC236}">
                <a16:creationId xmlns:a16="http://schemas.microsoft.com/office/drawing/2014/main" id="{3928D4E3-076A-461C-8A24-07351A4EB10A}"/>
              </a:ext>
            </a:extLst>
          </p:cNvPr>
          <p:cNvSpPr/>
          <p:nvPr/>
        </p:nvSpPr>
        <p:spPr>
          <a:xfrm>
            <a:off x="364626" y="833192"/>
            <a:ext cx="5496558" cy="338556"/>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5. Provisional Duty Calculation Pre-Dwell</a:t>
            </a:r>
            <a:endParaRPr lang="en-GB" sz="1800" b="1" i="0" u="none" strike="noStrike" kern="1200" cap="none" spc="0" baseline="0">
              <a:solidFill>
                <a:srgbClr val="000000"/>
              </a:solidFill>
              <a:uFillTx/>
              <a:latin typeface="Calibri" pitchFamily="34"/>
              <a:ea typeface="Calibri" pitchFamily="34"/>
            </a:endParaRPr>
          </a:p>
        </p:txBody>
      </p:sp>
      <p:sp>
        <p:nvSpPr>
          <p:cNvPr id="21" name="Rectangle 15">
            <a:extLst>
              <a:ext uri="{FF2B5EF4-FFF2-40B4-BE49-F238E27FC236}">
                <a16:creationId xmlns:a16="http://schemas.microsoft.com/office/drawing/2014/main" id="{267161A0-DBE7-4426-942C-1BD94305FDE6}"/>
              </a:ext>
            </a:extLst>
          </p:cNvPr>
          <p:cNvSpPr/>
          <p:nvPr/>
        </p:nvSpPr>
        <p:spPr>
          <a:xfrm>
            <a:off x="363967" y="1171739"/>
            <a:ext cx="11435760" cy="212365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TTM12.2, CDS will introduce a provisional duty calculation before dwell time. This will enable a trader to query duty calculation following the receipt of the provisional-duty notification and submit any amendments before the final calculation is processed and the DMSTAX notification is received.</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Traders will have the ability to amend their Type A, Type B, Type D, Type E, Type J or Type K declaration following the receipt of their provisional-duty notification. CDS will then recalculate the duties and send the updated provisional duty calculation to the trader in a notification.</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Please note</a:t>
            </a:r>
            <a:r>
              <a:rPr lang="en-GB" sz="1200" b="0" i="0" u="none" strike="noStrike" kern="1200" cap="none" spc="0" baseline="0">
                <a:solidFill>
                  <a:srgbClr val="000000"/>
                </a:solidFill>
                <a:uFillTx/>
                <a:latin typeface="Calibri"/>
              </a:rPr>
              <a:t>: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the duty calculation is manually overridden for a goods item, then CDS will accept the overridden amount as the provisionally calculated duty for that goods item. </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Any Relief or Suspension of duties will also apply to the provisional duty calculation.</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Where a quota is allocated on a declaration, CDS will recalculate duty after the dwell time as per BAU.</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22" name="Rectangle 25">
            <a:extLst>
              <a:ext uri="{FF2B5EF4-FFF2-40B4-BE49-F238E27FC236}">
                <a16:creationId xmlns:a16="http://schemas.microsoft.com/office/drawing/2014/main" id="{D751D148-78DE-4183-81F3-B391DEF8FEB0}"/>
              </a:ext>
            </a:extLst>
          </p:cNvPr>
          <p:cNvSpPr/>
          <p:nvPr/>
        </p:nvSpPr>
        <p:spPr>
          <a:xfrm>
            <a:off x="446099" y="3457675"/>
            <a:ext cx="11505401" cy="276999"/>
          </a:xfrm>
          <a:prstGeom prst="rect">
            <a:avLst/>
          </a:prstGeom>
          <a:solidFill>
            <a:srgbClr val="D9D9D9"/>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Other functionalities delivered as part of TTM12.2.0 are located within the body of this document rather than in this section. </a:t>
            </a:r>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name="Slide838840357">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E1E79E5D-6132-4813-98EB-22E280A8D2B0}"/>
              </a:ext>
            </a:extLst>
          </p:cNvPr>
          <p:cNvSpPr/>
          <p:nvPr/>
        </p:nvSpPr>
        <p:spPr>
          <a:xfrm>
            <a:off x="453002" y="1131231"/>
            <a:ext cx="7725802"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 name="Rectangle 4">
            <a:extLst>
              <a:ext uri="{FF2B5EF4-FFF2-40B4-BE49-F238E27FC236}">
                <a16:creationId xmlns:a16="http://schemas.microsoft.com/office/drawing/2014/main" id="{82FC21BA-E94C-41FD-B7BB-7CD8646B7D38}"/>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4" name="Table 163">
            <a:extLst>
              <a:ext uri="{FF2B5EF4-FFF2-40B4-BE49-F238E27FC236}">
                <a16:creationId xmlns:a16="http://schemas.microsoft.com/office/drawing/2014/main" id="{C41456F2-AFA9-4AFC-9082-AF767D6E658D}"/>
              </a:ext>
            </a:extLst>
          </p:cNvPr>
          <p:cNvGraphicFramePr>
            <a:graphicFrameLocks noGrp="1"/>
          </p:cNvGraphicFramePr>
          <p:nvPr/>
        </p:nvGraphicFramePr>
        <p:xfrm>
          <a:off x="475268" y="1614336"/>
          <a:ext cx="11213808" cy="73152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1028125767"/>
                    </a:ext>
                  </a:extLst>
                </a:gridCol>
              </a:tblGrid>
              <a:tr h="0">
                <a:tc>
                  <a:txBody>
                    <a:bodyPr/>
                    <a:lstStyle/>
                    <a:p>
                      <a:pPr lvl="0" algn="ctr"/>
                      <a:r>
                        <a:rPr lang="en-GB" sz="1200"/>
                        <a:t>TTM12.1.0 (CDS 3.0.1)</a:t>
                      </a:r>
                    </a:p>
                  </a:txBody>
                  <a:tcPr>
                    <a:solidFill>
                      <a:srgbClr val="A6A6A6"/>
                    </a:solidFill>
                  </a:tcPr>
                </a:tc>
                <a:extLst>
                  <a:ext uri="{0D108BD9-81ED-4DB2-BD59-A6C34878D82A}">
                    <a16:rowId xmlns:a16="http://schemas.microsoft.com/office/drawing/2014/main" val="3800139522"/>
                  </a:ext>
                </a:extLst>
              </a:tr>
              <a:tr h="0">
                <a:tc>
                  <a:txBody>
                    <a:bodyPr/>
                    <a:lstStyle/>
                    <a:p>
                      <a:pPr lvl="0" algn="ctr"/>
                      <a:r>
                        <a:rPr lang="en-GB" sz="1200" b="1" dirty="0"/>
                        <a:t>TT: </a:t>
                      </a:r>
                      <a:r>
                        <a:rPr lang="en-GB" sz="1200" b="0" dirty="0"/>
                        <a:t>19/11/2020</a:t>
                      </a:r>
                    </a:p>
                    <a:p>
                      <a:pPr lvl="0" algn="ctr"/>
                      <a:r>
                        <a:rPr lang="en-GB" sz="1200" b="1" dirty="0"/>
                        <a:t>TDR: </a:t>
                      </a:r>
                      <a:r>
                        <a:rPr lang="en-GB" sz="1200" b="0" dirty="0"/>
                        <a:t>24/11/2020</a:t>
                      </a:r>
                    </a:p>
                  </a:txBody>
                  <a:tcPr>
                    <a:solidFill>
                      <a:srgbClr val="E7E6E6"/>
                    </a:solidFill>
                  </a:tcPr>
                </a:tc>
                <a:extLst>
                  <a:ext uri="{0D108BD9-81ED-4DB2-BD59-A6C34878D82A}">
                    <a16:rowId xmlns:a16="http://schemas.microsoft.com/office/drawing/2014/main" val="2913139612"/>
                  </a:ext>
                </a:extLst>
              </a:tr>
            </a:tbl>
          </a:graphicData>
        </a:graphic>
      </p:graphicFrame>
      <p:cxnSp>
        <p:nvCxnSpPr>
          <p:cNvPr id="5" name="Straight Connector 11">
            <a:extLst>
              <a:ext uri="{FF2B5EF4-FFF2-40B4-BE49-F238E27FC236}">
                <a16:creationId xmlns:a16="http://schemas.microsoft.com/office/drawing/2014/main" id="{D0D4BF1E-A3CF-4992-B146-5A18BA0DAAE8}"/>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D13810D3-5472-482B-837E-134BFEDDF5F9}"/>
              </a:ext>
            </a:extLst>
          </p:cNvPr>
          <p:cNvSpPr txBox="1"/>
          <p:nvPr/>
        </p:nvSpPr>
        <p:spPr>
          <a:xfrm>
            <a:off x="363967" y="248844"/>
            <a:ext cx="175881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a:t>
            </a:r>
          </a:p>
        </p:txBody>
      </p:sp>
      <p:sp>
        <p:nvSpPr>
          <p:cNvPr id="7" name="Rectangle 103">
            <a:extLst>
              <a:ext uri="{FF2B5EF4-FFF2-40B4-BE49-F238E27FC236}">
                <a16:creationId xmlns:a16="http://schemas.microsoft.com/office/drawing/2014/main" id="{B8067664-5A6A-41BA-AAD8-AB8C582159F7}"/>
              </a:ext>
            </a:extLst>
          </p:cNvPr>
          <p:cNvSpPr/>
          <p:nvPr/>
        </p:nvSpPr>
        <p:spPr>
          <a:xfrm>
            <a:off x="430700" y="1533896"/>
            <a:ext cx="11330604" cy="3566873"/>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8" name="Group 1">
            <a:extLst>
              <a:ext uri="{FF2B5EF4-FFF2-40B4-BE49-F238E27FC236}">
                <a16:creationId xmlns:a16="http://schemas.microsoft.com/office/drawing/2014/main" id="{DF49C907-A70E-406C-8032-593BC9795379}"/>
              </a:ext>
            </a:extLst>
          </p:cNvPr>
          <p:cNvGrpSpPr/>
          <p:nvPr/>
        </p:nvGrpSpPr>
        <p:grpSpPr>
          <a:xfrm>
            <a:off x="898242" y="1146584"/>
            <a:ext cx="2801739" cy="276999"/>
            <a:chOff x="898242" y="1146584"/>
            <a:chExt cx="2801739" cy="276999"/>
          </a:xfrm>
        </p:grpSpPr>
        <p:sp>
          <p:nvSpPr>
            <p:cNvPr id="9" name="TextBox 7">
              <a:extLst>
                <a:ext uri="{FF2B5EF4-FFF2-40B4-BE49-F238E27FC236}">
                  <a16:creationId xmlns:a16="http://schemas.microsoft.com/office/drawing/2014/main" id="{9A869CE4-B550-4AD3-8171-4356D9D1DC5E}"/>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0" name="Oval 16">
              <a:extLst>
                <a:ext uri="{FF2B5EF4-FFF2-40B4-BE49-F238E27FC236}">
                  <a16:creationId xmlns:a16="http://schemas.microsoft.com/office/drawing/2014/main" id="{CC49FD27-E40E-4B96-852A-90C5636572AC}"/>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1" name="Table 21">
            <a:extLst>
              <a:ext uri="{FF2B5EF4-FFF2-40B4-BE49-F238E27FC236}">
                <a16:creationId xmlns:a16="http://schemas.microsoft.com/office/drawing/2014/main" id="{F1370BEA-8BBD-49B9-B113-D347016239E8}"/>
              </a:ext>
            </a:extLst>
          </p:cNvPr>
          <p:cNvGraphicFramePr>
            <a:graphicFrameLocks noGrp="1"/>
          </p:cNvGraphicFramePr>
          <p:nvPr/>
        </p:nvGraphicFramePr>
        <p:xfrm>
          <a:off x="475268" y="2362919"/>
          <a:ext cx="11213808" cy="54864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3352413267"/>
                    </a:ext>
                  </a:extLst>
                </a:gridCol>
              </a:tblGrid>
              <a:tr h="218980">
                <a:tc>
                  <a:txBody>
                    <a:bodyPr/>
                    <a:lstStyle/>
                    <a:p>
                      <a:pPr lvl="0"/>
                      <a:r>
                        <a:rPr lang="en-GB" sz="1200"/>
                        <a:t>CCP</a:t>
                      </a:r>
                    </a:p>
                  </a:txBody>
                  <a:tcPr>
                    <a:solidFill>
                      <a:srgbClr val="FFC000"/>
                    </a:solidFill>
                  </a:tcPr>
                </a:tc>
                <a:extLst>
                  <a:ext uri="{0D108BD9-81ED-4DB2-BD59-A6C34878D82A}">
                    <a16:rowId xmlns:a16="http://schemas.microsoft.com/office/drawing/2014/main" val="2419842252"/>
                  </a:ext>
                </a:extLst>
              </a:tr>
              <a:tr h="218980">
                <a:tc>
                  <a:txBody>
                    <a:bodyPr/>
                    <a:lstStyle/>
                    <a:p>
                      <a:pPr lvl="0"/>
                      <a:r>
                        <a:rPr lang="en-GB" sz="1200" b="1" dirty="0">
                          <a:solidFill>
                            <a:srgbClr val="FFFFFF"/>
                          </a:solidFill>
                        </a:rPr>
                        <a:t>EU Exit</a:t>
                      </a:r>
                    </a:p>
                  </a:txBody>
                  <a:tcPr>
                    <a:solidFill>
                      <a:srgbClr val="7030A0"/>
                    </a:solidFill>
                  </a:tcPr>
                </a:tc>
                <a:extLst>
                  <a:ext uri="{0D108BD9-81ED-4DB2-BD59-A6C34878D82A}">
                    <a16:rowId xmlns:a16="http://schemas.microsoft.com/office/drawing/2014/main" val="1221292339"/>
                  </a:ext>
                </a:extLst>
              </a:tr>
            </a:tbl>
          </a:graphicData>
        </a:graphic>
      </p:graphicFrame>
      <p:grpSp>
        <p:nvGrpSpPr>
          <p:cNvPr id="12" name="Group 4">
            <a:extLst>
              <a:ext uri="{FF2B5EF4-FFF2-40B4-BE49-F238E27FC236}">
                <a16:creationId xmlns:a16="http://schemas.microsoft.com/office/drawing/2014/main" id="{822488F0-B249-47E3-B347-A07B0B2111A0}"/>
              </a:ext>
            </a:extLst>
          </p:cNvPr>
          <p:cNvGrpSpPr/>
          <p:nvPr/>
        </p:nvGrpSpPr>
        <p:grpSpPr>
          <a:xfrm>
            <a:off x="2663583" y="1154850"/>
            <a:ext cx="3199302" cy="276999"/>
            <a:chOff x="2663583" y="1154850"/>
            <a:chExt cx="3199302" cy="276999"/>
          </a:xfrm>
        </p:grpSpPr>
        <p:sp>
          <p:nvSpPr>
            <p:cNvPr id="13" name="TextBox 7">
              <a:extLst>
                <a:ext uri="{FF2B5EF4-FFF2-40B4-BE49-F238E27FC236}">
                  <a16:creationId xmlns:a16="http://schemas.microsoft.com/office/drawing/2014/main" id="{B00529B5-FB52-4408-A176-866E4704C8AB}"/>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14" name="Oval 16">
              <a:extLst>
                <a:ext uri="{FF2B5EF4-FFF2-40B4-BE49-F238E27FC236}">
                  <a16:creationId xmlns:a16="http://schemas.microsoft.com/office/drawing/2014/main" id="{A3487CB7-4BCA-4370-A919-E4404ECA5109}"/>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15" name="Rectangle 11">
            <a:extLst>
              <a:ext uri="{FF2B5EF4-FFF2-40B4-BE49-F238E27FC236}">
                <a16:creationId xmlns:a16="http://schemas.microsoft.com/office/drawing/2014/main" id="{577CE0AB-3B5D-4A6F-89EE-0B40FE9502FA}"/>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16" name="TextBox 13">
            <a:extLst>
              <a:ext uri="{FF2B5EF4-FFF2-40B4-BE49-F238E27FC236}">
                <a16:creationId xmlns:a16="http://schemas.microsoft.com/office/drawing/2014/main" id="{6DF9C4A4-1EF1-410D-8B59-F695A6D2BA01}"/>
              </a:ext>
            </a:extLst>
          </p:cNvPr>
          <p:cNvSpPr txBox="1"/>
          <p:nvPr/>
        </p:nvSpPr>
        <p:spPr>
          <a:xfrm>
            <a:off x="430700" y="2068537"/>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 below for specific overviews of the functionality </a:t>
            </a:r>
          </a:p>
        </p:txBody>
      </p:sp>
      <p:grpSp>
        <p:nvGrpSpPr>
          <p:cNvPr id="17" name="Group 7">
            <a:extLst>
              <a:ext uri="{FF2B5EF4-FFF2-40B4-BE49-F238E27FC236}">
                <a16:creationId xmlns:a16="http://schemas.microsoft.com/office/drawing/2014/main" id="{643DE87F-EEED-4097-A03C-22A3C2A19415}"/>
              </a:ext>
            </a:extLst>
          </p:cNvPr>
          <p:cNvGrpSpPr/>
          <p:nvPr/>
        </p:nvGrpSpPr>
        <p:grpSpPr>
          <a:xfrm>
            <a:off x="5888461" y="1154320"/>
            <a:ext cx="4848834" cy="276999"/>
            <a:chOff x="5888461" y="1154320"/>
            <a:chExt cx="4848834" cy="276999"/>
          </a:xfrm>
        </p:grpSpPr>
        <p:sp>
          <p:nvSpPr>
            <p:cNvPr id="18" name="TextBox 7">
              <a:extLst>
                <a:ext uri="{FF2B5EF4-FFF2-40B4-BE49-F238E27FC236}">
                  <a16:creationId xmlns:a16="http://schemas.microsoft.com/office/drawing/2014/main" id="{583120FB-0FBA-4022-8DC2-4EF62EB90B01}"/>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a:t>
              </a:r>
              <a:endParaRPr lang="en-GB" sz="1200" b="0" i="0" u="none" strike="noStrike" kern="1200" cap="none" spc="0" baseline="0">
                <a:solidFill>
                  <a:srgbClr val="000000"/>
                </a:solidFill>
                <a:uFillTx/>
                <a:latin typeface="Calibri"/>
              </a:endParaRPr>
            </a:p>
          </p:txBody>
        </p:sp>
        <p:sp>
          <p:nvSpPr>
            <p:cNvPr id="19" name="Oval 16">
              <a:extLst>
                <a:ext uri="{FF2B5EF4-FFF2-40B4-BE49-F238E27FC236}">
                  <a16:creationId xmlns:a16="http://schemas.microsoft.com/office/drawing/2014/main" id="{F9A3D852-AC20-433D-BF90-E807296FDD34}"/>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21" name="Slide Number Placeholder 5">
            <a:extLst>
              <a:ext uri="{FF2B5EF4-FFF2-40B4-BE49-F238E27FC236}">
                <a16:creationId xmlns:a16="http://schemas.microsoft.com/office/drawing/2014/main" id="{CD0B91F0-280A-4A67-901A-E82E622EB706}"/>
              </a:ext>
            </a:extLst>
          </p:cNvPr>
          <p:cNvSpPr txBox="1"/>
          <p:nvPr/>
        </p:nvSpPr>
        <p:spPr>
          <a:xfrm>
            <a:off x="11681679" y="6378753"/>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18FF24E-BECD-4842-BE59-C971460DFED0}" type="slidenum">
              <a:rPr sz="1200"/>
              <a:t>434</a:t>
            </a:fld>
            <a:endParaRPr lang="en-GB" sz="1200" b="0" i="0" u="none" strike="noStrike" kern="1200" cap="none" spc="0" baseline="0">
              <a:solidFill>
                <a:srgbClr val="000000"/>
              </a:solidFill>
              <a:uFillTx/>
              <a:latin typeface="Calibri"/>
            </a:endParaRPr>
          </a:p>
        </p:txBody>
      </p:sp>
      <p:sp>
        <p:nvSpPr>
          <p:cNvPr id="22" name="Footer Placeholder 1">
            <a:extLst>
              <a:ext uri="{FF2B5EF4-FFF2-40B4-BE49-F238E27FC236}">
                <a16:creationId xmlns:a16="http://schemas.microsoft.com/office/drawing/2014/main" id="{132EE284-D2E6-402B-A78C-63B88D4E1834}"/>
              </a:ext>
            </a:extLst>
          </p:cNvPr>
          <p:cNvSpPr txBox="1"/>
          <p:nvPr/>
        </p:nvSpPr>
        <p:spPr>
          <a:xfrm>
            <a:off x="2875175" y="65021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23" name="Oval 87">
            <a:hlinkClick r:id="rId3" action="ppaction://hlinksldjump"/>
            <a:extLst>
              <a:ext uri="{FF2B5EF4-FFF2-40B4-BE49-F238E27FC236}">
                <a16:creationId xmlns:a16="http://schemas.microsoft.com/office/drawing/2014/main" id="{CC4B8C20-A7FE-4965-97AF-98DA70E2962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88">
            <a:hlinkClick r:id="rId3" action="ppaction://hlinksldjump"/>
            <a:extLst>
              <a:ext uri="{FF2B5EF4-FFF2-40B4-BE49-F238E27FC236}">
                <a16:creationId xmlns:a16="http://schemas.microsoft.com/office/drawing/2014/main" id="{74A15AB0-498D-49BF-AFF4-B57A84B42428}"/>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89">
            <a:hlinkClick r:id="rId4" action="ppaction://hlinksldjump"/>
            <a:extLst>
              <a:ext uri="{FF2B5EF4-FFF2-40B4-BE49-F238E27FC236}">
                <a16:creationId xmlns:a16="http://schemas.microsoft.com/office/drawing/2014/main" id="{56E97A7A-91B7-41A3-8213-98389889028C}"/>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90">
            <a:hlinkClick r:id="rId5" action="ppaction://hlinksldjump"/>
            <a:extLst>
              <a:ext uri="{FF2B5EF4-FFF2-40B4-BE49-F238E27FC236}">
                <a16:creationId xmlns:a16="http://schemas.microsoft.com/office/drawing/2014/main" id="{EFB29B63-88FF-49AF-AD38-1433BEDEB4B4}"/>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TextBox 91">
            <a:hlinkClick r:id="rId3" action="ppaction://hlinksldjump"/>
            <a:extLst>
              <a:ext uri="{FF2B5EF4-FFF2-40B4-BE49-F238E27FC236}">
                <a16:creationId xmlns:a16="http://schemas.microsoft.com/office/drawing/2014/main" id="{9E2F3BDF-50AE-4C6B-8528-041C3C9DAF47}"/>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28" name="TextBox 92">
            <a:hlinkClick r:id="rId3" action="ppaction://hlinksldjump"/>
            <a:extLst>
              <a:ext uri="{FF2B5EF4-FFF2-40B4-BE49-F238E27FC236}">
                <a16:creationId xmlns:a16="http://schemas.microsoft.com/office/drawing/2014/main" id="{D7145290-F84A-4268-B2ED-2DEAFB612E86}"/>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29" name="TextBox 93">
            <a:hlinkClick r:id="rId4" action="ppaction://hlinksldjump"/>
            <a:extLst>
              <a:ext uri="{FF2B5EF4-FFF2-40B4-BE49-F238E27FC236}">
                <a16:creationId xmlns:a16="http://schemas.microsoft.com/office/drawing/2014/main" id="{9CBE1F79-7F7E-400F-8482-675CA07B2C9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30" name="TextBox 94">
            <a:hlinkClick r:id="rId4" action="ppaction://hlinksldjump"/>
            <a:extLst>
              <a:ext uri="{FF2B5EF4-FFF2-40B4-BE49-F238E27FC236}">
                <a16:creationId xmlns:a16="http://schemas.microsoft.com/office/drawing/2014/main" id="{88D6C004-8EA9-4066-88DA-3F575CD567D3}"/>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1" name="Oval 95">
            <a:extLst>
              <a:ext uri="{FF2B5EF4-FFF2-40B4-BE49-F238E27FC236}">
                <a16:creationId xmlns:a16="http://schemas.microsoft.com/office/drawing/2014/main" id="{9DE9E3C5-FAA3-476D-BD2B-E4CABDC13AB7}"/>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2" name="TextBox 96">
            <a:hlinkClick r:id="rId6" action="ppaction://hlinksldjump"/>
            <a:extLst>
              <a:ext uri="{FF2B5EF4-FFF2-40B4-BE49-F238E27FC236}">
                <a16:creationId xmlns:a16="http://schemas.microsoft.com/office/drawing/2014/main" id="{0BCF3A28-29BD-41BB-B445-777694383955}"/>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33" name="Picture 40">
            <a:hlinkClick r:id="rId3" action="ppaction://hlinksldjump"/>
            <a:extLst>
              <a:ext uri="{FF2B5EF4-FFF2-40B4-BE49-F238E27FC236}">
                <a16:creationId xmlns:a16="http://schemas.microsoft.com/office/drawing/2014/main" id="{C4DEB29E-AED6-4BF1-95FF-2CB1780E070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34" name="Oval 98">
            <a:hlinkClick r:id="rId3" action="ppaction://hlinksldjump"/>
            <a:extLst>
              <a:ext uri="{FF2B5EF4-FFF2-40B4-BE49-F238E27FC236}">
                <a16:creationId xmlns:a16="http://schemas.microsoft.com/office/drawing/2014/main" id="{61CB2929-2C9E-4FC3-9C45-F39CB6D333E9}"/>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Rectangle 3">
            <a:extLst>
              <a:ext uri="{FF2B5EF4-FFF2-40B4-BE49-F238E27FC236}">
                <a16:creationId xmlns:a16="http://schemas.microsoft.com/office/drawing/2014/main" id="{74749BB2-C3D4-4894-BACF-78332CC42D3D}"/>
              </a:ext>
            </a:extLst>
          </p:cNvPr>
          <p:cNvSpPr/>
          <p:nvPr/>
        </p:nvSpPr>
        <p:spPr>
          <a:xfrm>
            <a:off x="479767" y="3016002"/>
            <a:ext cx="11209309" cy="220829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Please note, DUCR ID Part Numbers functionality for CDS/CHIEF Dual Running has been moved from TTM12.1.0 release to December’s TTM12.2 release. As a result, there is no new functionality that is being released in TTM12.1.0, however, there are 4 fixes that have been deployed to the TT environment:</a:t>
            </a: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hlinkClick r:id="rId8" action="ppaction://hlinksldjump"/>
              </a:rPr>
              <a:t>DIS Error Fix (TTM12.0.1)</a:t>
            </a:r>
            <a:endParaRPr lang="en-GB" sz="1200" b="0" i="1"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hlinkClick r:id="rId9" action="ppaction://hlinksldjump"/>
              </a:rPr>
              <a:t>Duty Charged When Tax Type Not Declared (TTM12.0.2)</a:t>
            </a:r>
            <a:endParaRPr lang="en-GB" sz="1200" b="0" i="1"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hlinkClick r:id="" action="ppaction://noaction"/>
              </a:rPr>
              <a:t>GVMS - Location Codes Update (TTM12.0.3)</a:t>
            </a:r>
            <a:endParaRPr lang="en-GB" sz="1200" b="0" i="1"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hlinkClick r:id="rId9" action="ppaction://hlinksldjump"/>
              </a:rPr>
              <a:t>VAT Calculation (TTM12.0.4)</a:t>
            </a:r>
            <a:endParaRPr lang="en-GB" sz="1200" b="0" i="1"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endParaRPr lang="en-GB" sz="1200" b="0" i="1"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Furthermore, please see the </a:t>
            </a:r>
            <a:r>
              <a:rPr lang="en-GB" sz="1200" b="0" i="1" u="none" strike="noStrike" kern="1200" cap="none" spc="0" baseline="0">
                <a:solidFill>
                  <a:srgbClr val="000000"/>
                </a:solidFill>
                <a:uFillTx/>
                <a:latin typeface="Calibri"/>
                <a:hlinkClick r:id="rId10" action="ppaction://hlinksldjump"/>
              </a:rPr>
              <a:t>EU Exit Technical Specifications</a:t>
            </a:r>
            <a:r>
              <a:rPr lang="en-GB" sz="1200" b="0" i="1" u="none" strike="noStrike" kern="1200" cap="none" spc="0" baseline="0">
                <a:solidFill>
                  <a:srgbClr val="000000"/>
                </a:solidFill>
                <a:uFillTx/>
                <a:latin typeface="Calibri"/>
              </a:rPr>
              <a:t> document for detailed guidance on technical changes that will be implemented on CDS from 1</a:t>
            </a:r>
            <a:r>
              <a:rPr lang="en-GB" sz="1200" b="0" i="1" u="none" strike="noStrike" kern="1200" cap="none" spc="0" baseline="30000">
                <a:solidFill>
                  <a:srgbClr val="000000"/>
                </a:solidFill>
                <a:uFillTx/>
                <a:latin typeface="Calibri"/>
              </a:rPr>
              <a:t>st</a:t>
            </a:r>
            <a:r>
              <a:rPr lang="en-GB" sz="1200" b="0" i="1" u="none" strike="noStrike" kern="1200" cap="none" spc="0" baseline="0">
                <a:solidFill>
                  <a:srgbClr val="000000"/>
                </a:solidFill>
                <a:uFillTx/>
                <a:latin typeface="Calibri"/>
              </a:rPr>
              <a:t> January 2021 to facilitate EU Exit.</a:t>
            </a:r>
          </a:p>
          <a:p>
            <a:pPr marL="171450" marR="0" lvl="0" indent="-171450" algn="l" defTabSz="914400" rtl="0" fontAlgn="auto" hangingPunct="1">
              <a:lnSpc>
                <a:spcPct val="100000"/>
              </a:lnSpc>
              <a:spcBef>
                <a:spcPts val="0"/>
              </a:spcBef>
              <a:spcAft>
                <a:spcPts val="300"/>
              </a:spcAft>
              <a:buSzPct val="100000"/>
              <a:buFont typeface="Arial" pitchFamily="34"/>
              <a:buChar char="•"/>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p:txBody>
      </p:sp>
      <p:sp>
        <p:nvSpPr>
          <p:cNvPr id="36" name="Oval 16">
            <a:extLst>
              <a:ext uri="{FF2B5EF4-FFF2-40B4-BE49-F238E27FC236}">
                <a16:creationId xmlns:a16="http://schemas.microsoft.com/office/drawing/2014/main" id="{B758F9CC-4A7D-4053-85B9-3EFD0D10A383}"/>
              </a:ext>
            </a:extLst>
          </p:cNvPr>
          <p:cNvSpPr/>
          <p:nvPr/>
        </p:nvSpPr>
        <p:spPr>
          <a:xfrm>
            <a:off x="546399" y="350132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7" name="Oval 16">
            <a:extLst>
              <a:ext uri="{FF2B5EF4-FFF2-40B4-BE49-F238E27FC236}">
                <a16:creationId xmlns:a16="http://schemas.microsoft.com/office/drawing/2014/main" id="{00156E79-76CC-4FCE-8D5D-DFBAA7804197}"/>
              </a:ext>
            </a:extLst>
          </p:cNvPr>
          <p:cNvSpPr/>
          <p:nvPr/>
        </p:nvSpPr>
        <p:spPr>
          <a:xfrm>
            <a:off x="546399" y="371234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8" name="Oval 16">
            <a:extLst>
              <a:ext uri="{FF2B5EF4-FFF2-40B4-BE49-F238E27FC236}">
                <a16:creationId xmlns:a16="http://schemas.microsoft.com/office/drawing/2014/main" id="{4D366243-490C-4798-8CBC-129D928B147E}"/>
              </a:ext>
            </a:extLst>
          </p:cNvPr>
          <p:cNvSpPr/>
          <p:nvPr/>
        </p:nvSpPr>
        <p:spPr>
          <a:xfrm>
            <a:off x="546399" y="392375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9" name="Oval 16">
            <a:extLst>
              <a:ext uri="{FF2B5EF4-FFF2-40B4-BE49-F238E27FC236}">
                <a16:creationId xmlns:a16="http://schemas.microsoft.com/office/drawing/2014/main" id="{DD18B77C-917A-47AB-A09D-7B2246B7D9A2}"/>
              </a:ext>
            </a:extLst>
          </p:cNvPr>
          <p:cNvSpPr/>
          <p:nvPr/>
        </p:nvSpPr>
        <p:spPr>
          <a:xfrm>
            <a:off x="546399" y="41443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0" name="Rectangle 40">
            <a:extLst>
              <a:ext uri="{FF2B5EF4-FFF2-40B4-BE49-F238E27FC236}">
                <a16:creationId xmlns:a16="http://schemas.microsoft.com/office/drawing/2014/main" id="{A8CF195A-57A9-43A2-A2DB-27575459D46E}"/>
              </a:ext>
            </a:extLst>
          </p:cNvPr>
          <p:cNvSpPr/>
          <p:nvPr/>
        </p:nvSpPr>
        <p:spPr>
          <a:xfrm>
            <a:off x="391280" y="5111029"/>
            <a:ext cx="11505401" cy="276999"/>
          </a:xfrm>
          <a:prstGeom prst="rect">
            <a:avLst/>
          </a:prstGeom>
          <a:solidFill>
            <a:srgbClr val="D9D9D9"/>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Functionalities delivered as part of TTM12.1.0 are located within the body of this document rather than in this section. </a:t>
            </a:r>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name="Slide838840358">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0DC75FCC-F44A-4E85-9DCB-9B68E492DB3F}"/>
              </a:ext>
            </a:extLst>
          </p:cNvPr>
          <p:cNvSpPr/>
          <p:nvPr/>
        </p:nvSpPr>
        <p:spPr>
          <a:xfrm>
            <a:off x="453002" y="1131231"/>
            <a:ext cx="9309670" cy="331808"/>
          </a:xfrm>
          <a:prstGeom prst="rect">
            <a:avLst/>
          </a:prstGeom>
          <a:solidFill>
            <a:srgbClr val="F2F2F2"/>
          </a:solidFill>
          <a:ln w="12701" cap="flat">
            <a:solidFill>
              <a:srgbClr val="F2F2F2"/>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 name="Rectangle 4">
            <a:extLst>
              <a:ext uri="{FF2B5EF4-FFF2-40B4-BE49-F238E27FC236}">
                <a16:creationId xmlns:a16="http://schemas.microsoft.com/office/drawing/2014/main" id="{6F5A33FD-D423-4C90-A444-3F1DF671627F}"/>
              </a:ext>
            </a:extLst>
          </p:cNvPr>
          <p:cNvSpPr/>
          <p:nvPr/>
        </p:nvSpPr>
        <p:spPr>
          <a:xfrm>
            <a:off x="363967" y="690564"/>
            <a:ext cx="8396569"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Release Overview</a:t>
            </a:r>
          </a:p>
        </p:txBody>
      </p:sp>
      <p:graphicFrame>
        <p:nvGraphicFramePr>
          <p:cNvPr id="4" name="Table 163">
            <a:extLst>
              <a:ext uri="{FF2B5EF4-FFF2-40B4-BE49-F238E27FC236}">
                <a16:creationId xmlns:a16="http://schemas.microsoft.com/office/drawing/2014/main" id="{EE232A6C-4FA4-4CA5-877C-270B8FD56D79}"/>
              </a:ext>
            </a:extLst>
          </p:cNvPr>
          <p:cNvGraphicFramePr>
            <a:graphicFrameLocks noGrp="1"/>
          </p:cNvGraphicFramePr>
          <p:nvPr/>
        </p:nvGraphicFramePr>
        <p:xfrm>
          <a:off x="475268" y="1614336"/>
          <a:ext cx="11213808" cy="731520"/>
        </p:xfrm>
        <a:graphic>
          <a:graphicData uri="http://schemas.openxmlformats.org/drawingml/2006/table">
            <a:tbl>
              <a:tblPr firstRow="1" bandRow="1">
                <a:effectLst/>
                <a:tableStyleId>{5C22544A-7EE6-4342-B048-85BDC9FD1C3A}</a:tableStyleId>
              </a:tblPr>
              <a:tblGrid>
                <a:gridCol w="11213808">
                  <a:extLst>
                    <a:ext uri="{9D8B030D-6E8A-4147-A177-3AD203B41FA5}">
                      <a16:colId xmlns:a16="http://schemas.microsoft.com/office/drawing/2014/main" val="2494938981"/>
                    </a:ext>
                  </a:extLst>
                </a:gridCol>
              </a:tblGrid>
              <a:tr h="0">
                <a:tc>
                  <a:txBody>
                    <a:bodyPr/>
                    <a:lstStyle/>
                    <a:p>
                      <a:pPr lvl="0" algn="ctr"/>
                      <a:r>
                        <a:rPr lang="en-GB" sz="1200"/>
                        <a:t>CDS 3.0.0 (TTM12.0.0)</a:t>
                      </a:r>
                    </a:p>
                  </a:txBody>
                  <a:tcPr>
                    <a:solidFill>
                      <a:srgbClr val="A6A6A6"/>
                    </a:solidFill>
                  </a:tcPr>
                </a:tc>
                <a:extLst>
                  <a:ext uri="{0D108BD9-81ED-4DB2-BD59-A6C34878D82A}">
                    <a16:rowId xmlns:a16="http://schemas.microsoft.com/office/drawing/2014/main" val="3591309259"/>
                  </a:ext>
                </a:extLst>
              </a:tr>
              <a:tr h="0">
                <a:tc>
                  <a:txBody>
                    <a:bodyPr/>
                    <a:lstStyle/>
                    <a:p>
                      <a:pPr lvl="0" algn="ctr"/>
                      <a:r>
                        <a:rPr lang="en-GB" sz="1200" b="1" dirty="0"/>
                        <a:t>TT: </a:t>
                      </a:r>
                      <a:r>
                        <a:rPr lang="en-GB" sz="1200" b="0" dirty="0"/>
                        <a:t>15/10/2020</a:t>
                      </a:r>
                    </a:p>
                    <a:p>
                      <a:pPr lvl="0" algn="ctr"/>
                      <a:r>
                        <a:rPr lang="en-GB" sz="1200" b="1" dirty="0"/>
                        <a:t>TDR: </a:t>
                      </a:r>
                      <a:r>
                        <a:rPr lang="en-GB" sz="1200" b="0" dirty="0"/>
                        <a:t>26/10/2020</a:t>
                      </a:r>
                    </a:p>
                  </a:txBody>
                  <a:tcPr>
                    <a:solidFill>
                      <a:srgbClr val="E7E6E6"/>
                    </a:solidFill>
                  </a:tcPr>
                </a:tc>
                <a:extLst>
                  <a:ext uri="{0D108BD9-81ED-4DB2-BD59-A6C34878D82A}">
                    <a16:rowId xmlns:a16="http://schemas.microsoft.com/office/drawing/2014/main" val="3989313334"/>
                  </a:ext>
                </a:extLst>
              </a:tr>
            </a:tbl>
          </a:graphicData>
        </a:graphic>
      </p:graphicFrame>
      <p:cxnSp>
        <p:nvCxnSpPr>
          <p:cNvPr id="5" name="Straight Connector 11">
            <a:extLst>
              <a:ext uri="{FF2B5EF4-FFF2-40B4-BE49-F238E27FC236}">
                <a16:creationId xmlns:a16="http://schemas.microsoft.com/office/drawing/2014/main" id="{7CBFFBF2-1144-4B8D-8054-2C939896F6F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39DDD8EC-6CD5-4D52-BA59-917DADB8A149}"/>
              </a:ext>
            </a:extLst>
          </p:cNvPr>
          <p:cNvSpPr txBox="1"/>
          <p:nvPr/>
        </p:nvSpPr>
        <p:spPr>
          <a:xfrm>
            <a:off x="363967" y="248844"/>
            <a:ext cx="3514679"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RELEASE GUIDANCE: CDS3.0.0/TTM12.0.0</a:t>
            </a:r>
          </a:p>
        </p:txBody>
      </p:sp>
      <p:sp>
        <p:nvSpPr>
          <p:cNvPr id="7" name="Rectangle 103">
            <a:extLst>
              <a:ext uri="{FF2B5EF4-FFF2-40B4-BE49-F238E27FC236}">
                <a16:creationId xmlns:a16="http://schemas.microsoft.com/office/drawing/2014/main" id="{469EA834-0C41-4E18-92B4-CA6A16C7CE0F}"/>
              </a:ext>
            </a:extLst>
          </p:cNvPr>
          <p:cNvSpPr/>
          <p:nvPr/>
        </p:nvSpPr>
        <p:spPr>
          <a:xfrm>
            <a:off x="363967" y="1533896"/>
            <a:ext cx="11472135" cy="4517657"/>
          </a:xfrm>
          <a:prstGeom prst="rect">
            <a:avLst/>
          </a:prstGeom>
          <a:noFill/>
          <a:ln w="12701" cap="flat">
            <a:solidFill>
              <a:srgbClr val="009999"/>
            </a:solidFill>
            <a:custDash>
              <a:ds d="300000" sp="300000"/>
            </a:custDash>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8" name="Group 1">
            <a:extLst>
              <a:ext uri="{FF2B5EF4-FFF2-40B4-BE49-F238E27FC236}">
                <a16:creationId xmlns:a16="http://schemas.microsoft.com/office/drawing/2014/main" id="{06FEDF3C-5CCC-423B-A1AD-6E6220A40C8D}"/>
              </a:ext>
            </a:extLst>
          </p:cNvPr>
          <p:cNvGrpSpPr/>
          <p:nvPr/>
        </p:nvGrpSpPr>
        <p:grpSpPr>
          <a:xfrm>
            <a:off x="898242" y="1146584"/>
            <a:ext cx="2801739" cy="276999"/>
            <a:chOff x="898242" y="1146584"/>
            <a:chExt cx="2801739" cy="276999"/>
          </a:xfrm>
        </p:grpSpPr>
        <p:sp>
          <p:nvSpPr>
            <p:cNvPr id="9" name="TextBox 7">
              <a:extLst>
                <a:ext uri="{FF2B5EF4-FFF2-40B4-BE49-F238E27FC236}">
                  <a16:creationId xmlns:a16="http://schemas.microsoft.com/office/drawing/2014/main" id="{CE851EFB-2716-44AF-AC27-B2A45B66093B}"/>
                </a:ext>
              </a:extLst>
            </p:cNvPr>
            <p:cNvSpPr txBox="1"/>
            <p:nvPr/>
          </p:nvSpPr>
          <p:spPr>
            <a:xfrm>
              <a:off x="898242" y="1146584"/>
              <a:ext cx="2801739"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only</a:t>
              </a:r>
            </a:p>
          </p:txBody>
        </p:sp>
        <p:sp>
          <p:nvSpPr>
            <p:cNvPr id="10" name="Oval 16">
              <a:extLst>
                <a:ext uri="{FF2B5EF4-FFF2-40B4-BE49-F238E27FC236}">
                  <a16:creationId xmlns:a16="http://schemas.microsoft.com/office/drawing/2014/main" id="{6731C6FB-3C64-4E72-AF95-57839F604DAD}"/>
                </a:ext>
              </a:extLst>
            </p:cNvPr>
            <p:cNvSpPr/>
            <p:nvPr/>
          </p:nvSpPr>
          <p:spPr>
            <a:xfrm>
              <a:off x="945315" y="121156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graphicFrame>
        <p:nvGraphicFramePr>
          <p:cNvPr id="11" name="Table 21">
            <a:extLst>
              <a:ext uri="{FF2B5EF4-FFF2-40B4-BE49-F238E27FC236}">
                <a16:creationId xmlns:a16="http://schemas.microsoft.com/office/drawing/2014/main" id="{6765ACC6-5B9D-4125-948B-4A78C30FDCB5}"/>
              </a:ext>
            </a:extLst>
          </p:cNvPr>
          <p:cNvGraphicFramePr>
            <a:graphicFrameLocks noGrp="1"/>
          </p:cNvGraphicFramePr>
          <p:nvPr/>
        </p:nvGraphicFramePr>
        <p:xfrm>
          <a:off x="475268" y="2362919"/>
          <a:ext cx="11213814" cy="3600801"/>
        </p:xfrm>
        <a:graphic>
          <a:graphicData uri="http://schemas.openxmlformats.org/drawingml/2006/table">
            <a:tbl>
              <a:tblPr firstRow="1" bandRow="1">
                <a:effectLst/>
                <a:tableStyleId>{5C22544A-7EE6-4342-B048-85BDC9FD1C3A}</a:tableStyleId>
              </a:tblPr>
              <a:tblGrid>
                <a:gridCol w="1160291">
                  <a:extLst>
                    <a:ext uri="{9D8B030D-6E8A-4147-A177-3AD203B41FA5}">
                      <a16:colId xmlns:a16="http://schemas.microsoft.com/office/drawing/2014/main" val="2582412278"/>
                    </a:ext>
                  </a:extLst>
                </a:gridCol>
                <a:gridCol w="2083487">
                  <a:extLst>
                    <a:ext uri="{9D8B030D-6E8A-4147-A177-3AD203B41FA5}">
                      <a16:colId xmlns:a16="http://schemas.microsoft.com/office/drawing/2014/main" val="1125360590"/>
                    </a:ext>
                  </a:extLst>
                </a:gridCol>
                <a:gridCol w="1827666">
                  <a:extLst>
                    <a:ext uri="{9D8B030D-6E8A-4147-A177-3AD203B41FA5}">
                      <a16:colId xmlns:a16="http://schemas.microsoft.com/office/drawing/2014/main" val="4048720194"/>
                    </a:ext>
                  </a:extLst>
                </a:gridCol>
                <a:gridCol w="1916042">
                  <a:extLst>
                    <a:ext uri="{9D8B030D-6E8A-4147-A177-3AD203B41FA5}">
                      <a16:colId xmlns:a16="http://schemas.microsoft.com/office/drawing/2014/main" val="4211136331"/>
                    </a:ext>
                  </a:extLst>
                </a:gridCol>
                <a:gridCol w="1443051">
                  <a:extLst>
                    <a:ext uri="{9D8B030D-6E8A-4147-A177-3AD203B41FA5}">
                      <a16:colId xmlns:a16="http://schemas.microsoft.com/office/drawing/2014/main" val="1407757493"/>
                    </a:ext>
                  </a:extLst>
                </a:gridCol>
                <a:gridCol w="670447">
                  <a:extLst>
                    <a:ext uri="{9D8B030D-6E8A-4147-A177-3AD203B41FA5}">
                      <a16:colId xmlns:a16="http://schemas.microsoft.com/office/drawing/2014/main" val="3652614552"/>
                    </a:ext>
                  </a:extLst>
                </a:gridCol>
                <a:gridCol w="2112830">
                  <a:extLst>
                    <a:ext uri="{9D8B030D-6E8A-4147-A177-3AD203B41FA5}">
                      <a16:colId xmlns:a16="http://schemas.microsoft.com/office/drawing/2014/main" val="2550551437"/>
                    </a:ext>
                  </a:extLst>
                </a:gridCol>
              </a:tblGrid>
              <a:tr h="218980">
                <a:tc gridSpan="7">
                  <a:txBody>
                    <a:bodyPr/>
                    <a:lstStyle/>
                    <a:p>
                      <a:pPr lvl="0"/>
                      <a:r>
                        <a:rPr lang="en-GB" sz="1200"/>
                        <a:t>CCP</a:t>
                      </a:r>
                    </a:p>
                  </a:txBody>
                  <a:tcPr>
                    <a:solidFill>
                      <a:srgbClr val="FFC000"/>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2248712903"/>
                  </a:ext>
                </a:extLst>
              </a:tr>
              <a:tr h="364964">
                <a:tc>
                  <a:txBody>
                    <a:bodyPr/>
                    <a:lstStyle/>
                    <a:p>
                      <a:pPr lvl="0"/>
                      <a:r>
                        <a:rPr lang="en-GB" sz="1200" b="1">
                          <a:solidFill>
                            <a:srgbClr val="FFFFFF"/>
                          </a:solidFill>
                        </a:rPr>
                        <a:t>Declaration Processing</a:t>
                      </a:r>
                    </a:p>
                  </a:txBody>
                  <a:tcPr>
                    <a:solidFill>
                      <a:srgbClr val="FFD966"/>
                    </a:solidFill>
                  </a:tcPr>
                </a:tc>
                <a:tc>
                  <a:txBody>
                    <a:bodyPr/>
                    <a:lstStyle/>
                    <a:p>
                      <a:pPr marL="171450" lvl="0" indent="-171450">
                        <a:buSzPct val="100000"/>
                        <a:buFont typeface="Arial" pitchFamily="34"/>
                        <a:buChar char="•"/>
                      </a:pPr>
                      <a:endParaRPr lang="en-GB" sz="1100"/>
                    </a:p>
                  </a:txBody>
                  <a:tcPr>
                    <a:solidFill>
                      <a:srgbClr val="FFF2CC"/>
                    </a:solidFill>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endParaRPr lang="en-GB" sz="1100" b="1"/>
                    </a:p>
                  </a:txBody>
                  <a:tcPr>
                    <a:solidFill>
                      <a:srgbClr val="FFFFFF"/>
                    </a:solidFill>
                  </a:tcPr>
                </a:tc>
                <a:tc hMerge="1">
                  <a:txBody>
                    <a:bodyPr/>
                    <a:lstStyle/>
                    <a:p>
                      <a:endParaRPr lang="en-GB"/>
                    </a:p>
                  </a:txBody>
                  <a:tcPr/>
                </a:tc>
                <a:tc gridSpan="3">
                  <a:txBody>
                    <a:bodyPr/>
                    <a:lstStyle/>
                    <a:p>
                      <a:pPr marL="171450" lvl="0" indent="-171450">
                        <a:buSzPct val="100000"/>
                        <a:buFont typeface="Arial" pitchFamily="34"/>
                        <a:buChar char="•"/>
                      </a:pPr>
                      <a:endParaRPr lang="en-GB" sz="1100"/>
                    </a:p>
                  </a:txBody>
                  <a:tcPr>
                    <a:solidFill>
                      <a:srgbClr val="FFFFFF"/>
                    </a:solidFill>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2292545309"/>
                  </a:ext>
                </a:extLst>
              </a:tr>
              <a:tr h="364964">
                <a:tc>
                  <a:txBody>
                    <a:bodyPr/>
                    <a:lstStyle/>
                    <a:p>
                      <a:pPr lvl="0"/>
                      <a:r>
                        <a:rPr lang="en-GB" sz="1200" b="1">
                          <a:solidFill>
                            <a:srgbClr val="FFFFFF"/>
                          </a:solidFill>
                        </a:rPr>
                        <a:t>Finance</a:t>
                      </a:r>
                    </a:p>
                  </a:txBody>
                  <a:tcPr>
                    <a:solidFill>
                      <a:srgbClr val="FFD966"/>
                    </a:solidFill>
                  </a:tcPr>
                </a:tc>
                <a:tc>
                  <a:txBody>
                    <a:bodyPr/>
                    <a:lstStyle/>
                    <a:p>
                      <a:pPr marL="171450" lvl="0" indent="-171450">
                        <a:buSzPct val="100000"/>
                        <a:buFont typeface="Arial" pitchFamily="34"/>
                        <a:buChar char="•"/>
                      </a:pPr>
                      <a:r>
                        <a:rPr lang="en-GB" sz="1100">
                          <a:hlinkClick r:id="rId3" action="ppaction://hlinksldjump"/>
                        </a:rPr>
                        <a:t>Allow both Deferment and Guarantee Account Methods of Payments on a Declaration </a:t>
                      </a:r>
                      <a:endParaRPr lang="en-GB" sz="1100"/>
                    </a:p>
                  </a:txBody>
                  <a:tcPr>
                    <a:solidFill>
                      <a:srgbClr val="FFF2CC"/>
                    </a:solidFill>
                  </a:tcPr>
                </a:tc>
                <a:tc>
                  <a:txBody>
                    <a:bodyPr/>
                    <a:lstStyle/>
                    <a:p>
                      <a:pPr marL="171450" lvl="0" indent="-171450">
                        <a:buSzPct val="100000"/>
                        <a:buFont typeface="Arial" pitchFamily="34"/>
                        <a:buChar char="•"/>
                      </a:pPr>
                      <a:r>
                        <a:rPr lang="en-GB" sz="1100">
                          <a:hlinkClick r:id="rId3" action="ppaction://hlinksldjump"/>
                        </a:rPr>
                        <a:t>Ability to Designate and Validate </a:t>
                      </a:r>
                      <a:r>
                        <a:rPr lang="en-GB" sz="1100" b="1">
                          <a:hlinkClick r:id="rId3" action="ppaction://hlinksldjump"/>
                        </a:rPr>
                        <a:t>Cash Accounts </a:t>
                      </a:r>
                      <a:r>
                        <a:rPr lang="en-GB" sz="1100">
                          <a:hlinkClick r:id="rId3" action="ppaction://hlinksldjump"/>
                        </a:rPr>
                        <a:t>on a Declaration </a:t>
                      </a:r>
                      <a:endParaRPr lang="en-GB" sz="1100"/>
                    </a:p>
                  </a:txBody>
                  <a:tcPr>
                    <a:solidFill>
                      <a:srgbClr val="FFF2CC"/>
                    </a:solidFill>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rPr>
                        <a:t>Transmission of D.E. 2/4 from Declaration System to Finance System</a:t>
                      </a:r>
                    </a:p>
                  </a:txBody>
                  <a:tcPr>
                    <a:solidFill>
                      <a:srgbClr val="FFF2CC"/>
                    </a:solidFill>
                  </a:tcPr>
                </a:tc>
                <a:tc gridSpan="2">
                  <a:txBody>
                    <a:bodyPr/>
                    <a:lstStyle/>
                    <a:p>
                      <a:pPr marL="171450" lvl="0" indent="-171450">
                        <a:buSzPct val="100000"/>
                        <a:buFont typeface="Arial" pitchFamily="34"/>
                        <a:buChar char="•"/>
                      </a:pPr>
                      <a:r>
                        <a:rPr lang="en-GB" sz="1100">
                          <a:hlinkClick r:id="rId3" action="ppaction://hlinksldjump"/>
                        </a:rPr>
                        <a:t>Ability to Designate and Validate </a:t>
                      </a:r>
                      <a:r>
                        <a:rPr lang="en-GB" sz="1100" b="1">
                          <a:hlinkClick r:id="rId3" action="ppaction://hlinksldjump"/>
                        </a:rPr>
                        <a:t>General Guarantee Accounts </a:t>
                      </a:r>
                      <a:r>
                        <a:rPr lang="en-GB" sz="1100">
                          <a:hlinkClick r:id="rId3" action="ppaction://hlinksldjump"/>
                        </a:rPr>
                        <a:t>on a Declaration </a:t>
                      </a:r>
                      <a:endParaRPr lang="en-GB" sz="1100"/>
                    </a:p>
                  </a:txBody>
                  <a:tcPr>
                    <a:solidFill>
                      <a:srgbClr val="FFF2CC"/>
                    </a:solidFill>
                  </a:tcPr>
                </a:tc>
                <a:tc hMerge="1">
                  <a:txBody>
                    <a:bodyPr/>
                    <a:lstStyle/>
                    <a:p>
                      <a:endParaRPr lang="en-GB"/>
                    </a:p>
                  </a:txBody>
                  <a:tcPr/>
                </a:tc>
                <a:tc>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a:hlinkClick r:id="rId3" action="ppaction://hlinksldjump"/>
                        </a:rPr>
                        <a:t>Ability to Designate and Validate </a:t>
                      </a:r>
                      <a:r>
                        <a:rPr lang="en-GB" sz="1100" b="1">
                          <a:hlinkClick r:id="rId3" action="ppaction://hlinksldjump"/>
                        </a:rPr>
                        <a:t>Individual Guarantees</a:t>
                      </a:r>
                      <a:r>
                        <a:rPr lang="en-GB" sz="1100">
                          <a:hlinkClick r:id="rId3" action="ppaction://hlinksldjump"/>
                        </a:rPr>
                        <a:t> on a Declaration</a:t>
                      </a:r>
                      <a:endParaRPr lang="en-GB" sz="1100"/>
                    </a:p>
                  </a:txBody>
                  <a:tcPr>
                    <a:solidFill>
                      <a:srgbClr val="FFF2CC"/>
                    </a:solidFill>
                  </a:tcPr>
                </a:tc>
                <a:extLst>
                  <a:ext uri="{0D108BD9-81ED-4DB2-BD59-A6C34878D82A}">
                    <a16:rowId xmlns:a16="http://schemas.microsoft.com/office/drawing/2014/main" val="3352672593"/>
                  </a:ext>
                </a:extLst>
              </a:tr>
              <a:tr h="218980">
                <a:tc gridSpan="7">
                  <a:txBody>
                    <a:bodyPr/>
                    <a:lstStyle/>
                    <a:p>
                      <a:pPr lvl="0"/>
                      <a:r>
                        <a:rPr lang="en-GB" sz="1200" b="1">
                          <a:solidFill>
                            <a:srgbClr val="FFFFFF"/>
                          </a:solidFill>
                        </a:rPr>
                        <a:t>EU Exit</a:t>
                      </a:r>
                    </a:p>
                  </a:txBody>
                  <a:tcPr>
                    <a:solidFill>
                      <a:srgbClr val="7030A0"/>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1695989321"/>
                  </a:ext>
                </a:extLst>
              </a:tr>
              <a:tr h="131838">
                <a:tc rowSpan="5">
                  <a:txBody>
                    <a:bodyPr/>
                    <a:lstStyle/>
                    <a:p>
                      <a:pPr marL="0" marR="0" lvl="0" indent="0" algn="l" defTabSz="914400" rtl="0" fontAlgn="auto" hangingPunct="1">
                        <a:lnSpc>
                          <a:spcPct val="100000"/>
                        </a:lnSpc>
                        <a:spcBef>
                          <a:spcPts val="0"/>
                        </a:spcBef>
                        <a:spcAft>
                          <a:spcPts val="0"/>
                        </a:spcAft>
                        <a:buNone/>
                        <a:tabLst/>
                      </a:pPr>
                      <a:r>
                        <a:rPr lang="en-GB" sz="1200" b="1">
                          <a:solidFill>
                            <a:srgbClr val="FFFFFF"/>
                          </a:solidFill>
                        </a:rPr>
                        <a:t>NI Protocol</a:t>
                      </a:r>
                    </a:p>
                  </a:txBody>
                  <a:tcPr>
                    <a:solidFill>
                      <a:srgbClr val="9E5ECE"/>
                    </a:solidFill>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hlinkClick r:id="rId4" action="ppaction://hlinksldjump"/>
                        </a:rPr>
                        <a:t>Import Declaration Submission and Validation (GB/RoW-NI)</a:t>
                      </a:r>
                      <a:endParaRPr lang="en-GB" sz="1100" b="0">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fr-FR" sz="1100" b="0">
                          <a:solidFill>
                            <a:srgbClr val="000000"/>
                          </a:solidFill>
                          <a:hlinkClick r:id="rId5" action="ppaction://hlinksldjump"/>
                        </a:rPr>
                        <a:t>EU CAP Charges (Specific/Variable) </a:t>
                      </a:r>
                      <a:endParaRPr lang="en-GB"/>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5" action="ppaction://hlinksldjump"/>
                        </a:rPr>
                        <a:t>EU CAP Safeguards Duties</a:t>
                      </a:r>
                      <a:endParaRPr lang="en-GB" sz="1100" b="0">
                        <a:solidFill>
                          <a:srgbClr val="000000"/>
                        </a:solidFill>
                      </a:endParaRPr>
                    </a:p>
                  </a:txBody>
                  <a:tcPr>
                    <a:solidFill>
                      <a:srgbClr val="E6D5F3"/>
                    </a:solidFill>
                  </a:tcPr>
                </a:tc>
                <a:tc hMerge="1">
                  <a:txBody>
                    <a:bodyPr/>
                    <a:lstStyle/>
                    <a:p>
                      <a:endParaRPr lang="en-GB"/>
                    </a:p>
                  </a:txBody>
                  <a:tcPr/>
                </a:tc>
                <a:extLst>
                  <a:ext uri="{0D108BD9-81ED-4DB2-BD59-A6C34878D82A}">
                    <a16:rowId xmlns:a16="http://schemas.microsoft.com/office/drawing/2014/main" val="2313310939"/>
                  </a:ext>
                </a:extLst>
              </a:tr>
              <a:tr h="296027">
                <a:tc vMerge="1">
                  <a:txBody>
                    <a:bodyPr/>
                    <a:lstStyle/>
                    <a:p>
                      <a:endParaRPr lang="en-GB"/>
                    </a:p>
                  </a:txBody>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hlinkClick r:id="rId4" action="ppaction://hlinksldjump"/>
                        </a:rPr>
                        <a:t>UK Non-Quota Trade Preference </a:t>
                      </a:r>
                      <a:endParaRPr lang="en-GB" sz="1100" b="0">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5" action="ppaction://hlinksldjump"/>
                        </a:rPr>
                        <a:t>NI Minimum Import Price Calculation and Charging </a:t>
                      </a:r>
                      <a:endParaRPr lang="en-GB"/>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5" action="ppaction://hlinksldjump"/>
                        </a:rPr>
                        <a:t>SIV/SPV Calculation and Charging </a:t>
                      </a:r>
                      <a:endParaRPr lang="en-GB" sz="1100" b="0">
                        <a:solidFill>
                          <a:srgbClr val="000000"/>
                        </a:solidFill>
                      </a:endParaRPr>
                    </a:p>
                  </a:txBody>
                  <a:tcPr>
                    <a:solidFill>
                      <a:srgbClr val="E6D5F3"/>
                    </a:solidFill>
                  </a:tcPr>
                </a:tc>
                <a:tc hMerge="1">
                  <a:txBody>
                    <a:bodyPr/>
                    <a:lstStyle/>
                    <a:p>
                      <a:endParaRPr lang="en-GB"/>
                    </a:p>
                  </a:txBody>
                  <a:tcPr/>
                </a:tc>
                <a:extLst>
                  <a:ext uri="{0D108BD9-81ED-4DB2-BD59-A6C34878D82A}">
                    <a16:rowId xmlns:a16="http://schemas.microsoft.com/office/drawing/2014/main" val="1962796130"/>
                  </a:ext>
                </a:extLst>
              </a:tr>
              <a:tr h="296027">
                <a:tc vMerge="1">
                  <a:txBody>
                    <a:bodyPr/>
                    <a:lstStyle/>
                    <a:p>
                      <a:endParaRPr lang="en-GB"/>
                    </a:p>
                  </a:txBody>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hlinkClick r:id="rId5" action="ppaction://hlinksldjump"/>
                        </a:rPr>
                        <a:t>NI Non-Quota Trade Preference</a:t>
                      </a:r>
                      <a:endParaRPr lang="en-GB" sz="1100" b="1">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5" action="ppaction://hlinksldjump"/>
                        </a:rPr>
                        <a:t>EU ADD/CVD Duties </a:t>
                      </a:r>
                      <a:endParaRPr lang="en-GB"/>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6" action="ppaction://hlinksldjump"/>
                        </a:rPr>
                        <a:t>Establishing and Maintaining an EU Tariff </a:t>
                      </a:r>
                      <a:endParaRPr lang="en-GB" sz="1100" b="0">
                        <a:solidFill>
                          <a:srgbClr val="000000"/>
                        </a:solidFill>
                      </a:endParaRPr>
                    </a:p>
                  </a:txBody>
                  <a:tcPr>
                    <a:solidFill>
                      <a:srgbClr val="E6D5F3"/>
                    </a:solidFill>
                  </a:tcPr>
                </a:tc>
                <a:tc hMerge="1">
                  <a:txBody>
                    <a:bodyPr/>
                    <a:lstStyle/>
                    <a:p>
                      <a:endParaRPr lang="en-GB"/>
                    </a:p>
                  </a:txBody>
                  <a:tcPr/>
                </a:tc>
                <a:extLst>
                  <a:ext uri="{0D108BD9-81ED-4DB2-BD59-A6C34878D82A}">
                    <a16:rowId xmlns:a16="http://schemas.microsoft.com/office/drawing/2014/main" val="1475793175"/>
                  </a:ext>
                </a:extLst>
              </a:tr>
              <a:tr h="296027">
                <a:tc vMerge="1">
                  <a:txBody>
                    <a:bodyPr/>
                    <a:lstStyle/>
                    <a:p>
                      <a:endParaRPr lang="en-GB"/>
                    </a:p>
                  </a:txBody>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hlinkClick r:id="rId6" action="ppaction://hlinksldjump"/>
                        </a:rPr>
                        <a:t>Establishing and Maintaining the UK Tariff </a:t>
                      </a:r>
                      <a:endParaRPr lang="en-GB" sz="1100" b="0">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6" action="ppaction://hlinksldjump"/>
                        </a:rPr>
                        <a:t>Establishing and Updating the Risk Status of Goods </a:t>
                      </a:r>
                      <a:endParaRPr lang="en-GB"/>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4" action="ppaction://hlinksldjump"/>
                        </a:rPr>
                        <a:t>De-Risking Goods - Declaration Processing </a:t>
                      </a:r>
                      <a:endParaRPr lang="en-GB" sz="1100" b="0">
                        <a:solidFill>
                          <a:srgbClr val="000000"/>
                        </a:solidFill>
                      </a:endParaRPr>
                    </a:p>
                  </a:txBody>
                  <a:tcPr>
                    <a:solidFill>
                      <a:srgbClr val="E6D5F3"/>
                    </a:solidFill>
                  </a:tcPr>
                </a:tc>
                <a:tc hMerge="1">
                  <a:txBody>
                    <a:bodyPr/>
                    <a:lstStyle/>
                    <a:p>
                      <a:endParaRPr lang="en-GB"/>
                    </a:p>
                  </a:txBody>
                  <a:tcPr/>
                </a:tc>
                <a:extLst>
                  <a:ext uri="{0D108BD9-81ED-4DB2-BD59-A6C34878D82A}">
                    <a16:rowId xmlns:a16="http://schemas.microsoft.com/office/drawing/2014/main" val="3758862174"/>
                  </a:ext>
                </a:extLst>
              </a:tr>
              <a:tr h="0">
                <a:tc vMerge="1">
                  <a:txBody>
                    <a:bodyPr/>
                    <a:lstStyle/>
                    <a:p>
                      <a:endParaRPr lang="en-GB"/>
                    </a:p>
                  </a:txBody>
                  <a:tcPr/>
                </a:tc>
                <a:tc gridSpan="2">
                  <a:txBody>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pPr>
                      <a:r>
                        <a:rPr lang="en-GB" sz="1100" b="0">
                          <a:solidFill>
                            <a:srgbClr val="000000"/>
                          </a:solidFill>
                          <a:hlinkClick r:id="rId6" action="ppaction://hlinksldjump"/>
                        </a:rPr>
                        <a:t>Determining the Risk Status of Goods </a:t>
                      </a:r>
                      <a:endParaRPr lang="en-GB" sz="1100" b="0">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4" action="ppaction://hlinksldjump"/>
                        </a:rPr>
                        <a:t>Duty Calculation for Not at Risk and At Risk Goods from GB/RoW on NI Import Declarations</a:t>
                      </a:r>
                      <a:endParaRPr lang="en-GB"/>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endParaRPr lang="en-GB" sz="1100" b="0">
                        <a:solidFill>
                          <a:srgbClr val="000000"/>
                        </a:solidFill>
                      </a:endParaRPr>
                    </a:p>
                  </a:txBody>
                  <a:tcPr>
                    <a:solidFill>
                      <a:srgbClr val="FFFFFF"/>
                    </a:solidFill>
                  </a:tcPr>
                </a:tc>
                <a:tc hMerge="1">
                  <a:txBody>
                    <a:bodyPr/>
                    <a:lstStyle/>
                    <a:p>
                      <a:endParaRPr lang="en-GB"/>
                    </a:p>
                  </a:txBody>
                  <a:tcPr/>
                </a:tc>
                <a:extLst>
                  <a:ext uri="{0D108BD9-81ED-4DB2-BD59-A6C34878D82A}">
                    <a16:rowId xmlns:a16="http://schemas.microsoft.com/office/drawing/2014/main" val="4202573813"/>
                  </a:ext>
                </a:extLst>
              </a:tr>
              <a:tr h="296027">
                <a:tc>
                  <a:txBody>
                    <a:bodyPr/>
                    <a:lstStyle/>
                    <a:p>
                      <a:pPr lvl="0"/>
                      <a:r>
                        <a:rPr lang="en-GB" sz="1200" b="1">
                          <a:solidFill>
                            <a:srgbClr val="FFFFFF"/>
                          </a:solidFill>
                        </a:rPr>
                        <a:t>RoRo (GVMS)</a:t>
                      </a:r>
                    </a:p>
                  </a:txBody>
                  <a:tcPr>
                    <a:solidFill>
                      <a:srgbClr val="9E5ECE"/>
                    </a:solidFill>
                  </a:tcPr>
                </a:tc>
                <a:tc gridSpan="2">
                  <a:txBody>
                    <a:bodyPr/>
                    <a:lstStyle/>
                    <a:p>
                      <a:pPr marL="171450" lvl="0" indent="-171450">
                        <a:buSzPct val="100000"/>
                        <a:buFont typeface="Arial" pitchFamily="34"/>
                        <a:buChar char="•"/>
                      </a:pPr>
                      <a:r>
                        <a:rPr lang="en-GB" sz="1100" b="0">
                          <a:solidFill>
                            <a:srgbClr val="000000"/>
                          </a:solidFill>
                          <a:hlinkClick r:id="rId7" action="ppaction://hlinksldjump"/>
                        </a:rPr>
                        <a:t>RoRo: Submission of Arrived Export Declarations from all RoRo Ports </a:t>
                      </a:r>
                      <a:endParaRPr lang="en-GB" sz="1100" b="0">
                        <a:solidFill>
                          <a:srgbClr val="000000"/>
                        </a:solidFill>
                      </a:endParaRPr>
                    </a:p>
                  </a:txBody>
                  <a:tcPr>
                    <a:solidFill>
                      <a:srgbClr val="E6D5F3"/>
                    </a:solidFill>
                  </a:tcPr>
                </a:tc>
                <a:tc hMerge="1">
                  <a:txBody>
                    <a:bodyPr/>
                    <a:lstStyle/>
                    <a:p>
                      <a:endParaRPr lang="en-GB"/>
                    </a:p>
                  </a:txBody>
                  <a:tcPr/>
                </a:tc>
                <a:tc gridSpan="2">
                  <a:txBody>
                    <a:bodyPr/>
                    <a:lstStyle/>
                    <a:p>
                      <a:pPr marL="171450" lvl="0" indent="-171450">
                        <a:buSzPct val="100000"/>
                        <a:buFont typeface="Arial" pitchFamily="34"/>
                        <a:buChar char="•"/>
                      </a:pPr>
                      <a:r>
                        <a:rPr lang="en-GB" sz="1100" b="0">
                          <a:solidFill>
                            <a:srgbClr val="000000"/>
                          </a:solidFill>
                          <a:hlinkClick r:id="rId8" action="ppaction://hlinksldjump"/>
                        </a:rPr>
                        <a:t>RoRo</a:t>
                      </a:r>
                      <a:r>
                        <a:rPr lang="en-GB" sz="1100" b="1">
                          <a:solidFill>
                            <a:srgbClr val="000000"/>
                          </a:solidFill>
                          <a:hlinkClick r:id="rId8" action="ppaction://hlinksldjump"/>
                        </a:rPr>
                        <a:t> </a:t>
                      </a:r>
                      <a:r>
                        <a:rPr lang="en-GB" sz="1100" b="0">
                          <a:solidFill>
                            <a:srgbClr val="000000"/>
                          </a:solidFill>
                          <a:hlinkClick r:id="rId8" action="ppaction://hlinksldjump"/>
                        </a:rPr>
                        <a:t>Declaration Submission and Validation Rules </a:t>
                      </a:r>
                      <a:endParaRPr lang="en-GB"/>
                    </a:p>
                  </a:txBody>
                  <a:tcPr>
                    <a:solidFill>
                      <a:srgbClr val="E6D5F3"/>
                    </a:solidFill>
                  </a:tcPr>
                </a:tc>
                <a:tc hMerge="1">
                  <a:txBody>
                    <a:bodyPr/>
                    <a:lstStyle/>
                    <a:p>
                      <a:endParaRPr lang="en-GB"/>
                    </a:p>
                  </a:txBody>
                  <a:tcPr/>
                </a:tc>
                <a:tc>
                  <a:txBody>
                    <a:bodyPr/>
                    <a:lstStyle/>
                    <a:p>
                      <a:pPr marL="171450" lvl="0" indent="-171450">
                        <a:buSzPct val="100000"/>
                        <a:buFont typeface="Arial" pitchFamily="34"/>
                        <a:buChar char="•"/>
                      </a:pPr>
                      <a:endParaRPr lang="en-GB" sz="1200" b="1">
                        <a:solidFill>
                          <a:srgbClr val="FFFFFF"/>
                        </a:solidFill>
                      </a:endParaRPr>
                    </a:p>
                  </a:txBody>
                  <a:tcPr/>
                </a:tc>
                <a:tc>
                  <a:txBody>
                    <a:bodyPr/>
                    <a:lstStyle/>
                    <a:p>
                      <a:pPr marL="171450" lvl="0" indent="-171450">
                        <a:buSzPct val="100000"/>
                        <a:buFont typeface="Arial" pitchFamily="34"/>
                        <a:buChar char="•"/>
                      </a:pPr>
                      <a:endParaRPr lang="en-GB" sz="1100" b="0" dirty="0">
                        <a:solidFill>
                          <a:srgbClr val="FF0000"/>
                        </a:solidFill>
                      </a:endParaRPr>
                    </a:p>
                  </a:txBody>
                  <a:tcPr/>
                </a:tc>
                <a:extLst>
                  <a:ext uri="{0D108BD9-81ED-4DB2-BD59-A6C34878D82A}">
                    <a16:rowId xmlns:a16="http://schemas.microsoft.com/office/drawing/2014/main" val="3837811914"/>
                  </a:ext>
                </a:extLst>
              </a:tr>
            </a:tbl>
          </a:graphicData>
        </a:graphic>
      </p:graphicFrame>
      <p:sp>
        <p:nvSpPr>
          <p:cNvPr id="12" name="Oval 16">
            <a:extLst>
              <a:ext uri="{FF2B5EF4-FFF2-40B4-BE49-F238E27FC236}">
                <a16:creationId xmlns:a16="http://schemas.microsoft.com/office/drawing/2014/main" id="{EB8445EC-5392-4BE6-88B0-EBE995B6FDEC}"/>
              </a:ext>
            </a:extLst>
          </p:cNvPr>
          <p:cNvSpPr/>
          <p:nvPr/>
        </p:nvSpPr>
        <p:spPr>
          <a:xfrm>
            <a:off x="1677677" y="319562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16">
            <a:extLst>
              <a:ext uri="{FF2B5EF4-FFF2-40B4-BE49-F238E27FC236}">
                <a16:creationId xmlns:a16="http://schemas.microsoft.com/office/drawing/2014/main" id="{88793E01-34C4-45D9-B080-3A7D77FB0B14}"/>
              </a:ext>
            </a:extLst>
          </p:cNvPr>
          <p:cNvSpPr/>
          <p:nvPr/>
        </p:nvSpPr>
        <p:spPr>
          <a:xfrm>
            <a:off x="3772530" y="319562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16">
            <a:extLst>
              <a:ext uri="{FF2B5EF4-FFF2-40B4-BE49-F238E27FC236}">
                <a16:creationId xmlns:a16="http://schemas.microsoft.com/office/drawing/2014/main" id="{1B098A9F-B5F1-4FA4-B8A9-7CADFDF0869D}"/>
              </a:ext>
            </a:extLst>
          </p:cNvPr>
          <p:cNvSpPr/>
          <p:nvPr/>
        </p:nvSpPr>
        <p:spPr>
          <a:xfrm>
            <a:off x="7538432" y="31925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16">
            <a:extLst>
              <a:ext uri="{FF2B5EF4-FFF2-40B4-BE49-F238E27FC236}">
                <a16:creationId xmlns:a16="http://schemas.microsoft.com/office/drawing/2014/main" id="{0E759C65-CE19-4E15-BBB0-034B7B877D3B}"/>
              </a:ext>
            </a:extLst>
          </p:cNvPr>
          <p:cNvSpPr/>
          <p:nvPr/>
        </p:nvSpPr>
        <p:spPr>
          <a:xfrm>
            <a:off x="1677677" y="558578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70AD47"/>
              </a:solidFill>
              <a:uFillTx/>
              <a:latin typeface="Calibri"/>
            </a:endParaRPr>
          </a:p>
        </p:txBody>
      </p:sp>
      <p:sp>
        <p:nvSpPr>
          <p:cNvPr id="16" name="Oval 16">
            <a:extLst>
              <a:ext uri="{FF2B5EF4-FFF2-40B4-BE49-F238E27FC236}">
                <a16:creationId xmlns:a16="http://schemas.microsoft.com/office/drawing/2014/main" id="{9A667F43-636D-490E-9EC6-45EE1C7285D9}"/>
              </a:ext>
            </a:extLst>
          </p:cNvPr>
          <p:cNvSpPr/>
          <p:nvPr/>
        </p:nvSpPr>
        <p:spPr>
          <a:xfrm>
            <a:off x="5586014" y="559806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16">
            <a:extLst>
              <a:ext uri="{FF2B5EF4-FFF2-40B4-BE49-F238E27FC236}">
                <a16:creationId xmlns:a16="http://schemas.microsoft.com/office/drawing/2014/main" id="{41FBE468-E084-4CA0-B67F-A5AACB3F20AB}"/>
              </a:ext>
            </a:extLst>
          </p:cNvPr>
          <p:cNvSpPr/>
          <p:nvPr/>
        </p:nvSpPr>
        <p:spPr>
          <a:xfrm>
            <a:off x="1677677" y="399863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Oval 16">
            <a:extLst>
              <a:ext uri="{FF2B5EF4-FFF2-40B4-BE49-F238E27FC236}">
                <a16:creationId xmlns:a16="http://schemas.microsoft.com/office/drawing/2014/main" id="{A1796761-C254-40EB-AB8F-0FD1ECAD11E8}"/>
              </a:ext>
            </a:extLst>
          </p:cNvPr>
          <p:cNvSpPr/>
          <p:nvPr/>
        </p:nvSpPr>
        <p:spPr>
          <a:xfrm>
            <a:off x="1677677" y="427273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Oval 16">
            <a:extLst>
              <a:ext uri="{FF2B5EF4-FFF2-40B4-BE49-F238E27FC236}">
                <a16:creationId xmlns:a16="http://schemas.microsoft.com/office/drawing/2014/main" id="{CB1F3A13-FA61-4D23-A4D3-D149058735B4}"/>
              </a:ext>
            </a:extLst>
          </p:cNvPr>
          <p:cNvSpPr/>
          <p:nvPr/>
        </p:nvSpPr>
        <p:spPr>
          <a:xfrm>
            <a:off x="1677677" y="4569229"/>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Oval 16">
            <a:extLst>
              <a:ext uri="{FF2B5EF4-FFF2-40B4-BE49-F238E27FC236}">
                <a16:creationId xmlns:a16="http://schemas.microsoft.com/office/drawing/2014/main" id="{BDD9C6D8-18F8-4AE7-A9C3-2F341FB875A9}"/>
              </a:ext>
            </a:extLst>
          </p:cNvPr>
          <p:cNvSpPr/>
          <p:nvPr/>
        </p:nvSpPr>
        <p:spPr>
          <a:xfrm>
            <a:off x="1677677" y="486261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1" name="Oval 16">
            <a:extLst>
              <a:ext uri="{FF2B5EF4-FFF2-40B4-BE49-F238E27FC236}">
                <a16:creationId xmlns:a16="http://schemas.microsoft.com/office/drawing/2014/main" id="{9284BE9D-0084-4A31-9A93-7324A45017AB}"/>
              </a:ext>
            </a:extLst>
          </p:cNvPr>
          <p:cNvSpPr/>
          <p:nvPr/>
        </p:nvSpPr>
        <p:spPr>
          <a:xfrm>
            <a:off x="1677677" y="515600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Oval 16">
            <a:extLst>
              <a:ext uri="{FF2B5EF4-FFF2-40B4-BE49-F238E27FC236}">
                <a16:creationId xmlns:a16="http://schemas.microsoft.com/office/drawing/2014/main" id="{F63E37E4-9ACC-4AE9-82E7-5427C03A9822}"/>
              </a:ext>
            </a:extLst>
          </p:cNvPr>
          <p:cNvSpPr/>
          <p:nvPr/>
        </p:nvSpPr>
        <p:spPr>
          <a:xfrm>
            <a:off x="5596338" y="3998634"/>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Oval 16">
            <a:extLst>
              <a:ext uri="{FF2B5EF4-FFF2-40B4-BE49-F238E27FC236}">
                <a16:creationId xmlns:a16="http://schemas.microsoft.com/office/drawing/2014/main" id="{DEE2B208-4447-49D4-8F98-B29756C0C44F}"/>
              </a:ext>
            </a:extLst>
          </p:cNvPr>
          <p:cNvSpPr/>
          <p:nvPr/>
        </p:nvSpPr>
        <p:spPr>
          <a:xfrm>
            <a:off x="5596338" y="428710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4" name="Oval 16">
            <a:extLst>
              <a:ext uri="{FF2B5EF4-FFF2-40B4-BE49-F238E27FC236}">
                <a16:creationId xmlns:a16="http://schemas.microsoft.com/office/drawing/2014/main" id="{9222266D-3124-4817-8300-FA0F21664EF7}"/>
              </a:ext>
            </a:extLst>
          </p:cNvPr>
          <p:cNvSpPr/>
          <p:nvPr/>
        </p:nvSpPr>
        <p:spPr>
          <a:xfrm>
            <a:off x="5596338" y="4575575"/>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5" name="Oval 16">
            <a:extLst>
              <a:ext uri="{FF2B5EF4-FFF2-40B4-BE49-F238E27FC236}">
                <a16:creationId xmlns:a16="http://schemas.microsoft.com/office/drawing/2014/main" id="{5BDA042C-9314-4349-B25F-BD02DDA607D8}"/>
              </a:ext>
            </a:extLst>
          </p:cNvPr>
          <p:cNvSpPr/>
          <p:nvPr/>
        </p:nvSpPr>
        <p:spPr>
          <a:xfrm>
            <a:off x="5596338" y="487665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6" name="Oval 16">
            <a:extLst>
              <a:ext uri="{FF2B5EF4-FFF2-40B4-BE49-F238E27FC236}">
                <a16:creationId xmlns:a16="http://schemas.microsoft.com/office/drawing/2014/main" id="{5DFCDEC5-A606-4AB9-BDA9-C7C4EBEF3939}"/>
              </a:ext>
            </a:extLst>
          </p:cNvPr>
          <p:cNvSpPr/>
          <p:nvPr/>
        </p:nvSpPr>
        <p:spPr>
          <a:xfrm>
            <a:off x="5596338" y="518075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16">
            <a:extLst>
              <a:ext uri="{FF2B5EF4-FFF2-40B4-BE49-F238E27FC236}">
                <a16:creationId xmlns:a16="http://schemas.microsoft.com/office/drawing/2014/main" id="{7A3E3735-2698-4A26-BF56-0E7E557A0B0D}"/>
              </a:ext>
            </a:extLst>
          </p:cNvPr>
          <p:cNvSpPr/>
          <p:nvPr/>
        </p:nvSpPr>
        <p:spPr>
          <a:xfrm>
            <a:off x="8952533" y="401488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16">
            <a:extLst>
              <a:ext uri="{FF2B5EF4-FFF2-40B4-BE49-F238E27FC236}">
                <a16:creationId xmlns:a16="http://schemas.microsoft.com/office/drawing/2014/main" id="{184FB47C-433A-4A53-8A34-5BF2F6FBBB54}"/>
              </a:ext>
            </a:extLst>
          </p:cNvPr>
          <p:cNvSpPr/>
          <p:nvPr/>
        </p:nvSpPr>
        <p:spPr>
          <a:xfrm>
            <a:off x="8952533" y="4287850"/>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16">
            <a:extLst>
              <a:ext uri="{FF2B5EF4-FFF2-40B4-BE49-F238E27FC236}">
                <a16:creationId xmlns:a16="http://schemas.microsoft.com/office/drawing/2014/main" id="{4D2BD5AB-1294-4BDD-AAD0-DBD53F8C6BAF}"/>
              </a:ext>
            </a:extLst>
          </p:cNvPr>
          <p:cNvSpPr/>
          <p:nvPr/>
        </p:nvSpPr>
        <p:spPr>
          <a:xfrm>
            <a:off x="8952533" y="4560816"/>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Oval 16">
            <a:extLst>
              <a:ext uri="{FF2B5EF4-FFF2-40B4-BE49-F238E27FC236}">
                <a16:creationId xmlns:a16="http://schemas.microsoft.com/office/drawing/2014/main" id="{7704AE77-5A6C-4F18-852B-00AD5BA90C57}"/>
              </a:ext>
            </a:extLst>
          </p:cNvPr>
          <p:cNvSpPr/>
          <p:nvPr/>
        </p:nvSpPr>
        <p:spPr>
          <a:xfrm>
            <a:off x="8952533" y="486103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1" name="Oval 16">
            <a:extLst>
              <a:ext uri="{FF2B5EF4-FFF2-40B4-BE49-F238E27FC236}">
                <a16:creationId xmlns:a16="http://schemas.microsoft.com/office/drawing/2014/main" id="{215E2900-5CCD-4223-8A49-F0573EBFFBC9}"/>
              </a:ext>
            </a:extLst>
          </p:cNvPr>
          <p:cNvSpPr/>
          <p:nvPr/>
        </p:nvSpPr>
        <p:spPr>
          <a:xfrm>
            <a:off x="9609914" y="3190048"/>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nvGrpSpPr>
          <p:cNvPr id="32" name="Group 4">
            <a:extLst>
              <a:ext uri="{FF2B5EF4-FFF2-40B4-BE49-F238E27FC236}">
                <a16:creationId xmlns:a16="http://schemas.microsoft.com/office/drawing/2014/main" id="{FB5DD08A-CD3A-4B5F-8124-339DC79F2493}"/>
              </a:ext>
            </a:extLst>
          </p:cNvPr>
          <p:cNvGrpSpPr/>
          <p:nvPr/>
        </p:nvGrpSpPr>
        <p:grpSpPr>
          <a:xfrm>
            <a:off x="2663583" y="1154850"/>
            <a:ext cx="3199302" cy="276999"/>
            <a:chOff x="2663583" y="1154850"/>
            <a:chExt cx="3199302" cy="276999"/>
          </a:xfrm>
        </p:grpSpPr>
        <p:sp>
          <p:nvSpPr>
            <p:cNvPr id="33" name="TextBox 7">
              <a:extLst>
                <a:ext uri="{FF2B5EF4-FFF2-40B4-BE49-F238E27FC236}">
                  <a16:creationId xmlns:a16="http://schemas.microsoft.com/office/drawing/2014/main" id="{8648D216-3A39-4440-968F-363DC5BF6F2D}"/>
                </a:ext>
              </a:extLst>
            </p:cNvPr>
            <p:cNvSpPr txBox="1"/>
            <p:nvPr/>
          </p:nvSpPr>
          <p:spPr>
            <a:xfrm>
              <a:off x="2663583" y="1154850"/>
              <a:ext cx="3199302"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Production</a:t>
              </a:r>
              <a:r>
                <a:rPr lang="en-GB" sz="1200" b="0" i="0" u="none" strike="noStrike" kern="1200" cap="none" spc="0" baseline="0">
                  <a:solidFill>
                    <a:srgbClr val="000000"/>
                  </a:solidFill>
                  <a:uFillTx/>
                  <a:latin typeface="Calibri"/>
                </a:rPr>
                <a:t> and </a:t>
              </a:r>
              <a:r>
                <a:rPr lang="en-GB" sz="1200" b="1" i="0" u="none" strike="noStrike" kern="1200" cap="none" spc="0" baseline="0">
                  <a:solidFill>
                    <a:srgbClr val="000000"/>
                  </a:solidFill>
                  <a:uFillTx/>
                  <a:latin typeface="Calibri"/>
                </a:rPr>
                <a:t>External Test</a:t>
              </a:r>
            </a:p>
          </p:txBody>
        </p:sp>
        <p:sp>
          <p:nvSpPr>
            <p:cNvPr id="34" name="Oval 16">
              <a:extLst>
                <a:ext uri="{FF2B5EF4-FFF2-40B4-BE49-F238E27FC236}">
                  <a16:creationId xmlns:a16="http://schemas.microsoft.com/office/drawing/2014/main" id="{182012FF-28C8-42D3-BD84-70F037921D25}"/>
                </a:ext>
              </a:extLst>
            </p:cNvPr>
            <p:cNvSpPr/>
            <p:nvPr/>
          </p:nvSpPr>
          <p:spPr>
            <a:xfrm>
              <a:off x="2689158" y="122321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35" name="Oval 16">
            <a:extLst>
              <a:ext uri="{FF2B5EF4-FFF2-40B4-BE49-F238E27FC236}">
                <a16:creationId xmlns:a16="http://schemas.microsoft.com/office/drawing/2014/main" id="{C4FAD34B-B3BC-4415-B5E3-EDA27710DCFA}"/>
              </a:ext>
            </a:extLst>
          </p:cNvPr>
          <p:cNvSpPr/>
          <p:nvPr/>
        </p:nvSpPr>
        <p:spPr>
          <a:xfrm>
            <a:off x="5596338" y="3192581"/>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D7D31"/>
          </a:solidFill>
          <a:ln w="12701" cap="flat">
            <a:solidFill>
              <a:srgbClr val="ED7D31"/>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6" name="Rectangle 11">
            <a:extLst>
              <a:ext uri="{FF2B5EF4-FFF2-40B4-BE49-F238E27FC236}">
                <a16:creationId xmlns:a16="http://schemas.microsoft.com/office/drawing/2014/main" id="{2235ED8C-40E2-49E6-B449-B4C4286C6D29}"/>
              </a:ext>
            </a:extLst>
          </p:cNvPr>
          <p:cNvSpPr/>
          <p:nvPr/>
        </p:nvSpPr>
        <p:spPr>
          <a:xfrm>
            <a:off x="453002" y="1127747"/>
            <a:ext cx="492312" cy="307777"/>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400" b="1" i="0" u="none" strike="noStrike" kern="1200" cap="none" spc="0" baseline="0">
                <a:solidFill>
                  <a:srgbClr val="000000"/>
                </a:solidFill>
                <a:uFillTx/>
                <a:latin typeface="Calibri"/>
              </a:rPr>
              <a:t>Key</a:t>
            </a:r>
            <a:r>
              <a:rPr lang="en-GB" sz="1400" b="0" i="0" u="none" strike="noStrike" kern="1200" cap="none" spc="0" baseline="0">
                <a:solidFill>
                  <a:srgbClr val="000000"/>
                </a:solidFill>
                <a:uFillTx/>
                <a:latin typeface="Calibri"/>
              </a:rPr>
              <a:t> </a:t>
            </a:r>
          </a:p>
        </p:txBody>
      </p:sp>
      <p:sp>
        <p:nvSpPr>
          <p:cNvPr id="37" name="TextBox 13">
            <a:extLst>
              <a:ext uri="{FF2B5EF4-FFF2-40B4-BE49-F238E27FC236}">
                <a16:creationId xmlns:a16="http://schemas.microsoft.com/office/drawing/2014/main" id="{0E9C5F63-FBB8-4885-AE3D-AEB586249768}"/>
              </a:ext>
            </a:extLst>
          </p:cNvPr>
          <p:cNvSpPr txBox="1"/>
          <p:nvPr/>
        </p:nvSpPr>
        <p:spPr>
          <a:xfrm>
            <a:off x="430700" y="2068537"/>
            <a:ext cx="4043668" cy="276999"/>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1" u="none" strike="noStrike" kern="1200" cap="none" spc="0" baseline="0">
                <a:solidFill>
                  <a:srgbClr val="000000"/>
                </a:solidFill>
                <a:uFillTx/>
                <a:latin typeface="Calibri"/>
              </a:rPr>
              <a:t>Click the links below for specific overviews of the functionality </a:t>
            </a:r>
          </a:p>
        </p:txBody>
      </p:sp>
      <p:grpSp>
        <p:nvGrpSpPr>
          <p:cNvPr id="38" name="Group 7">
            <a:extLst>
              <a:ext uri="{FF2B5EF4-FFF2-40B4-BE49-F238E27FC236}">
                <a16:creationId xmlns:a16="http://schemas.microsoft.com/office/drawing/2014/main" id="{A19D93E6-1498-4332-9365-FBD8CEEF4546}"/>
              </a:ext>
            </a:extLst>
          </p:cNvPr>
          <p:cNvGrpSpPr/>
          <p:nvPr/>
        </p:nvGrpSpPr>
        <p:grpSpPr>
          <a:xfrm>
            <a:off x="5888461" y="1154320"/>
            <a:ext cx="4848834" cy="276999"/>
            <a:chOff x="5888461" y="1154320"/>
            <a:chExt cx="4848834" cy="276999"/>
          </a:xfrm>
        </p:grpSpPr>
        <p:sp>
          <p:nvSpPr>
            <p:cNvPr id="39" name="TextBox 7">
              <a:extLst>
                <a:ext uri="{FF2B5EF4-FFF2-40B4-BE49-F238E27FC236}">
                  <a16:creationId xmlns:a16="http://schemas.microsoft.com/office/drawing/2014/main" id="{2540F418-9ED8-4042-BCE9-F9D8FFBC45AA}"/>
                </a:ext>
              </a:extLst>
            </p:cNvPr>
            <p:cNvSpPr txBox="1"/>
            <p:nvPr/>
          </p:nvSpPr>
          <p:spPr>
            <a:xfrm>
              <a:off x="5888461" y="1154320"/>
              <a:ext cx="4848834" cy="276999"/>
            </a:xfrm>
            <a:prstGeom prst="rect">
              <a:avLst/>
            </a:prstGeom>
            <a:noFill/>
            <a:ln cap="flat">
              <a:noFill/>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60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Available in </a:t>
              </a:r>
              <a:r>
                <a:rPr lang="en-GB" sz="1200" b="1" i="0" u="none" strike="noStrike" kern="1200" cap="none" spc="0" baseline="0">
                  <a:solidFill>
                    <a:srgbClr val="000000"/>
                  </a:solidFill>
                  <a:uFillTx/>
                  <a:latin typeface="Calibri"/>
                </a:rPr>
                <a:t>External Test only </a:t>
              </a:r>
              <a:r>
                <a:rPr lang="en-GB" sz="1200" b="0" i="0" u="none" strike="noStrike" kern="1200" cap="none" spc="0" baseline="0">
                  <a:solidFill>
                    <a:srgbClr val="000000"/>
                  </a:solidFill>
                  <a:uFillTx/>
                  <a:latin typeface="Calibri"/>
                </a:rPr>
                <a:t>(future production scope) </a:t>
              </a:r>
            </a:p>
          </p:txBody>
        </p:sp>
        <p:sp>
          <p:nvSpPr>
            <p:cNvPr id="40" name="Oval 16">
              <a:extLst>
                <a:ext uri="{FF2B5EF4-FFF2-40B4-BE49-F238E27FC236}">
                  <a16:creationId xmlns:a16="http://schemas.microsoft.com/office/drawing/2014/main" id="{F4B8FDFD-79AB-4429-8F21-5FCE9893EB18}"/>
                </a:ext>
              </a:extLst>
            </p:cNvPr>
            <p:cNvSpPr/>
            <p:nvPr/>
          </p:nvSpPr>
          <p:spPr>
            <a:xfrm>
              <a:off x="5940820" y="1225753"/>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0000"/>
            </a:solidFill>
            <a:ln w="12701" cap="flat">
              <a:solidFill>
                <a:srgbClr val="000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pSp>
      <p:sp>
        <p:nvSpPr>
          <p:cNvPr id="42" name="Slide Number Placeholder 5">
            <a:extLst>
              <a:ext uri="{FF2B5EF4-FFF2-40B4-BE49-F238E27FC236}">
                <a16:creationId xmlns:a16="http://schemas.microsoft.com/office/drawing/2014/main" id="{6D54AFDC-18E0-4AF8-AAE4-7E790C8F4049}"/>
              </a:ext>
            </a:extLst>
          </p:cNvPr>
          <p:cNvSpPr txBox="1"/>
          <p:nvPr/>
        </p:nvSpPr>
        <p:spPr>
          <a:xfrm>
            <a:off x="1171825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0168CAB-CB8F-4818-AC82-3540A2F29109}" type="slidenum">
              <a:rPr sz="1200"/>
              <a:t>435</a:t>
            </a:fld>
            <a:endParaRPr lang="en-GB" sz="1200" b="0" i="0" u="none" strike="noStrike" kern="1200" cap="none" spc="0" baseline="0">
              <a:solidFill>
                <a:srgbClr val="000000"/>
              </a:solidFill>
              <a:uFillTx/>
              <a:latin typeface="Calibri"/>
            </a:endParaRPr>
          </a:p>
        </p:txBody>
      </p:sp>
      <p:sp>
        <p:nvSpPr>
          <p:cNvPr id="43" name="Footer Placeholder 1">
            <a:extLst>
              <a:ext uri="{FF2B5EF4-FFF2-40B4-BE49-F238E27FC236}">
                <a16:creationId xmlns:a16="http://schemas.microsoft.com/office/drawing/2014/main" id="{FEF6603F-1358-4376-8CD5-E9E7928348C2}"/>
              </a:ext>
            </a:extLst>
          </p:cNvPr>
          <p:cNvSpPr txBox="1"/>
          <p:nvPr/>
        </p:nvSpPr>
        <p:spPr>
          <a:xfrm>
            <a:off x="2875175" y="6502152"/>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44" name="Oval 87">
            <a:hlinkClick r:id="rId9" action="ppaction://hlinksldjump"/>
            <a:extLst>
              <a:ext uri="{FF2B5EF4-FFF2-40B4-BE49-F238E27FC236}">
                <a16:creationId xmlns:a16="http://schemas.microsoft.com/office/drawing/2014/main" id="{878BE11A-B2D9-45AF-B1E8-EC1B005B1B64}"/>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5" name="Oval 88">
            <a:hlinkClick r:id="rId9" action="ppaction://hlinksldjump"/>
            <a:extLst>
              <a:ext uri="{FF2B5EF4-FFF2-40B4-BE49-F238E27FC236}">
                <a16:creationId xmlns:a16="http://schemas.microsoft.com/office/drawing/2014/main" id="{DA642CC4-C788-43FE-A74E-EF401612DC06}"/>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Oval 89">
            <a:hlinkClick r:id="rId10" action="ppaction://hlinksldjump"/>
            <a:extLst>
              <a:ext uri="{FF2B5EF4-FFF2-40B4-BE49-F238E27FC236}">
                <a16:creationId xmlns:a16="http://schemas.microsoft.com/office/drawing/2014/main" id="{C0CF70E3-F299-4F5C-A296-54E80CEB38B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7" name="Oval 90">
            <a:hlinkClick r:id="rId11" action="ppaction://hlinksldjump"/>
            <a:extLst>
              <a:ext uri="{FF2B5EF4-FFF2-40B4-BE49-F238E27FC236}">
                <a16:creationId xmlns:a16="http://schemas.microsoft.com/office/drawing/2014/main" id="{5725070D-638F-4D04-A7A6-8C580E3D072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8" name="TextBox 91">
            <a:hlinkClick r:id="rId9" action="ppaction://hlinksldjump"/>
            <a:extLst>
              <a:ext uri="{FF2B5EF4-FFF2-40B4-BE49-F238E27FC236}">
                <a16:creationId xmlns:a16="http://schemas.microsoft.com/office/drawing/2014/main" id="{E05DDF4F-ADB5-4212-9B91-C271AA0AABAA}"/>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49" name="TextBox 92">
            <a:hlinkClick r:id="rId9" action="ppaction://hlinksldjump"/>
            <a:extLst>
              <a:ext uri="{FF2B5EF4-FFF2-40B4-BE49-F238E27FC236}">
                <a16:creationId xmlns:a16="http://schemas.microsoft.com/office/drawing/2014/main" id="{C36808EE-1700-4BA7-826C-A533B2D49BE4}"/>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2</a:t>
            </a:r>
          </a:p>
        </p:txBody>
      </p:sp>
      <p:sp>
        <p:nvSpPr>
          <p:cNvPr id="50" name="TextBox 93">
            <a:hlinkClick r:id="rId10" action="ppaction://hlinksldjump"/>
            <a:extLst>
              <a:ext uri="{FF2B5EF4-FFF2-40B4-BE49-F238E27FC236}">
                <a16:creationId xmlns:a16="http://schemas.microsoft.com/office/drawing/2014/main" id="{1FDC9B99-B7FA-402F-8429-33A2FB0D0A64}"/>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51" name="TextBox 94">
            <a:hlinkClick r:id="rId12" action="ppaction://hlinksldjump"/>
            <a:extLst>
              <a:ext uri="{FF2B5EF4-FFF2-40B4-BE49-F238E27FC236}">
                <a16:creationId xmlns:a16="http://schemas.microsoft.com/office/drawing/2014/main" id="{22BE36D6-192A-442A-B793-5AB5676D17A8}"/>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52" name="Oval 95">
            <a:extLst>
              <a:ext uri="{FF2B5EF4-FFF2-40B4-BE49-F238E27FC236}">
                <a16:creationId xmlns:a16="http://schemas.microsoft.com/office/drawing/2014/main" id="{DD6C239A-65BE-4E29-883F-5D40EC13AF4A}"/>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3" name="TextBox 96">
            <a:hlinkClick r:id="rId13" action="ppaction://hlinksldjump"/>
            <a:extLst>
              <a:ext uri="{FF2B5EF4-FFF2-40B4-BE49-F238E27FC236}">
                <a16:creationId xmlns:a16="http://schemas.microsoft.com/office/drawing/2014/main" id="{9C13418B-5C99-441D-B83F-62465B33444A}"/>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54" name="Picture 40">
            <a:hlinkClick r:id="rId9" action="ppaction://hlinksldjump"/>
            <a:extLst>
              <a:ext uri="{FF2B5EF4-FFF2-40B4-BE49-F238E27FC236}">
                <a16:creationId xmlns:a16="http://schemas.microsoft.com/office/drawing/2014/main" id="{C07AE68E-4A5C-4967-B60C-ABB4DA2EBC17}"/>
              </a:ext>
            </a:extLst>
          </p:cNvPr>
          <p:cNvPicPr>
            <a:picLocks noChangeAspect="1"/>
          </p:cNvPicPr>
          <p:nvPr/>
        </p:nvPicPr>
        <p:blipFill>
          <a:blip r:embed="rId14">
            <a:alphaModFix amt="35000"/>
          </a:blip>
          <a:srcRect l="20606" t="21077" r="21527" b="31021"/>
          <a:stretch>
            <a:fillRect/>
          </a:stretch>
        </p:blipFill>
        <p:spPr>
          <a:xfrm>
            <a:off x="10028188" y="272070"/>
            <a:ext cx="256918" cy="210595"/>
          </a:xfrm>
          <a:prstGeom prst="rect">
            <a:avLst/>
          </a:prstGeom>
          <a:noFill/>
          <a:ln cap="flat">
            <a:noFill/>
          </a:ln>
        </p:spPr>
      </p:pic>
      <p:sp>
        <p:nvSpPr>
          <p:cNvPr id="55" name="Oval 98">
            <a:hlinkClick r:id="rId9" action="ppaction://hlinksldjump"/>
            <a:extLst>
              <a:ext uri="{FF2B5EF4-FFF2-40B4-BE49-F238E27FC236}">
                <a16:creationId xmlns:a16="http://schemas.microsoft.com/office/drawing/2014/main" id="{6C598CBF-8EEA-4E67-92A9-73F2B75E6833}"/>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6" name="Rectangle 14">
            <a:extLst>
              <a:ext uri="{FF2B5EF4-FFF2-40B4-BE49-F238E27FC236}">
                <a16:creationId xmlns:a16="http://schemas.microsoft.com/office/drawing/2014/main" id="{1BCA313F-86F8-448B-9B8B-9874552C6EB8}"/>
              </a:ext>
            </a:extLst>
          </p:cNvPr>
          <p:cNvSpPr/>
          <p:nvPr/>
        </p:nvSpPr>
        <p:spPr>
          <a:xfrm>
            <a:off x="1685358" y="2664735"/>
            <a:ext cx="3242233" cy="424482"/>
          </a:xfrm>
          <a:prstGeom prst="rect">
            <a:avLst/>
          </a:prstGeom>
          <a:solidFill>
            <a:srgbClr val="FFF2CC"/>
          </a:solidFill>
          <a:ln w="12701" cap="flat">
            <a:solidFill>
              <a:srgbClr val="FFF2CC"/>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7" name="Rectangle 12">
            <a:extLst>
              <a:ext uri="{FF2B5EF4-FFF2-40B4-BE49-F238E27FC236}">
                <a16:creationId xmlns:a16="http://schemas.microsoft.com/office/drawing/2014/main" id="{D25262B3-B7D0-4E32-BA64-3A6300E74EC7}"/>
              </a:ext>
            </a:extLst>
          </p:cNvPr>
          <p:cNvSpPr/>
          <p:nvPr/>
        </p:nvSpPr>
        <p:spPr>
          <a:xfrm>
            <a:off x="1652275" y="2646867"/>
            <a:ext cx="3224668" cy="430883"/>
          </a:xfrm>
          <a:prstGeom prst="rect">
            <a:avLst/>
          </a:prstGeom>
          <a:noFill/>
          <a:ln cap="flat">
            <a:noFill/>
            <a:prstDash val="solid"/>
          </a:ln>
        </p:spPr>
        <p:txBody>
          <a:bodyPr vert="horz" wrap="square" lIns="91440" tIns="45720" rIns="91440" bIns="45720" anchor="t" anchorCtr="0" compatLnSpc="1">
            <a:spAutoFit/>
          </a:bodyPr>
          <a:lstStyle/>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100" b="0" i="0" u="none" strike="noStrike" kern="1200" cap="none" spc="0" baseline="0">
                <a:solidFill>
                  <a:srgbClr val="0070C0"/>
                </a:solidFill>
                <a:uFillTx/>
                <a:latin typeface="Calibri"/>
                <a:hlinkClick r:id="rId15" action="ppaction://hlinksldjump"/>
              </a:rPr>
              <a:t>Ability to add a Security to a Declaration Following a Control Task and Remove a Goods Item</a:t>
            </a:r>
            <a:endParaRPr lang="en-GB" sz="1100" b="0" i="0" u="none" strike="noStrike" kern="1200" cap="none" spc="0" baseline="0">
              <a:solidFill>
                <a:srgbClr val="0070C0"/>
              </a:solidFill>
              <a:uFillTx/>
              <a:latin typeface="Calibri"/>
            </a:endParaRPr>
          </a:p>
        </p:txBody>
      </p:sp>
      <p:sp>
        <p:nvSpPr>
          <p:cNvPr id="58" name="Oval 16">
            <a:extLst>
              <a:ext uri="{FF2B5EF4-FFF2-40B4-BE49-F238E27FC236}">
                <a16:creationId xmlns:a16="http://schemas.microsoft.com/office/drawing/2014/main" id="{A18F2467-07D1-4BBB-9746-73AB45106670}"/>
              </a:ext>
            </a:extLst>
          </p:cNvPr>
          <p:cNvSpPr/>
          <p:nvPr/>
        </p:nvSpPr>
        <p:spPr>
          <a:xfrm>
            <a:off x="1685358" y="2703652"/>
            <a:ext cx="152759" cy="14099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70C0"/>
          </a:solidFill>
          <a:ln w="12701" cap="flat">
            <a:solidFill>
              <a:srgbClr val="0070C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name="Slide4325">
    <p:spTree>
      <p:nvGrpSpPr>
        <p:cNvPr id="1" name=""/>
        <p:cNvGrpSpPr/>
        <p:nvPr/>
      </p:nvGrpSpPr>
      <p:grpSpPr>
        <a:xfrm>
          <a:off x="0" y="0"/>
          <a:ext cx="0" cy="0"/>
          <a:chOff x="0" y="0"/>
          <a:chExt cx="0" cy="0"/>
        </a:xfrm>
      </p:grpSpPr>
      <p:cxnSp>
        <p:nvCxnSpPr>
          <p:cNvPr id="3" name="Straight Connector 17">
            <a:extLst>
              <a:ext uri="{FF2B5EF4-FFF2-40B4-BE49-F238E27FC236}">
                <a16:creationId xmlns:a16="http://schemas.microsoft.com/office/drawing/2014/main" id="{A94D314A-1CB5-4DBB-BDC2-585D8BF0B5BE}"/>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4" name="Straight Connector 11">
            <a:extLst>
              <a:ext uri="{FF2B5EF4-FFF2-40B4-BE49-F238E27FC236}">
                <a16:creationId xmlns:a16="http://schemas.microsoft.com/office/drawing/2014/main" id="{552823B5-B328-4555-9A29-33B3148822FC}"/>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12">
            <a:extLst>
              <a:ext uri="{FF2B5EF4-FFF2-40B4-BE49-F238E27FC236}">
                <a16:creationId xmlns:a16="http://schemas.microsoft.com/office/drawing/2014/main" id="{3D7D3D4C-E3BD-40B0-89E9-3601FD235C09}"/>
              </a:ext>
            </a:extLst>
          </p:cNvPr>
          <p:cNvSpPr txBox="1"/>
          <p:nvPr/>
        </p:nvSpPr>
        <p:spPr>
          <a:xfrm>
            <a:off x="363967" y="248844"/>
            <a:ext cx="309367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PAYMENTS</a:t>
            </a:r>
          </a:p>
        </p:txBody>
      </p:sp>
      <p:sp>
        <p:nvSpPr>
          <p:cNvPr id="6" name="Rectangle 10">
            <a:extLst>
              <a:ext uri="{FF2B5EF4-FFF2-40B4-BE49-F238E27FC236}">
                <a16:creationId xmlns:a16="http://schemas.microsoft.com/office/drawing/2014/main" id="{8F8E8C06-0FDD-4AD7-9DBB-C57159484D62}"/>
              </a:ext>
            </a:extLst>
          </p:cNvPr>
          <p:cNvSpPr/>
          <p:nvPr/>
        </p:nvSpPr>
        <p:spPr>
          <a:xfrm>
            <a:off x="363967" y="2669142"/>
            <a:ext cx="6151132" cy="3339379"/>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Cash Account</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rPr>
              <a:t>CDS will validate and process declarations with Method of Payment (MOP) type code ‘N’ or ‘P’ </a:t>
            </a:r>
            <a:r>
              <a:rPr lang="en-GB" sz="1200" b="0" i="0" u="none" strike="noStrike" kern="1200" cap="none" spc="0" baseline="0">
                <a:solidFill>
                  <a:srgbClr val="000000"/>
                </a:solidFill>
                <a:uFillTx/>
                <a:latin typeface="Calibri"/>
              </a:rPr>
              <a:t>declared in D.E. 4/8 on </a:t>
            </a:r>
            <a:r>
              <a:rPr lang="en-GB" sz="1200" b="0" i="0" u="none" strike="noStrike" kern="1200" cap="none" spc="0" baseline="0">
                <a:solidFill>
                  <a:srgbClr val="000000"/>
                </a:solidFill>
                <a:uFillTx/>
                <a:latin typeface="Calibri" pitchFamily="34"/>
                <a:ea typeface="Calibri" pitchFamily="34"/>
              </a:rPr>
              <a:t>a type A, B, D, E, J or K frontier declaration. Please note, o</a:t>
            </a:r>
            <a:r>
              <a:rPr lang="en-GB" sz="1200" b="0" i="0" u="none" strike="noStrike" kern="1200" cap="none" spc="0" baseline="0">
                <a:solidFill>
                  <a:srgbClr val="000000"/>
                </a:solidFill>
                <a:uFillTx/>
                <a:latin typeface="Calibri"/>
              </a:rPr>
              <a:t>nly standing authorities are applicable for this MOP. Specific authorities do not apply to this </a:t>
            </a:r>
            <a:r>
              <a:rPr lang="en-GB" sz="1200" b="0" i="0" u="none" strike="noStrike" kern="1200" cap="none" spc="0" baseline="0" err="1">
                <a:solidFill>
                  <a:srgbClr val="000000"/>
                </a:solidFill>
                <a:uFillTx/>
                <a:latin typeface="Calibri"/>
              </a:rPr>
              <a:t>MoP</a:t>
            </a:r>
            <a:r>
              <a:rPr lang="en-GB" sz="1200" b="0" i="0" u="none" strike="noStrike" kern="1200" cap="none" spc="0" baseline="0">
                <a:solidFill>
                  <a:srgbClr val="000000"/>
                </a:solidFill>
                <a:uFillTx/>
                <a:latin typeface="Calibri"/>
              </a:rPr>
              <a:t>.</a:t>
            </a:r>
            <a:r>
              <a:rPr lang="en-GB" sz="1200" b="0" i="0" u="none" strike="noStrike" kern="1200" cap="none" spc="0" baseline="0">
                <a:solidFill>
                  <a:srgbClr val="000000"/>
                </a:solidFill>
                <a:uFillTx/>
                <a:latin typeface="Calibri" pitchFamily="34"/>
              </a:rPr>
              <a:t> </a:t>
            </a:r>
          </a:p>
          <a:p>
            <a:pPr marL="0" marR="0" lvl="0" indent="0" algn="l" defTabSz="914400" rtl="0" fontAlgn="auto" hangingPunct="1">
              <a:lnSpc>
                <a:spcPct val="100000"/>
              </a:lnSpc>
              <a:spcBef>
                <a:spcPts val="0"/>
              </a:spcBef>
              <a:spcAft>
                <a:spcPts val="6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For successful validation of declarations with this MOP:</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Cash Account Indicator = Guarantee Type of 'Y' in D.E. 8/2.</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Cash Account Identifier = EORI entered in D.E. 8/3. Please note, a Cash Account has a one-to-one relationship with an EORI, therefore the EORI in D.E. 8/3 owns the Cash Account intended as the </a:t>
            </a:r>
            <a:r>
              <a:rPr lang="en-GB" sz="1200" b="0" i="0" u="none" strike="noStrike" kern="1200" cap="none" spc="0" baseline="0" err="1">
                <a:solidFill>
                  <a:srgbClr val="000000"/>
                </a:solidFill>
                <a:uFillTx/>
                <a:latin typeface="Calibri"/>
              </a:rPr>
              <a:t>MoP</a:t>
            </a:r>
            <a:r>
              <a:rPr lang="en-GB" sz="1200" b="0" i="0" u="none" strike="noStrike" kern="1200" cap="none" spc="0" baseline="0">
                <a:solidFill>
                  <a:srgbClr val="000000"/>
                </a:solidFill>
                <a:uFillTx/>
                <a:latin typeface="Calibri"/>
              </a:rPr>
              <a:t> for the declaration.</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following EORIs should be declared where relevant:</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EORI in D.E. 3/16 = Importer</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EORI in D.E. 3/18 = Declarant</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EORI in D.E. 3/20 = Representative</a:t>
            </a:r>
          </a:p>
          <a:p>
            <a:pPr marL="628650" marR="0" lvl="1"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EORI in D.E. 3/16 matches EORI in D.E. 3/18, and D.E. 3/21 is left blank = Self-Representing Importer</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‘2’ in D.E. 3/21 = Direct Representation and ‘3’ in D.E. 3/21 = Indirect Representation</a:t>
            </a:r>
          </a:p>
        </p:txBody>
      </p:sp>
      <p:sp>
        <p:nvSpPr>
          <p:cNvPr id="7" name="Rectangle 35">
            <a:extLst>
              <a:ext uri="{FF2B5EF4-FFF2-40B4-BE49-F238E27FC236}">
                <a16:creationId xmlns:a16="http://schemas.microsoft.com/office/drawing/2014/main" id="{A1DB95C0-1520-4ED9-BF90-3436FA0F4D39}"/>
              </a:ext>
            </a:extLst>
          </p:cNvPr>
          <p:cNvSpPr/>
          <p:nvPr/>
        </p:nvSpPr>
        <p:spPr>
          <a:xfrm>
            <a:off x="363967" y="1238189"/>
            <a:ext cx="6151132" cy="133882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60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pitchFamily="34"/>
                <a:ea typeface="Calibri" pitchFamily="34"/>
              </a:rPr>
              <a:t>Individual Guarantee</a:t>
            </a:r>
          </a:p>
          <a:p>
            <a:pPr marL="0" marR="0" lvl="0" indent="0" algn="l" defTabSz="914400" rtl="0" fontAlgn="auto" hangingPunct="1">
              <a:lnSpc>
                <a:spcPct val="100000"/>
              </a:lnSpc>
              <a:spcBef>
                <a:spcPts val="6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rPr>
              <a:t>CDS will validate and process declarations with Method of Payment (MOP) type code ‘Z’ declared on a type A, B, D or E declaration. Traders m</a:t>
            </a:r>
            <a:r>
              <a:rPr lang="en-GB" sz="1200" b="0" i="0" u="none" strike="noStrike" kern="1200" cap="none" spc="0" baseline="0">
                <a:solidFill>
                  <a:srgbClr val="000000"/>
                </a:solidFill>
                <a:uFillTx/>
                <a:latin typeface="Calibri"/>
              </a:rPr>
              <a:t>ay only declare this MOP against customs securities when a trader has applied to use a special procedure. The declaration will be assigned a time limit within which proof of the goods being re-exported must be submitted to HMRC, otherwise the guarantee will be claimed against. </a:t>
            </a:r>
          </a:p>
        </p:txBody>
      </p:sp>
      <p:sp>
        <p:nvSpPr>
          <p:cNvPr id="8" name="Rectangle 4">
            <a:extLst>
              <a:ext uri="{FF2B5EF4-FFF2-40B4-BE49-F238E27FC236}">
                <a16:creationId xmlns:a16="http://schemas.microsoft.com/office/drawing/2014/main" id="{EE5A6D24-AC45-473B-87F9-19650E1700F7}"/>
              </a:ext>
            </a:extLst>
          </p:cNvPr>
          <p:cNvSpPr/>
          <p:nvPr/>
        </p:nvSpPr>
        <p:spPr>
          <a:xfrm>
            <a:off x="363967" y="828080"/>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Payment Processing</a:t>
            </a:r>
            <a:endParaRPr lang="en-GB" sz="2400" b="1" i="0" u="none" strike="noStrike" kern="1200" cap="none" spc="0" baseline="0">
              <a:solidFill>
                <a:srgbClr val="000000"/>
              </a:solidFill>
              <a:uFillTx/>
              <a:latin typeface="Calibri" pitchFamily="34"/>
              <a:ea typeface="Calibri" pitchFamily="34"/>
            </a:endParaRPr>
          </a:p>
        </p:txBody>
      </p:sp>
      <p:sp>
        <p:nvSpPr>
          <p:cNvPr id="9" name="Rectangle 40">
            <a:extLst>
              <a:ext uri="{FF2B5EF4-FFF2-40B4-BE49-F238E27FC236}">
                <a16:creationId xmlns:a16="http://schemas.microsoft.com/office/drawing/2014/main" id="{6475C8C8-ACB7-4745-8831-3F7DDB261FBB}"/>
              </a:ext>
            </a:extLst>
          </p:cNvPr>
          <p:cNvSpPr/>
          <p:nvPr/>
        </p:nvSpPr>
        <p:spPr>
          <a:xfrm>
            <a:off x="6743901" y="1028087"/>
            <a:ext cx="5331985" cy="584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Allow both Deferment and Guarantee Account Methods of Payments on a Declaration </a:t>
            </a:r>
          </a:p>
        </p:txBody>
      </p:sp>
      <p:sp>
        <p:nvSpPr>
          <p:cNvPr id="10" name="TextBox 41">
            <a:extLst>
              <a:ext uri="{FF2B5EF4-FFF2-40B4-BE49-F238E27FC236}">
                <a16:creationId xmlns:a16="http://schemas.microsoft.com/office/drawing/2014/main" id="{A61199A1-7CAE-40D2-A526-C70CDEB39DDE}"/>
              </a:ext>
            </a:extLst>
          </p:cNvPr>
          <p:cNvSpPr txBox="1"/>
          <p:nvPr/>
        </p:nvSpPr>
        <p:spPr>
          <a:xfrm>
            <a:off x="6743901" y="1612855"/>
            <a:ext cx="5172166" cy="2616098"/>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From CDS 3.0.0, CDS will also have the ability to enable a single frontier declaration to be paid for via two combined methods of payment; General Guarantee Account and Duty Deferment Account. All outright amounts will be reserved against the Duty Deferment Account and all security amounts will be reserved against the General Guarantee Account.</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a part of this functionality, there must also be a validation check to ensure that the relative party authorisation permits the use of the General Guarantee and Duty Deferment Account and that the balance of each account is sufficient. The validation rules for these account-based methods of payments are outlined in the previous slide.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5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300" b="1"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1" i="0" u="none" strike="noStrike" kern="1200" cap="none" spc="0" baseline="0">
                <a:solidFill>
                  <a:srgbClr val="000000"/>
                </a:solidFill>
                <a:uFillTx/>
                <a:latin typeface="Calibri"/>
              </a:rPr>
              <a:t>Please note, </a:t>
            </a:r>
            <a:r>
              <a:rPr lang="en-GB" sz="1200" b="0" i="0" u="none" strike="noStrike" kern="1200" cap="none" spc="0" baseline="0">
                <a:solidFill>
                  <a:srgbClr val="000000"/>
                </a:solidFill>
                <a:uFillTx/>
                <a:latin typeface="Calibri"/>
              </a:rPr>
              <a:t>full mixed Method of Payment functionality, as currently available on CHIEF, is not in scope of CDS3.0.0 release.</a:t>
            </a:r>
            <a:endParaRPr lang="en-GB" sz="1200" b="1" i="0" u="none" strike="noStrike" kern="1200" cap="none" spc="0" baseline="0">
              <a:solidFill>
                <a:srgbClr val="000000"/>
              </a:solidFill>
              <a:uFillTx/>
              <a:latin typeface="Calibri"/>
            </a:endParaRPr>
          </a:p>
        </p:txBody>
      </p:sp>
      <p:sp>
        <p:nvSpPr>
          <p:cNvPr id="11" name="Slide Number Placeholder 5">
            <a:extLst>
              <a:ext uri="{FF2B5EF4-FFF2-40B4-BE49-F238E27FC236}">
                <a16:creationId xmlns:a16="http://schemas.microsoft.com/office/drawing/2014/main" id="{A5CF0299-695E-45D1-99AA-BBBECBA44958}"/>
              </a:ext>
            </a:extLst>
          </p:cNvPr>
          <p:cNvSpPr txBox="1"/>
          <p:nvPr/>
        </p:nvSpPr>
        <p:spPr>
          <a:xfrm>
            <a:off x="1170911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472EC32D-618D-4E38-8953-A799FE1E15FF}" type="slidenum">
              <a:rPr sz="1200"/>
              <a:t>436</a:t>
            </a:fld>
            <a:endParaRPr lang="en-GB" sz="1200" b="0" i="0" u="none" strike="noStrike" kern="1200" cap="none" spc="0" baseline="0">
              <a:solidFill>
                <a:srgbClr val="000000"/>
              </a:solidFill>
              <a:uFillTx/>
              <a:latin typeface="Calibri"/>
            </a:endParaRPr>
          </a:p>
        </p:txBody>
      </p:sp>
      <p:sp>
        <p:nvSpPr>
          <p:cNvPr id="12" name="Footer Placeholder 1">
            <a:extLst>
              <a:ext uri="{FF2B5EF4-FFF2-40B4-BE49-F238E27FC236}">
                <a16:creationId xmlns:a16="http://schemas.microsoft.com/office/drawing/2014/main" id="{20ACE494-6061-49B0-AA1B-47450BB062B8}"/>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13" name="Oval 50">
            <a:hlinkClick r:id="rId3" action="ppaction://hlinksldjump"/>
            <a:extLst>
              <a:ext uri="{FF2B5EF4-FFF2-40B4-BE49-F238E27FC236}">
                <a16:creationId xmlns:a16="http://schemas.microsoft.com/office/drawing/2014/main" id="{38C38A6A-4770-4657-BCB8-A74771F54CE9}"/>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51">
            <a:hlinkClick r:id="rId3" action="ppaction://hlinksldjump"/>
            <a:extLst>
              <a:ext uri="{FF2B5EF4-FFF2-40B4-BE49-F238E27FC236}">
                <a16:creationId xmlns:a16="http://schemas.microsoft.com/office/drawing/2014/main" id="{D64C4B81-75BF-41FB-BAF1-0FE67B1534F7}"/>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52">
            <a:hlinkClick r:id="rId4" action="ppaction://hlinksldjump"/>
            <a:extLst>
              <a:ext uri="{FF2B5EF4-FFF2-40B4-BE49-F238E27FC236}">
                <a16:creationId xmlns:a16="http://schemas.microsoft.com/office/drawing/2014/main" id="{3757D05D-2B5E-4CBE-BA84-BA1D9925EFDD}"/>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53">
            <a:hlinkClick r:id="rId5" action="ppaction://hlinksldjump"/>
            <a:extLst>
              <a:ext uri="{FF2B5EF4-FFF2-40B4-BE49-F238E27FC236}">
                <a16:creationId xmlns:a16="http://schemas.microsoft.com/office/drawing/2014/main" id="{A131E554-494D-41E6-8982-44F2434E8881}"/>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54">
            <a:hlinkClick r:id="rId3" action="ppaction://hlinksldjump"/>
            <a:extLst>
              <a:ext uri="{FF2B5EF4-FFF2-40B4-BE49-F238E27FC236}">
                <a16:creationId xmlns:a16="http://schemas.microsoft.com/office/drawing/2014/main" id="{5284C98A-970A-4EDD-BE69-9E1B95142AD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8" name="TextBox 55">
            <a:hlinkClick r:id="rId3" action="ppaction://hlinksldjump"/>
            <a:extLst>
              <a:ext uri="{FF2B5EF4-FFF2-40B4-BE49-F238E27FC236}">
                <a16:creationId xmlns:a16="http://schemas.microsoft.com/office/drawing/2014/main" id="{50C7F4CF-20D3-42D7-984F-F940BF36D005}"/>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9" name="TextBox 56">
            <a:hlinkClick r:id="rId4" action="ppaction://hlinksldjump"/>
            <a:extLst>
              <a:ext uri="{FF2B5EF4-FFF2-40B4-BE49-F238E27FC236}">
                <a16:creationId xmlns:a16="http://schemas.microsoft.com/office/drawing/2014/main" id="{07C22CBD-1144-4C10-B64B-3EC89F43E703}"/>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20" name="TextBox 57">
            <a:hlinkClick r:id="rId6" action="ppaction://hlinksldjump"/>
            <a:extLst>
              <a:ext uri="{FF2B5EF4-FFF2-40B4-BE49-F238E27FC236}">
                <a16:creationId xmlns:a16="http://schemas.microsoft.com/office/drawing/2014/main" id="{A6FC81E2-6692-4E01-96FA-7DD7F2197984}"/>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1" name="Oval 58">
            <a:extLst>
              <a:ext uri="{FF2B5EF4-FFF2-40B4-BE49-F238E27FC236}">
                <a16:creationId xmlns:a16="http://schemas.microsoft.com/office/drawing/2014/main" id="{0B9F53B5-E9DD-4C3D-96E4-7F443439DDC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TextBox 59">
            <a:hlinkClick r:id="rId7" action="ppaction://hlinksldjump"/>
            <a:extLst>
              <a:ext uri="{FF2B5EF4-FFF2-40B4-BE49-F238E27FC236}">
                <a16:creationId xmlns:a16="http://schemas.microsoft.com/office/drawing/2014/main" id="{AE4E86DD-FB94-4489-94E2-DA6267DDE8E4}"/>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3" name="Picture 40">
            <a:hlinkClick r:id="rId3" action="ppaction://hlinksldjump"/>
            <a:extLst>
              <a:ext uri="{FF2B5EF4-FFF2-40B4-BE49-F238E27FC236}">
                <a16:creationId xmlns:a16="http://schemas.microsoft.com/office/drawing/2014/main" id="{FCFD5072-6C00-466E-ABE5-A79E55326840}"/>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4" name="Oval 61">
            <a:hlinkClick r:id="rId3" action="ppaction://hlinksldjump"/>
            <a:extLst>
              <a:ext uri="{FF2B5EF4-FFF2-40B4-BE49-F238E27FC236}">
                <a16:creationId xmlns:a16="http://schemas.microsoft.com/office/drawing/2014/main" id="{54DE645F-E7C5-48FE-8590-DF618A253247}"/>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name="Slide4313">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0D1A1886-F71E-4D3F-B827-8F5DCD23D582}"/>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942B70A7-B413-45F7-86B8-2A7D653393E7}"/>
              </a:ext>
            </a:extLst>
          </p:cNvPr>
          <p:cNvSpPr txBox="1"/>
          <p:nvPr/>
        </p:nvSpPr>
        <p:spPr>
          <a:xfrm>
            <a:off x="391280" y="261225"/>
            <a:ext cx="3089437"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CONTROLS</a:t>
            </a:r>
          </a:p>
        </p:txBody>
      </p:sp>
      <p:sp>
        <p:nvSpPr>
          <p:cNvPr id="4" name="Rectangle 14">
            <a:extLst>
              <a:ext uri="{FF2B5EF4-FFF2-40B4-BE49-F238E27FC236}">
                <a16:creationId xmlns:a16="http://schemas.microsoft.com/office/drawing/2014/main" id="{E4B9DCD0-1CE5-42F4-B828-538B364D2E97}"/>
              </a:ext>
            </a:extLst>
          </p:cNvPr>
          <p:cNvSpPr/>
          <p:nvPr/>
        </p:nvSpPr>
        <p:spPr>
          <a:xfrm>
            <a:off x="354028" y="1407298"/>
            <a:ext cx="11505401" cy="304699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As part of TTM12.0.0 and CDS3.0.0, CDS will allow traders to add a security to their imports declaration following a control task and remove any compliant goods from a declaration. This scenario would arise if HMRC’s internal teams identified an undervaluation on a declaration and raise a control task. This process is as follows: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200" b="1" i="0" u="none" strike="noStrike" kern="1200" cap="none" spc="0" baseline="0">
              <a:solidFill>
                <a:srgbClr val="000000"/>
              </a:solidFill>
              <a:uFillTx/>
              <a:latin typeface="Calibri"/>
            </a:endParaRPr>
          </a:p>
          <a:p>
            <a:pPr marL="228600" marR="0" lvl="0" indent="-228600" algn="l" defTabSz="914400" rtl="0" fontAlgn="auto" hangingPunct="1">
              <a:lnSpc>
                <a:spcPct val="100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Traders must to declare code ‘UVC01’ in Additional Information D.E. 2/2 to manually override duty calculation. Please note, this can only be declared on an amendment request to a Type A or a Type B declaration. </a:t>
            </a:r>
          </a:p>
          <a:p>
            <a:pPr marL="228600" marR="0" lvl="0" indent="-228600" algn="l" defTabSz="914400" rtl="0" fontAlgn="auto" hangingPunct="1">
              <a:lnSpc>
                <a:spcPct val="100000"/>
              </a:lnSpc>
              <a:spcBef>
                <a:spcPts val="0"/>
              </a:spcBef>
              <a:spcAft>
                <a:spcPts val="0"/>
              </a:spcAft>
              <a:buSzPct val="100000"/>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AI code ‘UVC01’ is declared in D.E. 2/2, the trader:</a:t>
            </a:r>
          </a:p>
          <a:p>
            <a:pPr marL="685800" marR="0" lvl="1"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Must also declare "9WKS" in D.E. 2/3 (Additional Documents). </a:t>
            </a:r>
          </a:p>
          <a:p>
            <a:pPr marL="685800" marR="0" lvl="1"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Must also enter a Duty Tax Fee Type Code in D.E. 4/3 (Calculation of taxes – Tax type), a Specific Tax Base Quantity in D.E. 4/4 (Calculation of taxes – Tax base), and a Payable Tax Amount in D.E. 4/6 (Calculation of taxes – Payable Tax amount) on each tax line and declare total taxes in D.E. 4/7 (Total Taxes) at goods item level.</a:t>
            </a:r>
          </a:p>
          <a:p>
            <a:pPr marL="685800" marR="0" lvl="1"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Must not declare Method of Payment codes “D” or “G” in D.E. 4/8 (Method of Payment) otherwise the declaration will be rejected.</a:t>
            </a:r>
          </a:p>
          <a:p>
            <a:pPr marL="685800" marR="0" lvl="1"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Must not declare a Quota Number in D.E. 8/1 (Quota Order Number)</a:t>
            </a:r>
          </a:p>
          <a:p>
            <a:pPr marL="685800" marR="0" lvl="1" indent="-22860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Must not be declared if Customs Warehousing Procedure Code ’71’ has been declared in D.E. 1/10.</a:t>
            </a:r>
          </a:p>
          <a:p>
            <a:pPr marL="228600" marR="0" lvl="0" indent="-228600" algn="l" defTabSz="914400" rtl="0" fontAlgn="auto" hangingPunct="1">
              <a:lnSpc>
                <a:spcPct val="100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If the above validation is successful, traders will be able to add a security to their declaration by using a MOP code in D.E. 4/8 of “M”, “N”, “R”, “S”, “T”, “U” or “V” and indicate that the security has been added as a result of undervaluation as the reason for amendment code ("Amend security - undervaluation"). Traders will be notified of the security amount.</a:t>
            </a:r>
          </a:p>
          <a:p>
            <a:pPr marL="228600" marR="0" lvl="0" indent="-228600" algn="l" defTabSz="914400" rtl="0" fontAlgn="auto" hangingPunct="1">
              <a:lnSpc>
                <a:spcPct val="100000"/>
              </a:lnSpc>
              <a:spcBef>
                <a:spcPts val="0"/>
              </a:spcBef>
              <a:spcAft>
                <a:spcPts val="0"/>
              </a:spcAft>
              <a:buSzPct val="100000"/>
              <a:buFont typeface="Calibri Light"/>
              <a:buAutoNum type="arabicPeriod"/>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Any compliant goods items may be removed from the declaration and resubmitted to ensure they may progress, whilst the non-compliant goods remain on the amended declaration as a partial seizure.</a:t>
            </a:r>
          </a:p>
        </p:txBody>
      </p:sp>
      <p:sp>
        <p:nvSpPr>
          <p:cNvPr id="5" name="Rectangle 9">
            <a:extLst>
              <a:ext uri="{FF2B5EF4-FFF2-40B4-BE49-F238E27FC236}">
                <a16:creationId xmlns:a16="http://schemas.microsoft.com/office/drawing/2014/main" id="{7A9B3810-6194-48E4-B624-14F7F13F431A}"/>
              </a:ext>
            </a:extLst>
          </p:cNvPr>
          <p:cNvSpPr/>
          <p:nvPr/>
        </p:nvSpPr>
        <p:spPr>
          <a:xfrm>
            <a:off x="354028" y="1074310"/>
            <a:ext cx="7617345" cy="338556"/>
          </a:xfrm>
          <a:prstGeom prst="rect">
            <a:avLst/>
          </a:prstGeom>
          <a:noFill/>
          <a:ln cap="flat">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000000"/>
                </a:solidFill>
                <a:uFillTx/>
                <a:latin typeface="Calibri"/>
              </a:rPr>
              <a:t>Adding a Security to a Declaration and Removing a Goods Item Following a Control Task</a:t>
            </a:r>
          </a:p>
        </p:txBody>
      </p:sp>
      <p:sp>
        <p:nvSpPr>
          <p:cNvPr id="6" name="Rectangle 4">
            <a:extLst>
              <a:ext uri="{FF2B5EF4-FFF2-40B4-BE49-F238E27FC236}">
                <a16:creationId xmlns:a16="http://schemas.microsoft.com/office/drawing/2014/main" id="{961D8700-1B52-4671-B58E-90439A4D5FEB}"/>
              </a:ext>
            </a:extLst>
          </p:cNvPr>
          <p:cNvSpPr/>
          <p:nvPr/>
        </p:nvSpPr>
        <p:spPr>
          <a:xfrm>
            <a:off x="327382" y="68399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Controls</a:t>
            </a:r>
            <a:endParaRPr lang="en-GB" sz="2400" b="1" i="0" u="none" strike="noStrike" kern="1200" cap="none" spc="0" baseline="0">
              <a:solidFill>
                <a:srgbClr val="000000"/>
              </a:solidFill>
              <a:uFillTx/>
              <a:latin typeface="Calibri" pitchFamily="34"/>
              <a:ea typeface="Calibri" pitchFamily="34"/>
            </a:endParaRPr>
          </a:p>
        </p:txBody>
      </p:sp>
      <p:sp>
        <p:nvSpPr>
          <p:cNvPr id="8" name="Slide Number Placeholder 5">
            <a:extLst>
              <a:ext uri="{FF2B5EF4-FFF2-40B4-BE49-F238E27FC236}">
                <a16:creationId xmlns:a16="http://schemas.microsoft.com/office/drawing/2014/main" id="{DB4C1144-D905-4EDC-95AB-84978B30BF8B}"/>
              </a:ext>
            </a:extLst>
          </p:cNvPr>
          <p:cNvSpPr txBox="1"/>
          <p:nvPr/>
        </p:nvSpPr>
        <p:spPr>
          <a:xfrm>
            <a:off x="1170911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0FB9A72-2A5C-4D92-9A76-8A8D503B5803}" type="slidenum">
              <a:rPr sz="1200"/>
              <a:t>437</a:t>
            </a:fld>
            <a:endParaRPr lang="en-GB" sz="1200" b="0" i="0" u="none" strike="noStrike" kern="1200" cap="none" spc="0" baseline="0">
              <a:solidFill>
                <a:srgbClr val="000000"/>
              </a:solidFill>
              <a:uFillTx/>
              <a:latin typeface="Calibri"/>
            </a:endParaRPr>
          </a:p>
        </p:txBody>
      </p:sp>
      <p:sp>
        <p:nvSpPr>
          <p:cNvPr id="9" name="Footer Placeholder 1">
            <a:extLst>
              <a:ext uri="{FF2B5EF4-FFF2-40B4-BE49-F238E27FC236}">
                <a16:creationId xmlns:a16="http://schemas.microsoft.com/office/drawing/2014/main" id="{816C2AEB-1F59-4209-A7BC-F9D1D8DCEC06}"/>
              </a:ext>
            </a:extLst>
          </p:cNvPr>
          <p:cNvSpPr txBox="1"/>
          <p:nvPr/>
        </p:nvSpPr>
        <p:spPr>
          <a:xfrm>
            <a:off x="2943801" y="6498229"/>
            <a:ext cx="8737604" cy="144466"/>
          </a:xfrm>
          <a:prstGeom prst="rect">
            <a:avLst/>
          </a:prstGeom>
          <a:noFill/>
          <a:ln cap="flat">
            <a:noFill/>
          </a:ln>
        </p:spPr>
        <p:txBody>
          <a:bodyPr vert="horz" wrap="square" lIns="0" tIns="0" rIns="0" bIns="0" anchor="ctr" anchorCtr="0" compatLnSpc="1">
            <a:noAutofit/>
          </a:bodyPr>
          <a:lstStyle/>
          <a:p>
            <a:pPr marL="0" marR="0" lvl="0" indent="0" algn="r" defTabSz="914400" rtl="0" fontAlgn="auto" hangingPunct="0">
              <a:lnSpc>
                <a:spcPct val="100000"/>
              </a:lnSpc>
              <a:spcBef>
                <a:spcPts val="0"/>
              </a:spcBef>
              <a:spcAft>
                <a:spcPts val="0"/>
              </a:spcAft>
              <a:buNone/>
              <a:tabLst/>
              <a:defRPr sz="1800" b="0" i="0" u="none" strike="noStrike" kern="0" cap="none" spc="0" baseline="0">
                <a:solidFill>
                  <a:srgbClr val="000000"/>
                </a:solidFill>
                <a:uFillTx/>
              </a:defRPr>
            </a:pPr>
            <a:r>
              <a:rPr lang="en-GB" sz="900" b="0" i="0" u="none" strike="noStrike" kern="1200" cap="none" spc="0" baseline="0" dirty="0">
                <a:solidFill>
                  <a:srgbClr val="3B3A3D"/>
                </a:solidFill>
                <a:uFillTx/>
                <a:latin typeface="Calibri"/>
                <a:ea typeface="Geneva"/>
                <a:cs typeface="Arial"/>
              </a:rPr>
              <a:t>OFFICIAL |  CDS External TT TDR Release Scope Guidance    </a:t>
            </a:r>
            <a:endParaRPr lang="en-GB" sz="900" b="1" i="0" u="none" strike="noStrike" kern="1200" cap="none" spc="0" baseline="0" dirty="0">
              <a:solidFill>
                <a:srgbClr val="008D8E"/>
              </a:solidFill>
              <a:uFillTx/>
              <a:latin typeface="Calibri"/>
              <a:ea typeface="Geneva"/>
              <a:cs typeface="Arial"/>
            </a:endParaRPr>
          </a:p>
        </p:txBody>
      </p:sp>
      <p:sp>
        <p:nvSpPr>
          <p:cNvPr id="10" name="Oval 55">
            <a:hlinkClick r:id="rId3" action="ppaction://hlinksldjump"/>
            <a:extLst>
              <a:ext uri="{FF2B5EF4-FFF2-40B4-BE49-F238E27FC236}">
                <a16:creationId xmlns:a16="http://schemas.microsoft.com/office/drawing/2014/main" id="{5476F751-90D0-45FB-8D4F-965A9D13D840}"/>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56">
            <a:hlinkClick r:id="rId3" action="ppaction://hlinksldjump"/>
            <a:extLst>
              <a:ext uri="{FF2B5EF4-FFF2-40B4-BE49-F238E27FC236}">
                <a16:creationId xmlns:a16="http://schemas.microsoft.com/office/drawing/2014/main" id="{7787D685-7316-406E-BFE5-E2267480D31A}"/>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57">
            <a:hlinkClick r:id="rId4" action="ppaction://hlinksldjump"/>
            <a:extLst>
              <a:ext uri="{FF2B5EF4-FFF2-40B4-BE49-F238E27FC236}">
                <a16:creationId xmlns:a16="http://schemas.microsoft.com/office/drawing/2014/main" id="{FCA27D0E-0AF9-412E-90F6-F8E797CA0BCF}"/>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4DB8B8"/>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58">
            <a:hlinkClick r:id="rId5" action="ppaction://hlinksldjump"/>
            <a:extLst>
              <a:ext uri="{FF2B5EF4-FFF2-40B4-BE49-F238E27FC236}">
                <a16:creationId xmlns:a16="http://schemas.microsoft.com/office/drawing/2014/main" id="{F6F65647-8A51-4FA5-9052-52ABD108294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59">
            <a:hlinkClick r:id="rId3" action="ppaction://hlinksldjump"/>
            <a:extLst>
              <a:ext uri="{FF2B5EF4-FFF2-40B4-BE49-F238E27FC236}">
                <a16:creationId xmlns:a16="http://schemas.microsoft.com/office/drawing/2014/main" id="{D365DB4D-E2AB-4B91-B11C-F6F6BECA6459}"/>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60">
            <a:hlinkClick r:id="rId3" action="ppaction://hlinksldjump"/>
            <a:extLst>
              <a:ext uri="{FF2B5EF4-FFF2-40B4-BE49-F238E27FC236}">
                <a16:creationId xmlns:a16="http://schemas.microsoft.com/office/drawing/2014/main" id="{D883F863-45D9-49D6-A586-88C38549FB07}"/>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61">
            <a:hlinkClick r:id="rId4" action="ppaction://hlinksldjump"/>
            <a:extLst>
              <a:ext uri="{FF2B5EF4-FFF2-40B4-BE49-F238E27FC236}">
                <a16:creationId xmlns:a16="http://schemas.microsoft.com/office/drawing/2014/main" id="{9CD9DC1F-A51B-411D-8553-168F9839441D}"/>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3</a:t>
            </a:r>
          </a:p>
        </p:txBody>
      </p:sp>
      <p:sp>
        <p:nvSpPr>
          <p:cNvPr id="17" name="TextBox 62">
            <a:hlinkClick r:id="rId6" action="ppaction://hlinksldjump"/>
            <a:extLst>
              <a:ext uri="{FF2B5EF4-FFF2-40B4-BE49-F238E27FC236}">
                <a16:creationId xmlns:a16="http://schemas.microsoft.com/office/drawing/2014/main" id="{4C2DB332-9825-4DDF-ADED-BC7A7EBB650B}"/>
              </a:ext>
            </a:extLst>
          </p:cNvPr>
          <p:cNvSpPr txBox="1"/>
          <p:nvPr/>
        </p:nvSpPr>
        <p:spPr>
          <a:xfrm>
            <a:off x="1128662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63">
            <a:extLst>
              <a:ext uri="{FF2B5EF4-FFF2-40B4-BE49-F238E27FC236}">
                <a16:creationId xmlns:a16="http://schemas.microsoft.com/office/drawing/2014/main" id="{AEA30FAA-F728-4D5A-B4FD-7B92589C9599}"/>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64">
            <a:hlinkClick r:id="rId7" action="ppaction://hlinksldjump"/>
            <a:extLst>
              <a:ext uri="{FF2B5EF4-FFF2-40B4-BE49-F238E27FC236}">
                <a16:creationId xmlns:a16="http://schemas.microsoft.com/office/drawing/2014/main" id="{E2A58630-73EA-4C7A-A322-FE12AED1C57D}"/>
              </a:ext>
            </a:extLst>
          </p:cNvPr>
          <p:cNvSpPr txBox="1"/>
          <p:nvPr/>
        </p:nvSpPr>
        <p:spPr>
          <a:xfrm>
            <a:off x="11612779"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3" action="ppaction://hlinksldjump"/>
            <a:extLst>
              <a:ext uri="{FF2B5EF4-FFF2-40B4-BE49-F238E27FC236}">
                <a16:creationId xmlns:a16="http://schemas.microsoft.com/office/drawing/2014/main" id="{BB87D995-A3FA-4BCE-8B7F-CE54B9DC755B}"/>
              </a:ext>
            </a:extLst>
          </p:cNvPr>
          <p:cNvPicPr>
            <a:picLocks noChangeAspect="1"/>
          </p:cNvPicPr>
          <p:nvPr/>
        </p:nvPicPr>
        <p:blipFill>
          <a:blip r:embed="rId8">
            <a:alphaModFix amt="35000"/>
          </a:blip>
          <a:srcRect l="20606" t="21077" r="21527" b="31021"/>
          <a:stretch>
            <a:fillRect/>
          </a:stretch>
        </p:blipFill>
        <p:spPr>
          <a:xfrm>
            <a:off x="10028188" y="272070"/>
            <a:ext cx="256918" cy="210595"/>
          </a:xfrm>
          <a:prstGeom prst="rect">
            <a:avLst/>
          </a:prstGeom>
          <a:noFill/>
          <a:ln cap="flat">
            <a:noFill/>
          </a:ln>
        </p:spPr>
      </p:pic>
      <p:sp>
        <p:nvSpPr>
          <p:cNvPr id="21" name="Oval 66">
            <a:hlinkClick r:id="rId3" action="ppaction://hlinksldjump"/>
            <a:extLst>
              <a:ext uri="{FF2B5EF4-FFF2-40B4-BE49-F238E27FC236}">
                <a16:creationId xmlns:a16="http://schemas.microsoft.com/office/drawing/2014/main" id="{966A18F7-732D-4093-B564-36369B1F061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2" name="Rectangle 21">
            <a:extLst>
              <a:ext uri="{FF2B5EF4-FFF2-40B4-BE49-F238E27FC236}">
                <a16:creationId xmlns:a16="http://schemas.microsoft.com/office/drawing/2014/main" id="{D2B3C7F2-9D1F-403A-81C3-CE6B50B0B27C}"/>
              </a:ext>
            </a:extLst>
          </p:cNvPr>
          <p:cNvSpPr/>
          <p:nvPr/>
        </p:nvSpPr>
        <p:spPr>
          <a:xfrm>
            <a:off x="391280" y="5111029"/>
            <a:ext cx="11505401" cy="276999"/>
          </a:xfrm>
          <a:prstGeom prst="rect">
            <a:avLst/>
          </a:prstGeom>
          <a:solidFill>
            <a:srgbClr val="D9D9D9"/>
          </a:solid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Other functionalities delivered as part of TTM12.0.0 are located within the body of this document rather than in this section. </a:t>
            </a:r>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name="Slide838840341">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A0D9B533-1022-4440-847D-9A18F094A409}"/>
              </a:ext>
            </a:extLst>
          </p:cNvPr>
          <p:cNvSpPr/>
          <p:nvPr/>
        </p:nvSpPr>
        <p:spPr>
          <a:xfrm>
            <a:off x="942344" y="2807208"/>
            <a:ext cx="10019538" cy="1242285"/>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0" cap="none" spc="0" baseline="0">
                <a:solidFill>
                  <a:srgbClr val="FFFFFF"/>
                </a:solidFill>
                <a:uFillTx/>
                <a:latin typeface="Calibri"/>
              </a:rPr>
              <a:t>External Test Capabilities: Out of Scope Functionality</a:t>
            </a:r>
          </a:p>
        </p:txBody>
      </p:sp>
      <p:sp>
        <p:nvSpPr>
          <p:cNvPr id="3" name="Slide Number Placeholder 5">
            <a:extLst>
              <a:ext uri="{FF2B5EF4-FFF2-40B4-BE49-F238E27FC236}">
                <a16:creationId xmlns:a16="http://schemas.microsoft.com/office/drawing/2014/main" id="{936B5D86-62C5-4232-98D3-A56ADE5DC2D4}"/>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0870502-4D99-4B45-8B45-C0CAAA4F7D01}" type="slidenum">
              <a:rPr sz="1200"/>
              <a:t>438</a:t>
            </a:fld>
            <a:endParaRPr lang="en-GB" sz="1200" b="0" i="0" u="none" strike="noStrike" kern="1200" cap="none" spc="0" baseline="0">
              <a:solidFill>
                <a:srgbClr val="000000"/>
              </a:solidFill>
              <a:uFillTx/>
              <a:latin typeface="Calibri"/>
            </a:endParaRPr>
          </a:p>
        </p:txBody>
      </p:sp>
      <p:pic>
        <p:nvPicPr>
          <p:cNvPr id="4" name="Picture 8" descr="100% HMRCppt logo">
            <a:extLst>
              <a:ext uri="{FF2B5EF4-FFF2-40B4-BE49-F238E27FC236}">
                <a16:creationId xmlns:a16="http://schemas.microsoft.com/office/drawing/2014/main" id="{14806D2D-89BF-477E-B593-37806C9980F3}"/>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5" name="Oval 20">
            <a:hlinkClick r:id="rId3" action="ppaction://hlinksldjump"/>
            <a:extLst>
              <a:ext uri="{FF2B5EF4-FFF2-40B4-BE49-F238E27FC236}">
                <a16:creationId xmlns:a16="http://schemas.microsoft.com/office/drawing/2014/main" id="{16AEF482-023D-47BC-962A-A8612C1C59A8}"/>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 name="Oval 21">
            <a:hlinkClick r:id="rId3" action="ppaction://hlinksldjump"/>
            <a:extLst>
              <a:ext uri="{FF2B5EF4-FFF2-40B4-BE49-F238E27FC236}">
                <a16:creationId xmlns:a16="http://schemas.microsoft.com/office/drawing/2014/main" id="{7980CC63-67F1-4D51-911B-93FAB1A321FB}"/>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2">
            <a:hlinkClick r:id="rId4" action="ppaction://hlinksldjump"/>
            <a:extLst>
              <a:ext uri="{FF2B5EF4-FFF2-40B4-BE49-F238E27FC236}">
                <a16:creationId xmlns:a16="http://schemas.microsoft.com/office/drawing/2014/main" id="{39F26250-3935-42E8-9C2D-B53CF877C342}"/>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8" name="Oval 23">
            <a:hlinkClick r:id="rId5" action="ppaction://hlinksldjump"/>
            <a:extLst>
              <a:ext uri="{FF2B5EF4-FFF2-40B4-BE49-F238E27FC236}">
                <a16:creationId xmlns:a16="http://schemas.microsoft.com/office/drawing/2014/main" id="{7E85D6FB-4D72-4381-AC7A-C11D9B5A95D5}"/>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TextBox 24">
            <a:hlinkClick r:id="rId3" action="ppaction://hlinksldjump"/>
            <a:extLst>
              <a:ext uri="{FF2B5EF4-FFF2-40B4-BE49-F238E27FC236}">
                <a16:creationId xmlns:a16="http://schemas.microsoft.com/office/drawing/2014/main" id="{9C6D7FCF-CBAD-477D-B4E7-D7BE1AC76E9F}"/>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0" name="TextBox 25">
            <a:hlinkClick r:id="rId3" action="ppaction://hlinksldjump"/>
            <a:extLst>
              <a:ext uri="{FF2B5EF4-FFF2-40B4-BE49-F238E27FC236}">
                <a16:creationId xmlns:a16="http://schemas.microsoft.com/office/drawing/2014/main" id="{872CBA29-372E-48E7-9F75-1F7A5F259652}"/>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1" name="TextBox 26">
            <a:hlinkClick r:id="rId4" action="ppaction://hlinksldjump"/>
            <a:extLst>
              <a:ext uri="{FF2B5EF4-FFF2-40B4-BE49-F238E27FC236}">
                <a16:creationId xmlns:a16="http://schemas.microsoft.com/office/drawing/2014/main" id="{1162A0F3-528D-42BC-82DB-8E07FC130780}"/>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2" name="TextBox 27">
            <a:hlinkClick r:id="rId4" action="ppaction://hlinksldjump"/>
            <a:extLst>
              <a:ext uri="{FF2B5EF4-FFF2-40B4-BE49-F238E27FC236}">
                <a16:creationId xmlns:a16="http://schemas.microsoft.com/office/drawing/2014/main" id="{1B709201-84F2-4CDF-9076-DE056D94B396}"/>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3" name="Oval 28">
            <a:extLst>
              <a:ext uri="{FF2B5EF4-FFF2-40B4-BE49-F238E27FC236}">
                <a16:creationId xmlns:a16="http://schemas.microsoft.com/office/drawing/2014/main" id="{BA9A6DD6-0D00-44E9-AFB7-DD4C3EAE6273}"/>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9">
            <a:hlinkClick r:id="rId6" action="ppaction://hlinksldjump"/>
            <a:extLst>
              <a:ext uri="{FF2B5EF4-FFF2-40B4-BE49-F238E27FC236}">
                <a16:creationId xmlns:a16="http://schemas.microsoft.com/office/drawing/2014/main" id="{8C068200-04A5-4DFB-9899-BB252A86C9A0}"/>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15" name="Picture 40">
            <a:hlinkClick r:id="rId3" action="ppaction://hlinksldjump"/>
            <a:extLst>
              <a:ext uri="{FF2B5EF4-FFF2-40B4-BE49-F238E27FC236}">
                <a16:creationId xmlns:a16="http://schemas.microsoft.com/office/drawing/2014/main" id="{BF46D3B1-A875-4BF4-8596-0A05DA5E2C46}"/>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16" name="Oval 31">
            <a:hlinkClick r:id="rId3" action="ppaction://hlinksldjump"/>
            <a:extLst>
              <a:ext uri="{FF2B5EF4-FFF2-40B4-BE49-F238E27FC236}">
                <a16:creationId xmlns:a16="http://schemas.microsoft.com/office/drawing/2014/main" id="{19D1766E-3A2A-40EB-87A1-A752285D80DD}"/>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id="{7DE8CD4A-C4F3-4F53-8D79-340EDF09A0E2}"/>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14" name="TextBox 13">
            <a:extLst>
              <a:ext uri="{FF2B5EF4-FFF2-40B4-BE49-F238E27FC236}">
                <a16:creationId xmlns:a16="http://schemas.microsoft.com/office/drawing/2014/main" id="{2183907B-3C55-45D3-8E89-F16C1D13365E}"/>
              </a:ext>
            </a:extLst>
          </p:cNvPr>
          <p:cNvSpPr txBox="1"/>
          <p:nvPr/>
        </p:nvSpPr>
        <p:spPr>
          <a:xfrm>
            <a:off x="391280" y="261225"/>
            <a:ext cx="512973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OUT OF SCOPE FUNCTIONALITY</a:t>
            </a:r>
          </a:p>
        </p:txBody>
      </p:sp>
      <p:graphicFrame>
        <p:nvGraphicFramePr>
          <p:cNvPr id="15" name="Table 14">
            <a:extLst>
              <a:ext uri="{FF2B5EF4-FFF2-40B4-BE49-F238E27FC236}">
                <a16:creationId xmlns:a16="http://schemas.microsoft.com/office/drawing/2014/main" id="{A416FD3C-E1BE-4BD3-9E66-622005F2B682}"/>
              </a:ext>
            </a:extLst>
          </p:cNvPr>
          <p:cNvGraphicFramePr>
            <a:graphicFrameLocks noGrp="1"/>
          </p:cNvGraphicFramePr>
          <p:nvPr/>
        </p:nvGraphicFramePr>
        <p:xfrm>
          <a:off x="457200" y="1980215"/>
          <a:ext cx="5827489" cy="2427018"/>
        </p:xfrm>
        <a:graphic>
          <a:graphicData uri="http://schemas.openxmlformats.org/drawingml/2006/table">
            <a:tbl>
              <a:tblPr firstRow="1" bandRow="1">
                <a:effectLst/>
                <a:tableStyleId>{5C22544A-7EE6-4342-B048-85BDC9FD1C3A}</a:tableStyleId>
              </a:tblPr>
              <a:tblGrid>
                <a:gridCol w="5827489">
                  <a:extLst>
                    <a:ext uri="{9D8B030D-6E8A-4147-A177-3AD203B41FA5}">
                      <a16:colId xmlns:a16="http://schemas.microsoft.com/office/drawing/2014/main" val="238863902"/>
                    </a:ext>
                  </a:extLst>
                </a:gridCol>
              </a:tblGrid>
              <a:tr h="224741">
                <a:tc>
                  <a:txBody>
                    <a:bodyPr/>
                    <a:lstStyle/>
                    <a:p>
                      <a:pPr lvl="0"/>
                      <a:r>
                        <a:rPr lang="en-GB" sz="1200"/>
                        <a:t>External Test Scope</a:t>
                      </a:r>
                    </a:p>
                  </a:txBody>
                  <a:tcPr anchor="ctr">
                    <a:solidFill>
                      <a:srgbClr val="009999"/>
                    </a:solidFill>
                  </a:tcPr>
                </a:tc>
                <a:extLst>
                  <a:ext uri="{0D108BD9-81ED-4DB2-BD59-A6C34878D82A}">
                    <a16:rowId xmlns:a16="http://schemas.microsoft.com/office/drawing/2014/main" val="2379164040"/>
                  </a:ext>
                </a:extLst>
              </a:tr>
              <a:tr h="2152698">
                <a:tc>
                  <a:txBody>
                    <a:bodyPr/>
                    <a:lstStyle/>
                    <a:p>
                      <a:pPr lvl="0"/>
                      <a:r>
                        <a:rPr lang="en-GB" sz="1200" dirty="0"/>
                        <a:t>As per the current GVMS solution, the ability to test RoRo GVMS functionality in External Test is limited, allowing export declarants to submit:</a:t>
                      </a:r>
                    </a:p>
                    <a:p>
                      <a:pPr lvl="0"/>
                      <a:endParaRPr lang="en-GB" sz="1200" dirty="0"/>
                    </a:p>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200" dirty="0">
                          <a:solidFill>
                            <a:srgbClr val="000000"/>
                          </a:solidFill>
                        </a:rPr>
                        <a:t>An imports pre-lodged declaration using RRS01, users will receive a DMSRCV/DMSREJ notification</a:t>
                      </a:r>
                    </a:p>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200" dirty="0">
                          <a:solidFill>
                            <a:srgbClr val="000000"/>
                          </a:solidFill>
                        </a:rPr>
                        <a:t>An exports arrived declaration using RRS01 and EXRR, users will receive a notification of DMSACC/DMSREJ from CDS</a:t>
                      </a:r>
                    </a:p>
                    <a:p>
                      <a:pPr marL="171450" marR="0" lvl="0" indent="-171450" algn="l" defTabSz="914400" rtl="0" fontAlgn="auto" hangingPunct="1">
                        <a:lnSpc>
                          <a:spcPct val="100000"/>
                        </a:lnSpc>
                        <a:spcBef>
                          <a:spcPts val="0"/>
                        </a:spcBef>
                        <a:spcAft>
                          <a:spcPts val="0"/>
                        </a:spcAft>
                        <a:buSzPct val="100000"/>
                        <a:buFont typeface="Wingdings" pitchFamily="2"/>
                        <a:buChar char="ü"/>
                        <a:tabLst/>
                      </a:pPr>
                      <a:r>
                        <a:rPr lang="en-GB" sz="1200" dirty="0">
                          <a:solidFill>
                            <a:srgbClr val="000000"/>
                          </a:solidFill>
                        </a:rPr>
                        <a:t>An exports Pre-Lodged declaration using RRS01, users will receive a DMSRCV/DMSREJ notification</a:t>
                      </a:r>
                    </a:p>
                    <a:p>
                      <a:pPr lvl="0"/>
                      <a:endParaRPr lang="en-GB" sz="1200" dirty="0"/>
                    </a:p>
                    <a:p>
                      <a:pPr lvl="0"/>
                      <a:endParaRPr lang="en-GB" sz="1200" dirty="0"/>
                    </a:p>
                  </a:txBody>
                  <a:tcPr>
                    <a:solidFill>
                      <a:srgbClr val="F2F2F2"/>
                    </a:solidFill>
                  </a:tcPr>
                </a:tc>
                <a:extLst>
                  <a:ext uri="{0D108BD9-81ED-4DB2-BD59-A6C34878D82A}">
                    <a16:rowId xmlns:a16="http://schemas.microsoft.com/office/drawing/2014/main" val="4163434352"/>
                  </a:ext>
                </a:extLst>
              </a:tr>
            </a:tbl>
          </a:graphicData>
        </a:graphic>
      </p:graphicFrame>
      <p:sp>
        <p:nvSpPr>
          <p:cNvPr id="16" name="Rectangle 15">
            <a:extLst>
              <a:ext uri="{FF2B5EF4-FFF2-40B4-BE49-F238E27FC236}">
                <a16:creationId xmlns:a16="http://schemas.microsoft.com/office/drawing/2014/main" id="{EE77CBAC-23E1-4D2A-895F-E5CB09D81138}"/>
              </a:ext>
            </a:extLst>
          </p:cNvPr>
          <p:cNvSpPr/>
          <p:nvPr/>
        </p:nvSpPr>
        <p:spPr>
          <a:xfrm>
            <a:off x="387431" y="1654798"/>
            <a:ext cx="69697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1. GVMS Full E2E Journey</a:t>
            </a:r>
            <a:endParaRPr lang="en-GB" sz="1050" b="1" i="0" u="none" strike="noStrike" kern="1200" cap="none" spc="0" baseline="0">
              <a:solidFill>
                <a:srgbClr val="000000"/>
              </a:solidFill>
              <a:uFillTx/>
              <a:latin typeface="Calibri"/>
            </a:endParaRPr>
          </a:p>
        </p:txBody>
      </p:sp>
      <p:sp>
        <p:nvSpPr>
          <p:cNvPr id="17" name="Rectangle 4">
            <a:extLst>
              <a:ext uri="{FF2B5EF4-FFF2-40B4-BE49-F238E27FC236}">
                <a16:creationId xmlns:a16="http://schemas.microsoft.com/office/drawing/2014/main" id="{30D5934D-7C67-4BE7-9BC5-87A26E5181B4}"/>
              </a:ext>
            </a:extLst>
          </p:cNvPr>
          <p:cNvSpPr/>
          <p:nvPr/>
        </p:nvSpPr>
        <p:spPr>
          <a:xfrm>
            <a:off x="391280" y="793973"/>
            <a:ext cx="6969703"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0" cap="none" spc="0" baseline="0" dirty="0">
                <a:solidFill>
                  <a:srgbClr val="000000"/>
                </a:solidFill>
                <a:uFillTx/>
                <a:latin typeface="Calibri"/>
              </a:rPr>
              <a:t>Notable Out of Scope Trade Test Functionality</a:t>
            </a:r>
            <a:endParaRPr lang="en-GB" sz="1400" b="1" i="0" u="none" strike="noStrike" kern="1200" cap="none" spc="0" baseline="0" dirty="0">
              <a:solidFill>
                <a:srgbClr val="000000"/>
              </a:solidFill>
              <a:uFillTx/>
              <a:latin typeface="Calibri"/>
            </a:endParaRPr>
          </a:p>
        </p:txBody>
      </p:sp>
      <p:sp>
        <p:nvSpPr>
          <p:cNvPr id="18" name="Rectangle 17">
            <a:extLst>
              <a:ext uri="{FF2B5EF4-FFF2-40B4-BE49-F238E27FC236}">
                <a16:creationId xmlns:a16="http://schemas.microsoft.com/office/drawing/2014/main" id="{78B8CDD3-D8EF-4F96-94E9-E8A6310FCB32}"/>
              </a:ext>
            </a:extLst>
          </p:cNvPr>
          <p:cNvSpPr/>
          <p:nvPr/>
        </p:nvSpPr>
        <p:spPr>
          <a:xfrm>
            <a:off x="387431" y="1190018"/>
            <a:ext cx="11381235" cy="47885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This section provides examples of additional scenarios that utilise functionality that is out of scope for TT &amp; TDR. Please do not submit declarations using the functionality in this section, as they will not be processed correctly. </a:t>
            </a:r>
          </a:p>
        </p:txBody>
      </p:sp>
      <p:sp>
        <p:nvSpPr>
          <p:cNvPr id="20" name="Slide Number Placeholder 5">
            <a:extLst>
              <a:ext uri="{FF2B5EF4-FFF2-40B4-BE49-F238E27FC236}">
                <a16:creationId xmlns:a16="http://schemas.microsoft.com/office/drawing/2014/main" id="{627984A6-6381-4BDE-A6F8-36AC9611444E}"/>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CDD9232-7732-418C-AF99-F91208B48100}" type="slidenum">
              <a:rPr sz="1200"/>
              <a:t>439</a:t>
            </a:fld>
            <a:endParaRPr lang="en-GB" sz="1200" b="0" i="0" u="none" strike="noStrike" kern="1200" cap="none" spc="0" baseline="0">
              <a:solidFill>
                <a:srgbClr val="000000"/>
              </a:solidFill>
              <a:uFillTx/>
              <a:latin typeface="Calibri"/>
            </a:endParaRPr>
          </a:p>
        </p:txBody>
      </p:sp>
      <p:graphicFrame>
        <p:nvGraphicFramePr>
          <p:cNvPr id="21" name="Table 49">
            <a:extLst>
              <a:ext uri="{FF2B5EF4-FFF2-40B4-BE49-F238E27FC236}">
                <a16:creationId xmlns:a16="http://schemas.microsoft.com/office/drawing/2014/main" id="{D775CF72-7534-47E7-9C8B-5112A86CFBDC}"/>
              </a:ext>
            </a:extLst>
          </p:cNvPr>
          <p:cNvGraphicFramePr>
            <a:graphicFrameLocks noGrp="1"/>
          </p:cNvGraphicFramePr>
          <p:nvPr/>
        </p:nvGraphicFramePr>
        <p:xfrm>
          <a:off x="6444343" y="1980215"/>
          <a:ext cx="5324322" cy="1962412"/>
        </p:xfrm>
        <a:graphic>
          <a:graphicData uri="http://schemas.openxmlformats.org/drawingml/2006/table">
            <a:tbl>
              <a:tblPr firstRow="1" bandRow="1">
                <a:effectLst/>
                <a:tableStyleId>{5C22544A-7EE6-4342-B048-85BDC9FD1C3A}</a:tableStyleId>
              </a:tblPr>
              <a:tblGrid>
                <a:gridCol w="5324322">
                  <a:extLst>
                    <a:ext uri="{9D8B030D-6E8A-4147-A177-3AD203B41FA5}">
                      <a16:colId xmlns:a16="http://schemas.microsoft.com/office/drawing/2014/main" val="4252500059"/>
                    </a:ext>
                  </a:extLst>
                </a:gridCol>
              </a:tblGrid>
              <a:tr h="210055">
                <a:tc>
                  <a:txBody>
                    <a:bodyPr/>
                    <a:lstStyle/>
                    <a:p>
                      <a:pPr lvl="0"/>
                      <a:r>
                        <a:rPr lang="en-GB" sz="1200"/>
                        <a:t>Out of Scope External Test Functionality</a:t>
                      </a:r>
                    </a:p>
                  </a:txBody>
                  <a:tcPr anchor="ctr">
                    <a:lnR w="57150" cap="flat" cmpd="sng" algn="ctr">
                      <a:solidFill>
                        <a:srgbClr val="FFFFFF"/>
                      </a:solidFill>
                      <a:prstDash val="solid"/>
                      <a:round/>
                      <a:headEnd type="none" w="med" len="med"/>
                      <a:tailEnd type="none" w="med" len="med"/>
                    </a:lnR>
                    <a:solidFill>
                      <a:srgbClr val="7030A0"/>
                    </a:solidFill>
                  </a:tcPr>
                </a:tc>
                <a:extLst>
                  <a:ext uri="{0D108BD9-81ED-4DB2-BD59-A6C34878D82A}">
                    <a16:rowId xmlns:a16="http://schemas.microsoft.com/office/drawing/2014/main" val="2449087779"/>
                  </a:ext>
                </a:extLst>
              </a:tr>
              <a:tr h="1688092">
                <a:tc>
                  <a:txBody>
                    <a:bodyPr/>
                    <a:lstStyle/>
                    <a:p>
                      <a:pPr marL="0" marR="0" lvl="0" indent="0" algn="l" defTabSz="914400" rtl="0" fontAlgn="auto" hangingPunct="1">
                        <a:lnSpc>
                          <a:spcPct val="100000"/>
                        </a:lnSpc>
                        <a:spcBef>
                          <a:spcPts val="0"/>
                        </a:spcBef>
                        <a:spcAft>
                          <a:spcPts val="0"/>
                        </a:spcAft>
                        <a:buNone/>
                        <a:tabLst/>
                      </a:pPr>
                      <a:r>
                        <a:rPr lang="en-GB" sz="1200" b="1" dirty="0">
                          <a:solidFill>
                            <a:schemeClr val="tx1"/>
                          </a:solidFill>
                        </a:rPr>
                        <a:t>Where a declaration is arrived via GVMS, neither TT developers nor TDR declarants will be able to fully test E2E scenarios as GVMS is not integrated with the CDS test environment and GVMS functions are not emulated by a test service.</a:t>
                      </a:r>
                      <a:endParaRPr lang="en-GB" sz="1200" dirty="0">
                        <a:solidFill>
                          <a:schemeClr val="tx1"/>
                        </a:solidFill>
                      </a:endParaRPr>
                    </a:p>
                    <a:p>
                      <a:pPr marL="171450" marR="0" lvl="0" indent="-171450" algn="l" defTabSz="914400" rtl="0" fontAlgn="auto" hangingPunct="1">
                        <a:lnSpc>
                          <a:spcPct val="100000"/>
                        </a:lnSpc>
                        <a:spcBef>
                          <a:spcPts val="0"/>
                        </a:spcBef>
                        <a:spcAft>
                          <a:spcPts val="0"/>
                        </a:spcAft>
                        <a:buSzPct val="100000"/>
                        <a:buFont typeface="Calibri" pitchFamily="34"/>
                        <a:buChar char="ꭗ"/>
                        <a:tabLst/>
                      </a:pPr>
                      <a:r>
                        <a:rPr lang="en-GB" sz="1200" dirty="0">
                          <a:solidFill>
                            <a:srgbClr val="000000"/>
                          </a:solidFill>
                        </a:rPr>
                        <a:t>Where an imports/exports pre-lodged or exports arrived declaration is submitted to CDS and is arrived via GVMS at a GVMS location, Users will </a:t>
                      </a:r>
                      <a:r>
                        <a:rPr lang="en-GB" sz="1200" u="sng" dirty="0">
                          <a:solidFill>
                            <a:srgbClr val="000000"/>
                          </a:solidFill>
                        </a:rPr>
                        <a:t>not</a:t>
                      </a:r>
                      <a:r>
                        <a:rPr lang="en-GB" sz="1200" dirty="0">
                          <a:solidFill>
                            <a:srgbClr val="000000"/>
                          </a:solidFill>
                        </a:rPr>
                        <a:t> be able to complete a full journey given that the declaration is pending arrival from GVMS.</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2291317619"/>
                  </a:ext>
                </a:extLst>
              </a:tr>
            </a:tbl>
          </a:graphicData>
        </a:graphic>
      </p:graphicFrame>
      <p:graphicFrame>
        <p:nvGraphicFramePr>
          <p:cNvPr id="22" name="Table 14">
            <a:extLst>
              <a:ext uri="{FF2B5EF4-FFF2-40B4-BE49-F238E27FC236}">
                <a16:creationId xmlns:a16="http://schemas.microsoft.com/office/drawing/2014/main" id="{6075CE9F-18A5-47E1-9C88-70F9CAF87E76}"/>
              </a:ext>
            </a:extLst>
          </p:cNvPr>
          <p:cNvGraphicFramePr>
            <a:graphicFrameLocks noGrp="1"/>
          </p:cNvGraphicFramePr>
          <p:nvPr/>
        </p:nvGraphicFramePr>
        <p:xfrm>
          <a:off x="461360" y="4825252"/>
          <a:ext cx="5823328" cy="1097280"/>
        </p:xfrm>
        <a:graphic>
          <a:graphicData uri="http://schemas.openxmlformats.org/drawingml/2006/table">
            <a:tbl>
              <a:tblPr firstRow="1" bandRow="1">
                <a:effectLst/>
                <a:tableStyleId>{5C22544A-7EE6-4342-B048-85BDC9FD1C3A}</a:tableStyleId>
              </a:tblPr>
              <a:tblGrid>
                <a:gridCol w="2960132">
                  <a:extLst>
                    <a:ext uri="{9D8B030D-6E8A-4147-A177-3AD203B41FA5}">
                      <a16:colId xmlns:a16="http://schemas.microsoft.com/office/drawing/2014/main" val="418648144"/>
                    </a:ext>
                  </a:extLst>
                </a:gridCol>
                <a:gridCol w="2863196">
                  <a:extLst>
                    <a:ext uri="{9D8B030D-6E8A-4147-A177-3AD203B41FA5}">
                      <a16:colId xmlns:a16="http://schemas.microsoft.com/office/drawing/2014/main" val="4111587648"/>
                    </a:ext>
                  </a:extLst>
                </a:gridCol>
              </a:tblGrid>
              <a:tr h="210055">
                <a:tc>
                  <a:txBody>
                    <a:bodyPr/>
                    <a:lstStyle/>
                    <a:p>
                      <a:pPr lvl="0"/>
                      <a:r>
                        <a:rPr lang="en-GB" sz="1200"/>
                        <a:t>External Test Scope</a:t>
                      </a:r>
                    </a:p>
                  </a:txBody>
                  <a:tcPr anchor="ctr">
                    <a:solidFill>
                      <a:srgbClr val="009999"/>
                    </a:solidFill>
                  </a:tcPr>
                </a:tc>
                <a:tc>
                  <a:txBody>
                    <a:bodyPr/>
                    <a:lstStyle/>
                    <a:p>
                      <a:pPr lvl="0"/>
                      <a:r>
                        <a:rPr lang="en-GB" sz="1200"/>
                        <a:t>Out of Scope External Test Functionality</a:t>
                      </a:r>
                    </a:p>
                  </a:txBody>
                  <a:tcPr anchor="ctr">
                    <a:lnR w="57150" cap="flat" cmpd="sng" algn="ctr">
                      <a:solidFill>
                        <a:srgbClr val="FFFFFF"/>
                      </a:solidFill>
                      <a:prstDash val="solid"/>
                      <a:round/>
                      <a:headEnd type="none" w="med" len="med"/>
                      <a:tailEnd type="none" w="med" len="med"/>
                    </a:lnR>
                    <a:solidFill>
                      <a:srgbClr val="7030A0"/>
                    </a:solidFill>
                  </a:tcPr>
                </a:tc>
                <a:extLst>
                  <a:ext uri="{0D108BD9-81ED-4DB2-BD59-A6C34878D82A}">
                    <a16:rowId xmlns:a16="http://schemas.microsoft.com/office/drawing/2014/main" val="2072701467"/>
                  </a:ext>
                </a:extLst>
              </a:tr>
              <a:tr h="317095">
                <a:tc>
                  <a:txBody>
                    <a:bodyPr/>
                    <a:lstStyle/>
                    <a:p>
                      <a:pPr lvl="0"/>
                      <a:r>
                        <a:rPr lang="en-GB" sz="1200"/>
                        <a:t>TT &amp; TDR supports the ability to submit a declaration with an ARC number declared for excise duty suspended goods. </a:t>
                      </a:r>
                      <a:endParaRPr lang="en-GB" sz="1200">
                        <a:solidFill>
                          <a:srgbClr val="000000"/>
                        </a:solidFill>
                      </a:endParaRP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200" dirty="0"/>
                        <a:t>There will be no functionality in CDS TT &amp; TDR for the departure of an export declaration to trigger the closing of an entry in EMCS. </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633422607"/>
                  </a:ext>
                </a:extLst>
              </a:tr>
            </a:tbl>
          </a:graphicData>
        </a:graphic>
      </p:graphicFrame>
      <p:sp>
        <p:nvSpPr>
          <p:cNvPr id="23" name="Rectangle 4">
            <a:extLst>
              <a:ext uri="{FF2B5EF4-FFF2-40B4-BE49-F238E27FC236}">
                <a16:creationId xmlns:a16="http://schemas.microsoft.com/office/drawing/2014/main" id="{AA2173CE-B511-4611-A015-C4ECD85D2AA4}"/>
              </a:ext>
            </a:extLst>
          </p:cNvPr>
          <p:cNvSpPr/>
          <p:nvPr/>
        </p:nvSpPr>
        <p:spPr>
          <a:xfrm>
            <a:off x="387431" y="4504873"/>
            <a:ext cx="69697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2. Closing an EMCS Entry in Exports</a:t>
            </a:r>
            <a:endParaRPr lang="en-GB" sz="1050" b="1" i="0" u="none" strike="noStrike" kern="1200" cap="none" spc="0" baseline="0">
              <a:solidFill>
                <a:srgbClr val="000000"/>
              </a:solidFill>
              <a:uFillTx/>
              <a:latin typeface="Calibri"/>
            </a:endParaRPr>
          </a:p>
        </p:txBody>
      </p:sp>
      <p:sp>
        <p:nvSpPr>
          <p:cNvPr id="24" name="Rectangle 4">
            <a:extLst>
              <a:ext uri="{FF2B5EF4-FFF2-40B4-BE49-F238E27FC236}">
                <a16:creationId xmlns:a16="http://schemas.microsoft.com/office/drawing/2014/main" id="{A0B40AB3-9DD7-4D86-8EB7-72696ED31748}"/>
              </a:ext>
            </a:extLst>
          </p:cNvPr>
          <p:cNvSpPr/>
          <p:nvPr/>
        </p:nvSpPr>
        <p:spPr>
          <a:xfrm>
            <a:off x="6374885" y="4501152"/>
            <a:ext cx="5454249"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3. Indirect Exports Functionality</a:t>
            </a:r>
            <a:endParaRPr lang="en-GB" sz="1050" b="1" i="0" u="none" strike="noStrike" kern="1200" cap="none" spc="0" baseline="0">
              <a:solidFill>
                <a:srgbClr val="000000"/>
              </a:solidFill>
              <a:uFillTx/>
              <a:latin typeface="Calibri"/>
            </a:endParaRPr>
          </a:p>
        </p:txBody>
      </p:sp>
      <p:sp>
        <p:nvSpPr>
          <p:cNvPr id="26" name="Oval 43">
            <a:hlinkClick r:id="rId3" action="ppaction://hlinksldjump"/>
            <a:extLst>
              <a:ext uri="{FF2B5EF4-FFF2-40B4-BE49-F238E27FC236}">
                <a16:creationId xmlns:a16="http://schemas.microsoft.com/office/drawing/2014/main" id="{7ED3A66E-7CA0-4C07-B4E1-AE816032C64E}"/>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7" name="Oval 44">
            <a:hlinkClick r:id="rId3" action="ppaction://hlinksldjump"/>
            <a:extLst>
              <a:ext uri="{FF2B5EF4-FFF2-40B4-BE49-F238E27FC236}">
                <a16:creationId xmlns:a16="http://schemas.microsoft.com/office/drawing/2014/main" id="{504C1EA3-A208-4B23-9ADD-CCF7D6C1BFF9}"/>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8" name="Oval 45">
            <a:hlinkClick r:id="" action="ppaction://noaction"/>
            <a:extLst>
              <a:ext uri="{FF2B5EF4-FFF2-40B4-BE49-F238E27FC236}">
                <a16:creationId xmlns:a16="http://schemas.microsoft.com/office/drawing/2014/main" id="{A044FD56-67AD-4EAA-8A99-33C7DA037D4E}"/>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9" name="Oval 46">
            <a:hlinkClick r:id="rId4" action="ppaction://hlinksldjump"/>
            <a:extLst>
              <a:ext uri="{FF2B5EF4-FFF2-40B4-BE49-F238E27FC236}">
                <a16:creationId xmlns:a16="http://schemas.microsoft.com/office/drawing/2014/main" id="{0CA68219-42C4-4745-B969-1043576BCD8E}"/>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0" name="TextBox 47">
            <a:hlinkClick r:id="rId3" action="ppaction://hlinksldjump"/>
            <a:extLst>
              <a:ext uri="{FF2B5EF4-FFF2-40B4-BE49-F238E27FC236}">
                <a16:creationId xmlns:a16="http://schemas.microsoft.com/office/drawing/2014/main" id="{01FF2D5C-8D1B-4D63-8A87-CD1A364E0E8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31" name="TextBox 48">
            <a:hlinkClick r:id="rId3" action="ppaction://hlinksldjump"/>
            <a:extLst>
              <a:ext uri="{FF2B5EF4-FFF2-40B4-BE49-F238E27FC236}">
                <a16:creationId xmlns:a16="http://schemas.microsoft.com/office/drawing/2014/main" id="{0A86F55E-3275-4378-8A72-84E9EA670C4F}"/>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32" name="TextBox 50">
            <a:hlinkClick r:id="" action="ppaction://noaction"/>
            <a:extLst>
              <a:ext uri="{FF2B5EF4-FFF2-40B4-BE49-F238E27FC236}">
                <a16:creationId xmlns:a16="http://schemas.microsoft.com/office/drawing/2014/main" id="{1C5AD956-D9C1-4A30-9377-174C4037AE16}"/>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33" name="TextBox 51">
            <a:hlinkClick r:id="" action="ppaction://noaction"/>
            <a:extLst>
              <a:ext uri="{FF2B5EF4-FFF2-40B4-BE49-F238E27FC236}">
                <a16:creationId xmlns:a16="http://schemas.microsoft.com/office/drawing/2014/main" id="{1D8CB407-473B-4D9B-A9B0-9E928763E930}"/>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34" name="Oval 52">
            <a:extLst>
              <a:ext uri="{FF2B5EF4-FFF2-40B4-BE49-F238E27FC236}">
                <a16:creationId xmlns:a16="http://schemas.microsoft.com/office/drawing/2014/main" id="{0EBE0D1A-6562-4BEF-8313-CEC778FDAEB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35" name="TextBox 53">
            <a:hlinkClick r:id="" action="ppaction://noaction"/>
            <a:extLst>
              <a:ext uri="{FF2B5EF4-FFF2-40B4-BE49-F238E27FC236}">
                <a16:creationId xmlns:a16="http://schemas.microsoft.com/office/drawing/2014/main" id="{74428C9F-0E47-4C1B-8AED-86CAE7A41ABE}"/>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36" name="Picture 40">
            <a:hlinkClick r:id="rId3" action="ppaction://hlinksldjump"/>
            <a:extLst>
              <a:ext uri="{FF2B5EF4-FFF2-40B4-BE49-F238E27FC236}">
                <a16:creationId xmlns:a16="http://schemas.microsoft.com/office/drawing/2014/main" id="{2C571D3F-BDDE-4BF7-8053-8F43F6A3C69D}"/>
              </a:ext>
            </a:extLst>
          </p:cNvPr>
          <p:cNvPicPr>
            <a:picLocks noChangeAspect="1"/>
          </p:cNvPicPr>
          <p:nvPr/>
        </p:nvPicPr>
        <p:blipFill>
          <a:blip r:embed="rId5">
            <a:alphaModFix amt="35000"/>
          </a:blip>
          <a:srcRect l="20606" t="21077" r="21527" b="31021"/>
          <a:stretch>
            <a:fillRect/>
          </a:stretch>
        </p:blipFill>
        <p:spPr>
          <a:xfrm>
            <a:off x="10028188" y="272070"/>
            <a:ext cx="256918" cy="210595"/>
          </a:xfrm>
          <a:prstGeom prst="rect">
            <a:avLst/>
          </a:prstGeom>
          <a:noFill/>
          <a:ln cap="flat">
            <a:noFill/>
          </a:ln>
        </p:spPr>
      </p:pic>
      <p:sp>
        <p:nvSpPr>
          <p:cNvPr id="37" name="Oval 55">
            <a:hlinkClick r:id="rId3" action="ppaction://hlinksldjump"/>
            <a:extLst>
              <a:ext uri="{FF2B5EF4-FFF2-40B4-BE49-F238E27FC236}">
                <a16:creationId xmlns:a16="http://schemas.microsoft.com/office/drawing/2014/main" id="{CF92EBEE-6955-4905-8FE5-A298FA7CD6C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graphicFrame>
        <p:nvGraphicFramePr>
          <p:cNvPr id="38" name="Table 14">
            <a:extLst>
              <a:ext uri="{FF2B5EF4-FFF2-40B4-BE49-F238E27FC236}">
                <a16:creationId xmlns:a16="http://schemas.microsoft.com/office/drawing/2014/main" id="{14C14997-6A10-48D1-A11A-07D13E5CCD7E}"/>
              </a:ext>
            </a:extLst>
          </p:cNvPr>
          <p:cNvGraphicFramePr>
            <a:graphicFrameLocks noGrp="1"/>
          </p:cNvGraphicFramePr>
          <p:nvPr/>
        </p:nvGraphicFramePr>
        <p:xfrm>
          <a:off x="6444343" y="4804558"/>
          <a:ext cx="5286297" cy="1280160"/>
        </p:xfrm>
        <a:graphic>
          <a:graphicData uri="http://schemas.openxmlformats.org/drawingml/2006/table">
            <a:tbl>
              <a:tblPr firstRow="1" bandRow="1">
                <a:effectLst/>
                <a:tableStyleId>{5C22544A-7EE6-4342-B048-85BDC9FD1C3A}</a:tableStyleId>
              </a:tblPr>
              <a:tblGrid>
                <a:gridCol w="1792359">
                  <a:extLst>
                    <a:ext uri="{9D8B030D-6E8A-4147-A177-3AD203B41FA5}">
                      <a16:colId xmlns:a16="http://schemas.microsoft.com/office/drawing/2014/main" val="418648144"/>
                    </a:ext>
                  </a:extLst>
                </a:gridCol>
                <a:gridCol w="3493938">
                  <a:extLst>
                    <a:ext uri="{9D8B030D-6E8A-4147-A177-3AD203B41FA5}">
                      <a16:colId xmlns:a16="http://schemas.microsoft.com/office/drawing/2014/main" val="4111587648"/>
                    </a:ext>
                  </a:extLst>
                </a:gridCol>
              </a:tblGrid>
              <a:tr h="210055">
                <a:tc>
                  <a:txBody>
                    <a:bodyPr/>
                    <a:lstStyle/>
                    <a:p>
                      <a:pPr lvl="0"/>
                      <a:r>
                        <a:rPr lang="en-GB" sz="1200"/>
                        <a:t>External Test Scope</a:t>
                      </a:r>
                    </a:p>
                  </a:txBody>
                  <a:tcPr anchor="ctr">
                    <a:solidFill>
                      <a:srgbClr val="009999"/>
                    </a:solidFill>
                  </a:tcPr>
                </a:tc>
                <a:tc>
                  <a:txBody>
                    <a:bodyPr/>
                    <a:lstStyle/>
                    <a:p>
                      <a:pPr lvl="0"/>
                      <a:r>
                        <a:rPr lang="en-GB" sz="1200"/>
                        <a:t>Out of Scope External Test Functionality</a:t>
                      </a:r>
                    </a:p>
                  </a:txBody>
                  <a:tcPr anchor="ctr">
                    <a:lnR w="57150" cap="flat" cmpd="sng" algn="ctr">
                      <a:solidFill>
                        <a:srgbClr val="FFFFFF"/>
                      </a:solidFill>
                      <a:prstDash val="solid"/>
                      <a:round/>
                      <a:headEnd type="none" w="med" len="med"/>
                      <a:tailEnd type="none" w="med" len="med"/>
                    </a:lnR>
                    <a:solidFill>
                      <a:srgbClr val="7030A0"/>
                    </a:solidFill>
                  </a:tcPr>
                </a:tc>
                <a:extLst>
                  <a:ext uri="{0D108BD9-81ED-4DB2-BD59-A6C34878D82A}">
                    <a16:rowId xmlns:a16="http://schemas.microsoft.com/office/drawing/2014/main" val="2072701467"/>
                  </a:ext>
                </a:extLst>
              </a:tr>
              <a:tr h="317095">
                <a:tc>
                  <a:txBody>
                    <a:bodyPr/>
                    <a:lstStyle/>
                    <a:p>
                      <a:pPr lvl="0"/>
                      <a:r>
                        <a:rPr lang="en-GB" sz="1200" dirty="0"/>
                        <a:t>Indirect export declarations can be submitted on CDS TT &amp; TDR</a:t>
                      </a:r>
                      <a:endParaRPr lang="en-GB" sz="1200" dirty="0">
                        <a:solidFill>
                          <a:srgbClr val="000000"/>
                        </a:solidFill>
                      </a:endParaRPr>
                    </a:p>
                  </a:txBody>
                  <a:tcPr>
                    <a:solidFill>
                      <a:srgbClr val="F2F2F2"/>
                    </a:solidFill>
                  </a:tcPr>
                </a:tc>
                <a:tc>
                  <a:txBody>
                    <a:bodyPr/>
                    <a:lstStyle/>
                    <a:p>
                      <a:pPr lvl="0"/>
                      <a:r>
                        <a:rPr lang="en-GB" sz="1200" dirty="0"/>
                        <a:t>E2E Indirect Exports declarations will not be included in TT or TDR as the full end to end journey relies on EU systems interaction. it is not currently possible to exit the goods via another member state in TT and TDR.</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633422607"/>
                  </a:ext>
                </a:extLst>
              </a:tr>
            </a:tbl>
          </a:graphicData>
        </a:graphic>
      </p:graphicFrame>
    </p:spTree>
    <p:extLst>
      <p:ext uri="{BB962C8B-B14F-4D97-AF65-F5344CB8AC3E}">
        <p14:creationId xmlns:p14="http://schemas.microsoft.com/office/powerpoint/2010/main" val="1695240476"/>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Straight Connector 12">
            <a:extLst>
              <a:ext uri="{FF2B5EF4-FFF2-40B4-BE49-F238E27FC236}">
                <a16:creationId xmlns:a16="http://schemas.microsoft.com/office/drawing/2014/main" id="{61C69F2A-3B35-4ECF-8EFB-67262DC22779}"/>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5" name="TextBox 13">
            <a:extLst>
              <a:ext uri="{FF2B5EF4-FFF2-40B4-BE49-F238E27FC236}">
                <a16:creationId xmlns:a16="http://schemas.microsoft.com/office/drawing/2014/main" id="{C7081368-7DC5-49A7-928C-BC2BBFDEA982}"/>
              </a:ext>
            </a:extLst>
          </p:cNvPr>
          <p:cNvSpPr txBox="1"/>
          <p:nvPr/>
        </p:nvSpPr>
        <p:spPr>
          <a:xfrm>
            <a:off x="391280" y="261225"/>
            <a:ext cx="512973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OUT OF SCOPE FUNCTIONALITY</a:t>
            </a:r>
          </a:p>
        </p:txBody>
      </p:sp>
      <p:sp>
        <p:nvSpPr>
          <p:cNvPr id="6" name="Rectangle 4">
            <a:extLst>
              <a:ext uri="{FF2B5EF4-FFF2-40B4-BE49-F238E27FC236}">
                <a16:creationId xmlns:a16="http://schemas.microsoft.com/office/drawing/2014/main" id="{E217A21D-044A-42E0-B413-866D53466A4F}"/>
              </a:ext>
            </a:extLst>
          </p:cNvPr>
          <p:cNvSpPr/>
          <p:nvPr/>
        </p:nvSpPr>
        <p:spPr>
          <a:xfrm>
            <a:off x="391280" y="793973"/>
            <a:ext cx="7894304" cy="400110"/>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0" cap="none" spc="0" baseline="0" dirty="0">
                <a:solidFill>
                  <a:srgbClr val="000000"/>
                </a:solidFill>
                <a:uFillTx/>
                <a:latin typeface="Calibri"/>
              </a:rPr>
              <a:t>Notable Out of Scope Trade Test Functionality  </a:t>
            </a:r>
            <a:endParaRPr lang="en-GB" sz="1400" b="1" i="0" u="none" strike="noStrike" kern="1200" cap="none" spc="0" baseline="0" dirty="0">
              <a:solidFill>
                <a:srgbClr val="000000"/>
              </a:solidFill>
              <a:uFillTx/>
              <a:latin typeface="Calibri"/>
            </a:endParaRPr>
          </a:p>
        </p:txBody>
      </p:sp>
      <p:sp>
        <p:nvSpPr>
          <p:cNvPr id="8" name="Slide Number Placeholder 5">
            <a:extLst>
              <a:ext uri="{FF2B5EF4-FFF2-40B4-BE49-F238E27FC236}">
                <a16:creationId xmlns:a16="http://schemas.microsoft.com/office/drawing/2014/main" id="{7EE67DE1-EB51-4037-84E8-4DF1D7AFA76A}"/>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9ECBB94-5916-4991-8D3A-4BEEA623D736}" type="slidenum">
              <a:rPr sz="1200"/>
              <a:t>440</a:t>
            </a:fld>
            <a:endParaRPr lang="en-GB" sz="1200" b="0" i="0" u="none" strike="noStrike" kern="1200" cap="none" spc="0" baseline="0">
              <a:solidFill>
                <a:srgbClr val="000000"/>
              </a:solidFill>
              <a:uFillTx/>
              <a:latin typeface="Calibri"/>
            </a:endParaRPr>
          </a:p>
        </p:txBody>
      </p:sp>
      <p:sp>
        <p:nvSpPr>
          <p:cNvPr id="9" name="Rectangle 4">
            <a:extLst>
              <a:ext uri="{FF2B5EF4-FFF2-40B4-BE49-F238E27FC236}">
                <a16:creationId xmlns:a16="http://schemas.microsoft.com/office/drawing/2014/main" id="{9D699B91-0767-4B85-ADCB-EA358F305383}"/>
              </a:ext>
            </a:extLst>
          </p:cNvPr>
          <p:cNvSpPr/>
          <p:nvPr/>
        </p:nvSpPr>
        <p:spPr>
          <a:xfrm>
            <a:off x="391280" y="1241362"/>
            <a:ext cx="69697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4. Paper Licences</a:t>
            </a:r>
            <a:endParaRPr lang="en-GB" sz="1050" b="1" i="0" u="none" strike="noStrike" kern="1200" cap="none" spc="0" baseline="0">
              <a:solidFill>
                <a:srgbClr val="000000"/>
              </a:solidFill>
              <a:uFillTx/>
              <a:latin typeface="Calibri"/>
            </a:endParaRPr>
          </a:p>
        </p:txBody>
      </p:sp>
      <p:graphicFrame>
        <p:nvGraphicFramePr>
          <p:cNvPr id="10" name="Table 4">
            <a:extLst>
              <a:ext uri="{FF2B5EF4-FFF2-40B4-BE49-F238E27FC236}">
                <a16:creationId xmlns:a16="http://schemas.microsoft.com/office/drawing/2014/main" id="{5576B172-B2FE-466B-A7F7-5A401CEA972C}"/>
              </a:ext>
            </a:extLst>
          </p:cNvPr>
          <p:cNvGraphicFramePr>
            <a:graphicFrameLocks noGrp="1"/>
          </p:cNvGraphicFramePr>
          <p:nvPr/>
        </p:nvGraphicFramePr>
        <p:xfrm>
          <a:off x="3526109" y="1545454"/>
          <a:ext cx="8094387" cy="1828673"/>
        </p:xfrm>
        <a:graphic>
          <a:graphicData uri="http://schemas.openxmlformats.org/drawingml/2006/table">
            <a:tbl>
              <a:tblPr firstRow="1" bandRow="1">
                <a:effectLst/>
                <a:tableStyleId>{5C22544A-7EE6-4342-B048-85BDC9FD1C3A}</a:tableStyleId>
              </a:tblPr>
              <a:tblGrid>
                <a:gridCol w="8094387">
                  <a:extLst>
                    <a:ext uri="{9D8B030D-6E8A-4147-A177-3AD203B41FA5}">
                      <a16:colId xmlns:a16="http://schemas.microsoft.com/office/drawing/2014/main" val="2324711107"/>
                    </a:ext>
                  </a:extLst>
                </a:gridCol>
              </a:tblGrid>
              <a:tr h="210055">
                <a:tc>
                  <a:txBody>
                    <a:bodyPr/>
                    <a:lstStyle/>
                    <a:p>
                      <a:pPr lvl="0"/>
                      <a:r>
                        <a:rPr lang="en-GB" sz="1200"/>
                        <a:t>Out of Scope External Test Functionality</a:t>
                      </a:r>
                    </a:p>
                  </a:txBody>
                  <a:tcPr anchor="ctr">
                    <a:lnR w="57150" cap="flat" cmpd="sng" algn="ctr">
                      <a:solidFill>
                        <a:srgbClr val="FFFFFF"/>
                      </a:solidFill>
                      <a:prstDash val="solid"/>
                      <a:round/>
                      <a:headEnd type="none" w="med" len="med"/>
                      <a:tailEnd type="none" w="med" len="med"/>
                    </a:lnR>
                    <a:solidFill>
                      <a:srgbClr val="7030A0"/>
                    </a:solidFill>
                  </a:tcPr>
                </a:tc>
                <a:extLst>
                  <a:ext uri="{0D108BD9-81ED-4DB2-BD59-A6C34878D82A}">
                    <a16:rowId xmlns:a16="http://schemas.microsoft.com/office/drawing/2014/main" val="1267368317"/>
                  </a:ext>
                </a:extLst>
              </a:tr>
              <a:tr h="317095">
                <a:tc>
                  <a:txBody>
                    <a:bodyPr/>
                    <a:lstStyle/>
                    <a:p>
                      <a:pPr lvl="0">
                        <a:lnSpc>
                          <a:spcPct val="107000"/>
                        </a:lnSpc>
                        <a:spcAft>
                          <a:spcPts val="800"/>
                        </a:spcAft>
                      </a:pPr>
                      <a:r>
                        <a:rPr lang="en-GB" sz="1200" dirty="0">
                          <a:latin typeface="Calibri" pitchFamily="34"/>
                          <a:ea typeface="Calibri" pitchFamily="34"/>
                          <a:cs typeface="Times New Roman" pitchFamily="18"/>
                        </a:rPr>
                        <a:t>Due to the nature of the TT &amp; TDR services, documentary review for paper licenses is handled in the same way as other documentary controls. To trigger a notification for a document request (DMSDOC), please enter the appropriate </a:t>
                      </a:r>
                      <a:r>
                        <a:rPr lang="en-GB" sz="1200" dirty="0">
                          <a:latin typeface="Calibri" pitchFamily="34"/>
                          <a:ea typeface="Calibri" pitchFamily="34"/>
                          <a:cs typeface="Times New Roman" pitchFamily="18"/>
                          <a:hlinkClick r:id="" action="ppaction://noaction"/>
                        </a:rPr>
                        <a:t>"trigger word"</a:t>
                      </a:r>
                      <a:r>
                        <a:rPr lang="en-GB" sz="1200" dirty="0">
                          <a:latin typeface="Calibri" pitchFamily="34"/>
                          <a:ea typeface="Calibri" pitchFamily="34"/>
                          <a:cs typeface="Times New Roman" pitchFamily="18"/>
                        </a:rPr>
                        <a:t> in the goods description on the declaration. </a:t>
                      </a:r>
                      <a:r>
                        <a:rPr lang="en-GB" sz="1200" dirty="0"/>
                        <a:t>No documents will be uploaded by the declarant for validation by HMRC in TT or TDR. Validation of paper licenses is not in scope for this phase of CDS TT and TDR.</a:t>
                      </a:r>
                      <a:endParaRPr lang="en-GB" sz="1200" dirty="0">
                        <a:latin typeface="Calibri" pitchFamily="34"/>
                        <a:ea typeface="Calibri" pitchFamily="34"/>
                        <a:cs typeface="Times New Roman" pitchFamily="18"/>
                      </a:endParaRPr>
                    </a:p>
                    <a:p>
                      <a:pPr lvl="0">
                        <a:lnSpc>
                          <a:spcPct val="107000"/>
                        </a:lnSpc>
                        <a:spcAft>
                          <a:spcPts val="800"/>
                        </a:spcAft>
                      </a:pPr>
                      <a:r>
                        <a:rPr lang="en-GB" sz="1200" dirty="0">
                          <a:latin typeface="Calibri" pitchFamily="34"/>
                          <a:ea typeface="Calibri" pitchFamily="34"/>
                          <a:cs typeface="Times New Roman" pitchFamily="18"/>
                        </a:rPr>
                        <a:t>In the TT and TDR environments, the controls simulator will respond automatically as if the document was reviewed, regardless of whether any documents are uploaded to the File Upload API endpoint. If you do not deliberately trigger the documentary check, then your declaration with a paper licence will always be accepted in TT and TDR.</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25061689"/>
                  </a:ext>
                </a:extLst>
              </a:tr>
            </a:tbl>
          </a:graphicData>
        </a:graphic>
      </p:graphicFrame>
      <p:graphicFrame>
        <p:nvGraphicFramePr>
          <p:cNvPr id="11" name="Table 7">
            <a:extLst>
              <a:ext uri="{FF2B5EF4-FFF2-40B4-BE49-F238E27FC236}">
                <a16:creationId xmlns:a16="http://schemas.microsoft.com/office/drawing/2014/main" id="{CFC98B6C-2552-46D0-B1C9-4E3126AFAD5D}"/>
              </a:ext>
            </a:extLst>
          </p:cNvPr>
          <p:cNvGraphicFramePr>
            <a:graphicFrameLocks noGrp="1"/>
          </p:cNvGraphicFramePr>
          <p:nvPr/>
        </p:nvGraphicFramePr>
        <p:xfrm>
          <a:off x="467294" y="1544439"/>
          <a:ext cx="3020711" cy="1828673"/>
        </p:xfrm>
        <a:graphic>
          <a:graphicData uri="http://schemas.openxmlformats.org/drawingml/2006/table">
            <a:tbl>
              <a:tblPr firstRow="1" bandRow="1">
                <a:effectLst/>
                <a:tableStyleId>{5C22544A-7EE6-4342-B048-85BDC9FD1C3A}</a:tableStyleId>
              </a:tblPr>
              <a:tblGrid>
                <a:gridCol w="3020711">
                  <a:extLst>
                    <a:ext uri="{9D8B030D-6E8A-4147-A177-3AD203B41FA5}">
                      <a16:colId xmlns:a16="http://schemas.microsoft.com/office/drawing/2014/main" val="3518487522"/>
                    </a:ext>
                  </a:extLst>
                </a:gridCol>
              </a:tblGrid>
              <a:tr h="210055">
                <a:tc>
                  <a:txBody>
                    <a:bodyPr/>
                    <a:lstStyle/>
                    <a:p>
                      <a:pPr lvl="0"/>
                      <a:r>
                        <a:rPr lang="en-GB" sz="1200"/>
                        <a:t>External Test Scope</a:t>
                      </a:r>
                    </a:p>
                  </a:txBody>
                  <a:tcPr anchor="ctr">
                    <a:solidFill>
                      <a:srgbClr val="009999"/>
                    </a:solidFill>
                  </a:tcPr>
                </a:tc>
                <a:extLst>
                  <a:ext uri="{0D108BD9-81ED-4DB2-BD59-A6C34878D82A}">
                    <a16:rowId xmlns:a16="http://schemas.microsoft.com/office/drawing/2014/main" val="3839813562"/>
                  </a:ext>
                </a:extLst>
              </a:tr>
              <a:tr h="317095">
                <a:tc>
                  <a:txBody>
                    <a:bodyPr/>
                    <a:lstStyle/>
                    <a:p>
                      <a:pPr lvl="0">
                        <a:lnSpc>
                          <a:spcPct val="107000"/>
                        </a:lnSpc>
                        <a:spcAft>
                          <a:spcPts val="800"/>
                        </a:spcAft>
                      </a:pPr>
                      <a:r>
                        <a:rPr lang="en-GB" sz="1200" dirty="0">
                          <a:latin typeface="Calibri" pitchFamily="34"/>
                          <a:ea typeface="Calibri" pitchFamily="34"/>
                          <a:cs typeface="Times New Roman" pitchFamily="18"/>
                        </a:rPr>
                        <a:t>Paper license scenarios can be tested in TT &amp; TDR by entering a Document Status Code (D.E. 2/3) that indicates a paper license against a licence ID (D.E. 2/3).</a:t>
                      </a:r>
                    </a:p>
                    <a:p>
                      <a:pPr lvl="0">
                        <a:lnSpc>
                          <a:spcPct val="107000"/>
                        </a:lnSpc>
                        <a:spcAft>
                          <a:spcPts val="800"/>
                        </a:spcAft>
                      </a:pPr>
                      <a:r>
                        <a:rPr lang="en-GB" sz="1200" dirty="0">
                          <a:latin typeface="Calibri" pitchFamily="34"/>
                          <a:ea typeface="Calibri" pitchFamily="34"/>
                          <a:cs typeface="Times New Roman" pitchFamily="18"/>
                        </a:rPr>
                        <a:t>The Document Status Codes (D.E. 2/3) for paper licences are: AP, AS, AE, JA, UP, US, UE and UA. </a:t>
                      </a:r>
                    </a:p>
                  </a:txBody>
                  <a:tcPr>
                    <a:solidFill>
                      <a:srgbClr val="F2F2F2"/>
                    </a:solidFill>
                  </a:tcPr>
                </a:tc>
                <a:extLst>
                  <a:ext uri="{0D108BD9-81ED-4DB2-BD59-A6C34878D82A}">
                    <a16:rowId xmlns:a16="http://schemas.microsoft.com/office/drawing/2014/main" val="3237989136"/>
                  </a:ext>
                </a:extLst>
              </a:tr>
            </a:tbl>
          </a:graphicData>
        </a:graphic>
      </p:graphicFrame>
      <p:sp>
        <p:nvSpPr>
          <p:cNvPr id="12" name="Rectangle 4">
            <a:extLst>
              <a:ext uri="{FF2B5EF4-FFF2-40B4-BE49-F238E27FC236}">
                <a16:creationId xmlns:a16="http://schemas.microsoft.com/office/drawing/2014/main" id="{AE9E43F6-0222-4BA3-9C28-96B758BCB27C}"/>
              </a:ext>
            </a:extLst>
          </p:cNvPr>
          <p:cNvSpPr/>
          <p:nvPr/>
        </p:nvSpPr>
        <p:spPr>
          <a:xfrm>
            <a:off x="391280" y="3579345"/>
            <a:ext cx="6969703"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5. Other Notable Out of Scope Areas</a:t>
            </a:r>
            <a:endParaRPr lang="en-GB" sz="1050" b="1" i="0" u="none" strike="noStrike" kern="1200" cap="none" spc="0" baseline="0">
              <a:solidFill>
                <a:srgbClr val="000000"/>
              </a:solidFill>
              <a:uFillTx/>
              <a:latin typeface="Calibri"/>
            </a:endParaRPr>
          </a:p>
        </p:txBody>
      </p:sp>
      <p:graphicFrame>
        <p:nvGraphicFramePr>
          <p:cNvPr id="13" name="Table 52">
            <a:extLst>
              <a:ext uri="{FF2B5EF4-FFF2-40B4-BE49-F238E27FC236}">
                <a16:creationId xmlns:a16="http://schemas.microsoft.com/office/drawing/2014/main" id="{1C3366F4-987D-4EE4-8C10-E26FECDC69D3}"/>
              </a:ext>
            </a:extLst>
          </p:cNvPr>
          <p:cNvGraphicFramePr>
            <a:graphicFrameLocks noGrp="1"/>
          </p:cNvGraphicFramePr>
          <p:nvPr/>
        </p:nvGraphicFramePr>
        <p:xfrm>
          <a:off x="110962" y="3847337"/>
          <a:ext cx="11970072" cy="2392280"/>
        </p:xfrm>
        <a:graphic>
          <a:graphicData uri="http://schemas.openxmlformats.org/drawingml/2006/table">
            <a:tbl>
              <a:tblPr firstRow="1" bandRow="1">
                <a:effectLst/>
                <a:tableStyleId>{5C22544A-7EE6-4342-B048-85BDC9FD1C3A}</a:tableStyleId>
              </a:tblPr>
              <a:tblGrid>
                <a:gridCol w="11970072">
                  <a:extLst>
                    <a:ext uri="{9D8B030D-6E8A-4147-A177-3AD203B41FA5}">
                      <a16:colId xmlns:a16="http://schemas.microsoft.com/office/drawing/2014/main" val="1174663159"/>
                    </a:ext>
                  </a:extLst>
                </a:gridCol>
              </a:tblGrid>
              <a:tr h="236774">
                <a:tc>
                  <a:txBody>
                    <a:bodyPr/>
                    <a:lstStyle/>
                    <a:p>
                      <a:pPr lvl="0"/>
                      <a:r>
                        <a:rPr lang="en-GB" sz="1200"/>
                        <a:t>Out of Scope TT and TDR Functionality</a:t>
                      </a:r>
                    </a:p>
                  </a:txBody>
                  <a:tcPr anchor="ctr">
                    <a:lnR w="57150" cap="flat" cmpd="sng" algn="ctr">
                      <a:solidFill>
                        <a:srgbClr val="FFFFFF"/>
                      </a:solidFill>
                      <a:prstDash val="solid"/>
                      <a:round/>
                      <a:headEnd type="none" w="med" len="med"/>
                      <a:tailEnd type="none" w="med" len="med"/>
                    </a:lnR>
                    <a:solidFill>
                      <a:srgbClr val="7030A0"/>
                    </a:solidFill>
                  </a:tcPr>
                </a:tc>
                <a:extLst>
                  <a:ext uri="{0D108BD9-81ED-4DB2-BD59-A6C34878D82A}">
                    <a16:rowId xmlns:a16="http://schemas.microsoft.com/office/drawing/2014/main" val="2181626456"/>
                  </a:ext>
                </a:extLst>
              </a:tr>
              <a:tr h="2117960">
                <a:tc>
                  <a:txBody>
                    <a:bodyPr/>
                    <a:lstStyle/>
                    <a:p>
                      <a:pPr marL="171450" marR="0" lvl="0" indent="-171450" algn="l" defTabSz="914400" rtl="0" fontAlgn="auto" hangingPunct="1">
                        <a:lnSpc>
                          <a:spcPct val="107000"/>
                        </a:lnSpc>
                        <a:spcBef>
                          <a:spcPts val="0"/>
                        </a:spcBef>
                        <a:spcAft>
                          <a:spcPts val="800"/>
                        </a:spcAft>
                        <a:buSzPct val="100000"/>
                        <a:buFont typeface="Arial" pitchFamily="34"/>
                        <a:buChar char="•"/>
                        <a:tabLst/>
                      </a:pPr>
                      <a:r>
                        <a:rPr lang="en-GB" sz="1200" dirty="0">
                          <a:latin typeface="Calibri" pitchFamily="34"/>
                          <a:ea typeface="Calibri" pitchFamily="34"/>
                          <a:cs typeface="Times New Roman" pitchFamily="18"/>
                        </a:rPr>
                        <a:t>Any registration and subscription functionality.</a:t>
                      </a:r>
                    </a:p>
                    <a:p>
                      <a:pPr marL="171450" lvl="0" indent="-171450">
                        <a:lnSpc>
                          <a:spcPct val="107000"/>
                        </a:lnSpc>
                        <a:spcAft>
                          <a:spcPts val="800"/>
                        </a:spcAft>
                        <a:buSzPct val="100000"/>
                        <a:buFont typeface="Arial" pitchFamily="34"/>
                        <a:buChar char="•"/>
                      </a:pPr>
                      <a:r>
                        <a:rPr lang="en-GB" sz="1200" dirty="0">
                          <a:solidFill>
                            <a:srgbClr val="000000"/>
                          </a:solidFill>
                          <a:latin typeface="Calibri" pitchFamily="34"/>
                          <a:ea typeface="Calibri" pitchFamily="34"/>
                          <a:cs typeface="Times New Roman" pitchFamily="18"/>
                        </a:rPr>
                        <a:t>CAP scenarios for exports. </a:t>
                      </a:r>
                    </a:p>
                    <a:p>
                      <a:pPr marL="171450" lvl="0" indent="-171450">
                        <a:lnSpc>
                          <a:spcPct val="107000"/>
                        </a:lnSpc>
                        <a:spcAft>
                          <a:spcPts val="800"/>
                        </a:spcAft>
                        <a:buSzPct val="100000"/>
                        <a:buFont typeface="Arial" pitchFamily="34"/>
                        <a:buChar char="•"/>
                      </a:pPr>
                      <a:r>
                        <a:rPr lang="en-GB" sz="1200" dirty="0">
                          <a:latin typeface="Calibri" pitchFamily="34"/>
                          <a:ea typeface="Calibri" pitchFamily="34"/>
                          <a:cs typeface="Times New Roman" pitchFamily="18"/>
                        </a:rPr>
                        <a:t>Declarant-facing UIs, including those for financial statements and the file upload UI. The Exports UI for declaration and movement message submissions is available in TDR.</a:t>
                      </a:r>
                    </a:p>
                    <a:p>
                      <a:pPr marL="171450" lvl="0" indent="-171450">
                        <a:lnSpc>
                          <a:spcPct val="107000"/>
                        </a:lnSpc>
                        <a:spcAft>
                          <a:spcPts val="800"/>
                        </a:spcAft>
                        <a:buSzPct val="100000"/>
                        <a:buFont typeface="Arial" pitchFamily="34"/>
                        <a:buChar char="•"/>
                      </a:pPr>
                      <a:r>
                        <a:rPr lang="en-GB" sz="1200" dirty="0">
                          <a:latin typeface="Calibri" pitchFamily="34"/>
                          <a:ea typeface="Calibri" pitchFamily="34"/>
                          <a:cs typeface="Times New Roman" pitchFamily="18"/>
                        </a:rPr>
                        <a:t>Due to technical limitations, back-end financial processing, the ability to view account statements, and related financial processes are out of the scope of TT and TDR.</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874132819"/>
                  </a:ext>
                </a:extLst>
              </a:tr>
            </a:tbl>
          </a:graphicData>
        </a:graphic>
      </p:graphicFrame>
      <p:sp>
        <p:nvSpPr>
          <p:cNvPr id="14" name="Oval 24">
            <a:hlinkClick r:id="rId2" action="ppaction://hlinksldjump"/>
            <a:extLst>
              <a:ext uri="{FF2B5EF4-FFF2-40B4-BE49-F238E27FC236}">
                <a16:creationId xmlns:a16="http://schemas.microsoft.com/office/drawing/2014/main" id="{EEC95AA6-E097-431C-9B3B-6A2BD3B5D0C1}"/>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Oval 25">
            <a:hlinkClick r:id="rId2" action="ppaction://hlinksldjump"/>
            <a:extLst>
              <a:ext uri="{FF2B5EF4-FFF2-40B4-BE49-F238E27FC236}">
                <a16:creationId xmlns:a16="http://schemas.microsoft.com/office/drawing/2014/main" id="{BB269E75-4445-4E7E-8429-8701F1BD312C}"/>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26">
            <a:hlinkClick r:id="" action="ppaction://noaction"/>
            <a:extLst>
              <a:ext uri="{FF2B5EF4-FFF2-40B4-BE49-F238E27FC236}">
                <a16:creationId xmlns:a16="http://schemas.microsoft.com/office/drawing/2014/main" id="{1C6227F4-4B45-436F-BF58-2245891B8041}"/>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Oval 42">
            <a:hlinkClick r:id="rId3" action="ppaction://hlinksldjump"/>
            <a:extLst>
              <a:ext uri="{FF2B5EF4-FFF2-40B4-BE49-F238E27FC236}">
                <a16:creationId xmlns:a16="http://schemas.microsoft.com/office/drawing/2014/main" id="{45106AA6-5E64-4BFC-8E9B-9D8BC0A11C04}"/>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43">
            <a:hlinkClick r:id="rId2" action="ppaction://hlinksldjump"/>
            <a:extLst>
              <a:ext uri="{FF2B5EF4-FFF2-40B4-BE49-F238E27FC236}">
                <a16:creationId xmlns:a16="http://schemas.microsoft.com/office/drawing/2014/main" id="{43F9AE0B-1AF9-4B65-B77B-D11B49720653}"/>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44">
            <a:hlinkClick r:id="rId2" action="ppaction://hlinksldjump"/>
            <a:extLst>
              <a:ext uri="{FF2B5EF4-FFF2-40B4-BE49-F238E27FC236}">
                <a16:creationId xmlns:a16="http://schemas.microsoft.com/office/drawing/2014/main" id="{515D2555-7F24-4D80-BCDC-398DEC25ED77}"/>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0" name="TextBox 45">
            <a:hlinkClick r:id="" action="ppaction://noaction"/>
            <a:extLst>
              <a:ext uri="{FF2B5EF4-FFF2-40B4-BE49-F238E27FC236}">
                <a16:creationId xmlns:a16="http://schemas.microsoft.com/office/drawing/2014/main" id="{A1B358AA-DDBB-4564-93A9-09BDA9058F6B}"/>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21" name="TextBox 49">
            <a:hlinkClick r:id="" action="ppaction://noaction"/>
            <a:extLst>
              <a:ext uri="{FF2B5EF4-FFF2-40B4-BE49-F238E27FC236}">
                <a16:creationId xmlns:a16="http://schemas.microsoft.com/office/drawing/2014/main" id="{8E8D8733-E014-4AE0-A482-B4E0C90D211B}"/>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50">
            <a:extLst>
              <a:ext uri="{FF2B5EF4-FFF2-40B4-BE49-F238E27FC236}">
                <a16:creationId xmlns:a16="http://schemas.microsoft.com/office/drawing/2014/main" id="{687BE27B-51B5-4886-B5D5-E283F13D9C6D}"/>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53">
            <a:hlinkClick r:id="" action="ppaction://noaction"/>
            <a:extLst>
              <a:ext uri="{FF2B5EF4-FFF2-40B4-BE49-F238E27FC236}">
                <a16:creationId xmlns:a16="http://schemas.microsoft.com/office/drawing/2014/main" id="{75589876-1637-4864-98E0-DA162158A575}"/>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24" name="Picture 40">
            <a:hlinkClick r:id="rId2" action="ppaction://hlinksldjump"/>
            <a:extLst>
              <a:ext uri="{FF2B5EF4-FFF2-40B4-BE49-F238E27FC236}">
                <a16:creationId xmlns:a16="http://schemas.microsoft.com/office/drawing/2014/main" id="{2D62992D-5BAA-4008-B8C1-26446E91A119}"/>
              </a:ext>
            </a:extLst>
          </p:cNvPr>
          <p:cNvPicPr>
            <a:picLocks noChangeAspect="1"/>
          </p:cNvPicPr>
          <p:nvPr/>
        </p:nvPicPr>
        <p:blipFill>
          <a:blip r:embed="rId4">
            <a:alphaModFix amt="35000"/>
          </a:blip>
          <a:srcRect l="20606" t="21077" r="21527" b="31021"/>
          <a:stretch>
            <a:fillRect/>
          </a:stretch>
        </p:blipFill>
        <p:spPr>
          <a:xfrm>
            <a:off x="10028188" y="272070"/>
            <a:ext cx="256918" cy="210595"/>
          </a:xfrm>
          <a:prstGeom prst="rect">
            <a:avLst/>
          </a:prstGeom>
          <a:noFill/>
          <a:ln cap="flat">
            <a:noFill/>
          </a:ln>
        </p:spPr>
      </p:pic>
      <p:sp>
        <p:nvSpPr>
          <p:cNvPr id="25" name="Oval 55">
            <a:hlinkClick r:id="rId2" action="ppaction://hlinksldjump"/>
            <a:extLst>
              <a:ext uri="{FF2B5EF4-FFF2-40B4-BE49-F238E27FC236}">
                <a16:creationId xmlns:a16="http://schemas.microsoft.com/office/drawing/2014/main" id="{51C584B4-DF6F-4A9A-98B6-E9772B7C018E}"/>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extLst>
      <p:ext uri="{BB962C8B-B14F-4D97-AF65-F5344CB8AC3E}">
        <p14:creationId xmlns:p14="http://schemas.microsoft.com/office/powerpoint/2010/main" val="3726975687"/>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name="Slide838840287">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54BDDC0D-F309-4DAD-8CA6-1B27023B75E0}"/>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D57B9CB8-DD3D-4436-BD6E-35639399B455}"/>
              </a:ext>
            </a:extLst>
          </p:cNvPr>
          <p:cNvSpPr txBox="1"/>
          <p:nvPr/>
        </p:nvSpPr>
        <p:spPr>
          <a:xfrm>
            <a:off x="391280" y="261225"/>
            <a:ext cx="512973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OUT OF SCOPE FUNCTIONALITY</a:t>
            </a:r>
          </a:p>
        </p:txBody>
      </p:sp>
      <p:sp>
        <p:nvSpPr>
          <p:cNvPr id="4" name="Rectangle 14">
            <a:extLst>
              <a:ext uri="{FF2B5EF4-FFF2-40B4-BE49-F238E27FC236}">
                <a16:creationId xmlns:a16="http://schemas.microsoft.com/office/drawing/2014/main" id="{B4159FE2-84A4-45B3-8E48-43AEB5C99C54}"/>
              </a:ext>
            </a:extLst>
          </p:cNvPr>
          <p:cNvSpPr/>
          <p:nvPr/>
        </p:nvSpPr>
        <p:spPr>
          <a:xfrm>
            <a:off x="353369" y="1202975"/>
            <a:ext cx="11505401"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This section highlights notable functionality that is not currently available for use in CDS. This should not be considered a comprehensive list of all functionality that may/may not become available in future and is subject to change. Please note, these are not considered critical for delivery due to the expected </a:t>
            </a:r>
            <a:r>
              <a:rPr lang="en-GB" sz="1200" b="1" i="0" u="none" strike="noStrike" kern="1200" cap="none" spc="0" baseline="0">
                <a:solidFill>
                  <a:srgbClr val="000000"/>
                </a:solidFill>
                <a:uFillTx/>
                <a:latin typeface="Calibri"/>
              </a:rPr>
              <a:t>low declaration volumes</a:t>
            </a:r>
            <a:r>
              <a:rPr lang="en-GB" sz="1200" b="0" i="0" u="none" strike="noStrike" kern="1200" cap="none" spc="0" baseline="0">
                <a:solidFill>
                  <a:srgbClr val="000000"/>
                </a:solidFill>
                <a:uFillTx/>
                <a:latin typeface="Calibri"/>
              </a:rPr>
              <a:t>.</a:t>
            </a:r>
          </a:p>
        </p:txBody>
      </p:sp>
      <p:sp>
        <p:nvSpPr>
          <p:cNvPr id="6" name="Slide Number Placeholder 5">
            <a:extLst>
              <a:ext uri="{FF2B5EF4-FFF2-40B4-BE49-F238E27FC236}">
                <a16:creationId xmlns:a16="http://schemas.microsoft.com/office/drawing/2014/main" id="{6C8DA8D2-EB93-4D9E-A659-9B11F941D18D}"/>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18D5244-FD3D-4D53-9D47-03DF02E41DEE}" type="slidenum">
              <a:rPr sz="1200"/>
              <a:t>441</a:t>
            </a:fld>
            <a:endParaRPr lang="en-GB" sz="1200" b="0"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1497F006-90A7-4807-BA24-701D57B1B0C9}"/>
              </a:ext>
            </a:extLst>
          </p:cNvPr>
          <p:cNvSpPr/>
          <p:nvPr/>
        </p:nvSpPr>
        <p:spPr>
          <a:xfrm>
            <a:off x="353369" y="1659892"/>
            <a:ext cx="5454249"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1. CDS Customs Populations Workarounds </a:t>
            </a:r>
            <a:endParaRPr lang="en-GB" sz="1050" b="1" i="0" u="none" strike="noStrike" kern="1200" cap="none" spc="0" baseline="0">
              <a:solidFill>
                <a:srgbClr val="000000"/>
              </a:solidFill>
              <a:uFillTx/>
              <a:latin typeface="Calibri"/>
            </a:endParaRPr>
          </a:p>
        </p:txBody>
      </p:sp>
      <p:graphicFrame>
        <p:nvGraphicFramePr>
          <p:cNvPr id="8" name="Table 27">
            <a:extLst>
              <a:ext uri="{FF2B5EF4-FFF2-40B4-BE49-F238E27FC236}">
                <a16:creationId xmlns:a16="http://schemas.microsoft.com/office/drawing/2014/main" id="{601C18CF-9764-4DC4-AF07-FECB97CB7E92}"/>
              </a:ext>
            </a:extLst>
          </p:cNvPr>
          <p:cNvGraphicFramePr>
            <a:graphicFrameLocks noGrp="1"/>
          </p:cNvGraphicFramePr>
          <p:nvPr/>
        </p:nvGraphicFramePr>
        <p:xfrm>
          <a:off x="435336" y="3209242"/>
          <a:ext cx="11504102" cy="2468880"/>
        </p:xfrm>
        <a:graphic>
          <a:graphicData uri="http://schemas.openxmlformats.org/drawingml/2006/table">
            <a:tbl>
              <a:tblPr firstRow="1" bandRow="1">
                <a:effectLst/>
                <a:tableStyleId>{5C22544A-7EE6-4342-B048-85BDC9FD1C3A}</a:tableStyleId>
              </a:tblPr>
              <a:tblGrid>
                <a:gridCol w="3565574">
                  <a:extLst>
                    <a:ext uri="{9D8B030D-6E8A-4147-A177-3AD203B41FA5}">
                      <a16:colId xmlns:a16="http://schemas.microsoft.com/office/drawing/2014/main" val="2861713647"/>
                    </a:ext>
                  </a:extLst>
                </a:gridCol>
                <a:gridCol w="7938528">
                  <a:extLst>
                    <a:ext uri="{9D8B030D-6E8A-4147-A177-3AD203B41FA5}">
                      <a16:colId xmlns:a16="http://schemas.microsoft.com/office/drawing/2014/main" val="2152178653"/>
                    </a:ext>
                  </a:extLst>
                </a:gridCol>
              </a:tblGrid>
              <a:tr h="194666">
                <a:tc>
                  <a:txBody>
                    <a:bodyPr/>
                    <a:lstStyle/>
                    <a:p>
                      <a:pPr lvl="0"/>
                      <a:r>
                        <a:rPr lang="en-GB" sz="1200"/>
                        <a:t>Out of Scope CDS Functionality</a:t>
                      </a:r>
                    </a:p>
                  </a:txBody>
                  <a:tcPr anchor="ctr">
                    <a:solidFill>
                      <a:srgbClr val="7030A0"/>
                    </a:solidFill>
                  </a:tcPr>
                </a:tc>
                <a:tc>
                  <a:txBody>
                    <a:bodyPr/>
                    <a:lstStyle/>
                    <a:p>
                      <a:pPr lvl="0"/>
                      <a:r>
                        <a:rPr lang="en-GB" sz="1200"/>
                        <a:t>CDS Workaround Guidance for Live Traders</a:t>
                      </a:r>
                    </a:p>
                  </a:txBody>
                  <a:tcPr anchor="ctr">
                    <a:lnR w="57150" cap="flat" cmpd="sng" algn="ctr">
                      <a:solidFill>
                        <a:srgbClr val="FFFFFF"/>
                      </a:solidFill>
                      <a:prstDash val="solid"/>
                      <a:round/>
                      <a:headEnd type="none" w="med" len="med"/>
                      <a:tailEnd type="none" w="med" len="med"/>
                    </a:lnR>
                    <a:solidFill>
                      <a:srgbClr val="7F7F7F"/>
                    </a:solidFill>
                  </a:tcPr>
                </a:tc>
                <a:extLst>
                  <a:ext uri="{0D108BD9-81ED-4DB2-BD59-A6C34878D82A}">
                    <a16:rowId xmlns:a16="http://schemas.microsoft.com/office/drawing/2014/main" val="4097201322"/>
                  </a:ext>
                </a:extLst>
              </a:tr>
              <a:tr h="905859">
                <a:tc>
                  <a:txBody>
                    <a:bodyPr/>
                    <a:lstStyle/>
                    <a:p>
                      <a:pPr marL="0" marR="0" lvl="0" indent="0" algn="l" defTabSz="914400" rtl="0" fontAlgn="auto" hangingPunct="1">
                        <a:lnSpc>
                          <a:spcPct val="100000"/>
                        </a:lnSpc>
                        <a:spcBef>
                          <a:spcPts val="0"/>
                        </a:spcBef>
                        <a:spcAft>
                          <a:spcPts val="0"/>
                        </a:spcAft>
                        <a:buNone/>
                        <a:tabLst/>
                      </a:pPr>
                      <a:r>
                        <a:rPr lang="en-GB" sz="1100" b="1">
                          <a:solidFill>
                            <a:srgbClr val="000000"/>
                          </a:solidFill>
                        </a:rPr>
                        <a:t>Imports from Continental Shelf</a:t>
                      </a:r>
                    </a:p>
                    <a:p>
                      <a:pPr marL="0" marR="0" lvl="0" indent="0" algn="l" defTabSz="914400" rtl="0" fontAlgn="auto" hangingPunct="1">
                        <a:lnSpc>
                          <a:spcPct val="100000"/>
                        </a:lnSpc>
                        <a:spcBef>
                          <a:spcPts val="0"/>
                        </a:spcBef>
                        <a:spcAft>
                          <a:spcPts val="0"/>
                        </a:spcAft>
                        <a:buNone/>
                        <a:tabLst/>
                      </a:pPr>
                      <a:r>
                        <a:rPr lang="en-GB" sz="1100">
                          <a:solidFill>
                            <a:srgbClr val="000000"/>
                          </a:solidFill>
                        </a:rPr>
                        <a:t>Functionality to accept, validate and calculate duty for imports from the continental shelf.</a:t>
                      </a:r>
                      <a:endParaRPr lang="en-GB" sz="1100" b="1">
                        <a:solidFill>
                          <a:srgbClr val="000000"/>
                        </a:solidFill>
                      </a:endParaRP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1">
                          <a:solidFill>
                            <a:srgbClr val="000000"/>
                          </a:solidFill>
                        </a:rPr>
                        <a:t>GB traders </a:t>
                      </a:r>
                      <a:r>
                        <a:rPr lang="en-GB" sz="1100">
                          <a:solidFill>
                            <a:srgbClr val="000000"/>
                          </a:solidFill>
                        </a:rPr>
                        <a:t>should submit the declaration with the parent country code declared so that parent country measures apply. As the parent code will include the same duties and measures that would be applicable to the continental shelf, CDS will correctly calculate and charge any applicable duties.</a:t>
                      </a:r>
                    </a:p>
                    <a:p>
                      <a:pPr marL="0" marR="0" lvl="0" indent="0" algn="l" defTabSz="914400" rtl="0" fontAlgn="auto" hangingPunct="1">
                        <a:lnSpc>
                          <a:spcPct val="100000"/>
                        </a:lnSpc>
                        <a:spcBef>
                          <a:spcPts val="0"/>
                        </a:spcBef>
                        <a:spcAft>
                          <a:spcPts val="0"/>
                        </a:spcAft>
                        <a:buNone/>
                        <a:tabLst/>
                      </a:pPr>
                      <a:endParaRPr lang="en-GB" sz="1100">
                        <a:solidFill>
                          <a:srgbClr val="000000"/>
                        </a:solidFill>
                      </a:endParaRPr>
                    </a:p>
                    <a:p>
                      <a:pPr marL="0" marR="0" lvl="0" indent="0" algn="l" defTabSz="914400" rtl="0" fontAlgn="auto" hangingPunct="1">
                        <a:lnSpc>
                          <a:spcPct val="100000"/>
                        </a:lnSpc>
                        <a:spcBef>
                          <a:spcPts val="0"/>
                        </a:spcBef>
                        <a:spcAft>
                          <a:spcPts val="0"/>
                        </a:spcAft>
                        <a:buNone/>
                        <a:tabLst/>
                      </a:pPr>
                      <a:r>
                        <a:rPr lang="en-GB" sz="1100" b="1">
                          <a:solidFill>
                            <a:srgbClr val="000000"/>
                          </a:solidFill>
                        </a:rPr>
                        <a:t>NI traders </a:t>
                      </a:r>
                      <a:r>
                        <a:rPr lang="en-GB" sz="1100" b="0">
                          <a:solidFill>
                            <a:srgbClr val="000000"/>
                          </a:solidFill>
                        </a:rPr>
                        <a:t>should submit an import declaration on CDS with the EU country code declared in D.E. 5/14 and declare AI code ‘NIIMP’ in D.E. 2/2. Where traders must pay customs duty, the trader may de-risk their goods by declaring ‘NIREM’ in D.E. 2/2 which means UK duties, VAT and Excise will be charged for EU Continental Shelf and UK Continental Shelf imports.</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585871445"/>
                  </a:ext>
                </a:extLst>
              </a:tr>
              <a:tr h="713762">
                <a:tc>
                  <a:txBody>
                    <a:bodyPr/>
                    <a:lstStyle/>
                    <a:p>
                      <a:pPr marL="0" marR="0" lvl="0" indent="0" algn="just" defTabSz="914400" rtl="0" fontAlgn="auto" hangingPunct="1">
                        <a:lnSpc>
                          <a:spcPct val="100000"/>
                        </a:lnSpc>
                        <a:spcBef>
                          <a:spcPts val="0"/>
                        </a:spcBef>
                        <a:spcAft>
                          <a:spcPts val="0"/>
                        </a:spcAft>
                        <a:buNone/>
                        <a:tabLst/>
                      </a:pPr>
                      <a:r>
                        <a:rPr lang="en-GB" sz="1100" b="1">
                          <a:solidFill>
                            <a:srgbClr val="000000"/>
                          </a:solidFill>
                        </a:rPr>
                        <a:t>Imports of Composite Goods</a:t>
                      </a:r>
                    </a:p>
                    <a:p>
                      <a:pPr marL="0" marR="0" lvl="0" indent="0" algn="just" defTabSz="914400" rtl="0" fontAlgn="auto" hangingPunct="1">
                        <a:lnSpc>
                          <a:spcPct val="100000"/>
                        </a:lnSpc>
                        <a:spcBef>
                          <a:spcPts val="0"/>
                        </a:spcBef>
                        <a:spcAft>
                          <a:spcPts val="0"/>
                        </a:spcAft>
                        <a:buNone/>
                        <a:tabLst/>
                      </a:pPr>
                      <a:r>
                        <a:rPr lang="en-GB" sz="1100" b="0">
                          <a:solidFill>
                            <a:srgbClr val="000000"/>
                          </a:solidFill>
                        </a:rPr>
                        <a:t>Functionality to calculate the excise duty due on composite goods that contain alcohol or mineral oils for the specific quantity of the commodity that attracts excise. </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1" dirty="0">
                          <a:solidFill>
                            <a:srgbClr val="000000"/>
                          </a:solidFill>
                        </a:rPr>
                        <a:t>GB traders </a:t>
                      </a:r>
                      <a:r>
                        <a:rPr lang="en-GB" sz="1100" dirty="0">
                          <a:solidFill>
                            <a:srgbClr val="000000"/>
                          </a:solidFill>
                        </a:rPr>
                        <a:t>only should continue submitting declarations on CHIEF. If the freight agent which is currently used has migrated to CDS, importers may need to use a freight agent who still has CHIEF access in order to import composite goods.</a:t>
                      </a:r>
                    </a:p>
                    <a:p>
                      <a:pPr marL="0" marR="0" lvl="0" indent="0" algn="l" defTabSz="914400" rtl="0" fontAlgn="auto" hangingPunct="1">
                        <a:lnSpc>
                          <a:spcPct val="100000"/>
                        </a:lnSpc>
                        <a:spcBef>
                          <a:spcPts val="0"/>
                        </a:spcBef>
                        <a:spcAft>
                          <a:spcPts val="0"/>
                        </a:spcAft>
                        <a:buNone/>
                        <a:tabLst/>
                      </a:pPr>
                      <a:endParaRPr lang="en-GB" sz="1100" dirty="0">
                        <a:solidFill>
                          <a:srgbClr val="000000"/>
                        </a:solidFill>
                      </a:endParaRPr>
                    </a:p>
                    <a:p>
                      <a:pPr marL="0" marR="0" lvl="0" indent="0" algn="l" defTabSz="914400" rtl="0" fontAlgn="auto" hangingPunct="1">
                        <a:lnSpc>
                          <a:spcPct val="100000"/>
                        </a:lnSpc>
                        <a:spcBef>
                          <a:spcPts val="0"/>
                        </a:spcBef>
                        <a:spcAft>
                          <a:spcPts val="0"/>
                        </a:spcAft>
                        <a:buNone/>
                        <a:tabLst/>
                      </a:pPr>
                      <a:r>
                        <a:rPr lang="en-GB" sz="1100" b="1" dirty="0">
                          <a:solidFill>
                            <a:srgbClr val="000000"/>
                          </a:solidFill>
                        </a:rPr>
                        <a:t>NI traders </a:t>
                      </a:r>
                      <a:r>
                        <a:rPr lang="en-GB" sz="1100" dirty="0">
                          <a:solidFill>
                            <a:srgbClr val="000000"/>
                          </a:solidFill>
                        </a:rPr>
                        <a:t>should use the manual override code OVR01 when importing composite goods to override duty calculation and manually declare duties that should be liable.</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43487398"/>
                  </a:ext>
                </a:extLst>
              </a:tr>
            </a:tbl>
          </a:graphicData>
        </a:graphic>
      </p:graphicFrame>
      <p:sp>
        <p:nvSpPr>
          <p:cNvPr id="9" name="Rectangle 15">
            <a:extLst>
              <a:ext uri="{FF2B5EF4-FFF2-40B4-BE49-F238E27FC236}">
                <a16:creationId xmlns:a16="http://schemas.microsoft.com/office/drawing/2014/main" id="{231115AC-D09F-437A-B895-8C5DD84881A0}"/>
              </a:ext>
            </a:extLst>
          </p:cNvPr>
          <p:cNvSpPr/>
          <p:nvPr/>
        </p:nvSpPr>
        <p:spPr>
          <a:xfrm>
            <a:off x="353369" y="1959019"/>
            <a:ext cx="11569446" cy="123880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pitchFamily="34"/>
                <a:ea typeface="Calibri" pitchFamily="34"/>
                <a:cs typeface="Times New Roman" pitchFamily="18"/>
              </a:rPr>
              <a:t>On CDS, declarants are currently able to declare against all country codes, with the exception of continental shelf codes (ZB, ZD, ZE, ZF, ZG, ZH, ZN, ZU) and prohibited countries for import declarations. Please note, these country codes are supported on exports declarations. </a:t>
            </a:r>
          </a:p>
          <a:p>
            <a:pPr marL="0" marR="0" lvl="0" indent="0" algn="l" defTabSz="914400" rtl="0" fontAlgn="auto" hangingPunct="1">
              <a:lnSpc>
                <a:spcPct val="100000"/>
              </a:lnSpc>
              <a:spcBef>
                <a:spcPts val="0"/>
              </a:spcBef>
              <a:spcAft>
                <a:spcPts val="300"/>
              </a:spcAft>
              <a:buNone/>
              <a:tabLst/>
              <a:defRPr sz="1800" b="0" i="0" u="none" strike="noStrike" kern="0" cap="none" spc="0" baseline="0">
                <a:solidFill>
                  <a:srgbClr val="000000"/>
                </a:solidFill>
                <a:uFillTx/>
              </a:defRPr>
            </a:pPr>
            <a:r>
              <a:rPr lang="en-GB" sz="1200" b="0" i="0" u="none" strike="noStrike" kern="1200" cap="none" spc="0" baseline="0">
                <a:solidFill>
                  <a:srgbClr val="333333"/>
                </a:solidFill>
                <a:uFillTx/>
                <a:latin typeface="Calibri"/>
              </a:rPr>
              <a:t>As CDS functionality to process declarations from these excluded country codes will be delivered post-December 2020, </a:t>
            </a:r>
            <a:r>
              <a:rPr lang="en-GB" sz="1200" b="0" i="0" u="none" strike="noStrike" kern="1200" cap="none" spc="0" baseline="0">
                <a:solidFill>
                  <a:srgbClr val="000000"/>
                </a:solidFill>
                <a:uFillTx/>
                <a:latin typeface="Calibri"/>
                <a:cs typeface="Calibri"/>
              </a:rPr>
              <a:t>the following workarounds will need to be followed </a:t>
            </a:r>
            <a:r>
              <a:rPr lang="en-US" sz="1200" b="0" i="0" u="none" strike="noStrike" kern="1200" cap="none" spc="0" baseline="0">
                <a:solidFill>
                  <a:srgbClr val="000000"/>
                </a:solidFill>
                <a:uFillTx/>
                <a:latin typeface="Calibri"/>
                <a:cs typeface="Calibri"/>
              </a:rPr>
              <a:t>in the interim period between 1</a:t>
            </a:r>
            <a:r>
              <a:rPr lang="en-US" sz="1200" b="0" i="0" u="none" strike="noStrike" kern="1200" cap="none" spc="0" baseline="30000">
                <a:solidFill>
                  <a:srgbClr val="000000"/>
                </a:solidFill>
                <a:uFillTx/>
                <a:latin typeface="Calibri"/>
                <a:cs typeface="Calibri"/>
              </a:rPr>
              <a:t>st</a:t>
            </a:r>
            <a:r>
              <a:rPr lang="en-US" sz="1200" b="0" i="0" u="none" strike="noStrike" kern="1200" cap="none" spc="0" baseline="0">
                <a:solidFill>
                  <a:srgbClr val="000000"/>
                </a:solidFill>
                <a:uFillTx/>
                <a:latin typeface="Calibri"/>
                <a:cs typeface="Calibri"/>
              </a:rPr>
              <a:t> January 2021 and the deployment of later IT functionality. Please note, for the purposes of the workarounds listed below, </a:t>
            </a:r>
            <a:r>
              <a:rPr lang="en-US" sz="1200" b="1" i="0" u="none" strike="noStrike" kern="1200" cap="none" spc="0" baseline="0">
                <a:solidFill>
                  <a:srgbClr val="000000"/>
                </a:solidFill>
                <a:uFillTx/>
                <a:latin typeface="Calibri"/>
                <a:cs typeface="Calibri"/>
              </a:rPr>
              <a:t>GB traders </a:t>
            </a:r>
            <a:r>
              <a:rPr lang="en-US" sz="1200" b="0" i="0" u="none" strike="noStrike" kern="1200" cap="none" spc="0" baseline="0">
                <a:solidFill>
                  <a:srgbClr val="000000"/>
                </a:solidFill>
                <a:uFillTx/>
                <a:latin typeface="Calibri"/>
                <a:cs typeface="Calibri"/>
              </a:rPr>
              <a:t>refers to traders that currently submit import/export declarations between GB and the Rest of the World. </a:t>
            </a:r>
            <a:r>
              <a:rPr lang="en-US" sz="1200" b="1" i="0" u="none" strike="noStrike" kern="1200" cap="none" spc="0" baseline="0">
                <a:solidFill>
                  <a:srgbClr val="000000"/>
                </a:solidFill>
                <a:uFillTx/>
                <a:latin typeface="Calibri"/>
                <a:cs typeface="Calibri"/>
              </a:rPr>
              <a:t>NI traders </a:t>
            </a:r>
            <a:r>
              <a:rPr lang="en-US" sz="1200" b="0" i="0" u="none" strike="noStrike" kern="1200" cap="none" spc="0" baseline="0">
                <a:solidFill>
                  <a:srgbClr val="000000"/>
                </a:solidFill>
                <a:uFillTx/>
                <a:latin typeface="Calibri"/>
                <a:cs typeface="Calibri"/>
              </a:rPr>
              <a:t>refers to those traders that must now submit customs declarations for movements between NI and GB as per the NI Protocol.</a:t>
            </a:r>
          </a:p>
        </p:txBody>
      </p:sp>
      <p:sp>
        <p:nvSpPr>
          <p:cNvPr id="10" name="Rectangle 4">
            <a:extLst>
              <a:ext uri="{FF2B5EF4-FFF2-40B4-BE49-F238E27FC236}">
                <a16:creationId xmlns:a16="http://schemas.microsoft.com/office/drawing/2014/main" id="{C9AE77FB-F6FE-4E0B-AC47-C53A86DE8076}"/>
              </a:ext>
            </a:extLst>
          </p:cNvPr>
          <p:cNvSpPr/>
          <p:nvPr/>
        </p:nvSpPr>
        <p:spPr>
          <a:xfrm>
            <a:off x="327382" y="68399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Out of Scope Functionality (Production)</a:t>
            </a:r>
            <a:endParaRPr lang="en-GB" sz="2400" b="1" i="0" u="none" strike="noStrike" kern="1200" cap="none" spc="0" baseline="0">
              <a:solidFill>
                <a:srgbClr val="000000"/>
              </a:solidFill>
              <a:uFillTx/>
              <a:latin typeface="Calibri" pitchFamily="34"/>
              <a:ea typeface="Calibri" pitchFamily="34"/>
            </a:endParaRPr>
          </a:p>
        </p:txBody>
      </p:sp>
      <p:sp>
        <p:nvSpPr>
          <p:cNvPr id="11" name="Oval 27">
            <a:hlinkClick r:id="rId3" action="ppaction://hlinksldjump"/>
            <a:extLst>
              <a:ext uri="{FF2B5EF4-FFF2-40B4-BE49-F238E27FC236}">
                <a16:creationId xmlns:a16="http://schemas.microsoft.com/office/drawing/2014/main" id="{DDA6FC07-FF2E-4583-B925-60AADB39E65D}"/>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29">
            <a:hlinkClick r:id="rId3" action="ppaction://hlinksldjump"/>
            <a:extLst>
              <a:ext uri="{FF2B5EF4-FFF2-40B4-BE49-F238E27FC236}">
                <a16:creationId xmlns:a16="http://schemas.microsoft.com/office/drawing/2014/main" id="{5C719F1C-D140-4E84-BA7D-BAC7CAA8E024}"/>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Oval 30">
            <a:hlinkClick r:id="rId4" action="ppaction://hlinksldjump"/>
            <a:extLst>
              <a:ext uri="{FF2B5EF4-FFF2-40B4-BE49-F238E27FC236}">
                <a16:creationId xmlns:a16="http://schemas.microsoft.com/office/drawing/2014/main" id="{4ED9699B-4316-4970-821A-456816C442A5}"/>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Oval 35">
            <a:hlinkClick r:id="rId5" action="ppaction://hlinksldjump"/>
            <a:extLst>
              <a:ext uri="{FF2B5EF4-FFF2-40B4-BE49-F238E27FC236}">
                <a16:creationId xmlns:a16="http://schemas.microsoft.com/office/drawing/2014/main" id="{2578E734-9358-4111-BB19-63C4AC536246}"/>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5" name="TextBox 36">
            <a:hlinkClick r:id="rId3" action="ppaction://hlinksldjump"/>
            <a:extLst>
              <a:ext uri="{FF2B5EF4-FFF2-40B4-BE49-F238E27FC236}">
                <a16:creationId xmlns:a16="http://schemas.microsoft.com/office/drawing/2014/main" id="{B751C513-8662-448F-9EBA-0E83726599A4}"/>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6" name="TextBox 37">
            <a:hlinkClick r:id="rId3" action="ppaction://hlinksldjump"/>
            <a:extLst>
              <a:ext uri="{FF2B5EF4-FFF2-40B4-BE49-F238E27FC236}">
                <a16:creationId xmlns:a16="http://schemas.microsoft.com/office/drawing/2014/main" id="{D910A95F-937E-4CBC-9A53-8CCF5408E6D5}"/>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7" name="TextBox 38">
            <a:hlinkClick r:id="rId4" action="ppaction://hlinksldjump"/>
            <a:extLst>
              <a:ext uri="{FF2B5EF4-FFF2-40B4-BE49-F238E27FC236}">
                <a16:creationId xmlns:a16="http://schemas.microsoft.com/office/drawing/2014/main" id="{E5B09EF7-2C80-4CA2-AB61-AACE4EA64479}"/>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8" name="TextBox 39">
            <a:hlinkClick r:id="rId4" action="ppaction://hlinksldjump"/>
            <a:extLst>
              <a:ext uri="{FF2B5EF4-FFF2-40B4-BE49-F238E27FC236}">
                <a16:creationId xmlns:a16="http://schemas.microsoft.com/office/drawing/2014/main" id="{AFC997E9-6568-46B7-B4F2-1CBFA931521C}"/>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9" name="Oval 40">
            <a:extLst>
              <a:ext uri="{FF2B5EF4-FFF2-40B4-BE49-F238E27FC236}">
                <a16:creationId xmlns:a16="http://schemas.microsoft.com/office/drawing/2014/main" id="{49A15200-7C80-48F2-8915-17256225A022}"/>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0" name="TextBox 50">
            <a:hlinkClick r:id="rId6" action="ppaction://hlinksldjump"/>
            <a:extLst>
              <a:ext uri="{FF2B5EF4-FFF2-40B4-BE49-F238E27FC236}">
                <a16:creationId xmlns:a16="http://schemas.microsoft.com/office/drawing/2014/main" id="{1A18AD69-FD67-46B7-B2FF-461C6BB1982A}"/>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21" name="Picture 40">
            <a:hlinkClick r:id="rId3" action="ppaction://hlinksldjump"/>
            <a:extLst>
              <a:ext uri="{FF2B5EF4-FFF2-40B4-BE49-F238E27FC236}">
                <a16:creationId xmlns:a16="http://schemas.microsoft.com/office/drawing/2014/main" id="{33245763-B598-4F10-88E4-4A4ED1752B22}"/>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2" name="Oval 52">
            <a:hlinkClick r:id="rId3" action="ppaction://hlinksldjump"/>
            <a:extLst>
              <a:ext uri="{FF2B5EF4-FFF2-40B4-BE49-F238E27FC236}">
                <a16:creationId xmlns:a16="http://schemas.microsoft.com/office/drawing/2014/main" id="{17133219-51A3-4F6B-B8A7-A288782C855C}"/>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name="Slide838840288">
    <p:spTree>
      <p:nvGrpSpPr>
        <p:cNvPr id="1" name=""/>
        <p:cNvGrpSpPr/>
        <p:nvPr/>
      </p:nvGrpSpPr>
      <p:grpSpPr>
        <a:xfrm>
          <a:off x="0" y="0"/>
          <a:ext cx="0" cy="0"/>
          <a:chOff x="0" y="0"/>
          <a:chExt cx="0" cy="0"/>
        </a:xfrm>
      </p:grpSpPr>
      <p:cxnSp>
        <p:nvCxnSpPr>
          <p:cNvPr id="2" name="Straight Connector 12">
            <a:extLst>
              <a:ext uri="{FF2B5EF4-FFF2-40B4-BE49-F238E27FC236}">
                <a16:creationId xmlns:a16="http://schemas.microsoft.com/office/drawing/2014/main" id="{9584FC12-489B-4D60-88A5-70AA65D4A5D5}"/>
              </a:ext>
            </a:extLst>
          </p:cNvPr>
          <p:cNvCxnSpPr/>
          <p:nvPr/>
        </p:nvCxnSpPr>
        <p:spPr>
          <a:xfrm>
            <a:off x="325937" y="186903"/>
            <a:ext cx="0" cy="422050"/>
          </a:xfrm>
          <a:prstGeom prst="straightConnector1">
            <a:avLst/>
          </a:prstGeom>
          <a:noFill/>
          <a:ln w="28575" cap="flat">
            <a:solidFill>
              <a:srgbClr val="D9D9D9"/>
            </a:solidFill>
            <a:prstDash val="solid"/>
            <a:miter/>
          </a:ln>
        </p:spPr>
      </p:cxnSp>
      <p:sp>
        <p:nvSpPr>
          <p:cNvPr id="3" name="TextBox 13">
            <a:extLst>
              <a:ext uri="{FF2B5EF4-FFF2-40B4-BE49-F238E27FC236}">
                <a16:creationId xmlns:a16="http://schemas.microsoft.com/office/drawing/2014/main" id="{4782F0C0-57A2-48BB-B029-B38EB0FBFDC8}"/>
              </a:ext>
            </a:extLst>
          </p:cNvPr>
          <p:cNvSpPr txBox="1"/>
          <p:nvPr/>
        </p:nvSpPr>
        <p:spPr>
          <a:xfrm>
            <a:off x="391280" y="261225"/>
            <a:ext cx="5129738"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EXTERNAL TEST CAPABILITIES: OUT OF SCOPE FUNCTIONALITY</a:t>
            </a:r>
          </a:p>
        </p:txBody>
      </p:sp>
      <p:sp>
        <p:nvSpPr>
          <p:cNvPr id="4" name="Rectangle 4">
            <a:extLst>
              <a:ext uri="{FF2B5EF4-FFF2-40B4-BE49-F238E27FC236}">
                <a16:creationId xmlns:a16="http://schemas.microsoft.com/office/drawing/2014/main" id="{1E1A4CF8-0BB2-4F72-BAEE-1E6FD37C089F}"/>
              </a:ext>
            </a:extLst>
          </p:cNvPr>
          <p:cNvSpPr/>
          <p:nvPr/>
        </p:nvSpPr>
        <p:spPr>
          <a:xfrm>
            <a:off x="327382" y="68399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Out of Scope Functionality (Production) </a:t>
            </a:r>
            <a:endParaRPr lang="en-GB" sz="2400" b="1" i="0" u="none" strike="noStrike" kern="1200" cap="none" spc="0" baseline="0">
              <a:solidFill>
                <a:srgbClr val="000000"/>
              </a:solidFill>
              <a:uFillTx/>
              <a:latin typeface="Calibri" pitchFamily="34"/>
              <a:ea typeface="Calibri" pitchFamily="34"/>
            </a:endParaRPr>
          </a:p>
        </p:txBody>
      </p:sp>
      <p:sp>
        <p:nvSpPr>
          <p:cNvPr id="6" name="Slide Number Placeholder 5">
            <a:extLst>
              <a:ext uri="{FF2B5EF4-FFF2-40B4-BE49-F238E27FC236}">
                <a16:creationId xmlns:a16="http://schemas.microsoft.com/office/drawing/2014/main" id="{D7012845-E229-44F7-8CA8-FC3AF5BFA771}"/>
              </a:ext>
            </a:extLst>
          </p:cNvPr>
          <p:cNvSpPr txBox="1"/>
          <p:nvPr/>
        </p:nvSpPr>
        <p:spPr>
          <a:xfrm>
            <a:off x="1171825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8A994807-C3DC-4273-8919-7FBE577816B6}" type="slidenum">
              <a:rPr sz="1200"/>
              <a:t>442</a:t>
            </a:fld>
            <a:endParaRPr lang="en-GB" sz="1200" b="0" i="0" u="none" strike="noStrike" kern="1200" cap="none" spc="0" baseline="0">
              <a:solidFill>
                <a:srgbClr val="000000"/>
              </a:solidFill>
              <a:uFillTx/>
              <a:latin typeface="Calibri"/>
            </a:endParaRPr>
          </a:p>
        </p:txBody>
      </p:sp>
      <p:sp>
        <p:nvSpPr>
          <p:cNvPr id="7" name="Rectangle 4">
            <a:extLst>
              <a:ext uri="{FF2B5EF4-FFF2-40B4-BE49-F238E27FC236}">
                <a16:creationId xmlns:a16="http://schemas.microsoft.com/office/drawing/2014/main" id="{A4CB866E-CC39-4A9C-84B7-BB2162323446}"/>
              </a:ext>
            </a:extLst>
          </p:cNvPr>
          <p:cNvSpPr/>
          <p:nvPr/>
        </p:nvSpPr>
        <p:spPr>
          <a:xfrm>
            <a:off x="325937" y="1084103"/>
            <a:ext cx="5454249"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2. CDS Complex Calculation Workarounds</a:t>
            </a:r>
            <a:endParaRPr lang="en-GB" sz="1050" b="1" i="0" u="none" strike="noStrike" kern="1200" cap="none" spc="0" baseline="0">
              <a:solidFill>
                <a:srgbClr val="000000"/>
              </a:solidFill>
              <a:uFillTx/>
              <a:latin typeface="Calibri"/>
            </a:endParaRPr>
          </a:p>
        </p:txBody>
      </p:sp>
      <p:graphicFrame>
        <p:nvGraphicFramePr>
          <p:cNvPr id="8" name="Table 27">
            <a:extLst>
              <a:ext uri="{FF2B5EF4-FFF2-40B4-BE49-F238E27FC236}">
                <a16:creationId xmlns:a16="http://schemas.microsoft.com/office/drawing/2014/main" id="{778633A5-31B7-41F7-B19E-2A63A1BBEB66}"/>
              </a:ext>
            </a:extLst>
          </p:cNvPr>
          <p:cNvGraphicFramePr>
            <a:graphicFrameLocks noGrp="1"/>
          </p:cNvGraphicFramePr>
          <p:nvPr/>
        </p:nvGraphicFramePr>
        <p:xfrm>
          <a:off x="401174" y="1502212"/>
          <a:ext cx="11475920" cy="3657600"/>
        </p:xfrm>
        <a:graphic>
          <a:graphicData uri="http://schemas.openxmlformats.org/drawingml/2006/table">
            <a:tbl>
              <a:tblPr firstRow="1" bandRow="1">
                <a:effectLst/>
                <a:tableStyleId>{5C22544A-7EE6-4342-B048-85BDC9FD1C3A}</a:tableStyleId>
              </a:tblPr>
              <a:tblGrid>
                <a:gridCol w="5372209">
                  <a:extLst>
                    <a:ext uri="{9D8B030D-6E8A-4147-A177-3AD203B41FA5}">
                      <a16:colId xmlns:a16="http://schemas.microsoft.com/office/drawing/2014/main" val="3906006622"/>
                    </a:ext>
                  </a:extLst>
                </a:gridCol>
                <a:gridCol w="6103711">
                  <a:extLst>
                    <a:ext uri="{9D8B030D-6E8A-4147-A177-3AD203B41FA5}">
                      <a16:colId xmlns:a16="http://schemas.microsoft.com/office/drawing/2014/main" val="561187483"/>
                    </a:ext>
                  </a:extLst>
                </a:gridCol>
              </a:tblGrid>
              <a:tr h="210055">
                <a:tc>
                  <a:txBody>
                    <a:bodyPr/>
                    <a:lstStyle/>
                    <a:p>
                      <a:pPr lvl="0"/>
                      <a:r>
                        <a:rPr lang="en-GB" sz="1200"/>
                        <a:t>Out of Scope CDS Functionality</a:t>
                      </a:r>
                    </a:p>
                  </a:txBody>
                  <a:tcPr anchor="ctr">
                    <a:solidFill>
                      <a:srgbClr val="7030A0"/>
                    </a:solidFill>
                  </a:tcPr>
                </a:tc>
                <a:tc>
                  <a:txBody>
                    <a:bodyPr/>
                    <a:lstStyle/>
                    <a:p>
                      <a:pPr lvl="0"/>
                      <a:r>
                        <a:rPr lang="en-GB" sz="1200"/>
                        <a:t>CDS Workaround Guidance</a:t>
                      </a:r>
                    </a:p>
                  </a:txBody>
                  <a:tcPr anchor="ctr">
                    <a:lnR w="57150" cap="flat" cmpd="sng" algn="ctr">
                      <a:solidFill>
                        <a:srgbClr val="FFFFFF"/>
                      </a:solidFill>
                      <a:prstDash val="solid"/>
                      <a:round/>
                      <a:headEnd type="none" w="med" len="med"/>
                      <a:tailEnd type="none" w="med" len="med"/>
                    </a:lnR>
                    <a:solidFill>
                      <a:srgbClr val="7F7F7F"/>
                    </a:solidFill>
                  </a:tcPr>
                </a:tc>
                <a:extLst>
                  <a:ext uri="{0D108BD9-81ED-4DB2-BD59-A6C34878D82A}">
                    <a16:rowId xmlns:a16="http://schemas.microsoft.com/office/drawing/2014/main" val="4099749027"/>
                  </a:ext>
                </a:extLst>
              </a:tr>
              <a:tr h="317095">
                <a:tc>
                  <a:txBody>
                    <a:bodyPr/>
                    <a:lstStyle/>
                    <a:p>
                      <a:pPr marL="0" marR="0" lvl="0" indent="0" algn="l" defTabSz="914400" rtl="0" fontAlgn="auto" hangingPunct="1">
                        <a:lnSpc>
                          <a:spcPct val="100000"/>
                        </a:lnSpc>
                        <a:spcBef>
                          <a:spcPts val="0"/>
                        </a:spcBef>
                        <a:spcAft>
                          <a:spcPts val="0"/>
                        </a:spcAft>
                        <a:buNone/>
                        <a:tabLst/>
                      </a:pPr>
                      <a:r>
                        <a:rPr lang="en-GB" sz="1200" b="1">
                          <a:solidFill>
                            <a:srgbClr val="000000"/>
                          </a:solidFill>
                        </a:rPr>
                        <a:t>Diverted entry </a:t>
                      </a:r>
                    </a:p>
                    <a:p>
                      <a:pPr marL="0" marR="0" lvl="0" indent="0" algn="l" defTabSz="914400" rtl="0" fontAlgn="auto" hangingPunct="1">
                        <a:lnSpc>
                          <a:spcPct val="100000"/>
                        </a:lnSpc>
                        <a:spcBef>
                          <a:spcPts val="0"/>
                        </a:spcBef>
                        <a:spcAft>
                          <a:spcPts val="0"/>
                        </a:spcAft>
                        <a:buNone/>
                        <a:tabLst/>
                      </a:pPr>
                      <a:r>
                        <a:rPr lang="en-GB" sz="1200">
                          <a:solidFill>
                            <a:srgbClr val="000000"/>
                          </a:solidFill>
                        </a:rPr>
                        <a:t>The process by which the trader wants to divert goods that are entered into the country and declared out of temporary admission and into free circulation.</a:t>
                      </a:r>
                    </a:p>
                  </a:txBody>
                  <a:tcPr>
                    <a:solidFill>
                      <a:srgbClr val="F2F2F2"/>
                    </a:solidFill>
                  </a:tcPr>
                </a:tc>
                <a:tc>
                  <a:txBody>
                    <a:bodyPr/>
                    <a:lstStyle/>
                    <a:p>
                      <a:pPr lvl="0"/>
                      <a:r>
                        <a:rPr lang="en-GB" sz="1200">
                          <a:solidFill>
                            <a:srgbClr val="000000"/>
                          </a:solidFill>
                        </a:rPr>
                        <a:t>Trader must submit a new declaration with diverting procedure code declared and declare manual override code OVR01 to manually enter correct duty against the second declaration. T</a:t>
                      </a:r>
                      <a:r>
                        <a:rPr lang="en-GB" sz="1200" b="0" i="0">
                          <a:solidFill>
                            <a:srgbClr val="000000"/>
                          </a:solidFill>
                        </a:rPr>
                        <a:t>rader may request a post-clearance repayment claim.</a:t>
                      </a:r>
                      <a:endParaRPr lang="en-GB" sz="1200">
                        <a:solidFill>
                          <a:srgbClr val="000000"/>
                        </a:solidFill>
                      </a:endParaRP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785169812"/>
                  </a:ext>
                </a:extLst>
              </a:tr>
              <a:tr h="317095">
                <a:tc>
                  <a:txBody>
                    <a:bodyPr/>
                    <a:lstStyle/>
                    <a:p>
                      <a:pPr lvl="0" algn="just"/>
                      <a:r>
                        <a:rPr lang="en-GB" sz="1200" b="1">
                          <a:solidFill>
                            <a:srgbClr val="000000"/>
                          </a:solidFill>
                        </a:rPr>
                        <a:t>Substitute entry </a:t>
                      </a:r>
                    </a:p>
                    <a:p>
                      <a:pPr lvl="0" algn="just"/>
                      <a:r>
                        <a:rPr lang="en-GB" sz="1200">
                          <a:solidFill>
                            <a:srgbClr val="000000"/>
                          </a:solidFill>
                        </a:rPr>
                        <a:t>Where the trader has declared goods into the incorrect procedure, they will need to submit a new declaration into the correct procedure and the original declaration is treated as invalid.</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200">
                          <a:solidFill>
                            <a:srgbClr val="000000"/>
                          </a:solidFill>
                        </a:rPr>
                        <a:t>If goods have been declared into an incorrect procedure, traders must apply to HMRC to obtain permission to submit a substitute entry within 90 days. If permission is granted, the trader must then submit a new declaration into the correct procedure. Traders must then contact HMRC’s NCH directly, providing the </a:t>
                      </a:r>
                      <a:r>
                        <a:rPr lang="en-GB" sz="1200" b="0" i="0" baseline="0">
                          <a:solidFill>
                            <a:srgbClr val="000000"/>
                          </a:solidFill>
                        </a:rPr>
                        <a:t>confirmation from HMRC and their 2 declaration IDs. </a:t>
                      </a:r>
                      <a:r>
                        <a:rPr lang="en-GB" sz="1200">
                          <a:solidFill>
                            <a:srgbClr val="000000"/>
                          </a:solidFill>
                        </a:rPr>
                        <a:t>If required, the trader can then apply for repayment against the original declaration post-clearance. </a:t>
                      </a: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3144544884"/>
                  </a:ext>
                </a:extLst>
              </a:tr>
              <a:tr h="317095">
                <a:tc>
                  <a:txBody>
                    <a:bodyPr/>
                    <a:lstStyle/>
                    <a:p>
                      <a:pPr marL="0" marR="0" lvl="0" indent="0" algn="l" defTabSz="914400" rtl="0" fontAlgn="auto" hangingPunct="1">
                        <a:lnSpc>
                          <a:spcPct val="100000"/>
                        </a:lnSpc>
                        <a:spcBef>
                          <a:spcPts val="0"/>
                        </a:spcBef>
                        <a:spcAft>
                          <a:spcPts val="0"/>
                        </a:spcAft>
                        <a:buNone/>
                        <a:tabLst/>
                      </a:pPr>
                      <a:r>
                        <a:rPr lang="en-GB" sz="1200" b="1">
                          <a:solidFill>
                            <a:srgbClr val="000000"/>
                          </a:solidFill>
                        </a:rPr>
                        <a:t>Calculating Duty using the Deductive Method  </a:t>
                      </a:r>
                    </a:p>
                    <a:p>
                      <a:pPr marL="0" marR="0" lvl="0" indent="0" algn="l" defTabSz="914400" rtl="0" fontAlgn="auto" hangingPunct="1">
                        <a:lnSpc>
                          <a:spcPct val="100000"/>
                        </a:lnSpc>
                        <a:spcBef>
                          <a:spcPts val="0"/>
                        </a:spcBef>
                        <a:spcAft>
                          <a:spcPts val="0"/>
                        </a:spcAft>
                        <a:buNone/>
                        <a:tabLst/>
                      </a:pPr>
                      <a:r>
                        <a:rPr lang="en-GB" sz="1200">
                          <a:solidFill>
                            <a:srgbClr val="000000"/>
                          </a:solidFill>
                        </a:rPr>
                        <a:t>The deductive method is a type of valuation methods so the correct customs duties can be charged for products e.g. fresh flowers, fruits and vegetables. This functionality will enable CDS to calculate and validate duties declared under Valuation Method (VM) 4 (one of six valuation methods), when neither a SIV nor a SPV is declared for the goods. </a:t>
                      </a:r>
                    </a:p>
                    <a:p>
                      <a:pPr marL="0" marR="0" lvl="0" indent="0" algn="l" defTabSz="914400" rtl="0" fontAlgn="auto" hangingPunct="1">
                        <a:lnSpc>
                          <a:spcPct val="100000"/>
                        </a:lnSpc>
                        <a:spcBef>
                          <a:spcPts val="0"/>
                        </a:spcBef>
                        <a:spcAft>
                          <a:spcPts val="0"/>
                        </a:spcAft>
                        <a:buNone/>
                        <a:tabLst/>
                      </a:pPr>
                      <a:endParaRPr lang="en-GB" sz="1200">
                        <a:solidFill>
                          <a:srgbClr val="000000"/>
                        </a:solidFill>
                      </a:endParaRPr>
                    </a:p>
                    <a:p>
                      <a:pPr marL="0" marR="0" lvl="0" indent="0" algn="l" defTabSz="914400" rtl="0" fontAlgn="auto" hangingPunct="1">
                        <a:lnSpc>
                          <a:spcPct val="100000"/>
                        </a:lnSpc>
                        <a:spcBef>
                          <a:spcPts val="0"/>
                        </a:spcBef>
                        <a:spcAft>
                          <a:spcPts val="0"/>
                        </a:spcAft>
                        <a:buNone/>
                        <a:tabLst/>
                      </a:pPr>
                      <a:r>
                        <a:rPr lang="en-GB" sz="1200"/>
                        <a:t>VM4 is comprised</a:t>
                      </a:r>
                      <a:r>
                        <a:rPr lang="en-GB" sz="1200" baseline="0"/>
                        <a:t> of methods</a:t>
                      </a:r>
                      <a:r>
                        <a:rPr lang="en-GB" sz="1200"/>
                        <a:t> 4(a) and 4(b) for imports only.</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200" b="0" i="0" baseline="0" dirty="0">
                          <a:solidFill>
                            <a:srgbClr val="000000"/>
                          </a:solidFill>
                        </a:rPr>
                        <a:t>Traders should declare manual override code OVR01 which will grant the ability to declare the goods items, the correct item price, and the correct duty to be paid/secured. The trader must to declare a different valuation method to VM4. It is </a:t>
                      </a:r>
                      <a:r>
                        <a:rPr lang="en-GB" sz="1200" b="1" i="0" baseline="0" dirty="0">
                          <a:solidFill>
                            <a:srgbClr val="000000"/>
                          </a:solidFill>
                        </a:rPr>
                        <a:t>recommended that VM6 is declared.</a:t>
                      </a:r>
                      <a:r>
                        <a:rPr lang="en-GB" sz="1200" b="0" i="0" baseline="0" dirty="0">
                          <a:solidFill>
                            <a:srgbClr val="000000"/>
                          </a:solidFill>
                        </a:rPr>
                        <a:t> A free text field is available in OVR01, the trader must input a message indicating the correct VM – either 4(a) or 4(b). For the VM4A case, there will still be an opportunity for the trader to attach their evidence of sales. </a:t>
                      </a:r>
                    </a:p>
                    <a:p>
                      <a:pPr marL="0" marR="0" lvl="0" indent="0" algn="l" defTabSz="914400" rtl="0" fontAlgn="auto" hangingPunct="1">
                        <a:lnSpc>
                          <a:spcPct val="100000"/>
                        </a:lnSpc>
                        <a:spcBef>
                          <a:spcPts val="0"/>
                        </a:spcBef>
                        <a:spcAft>
                          <a:spcPts val="0"/>
                        </a:spcAft>
                        <a:buNone/>
                        <a:tabLst/>
                      </a:pPr>
                      <a:endParaRPr lang="en-GB" sz="1200" b="0" i="0" baseline="0" dirty="0">
                        <a:solidFill>
                          <a:srgbClr val="000000"/>
                        </a:solidFill>
                      </a:endParaRPr>
                    </a:p>
                    <a:p>
                      <a:pPr marL="0" marR="0" lvl="0" indent="0" algn="l" defTabSz="914400" rtl="0" fontAlgn="auto" hangingPunct="1">
                        <a:lnSpc>
                          <a:spcPct val="100000"/>
                        </a:lnSpc>
                        <a:spcBef>
                          <a:spcPts val="0"/>
                        </a:spcBef>
                        <a:spcAft>
                          <a:spcPts val="0"/>
                        </a:spcAft>
                        <a:buNone/>
                        <a:tabLst/>
                      </a:pPr>
                      <a:r>
                        <a:rPr lang="en-GB" sz="1200" b="0" i="0" baseline="0" dirty="0">
                          <a:solidFill>
                            <a:srgbClr val="000000"/>
                          </a:solidFill>
                        </a:rPr>
                        <a:t>In the post-clearance process for the VM4(b) case, </a:t>
                      </a:r>
                      <a:r>
                        <a:rPr lang="en-GB" sz="1200" b="0" i="0" dirty="0">
                          <a:solidFill>
                            <a:srgbClr val="000000"/>
                          </a:solidFill>
                        </a:rPr>
                        <a:t>the trader must provide their evidence of sales to HMRC.</a:t>
                      </a:r>
                      <a:endParaRPr lang="en-GB" sz="1200" dirty="0">
                        <a:solidFill>
                          <a:srgbClr val="000000"/>
                        </a:solidFill>
                      </a:endParaRPr>
                    </a:p>
                  </a:txBody>
                  <a:tcPr>
                    <a:lnR w="57150" cap="flat" cmpd="sng" algn="ctr">
                      <a:solidFill>
                        <a:srgbClr val="FFFFFF"/>
                      </a:solidFill>
                      <a:prstDash val="solid"/>
                      <a:round/>
                      <a:headEnd type="none" w="med" len="med"/>
                      <a:tailEnd type="none" w="med" len="med"/>
                    </a:lnR>
                    <a:solidFill>
                      <a:srgbClr val="F2F2F2"/>
                    </a:solidFill>
                  </a:tcPr>
                </a:tc>
                <a:extLst>
                  <a:ext uri="{0D108BD9-81ED-4DB2-BD59-A6C34878D82A}">
                    <a16:rowId xmlns:a16="http://schemas.microsoft.com/office/drawing/2014/main" val="1119777204"/>
                  </a:ext>
                </a:extLst>
              </a:tr>
            </a:tbl>
          </a:graphicData>
        </a:graphic>
      </p:graphicFrame>
      <p:sp>
        <p:nvSpPr>
          <p:cNvPr id="9" name="Oval 23">
            <a:hlinkClick r:id="rId3" action="ppaction://hlinksldjump"/>
            <a:extLst>
              <a:ext uri="{FF2B5EF4-FFF2-40B4-BE49-F238E27FC236}">
                <a16:creationId xmlns:a16="http://schemas.microsoft.com/office/drawing/2014/main" id="{FCFDC111-BA9E-48D5-AC1D-B8A16A4310DA}"/>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26">
            <a:hlinkClick r:id="rId3" action="ppaction://hlinksldjump"/>
            <a:extLst>
              <a:ext uri="{FF2B5EF4-FFF2-40B4-BE49-F238E27FC236}">
                <a16:creationId xmlns:a16="http://schemas.microsoft.com/office/drawing/2014/main" id="{5609E223-5A31-4050-A613-834FAC0D7CEF}"/>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27">
            <a:hlinkClick r:id="rId4" action="ppaction://hlinksldjump"/>
            <a:extLst>
              <a:ext uri="{FF2B5EF4-FFF2-40B4-BE49-F238E27FC236}">
                <a16:creationId xmlns:a16="http://schemas.microsoft.com/office/drawing/2014/main" id="{8EDFEE7E-1F86-4BA1-BEB3-5E2BE5A7099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28">
            <a:hlinkClick r:id="rId5" action="ppaction://hlinksldjump"/>
            <a:extLst>
              <a:ext uri="{FF2B5EF4-FFF2-40B4-BE49-F238E27FC236}">
                <a16:creationId xmlns:a16="http://schemas.microsoft.com/office/drawing/2014/main" id="{EC618FBC-C335-4DF7-BFBD-F551CBC14EBD}"/>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29">
            <a:hlinkClick r:id="rId3" action="ppaction://hlinksldjump"/>
            <a:extLst>
              <a:ext uri="{FF2B5EF4-FFF2-40B4-BE49-F238E27FC236}">
                <a16:creationId xmlns:a16="http://schemas.microsoft.com/office/drawing/2014/main" id="{96B9359A-E830-49A5-A6F0-25693959F0D1}"/>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30">
            <a:hlinkClick r:id="rId3" action="ppaction://hlinksldjump"/>
            <a:extLst>
              <a:ext uri="{FF2B5EF4-FFF2-40B4-BE49-F238E27FC236}">
                <a16:creationId xmlns:a16="http://schemas.microsoft.com/office/drawing/2014/main" id="{358F8309-5C0F-4019-85FE-DDB79B59555C}"/>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35">
            <a:hlinkClick r:id="rId4" action="ppaction://hlinksldjump"/>
            <a:extLst>
              <a:ext uri="{FF2B5EF4-FFF2-40B4-BE49-F238E27FC236}">
                <a16:creationId xmlns:a16="http://schemas.microsoft.com/office/drawing/2014/main" id="{84FC9C1A-732D-4363-BC4F-1AE430F14ABF}"/>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6" name="TextBox 36">
            <a:hlinkClick r:id="rId4" action="ppaction://hlinksldjump"/>
            <a:extLst>
              <a:ext uri="{FF2B5EF4-FFF2-40B4-BE49-F238E27FC236}">
                <a16:creationId xmlns:a16="http://schemas.microsoft.com/office/drawing/2014/main" id="{D06FBFBE-FCD7-4768-804B-17F67E214AC5}"/>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37">
            <a:extLst>
              <a:ext uri="{FF2B5EF4-FFF2-40B4-BE49-F238E27FC236}">
                <a16:creationId xmlns:a16="http://schemas.microsoft.com/office/drawing/2014/main" id="{74DCFFF0-A1F3-4B81-B2BE-29F68B944DFB}"/>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38">
            <a:hlinkClick r:id="rId6" action="ppaction://hlinksldjump"/>
            <a:extLst>
              <a:ext uri="{FF2B5EF4-FFF2-40B4-BE49-F238E27FC236}">
                <a16:creationId xmlns:a16="http://schemas.microsoft.com/office/drawing/2014/main" id="{3C0E6D82-CE55-458D-84A1-50020D3D2668}"/>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19" name="Picture 40">
            <a:hlinkClick r:id="rId3" action="ppaction://hlinksldjump"/>
            <a:extLst>
              <a:ext uri="{FF2B5EF4-FFF2-40B4-BE49-F238E27FC236}">
                <a16:creationId xmlns:a16="http://schemas.microsoft.com/office/drawing/2014/main" id="{53289087-56DC-436A-BCE2-FCE787539D92}"/>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50">
            <a:hlinkClick r:id="rId3" action="ppaction://hlinksldjump"/>
            <a:extLst>
              <a:ext uri="{FF2B5EF4-FFF2-40B4-BE49-F238E27FC236}">
                <a16:creationId xmlns:a16="http://schemas.microsoft.com/office/drawing/2014/main" id="{78663F5F-B14D-48AD-B315-29120C07BDCC}"/>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name="Slide838840289">
    <p:spTree>
      <p:nvGrpSpPr>
        <p:cNvPr id="1" name=""/>
        <p:cNvGrpSpPr/>
        <p:nvPr/>
      </p:nvGrpSpPr>
      <p:grpSpPr>
        <a:xfrm>
          <a:off x="0" y="0"/>
          <a:ext cx="0" cy="0"/>
          <a:chOff x="0" y="0"/>
          <a:chExt cx="0" cy="0"/>
        </a:xfrm>
      </p:grpSpPr>
      <p:cxnSp>
        <p:nvCxnSpPr>
          <p:cNvPr id="2" name="Straight Connector 17">
            <a:extLst>
              <a:ext uri="{FF2B5EF4-FFF2-40B4-BE49-F238E27FC236}">
                <a16:creationId xmlns:a16="http://schemas.microsoft.com/office/drawing/2014/main" id="{586172CA-579C-4634-8BDF-27188313310C}"/>
              </a:ext>
            </a:extLst>
          </p:cNvPr>
          <p:cNvCxnSpPr/>
          <p:nvPr/>
        </p:nvCxnSpPr>
        <p:spPr>
          <a:xfrm>
            <a:off x="325937" y="186903"/>
            <a:ext cx="0" cy="422050"/>
          </a:xfrm>
          <a:prstGeom prst="straightConnector1">
            <a:avLst/>
          </a:prstGeom>
          <a:noFill/>
          <a:ln w="28575" cap="flat">
            <a:solidFill>
              <a:srgbClr val="D9D9D9"/>
            </a:solidFill>
            <a:prstDash val="solid"/>
            <a:miter/>
          </a:ln>
        </p:spPr>
      </p:cxnSp>
      <p:cxnSp>
        <p:nvCxnSpPr>
          <p:cNvPr id="3" name="Straight Connector 11">
            <a:extLst>
              <a:ext uri="{FF2B5EF4-FFF2-40B4-BE49-F238E27FC236}">
                <a16:creationId xmlns:a16="http://schemas.microsoft.com/office/drawing/2014/main" id="{6DCB3A7E-EF6C-4C12-BDF7-B33B8FEEF61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12">
            <a:extLst>
              <a:ext uri="{FF2B5EF4-FFF2-40B4-BE49-F238E27FC236}">
                <a16:creationId xmlns:a16="http://schemas.microsoft.com/office/drawing/2014/main" id="{AB8B8140-1DDF-4624-89F4-4799B19AC284}"/>
              </a:ext>
            </a:extLst>
          </p:cNvPr>
          <p:cNvSpPr txBox="1"/>
          <p:nvPr/>
        </p:nvSpPr>
        <p:spPr>
          <a:xfrm>
            <a:off x="363967" y="248844"/>
            <a:ext cx="3406953"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FUNCTIONAL CALL OUTS: OUT OF SCOPE</a:t>
            </a:r>
          </a:p>
        </p:txBody>
      </p:sp>
      <p:graphicFrame>
        <p:nvGraphicFramePr>
          <p:cNvPr id="5" name="Table 31">
            <a:extLst>
              <a:ext uri="{FF2B5EF4-FFF2-40B4-BE49-F238E27FC236}">
                <a16:creationId xmlns:a16="http://schemas.microsoft.com/office/drawing/2014/main" id="{C99A62B4-4126-465C-9795-00D307710035}"/>
              </a:ext>
            </a:extLst>
          </p:cNvPr>
          <p:cNvGraphicFramePr>
            <a:graphicFrameLocks noGrp="1"/>
          </p:cNvGraphicFramePr>
          <p:nvPr/>
        </p:nvGraphicFramePr>
        <p:xfrm>
          <a:off x="413656" y="1445264"/>
          <a:ext cx="11445837" cy="1097280"/>
        </p:xfrm>
        <a:graphic>
          <a:graphicData uri="http://schemas.openxmlformats.org/drawingml/2006/table">
            <a:tbl>
              <a:tblPr firstRow="1" bandRow="1">
                <a:effectLst/>
                <a:tableStyleId>{5C22544A-7EE6-4342-B048-85BDC9FD1C3A}</a:tableStyleId>
              </a:tblPr>
              <a:tblGrid>
                <a:gridCol w="11445837">
                  <a:extLst>
                    <a:ext uri="{9D8B030D-6E8A-4147-A177-3AD203B41FA5}">
                      <a16:colId xmlns:a16="http://schemas.microsoft.com/office/drawing/2014/main" val="3204360151"/>
                    </a:ext>
                  </a:extLst>
                </a:gridCol>
              </a:tblGrid>
              <a:tr h="210055">
                <a:tc>
                  <a:txBody>
                    <a:bodyPr/>
                    <a:lstStyle/>
                    <a:p>
                      <a:pPr lvl="0"/>
                      <a:r>
                        <a:rPr lang="en-GB" sz="1200"/>
                        <a:t>Out of Scope CDS Functionality</a:t>
                      </a:r>
                    </a:p>
                  </a:txBody>
                  <a:tcPr anchor="ctr">
                    <a:solidFill>
                      <a:srgbClr val="7030A0"/>
                    </a:solidFill>
                  </a:tcPr>
                </a:tc>
                <a:extLst>
                  <a:ext uri="{0D108BD9-81ED-4DB2-BD59-A6C34878D82A}">
                    <a16:rowId xmlns:a16="http://schemas.microsoft.com/office/drawing/2014/main" val="1737017887"/>
                  </a:ext>
                </a:extLst>
              </a:tr>
              <a:tr h="0">
                <a:tc>
                  <a:txBody>
                    <a:bodyPr/>
                    <a:lstStyle/>
                    <a:p>
                      <a:pPr marL="0" marR="0" lvl="0" indent="0" algn="l" defTabSz="914400" rtl="0" fontAlgn="auto" hangingPunct="1">
                        <a:lnSpc>
                          <a:spcPct val="100000"/>
                        </a:lnSpc>
                        <a:spcBef>
                          <a:spcPts val="0"/>
                        </a:spcBef>
                        <a:spcAft>
                          <a:spcPts val="0"/>
                        </a:spcAft>
                        <a:buNone/>
                        <a:tabLst/>
                      </a:pPr>
                      <a:r>
                        <a:rPr lang="en-GB" sz="1200" b="1" kern="0" dirty="0"/>
                        <a:t>Country of Preferential Origin</a:t>
                      </a:r>
                      <a:endParaRPr lang="en-GB" sz="1000" b="1" dirty="0"/>
                    </a:p>
                    <a:p>
                      <a:pPr marL="0" marR="0" lvl="0" indent="0" algn="l" defTabSz="914400" rtl="0" fontAlgn="auto" hangingPunct="1">
                        <a:lnSpc>
                          <a:spcPct val="100000"/>
                        </a:lnSpc>
                        <a:spcBef>
                          <a:spcPts val="0"/>
                        </a:spcBef>
                        <a:spcAft>
                          <a:spcPts val="0"/>
                        </a:spcAft>
                        <a:buNone/>
                        <a:tabLst/>
                      </a:pPr>
                      <a:r>
                        <a:rPr lang="en-GB" sz="1200" dirty="0"/>
                        <a:t>The UCC has introduced DE 5/16 Country of Preferential Origin to facilitate import declarations for goods that originated from one country but have gained preferential origin in another country. The UCC allows either a country code or a 4-character country group code (as defined in TARIC) to be declared in 5/16, and this is reflected in Tariff Volume 3 Guidance.  Please note that </a:t>
                      </a:r>
                      <a:r>
                        <a:rPr lang="en-GB" sz="1200" b="1" dirty="0"/>
                        <a:t>country group code is not currently supported </a:t>
                      </a:r>
                      <a:r>
                        <a:rPr lang="en-GB" sz="1200" dirty="0"/>
                        <a:t>on CDS.</a:t>
                      </a:r>
                      <a:endParaRPr lang="en-GB" sz="1200" b="0" i="0" u="none" strike="noStrike" dirty="0">
                        <a:solidFill>
                          <a:srgbClr val="FF0000"/>
                        </a:solidFill>
                        <a:latin typeface="Calibri"/>
                      </a:endParaRPr>
                    </a:p>
                  </a:txBody>
                  <a:tcPr>
                    <a:solidFill>
                      <a:srgbClr val="F2F2F2"/>
                    </a:solidFill>
                  </a:tcPr>
                </a:tc>
                <a:extLst>
                  <a:ext uri="{0D108BD9-81ED-4DB2-BD59-A6C34878D82A}">
                    <a16:rowId xmlns:a16="http://schemas.microsoft.com/office/drawing/2014/main" val="937734605"/>
                  </a:ext>
                </a:extLst>
              </a:tr>
            </a:tbl>
          </a:graphicData>
        </a:graphic>
      </p:graphicFrame>
      <p:sp>
        <p:nvSpPr>
          <p:cNvPr id="6" name="Rectangle 4">
            <a:extLst>
              <a:ext uri="{FF2B5EF4-FFF2-40B4-BE49-F238E27FC236}">
                <a16:creationId xmlns:a16="http://schemas.microsoft.com/office/drawing/2014/main" id="{AB915649-E15B-4584-9AC4-B82D276DB386}"/>
              </a:ext>
            </a:extLst>
          </p:cNvPr>
          <p:cNvSpPr/>
          <p:nvPr/>
        </p:nvSpPr>
        <p:spPr>
          <a:xfrm>
            <a:off x="327382" y="683998"/>
            <a:ext cx="5496558" cy="40011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000" b="1" i="0" u="none" strike="noStrike" kern="1200" cap="none" spc="0" baseline="0">
                <a:solidFill>
                  <a:srgbClr val="000000"/>
                </a:solidFill>
                <a:uFillTx/>
                <a:latin typeface="Calibri" pitchFamily="34"/>
                <a:ea typeface="Calibri" pitchFamily="34"/>
              </a:rPr>
              <a:t>Out of Scope Functionality (All Environments) </a:t>
            </a:r>
            <a:endParaRPr lang="en-GB" sz="2400" b="1" i="0" u="none" strike="noStrike" kern="1200" cap="none" spc="0" baseline="0">
              <a:solidFill>
                <a:srgbClr val="000000"/>
              </a:solidFill>
              <a:uFillTx/>
              <a:latin typeface="Calibri" pitchFamily="34"/>
              <a:ea typeface="Calibri" pitchFamily="34"/>
            </a:endParaRPr>
          </a:p>
        </p:txBody>
      </p:sp>
      <p:sp>
        <p:nvSpPr>
          <p:cNvPr id="7" name="Rectangle 4">
            <a:extLst>
              <a:ext uri="{FF2B5EF4-FFF2-40B4-BE49-F238E27FC236}">
                <a16:creationId xmlns:a16="http://schemas.microsoft.com/office/drawing/2014/main" id="{42AE0EC7-F950-4364-A90D-CA219C0156D2}"/>
              </a:ext>
            </a:extLst>
          </p:cNvPr>
          <p:cNvSpPr/>
          <p:nvPr/>
        </p:nvSpPr>
        <p:spPr>
          <a:xfrm>
            <a:off x="328589" y="1084103"/>
            <a:ext cx="5454249" cy="30777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0" cap="none" spc="0" baseline="0">
                <a:solidFill>
                  <a:srgbClr val="000000"/>
                </a:solidFill>
                <a:uFillTx/>
                <a:latin typeface="Calibri"/>
              </a:rPr>
              <a:t>3. Other Scope Areas</a:t>
            </a:r>
            <a:endParaRPr lang="en-GB" sz="1050" b="1" i="0" u="none" strike="noStrike" kern="1200" cap="none" spc="0" baseline="0">
              <a:solidFill>
                <a:srgbClr val="000000"/>
              </a:solidFill>
              <a:uFillTx/>
              <a:latin typeface="Calibri"/>
            </a:endParaRPr>
          </a:p>
        </p:txBody>
      </p:sp>
      <p:sp>
        <p:nvSpPr>
          <p:cNvPr id="8" name="Slide Number Placeholder 5">
            <a:extLst>
              <a:ext uri="{FF2B5EF4-FFF2-40B4-BE49-F238E27FC236}">
                <a16:creationId xmlns:a16="http://schemas.microsoft.com/office/drawing/2014/main" id="{699DC4AE-E08F-4270-A278-CE4C7F015F8B}"/>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EE81A4DE-DC0C-4A83-8F75-225340DC7FFF}" type="slidenum">
              <a:rPr sz="1200"/>
              <a:t>443</a:t>
            </a:fld>
            <a:endParaRPr lang="en-GB" sz="1200" b="0" i="0" u="none" strike="noStrike" kern="1200" cap="none" spc="0" baseline="0">
              <a:solidFill>
                <a:srgbClr val="000000"/>
              </a:solidFill>
              <a:uFillTx/>
              <a:latin typeface="Calibri"/>
            </a:endParaRPr>
          </a:p>
        </p:txBody>
      </p:sp>
      <p:sp>
        <p:nvSpPr>
          <p:cNvPr id="9" name="Oval 26">
            <a:hlinkClick r:id="rId3" action="ppaction://hlinksldjump"/>
            <a:extLst>
              <a:ext uri="{FF2B5EF4-FFF2-40B4-BE49-F238E27FC236}">
                <a16:creationId xmlns:a16="http://schemas.microsoft.com/office/drawing/2014/main" id="{F288B86A-4A12-4CC3-AEB7-CAD5672E8037}"/>
              </a:ext>
            </a:extLst>
          </p:cNvPr>
          <p:cNvSpPr/>
          <p:nvPr/>
        </p:nvSpPr>
        <p:spPr>
          <a:xfrm>
            <a:off x="10320677"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27">
            <a:hlinkClick r:id="rId3" action="ppaction://hlinksldjump"/>
            <a:extLst>
              <a:ext uri="{FF2B5EF4-FFF2-40B4-BE49-F238E27FC236}">
                <a16:creationId xmlns:a16="http://schemas.microsoft.com/office/drawing/2014/main" id="{D4097590-295B-42CC-A82B-36D2336B3E90}"/>
              </a:ext>
            </a:extLst>
          </p:cNvPr>
          <p:cNvSpPr/>
          <p:nvPr/>
        </p:nvSpPr>
        <p:spPr>
          <a:xfrm>
            <a:off x="10634279"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28">
            <a:hlinkClick r:id="rId4" action="ppaction://hlinksldjump"/>
            <a:extLst>
              <a:ext uri="{FF2B5EF4-FFF2-40B4-BE49-F238E27FC236}">
                <a16:creationId xmlns:a16="http://schemas.microsoft.com/office/drawing/2014/main" id="{CA8508DB-34C1-4CA0-B021-AD2B87F685E4}"/>
              </a:ext>
            </a:extLst>
          </p:cNvPr>
          <p:cNvSpPr/>
          <p:nvPr/>
        </p:nvSpPr>
        <p:spPr>
          <a:xfrm>
            <a:off x="1095645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29">
            <a:hlinkClick r:id="rId5" action="ppaction://hlinksldjump"/>
            <a:extLst>
              <a:ext uri="{FF2B5EF4-FFF2-40B4-BE49-F238E27FC236}">
                <a16:creationId xmlns:a16="http://schemas.microsoft.com/office/drawing/2014/main" id="{AB9C5907-B2B2-4815-A342-7AE128F8260C}"/>
              </a:ext>
            </a:extLst>
          </p:cNvPr>
          <p:cNvSpPr/>
          <p:nvPr/>
        </p:nvSpPr>
        <p:spPr>
          <a:xfrm>
            <a:off x="11271790"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30">
            <a:hlinkClick r:id="rId3" action="ppaction://hlinksldjump"/>
            <a:extLst>
              <a:ext uri="{FF2B5EF4-FFF2-40B4-BE49-F238E27FC236}">
                <a16:creationId xmlns:a16="http://schemas.microsoft.com/office/drawing/2014/main" id="{4A8ACC54-41A4-4BCA-8A9E-B7393C0A0C3B}"/>
              </a:ext>
            </a:extLst>
          </p:cNvPr>
          <p:cNvSpPr txBox="1"/>
          <p:nvPr/>
        </p:nvSpPr>
        <p:spPr>
          <a:xfrm>
            <a:off x="1033367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43">
            <a:hlinkClick r:id="rId3" action="ppaction://hlinksldjump"/>
            <a:extLst>
              <a:ext uri="{FF2B5EF4-FFF2-40B4-BE49-F238E27FC236}">
                <a16:creationId xmlns:a16="http://schemas.microsoft.com/office/drawing/2014/main" id="{593265F9-3DD6-429B-AFAE-BBCD05BA0A5B}"/>
              </a:ext>
            </a:extLst>
          </p:cNvPr>
          <p:cNvSpPr txBox="1"/>
          <p:nvPr/>
        </p:nvSpPr>
        <p:spPr>
          <a:xfrm>
            <a:off x="1064181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44">
            <a:hlinkClick r:id="rId4" action="ppaction://hlinksldjump"/>
            <a:extLst>
              <a:ext uri="{FF2B5EF4-FFF2-40B4-BE49-F238E27FC236}">
                <a16:creationId xmlns:a16="http://schemas.microsoft.com/office/drawing/2014/main" id="{ABCE7CB8-E48A-409E-A4A4-D7BCF261D457}"/>
              </a:ext>
            </a:extLst>
          </p:cNvPr>
          <p:cNvSpPr txBox="1"/>
          <p:nvPr/>
        </p:nvSpPr>
        <p:spPr>
          <a:xfrm>
            <a:off x="10961882"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6" name="TextBox 45">
            <a:hlinkClick r:id="rId4" action="ppaction://hlinksldjump"/>
            <a:extLst>
              <a:ext uri="{FF2B5EF4-FFF2-40B4-BE49-F238E27FC236}">
                <a16:creationId xmlns:a16="http://schemas.microsoft.com/office/drawing/2014/main" id="{26737FF0-4D5E-4B95-B45D-380094B019DE}"/>
              </a:ext>
            </a:extLst>
          </p:cNvPr>
          <p:cNvSpPr txBox="1"/>
          <p:nvPr/>
        </p:nvSpPr>
        <p:spPr>
          <a:xfrm>
            <a:off x="11271790"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46">
            <a:extLst>
              <a:ext uri="{FF2B5EF4-FFF2-40B4-BE49-F238E27FC236}">
                <a16:creationId xmlns:a16="http://schemas.microsoft.com/office/drawing/2014/main" id="{6B0BFA61-8F67-45C3-83A0-6D3952F55B1E}"/>
              </a:ext>
            </a:extLst>
          </p:cNvPr>
          <p:cNvSpPr/>
          <p:nvPr/>
        </p:nvSpPr>
        <p:spPr>
          <a:xfrm>
            <a:off x="11597947"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009999"/>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47">
            <a:hlinkClick r:id="rId6" action="ppaction://hlinksldjump"/>
            <a:extLst>
              <a:ext uri="{FF2B5EF4-FFF2-40B4-BE49-F238E27FC236}">
                <a16:creationId xmlns:a16="http://schemas.microsoft.com/office/drawing/2014/main" id="{4A5DB808-7A02-403E-9E21-02D2A85E05F2}"/>
              </a:ext>
            </a:extLst>
          </p:cNvPr>
          <p:cNvSpPr txBox="1"/>
          <p:nvPr/>
        </p:nvSpPr>
        <p:spPr>
          <a:xfrm>
            <a:off x="11624840" y="223333"/>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FFFFFF"/>
                </a:solidFill>
                <a:uFillTx/>
                <a:latin typeface="Calibri"/>
              </a:rPr>
              <a:t>5</a:t>
            </a:r>
          </a:p>
        </p:txBody>
      </p:sp>
      <p:pic>
        <p:nvPicPr>
          <p:cNvPr id="19" name="Picture 40">
            <a:hlinkClick r:id="rId3" action="ppaction://hlinksldjump"/>
            <a:extLst>
              <a:ext uri="{FF2B5EF4-FFF2-40B4-BE49-F238E27FC236}">
                <a16:creationId xmlns:a16="http://schemas.microsoft.com/office/drawing/2014/main" id="{96B9CAD1-7DC9-4720-9B6D-07804006CEB1}"/>
              </a:ext>
            </a:extLst>
          </p:cNvPr>
          <p:cNvPicPr>
            <a:picLocks noChangeAspect="1"/>
          </p:cNvPicPr>
          <p:nvPr/>
        </p:nvPicPr>
        <p:blipFill>
          <a:blip r:embed="rId7">
            <a:alphaModFix amt="35000"/>
          </a:blip>
          <a:srcRect l="20606" t="21077" r="21527" b="31021"/>
          <a:stretch>
            <a:fillRect/>
          </a:stretch>
        </p:blipFill>
        <p:spPr>
          <a:xfrm>
            <a:off x="10028188" y="272070"/>
            <a:ext cx="256918" cy="210595"/>
          </a:xfrm>
          <a:prstGeom prst="rect">
            <a:avLst/>
          </a:prstGeom>
          <a:noFill/>
          <a:ln cap="flat">
            <a:noFill/>
          </a:ln>
        </p:spPr>
      </p:pic>
      <p:sp>
        <p:nvSpPr>
          <p:cNvPr id="20" name="Oval 49">
            <a:hlinkClick r:id="rId3" action="ppaction://hlinksldjump"/>
            <a:extLst>
              <a:ext uri="{FF2B5EF4-FFF2-40B4-BE49-F238E27FC236}">
                <a16:creationId xmlns:a16="http://schemas.microsoft.com/office/drawing/2014/main" id="{2BB2D1B1-25B0-4114-86D3-7B33F62C8BAB}"/>
              </a:ext>
            </a:extLst>
          </p:cNvPr>
          <p:cNvSpPr/>
          <p:nvPr/>
        </p:nvSpPr>
        <p:spPr>
          <a:xfrm>
            <a:off x="9997592"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name="Slide838840291">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3D939625-2966-4A8B-A7B9-DB90A0C7DB5D}"/>
              </a:ext>
            </a:extLst>
          </p:cNvPr>
          <p:cNvSpPr/>
          <p:nvPr/>
        </p:nvSpPr>
        <p:spPr>
          <a:xfrm>
            <a:off x="942344" y="2807208"/>
            <a:ext cx="2210369" cy="666240"/>
          </a:xfrm>
          <a:prstGeom prst="rect">
            <a:avLst/>
          </a:prstGeom>
          <a:solidFill>
            <a:srgbClr val="009999"/>
          </a:solidFill>
          <a:ln w="25402" cap="flat">
            <a:solidFill>
              <a:srgbClr val="009999"/>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4000" b="1" i="0" u="none" strike="noStrike" kern="0" cap="none" spc="0" baseline="0">
                <a:solidFill>
                  <a:srgbClr val="FFFFFF"/>
                </a:solidFill>
                <a:uFillTx/>
                <a:latin typeface="Calibri"/>
              </a:rPr>
              <a:t>Appendix</a:t>
            </a:r>
          </a:p>
        </p:txBody>
      </p:sp>
      <p:sp>
        <p:nvSpPr>
          <p:cNvPr id="3" name="Slide Number Placeholder 5">
            <a:extLst>
              <a:ext uri="{FF2B5EF4-FFF2-40B4-BE49-F238E27FC236}">
                <a16:creationId xmlns:a16="http://schemas.microsoft.com/office/drawing/2014/main" id="{A91BCE6F-8702-4D68-8146-DB16A20F2D17}"/>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A3256A64-662D-43F6-9ACD-DB6A223EFAF8}" type="slidenum">
              <a:rPr sz="1200"/>
              <a:t>444</a:t>
            </a:fld>
            <a:endParaRPr lang="en-GB" sz="1200" b="0" i="0" u="none" strike="noStrike" kern="1200" cap="none" spc="0" baseline="0" dirty="0">
              <a:solidFill>
                <a:srgbClr val="000000"/>
              </a:solidFill>
              <a:uFillTx/>
              <a:latin typeface="Calibri"/>
            </a:endParaRPr>
          </a:p>
        </p:txBody>
      </p:sp>
      <p:pic>
        <p:nvPicPr>
          <p:cNvPr id="4" name="Picture 8" descr="100% HMRCppt logo">
            <a:extLst>
              <a:ext uri="{FF2B5EF4-FFF2-40B4-BE49-F238E27FC236}">
                <a16:creationId xmlns:a16="http://schemas.microsoft.com/office/drawing/2014/main" id="{EE1FF1A8-CAB0-4ACA-8BA5-04129DBC7EAA}"/>
              </a:ext>
            </a:extLst>
          </p:cNvPr>
          <p:cNvPicPr>
            <a:picLocks noChangeAspect="1"/>
          </p:cNvPicPr>
          <p:nvPr/>
        </p:nvPicPr>
        <p:blipFill>
          <a:blip r:embed="rId2"/>
          <a:srcRect/>
          <a:stretch>
            <a:fillRect/>
          </a:stretch>
        </p:blipFill>
        <p:spPr>
          <a:xfrm>
            <a:off x="901250" y="765316"/>
            <a:ext cx="1810512" cy="1115568"/>
          </a:xfrm>
          <a:prstGeom prst="rect">
            <a:avLst/>
          </a:prstGeom>
          <a:noFill/>
          <a:ln cap="flat">
            <a:noFill/>
          </a:ln>
        </p:spPr>
      </p:pic>
      <p:sp>
        <p:nvSpPr>
          <p:cNvPr id="5" name="Oval 20">
            <a:hlinkClick r:id="rId3" action="ppaction://hlinksldjump"/>
            <a:extLst>
              <a:ext uri="{FF2B5EF4-FFF2-40B4-BE49-F238E27FC236}">
                <a16:creationId xmlns:a16="http://schemas.microsoft.com/office/drawing/2014/main" id="{F8B758D8-09EF-4E28-BA60-126C10F5C5BC}"/>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6" name="Oval 21">
            <a:hlinkClick r:id="rId3" action="ppaction://hlinksldjump"/>
            <a:extLst>
              <a:ext uri="{FF2B5EF4-FFF2-40B4-BE49-F238E27FC236}">
                <a16:creationId xmlns:a16="http://schemas.microsoft.com/office/drawing/2014/main" id="{89A42122-540E-4258-93F5-635AA9B04C10}"/>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7" name="Oval 22">
            <a:hlinkClick r:id="rId4" action="ppaction://hlinksldjump"/>
            <a:extLst>
              <a:ext uri="{FF2B5EF4-FFF2-40B4-BE49-F238E27FC236}">
                <a16:creationId xmlns:a16="http://schemas.microsoft.com/office/drawing/2014/main" id="{B0BACE7F-E9A2-45DD-9C4D-DA216C70208A}"/>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8" name="Oval 23">
            <a:hlinkClick r:id="rId5" action="ppaction://hlinksldjump"/>
            <a:extLst>
              <a:ext uri="{FF2B5EF4-FFF2-40B4-BE49-F238E27FC236}">
                <a16:creationId xmlns:a16="http://schemas.microsoft.com/office/drawing/2014/main" id="{D7BAFA18-9408-4C77-8B43-323A86FAA081}"/>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TextBox 24">
            <a:hlinkClick r:id="rId3" action="ppaction://hlinksldjump"/>
            <a:extLst>
              <a:ext uri="{FF2B5EF4-FFF2-40B4-BE49-F238E27FC236}">
                <a16:creationId xmlns:a16="http://schemas.microsoft.com/office/drawing/2014/main" id="{2377F5CF-6184-414C-A1DE-12970A0B2719}"/>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0" name="TextBox 25">
            <a:hlinkClick r:id="rId3" action="ppaction://hlinksldjump"/>
            <a:extLst>
              <a:ext uri="{FF2B5EF4-FFF2-40B4-BE49-F238E27FC236}">
                <a16:creationId xmlns:a16="http://schemas.microsoft.com/office/drawing/2014/main" id="{D02BAC6E-4BCD-4084-B076-7E5BAAD88A4A}"/>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1" name="TextBox 26">
            <a:hlinkClick r:id="rId4" action="ppaction://hlinksldjump"/>
            <a:extLst>
              <a:ext uri="{FF2B5EF4-FFF2-40B4-BE49-F238E27FC236}">
                <a16:creationId xmlns:a16="http://schemas.microsoft.com/office/drawing/2014/main" id="{F8B80A66-FA0C-4ADD-92EA-CFD195E87EA5}"/>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2" name="TextBox 27">
            <a:hlinkClick r:id="rId4" action="ppaction://hlinksldjump"/>
            <a:extLst>
              <a:ext uri="{FF2B5EF4-FFF2-40B4-BE49-F238E27FC236}">
                <a16:creationId xmlns:a16="http://schemas.microsoft.com/office/drawing/2014/main" id="{684A963F-69D3-4E88-A432-40EED2787732}"/>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3" name="Oval 28">
            <a:extLst>
              <a:ext uri="{FF2B5EF4-FFF2-40B4-BE49-F238E27FC236}">
                <a16:creationId xmlns:a16="http://schemas.microsoft.com/office/drawing/2014/main" id="{F17B36E9-C717-4EAD-9180-DD023E008432}"/>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29">
            <a:hlinkClick r:id="rId6" action="ppaction://hlinksldjump"/>
            <a:extLst>
              <a:ext uri="{FF2B5EF4-FFF2-40B4-BE49-F238E27FC236}">
                <a16:creationId xmlns:a16="http://schemas.microsoft.com/office/drawing/2014/main" id="{34F3BA53-5ACD-4B5E-A661-09B595979857}"/>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5" name="Picture 30">
            <a:hlinkClick r:id="rId3" action="ppaction://hlinksldjump"/>
            <a:extLst>
              <a:ext uri="{FF2B5EF4-FFF2-40B4-BE49-F238E27FC236}">
                <a16:creationId xmlns:a16="http://schemas.microsoft.com/office/drawing/2014/main" id="{4C21FBC7-FB4F-4CB0-AD3C-D8EA2862B415}"/>
              </a:ext>
            </a:extLst>
          </p:cNvPr>
          <p:cNvPicPr>
            <a:picLocks noChangeAspect="1"/>
          </p:cNvPicPr>
          <p:nvPr/>
        </p:nvPicPr>
        <p:blipFill>
          <a:blip r:embed="rId7">
            <a:alphaModFix amt="35000"/>
          </a:blip>
          <a:srcRect l="20606" t="21077" r="21527" b="31021"/>
          <a:stretch>
            <a:fillRect/>
          </a:stretch>
        </p:blipFill>
        <p:spPr>
          <a:xfrm>
            <a:off x="10082201" y="272070"/>
            <a:ext cx="256918" cy="210595"/>
          </a:xfrm>
          <a:prstGeom prst="rect">
            <a:avLst/>
          </a:prstGeom>
          <a:noFill/>
          <a:ln cap="flat">
            <a:noFill/>
          </a:ln>
        </p:spPr>
      </p:pic>
      <p:sp>
        <p:nvSpPr>
          <p:cNvPr id="16" name="Oval 31">
            <a:hlinkClick r:id="rId3" action="ppaction://hlinksldjump"/>
            <a:extLst>
              <a:ext uri="{FF2B5EF4-FFF2-40B4-BE49-F238E27FC236}">
                <a16:creationId xmlns:a16="http://schemas.microsoft.com/office/drawing/2014/main" id="{296A0A40-09A7-4E94-A311-F7739323DEA3}"/>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name="Slide4352">
    <p:spTree>
      <p:nvGrpSpPr>
        <p:cNvPr id="1" name=""/>
        <p:cNvGrpSpPr/>
        <p:nvPr/>
      </p:nvGrpSpPr>
      <p:grpSpPr>
        <a:xfrm>
          <a:off x="0" y="0"/>
          <a:ext cx="0" cy="0"/>
          <a:chOff x="0" y="0"/>
          <a:chExt cx="0" cy="0"/>
        </a:xfrm>
      </p:grpSpPr>
      <p:sp>
        <p:nvSpPr>
          <p:cNvPr id="3" name="TextBox 4">
            <a:extLst>
              <a:ext uri="{FF2B5EF4-FFF2-40B4-BE49-F238E27FC236}">
                <a16:creationId xmlns:a16="http://schemas.microsoft.com/office/drawing/2014/main" id="{6EBB09E4-FA4E-4C69-BA12-3F33F218E87A}"/>
              </a:ext>
            </a:extLst>
          </p:cNvPr>
          <p:cNvSpPr txBox="1"/>
          <p:nvPr/>
        </p:nvSpPr>
        <p:spPr>
          <a:xfrm>
            <a:off x="363967" y="1033747"/>
            <a:ext cx="11664004" cy="276999"/>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table below provides an overview of the core capabilities of the CDS system, as delivered under MVP in </a:t>
            </a:r>
            <a:r>
              <a:rPr lang="en-GB" sz="1200" b="1" i="0" u="none" strike="noStrike" kern="1200" cap="none" spc="0" baseline="0">
                <a:solidFill>
                  <a:srgbClr val="000000"/>
                </a:solidFill>
                <a:uFillTx/>
                <a:latin typeface="Calibri"/>
              </a:rPr>
              <a:t>March 2020</a:t>
            </a:r>
            <a:r>
              <a:rPr lang="en-GB" sz="1200" b="0" i="0" u="none" strike="noStrike" kern="1200" cap="none" spc="0" baseline="0">
                <a:solidFill>
                  <a:srgbClr val="000000"/>
                </a:solidFill>
                <a:uFillTx/>
                <a:latin typeface="Calibri"/>
              </a:rPr>
              <a:t> </a:t>
            </a:r>
            <a:r>
              <a:rPr lang="en-GB" sz="1200" b="1" i="0" u="none" strike="noStrike" kern="1200" cap="none" spc="0" baseline="0">
                <a:solidFill>
                  <a:srgbClr val="000000"/>
                </a:solidFill>
                <a:uFillTx/>
                <a:latin typeface="Calibri"/>
              </a:rPr>
              <a:t>. </a:t>
            </a:r>
            <a:endParaRPr lang="en-GB" sz="1400" b="0" i="0" u="none" strike="noStrike" kern="1200" cap="none" spc="0" baseline="0">
              <a:solidFill>
                <a:srgbClr val="000000"/>
              </a:solidFill>
              <a:uFillTx/>
              <a:latin typeface="Calibri"/>
            </a:endParaRPr>
          </a:p>
        </p:txBody>
      </p:sp>
      <p:sp>
        <p:nvSpPr>
          <p:cNvPr id="4" name="Rectangle 5">
            <a:extLst>
              <a:ext uri="{FF2B5EF4-FFF2-40B4-BE49-F238E27FC236}">
                <a16:creationId xmlns:a16="http://schemas.microsoft.com/office/drawing/2014/main" id="{D31FAEA6-181B-4D53-B357-841C5A32BC58}"/>
              </a:ext>
            </a:extLst>
          </p:cNvPr>
          <p:cNvSpPr/>
          <p:nvPr/>
        </p:nvSpPr>
        <p:spPr>
          <a:xfrm>
            <a:off x="363967" y="605351"/>
            <a:ext cx="5496558"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CDS Core MVP Scope</a:t>
            </a:r>
          </a:p>
        </p:txBody>
      </p:sp>
      <p:cxnSp>
        <p:nvCxnSpPr>
          <p:cNvPr id="5" name="Straight Connector 11">
            <a:extLst>
              <a:ext uri="{FF2B5EF4-FFF2-40B4-BE49-F238E27FC236}">
                <a16:creationId xmlns:a16="http://schemas.microsoft.com/office/drawing/2014/main" id="{16254C21-5A03-4EA7-B271-80D2239BCA35}"/>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6" name="TextBox 12">
            <a:extLst>
              <a:ext uri="{FF2B5EF4-FFF2-40B4-BE49-F238E27FC236}">
                <a16:creationId xmlns:a16="http://schemas.microsoft.com/office/drawing/2014/main" id="{919CC54C-EE52-4459-8A92-64FB09713B69}"/>
              </a:ext>
            </a:extLst>
          </p:cNvPr>
          <p:cNvSpPr txBox="1"/>
          <p:nvPr/>
        </p:nvSpPr>
        <p:spPr>
          <a:xfrm>
            <a:off x="363967" y="248844"/>
            <a:ext cx="183011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Historical CDS Scope</a:t>
            </a:r>
          </a:p>
        </p:txBody>
      </p:sp>
      <p:sp>
        <p:nvSpPr>
          <p:cNvPr id="7" name="Slide Number Placeholder 5">
            <a:extLst>
              <a:ext uri="{FF2B5EF4-FFF2-40B4-BE49-F238E27FC236}">
                <a16:creationId xmlns:a16="http://schemas.microsoft.com/office/drawing/2014/main" id="{DDCF4EBE-E513-443C-A731-FA2117CC5CE8}"/>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1540065-2B77-4A24-8FE5-AEF5F57BCAD6}" type="slidenum">
              <a:rPr sz="1200"/>
              <a:t>445</a:t>
            </a:fld>
            <a:endParaRPr lang="en-GB" sz="1200" b="0" i="0" u="none" strike="noStrike" kern="1200" cap="none" spc="0" baseline="0">
              <a:solidFill>
                <a:srgbClr val="000000"/>
              </a:solidFill>
              <a:uFillTx/>
              <a:latin typeface="Calibri"/>
            </a:endParaRPr>
          </a:p>
        </p:txBody>
      </p:sp>
      <p:sp>
        <p:nvSpPr>
          <p:cNvPr id="8" name="Rectangle 92">
            <a:extLst>
              <a:ext uri="{FF2B5EF4-FFF2-40B4-BE49-F238E27FC236}">
                <a16:creationId xmlns:a16="http://schemas.microsoft.com/office/drawing/2014/main" id="{3A76A1DE-2EA5-40DE-81B2-EFFC81490B06}"/>
              </a:ext>
            </a:extLst>
          </p:cNvPr>
          <p:cNvSpPr/>
          <p:nvPr/>
        </p:nvSpPr>
        <p:spPr>
          <a:xfrm>
            <a:off x="448677" y="1323401"/>
            <a:ext cx="2392445" cy="215359"/>
          </a:xfrm>
          <a:prstGeom prst="rect">
            <a:avLst/>
          </a:prstGeom>
          <a:solidFill>
            <a:srgbClr val="009999"/>
          </a:solidFill>
          <a:ln w="25402"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0" cap="none" spc="0" baseline="0">
                <a:solidFill>
                  <a:srgbClr val="FFFFFF"/>
                </a:solidFill>
                <a:uFillTx/>
                <a:latin typeface="Calibri"/>
              </a:rPr>
              <a:t>Registration &amp; Subscription</a:t>
            </a:r>
          </a:p>
        </p:txBody>
      </p:sp>
      <p:sp>
        <p:nvSpPr>
          <p:cNvPr id="9" name="Rectangle 94">
            <a:extLst>
              <a:ext uri="{FF2B5EF4-FFF2-40B4-BE49-F238E27FC236}">
                <a16:creationId xmlns:a16="http://schemas.microsoft.com/office/drawing/2014/main" id="{953BF272-B084-4CFC-A9E4-2D32A663EAEB}"/>
              </a:ext>
            </a:extLst>
          </p:cNvPr>
          <p:cNvSpPr/>
          <p:nvPr/>
        </p:nvSpPr>
        <p:spPr>
          <a:xfrm>
            <a:off x="2889888" y="1326309"/>
            <a:ext cx="6592165" cy="224540"/>
          </a:xfrm>
          <a:prstGeom prst="rect">
            <a:avLst/>
          </a:prstGeom>
          <a:solidFill>
            <a:srgbClr val="009999"/>
          </a:solidFill>
          <a:ln w="25402"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0" cap="none" spc="0" baseline="0">
                <a:solidFill>
                  <a:srgbClr val="FFFFFF"/>
                </a:solidFill>
                <a:uFillTx/>
                <a:latin typeface="Calibri"/>
              </a:rPr>
              <a:t>Declaration Processing</a:t>
            </a:r>
          </a:p>
        </p:txBody>
      </p:sp>
      <p:grpSp>
        <p:nvGrpSpPr>
          <p:cNvPr id="10" name="Group 3">
            <a:extLst>
              <a:ext uri="{FF2B5EF4-FFF2-40B4-BE49-F238E27FC236}">
                <a16:creationId xmlns:a16="http://schemas.microsoft.com/office/drawing/2014/main" id="{345D0360-BBC9-4608-854C-5E17C511CE0E}"/>
              </a:ext>
            </a:extLst>
          </p:cNvPr>
          <p:cNvGrpSpPr/>
          <p:nvPr/>
        </p:nvGrpSpPr>
        <p:grpSpPr>
          <a:xfrm>
            <a:off x="465118" y="2848694"/>
            <a:ext cx="2376004" cy="1570828"/>
            <a:chOff x="465118" y="2848694"/>
            <a:chExt cx="2376004" cy="1570828"/>
          </a:xfrm>
        </p:grpSpPr>
        <p:sp>
          <p:nvSpPr>
            <p:cNvPr id="11" name="Rectangle 5">
              <a:extLst>
                <a:ext uri="{FF2B5EF4-FFF2-40B4-BE49-F238E27FC236}">
                  <a16:creationId xmlns:a16="http://schemas.microsoft.com/office/drawing/2014/main" id="{75D7671E-FA1D-483E-BEBF-67C376EC4CCC}"/>
                </a:ext>
              </a:extLst>
            </p:cNvPr>
            <p:cNvSpPr/>
            <p:nvPr/>
          </p:nvSpPr>
          <p:spPr>
            <a:xfrm>
              <a:off x="465118" y="2848694"/>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CDS Subscription</a:t>
              </a:r>
            </a:p>
          </p:txBody>
        </p:sp>
        <p:sp>
          <p:nvSpPr>
            <p:cNvPr id="12" name="Rectangle 6">
              <a:extLst>
                <a:ext uri="{FF2B5EF4-FFF2-40B4-BE49-F238E27FC236}">
                  <a16:creationId xmlns:a16="http://schemas.microsoft.com/office/drawing/2014/main" id="{3B966B8F-051F-42D3-96C3-79C8CEE31558}"/>
                </a:ext>
              </a:extLst>
            </p:cNvPr>
            <p:cNvSpPr/>
            <p:nvPr/>
          </p:nvSpPr>
          <p:spPr>
            <a:xfrm>
              <a:off x="465118" y="3069521"/>
              <a:ext cx="2376004" cy="1350001"/>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Subscribe UK or non-UK customers with GB EORI, including without pre-existing GB EORIs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Automatic subscription of traders obtaining GB EORI using the CDS digital service</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Subscription-only service for customers approved to migrate to CDS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Capture, verification and storage of emails for subscribed EORIs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amend email addresses recorded against the EORI</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p:txBody>
        </p:sp>
      </p:grpSp>
      <p:sp>
        <p:nvSpPr>
          <p:cNvPr id="13" name="Rectangle 98">
            <a:extLst>
              <a:ext uri="{FF2B5EF4-FFF2-40B4-BE49-F238E27FC236}">
                <a16:creationId xmlns:a16="http://schemas.microsoft.com/office/drawing/2014/main" id="{CED65B4F-74B8-49A8-AADC-E88AF89456B4}"/>
              </a:ext>
            </a:extLst>
          </p:cNvPr>
          <p:cNvSpPr/>
          <p:nvPr/>
        </p:nvSpPr>
        <p:spPr>
          <a:xfrm>
            <a:off x="2889888" y="1591549"/>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Submission &amp; Validation</a:t>
            </a:r>
          </a:p>
        </p:txBody>
      </p:sp>
      <p:sp>
        <p:nvSpPr>
          <p:cNvPr id="14" name="Rectangle 99">
            <a:extLst>
              <a:ext uri="{FF2B5EF4-FFF2-40B4-BE49-F238E27FC236}">
                <a16:creationId xmlns:a16="http://schemas.microsoft.com/office/drawing/2014/main" id="{F9F487F7-FA3D-4632-92D4-FEE3D42E3557}"/>
              </a:ext>
            </a:extLst>
          </p:cNvPr>
          <p:cNvSpPr/>
          <p:nvPr/>
        </p:nvSpPr>
        <p:spPr>
          <a:xfrm>
            <a:off x="2889888" y="1827574"/>
            <a:ext cx="2376004" cy="1098002"/>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all declaration types via API</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Low Value Bulk Imports (LVBI) declaration</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MoU bulked declaration</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Aggregate supplementary declarations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Arrival of pre-lodged declaration types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an indirect export and the ability to exit via ECS/another member state</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Rejection of duplicated submissions by LRN</a:t>
            </a:r>
          </a:p>
        </p:txBody>
      </p:sp>
      <p:sp>
        <p:nvSpPr>
          <p:cNvPr id="15" name="Rectangle 100">
            <a:extLst>
              <a:ext uri="{FF2B5EF4-FFF2-40B4-BE49-F238E27FC236}">
                <a16:creationId xmlns:a16="http://schemas.microsoft.com/office/drawing/2014/main" id="{E68C4610-77A3-462C-8D8F-9D95A829F096}"/>
              </a:ext>
            </a:extLst>
          </p:cNvPr>
          <p:cNvSpPr/>
          <p:nvPr/>
        </p:nvSpPr>
        <p:spPr>
          <a:xfrm>
            <a:off x="2901126" y="2964512"/>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Cancellation &amp; Amendment</a:t>
            </a:r>
          </a:p>
        </p:txBody>
      </p:sp>
      <p:sp>
        <p:nvSpPr>
          <p:cNvPr id="16" name="Rectangle 101">
            <a:extLst>
              <a:ext uri="{FF2B5EF4-FFF2-40B4-BE49-F238E27FC236}">
                <a16:creationId xmlns:a16="http://schemas.microsoft.com/office/drawing/2014/main" id="{216CA384-C36E-43CB-A0E3-823C3D8A8CCC}"/>
              </a:ext>
            </a:extLst>
          </p:cNvPr>
          <p:cNvSpPr/>
          <p:nvPr/>
        </p:nvSpPr>
        <p:spPr>
          <a:xfrm>
            <a:off x="2901126" y="3190817"/>
            <a:ext cx="2376004" cy="2142000"/>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cancellation or amendment requests via API for all declaration types</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Inclusion of free text reason</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Authentication of submitter</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Original declaration submission is processed if the cancellation is invalid and rejected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Declaration is held if amendment request is rejected until valid request is submitted</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Reprocessing of a declaration following an amendment or a null amendment</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amend after the 10 minute dwell time for failed quota credibility check</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Automatic invalidation of un-arrived pre-lodged declarations after 30 days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Invalidation of un-exited exports after 150 days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HMRC cancellation on the trader’s behalf</a:t>
            </a:r>
          </a:p>
        </p:txBody>
      </p:sp>
      <p:sp>
        <p:nvSpPr>
          <p:cNvPr id="17" name="Rectangle 102">
            <a:extLst>
              <a:ext uri="{FF2B5EF4-FFF2-40B4-BE49-F238E27FC236}">
                <a16:creationId xmlns:a16="http://schemas.microsoft.com/office/drawing/2014/main" id="{6D605535-E2B4-4067-9976-7F733E92CE88}"/>
              </a:ext>
            </a:extLst>
          </p:cNvPr>
          <p:cNvSpPr/>
          <p:nvPr/>
        </p:nvSpPr>
        <p:spPr>
          <a:xfrm>
            <a:off x="465118" y="4831031"/>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Declaration Information Service</a:t>
            </a:r>
          </a:p>
        </p:txBody>
      </p:sp>
      <p:sp>
        <p:nvSpPr>
          <p:cNvPr id="18" name="Rectangle 103">
            <a:extLst>
              <a:ext uri="{FF2B5EF4-FFF2-40B4-BE49-F238E27FC236}">
                <a16:creationId xmlns:a16="http://schemas.microsoft.com/office/drawing/2014/main" id="{6C47219D-8129-4B9C-B1D1-2E5611CCFBD5}"/>
              </a:ext>
            </a:extLst>
          </p:cNvPr>
          <p:cNvSpPr/>
          <p:nvPr/>
        </p:nvSpPr>
        <p:spPr>
          <a:xfrm>
            <a:off x="465118" y="5051026"/>
            <a:ext cx="2376004" cy="467999"/>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Request declaration status via an API Query based on the MRN, MUCR (2/1) &amp; DUCR (2/1), or UCR (2/4)</a:t>
            </a:r>
          </a:p>
        </p:txBody>
      </p:sp>
      <p:sp>
        <p:nvSpPr>
          <p:cNvPr id="19" name="Rectangle 104">
            <a:extLst>
              <a:ext uri="{FF2B5EF4-FFF2-40B4-BE49-F238E27FC236}">
                <a16:creationId xmlns:a16="http://schemas.microsoft.com/office/drawing/2014/main" id="{8CAB251A-FBF5-45E4-88D5-6789920710EC}"/>
              </a:ext>
            </a:extLst>
          </p:cNvPr>
          <p:cNvSpPr/>
          <p:nvPr/>
        </p:nvSpPr>
        <p:spPr>
          <a:xfrm>
            <a:off x="5327047" y="1591549"/>
            <a:ext cx="1921657"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Exports Inventory Linking</a:t>
            </a:r>
          </a:p>
        </p:txBody>
      </p:sp>
      <p:sp>
        <p:nvSpPr>
          <p:cNvPr id="20" name="Rectangle 107">
            <a:extLst>
              <a:ext uri="{FF2B5EF4-FFF2-40B4-BE49-F238E27FC236}">
                <a16:creationId xmlns:a16="http://schemas.microsoft.com/office/drawing/2014/main" id="{0AB07BC4-80FE-4417-A44E-3483150A523B}"/>
              </a:ext>
            </a:extLst>
          </p:cNvPr>
          <p:cNvSpPr/>
          <p:nvPr/>
        </p:nvSpPr>
        <p:spPr>
          <a:xfrm>
            <a:off x="5327047" y="1827227"/>
            <a:ext cx="1921657" cy="3505590"/>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 declaration with both a MUCR and DUCR declared and created by declaration of a consolidation</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All CSP/Loader and consolidator messaging (EAL, EDL, EAC, EAA, CST)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an EDL without transport details (frustrated export)</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arrive MUCRs and DUCRs multiple times and at multiple locations.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Receipt of ERS or EMR notifications providing consignment status information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Location-based loader-specific authorisations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Arrival and departure of MUCRs and DUCRs in CHIEF by XML communication with CDS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Consolidation management through CDS for declarations present in CHIEF</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 new declaration with the same DUCR in order to unblock re-processing errors (declarations rejected upon arrival)</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p:txBody>
      </p:sp>
      <p:sp>
        <p:nvSpPr>
          <p:cNvPr id="21" name="Rectangle 108">
            <a:extLst>
              <a:ext uri="{FF2B5EF4-FFF2-40B4-BE49-F238E27FC236}">
                <a16:creationId xmlns:a16="http://schemas.microsoft.com/office/drawing/2014/main" id="{CD0FA645-9D27-43AE-B426-38A388D7EC75}"/>
              </a:ext>
            </a:extLst>
          </p:cNvPr>
          <p:cNvSpPr/>
          <p:nvPr/>
        </p:nvSpPr>
        <p:spPr>
          <a:xfrm>
            <a:off x="2889888" y="5369960"/>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Imports Inventory Linking</a:t>
            </a:r>
          </a:p>
        </p:txBody>
      </p:sp>
      <p:sp>
        <p:nvSpPr>
          <p:cNvPr id="22" name="Rectangle 109">
            <a:extLst>
              <a:ext uri="{FF2B5EF4-FFF2-40B4-BE49-F238E27FC236}">
                <a16:creationId xmlns:a16="http://schemas.microsoft.com/office/drawing/2014/main" id="{26BB8A91-D666-4175-AFC6-1FCC33C681B3}"/>
              </a:ext>
            </a:extLst>
          </p:cNvPr>
          <p:cNvSpPr/>
          <p:nvPr/>
        </p:nvSpPr>
        <p:spPr>
          <a:xfrm>
            <a:off x="2889888" y="5595012"/>
            <a:ext cx="2376004" cy="896861"/>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&amp; arrival via CSP of inventory linked declaration types: A, D, B, E, C, F, J, K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CSP notification of key state changes</a:t>
            </a:r>
            <a:endParaRPr lang="en-GB" sz="850" b="0" i="0" u="none" strike="noStrike" kern="1200" cap="none" spc="0" baseline="0">
              <a:solidFill>
                <a:srgbClr val="000000"/>
              </a:solidFill>
              <a:uFillTx/>
              <a:latin typeface="Calibri"/>
              <a:cs typeface="Calibri"/>
            </a:endParaRP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CSP notification of reason for cancellation</a:t>
            </a:r>
            <a:endParaRPr lang="en-GB" sz="850" b="0" i="0" u="none" strike="noStrike" kern="1200" cap="none" spc="0" baseline="0">
              <a:solidFill>
                <a:srgbClr val="000000"/>
              </a:solidFill>
              <a:uFillTx/>
              <a:latin typeface="Calibri"/>
              <a:cs typeface="Calibri"/>
            </a:endParaRP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Trader notification of an inventory mismatch</a:t>
            </a:r>
            <a:endParaRPr lang="en-GB" sz="850" b="0" i="0" u="none" strike="noStrike" kern="1200" cap="none" spc="0" baseline="0">
              <a:solidFill>
                <a:srgbClr val="000000"/>
              </a:solidFill>
              <a:uFillTx/>
              <a:latin typeface="Calibri"/>
              <a:cs typeface="Calibri"/>
            </a:endParaRPr>
          </a:p>
        </p:txBody>
      </p:sp>
      <p:sp>
        <p:nvSpPr>
          <p:cNvPr id="23" name="Rectangle 110">
            <a:extLst>
              <a:ext uri="{FF2B5EF4-FFF2-40B4-BE49-F238E27FC236}">
                <a16:creationId xmlns:a16="http://schemas.microsoft.com/office/drawing/2014/main" id="{80779410-D734-4401-95CE-D53659A82026}"/>
              </a:ext>
            </a:extLst>
          </p:cNvPr>
          <p:cNvSpPr/>
          <p:nvPr/>
        </p:nvSpPr>
        <p:spPr>
          <a:xfrm>
            <a:off x="7309219" y="1834981"/>
            <a:ext cx="2172833" cy="3489935"/>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TARIFF data download service, including UK National Measures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All Special Procedures and non-special procedure related duty relief &amp; suspension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Excise duty calculation</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Import of goods with EU country of origin</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Calculation based on a Minimum Import Price</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for a trader to manually override the duty calculation using OVR01</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Security deposits for reliefs &amp; suspensions using Authorisation by Declaration</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Calculation &amp; security deposit for CAP goods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Security deposit for End Use Relief</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Claim trade preference, preferential duties, and security deposit for missing document</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Calculation and security deposit for fresh fruits and vegetables (SPV/SIV)</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Finalisation of provisional duties and the reservation of a security deposit</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Claim Quota on Type A, B, D, E, Y or Z declaration, quota allocation and security deposits for critical Quotas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Quota Credibility Checks</a:t>
            </a: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p:txBody>
      </p:sp>
      <p:sp>
        <p:nvSpPr>
          <p:cNvPr id="24" name="Rectangle 111">
            <a:extLst>
              <a:ext uri="{FF2B5EF4-FFF2-40B4-BE49-F238E27FC236}">
                <a16:creationId xmlns:a16="http://schemas.microsoft.com/office/drawing/2014/main" id="{33D1D81C-238C-4E9B-A778-F06537CF4E2D}"/>
              </a:ext>
            </a:extLst>
          </p:cNvPr>
          <p:cNvSpPr/>
          <p:nvPr/>
        </p:nvSpPr>
        <p:spPr>
          <a:xfrm>
            <a:off x="7309219" y="1597145"/>
            <a:ext cx="2172833" cy="184306"/>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Duty Calculation</a:t>
            </a:r>
          </a:p>
        </p:txBody>
      </p:sp>
      <p:sp>
        <p:nvSpPr>
          <p:cNvPr id="25" name="Rectangle 112">
            <a:extLst>
              <a:ext uri="{FF2B5EF4-FFF2-40B4-BE49-F238E27FC236}">
                <a16:creationId xmlns:a16="http://schemas.microsoft.com/office/drawing/2014/main" id="{FF0DFF5D-DC3D-408A-803F-2DE21F844BD2}"/>
              </a:ext>
            </a:extLst>
          </p:cNvPr>
          <p:cNvSpPr/>
          <p:nvPr/>
        </p:nvSpPr>
        <p:spPr>
          <a:xfrm>
            <a:off x="9519050" y="3494589"/>
            <a:ext cx="2376004" cy="287999"/>
          </a:xfrm>
          <a:prstGeom prst="rect">
            <a:avLst/>
          </a:prstGeom>
          <a:solidFill>
            <a:srgbClr val="009999"/>
          </a:solidFill>
          <a:ln w="25402"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50" b="1" i="0" u="none" strike="noStrike" kern="0" cap="none" spc="0" baseline="0">
                <a:solidFill>
                  <a:srgbClr val="FFFFFF"/>
                </a:solidFill>
                <a:uFillTx/>
                <a:latin typeface="Calibri"/>
              </a:rPr>
              <a:t>Exports Gov.UK Service</a:t>
            </a:r>
          </a:p>
        </p:txBody>
      </p:sp>
      <p:sp>
        <p:nvSpPr>
          <p:cNvPr id="26" name="Rectangle 113">
            <a:extLst>
              <a:ext uri="{FF2B5EF4-FFF2-40B4-BE49-F238E27FC236}">
                <a16:creationId xmlns:a16="http://schemas.microsoft.com/office/drawing/2014/main" id="{19F97BE5-F4BC-4EE9-99F2-2ADEE5F2849B}"/>
              </a:ext>
            </a:extLst>
          </p:cNvPr>
          <p:cNvSpPr/>
          <p:nvPr/>
        </p:nvSpPr>
        <p:spPr>
          <a:xfrm>
            <a:off x="9519050" y="4064672"/>
            <a:ext cx="2376004" cy="1511996"/>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Submission of all export declaration types and receipt of all notifications pertaining to the declarations submitted</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resubmit a declaration following a rejection to avoid re-keying</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associate or disassociate UCRs from MUCRs (EAC transactions)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shut MUCRs (CST) </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send arrival and departure notifications (EAL/EDL) when authorised</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MVP EAD form (MRN and barcode)</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p:txBody>
      </p:sp>
      <p:sp>
        <p:nvSpPr>
          <p:cNvPr id="27" name="Rectangle 114">
            <a:extLst>
              <a:ext uri="{FF2B5EF4-FFF2-40B4-BE49-F238E27FC236}">
                <a16:creationId xmlns:a16="http://schemas.microsoft.com/office/drawing/2014/main" id="{7F489AE7-8501-4BE4-881E-BA1B44A947FF}"/>
              </a:ext>
            </a:extLst>
          </p:cNvPr>
          <p:cNvSpPr/>
          <p:nvPr/>
        </p:nvSpPr>
        <p:spPr>
          <a:xfrm>
            <a:off x="9519050" y="3839867"/>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Submission, Consolidation, Loading</a:t>
            </a:r>
          </a:p>
        </p:txBody>
      </p:sp>
      <p:sp>
        <p:nvSpPr>
          <p:cNvPr id="28" name="Rectangle 115">
            <a:extLst>
              <a:ext uri="{FF2B5EF4-FFF2-40B4-BE49-F238E27FC236}">
                <a16:creationId xmlns:a16="http://schemas.microsoft.com/office/drawing/2014/main" id="{EBE43A37-AA2E-402B-84F7-EE6EAA3D5E2B}"/>
              </a:ext>
            </a:extLst>
          </p:cNvPr>
          <p:cNvSpPr/>
          <p:nvPr/>
        </p:nvSpPr>
        <p:spPr>
          <a:xfrm>
            <a:off x="9519050" y="5857600"/>
            <a:ext cx="2376004" cy="621609"/>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Link from Exports UI to document upload</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UCR Query Service to retrieve status of the MUCR and also the underlying DUCRs</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850" b="0" i="0" u="none" strike="noStrike" kern="1200" cap="none" spc="0" baseline="0">
              <a:solidFill>
                <a:srgbClr val="000000"/>
              </a:solidFill>
              <a:uFillTx/>
              <a:latin typeface="Calibri"/>
            </a:endParaRPr>
          </a:p>
        </p:txBody>
      </p:sp>
      <p:sp>
        <p:nvSpPr>
          <p:cNvPr id="29" name="Rectangle 116">
            <a:extLst>
              <a:ext uri="{FF2B5EF4-FFF2-40B4-BE49-F238E27FC236}">
                <a16:creationId xmlns:a16="http://schemas.microsoft.com/office/drawing/2014/main" id="{F32C0E4E-7953-4E93-B4E4-D1BC7F356381}"/>
              </a:ext>
            </a:extLst>
          </p:cNvPr>
          <p:cNvSpPr/>
          <p:nvPr/>
        </p:nvSpPr>
        <p:spPr>
          <a:xfrm>
            <a:off x="9519050" y="5618549"/>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Other Services</a:t>
            </a:r>
          </a:p>
        </p:txBody>
      </p:sp>
      <p:sp>
        <p:nvSpPr>
          <p:cNvPr id="30" name="Rectangle 117">
            <a:extLst>
              <a:ext uri="{FF2B5EF4-FFF2-40B4-BE49-F238E27FC236}">
                <a16:creationId xmlns:a16="http://schemas.microsoft.com/office/drawing/2014/main" id="{F2611F2B-19E4-4BC8-BCB4-2D71E9343651}"/>
              </a:ext>
            </a:extLst>
          </p:cNvPr>
          <p:cNvSpPr/>
          <p:nvPr/>
        </p:nvSpPr>
        <p:spPr>
          <a:xfrm>
            <a:off x="465118" y="1601452"/>
            <a:ext cx="2376004" cy="179999"/>
          </a:xfrm>
          <a:prstGeom prst="rect">
            <a:avLst/>
          </a:prstGeom>
          <a:solidFill>
            <a:srgbClr val="B9FFFF">
              <a:alpha val="61961"/>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EORI Registration</a:t>
            </a:r>
          </a:p>
        </p:txBody>
      </p:sp>
      <p:sp>
        <p:nvSpPr>
          <p:cNvPr id="31" name="Rectangle 118">
            <a:extLst>
              <a:ext uri="{FF2B5EF4-FFF2-40B4-BE49-F238E27FC236}">
                <a16:creationId xmlns:a16="http://schemas.microsoft.com/office/drawing/2014/main" id="{5BB91EF3-E06B-4156-8B7D-D51503284391}"/>
              </a:ext>
            </a:extLst>
          </p:cNvPr>
          <p:cNvSpPr/>
          <p:nvPr/>
        </p:nvSpPr>
        <p:spPr>
          <a:xfrm>
            <a:off x="465118" y="1827574"/>
            <a:ext cx="2376004" cy="971998"/>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Ability to accept and process application for new EORIs from UK and Non-UK Traders</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UK customers without GB EORI with UK UTR or NINO</a:t>
            </a:r>
          </a:p>
          <a:p>
            <a:pPr marL="359999"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Non UK customers with or without EU EORI</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Isle of Man trader EORI – VAT number prefix 00 (not embedded within GB EORIs)</a:t>
            </a:r>
          </a:p>
        </p:txBody>
      </p:sp>
      <p:sp>
        <p:nvSpPr>
          <p:cNvPr id="32" name="Rectangle 119">
            <a:extLst>
              <a:ext uri="{FF2B5EF4-FFF2-40B4-BE49-F238E27FC236}">
                <a16:creationId xmlns:a16="http://schemas.microsoft.com/office/drawing/2014/main" id="{62D76B54-66F7-498E-BD24-C071D23F1B4D}"/>
              </a:ext>
            </a:extLst>
          </p:cNvPr>
          <p:cNvSpPr/>
          <p:nvPr/>
        </p:nvSpPr>
        <p:spPr>
          <a:xfrm>
            <a:off x="5309161" y="5595012"/>
            <a:ext cx="4172882" cy="885834"/>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Use of a DIT or RPA license on all declaration types and reservations against the licence</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Y-series document codes for waiving union P&amp;R measures and document status codes to waive national P&amp;R measures</a:t>
            </a:r>
            <a:endParaRPr lang="en-GB" sz="850" b="0" i="0" u="none" strike="noStrike" kern="1200" cap="none" spc="0" baseline="0">
              <a:solidFill>
                <a:srgbClr val="000000"/>
              </a:solidFill>
              <a:uFillTx/>
              <a:latin typeface="Calibri"/>
              <a:cs typeface="Calibri"/>
            </a:endParaRP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Use of a DEFRA licence </a:t>
            </a:r>
            <a:endParaRPr lang="en-GB" sz="850" b="0" i="0" u="none" strike="noStrike" kern="1200" cap="none" spc="0" baseline="0">
              <a:solidFill>
                <a:srgbClr val="000000"/>
              </a:solidFill>
              <a:uFillTx/>
              <a:latin typeface="Calibri"/>
              <a:cs typeface="Calibri"/>
            </a:endParaRP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Submit, amend and cancel an Import/Export Declaration with an Electronic Licence</a:t>
            </a:r>
            <a:endParaRPr lang="en-GB" sz="850" b="0" i="0" u="none" strike="noStrike" kern="1200" cap="none" spc="0" baseline="0">
              <a:solidFill>
                <a:srgbClr val="000000"/>
              </a:solidFill>
              <a:uFillTx/>
              <a:latin typeface="Calibri"/>
              <a:cs typeface="Calibri"/>
            </a:endParaRPr>
          </a:p>
        </p:txBody>
      </p:sp>
      <p:sp>
        <p:nvSpPr>
          <p:cNvPr id="33" name="Rectangle 120">
            <a:extLst>
              <a:ext uri="{FF2B5EF4-FFF2-40B4-BE49-F238E27FC236}">
                <a16:creationId xmlns:a16="http://schemas.microsoft.com/office/drawing/2014/main" id="{2623F4AE-9FB2-45A0-A625-CB1DC78B4330}"/>
              </a:ext>
            </a:extLst>
          </p:cNvPr>
          <p:cNvSpPr/>
          <p:nvPr/>
        </p:nvSpPr>
        <p:spPr>
          <a:xfrm>
            <a:off x="5322667" y="5369960"/>
            <a:ext cx="4159386"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Licencing</a:t>
            </a:r>
          </a:p>
        </p:txBody>
      </p:sp>
      <p:sp>
        <p:nvSpPr>
          <p:cNvPr id="34" name="Rectangle 121">
            <a:extLst>
              <a:ext uri="{FF2B5EF4-FFF2-40B4-BE49-F238E27FC236}">
                <a16:creationId xmlns:a16="http://schemas.microsoft.com/office/drawing/2014/main" id="{D836C713-F005-4B1B-99BA-E8754BDBA98E}"/>
              </a:ext>
            </a:extLst>
          </p:cNvPr>
          <p:cNvSpPr/>
          <p:nvPr/>
        </p:nvSpPr>
        <p:spPr>
          <a:xfrm>
            <a:off x="9530663" y="1332838"/>
            <a:ext cx="2376004" cy="214061"/>
          </a:xfrm>
          <a:prstGeom prst="rect">
            <a:avLst/>
          </a:prstGeom>
          <a:solidFill>
            <a:srgbClr val="009999"/>
          </a:solidFill>
          <a:ln w="25402"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0" cap="none" spc="0" baseline="0">
                <a:solidFill>
                  <a:srgbClr val="FFFFFF"/>
                </a:solidFill>
                <a:uFillTx/>
                <a:latin typeface="Calibri"/>
              </a:rPr>
              <a:t>Payments</a:t>
            </a:r>
          </a:p>
        </p:txBody>
      </p:sp>
      <p:sp>
        <p:nvSpPr>
          <p:cNvPr id="35" name="Rectangle 122">
            <a:extLst>
              <a:ext uri="{FF2B5EF4-FFF2-40B4-BE49-F238E27FC236}">
                <a16:creationId xmlns:a16="http://schemas.microsoft.com/office/drawing/2014/main" id="{0A4F1D27-7823-4037-B224-6E87D4E0D5C7}"/>
              </a:ext>
            </a:extLst>
          </p:cNvPr>
          <p:cNvSpPr/>
          <p:nvPr/>
        </p:nvSpPr>
        <p:spPr>
          <a:xfrm>
            <a:off x="9530663" y="1825937"/>
            <a:ext cx="2376004" cy="1630548"/>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900" b="0" i="0" u="none" strike="noStrike" kern="1200" cap="none" spc="0" baseline="0">
                <a:solidFill>
                  <a:srgbClr val="000000"/>
                </a:solidFill>
                <a:uFillTx/>
                <a:latin typeface="Calibri"/>
              </a:rPr>
              <a:t>Processing duties against deferred and Immediate Method of Payment</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900" b="0" i="0" u="none" strike="noStrike" kern="1200" cap="none" spc="0" baseline="0">
                <a:solidFill>
                  <a:srgbClr val="000000"/>
                </a:solidFill>
                <a:uFillTx/>
                <a:latin typeface="Calibri"/>
              </a:rPr>
              <a:t>Processing duty against single or 2 DANs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900" b="0" i="0" u="none" strike="noStrike" kern="1200" cap="none" spc="0" baseline="0">
                <a:solidFill>
                  <a:srgbClr val="000000"/>
                </a:solidFill>
                <a:uFillTx/>
                <a:latin typeface="Calibri"/>
              </a:rPr>
              <a:t>Trader notification when DAN has insufficient balance on frontier declarations and payment reminder notifications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900" b="0" i="0" u="none" strike="noStrike" kern="1200" cap="none" spc="0" baseline="0">
                <a:solidFill>
                  <a:srgbClr val="000000"/>
                </a:solidFill>
                <a:uFillTx/>
                <a:latin typeface="Calibri"/>
              </a:rPr>
              <a:t>Electronic  &amp; immediate payments</a:t>
            </a:r>
          </a:p>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900" b="0" i="0" u="none" strike="noStrike" kern="1200" cap="none" spc="0" baseline="0">
                <a:solidFill>
                  <a:srgbClr val="000000"/>
                </a:solidFill>
                <a:uFillTx/>
                <a:latin typeface="Calibri"/>
              </a:rPr>
              <a:t>Financial statements on gov.UK. Further information can be found here:</a:t>
            </a:r>
          </a:p>
          <a:p>
            <a:pPr marL="628650" marR="0" lvl="1"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endParaRPr lang="en-GB" sz="900" b="0" i="0" u="none" strike="noStrike" kern="1200" cap="none" spc="0" baseline="0">
              <a:solidFill>
                <a:srgbClr val="000000"/>
              </a:solidFill>
              <a:uFillTx/>
              <a:latin typeface="Calibri"/>
            </a:endParaRPr>
          </a:p>
          <a:p>
            <a:pPr marL="171450" marR="0" lvl="0" indent="-171450"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900" b="0" i="0" u="none" strike="noStrike" kern="1200" cap="none" spc="0" baseline="0">
              <a:solidFill>
                <a:srgbClr val="000000"/>
              </a:solidFill>
              <a:uFillTx/>
              <a:latin typeface="Calibri"/>
            </a:endParaRPr>
          </a:p>
        </p:txBody>
      </p:sp>
      <p:sp>
        <p:nvSpPr>
          <p:cNvPr id="36" name="Rectangle 123">
            <a:extLst>
              <a:ext uri="{FF2B5EF4-FFF2-40B4-BE49-F238E27FC236}">
                <a16:creationId xmlns:a16="http://schemas.microsoft.com/office/drawing/2014/main" id="{618D052C-FBE2-4D27-9B55-589B350D2C7C}"/>
              </a:ext>
            </a:extLst>
          </p:cNvPr>
          <p:cNvSpPr/>
          <p:nvPr/>
        </p:nvSpPr>
        <p:spPr>
          <a:xfrm>
            <a:off x="9530663" y="1583356"/>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Methods of Payment</a:t>
            </a:r>
          </a:p>
        </p:txBody>
      </p:sp>
      <p:sp>
        <p:nvSpPr>
          <p:cNvPr id="37" name="Rectangle 124">
            <a:extLst>
              <a:ext uri="{FF2B5EF4-FFF2-40B4-BE49-F238E27FC236}">
                <a16:creationId xmlns:a16="http://schemas.microsoft.com/office/drawing/2014/main" id="{5B868DAD-01EE-4BFE-B08E-F4425F87FAD5}"/>
              </a:ext>
            </a:extLst>
          </p:cNvPr>
          <p:cNvSpPr/>
          <p:nvPr/>
        </p:nvSpPr>
        <p:spPr>
          <a:xfrm>
            <a:off x="465118" y="4493718"/>
            <a:ext cx="2376004" cy="287999"/>
          </a:xfrm>
          <a:prstGeom prst="rect">
            <a:avLst/>
          </a:prstGeom>
          <a:solidFill>
            <a:srgbClr val="009999"/>
          </a:solidFill>
          <a:ln w="25402"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100" b="1" i="0" u="none" strike="noStrike" kern="0" cap="none" spc="0" baseline="0">
                <a:solidFill>
                  <a:srgbClr val="FFFFFF"/>
                </a:solidFill>
                <a:uFillTx/>
                <a:latin typeface="Calibri"/>
              </a:rPr>
              <a:t>Querying the Declaration</a:t>
            </a:r>
          </a:p>
        </p:txBody>
      </p:sp>
      <p:sp>
        <p:nvSpPr>
          <p:cNvPr id="38" name="Rectangle 125">
            <a:extLst>
              <a:ext uri="{FF2B5EF4-FFF2-40B4-BE49-F238E27FC236}">
                <a16:creationId xmlns:a16="http://schemas.microsoft.com/office/drawing/2014/main" id="{9935A197-D58B-42CB-BB31-618389697CC9}"/>
              </a:ext>
            </a:extLst>
          </p:cNvPr>
          <p:cNvSpPr/>
          <p:nvPr/>
        </p:nvSpPr>
        <p:spPr>
          <a:xfrm>
            <a:off x="465118" y="5565440"/>
            <a:ext cx="2376004" cy="179999"/>
          </a:xfrm>
          <a:prstGeom prst="rect">
            <a:avLst/>
          </a:prstGeom>
          <a:solidFill>
            <a:srgbClr val="D4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950" b="1" i="0" u="none" strike="noStrike" kern="1200" cap="none" spc="0" baseline="0">
                <a:solidFill>
                  <a:srgbClr val="000000"/>
                </a:solidFill>
                <a:uFillTx/>
                <a:latin typeface="Calibri"/>
              </a:rPr>
              <a:t>Exports Inventory Linking</a:t>
            </a:r>
          </a:p>
        </p:txBody>
      </p:sp>
      <p:sp>
        <p:nvSpPr>
          <p:cNvPr id="39" name="Rectangle 126">
            <a:extLst>
              <a:ext uri="{FF2B5EF4-FFF2-40B4-BE49-F238E27FC236}">
                <a16:creationId xmlns:a16="http://schemas.microsoft.com/office/drawing/2014/main" id="{4CD6FF5F-7197-460F-B8F7-F6947B39E6B4}"/>
              </a:ext>
            </a:extLst>
          </p:cNvPr>
          <p:cNvSpPr/>
          <p:nvPr/>
        </p:nvSpPr>
        <p:spPr>
          <a:xfrm>
            <a:off x="465118" y="5788453"/>
            <a:ext cx="2376004" cy="692383"/>
          </a:xfrm>
          <a:prstGeom prst="rect">
            <a:avLst/>
          </a:prstGeom>
          <a:solidFill>
            <a:srgbClr val="F2F2F2"/>
          </a:solidFill>
          <a:ln w="12701" cap="flat">
            <a:solidFill>
              <a:srgbClr val="F2F2F2"/>
            </a:solidFill>
            <a:prstDash val="solid"/>
            <a:miter/>
          </a:ln>
        </p:spPr>
        <p:txBody>
          <a:bodyPr vert="horz" wrap="square" lIns="46798" tIns="45720" rIns="46798"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850" b="0" i="0" u="none" strike="noStrike" kern="1200" cap="none" spc="0" baseline="0">
                <a:solidFill>
                  <a:srgbClr val="000000"/>
                </a:solidFill>
                <a:uFillTx/>
                <a:latin typeface="Calibri"/>
              </a:rPr>
              <a:t>View the status of all UCRs consolidated within a single MUCR or information associated within a single DUCR in a single ILE query</a:t>
            </a:r>
          </a:p>
        </p:txBody>
      </p:sp>
      <p:graphicFrame>
        <p:nvGraphicFramePr>
          <p:cNvPr id="40" name="Object 127">
            <a:extLst>
              <a:ext uri="{FF2B5EF4-FFF2-40B4-BE49-F238E27FC236}">
                <a16:creationId xmlns:a16="http://schemas.microsoft.com/office/drawing/2014/main" id="{89143612-A6B3-439B-9439-F4E131CF0277}"/>
              </a:ext>
            </a:extLst>
          </p:cNvPr>
          <p:cNvGraphicFramePr/>
          <p:nvPr/>
        </p:nvGraphicFramePr>
        <p:xfrm>
          <a:off x="9594854" y="3109910"/>
          <a:ext cx="622304" cy="530223"/>
        </p:xfrm>
        <a:graphic>
          <a:graphicData uri="http://schemas.openxmlformats.org/presentationml/2006/ole">
            <mc:AlternateContent xmlns:mc="http://schemas.openxmlformats.org/markup-compatibility/2006">
              <mc:Choice xmlns:v="urn:schemas-microsoft-com:vml" Requires="v">
                <p:oleObj name="Document" r:id="rId3" imgW="1828800" imgH="1562100" progId="">
                  <p:embed/>
                </p:oleObj>
              </mc:Choice>
              <mc:Fallback>
                <p:oleObj name="Document" r:id="rId3" imgW="1828800" imgH="1562100" progId="">
                  <p:embed/>
                  <p:pic>
                    <p:nvPicPr>
                      <p:cNvPr id="40" name="Object 127">
                        <a:extLst>
                          <a:ext uri="{FF2B5EF4-FFF2-40B4-BE49-F238E27FC236}">
                            <a16:creationId xmlns:a16="http://schemas.microsoft.com/office/drawing/2014/main" id="{89143612-A6B3-439B-9439-F4E131CF0277}"/>
                          </a:ext>
                        </a:extLst>
                      </p:cNvPr>
                      <p:cNvPicPr/>
                      <p:nvPr/>
                    </p:nvPicPr>
                    <p:blipFill>
                      <a:blip r:embed="rId4"/>
                      <a:stretch>
                        <a:fillRect/>
                      </a:stretch>
                    </p:blipFill>
                    <p:spPr>
                      <a:xfrm>
                        <a:off x="9594854" y="3109910"/>
                        <a:ext cx="622304" cy="530223"/>
                      </a:xfrm>
                      <a:prstGeom prst="rect">
                        <a:avLst/>
                      </a:prstGeom>
                      <a:noFill/>
                      <a:ln cap="flat">
                        <a:noFill/>
                      </a:ln>
                    </p:spPr>
                  </p:pic>
                </p:oleObj>
              </mc:Fallback>
            </mc:AlternateContent>
          </a:graphicData>
        </a:graphic>
      </p:graphicFrame>
      <p:sp>
        <p:nvSpPr>
          <p:cNvPr id="41" name="TextBox 128">
            <a:extLst>
              <a:ext uri="{FF2B5EF4-FFF2-40B4-BE49-F238E27FC236}">
                <a16:creationId xmlns:a16="http://schemas.microsoft.com/office/drawing/2014/main" id="{B9E8EF19-28A0-4BA7-9489-E5A700DE5387}"/>
              </a:ext>
            </a:extLst>
          </p:cNvPr>
          <p:cNvSpPr txBox="1"/>
          <p:nvPr/>
        </p:nvSpPr>
        <p:spPr>
          <a:xfrm>
            <a:off x="452893" y="1524313"/>
            <a:ext cx="2392445" cy="2941213"/>
          </a:xfrm>
          <a:prstGeom prst="rect">
            <a:avLst/>
          </a:prstGeom>
          <a:noFill/>
          <a:ln w="9528" cap="flat">
            <a:solidFill>
              <a:srgbClr val="009999"/>
            </a:solidFill>
            <a:prstDash val="solid"/>
            <a:miter/>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000000"/>
              </a:solidFill>
              <a:uFillTx/>
              <a:latin typeface="Calibri"/>
            </a:endParaRPr>
          </a:p>
        </p:txBody>
      </p:sp>
      <p:sp>
        <p:nvSpPr>
          <p:cNvPr id="42" name="Rectangle 129">
            <a:extLst>
              <a:ext uri="{FF2B5EF4-FFF2-40B4-BE49-F238E27FC236}">
                <a16:creationId xmlns:a16="http://schemas.microsoft.com/office/drawing/2014/main" id="{200AFE48-ECE3-4F38-B037-0DD247DFC52E}"/>
              </a:ext>
            </a:extLst>
          </p:cNvPr>
          <p:cNvSpPr/>
          <p:nvPr/>
        </p:nvSpPr>
        <p:spPr>
          <a:xfrm>
            <a:off x="465118" y="4506647"/>
            <a:ext cx="2386090" cy="1974189"/>
          </a:xfrm>
          <a:prstGeom prst="rect">
            <a:avLst/>
          </a:prstGeom>
          <a:no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3" name="Rectangle 130">
            <a:extLst>
              <a:ext uri="{FF2B5EF4-FFF2-40B4-BE49-F238E27FC236}">
                <a16:creationId xmlns:a16="http://schemas.microsoft.com/office/drawing/2014/main" id="{EBDC9812-A60A-4F94-A50A-C6F798CBBE59}"/>
              </a:ext>
            </a:extLst>
          </p:cNvPr>
          <p:cNvSpPr/>
          <p:nvPr/>
        </p:nvSpPr>
        <p:spPr>
          <a:xfrm>
            <a:off x="2891186" y="1345000"/>
            <a:ext cx="6590858" cy="5146874"/>
          </a:xfrm>
          <a:prstGeom prst="rect">
            <a:avLst/>
          </a:prstGeom>
          <a:no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4" name="Rectangle 131">
            <a:extLst>
              <a:ext uri="{FF2B5EF4-FFF2-40B4-BE49-F238E27FC236}">
                <a16:creationId xmlns:a16="http://schemas.microsoft.com/office/drawing/2014/main" id="{E3BB851B-F15F-415B-B5C2-CA1CC3A5A0F1}"/>
              </a:ext>
            </a:extLst>
          </p:cNvPr>
          <p:cNvSpPr/>
          <p:nvPr/>
        </p:nvSpPr>
        <p:spPr>
          <a:xfrm>
            <a:off x="9530800" y="1321774"/>
            <a:ext cx="2364409" cy="2153768"/>
          </a:xfrm>
          <a:prstGeom prst="rect">
            <a:avLst/>
          </a:prstGeom>
          <a:no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5" name="Rectangle 132">
            <a:extLst>
              <a:ext uri="{FF2B5EF4-FFF2-40B4-BE49-F238E27FC236}">
                <a16:creationId xmlns:a16="http://schemas.microsoft.com/office/drawing/2014/main" id="{73FF0837-A5AF-4760-86B8-7AB71CBC52DF}"/>
              </a:ext>
            </a:extLst>
          </p:cNvPr>
          <p:cNvSpPr/>
          <p:nvPr/>
        </p:nvSpPr>
        <p:spPr>
          <a:xfrm>
            <a:off x="9515310" y="3576181"/>
            <a:ext cx="2376004" cy="2903027"/>
          </a:xfrm>
          <a:prstGeom prst="rect">
            <a:avLst/>
          </a:prstGeom>
          <a:noFill/>
          <a:ln w="12701" cap="flat">
            <a:solidFill>
              <a:srgbClr val="0099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Oval 58">
            <a:hlinkClick r:id="rId5" action="ppaction://hlinksldjump"/>
            <a:extLst>
              <a:ext uri="{FF2B5EF4-FFF2-40B4-BE49-F238E27FC236}">
                <a16:creationId xmlns:a16="http://schemas.microsoft.com/office/drawing/2014/main" id="{69F5B629-D131-43D1-A1DF-E2C3058F5FC8}"/>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47" name="Oval 59">
            <a:hlinkClick r:id="rId5" action="ppaction://hlinksldjump"/>
            <a:extLst>
              <a:ext uri="{FF2B5EF4-FFF2-40B4-BE49-F238E27FC236}">
                <a16:creationId xmlns:a16="http://schemas.microsoft.com/office/drawing/2014/main" id="{D51B1666-2981-4ED3-9E34-94E588AA8CD0}"/>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8" name="Oval 60">
            <a:hlinkClick r:id="rId6" action="ppaction://hlinksldjump"/>
            <a:extLst>
              <a:ext uri="{FF2B5EF4-FFF2-40B4-BE49-F238E27FC236}">
                <a16:creationId xmlns:a16="http://schemas.microsoft.com/office/drawing/2014/main" id="{DAA3D339-D9B6-4775-B854-DF9D5B952D12}"/>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49" name="Oval 61">
            <a:hlinkClick r:id="rId7" action="ppaction://hlinksldjump"/>
            <a:extLst>
              <a:ext uri="{FF2B5EF4-FFF2-40B4-BE49-F238E27FC236}">
                <a16:creationId xmlns:a16="http://schemas.microsoft.com/office/drawing/2014/main" id="{84DA5F43-FFE0-48EF-AE06-F2FC996595D5}"/>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0" name="TextBox 62">
            <a:hlinkClick r:id="rId5" action="ppaction://hlinksldjump"/>
            <a:extLst>
              <a:ext uri="{FF2B5EF4-FFF2-40B4-BE49-F238E27FC236}">
                <a16:creationId xmlns:a16="http://schemas.microsoft.com/office/drawing/2014/main" id="{D10C7045-FC54-46E4-B143-F421DB979F67}"/>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51" name="TextBox 63">
            <a:hlinkClick r:id="rId5" action="ppaction://hlinksldjump"/>
            <a:extLst>
              <a:ext uri="{FF2B5EF4-FFF2-40B4-BE49-F238E27FC236}">
                <a16:creationId xmlns:a16="http://schemas.microsoft.com/office/drawing/2014/main" id="{B39CE995-4DFD-4A72-862A-FAAAA8BC84C1}"/>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52" name="TextBox 64">
            <a:hlinkClick r:id="rId6" action="ppaction://hlinksldjump"/>
            <a:extLst>
              <a:ext uri="{FF2B5EF4-FFF2-40B4-BE49-F238E27FC236}">
                <a16:creationId xmlns:a16="http://schemas.microsoft.com/office/drawing/2014/main" id="{96C6FBA6-DD9B-4D95-8BA6-07A5F7750465}"/>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53" name="TextBox 65">
            <a:hlinkClick r:id="rId6" action="ppaction://hlinksldjump"/>
            <a:extLst>
              <a:ext uri="{FF2B5EF4-FFF2-40B4-BE49-F238E27FC236}">
                <a16:creationId xmlns:a16="http://schemas.microsoft.com/office/drawing/2014/main" id="{3EB050F2-4F37-432B-BCF5-CA66C12D271E}"/>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54" name="Oval 66">
            <a:extLst>
              <a:ext uri="{FF2B5EF4-FFF2-40B4-BE49-F238E27FC236}">
                <a16:creationId xmlns:a16="http://schemas.microsoft.com/office/drawing/2014/main" id="{28C2F8CD-6E75-40CC-922D-6D37D862E29C}"/>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5" name="TextBox 67">
            <a:hlinkClick r:id="rId8" action="ppaction://hlinksldjump"/>
            <a:extLst>
              <a:ext uri="{FF2B5EF4-FFF2-40B4-BE49-F238E27FC236}">
                <a16:creationId xmlns:a16="http://schemas.microsoft.com/office/drawing/2014/main" id="{A7610366-578B-4E70-A0DB-FE0005F87257}"/>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56" name="Picture 68">
            <a:hlinkClick r:id="rId5" action="ppaction://hlinksldjump"/>
            <a:extLst>
              <a:ext uri="{FF2B5EF4-FFF2-40B4-BE49-F238E27FC236}">
                <a16:creationId xmlns:a16="http://schemas.microsoft.com/office/drawing/2014/main" id="{6F47E2D8-8557-44CD-A0EC-DF48E45464B8}"/>
              </a:ext>
            </a:extLst>
          </p:cNvPr>
          <p:cNvPicPr>
            <a:picLocks noChangeAspect="1"/>
          </p:cNvPicPr>
          <p:nvPr/>
        </p:nvPicPr>
        <p:blipFill>
          <a:blip r:embed="rId9">
            <a:alphaModFix amt="35000"/>
          </a:blip>
          <a:srcRect l="20606" t="21077" r="21527" b="31021"/>
          <a:stretch>
            <a:fillRect/>
          </a:stretch>
        </p:blipFill>
        <p:spPr>
          <a:xfrm>
            <a:off x="10082201" y="272070"/>
            <a:ext cx="256918" cy="210595"/>
          </a:xfrm>
          <a:prstGeom prst="rect">
            <a:avLst/>
          </a:prstGeom>
          <a:noFill/>
          <a:ln cap="flat">
            <a:noFill/>
          </a:ln>
        </p:spPr>
      </p:pic>
      <p:sp>
        <p:nvSpPr>
          <p:cNvPr id="57" name="Oval 69">
            <a:hlinkClick r:id="rId5" action="ppaction://hlinksldjump"/>
            <a:extLst>
              <a:ext uri="{FF2B5EF4-FFF2-40B4-BE49-F238E27FC236}">
                <a16:creationId xmlns:a16="http://schemas.microsoft.com/office/drawing/2014/main" id="{4AD17682-763C-4424-9F8D-F0DCB01F02C7}"/>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name="Slide4353">
    <p:spTree>
      <p:nvGrpSpPr>
        <p:cNvPr id="1" name=""/>
        <p:cNvGrpSpPr/>
        <p:nvPr/>
      </p:nvGrpSpPr>
      <p:grpSpPr>
        <a:xfrm>
          <a:off x="0" y="0"/>
          <a:ext cx="0" cy="0"/>
          <a:chOff x="0" y="0"/>
          <a:chExt cx="0" cy="0"/>
        </a:xfrm>
      </p:grpSpPr>
      <p:sp>
        <p:nvSpPr>
          <p:cNvPr id="3" name="Rectangle 102">
            <a:extLst>
              <a:ext uri="{FF2B5EF4-FFF2-40B4-BE49-F238E27FC236}">
                <a16:creationId xmlns:a16="http://schemas.microsoft.com/office/drawing/2014/main" id="{6981B8D8-1E88-4970-9831-948F858293DE}"/>
              </a:ext>
            </a:extLst>
          </p:cNvPr>
          <p:cNvSpPr/>
          <p:nvPr/>
        </p:nvSpPr>
        <p:spPr>
          <a:xfrm>
            <a:off x="5738920" y="3951067"/>
            <a:ext cx="2845018" cy="1022728"/>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Provides provisional duty calculation to allow traders to query or make amendments to declarations pre-dwell time and allows HMRC to support pre-clearance queries from traders.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remove a goods item or add a security to their declaration.</a:t>
            </a:r>
          </a:p>
        </p:txBody>
      </p:sp>
      <p:sp>
        <p:nvSpPr>
          <p:cNvPr id="4" name="Rectangle 46">
            <a:extLst>
              <a:ext uri="{FF2B5EF4-FFF2-40B4-BE49-F238E27FC236}">
                <a16:creationId xmlns:a16="http://schemas.microsoft.com/office/drawing/2014/main" id="{96E0AAEE-49D5-4EFF-A460-61060EA224F6}"/>
              </a:ext>
            </a:extLst>
          </p:cNvPr>
          <p:cNvSpPr/>
          <p:nvPr/>
        </p:nvSpPr>
        <p:spPr>
          <a:xfrm>
            <a:off x="1282208" y="2854391"/>
            <a:ext cx="2167704" cy="676582"/>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submit new Direct Debit Instructions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Apply for digital repayments online</a:t>
            </a:r>
          </a:p>
        </p:txBody>
      </p:sp>
      <p:sp>
        <p:nvSpPr>
          <p:cNvPr id="5" name="Rectangle 79">
            <a:extLst>
              <a:ext uri="{FF2B5EF4-FFF2-40B4-BE49-F238E27FC236}">
                <a16:creationId xmlns:a16="http://schemas.microsoft.com/office/drawing/2014/main" id="{D3A389D2-3A40-4EDD-90C9-C7B5263D37F3}"/>
              </a:ext>
            </a:extLst>
          </p:cNvPr>
          <p:cNvSpPr/>
          <p:nvPr/>
        </p:nvSpPr>
        <p:spPr>
          <a:xfrm>
            <a:off x="1276292" y="1606271"/>
            <a:ext cx="2190445" cy="195617"/>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Control Task Handling Enhancements</a:t>
            </a:r>
          </a:p>
        </p:txBody>
      </p:sp>
      <p:sp>
        <p:nvSpPr>
          <p:cNvPr id="6" name="Rectangle 62">
            <a:extLst>
              <a:ext uri="{FF2B5EF4-FFF2-40B4-BE49-F238E27FC236}">
                <a16:creationId xmlns:a16="http://schemas.microsoft.com/office/drawing/2014/main" id="{821E8AE6-7AF5-4341-B181-95957E09E214}"/>
              </a:ext>
            </a:extLst>
          </p:cNvPr>
          <p:cNvSpPr/>
          <p:nvPr/>
        </p:nvSpPr>
        <p:spPr>
          <a:xfrm>
            <a:off x="5742441" y="1618945"/>
            <a:ext cx="2845018" cy="158200"/>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Trade Test Features</a:t>
            </a:r>
          </a:p>
        </p:txBody>
      </p:sp>
      <p:sp>
        <p:nvSpPr>
          <p:cNvPr id="7" name="Rectangle 60">
            <a:extLst>
              <a:ext uri="{FF2B5EF4-FFF2-40B4-BE49-F238E27FC236}">
                <a16:creationId xmlns:a16="http://schemas.microsoft.com/office/drawing/2014/main" id="{6ADFBFC2-50AC-434D-84BC-7190AB131B69}"/>
              </a:ext>
            </a:extLst>
          </p:cNvPr>
          <p:cNvSpPr/>
          <p:nvPr/>
        </p:nvSpPr>
        <p:spPr>
          <a:xfrm>
            <a:off x="3532985" y="1618945"/>
            <a:ext cx="2157791" cy="154807"/>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Finance Statement Changes</a:t>
            </a:r>
          </a:p>
        </p:txBody>
      </p:sp>
      <p:sp>
        <p:nvSpPr>
          <p:cNvPr id="8" name="Rectangle 34">
            <a:extLst>
              <a:ext uri="{FF2B5EF4-FFF2-40B4-BE49-F238E27FC236}">
                <a16:creationId xmlns:a16="http://schemas.microsoft.com/office/drawing/2014/main" id="{C4E6A3BE-2318-4F59-9B40-777070DA3103}"/>
              </a:ext>
            </a:extLst>
          </p:cNvPr>
          <p:cNvSpPr/>
          <p:nvPr/>
        </p:nvSpPr>
        <p:spPr>
          <a:xfrm>
            <a:off x="1289633" y="1337136"/>
            <a:ext cx="2177104" cy="229048"/>
          </a:xfrm>
          <a:prstGeom prst="rect">
            <a:avLst/>
          </a:prstGeom>
          <a:solidFill>
            <a:srgbClr val="FFC000"/>
          </a:solidFill>
          <a:ln w="25402"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Operational Dependencies</a:t>
            </a:r>
          </a:p>
        </p:txBody>
      </p:sp>
      <p:sp>
        <p:nvSpPr>
          <p:cNvPr id="9" name="Rectangle 37">
            <a:extLst>
              <a:ext uri="{FF2B5EF4-FFF2-40B4-BE49-F238E27FC236}">
                <a16:creationId xmlns:a16="http://schemas.microsoft.com/office/drawing/2014/main" id="{9640117F-E1ED-4585-86A1-5B85908B43A2}"/>
              </a:ext>
            </a:extLst>
          </p:cNvPr>
          <p:cNvSpPr/>
          <p:nvPr/>
        </p:nvSpPr>
        <p:spPr>
          <a:xfrm>
            <a:off x="3532985" y="1337136"/>
            <a:ext cx="5054464" cy="236152"/>
          </a:xfrm>
          <a:prstGeom prst="rect">
            <a:avLst/>
          </a:prstGeom>
          <a:solidFill>
            <a:srgbClr val="FFC000"/>
          </a:solidFill>
          <a:ln w="25402"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External Dependencies</a:t>
            </a:r>
          </a:p>
        </p:txBody>
      </p:sp>
      <p:sp>
        <p:nvSpPr>
          <p:cNvPr id="10" name="Rectangle 44">
            <a:extLst>
              <a:ext uri="{FF2B5EF4-FFF2-40B4-BE49-F238E27FC236}">
                <a16:creationId xmlns:a16="http://schemas.microsoft.com/office/drawing/2014/main" id="{6A26C8AD-3499-4D7F-8B28-9AF40DA0E9CE}"/>
              </a:ext>
            </a:extLst>
          </p:cNvPr>
          <p:cNvSpPr/>
          <p:nvPr/>
        </p:nvSpPr>
        <p:spPr>
          <a:xfrm>
            <a:off x="1293930" y="2613675"/>
            <a:ext cx="2187025" cy="239161"/>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Automation of Manual Processes</a:t>
            </a:r>
          </a:p>
        </p:txBody>
      </p:sp>
      <p:sp>
        <p:nvSpPr>
          <p:cNvPr id="11" name="Rectangle 58">
            <a:extLst>
              <a:ext uri="{FF2B5EF4-FFF2-40B4-BE49-F238E27FC236}">
                <a16:creationId xmlns:a16="http://schemas.microsoft.com/office/drawing/2014/main" id="{5AAB8E52-05E8-4825-B020-4186FE82CEAA}"/>
              </a:ext>
            </a:extLst>
          </p:cNvPr>
          <p:cNvSpPr/>
          <p:nvPr/>
        </p:nvSpPr>
        <p:spPr>
          <a:xfrm>
            <a:off x="3557546" y="5027992"/>
            <a:ext cx="2133240" cy="196385"/>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DUCR Part Numbers</a:t>
            </a:r>
          </a:p>
        </p:txBody>
      </p:sp>
      <p:sp>
        <p:nvSpPr>
          <p:cNvPr id="12" name="Rectangle 59">
            <a:extLst>
              <a:ext uri="{FF2B5EF4-FFF2-40B4-BE49-F238E27FC236}">
                <a16:creationId xmlns:a16="http://schemas.microsoft.com/office/drawing/2014/main" id="{E61AD108-5616-4E1D-AF18-77EBE8C351B3}"/>
              </a:ext>
            </a:extLst>
          </p:cNvPr>
          <p:cNvSpPr/>
          <p:nvPr/>
        </p:nvSpPr>
        <p:spPr>
          <a:xfrm>
            <a:off x="3550386" y="5235141"/>
            <a:ext cx="2156036" cy="571317"/>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Allows a trader to provide a DUCR Part ID in Inventory Linking Requests</a:t>
            </a:r>
          </a:p>
        </p:txBody>
      </p:sp>
      <p:sp>
        <p:nvSpPr>
          <p:cNvPr id="13" name="Rectangle 61">
            <a:extLst>
              <a:ext uri="{FF2B5EF4-FFF2-40B4-BE49-F238E27FC236}">
                <a16:creationId xmlns:a16="http://schemas.microsoft.com/office/drawing/2014/main" id="{CECCA723-542E-4AEA-8B9F-5F96150800A2}"/>
              </a:ext>
            </a:extLst>
          </p:cNvPr>
          <p:cNvSpPr/>
          <p:nvPr/>
        </p:nvSpPr>
        <p:spPr>
          <a:xfrm>
            <a:off x="3532985" y="1812203"/>
            <a:ext cx="2157791" cy="651272"/>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Provision of Unique Consignment Reference as the 'Declarants Reference' on all financial statements.</a:t>
            </a:r>
          </a:p>
        </p:txBody>
      </p:sp>
      <p:sp>
        <p:nvSpPr>
          <p:cNvPr id="14" name="Rectangle 63">
            <a:extLst>
              <a:ext uri="{FF2B5EF4-FFF2-40B4-BE49-F238E27FC236}">
                <a16:creationId xmlns:a16="http://schemas.microsoft.com/office/drawing/2014/main" id="{0297CD0D-AFE6-40B7-A9CD-23A3070AB04D}"/>
              </a:ext>
            </a:extLst>
          </p:cNvPr>
          <p:cNvSpPr/>
          <p:nvPr/>
        </p:nvSpPr>
        <p:spPr>
          <a:xfrm>
            <a:off x="5742441" y="1817543"/>
            <a:ext cx="2845018" cy="1328257"/>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to refresh data in Trade Test and Trader Dress Rehearsal test environments to allow external users to complete all test scenarios.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test submitting frontier declarations using an Immediate Payment.</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test end to end file uploads.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test scenarios where HMRC has raised a query on a consignment.</a:t>
            </a:r>
          </a:p>
          <a:p>
            <a:pPr marL="140589" marR="0" lvl="0" indent="-140589"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000" b="0" i="0" u="none" strike="noStrike" kern="1200" cap="none" spc="0" baseline="0">
              <a:solidFill>
                <a:srgbClr val="000000"/>
              </a:solidFill>
              <a:uFillTx/>
              <a:latin typeface="Calibri"/>
            </a:endParaRPr>
          </a:p>
        </p:txBody>
      </p:sp>
      <p:sp>
        <p:nvSpPr>
          <p:cNvPr id="15" name="Rectangle 67">
            <a:extLst>
              <a:ext uri="{FF2B5EF4-FFF2-40B4-BE49-F238E27FC236}">
                <a16:creationId xmlns:a16="http://schemas.microsoft.com/office/drawing/2014/main" id="{4A0A9834-42AE-45B5-8A14-002DEAB503EA}"/>
              </a:ext>
            </a:extLst>
          </p:cNvPr>
          <p:cNvSpPr/>
          <p:nvPr/>
        </p:nvSpPr>
        <p:spPr>
          <a:xfrm>
            <a:off x="8653707" y="1337136"/>
            <a:ext cx="2491840" cy="236152"/>
          </a:xfrm>
          <a:prstGeom prst="rect">
            <a:avLst/>
          </a:prstGeom>
          <a:solidFill>
            <a:srgbClr val="FFC000"/>
          </a:solidFill>
          <a:ln w="25402"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Customs Populations</a:t>
            </a:r>
          </a:p>
        </p:txBody>
      </p:sp>
      <p:sp>
        <p:nvSpPr>
          <p:cNvPr id="16" name="Rectangle 80">
            <a:extLst>
              <a:ext uri="{FF2B5EF4-FFF2-40B4-BE49-F238E27FC236}">
                <a16:creationId xmlns:a16="http://schemas.microsoft.com/office/drawing/2014/main" id="{02BBAF09-F1C8-4D20-B6C8-5E2A7E7EBD09}"/>
              </a:ext>
            </a:extLst>
          </p:cNvPr>
          <p:cNvSpPr/>
          <p:nvPr/>
        </p:nvSpPr>
        <p:spPr>
          <a:xfrm>
            <a:off x="1282208" y="1834981"/>
            <a:ext cx="2167704" cy="762124"/>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7000"/>
              </a:lnSpc>
              <a:spcBef>
                <a:spcPts val="245"/>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Enables HMRC to securely raise a query with the declarant on a declaration which has an open control task.</a:t>
            </a:r>
          </a:p>
          <a:p>
            <a:pPr marL="140589" marR="0" lvl="0" indent="-140589"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000" b="0" i="0" u="none" strike="noStrike" kern="1200" cap="none" spc="0" baseline="0">
              <a:solidFill>
                <a:srgbClr val="000000"/>
              </a:solidFill>
              <a:uFillTx/>
              <a:latin typeface="Calibri"/>
            </a:endParaRPr>
          </a:p>
        </p:txBody>
      </p:sp>
      <p:sp>
        <p:nvSpPr>
          <p:cNvPr id="17" name="Rectangle 83">
            <a:extLst>
              <a:ext uri="{FF2B5EF4-FFF2-40B4-BE49-F238E27FC236}">
                <a16:creationId xmlns:a16="http://schemas.microsoft.com/office/drawing/2014/main" id="{E559AF9B-8F5C-4BB5-A9E4-375A0ACE387D}"/>
              </a:ext>
            </a:extLst>
          </p:cNvPr>
          <p:cNvSpPr/>
          <p:nvPr/>
        </p:nvSpPr>
        <p:spPr>
          <a:xfrm>
            <a:off x="5738920" y="3170508"/>
            <a:ext cx="2845018" cy="171239"/>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Error Code Enhancements – error codes</a:t>
            </a:r>
          </a:p>
        </p:txBody>
      </p:sp>
      <p:sp>
        <p:nvSpPr>
          <p:cNvPr id="18" name="Rectangle 84">
            <a:extLst>
              <a:ext uri="{FF2B5EF4-FFF2-40B4-BE49-F238E27FC236}">
                <a16:creationId xmlns:a16="http://schemas.microsoft.com/office/drawing/2014/main" id="{A6AA1F4D-6E90-4F17-8867-019A9B258924}"/>
              </a:ext>
            </a:extLst>
          </p:cNvPr>
          <p:cNvSpPr/>
          <p:nvPr/>
        </p:nvSpPr>
        <p:spPr>
          <a:xfrm>
            <a:off x="5738920" y="3355043"/>
            <a:ext cx="2845018" cy="371593"/>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Additional DMSREJ notifications to provide further granularity and help trade identify errors.</a:t>
            </a:r>
          </a:p>
          <a:p>
            <a:pPr marL="140589" marR="0" lvl="0" indent="-140589"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000" b="0" i="0" u="none" strike="noStrike" kern="1200" cap="none" spc="0" baseline="0">
              <a:solidFill>
                <a:srgbClr val="000000"/>
              </a:solidFill>
              <a:uFillTx/>
              <a:latin typeface="Calibri"/>
            </a:endParaRPr>
          </a:p>
        </p:txBody>
      </p:sp>
      <p:sp>
        <p:nvSpPr>
          <p:cNvPr id="19" name="Rectangle 88">
            <a:extLst>
              <a:ext uri="{FF2B5EF4-FFF2-40B4-BE49-F238E27FC236}">
                <a16:creationId xmlns:a16="http://schemas.microsoft.com/office/drawing/2014/main" id="{A186DC2B-6E93-43DD-A653-92AD3442EB7F}"/>
              </a:ext>
            </a:extLst>
          </p:cNvPr>
          <p:cNvSpPr/>
          <p:nvPr/>
        </p:nvSpPr>
        <p:spPr>
          <a:xfrm>
            <a:off x="3550386" y="2505309"/>
            <a:ext cx="2157791" cy="291236"/>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API: Consolidations, Queries, Notifications</a:t>
            </a:r>
          </a:p>
        </p:txBody>
      </p:sp>
      <p:sp>
        <p:nvSpPr>
          <p:cNvPr id="20" name="Rectangle 89">
            <a:extLst>
              <a:ext uri="{FF2B5EF4-FFF2-40B4-BE49-F238E27FC236}">
                <a16:creationId xmlns:a16="http://schemas.microsoft.com/office/drawing/2014/main" id="{531BB672-1EAF-4E3C-9CD7-5CCA349D34A8}"/>
              </a:ext>
            </a:extLst>
          </p:cNvPr>
          <p:cNvSpPr/>
          <p:nvPr/>
        </p:nvSpPr>
        <p:spPr>
          <a:xfrm>
            <a:off x="3543748" y="2829144"/>
            <a:ext cx="2156036" cy="1302562"/>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a trader to search for all uncleared declarations against a EORI number to review the declaration status.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a trader to search for a particular declaration to check the history and view all declaration versions.</a:t>
            </a:r>
          </a:p>
        </p:txBody>
      </p:sp>
      <p:sp>
        <p:nvSpPr>
          <p:cNvPr id="21" name="Rectangle 92">
            <a:extLst>
              <a:ext uri="{FF2B5EF4-FFF2-40B4-BE49-F238E27FC236}">
                <a16:creationId xmlns:a16="http://schemas.microsoft.com/office/drawing/2014/main" id="{C7F5BD8A-6210-4D36-BDA8-0500E04F60CA}"/>
              </a:ext>
            </a:extLst>
          </p:cNvPr>
          <p:cNvSpPr/>
          <p:nvPr/>
        </p:nvSpPr>
        <p:spPr>
          <a:xfrm>
            <a:off x="3550386" y="4139753"/>
            <a:ext cx="2156036" cy="147602"/>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Exports Consolidation Enhancements</a:t>
            </a:r>
          </a:p>
        </p:txBody>
      </p:sp>
      <p:sp>
        <p:nvSpPr>
          <p:cNvPr id="22" name="Rectangle 93">
            <a:extLst>
              <a:ext uri="{FF2B5EF4-FFF2-40B4-BE49-F238E27FC236}">
                <a16:creationId xmlns:a16="http://schemas.microsoft.com/office/drawing/2014/main" id="{434DA1A1-9C18-492C-B118-D5CF4D8CF3E1}"/>
              </a:ext>
            </a:extLst>
          </p:cNvPr>
          <p:cNvSpPr/>
          <p:nvPr/>
        </p:nvSpPr>
        <p:spPr>
          <a:xfrm>
            <a:off x="3550386" y="4333003"/>
            <a:ext cx="2156036" cy="665253"/>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Prevents DUCRs being automatically removed if goods need to be physically removed from a consignment</a:t>
            </a:r>
          </a:p>
        </p:txBody>
      </p:sp>
      <p:sp>
        <p:nvSpPr>
          <p:cNvPr id="23" name="Rectangle 98">
            <a:extLst>
              <a:ext uri="{FF2B5EF4-FFF2-40B4-BE49-F238E27FC236}">
                <a16:creationId xmlns:a16="http://schemas.microsoft.com/office/drawing/2014/main" id="{13CF01E3-58EB-4EA6-860D-2A46F7B9A881}"/>
              </a:ext>
            </a:extLst>
          </p:cNvPr>
          <p:cNvSpPr/>
          <p:nvPr/>
        </p:nvSpPr>
        <p:spPr>
          <a:xfrm>
            <a:off x="5733013" y="4914250"/>
            <a:ext cx="2845018" cy="182989"/>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Customs Route Granularity</a:t>
            </a:r>
          </a:p>
        </p:txBody>
      </p:sp>
      <p:sp>
        <p:nvSpPr>
          <p:cNvPr id="24" name="Rectangle 99">
            <a:extLst>
              <a:ext uri="{FF2B5EF4-FFF2-40B4-BE49-F238E27FC236}">
                <a16:creationId xmlns:a16="http://schemas.microsoft.com/office/drawing/2014/main" id="{4A5AAB8D-DB6A-4622-91E6-66161A9858E1}"/>
              </a:ext>
            </a:extLst>
          </p:cNvPr>
          <p:cNvSpPr/>
          <p:nvPr/>
        </p:nvSpPr>
        <p:spPr>
          <a:xfrm>
            <a:off x="5733013" y="5158889"/>
            <a:ext cx="2845018" cy="651967"/>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Identifying to traders which government department has raised a documentary or physical control task in the routing information.</a:t>
            </a:r>
          </a:p>
        </p:txBody>
      </p:sp>
      <p:sp>
        <p:nvSpPr>
          <p:cNvPr id="25" name="Rectangle 101">
            <a:extLst>
              <a:ext uri="{FF2B5EF4-FFF2-40B4-BE49-F238E27FC236}">
                <a16:creationId xmlns:a16="http://schemas.microsoft.com/office/drawing/2014/main" id="{C74D9EAC-4335-4053-9715-0900C5E01A85}"/>
              </a:ext>
            </a:extLst>
          </p:cNvPr>
          <p:cNvSpPr/>
          <p:nvPr/>
        </p:nvSpPr>
        <p:spPr>
          <a:xfrm>
            <a:off x="5738920" y="3765974"/>
            <a:ext cx="2845018" cy="199348"/>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Additional Declaration Processing</a:t>
            </a:r>
          </a:p>
        </p:txBody>
      </p:sp>
      <p:sp>
        <p:nvSpPr>
          <p:cNvPr id="26" name="Rectangle 104">
            <a:extLst>
              <a:ext uri="{FF2B5EF4-FFF2-40B4-BE49-F238E27FC236}">
                <a16:creationId xmlns:a16="http://schemas.microsoft.com/office/drawing/2014/main" id="{6D675ADB-41BB-414D-99F7-F3440E80B748}"/>
              </a:ext>
            </a:extLst>
          </p:cNvPr>
          <p:cNvSpPr/>
          <p:nvPr/>
        </p:nvSpPr>
        <p:spPr>
          <a:xfrm>
            <a:off x="8653707" y="1803827"/>
            <a:ext cx="2491840" cy="691990"/>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Clr>
                <a:srgbClr val="70AD47"/>
              </a:buClr>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Declaration validation and duty calculation for imports from Special Fiscal Territories </a:t>
            </a:r>
            <a:r>
              <a:rPr lang="en-GB" sz="1000" b="0" i="0" u="none" strike="noStrike" kern="1200" cap="none" spc="0" baseline="0">
                <a:solidFill>
                  <a:srgbClr val="000000"/>
                </a:solidFill>
                <a:uFillTx/>
                <a:latin typeface="Calibri"/>
                <a:ea typeface="Calibri"/>
                <a:cs typeface="Calibri"/>
              </a:rPr>
              <a:t>and countries with which the EU has a Customs Union.</a:t>
            </a:r>
          </a:p>
        </p:txBody>
      </p:sp>
      <p:sp>
        <p:nvSpPr>
          <p:cNvPr id="27" name="Rectangle 105">
            <a:extLst>
              <a:ext uri="{FF2B5EF4-FFF2-40B4-BE49-F238E27FC236}">
                <a16:creationId xmlns:a16="http://schemas.microsoft.com/office/drawing/2014/main" id="{DF7A38C4-B39C-49E1-A7E8-D06A4E5FFE1F}"/>
              </a:ext>
            </a:extLst>
          </p:cNvPr>
          <p:cNvSpPr/>
          <p:nvPr/>
        </p:nvSpPr>
        <p:spPr>
          <a:xfrm>
            <a:off x="8653707" y="1619493"/>
            <a:ext cx="2491840" cy="147602"/>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Special Fiscal Territories</a:t>
            </a:r>
          </a:p>
        </p:txBody>
      </p:sp>
      <p:sp>
        <p:nvSpPr>
          <p:cNvPr id="28" name="Rectangle 90">
            <a:extLst>
              <a:ext uri="{FF2B5EF4-FFF2-40B4-BE49-F238E27FC236}">
                <a16:creationId xmlns:a16="http://schemas.microsoft.com/office/drawing/2014/main" id="{F95D8FCF-D93A-4384-A4B8-BE98FA43701E}"/>
              </a:ext>
            </a:extLst>
          </p:cNvPr>
          <p:cNvSpPr/>
          <p:nvPr/>
        </p:nvSpPr>
        <p:spPr>
          <a:xfrm>
            <a:off x="8635419" y="2689058"/>
            <a:ext cx="2497189" cy="1072088"/>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ea typeface="Calibri"/>
                <a:cs typeface="Calibri"/>
              </a:rPr>
              <a:t>Duty calculation for goods which attract both retaliatory rates and safeguarding charges.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ea typeface="Calibri"/>
                <a:cs typeface="Calibri"/>
              </a:rPr>
              <a:t>Duty calculation on fresh fruit and vegetables using the deductive method (Valuation Method 4).</a:t>
            </a:r>
          </a:p>
        </p:txBody>
      </p:sp>
      <p:sp>
        <p:nvSpPr>
          <p:cNvPr id="29" name="Rectangle 106">
            <a:extLst>
              <a:ext uri="{FF2B5EF4-FFF2-40B4-BE49-F238E27FC236}">
                <a16:creationId xmlns:a16="http://schemas.microsoft.com/office/drawing/2014/main" id="{19CD3B2F-5F42-460E-BC23-4DF421C0CF74}"/>
              </a:ext>
            </a:extLst>
          </p:cNvPr>
          <p:cNvSpPr/>
          <p:nvPr/>
        </p:nvSpPr>
        <p:spPr>
          <a:xfrm>
            <a:off x="8635419" y="2504715"/>
            <a:ext cx="2497189" cy="147602"/>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Outstanding Complex Calc Scenarios</a:t>
            </a:r>
          </a:p>
        </p:txBody>
      </p:sp>
      <p:sp>
        <p:nvSpPr>
          <p:cNvPr id="30" name="Rectangle 111">
            <a:extLst>
              <a:ext uri="{FF2B5EF4-FFF2-40B4-BE49-F238E27FC236}">
                <a16:creationId xmlns:a16="http://schemas.microsoft.com/office/drawing/2014/main" id="{74211BF2-1C06-4456-94E4-83C51E50C1E7}"/>
              </a:ext>
            </a:extLst>
          </p:cNvPr>
          <p:cNvSpPr/>
          <p:nvPr/>
        </p:nvSpPr>
        <p:spPr>
          <a:xfrm>
            <a:off x="1289633" y="3550898"/>
            <a:ext cx="2166085" cy="194739"/>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Subsidy</a:t>
            </a:r>
          </a:p>
        </p:txBody>
      </p:sp>
      <p:sp>
        <p:nvSpPr>
          <p:cNvPr id="31" name="Rectangle 112">
            <a:extLst>
              <a:ext uri="{FF2B5EF4-FFF2-40B4-BE49-F238E27FC236}">
                <a16:creationId xmlns:a16="http://schemas.microsoft.com/office/drawing/2014/main" id="{A92CA4DC-29CC-4C73-99B2-8FD4541F3955}"/>
              </a:ext>
            </a:extLst>
          </p:cNvPr>
          <p:cNvSpPr/>
          <p:nvPr/>
        </p:nvSpPr>
        <p:spPr>
          <a:xfrm>
            <a:off x="1289633" y="3747192"/>
            <a:ext cx="2167704" cy="576072"/>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7000"/>
              </a:lnSpc>
              <a:spcBef>
                <a:spcPts val="245"/>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HMRC to view all State Aid claimed by a trader, to respond to queries.</a:t>
            </a:r>
          </a:p>
        </p:txBody>
      </p:sp>
      <p:sp>
        <p:nvSpPr>
          <p:cNvPr id="32" name="Rectangle 114">
            <a:extLst>
              <a:ext uri="{FF2B5EF4-FFF2-40B4-BE49-F238E27FC236}">
                <a16:creationId xmlns:a16="http://schemas.microsoft.com/office/drawing/2014/main" id="{56162C7C-2CB5-4ADB-94E6-7E1447936C0E}"/>
              </a:ext>
            </a:extLst>
          </p:cNvPr>
          <p:cNvSpPr/>
          <p:nvPr/>
        </p:nvSpPr>
        <p:spPr>
          <a:xfrm>
            <a:off x="1289633" y="4574313"/>
            <a:ext cx="2148565" cy="657151"/>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Enables CDS to accept and process FSDs so traders can meet CFSP obligations and the FSD is made available to the compliance teams.</a:t>
            </a:r>
          </a:p>
        </p:txBody>
      </p:sp>
      <p:sp>
        <p:nvSpPr>
          <p:cNvPr id="33" name="Rectangle 115">
            <a:extLst>
              <a:ext uri="{FF2B5EF4-FFF2-40B4-BE49-F238E27FC236}">
                <a16:creationId xmlns:a16="http://schemas.microsoft.com/office/drawing/2014/main" id="{181EB2BE-17C3-48E8-BC72-D23218BD0B89}"/>
              </a:ext>
            </a:extLst>
          </p:cNvPr>
          <p:cNvSpPr/>
          <p:nvPr/>
        </p:nvSpPr>
        <p:spPr>
          <a:xfrm>
            <a:off x="1289633" y="4356347"/>
            <a:ext cx="2160279" cy="217956"/>
          </a:xfrm>
          <a:prstGeom prst="rect">
            <a:avLst/>
          </a:prstGeom>
          <a:solidFill>
            <a:srgbClr val="FFE699"/>
          </a:solidFill>
          <a:ln w="12701" cap="flat">
            <a:solidFill>
              <a:srgbClr val="FFE699"/>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Final Declaration Submission</a:t>
            </a:r>
          </a:p>
        </p:txBody>
      </p:sp>
      <p:sp>
        <p:nvSpPr>
          <p:cNvPr id="34" name="TextBox 139">
            <a:extLst>
              <a:ext uri="{FF2B5EF4-FFF2-40B4-BE49-F238E27FC236}">
                <a16:creationId xmlns:a16="http://schemas.microsoft.com/office/drawing/2014/main" id="{8680C587-1C00-456C-B866-0F04D0037D75}"/>
              </a:ext>
            </a:extLst>
          </p:cNvPr>
          <p:cNvSpPr txBox="1"/>
          <p:nvPr/>
        </p:nvSpPr>
        <p:spPr>
          <a:xfrm>
            <a:off x="363967" y="1043092"/>
            <a:ext cx="8684824"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table below provides an overview of the Core Customs Processing scope, as delivered under by </a:t>
            </a:r>
            <a:r>
              <a:rPr lang="en-GB" sz="1200" b="1" i="0" u="none" strike="noStrike" kern="1200" cap="none" spc="0" baseline="0">
                <a:solidFill>
                  <a:srgbClr val="000000"/>
                </a:solidFill>
                <a:uFillTx/>
                <a:latin typeface="Calibri"/>
              </a:rPr>
              <a:t>March 2021. </a:t>
            </a:r>
            <a:endParaRPr lang="en-GB" sz="1400" b="0" i="0" u="none" strike="noStrike" kern="1200" cap="none" spc="0" baseline="0">
              <a:solidFill>
                <a:srgbClr val="000000"/>
              </a:solidFill>
              <a:uFillTx/>
              <a:latin typeface="Calibri"/>
            </a:endParaRPr>
          </a:p>
        </p:txBody>
      </p:sp>
      <p:cxnSp>
        <p:nvCxnSpPr>
          <p:cNvPr id="35" name="Straight Connector 11">
            <a:extLst>
              <a:ext uri="{FF2B5EF4-FFF2-40B4-BE49-F238E27FC236}">
                <a16:creationId xmlns:a16="http://schemas.microsoft.com/office/drawing/2014/main" id="{F9F87637-64C3-435A-AD0C-056D4313E766}"/>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36" name="TextBox 12">
            <a:extLst>
              <a:ext uri="{FF2B5EF4-FFF2-40B4-BE49-F238E27FC236}">
                <a16:creationId xmlns:a16="http://schemas.microsoft.com/office/drawing/2014/main" id="{EB21CF78-FB60-4242-966B-B8CD15F6A40E}"/>
              </a:ext>
            </a:extLst>
          </p:cNvPr>
          <p:cNvSpPr txBox="1"/>
          <p:nvPr/>
        </p:nvSpPr>
        <p:spPr>
          <a:xfrm>
            <a:off x="363967" y="248844"/>
            <a:ext cx="183011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Historical CDS Scope</a:t>
            </a:r>
          </a:p>
        </p:txBody>
      </p:sp>
      <p:sp>
        <p:nvSpPr>
          <p:cNvPr id="37" name="Rectangle 4">
            <a:extLst>
              <a:ext uri="{FF2B5EF4-FFF2-40B4-BE49-F238E27FC236}">
                <a16:creationId xmlns:a16="http://schemas.microsoft.com/office/drawing/2014/main" id="{861C38CD-4C54-4E06-8F44-BFB751D4ED3B}"/>
              </a:ext>
            </a:extLst>
          </p:cNvPr>
          <p:cNvSpPr/>
          <p:nvPr/>
        </p:nvSpPr>
        <p:spPr>
          <a:xfrm>
            <a:off x="369865" y="618052"/>
            <a:ext cx="8999963"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CDS NI Programme Scope: CCP</a:t>
            </a:r>
          </a:p>
        </p:txBody>
      </p:sp>
      <p:sp>
        <p:nvSpPr>
          <p:cNvPr id="38" name="Rectangle 145">
            <a:extLst>
              <a:ext uri="{FF2B5EF4-FFF2-40B4-BE49-F238E27FC236}">
                <a16:creationId xmlns:a16="http://schemas.microsoft.com/office/drawing/2014/main" id="{8022E751-2EF3-4E2F-B09B-6D3ED4A073BC}"/>
              </a:ext>
            </a:extLst>
          </p:cNvPr>
          <p:cNvSpPr/>
          <p:nvPr/>
        </p:nvSpPr>
        <p:spPr>
          <a:xfrm>
            <a:off x="1276292" y="1337136"/>
            <a:ext cx="2198738" cy="3894329"/>
          </a:xfrm>
          <a:prstGeom prst="rect">
            <a:avLst/>
          </a:prstGeom>
          <a:no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39" name="Rectangle 146">
            <a:extLst>
              <a:ext uri="{FF2B5EF4-FFF2-40B4-BE49-F238E27FC236}">
                <a16:creationId xmlns:a16="http://schemas.microsoft.com/office/drawing/2014/main" id="{15954FE1-291E-4052-9EBC-BEC6BFC22FC8}"/>
              </a:ext>
            </a:extLst>
          </p:cNvPr>
          <p:cNvSpPr/>
          <p:nvPr/>
        </p:nvSpPr>
        <p:spPr>
          <a:xfrm>
            <a:off x="3536176" y="1573289"/>
            <a:ext cx="5054464" cy="4237567"/>
          </a:xfrm>
          <a:prstGeom prst="rect">
            <a:avLst/>
          </a:prstGeom>
          <a:no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40" name="Rectangle 147">
            <a:extLst>
              <a:ext uri="{FF2B5EF4-FFF2-40B4-BE49-F238E27FC236}">
                <a16:creationId xmlns:a16="http://schemas.microsoft.com/office/drawing/2014/main" id="{EE01629D-85A4-4ABA-BECD-922F8AC21941}"/>
              </a:ext>
            </a:extLst>
          </p:cNvPr>
          <p:cNvSpPr/>
          <p:nvPr/>
        </p:nvSpPr>
        <p:spPr>
          <a:xfrm>
            <a:off x="8647791" y="1573289"/>
            <a:ext cx="2503096" cy="2187848"/>
          </a:xfrm>
          <a:prstGeom prst="rect">
            <a:avLst/>
          </a:prstGeom>
          <a:noFill/>
          <a:ln w="12701" cap="flat">
            <a:solidFill>
              <a:srgbClr val="FFC00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41" name="Slide Number Placeholder 5">
            <a:extLst>
              <a:ext uri="{FF2B5EF4-FFF2-40B4-BE49-F238E27FC236}">
                <a16:creationId xmlns:a16="http://schemas.microsoft.com/office/drawing/2014/main" id="{02264595-98ED-4341-8908-9E100214B401}"/>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103D6A73-98A4-46ED-83B5-6B100CCB8273}" type="slidenum">
              <a:rPr sz="1200"/>
              <a:t>446</a:t>
            </a:fld>
            <a:endParaRPr lang="en-GB" sz="1200" b="0" i="0" u="none" strike="noStrike" kern="1200" cap="none" spc="0" baseline="0">
              <a:solidFill>
                <a:srgbClr val="000000"/>
              </a:solidFill>
              <a:uFillTx/>
              <a:latin typeface="Calibri"/>
            </a:endParaRPr>
          </a:p>
        </p:txBody>
      </p:sp>
      <p:sp>
        <p:nvSpPr>
          <p:cNvPr id="42" name="Oval 56">
            <a:hlinkClick r:id="rId3" action="ppaction://hlinksldjump"/>
            <a:extLst>
              <a:ext uri="{FF2B5EF4-FFF2-40B4-BE49-F238E27FC236}">
                <a16:creationId xmlns:a16="http://schemas.microsoft.com/office/drawing/2014/main" id="{383AD98D-15A5-42E9-81E0-5925A431C6A8}"/>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43" name="Oval 57">
            <a:hlinkClick r:id="rId3" action="ppaction://hlinksldjump"/>
            <a:extLst>
              <a:ext uri="{FF2B5EF4-FFF2-40B4-BE49-F238E27FC236}">
                <a16:creationId xmlns:a16="http://schemas.microsoft.com/office/drawing/2014/main" id="{F359E8ED-3B4E-473B-B0C7-C3522AC6E3D8}"/>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4" name="Oval 64">
            <a:hlinkClick r:id="rId4" action="ppaction://hlinksldjump"/>
            <a:extLst>
              <a:ext uri="{FF2B5EF4-FFF2-40B4-BE49-F238E27FC236}">
                <a16:creationId xmlns:a16="http://schemas.microsoft.com/office/drawing/2014/main" id="{3EBC2AA1-29F8-4BD7-96B0-6DCA33A9478F}"/>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45" name="Oval 65">
            <a:hlinkClick r:id="rId5" action="ppaction://hlinksldjump"/>
            <a:extLst>
              <a:ext uri="{FF2B5EF4-FFF2-40B4-BE49-F238E27FC236}">
                <a16:creationId xmlns:a16="http://schemas.microsoft.com/office/drawing/2014/main" id="{1E9EA43E-89D5-49AB-B1E1-531632FC562B}"/>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46" name="TextBox 66">
            <a:hlinkClick r:id="rId3" action="ppaction://hlinksldjump"/>
            <a:extLst>
              <a:ext uri="{FF2B5EF4-FFF2-40B4-BE49-F238E27FC236}">
                <a16:creationId xmlns:a16="http://schemas.microsoft.com/office/drawing/2014/main" id="{35090B5B-627F-4B6A-858F-EE3CEA042CA2}"/>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47" name="TextBox 68">
            <a:hlinkClick r:id="rId3" action="ppaction://hlinksldjump"/>
            <a:extLst>
              <a:ext uri="{FF2B5EF4-FFF2-40B4-BE49-F238E27FC236}">
                <a16:creationId xmlns:a16="http://schemas.microsoft.com/office/drawing/2014/main" id="{3CF84AE6-5AEF-467D-B141-CCCFB000EB5C}"/>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48" name="TextBox 69">
            <a:hlinkClick r:id="rId4" action="ppaction://hlinksldjump"/>
            <a:extLst>
              <a:ext uri="{FF2B5EF4-FFF2-40B4-BE49-F238E27FC236}">
                <a16:creationId xmlns:a16="http://schemas.microsoft.com/office/drawing/2014/main" id="{E391F3B4-DD1E-454A-B37F-A8157A25E4FE}"/>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49" name="TextBox 70">
            <a:hlinkClick r:id="rId4" action="ppaction://hlinksldjump"/>
            <a:extLst>
              <a:ext uri="{FF2B5EF4-FFF2-40B4-BE49-F238E27FC236}">
                <a16:creationId xmlns:a16="http://schemas.microsoft.com/office/drawing/2014/main" id="{E68A9979-405E-4D09-8DCD-1077939B7C4A}"/>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50" name="Oval 71">
            <a:extLst>
              <a:ext uri="{FF2B5EF4-FFF2-40B4-BE49-F238E27FC236}">
                <a16:creationId xmlns:a16="http://schemas.microsoft.com/office/drawing/2014/main" id="{48C78116-27A3-4D1D-A595-0E0BE8692D9E}"/>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1" name="TextBox 72">
            <a:hlinkClick r:id="rId6" action="ppaction://hlinksldjump"/>
            <a:extLst>
              <a:ext uri="{FF2B5EF4-FFF2-40B4-BE49-F238E27FC236}">
                <a16:creationId xmlns:a16="http://schemas.microsoft.com/office/drawing/2014/main" id="{2BEDB5A6-3858-4FB8-BCD0-54C1CCF62CE0}"/>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52" name="Picture 73">
            <a:hlinkClick r:id="rId3" action="ppaction://hlinksldjump"/>
            <a:extLst>
              <a:ext uri="{FF2B5EF4-FFF2-40B4-BE49-F238E27FC236}">
                <a16:creationId xmlns:a16="http://schemas.microsoft.com/office/drawing/2014/main" id="{CEBF8FCF-C59B-4CFD-929B-D84B594113AB}"/>
              </a:ext>
            </a:extLst>
          </p:cNvPr>
          <p:cNvPicPr>
            <a:picLocks noChangeAspect="1"/>
          </p:cNvPicPr>
          <p:nvPr/>
        </p:nvPicPr>
        <p:blipFill>
          <a:blip r:embed="rId7">
            <a:alphaModFix amt="35000"/>
          </a:blip>
          <a:srcRect l="20606" t="21077" r="21527" b="31021"/>
          <a:stretch>
            <a:fillRect/>
          </a:stretch>
        </p:blipFill>
        <p:spPr>
          <a:xfrm>
            <a:off x="10082201" y="272070"/>
            <a:ext cx="256918" cy="210595"/>
          </a:xfrm>
          <a:prstGeom prst="rect">
            <a:avLst/>
          </a:prstGeom>
          <a:noFill/>
          <a:ln cap="flat">
            <a:noFill/>
          </a:ln>
        </p:spPr>
      </p:pic>
      <p:sp>
        <p:nvSpPr>
          <p:cNvPr id="53" name="Oval 74">
            <a:hlinkClick r:id="rId3" action="ppaction://hlinksldjump"/>
            <a:extLst>
              <a:ext uri="{FF2B5EF4-FFF2-40B4-BE49-F238E27FC236}">
                <a16:creationId xmlns:a16="http://schemas.microsoft.com/office/drawing/2014/main" id="{1222BBD0-1260-4F97-BC4A-F6932416F6D2}"/>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name="Slide4354">
    <p:spTree>
      <p:nvGrpSpPr>
        <p:cNvPr id="1" name=""/>
        <p:cNvGrpSpPr/>
        <p:nvPr/>
      </p:nvGrpSpPr>
      <p:grpSpPr>
        <a:xfrm>
          <a:off x="0" y="0"/>
          <a:ext cx="0" cy="0"/>
          <a:chOff x="0" y="0"/>
          <a:chExt cx="0" cy="0"/>
        </a:xfrm>
      </p:grpSpPr>
      <p:sp>
        <p:nvSpPr>
          <p:cNvPr id="3" name="Rectangle 34">
            <a:extLst>
              <a:ext uri="{FF2B5EF4-FFF2-40B4-BE49-F238E27FC236}">
                <a16:creationId xmlns:a16="http://schemas.microsoft.com/office/drawing/2014/main" id="{22164D77-764E-472F-B905-FBBEDD1EC9D1}"/>
              </a:ext>
            </a:extLst>
          </p:cNvPr>
          <p:cNvSpPr/>
          <p:nvPr/>
        </p:nvSpPr>
        <p:spPr>
          <a:xfrm>
            <a:off x="36521" y="1303184"/>
            <a:ext cx="2456636" cy="225353"/>
          </a:xfrm>
          <a:prstGeom prst="rect">
            <a:avLst/>
          </a:prstGeom>
          <a:solidFill>
            <a:srgbClr val="7030A0"/>
          </a:solidFill>
          <a:ln w="25402"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RoRo Steady State</a:t>
            </a:r>
          </a:p>
        </p:txBody>
      </p:sp>
      <p:sp>
        <p:nvSpPr>
          <p:cNvPr id="4" name="Rectangle 51">
            <a:extLst>
              <a:ext uri="{FF2B5EF4-FFF2-40B4-BE49-F238E27FC236}">
                <a16:creationId xmlns:a16="http://schemas.microsoft.com/office/drawing/2014/main" id="{F8A289BB-B443-47B3-8F37-8A3F3B99AB94}"/>
              </a:ext>
            </a:extLst>
          </p:cNvPr>
          <p:cNvSpPr/>
          <p:nvPr/>
        </p:nvSpPr>
        <p:spPr>
          <a:xfrm>
            <a:off x="2510713" y="3332174"/>
            <a:ext cx="1710366" cy="1185501"/>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Process claims for repayment of both EU and UK duties paid as a result of an error made on a declaration for goods imported to Northern Ireland.</a:t>
            </a:r>
          </a:p>
        </p:txBody>
      </p:sp>
      <p:sp>
        <p:nvSpPr>
          <p:cNvPr id="5" name="Rectangle 56">
            <a:extLst>
              <a:ext uri="{FF2B5EF4-FFF2-40B4-BE49-F238E27FC236}">
                <a16:creationId xmlns:a16="http://schemas.microsoft.com/office/drawing/2014/main" id="{E9CF149A-8902-4675-BC1C-160BC3F80981}"/>
              </a:ext>
            </a:extLst>
          </p:cNvPr>
          <p:cNvSpPr/>
          <p:nvPr/>
        </p:nvSpPr>
        <p:spPr>
          <a:xfrm>
            <a:off x="53757" y="4799557"/>
            <a:ext cx="1892195" cy="182450"/>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UK Declaration Processing</a:t>
            </a:r>
          </a:p>
        </p:txBody>
      </p:sp>
      <p:sp>
        <p:nvSpPr>
          <p:cNvPr id="6" name="Rectangle 57">
            <a:extLst>
              <a:ext uri="{FF2B5EF4-FFF2-40B4-BE49-F238E27FC236}">
                <a16:creationId xmlns:a16="http://schemas.microsoft.com/office/drawing/2014/main" id="{60372CC6-6C0A-45DB-8926-089074C598DC}"/>
              </a:ext>
            </a:extLst>
          </p:cNvPr>
          <p:cNvSpPr/>
          <p:nvPr/>
        </p:nvSpPr>
        <p:spPr>
          <a:xfrm>
            <a:off x="53757" y="4984330"/>
            <a:ext cx="1895688" cy="833347"/>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Process declarations from individual EU countries.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Removal of OSR functionality in order to claim VAT relief for GB declarations.</a:t>
            </a:r>
          </a:p>
        </p:txBody>
      </p:sp>
      <p:sp>
        <p:nvSpPr>
          <p:cNvPr id="7" name="Rectangle 62">
            <a:extLst>
              <a:ext uri="{FF2B5EF4-FFF2-40B4-BE49-F238E27FC236}">
                <a16:creationId xmlns:a16="http://schemas.microsoft.com/office/drawing/2014/main" id="{532187B7-68FE-45DB-8E39-443BD8EE102B}"/>
              </a:ext>
            </a:extLst>
          </p:cNvPr>
          <p:cNvSpPr/>
          <p:nvPr/>
        </p:nvSpPr>
        <p:spPr>
          <a:xfrm>
            <a:off x="2518248" y="1555879"/>
            <a:ext cx="1709617" cy="207961"/>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Declaration Validation</a:t>
            </a:r>
          </a:p>
        </p:txBody>
      </p:sp>
      <p:sp>
        <p:nvSpPr>
          <p:cNvPr id="8" name="Rectangle 63">
            <a:extLst>
              <a:ext uri="{FF2B5EF4-FFF2-40B4-BE49-F238E27FC236}">
                <a16:creationId xmlns:a16="http://schemas.microsoft.com/office/drawing/2014/main" id="{75E637A6-2142-46A9-80EC-B9E7AE40AD86}"/>
              </a:ext>
            </a:extLst>
          </p:cNvPr>
          <p:cNvSpPr/>
          <p:nvPr/>
        </p:nvSpPr>
        <p:spPr>
          <a:xfrm>
            <a:off x="2510713" y="1777575"/>
            <a:ext cx="1694401" cy="1367503"/>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ea typeface="Calibri" pitchFamily="34"/>
                <a:cs typeface="Times New Roman" pitchFamily="18"/>
              </a:rPr>
              <a:t>Identify GB and RoW imports to NI and facilitate exports as per the NI Protocol from NI to RoW and GB</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ea typeface="Calibri" pitchFamily="34"/>
                <a:cs typeface="Times New Roman" pitchFamily="18"/>
              </a:rPr>
              <a:t>Validation against UK and EU P&amp;Rs as required by the UCC.</a:t>
            </a:r>
          </a:p>
        </p:txBody>
      </p:sp>
      <p:sp>
        <p:nvSpPr>
          <p:cNvPr id="9" name="Rectangle 64">
            <a:extLst>
              <a:ext uri="{FF2B5EF4-FFF2-40B4-BE49-F238E27FC236}">
                <a16:creationId xmlns:a16="http://schemas.microsoft.com/office/drawing/2014/main" id="{B8130C51-73C3-4C3E-B5AE-C294BE2E8438}"/>
              </a:ext>
            </a:extLst>
          </p:cNvPr>
          <p:cNvSpPr/>
          <p:nvPr/>
        </p:nvSpPr>
        <p:spPr>
          <a:xfrm>
            <a:off x="6225399" y="5412882"/>
            <a:ext cx="2380466" cy="173525"/>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EU CAP Goods</a:t>
            </a:r>
          </a:p>
        </p:txBody>
      </p:sp>
      <p:sp>
        <p:nvSpPr>
          <p:cNvPr id="10" name="Rectangle 67">
            <a:extLst>
              <a:ext uri="{FF2B5EF4-FFF2-40B4-BE49-F238E27FC236}">
                <a16:creationId xmlns:a16="http://schemas.microsoft.com/office/drawing/2014/main" id="{42501566-1834-45AD-ABCE-F234DC3B6736}"/>
              </a:ext>
            </a:extLst>
          </p:cNvPr>
          <p:cNvSpPr/>
          <p:nvPr/>
        </p:nvSpPr>
        <p:spPr>
          <a:xfrm>
            <a:off x="8626998" y="2188067"/>
            <a:ext cx="3468492" cy="194483"/>
          </a:xfrm>
          <a:prstGeom prst="rect">
            <a:avLst/>
          </a:prstGeom>
          <a:solidFill>
            <a:srgbClr val="7030A0"/>
          </a:solidFill>
          <a:ln w="25402"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UK Tariff and QAM</a:t>
            </a:r>
          </a:p>
        </p:txBody>
      </p:sp>
      <p:sp>
        <p:nvSpPr>
          <p:cNvPr id="11" name="Rectangle 69">
            <a:extLst>
              <a:ext uri="{FF2B5EF4-FFF2-40B4-BE49-F238E27FC236}">
                <a16:creationId xmlns:a16="http://schemas.microsoft.com/office/drawing/2014/main" id="{3A0C3C5A-6136-4F4E-9D57-B36F56BEB8E9}"/>
              </a:ext>
            </a:extLst>
          </p:cNvPr>
          <p:cNvSpPr/>
          <p:nvPr/>
        </p:nvSpPr>
        <p:spPr>
          <a:xfrm>
            <a:off x="8615074" y="2601797"/>
            <a:ext cx="3481257" cy="693005"/>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Submission of a declaration requesting a UK Quota claim, the allocation of this claim and the clearance of the declaration.</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Application of Quotas and Steel Safeguarding measures for Imports of Steel to the UK.</a:t>
            </a:r>
          </a:p>
        </p:txBody>
      </p:sp>
      <p:sp>
        <p:nvSpPr>
          <p:cNvPr id="12" name="Rectangle 72">
            <a:extLst>
              <a:ext uri="{FF2B5EF4-FFF2-40B4-BE49-F238E27FC236}">
                <a16:creationId xmlns:a16="http://schemas.microsoft.com/office/drawing/2014/main" id="{82D2255D-4D26-43E4-A488-88A4B93264FB}"/>
              </a:ext>
            </a:extLst>
          </p:cNvPr>
          <p:cNvSpPr/>
          <p:nvPr/>
        </p:nvSpPr>
        <p:spPr>
          <a:xfrm>
            <a:off x="8615074" y="2434297"/>
            <a:ext cx="3474409" cy="155100"/>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UK Quota Processing on CDS</a:t>
            </a:r>
          </a:p>
        </p:txBody>
      </p:sp>
      <p:sp>
        <p:nvSpPr>
          <p:cNvPr id="13" name="Rectangle 79">
            <a:extLst>
              <a:ext uri="{FF2B5EF4-FFF2-40B4-BE49-F238E27FC236}">
                <a16:creationId xmlns:a16="http://schemas.microsoft.com/office/drawing/2014/main" id="{D9175591-DAA5-4FAC-8F55-8969282CF4FD}"/>
              </a:ext>
            </a:extLst>
          </p:cNvPr>
          <p:cNvSpPr/>
          <p:nvPr/>
        </p:nvSpPr>
        <p:spPr>
          <a:xfrm>
            <a:off x="36521" y="1564876"/>
            <a:ext cx="2431508" cy="152887"/>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Declaration Submission</a:t>
            </a:r>
          </a:p>
        </p:txBody>
      </p:sp>
      <p:sp>
        <p:nvSpPr>
          <p:cNvPr id="14" name="Rectangle 80">
            <a:extLst>
              <a:ext uri="{FF2B5EF4-FFF2-40B4-BE49-F238E27FC236}">
                <a16:creationId xmlns:a16="http://schemas.microsoft.com/office/drawing/2014/main" id="{844F9FDF-3221-4C8C-B245-F7DB625D8412}"/>
              </a:ext>
            </a:extLst>
          </p:cNvPr>
          <p:cNvSpPr/>
          <p:nvPr/>
        </p:nvSpPr>
        <p:spPr>
          <a:xfrm>
            <a:off x="36521" y="1739435"/>
            <a:ext cx="2434087" cy="515941"/>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to identify RoRo declarations and validate against a revised criteria for EU-GB, GB-EU and. NI-EU movements</a:t>
            </a:r>
          </a:p>
        </p:txBody>
      </p:sp>
      <p:sp>
        <p:nvSpPr>
          <p:cNvPr id="15" name="Rectangle 53">
            <a:extLst>
              <a:ext uri="{FF2B5EF4-FFF2-40B4-BE49-F238E27FC236}">
                <a16:creationId xmlns:a16="http://schemas.microsoft.com/office/drawing/2014/main" id="{CF5A6034-BA29-4B59-B877-D3F2396382AA}"/>
              </a:ext>
            </a:extLst>
          </p:cNvPr>
          <p:cNvSpPr/>
          <p:nvPr/>
        </p:nvSpPr>
        <p:spPr>
          <a:xfrm>
            <a:off x="47640" y="4523244"/>
            <a:ext cx="4185400" cy="231644"/>
          </a:xfrm>
          <a:prstGeom prst="rect">
            <a:avLst/>
          </a:prstGeom>
          <a:solidFill>
            <a:srgbClr val="7030A0"/>
          </a:solidFill>
          <a:ln w="25402"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GB EU Exit</a:t>
            </a:r>
          </a:p>
        </p:txBody>
      </p:sp>
      <p:sp>
        <p:nvSpPr>
          <p:cNvPr id="16" name="Rectangle 41">
            <a:extLst>
              <a:ext uri="{FF2B5EF4-FFF2-40B4-BE49-F238E27FC236}">
                <a16:creationId xmlns:a16="http://schemas.microsoft.com/office/drawing/2014/main" id="{A42669DA-E028-4C07-AFD4-25DC5AD6071C}"/>
              </a:ext>
            </a:extLst>
          </p:cNvPr>
          <p:cNvSpPr/>
          <p:nvPr/>
        </p:nvSpPr>
        <p:spPr>
          <a:xfrm>
            <a:off x="1970559" y="4796439"/>
            <a:ext cx="2268589" cy="172565"/>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PVA</a:t>
            </a:r>
          </a:p>
        </p:txBody>
      </p:sp>
      <p:sp>
        <p:nvSpPr>
          <p:cNvPr id="17" name="Rectangle 42">
            <a:extLst>
              <a:ext uri="{FF2B5EF4-FFF2-40B4-BE49-F238E27FC236}">
                <a16:creationId xmlns:a16="http://schemas.microsoft.com/office/drawing/2014/main" id="{753FBF8B-5219-426E-AF57-FCA2C6116FD3}"/>
              </a:ext>
            </a:extLst>
          </p:cNvPr>
          <p:cNvSpPr/>
          <p:nvPr/>
        </p:nvSpPr>
        <p:spPr>
          <a:xfrm>
            <a:off x="1974098" y="4983736"/>
            <a:ext cx="2258942" cy="838806"/>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ea typeface="Calibri" pitchFamily="34"/>
                <a:cs typeface="Times New Roman"/>
              </a:rPr>
              <a:t>VAT-registered traders will have the ability to postpone VAT that may be liable on their declarations and receive a statement for their postponed VAT across CDS and CHIEF.</a:t>
            </a:r>
            <a:endParaRPr lang="en-GB" sz="1000" b="0" i="0" u="none" strike="noStrike" kern="1200" cap="none" spc="0" baseline="0">
              <a:solidFill>
                <a:srgbClr val="000000"/>
              </a:solidFill>
              <a:uFillTx/>
              <a:latin typeface="Calibri"/>
            </a:endParaRPr>
          </a:p>
        </p:txBody>
      </p:sp>
      <p:sp>
        <p:nvSpPr>
          <p:cNvPr id="18" name="Rectangle 43">
            <a:extLst>
              <a:ext uri="{FF2B5EF4-FFF2-40B4-BE49-F238E27FC236}">
                <a16:creationId xmlns:a16="http://schemas.microsoft.com/office/drawing/2014/main" id="{7376B95A-8ED7-4AAF-9D3C-0DFC49700D37}"/>
              </a:ext>
            </a:extLst>
          </p:cNvPr>
          <p:cNvSpPr/>
          <p:nvPr/>
        </p:nvSpPr>
        <p:spPr>
          <a:xfrm>
            <a:off x="43415" y="2305248"/>
            <a:ext cx="2429560" cy="143780"/>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EORI Validation</a:t>
            </a:r>
          </a:p>
        </p:txBody>
      </p:sp>
      <p:sp>
        <p:nvSpPr>
          <p:cNvPr id="19" name="Rectangle 45">
            <a:extLst>
              <a:ext uri="{FF2B5EF4-FFF2-40B4-BE49-F238E27FC236}">
                <a16:creationId xmlns:a16="http://schemas.microsoft.com/office/drawing/2014/main" id="{070F677A-450F-46D9-9C85-0F71166022BA}"/>
              </a:ext>
            </a:extLst>
          </p:cNvPr>
          <p:cNvSpPr/>
          <p:nvPr/>
        </p:nvSpPr>
        <p:spPr>
          <a:xfrm>
            <a:off x="39520" y="2475097"/>
            <a:ext cx="2434087" cy="541708"/>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GVMS to send a query to CDS to validate the trader’s EORI and EIDR authorisation.</a:t>
            </a:r>
          </a:p>
        </p:txBody>
      </p:sp>
      <p:sp>
        <p:nvSpPr>
          <p:cNvPr id="20" name="Rectangle 48">
            <a:extLst>
              <a:ext uri="{FF2B5EF4-FFF2-40B4-BE49-F238E27FC236}">
                <a16:creationId xmlns:a16="http://schemas.microsoft.com/office/drawing/2014/main" id="{468DBEE9-FB83-41F9-8CCF-6DEBE3D108EC}"/>
              </a:ext>
            </a:extLst>
          </p:cNvPr>
          <p:cNvSpPr/>
          <p:nvPr/>
        </p:nvSpPr>
        <p:spPr>
          <a:xfrm>
            <a:off x="48929" y="3040160"/>
            <a:ext cx="2432925" cy="147602"/>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State Change Notifications</a:t>
            </a:r>
          </a:p>
        </p:txBody>
      </p:sp>
      <p:sp>
        <p:nvSpPr>
          <p:cNvPr id="21" name="Rectangle 52">
            <a:extLst>
              <a:ext uri="{FF2B5EF4-FFF2-40B4-BE49-F238E27FC236}">
                <a16:creationId xmlns:a16="http://schemas.microsoft.com/office/drawing/2014/main" id="{CE8A30DE-F23C-44A5-8CA6-3485FC1A581D}"/>
              </a:ext>
            </a:extLst>
          </p:cNvPr>
          <p:cNvSpPr/>
          <p:nvPr/>
        </p:nvSpPr>
        <p:spPr>
          <a:xfrm>
            <a:off x="57945" y="3217919"/>
            <a:ext cx="2432925" cy="692685"/>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to notify GVMS state changes to declarations so that hauliers and carriers can be notified on any holds on their goods.</a:t>
            </a:r>
          </a:p>
        </p:txBody>
      </p:sp>
      <p:sp>
        <p:nvSpPr>
          <p:cNvPr id="22" name="Rectangle 55">
            <a:extLst>
              <a:ext uri="{FF2B5EF4-FFF2-40B4-BE49-F238E27FC236}">
                <a16:creationId xmlns:a16="http://schemas.microsoft.com/office/drawing/2014/main" id="{BB585F83-EC69-44DA-B271-B724F61AD531}"/>
              </a:ext>
            </a:extLst>
          </p:cNvPr>
          <p:cNvSpPr/>
          <p:nvPr/>
        </p:nvSpPr>
        <p:spPr>
          <a:xfrm>
            <a:off x="57945" y="3909288"/>
            <a:ext cx="2429560" cy="147602"/>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Movements</a:t>
            </a:r>
          </a:p>
        </p:txBody>
      </p:sp>
      <p:sp>
        <p:nvSpPr>
          <p:cNvPr id="23" name="Rectangle 65">
            <a:extLst>
              <a:ext uri="{FF2B5EF4-FFF2-40B4-BE49-F238E27FC236}">
                <a16:creationId xmlns:a16="http://schemas.microsoft.com/office/drawing/2014/main" id="{DF907003-7208-48C4-8256-D7AF3E6BB7FE}"/>
              </a:ext>
            </a:extLst>
          </p:cNvPr>
          <p:cNvSpPr/>
          <p:nvPr/>
        </p:nvSpPr>
        <p:spPr>
          <a:xfrm>
            <a:off x="51828" y="4089983"/>
            <a:ext cx="2429560" cy="427683"/>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CDS to accept and process export movement messages from GVMS.</a:t>
            </a:r>
          </a:p>
        </p:txBody>
      </p:sp>
      <p:sp>
        <p:nvSpPr>
          <p:cNvPr id="24" name="Rectangle 74">
            <a:extLst>
              <a:ext uri="{FF2B5EF4-FFF2-40B4-BE49-F238E27FC236}">
                <a16:creationId xmlns:a16="http://schemas.microsoft.com/office/drawing/2014/main" id="{CF61290F-3906-47E2-B76B-CC769F3F3130}"/>
              </a:ext>
            </a:extLst>
          </p:cNvPr>
          <p:cNvSpPr/>
          <p:nvPr/>
        </p:nvSpPr>
        <p:spPr>
          <a:xfrm>
            <a:off x="8624565" y="3320872"/>
            <a:ext cx="3479813" cy="207038"/>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UK Preference – Tariff Processing</a:t>
            </a:r>
          </a:p>
        </p:txBody>
      </p:sp>
      <p:sp>
        <p:nvSpPr>
          <p:cNvPr id="25" name="Rectangle 75">
            <a:extLst>
              <a:ext uri="{FF2B5EF4-FFF2-40B4-BE49-F238E27FC236}">
                <a16:creationId xmlns:a16="http://schemas.microsoft.com/office/drawing/2014/main" id="{AD17B81F-BDAE-4448-ACB0-12DF86395D2D}"/>
              </a:ext>
            </a:extLst>
          </p:cNvPr>
          <p:cNvSpPr/>
          <p:nvPr/>
        </p:nvSpPr>
        <p:spPr>
          <a:xfrm>
            <a:off x="8624565" y="3505334"/>
            <a:ext cx="3488463" cy="1085228"/>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Processing of declarations claiming UK preferential treatment.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Publishing of UK Tariff data to the Online Tariff Tool and Tariff Download Service.</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000000"/>
              </a:solidFill>
              <a:uFillTx/>
              <a:latin typeface="Calibri"/>
            </a:endParaRPr>
          </a:p>
        </p:txBody>
      </p:sp>
      <p:sp>
        <p:nvSpPr>
          <p:cNvPr id="26" name="Rectangle 77">
            <a:extLst>
              <a:ext uri="{FF2B5EF4-FFF2-40B4-BE49-F238E27FC236}">
                <a16:creationId xmlns:a16="http://schemas.microsoft.com/office/drawing/2014/main" id="{C4C3243E-563F-4740-98DC-B189FD33E668}"/>
              </a:ext>
            </a:extLst>
          </p:cNvPr>
          <p:cNvSpPr/>
          <p:nvPr/>
        </p:nvSpPr>
        <p:spPr>
          <a:xfrm>
            <a:off x="2510713" y="3158813"/>
            <a:ext cx="1710366" cy="172272"/>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Manual Repayment Uplift</a:t>
            </a:r>
          </a:p>
        </p:txBody>
      </p:sp>
      <p:sp>
        <p:nvSpPr>
          <p:cNvPr id="27" name="Rectangle 78">
            <a:extLst>
              <a:ext uri="{FF2B5EF4-FFF2-40B4-BE49-F238E27FC236}">
                <a16:creationId xmlns:a16="http://schemas.microsoft.com/office/drawing/2014/main" id="{E7B65664-E7CF-451C-B296-68CB91E802EC}"/>
              </a:ext>
            </a:extLst>
          </p:cNvPr>
          <p:cNvSpPr/>
          <p:nvPr/>
        </p:nvSpPr>
        <p:spPr>
          <a:xfrm>
            <a:off x="8662851" y="1739453"/>
            <a:ext cx="3434248" cy="416984"/>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Dual tariff system to manage UK and EU Tariff with mechanisms to receive and maintain UK and EU Tariff files.</a:t>
            </a:r>
          </a:p>
        </p:txBody>
      </p:sp>
      <p:sp>
        <p:nvSpPr>
          <p:cNvPr id="28" name="Rectangle 81">
            <a:extLst>
              <a:ext uri="{FF2B5EF4-FFF2-40B4-BE49-F238E27FC236}">
                <a16:creationId xmlns:a16="http://schemas.microsoft.com/office/drawing/2014/main" id="{FE85A36A-DF83-4E33-A229-AEB4A1007520}"/>
              </a:ext>
            </a:extLst>
          </p:cNvPr>
          <p:cNvSpPr/>
          <p:nvPr/>
        </p:nvSpPr>
        <p:spPr>
          <a:xfrm>
            <a:off x="8666847" y="1562188"/>
            <a:ext cx="3437092" cy="159014"/>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Tariff Management</a:t>
            </a:r>
          </a:p>
        </p:txBody>
      </p:sp>
      <p:sp>
        <p:nvSpPr>
          <p:cNvPr id="29" name="Rectangle 89">
            <a:extLst>
              <a:ext uri="{FF2B5EF4-FFF2-40B4-BE49-F238E27FC236}">
                <a16:creationId xmlns:a16="http://schemas.microsoft.com/office/drawing/2014/main" id="{4FF0EB3A-EA16-46D3-87DD-97AF4135B9B4}"/>
              </a:ext>
            </a:extLst>
          </p:cNvPr>
          <p:cNvSpPr/>
          <p:nvPr/>
        </p:nvSpPr>
        <p:spPr>
          <a:xfrm>
            <a:off x="6228929" y="4835100"/>
            <a:ext cx="2390177" cy="549014"/>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Declaration validation and calculation of duties where at risk goods attract EU Minimum Import Price.</a:t>
            </a:r>
          </a:p>
          <a:p>
            <a:pPr marL="140589" marR="0" lvl="0" indent="-140589" algn="l" defTabSz="914400" rtl="0" fontAlgn="auto" hangingPunct="1">
              <a:lnSpc>
                <a:spcPct val="100000"/>
              </a:lnSpc>
              <a:spcBef>
                <a:spcPts val="0"/>
              </a:spcBef>
              <a:spcAft>
                <a:spcPts val="0"/>
              </a:spcAft>
              <a:buSzPct val="100000"/>
              <a:buFont typeface="Arial" pitchFamily="34"/>
              <a:buChar char="•"/>
              <a:tabLst/>
              <a:defRPr sz="1800" b="0" i="0" u="none" strike="noStrike" kern="0" cap="none" spc="0" baseline="0">
                <a:solidFill>
                  <a:srgbClr val="000000"/>
                </a:solidFill>
                <a:uFillTx/>
              </a:defRPr>
            </a:pPr>
            <a:endParaRPr lang="en-GB" sz="1000" b="0" i="0" u="none" strike="noStrike" kern="1200" cap="none" spc="0" baseline="0">
              <a:solidFill>
                <a:srgbClr val="000000"/>
              </a:solidFill>
              <a:uFillTx/>
              <a:latin typeface="Calibri"/>
            </a:endParaRPr>
          </a:p>
        </p:txBody>
      </p:sp>
      <p:sp>
        <p:nvSpPr>
          <p:cNvPr id="30" name="Rectangle 23">
            <a:extLst>
              <a:ext uri="{FF2B5EF4-FFF2-40B4-BE49-F238E27FC236}">
                <a16:creationId xmlns:a16="http://schemas.microsoft.com/office/drawing/2014/main" id="{7837BE27-AF11-4445-A5EC-A127F27F4D5F}"/>
              </a:ext>
            </a:extLst>
          </p:cNvPr>
          <p:cNvSpPr/>
          <p:nvPr/>
        </p:nvSpPr>
        <p:spPr>
          <a:xfrm>
            <a:off x="6237204" y="5605509"/>
            <a:ext cx="2380466" cy="1028736"/>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and charge of EU CAP Safeguarding duties where the goods are deemed 'at risk' of entering the EU.</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and charge of EU CAP Variable duties where the goods are deemed 'at risk' of entering the EU.</a:t>
            </a:r>
          </a:p>
        </p:txBody>
      </p:sp>
      <p:sp>
        <p:nvSpPr>
          <p:cNvPr id="31" name="TextBox 9">
            <a:extLst>
              <a:ext uri="{FF2B5EF4-FFF2-40B4-BE49-F238E27FC236}">
                <a16:creationId xmlns:a16="http://schemas.microsoft.com/office/drawing/2014/main" id="{81E809AD-74B6-4FAD-8D65-D410EAA51CCF}"/>
              </a:ext>
            </a:extLst>
          </p:cNvPr>
          <p:cNvSpPr txBox="1"/>
          <p:nvPr/>
        </p:nvSpPr>
        <p:spPr>
          <a:xfrm>
            <a:off x="372105" y="1003874"/>
            <a:ext cx="10589776"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The table below provides an overview of the CDS NI Programme scope, as delivered under by </a:t>
            </a:r>
            <a:r>
              <a:rPr lang="en-GB" sz="1200" b="1" i="0" u="none" strike="noStrike" kern="1200" cap="none" spc="0" baseline="0">
                <a:solidFill>
                  <a:srgbClr val="000000"/>
                </a:solidFill>
                <a:uFillTx/>
                <a:latin typeface="Calibri"/>
              </a:rPr>
              <a:t>March 2021. </a:t>
            </a:r>
            <a:endParaRPr lang="en-GB" sz="1400" b="0" i="0" u="none" strike="noStrike" kern="1200" cap="none" spc="0" baseline="0">
              <a:solidFill>
                <a:srgbClr val="000000"/>
              </a:solidFill>
              <a:uFillTx/>
              <a:latin typeface="Calibri"/>
            </a:endParaRPr>
          </a:p>
        </p:txBody>
      </p:sp>
      <p:cxnSp>
        <p:nvCxnSpPr>
          <p:cNvPr id="32" name="Straight Connector 11">
            <a:extLst>
              <a:ext uri="{FF2B5EF4-FFF2-40B4-BE49-F238E27FC236}">
                <a16:creationId xmlns:a16="http://schemas.microsoft.com/office/drawing/2014/main" id="{8408DA99-9E68-4D7A-8A62-238D00F19619}"/>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33" name="TextBox 12">
            <a:extLst>
              <a:ext uri="{FF2B5EF4-FFF2-40B4-BE49-F238E27FC236}">
                <a16:creationId xmlns:a16="http://schemas.microsoft.com/office/drawing/2014/main" id="{9D1BC818-7AE9-41EE-99E2-BEB2A28DD625}"/>
              </a:ext>
            </a:extLst>
          </p:cNvPr>
          <p:cNvSpPr txBox="1"/>
          <p:nvPr/>
        </p:nvSpPr>
        <p:spPr>
          <a:xfrm>
            <a:off x="363967" y="248844"/>
            <a:ext cx="1830116"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Historical CDS Scope</a:t>
            </a:r>
          </a:p>
        </p:txBody>
      </p:sp>
      <p:sp>
        <p:nvSpPr>
          <p:cNvPr id="34" name="Rectangle 4">
            <a:extLst>
              <a:ext uri="{FF2B5EF4-FFF2-40B4-BE49-F238E27FC236}">
                <a16:creationId xmlns:a16="http://schemas.microsoft.com/office/drawing/2014/main" id="{FBC250B5-11AF-4363-8C10-D2AB6832DFF3}"/>
              </a:ext>
            </a:extLst>
          </p:cNvPr>
          <p:cNvSpPr/>
          <p:nvPr/>
        </p:nvSpPr>
        <p:spPr>
          <a:xfrm>
            <a:off x="372105" y="580653"/>
            <a:ext cx="8999963"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CDS NI Programme Scope: EU Exit</a:t>
            </a:r>
          </a:p>
        </p:txBody>
      </p:sp>
      <p:sp>
        <p:nvSpPr>
          <p:cNvPr id="35" name="Rectangle 10">
            <a:extLst>
              <a:ext uri="{FF2B5EF4-FFF2-40B4-BE49-F238E27FC236}">
                <a16:creationId xmlns:a16="http://schemas.microsoft.com/office/drawing/2014/main" id="{EE1DB98F-CA6B-4F31-ADB2-ACC7B6C35D54}"/>
              </a:ext>
            </a:extLst>
          </p:cNvPr>
          <p:cNvSpPr/>
          <p:nvPr/>
        </p:nvSpPr>
        <p:spPr>
          <a:xfrm>
            <a:off x="31400" y="1350230"/>
            <a:ext cx="2466109" cy="3167445"/>
          </a:xfrm>
          <a:prstGeom prst="rect">
            <a:avLst/>
          </a:prstGeom>
          <a:noFill/>
          <a:ln w="12701"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36" name="Rectangle 88">
            <a:extLst>
              <a:ext uri="{FF2B5EF4-FFF2-40B4-BE49-F238E27FC236}">
                <a16:creationId xmlns:a16="http://schemas.microsoft.com/office/drawing/2014/main" id="{ACD9A237-88AB-427B-B117-BBC601E6E975}"/>
              </a:ext>
            </a:extLst>
          </p:cNvPr>
          <p:cNvSpPr/>
          <p:nvPr/>
        </p:nvSpPr>
        <p:spPr>
          <a:xfrm>
            <a:off x="39520" y="4524414"/>
            <a:ext cx="4193511" cy="1306513"/>
          </a:xfrm>
          <a:prstGeom prst="rect">
            <a:avLst/>
          </a:prstGeom>
          <a:noFill/>
          <a:ln w="12701"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37" name="Rectangle 90">
            <a:extLst>
              <a:ext uri="{FF2B5EF4-FFF2-40B4-BE49-F238E27FC236}">
                <a16:creationId xmlns:a16="http://schemas.microsoft.com/office/drawing/2014/main" id="{67A93895-9FE6-4206-8593-9DE0802EEBC1}"/>
              </a:ext>
            </a:extLst>
          </p:cNvPr>
          <p:cNvSpPr/>
          <p:nvPr/>
        </p:nvSpPr>
        <p:spPr>
          <a:xfrm>
            <a:off x="2510713" y="1497549"/>
            <a:ext cx="3339187" cy="3020126"/>
          </a:xfrm>
          <a:prstGeom prst="rect">
            <a:avLst/>
          </a:prstGeom>
          <a:noFill/>
          <a:ln w="12701"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38" name="Rectangle 60">
            <a:extLst>
              <a:ext uri="{FF2B5EF4-FFF2-40B4-BE49-F238E27FC236}">
                <a16:creationId xmlns:a16="http://schemas.microsoft.com/office/drawing/2014/main" id="{D073310B-B35F-4E07-A83B-FF9C2FEDA25F}"/>
              </a:ext>
            </a:extLst>
          </p:cNvPr>
          <p:cNvSpPr/>
          <p:nvPr/>
        </p:nvSpPr>
        <p:spPr>
          <a:xfrm>
            <a:off x="4267641" y="1555879"/>
            <a:ext cx="1925305" cy="216209"/>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Duty Calculation</a:t>
            </a:r>
          </a:p>
        </p:txBody>
      </p:sp>
      <p:sp>
        <p:nvSpPr>
          <p:cNvPr id="39" name="Rectangle 61">
            <a:extLst>
              <a:ext uri="{FF2B5EF4-FFF2-40B4-BE49-F238E27FC236}">
                <a16:creationId xmlns:a16="http://schemas.microsoft.com/office/drawing/2014/main" id="{12B7FD7B-5256-4645-999C-0495CB3823F5}"/>
              </a:ext>
            </a:extLst>
          </p:cNvPr>
          <p:cNvSpPr/>
          <p:nvPr/>
        </p:nvSpPr>
        <p:spPr>
          <a:xfrm>
            <a:off x="4263554" y="1772098"/>
            <a:ext cx="1929009" cy="1909834"/>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Duty calculation of importing goods at risk and not at risk from GB to NI.</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Duty calculation of importing goods at risk and not at risk from RoW to NI.</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traders to self-declare goods are not at risk of entering the UK.</a:t>
            </a:r>
          </a:p>
        </p:txBody>
      </p:sp>
      <p:grpSp>
        <p:nvGrpSpPr>
          <p:cNvPr id="40" name="Group 1">
            <a:extLst>
              <a:ext uri="{FF2B5EF4-FFF2-40B4-BE49-F238E27FC236}">
                <a16:creationId xmlns:a16="http://schemas.microsoft.com/office/drawing/2014/main" id="{A17F6A17-89E3-4C40-94C5-8BBA5F908324}"/>
              </a:ext>
            </a:extLst>
          </p:cNvPr>
          <p:cNvGrpSpPr/>
          <p:nvPr/>
        </p:nvGrpSpPr>
        <p:grpSpPr>
          <a:xfrm>
            <a:off x="6227493" y="1559856"/>
            <a:ext cx="2395691" cy="926506"/>
            <a:chOff x="6227493" y="1559856"/>
            <a:chExt cx="2395691" cy="926506"/>
          </a:xfrm>
        </p:grpSpPr>
        <p:sp>
          <p:nvSpPr>
            <p:cNvPr id="41" name="Rectangle 82">
              <a:extLst>
                <a:ext uri="{FF2B5EF4-FFF2-40B4-BE49-F238E27FC236}">
                  <a16:creationId xmlns:a16="http://schemas.microsoft.com/office/drawing/2014/main" id="{9127F3FF-5936-4D35-86FF-809A00BF2921}"/>
                </a:ext>
              </a:extLst>
            </p:cNvPr>
            <p:cNvSpPr/>
            <p:nvPr/>
          </p:nvSpPr>
          <p:spPr>
            <a:xfrm>
              <a:off x="6230355" y="1559856"/>
              <a:ext cx="2387315" cy="212232"/>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EU Preference</a:t>
              </a:r>
            </a:p>
          </p:txBody>
        </p:sp>
        <p:sp>
          <p:nvSpPr>
            <p:cNvPr id="42" name="Rectangle 83">
              <a:extLst>
                <a:ext uri="{FF2B5EF4-FFF2-40B4-BE49-F238E27FC236}">
                  <a16:creationId xmlns:a16="http://schemas.microsoft.com/office/drawing/2014/main" id="{E89E0B8B-9D3A-42B3-BE16-96C3282447DE}"/>
                </a:ext>
              </a:extLst>
            </p:cNvPr>
            <p:cNvSpPr/>
            <p:nvPr/>
          </p:nvSpPr>
          <p:spPr>
            <a:xfrm>
              <a:off x="6227493" y="1753471"/>
              <a:ext cx="2395691" cy="732891"/>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Declaration validation and calculation of duties where an EU Preferential rate has been claimed for GB-NI and RoW-NI imports.</a:t>
              </a:r>
            </a:p>
          </p:txBody>
        </p:sp>
      </p:grpSp>
      <p:sp>
        <p:nvSpPr>
          <p:cNvPr id="43" name="Rectangle 84">
            <a:extLst>
              <a:ext uri="{FF2B5EF4-FFF2-40B4-BE49-F238E27FC236}">
                <a16:creationId xmlns:a16="http://schemas.microsoft.com/office/drawing/2014/main" id="{62321CB6-419D-4281-BC2D-1D86787E0E34}"/>
              </a:ext>
            </a:extLst>
          </p:cNvPr>
          <p:cNvSpPr/>
          <p:nvPr/>
        </p:nvSpPr>
        <p:spPr>
          <a:xfrm>
            <a:off x="6230355" y="2494547"/>
            <a:ext cx="2380567" cy="173653"/>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EU Trade Defence Measures</a:t>
            </a:r>
          </a:p>
        </p:txBody>
      </p:sp>
      <p:grpSp>
        <p:nvGrpSpPr>
          <p:cNvPr id="44" name="Group 2">
            <a:extLst>
              <a:ext uri="{FF2B5EF4-FFF2-40B4-BE49-F238E27FC236}">
                <a16:creationId xmlns:a16="http://schemas.microsoft.com/office/drawing/2014/main" id="{FF7E3DD3-F0EB-4E4A-BE13-E6B83EB2CD33}"/>
              </a:ext>
            </a:extLst>
          </p:cNvPr>
          <p:cNvGrpSpPr/>
          <p:nvPr/>
        </p:nvGrpSpPr>
        <p:grpSpPr>
          <a:xfrm>
            <a:off x="4267641" y="5068217"/>
            <a:ext cx="1918283" cy="1566038"/>
            <a:chOff x="4267641" y="5068217"/>
            <a:chExt cx="1918283" cy="1566038"/>
          </a:xfrm>
        </p:grpSpPr>
        <p:sp>
          <p:nvSpPr>
            <p:cNvPr id="45" name="Rectangle 47">
              <a:extLst>
                <a:ext uri="{FF2B5EF4-FFF2-40B4-BE49-F238E27FC236}">
                  <a16:creationId xmlns:a16="http://schemas.microsoft.com/office/drawing/2014/main" id="{1692DA75-B0A8-485C-AC52-55B5B999F5DF}"/>
                </a:ext>
              </a:extLst>
            </p:cNvPr>
            <p:cNvSpPr/>
            <p:nvPr/>
          </p:nvSpPr>
          <p:spPr>
            <a:xfrm>
              <a:off x="4270604" y="5068217"/>
              <a:ext cx="1915320" cy="186610"/>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Goods at Risk Management</a:t>
              </a:r>
            </a:p>
          </p:txBody>
        </p:sp>
        <p:sp>
          <p:nvSpPr>
            <p:cNvPr id="46" name="Rectangle 49">
              <a:extLst>
                <a:ext uri="{FF2B5EF4-FFF2-40B4-BE49-F238E27FC236}">
                  <a16:creationId xmlns:a16="http://schemas.microsoft.com/office/drawing/2014/main" id="{2C85DA2E-DFBC-4292-8073-5A0BD87A6811}"/>
                </a:ext>
              </a:extLst>
            </p:cNvPr>
            <p:cNvSpPr/>
            <p:nvPr/>
          </p:nvSpPr>
          <p:spPr>
            <a:xfrm>
              <a:off x="4267641" y="5261759"/>
              <a:ext cx="1913189" cy="1372496"/>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CDS to determine the risk status of commodity codes</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Ability for CDS to update risk status of commodity codes</a:t>
              </a:r>
            </a:p>
          </p:txBody>
        </p:sp>
      </p:grpSp>
      <p:sp>
        <p:nvSpPr>
          <p:cNvPr id="47" name="Rectangle 122">
            <a:extLst>
              <a:ext uri="{FF2B5EF4-FFF2-40B4-BE49-F238E27FC236}">
                <a16:creationId xmlns:a16="http://schemas.microsoft.com/office/drawing/2014/main" id="{70200A12-69F8-43CA-B66F-2E3FE787EFB7}"/>
              </a:ext>
            </a:extLst>
          </p:cNvPr>
          <p:cNvSpPr/>
          <p:nvPr/>
        </p:nvSpPr>
        <p:spPr>
          <a:xfrm>
            <a:off x="4263801" y="4517675"/>
            <a:ext cx="4347130" cy="2131091"/>
          </a:xfrm>
          <a:prstGeom prst="rect">
            <a:avLst/>
          </a:prstGeom>
          <a:noFill/>
          <a:ln w="12701"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grpSp>
        <p:nvGrpSpPr>
          <p:cNvPr id="48" name="Group 5">
            <a:extLst>
              <a:ext uri="{FF2B5EF4-FFF2-40B4-BE49-F238E27FC236}">
                <a16:creationId xmlns:a16="http://schemas.microsoft.com/office/drawing/2014/main" id="{0BEF2B9B-16FD-4B82-8792-E6ADEEEBDEC2}"/>
              </a:ext>
            </a:extLst>
          </p:cNvPr>
          <p:cNvGrpSpPr/>
          <p:nvPr/>
        </p:nvGrpSpPr>
        <p:grpSpPr>
          <a:xfrm>
            <a:off x="4274847" y="3681932"/>
            <a:ext cx="1918913" cy="1377342"/>
            <a:chOff x="4274847" y="3681932"/>
            <a:chExt cx="1918913" cy="1377342"/>
          </a:xfrm>
        </p:grpSpPr>
        <p:sp>
          <p:nvSpPr>
            <p:cNvPr id="49" name="Rectangle 59">
              <a:extLst>
                <a:ext uri="{FF2B5EF4-FFF2-40B4-BE49-F238E27FC236}">
                  <a16:creationId xmlns:a16="http://schemas.microsoft.com/office/drawing/2014/main" id="{37E9344E-A903-4A9E-AFFD-5CDF841B58B4}"/>
                </a:ext>
              </a:extLst>
            </p:cNvPr>
            <p:cNvSpPr/>
            <p:nvPr/>
          </p:nvSpPr>
          <p:spPr>
            <a:xfrm>
              <a:off x="4274847" y="3859115"/>
              <a:ext cx="1909550" cy="1200159"/>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Trader’s claiming subsidy against an ‘at risk’ GB import to NI</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and notification to traders of the EU liabilities and the amount of subsidy claimed.</a:t>
              </a:r>
            </a:p>
          </p:txBody>
        </p:sp>
        <p:sp>
          <p:nvSpPr>
            <p:cNvPr id="50" name="Rectangle 58">
              <a:extLst>
                <a:ext uri="{FF2B5EF4-FFF2-40B4-BE49-F238E27FC236}">
                  <a16:creationId xmlns:a16="http://schemas.microsoft.com/office/drawing/2014/main" id="{97F968CD-FABA-48B5-A623-9392AA7C4DF3}"/>
                </a:ext>
              </a:extLst>
            </p:cNvPr>
            <p:cNvSpPr/>
            <p:nvPr/>
          </p:nvSpPr>
          <p:spPr>
            <a:xfrm>
              <a:off x="4274865" y="3681932"/>
              <a:ext cx="1918895" cy="170087"/>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Subsidy</a:t>
              </a:r>
            </a:p>
          </p:txBody>
        </p:sp>
      </p:grpSp>
      <p:sp>
        <p:nvSpPr>
          <p:cNvPr id="51" name="Rectangle 87">
            <a:extLst>
              <a:ext uri="{FF2B5EF4-FFF2-40B4-BE49-F238E27FC236}">
                <a16:creationId xmlns:a16="http://schemas.microsoft.com/office/drawing/2014/main" id="{09562522-E7F5-47CD-80D2-4200DA864F9A}"/>
              </a:ext>
            </a:extLst>
          </p:cNvPr>
          <p:cNvSpPr/>
          <p:nvPr/>
        </p:nvSpPr>
        <p:spPr>
          <a:xfrm>
            <a:off x="6213201" y="2689104"/>
            <a:ext cx="2399285" cy="1909834"/>
          </a:xfrm>
          <a:prstGeom prst="rect">
            <a:avLst/>
          </a:prstGeom>
          <a:solidFill>
            <a:srgbClr val="F2F2F2"/>
          </a:solidFill>
          <a:ln w="12701" cap="flat">
            <a:solidFill>
              <a:srgbClr val="F2F2F2"/>
            </a:solidFill>
            <a:prstDash val="solid"/>
            <a:miter/>
          </a:ln>
        </p:spPr>
        <p:txBody>
          <a:bodyPr vert="horz" wrap="square" lIns="38377" tIns="45720" rIns="38377" bIns="45720" anchor="t" anchorCtr="0" compatLnSpc="1">
            <a:noAutofit/>
          </a:bodyPr>
          <a:lstStyle/>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and charge of retaliatory duties as per EU Tariff and UK Tariff.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and charge of Definitive ADD/CVD and collection and reservation of security deposit when ADD/CVD are provisional.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Validation of steel safeguard quota and calculation of provisional and finalised duties. </a:t>
            </a:r>
          </a:p>
          <a:p>
            <a:pPr marL="171450" marR="0" lvl="0" indent="-171450" algn="l" defTabSz="914400" rtl="0" fontAlgn="auto" hangingPunct="1">
              <a:lnSpc>
                <a:spcPct val="100000"/>
              </a:lnSpc>
              <a:spcBef>
                <a:spcPts val="0"/>
              </a:spcBef>
              <a:spcAft>
                <a:spcPts val="0"/>
              </a:spcAft>
              <a:buSzPct val="100000"/>
              <a:buFont typeface="Wingdings" pitchFamily="2"/>
              <a:buChar char="ü"/>
              <a:tabLst/>
              <a:defRPr sz="1800" b="0" i="0" u="none" strike="noStrike" kern="0" cap="none" spc="0" baseline="0">
                <a:solidFill>
                  <a:srgbClr val="000000"/>
                </a:solidFill>
                <a:uFillTx/>
              </a:defRPr>
            </a:pPr>
            <a:r>
              <a:rPr lang="en-GB" sz="1000" b="0" i="0" u="none" strike="noStrike" kern="1200" cap="none" spc="0" baseline="0">
                <a:solidFill>
                  <a:srgbClr val="000000"/>
                </a:solidFill>
                <a:uFillTx/>
                <a:latin typeface="Calibri"/>
              </a:rPr>
              <a:t>Calculation of customs duty as per EU/UK Tariff at the autonomous suspensions rate and at the relief rate.</a:t>
            </a:r>
          </a:p>
        </p:txBody>
      </p:sp>
      <p:sp>
        <p:nvSpPr>
          <p:cNvPr id="52" name="Rectangle 37">
            <a:extLst>
              <a:ext uri="{FF2B5EF4-FFF2-40B4-BE49-F238E27FC236}">
                <a16:creationId xmlns:a16="http://schemas.microsoft.com/office/drawing/2014/main" id="{0C54797E-CC95-44B4-B759-315A2958152B}"/>
              </a:ext>
            </a:extLst>
          </p:cNvPr>
          <p:cNvSpPr/>
          <p:nvPr/>
        </p:nvSpPr>
        <p:spPr>
          <a:xfrm>
            <a:off x="2510713" y="1303184"/>
            <a:ext cx="9602315" cy="230337"/>
          </a:xfrm>
          <a:prstGeom prst="rect">
            <a:avLst/>
          </a:prstGeom>
          <a:solidFill>
            <a:srgbClr val="7030A0"/>
          </a:solidFill>
          <a:ln w="25402"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0" cap="none" spc="0" baseline="0">
                <a:solidFill>
                  <a:srgbClr val="FFFFFF"/>
                </a:solidFill>
                <a:uFillTx/>
                <a:latin typeface="Calibri"/>
              </a:rPr>
              <a:t>NI Protocol</a:t>
            </a:r>
          </a:p>
        </p:txBody>
      </p:sp>
      <p:sp>
        <p:nvSpPr>
          <p:cNvPr id="53" name="Rectangle 123">
            <a:extLst>
              <a:ext uri="{FF2B5EF4-FFF2-40B4-BE49-F238E27FC236}">
                <a16:creationId xmlns:a16="http://schemas.microsoft.com/office/drawing/2014/main" id="{27767536-C8AD-4372-861B-7A4FEE14C457}"/>
              </a:ext>
            </a:extLst>
          </p:cNvPr>
          <p:cNvSpPr/>
          <p:nvPr/>
        </p:nvSpPr>
        <p:spPr>
          <a:xfrm>
            <a:off x="8624145" y="2368405"/>
            <a:ext cx="3480233" cy="2230532"/>
          </a:xfrm>
          <a:prstGeom prst="rect">
            <a:avLst/>
          </a:prstGeom>
          <a:noFill/>
          <a:ln w="12701" cap="flat">
            <a:solidFill>
              <a:srgbClr val="7030A0"/>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000" b="0" i="0" u="none" strike="noStrike" kern="1200" cap="none" spc="0" baseline="0">
              <a:solidFill>
                <a:srgbClr val="FFFFFF"/>
              </a:solidFill>
              <a:uFillTx/>
              <a:latin typeface="Calibri"/>
            </a:endParaRPr>
          </a:p>
        </p:txBody>
      </p:sp>
      <p:sp>
        <p:nvSpPr>
          <p:cNvPr id="54" name="Slide Number Placeholder 5">
            <a:extLst>
              <a:ext uri="{FF2B5EF4-FFF2-40B4-BE49-F238E27FC236}">
                <a16:creationId xmlns:a16="http://schemas.microsoft.com/office/drawing/2014/main" id="{6F389420-8D6E-4968-A1F1-F489E1FB3C94}"/>
              </a:ext>
            </a:extLst>
          </p:cNvPr>
          <p:cNvSpPr txBox="1"/>
          <p:nvPr/>
        </p:nvSpPr>
        <p:spPr>
          <a:xfrm>
            <a:off x="11709111"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5D755991-AD80-47CB-BDBB-2C04CCF294CD}" type="slidenum">
              <a:rPr sz="1200"/>
              <a:t>447</a:t>
            </a:fld>
            <a:endParaRPr lang="en-GB" sz="1200" b="0" i="0" u="none" strike="noStrike" kern="1200" cap="none" spc="0" baseline="0" dirty="0">
              <a:solidFill>
                <a:srgbClr val="000000"/>
              </a:solidFill>
              <a:uFillTx/>
              <a:latin typeface="Calibri"/>
            </a:endParaRPr>
          </a:p>
        </p:txBody>
      </p:sp>
      <p:sp>
        <p:nvSpPr>
          <p:cNvPr id="55" name="Rectangle 92">
            <a:extLst>
              <a:ext uri="{FF2B5EF4-FFF2-40B4-BE49-F238E27FC236}">
                <a16:creationId xmlns:a16="http://schemas.microsoft.com/office/drawing/2014/main" id="{16E8CC24-CEB4-4E6E-A63E-E114C3D95ABF}"/>
              </a:ext>
            </a:extLst>
          </p:cNvPr>
          <p:cNvSpPr/>
          <p:nvPr/>
        </p:nvSpPr>
        <p:spPr>
          <a:xfrm>
            <a:off x="6226798" y="4644018"/>
            <a:ext cx="2360761" cy="191082"/>
          </a:xfrm>
          <a:prstGeom prst="rect">
            <a:avLst/>
          </a:prstGeom>
          <a:solidFill>
            <a:srgbClr val="EDE2F6"/>
          </a:solidFill>
          <a:ln w="12701" cap="flat">
            <a:solidFill>
              <a:srgbClr val="EDE2F6"/>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000" b="1" i="0" u="none" strike="noStrike" kern="1200" cap="none" spc="0" baseline="0">
                <a:solidFill>
                  <a:srgbClr val="000000"/>
                </a:solidFill>
                <a:uFillTx/>
                <a:latin typeface="Calibri"/>
              </a:rPr>
              <a:t>EU Entry Price Systems/Valuation</a:t>
            </a:r>
          </a:p>
        </p:txBody>
      </p:sp>
      <p:sp>
        <p:nvSpPr>
          <p:cNvPr id="56" name="Oval 68">
            <a:hlinkClick r:id="rId3" action="ppaction://hlinksldjump"/>
            <a:extLst>
              <a:ext uri="{FF2B5EF4-FFF2-40B4-BE49-F238E27FC236}">
                <a16:creationId xmlns:a16="http://schemas.microsoft.com/office/drawing/2014/main" id="{4AB398E4-060F-412C-93CD-C9793894EFE7}"/>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57" name="Oval 85">
            <a:hlinkClick r:id="rId3" action="ppaction://hlinksldjump"/>
            <a:extLst>
              <a:ext uri="{FF2B5EF4-FFF2-40B4-BE49-F238E27FC236}">
                <a16:creationId xmlns:a16="http://schemas.microsoft.com/office/drawing/2014/main" id="{D3F8739A-F9C7-4CE0-8440-C663A956660C}"/>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58" name="Oval 86">
            <a:hlinkClick r:id="rId4" action="ppaction://hlinksldjump"/>
            <a:extLst>
              <a:ext uri="{FF2B5EF4-FFF2-40B4-BE49-F238E27FC236}">
                <a16:creationId xmlns:a16="http://schemas.microsoft.com/office/drawing/2014/main" id="{0E41F3F6-3312-4118-B9FE-1DDF53DC11D7}"/>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59" name="Oval 93">
            <a:hlinkClick r:id="rId5" action="ppaction://hlinksldjump"/>
            <a:extLst>
              <a:ext uri="{FF2B5EF4-FFF2-40B4-BE49-F238E27FC236}">
                <a16:creationId xmlns:a16="http://schemas.microsoft.com/office/drawing/2014/main" id="{B7705B79-3822-4941-A3EE-ED98F7595F7C}"/>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0" name="TextBox 95">
            <a:hlinkClick r:id="rId3" action="ppaction://hlinksldjump"/>
            <a:extLst>
              <a:ext uri="{FF2B5EF4-FFF2-40B4-BE49-F238E27FC236}">
                <a16:creationId xmlns:a16="http://schemas.microsoft.com/office/drawing/2014/main" id="{45FBA1C6-3685-4F79-906C-AC748F807BE0}"/>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61" name="TextBox 96">
            <a:hlinkClick r:id="rId3" action="ppaction://hlinksldjump"/>
            <a:extLst>
              <a:ext uri="{FF2B5EF4-FFF2-40B4-BE49-F238E27FC236}">
                <a16:creationId xmlns:a16="http://schemas.microsoft.com/office/drawing/2014/main" id="{23BC2178-C2F7-42CA-89AC-13218622C3C6}"/>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62" name="TextBox 97">
            <a:hlinkClick r:id="rId4" action="ppaction://hlinksldjump"/>
            <a:extLst>
              <a:ext uri="{FF2B5EF4-FFF2-40B4-BE49-F238E27FC236}">
                <a16:creationId xmlns:a16="http://schemas.microsoft.com/office/drawing/2014/main" id="{9B21F800-67C5-4584-9461-975606EEFD03}"/>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63" name="TextBox 98">
            <a:hlinkClick r:id="rId4" action="ppaction://hlinksldjump"/>
            <a:extLst>
              <a:ext uri="{FF2B5EF4-FFF2-40B4-BE49-F238E27FC236}">
                <a16:creationId xmlns:a16="http://schemas.microsoft.com/office/drawing/2014/main" id="{587916E3-BEC0-4A8B-AD3B-DEEA4887682F}"/>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64" name="Oval 99">
            <a:extLst>
              <a:ext uri="{FF2B5EF4-FFF2-40B4-BE49-F238E27FC236}">
                <a16:creationId xmlns:a16="http://schemas.microsoft.com/office/drawing/2014/main" id="{0BE2328C-42F1-49F5-A0CC-E2F17DCC1555}"/>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65" name="TextBox 100">
            <a:hlinkClick r:id="rId6" action="ppaction://hlinksldjump"/>
            <a:extLst>
              <a:ext uri="{FF2B5EF4-FFF2-40B4-BE49-F238E27FC236}">
                <a16:creationId xmlns:a16="http://schemas.microsoft.com/office/drawing/2014/main" id="{604BE395-1940-471F-A074-36721B3D1D6E}"/>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66" name="Picture 101">
            <a:hlinkClick r:id="rId3" action="ppaction://hlinksldjump"/>
            <a:extLst>
              <a:ext uri="{FF2B5EF4-FFF2-40B4-BE49-F238E27FC236}">
                <a16:creationId xmlns:a16="http://schemas.microsoft.com/office/drawing/2014/main" id="{E530B91C-8E2B-4C93-91E3-C656A21C4A2F}"/>
              </a:ext>
            </a:extLst>
          </p:cNvPr>
          <p:cNvPicPr>
            <a:picLocks noChangeAspect="1"/>
          </p:cNvPicPr>
          <p:nvPr/>
        </p:nvPicPr>
        <p:blipFill>
          <a:blip r:embed="rId7">
            <a:alphaModFix amt="35000"/>
          </a:blip>
          <a:srcRect l="20606" t="21077" r="21527" b="31021"/>
          <a:stretch>
            <a:fillRect/>
          </a:stretch>
        </p:blipFill>
        <p:spPr>
          <a:xfrm>
            <a:off x="10082201" y="272070"/>
            <a:ext cx="256918" cy="210595"/>
          </a:xfrm>
          <a:prstGeom prst="rect">
            <a:avLst/>
          </a:prstGeom>
          <a:noFill/>
          <a:ln cap="flat">
            <a:noFill/>
          </a:ln>
        </p:spPr>
      </p:pic>
      <p:sp>
        <p:nvSpPr>
          <p:cNvPr id="67" name="Oval 102">
            <a:hlinkClick r:id="rId3" action="ppaction://hlinksldjump"/>
            <a:extLst>
              <a:ext uri="{FF2B5EF4-FFF2-40B4-BE49-F238E27FC236}">
                <a16:creationId xmlns:a16="http://schemas.microsoft.com/office/drawing/2014/main" id="{ED04BAF5-CF8B-4237-A4DF-1FC6AB4992AE}"/>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name="Slide185">
    <p:spTree>
      <p:nvGrpSpPr>
        <p:cNvPr id="1" name=""/>
        <p:cNvGrpSpPr/>
        <p:nvPr/>
      </p:nvGrpSpPr>
      <p:grpSpPr>
        <a:xfrm>
          <a:off x="0" y="0"/>
          <a:ext cx="0" cy="0"/>
          <a:chOff x="0" y="0"/>
          <a:chExt cx="0" cy="0"/>
        </a:xfrm>
      </p:grpSpPr>
      <p:sp>
        <p:nvSpPr>
          <p:cNvPr id="3" name="TextBox 53">
            <a:extLst>
              <a:ext uri="{FF2B5EF4-FFF2-40B4-BE49-F238E27FC236}">
                <a16:creationId xmlns:a16="http://schemas.microsoft.com/office/drawing/2014/main" id="{76385C74-CBCA-4BF5-823C-49D63A9C7E2E}"/>
              </a:ext>
            </a:extLst>
          </p:cNvPr>
          <p:cNvSpPr txBox="1"/>
          <p:nvPr/>
        </p:nvSpPr>
        <p:spPr>
          <a:xfrm>
            <a:off x="376668" y="870847"/>
            <a:ext cx="11664004" cy="461662"/>
          </a:xfrm>
          <a:prstGeom prst="rect">
            <a:avLst/>
          </a:prstGeom>
          <a:solidFill>
            <a:srgbClr val="FFFFFF"/>
          </a:solid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tab pos="3678238" algn="l"/>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In addition to Trade Test and Trader Dress Rehearsal, HMRC also provides a range of Technical Documentation, including API specifications, Technical Completion Matrix, and the online UK Trade Tariff to support the CDS development journey. Below are the key documents available to those developing for CDS to support their Imports and Exports delivery.</a:t>
            </a:r>
            <a:endParaRPr lang="en-GB" sz="1200" b="0" i="1" u="none" strike="noStrike" kern="1200" cap="none" spc="0" baseline="0">
              <a:solidFill>
                <a:srgbClr val="000000"/>
              </a:solidFill>
              <a:uFillTx/>
              <a:latin typeface="Calibri"/>
            </a:endParaRPr>
          </a:p>
        </p:txBody>
      </p:sp>
      <p:sp>
        <p:nvSpPr>
          <p:cNvPr id="4" name="Rectangle 5">
            <a:extLst>
              <a:ext uri="{FF2B5EF4-FFF2-40B4-BE49-F238E27FC236}">
                <a16:creationId xmlns:a16="http://schemas.microsoft.com/office/drawing/2014/main" id="{3D430AB2-92C1-4817-89F3-DE63C37431A5}"/>
              </a:ext>
            </a:extLst>
          </p:cNvPr>
          <p:cNvSpPr/>
          <p:nvPr/>
        </p:nvSpPr>
        <p:spPr>
          <a:xfrm>
            <a:off x="363967" y="419352"/>
            <a:ext cx="6974823"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Reference Documentation for Imports and Exports </a:t>
            </a:r>
          </a:p>
        </p:txBody>
      </p:sp>
      <p:graphicFrame>
        <p:nvGraphicFramePr>
          <p:cNvPr id="5" name="Table 4">
            <a:extLst>
              <a:ext uri="{FF2B5EF4-FFF2-40B4-BE49-F238E27FC236}">
                <a16:creationId xmlns:a16="http://schemas.microsoft.com/office/drawing/2014/main" id="{B45179AE-8375-4F1C-A717-434CB8FC2137}"/>
              </a:ext>
            </a:extLst>
          </p:cNvPr>
          <p:cNvGraphicFramePr>
            <a:graphicFrameLocks noGrp="1"/>
          </p:cNvGraphicFramePr>
          <p:nvPr/>
        </p:nvGraphicFramePr>
        <p:xfrm>
          <a:off x="428359" y="1327663"/>
          <a:ext cx="11476797" cy="4648200"/>
        </p:xfrm>
        <a:graphic>
          <a:graphicData uri="http://schemas.openxmlformats.org/drawingml/2006/table">
            <a:tbl>
              <a:tblPr firstRow="1" bandRow="1">
                <a:effectLst/>
                <a:tableStyleId>{5C22544A-7EE6-4342-B048-85BDC9FD1C3A}</a:tableStyleId>
              </a:tblPr>
              <a:tblGrid>
                <a:gridCol w="1095634">
                  <a:extLst>
                    <a:ext uri="{9D8B030D-6E8A-4147-A177-3AD203B41FA5}">
                      <a16:colId xmlns:a16="http://schemas.microsoft.com/office/drawing/2014/main" val="3992055950"/>
                    </a:ext>
                  </a:extLst>
                </a:gridCol>
                <a:gridCol w="1706883">
                  <a:extLst>
                    <a:ext uri="{9D8B030D-6E8A-4147-A177-3AD203B41FA5}">
                      <a16:colId xmlns:a16="http://schemas.microsoft.com/office/drawing/2014/main" val="3290142757"/>
                    </a:ext>
                  </a:extLst>
                </a:gridCol>
                <a:gridCol w="6008366">
                  <a:extLst>
                    <a:ext uri="{9D8B030D-6E8A-4147-A177-3AD203B41FA5}">
                      <a16:colId xmlns:a16="http://schemas.microsoft.com/office/drawing/2014/main" val="3535833321"/>
                    </a:ext>
                  </a:extLst>
                </a:gridCol>
                <a:gridCol w="1327151">
                  <a:extLst>
                    <a:ext uri="{9D8B030D-6E8A-4147-A177-3AD203B41FA5}">
                      <a16:colId xmlns:a16="http://schemas.microsoft.com/office/drawing/2014/main" val="3456230432"/>
                    </a:ext>
                  </a:extLst>
                </a:gridCol>
                <a:gridCol w="1338763">
                  <a:extLst>
                    <a:ext uri="{9D8B030D-6E8A-4147-A177-3AD203B41FA5}">
                      <a16:colId xmlns:a16="http://schemas.microsoft.com/office/drawing/2014/main" val="857623632"/>
                    </a:ext>
                  </a:extLst>
                </a:gridCol>
              </a:tblGrid>
              <a:tr h="272747">
                <a:tc>
                  <a:txBody>
                    <a:bodyPr/>
                    <a:lstStyle/>
                    <a:p>
                      <a:pPr lvl="0" algn="l"/>
                      <a:r>
                        <a:rPr lang="en-GB" sz="1400"/>
                        <a:t>Group</a:t>
                      </a:r>
                    </a:p>
                  </a:txBody>
                  <a:tcPr anchor="ctr">
                    <a:lnL w="57150"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009999"/>
                    </a:solidFill>
                  </a:tcPr>
                </a:tc>
                <a:tc>
                  <a:txBody>
                    <a:bodyPr/>
                    <a:lstStyle/>
                    <a:p>
                      <a:pPr lvl="0" algn="l"/>
                      <a:r>
                        <a:rPr lang="en-GB" sz="1400"/>
                        <a:t>Document Title</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009999"/>
                    </a:solidFill>
                  </a:tcPr>
                </a:tc>
                <a:tc>
                  <a:txBody>
                    <a:bodyPr/>
                    <a:lstStyle/>
                    <a:p>
                      <a:pPr lvl="0" algn="l"/>
                      <a:r>
                        <a:rPr lang="en-GB" sz="1400"/>
                        <a:t>Document Description</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009999"/>
                    </a:solidFill>
                  </a:tcPr>
                </a:tc>
                <a:tc>
                  <a:txBody>
                    <a:bodyPr/>
                    <a:lstStyle/>
                    <a:p>
                      <a:pPr lvl="0" algn="l"/>
                      <a:r>
                        <a:rPr lang="en-GB" sz="1400"/>
                        <a:t>Imports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gn="l"/>
                      <a:r>
                        <a:rPr lang="en-GB" sz="1400"/>
                        <a:t>Exports</a:t>
                      </a:r>
                    </a:p>
                  </a:txBody>
                  <a:tcPr anchor="ctr">
                    <a:lnL w="12701"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7030A0"/>
                    </a:solidFill>
                  </a:tcPr>
                </a:tc>
                <a:extLst>
                  <a:ext uri="{0D108BD9-81ED-4DB2-BD59-A6C34878D82A}">
                    <a16:rowId xmlns:a16="http://schemas.microsoft.com/office/drawing/2014/main" val="1403813672"/>
                  </a:ext>
                </a:extLst>
              </a:tr>
              <a:tr h="409120">
                <a:tc rowSpan="4">
                  <a:txBody>
                    <a:bodyPr/>
                    <a:lstStyle/>
                    <a:p>
                      <a:pPr lvl="0" algn="l"/>
                      <a:r>
                        <a:rPr lang="en-GB" sz="1100" b="1"/>
                        <a:t>Service Design Documents</a:t>
                      </a:r>
                    </a:p>
                  </a:txBody>
                  <a:tcPr anchor="ctr">
                    <a:lnL w="57150"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F2F2F2"/>
                    </a:solidFill>
                  </a:tcPr>
                </a:tc>
                <a:tc>
                  <a:txBody>
                    <a:bodyPr/>
                    <a:lstStyle/>
                    <a:p>
                      <a:pPr lvl="0" algn="l"/>
                      <a:r>
                        <a:rPr lang="en-GB" sz="1100" b="0"/>
                        <a:t>Declaration Submission Service Design</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Defines the functional aspects for submitting a customs declaration, or associated additional message, into CDS.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lvl="0" algn="l"/>
                      <a:r>
                        <a:rPr lang="en-GB" sz="1100"/>
                        <a:t>CDS 03 Customs Declaration</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03 Customs Declaration</a:t>
                      </a:r>
                    </a:p>
                  </a:txBody>
                  <a:tcPr anchor="ctr">
                    <a:lnL w="12701"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DE2F6"/>
                    </a:solidFill>
                  </a:tcPr>
                </a:tc>
                <a:extLst>
                  <a:ext uri="{0D108BD9-81ED-4DB2-BD59-A6C34878D82A}">
                    <a16:rowId xmlns:a16="http://schemas.microsoft.com/office/drawing/2014/main" val="1079441497"/>
                  </a:ext>
                </a:extLst>
              </a:tr>
              <a:tr h="409120">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b="0"/>
                        <a:t>Inventory Linking Service Design (Imports and Exports)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Defines the inventory linking processing for a frontier customs declaration, providing the over-arching process and message content for each transaction. </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02 Inventory Linking Imports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01 Inventory Linking Exports</a:t>
                      </a:r>
                    </a:p>
                  </a:txBody>
                  <a:tcPr anchor="ctr">
                    <a:lnL w="12701"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DE2F6"/>
                    </a:solidFill>
                  </a:tcPr>
                </a:tc>
                <a:extLst>
                  <a:ext uri="{0D108BD9-81ED-4DB2-BD59-A6C34878D82A}">
                    <a16:rowId xmlns:a16="http://schemas.microsoft.com/office/drawing/2014/main" val="3948743153"/>
                  </a:ext>
                </a:extLst>
              </a:tr>
              <a:tr h="376074">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b="0" kern="1200">
                          <a:solidFill>
                            <a:srgbClr val="000000"/>
                          </a:solidFill>
                          <a:latin typeface="Calibri"/>
                        </a:rPr>
                        <a:t>Inventory Linking Exports Dual Running Service Design</a:t>
                      </a:r>
                      <a:endParaRPr lang="en-GB" sz="1100" b="0"/>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0" i="1"/>
                        <a:t>Clarifies the environment configuration and supporting systems required to allow the Exports Inventory Linking functional components to operate during a period of “dual running” when both CDS and CHIEF are processing declarations and handling consolidations and movements.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N/A</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01 Inventory Linking Exports</a:t>
                      </a:r>
                    </a:p>
                  </a:txBody>
                  <a:tcPr anchor="ctr">
                    <a:lnL w="12701"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DE2F6"/>
                    </a:solidFill>
                  </a:tcPr>
                </a:tc>
                <a:extLst>
                  <a:ext uri="{0D108BD9-81ED-4DB2-BD59-A6C34878D82A}">
                    <a16:rowId xmlns:a16="http://schemas.microsoft.com/office/drawing/2014/main" val="1346874223"/>
                  </a:ext>
                </a:extLst>
              </a:tr>
              <a:tr h="409120">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b="0"/>
                        <a:t>E2E Sequence Diagrams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Defines the end to end message flows for a variety of scenarios for both Imports and Exports, including both CSP and non-CSP interactions with CDS. </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CDS 10 End to End Sequence Diagrams</a:t>
                      </a:r>
                    </a:p>
                  </a:txBody>
                  <a:tcPr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10 End to End Sequence Diagrams</a:t>
                      </a:r>
                    </a:p>
                  </a:txBody>
                  <a:tcPr anchor="ctr">
                    <a:lnL w="12701"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DE2F6"/>
                    </a:solidFill>
                  </a:tcPr>
                </a:tc>
                <a:extLst>
                  <a:ext uri="{0D108BD9-81ED-4DB2-BD59-A6C34878D82A}">
                    <a16:rowId xmlns:a16="http://schemas.microsoft.com/office/drawing/2014/main" val="3275303740"/>
                  </a:ext>
                </a:extLst>
              </a:tr>
              <a:tr h="409120">
                <a:tc rowSpan="3">
                  <a:txBody>
                    <a:bodyPr/>
                    <a:lstStyle/>
                    <a:p>
                      <a:pPr lvl="0" algn="l"/>
                      <a:r>
                        <a:rPr lang="en-GB" sz="1100" b="1" kern="1200">
                          <a:solidFill>
                            <a:srgbClr val="000000"/>
                          </a:solidFill>
                          <a:latin typeface="Calibri"/>
                        </a:rPr>
                        <a:t>Technical Completion Matrix</a:t>
                      </a:r>
                      <a:endParaRPr lang="en-GB" sz="1100" b="1"/>
                    </a:p>
                  </a:txBody>
                  <a:tcPr anchor="ctr">
                    <a:lnL w="57150" cap="flat" cmpd="sng" algn="ctr">
                      <a:solidFill>
                        <a:srgbClr val="FFFFFF"/>
                      </a:solidFill>
                      <a:prstDash val="solid"/>
                      <a:round/>
                      <a:headEnd type="none" w="med" len="med"/>
                      <a:tailEnd type="none" w="med" len="med"/>
                    </a:lnL>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kern="1200">
                          <a:solidFill>
                            <a:srgbClr val="000000"/>
                          </a:solidFill>
                          <a:latin typeface="Calibri"/>
                        </a:rPr>
                        <a:t>Technical Completion Matrix </a:t>
                      </a:r>
                      <a:endParaRPr lang="en-GB" sz="1100" b="1"/>
                    </a:p>
                  </a:txBody>
                  <a:tcPr anchor="ctr">
                    <a:lnT w="57150" cap="flat" cmpd="sng" algn="ctr">
                      <a:solidFill>
                        <a:srgbClr val="FFFFFF"/>
                      </a:solidFill>
                      <a:prstDash val="solid"/>
                      <a:round/>
                      <a:headEnd type="none" w="med" len="med"/>
                      <a:tailEnd type="none" w="med" len="med"/>
                    </a:lnT>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Details the obligation, format, description and XML paths of data items to be completed on a customs declaration. </a:t>
                      </a:r>
                    </a:p>
                  </a:txBody>
                  <a:tcPr anchor="ctr">
                    <a:lnT w="57150" cap="flat" cmpd="sng" algn="ctr">
                      <a:solidFill>
                        <a:srgbClr val="FFFFFF"/>
                      </a:solidFill>
                      <a:prstDash val="solid"/>
                      <a:round/>
                      <a:headEnd type="none" w="med" len="med"/>
                      <a:tailEnd type="none" w="med" len="med"/>
                    </a:lnT>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0" i="0" u="none" strike="noStrike" kern="1200" cap="none" spc="0" baseline="0">
                          <a:solidFill>
                            <a:srgbClr val="000000"/>
                          </a:solidFill>
                          <a:uFillTx/>
                          <a:latin typeface="Calibri"/>
                        </a:rPr>
                        <a:t>CDS 03 Customs Declaration</a:t>
                      </a:r>
                    </a:p>
                  </a:txBody>
                  <a:tcPr anchor="ctr">
                    <a:lnT w="57150" cap="flat" cmpd="sng" algn="ctr">
                      <a:solidFill>
                        <a:srgbClr val="FFFFFF"/>
                      </a:solidFill>
                      <a:prstDash val="solid"/>
                      <a:round/>
                      <a:headEnd type="none" w="med" len="med"/>
                      <a:tailEnd type="none" w="med" len="med"/>
                    </a:lnT>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b="0" i="0" u="none" strike="noStrike" kern="1200" cap="none" spc="0" baseline="0">
                          <a:solidFill>
                            <a:srgbClr val="000000"/>
                          </a:solidFill>
                          <a:uFillTx/>
                          <a:latin typeface="Calibri"/>
                        </a:rPr>
                        <a:t>CDS 03 Customs Declaration</a:t>
                      </a:r>
                    </a:p>
                  </a:txBody>
                  <a:tcPr anchor="ctr">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solidFill>
                      <a:srgbClr val="EDE2F6"/>
                    </a:solidFill>
                  </a:tcPr>
                </a:tc>
                <a:extLst>
                  <a:ext uri="{0D108BD9-81ED-4DB2-BD59-A6C34878D82A}">
                    <a16:rowId xmlns:a16="http://schemas.microsoft.com/office/drawing/2014/main" val="3631242614"/>
                  </a:ext>
                </a:extLst>
              </a:tr>
              <a:tr h="376074">
                <a:tc vMerge="1">
                  <a:txBody>
                    <a:bodyPr/>
                    <a:lstStyle/>
                    <a:p>
                      <a:endParaRPr lang="en-GB"/>
                    </a:p>
                  </a:txBody>
                  <a:tcPr/>
                </a:tc>
                <a:tc>
                  <a:txBody>
                    <a:bodyPr/>
                    <a:lstStyle/>
                    <a:p>
                      <a:pPr lvl="0" algn="l"/>
                      <a:r>
                        <a:rPr lang="en-GB" sz="1100" kern="1200">
                          <a:solidFill>
                            <a:srgbClr val="000000"/>
                          </a:solidFill>
                          <a:latin typeface="Calibri"/>
                        </a:rPr>
                        <a:t>Additional Message TCM</a:t>
                      </a:r>
                    </a:p>
                  </a:txBody>
                  <a:tcPr anchor="ct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Document detailing the obligation, format, description and XML paths of data items to be completed on an Additional Message.</a:t>
                      </a:r>
                    </a:p>
                  </a:txBody>
                  <a:tcPr anchor="ct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03 Customs Declaration</a:t>
                      </a:r>
                    </a:p>
                  </a:txBody>
                  <a:tcPr anchor="ctr">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03 Customs Declaration</a:t>
                      </a:r>
                    </a:p>
                  </a:txBody>
                  <a:tcPr anchor="ctr">
                    <a:lnR w="57150" cap="flat" cmpd="sng" algn="ctr">
                      <a:solidFill>
                        <a:srgbClr val="FFFFFF"/>
                      </a:solidFill>
                      <a:prstDash val="solid"/>
                      <a:round/>
                      <a:headEnd type="none" w="med" len="med"/>
                      <a:tailEnd type="none" w="med" len="med"/>
                    </a:lnR>
                    <a:solidFill>
                      <a:srgbClr val="EDE2F6"/>
                    </a:solidFill>
                  </a:tcPr>
                </a:tc>
                <a:extLst>
                  <a:ext uri="{0D108BD9-81ED-4DB2-BD59-A6C34878D82A}">
                    <a16:rowId xmlns:a16="http://schemas.microsoft.com/office/drawing/2014/main" val="1323034048"/>
                  </a:ext>
                </a:extLst>
              </a:tr>
              <a:tr h="376074">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kern="1200">
                          <a:solidFill>
                            <a:srgbClr val="000000"/>
                          </a:solidFill>
                          <a:latin typeface="Calibri"/>
                        </a:rPr>
                        <a:t>Inventory Linking Exports TCM </a:t>
                      </a:r>
                      <a:endParaRPr lang="en-GB" sz="1100" b="1"/>
                    </a:p>
                  </a:txBody>
                  <a:tcPr anchor="ctr">
                    <a:lnB w="57150"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0" i="1"/>
                        <a:t>Document detailing the obligation, format, description and XML paths of data items to be completed on ILE (Inventory Linking Exports) messages</a:t>
                      </a:r>
                    </a:p>
                  </a:txBody>
                  <a:tcPr anchor="ctr">
                    <a:lnB w="57150"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a:t>N/A</a:t>
                      </a:r>
                    </a:p>
                  </a:txBody>
                  <a:tcPr anchor="ctr">
                    <a:lnB w="57150" cap="flat" cmpd="sng" algn="ctr">
                      <a:solidFill>
                        <a:srgbClr val="FFFFFF"/>
                      </a:solidFill>
                      <a:prstDash val="solid"/>
                      <a:round/>
                      <a:headEnd type="none" w="med" len="med"/>
                      <a:tailEnd type="none" w="med" len="med"/>
                    </a:lnB>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a:t>CDS 01 Inventory Linking Exports</a:t>
                      </a:r>
                    </a:p>
                  </a:txBody>
                  <a:tcPr anchor="ctr">
                    <a:lnR w="57150" cap="flat" cmpd="sng" algn="ctr">
                      <a:solidFill>
                        <a:srgbClr val="FFFFFF"/>
                      </a:solidFill>
                      <a:prstDash val="solid"/>
                      <a:round/>
                      <a:headEnd type="none" w="med" len="med"/>
                      <a:tailEnd type="none" w="med" len="med"/>
                    </a:lnR>
                    <a:lnB w="57150" cap="flat" cmpd="sng" algn="ctr">
                      <a:solidFill>
                        <a:srgbClr val="FFFFFF"/>
                      </a:solidFill>
                      <a:prstDash val="solid"/>
                      <a:round/>
                      <a:headEnd type="none" w="med" len="med"/>
                      <a:tailEnd type="none" w="med" len="med"/>
                    </a:lnB>
                    <a:solidFill>
                      <a:srgbClr val="EDE2F6"/>
                    </a:solidFill>
                  </a:tcPr>
                </a:tc>
                <a:extLst>
                  <a:ext uri="{0D108BD9-81ED-4DB2-BD59-A6C34878D82A}">
                    <a16:rowId xmlns:a16="http://schemas.microsoft.com/office/drawing/2014/main" val="3030172390"/>
                  </a:ext>
                </a:extLst>
              </a:tr>
              <a:tr h="409120">
                <a:tc rowSpan="2">
                  <a:txBody>
                    <a:bodyPr/>
                    <a:lstStyle/>
                    <a:p>
                      <a:pPr marL="0" marR="0" lvl="0" indent="0" algn="l" defTabSz="914400" rtl="0" fontAlgn="auto" hangingPunct="1">
                        <a:lnSpc>
                          <a:spcPct val="100000"/>
                        </a:lnSpc>
                        <a:spcBef>
                          <a:spcPts val="0"/>
                        </a:spcBef>
                        <a:spcAft>
                          <a:spcPts val="0"/>
                        </a:spcAft>
                        <a:buNone/>
                        <a:tabLst/>
                      </a:pPr>
                      <a:r>
                        <a:rPr lang="en-GB" sz="1100" b="1"/>
                        <a:t>Other Documentation</a:t>
                      </a:r>
                    </a:p>
                  </a:txBody>
                  <a:tcPr anchor="ctr">
                    <a:lnL w="57150" cap="flat" cmpd="sng" algn="ctr">
                      <a:solidFill>
                        <a:srgbClr val="FFFFFF"/>
                      </a:solidFill>
                      <a:prstDash val="solid"/>
                      <a:round/>
                      <a:headEnd type="none" w="med" len="med"/>
                      <a:tailEnd type="none" w="med" len="med"/>
                    </a:lnL>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100" b="0"/>
                        <a:t>CDS Code Lists and WCO References</a:t>
                      </a:r>
                    </a:p>
                  </a:txBody>
                  <a:tcPr anchor="ctr">
                    <a:lnT w="57150" cap="flat" cmpd="sng" algn="ctr">
                      <a:solidFill>
                        <a:srgbClr val="FFFFFF"/>
                      </a:solidFill>
                      <a:prstDash val="solid"/>
                      <a:round/>
                      <a:headEnd type="none" w="med" len="med"/>
                      <a:tailEnd type="none" w="med" len="med"/>
                    </a:lnT>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Defines the WCO tags used within CDS pointers as well as any technical code lists that are not referenced within the CDS Tariff Volume 3.</a:t>
                      </a:r>
                    </a:p>
                  </a:txBody>
                  <a:tcPr anchor="ctr">
                    <a:lnT w="57150" cap="flat" cmpd="sng" algn="ctr">
                      <a:solidFill>
                        <a:srgbClr val="FFFFFF"/>
                      </a:solidFill>
                      <a:prstDash val="solid"/>
                      <a:round/>
                      <a:headEnd type="none" w="med" len="med"/>
                      <a:tailEnd type="none" w="med" len="med"/>
                    </a:lnT>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b="0" i="0" u="none" strike="noStrike" kern="1200" cap="none" spc="0" baseline="0">
                          <a:solidFill>
                            <a:srgbClr val="000000"/>
                          </a:solidFill>
                          <a:uFillTx/>
                          <a:latin typeface="Calibri"/>
                        </a:rPr>
                        <a:t>CDS 03 Customs Declaration</a:t>
                      </a:r>
                    </a:p>
                  </a:txBody>
                  <a:tcPr anchor="ctr">
                    <a:lnT w="57150" cap="flat" cmpd="sng" algn="ctr">
                      <a:solidFill>
                        <a:srgbClr val="FFFFFF"/>
                      </a:solidFill>
                      <a:prstDash val="solid"/>
                      <a:round/>
                      <a:headEnd type="none" w="med" len="med"/>
                      <a:tailEnd type="none" w="med" len="med"/>
                    </a:lnT>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b="0" i="0" u="none" strike="noStrike" kern="1200" cap="none" spc="0" baseline="0">
                          <a:solidFill>
                            <a:srgbClr val="000000"/>
                          </a:solidFill>
                          <a:uFillTx/>
                          <a:latin typeface="Calibri"/>
                        </a:rPr>
                        <a:t>CDS 03 Customs Declaration</a:t>
                      </a:r>
                    </a:p>
                  </a:txBody>
                  <a:tcPr anchor="ctr">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solidFill>
                      <a:srgbClr val="EDE2F6"/>
                    </a:solidFill>
                  </a:tcPr>
                </a:tc>
                <a:extLst>
                  <a:ext uri="{0D108BD9-81ED-4DB2-BD59-A6C34878D82A}">
                    <a16:rowId xmlns:a16="http://schemas.microsoft.com/office/drawing/2014/main" val="1811431219"/>
                  </a:ext>
                </a:extLst>
              </a:tr>
              <a:tr h="572771">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100" b="0"/>
                        <a:t>UK Trade Tariff Volume 3</a:t>
                      </a:r>
                    </a:p>
                  </a:txBody>
                  <a:tcPr anchor="ct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i="1">
                          <a:solidFill>
                            <a:srgbClr val="000000"/>
                          </a:solidFill>
                        </a:rPr>
                        <a:t>Declaration completion rules for CDS based on the UCC. Reflects end-state requirements for CDS. Where discrepancies exist, these have been highlighted in the Known Error Log (KEL) or other CDS documentation.</a:t>
                      </a:r>
                    </a:p>
                  </a:txBody>
                  <a:tcPr anchor="ct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100"/>
                        <a:t>Shared via SDST</a:t>
                      </a:r>
                    </a:p>
                  </a:txBody>
                  <a:tcPr anchor="ctr">
                    <a:solidFill>
                      <a:srgbClr val="D4E5F4"/>
                    </a:solidFill>
                  </a:tcPr>
                </a:tc>
                <a:tc>
                  <a:txBody>
                    <a:bodyPr/>
                    <a:lstStyle/>
                    <a:p>
                      <a:pPr marL="0" marR="0" lvl="0" indent="0" algn="l" defTabSz="914400" rtl="0" fontAlgn="auto" hangingPunct="1">
                        <a:lnSpc>
                          <a:spcPct val="100000"/>
                        </a:lnSpc>
                        <a:spcBef>
                          <a:spcPts val="0"/>
                        </a:spcBef>
                        <a:spcAft>
                          <a:spcPts val="0"/>
                        </a:spcAft>
                        <a:buNone/>
                        <a:tabLst/>
                      </a:pPr>
                      <a:r>
                        <a:rPr lang="en-GB" sz="1100" dirty="0"/>
                        <a:t>Shared via SDST</a:t>
                      </a:r>
                    </a:p>
                  </a:txBody>
                  <a:tcPr anchor="ctr">
                    <a:lnR w="57150" cap="flat" cmpd="sng" algn="ctr">
                      <a:solidFill>
                        <a:srgbClr val="FFFFFF"/>
                      </a:solidFill>
                      <a:prstDash val="solid"/>
                      <a:round/>
                      <a:headEnd type="none" w="med" len="med"/>
                      <a:tailEnd type="none" w="med" len="med"/>
                    </a:lnR>
                    <a:solidFill>
                      <a:srgbClr val="EDE2F6"/>
                    </a:solidFill>
                  </a:tcPr>
                </a:tc>
                <a:extLst>
                  <a:ext uri="{0D108BD9-81ED-4DB2-BD59-A6C34878D82A}">
                    <a16:rowId xmlns:a16="http://schemas.microsoft.com/office/drawing/2014/main" val="1708111732"/>
                  </a:ext>
                </a:extLst>
              </a:tr>
            </a:tbl>
          </a:graphicData>
        </a:graphic>
      </p:graphicFrame>
      <p:sp>
        <p:nvSpPr>
          <p:cNvPr id="6" name="TextBox 7">
            <a:extLst>
              <a:ext uri="{FF2B5EF4-FFF2-40B4-BE49-F238E27FC236}">
                <a16:creationId xmlns:a16="http://schemas.microsoft.com/office/drawing/2014/main" id="{C724DACD-1B48-4DFF-968B-D8E0156296B3}"/>
              </a:ext>
            </a:extLst>
          </p:cNvPr>
          <p:cNvSpPr txBox="1"/>
          <p:nvPr/>
        </p:nvSpPr>
        <p:spPr>
          <a:xfrm>
            <a:off x="1644648" y="6163860"/>
            <a:ext cx="10612270" cy="27699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rPr>
              <a:t>Please note, this is not an exhaustive list. </a:t>
            </a:r>
            <a:r>
              <a:rPr lang="en-GB" sz="1200" b="1" i="0" u="none" strike="noStrike" kern="1200" cap="none" spc="0" baseline="0">
                <a:solidFill>
                  <a:srgbClr val="000000"/>
                </a:solidFill>
                <a:uFillTx/>
                <a:latin typeface="Calibri"/>
              </a:rPr>
              <a:t>The full CDS technical documentation set can be found on the </a:t>
            </a:r>
            <a:r>
              <a:rPr lang="en-GB" sz="1200" b="1" i="0" u="none" strike="noStrike" kern="1200" cap="none" spc="0" baseline="0">
                <a:solidFill>
                  <a:srgbClr val="000000"/>
                </a:solidFill>
                <a:uFillTx/>
                <a:latin typeface="Calibri"/>
                <a:hlinkClick r:id="rId3"/>
              </a:rPr>
              <a:t>HMRC Developer Hub</a:t>
            </a:r>
            <a:r>
              <a:rPr lang="en-GB" sz="1200" b="1" i="0" u="none" strike="noStrike" kern="1200" cap="none" spc="0" baseline="0">
                <a:solidFill>
                  <a:srgbClr val="000000"/>
                </a:solidFill>
                <a:uFillTx/>
                <a:latin typeface="Calibri"/>
              </a:rPr>
              <a:t>.</a:t>
            </a:r>
            <a:endParaRPr lang="en-GB" sz="1200" b="0" i="0" u="none" strike="noStrike" kern="1200" cap="none" spc="0" baseline="0">
              <a:solidFill>
                <a:srgbClr val="000000"/>
              </a:solidFill>
              <a:uFillTx/>
              <a:latin typeface="Calibri"/>
            </a:endParaRPr>
          </a:p>
        </p:txBody>
      </p:sp>
      <p:sp>
        <p:nvSpPr>
          <p:cNvPr id="7" name="Slide Number Placeholder 5">
            <a:extLst>
              <a:ext uri="{FF2B5EF4-FFF2-40B4-BE49-F238E27FC236}">
                <a16:creationId xmlns:a16="http://schemas.microsoft.com/office/drawing/2014/main" id="{2C843C23-D005-4D38-9A88-8E98316E241C}"/>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3D913ED7-6B75-4337-8AC2-823213C321CB}" type="slidenum">
              <a:rPr sz="1200"/>
              <a:t>448</a:t>
            </a:fld>
            <a:endParaRPr lang="en-GB" sz="1200" b="0" i="0" u="none" strike="noStrike" kern="1200" cap="none" spc="0" baseline="0">
              <a:solidFill>
                <a:srgbClr val="000000"/>
              </a:solidFill>
              <a:uFillTx/>
              <a:latin typeface="Calibri"/>
            </a:endParaRPr>
          </a:p>
        </p:txBody>
      </p:sp>
      <p:sp>
        <p:nvSpPr>
          <p:cNvPr id="8" name="Oval 35">
            <a:hlinkClick r:id="rId4" action="ppaction://hlinksldjump"/>
            <a:extLst>
              <a:ext uri="{FF2B5EF4-FFF2-40B4-BE49-F238E27FC236}">
                <a16:creationId xmlns:a16="http://schemas.microsoft.com/office/drawing/2014/main" id="{79055DCD-64FB-4AA9-9481-936466E3681F}"/>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9" name="Oval 36">
            <a:hlinkClick r:id="rId4" action="ppaction://hlinksldjump"/>
            <a:extLst>
              <a:ext uri="{FF2B5EF4-FFF2-40B4-BE49-F238E27FC236}">
                <a16:creationId xmlns:a16="http://schemas.microsoft.com/office/drawing/2014/main" id="{6EC8F121-68C6-4FDB-BF94-2506DBDA4151}"/>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0" name="Oval 37">
            <a:hlinkClick r:id="rId5" action="ppaction://hlinksldjump"/>
            <a:extLst>
              <a:ext uri="{FF2B5EF4-FFF2-40B4-BE49-F238E27FC236}">
                <a16:creationId xmlns:a16="http://schemas.microsoft.com/office/drawing/2014/main" id="{651E45C7-7AFD-40C4-8814-270C282B88C4}"/>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1" name="Oval 38">
            <a:hlinkClick r:id="rId6" action="ppaction://hlinksldjump"/>
            <a:extLst>
              <a:ext uri="{FF2B5EF4-FFF2-40B4-BE49-F238E27FC236}">
                <a16:creationId xmlns:a16="http://schemas.microsoft.com/office/drawing/2014/main" id="{08B8064C-FFD8-4638-8A63-D488719C6811}"/>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TextBox 39">
            <a:hlinkClick r:id="rId4" action="ppaction://hlinksldjump"/>
            <a:extLst>
              <a:ext uri="{FF2B5EF4-FFF2-40B4-BE49-F238E27FC236}">
                <a16:creationId xmlns:a16="http://schemas.microsoft.com/office/drawing/2014/main" id="{B858C18C-3DA7-495C-99AE-8FB0224D3094}"/>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3" name="TextBox 40">
            <a:hlinkClick r:id="rId4" action="ppaction://hlinksldjump"/>
            <a:extLst>
              <a:ext uri="{FF2B5EF4-FFF2-40B4-BE49-F238E27FC236}">
                <a16:creationId xmlns:a16="http://schemas.microsoft.com/office/drawing/2014/main" id="{E9D4F191-680E-4585-A13F-B69676CAEDC2}"/>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4" name="TextBox 41">
            <a:hlinkClick r:id="rId5" action="ppaction://hlinksldjump"/>
            <a:extLst>
              <a:ext uri="{FF2B5EF4-FFF2-40B4-BE49-F238E27FC236}">
                <a16:creationId xmlns:a16="http://schemas.microsoft.com/office/drawing/2014/main" id="{112FCEE8-7C28-4194-9922-B3E1A54C18D7}"/>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5" name="TextBox 42">
            <a:hlinkClick r:id="rId5" action="ppaction://hlinksldjump"/>
            <a:extLst>
              <a:ext uri="{FF2B5EF4-FFF2-40B4-BE49-F238E27FC236}">
                <a16:creationId xmlns:a16="http://schemas.microsoft.com/office/drawing/2014/main" id="{E5D9E4C1-BD66-4516-A6D9-0572D047582E}"/>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6" name="Oval 43">
            <a:extLst>
              <a:ext uri="{FF2B5EF4-FFF2-40B4-BE49-F238E27FC236}">
                <a16:creationId xmlns:a16="http://schemas.microsoft.com/office/drawing/2014/main" id="{D69FD49C-0110-46FB-9D80-BF6AD5CB1161}"/>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7" name="TextBox 44">
            <a:hlinkClick r:id="rId7" action="ppaction://hlinksldjump"/>
            <a:extLst>
              <a:ext uri="{FF2B5EF4-FFF2-40B4-BE49-F238E27FC236}">
                <a16:creationId xmlns:a16="http://schemas.microsoft.com/office/drawing/2014/main" id="{DF26C3C8-12AA-45D8-99CF-91B4B97CE2FD}"/>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8" name="Picture 45">
            <a:hlinkClick r:id="rId4" action="ppaction://hlinksldjump"/>
            <a:extLst>
              <a:ext uri="{FF2B5EF4-FFF2-40B4-BE49-F238E27FC236}">
                <a16:creationId xmlns:a16="http://schemas.microsoft.com/office/drawing/2014/main" id="{D4B8B194-99F9-425D-987D-8FFCB7CFD5A6}"/>
              </a:ext>
            </a:extLst>
          </p:cNvPr>
          <p:cNvPicPr>
            <a:picLocks noChangeAspect="1"/>
          </p:cNvPicPr>
          <p:nvPr/>
        </p:nvPicPr>
        <p:blipFill>
          <a:blip r:embed="rId8">
            <a:alphaModFix amt="35000"/>
          </a:blip>
          <a:srcRect l="20606" t="21077" r="21527" b="31021"/>
          <a:stretch>
            <a:fillRect/>
          </a:stretch>
        </p:blipFill>
        <p:spPr>
          <a:xfrm>
            <a:off x="10082201" y="272070"/>
            <a:ext cx="256918" cy="210595"/>
          </a:xfrm>
          <a:prstGeom prst="rect">
            <a:avLst/>
          </a:prstGeom>
          <a:noFill/>
          <a:ln cap="flat">
            <a:noFill/>
          </a:ln>
        </p:spPr>
      </p:pic>
      <p:sp>
        <p:nvSpPr>
          <p:cNvPr id="19" name="Oval 46">
            <a:hlinkClick r:id="rId4" action="ppaction://hlinksldjump"/>
            <a:extLst>
              <a:ext uri="{FF2B5EF4-FFF2-40B4-BE49-F238E27FC236}">
                <a16:creationId xmlns:a16="http://schemas.microsoft.com/office/drawing/2014/main" id="{ADECEE3C-FD45-405D-9F60-7E488C97FF36}"/>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name="Slide838840292">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FF8B3B13-5450-416D-BB4E-E22B81AC1846}"/>
              </a:ext>
            </a:extLst>
          </p:cNvPr>
          <p:cNvSpPr/>
          <p:nvPr/>
        </p:nvSpPr>
        <p:spPr>
          <a:xfrm>
            <a:off x="363967" y="608130"/>
            <a:ext cx="6938531"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Additional CDS Completion Guidance Updates</a:t>
            </a:r>
            <a:endParaRPr lang="en-GB" sz="2800" b="1" i="0" u="none" strike="noStrike" kern="1200" cap="none" spc="0" baseline="0">
              <a:solidFill>
                <a:srgbClr val="000000"/>
              </a:solidFill>
              <a:uFillTx/>
              <a:latin typeface="Calibri" pitchFamily="34"/>
              <a:ea typeface="Calibri" pitchFamily="34"/>
            </a:endParaRPr>
          </a:p>
        </p:txBody>
      </p:sp>
      <p:cxnSp>
        <p:nvCxnSpPr>
          <p:cNvPr id="3" name="Straight Connector 5">
            <a:extLst>
              <a:ext uri="{FF2B5EF4-FFF2-40B4-BE49-F238E27FC236}">
                <a16:creationId xmlns:a16="http://schemas.microsoft.com/office/drawing/2014/main" id="{0DEFADD5-C344-4AD8-A0AE-73F43DF002D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6">
            <a:extLst>
              <a:ext uri="{FF2B5EF4-FFF2-40B4-BE49-F238E27FC236}">
                <a16:creationId xmlns:a16="http://schemas.microsoft.com/office/drawing/2014/main" id="{1FA33EDA-1FFE-4109-8AA5-1DD87746C097}"/>
              </a:ext>
            </a:extLst>
          </p:cNvPr>
          <p:cNvSpPr txBox="1"/>
          <p:nvPr/>
        </p:nvSpPr>
        <p:spPr>
          <a:xfrm>
            <a:off x="363967" y="248844"/>
            <a:ext cx="100540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APPENDIX</a:t>
            </a:r>
          </a:p>
        </p:txBody>
      </p:sp>
      <p:sp>
        <p:nvSpPr>
          <p:cNvPr id="6" name="Slide Number Placeholder 5">
            <a:extLst>
              <a:ext uri="{FF2B5EF4-FFF2-40B4-BE49-F238E27FC236}">
                <a16:creationId xmlns:a16="http://schemas.microsoft.com/office/drawing/2014/main" id="{0B9D8787-A4B9-40F5-97F6-BF217117ACA5}"/>
              </a:ext>
            </a:extLst>
          </p:cNvPr>
          <p:cNvSpPr txBox="1"/>
          <p:nvPr/>
        </p:nvSpPr>
        <p:spPr>
          <a:xfrm>
            <a:off x="11699967"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DD19B768-D77F-4AED-82AD-57B6350E11C1}" type="slidenum">
              <a:rPr sz="1200"/>
              <a:t>449</a:t>
            </a:fld>
            <a:endParaRPr lang="en-GB" sz="1200" b="0" i="0" u="none" strike="noStrike" kern="1200" cap="none" spc="0" baseline="0">
              <a:solidFill>
                <a:srgbClr val="000000"/>
              </a:solidFill>
              <a:uFillTx/>
              <a:latin typeface="Calibri"/>
            </a:endParaRPr>
          </a:p>
        </p:txBody>
      </p:sp>
      <p:sp>
        <p:nvSpPr>
          <p:cNvPr id="7" name="Rectangle 5">
            <a:extLst>
              <a:ext uri="{FF2B5EF4-FFF2-40B4-BE49-F238E27FC236}">
                <a16:creationId xmlns:a16="http://schemas.microsoft.com/office/drawing/2014/main" id="{2A0BF44F-729E-4FB4-91EE-D6BE62383BDE}"/>
              </a:ext>
            </a:extLst>
          </p:cNvPr>
          <p:cNvSpPr/>
          <p:nvPr/>
        </p:nvSpPr>
        <p:spPr>
          <a:xfrm>
            <a:off x="363967" y="1070625"/>
            <a:ext cx="11364483" cy="73866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HMRC recently published updated Completion Guidance for CDS. The following documents can be accessed via the </a:t>
            </a:r>
            <a:r>
              <a:rPr lang="en-GB" sz="1400" b="0" i="0" u="none" strike="noStrike" kern="1200" cap="none" spc="0" baseline="0">
                <a:solidFill>
                  <a:srgbClr val="000000"/>
                </a:solidFill>
                <a:uFillTx/>
                <a:latin typeface="Calibri"/>
                <a:hlinkClick r:id="rId2"/>
              </a:rPr>
              <a:t>HMRC Developer Hub </a:t>
            </a:r>
            <a:r>
              <a:rPr lang="en-GB" sz="1400" b="0" i="0" u="none" strike="noStrike" kern="1200" cap="none" spc="0" baseline="0">
                <a:solidFill>
                  <a:srgbClr val="000000"/>
                </a:solidFill>
                <a:uFillTx/>
                <a:latin typeface="Calibri"/>
              </a:rPr>
              <a:t>folder (CDS 06 Tariff Manual) and should be used as a term of reference when submitting declarations into CDS to ensure successful submission and validation.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p:txBody>
      </p:sp>
      <p:graphicFrame>
        <p:nvGraphicFramePr>
          <p:cNvPr id="8" name="Table 33">
            <a:extLst>
              <a:ext uri="{FF2B5EF4-FFF2-40B4-BE49-F238E27FC236}">
                <a16:creationId xmlns:a16="http://schemas.microsoft.com/office/drawing/2014/main" id="{39285DCF-4AD2-4C81-8899-0467E9F1C350}"/>
              </a:ext>
            </a:extLst>
          </p:cNvPr>
          <p:cNvGraphicFramePr>
            <a:graphicFrameLocks noGrp="1"/>
          </p:cNvGraphicFramePr>
          <p:nvPr/>
        </p:nvGraphicFramePr>
        <p:xfrm>
          <a:off x="463545" y="1718212"/>
          <a:ext cx="11177569" cy="2893591"/>
        </p:xfrm>
        <a:graphic>
          <a:graphicData uri="http://schemas.openxmlformats.org/drawingml/2006/table">
            <a:tbl>
              <a:tblPr firstRow="1" bandRow="1">
                <a:effectLst/>
                <a:tableStyleId>{5C22544A-7EE6-4342-B048-85BDC9FD1C3A}</a:tableStyleId>
              </a:tblPr>
              <a:tblGrid>
                <a:gridCol w="979468">
                  <a:extLst>
                    <a:ext uri="{9D8B030D-6E8A-4147-A177-3AD203B41FA5}">
                      <a16:colId xmlns:a16="http://schemas.microsoft.com/office/drawing/2014/main" val="1591770284"/>
                    </a:ext>
                  </a:extLst>
                </a:gridCol>
                <a:gridCol w="2546347">
                  <a:extLst>
                    <a:ext uri="{9D8B030D-6E8A-4147-A177-3AD203B41FA5}">
                      <a16:colId xmlns:a16="http://schemas.microsoft.com/office/drawing/2014/main" val="1430057761"/>
                    </a:ext>
                  </a:extLst>
                </a:gridCol>
                <a:gridCol w="971550">
                  <a:extLst>
                    <a:ext uri="{9D8B030D-6E8A-4147-A177-3AD203B41FA5}">
                      <a16:colId xmlns:a16="http://schemas.microsoft.com/office/drawing/2014/main" val="2514902251"/>
                    </a:ext>
                  </a:extLst>
                </a:gridCol>
                <a:gridCol w="6680204">
                  <a:extLst>
                    <a:ext uri="{9D8B030D-6E8A-4147-A177-3AD203B41FA5}">
                      <a16:colId xmlns:a16="http://schemas.microsoft.com/office/drawing/2014/main" val="1143271432"/>
                    </a:ext>
                  </a:extLst>
                </a:gridCol>
              </a:tblGrid>
              <a:tr h="0">
                <a:tc>
                  <a:txBody>
                    <a:bodyPr/>
                    <a:lstStyle/>
                    <a:p>
                      <a:pPr lvl="0"/>
                      <a:r>
                        <a:rPr lang="en-GB" sz="1200"/>
                        <a:t>Area</a:t>
                      </a:r>
                    </a:p>
                  </a:txBody>
                  <a:tcPr>
                    <a:solidFill>
                      <a:srgbClr val="7F7F7F"/>
                    </a:solidFill>
                  </a:tcPr>
                </a:tc>
                <a:tc>
                  <a:txBody>
                    <a:bodyPr/>
                    <a:lstStyle/>
                    <a:p>
                      <a:pPr lvl="0"/>
                      <a:r>
                        <a:rPr lang="en-GB" sz="1200"/>
                        <a:t>Document Title</a:t>
                      </a:r>
                    </a:p>
                  </a:txBody>
                  <a:tcPr>
                    <a:solidFill>
                      <a:srgbClr val="7F7F7F"/>
                    </a:solidFill>
                  </a:tcPr>
                </a:tc>
                <a:tc>
                  <a:txBody>
                    <a:bodyPr/>
                    <a:lstStyle/>
                    <a:p>
                      <a:pPr lvl="0"/>
                      <a:endParaRPr lang="en-GB" sz="1200"/>
                    </a:p>
                  </a:txBody>
                  <a:tcPr>
                    <a:solidFill>
                      <a:srgbClr val="7F7F7F"/>
                    </a:solidFill>
                  </a:tcPr>
                </a:tc>
                <a:tc>
                  <a:txBody>
                    <a:bodyPr/>
                    <a:lstStyle/>
                    <a:p>
                      <a:pPr lvl="0"/>
                      <a:r>
                        <a:rPr lang="en-GB" sz="1200"/>
                        <a:t>Description</a:t>
                      </a:r>
                    </a:p>
                  </a:txBody>
                  <a:tcPr>
                    <a:solidFill>
                      <a:srgbClr val="7F7F7F"/>
                    </a:solidFill>
                  </a:tcPr>
                </a:tc>
                <a:extLst>
                  <a:ext uri="{0D108BD9-81ED-4DB2-BD59-A6C34878D82A}">
                    <a16:rowId xmlns:a16="http://schemas.microsoft.com/office/drawing/2014/main" val="2107874778"/>
                  </a:ext>
                </a:extLst>
              </a:tr>
              <a:tr h="0">
                <a:tc rowSpan="2">
                  <a:txBody>
                    <a:bodyPr/>
                    <a:lstStyle/>
                    <a:p>
                      <a:pPr marL="0" marR="0" lvl="0" indent="0" algn="l" defTabSz="914400" rtl="0" fontAlgn="auto" hangingPunct="1">
                        <a:lnSpc>
                          <a:spcPct val="100000"/>
                        </a:lnSpc>
                        <a:spcBef>
                          <a:spcPts val="0"/>
                        </a:spcBef>
                        <a:spcAft>
                          <a:spcPts val="0"/>
                        </a:spcAft>
                        <a:buNone/>
                        <a:tabLst/>
                      </a:pPr>
                      <a:r>
                        <a:rPr lang="en-GB" sz="1200" b="1">
                          <a:latin typeface="Calibri" pitchFamily="34"/>
                          <a:ea typeface="Times New Roman" pitchFamily="18"/>
                        </a:rPr>
                        <a:t>Declaration Completion Guidance</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r>
                        <a:rPr lang="en-GB" sz="1200" b="1">
                          <a:latin typeface="Calibri" pitchFamily="34"/>
                          <a:ea typeface="Times New Roman" pitchFamily="18"/>
                        </a:rPr>
                        <a:t>1. Imports</a:t>
                      </a:r>
                      <a:r>
                        <a:rPr lang="en-GB" sz="1200" b="0">
                          <a:latin typeface="Calibri" pitchFamily="34"/>
                          <a:ea typeface="Times New Roman" pitchFamily="18"/>
                        </a:rPr>
                        <a:t> Completion Rule Changes Guidance v1.1</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endParaRPr lang="en-GB" sz="1200"/>
                    </a:p>
                    <a:p>
                      <a:pPr marL="0" marR="0" lvl="0" indent="0" algn="l" defTabSz="914400" rtl="0" fontAlgn="auto" hangingPunct="1">
                        <a:lnSpc>
                          <a:spcPct val="100000"/>
                        </a:lnSpc>
                        <a:spcBef>
                          <a:spcPts val="0"/>
                        </a:spcBef>
                        <a:spcAft>
                          <a:spcPts val="0"/>
                        </a:spcAft>
                        <a:buNone/>
                        <a:tabLst/>
                      </a:pPr>
                      <a:endParaRPr lang="en-GB" sz="1200"/>
                    </a:p>
                    <a:p>
                      <a:pPr marL="0" marR="0" lvl="0" indent="0" algn="l" defTabSz="914400" rtl="0" fontAlgn="auto" hangingPunct="1">
                        <a:lnSpc>
                          <a:spcPct val="100000"/>
                        </a:lnSpc>
                        <a:spcBef>
                          <a:spcPts val="0"/>
                        </a:spcBef>
                        <a:spcAft>
                          <a:spcPts val="0"/>
                        </a:spcAft>
                        <a:buNone/>
                        <a:tabLst/>
                      </a:pPr>
                      <a:endParaRPr lang="en-GB" sz="1200"/>
                    </a:p>
                  </a:txBody>
                  <a:tcPr>
                    <a:solidFill>
                      <a:srgbClr val="F2F2F2"/>
                    </a:solidFill>
                  </a:tcPr>
                </a:tc>
                <a:tc rowSpan="2">
                  <a:txBody>
                    <a:bodyPr/>
                    <a:lstStyle/>
                    <a:p>
                      <a:pPr marL="0" marR="0" lvl="0" indent="0" algn="l" defTabSz="914400" rtl="0" fontAlgn="auto" hangingPunct="1">
                        <a:lnSpc>
                          <a:spcPct val="100000"/>
                        </a:lnSpc>
                        <a:spcBef>
                          <a:spcPts val="0"/>
                        </a:spcBef>
                        <a:spcAft>
                          <a:spcPts val="0"/>
                        </a:spcAft>
                        <a:buNone/>
                        <a:tabLst/>
                      </a:pPr>
                      <a:r>
                        <a:rPr lang="en-GB" sz="1200"/>
                        <a:t>This document highlights where changes to guidance have been made and where those changes are awaiting implementation in the CDS system.</a:t>
                      </a:r>
                      <a:r>
                        <a:rPr lang="en-GB" sz="1200">
                          <a:latin typeface="Calibri" pitchFamily="34"/>
                          <a:ea typeface="Calibri" pitchFamily="34"/>
                        </a:rPr>
                        <a:t> As stated, these changes are not available for use until they have been implemented on the CDS system.</a:t>
                      </a:r>
                      <a:r>
                        <a:rPr lang="en-GB" sz="1200"/>
                        <a:t> Further variances between the latest Tariff guidance and current CDS implementation are highlighted in the KEL.</a:t>
                      </a:r>
                    </a:p>
                  </a:txBody>
                  <a:tcPr>
                    <a:solidFill>
                      <a:srgbClr val="F2F2F2"/>
                    </a:solidFill>
                  </a:tcPr>
                </a:tc>
                <a:extLst>
                  <a:ext uri="{0D108BD9-81ED-4DB2-BD59-A6C34878D82A}">
                    <a16:rowId xmlns:a16="http://schemas.microsoft.com/office/drawing/2014/main" val="2827419889"/>
                  </a:ext>
                </a:extLst>
              </a:tr>
              <a:tr h="0">
                <a:tc vMerge="1">
                  <a:txBody>
                    <a:bodyPr/>
                    <a:lstStyle/>
                    <a:p>
                      <a:endParaRPr lang="en-GB"/>
                    </a:p>
                  </a:txBody>
                  <a:tcPr/>
                </a:tc>
                <a:tc>
                  <a:txBody>
                    <a:bodyPr/>
                    <a:lstStyle/>
                    <a:p>
                      <a:pPr marL="0" marR="0" lvl="0" indent="0" algn="l" defTabSz="914400" rtl="0" fontAlgn="auto" hangingPunct="1">
                        <a:lnSpc>
                          <a:spcPct val="100000"/>
                        </a:lnSpc>
                        <a:spcBef>
                          <a:spcPts val="0"/>
                        </a:spcBef>
                        <a:spcAft>
                          <a:spcPts val="0"/>
                        </a:spcAft>
                        <a:buNone/>
                        <a:tabLst/>
                      </a:pPr>
                      <a:r>
                        <a:rPr lang="en-GB" sz="1200" b="0" i="0" kern="1200">
                          <a:solidFill>
                            <a:srgbClr val="000000"/>
                          </a:solidFill>
                          <a:latin typeface="Calibri"/>
                        </a:rPr>
                        <a:t>2. CDS Guidance on </a:t>
                      </a:r>
                      <a:r>
                        <a:rPr lang="en-GB" sz="1200" b="1" i="0" kern="1200">
                          <a:solidFill>
                            <a:srgbClr val="000000"/>
                          </a:solidFill>
                          <a:latin typeface="Calibri"/>
                        </a:rPr>
                        <a:t>Exports</a:t>
                      </a:r>
                      <a:r>
                        <a:rPr lang="en-GB" sz="1200" b="0" i="0" kern="1200">
                          <a:solidFill>
                            <a:srgbClr val="000000"/>
                          </a:solidFill>
                          <a:latin typeface="Calibri"/>
                        </a:rPr>
                        <a:t> Completion Rule Changes v1.0</a:t>
                      </a:r>
                    </a:p>
                  </a:txBody>
                  <a:tcPr>
                    <a:solidFill>
                      <a:srgbClr val="F2F2F2"/>
                    </a:solidFill>
                  </a:tcPr>
                </a:tc>
                <a:tc>
                  <a:txBody>
                    <a:bodyPr/>
                    <a:lstStyle/>
                    <a:p>
                      <a:pPr marL="0" marR="0" lvl="0" indent="0" algn="l" defTabSz="914400" rtl="0" fontAlgn="auto" hangingPunct="1">
                        <a:lnSpc>
                          <a:spcPct val="100000"/>
                        </a:lnSpc>
                        <a:spcBef>
                          <a:spcPts val="0"/>
                        </a:spcBef>
                        <a:spcAft>
                          <a:spcPts val="0"/>
                        </a:spcAft>
                        <a:buNone/>
                        <a:tabLst/>
                      </a:pPr>
                      <a:endParaRPr lang="en-GB" sz="1200"/>
                    </a:p>
                    <a:p>
                      <a:pPr marL="0" marR="0" lvl="0" indent="0" algn="l" defTabSz="914400" rtl="0" fontAlgn="auto" hangingPunct="1">
                        <a:lnSpc>
                          <a:spcPct val="100000"/>
                        </a:lnSpc>
                        <a:spcBef>
                          <a:spcPts val="0"/>
                        </a:spcBef>
                        <a:spcAft>
                          <a:spcPts val="0"/>
                        </a:spcAft>
                        <a:buNone/>
                        <a:tabLst/>
                      </a:pPr>
                      <a:endParaRPr lang="en-GB" sz="1200"/>
                    </a:p>
                    <a:p>
                      <a:pPr marL="0" marR="0" lvl="0" indent="0" algn="l" defTabSz="914400" rtl="0" fontAlgn="auto" hangingPunct="1">
                        <a:lnSpc>
                          <a:spcPct val="100000"/>
                        </a:lnSpc>
                        <a:spcBef>
                          <a:spcPts val="0"/>
                        </a:spcBef>
                        <a:spcAft>
                          <a:spcPts val="0"/>
                        </a:spcAft>
                        <a:buNone/>
                        <a:tabLst/>
                      </a:pPr>
                      <a:endParaRPr lang="en-GB" sz="1200"/>
                    </a:p>
                  </a:txBody>
                  <a:tcPr>
                    <a:solidFill>
                      <a:srgbClr val="F2F2F2"/>
                    </a:solidFill>
                  </a:tcPr>
                </a:tc>
                <a:tc vMerge="1">
                  <a:txBody>
                    <a:bodyPr/>
                    <a:lstStyle/>
                    <a:p>
                      <a:endParaRPr lang="en-GB"/>
                    </a:p>
                  </a:txBody>
                  <a:tcPr/>
                </a:tc>
                <a:extLst>
                  <a:ext uri="{0D108BD9-81ED-4DB2-BD59-A6C34878D82A}">
                    <a16:rowId xmlns:a16="http://schemas.microsoft.com/office/drawing/2014/main" val="144665940"/>
                  </a:ext>
                </a:extLst>
              </a:tr>
              <a:tr h="0">
                <a:tc rowSpan="2">
                  <a:txBody>
                    <a:bodyPr/>
                    <a:lstStyle/>
                    <a:p>
                      <a:pPr lvl="0"/>
                      <a:r>
                        <a:rPr lang="en-GB" sz="1200" b="1">
                          <a:latin typeface="Calibri" pitchFamily="34"/>
                          <a:ea typeface="Times New Roman" pitchFamily="18"/>
                        </a:rPr>
                        <a:t>Declaration Category Changes Guidance </a:t>
                      </a:r>
                      <a:endParaRPr lang="en-GB" sz="1200" b="1"/>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r>
                        <a:rPr lang="en-GB" sz="1200" b="1">
                          <a:latin typeface="Calibri" pitchFamily="34"/>
                          <a:ea typeface="Times New Roman" pitchFamily="18"/>
                        </a:rPr>
                        <a:t>3. Imports</a:t>
                      </a:r>
                      <a:r>
                        <a:rPr lang="en-GB" sz="1200" b="0">
                          <a:latin typeface="Calibri" pitchFamily="34"/>
                          <a:ea typeface="Times New Roman" pitchFamily="18"/>
                        </a:rPr>
                        <a:t> Declaration Category Changes Guidance v1.1</a:t>
                      </a:r>
                      <a:endParaRPr lang="en-GB" sz="1200" b="0"/>
                    </a:p>
                  </a:txBody>
                  <a:tcPr>
                    <a:solidFill>
                      <a:srgbClr val="E7E6E6"/>
                    </a:solidFill>
                  </a:tcPr>
                </a:tc>
                <a:tc>
                  <a:txBody>
                    <a:bodyPr/>
                    <a:lstStyle/>
                    <a:p>
                      <a:pPr marL="0" marR="0" lvl="0" indent="0" algn="l" defTabSz="914400" rtl="0" fontAlgn="auto" hangingPunct="1">
                        <a:lnSpc>
                          <a:spcPct val="100000"/>
                        </a:lnSpc>
                        <a:spcBef>
                          <a:spcPts val="0"/>
                        </a:spcBef>
                        <a:spcAft>
                          <a:spcPts val="0"/>
                        </a:spcAft>
                        <a:buNone/>
                        <a:tabLst/>
                      </a:pPr>
                      <a:endParaRPr lang="en-GB" sz="1200">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pPr>
                      <a:endParaRPr lang="en-GB" sz="1200">
                        <a:latin typeface="Calibri" pitchFamily="34"/>
                        <a:ea typeface="Calibri" pitchFamily="34"/>
                      </a:endParaRPr>
                    </a:p>
                    <a:p>
                      <a:pPr marL="0" marR="0" lvl="0" indent="0" algn="l" defTabSz="914400" rtl="0" fontAlgn="auto" hangingPunct="1">
                        <a:lnSpc>
                          <a:spcPct val="100000"/>
                        </a:lnSpc>
                        <a:spcBef>
                          <a:spcPts val="0"/>
                        </a:spcBef>
                        <a:spcAft>
                          <a:spcPts val="0"/>
                        </a:spcAft>
                        <a:buNone/>
                        <a:tabLst/>
                      </a:pPr>
                      <a:endParaRPr lang="en-GB" sz="1200">
                        <a:latin typeface="Calibri" pitchFamily="34"/>
                        <a:ea typeface="Calibri" pitchFamily="34"/>
                      </a:endParaRPr>
                    </a:p>
                  </a:txBody>
                  <a:tcPr>
                    <a:solidFill>
                      <a:srgbClr val="E7E6E6"/>
                    </a:solidFill>
                  </a:tcPr>
                </a:tc>
                <a:tc rowSpan="2">
                  <a:txBody>
                    <a:bodyPr/>
                    <a:lstStyle/>
                    <a:p>
                      <a:pPr marL="0" marR="0" lvl="0" indent="0" algn="l" defTabSz="914400" rtl="0" fontAlgn="auto" hangingPunct="1">
                        <a:lnSpc>
                          <a:spcPct val="100000"/>
                        </a:lnSpc>
                        <a:spcBef>
                          <a:spcPts val="0"/>
                        </a:spcBef>
                        <a:spcAft>
                          <a:spcPts val="0"/>
                        </a:spcAft>
                        <a:buNone/>
                        <a:tabLst/>
                      </a:pPr>
                      <a:r>
                        <a:rPr lang="en-GB" sz="1200">
                          <a:latin typeface="Calibri" pitchFamily="34"/>
                          <a:ea typeface="Calibri" pitchFamily="34"/>
                        </a:rPr>
                        <a:t>This document summarises valid Procedure and Additional Procedure codes combinations that can be used on Imports and Exports declarations, and highlights in red changes from the previous Exports guidance.  </a:t>
                      </a:r>
                    </a:p>
                    <a:p>
                      <a:pPr marL="0" marR="0" lvl="0" indent="0" algn="l" defTabSz="914400" rtl="0" fontAlgn="auto" hangingPunct="1">
                        <a:lnSpc>
                          <a:spcPct val="100000"/>
                        </a:lnSpc>
                        <a:spcBef>
                          <a:spcPts val="0"/>
                        </a:spcBef>
                        <a:spcAft>
                          <a:spcPts val="0"/>
                        </a:spcAft>
                        <a:buNone/>
                        <a:tabLst/>
                      </a:pPr>
                      <a:endParaRPr lang="en-GB" sz="1200">
                        <a:latin typeface="Calibri" pitchFamily="34"/>
                        <a:ea typeface="Calibri" pitchFamily="34"/>
                      </a:endParaRPr>
                    </a:p>
                  </a:txBody>
                  <a:tcPr>
                    <a:solidFill>
                      <a:srgbClr val="E7E6E6"/>
                    </a:solidFill>
                  </a:tcPr>
                </a:tc>
                <a:extLst>
                  <a:ext uri="{0D108BD9-81ED-4DB2-BD59-A6C34878D82A}">
                    <a16:rowId xmlns:a16="http://schemas.microsoft.com/office/drawing/2014/main" val="194043950"/>
                  </a:ext>
                </a:extLst>
              </a:tr>
              <a:tr h="699031">
                <a:tc vMerge="1">
                  <a:txBody>
                    <a:bodyPr/>
                    <a:lstStyle/>
                    <a:p>
                      <a:endParaRPr lang="en-GB"/>
                    </a:p>
                  </a:txBody>
                  <a:tcPr/>
                </a:tc>
                <a:tc>
                  <a:txBody>
                    <a:bodyPr/>
                    <a:lstStyle/>
                    <a:p>
                      <a:pPr lvl="0"/>
                      <a:r>
                        <a:rPr lang="en-GB" sz="1200" b="0"/>
                        <a:t>4. CDS 06 Declaration Category, DE1/10 Code, Dec Type and Add Dec Type July Update v1.1 </a:t>
                      </a:r>
                      <a:r>
                        <a:rPr lang="en-GB" sz="1200" b="1"/>
                        <a:t>(Exports)</a:t>
                      </a:r>
                    </a:p>
                  </a:txBody>
                  <a:tcPr>
                    <a:solidFill>
                      <a:srgbClr val="E7E6E6"/>
                    </a:solidFill>
                  </a:tcPr>
                </a:tc>
                <a:tc>
                  <a:txBody>
                    <a:bodyPr/>
                    <a:lstStyle/>
                    <a:p>
                      <a:pPr lvl="0"/>
                      <a:endParaRPr lang="en-GB" dirty="0"/>
                    </a:p>
                    <a:p>
                      <a:pPr lvl="0"/>
                      <a:endParaRPr lang="en-GB" dirty="0"/>
                    </a:p>
                  </a:txBody>
                  <a:tcPr>
                    <a:solidFill>
                      <a:srgbClr val="E7E6E6"/>
                    </a:solidFill>
                  </a:tcPr>
                </a:tc>
                <a:tc vMerge="1">
                  <a:txBody>
                    <a:bodyPr/>
                    <a:lstStyle/>
                    <a:p>
                      <a:endParaRPr lang="en-GB"/>
                    </a:p>
                  </a:txBody>
                  <a:tcPr/>
                </a:tc>
                <a:extLst>
                  <a:ext uri="{0D108BD9-81ED-4DB2-BD59-A6C34878D82A}">
                    <a16:rowId xmlns:a16="http://schemas.microsoft.com/office/drawing/2014/main" val="1121858677"/>
                  </a:ext>
                </a:extLst>
              </a:tr>
            </a:tbl>
          </a:graphicData>
        </a:graphic>
      </p:graphicFrame>
      <p:graphicFrame>
        <p:nvGraphicFramePr>
          <p:cNvPr id="9" name="Object 2">
            <a:extLst>
              <a:ext uri="{FF2B5EF4-FFF2-40B4-BE49-F238E27FC236}">
                <a16:creationId xmlns:a16="http://schemas.microsoft.com/office/drawing/2014/main" id="{EFA156BF-C859-4269-AC62-69DDA368B13A}"/>
              </a:ext>
            </a:extLst>
          </p:cNvPr>
          <p:cNvGraphicFramePr/>
          <p:nvPr/>
        </p:nvGraphicFramePr>
        <p:xfrm>
          <a:off x="4033820" y="2029455"/>
          <a:ext cx="863595" cy="737655"/>
        </p:xfrm>
        <a:graphic>
          <a:graphicData uri="http://schemas.openxmlformats.org/presentationml/2006/ole">
            <mc:AlternateContent xmlns:mc="http://schemas.openxmlformats.org/markup-compatibility/2006">
              <mc:Choice xmlns:v="urn:schemas-microsoft-com:vml" Requires="v">
                <p:oleObj name="Worksheet" r:id="rId3" imgW="1828800" imgH="1562100" progId="">
                  <p:embed/>
                </p:oleObj>
              </mc:Choice>
              <mc:Fallback>
                <p:oleObj name="Worksheet" r:id="rId3" imgW="1828800" imgH="1562100" progId="">
                  <p:embed/>
                  <p:pic>
                    <p:nvPicPr>
                      <p:cNvPr id="9" name="Object 2">
                        <a:extLst>
                          <a:ext uri="{FF2B5EF4-FFF2-40B4-BE49-F238E27FC236}">
                            <a16:creationId xmlns:a16="http://schemas.microsoft.com/office/drawing/2014/main" id="{EFA156BF-C859-4269-AC62-69DDA368B13A}"/>
                          </a:ext>
                        </a:extLst>
                      </p:cNvPr>
                      <p:cNvPicPr/>
                      <p:nvPr/>
                    </p:nvPicPr>
                    <p:blipFill>
                      <a:blip r:embed="rId4"/>
                      <a:stretch>
                        <a:fillRect/>
                      </a:stretch>
                    </p:blipFill>
                    <p:spPr>
                      <a:xfrm>
                        <a:off x="4033820" y="2029455"/>
                        <a:ext cx="863595" cy="737655"/>
                      </a:xfrm>
                      <a:prstGeom prst="rect">
                        <a:avLst/>
                      </a:prstGeom>
                      <a:noFill/>
                      <a:ln cap="flat">
                        <a:noFill/>
                      </a:ln>
                    </p:spPr>
                  </p:pic>
                </p:oleObj>
              </mc:Fallback>
            </mc:AlternateContent>
          </a:graphicData>
        </a:graphic>
      </p:graphicFrame>
      <p:graphicFrame>
        <p:nvGraphicFramePr>
          <p:cNvPr id="10" name="Object 4">
            <a:extLst>
              <a:ext uri="{FF2B5EF4-FFF2-40B4-BE49-F238E27FC236}">
                <a16:creationId xmlns:a16="http://schemas.microsoft.com/office/drawing/2014/main" id="{F3EB2C35-61E4-4032-8E47-743D1D00D7A7}"/>
              </a:ext>
            </a:extLst>
          </p:cNvPr>
          <p:cNvGraphicFramePr/>
          <p:nvPr/>
        </p:nvGraphicFramePr>
        <p:xfrm>
          <a:off x="4033820" y="3330958"/>
          <a:ext cx="793754" cy="677991"/>
        </p:xfrm>
        <a:graphic>
          <a:graphicData uri="http://schemas.openxmlformats.org/presentationml/2006/ole">
            <mc:AlternateContent xmlns:mc="http://schemas.openxmlformats.org/markup-compatibility/2006">
              <mc:Choice xmlns:v="urn:schemas-microsoft-com:vml" Requires="v">
                <p:oleObj name="Worksheet" r:id="rId5" imgW="1828800" imgH="1562100" progId="">
                  <p:embed/>
                </p:oleObj>
              </mc:Choice>
              <mc:Fallback>
                <p:oleObj name="Worksheet" r:id="rId5" imgW="1828800" imgH="1562100" progId="">
                  <p:embed/>
                  <p:pic>
                    <p:nvPicPr>
                      <p:cNvPr id="10" name="Object 4">
                        <a:extLst>
                          <a:ext uri="{FF2B5EF4-FFF2-40B4-BE49-F238E27FC236}">
                            <a16:creationId xmlns:a16="http://schemas.microsoft.com/office/drawing/2014/main" id="{F3EB2C35-61E4-4032-8E47-743D1D00D7A7}"/>
                          </a:ext>
                        </a:extLst>
                      </p:cNvPr>
                      <p:cNvPicPr/>
                      <p:nvPr/>
                    </p:nvPicPr>
                    <p:blipFill>
                      <a:blip r:embed="rId6"/>
                      <a:stretch>
                        <a:fillRect/>
                      </a:stretch>
                    </p:blipFill>
                    <p:spPr>
                      <a:xfrm>
                        <a:off x="4033820" y="3330958"/>
                        <a:ext cx="793754" cy="677991"/>
                      </a:xfrm>
                      <a:prstGeom prst="rect">
                        <a:avLst/>
                      </a:prstGeom>
                      <a:noFill/>
                      <a:ln cap="flat">
                        <a:noFill/>
                      </a:ln>
                    </p:spPr>
                  </p:pic>
                </p:oleObj>
              </mc:Fallback>
            </mc:AlternateContent>
          </a:graphicData>
        </a:graphic>
      </p:graphicFrame>
      <p:graphicFrame>
        <p:nvGraphicFramePr>
          <p:cNvPr id="11" name="Object 6">
            <a:extLst>
              <a:ext uri="{FF2B5EF4-FFF2-40B4-BE49-F238E27FC236}">
                <a16:creationId xmlns:a16="http://schemas.microsoft.com/office/drawing/2014/main" id="{50FD72D5-5057-4A68-9D05-02B9BA8B5D37}"/>
              </a:ext>
            </a:extLst>
          </p:cNvPr>
          <p:cNvGraphicFramePr/>
          <p:nvPr/>
        </p:nvGraphicFramePr>
        <p:xfrm>
          <a:off x="4056040" y="2692057"/>
          <a:ext cx="785158" cy="670657"/>
        </p:xfrm>
        <a:graphic>
          <a:graphicData uri="http://schemas.openxmlformats.org/presentationml/2006/ole">
            <mc:AlternateContent xmlns:mc="http://schemas.openxmlformats.org/markup-compatibility/2006">
              <mc:Choice xmlns:v="urn:schemas-microsoft-com:vml" Requires="v">
                <p:oleObj name="Worksheet" r:id="rId7" imgW="1828800" imgH="1562100" progId="">
                  <p:embed/>
                </p:oleObj>
              </mc:Choice>
              <mc:Fallback>
                <p:oleObj name="Worksheet" r:id="rId7" imgW="1828800" imgH="1562100" progId="">
                  <p:embed/>
                  <p:pic>
                    <p:nvPicPr>
                      <p:cNvPr id="11" name="Object 6">
                        <a:extLst>
                          <a:ext uri="{FF2B5EF4-FFF2-40B4-BE49-F238E27FC236}">
                            <a16:creationId xmlns:a16="http://schemas.microsoft.com/office/drawing/2014/main" id="{50FD72D5-5057-4A68-9D05-02B9BA8B5D37}"/>
                          </a:ext>
                        </a:extLst>
                      </p:cNvPr>
                      <p:cNvPicPr/>
                      <p:nvPr/>
                    </p:nvPicPr>
                    <p:blipFill>
                      <a:blip r:embed="rId8"/>
                      <a:stretch>
                        <a:fillRect/>
                      </a:stretch>
                    </p:blipFill>
                    <p:spPr>
                      <a:xfrm>
                        <a:off x="4056040" y="2692057"/>
                        <a:ext cx="785158" cy="670657"/>
                      </a:xfrm>
                      <a:prstGeom prst="rect">
                        <a:avLst/>
                      </a:prstGeom>
                      <a:noFill/>
                      <a:ln cap="flat">
                        <a:noFill/>
                      </a:ln>
                    </p:spPr>
                  </p:pic>
                </p:oleObj>
              </mc:Fallback>
            </mc:AlternateContent>
          </a:graphicData>
        </a:graphic>
      </p:graphicFrame>
      <p:graphicFrame>
        <p:nvGraphicFramePr>
          <p:cNvPr id="12" name="Object 7">
            <a:extLst>
              <a:ext uri="{FF2B5EF4-FFF2-40B4-BE49-F238E27FC236}">
                <a16:creationId xmlns:a16="http://schemas.microsoft.com/office/drawing/2014/main" id="{1718320B-4514-4CFF-A7C0-1A32F1D18097}"/>
              </a:ext>
            </a:extLst>
          </p:cNvPr>
          <p:cNvGraphicFramePr/>
          <p:nvPr/>
        </p:nvGraphicFramePr>
        <p:xfrm>
          <a:off x="4055117" y="3994675"/>
          <a:ext cx="751161" cy="641616"/>
        </p:xfrm>
        <a:graphic>
          <a:graphicData uri="http://schemas.openxmlformats.org/presentationml/2006/ole">
            <mc:AlternateContent xmlns:mc="http://schemas.openxmlformats.org/markup-compatibility/2006">
              <mc:Choice xmlns:v="urn:schemas-microsoft-com:vml" Requires="v">
                <p:oleObj name="Worksheet" r:id="rId9" imgW="1828800" imgH="1562100" progId="">
                  <p:embed/>
                </p:oleObj>
              </mc:Choice>
              <mc:Fallback>
                <p:oleObj name="Worksheet" r:id="rId9" imgW="1828800" imgH="1562100" progId="">
                  <p:embed/>
                  <p:pic>
                    <p:nvPicPr>
                      <p:cNvPr id="12" name="Object 7">
                        <a:extLst>
                          <a:ext uri="{FF2B5EF4-FFF2-40B4-BE49-F238E27FC236}">
                            <a16:creationId xmlns:a16="http://schemas.microsoft.com/office/drawing/2014/main" id="{1718320B-4514-4CFF-A7C0-1A32F1D18097}"/>
                          </a:ext>
                        </a:extLst>
                      </p:cNvPr>
                      <p:cNvPicPr/>
                      <p:nvPr/>
                    </p:nvPicPr>
                    <p:blipFill>
                      <a:blip r:embed="rId10"/>
                      <a:stretch>
                        <a:fillRect/>
                      </a:stretch>
                    </p:blipFill>
                    <p:spPr>
                      <a:xfrm>
                        <a:off x="4055117" y="3994675"/>
                        <a:ext cx="751161" cy="641616"/>
                      </a:xfrm>
                      <a:prstGeom prst="rect">
                        <a:avLst/>
                      </a:prstGeom>
                      <a:noFill/>
                      <a:ln cap="flat">
                        <a:noFill/>
                      </a:ln>
                    </p:spPr>
                  </p:pic>
                </p:oleObj>
              </mc:Fallback>
            </mc:AlternateContent>
          </a:graphicData>
        </a:graphic>
      </p:graphicFrame>
      <p:sp>
        <p:nvSpPr>
          <p:cNvPr id="13" name="Rectangle 47">
            <a:extLst>
              <a:ext uri="{FF2B5EF4-FFF2-40B4-BE49-F238E27FC236}">
                <a16:creationId xmlns:a16="http://schemas.microsoft.com/office/drawing/2014/main" id="{E137276E-0934-41A4-97E1-599B1A2783F2}"/>
              </a:ext>
            </a:extLst>
          </p:cNvPr>
          <p:cNvSpPr/>
          <p:nvPr/>
        </p:nvSpPr>
        <p:spPr>
          <a:xfrm>
            <a:off x="373495" y="4669145"/>
            <a:ext cx="11364483" cy="1169554"/>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Please note, the Imports documents in the table above were issued in July (Documents 1 and 3).</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ndParaRP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For exports, </a:t>
            </a:r>
            <a:r>
              <a:rPr lang="en-GB" sz="1400" b="0" i="0" u="none" strike="noStrike" kern="1200" cap="none" spc="0" baseline="0">
                <a:solidFill>
                  <a:srgbClr val="000000"/>
                </a:solidFill>
                <a:uFillTx/>
                <a:latin typeface="Calibri" pitchFamily="34"/>
              </a:rPr>
              <a:t>t</a:t>
            </a:r>
            <a:r>
              <a:rPr lang="en-GB" sz="1400" b="0" i="0" u="none" strike="noStrike" kern="1200" cap="none" spc="0" baseline="0">
                <a:solidFill>
                  <a:srgbClr val="000000"/>
                </a:solidFill>
                <a:uFillTx/>
                <a:latin typeface="Calibri" pitchFamily="34"/>
                <a:ea typeface="Calibri" pitchFamily="34"/>
              </a:rPr>
              <a:t>he CDS Tariff Guidance for completion of Exports declarations has been recently updated on </a:t>
            </a:r>
            <a:r>
              <a:rPr lang="en-GB" sz="1400" b="0" i="1" u="none" strike="noStrike" kern="1200" cap="none" spc="0" baseline="0">
                <a:solidFill>
                  <a:srgbClr val="000000"/>
                </a:solidFill>
                <a:uFillTx/>
                <a:latin typeface="Calibri" pitchFamily="34"/>
                <a:ea typeface="Calibri" pitchFamily="34"/>
              </a:rPr>
              <a:t>9</a:t>
            </a:r>
            <a:r>
              <a:rPr lang="en-GB" sz="1400" b="0" i="1" u="none" strike="noStrike" kern="1200" cap="none" spc="0" baseline="30000">
                <a:solidFill>
                  <a:srgbClr val="000000"/>
                </a:solidFill>
                <a:uFillTx/>
                <a:latin typeface="Calibri" pitchFamily="34"/>
                <a:ea typeface="Calibri" pitchFamily="34"/>
              </a:rPr>
              <a:t>th</a:t>
            </a:r>
            <a:r>
              <a:rPr lang="en-GB" sz="1400" b="0" i="1" u="none" strike="noStrike" kern="1200" cap="none" spc="0" baseline="0">
                <a:solidFill>
                  <a:srgbClr val="000000"/>
                </a:solidFill>
                <a:uFillTx/>
                <a:latin typeface="Calibri" pitchFamily="34"/>
                <a:ea typeface="Calibri" pitchFamily="34"/>
              </a:rPr>
              <a:t> of December, </a:t>
            </a:r>
            <a:r>
              <a:rPr lang="en-GB" sz="1400" b="0" i="0" u="none" strike="noStrike" kern="1200" cap="none" spc="0" baseline="0">
                <a:solidFill>
                  <a:srgbClr val="000000"/>
                </a:solidFill>
                <a:uFillTx/>
                <a:latin typeface="Calibri" pitchFamily="34"/>
                <a:ea typeface="Calibri" pitchFamily="34"/>
              </a:rPr>
              <a:t>and reflects the end state Volume 3 CDS Tariff, therefore these changes are not necessarily live in CDS at the time of issue. Similar guidance to support the Inventory Tariff will follow. </a:t>
            </a:r>
          </a:p>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pitchFamily="34"/>
              <a:ea typeface="Calibri" pitchFamily="34"/>
            </a:endParaRPr>
          </a:p>
        </p:txBody>
      </p:sp>
      <p:sp>
        <p:nvSpPr>
          <p:cNvPr id="14" name="Oval 24">
            <a:hlinkClick r:id="rId11" action="ppaction://hlinksldjump"/>
            <a:extLst>
              <a:ext uri="{FF2B5EF4-FFF2-40B4-BE49-F238E27FC236}">
                <a16:creationId xmlns:a16="http://schemas.microsoft.com/office/drawing/2014/main" id="{F06A8CF3-E109-468A-9FAC-0B0569BB8FA6}"/>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5" name="Oval 36">
            <a:hlinkClick r:id="rId11" action="ppaction://hlinksldjump"/>
            <a:extLst>
              <a:ext uri="{FF2B5EF4-FFF2-40B4-BE49-F238E27FC236}">
                <a16:creationId xmlns:a16="http://schemas.microsoft.com/office/drawing/2014/main" id="{15B0D81A-6794-4617-A486-2EB2B7035E90}"/>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Oval 37">
            <a:hlinkClick r:id="rId12" action="ppaction://hlinksldjump"/>
            <a:extLst>
              <a:ext uri="{FF2B5EF4-FFF2-40B4-BE49-F238E27FC236}">
                <a16:creationId xmlns:a16="http://schemas.microsoft.com/office/drawing/2014/main" id="{EF4F3A70-C7AA-47AD-8609-A6BABC2C7A2D}"/>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7" name="Oval 38">
            <a:hlinkClick r:id="rId13" action="ppaction://hlinksldjump"/>
            <a:extLst>
              <a:ext uri="{FF2B5EF4-FFF2-40B4-BE49-F238E27FC236}">
                <a16:creationId xmlns:a16="http://schemas.microsoft.com/office/drawing/2014/main" id="{B72EF7B9-144A-4F0F-BD15-576CFE1AA7EE}"/>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39">
            <a:hlinkClick r:id="rId11" action="ppaction://hlinksldjump"/>
            <a:extLst>
              <a:ext uri="{FF2B5EF4-FFF2-40B4-BE49-F238E27FC236}">
                <a16:creationId xmlns:a16="http://schemas.microsoft.com/office/drawing/2014/main" id="{EE5D5538-C469-4578-8BA6-F85632626FF5}"/>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9" name="TextBox 40">
            <a:hlinkClick r:id="rId11" action="ppaction://hlinksldjump"/>
            <a:extLst>
              <a:ext uri="{FF2B5EF4-FFF2-40B4-BE49-F238E27FC236}">
                <a16:creationId xmlns:a16="http://schemas.microsoft.com/office/drawing/2014/main" id="{677D8537-8954-4236-B90C-E90B5CA5C40D}"/>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20" name="TextBox 41">
            <a:hlinkClick r:id="rId12" action="ppaction://hlinksldjump"/>
            <a:extLst>
              <a:ext uri="{FF2B5EF4-FFF2-40B4-BE49-F238E27FC236}">
                <a16:creationId xmlns:a16="http://schemas.microsoft.com/office/drawing/2014/main" id="{6F990548-51CC-4743-9270-71522E91C7B2}"/>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21" name="TextBox 42">
            <a:hlinkClick r:id="rId12" action="ppaction://hlinksldjump"/>
            <a:extLst>
              <a:ext uri="{FF2B5EF4-FFF2-40B4-BE49-F238E27FC236}">
                <a16:creationId xmlns:a16="http://schemas.microsoft.com/office/drawing/2014/main" id="{0E7E1702-C987-490F-9225-A0A79B4E1016}"/>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22" name="Oval 43">
            <a:extLst>
              <a:ext uri="{FF2B5EF4-FFF2-40B4-BE49-F238E27FC236}">
                <a16:creationId xmlns:a16="http://schemas.microsoft.com/office/drawing/2014/main" id="{52554F44-8254-49E6-86EC-E91EA79C33E4}"/>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23" name="TextBox 44">
            <a:hlinkClick r:id="rId14" action="ppaction://hlinksldjump"/>
            <a:extLst>
              <a:ext uri="{FF2B5EF4-FFF2-40B4-BE49-F238E27FC236}">
                <a16:creationId xmlns:a16="http://schemas.microsoft.com/office/drawing/2014/main" id="{BA61CD25-E1AC-4363-ADDC-BB27A167E74C}"/>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4" name="Picture 40">
            <a:hlinkClick r:id="rId11" action="ppaction://hlinksldjump"/>
            <a:extLst>
              <a:ext uri="{FF2B5EF4-FFF2-40B4-BE49-F238E27FC236}">
                <a16:creationId xmlns:a16="http://schemas.microsoft.com/office/drawing/2014/main" id="{D4F975E6-0FA1-41F2-92F0-C7824D4307E1}"/>
              </a:ext>
            </a:extLst>
          </p:cNvPr>
          <p:cNvPicPr>
            <a:picLocks noChangeAspect="1"/>
          </p:cNvPicPr>
          <p:nvPr/>
        </p:nvPicPr>
        <p:blipFill>
          <a:blip r:embed="rId15">
            <a:alphaModFix amt="35000"/>
          </a:blip>
          <a:srcRect l="20606" t="21077" r="21527" b="31021"/>
          <a:stretch>
            <a:fillRect/>
          </a:stretch>
        </p:blipFill>
        <p:spPr>
          <a:xfrm>
            <a:off x="10082201" y="272070"/>
            <a:ext cx="256918" cy="210595"/>
          </a:xfrm>
          <a:prstGeom prst="rect">
            <a:avLst/>
          </a:prstGeom>
          <a:noFill/>
          <a:ln cap="flat">
            <a:noFill/>
          </a:ln>
        </p:spPr>
      </p:pic>
      <p:sp>
        <p:nvSpPr>
          <p:cNvPr id="25" name="Oval 46">
            <a:hlinkClick r:id="rId11" action="ppaction://hlinksldjump"/>
            <a:extLst>
              <a:ext uri="{FF2B5EF4-FFF2-40B4-BE49-F238E27FC236}">
                <a16:creationId xmlns:a16="http://schemas.microsoft.com/office/drawing/2014/main" id="{6228484A-9019-4BEE-AB0A-30CABE545D42}"/>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name="Slide4390">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9F92EB63-0F2C-4887-8823-8450CD700B54}"/>
              </a:ext>
            </a:extLst>
          </p:cNvPr>
          <p:cNvSpPr/>
          <p:nvPr/>
        </p:nvSpPr>
        <p:spPr>
          <a:xfrm>
            <a:off x="363967" y="608953"/>
            <a:ext cx="5496558"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EU Exit Technical Specifications</a:t>
            </a:r>
          </a:p>
        </p:txBody>
      </p:sp>
      <p:cxnSp>
        <p:nvCxnSpPr>
          <p:cNvPr id="3" name="Straight Connector 5">
            <a:extLst>
              <a:ext uri="{FF2B5EF4-FFF2-40B4-BE49-F238E27FC236}">
                <a16:creationId xmlns:a16="http://schemas.microsoft.com/office/drawing/2014/main" id="{C5D20383-7565-42C2-8E24-381BC0C4EF9D}"/>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6">
            <a:extLst>
              <a:ext uri="{FF2B5EF4-FFF2-40B4-BE49-F238E27FC236}">
                <a16:creationId xmlns:a16="http://schemas.microsoft.com/office/drawing/2014/main" id="{9DEC198A-F2FD-4F5B-B872-0DEA7E1084E9}"/>
              </a:ext>
            </a:extLst>
          </p:cNvPr>
          <p:cNvSpPr txBox="1"/>
          <p:nvPr/>
        </p:nvSpPr>
        <p:spPr>
          <a:xfrm>
            <a:off x="363967" y="248844"/>
            <a:ext cx="100540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APPENDIX</a:t>
            </a:r>
          </a:p>
        </p:txBody>
      </p:sp>
      <p:sp>
        <p:nvSpPr>
          <p:cNvPr id="6" name="Slide Number Placeholder 5">
            <a:extLst>
              <a:ext uri="{FF2B5EF4-FFF2-40B4-BE49-F238E27FC236}">
                <a16:creationId xmlns:a16="http://schemas.microsoft.com/office/drawing/2014/main" id="{8F011385-AA16-4DB7-A0E0-4B3BF24E4AC1}"/>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6277B7A9-468E-4C34-93DF-092DC66FC924}" type="slidenum">
              <a:rPr sz="1200"/>
              <a:t>450</a:t>
            </a:fld>
            <a:endParaRPr lang="en-GB" sz="1200" b="0" i="0" u="none" strike="noStrike" kern="1200" cap="none" spc="0" baseline="0">
              <a:solidFill>
                <a:srgbClr val="000000"/>
              </a:solidFill>
              <a:uFillTx/>
              <a:latin typeface="Calibri"/>
            </a:endParaRPr>
          </a:p>
        </p:txBody>
      </p:sp>
      <p:sp>
        <p:nvSpPr>
          <p:cNvPr id="7" name="Oval 28">
            <a:hlinkClick r:id="rId2" action="ppaction://hlinksldjump"/>
            <a:extLst>
              <a:ext uri="{FF2B5EF4-FFF2-40B4-BE49-F238E27FC236}">
                <a16:creationId xmlns:a16="http://schemas.microsoft.com/office/drawing/2014/main" id="{B53C70ED-2ABE-42BD-AB43-266063F9DBB5}"/>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8" name="Oval 29">
            <a:hlinkClick r:id="rId2" action="ppaction://hlinksldjump"/>
            <a:extLst>
              <a:ext uri="{FF2B5EF4-FFF2-40B4-BE49-F238E27FC236}">
                <a16:creationId xmlns:a16="http://schemas.microsoft.com/office/drawing/2014/main" id="{F0922BDB-3293-4C82-8C65-286B75A97A27}"/>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9" name="Oval 30">
            <a:hlinkClick r:id="rId3" action="ppaction://hlinksldjump"/>
            <a:extLst>
              <a:ext uri="{FF2B5EF4-FFF2-40B4-BE49-F238E27FC236}">
                <a16:creationId xmlns:a16="http://schemas.microsoft.com/office/drawing/2014/main" id="{5B935896-733B-4DAA-8416-A6BF8128CDD0}"/>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0" name="Oval 31">
            <a:hlinkClick r:id="rId4" action="ppaction://hlinksldjump"/>
            <a:extLst>
              <a:ext uri="{FF2B5EF4-FFF2-40B4-BE49-F238E27FC236}">
                <a16:creationId xmlns:a16="http://schemas.microsoft.com/office/drawing/2014/main" id="{907783F4-28B4-4E05-9577-C72FE1D4EA99}"/>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TextBox 32">
            <a:hlinkClick r:id="rId2" action="ppaction://hlinksldjump"/>
            <a:extLst>
              <a:ext uri="{FF2B5EF4-FFF2-40B4-BE49-F238E27FC236}">
                <a16:creationId xmlns:a16="http://schemas.microsoft.com/office/drawing/2014/main" id="{81F64125-AC12-4B84-B52C-9638AED81E64}"/>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2" name="TextBox 33">
            <a:hlinkClick r:id="rId2" action="ppaction://hlinksldjump"/>
            <a:extLst>
              <a:ext uri="{FF2B5EF4-FFF2-40B4-BE49-F238E27FC236}">
                <a16:creationId xmlns:a16="http://schemas.microsoft.com/office/drawing/2014/main" id="{940AFFC0-7EFA-44F2-8DD8-F190D852F310}"/>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3" name="TextBox 34">
            <a:hlinkClick r:id="rId3" action="ppaction://hlinksldjump"/>
            <a:extLst>
              <a:ext uri="{FF2B5EF4-FFF2-40B4-BE49-F238E27FC236}">
                <a16:creationId xmlns:a16="http://schemas.microsoft.com/office/drawing/2014/main" id="{098BAF7A-2281-44F7-9ABD-E4F9F2DFB9A8}"/>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4" name="TextBox 35">
            <a:hlinkClick r:id="rId3" action="ppaction://hlinksldjump"/>
            <a:extLst>
              <a:ext uri="{FF2B5EF4-FFF2-40B4-BE49-F238E27FC236}">
                <a16:creationId xmlns:a16="http://schemas.microsoft.com/office/drawing/2014/main" id="{EA714E51-C34A-44A2-8FCC-59290E6DDA16}"/>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5" name="Oval 36">
            <a:extLst>
              <a:ext uri="{FF2B5EF4-FFF2-40B4-BE49-F238E27FC236}">
                <a16:creationId xmlns:a16="http://schemas.microsoft.com/office/drawing/2014/main" id="{2E2A1F01-BB7C-44E9-A368-796E886AB04E}"/>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6" name="TextBox 37">
            <a:hlinkClick r:id="rId5" action="ppaction://hlinksldjump"/>
            <a:extLst>
              <a:ext uri="{FF2B5EF4-FFF2-40B4-BE49-F238E27FC236}">
                <a16:creationId xmlns:a16="http://schemas.microsoft.com/office/drawing/2014/main" id="{6B9ED9BB-2038-478F-8649-B468FF1453C6}"/>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7" name="Picture 40">
            <a:hlinkClick r:id="rId2" action="ppaction://hlinksldjump"/>
            <a:extLst>
              <a:ext uri="{FF2B5EF4-FFF2-40B4-BE49-F238E27FC236}">
                <a16:creationId xmlns:a16="http://schemas.microsoft.com/office/drawing/2014/main" id="{D75A3DC9-F1CB-4BD1-8F52-3568030E86CF}"/>
              </a:ext>
            </a:extLst>
          </p:cNvPr>
          <p:cNvPicPr>
            <a:picLocks noChangeAspect="1"/>
          </p:cNvPicPr>
          <p:nvPr/>
        </p:nvPicPr>
        <p:blipFill>
          <a:blip r:embed="rId6">
            <a:alphaModFix amt="35000"/>
          </a:blip>
          <a:srcRect l="20606" t="21077" r="21527" b="31021"/>
          <a:stretch>
            <a:fillRect/>
          </a:stretch>
        </p:blipFill>
        <p:spPr>
          <a:xfrm>
            <a:off x="10082201" y="272070"/>
            <a:ext cx="256918" cy="210595"/>
          </a:xfrm>
          <a:prstGeom prst="rect">
            <a:avLst/>
          </a:prstGeom>
          <a:noFill/>
          <a:ln cap="flat">
            <a:noFill/>
          </a:ln>
        </p:spPr>
      </p:pic>
      <p:sp>
        <p:nvSpPr>
          <p:cNvPr id="18" name="Oval 39">
            <a:hlinkClick r:id="rId2" action="ppaction://hlinksldjump"/>
            <a:extLst>
              <a:ext uri="{FF2B5EF4-FFF2-40B4-BE49-F238E27FC236}">
                <a16:creationId xmlns:a16="http://schemas.microsoft.com/office/drawing/2014/main" id="{A2068C3F-2A98-4004-A455-8ECE99BE67F2}"/>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Rectangle 5">
            <a:extLst>
              <a:ext uri="{FF2B5EF4-FFF2-40B4-BE49-F238E27FC236}">
                <a16:creationId xmlns:a16="http://schemas.microsoft.com/office/drawing/2014/main" id="{68376AF3-AA4D-4B1F-8ED6-E79B19E0861F}"/>
              </a:ext>
            </a:extLst>
          </p:cNvPr>
          <p:cNvSpPr/>
          <p:nvPr/>
        </p:nvSpPr>
        <p:spPr>
          <a:xfrm>
            <a:off x="363967" y="1070625"/>
            <a:ext cx="11364483" cy="992581"/>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r>
              <a:rPr lang="en-GB" sz="1400" b="0" i="0" u="none" strike="noStrike" kern="1200" cap="none" spc="0" baseline="0">
                <a:solidFill>
                  <a:srgbClr val="000000"/>
                </a:solidFill>
                <a:uFillTx/>
                <a:latin typeface="Calibri"/>
              </a:rPr>
              <a:t>The EU Exit Technical Specifications provides a </a:t>
            </a:r>
            <a:r>
              <a:rPr lang="en-GB" sz="1400" b="1" i="0" u="none" strike="noStrike" kern="1200" cap="none" spc="0" baseline="0">
                <a:solidFill>
                  <a:srgbClr val="000000"/>
                </a:solidFill>
                <a:uFillTx/>
                <a:latin typeface="Calibri"/>
              </a:rPr>
              <a:t>detailed</a:t>
            </a:r>
            <a:r>
              <a:rPr lang="en-GB" sz="1400" b="0" i="0" u="none" strike="noStrike" kern="1200" cap="none" spc="0" baseline="0">
                <a:solidFill>
                  <a:srgbClr val="000000"/>
                </a:solidFill>
                <a:uFillTx/>
                <a:latin typeface="Calibri"/>
              </a:rPr>
              <a:t> </a:t>
            </a:r>
            <a:r>
              <a:rPr lang="en-GB" sz="1400" b="1" i="0" u="none" strike="noStrike" kern="1200" cap="none" spc="0" baseline="0">
                <a:solidFill>
                  <a:srgbClr val="000000"/>
                </a:solidFill>
                <a:uFillTx/>
                <a:latin typeface="Calibri"/>
              </a:rPr>
              <a:t>overview of the technical changes being made on the CDS system </a:t>
            </a:r>
            <a:r>
              <a:rPr lang="en-GB" sz="1400" b="0" i="0" u="none" strike="noStrike" kern="1200" cap="none" spc="0" baseline="0">
                <a:solidFill>
                  <a:srgbClr val="000000"/>
                </a:solidFill>
                <a:uFillTx/>
                <a:latin typeface="Calibri"/>
              </a:rPr>
              <a:t>for the external developer community. This document is limited to the CDS elements of these processes and does not provide technical specifications for GVMS. This document should be referenced for further information on detailed requirements and testing samples for EU Exit functionality on CDS.</a:t>
            </a:r>
          </a:p>
          <a:p>
            <a:pPr marL="0" marR="0" lvl="0" indent="0" algn="l" defTabSz="914400" rtl="0" fontAlgn="auto" hangingPunct="1">
              <a:lnSpc>
                <a:spcPct val="100000"/>
              </a:lnSpc>
              <a:spcBef>
                <a:spcPts val="300"/>
              </a:spcBef>
              <a:spcAft>
                <a:spcPts val="0"/>
              </a:spcAft>
              <a:buNone/>
              <a:tabLst/>
              <a:defRPr sz="1800" b="0" i="0" u="none" strike="noStrike" kern="0" cap="none" spc="0" baseline="0">
                <a:solidFill>
                  <a:srgbClr val="000000"/>
                </a:solidFill>
                <a:uFillTx/>
              </a:defRPr>
            </a:pPr>
            <a:endParaRPr lang="en-GB" sz="1400" b="0" i="0" u="none" strike="noStrike" kern="1200" cap="none" spc="0" baseline="0">
              <a:solidFill>
                <a:srgbClr val="000000"/>
              </a:solidFill>
              <a:uFillTx/>
              <a:latin typeface="Calibri"/>
              <a:ea typeface="Calibri" pitchFamily="34"/>
              <a:cs typeface="Calibri"/>
            </a:endParaRPr>
          </a:p>
        </p:txBody>
      </p:sp>
      <p:pic>
        <p:nvPicPr>
          <p:cNvPr id="20" name="Picture 6">
            <a:extLst>
              <a:ext uri="{FF2B5EF4-FFF2-40B4-BE49-F238E27FC236}">
                <a16:creationId xmlns:a16="http://schemas.microsoft.com/office/drawing/2014/main" id="{C17AB823-A713-451E-9B2F-969F0CA1E1C2}"/>
              </a:ext>
            </a:extLst>
          </p:cNvPr>
          <p:cNvPicPr>
            <a:picLocks noChangeAspect="1"/>
          </p:cNvPicPr>
          <p:nvPr/>
        </p:nvPicPr>
        <p:blipFill>
          <a:blip r:embed="rId7"/>
          <a:stretch>
            <a:fillRect/>
          </a:stretch>
        </p:blipFill>
        <p:spPr>
          <a:xfrm>
            <a:off x="2701064" y="2114714"/>
            <a:ext cx="6789868" cy="3787956"/>
          </a:xfrm>
          <a:prstGeom prst="rect">
            <a:avLst/>
          </a:prstGeom>
          <a:noFill/>
          <a:ln w="9528" cap="flat">
            <a:solidFill>
              <a:srgbClr val="D9D9D9"/>
            </a:solidFill>
            <a:prstDash val="solid"/>
            <a:miter/>
          </a:ln>
        </p:spPr>
      </p:pic>
      <p:graphicFrame>
        <p:nvGraphicFramePr>
          <p:cNvPr id="21" name="Object 1">
            <a:hlinkClick r:id="" action="ppaction://ole?verb=0"/>
            <a:extLst>
              <a:ext uri="{FF2B5EF4-FFF2-40B4-BE49-F238E27FC236}">
                <a16:creationId xmlns:a16="http://schemas.microsoft.com/office/drawing/2014/main" id="{5E8AE224-49DC-4303-90AE-6BAC3EFD8072}"/>
              </a:ext>
            </a:extLst>
          </p:cNvPr>
          <p:cNvGraphicFramePr/>
          <p:nvPr/>
        </p:nvGraphicFramePr>
        <p:xfrm>
          <a:off x="409468" y="1937924"/>
          <a:ext cx="914400" cy="781053"/>
        </p:xfrm>
        <a:graphic>
          <a:graphicData uri="http://schemas.openxmlformats.org/presentationml/2006/ole">
            <mc:AlternateContent xmlns:mc="http://schemas.openxmlformats.org/markup-compatibility/2006">
              <mc:Choice xmlns:v="urn:schemas-microsoft-com:vml" Requires="v">
                <p:oleObj name="Presentation" r:id="rId8" imgW="1828800" imgH="1562100" progId="">
                  <p:embed/>
                </p:oleObj>
              </mc:Choice>
              <mc:Fallback>
                <p:oleObj name="Presentation" r:id="rId8" imgW="1828800" imgH="1562100" progId="">
                  <p:embed/>
                  <p:pic>
                    <p:nvPicPr>
                      <p:cNvPr id="21" name="Object 1">
                        <a:hlinkClick r:id="" action="ppaction://ole?verb=0"/>
                        <a:extLst>
                          <a:ext uri="{FF2B5EF4-FFF2-40B4-BE49-F238E27FC236}">
                            <a16:creationId xmlns:a16="http://schemas.microsoft.com/office/drawing/2014/main" id="{5E8AE224-49DC-4303-90AE-6BAC3EFD8072}"/>
                          </a:ext>
                        </a:extLst>
                      </p:cNvPr>
                      <p:cNvPicPr/>
                      <p:nvPr/>
                    </p:nvPicPr>
                    <p:blipFill>
                      <a:blip r:embed="rId9"/>
                      <a:stretch>
                        <a:fillRect/>
                      </a:stretch>
                    </p:blipFill>
                    <p:spPr>
                      <a:xfrm>
                        <a:off x="409468" y="1937924"/>
                        <a:ext cx="914400" cy="781053"/>
                      </a:xfrm>
                      <a:prstGeom prst="rect">
                        <a:avLst/>
                      </a:prstGeom>
                      <a:noFill/>
                      <a:ln cap="flat">
                        <a:noFill/>
                      </a:ln>
                    </p:spPr>
                  </p:pic>
                </p:oleObj>
              </mc:Fallback>
            </mc:AlternateContent>
          </a:graphicData>
        </a:graphic>
      </p:graphicFrame>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name="Slide838840293">
    <p:spTree>
      <p:nvGrpSpPr>
        <p:cNvPr id="1" name=""/>
        <p:cNvGrpSpPr/>
        <p:nvPr/>
      </p:nvGrpSpPr>
      <p:grpSpPr>
        <a:xfrm>
          <a:off x="0" y="0"/>
          <a:ext cx="0" cy="0"/>
          <a:chOff x="0" y="0"/>
          <a:chExt cx="0" cy="0"/>
        </a:xfrm>
      </p:grpSpPr>
      <p:graphicFrame>
        <p:nvGraphicFramePr>
          <p:cNvPr id="2" name="Table 4">
            <a:extLst>
              <a:ext uri="{FF2B5EF4-FFF2-40B4-BE49-F238E27FC236}">
                <a16:creationId xmlns:a16="http://schemas.microsoft.com/office/drawing/2014/main" id="{651414FE-B314-4AC6-8A2B-D67DBE5B6651}"/>
              </a:ext>
            </a:extLst>
          </p:cNvPr>
          <p:cNvGraphicFramePr>
            <a:graphicFrameLocks noGrp="1"/>
          </p:cNvGraphicFramePr>
          <p:nvPr/>
        </p:nvGraphicFramePr>
        <p:xfrm>
          <a:off x="1542784" y="1175305"/>
          <a:ext cx="2935506" cy="5311432"/>
        </p:xfrm>
        <a:graphic>
          <a:graphicData uri="http://schemas.openxmlformats.org/drawingml/2006/table">
            <a:tbl>
              <a:tblPr firstRow="1" firstCol="1" bandRow="1">
                <a:effectLst/>
                <a:tableStyleId>{F5AB1C69-6EDB-4FF4-983F-18BD219EF322}</a:tableStyleId>
              </a:tblPr>
              <a:tblGrid>
                <a:gridCol w="519744">
                  <a:extLst>
                    <a:ext uri="{9D8B030D-6E8A-4147-A177-3AD203B41FA5}">
                      <a16:colId xmlns:a16="http://schemas.microsoft.com/office/drawing/2014/main" val="155054209"/>
                    </a:ext>
                  </a:extLst>
                </a:gridCol>
                <a:gridCol w="2415762">
                  <a:extLst>
                    <a:ext uri="{9D8B030D-6E8A-4147-A177-3AD203B41FA5}">
                      <a16:colId xmlns:a16="http://schemas.microsoft.com/office/drawing/2014/main" val="3167882206"/>
                    </a:ext>
                  </a:extLst>
                </a:gridCol>
              </a:tblGrid>
              <a:tr h="191173">
                <a:tc>
                  <a:txBody>
                    <a:bodyPr/>
                    <a:lstStyle/>
                    <a:p>
                      <a:pPr lvl="0">
                        <a:lnSpc>
                          <a:spcPct val="107000"/>
                        </a:lnSpc>
                        <a:spcAft>
                          <a:spcPts val="800"/>
                        </a:spcAft>
                      </a:pPr>
                      <a:r>
                        <a:rPr lang="en-GB" sz="1100"/>
                        <a:t>ADD</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b="0">
                          <a:solidFill>
                            <a:srgbClr val="000000"/>
                          </a:solidFill>
                        </a:rPr>
                        <a:t>Anti-dumping Duty</a:t>
                      </a:r>
                      <a:endParaRPr lang="en-GB" sz="1100" b="0">
                        <a:solidFill>
                          <a:srgbClr val="000000"/>
                        </a:solidFill>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882358815"/>
                  </a:ext>
                </a:extLst>
              </a:tr>
              <a:tr h="191173">
                <a:tc>
                  <a:txBody>
                    <a:bodyPr/>
                    <a:lstStyle/>
                    <a:p>
                      <a:pPr lvl="0">
                        <a:lnSpc>
                          <a:spcPct val="107000"/>
                        </a:lnSpc>
                        <a:spcAft>
                          <a:spcPts val="800"/>
                        </a:spcAft>
                      </a:pPr>
                      <a:r>
                        <a:rPr lang="en-GB" sz="1100"/>
                        <a:t>AEO</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Authorised Economic Operator</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933268892"/>
                  </a:ext>
                </a:extLst>
              </a:tr>
              <a:tr h="191173">
                <a:tc>
                  <a:txBody>
                    <a:bodyPr/>
                    <a:lstStyle/>
                    <a:p>
                      <a:pPr lvl="0">
                        <a:lnSpc>
                          <a:spcPct val="107000"/>
                        </a:lnSpc>
                        <a:spcAft>
                          <a:spcPts val="800"/>
                        </a:spcAft>
                      </a:pPr>
                      <a:r>
                        <a:rPr lang="en-GB" sz="1100"/>
                        <a:t>APC</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Additional Procedure Codes</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55142149"/>
                  </a:ext>
                </a:extLst>
              </a:tr>
              <a:tr h="93433">
                <a:tc>
                  <a:txBody>
                    <a:bodyPr/>
                    <a:lstStyle/>
                    <a:p>
                      <a:pPr lvl="0">
                        <a:lnSpc>
                          <a:spcPct val="107000"/>
                        </a:lnSpc>
                        <a:spcAft>
                          <a:spcPts val="800"/>
                        </a:spcAft>
                      </a:pPr>
                      <a:r>
                        <a:rPr lang="en-GB" sz="1100"/>
                        <a:t>API</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Application Programme Interface</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553275012"/>
                  </a:ext>
                </a:extLst>
              </a:tr>
              <a:tr h="93433">
                <a:tc>
                  <a:txBody>
                    <a:bodyPr/>
                    <a:lstStyle/>
                    <a:p>
                      <a:pPr lvl="0">
                        <a:lnSpc>
                          <a:spcPct val="107000"/>
                        </a:lnSpc>
                        <a:spcAft>
                          <a:spcPts val="800"/>
                        </a:spcAft>
                      </a:pPr>
                      <a:r>
                        <a:rPr lang="en-GB" sz="1100"/>
                        <a:t>BTI</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tcPr>
                </a:tc>
                <a:tc>
                  <a:txBody>
                    <a:bodyPr/>
                    <a:lstStyle/>
                    <a:p>
                      <a:pPr lvl="0">
                        <a:lnSpc>
                          <a:spcPct val="107000"/>
                        </a:lnSpc>
                        <a:spcAft>
                          <a:spcPts val="800"/>
                        </a:spcAft>
                      </a:pPr>
                      <a:r>
                        <a:rPr lang="en-GB" sz="1100"/>
                        <a:t>Binding Tariff Information</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1013500262"/>
                  </a:ext>
                </a:extLst>
              </a:tr>
              <a:tr h="191173">
                <a:tc>
                  <a:txBody>
                    <a:bodyPr/>
                    <a:lstStyle/>
                    <a:p>
                      <a:pPr lvl="0">
                        <a:lnSpc>
                          <a:spcPct val="107000"/>
                        </a:lnSpc>
                        <a:spcAft>
                          <a:spcPts val="800"/>
                        </a:spcAft>
                      </a:pPr>
                      <a:r>
                        <a:rPr lang="en-GB" sz="1100"/>
                        <a:t>CAP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Common Agricultural Policy</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568063673"/>
                  </a:ext>
                </a:extLst>
              </a:tr>
              <a:tr h="191173">
                <a:tc>
                  <a:txBody>
                    <a:bodyPr/>
                    <a:lstStyle/>
                    <a:p>
                      <a:pPr lvl="0">
                        <a:lnSpc>
                          <a:spcPct val="107000"/>
                        </a:lnSpc>
                        <a:spcAft>
                          <a:spcPts val="800"/>
                        </a:spcAft>
                      </a:pPr>
                      <a:r>
                        <a:rPr lang="en-GB" sz="1100"/>
                        <a:t>CCG</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Comprehensive Customs Guarantee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167162894"/>
                  </a:ext>
                </a:extLst>
              </a:tr>
              <a:tr h="191173">
                <a:tc>
                  <a:txBody>
                    <a:bodyPr/>
                    <a:lstStyle/>
                    <a:p>
                      <a:pPr lvl="0">
                        <a:lnSpc>
                          <a:spcPct val="107000"/>
                        </a:lnSpc>
                        <a:spcAft>
                          <a:spcPts val="800"/>
                        </a:spcAft>
                      </a:pPr>
                      <a:r>
                        <a:rPr lang="en-GB" sz="1100"/>
                        <a:t>CDS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Customs Declaration Service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299935162"/>
                  </a:ext>
                </a:extLst>
              </a:tr>
              <a:tr h="288922">
                <a:tc>
                  <a:txBody>
                    <a:bodyPr/>
                    <a:lstStyle/>
                    <a:p>
                      <a:pPr lvl="0">
                        <a:lnSpc>
                          <a:spcPct val="107000"/>
                        </a:lnSpc>
                        <a:spcAft>
                          <a:spcPts val="800"/>
                        </a:spcAft>
                      </a:pPr>
                      <a:r>
                        <a:rPr lang="en-GB" sz="1100"/>
                        <a:t>CECAS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Customs and Excise Core Accounting System</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485208843"/>
                  </a:ext>
                </a:extLst>
              </a:tr>
              <a:tr h="191173">
                <a:tc>
                  <a:txBody>
                    <a:bodyPr/>
                    <a:lstStyle/>
                    <a:p>
                      <a:pPr lvl="0">
                        <a:lnSpc>
                          <a:spcPct val="107000"/>
                        </a:lnSpc>
                        <a:spcAft>
                          <a:spcPts val="800"/>
                        </a:spcAft>
                      </a:pPr>
                      <a:r>
                        <a:rPr lang="en-GB" sz="1100"/>
                        <a:t>CHIEF</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Customs Handling of Import and Export Freight</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041104183"/>
                  </a:ext>
                </a:extLst>
              </a:tr>
              <a:tr h="93433">
                <a:tc>
                  <a:txBody>
                    <a:bodyPr/>
                    <a:lstStyle/>
                    <a:p>
                      <a:pPr lvl="0">
                        <a:lnSpc>
                          <a:spcPct val="107000"/>
                        </a:lnSpc>
                        <a:spcAft>
                          <a:spcPts val="800"/>
                        </a:spcAft>
                      </a:pPr>
                      <a:r>
                        <a:rPr lang="en-GB" sz="1100"/>
                        <a:t>CIF</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Cost Insurance and Freight</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37019284"/>
                  </a:ext>
                </a:extLst>
              </a:tr>
              <a:tr h="191173">
                <a:tc>
                  <a:txBody>
                    <a:bodyPr/>
                    <a:lstStyle/>
                    <a:p>
                      <a:pPr lvl="0">
                        <a:lnSpc>
                          <a:spcPct val="107000"/>
                        </a:lnSpc>
                        <a:spcAft>
                          <a:spcPts val="800"/>
                        </a:spcAft>
                      </a:pPr>
                      <a:r>
                        <a:rPr lang="en-GB" sz="1100"/>
                        <a:t>CPC</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Customs Procedure Code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15509814"/>
                  </a:ext>
                </a:extLst>
              </a:tr>
              <a:tr h="191173">
                <a:tc>
                  <a:txBody>
                    <a:bodyPr/>
                    <a:lstStyle/>
                    <a:p>
                      <a:pPr lvl="0">
                        <a:lnSpc>
                          <a:spcPct val="107000"/>
                        </a:lnSpc>
                        <a:spcAft>
                          <a:spcPts val="800"/>
                        </a:spcAft>
                      </a:pPr>
                      <a:r>
                        <a:rPr lang="en-GB" sz="1100"/>
                        <a:t>CSDR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Community Systems of Duty Relief</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549684110"/>
                  </a:ext>
                </a:extLst>
              </a:tr>
              <a:tr h="191173">
                <a:tc>
                  <a:txBody>
                    <a:bodyPr/>
                    <a:lstStyle/>
                    <a:p>
                      <a:pPr lvl="0">
                        <a:lnSpc>
                          <a:spcPct val="107000"/>
                        </a:lnSpc>
                        <a:spcAft>
                          <a:spcPts val="800"/>
                        </a:spcAft>
                      </a:pPr>
                      <a:r>
                        <a:rPr lang="en-GB" sz="1100"/>
                        <a:t>CSP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Community System Provider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35676194"/>
                  </a:ext>
                </a:extLst>
              </a:tr>
              <a:tr h="191173">
                <a:tc>
                  <a:txBody>
                    <a:bodyPr/>
                    <a:lstStyle/>
                    <a:p>
                      <a:pPr lvl="0">
                        <a:lnSpc>
                          <a:spcPct val="107000"/>
                        </a:lnSpc>
                        <a:spcAft>
                          <a:spcPts val="800"/>
                        </a:spcAft>
                      </a:pPr>
                      <a:r>
                        <a:rPr lang="en-GB" sz="1100"/>
                        <a:t>CUS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Customer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743414415"/>
                  </a:ext>
                </a:extLst>
              </a:tr>
              <a:tr h="93433">
                <a:tc>
                  <a:txBody>
                    <a:bodyPr/>
                    <a:lstStyle/>
                    <a:p>
                      <a:pPr lvl="0">
                        <a:lnSpc>
                          <a:spcPct val="107000"/>
                        </a:lnSpc>
                        <a:spcAft>
                          <a:spcPts val="800"/>
                        </a:spcAft>
                      </a:pPr>
                      <a:r>
                        <a:rPr lang="en-GB" sz="1100"/>
                        <a:t>CW</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Customs Warehouse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723712324"/>
                  </a:ext>
                </a:extLst>
              </a:tr>
              <a:tr h="191173">
                <a:tc>
                  <a:txBody>
                    <a:bodyPr/>
                    <a:lstStyle/>
                    <a:p>
                      <a:pPr lvl="0">
                        <a:lnSpc>
                          <a:spcPct val="107000"/>
                        </a:lnSpc>
                        <a:spcAft>
                          <a:spcPts val="800"/>
                        </a:spcAft>
                      </a:pPr>
                      <a:r>
                        <a:rPr lang="en-GB" sz="1100"/>
                        <a:t>DAN</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Deferment Account Number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257465514"/>
                  </a:ext>
                </a:extLst>
              </a:tr>
              <a:tr h="93433">
                <a:tc>
                  <a:txBody>
                    <a:bodyPr/>
                    <a:lstStyle/>
                    <a:p>
                      <a:pPr lvl="0">
                        <a:lnSpc>
                          <a:spcPct val="107000"/>
                        </a:lnSpc>
                        <a:spcAft>
                          <a:spcPts val="800"/>
                        </a:spcAft>
                      </a:pPr>
                      <a:r>
                        <a:rPr lang="en-GB" sz="1100"/>
                        <a:t>DE</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Data Element</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428611990"/>
                  </a:ext>
                </a:extLst>
              </a:tr>
              <a:tr h="93433">
                <a:tc>
                  <a:txBody>
                    <a:bodyPr/>
                    <a:lstStyle/>
                    <a:p>
                      <a:pPr lvl="0">
                        <a:lnSpc>
                          <a:spcPct val="107000"/>
                        </a:lnSpc>
                        <a:spcAft>
                          <a:spcPts val="800"/>
                        </a:spcAft>
                      </a:pPr>
                      <a:r>
                        <a:rPr lang="en-GB" sz="1100"/>
                        <a:t>DIT</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Department for International Trade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535158988"/>
                  </a:ext>
                </a:extLst>
              </a:tr>
              <a:tr h="191173">
                <a:tc>
                  <a:txBody>
                    <a:bodyPr/>
                    <a:lstStyle/>
                    <a:p>
                      <a:pPr lvl="0">
                        <a:lnSpc>
                          <a:spcPct val="107000"/>
                        </a:lnSpc>
                        <a:spcAft>
                          <a:spcPts val="800"/>
                        </a:spcAft>
                      </a:pPr>
                      <a:r>
                        <a:rPr lang="en-GB" sz="1100"/>
                        <a:t>DMS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Declaration Management Service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124945803"/>
                  </a:ext>
                </a:extLst>
              </a:tr>
              <a:tr h="191173">
                <a:tc>
                  <a:txBody>
                    <a:bodyPr/>
                    <a:lstStyle/>
                    <a:p>
                      <a:pPr lvl="0">
                        <a:lnSpc>
                          <a:spcPct val="107000"/>
                        </a:lnSpc>
                        <a:spcAft>
                          <a:spcPts val="800"/>
                        </a:spcAft>
                      </a:pPr>
                      <a:r>
                        <a:rPr lang="en-GB" sz="1100"/>
                        <a:t>EIDR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Entry in Declarant’s Record</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899366583"/>
                  </a:ext>
                </a:extLst>
              </a:tr>
              <a:tr h="191173">
                <a:tc>
                  <a:txBody>
                    <a:bodyPr/>
                    <a:lstStyle/>
                    <a:p>
                      <a:pPr lvl="0">
                        <a:lnSpc>
                          <a:spcPct val="107000"/>
                        </a:lnSpc>
                        <a:spcAft>
                          <a:spcPts val="800"/>
                        </a:spcAft>
                      </a:pPr>
                      <a:r>
                        <a:rPr lang="en-GB" sz="1100"/>
                        <a:t>ENS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Entry Summary Declaration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219254194"/>
                  </a:ext>
                </a:extLst>
              </a:tr>
              <a:tr h="191173">
                <a:tc>
                  <a:txBody>
                    <a:bodyPr/>
                    <a:lstStyle/>
                    <a:p>
                      <a:pPr lvl="0">
                        <a:lnSpc>
                          <a:spcPct val="107000"/>
                        </a:lnSpc>
                        <a:spcAft>
                          <a:spcPts val="800"/>
                        </a:spcAft>
                      </a:pPr>
                      <a:r>
                        <a:rPr lang="en-GB" sz="1100"/>
                        <a:t>EORI</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Economic Operator Registration and Identification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02639569"/>
                  </a:ext>
                </a:extLst>
              </a:tr>
              <a:tr h="191173">
                <a:tc>
                  <a:txBody>
                    <a:bodyPr/>
                    <a:lstStyle/>
                    <a:p>
                      <a:pPr lvl="0">
                        <a:lnSpc>
                          <a:spcPct val="107000"/>
                        </a:lnSpc>
                        <a:spcAft>
                          <a:spcPts val="800"/>
                        </a:spcAft>
                      </a:pPr>
                      <a:r>
                        <a:rPr lang="en-GB" sz="1100"/>
                        <a:t>ETMP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Enterprise Tax Management Platform</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781908961"/>
                  </a:ext>
                </a:extLst>
              </a:tr>
              <a:tr h="93433">
                <a:tc>
                  <a:txBody>
                    <a:bodyPr/>
                    <a:lstStyle/>
                    <a:p>
                      <a:pPr lvl="0">
                        <a:lnSpc>
                          <a:spcPct val="107000"/>
                        </a:lnSpc>
                        <a:spcAft>
                          <a:spcPts val="800"/>
                        </a:spcAft>
                      </a:pPr>
                      <a:r>
                        <a:rPr lang="en-GB" sz="1100"/>
                        <a:t>EU</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European Union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430922575"/>
                  </a:ext>
                </a:extLst>
              </a:tr>
              <a:tr h="191173">
                <a:tc>
                  <a:txBody>
                    <a:bodyPr/>
                    <a:lstStyle/>
                    <a:p>
                      <a:pPr lvl="0">
                        <a:lnSpc>
                          <a:spcPct val="107000"/>
                        </a:lnSpc>
                        <a:spcAft>
                          <a:spcPts val="800"/>
                        </a:spcAft>
                      </a:pPr>
                      <a:r>
                        <a:rPr lang="en-GB" sz="1100"/>
                        <a:t>EUR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dirty="0"/>
                        <a:t>Euro</a:t>
                      </a:r>
                      <a:endParaRPr lang="en-GB" sz="1100" dirty="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310985485"/>
                  </a:ext>
                </a:extLst>
              </a:tr>
            </a:tbl>
          </a:graphicData>
        </a:graphic>
      </p:graphicFrame>
      <p:sp>
        <p:nvSpPr>
          <p:cNvPr id="3" name="Rectangle 4">
            <a:extLst>
              <a:ext uri="{FF2B5EF4-FFF2-40B4-BE49-F238E27FC236}">
                <a16:creationId xmlns:a16="http://schemas.microsoft.com/office/drawing/2014/main" id="{437DDA97-24D4-4391-9E69-B34F12D3BCB1}"/>
              </a:ext>
            </a:extLst>
          </p:cNvPr>
          <p:cNvSpPr/>
          <p:nvPr/>
        </p:nvSpPr>
        <p:spPr>
          <a:xfrm>
            <a:off x="363967" y="608953"/>
            <a:ext cx="5496558"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Glossary of Terms</a:t>
            </a:r>
          </a:p>
        </p:txBody>
      </p:sp>
      <p:cxnSp>
        <p:nvCxnSpPr>
          <p:cNvPr id="4" name="Straight Connector 5">
            <a:extLst>
              <a:ext uri="{FF2B5EF4-FFF2-40B4-BE49-F238E27FC236}">
                <a16:creationId xmlns:a16="http://schemas.microsoft.com/office/drawing/2014/main" id="{716D5457-A755-48E2-AC61-CDA06029A107}"/>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5" name="TextBox 6">
            <a:extLst>
              <a:ext uri="{FF2B5EF4-FFF2-40B4-BE49-F238E27FC236}">
                <a16:creationId xmlns:a16="http://schemas.microsoft.com/office/drawing/2014/main" id="{60500642-A4DB-439F-8E0A-20E120290ED7}"/>
              </a:ext>
            </a:extLst>
          </p:cNvPr>
          <p:cNvSpPr txBox="1"/>
          <p:nvPr/>
        </p:nvSpPr>
        <p:spPr>
          <a:xfrm>
            <a:off x="363967" y="248844"/>
            <a:ext cx="100540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APPENDIX</a:t>
            </a:r>
          </a:p>
        </p:txBody>
      </p:sp>
      <p:graphicFrame>
        <p:nvGraphicFramePr>
          <p:cNvPr id="6" name="Table 8">
            <a:extLst>
              <a:ext uri="{FF2B5EF4-FFF2-40B4-BE49-F238E27FC236}">
                <a16:creationId xmlns:a16="http://schemas.microsoft.com/office/drawing/2014/main" id="{D0A723FD-5296-43F7-A6E8-07799FF7470E}"/>
              </a:ext>
            </a:extLst>
          </p:cNvPr>
          <p:cNvGraphicFramePr>
            <a:graphicFrameLocks noGrp="1"/>
          </p:cNvGraphicFramePr>
          <p:nvPr/>
        </p:nvGraphicFramePr>
        <p:xfrm>
          <a:off x="4628244" y="1174309"/>
          <a:ext cx="2935506" cy="5311503"/>
        </p:xfrm>
        <a:graphic>
          <a:graphicData uri="http://schemas.openxmlformats.org/drawingml/2006/table">
            <a:tbl>
              <a:tblPr firstRow="1" firstCol="1" bandRow="1">
                <a:effectLst/>
                <a:tableStyleId>{F5AB1C69-6EDB-4FF4-983F-18BD219EF322}</a:tableStyleId>
              </a:tblPr>
              <a:tblGrid>
                <a:gridCol w="519744">
                  <a:extLst>
                    <a:ext uri="{9D8B030D-6E8A-4147-A177-3AD203B41FA5}">
                      <a16:colId xmlns:a16="http://schemas.microsoft.com/office/drawing/2014/main" val="1884313414"/>
                    </a:ext>
                  </a:extLst>
                </a:gridCol>
                <a:gridCol w="2415762">
                  <a:extLst>
                    <a:ext uri="{9D8B030D-6E8A-4147-A177-3AD203B41FA5}">
                      <a16:colId xmlns:a16="http://schemas.microsoft.com/office/drawing/2014/main" val="179481911"/>
                    </a:ext>
                  </a:extLst>
                </a:gridCol>
              </a:tblGrid>
              <a:tr h="194017">
                <a:tc>
                  <a:txBody>
                    <a:bodyPr/>
                    <a:lstStyle/>
                    <a:p>
                      <a:pPr lvl="0">
                        <a:lnSpc>
                          <a:spcPct val="107000"/>
                        </a:lnSpc>
                        <a:spcAft>
                          <a:spcPts val="800"/>
                        </a:spcAft>
                      </a:pPr>
                      <a:r>
                        <a:rPr lang="en-GB" sz="1100"/>
                        <a:t>EUR</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b="0">
                          <a:solidFill>
                            <a:srgbClr val="000000"/>
                          </a:solidFill>
                        </a:rPr>
                        <a:t>Euro</a:t>
                      </a:r>
                      <a:endParaRPr lang="en-GB" sz="1100" b="0">
                        <a:solidFill>
                          <a:srgbClr val="000000"/>
                        </a:solidFill>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93687195"/>
                  </a:ext>
                </a:extLst>
              </a:tr>
              <a:tr h="174001">
                <a:tc>
                  <a:txBody>
                    <a:bodyPr/>
                    <a:lstStyle/>
                    <a:p>
                      <a:pPr lvl="0">
                        <a:lnSpc>
                          <a:spcPct val="107000"/>
                        </a:lnSpc>
                        <a:spcAft>
                          <a:spcPts val="800"/>
                        </a:spcAft>
                      </a:pPr>
                      <a:r>
                        <a:rPr lang="en-GB" sz="1100"/>
                        <a:t>EW</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Excise Warehousing</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287628968"/>
                  </a:ext>
                </a:extLst>
              </a:tr>
              <a:tr h="194017">
                <a:tc>
                  <a:txBody>
                    <a:bodyPr/>
                    <a:lstStyle/>
                    <a:p>
                      <a:pPr lvl="0">
                        <a:lnSpc>
                          <a:spcPct val="107000"/>
                        </a:lnSpc>
                        <a:spcAft>
                          <a:spcPts val="800"/>
                        </a:spcAft>
                      </a:pPr>
                      <a:r>
                        <a:rPr lang="en-GB" sz="1100"/>
                        <a:t>FAQ</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tcPr>
                </a:tc>
                <a:tc>
                  <a:txBody>
                    <a:bodyPr/>
                    <a:lstStyle/>
                    <a:p>
                      <a:pPr lvl="0">
                        <a:lnSpc>
                          <a:spcPct val="107000"/>
                        </a:lnSpc>
                        <a:spcAft>
                          <a:spcPts val="800"/>
                        </a:spcAft>
                      </a:pPr>
                      <a:r>
                        <a:rPr lang="en-GB" sz="1100"/>
                        <a:t>Frequently Asked Questions</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3842371606"/>
                  </a:ext>
                </a:extLst>
              </a:tr>
              <a:tr h="174001">
                <a:tc>
                  <a:txBody>
                    <a:bodyPr/>
                    <a:lstStyle/>
                    <a:p>
                      <a:pPr lvl="0">
                        <a:lnSpc>
                          <a:spcPct val="107000"/>
                        </a:lnSpc>
                        <a:spcAft>
                          <a:spcPts val="800"/>
                        </a:spcAft>
                      </a:pPr>
                      <a:r>
                        <a:rPr lang="en-GB" sz="1100"/>
                        <a:t>FEC</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Front End Credibility</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484036349"/>
                  </a:ext>
                </a:extLst>
              </a:tr>
              <a:tr h="194017">
                <a:tc>
                  <a:txBody>
                    <a:bodyPr/>
                    <a:lstStyle/>
                    <a:p>
                      <a:pPr lvl="0">
                        <a:lnSpc>
                          <a:spcPct val="107000"/>
                        </a:lnSpc>
                        <a:spcAft>
                          <a:spcPts val="800"/>
                        </a:spcAft>
                      </a:pPr>
                      <a:r>
                        <a:rPr lang="en-GB" sz="1100"/>
                        <a:t>GBP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Great British Pound (£)</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683429802"/>
                  </a:ext>
                </a:extLst>
              </a:tr>
              <a:tr h="194017">
                <a:tc>
                  <a:txBody>
                    <a:bodyPr/>
                    <a:lstStyle/>
                    <a:p>
                      <a:pPr lvl="0">
                        <a:lnSpc>
                          <a:spcPct val="107000"/>
                        </a:lnSpc>
                        <a:spcAft>
                          <a:spcPts val="800"/>
                        </a:spcAft>
                      </a:pPr>
                      <a:r>
                        <a:rPr lang="en-GB" sz="1100"/>
                        <a:t>HKD</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Honk Kong Dollar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046027262"/>
                  </a:ext>
                </a:extLst>
              </a:tr>
              <a:tr h="194017">
                <a:tc>
                  <a:txBody>
                    <a:bodyPr/>
                    <a:lstStyle/>
                    <a:p>
                      <a:pPr lvl="0">
                        <a:lnSpc>
                          <a:spcPct val="107000"/>
                        </a:lnSpc>
                        <a:spcAft>
                          <a:spcPts val="800"/>
                        </a:spcAft>
                      </a:pPr>
                      <a:r>
                        <a:rPr lang="en-GB" sz="1100"/>
                        <a:t>HMRC</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Her Majesty’s Revenue &amp; Customs</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129345117"/>
                  </a:ext>
                </a:extLst>
              </a:tr>
              <a:tr h="174001">
                <a:tc>
                  <a:txBody>
                    <a:bodyPr/>
                    <a:lstStyle/>
                    <a:p>
                      <a:pPr lvl="0">
                        <a:lnSpc>
                          <a:spcPct val="107000"/>
                        </a:lnSpc>
                        <a:spcAft>
                          <a:spcPts val="800"/>
                        </a:spcAft>
                      </a:pPr>
                      <a:r>
                        <a:rPr lang="en-GB" sz="1100"/>
                        <a:t>ICR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Inventory Consignment References</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1234663"/>
                  </a:ext>
                </a:extLst>
              </a:tr>
              <a:tr h="174001">
                <a:tc>
                  <a:txBody>
                    <a:bodyPr/>
                    <a:lstStyle/>
                    <a:p>
                      <a:pPr lvl="0">
                        <a:lnSpc>
                          <a:spcPct val="107000"/>
                        </a:lnSpc>
                        <a:spcAft>
                          <a:spcPts val="800"/>
                        </a:spcAft>
                      </a:pPr>
                      <a:r>
                        <a:rPr lang="en-GB" sz="1100"/>
                        <a:t>ID</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Identification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739618344"/>
                  </a:ext>
                </a:extLst>
              </a:tr>
              <a:tr h="174001">
                <a:tc>
                  <a:txBody>
                    <a:bodyPr/>
                    <a:lstStyle/>
                    <a:p>
                      <a:pPr lvl="0">
                        <a:lnSpc>
                          <a:spcPct val="107000"/>
                        </a:lnSpc>
                        <a:spcAft>
                          <a:spcPts val="800"/>
                        </a:spcAft>
                      </a:pPr>
                      <a:r>
                        <a:rPr lang="en-GB" sz="1100"/>
                        <a:t>IP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Inward Processing</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67220147"/>
                  </a:ext>
                </a:extLst>
              </a:tr>
              <a:tr h="174001">
                <a:tc>
                  <a:txBody>
                    <a:bodyPr/>
                    <a:lstStyle/>
                    <a:p>
                      <a:pPr lvl="0">
                        <a:lnSpc>
                          <a:spcPct val="107000"/>
                        </a:lnSpc>
                        <a:spcAft>
                          <a:spcPts val="800"/>
                        </a:spcAft>
                      </a:pPr>
                      <a:r>
                        <a:rPr lang="en-GB" sz="1100"/>
                        <a:t>IVL</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Inventory Linking</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980646338"/>
                  </a:ext>
                </a:extLst>
              </a:tr>
              <a:tr h="174001">
                <a:tc>
                  <a:txBody>
                    <a:bodyPr/>
                    <a:lstStyle/>
                    <a:p>
                      <a:pPr lvl="0">
                        <a:lnSpc>
                          <a:spcPct val="107000"/>
                        </a:lnSpc>
                        <a:spcAft>
                          <a:spcPts val="800"/>
                        </a:spcAft>
                      </a:pPr>
                      <a:r>
                        <a:rPr lang="en-GB" sz="1100"/>
                        <a:t>JPY</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Japanese Yen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448006977"/>
                  </a:ext>
                </a:extLst>
              </a:tr>
              <a:tr h="174001">
                <a:tc>
                  <a:txBody>
                    <a:bodyPr/>
                    <a:lstStyle/>
                    <a:p>
                      <a:pPr lvl="0">
                        <a:lnSpc>
                          <a:spcPct val="107000"/>
                        </a:lnSpc>
                        <a:spcAft>
                          <a:spcPts val="800"/>
                        </a:spcAft>
                      </a:pPr>
                      <a:r>
                        <a:rPr lang="en-GB" sz="1100"/>
                        <a:t>KEL</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Known Error Log</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46483701"/>
                  </a:ext>
                </a:extLst>
              </a:tr>
              <a:tr h="174001">
                <a:tc>
                  <a:txBody>
                    <a:bodyPr/>
                    <a:lstStyle/>
                    <a:p>
                      <a:pPr lvl="0">
                        <a:lnSpc>
                          <a:spcPct val="107000"/>
                        </a:lnSpc>
                        <a:spcAft>
                          <a:spcPts val="800"/>
                        </a:spcAft>
                      </a:pPr>
                      <a:r>
                        <a:rPr lang="en-GB" sz="1100"/>
                        <a:t>KG</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Kilograms</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287327347"/>
                  </a:ext>
                </a:extLst>
              </a:tr>
              <a:tr h="194017">
                <a:tc>
                  <a:txBody>
                    <a:bodyPr/>
                    <a:lstStyle/>
                    <a:p>
                      <a:pPr lvl="0">
                        <a:lnSpc>
                          <a:spcPct val="107000"/>
                        </a:lnSpc>
                        <a:spcAft>
                          <a:spcPts val="800"/>
                        </a:spcAft>
                      </a:pPr>
                      <a:r>
                        <a:rPr lang="en-GB" sz="1100"/>
                        <a:t>LRN</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Local Reference Number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349644475"/>
                  </a:ext>
                </a:extLst>
              </a:tr>
              <a:tr h="194017">
                <a:tc>
                  <a:txBody>
                    <a:bodyPr/>
                    <a:lstStyle/>
                    <a:p>
                      <a:pPr lvl="0">
                        <a:lnSpc>
                          <a:spcPct val="107000"/>
                        </a:lnSpc>
                        <a:spcAft>
                          <a:spcPts val="800"/>
                        </a:spcAft>
                      </a:pPr>
                      <a:r>
                        <a:rPr lang="en-GB" sz="1100"/>
                        <a:t>MiTS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Movements in Temporary Storage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057874446"/>
                  </a:ext>
                </a:extLst>
              </a:tr>
              <a:tr h="194017">
                <a:tc>
                  <a:txBody>
                    <a:bodyPr/>
                    <a:lstStyle/>
                    <a:p>
                      <a:pPr lvl="0">
                        <a:lnSpc>
                          <a:spcPct val="107000"/>
                        </a:lnSpc>
                        <a:spcAft>
                          <a:spcPts val="800"/>
                        </a:spcAft>
                      </a:pPr>
                      <a:r>
                        <a:rPr lang="en-GB" sz="1100"/>
                        <a:t>MOP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Method of Payment</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212736389"/>
                  </a:ext>
                </a:extLst>
              </a:tr>
              <a:tr h="194017">
                <a:tc>
                  <a:txBody>
                    <a:bodyPr/>
                    <a:lstStyle/>
                    <a:p>
                      <a:pPr lvl="0">
                        <a:lnSpc>
                          <a:spcPct val="107000"/>
                        </a:lnSpc>
                        <a:spcAft>
                          <a:spcPts val="800"/>
                        </a:spcAft>
                      </a:pPr>
                      <a:r>
                        <a:rPr lang="en-GB" sz="1100"/>
                        <a:t>MRN</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Movement Reference Number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961518996"/>
                  </a:ext>
                </a:extLst>
              </a:tr>
              <a:tr h="293220">
                <a:tc>
                  <a:txBody>
                    <a:bodyPr/>
                    <a:lstStyle/>
                    <a:p>
                      <a:pPr lvl="0">
                        <a:lnSpc>
                          <a:spcPct val="107000"/>
                        </a:lnSpc>
                        <a:spcAft>
                          <a:spcPts val="800"/>
                        </a:spcAft>
                      </a:pPr>
                      <a:r>
                        <a:rPr lang="en-GB" sz="1100"/>
                        <a:t>MUCR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Master Unique Consignment Reference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908090775"/>
                  </a:ext>
                </a:extLst>
              </a:tr>
              <a:tr h="174001">
                <a:tc>
                  <a:txBody>
                    <a:bodyPr/>
                    <a:lstStyle/>
                    <a:p>
                      <a:pPr lvl="0">
                        <a:lnSpc>
                          <a:spcPct val="107000"/>
                        </a:lnSpc>
                        <a:spcAft>
                          <a:spcPts val="800"/>
                        </a:spcAft>
                      </a:pPr>
                      <a:r>
                        <a:rPr lang="en-GB" sz="1100"/>
                        <a:t>OP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Outward Processing</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06825174"/>
                  </a:ext>
                </a:extLst>
              </a:tr>
              <a:tr h="194017">
                <a:tc>
                  <a:txBody>
                    <a:bodyPr/>
                    <a:lstStyle/>
                    <a:p>
                      <a:pPr lvl="0">
                        <a:lnSpc>
                          <a:spcPct val="107000"/>
                        </a:lnSpc>
                        <a:spcAft>
                          <a:spcPts val="800"/>
                        </a:spcAft>
                      </a:pPr>
                      <a:r>
                        <a:rPr lang="en-GB" sz="1100"/>
                        <a:t>OSD</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Onward Supply Dispatch</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307344946"/>
                  </a:ext>
                </a:extLst>
              </a:tr>
              <a:tr h="194017">
                <a:tc>
                  <a:txBody>
                    <a:bodyPr/>
                    <a:lstStyle/>
                    <a:p>
                      <a:pPr lvl="0">
                        <a:lnSpc>
                          <a:spcPct val="107000"/>
                        </a:lnSpc>
                        <a:spcAft>
                          <a:spcPts val="800"/>
                        </a:spcAft>
                      </a:pPr>
                      <a:r>
                        <a:rPr lang="en-GB" sz="1100"/>
                        <a:t>OSR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Onward Supply Relief</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318588920"/>
                  </a:ext>
                </a:extLst>
              </a:tr>
              <a:tr h="174001">
                <a:tc>
                  <a:txBody>
                    <a:bodyPr/>
                    <a:lstStyle/>
                    <a:p>
                      <a:pPr lvl="0">
                        <a:lnSpc>
                          <a:spcPct val="107000"/>
                        </a:lnSpc>
                        <a:spcAft>
                          <a:spcPts val="800"/>
                        </a:spcAft>
                      </a:pPr>
                      <a:r>
                        <a:rPr lang="en-GB" sz="1100"/>
                        <a:t>PC</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Procedure Code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330884453"/>
                  </a:ext>
                </a:extLst>
              </a:tr>
              <a:tr h="194017">
                <a:tc>
                  <a:txBody>
                    <a:bodyPr/>
                    <a:lstStyle/>
                    <a:p>
                      <a:pPr lvl="0">
                        <a:lnSpc>
                          <a:spcPct val="107000"/>
                        </a:lnSpc>
                        <a:spcAft>
                          <a:spcPts val="800"/>
                        </a:spcAft>
                      </a:pPr>
                      <a:r>
                        <a:rPr lang="en-GB" sz="1100"/>
                        <a:t>PoUS</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Proof of Union Status </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374641749"/>
                  </a:ext>
                </a:extLst>
              </a:tr>
              <a:tr h="194017">
                <a:tc>
                  <a:txBody>
                    <a:bodyPr/>
                    <a:lstStyle/>
                    <a:p>
                      <a:pPr lvl="0">
                        <a:lnSpc>
                          <a:spcPct val="107000"/>
                        </a:lnSpc>
                        <a:spcAft>
                          <a:spcPts val="800"/>
                        </a:spcAft>
                      </a:pPr>
                      <a:r>
                        <a:rPr lang="en-GB" sz="1100"/>
                        <a:t>RGR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Returned Goods Relief</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446792180"/>
                  </a:ext>
                </a:extLst>
              </a:tr>
              <a:tr h="194017">
                <a:tc>
                  <a:txBody>
                    <a:bodyPr/>
                    <a:lstStyle/>
                    <a:p>
                      <a:pPr lvl="0">
                        <a:lnSpc>
                          <a:spcPct val="107000"/>
                        </a:lnSpc>
                        <a:spcAft>
                          <a:spcPts val="800"/>
                        </a:spcAft>
                      </a:pPr>
                      <a:r>
                        <a:rPr lang="en-GB" sz="1100"/>
                        <a:t>RPA</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Rural Payments Agency</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884244949"/>
                  </a:ext>
                </a:extLst>
              </a:tr>
              <a:tr h="194017">
                <a:tc>
                  <a:txBody>
                    <a:bodyPr/>
                    <a:lstStyle/>
                    <a:p>
                      <a:pPr lvl="0">
                        <a:lnSpc>
                          <a:spcPct val="107000"/>
                        </a:lnSpc>
                        <a:spcAft>
                          <a:spcPts val="800"/>
                        </a:spcAft>
                      </a:pPr>
                      <a:r>
                        <a:rPr lang="en-GB" sz="1100"/>
                        <a:t>SDP</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Simplified Procedures</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4175879175"/>
                  </a:ext>
                </a:extLst>
              </a:tr>
              <a:tr h="194017">
                <a:tc>
                  <a:txBody>
                    <a:bodyPr/>
                    <a:lstStyle/>
                    <a:p>
                      <a:pPr lvl="0">
                        <a:lnSpc>
                          <a:spcPct val="107000"/>
                        </a:lnSpc>
                        <a:spcAft>
                          <a:spcPts val="800"/>
                        </a:spcAft>
                      </a:pPr>
                      <a:r>
                        <a:rPr lang="en-GB" sz="1100"/>
                        <a:t>SDST</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dirty="0"/>
                        <a:t>Software Development Support Team</a:t>
                      </a:r>
                      <a:endParaRPr lang="en-GB" sz="1100" dirty="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894989804"/>
                  </a:ext>
                </a:extLst>
              </a:tr>
            </a:tbl>
          </a:graphicData>
        </a:graphic>
      </p:graphicFrame>
      <p:graphicFrame>
        <p:nvGraphicFramePr>
          <p:cNvPr id="7" name="Table 9">
            <a:extLst>
              <a:ext uri="{FF2B5EF4-FFF2-40B4-BE49-F238E27FC236}">
                <a16:creationId xmlns:a16="http://schemas.microsoft.com/office/drawing/2014/main" id="{04362FAD-984C-4B01-8EE7-29D17B9E90ED}"/>
              </a:ext>
            </a:extLst>
          </p:cNvPr>
          <p:cNvGraphicFramePr>
            <a:graphicFrameLocks noGrp="1"/>
          </p:cNvGraphicFramePr>
          <p:nvPr/>
        </p:nvGraphicFramePr>
        <p:xfrm>
          <a:off x="7713704" y="1174309"/>
          <a:ext cx="3042391" cy="2968219"/>
        </p:xfrm>
        <a:graphic>
          <a:graphicData uri="http://schemas.openxmlformats.org/drawingml/2006/table">
            <a:tbl>
              <a:tblPr firstRow="1" firstCol="1" bandRow="1">
                <a:effectLst/>
                <a:tableStyleId>{F5AB1C69-6EDB-4FF4-983F-18BD219EF322}</a:tableStyleId>
              </a:tblPr>
              <a:tblGrid>
                <a:gridCol w="538673">
                  <a:extLst>
                    <a:ext uri="{9D8B030D-6E8A-4147-A177-3AD203B41FA5}">
                      <a16:colId xmlns:a16="http://schemas.microsoft.com/office/drawing/2014/main" val="1888627009"/>
                    </a:ext>
                  </a:extLst>
                </a:gridCol>
                <a:gridCol w="2503718">
                  <a:extLst>
                    <a:ext uri="{9D8B030D-6E8A-4147-A177-3AD203B41FA5}">
                      <a16:colId xmlns:a16="http://schemas.microsoft.com/office/drawing/2014/main" val="3556272403"/>
                    </a:ext>
                  </a:extLst>
                </a:gridCol>
              </a:tblGrid>
              <a:tr h="93433">
                <a:tc>
                  <a:txBody>
                    <a:bodyPr/>
                    <a:lstStyle/>
                    <a:p>
                      <a:pPr lvl="0">
                        <a:lnSpc>
                          <a:spcPct val="107000"/>
                        </a:lnSpc>
                        <a:spcAft>
                          <a:spcPts val="800"/>
                        </a:spcAft>
                      </a:pPr>
                      <a:r>
                        <a:rPr lang="en-GB" sz="1100"/>
                        <a:t>SSL</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b="0">
                          <a:solidFill>
                            <a:srgbClr val="000000"/>
                          </a:solidFill>
                        </a:rPr>
                        <a:t>Secure Sockets Layer</a:t>
                      </a:r>
                      <a:endParaRPr lang="en-GB" sz="1100" b="0">
                        <a:solidFill>
                          <a:srgbClr val="000000"/>
                        </a:solidFill>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B w="12701"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426677702"/>
                  </a:ext>
                </a:extLst>
              </a:tr>
              <a:tr h="93433">
                <a:tc>
                  <a:txBody>
                    <a:bodyPr/>
                    <a:lstStyle/>
                    <a:p>
                      <a:pPr lvl="0">
                        <a:lnSpc>
                          <a:spcPct val="107000"/>
                        </a:lnSpc>
                        <a:spcAft>
                          <a:spcPts val="800"/>
                        </a:spcAft>
                      </a:pPr>
                      <a:r>
                        <a:rPr lang="en-GB" sz="1100"/>
                        <a:t>TA</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Temporary Admission</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839304079"/>
                  </a:ext>
                </a:extLst>
              </a:tr>
              <a:tr h="390412">
                <a:tc>
                  <a:txBody>
                    <a:bodyPr/>
                    <a:lstStyle/>
                    <a:p>
                      <a:pPr lvl="0">
                        <a:lnSpc>
                          <a:spcPct val="107000"/>
                        </a:lnSpc>
                        <a:spcAft>
                          <a:spcPts val="800"/>
                        </a:spcAft>
                      </a:pPr>
                      <a:r>
                        <a:rPr lang="en-GB" sz="1100"/>
                        <a:t>TARIC</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Integrated Tariff of the European Community (TARif Intégré Communautaire)</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109488319"/>
                  </a:ext>
                </a:extLst>
              </a:tr>
              <a:tr h="191173">
                <a:tc>
                  <a:txBody>
                    <a:bodyPr/>
                    <a:lstStyle/>
                    <a:p>
                      <a:pPr lvl="0">
                        <a:lnSpc>
                          <a:spcPct val="107000"/>
                        </a:lnSpc>
                        <a:spcAft>
                          <a:spcPts val="800"/>
                        </a:spcAft>
                      </a:pPr>
                      <a:r>
                        <a:rPr lang="en-GB" sz="1100"/>
                        <a:t>TTM</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Trade Test Milestone</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62488766"/>
                  </a:ext>
                </a:extLst>
              </a:tr>
              <a:tr h="191173">
                <a:tc>
                  <a:txBody>
                    <a:bodyPr/>
                    <a:lstStyle/>
                    <a:p>
                      <a:pPr lvl="0">
                        <a:lnSpc>
                          <a:spcPct val="107000"/>
                        </a:lnSpc>
                        <a:spcAft>
                          <a:spcPts val="800"/>
                        </a:spcAft>
                      </a:pPr>
                      <a:r>
                        <a:rPr lang="en-GB" sz="1100"/>
                        <a:t>TRM</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tc>
                  <a:txBody>
                    <a:bodyPr/>
                    <a:lstStyle/>
                    <a:p>
                      <a:pPr lvl="0">
                        <a:lnSpc>
                          <a:spcPct val="107000"/>
                        </a:lnSpc>
                        <a:spcAft>
                          <a:spcPts val="800"/>
                        </a:spcAft>
                      </a:pPr>
                      <a:r>
                        <a:rPr lang="en-GB" sz="1100"/>
                        <a:t>Technical Readiness Meeting</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703635051"/>
                  </a:ext>
                </a:extLst>
              </a:tr>
              <a:tr h="191173">
                <a:tc>
                  <a:txBody>
                    <a:bodyPr/>
                    <a:lstStyle/>
                    <a:p>
                      <a:pPr lvl="0">
                        <a:lnSpc>
                          <a:spcPct val="107000"/>
                        </a:lnSpc>
                        <a:spcAft>
                          <a:spcPts val="800"/>
                        </a:spcAft>
                      </a:pPr>
                      <a:r>
                        <a:rPr lang="en-GB" sz="1100"/>
                        <a:t>UCC</a:t>
                      </a:r>
                      <a:endParaRPr lang="en-GB" sz="1100">
                        <a:latin typeface="Calibri" pitchFamily="34"/>
                        <a:ea typeface="Calibri" pitchFamily="34"/>
                        <a:cs typeface="Times New Roman" pitchFamily="18"/>
                      </a:endParaRPr>
                    </a:p>
                  </a:txBody>
                  <a:tcPr marL="16102" marR="16102" marT="0" marB="0">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tcPr>
                </a:tc>
                <a:tc>
                  <a:txBody>
                    <a:bodyPr/>
                    <a:lstStyle/>
                    <a:p>
                      <a:pPr lvl="0">
                        <a:lnSpc>
                          <a:spcPct val="107000"/>
                        </a:lnSpc>
                        <a:spcAft>
                          <a:spcPts val="800"/>
                        </a:spcAft>
                      </a:pPr>
                      <a:r>
                        <a:rPr lang="en-GB" sz="1100"/>
                        <a:t>Union Customs Code</a:t>
                      </a:r>
                      <a:endParaRPr lang="en-GB" sz="1100">
                        <a:latin typeface="Calibri" pitchFamily="34"/>
                        <a:ea typeface="Calibri" pitchFamily="34"/>
                        <a:cs typeface="Times New Roman" pitchFamily="18"/>
                      </a:endParaRPr>
                    </a:p>
                  </a:txBody>
                  <a:tcPr marL="16102" marR="16102" marT="0" marB="0">
                    <a:lnL w="12701" cap="flat" cmpd="sng" algn="ctr">
                      <a:solidFill>
                        <a:srgbClr val="FFFFFF"/>
                      </a:solidFill>
                      <a:prstDash val="solid"/>
                      <a:round/>
                      <a:headEnd type="none" w="med" len="med"/>
                      <a:tailEnd type="none" w="med" len="med"/>
                    </a:lnL>
                    <a:lnT w="12701" cap="flat" cmpd="sng" algn="ctr">
                      <a:solidFill>
                        <a:srgbClr val="FFFFFF"/>
                      </a:solidFill>
                      <a:prstDash val="solid"/>
                      <a:round/>
                      <a:headEnd type="none" w="med" len="med"/>
                      <a:tailEnd type="none" w="med" len="med"/>
                    </a:lnT>
                  </a:tcPr>
                </a:tc>
                <a:extLst>
                  <a:ext uri="{0D108BD9-81ED-4DB2-BD59-A6C34878D82A}">
                    <a16:rowId xmlns:a16="http://schemas.microsoft.com/office/drawing/2014/main" val="4208143934"/>
                  </a:ext>
                </a:extLst>
              </a:tr>
              <a:tr h="0">
                <a:tc>
                  <a:txBody>
                    <a:bodyPr/>
                    <a:lstStyle/>
                    <a:p>
                      <a:pPr lvl="0">
                        <a:lnSpc>
                          <a:spcPct val="107000"/>
                        </a:lnSpc>
                        <a:spcAft>
                          <a:spcPts val="800"/>
                        </a:spcAft>
                      </a:pPr>
                      <a:r>
                        <a:rPr lang="en-GB" sz="1100"/>
                        <a:t>UCR</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Unique Consignment Reference</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931475198"/>
                  </a:ext>
                </a:extLst>
              </a:tr>
              <a:tr h="93433">
                <a:tc>
                  <a:txBody>
                    <a:bodyPr/>
                    <a:lstStyle/>
                    <a:p>
                      <a:pPr lvl="0">
                        <a:lnSpc>
                          <a:spcPct val="107000"/>
                        </a:lnSpc>
                        <a:spcAft>
                          <a:spcPts val="800"/>
                        </a:spcAft>
                      </a:pPr>
                      <a:r>
                        <a:rPr lang="en-GB" sz="1100"/>
                        <a:t>UK</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United Kingdom</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3897606992"/>
                  </a:ext>
                </a:extLst>
              </a:tr>
              <a:tr h="93433">
                <a:tc>
                  <a:txBody>
                    <a:bodyPr/>
                    <a:lstStyle/>
                    <a:p>
                      <a:pPr lvl="0">
                        <a:lnSpc>
                          <a:spcPct val="107000"/>
                        </a:lnSpc>
                        <a:spcAft>
                          <a:spcPts val="800"/>
                        </a:spcAft>
                      </a:pPr>
                      <a:r>
                        <a:rPr lang="en-GB" sz="1100"/>
                        <a:t>UN</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United Nations</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590146890"/>
                  </a:ext>
                </a:extLst>
              </a:tr>
              <a:tr h="191173">
                <a:tc>
                  <a:txBody>
                    <a:bodyPr/>
                    <a:lstStyle/>
                    <a:p>
                      <a:pPr lvl="0">
                        <a:lnSpc>
                          <a:spcPct val="107000"/>
                        </a:lnSpc>
                        <a:spcAft>
                          <a:spcPts val="800"/>
                        </a:spcAft>
                      </a:pPr>
                      <a:r>
                        <a:rPr lang="en-GB" sz="1100"/>
                        <a:t>URL</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Uniform Resource Locator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886247565"/>
                  </a:ext>
                </a:extLst>
              </a:tr>
              <a:tr h="191173">
                <a:tc>
                  <a:txBody>
                    <a:bodyPr/>
                    <a:lstStyle/>
                    <a:p>
                      <a:pPr lvl="0">
                        <a:lnSpc>
                          <a:spcPct val="107000"/>
                        </a:lnSpc>
                        <a:spcAft>
                          <a:spcPts val="800"/>
                        </a:spcAft>
                      </a:pPr>
                      <a:r>
                        <a:rPr lang="en-GB" sz="1100"/>
                        <a:t>USA</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United States of America</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080608348"/>
                  </a:ext>
                </a:extLst>
              </a:tr>
              <a:tr h="191173">
                <a:tc>
                  <a:txBody>
                    <a:bodyPr/>
                    <a:lstStyle/>
                    <a:p>
                      <a:pPr lvl="0">
                        <a:lnSpc>
                          <a:spcPct val="107000"/>
                        </a:lnSpc>
                        <a:spcAft>
                          <a:spcPts val="800"/>
                        </a:spcAft>
                      </a:pPr>
                      <a:r>
                        <a:rPr lang="en-GB" sz="1100"/>
                        <a:t>USD</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United States Dollar</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881101226"/>
                  </a:ext>
                </a:extLst>
              </a:tr>
              <a:tr h="191173">
                <a:tc>
                  <a:txBody>
                    <a:bodyPr/>
                    <a:lstStyle/>
                    <a:p>
                      <a:pPr lvl="0">
                        <a:lnSpc>
                          <a:spcPct val="107000"/>
                        </a:lnSpc>
                        <a:spcAft>
                          <a:spcPts val="800"/>
                        </a:spcAft>
                      </a:pPr>
                      <a:r>
                        <a:rPr lang="en-GB" sz="1100"/>
                        <a:t>VAT</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Value-added Tax</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2552589684"/>
                  </a:ext>
                </a:extLst>
              </a:tr>
              <a:tr h="191173">
                <a:tc>
                  <a:txBody>
                    <a:bodyPr/>
                    <a:lstStyle/>
                    <a:p>
                      <a:pPr lvl="0">
                        <a:lnSpc>
                          <a:spcPct val="107000"/>
                        </a:lnSpc>
                        <a:spcAft>
                          <a:spcPts val="800"/>
                        </a:spcAft>
                      </a:pPr>
                      <a:r>
                        <a:rPr lang="en-GB" sz="1100"/>
                        <a:t>WCO</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a:t>World Customs Organisation</a:t>
                      </a:r>
                      <a:endParaRPr lang="en-GB" sz="110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88971544"/>
                  </a:ext>
                </a:extLst>
              </a:tr>
              <a:tr h="191173">
                <a:tc>
                  <a:txBody>
                    <a:bodyPr/>
                    <a:lstStyle/>
                    <a:p>
                      <a:pPr lvl="0">
                        <a:lnSpc>
                          <a:spcPct val="107000"/>
                        </a:lnSpc>
                        <a:spcAft>
                          <a:spcPts val="800"/>
                        </a:spcAft>
                      </a:pPr>
                      <a:r>
                        <a:rPr lang="en-GB" sz="1100"/>
                        <a:t>XML</a:t>
                      </a:r>
                      <a:endParaRPr lang="en-GB" sz="1100">
                        <a:latin typeface="Calibri" pitchFamily="34"/>
                        <a:ea typeface="Calibri" pitchFamily="34"/>
                        <a:cs typeface="Times New Roman" pitchFamily="18"/>
                      </a:endParaRPr>
                    </a:p>
                  </a:txBody>
                  <a:tcPr marL="16102" marR="16102" marT="0" marB="0"/>
                </a:tc>
                <a:tc>
                  <a:txBody>
                    <a:bodyPr/>
                    <a:lstStyle/>
                    <a:p>
                      <a:pPr lvl="0">
                        <a:lnSpc>
                          <a:spcPct val="107000"/>
                        </a:lnSpc>
                        <a:spcAft>
                          <a:spcPts val="800"/>
                        </a:spcAft>
                      </a:pPr>
                      <a:r>
                        <a:rPr lang="en-GB" sz="1100" dirty="0" err="1"/>
                        <a:t>eXtensible</a:t>
                      </a:r>
                      <a:r>
                        <a:rPr lang="en-GB" sz="1100" dirty="0"/>
                        <a:t> Mark-up Language</a:t>
                      </a:r>
                      <a:endParaRPr lang="en-GB" sz="1100" dirty="0">
                        <a:latin typeface="Calibri" pitchFamily="34"/>
                        <a:ea typeface="Calibri" pitchFamily="34"/>
                        <a:cs typeface="Times New Roman" pitchFamily="18"/>
                      </a:endParaRPr>
                    </a:p>
                  </a:txBody>
                  <a:tcPr marL="16102" marR="16102" marT="0" marB="0"/>
                </a:tc>
                <a:extLst>
                  <a:ext uri="{0D108BD9-81ED-4DB2-BD59-A6C34878D82A}">
                    <a16:rowId xmlns:a16="http://schemas.microsoft.com/office/drawing/2014/main" val="1219255161"/>
                  </a:ext>
                </a:extLst>
              </a:tr>
            </a:tbl>
          </a:graphicData>
        </a:graphic>
      </p:graphicFrame>
      <p:sp>
        <p:nvSpPr>
          <p:cNvPr id="9" name="Slide Number Placeholder 5">
            <a:extLst>
              <a:ext uri="{FF2B5EF4-FFF2-40B4-BE49-F238E27FC236}">
                <a16:creationId xmlns:a16="http://schemas.microsoft.com/office/drawing/2014/main" id="{16294183-4115-4A0C-9928-C4CCDE2E202A}"/>
              </a:ext>
            </a:extLst>
          </p:cNvPr>
          <p:cNvSpPr txBox="1"/>
          <p:nvPr/>
        </p:nvSpPr>
        <p:spPr>
          <a:xfrm>
            <a:off x="11681679"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042E9E77-56D9-4E78-8D32-AFAB58E1A532}" type="slidenum">
              <a:rPr sz="1200"/>
              <a:t>451</a:t>
            </a:fld>
            <a:endParaRPr lang="en-GB" sz="1200" b="0" i="0" u="none" strike="noStrike" kern="1200" cap="none" spc="0" baseline="0">
              <a:solidFill>
                <a:srgbClr val="000000"/>
              </a:solidFill>
              <a:uFillTx/>
              <a:latin typeface="Calibri"/>
            </a:endParaRPr>
          </a:p>
        </p:txBody>
      </p:sp>
      <p:sp>
        <p:nvSpPr>
          <p:cNvPr id="10" name="Oval 28">
            <a:hlinkClick r:id="rId2" action="ppaction://hlinksldjump"/>
            <a:extLst>
              <a:ext uri="{FF2B5EF4-FFF2-40B4-BE49-F238E27FC236}">
                <a16:creationId xmlns:a16="http://schemas.microsoft.com/office/drawing/2014/main" id="{0BA76CDF-B27B-4F61-9A3C-39846F98AA0D}"/>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1" name="Oval 29">
            <a:hlinkClick r:id="rId2" action="ppaction://hlinksldjump"/>
            <a:extLst>
              <a:ext uri="{FF2B5EF4-FFF2-40B4-BE49-F238E27FC236}">
                <a16:creationId xmlns:a16="http://schemas.microsoft.com/office/drawing/2014/main" id="{872CDC51-0507-4F52-9DC8-E2195D4FD177}"/>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2" name="Oval 30">
            <a:hlinkClick r:id="rId3" action="ppaction://hlinksldjump"/>
            <a:extLst>
              <a:ext uri="{FF2B5EF4-FFF2-40B4-BE49-F238E27FC236}">
                <a16:creationId xmlns:a16="http://schemas.microsoft.com/office/drawing/2014/main" id="{433057B0-3DF9-42C1-933F-1187C1A7F1A5}"/>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3" name="Oval 31">
            <a:hlinkClick r:id="rId4" action="ppaction://hlinksldjump"/>
            <a:extLst>
              <a:ext uri="{FF2B5EF4-FFF2-40B4-BE49-F238E27FC236}">
                <a16:creationId xmlns:a16="http://schemas.microsoft.com/office/drawing/2014/main" id="{DE2EE7AB-3243-43D1-B984-6ED254D873CE}"/>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4" name="TextBox 32">
            <a:hlinkClick r:id="rId2" action="ppaction://hlinksldjump"/>
            <a:extLst>
              <a:ext uri="{FF2B5EF4-FFF2-40B4-BE49-F238E27FC236}">
                <a16:creationId xmlns:a16="http://schemas.microsoft.com/office/drawing/2014/main" id="{400CFCD6-D595-4DC6-82BC-456A3703E2FB}"/>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5" name="TextBox 33">
            <a:hlinkClick r:id="rId2" action="ppaction://hlinksldjump"/>
            <a:extLst>
              <a:ext uri="{FF2B5EF4-FFF2-40B4-BE49-F238E27FC236}">
                <a16:creationId xmlns:a16="http://schemas.microsoft.com/office/drawing/2014/main" id="{97F1698E-F784-49C3-AE67-96C49D4EABFA}"/>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6" name="TextBox 34">
            <a:hlinkClick r:id="rId3" action="ppaction://hlinksldjump"/>
            <a:extLst>
              <a:ext uri="{FF2B5EF4-FFF2-40B4-BE49-F238E27FC236}">
                <a16:creationId xmlns:a16="http://schemas.microsoft.com/office/drawing/2014/main" id="{AF189336-5816-4DD3-85F7-6DF2AD7A57D2}"/>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7" name="TextBox 35">
            <a:hlinkClick r:id="rId3" action="ppaction://hlinksldjump"/>
            <a:extLst>
              <a:ext uri="{FF2B5EF4-FFF2-40B4-BE49-F238E27FC236}">
                <a16:creationId xmlns:a16="http://schemas.microsoft.com/office/drawing/2014/main" id="{3A4CF7B9-C40B-4DC7-9FFC-159714145FBC}"/>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8" name="Oval 36">
            <a:extLst>
              <a:ext uri="{FF2B5EF4-FFF2-40B4-BE49-F238E27FC236}">
                <a16:creationId xmlns:a16="http://schemas.microsoft.com/office/drawing/2014/main" id="{0941E17A-5A03-4B3F-B702-8144F9392D49}"/>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9" name="TextBox 37">
            <a:hlinkClick r:id="rId5" action="ppaction://hlinksldjump"/>
            <a:extLst>
              <a:ext uri="{FF2B5EF4-FFF2-40B4-BE49-F238E27FC236}">
                <a16:creationId xmlns:a16="http://schemas.microsoft.com/office/drawing/2014/main" id="{CB0C5B72-B760-4F0D-8C7F-CDA075C1A5C1}"/>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20" name="Picture 40">
            <a:hlinkClick r:id="rId2" action="ppaction://hlinksldjump"/>
            <a:extLst>
              <a:ext uri="{FF2B5EF4-FFF2-40B4-BE49-F238E27FC236}">
                <a16:creationId xmlns:a16="http://schemas.microsoft.com/office/drawing/2014/main" id="{21A5039F-5DAE-44C0-8E30-075F23B5F988}"/>
              </a:ext>
            </a:extLst>
          </p:cNvPr>
          <p:cNvPicPr>
            <a:picLocks noChangeAspect="1"/>
          </p:cNvPicPr>
          <p:nvPr/>
        </p:nvPicPr>
        <p:blipFill>
          <a:blip r:embed="rId6">
            <a:alphaModFix amt="35000"/>
          </a:blip>
          <a:srcRect l="20606" t="21077" r="21527" b="31021"/>
          <a:stretch>
            <a:fillRect/>
          </a:stretch>
        </p:blipFill>
        <p:spPr>
          <a:xfrm>
            <a:off x="10082201" y="272070"/>
            <a:ext cx="256918" cy="210595"/>
          </a:xfrm>
          <a:prstGeom prst="rect">
            <a:avLst/>
          </a:prstGeom>
          <a:noFill/>
          <a:ln cap="flat">
            <a:noFill/>
          </a:ln>
        </p:spPr>
      </p:pic>
      <p:sp>
        <p:nvSpPr>
          <p:cNvPr id="21" name="Oval 39">
            <a:hlinkClick r:id="rId2" action="ppaction://hlinksldjump"/>
            <a:extLst>
              <a:ext uri="{FF2B5EF4-FFF2-40B4-BE49-F238E27FC236}">
                <a16:creationId xmlns:a16="http://schemas.microsoft.com/office/drawing/2014/main" id="{C2131783-0396-4790-A7A1-2CBF2E20A073}"/>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name="Slide838840294">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6E63507B-573E-4523-8EB8-6C84A84D7744}"/>
              </a:ext>
            </a:extLst>
          </p:cNvPr>
          <p:cNvSpPr/>
          <p:nvPr/>
        </p:nvSpPr>
        <p:spPr>
          <a:xfrm>
            <a:off x="363967" y="716532"/>
            <a:ext cx="5496558" cy="461662"/>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2400" b="1" i="0" u="none" strike="noStrike" kern="1200" cap="none" spc="0" baseline="0">
                <a:solidFill>
                  <a:srgbClr val="000000"/>
                </a:solidFill>
                <a:uFillTx/>
                <a:latin typeface="Calibri" pitchFamily="34"/>
                <a:ea typeface="Calibri" pitchFamily="34"/>
              </a:rPr>
              <a:t>EU Exit AI Codes </a:t>
            </a:r>
          </a:p>
        </p:txBody>
      </p:sp>
      <p:cxnSp>
        <p:nvCxnSpPr>
          <p:cNvPr id="3" name="Straight Connector 5">
            <a:extLst>
              <a:ext uri="{FF2B5EF4-FFF2-40B4-BE49-F238E27FC236}">
                <a16:creationId xmlns:a16="http://schemas.microsoft.com/office/drawing/2014/main" id="{2508482B-35CD-4200-AC02-B5003D6F749B}"/>
              </a:ext>
            </a:extLst>
          </p:cNvPr>
          <p:cNvCxnSpPr/>
          <p:nvPr/>
        </p:nvCxnSpPr>
        <p:spPr>
          <a:xfrm>
            <a:off x="319116" y="186903"/>
            <a:ext cx="0" cy="422050"/>
          </a:xfrm>
          <a:prstGeom prst="straightConnector1">
            <a:avLst/>
          </a:prstGeom>
          <a:noFill/>
          <a:ln w="28575" cap="flat">
            <a:solidFill>
              <a:srgbClr val="D9D9D9"/>
            </a:solidFill>
            <a:prstDash val="solid"/>
            <a:miter/>
          </a:ln>
        </p:spPr>
      </p:cxnSp>
      <p:sp>
        <p:nvSpPr>
          <p:cNvPr id="4" name="TextBox 6">
            <a:extLst>
              <a:ext uri="{FF2B5EF4-FFF2-40B4-BE49-F238E27FC236}">
                <a16:creationId xmlns:a16="http://schemas.microsoft.com/office/drawing/2014/main" id="{FDE4D82F-BF8F-4F66-97F1-5A56C4904862}"/>
              </a:ext>
            </a:extLst>
          </p:cNvPr>
          <p:cNvSpPr txBox="1"/>
          <p:nvPr/>
        </p:nvSpPr>
        <p:spPr>
          <a:xfrm>
            <a:off x="363967" y="248844"/>
            <a:ext cx="1005401"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400" b="1" i="0" u="none" strike="noStrike" kern="1200" cap="none" spc="50" baseline="0">
                <a:solidFill>
                  <a:srgbClr val="A6A6A6"/>
                </a:solidFill>
                <a:uFillTx/>
                <a:latin typeface="Calibri"/>
              </a:rPr>
              <a:t>APPENDIX</a:t>
            </a:r>
          </a:p>
        </p:txBody>
      </p:sp>
      <p:graphicFrame>
        <p:nvGraphicFramePr>
          <p:cNvPr id="5" name="Table 25">
            <a:extLst>
              <a:ext uri="{FF2B5EF4-FFF2-40B4-BE49-F238E27FC236}">
                <a16:creationId xmlns:a16="http://schemas.microsoft.com/office/drawing/2014/main" id="{C3A5E347-F0DF-46D8-B23B-1FB1F38B5EF4}"/>
              </a:ext>
            </a:extLst>
          </p:cNvPr>
          <p:cNvGraphicFramePr>
            <a:graphicFrameLocks noGrp="1"/>
          </p:cNvGraphicFramePr>
          <p:nvPr/>
        </p:nvGraphicFramePr>
        <p:xfrm>
          <a:off x="468447" y="1734872"/>
          <a:ext cx="11474747" cy="3749720"/>
        </p:xfrm>
        <a:graphic>
          <a:graphicData uri="http://schemas.openxmlformats.org/drawingml/2006/table">
            <a:tbl>
              <a:tblPr firstRow="1" firstCol="1" bandRow="1">
                <a:effectLst/>
              </a:tblPr>
              <a:tblGrid>
                <a:gridCol w="928262">
                  <a:extLst>
                    <a:ext uri="{9D8B030D-6E8A-4147-A177-3AD203B41FA5}">
                      <a16:colId xmlns:a16="http://schemas.microsoft.com/office/drawing/2014/main" val="2473490076"/>
                    </a:ext>
                  </a:extLst>
                </a:gridCol>
                <a:gridCol w="920873">
                  <a:extLst>
                    <a:ext uri="{9D8B030D-6E8A-4147-A177-3AD203B41FA5}">
                      <a16:colId xmlns:a16="http://schemas.microsoft.com/office/drawing/2014/main" val="3458185373"/>
                    </a:ext>
                  </a:extLst>
                </a:gridCol>
                <a:gridCol w="2747570">
                  <a:extLst>
                    <a:ext uri="{9D8B030D-6E8A-4147-A177-3AD203B41FA5}">
                      <a16:colId xmlns:a16="http://schemas.microsoft.com/office/drawing/2014/main" val="298148822"/>
                    </a:ext>
                  </a:extLst>
                </a:gridCol>
                <a:gridCol w="2740173">
                  <a:extLst>
                    <a:ext uri="{9D8B030D-6E8A-4147-A177-3AD203B41FA5}">
                      <a16:colId xmlns:a16="http://schemas.microsoft.com/office/drawing/2014/main" val="896075684"/>
                    </a:ext>
                  </a:extLst>
                </a:gridCol>
                <a:gridCol w="2812520">
                  <a:extLst>
                    <a:ext uri="{9D8B030D-6E8A-4147-A177-3AD203B41FA5}">
                      <a16:colId xmlns:a16="http://schemas.microsoft.com/office/drawing/2014/main" val="1668884600"/>
                    </a:ext>
                  </a:extLst>
                </a:gridCol>
                <a:gridCol w="1325349">
                  <a:extLst>
                    <a:ext uri="{9D8B030D-6E8A-4147-A177-3AD203B41FA5}">
                      <a16:colId xmlns:a16="http://schemas.microsoft.com/office/drawing/2014/main" val="3374616760"/>
                    </a:ext>
                  </a:extLst>
                </a:gridCol>
              </a:tblGrid>
              <a:tr h="318805">
                <a:tc>
                  <a:txBody>
                    <a:bodyPr/>
                    <a:lstStyle/>
                    <a:p>
                      <a:pPr lvl="0" algn="ctr">
                        <a:lnSpc>
                          <a:spcPct val="107000"/>
                        </a:lnSpc>
                        <a:spcAft>
                          <a:spcPts val="0"/>
                        </a:spcAft>
                      </a:pPr>
                      <a:r>
                        <a:rPr lang="en-GB" sz="1200" b="1">
                          <a:solidFill>
                            <a:srgbClr val="FFFFFF"/>
                          </a:solidFill>
                          <a:latin typeface="Calibri"/>
                          <a:ea typeface="Calibri" pitchFamily="34"/>
                          <a:cs typeface="Times New Roman"/>
                        </a:rPr>
                        <a:t>Scope Area</a:t>
                      </a: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lnSpc>
                          <a:spcPct val="107000"/>
                        </a:lnSpc>
                        <a:spcAft>
                          <a:spcPts val="0"/>
                        </a:spcAft>
                      </a:pPr>
                      <a:r>
                        <a:rPr lang="en-GB" sz="1200" b="1">
                          <a:solidFill>
                            <a:srgbClr val="FFFFFF"/>
                          </a:solidFill>
                          <a:latin typeface="Calibri"/>
                          <a:ea typeface="Calibri" pitchFamily="34"/>
                          <a:cs typeface="Times New Roman"/>
                        </a:rPr>
                        <a:t>AI Code in D.E. 2/2</a:t>
                      </a:r>
                      <a:endParaRPr lang="en-GB" sz="1200">
                        <a:solidFill>
                          <a:srgbClr val="FFFFFF"/>
                        </a:solidFill>
                        <a:latin typeface="Calibri"/>
                        <a:ea typeface="Calibri" pitchFamily="34"/>
                        <a:cs typeface="Times New Roman"/>
                      </a:endParaRP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lnSpc>
                          <a:spcPct val="107000"/>
                        </a:lnSpc>
                        <a:spcAft>
                          <a:spcPts val="0"/>
                        </a:spcAft>
                      </a:pPr>
                      <a:r>
                        <a:rPr lang="en-GB" sz="1200" b="1">
                          <a:solidFill>
                            <a:srgbClr val="FFFFFF"/>
                          </a:solidFill>
                          <a:latin typeface="Calibri"/>
                          <a:ea typeface="Calibri" pitchFamily="34"/>
                          <a:cs typeface="Times New Roman"/>
                        </a:rPr>
                        <a:t>Description</a:t>
                      </a: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lnSpc>
                          <a:spcPct val="107000"/>
                        </a:lnSpc>
                        <a:spcAft>
                          <a:spcPts val="0"/>
                        </a:spcAft>
                      </a:pPr>
                      <a:r>
                        <a:rPr lang="en-GB" sz="1200" b="1" baseline="0">
                          <a:solidFill>
                            <a:srgbClr val="FFFFFF"/>
                          </a:solidFill>
                          <a:latin typeface="Calibri"/>
                          <a:ea typeface="Calibri" pitchFamily="34"/>
                          <a:cs typeface="Times New Roman"/>
                        </a:rPr>
                        <a:t>Goods Item or Header Level</a:t>
                      </a:r>
                      <a:endParaRPr lang="en-GB" sz="1200" b="1">
                        <a:solidFill>
                          <a:srgbClr val="FFFFFF"/>
                        </a:solidFill>
                        <a:latin typeface="Calibri"/>
                        <a:ea typeface="Calibri" pitchFamily="34"/>
                        <a:cs typeface="Times New Roman"/>
                      </a:endParaRP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lnSpc>
                          <a:spcPct val="107000"/>
                        </a:lnSpc>
                        <a:spcAft>
                          <a:spcPts val="0"/>
                        </a:spcAft>
                      </a:pPr>
                      <a:r>
                        <a:rPr lang="en-GB" sz="1200" b="1">
                          <a:solidFill>
                            <a:srgbClr val="FFFFFF"/>
                          </a:solidFill>
                          <a:latin typeface="Calibri"/>
                          <a:ea typeface="Calibri" pitchFamily="34"/>
                          <a:cs typeface="Times New Roman"/>
                        </a:rPr>
                        <a:t>Import/Export Declaration</a:t>
                      </a: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tc>
                  <a:txBody>
                    <a:bodyPr/>
                    <a:lstStyle/>
                    <a:p>
                      <a:pPr lvl="0" algn="ctr">
                        <a:lnSpc>
                          <a:spcPct val="107000"/>
                        </a:lnSpc>
                        <a:spcAft>
                          <a:spcPts val="0"/>
                        </a:spcAft>
                      </a:pPr>
                      <a:r>
                        <a:rPr lang="en-GB" sz="1200" b="1">
                          <a:solidFill>
                            <a:srgbClr val="FFFFFF"/>
                          </a:solidFill>
                          <a:latin typeface="Calibri"/>
                          <a:ea typeface="Calibri" pitchFamily="34"/>
                          <a:cs typeface="Times New Roman"/>
                        </a:rPr>
                        <a:t>Declaration Types</a:t>
                      </a:r>
                    </a:p>
                  </a:txBody>
                  <a:tcPr marL="68580" marR="68580" marT="0" marB="0" anchor="ctr">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A6A6A6"/>
                    </a:solidFill>
                  </a:tcPr>
                </a:tc>
                <a:extLst>
                  <a:ext uri="{0D108BD9-81ED-4DB2-BD59-A6C34878D82A}">
                    <a16:rowId xmlns:a16="http://schemas.microsoft.com/office/drawing/2014/main" val="3879645845"/>
                  </a:ext>
                </a:extLst>
              </a:tr>
              <a:tr h="318805">
                <a:tc rowSpan="5">
                  <a:txBody>
                    <a:bodyPr/>
                    <a:lstStyle/>
                    <a:p>
                      <a:pPr lvl="0">
                        <a:lnSpc>
                          <a:spcPct val="107000"/>
                        </a:lnSpc>
                        <a:spcAft>
                          <a:spcPts val="0"/>
                        </a:spcAft>
                      </a:pPr>
                      <a:r>
                        <a:rPr lang="en-GB" sz="1200" b="1">
                          <a:solidFill>
                            <a:srgbClr val="FFFFFF"/>
                          </a:solidFill>
                          <a:latin typeface="Calibri"/>
                          <a:ea typeface="Calibri" pitchFamily="34"/>
                          <a:cs typeface="Times New Roman"/>
                        </a:rPr>
                        <a:t>NI Protocol</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ED7D31"/>
                    </a:solidFill>
                  </a:tcPr>
                </a:tc>
                <a:tc>
                  <a:txBody>
                    <a:bodyPr/>
                    <a:lstStyle/>
                    <a:p>
                      <a:pPr lvl="0">
                        <a:lnSpc>
                          <a:spcPct val="107000"/>
                        </a:lnSpc>
                        <a:spcAft>
                          <a:spcPts val="0"/>
                        </a:spcAft>
                      </a:pPr>
                      <a:r>
                        <a:rPr lang="en-GB" sz="1200" b="1">
                          <a:latin typeface="Calibri"/>
                          <a:ea typeface="Calibri" pitchFamily="34"/>
                          <a:cs typeface="Times New Roman"/>
                        </a:rPr>
                        <a:t>NIIMP </a:t>
                      </a:r>
                      <a:endParaRPr lang="en-GB" sz="1200" b="1">
                        <a:latin typeface="Calibri" pitchFamily="34"/>
                        <a:ea typeface="Calibri" pitchFamily="34"/>
                        <a:cs typeface="Times New Roman" pitchFamily="18"/>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r>
                        <a:rPr lang="en-GB" sz="1200">
                          <a:solidFill>
                            <a:srgbClr val="000000"/>
                          </a:solidFill>
                          <a:latin typeface="Calibri"/>
                          <a:cs typeface="Arial"/>
                        </a:rPr>
                        <a:t>Indicates a ROW to NI Import declaration</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Item Level (against</a:t>
                      </a:r>
                      <a:r>
                        <a:rPr lang="en-GB" sz="1200" b="0" baseline="0">
                          <a:latin typeface="Calibri"/>
                          <a:ea typeface="Calibri" pitchFamily="34"/>
                          <a:cs typeface="Times New Roman"/>
                        </a:rPr>
                        <a:t> all goods items)</a:t>
                      </a:r>
                      <a:endParaRPr lang="en-GB" sz="1200" b="0">
                        <a:latin typeface="Calibri"/>
                        <a:ea typeface="Calibri" pitchFamily="34"/>
                        <a:cs typeface="Times New Roman"/>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Import</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All types</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extLst>
                  <a:ext uri="{0D108BD9-81ED-4DB2-BD59-A6C34878D82A}">
                    <a16:rowId xmlns:a16="http://schemas.microsoft.com/office/drawing/2014/main" val="2188362010"/>
                  </a:ext>
                </a:extLst>
              </a:tr>
              <a:tr h="318805">
                <a:tc vMerge="1">
                  <a:txBody>
                    <a:bodyPr/>
                    <a:lstStyle/>
                    <a:p>
                      <a:endParaRPr lang="en-GB"/>
                    </a:p>
                  </a:txBody>
                  <a:tcPr/>
                </a:tc>
                <a:tc>
                  <a:txBody>
                    <a:bodyPr/>
                    <a:lstStyle/>
                    <a:p>
                      <a:pPr lvl="0">
                        <a:lnSpc>
                          <a:spcPct val="107000"/>
                        </a:lnSpc>
                        <a:spcAft>
                          <a:spcPts val="0"/>
                        </a:spcAft>
                      </a:pPr>
                      <a:r>
                        <a:rPr lang="en-GB" sz="1200" b="1">
                          <a:latin typeface="Calibri"/>
                          <a:ea typeface="Calibri" pitchFamily="34"/>
                          <a:cs typeface="Times New Roman"/>
                        </a:rPr>
                        <a:t>NIDOM</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F8CBAD"/>
                    </a:solidFill>
                  </a:tcPr>
                </a:tc>
                <a:tc>
                  <a:txBody>
                    <a:bodyPr/>
                    <a:lstStyle/>
                    <a:p>
                      <a:pPr lvl="0"/>
                      <a:r>
                        <a:rPr lang="en-GB" sz="1200">
                          <a:solidFill>
                            <a:srgbClr val="000000"/>
                          </a:solidFill>
                          <a:latin typeface="Calibri"/>
                          <a:cs typeface="Arial"/>
                        </a:rPr>
                        <a:t>Indicates a GB to NI Import declaration</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F8CBAD"/>
                    </a:solidFill>
                  </a:tcPr>
                </a:tc>
                <a:tc>
                  <a:txBody>
                    <a:bodyPr/>
                    <a:lstStyle/>
                    <a:p>
                      <a:pPr marL="0" marR="0" lvl="0" indent="0" algn="l" defTabSz="914400" rtl="0" fontAlgn="auto" hangingPunct="1">
                        <a:lnSpc>
                          <a:spcPct val="107000"/>
                        </a:lnSpc>
                        <a:spcBef>
                          <a:spcPts val="0"/>
                        </a:spcBef>
                        <a:spcAft>
                          <a:spcPts val="0"/>
                        </a:spcAft>
                        <a:buNone/>
                        <a:tabLst/>
                      </a:pPr>
                      <a:r>
                        <a:rPr lang="en-GB" sz="1200" b="0">
                          <a:latin typeface="Calibri"/>
                          <a:ea typeface="Calibri" pitchFamily="34"/>
                          <a:cs typeface="Times New Roman"/>
                        </a:rPr>
                        <a:t>Item Level (against</a:t>
                      </a:r>
                      <a:r>
                        <a:rPr lang="en-GB" sz="1200" b="0" baseline="0">
                          <a:latin typeface="Calibri"/>
                          <a:ea typeface="Calibri" pitchFamily="34"/>
                          <a:cs typeface="Times New Roman"/>
                        </a:rPr>
                        <a:t> all goods items)</a:t>
                      </a:r>
                      <a:endParaRPr lang="en-GB" sz="1200" b="0">
                        <a:latin typeface="Calibri"/>
                        <a:ea typeface="Calibri" pitchFamily="34"/>
                        <a:cs typeface="Times New Roman"/>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F8CBAD"/>
                    </a:solidFill>
                  </a:tcPr>
                </a:tc>
                <a:tc>
                  <a:txBody>
                    <a:bodyPr/>
                    <a:lstStyle/>
                    <a:p>
                      <a:pPr marL="0" marR="0" lvl="0" indent="0" algn="l" defTabSz="914400" rtl="0" fontAlgn="auto" hangingPunct="1">
                        <a:lnSpc>
                          <a:spcPct val="107000"/>
                        </a:lnSpc>
                        <a:spcBef>
                          <a:spcPts val="0"/>
                        </a:spcBef>
                        <a:spcAft>
                          <a:spcPts val="0"/>
                        </a:spcAft>
                        <a:buNone/>
                        <a:tabLst/>
                      </a:pPr>
                      <a:r>
                        <a:rPr lang="en-GB" sz="1200" b="0">
                          <a:latin typeface="Calibri"/>
                          <a:ea typeface="Calibri" pitchFamily="34"/>
                          <a:cs typeface="Times New Roman"/>
                        </a:rPr>
                        <a:t>Import</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F8CBAD"/>
                    </a:solidFill>
                  </a:tcPr>
                </a:tc>
                <a:tc>
                  <a:txBody>
                    <a:bodyPr/>
                    <a:lstStyle/>
                    <a:p>
                      <a:pPr lvl="0">
                        <a:lnSpc>
                          <a:spcPct val="107000"/>
                        </a:lnSpc>
                        <a:spcAft>
                          <a:spcPts val="0"/>
                        </a:spcAft>
                      </a:pPr>
                      <a:r>
                        <a:rPr lang="en-GB" sz="1200" b="0">
                          <a:latin typeface="Calibri"/>
                          <a:ea typeface="Calibri" pitchFamily="34"/>
                          <a:cs typeface="Times New Roman"/>
                        </a:rPr>
                        <a:t>All</a:t>
                      </a:r>
                      <a:r>
                        <a:rPr lang="en-GB" sz="1200" b="0" baseline="0">
                          <a:latin typeface="Calibri"/>
                          <a:ea typeface="Calibri" pitchFamily="34"/>
                          <a:cs typeface="Times New Roman"/>
                        </a:rPr>
                        <a:t> types</a:t>
                      </a:r>
                      <a:endParaRPr lang="en-GB" sz="1200" b="0">
                        <a:latin typeface="Calibri"/>
                        <a:ea typeface="Calibri" pitchFamily="34"/>
                        <a:cs typeface="Times New Roman"/>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solidFill>
                      <a:srgbClr val="F8CBAD"/>
                    </a:solidFill>
                  </a:tcPr>
                </a:tc>
                <a:extLst>
                  <a:ext uri="{0D108BD9-81ED-4DB2-BD59-A6C34878D82A}">
                    <a16:rowId xmlns:a16="http://schemas.microsoft.com/office/drawing/2014/main" val="2036761115"/>
                  </a:ext>
                </a:extLst>
              </a:tr>
              <a:tr h="296393">
                <a:tc vMerge="1">
                  <a:txBody>
                    <a:bodyPr/>
                    <a:lstStyle/>
                    <a:p>
                      <a:endParaRPr lang="en-GB"/>
                    </a:p>
                  </a:txBody>
                  <a:tcPr/>
                </a:tc>
                <a:tc>
                  <a:txBody>
                    <a:bodyPr/>
                    <a:lstStyle/>
                    <a:p>
                      <a:pPr lvl="0">
                        <a:lnSpc>
                          <a:spcPct val="107000"/>
                        </a:lnSpc>
                        <a:spcAft>
                          <a:spcPts val="0"/>
                        </a:spcAft>
                      </a:pPr>
                      <a:r>
                        <a:rPr lang="en-GB" sz="1200" b="1">
                          <a:latin typeface="Calibri"/>
                          <a:ea typeface="Calibri" pitchFamily="34"/>
                          <a:cs typeface="Times New Roman"/>
                        </a:rPr>
                        <a:t>NIEXP</a:t>
                      </a:r>
                    </a:p>
                  </a:txBody>
                  <a:tcPr marL="68580" marR="68580" marT="0" marB="0">
                    <a:lnL w="12701" cap="flat" cmpd="sng" algn="ctr">
                      <a:solidFill>
                        <a:srgbClr val="FFFFFF"/>
                      </a:solidFill>
                      <a:prstDash val="solid"/>
                      <a:round/>
                      <a:headEnd type="none" w="med" len="med"/>
                      <a:tailEnd type="none" w="med" len="med"/>
                    </a:lnL>
                    <a:solidFill>
                      <a:srgbClr val="FBE5D6"/>
                    </a:solidFill>
                  </a:tcPr>
                </a:tc>
                <a:tc>
                  <a:txBody>
                    <a:bodyPr/>
                    <a:lstStyle/>
                    <a:p>
                      <a:pPr marL="0" marR="0" lvl="0" indent="0" algn="l" defTabSz="914400" rtl="0" fontAlgn="auto" hangingPunct="1">
                        <a:lnSpc>
                          <a:spcPct val="107000"/>
                        </a:lnSpc>
                        <a:spcBef>
                          <a:spcPts val="0"/>
                        </a:spcBef>
                        <a:spcAft>
                          <a:spcPts val="0"/>
                        </a:spcAft>
                        <a:buNone/>
                        <a:tabLst/>
                      </a:pPr>
                      <a:r>
                        <a:rPr lang="en-GB" sz="1200" b="0" i="0" u="none" strike="noStrike" kern="1200" cap="none" spc="0" baseline="0">
                          <a:solidFill>
                            <a:srgbClr val="000000"/>
                          </a:solidFill>
                          <a:uFillTx/>
                          <a:latin typeface="Calibri"/>
                          <a:cs typeface="Arial"/>
                        </a:rPr>
                        <a:t>Indicates a NI Export declaration</a:t>
                      </a:r>
                    </a:p>
                  </a:txBody>
                  <a:tcPr marL="68580" marR="68580" marT="0" marB="0">
                    <a:solidFill>
                      <a:srgbClr val="FBE5D6"/>
                    </a:solidFill>
                  </a:tcPr>
                </a:tc>
                <a:tc>
                  <a:txBody>
                    <a:bodyPr/>
                    <a:lstStyle/>
                    <a:p>
                      <a:pPr marL="0" marR="0" lvl="0" indent="0" algn="l" defTabSz="914400" rtl="0" fontAlgn="auto" hangingPunct="1">
                        <a:lnSpc>
                          <a:spcPct val="107000"/>
                        </a:lnSpc>
                        <a:spcBef>
                          <a:spcPts val="0"/>
                        </a:spcBef>
                        <a:spcAft>
                          <a:spcPts val="0"/>
                        </a:spcAft>
                        <a:buNone/>
                        <a:tabLst/>
                      </a:pPr>
                      <a:r>
                        <a:rPr lang="en-GB" sz="1200" b="0">
                          <a:latin typeface="Calibri"/>
                          <a:ea typeface="Calibri" pitchFamily="34"/>
                          <a:cs typeface="Times New Roman"/>
                        </a:rPr>
                        <a:t>Item Level (against</a:t>
                      </a:r>
                      <a:r>
                        <a:rPr lang="en-GB" sz="1200" b="0" baseline="0">
                          <a:latin typeface="Calibri"/>
                          <a:ea typeface="Calibri" pitchFamily="34"/>
                          <a:cs typeface="Times New Roman"/>
                        </a:rPr>
                        <a:t> all goods items)</a:t>
                      </a:r>
                      <a:endParaRPr lang="en-GB" sz="1200" b="0">
                        <a:latin typeface="Calibri"/>
                        <a:ea typeface="Calibri" pitchFamily="34"/>
                        <a:cs typeface="Times New Roman"/>
                      </a:endParaRPr>
                    </a:p>
                  </a:txBody>
                  <a:tcPr marL="68580" marR="68580" marT="0" marB="0">
                    <a:solidFill>
                      <a:srgbClr val="FBE5D6"/>
                    </a:solidFill>
                  </a:tcPr>
                </a:tc>
                <a:tc>
                  <a:txBody>
                    <a:bodyPr/>
                    <a:lstStyle/>
                    <a:p>
                      <a:pPr marL="0" marR="0" lvl="0" indent="0" algn="l" defTabSz="914400" rtl="0" fontAlgn="auto" hangingPunct="1">
                        <a:lnSpc>
                          <a:spcPct val="107000"/>
                        </a:lnSpc>
                        <a:spcBef>
                          <a:spcPts val="0"/>
                        </a:spcBef>
                        <a:spcAft>
                          <a:spcPts val="0"/>
                        </a:spcAft>
                        <a:buNone/>
                        <a:tabLst/>
                      </a:pPr>
                      <a:r>
                        <a:rPr lang="en-GB" sz="1200" b="0">
                          <a:latin typeface="Calibri"/>
                          <a:ea typeface="Calibri" pitchFamily="34"/>
                          <a:cs typeface="Times New Roman"/>
                        </a:rPr>
                        <a:t>Export</a:t>
                      </a:r>
                    </a:p>
                  </a:txBody>
                  <a:tcPr marL="68580" marR="68580" marT="0" marB="0">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All types</a:t>
                      </a:r>
                    </a:p>
                  </a:txBody>
                  <a:tcPr marL="68580" marR="68580" marT="0" marB="0">
                    <a:solidFill>
                      <a:srgbClr val="FBE5D6"/>
                    </a:solidFill>
                  </a:tcPr>
                </a:tc>
                <a:extLst>
                  <a:ext uri="{0D108BD9-81ED-4DB2-BD59-A6C34878D82A}">
                    <a16:rowId xmlns:a16="http://schemas.microsoft.com/office/drawing/2014/main" val="1769859029"/>
                  </a:ext>
                </a:extLst>
              </a:tr>
              <a:tr h="454456">
                <a:tc vMerge="1">
                  <a:txBody>
                    <a:bodyPr/>
                    <a:lstStyle/>
                    <a:p>
                      <a:endParaRPr lang="en-GB"/>
                    </a:p>
                  </a:txBody>
                  <a:tcPr/>
                </a:tc>
                <a:tc>
                  <a:txBody>
                    <a:bodyPr/>
                    <a:lstStyle/>
                    <a:p>
                      <a:pPr lvl="0">
                        <a:lnSpc>
                          <a:spcPct val="107000"/>
                        </a:lnSpc>
                        <a:spcAft>
                          <a:spcPts val="0"/>
                        </a:spcAft>
                      </a:pPr>
                      <a:r>
                        <a:rPr lang="en-GB" sz="1200" b="1">
                          <a:latin typeface="Calibri" pitchFamily="34"/>
                          <a:ea typeface="Calibri" pitchFamily="34"/>
                          <a:cs typeface="Times New Roman" pitchFamily="18"/>
                        </a:rPr>
                        <a:t>NIAID</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F8CBAD"/>
                    </a:solidFill>
                  </a:tcPr>
                </a:tc>
                <a:tc>
                  <a:txBody>
                    <a:bodyPr/>
                    <a:lstStyle/>
                    <a:p>
                      <a:pPr lvl="0"/>
                      <a:r>
                        <a:rPr lang="en-GB" sz="1200">
                          <a:solidFill>
                            <a:srgbClr val="000000"/>
                          </a:solidFill>
                          <a:latin typeface="Calibri"/>
                          <a:cs typeface="Arial" pitchFamily="34"/>
                        </a:rPr>
                        <a:t>Indicates a request for subsidy against the EU duties calculation on an ‘at risk’ commodity code item. Must be declared with AI code ‘NIDOM’ at item level.</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F8CBAD"/>
                    </a:solidFill>
                  </a:tcPr>
                </a:tc>
                <a:tc>
                  <a:txBody>
                    <a:bodyPr/>
                    <a:lstStyle/>
                    <a:p>
                      <a:pPr lvl="0">
                        <a:lnSpc>
                          <a:spcPct val="107000"/>
                        </a:lnSpc>
                        <a:spcAft>
                          <a:spcPts val="0"/>
                        </a:spcAft>
                      </a:pPr>
                      <a:r>
                        <a:rPr lang="en-GB" sz="1200" b="0">
                          <a:latin typeface="Calibri"/>
                          <a:ea typeface="Calibri" pitchFamily="34"/>
                          <a:cs typeface="Times New Roman"/>
                        </a:rPr>
                        <a:t>Item Level </a:t>
                      </a:r>
                      <a:endParaRPr lang="en-GB" sz="1200" b="0">
                        <a:latin typeface="Calibri" pitchFamily="34"/>
                        <a:ea typeface="Calibri" pitchFamily="34"/>
                        <a:cs typeface="Times New Roman" pitchFamily="18"/>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F8CBAD"/>
                    </a:solidFill>
                  </a:tcPr>
                </a:tc>
                <a:tc>
                  <a:txBody>
                    <a:bodyPr/>
                    <a:lstStyle/>
                    <a:p>
                      <a:pPr lvl="0">
                        <a:lnSpc>
                          <a:spcPct val="107000"/>
                        </a:lnSpc>
                        <a:spcAft>
                          <a:spcPts val="0"/>
                        </a:spcAft>
                      </a:pPr>
                      <a:r>
                        <a:rPr lang="en-GB" sz="1200" b="0">
                          <a:latin typeface="Calibri"/>
                          <a:ea typeface="Calibri" pitchFamily="34"/>
                          <a:cs typeface="Times New Roman"/>
                        </a:rPr>
                        <a:t>Import (GB-NI)</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F8CBAD"/>
                    </a:solidFill>
                  </a:tcPr>
                </a:tc>
                <a:tc>
                  <a:txBody>
                    <a:bodyPr/>
                    <a:lstStyle/>
                    <a:p>
                      <a:pPr lvl="0">
                        <a:lnSpc>
                          <a:spcPct val="107000"/>
                        </a:lnSpc>
                        <a:spcAft>
                          <a:spcPts val="0"/>
                        </a:spcAft>
                      </a:pPr>
                      <a:r>
                        <a:rPr lang="en-GB" sz="1200" b="0">
                          <a:latin typeface="Calibri"/>
                          <a:ea typeface="Calibri" pitchFamily="34"/>
                          <a:cs typeface="Times New Roman"/>
                        </a:rPr>
                        <a:t>All types</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B w="12701" cap="flat" cmpd="sng" algn="ctr">
                      <a:solidFill>
                        <a:srgbClr val="FFFFFF"/>
                      </a:solidFill>
                      <a:prstDash val="solid"/>
                      <a:round/>
                      <a:headEnd type="none" w="med" len="med"/>
                      <a:tailEnd type="none" w="med" len="med"/>
                    </a:lnB>
                    <a:solidFill>
                      <a:srgbClr val="F8CBAD"/>
                    </a:solidFill>
                  </a:tcPr>
                </a:tc>
                <a:extLst>
                  <a:ext uri="{0D108BD9-81ED-4DB2-BD59-A6C34878D82A}">
                    <a16:rowId xmlns:a16="http://schemas.microsoft.com/office/drawing/2014/main" val="1494348241"/>
                  </a:ext>
                </a:extLst>
              </a:tr>
              <a:tr h="516288">
                <a:tc vMerge="1">
                  <a:txBody>
                    <a:bodyPr/>
                    <a:lstStyle/>
                    <a:p>
                      <a:endParaRPr lang="en-GB"/>
                    </a:p>
                  </a:txBody>
                  <a:tcPr/>
                </a:tc>
                <a:tc>
                  <a:txBody>
                    <a:bodyPr/>
                    <a:lstStyle/>
                    <a:p>
                      <a:pPr lvl="0">
                        <a:lnSpc>
                          <a:spcPct val="107000"/>
                        </a:lnSpc>
                        <a:spcAft>
                          <a:spcPts val="0"/>
                        </a:spcAft>
                      </a:pPr>
                      <a:r>
                        <a:rPr lang="en-GB" sz="1200" b="1">
                          <a:latin typeface="Calibri"/>
                          <a:ea typeface="Calibri" pitchFamily="34"/>
                          <a:cs typeface="Times New Roman"/>
                        </a:rPr>
                        <a:t>NIREM</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marL="0" marR="0" lvl="0" indent="0" algn="l" defTabSz="914372" rtl="0" fontAlgn="auto" hangingPunct="1">
                        <a:lnSpc>
                          <a:spcPct val="100000"/>
                        </a:lnSpc>
                        <a:spcBef>
                          <a:spcPts val="0"/>
                        </a:spcBef>
                        <a:spcAft>
                          <a:spcPts val="0"/>
                        </a:spcAft>
                        <a:buNone/>
                        <a:tabLst/>
                      </a:pPr>
                      <a:r>
                        <a:rPr lang="en-GB" sz="1200">
                          <a:solidFill>
                            <a:srgbClr val="000000"/>
                          </a:solidFill>
                          <a:latin typeface="Calibri"/>
                          <a:cs typeface="Arial" pitchFamily="34"/>
                        </a:rPr>
                        <a:t>Indicates a request to de-risk a commodity code for a goods item that is not ‘at risk’. Must be declared with AI codes ‘NIIMP’ or ‘NIDOM’ at item level.</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Item Level </a:t>
                      </a:r>
                      <a:endParaRPr lang="en-GB" sz="1200" b="0">
                        <a:latin typeface="Calibri" pitchFamily="34"/>
                        <a:ea typeface="Calibri" pitchFamily="34"/>
                        <a:cs typeface="Times New Roman" pitchFamily="18"/>
                      </a:endParaRP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Import</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tc>
                  <a:txBody>
                    <a:bodyPr/>
                    <a:lstStyle/>
                    <a:p>
                      <a:pPr lvl="0">
                        <a:lnSpc>
                          <a:spcPct val="107000"/>
                        </a:lnSpc>
                        <a:spcAft>
                          <a:spcPts val="0"/>
                        </a:spcAft>
                      </a:pPr>
                      <a:r>
                        <a:rPr lang="en-GB" sz="1200" b="0">
                          <a:latin typeface="Calibri"/>
                          <a:ea typeface="Calibri" pitchFamily="34"/>
                          <a:cs typeface="Times New Roman"/>
                        </a:rPr>
                        <a:t>All types</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FBE5D6"/>
                    </a:solidFill>
                  </a:tcPr>
                </a:tc>
                <a:extLst>
                  <a:ext uri="{0D108BD9-81ED-4DB2-BD59-A6C34878D82A}">
                    <a16:rowId xmlns:a16="http://schemas.microsoft.com/office/drawing/2014/main" val="2836040318"/>
                  </a:ext>
                </a:extLst>
              </a:tr>
              <a:tr h="543199">
                <a:tc>
                  <a:txBody>
                    <a:bodyPr/>
                    <a:lstStyle/>
                    <a:p>
                      <a:pPr lvl="0">
                        <a:lnSpc>
                          <a:spcPct val="107000"/>
                        </a:lnSpc>
                        <a:spcAft>
                          <a:spcPts val="0"/>
                        </a:spcAft>
                      </a:pPr>
                      <a:r>
                        <a:rPr lang="en-GB" sz="1200" b="1">
                          <a:solidFill>
                            <a:srgbClr val="FFFFFF"/>
                          </a:solidFill>
                          <a:latin typeface="Calibri" pitchFamily="34"/>
                          <a:ea typeface="Calibri" pitchFamily="34"/>
                          <a:cs typeface="Times New Roman" pitchFamily="18"/>
                        </a:rPr>
                        <a:t>RoRo</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4472C4"/>
                    </a:solidFill>
                  </a:tcPr>
                </a:tc>
                <a:tc>
                  <a:txBody>
                    <a:bodyPr/>
                    <a:lstStyle/>
                    <a:p>
                      <a:pPr lvl="0">
                        <a:lnSpc>
                          <a:spcPct val="107000"/>
                        </a:lnSpc>
                        <a:spcAft>
                          <a:spcPts val="0"/>
                        </a:spcAft>
                      </a:pPr>
                      <a:r>
                        <a:rPr lang="en-GB" sz="1200" b="1">
                          <a:latin typeface="Calibri"/>
                          <a:ea typeface="Calibri" pitchFamily="34"/>
                          <a:cs typeface="Times New Roman"/>
                        </a:rPr>
                        <a:t>RRS01</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EEBF7"/>
                    </a:solidFill>
                  </a:tcPr>
                </a:tc>
                <a:tc>
                  <a:txBody>
                    <a:bodyPr/>
                    <a:lstStyle/>
                    <a:p>
                      <a:pPr marL="0" marR="0" lvl="0" indent="0" algn="l" defTabSz="914400" rtl="0" fontAlgn="auto" hangingPunct="1">
                        <a:lnSpc>
                          <a:spcPct val="107000"/>
                        </a:lnSpc>
                        <a:spcBef>
                          <a:spcPts val="0"/>
                        </a:spcBef>
                        <a:spcAft>
                          <a:spcPts val="0"/>
                        </a:spcAft>
                        <a:buNone/>
                        <a:tabLst/>
                      </a:pPr>
                      <a:r>
                        <a:rPr lang="en-GB" sz="1200" kern="1200">
                          <a:solidFill>
                            <a:srgbClr val="000000"/>
                          </a:solidFill>
                          <a:latin typeface="Calibri"/>
                          <a:cs typeface="Arial" pitchFamily="34"/>
                        </a:rPr>
                        <a:t>Indicates a RoRo declaration and the ports where hauliers will arrive declarations. Must be declared if valid GVMS location is declared in D.E. 5/23 (Goods Location Code)</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EEBF7"/>
                    </a:solidFill>
                  </a:tcPr>
                </a:tc>
                <a:tc>
                  <a:txBody>
                    <a:bodyPr/>
                    <a:lstStyle/>
                    <a:p>
                      <a:pPr lvl="0">
                        <a:lnSpc>
                          <a:spcPct val="107000"/>
                        </a:lnSpc>
                        <a:spcAft>
                          <a:spcPts val="0"/>
                        </a:spcAft>
                      </a:pPr>
                      <a:r>
                        <a:rPr lang="en-GB" sz="1200" b="0">
                          <a:latin typeface="Calibri"/>
                          <a:ea typeface="Calibri" pitchFamily="34"/>
                          <a:cs typeface="Times New Roman"/>
                        </a:rPr>
                        <a:t>Header Level</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EEBF7"/>
                    </a:solidFill>
                  </a:tcPr>
                </a:tc>
                <a:tc>
                  <a:txBody>
                    <a:bodyPr/>
                    <a:lstStyle/>
                    <a:p>
                      <a:pPr lvl="0">
                        <a:lnSpc>
                          <a:spcPct val="107000"/>
                        </a:lnSpc>
                        <a:spcAft>
                          <a:spcPts val="0"/>
                        </a:spcAft>
                      </a:pPr>
                      <a:r>
                        <a:rPr lang="en-GB" sz="1200" b="0">
                          <a:latin typeface="Calibri"/>
                          <a:ea typeface="Calibri" pitchFamily="34"/>
                          <a:cs typeface="Times New Roman"/>
                        </a:rPr>
                        <a:t>Import and Export</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EEBF7"/>
                    </a:solidFill>
                  </a:tcPr>
                </a:tc>
                <a:tc>
                  <a:txBody>
                    <a:bodyPr/>
                    <a:lstStyle/>
                    <a:p>
                      <a:pPr lvl="0">
                        <a:lnSpc>
                          <a:spcPct val="107000"/>
                        </a:lnSpc>
                        <a:spcAft>
                          <a:spcPts val="0"/>
                        </a:spcAft>
                      </a:pPr>
                      <a:r>
                        <a:rPr lang="en-GB" sz="1200" b="0" dirty="0">
                          <a:latin typeface="Calibri" pitchFamily="34"/>
                          <a:ea typeface="Calibri" pitchFamily="34"/>
                          <a:cs typeface="Times New Roman" pitchFamily="18"/>
                        </a:rPr>
                        <a:t>All types</a:t>
                      </a:r>
                    </a:p>
                  </a:txBody>
                  <a:tcPr marL="68580" marR="68580" marT="0" marB="0">
                    <a:lnL w="12701" cap="flat" cmpd="sng" algn="ctr">
                      <a:solidFill>
                        <a:srgbClr val="FFFFFF"/>
                      </a:solidFill>
                      <a:prstDash val="solid"/>
                      <a:round/>
                      <a:headEnd type="none" w="med" len="med"/>
                      <a:tailEnd type="none" w="med" len="med"/>
                    </a:lnL>
                    <a:lnR w="12701" cap="flat" cmpd="sng" algn="ctr">
                      <a:solidFill>
                        <a:srgbClr val="FFFFFF"/>
                      </a:solidFill>
                      <a:prstDash val="solid"/>
                      <a:round/>
                      <a:headEnd type="none" w="med" len="med"/>
                      <a:tailEnd type="none" w="med" len="med"/>
                    </a:lnR>
                    <a:lnT w="12701" cap="flat" cmpd="sng" algn="ctr">
                      <a:solidFill>
                        <a:srgbClr val="FFFFFF"/>
                      </a:solidFill>
                      <a:prstDash val="solid"/>
                      <a:round/>
                      <a:headEnd type="none" w="med" len="med"/>
                      <a:tailEnd type="none" w="med" len="med"/>
                    </a:lnT>
                    <a:lnB w="12701" cap="flat" cmpd="sng" algn="ctr">
                      <a:solidFill>
                        <a:srgbClr val="FFFFFF"/>
                      </a:solidFill>
                      <a:prstDash val="solid"/>
                      <a:round/>
                      <a:headEnd type="none" w="med" len="med"/>
                      <a:tailEnd type="none" w="med" len="med"/>
                    </a:lnB>
                    <a:solidFill>
                      <a:srgbClr val="DEEBF7"/>
                    </a:solidFill>
                  </a:tcPr>
                </a:tc>
                <a:extLst>
                  <a:ext uri="{0D108BD9-81ED-4DB2-BD59-A6C34878D82A}">
                    <a16:rowId xmlns:a16="http://schemas.microsoft.com/office/drawing/2014/main" val="2889636314"/>
                  </a:ext>
                </a:extLst>
              </a:tr>
            </a:tbl>
          </a:graphicData>
        </a:graphic>
      </p:graphicFrame>
      <p:sp>
        <p:nvSpPr>
          <p:cNvPr id="6" name="Rectangle 26">
            <a:extLst>
              <a:ext uri="{FF2B5EF4-FFF2-40B4-BE49-F238E27FC236}">
                <a16:creationId xmlns:a16="http://schemas.microsoft.com/office/drawing/2014/main" id="{A13D3EB4-4848-4C3D-A193-0AA79B44C94E}"/>
              </a:ext>
            </a:extLst>
          </p:cNvPr>
          <p:cNvSpPr/>
          <p:nvPr/>
        </p:nvSpPr>
        <p:spPr>
          <a:xfrm>
            <a:off x="363967" y="963329"/>
            <a:ext cx="11396158" cy="718727"/>
          </a:xfrm>
          <a:prstGeom prst="rect">
            <a:avLst/>
          </a:prstGeom>
          <a:noFill/>
          <a:ln cap="flat">
            <a:noFill/>
            <a:prstDash val="solid"/>
          </a:ln>
        </p:spPr>
        <p:txBody>
          <a:bodyPr vert="horz" wrap="square" lIns="91440" tIns="45720" rIns="91440" bIns="45720" anchor="t" anchorCtr="0" compatLnSpc="1">
            <a:spAutoFit/>
          </a:bodyPr>
          <a:lstStyle/>
          <a:p>
            <a:pPr marL="0" marR="0" lvl="0" indent="0" algn="l" defTabSz="914400" rtl="0" fontAlgn="auto" hangingPunct="1">
              <a:lnSpc>
                <a:spcPct val="107000"/>
              </a:lnSpc>
              <a:spcBef>
                <a:spcPts val="0"/>
              </a:spcBef>
              <a:spcAft>
                <a:spcPts val="800"/>
              </a:spcAft>
              <a:buNone/>
              <a:tabLst/>
              <a:defRPr sz="1800" b="0" i="0" u="none" strike="noStrike" kern="0" cap="none" spc="0" baseline="0">
                <a:solidFill>
                  <a:srgbClr val="000000"/>
                </a:solidFill>
                <a:uFillTx/>
              </a:defRPr>
            </a:pPr>
            <a:endParaRPr lang="en-GB" sz="600" b="0" i="0" u="none" strike="noStrike" kern="1200" cap="none" spc="0" baseline="0">
              <a:solidFill>
                <a:srgbClr val="000000"/>
              </a:solidFill>
              <a:uFillTx/>
              <a:latin typeface="Calibri"/>
              <a:ea typeface="Calibri" pitchFamily="34"/>
              <a:cs typeface="Times New Roman" pitchFamily="18"/>
            </a:endParaRPr>
          </a:p>
          <a:p>
            <a:pPr marL="0" marR="0" lvl="0" indent="0" algn="l" defTabSz="914400" rtl="0" fontAlgn="auto" hangingPunct="1">
              <a:lnSpc>
                <a:spcPct val="107000"/>
              </a:lnSpc>
              <a:spcBef>
                <a:spcPts val="300"/>
              </a:spcBef>
              <a:spcAft>
                <a:spcPts val="0"/>
              </a:spcAft>
              <a:buNone/>
              <a:tabLst/>
              <a:defRPr sz="1800" b="0" i="0" u="none" strike="noStrike" kern="0" cap="none" spc="0" baseline="0">
                <a:solidFill>
                  <a:srgbClr val="000000"/>
                </a:solidFill>
                <a:uFillTx/>
              </a:defRPr>
            </a:pPr>
            <a:r>
              <a:rPr lang="en-GB" sz="1200" b="0" i="0" u="none" strike="noStrike" kern="1200" cap="none" spc="0" baseline="0">
                <a:solidFill>
                  <a:srgbClr val="000000"/>
                </a:solidFill>
                <a:uFillTx/>
                <a:latin typeface="Calibri"/>
                <a:ea typeface="Calibri" pitchFamily="34"/>
                <a:cs typeface="Times New Roman" pitchFamily="18"/>
              </a:rPr>
              <a:t>The table below provides an outline of the AI codes that the trader will need to declare depending on the type of movement and requested application of subsidy or de-risking. An AI code is an optional field on a declaration whereby the trader may enter a specific code and CDS will trigger the relevant validation or calculation scenarios. </a:t>
            </a:r>
          </a:p>
        </p:txBody>
      </p:sp>
      <p:sp>
        <p:nvSpPr>
          <p:cNvPr id="8" name="Slide Number Placeholder 5">
            <a:extLst>
              <a:ext uri="{FF2B5EF4-FFF2-40B4-BE49-F238E27FC236}">
                <a16:creationId xmlns:a16="http://schemas.microsoft.com/office/drawing/2014/main" id="{ACD23388-B5F9-487E-AEEB-5A3DDBDCCBFB}"/>
              </a:ext>
            </a:extLst>
          </p:cNvPr>
          <p:cNvSpPr txBox="1"/>
          <p:nvPr/>
        </p:nvSpPr>
        <p:spPr>
          <a:xfrm>
            <a:off x="11672535" y="6387897"/>
            <a:ext cx="443849" cy="365129"/>
          </a:xfrm>
          <a:prstGeom prst="rect">
            <a:avLst/>
          </a:prstGeom>
          <a:noFill/>
          <a:ln cap="flat">
            <a:noFill/>
          </a:ln>
        </p:spPr>
        <p:txBody>
          <a:bodyPr vert="horz" wrap="square" lIns="91440" tIns="45720" rIns="91440" bIns="45720" anchor="ctr" anchorCtr="0" compatLnSpc="1">
            <a:noAutofit/>
          </a:bodyPr>
          <a:lstStyle/>
          <a:p>
            <a:pPr marL="0" marR="0" lvl="0" indent="0" algn="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99AC7073-24A5-48D7-B966-93A4AF9A3333}" type="slidenum">
              <a:rPr sz="1200"/>
              <a:t>452</a:t>
            </a:fld>
            <a:endParaRPr lang="en-GB" sz="1200" b="0" i="0" u="none" strike="noStrike" kern="1200" cap="none" spc="0" baseline="0" dirty="0">
              <a:solidFill>
                <a:srgbClr val="000000"/>
              </a:solidFill>
              <a:uFillTx/>
              <a:latin typeface="Calibri"/>
            </a:endParaRPr>
          </a:p>
        </p:txBody>
      </p:sp>
      <p:sp>
        <p:nvSpPr>
          <p:cNvPr id="9" name="Oval 30">
            <a:hlinkClick r:id="rId2" action="ppaction://hlinksldjump"/>
            <a:extLst>
              <a:ext uri="{FF2B5EF4-FFF2-40B4-BE49-F238E27FC236}">
                <a16:creationId xmlns:a16="http://schemas.microsoft.com/office/drawing/2014/main" id="{2E859E18-D797-459B-B46E-385A91C41894}"/>
              </a:ext>
            </a:extLst>
          </p:cNvPr>
          <p:cNvSpPr/>
          <p:nvPr/>
        </p:nvSpPr>
        <p:spPr>
          <a:xfrm>
            <a:off x="10374690" y="234516"/>
            <a:ext cx="314480" cy="30014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0" name="Oval 31">
            <a:hlinkClick r:id="rId2" action="ppaction://hlinksldjump"/>
            <a:extLst>
              <a:ext uri="{FF2B5EF4-FFF2-40B4-BE49-F238E27FC236}">
                <a16:creationId xmlns:a16="http://schemas.microsoft.com/office/drawing/2014/main" id="{F4885DD0-3917-4B58-8DFF-6FBCA73A3135}"/>
              </a:ext>
            </a:extLst>
          </p:cNvPr>
          <p:cNvSpPr/>
          <p:nvPr/>
        </p:nvSpPr>
        <p:spPr>
          <a:xfrm>
            <a:off x="10688293"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1" name="Oval 32">
            <a:hlinkClick r:id="rId3" action="ppaction://hlinksldjump"/>
            <a:extLst>
              <a:ext uri="{FF2B5EF4-FFF2-40B4-BE49-F238E27FC236}">
                <a16:creationId xmlns:a16="http://schemas.microsoft.com/office/drawing/2014/main" id="{44759F92-59B8-48FF-A083-C3E7BAFE9227}"/>
              </a:ext>
            </a:extLst>
          </p:cNvPr>
          <p:cNvSpPr/>
          <p:nvPr/>
        </p:nvSpPr>
        <p:spPr>
          <a:xfrm>
            <a:off x="1101046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A6A6A6"/>
              </a:solidFill>
              <a:uFillTx/>
              <a:latin typeface="Calibri"/>
            </a:endParaRPr>
          </a:p>
        </p:txBody>
      </p:sp>
      <p:sp>
        <p:nvSpPr>
          <p:cNvPr id="12" name="Oval 33">
            <a:hlinkClick r:id="rId4" action="ppaction://hlinksldjump"/>
            <a:extLst>
              <a:ext uri="{FF2B5EF4-FFF2-40B4-BE49-F238E27FC236}">
                <a16:creationId xmlns:a16="http://schemas.microsoft.com/office/drawing/2014/main" id="{408B28BF-32F7-4085-B21F-404F5F312457}"/>
              </a:ext>
            </a:extLst>
          </p:cNvPr>
          <p:cNvSpPr/>
          <p:nvPr/>
        </p:nvSpPr>
        <p:spPr>
          <a:xfrm>
            <a:off x="11325804"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3" name="TextBox 34">
            <a:hlinkClick r:id="rId2" action="ppaction://hlinksldjump"/>
            <a:extLst>
              <a:ext uri="{FF2B5EF4-FFF2-40B4-BE49-F238E27FC236}">
                <a16:creationId xmlns:a16="http://schemas.microsoft.com/office/drawing/2014/main" id="{2A75B3DF-9BB0-42B5-9701-E698DF0D0840}"/>
              </a:ext>
            </a:extLst>
          </p:cNvPr>
          <p:cNvSpPr txBox="1"/>
          <p:nvPr/>
        </p:nvSpPr>
        <p:spPr>
          <a:xfrm>
            <a:off x="10387684"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1</a:t>
            </a:r>
          </a:p>
        </p:txBody>
      </p:sp>
      <p:sp>
        <p:nvSpPr>
          <p:cNvPr id="14" name="TextBox 35">
            <a:hlinkClick r:id="rId2" action="ppaction://hlinksldjump"/>
            <a:extLst>
              <a:ext uri="{FF2B5EF4-FFF2-40B4-BE49-F238E27FC236}">
                <a16:creationId xmlns:a16="http://schemas.microsoft.com/office/drawing/2014/main" id="{3310DDB2-653D-485C-903B-F3DEEF9FBD97}"/>
              </a:ext>
            </a:extLst>
          </p:cNvPr>
          <p:cNvSpPr txBox="1"/>
          <p:nvPr/>
        </p:nvSpPr>
        <p:spPr>
          <a:xfrm>
            <a:off x="10695828"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2</a:t>
            </a:r>
          </a:p>
        </p:txBody>
      </p:sp>
      <p:sp>
        <p:nvSpPr>
          <p:cNvPr id="15" name="TextBox 36">
            <a:hlinkClick r:id="rId3" action="ppaction://hlinksldjump"/>
            <a:extLst>
              <a:ext uri="{FF2B5EF4-FFF2-40B4-BE49-F238E27FC236}">
                <a16:creationId xmlns:a16="http://schemas.microsoft.com/office/drawing/2014/main" id="{9545BCCC-CE1F-4C56-8282-37EBBCF35452}"/>
              </a:ext>
            </a:extLst>
          </p:cNvPr>
          <p:cNvSpPr txBox="1"/>
          <p:nvPr/>
        </p:nvSpPr>
        <p:spPr>
          <a:xfrm>
            <a:off x="1101589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3</a:t>
            </a:r>
          </a:p>
        </p:txBody>
      </p:sp>
      <p:sp>
        <p:nvSpPr>
          <p:cNvPr id="16" name="TextBox 37">
            <a:hlinkClick r:id="rId3" action="ppaction://hlinksldjump"/>
            <a:extLst>
              <a:ext uri="{FF2B5EF4-FFF2-40B4-BE49-F238E27FC236}">
                <a16:creationId xmlns:a16="http://schemas.microsoft.com/office/drawing/2014/main" id="{7EB8108E-C8C8-48C8-9131-5C61861902A4}"/>
              </a:ext>
            </a:extLst>
          </p:cNvPr>
          <p:cNvSpPr txBox="1"/>
          <p:nvPr/>
        </p:nvSpPr>
        <p:spPr>
          <a:xfrm>
            <a:off x="11340635"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4</a:t>
            </a:r>
          </a:p>
        </p:txBody>
      </p:sp>
      <p:sp>
        <p:nvSpPr>
          <p:cNvPr id="17" name="Oval 38">
            <a:extLst>
              <a:ext uri="{FF2B5EF4-FFF2-40B4-BE49-F238E27FC236}">
                <a16:creationId xmlns:a16="http://schemas.microsoft.com/office/drawing/2014/main" id="{0CE13621-198A-429F-9A44-CD4633A4D2D3}"/>
              </a:ext>
            </a:extLst>
          </p:cNvPr>
          <p:cNvSpPr/>
          <p:nvPr/>
        </p:nvSpPr>
        <p:spPr>
          <a:xfrm>
            <a:off x="11651961" y="226341"/>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E4E4E4"/>
          </a:solidFill>
          <a:ln w="12701" cap="flat">
            <a:solidFill>
              <a:srgbClr val="E4E4E4"/>
            </a:solidFill>
            <a:prstDash val="solid"/>
            <a:miter/>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
        <p:nvSpPr>
          <p:cNvPr id="18" name="TextBox 39">
            <a:hlinkClick r:id="rId5" action="ppaction://hlinksldjump"/>
            <a:extLst>
              <a:ext uri="{FF2B5EF4-FFF2-40B4-BE49-F238E27FC236}">
                <a16:creationId xmlns:a16="http://schemas.microsoft.com/office/drawing/2014/main" id="{D1B7D23E-C8EB-40AB-9CD0-6EB059DE0D0D}"/>
              </a:ext>
            </a:extLst>
          </p:cNvPr>
          <p:cNvSpPr txBox="1"/>
          <p:nvPr/>
        </p:nvSpPr>
        <p:spPr>
          <a:xfrm>
            <a:off x="11666793" y="215304"/>
            <a:ext cx="264316" cy="338556"/>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600" b="1" i="0" u="none" strike="noStrike" kern="1200" cap="none" spc="0" baseline="0">
                <a:solidFill>
                  <a:srgbClr val="A6A6A6"/>
                </a:solidFill>
                <a:uFillTx/>
                <a:latin typeface="Calibri"/>
              </a:rPr>
              <a:t>5</a:t>
            </a:r>
          </a:p>
        </p:txBody>
      </p:sp>
      <p:pic>
        <p:nvPicPr>
          <p:cNvPr id="19" name="Picture 40">
            <a:hlinkClick r:id="rId2" action="ppaction://hlinksldjump"/>
            <a:extLst>
              <a:ext uri="{FF2B5EF4-FFF2-40B4-BE49-F238E27FC236}">
                <a16:creationId xmlns:a16="http://schemas.microsoft.com/office/drawing/2014/main" id="{43B9EED0-F8FF-4641-A27F-B4E65A317E2B}"/>
              </a:ext>
            </a:extLst>
          </p:cNvPr>
          <p:cNvPicPr>
            <a:picLocks noChangeAspect="1"/>
          </p:cNvPicPr>
          <p:nvPr/>
        </p:nvPicPr>
        <p:blipFill>
          <a:blip r:embed="rId6">
            <a:alphaModFix amt="35000"/>
          </a:blip>
          <a:srcRect l="20606" t="21077" r="21527" b="31021"/>
          <a:stretch>
            <a:fillRect/>
          </a:stretch>
        </p:blipFill>
        <p:spPr>
          <a:xfrm>
            <a:off x="10082201" y="272070"/>
            <a:ext cx="256918" cy="210595"/>
          </a:xfrm>
          <a:prstGeom prst="rect">
            <a:avLst/>
          </a:prstGeom>
          <a:noFill/>
          <a:ln cap="flat">
            <a:noFill/>
          </a:ln>
        </p:spPr>
      </p:pic>
      <p:sp>
        <p:nvSpPr>
          <p:cNvPr id="20" name="Oval 41">
            <a:hlinkClick r:id="rId2" action="ppaction://hlinksldjump"/>
            <a:extLst>
              <a:ext uri="{FF2B5EF4-FFF2-40B4-BE49-F238E27FC236}">
                <a16:creationId xmlns:a16="http://schemas.microsoft.com/office/drawing/2014/main" id="{CC58B5E4-05C4-442E-95D4-41F1BEEBEAAC}"/>
              </a:ext>
            </a:extLst>
          </p:cNvPr>
          <p:cNvSpPr/>
          <p:nvPr/>
        </p:nvSpPr>
        <p:spPr>
          <a:xfrm>
            <a:off x="10051606" y="223333"/>
            <a:ext cx="318110" cy="316492"/>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6A6A6">
              <a:alpha val="30196"/>
            </a:srgb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GB" sz="1800" b="0" i="0" u="none" strike="noStrike" kern="1200" cap="none" spc="0" baseline="0">
              <a:solidFill>
                <a:srgbClr val="FFFFFF"/>
              </a:solidFill>
              <a:uFillTx/>
              <a:latin typeface="Calibri"/>
            </a:endParaRPr>
          </a:p>
        </p:txBody>
      </p:sp>
    </p:spTree>
  </p:cSld>
  <p:clrMapOvr>
    <a:masterClrMapping/>
  </p:clrMapOvr>
</p:sld>
</file>

<file path=ppt/theme/theme1.xml><?xml version="1.0" encoding="utf-8"?>
<a:theme xmlns:a="http://schemas.openxmlformats.org/drawingml/2006/main" name="CDSNIP_Scope_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CDSNIP_Scope_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CDSNIP_Scope_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425C439D45257489CE2CD6F3B73DCDD" ma:contentTypeVersion="16" ma:contentTypeDescription="Create a new document." ma:contentTypeScope="" ma:versionID="94127b0693e2c79aed92db1a8e799c75">
  <xsd:schema xmlns:xsd="http://www.w3.org/2001/XMLSchema" xmlns:xs="http://www.w3.org/2001/XMLSchema" xmlns:p="http://schemas.microsoft.com/office/2006/metadata/properties" xmlns:ns2="535cbac5-1af9-4cd4-9513-0afcd68db736" xmlns:ns3="cee8eb0f-360c-4f1c-b563-d344757e98da" targetNamespace="http://schemas.microsoft.com/office/2006/metadata/properties" ma:root="true" ma:fieldsID="9416164c2fe4e55404819b7ff1bdb4d2" ns2:_="" ns3:_="">
    <xsd:import namespace="535cbac5-1af9-4cd4-9513-0afcd68db736"/>
    <xsd:import namespace="cee8eb0f-360c-4f1c-b563-d344757e98d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3:SharedWithUsers" minOccurs="0"/>
                <xsd:element ref="ns3:SharedWithDetails" minOccurs="0"/>
                <xsd:element ref="ns2:MediaServiceDateTaken" minOccurs="0"/>
                <xsd:element ref="ns2:MediaLengthInSeconds" minOccurs="0"/>
                <xsd:element ref="ns2:MediaServiceObjectDetectorVersion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35cbac5-1af9-4cd4-9513-0afcd68db73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ObjectDetectorVersions" ma:index="16" nillable="true" ma:displayName="MediaServiceObjectDetectorVersions" ma:hidden="true" ma:indexed="true" ma:internalName="MediaServiceObjectDetectorVersions" ma:readOnly="true">
      <xsd:simpleType>
        <xsd:restriction base="dms:Text"/>
      </xsd:simpleType>
    </xsd:element>
    <xsd:element name="lcf76f155ced4ddcb4097134ff3c332f" ma:index="18" nillable="true" ma:taxonomy="true" ma:internalName="lcf76f155ced4ddcb4097134ff3c332f" ma:taxonomyFieldName="MediaServiceImageTags" ma:displayName="Image Tags" ma:readOnly="false" ma:fieldId="{5cf76f15-5ced-4ddc-b409-7134ff3c332f}" ma:taxonomyMulti="true" ma:sspId="a3ebb39f-d69b-4575-80f5-9912993956e5" ma:termSetId="09814cd3-568e-fe90-9814-8d621ff8fb84" ma:anchorId="fba54fb3-c3e1-fe81-a776-ca4b69148c4d" ma:open="true" ma:isKeyword="false">
      <xsd:complexType>
        <xsd:sequence>
          <xsd:element ref="pc:Terms" minOccurs="0" maxOccurs="1"/>
        </xsd:sequence>
      </xsd:complexType>
    </xsd:element>
    <xsd:element name="MediaServiceOCR" ma:index="20" nillable="true" ma:displayName="Extracted Text" ma:internalName="MediaServiceOCR" ma:readOnly="true">
      <xsd:simpleType>
        <xsd:restriction base="dms:Note">
          <xsd:maxLength value="255"/>
        </xsd:restriction>
      </xsd:simpleType>
    </xsd:element>
    <xsd:element name="MediaServiceGenerationTime" ma:index="21" nillable="true" ma:displayName="MediaServiceGenerationTime" ma:hidden="true" ma:internalName="MediaServiceGenerationTime" ma:readOnly="true">
      <xsd:simpleType>
        <xsd:restriction base="dms:Text"/>
      </xsd:simpleType>
    </xsd:element>
    <xsd:element name="MediaServiceEventHashCode" ma:index="22" nillable="true" ma:displayName="MediaServiceEventHashCode" ma:hidden="true" ma:internalName="MediaServiceEventHashCode" ma:readOnly="true">
      <xsd:simpleType>
        <xsd:restriction base="dms:Text"/>
      </xsd:simpleType>
    </xsd:element>
    <xsd:element name="MediaServiceSearchProperties" ma:index="23"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ee8eb0f-360c-4f1c-b563-d344757e98da"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element name="TaxCatchAll" ma:index="19" nillable="true" ma:displayName="Taxonomy Catch All Column" ma:hidden="true" ma:list="{fc029272-d927-49c6-9535-27505dadd74a}" ma:internalName="TaxCatchAll" ma:showField="CatchAllData" ma:web="cee8eb0f-360c-4f1c-b563-d344757e98d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TaxCatchAll xmlns="cee8eb0f-360c-4f1c-b563-d344757e98da" xsi:nil="true"/>
    <lcf76f155ced4ddcb4097134ff3c332f xmlns="535cbac5-1af9-4cd4-9513-0afcd68db736">
      <Terms xmlns="http://schemas.microsoft.com/office/infopath/2007/PartnerControls"/>
    </lcf76f155ced4ddcb4097134ff3c332f>
  </documentManagement>
</p:properties>
</file>

<file path=customXml/itemProps1.xml><?xml version="1.0" encoding="utf-8"?>
<ds:datastoreItem xmlns:ds="http://schemas.openxmlformats.org/officeDocument/2006/customXml" ds:itemID="{4F9B49E3-FFEF-44EA-8D30-5C9F57D5004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35cbac5-1af9-4cd4-9513-0afcd68db736"/>
    <ds:schemaRef ds:uri="cee8eb0f-360c-4f1c-b563-d344757e98d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406296F6-3C3E-42B3-A424-D054D06F3847}">
  <ds:schemaRefs>
    <ds:schemaRef ds:uri="http://schemas.microsoft.com/sharepoint/v3/contenttype/forms"/>
  </ds:schemaRefs>
</ds:datastoreItem>
</file>

<file path=customXml/itemProps3.xml><?xml version="1.0" encoding="utf-8"?>
<ds:datastoreItem xmlns:ds="http://schemas.openxmlformats.org/officeDocument/2006/customXml" ds:itemID="{ACFF84D3-257E-4739-885A-3EEA75D98634}">
  <ds:schemaRef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535cbac5-1af9-4cd4-9513-0afcd68db736"/>
    <ds:schemaRef ds:uri="http://purl.org/dc/elements/1.1/"/>
    <ds:schemaRef ds:uri="http://schemas.microsoft.com/office/2006/metadata/properties"/>
    <ds:schemaRef ds:uri="cee8eb0f-360c-4f1c-b563-d344757e98da"/>
    <ds:schemaRef ds:uri="http://www.w3.org/XML/1998/namespace"/>
    <ds:schemaRef ds:uri="http://purl.org/dc/dcmitype/"/>
  </ds:schemaRefs>
</ds:datastoreItem>
</file>

<file path=docMetadata/LabelInfo.xml><?xml version="1.0" encoding="utf-8"?>
<clbl:labelList xmlns:clbl="http://schemas.microsoft.com/office/2020/mipLabelMetadata">
  <clbl:label id="{f9af038e-07b4-4369-a678-c835687cb272}" enabled="1" method="Standard" siteId="{ac52f73c-fd1a-4a9a-8e7a-4a248f3139e1}" removed="0"/>
</clbl:labelList>
</file>

<file path=docProps/app.xml><?xml version="1.0" encoding="utf-8"?>
<Properties xmlns="http://schemas.openxmlformats.org/officeDocument/2006/extended-properties" xmlns:vt="http://schemas.openxmlformats.org/officeDocument/2006/docPropsVTypes">
  <TotalTime>0</TotalTime>
  <Words>128558</Words>
  <Application>Microsoft Office PowerPoint</Application>
  <PresentationFormat>Widescreen</PresentationFormat>
  <Paragraphs>13042</Paragraphs>
  <Slides>452</Slides>
  <Notes>407</Notes>
  <HiddenSlides>0</HiddenSlides>
  <MMClips>0</MMClips>
  <ScaleCrop>false</ScaleCrop>
  <HeadingPairs>
    <vt:vector size="8" baseType="variant">
      <vt:variant>
        <vt:lpstr>Fonts Used</vt:lpstr>
      </vt:variant>
      <vt:variant>
        <vt:i4>15</vt:i4>
      </vt:variant>
      <vt:variant>
        <vt:lpstr>Theme</vt:lpstr>
      </vt:variant>
      <vt:variant>
        <vt:i4>7</vt:i4>
      </vt:variant>
      <vt:variant>
        <vt:lpstr>Embedded OLE Servers</vt:lpstr>
      </vt:variant>
      <vt:variant>
        <vt:i4>3</vt:i4>
      </vt:variant>
      <vt:variant>
        <vt:lpstr>Slide Titles</vt:lpstr>
      </vt:variant>
      <vt:variant>
        <vt:i4>452</vt:i4>
      </vt:variant>
    </vt:vector>
  </HeadingPairs>
  <TitlesOfParts>
    <vt:vector size="477" baseType="lpstr">
      <vt:lpstr>-apple-system</vt:lpstr>
      <vt:lpstr>Arial</vt:lpstr>
      <vt:lpstr>Arial,Sans-Serif</vt:lpstr>
      <vt:lpstr>Calibri</vt:lpstr>
      <vt:lpstr>Calibri  </vt:lpstr>
      <vt:lpstr>Calibri   </vt:lpstr>
      <vt:lpstr>Calibri (body)</vt:lpstr>
      <vt:lpstr>Calibri Light</vt:lpstr>
      <vt:lpstr>Courier New</vt:lpstr>
      <vt:lpstr>Gautami</vt:lpstr>
      <vt:lpstr>GDS Transport</vt:lpstr>
      <vt:lpstr>Geneva</vt:lpstr>
      <vt:lpstr>Symbol</vt:lpstr>
      <vt:lpstr>Times New Roman</vt:lpstr>
      <vt:lpstr>Wingdings</vt:lpstr>
      <vt:lpstr>CDSNIP_Scope_Theme</vt:lpstr>
      <vt:lpstr>1_CDSNIP_Scope_Theme</vt:lpstr>
      <vt:lpstr>Office Theme</vt:lpstr>
      <vt:lpstr>2_CDSNIP_Scope_Theme</vt:lpstr>
      <vt:lpstr>1_Office Theme</vt:lpstr>
      <vt:lpstr>2_Office Theme</vt:lpstr>
      <vt:lpstr>3_Office Theme</vt:lpstr>
      <vt:lpstr>Presentation</vt:lpstr>
      <vt:lpstr>Worksheet</vt:lpstr>
      <vt:lpstr>Document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Brimelow, Claire (CDIO Borders and Trade)</cp:lastModifiedBy>
  <cp:revision>1</cp:revision>
  <dcterms:modified xsi:type="dcterms:W3CDTF">2025-12-02T09:19:28Z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9af038e-07b4-4369-a678-c835687cb272_Enabled">
    <vt:lpwstr>true</vt:lpwstr>
  </property>
  <property fmtid="{D5CDD505-2E9C-101B-9397-08002B2CF9AE}" pid="3" name="MSIP_Label_f9af038e-07b4-4369-a678-c835687cb272_SetDate">
    <vt:lpwstr>2025-10-22T13:55:02Z</vt:lpwstr>
  </property>
  <property fmtid="{D5CDD505-2E9C-101B-9397-08002B2CF9AE}" pid="4" name="MSIP_Label_f9af038e-07b4-4369-a678-c835687cb272_Method">
    <vt:lpwstr>Standard</vt:lpwstr>
  </property>
  <property fmtid="{D5CDD505-2E9C-101B-9397-08002B2CF9AE}" pid="5" name="MSIP_Label_f9af038e-07b4-4369-a678-c835687cb272_Name">
    <vt:lpwstr>OFFICIAL</vt:lpwstr>
  </property>
  <property fmtid="{D5CDD505-2E9C-101B-9397-08002B2CF9AE}" pid="6" name="MSIP_Label_f9af038e-07b4-4369-a678-c835687cb272_SiteId">
    <vt:lpwstr>ac52f73c-fd1a-4a9a-8e7a-4a248f3139e1</vt:lpwstr>
  </property>
  <property fmtid="{D5CDD505-2E9C-101B-9397-08002B2CF9AE}" pid="7" name="MSIP_Label_f9af038e-07b4-4369-a678-c835687cb272_ActionId">
    <vt:lpwstr>b2aed02d-967f-4021-8c9d-de24c16c5a5c</vt:lpwstr>
  </property>
  <property fmtid="{D5CDD505-2E9C-101B-9397-08002B2CF9AE}" pid="8" name="MSIP_Label_f9af038e-07b4-4369-a678-c835687cb272_ContentBits">
    <vt:lpwstr>2</vt:lpwstr>
  </property>
  <property fmtid="{D5CDD505-2E9C-101B-9397-08002B2CF9AE}" pid="9" name="MSIP_Label_f9af038e-07b4-4369-a678-c835687cb272_Tag">
    <vt:lpwstr>10, 3, 0, 1</vt:lpwstr>
  </property>
  <property fmtid="{D5CDD505-2E9C-101B-9397-08002B2CF9AE}" pid="10" name="ClassificationContentMarkingFooterLocations">
    <vt:lpwstr>CDSNIP_Scope_Theme:6\1_CDSNIP_Scope_Theme:5\Office Theme:7\2_CDSNIP_Scope_Theme:4\1_Office Theme:7\2_Office Theme:8\3_Office Theme:8</vt:lpwstr>
  </property>
  <property fmtid="{D5CDD505-2E9C-101B-9397-08002B2CF9AE}" pid="11" name="ClassificationContentMarkingFooterText">
    <vt:lpwstr>OFFICIAL</vt:lpwstr>
  </property>
  <property fmtid="{D5CDD505-2E9C-101B-9397-08002B2CF9AE}" pid="12" name="ContentTypeId">
    <vt:lpwstr>0x010100D425C439D45257489CE2CD6F3B73DCDD</vt:lpwstr>
  </property>
  <property fmtid="{D5CDD505-2E9C-101B-9397-08002B2CF9AE}" pid="13" name="MediaServiceImageTags">
    <vt:lpwstr/>
  </property>
</Properties>
</file>