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9"/>
  </p:notesMasterIdLst>
  <p:sldIdLst>
    <p:sldId id="257" r:id="rId2"/>
    <p:sldId id="444" r:id="rId3"/>
    <p:sldId id="4860" r:id="rId4"/>
    <p:sldId id="4857" r:id="rId5"/>
    <p:sldId id="4858" r:id="rId6"/>
    <p:sldId id="4859" r:id="rId7"/>
    <p:sldId id="4856" r:id="rId8"/>
    <p:sldId id="4861" r:id="rId9"/>
    <p:sldId id="4869" r:id="rId10"/>
    <p:sldId id="4870" r:id="rId11"/>
    <p:sldId id="4866" r:id="rId12"/>
    <p:sldId id="4863" r:id="rId13"/>
    <p:sldId id="4867" r:id="rId14"/>
    <p:sldId id="4868" r:id="rId15"/>
    <p:sldId id="4850" r:id="rId16"/>
    <p:sldId id="4852" r:id="rId17"/>
    <p:sldId id="4882"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75" d="100"/>
          <a:sy n="75" d="100"/>
        </p:scale>
        <p:origin x="284" y="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CDCC0B1-CBD7-40E5-8634-9A59800D48F5}" type="datetimeFigureOut">
              <a:rPr lang="en-GB" smtClean="0"/>
              <a:t>29/09/2022</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CF57C46-E559-4634-BE5F-90DDBDE367A3}" type="slidenum">
              <a:rPr lang="en-GB" smtClean="0"/>
              <a:t>‹#›</a:t>
            </a:fld>
            <a:endParaRPr lang="en-GB"/>
          </a:p>
        </p:txBody>
      </p:sp>
    </p:spTree>
    <p:extLst>
      <p:ext uri="{BB962C8B-B14F-4D97-AF65-F5344CB8AC3E}">
        <p14:creationId xmlns:p14="http://schemas.microsoft.com/office/powerpoint/2010/main" val="21422072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17EA79-C1D8-48E2-9034-57E7354F7976}"/>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441C515F-2A1F-4903-9205-6CDB27E825B2}"/>
              </a:ext>
            </a:extLst>
          </p:cNvPr>
          <p:cNvSpPr txBox="1">
            <a:spLocks noGrp="1"/>
          </p:cNvSpPr>
          <p:nvPr>
            <p:ph type="body" sz="quarter" idx="1"/>
          </p:nvPr>
        </p:nvSpPr>
        <p:spPr/>
        <p:txBody>
          <a:bodyPr/>
          <a:lstStyle/>
          <a:p>
            <a:endParaRPr lang="en-GB" dirty="0"/>
          </a:p>
        </p:txBody>
      </p:sp>
      <p:sp>
        <p:nvSpPr>
          <p:cNvPr id="4" name="Slide Number Placeholder 3">
            <a:extLst>
              <a:ext uri="{FF2B5EF4-FFF2-40B4-BE49-F238E27FC236}">
                <a16:creationId xmlns:a16="http://schemas.microsoft.com/office/drawing/2014/main" id="{34273E11-37EC-411A-836F-0CE047A0D250}"/>
              </a:ext>
            </a:extLst>
          </p:cNvPr>
          <p:cNvSpPr txBox="1"/>
          <p:nvPr/>
        </p:nvSpPr>
        <p:spPr>
          <a:xfrm>
            <a:off x="3884608" y="8685208"/>
            <a:ext cx="2971800" cy="458791"/>
          </a:xfrm>
          <a:prstGeom prst="rect">
            <a:avLst/>
          </a:prstGeom>
          <a:noFill/>
          <a:ln cap="flat">
            <a:noFill/>
          </a:ln>
        </p:spPr>
        <p:txBody>
          <a:bodyPr vert="horz" wrap="square" lIns="91440" tIns="45720" rIns="91440" bIns="45720" anchor="b" anchorCtr="0" compatLnSpc="1">
            <a:noAutofit/>
          </a:bodyPr>
          <a:lstStyle/>
          <a:p>
            <a:pPr marL="0" marR="0" lvl="0" indent="0" algn="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fld id="{C1799A92-0C72-414D-A256-9032299C3E2D}" type="slidenum">
              <a:t>1</a:t>
            </a:fld>
            <a:endParaRPr lang="en-GB" sz="1200" b="0" i="0" u="none" strike="noStrike" kern="1200" cap="none" spc="0" baseline="0">
              <a:solidFill>
                <a:srgbClr val="000000"/>
              </a:solidFill>
              <a:uFillTx/>
              <a:latin typeface="Calibri"/>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179DF4F-FD18-4E9A-96A0-69487B3627D7}"/>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896F4EE8-A3F5-421E-B0B4-DE79D1E123F9}"/>
              </a:ext>
            </a:extLst>
          </p:cNvPr>
          <p:cNvSpPr txBox="1">
            <a:spLocks noGrp="1"/>
          </p:cNvSpPr>
          <p:nvPr>
            <p:ph type="body" sz="quarter" idx="1"/>
          </p:nvPr>
        </p:nvSpPr>
        <p:spPr/>
        <p:txBody>
          <a:bodyPr/>
          <a:lstStyle/>
          <a:p>
            <a:endParaRPr lang="en-GB" dirty="0"/>
          </a:p>
        </p:txBody>
      </p:sp>
      <p:sp>
        <p:nvSpPr>
          <p:cNvPr id="4" name="Slide Number Placeholder 3">
            <a:extLst>
              <a:ext uri="{FF2B5EF4-FFF2-40B4-BE49-F238E27FC236}">
                <a16:creationId xmlns:a16="http://schemas.microsoft.com/office/drawing/2014/main" id="{7C8B5363-5A06-4BBB-B40A-EF91ACA4BB87}"/>
              </a:ext>
            </a:extLst>
          </p:cNvPr>
          <p:cNvSpPr txBox="1"/>
          <p:nvPr/>
        </p:nvSpPr>
        <p:spPr>
          <a:xfrm>
            <a:off x="3884608" y="8685208"/>
            <a:ext cx="2971800" cy="458791"/>
          </a:xfrm>
          <a:prstGeom prst="rect">
            <a:avLst/>
          </a:prstGeom>
          <a:noFill/>
          <a:ln cap="flat">
            <a:noFill/>
          </a:ln>
        </p:spPr>
        <p:txBody>
          <a:bodyPr vert="horz" wrap="square" lIns="91440" tIns="45720" rIns="91440" bIns="45720" anchor="b" anchorCtr="0" compatLnSpc="1">
            <a:noAutofit/>
          </a:bodyPr>
          <a:lstStyle/>
          <a:p>
            <a:pPr marL="0" marR="0" lvl="0" indent="0" algn="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fld id="{85A8CC8A-B25D-411B-AA07-FAF5801562C4}" type="slidenum">
              <a:t>2</a:t>
            </a:fld>
            <a:endParaRPr lang="en-GB" sz="1200" b="0" i="0" u="none" strike="noStrike" kern="1200" cap="none" spc="0" baseline="0">
              <a:solidFill>
                <a:srgbClr val="000000"/>
              </a:solidFill>
              <a:uFillTx/>
              <a:latin typeface="Calibri"/>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639FBBC-6B3E-4C74-98F5-91D162BFC22E}"/>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867EBF6F-635A-4352-8BE4-33D0B00636D5}"/>
              </a:ext>
            </a:extLst>
          </p:cNvPr>
          <p:cNvSpPr txBox="1">
            <a:spLocks noGrp="1"/>
          </p:cNvSpPr>
          <p:nvPr>
            <p:ph type="body" sz="quarter" idx="1"/>
          </p:nvPr>
        </p:nvSpPr>
        <p:spPr/>
        <p:txBody>
          <a:bodyPr/>
          <a:lstStyle/>
          <a:p>
            <a:pPr>
              <a:lnSpc>
                <a:spcPct val="107000"/>
              </a:lnSpc>
              <a:spcAft>
                <a:spcPts val="800"/>
              </a:spcAft>
            </a:pPr>
            <a:endParaRPr lang="en-GB" dirty="0"/>
          </a:p>
        </p:txBody>
      </p:sp>
      <p:sp>
        <p:nvSpPr>
          <p:cNvPr id="4" name="Slide Number Placeholder 3">
            <a:extLst>
              <a:ext uri="{FF2B5EF4-FFF2-40B4-BE49-F238E27FC236}">
                <a16:creationId xmlns:a16="http://schemas.microsoft.com/office/drawing/2014/main" id="{B0DD8AFD-5766-4915-9DFC-B43DC951C645}"/>
              </a:ext>
            </a:extLst>
          </p:cNvPr>
          <p:cNvSpPr txBox="1"/>
          <p:nvPr/>
        </p:nvSpPr>
        <p:spPr>
          <a:xfrm>
            <a:off x="3884608" y="8685208"/>
            <a:ext cx="2971800" cy="458791"/>
          </a:xfrm>
          <a:prstGeom prst="rect">
            <a:avLst/>
          </a:prstGeom>
          <a:noFill/>
          <a:ln cap="flat">
            <a:noFill/>
          </a:ln>
        </p:spPr>
        <p:txBody>
          <a:bodyPr vert="horz" wrap="square" lIns="91440" tIns="45720" rIns="91440" bIns="45720" anchor="b" anchorCtr="0" compatLnSpc="1">
            <a:noAutofit/>
          </a:bodyPr>
          <a:lstStyle/>
          <a:p>
            <a:pPr marL="0" marR="0" lvl="0" indent="0" algn="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fld id="{1C009CC4-3AE3-4D6D-BF71-EABFD2CF8B51}" type="slidenum">
              <a:t>3</a:t>
            </a:fld>
            <a:endParaRPr lang="en-GB" sz="1200" b="0" i="0" u="none" strike="noStrike" kern="1200" cap="none" spc="0" baseline="0">
              <a:solidFill>
                <a:srgbClr val="000000"/>
              </a:solidFill>
              <a:uFillTx/>
              <a:latin typeface="Calibri"/>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E903445-21D4-48D1-9624-0CAB6E649499}"/>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2E6E7956-3AF6-43A3-9322-516522D3A56B}"/>
              </a:ext>
            </a:extLst>
          </p:cNvPr>
          <p:cNvSpPr txBox="1">
            <a:spLocks noGrp="1"/>
          </p:cNvSpPr>
          <p:nvPr>
            <p:ph type="body" sz="quarter" idx="1"/>
          </p:nvPr>
        </p:nvSpPr>
        <p:spPr/>
        <p:txBody>
          <a:bodyPr/>
          <a:lstStyle/>
          <a:p>
            <a:endParaRPr lang="en-GB" dirty="0"/>
          </a:p>
        </p:txBody>
      </p:sp>
      <p:sp>
        <p:nvSpPr>
          <p:cNvPr id="4" name="Slide Number Placeholder 3">
            <a:extLst>
              <a:ext uri="{FF2B5EF4-FFF2-40B4-BE49-F238E27FC236}">
                <a16:creationId xmlns:a16="http://schemas.microsoft.com/office/drawing/2014/main" id="{92A19D55-14D8-4824-BAAA-C56913BC32EE}"/>
              </a:ext>
            </a:extLst>
          </p:cNvPr>
          <p:cNvSpPr txBox="1"/>
          <p:nvPr/>
        </p:nvSpPr>
        <p:spPr>
          <a:xfrm>
            <a:off x="3884608" y="8685208"/>
            <a:ext cx="2971800" cy="458791"/>
          </a:xfrm>
          <a:prstGeom prst="rect">
            <a:avLst/>
          </a:prstGeom>
          <a:noFill/>
          <a:ln cap="flat">
            <a:noFill/>
          </a:ln>
        </p:spPr>
        <p:txBody>
          <a:bodyPr vert="horz" wrap="square" lIns="91440" tIns="45720" rIns="91440" bIns="45720" anchor="b" anchorCtr="0" compatLnSpc="1">
            <a:noAutofit/>
          </a:bodyPr>
          <a:lstStyle/>
          <a:p>
            <a:pPr marL="0" marR="0" lvl="0" indent="0" algn="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fld id="{8100909A-5844-4446-A060-B2C285C8686F}" type="slidenum">
              <a:t>4</a:t>
            </a:fld>
            <a:endParaRPr lang="en-GB" sz="1200" b="0" i="0" u="none" strike="noStrike" kern="1200" cap="none" spc="0" baseline="0">
              <a:solidFill>
                <a:srgbClr val="000000"/>
              </a:solidFill>
              <a:uFillTx/>
              <a:latin typeface="Calibri"/>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FDEAB38-F1D5-4BAB-A44D-A62210C88A0F}"/>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39C81C4F-6B61-42C6-979E-DD1B57F7CA20}"/>
              </a:ext>
            </a:extLst>
          </p:cNvPr>
          <p:cNvSpPr txBox="1">
            <a:spLocks noGrp="1"/>
          </p:cNvSpPr>
          <p:nvPr>
            <p:ph type="body" sz="quarter" idx="1"/>
          </p:nvPr>
        </p:nvSpPr>
        <p:spPr/>
        <p:txBody>
          <a:bodyPr/>
          <a:lstStyle/>
          <a:p>
            <a:endParaRPr lang="en-GB" dirty="0"/>
          </a:p>
        </p:txBody>
      </p:sp>
      <p:sp>
        <p:nvSpPr>
          <p:cNvPr id="4" name="Slide Number Placeholder 3">
            <a:extLst>
              <a:ext uri="{FF2B5EF4-FFF2-40B4-BE49-F238E27FC236}">
                <a16:creationId xmlns:a16="http://schemas.microsoft.com/office/drawing/2014/main" id="{E282868B-6658-4D09-B9EF-9D02E924398C}"/>
              </a:ext>
            </a:extLst>
          </p:cNvPr>
          <p:cNvSpPr txBox="1"/>
          <p:nvPr/>
        </p:nvSpPr>
        <p:spPr>
          <a:xfrm>
            <a:off x="3884608" y="8685208"/>
            <a:ext cx="2971800" cy="458791"/>
          </a:xfrm>
          <a:prstGeom prst="rect">
            <a:avLst/>
          </a:prstGeom>
          <a:noFill/>
          <a:ln cap="flat">
            <a:noFill/>
          </a:ln>
        </p:spPr>
        <p:txBody>
          <a:bodyPr vert="horz" wrap="square" lIns="91440" tIns="45720" rIns="91440" bIns="45720" anchor="b" anchorCtr="0" compatLnSpc="1">
            <a:noAutofit/>
          </a:bodyPr>
          <a:lstStyle/>
          <a:p>
            <a:pPr marL="0" marR="0" lvl="0" indent="0" algn="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fld id="{CBD73088-48CF-4395-A506-D5373CE4978E}" type="slidenum">
              <a:t>5</a:t>
            </a:fld>
            <a:endParaRPr lang="en-GB" sz="1200" b="0" i="0" u="none" strike="noStrike" kern="1200" cap="none" spc="0" baseline="0">
              <a:solidFill>
                <a:srgbClr val="000000"/>
              </a:solidFill>
              <a:uFillTx/>
              <a:latin typeface="Calibri"/>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DD50D63-CFE9-403A-812A-9BE65454C1BA}"/>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65EAC6BD-262E-4788-91DD-BF074B4AA8A5}"/>
              </a:ext>
            </a:extLst>
          </p:cNvPr>
          <p:cNvSpPr txBox="1">
            <a:spLocks noGrp="1"/>
          </p:cNvSpPr>
          <p:nvPr>
            <p:ph type="body" sz="quarter" idx="1"/>
          </p:nvPr>
        </p:nvSpPr>
        <p:spPr/>
        <p:txBody>
          <a:bodyPr/>
          <a:lstStyle/>
          <a:p>
            <a:endParaRPr lang="en-GB" dirty="0"/>
          </a:p>
        </p:txBody>
      </p:sp>
      <p:sp>
        <p:nvSpPr>
          <p:cNvPr id="4" name="Slide Number Placeholder 3">
            <a:extLst>
              <a:ext uri="{FF2B5EF4-FFF2-40B4-BE49-F238E27FC236}">
                <a16:creationId xmlns:a16="http://schemas.microsoft.com/office/drawing/2014/main" id="{E4521F13-0825-49AF-B702-86DF34A1FD6E}"/>
              </a:ext>
            </a:extLst>
          </p:cNvPr>
          <p:cNvSpPr txBox="1"/>
          <p:nvPr/>
        </p:nvSpPr>
        <p:spPr>
          <a:xfrm>
            <a:off x="3884608" y="8685208"/>
            <a:ext cx="2971800" cy="458791"/>
          </a:xfrm>
          <a:prstGeom prst="rect">
            <a:avLst/>
          </a:prstGeom>
          <a:noFill/>
          <a:ln cap="flat">
            <a:noFill/>
          </a:ln>
        </p:spPr>
        <p:txBody>
          <a:bodyPr vert="horz" wrap="square" lIns="91440" tIns="45720" rIns="91440" bIns="45720" anchor="b" anchorCtr="0" compatLnSpc="1">
            <a:noAutofit/>
          </a:bodyPr>
          <a:lstStyle/>
          <a:p>
            <a:pPr marL="0" marR="0" lvl="0" indent="0" algn="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fld id="{4FA646B2-D189-489D-A105-659531E60BAF}" type="slidenum">
              <a:t>6</a:t>
            </a:fld>
            <a:endParaRPr lang="en-GB" sz="1200" b="0" i="0" u="none" strike="noStrike" kern="1200" cap="none" spc="0" baseline="0">
              <a:solidFill>
                <a:srgbClr val="000000"/>
              </a:solidFill>
              <a:uFillTx/>
              <a:latin typeface="Calibri"/>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47DCADE-B9FE-4A83-8117-8C590AA2587D}"/>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5E9001EC-8C0B-4A57-A86E-387C794C11CF}"/>
              </a:ext>
            </a:extLst>
          </p:cNvPr>
          <p:cNvSpPr txBox="1">
            <a:spLocks noGrp="1"/>
          </p:cNvSpPr>
          <p:nvPr>
            <p:ph type="body" sz="quarter" idx="1"/>
          </p:nvPr>
        </p:nvSpPr>
        <p:spPr/>
        <p:txBody>
          <a:bodyPr/>
          <a:lstStyle/>
          <a:p>
            <a:endParaRPr lang="en-GB" dirty="0"/>
          </a:p>
        </p:txBody>
      </p:sp>
      <p:sp>
        <p:nvSpPr>
          <p:cNvPr id="4" name="Slide Number Placeholder 3">
            <a:extLst>
              <a:ext uri="{FF2B5EF4-FFF2-40B4-BE49-F238E27FC236}">
                <a16:creationId xmlns:a16="http://schemas.microsoft.com/office/drawing/2014/main" id="{C4669C20-A267-4F79-96EB-09F831B67CB6}"/>
              </a:ext>
            </a:extLst>
          </p:cNvPr>
          <p:cNvSpPr txBox="1"/>
          <p:nvPr/>
        </p:nvSpPr>
        <p:spPr>
          <a:xfrm>
            <a:off x="3884608" y="8685208"/>
            <a:ext cx="2971800" cy="458791"/>
          </a:xfrm>
          <a:prstGeom prst="rect">
            <a:avLst/>
          </a:prstGeom>
          <a:noFill/>
          <a:ln cap="flat">
            <a:noFill/>
          </a:ln>
        </p:spPr>
        <p:txBody>
          <a:bodyPr vert="horz" wrap="square" lIns="91440" tIns="45720" rIns="91440" bIns="45720" anchor="b" anchorCtr="0" compatLnSpc="1">
            <a:noAutofit/>
          </a:bodyPr>
          <a:lstStyle/>
          <a:p>
            <a:pPr marL="0" marR="0" lvl="0" indent="0" algn="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fld id="{0436CCAA-DC72-4E7C-B779-69A0CC760976}" type="slidenum">
              <a:t>7</a:t>
            </a:fld>
            <a:endParaRPr lang="en-GB" sz="1200" b="0" i="0" u="none" strike="noStrike" kern="1200" cap="none" spc="0" baseline="0">
              <a:solidFill>
                <a:srgbClr val="000000"/>
              </a:solidFill>
              <a:uFillTx/>
              <a:latin typeface="Calibri"/>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47DCADE-B9FE-4A83-8117-8C590AA2587D}"/>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5E9001EC-8C0B-4A57-A86E-387C794C11CF}"/>
              </a:ext>
            </a:extLst>
          </p:cNvPr>
          <p:cNvSpPr txBox="1">
            <a:spLocks noGrp="1"/>
          </p:cNvSpPr>
          <p:nvPr>
            <p:ph type="body" sz="quarter" idx="1"/>
          </p:nvPr>
        </p:nvSpPr>
        <p:spPr/>
        <p:txBody>
          <a:bodyPr/>
          <a:lstStyle/>
          <a:p>
            <a:endParaRPr lang="en-GB" dirty="0"/>
          </a:p>
        </p:txBody>
      </p:sp>
      <p:sp>
        <p:nvSpPr>
          <p:cNvPr id="4" name="Slide Number Placeholder 3">
            <a:extLst>
              <a:ext uri="{FF2B5EF4-FFF2-40B4-BE49-F238E27FC236}">
                <a16:creationId xmlns:a16="http://schemas.microsoft.com/office/drawing/2014/main" id="{C4669C20-A267-4F79-96EB-09F831B67CB6}"/>
              </a:ext>
            </a:extLst>
          </p:cNvPr>
          <p:cNvSpPr txBox="1"/>
          <p:nvPr/>
        </p:nvSpPr>
        <p:spPr>
          <a:xfrm>
            <a:off x="3884608" y="8685208"/>
            <a:ext cx="2971800" cy="458791"/>
          </a:xfrm>
          <a:prstGeom prst="rect">
            <a:avLst/>
          </a:prstGeom>
          <a:noFill/>
          <a:ln cap="flat">
            <a:noFill/>
          </a:ln>
        </p:spPr>
        <p:txBody>
          <a:bodyPr vert="horz" wrap="square" lIns="91440" tIns="45720" rIns="91440" bIns="45720" anchor="b" anchorCtr="0" compatLnSpc="1">
            <a:noAutofit/>
          </a:bodyPr>
          <a:lstStyle/>
          <a:p>
            <a:pPr marL="0" marR="0" lvl="0" indent="0" algn="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fld id="{0436CCAA-DC72-4E7C-B779-69A0CC760976}" type="slidenum">
              <a:t>8</a:t>
            </a:fld>
            <a:endParaRPr lang="en-GB" sz="1200" b="0" i="0" u="none" strike="noStrike" kern="1200" cap="none" spc="0" baseline="0">
              <a:solidFill>
                <a:srgbClr val="000000"/>
              </a:solidFill>
              <a:uFillTx/>
              <a:latin typeface="Calibri"/>
            </a:endParaRPr>
          </a:p>
        </p:txBody>
      </p:sp>
    </p:spTree>
    <p:extLst>
      <p:ext uri="{BB962C8B-B14F-4D97-AF65-F5344CB8AC3E}">
        <p14:creationId xmlns:p14="http://schemas.microsoft.com/office/powerpoint/2010/main" val="44633560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47DCADE-B9FE-4A83-8117-8C590AA2587D}"/>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5E9001EC-8C0B-4A57-A86E-387C794C11CF}"/>
              </a:ext>
            </a:extLst>
          </p:cNvPr>
          <p:cNvSpPr txBox="1">
            <a:spLocks noGrp="1"/>
          </p:cNvSpPr>
          <p:nvPr>
            <p:ph type="body" sz="quarter" idx="1"/>
          </p:nvPr>
        </p:nvSpPr>
        <p:spPr/>
        <p:txBody>
          <a:bodyPr/>
          <a:lstStyle/>
          <a:p>
            <a:endParaRPr lang="en-GB" dirty="0"/>
          </a:p>
        </p:txBody>
      </p:sp>
      <p:sp>
        <p:nvSpPr>
          <p:cNvPr id="4" name="Slide Number Placeholder 3">
            <a:extLst>
              <a:ext uri="{FF2B5EF4-FFF2-40B4-BE49-F238E27FC236}">
                <a16:creationId xmlns:a16="http://schemas.microsoft.com/office/drawing/2014/main" id="{C4669C20-A267-4F79-96EB-09F831B67CB6}"/>
              </a:ext>
            </a:extLst>
          </p:cNvPr>
          <p:cNvSpPr txBox="1"/>
          <p:nvPr/>
        </p:nvSpPr>
        <p:spPr>
          <a:xfrm>
            <a:off x="3884608" y="8685208"/>
            <a:ext cx="2971800" cy="458791"/>
          </a:xfrm>
          <a:prstGeom prst="rect">
            <a:avLst/>
          </a:prstGeom>
          <a:noFill/>
          <a:ln cap="flat">
            <a:noFill/>
          </a:ln>
        </p:spPr>
        <p:txBody>
          <a:bodyPr vert="horz" wrap="square" lIns="91440" tIns="45720" rIns="91440" bIns="45720" anchor="b" anchorCtr="0" compatLnSpc="1">
            <a:noAutofit/>
          </a:bodyPr>
          <a:lstStyle/>
          <a:p>
            <a:pPr marL="0" marR="0" lvl="0" indent="0" algn="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fld id="{0436CCAA-DC72-4E7C-B779-69A0CC760976}" type="slidenum">
              <a:t>9</a:t>
            </a:fld>
            <a:endParaRPr lang="en-GB" sz="1200" b="0" i="0" u="none" strike="noStrike" kern="1200" cap="none" spc="0" baseline="0">
              <a:solidFill>
                <a:srgbClr val="000000"/>
              </a:solidFill>
              <a:uFillTx/>
              <a:latin typeface="Calibri"/>
            </a:endParaRPr>
          </a:p>
        </p:txBody>
      </p:sp>
    </p:spTree>
    <p:extLst>
      <p:ext uri="{BB962C8B-B14F-4D97-AF65-F5344CB8AC3E}">
        <p14:creationId xmlns:p14="http://schemas.microsoft.com/office/powerpoint/2010/main" val="50573628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47DCADE-B9FE-4A83-8117-8C590AA2587D}"/>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5E9001EC-8C0B-4A57-A86E-387C794C11CF}"/>
              </a:ext>
            </a:extLst>
          </p:cNvPr>
          <p:cNvSpPr txBox="1">
            <a:spLocks noGrp="1"/>
          </p:cNvSpPr>
          <p:nvPr>
            <p:ph type="body" sz="quarter" idx="1"/>
          </p:nvPr>
        </p:nvSpPr>
        <p:spPr/>
        <p:txBody>
          <a:bodyPr/>
          <a:lstStyle/>
          <a:p>
            <a:endParaRPr lang="en-GB" dirty="0"/>
          </a:p>
        </p:txBody>
      </p:sp>
      <p:sp>
        <p:nvSpPr>
          <p:cNvPr id="4" name="Slide Number Placeholder 3">
            <a:extLst>
              <a:ext uri="{FF2B5EF4-FFF2-40B4-BE49-F238E27FC236}">
                <a16:creationId xmlns:a16="http://schemas.microsoft.com/office/drawing/2014/main" id="{C4669C20-A267-4F79-96EB-09F831B67CB6}"/>
              </a:ext>
            </a:extLst>
          </p:cNvPr>
          <p:cNvSpPr txBox="1"/>
          <p:nvPr/>
        </p:nvSpPr>
        <p:spPr>
          <a:xfrm>
            <a:off x="3884608" y="8685208"/>
            <a:ext cx="2971800" cy="458791"/>
          </a:xfrm>
          <a:prstGeom prst="rect">
            <a:avLst/>
          </a:prstGeom>
          <a:noFill/>
          <a:ln cap="flat">
            <a:noFill/>
          </a:ln>
        </p:spPr>
        <p:txBody>
          <a:bodyPr vert="horz" wrap="square" lIns="91440" tIns="45720" rIns="91440" bIns="45720" anchor="b" anchorCtr="0" compatLnSpc="1">
            <a:noAutofit/>
          </a:bodyPr>
          <a:lstStyle/>
          <a:p>
            <a:pPr marL="0" marR="0" lvl="0" indent="0" algn="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fld id="{0436CCAA-DC72-4E7C-B779-69A0CC760976}" type="slidenum">
              <a:t>10</a:t>
            </a:fld>
            <a:endParaRPr lang="en-GB" sz="1200" b="0" i="0" u="none" strike="noStrike" kern="1200" cap="none" spc="0" baseline="0">
              <a:solidFill>
                <a:srgbClr val="000000"/>
              </a:solidFill>
              <a:uFillTx/>
              <a:latin typeface="Calibri"/>
            </a:endParaRPr>
          </a:p>
        </p:txBody>
      </p:sp>
    </p:spTree>
    <p:extLst>
      <p:ext uri="{BB962C8B-B14F-4D97-AF65-F5344CB8AC3E}">
        <p14:creationId xmlns:p14="http://schemas.microsoft.com/office/powerpoint/2010/main" val="127333892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47DCADE-B9FE-4A83-8117-8C590AA2587D}"/>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5E9001EC-8C0B-4A57-A86E-387C794C11CF}"/>
              </a:ext>
            </a:extLst>
          </p:cNvPr>
          <p:cNvSpPr txBox="1">
            <a:spLocks noGrp="1"/>
          </p:cNvSpPr>
          <p:nvPr>
            <p:ph type="body" sz="quarter" idx="1"/>
          </p:nvPr>
        </p:nvSpPr>
        <p:spPr/>
        <p:txBody>
          <a:bodyPr/>
          <a:lstStyle/>
          <a:p>
            <a:endParaRPr lang="en-GB" dirty="0"/>
          </a:p>
        </p:txBody>
      </p:sp>
      <p:sp>
        <p:nvSpPr>
          <p:cNvPr id="4" name="Slide Number Placeholder 3">
            <a:extLst>
              <a:ext uri="{FF2B5EF4-FFF2-40B4-BE49-F238E27FC236}">
                <a16:creationId xmlns:a16="http://schemas.microsoft.com/office/drawing/2014/main" id="{C4669C20-A267-4F79-96EB-09F831B67CB6}"/>
              </a:ext>
            </a:extLst>
          </p:cNvPr>
          <p:cNvSpPr txBox="1"/>
          <p:nvPr/>
        </p:nvSpPr>
        <p:spPr>
          <a:xfrm>
            <a:off x="3884608" y="8685208"/>
            <a:ext cx="2971800" cy="458791"/>
          </a:xfrm>
          <a:prstGeom prst="rect">
            <a:avLst/>
          </a:prstGeom>
          <a:noFill/>
          <a:ln cap="flat">
            <a:noFill/>
          </a:ln>
        </p:spPr>
        <p:txBody>
          <a:bodyPr vert="horz" wrap="square" lIns="91440" tIns="45720" rIns="91440" bIns="45720" anchor="b" anchorCtr="0" compatLnSpc="1">
            <a:noAutofit/>
          </a:bodyPr>
          <a:lstStyle/>
          <a:p>
            <a:pPr marL="0" marR="0" lvl="0" indent="0" algn="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fld id="{0436CCAA-DC72-4E7C-B779-69A0CC760976}" type="slidenum">
              <a:t>11</a:t>
            </a:fld>
            <a:endParaRPr lang="en-GB" sz="1200" b="0" i="0" u="none" strike="noStrike" kern="1200" cap="none" spc="0" baseline="0">
              <a:solidFill>
                <a:srgbClr val="000000"/>
              </a:solidFill>
              <a:uFillTx/>
              <a:latin typeface="Calibri"/>
            </a:endParaRPr>
          </a:p>
        </p:txBody>
      </p:sp>
    </p:spTree>
    <p:extLst>
      <p:ext uri="{BB962C8B-B14F-4D97-AF65-F5344CB8AC3E}">
        <p14:creationId xmlns:p14="http://schemas.microsoft.com/office/powerpoint/2010/main" val="412615814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47DCADE-B9FE-4A83-8117-8C590AA2587D}"/>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5E9001EC-8C0B-4A57-A86E-387C794C11CF}"/>
              </a:ext>
            </a:extLst>
          </p:cNvPr>
          <p:cNvSpPr txBox="1">
            <a:spLocks noGrp="1"/>
          </p:cNvSpPr>
          <p:nvPr>
            <p:ph type="body" sz="quarter" idx="1"/>
          </p:nvPr>
        </p:nvSpPr>
        <p:spPr/>
        <p:txBody>
          <a:bodyPr/>
          <a:lstStyle/>
          <a:p>
            <a:endParaRPr lang="en-GB" dirty="0"/>
          </a:p>
        </p:txBody>
      </p:sp>
      <p:sp>
        <p:nvSpPr>
          <p:cNvPr id="4" name="Slide Number Placeholder 3">
            <a:extLst>
              <a:ext uri="{FF2B5EF4-FFF2-40B4-BE49-F238E27FC236}">
                <a16:creationId xmlns:a16="http://schemas.microsoft.com/office/drawing/2014/main" id="{C4669C20-A267-4F79-96EB-09F831B67CB6}"/>
              </a:ext>
            </a:extLst>
          </p:cNvPr>
          <p:cNvSpPr txBox="1"/>
          <p:nvPr/>
        </p:nvSpPr>
        <p:spPr>
          <a:xfrm>
            <a:off x="3884608" y="8685208"/>
            <a:ext cx="2971800" cy="458791"/>
          </a:xfrm>
          <a:prstGeom prst="rect">
            <a:avLst/>
          </a:prstGeom>
          <a:noFill/>
          <a:ln cap="flat">
            <a:noFill/>
          </a:ln>
        </p:spPr>
        <p:txBody>
          <a:bodyPr vert="horz" wrap="square" lIns="91440" tIns="45720" rIns="91440" bIns="45720" anchor="b" anchorCtr="0" compatLnSpc="1">
            <a:noAutofit/>
          </a:bodyPr>
          <a:lstStyle/>
          <a:p>
            <a:pPr marL="0" marR="0" lvl="0" indent="0" algn="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fld id="{0436CCAA-DC72-4E7C-B779-69A0CC760976}" type="slidenum">
              <a:t>12</a:t>
            </a:fld>
            <a:endParaRPr lang="en-GB" sz="1200" b="0" i="0" u="none" strike="noStrike" kern="1200" cap="none" spc="0" baseline="0">
              <a:solidFill>
                <a:srgbClr val="000000"/>
              </a:solidFill>
              <a:uFillTx/>
              <a:latin typeface="Calibri"/>
            </a:endParaRPr>
          </a:p>
        </p:txBody>
      </p:sp>
    </p:spTree>
    <p:extLst>
      <p:ext uri="{BB962C8B-B14F-4D97-AF65-F5344CB8AC3E}">
        <p14:creationId xmlns:p14="http://schemas.microsoft.com/office/powerpoint/2010/main" val="248340406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47DCADE-B9FE-4A83-8117-8C590AA2587D}"/>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5E9001EC-8C0B-4A57-A86E-387C794C11CF}"/>
              </a:ext>
            </a:extLst>
          </p:cNvPr>
          <p:cNvSpPr txBox="1">
            <a:spLocks noGrp="1"/>
          </p:cNvSpPr>
          <p:nvPr>
            <p:ph type="body" sz="quarter" idx="1"/>
          </p:nvPr>
        </p:nvSpPr>
        <p:spPr/>
        <p:txBody>
          <a:bodyPr/>
          <a:lstStyle/>
          <a:p>
            <a:endParaRPr lang="en-GB" dirty="0"/>
          </a:p>
        </p:txBody>
      </p:sp>
      <p:sp>
        <p:nvSpPr>
          <p:cNvPr id="4" name="Slide Number Placeholder 3">
            <a:extLst>
              <a:ext uri="{FF2B5EF4-FFF2-40B4-BE49-F238E27FC236}">
                <a16:creationId xmlns:a16="http://schemas.microsoft.com/office/drawing/2014/main" id="{C4669C20-A267-4F79-96EB-09F831B67CB6}"/>
              </a:ext>
            </a:extLst>
          </p:cNvPr>
          <p:cNvSpPr txBox="1"/>
          <p:nvPr/>
        </p:nvSpPr>
        <p:spPr>
          <a:xfrm>
            <a:off x="3884608" y="8685208"/>
            <a:ext cx="2971800" cy="458791"/>
          </a:xfrm>
          <a:prstGeom prst="rect">
            <a:avLst/>
          </a:prstGeom>
          <a:noFill/>
          <a:ln cap="flat">
            <a:noFill/>
          </a:ln>
        </p:spPr>
        <p:txBody>
          <a:bodyPr vert="horz" wrap="square" lIns="91440" tIns="45720" rIns="91440" bIns="45720" anchor="b" anchorCtr="0" compatLnSpc="1">
            <a:noAutofit/>
          </a:bodyPr>
          <a:lstStyle/>
          <a:p>
            <a:pPr marL="0" marR="0" lvl="0" indent="0" algn="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fld id="{0436CCAA-DC72-4E7C-B779-69A0CC760976}" type="slidenum">
              <a:t>13</a:t>
            </a:fld>
            <a:endParaRPr lang="en-GB" sz="1200" b="0" i="0" u="none" strike="noStrike" kern="1200" cap="none" spc="0" baseline="0">
              <a:solidFill>
                <a:srgbClr val="000000"/>
              </a:solidFill>
              <a:uFillTx/>
              <a:latin typeface="Calibri"/>
            </a:endParaRPr>
          </a:p>
        </p:txBody>
      </p:sp>
    </p:spTree>
    <p:extLst>
      <p:ext uri="{BB962C8B-B14F-4D97-AF65-F5344CB8AC3E}">
        <p14:creationId xmlns:p14="http://schemas.microsoft.com/office/powerpoint/2010/main" val="380239173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47DCADE-B9FE-4A83-8117-8C590AA2587D}"/>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5E9001EC-8C0B-4A57-A86E-387C794C11CF}"/>
              </a:ext>
            </a:extLst>
          </p:cNvPr>
          <p:cNvSpPr txBox="1">
            <a:spLocks noGrp="1"/>
          </p:cNvSpPr>
          <p:nvPr>
            <p:ph type="body" sz="quarter" idx="1"/>
          </p:nvPr>
        </p:nvSpPr>
        <p:spPr/>
        <p:txBody>
          <a:bodyPr/>
          <a:lstStyle/>
          <a:p>
            <a:endParaRPr lang="en-GB" dirty="0"/>
          </a:p>
        </p:txBody>
      </p:sp>
      <p:sp>
        <p:nvSpPr>
          <p:cNvPr id="4" name="Slide Number Placeholder 3">
            <a:extLst>
              <a:ext uri="{FF2B5EF4-FFF2-40B4-BE49-F238E27FC236}">
                <a16:creationId xmlns:a16="http://schemas.microsoft.com/office/drawing/2014/main" id="{C4669C20-A267-4F79-96EB-09F831B67CB6}"/>
              </a:ext>
            </a:extLst>
          </p:cNvPr>
          <p:cNvSpPr txBox="1"/>
          <p:nvPr/>
        </p:nvSpPr>
        <p:spPr>
          <a:xfrm>
            <a:off x="3884608" y="8685208"/>
            <a:ext cx="2971800" cy="458791"/>
          </a:xfrm>
          <a:prstGeom prst="rect">
            <a:avLst/>
          </a:prstGeom>
          <a:noFill/>
          <a:ln cap="flat">
            <a:noFill/>
          </a:ln>
        </p:spPr>
        <p:txBody>
          <a:bodyPr vert="horz" wrap="square" lIns="91440" tIns="45720" rIns="91440" bIns="45720" anchor="b" anchorCtr="0" compatLnSpc="1">
            <a:noAutofit/>
          </a:bodyPr>
          <a:lstStyle/>
          <a:p>
            <a:pPr marL="0" marR="0" lvl="0" indent="0" algn="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fld id="{0436CCAA-DC72-4E7C-B779-69A0CC760976}" type="slidenum">
              <a:t>14</a:t>
            </a:fld>
            <a:endParaRPr lang="en-GB" sz="1200" b="0" i="0" u="none" strike="noStrike" kern="1200" cap="none" spc="0" baseline="0">
              <a:solidFill>
                <a:srgbClr val="000000"/>
              </a:solidFill>
              <a:uFillTx/>
              <a:latin typeface="Calibri"/>
            </a:endParaRPr>
          </a:p>
        </p:txBody>
      </p:sp>
    </p:spTree>
    <p:extLst>
      <p:ext uri="{BB962C8B-B14F-4D97-AF65-F5344CB8AC3E}">
        <p14:creationId xmlns:p14="http://schemas.microsoft.com/office/powerpoint/2010/main" val="128281533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94CB9E6-F24F-43CF-AE59-89389D711F02}"/>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D97A8325-9735-4288-976C-F7283B4626CC}"/>
              </a:ext>
            </a:extLst>
          </p:cNvPr>
          <p:cNvSpPr txBox="1">
            <a:spLocks noGrp="1"/>
          </p:cNvSpPr>
          <p:nvPr>
            <p:ph type="body" sz="quarter" idx="1"/>
          </p:nvPr>
        </p:nvSpPr>
        <p:spPr/>
        <p:txBody>
          <a:bodyPr/>
          <a:lstStyle/>
          <a:p>
            <a:endParaRPr lang="en-GB" dirty="0"/>
          </a:p>
        </p:txBody>
      </p:sp>
      <p:sp>
        <p:nvSpPr>
          <p:cNvPr id="4" name="Slide Number Placeholder 3">
            <a:extLst>
              <a:ext uri="{FF2B5EF4-FFF2-40B4-BE49-F238E27FC236}">
                <a16:creationId xmlns:a16="http://schemas.microsoft.com/office/drawing/2014/main" id="{C4624915-E8BA-43D8-B504-C51A7931E004}"/>
              </a:ext>
            </a:extLst>
          </p:cNvPr>
          <p:cNvSpPr txBox="1"/>
          <p:nvPr/>
        </p:nvSpPr>
        <p:spPr>
          <a:xfrm>
            <a:off x="3884608" y="8685208"/>
            <a:ext cx="2971800" cy="458791"/>
          </a:xfrm>
          <a:prstGeom prst="rect">
            <a:avLst/>
          </a:prstGeom>
          <a:noFill/>
          <a:ln cap="flat">
            <a:noFill/>
          </a:ln>
        </p:spPr>
        <p:txBody>
          <a:bodyPr vert="horz" wrap="square" lIns="91440" tIns="45720" rIns="91440" bIns="45720" anchor="b" anchorCtr="0" compatLnSpc="1">
            <a:noAutofit/>
          </a:bodyPr>
          <a:lstStyle/>
          <a:p>
            <a:pPr marL="0" marR="0" lvl="0" indent="0" algn="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fld id="{CDE1711E-C46F-42DF-AB1D-04EE97A4888B}" type="slidenum">
              <a:t>15</a:t>
            </a:fld>
            <a:endParaRPr lang="en-GB" sz="1200" b="0" i="0" u="none" strike="noStrike" kern="1200" cap="none" spc="0" baseline="0">
              <a:solidFill>
                <a:srgbClr val="000000"/>
              </a:solidFill>
              <a:uFillTx/>
              <a:latin typeface="Calibri"/>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67CD4B-75D2-46AC-BBBC-6AE5EEB42ACD}"/>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CB96C342-7C0D-448A-9A43-60CF951C0B75}"/>
              </a:ext>
            </a:extLst>
          </p:cNvPr>
          <p:cNvSpPr txBox="1">
            <a:spLocks noGrp="1"/>
          </p:cNvSpPr>
          <p:nvPr>
            <p:ph type="body" sz="quarter" idx="1"/>
          </p:nvPr>
        </p:nvSpPr>
        <p:spPr/>
        <p:txBody>
          <a:bodyPr/>
          <a:lstStyle/>
          <a:p>
            <a:endParaRPr lang="en-GB" dirty="0"/>
          </a:p>
        </p:txBody>
      </p:sp>
      <p:sp>
        <p:nvSpPr>
          <p:cNvPr id="4" name="Slide Number Placeholder 3">
            <a:extLst>
              <a:ext uri="{FF2B5EF4-FFF2-40B4-BE49-F238E27FC236}">
                <a16:creationId xmlns:a16="http://schemas.microsoft.com/office/drawing/2014/main" id="{13200B0A-A63F-4FE7-B0D5-CD084EFBFEF0}"/>
              </a:ext>
            </a:extLst>
          </p:cNvPr>
          <p:cNvSpPr txBox="1"/>
          <p:nvPr/>
        </p:nvSpPr>
        <p:spPr>
          <a:xfrm>
            <a:off x="3884608" y="8685208"/>
            <a:ext cx="2971800" cy="458791"/>
          </a:xfrm>
          <a:prstGeom prst="rect">
            <a:avLst/>
          </a:prstGeom>
          <a:noFill/>
          <a:ln cap="flat">
            <a:noFill/>
          </a:ln>
        </p:spPr>
        <p:txBody>
          <a:bodyPr vert="horz" wrap="square" lIns="91440" tIns="45720" rIns="91440" bIns="45720" anchor="b" anchorCtr="0" compatLnSpc="1">
            <a:noAutofit/>
          </a:bodyPr>
          <a:lstStyle/>
          <a:p>
            <a:pPr marL="0" marR="0" lvl="0" indent="0" algn="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fld id="{229E7E02-6B9F-4F6E-B109-4BA4FEF51E32}" type="slidenum">
              <a:t>16</a:t>
            </a:fld>
            <a:endParaRPr lang="en-GB" sz="1200" b="0" i="0" u="none" strike="noStrike" kern="1200" cap="none" spc="0" baseline="0">
              <a:solidFill>
                <a:srgbClr val="000000"/>
              </a:solidFill>
              <a:uFillTx/>
              <a:latin typeface="Calibri"/>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67CD4B-75D2-46AC-BBBC-6AE5EEB42ACD}"/>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CB96C342-7C0D-448A-9A43-60CF951C0B75}"/>
              </a:ext>
            </a:extLst>
          </p:cNvPr>
          <p:cNvSpPr txBox="1">
            <a:spLocks noGrp="1"/>
          </p:cNvSpPr>
          <p:nvPr>
            <p:ph type="body" sz="quarter" idx="1"/>
          </p:nvPr>
        </p:nvSpPr>
        <p:spPr/>
        <p:txBody>
          <a:bodyPr/>
          <a:lstStyle/>
          <a:p>
            <a:endParaRPr lang="en-GB"/>
          </a:p>
        </p:txBody>
      </p:sp>
      <p:sp>
        <p:nvSpPr>
          <p:cNvPr id="4" name="Slide Number Placeholder 3">
            <a:extLst>
              <a:ext uri="{FF2B5EF4-FFF2-40B4-BE49-F238E27FC236}">
                <a16:creationId xmlns:a16="http://schemas.microsoft.com/office/drawing/2014/main" id="{13200B0A-A63F-4FE7-B0D5-CD084EFBFEF0}"/>
              </a:ext>
            </a:extLst>
          </p:cNvPr>
          <p:cNvSpPr txBox="1"/>
          <p:nvPr/>
        </p:nvSpPr>
        <p:spPr>
          <a:xfrm>
            <a:off x="3884608" y="8685208"/>
            <a:ext cx="2971800" cy="458791"/>
          </a:xfrm>
          <a:prstGeom prst="rect">
            <a:avLst/>
          </a:prstGeom>
          <a:noFill/>
          <a:ln cap="flat">
            <a:noFill/>
          </a:ln>
        </p:spPr>
        <p:txBody>
          <a:bodyPr vert="horz" wrap="square" lIns="91440" tIns="45720" rIns="91440" bIns="45720" anchor="b" anchorCtr="0" compatLnSpc="1">
            <a:noAutofit/>
          </a:bodyPr>
          <a:lstStyle/>
          <a:p>
            <a:pPr marL="0" marR="0" lvl="0" indent="0" algn="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fld id="{229E7E02-6B9F-4F6E-B109-4BA4FEF51E32}" type="slidenum">
              <a:t>17</a:t>
            </a:fld>
            <a:endParaRPr lang="en-GB" sz="1200" b="0" i="0" u="none" strike="noStrike" kern="1200" cap="none" spc="0" baseline="0">
              <a:solidFill>
                <a:srgbClr val="000000"/>
              </a:solidFill>
              <a:uFillTx/>
              <a:latin typeface="Calibri"/>
            </a:endParaRPr>
          </a:p>
        </p:txBody>
      </p:sp>
    </p:spTree>
    <p:extLst>
      <p:ext uri="{BB962C8B-B14F-4D97-AF65-F5344CB8AC3E}">
        <p14:creationId xmlns:p14="http://schemas.microsoft.com/office/powerpoint/2010/main" val="414225760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84609A-FE63-4C8E-9430-9415745D926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D25F9ACD-8F18-42D1-BA12-89692755546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432EEE68-6EEA-4537-9BB2-6123385D3925}"/>
              </a:ext>
            </a:extLst>
          </p:cNvPr>
          <p:cNvSpPr>
            <a:spLocks noGrp="1"/>
          </p:cNvSpPr>
          <p:nvPr>
            <p:ph type="dt" sz="half" idx="10"/>
          </p:nvPr>
        </p:nvSpPr>
        <p:spPr/>
        <p:txBody>
          <a:bodyPr/>
          <a:lstStyle/>
          <a:p>
            <a:fld id="{1BA70579-AE97-49D3-81D0-4FD87F2AA94B}" type="datetimeFigureOut">
              <a:rPr lang="en-GB" smtClean="0"/>
              <a:t>29/09/2022</a:t>
            </a:fld>
            <a:endParaRPr lang="en-GB"/>
          </a:p>
        </p:txBody>
      </p:sp>
      <p:sp>
        <p:nvSpPr>
          <p:cNvPr id="5" name="Footer Placeholder 4">
            <a:extLst>
              <a:ext uri="{FF2B5EF4-FFF2-40B4-BE49-F238E27FC236}">
                <a16:creationId xmlns:a16="http://schemas.microsoft.com/office/drawing/2014/main" id="{8AF26CC5-B1CC-488B-B76D-C1916F3FE1BC}"/>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BFD31436-2D2D-4E41-9925-C2F8778E675C}"/>
              </a:ext>
            </a:extLst>
          </p:cNvPr>
          <p:cNvSpPr>
            <a:spLocks noGrp="1"/>
          </p:cNvSpPr>
          <p:nvPr>
            <p:ph type="sldNum" sz="quarter" idx="12"/>
          </p:nvPr>
        </p:nvSpPr>
        <p:spPr/>
        <p:txBody>
          <a:bodyPr/>
          <a:lstStyle/>
          <a:p>
            <a:fld id="{6E16D46C-6633-4EF1-9410-BB20E71DC15F}" type="slidenum">
              <a:rPr lang="en-GB" smtClean="0"/>
              <a:t>‹#›</a:t>
            </a:fld>
            <a:endParaRPr lang="en-GB"/>
          </a:p>
        </p:txBody>
      </p:sp>
    </p:spTree>
    <p:extLst>
      <p:ext uri="{BB962C8B-B14F-4D97-AF65-F5344CB8AC3E}">
        <p14:creationId xmlns:p14="http://schemas.microsoft.com/office/powerpoint/2010/main" val="26938300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419824-2C46-49A0-B3E1-F04498A6C68B}"/>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BAACD464-EBC3-441B-928C-2323E249275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87669CEA-138A-4272-99C3-D402386F9E28}"/>
              </a:ext>
            </a:extLst>
          </p:cNvPr>
          <p:cNvSpPr>
            <a:spLocks noGrp="1"/>
          </p:cNvSpPr>
          <p:nvPr>
            <p:ph type="dt" sz="half" idx="10"/>
          </p:nvPr>
        </p:nvSpPr>
        <p:spPr/>
        <p:txBody>
          <a:bodyPr/>
          <a:lstStyle/>
          <a:p>
            <a:fld id="{1BA70579-AE97-49D3-81D0-4FD87F2AA94B}" type="datetimeFigureOut">
              <a:rPr lang="en-GB" smtClean="0"/>
              <a:t>29/09/2022</a:t>
            </a:fld>
            <a:endParaRPr lang="en-GB"/>
          </a:p>
        </p:txBody>
      </p:sp>
      <p:sp>
        <p:nvSpPr>
          <p:cNvPr id="5" name="Footer Placeholder 4">
            <a:extLst>
              <a:ext uri="{FF2B5EF4-FFF2-40B4-BE49-F238E27FC236}">
                <a16:creationId xmlns:a16="http://schemas.microsoft.com/office/drawing/2014/main" id="{3DD1F0A1-AE28-4A50-9E39-B26C5F7D6832}"/>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3BB7E891-381D-48EB-AB33-8F1936E58EFC}"/>
              </a:ext>
            </a:extLst>
          </p:cNvPr>
          <p:cNvSpPr>
            <a:spLocks noGrp="1"/>
          </p:cNvSpPr>
          <p:nvPr>
            <p:ph type="sldNum" sz="quarter" idx="12"/>
          </p:nvPr>
        </p:nvSpPr>
        <p:spPr/>
        <p:txBody>
          <a:bodyPr/>
          <a:lstStyle/>
          <a:p>
            <a:fld id="{6E16D46C-6633-4EF1-9410-BB20E71DC15F}" type="slidenum">
              <a:rPr lang="en-GB" smtClean="0"/>
              <a:t>‹#›</a:t>
            </a:fld>
            <a:endParaRPr lang="en-GB"/>
          </a:p>
        </p:txBody>
      </p:sp>
    </p:spTree>
    <p:extLst>
      <p:ext uri="{BB962C8B-B14F-4D97-AF65-F5344CB8AC3E}">
        <p14:creationId xmlns:p14="http://schemas.microsoft.com/office/powerpoint/2010/main" val="42866024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28E976-BD54-48E5-81A8-8140EA3FC62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04EE13FA-DD93-4A39-9961-6F6AE1772E4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A72B360-9A44-4B67-BFF9-7D5D11D2F53F}"/>
              </a:ext>
            </a:extLst>
          </p:cNvPr>
          <p:cNvSpPr>
            <a:spLocks noGrp="1"/>
          </p:cNvSpPr>
          <p:nvPr>
            <p:ph type="dt" sz="half" idx="10"/>
          </p:nvPr>
        </p:nvSpPr>
        <p:spPr/>
        <p:txBody>
          <a:bodyPr/>
          <a:lstStyle/>
          <a:p>
            <a:fld id="{1BA70579-AE97-49D3-81D0-4FD87F2AA94B}" type="datetimeFigureOut">
              <a:rPr lang="en-GB" smtClean="0"/>
              <a:t>29/09/2022</a:t>
            </a:fld>
            <a:endParaRPr lang="en-GB"/>
          </a:p>
        </p:txBody>
      </p:sp>
      <p:sp>
        <p:nvSpPr>
          <p:cNvPr id="5" name="Footer Placeholder 4">
            <a:extLst>
              <a:ext uri="{FF2B5EF4-FFF2-40B4-BE49-F238E27FC236}">
                <a16:creationId xmlns:a16="http://schemas.microsoft.com/office/drawing/2014/main" id="{5278099D-C5EA-4403-8B59-2B6183DF6BD3}"/>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D494FCAA-47E7-4793-89B3-7E1E50E1D968}"/>
              </a:ext>
            </a:extLst>
          </p:cNvPr>
          <p:cNvSpPr>
            <a:spLocks noGrp="1"/>
          </p:cNvSpPr>
          <p:nvPr>
            <p:ph type="sldNum" sz="quarter" idx="12"/>
          </p:nvPr>
        </p:nvSpPr>
        <p:spPr/>
        <p:txBody>
          <a:bodyPr/>
          <a:lstStyle/>
          <a:p>
            <a:fld id="{6E16D46C-6633-4EF1-9410-BB20E71DC15F}" type="slidenum">
              <a:rPr lang="en-GB" smtClean="0"/>
              <a:t>‹#›</a:t>
            </a:fld>
            <a:endParaRPr lang="en-GB"/>
          </a:p>
        </p:txBody>
      </p:sp>
    </p:spTree>
    <p:extLst>
      <p:ext uri="{BB962C8B-B14F-4D97-AF65-F5344CB8AC3E}">
        <p14:creationId xmlns:p14="http://schemas.microsoft.com/office/powerpoint/2010/main" val="12347830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7D581F-4759-4766-8949-D956471E86AC}"/>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5AC0BC6F-C7AD-4903-846D-1C27EA95FFD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31A38908-39D2-4962-AB39-1DBECE55614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67435E0B-A9D9-419A-BBC3-3BCD1A07A870}"/>
              </a:ext>
            </a:extLst>
          </p:cNvPr>
          <p:cNvSpPr>
            <a:spLocks noGrp="1"/>
          </p:cNvSpPr>
          <p:nvPr>
            <p:ph type="dt" sz="half" idx="10"/>
          </p:nvPr>
        </p:nvSpPr>
        <p:spPr/>
        <p:txBody>
          <a:bodyPr/>
          <a:lstStyle/>
          <a:p>
            <a:fld id="{1BA70579-AE97-49D3-81D0-4FD87F2AA94B}" type="datetimeFigureOut">
              <a:rPr lang="en-GB" smtClean="0"/>
              <a:t>29/09/2022</a:t>
            </a:fld>
            <a:endParaRPr lang="en-GB"/>
          </a:p>
        </p:txBody>
      </p:sp>
      <p:sp>
        <p:nvSpPr>
          <p:cNvPr id="6" name="Footer Placeholder 5">
            <a:extLst>
              <a:ext uri="{FF2B5EF4-FFF2-40B4-BE49-F238E27FC236}">
                <a16:creationId xmlns:a16="http://schemas.microsoft.com/office/drawing/2014/main" id="{939103A9-2ADD-49BC-975C-56022BD8F912}"/>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E88C7AA0-F7AA-45F5-9EB7-8F381A7DB436}"/>
              </a:ext>
            </a:extLst>
          </p:cNvPr>
          <p:cNvSpPr>
            <a:spLocks noGrp="1"/>
          </p:cNvSpPr>
          <p:nvPr>
            <p:ph type="sldNum" sz="quarter" idx="12"/>
          </p:nvPr>
        </p:nvSpPr>
        <p:spPr/>
        <p:txBody>
          <a:bodyPr/>
          <a:lstStyle/>
          <a:p>
            <a:fld id="{6E16D46C-6633-4EF1-9410-BB20E71DC15F}" type="slidenum">
              <a:rPr lang="en-GB" smtClean="0"/>
              <a:t>‹#›</a:t>
            </a:fld>
            <a:endParaRPr lang="en-GB"/>
          </a:p>
        </p:txBody>
      </p:sp>
    </p:spTree>
    <p:extLst>
      <p:ext uri="{BB962C8B-B14F-4D97-AF65-F5344CB8AC3E}">
        <p14:creationId xmlns:p14="http://schemas.microsoft.com/office/powerpoint/2010/main" val="28459108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CA05B2-126B-45CC-9D1D-6A6624E3294E}"/>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4B16D5DA-9A0B-4A80-81E7-CBB2A802A4F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0380001-2547-45F4-A2C6-33160EE3F89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AD88B226-2F3F-4472-AFAC-5254700FEE5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F743B30-338D-4700-96CE-104383BAEAC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0669AE4C-A971-4FF8-8F81-06459D0A24CF}"/>
              </a:ext>
            </a:extLst>
          </p:cNvPr>
          <p:cNvSpPr>
            <a:spLocks noGrp="1"/>
          </p:cNvSpPr>
          <p:nvPr>
            <p:ph type="dt" sz="half" idx="10"/>
          </p:nvPr>
        </p:nvSpPr>
        <p:spPr/>
        <p:txBody>
          <a:bodyPr/>
          <a:lstStyle/>
          <a:p>
            <a:fld id="{1BA70579-AE97-49D3-81D0-4FD87F2AA94B}" type="datetimeFigureOut">
              <a:rPr lang="en-GB" smtClean="0"/>
              <a:t>29/09/2022</a:t>
            </a:fld>
            <a:endParaRPr lang="en-GB"/>
          </a:p>
        </p:txBody>
      </p:sp>
      <p:sp>
        <p:nvSpPr>
          <p:cNvPr id="8" name="Footer Placeholder 7">
            <a:extLst>
              <a:ext uri="{FF2B5EF4-FFF2-40B4-BE49-F238E27FC236}">
                <a16:creationId xmlns:a16="http://schemas.microsoft.com/office/drawing/2014/main" id="{3FCFF5C8-7902-4D25-ACE0-A39D582EBA95}"/>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19C0620E-47AF-4A14-AB4A-E3464F504E1B}"/>
              </a:ext>
            </a:extLst>
          </p:cNvPr>
          <p:cNvSpPr>
            <a:spLocks noGrp="1"/>
          </p:cNvSpPr>
          <p:nvPr>
            <p:ph type="sldNum" sz="quarter" idx="12"/>
          </p:nvPr>
        </p:nvSpPr>
        <p:spPr/>
        <p:txBody>
          <a:bodyPr/>
          <a:lstStyle/>
          <a:p>
            <a:fld id="{6E16D46C-6633-4EF1-9410-BB20E71DC15F}" type="slidenum">
              <a:rPr lang="en-GB" smtClean="0"/>
              <a:t>‹#›</a:t>
            </a:fld>
            <a:endParaRPr lang="en-GB"/>
          </a:p>
        </p:txBody>
      </p:sp>
    </p:spTree>
    <p:extLst>
      <p:ext uri="{BB962C8B-B14F-4D97-AF65-F5344CB8AC3E}">
        <p14:creationId xmlns:p14="http://schemas.microsoft.com/office/powerpoint/2010/main" val="26400711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069C22-8E99-4DEF-A7D1-4E6A0C9FD416}"/>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F09EE5BE-F989-48E2-BF19-F7B376F4E4CE}"/>
              </a:ext>
            </a:extLst>
          </p:cNvPr>
          <p:cNvSpPr>
            <a:spLocks noGrp="1"/>
          </p:cNvSpPr>
          <p:nvPr>
            <p:ph type="dt" sz="half" idx="10"/>
          </p:nvPr>
        </p:nvSpPr>
        <p:spPr/>
        <p:txBody>
          <a:bodyPr/>
          <a:lstStyle/>
          <a:p>
            <a:fld id="{1BA70579-AE97-49D3-81D0-4FD87F2AA94B}" type="datetimeFigureOut">
              <a:rPr lang="en-GB" smtClean="0"/>
              <a:t>29/09/2022</a:t>
            </a:fld>
            <a:endParaRPr lang="en-GB"/>
          </a:p>
        </p:txBody>
      </p:sp>
      <p:sp>
        <p:nvSpPr>
          <p:cNvPr id="4" name="Footer Placeholder 3">
            <a:extLst>
              <a:ext uri="{FF2B5EF4-FFF2-40B4-BE49-F238E27FC236}">
                <a16:creationId xmlns:a16="http://schemas.microsoft.com/office/drawing/2014/main" id="{3E16D891-3988-4153-9BC2-C48C6BFC7FF7}"/>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7B736CA6-F75C-4FE2-AA5F-750497D02DF6}"/>
              </a:ext>
            </a:extLst>
          </p:cNvPr>
          <p:cNvSpPr>
            <a:spLocks noGrp="1"/>
          </p:cNvSpPr>
          <p:nvPr>
            <p:ph type="sldNum" sz="quarter" idx="12"/>
          </p:nvPr>
        </p:nvSpPr>
        <p:spPr/>
        <p:txBody>
          <a:bodyPr/>
          <a:lstStyle/>
          <a:p>
            <a:fld id="{6E16D46C-6633-4EF1-9410-BB20E71DC15F}" type="slidenum">
              <a:rPr lang="en-GB" smtClean="0"/>
              <a:t>‹#›</a:t>
            </a:fld>
            <a:endParaRPr lang="en-GB"/>
          </a:p>
        </p:txBody>
      </p:sp>
    </p:spTree>
    <p:extLst>
      <p:ext uri="{BB962C8B-B14F-4D97-AF65-F5344CB8AC3E}">
        <p14:creationId xmlns:p14="http://schemas.microsoft.com/office/powerpoint/2010/main" val="5989984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120B313-CC34-49ED-BBEE-9048E6ED85DE}"/>
              </a:ext>
            </a:extLst>
          </p:cNvPr>
          <p:cNvSpPr>
            <a:spLocks noGrp="1"/>
          </p:cNvSpPr>
          <p:nvPr>
            <p:ph type="dt" sz="half" idx="10"/>
          </p:nvPr>
        </p:nvSpPr>
        <p:spPr/>
        <p:txBody>
          <a:bodyPr/>
          <a:lstStyle/>
          <a:p>
            <a:fld id="{1BA70579-AE97-49D3-81D0-4FD87F2AA94B}" type="datetimeFigureOut">
              <a:rPr lang="en-GB" smtClean="0"/>
              <a:t>29/09/2022</a:t>
            </a:fld>
            <a:endParaRPr lang="en-GB"/>
          </a:p>
        </p:txBody>
      </p:sp>
      <p:sp>
        <p:nvSpPr>
          <p:cNvPr id="3" name="Footer Placeholder 2">
            <a:extLst>
              <a:ext uri="{FF2B5EF4-FFF2-40B4-BE49-F238E27FC236}">
                <a16:creationId xmlns:a16="http://schemas.microsoft.com/office/drawing/2014/main" id="{CD0C25A8-2330-4636-BB15-CF8C169E8ACF}"/>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739EB9CD-3537-4081-95C9-10AB9DBCE4BC}"/>
              </a:ext>
            </a:extLst>
          </p:cNvPr>
          <p:cNvSpPr>
            <a:spLocks noGrp="1"/>
          </p:cNvSpPr>
          <p:nvPr>
            <p:ph type="sldNum" sz="quarter" idx="12"/>
          </p:nvPr>
        </p:nvSpPr>
        <p:spPr/>
        <p:txBody>
          <a:bodyPr/>
          <a:lstStyle/>
          <a:p>
            <a:fld id="{6E16D46C-6633-4EF1-9410-BB20E71DC15F}" type="slidenum">
              <a:rPr lang="en-GB" smtClean="0"/>
              <a:t>‹#›</a:t>
            </a:fld>
            <a:endParaRPr lang="en-GB"/>
          </a:p>
        </p:txBody>
      </p:sp>
    </p:spTree>
    <p:extLst>
      <p:ext uri="{BB962C8B-B14F-4D97-AF65-F5344CB8AC3E}">
        <p14:creationId xmlns:p14="http://schemas.microsoft.com/office/powerpoint/2010/main" val="2341848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D7FF59-8F8F-491D-9EBA-F9CDD7763B2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72D362B1-A7F2-4143-8608-8AA75C7C094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AB97DA4D-2ECF-4383-A2E1-C149C860703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519A7C1-CD8E-4A13-93CD-3F67C76291F8}"/>
              </a:ext>
            </a:extLst>
          </p:cNvPr>
          <p:cNvSpPr>
            <a:spLocks noGrp="1"/>
          </p:cNvSpPr>
          <p:nvPr>
            <p:ph type="dt" sz="half" idx="10"/>
          </p:nvPr>
        </p:nvSpPr>
        <p:spPr/>
        <p:txBody>
          <a:bodyPr/>
          <a:lstStyle/>
          <a:p>
            <a:fld id="{1BA70579-AE97-49D3-81D0-4FD87F2AA94B}" type="datetimeFigureOut">
              <a:rPr lang="en-GB" smtClean="0"/>
              <a:t>29/09/2022</a:t>
            </a:fld>
            <a:endParaRPr lang="en-GB"/>
          </a:p>
        </p:txBody>
      </p:sp>
      <p:sp>
        <p:nvSpPr>
          <p:cNvPr id="6" name="Footer Placeholder 5">
            <a:extLst>
              <a:ext uri="{FF2B5EF4-FFF2-40B4-BE49-F238E27FC236}">
                <a16:creationId xmlns:a16="http://schemas.microsoft.com/office/drawing/2014/main" id="{19C0F9FE-7C4B-48AF-8034-BED90A742761}"/>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12120896-3FFC-4280-AEEB-3CF3DC02BC86}"/>
              </a:ext>
            </a:extLst>
          </p:cNvPr>
          <p:cNvSpPr>
            <a:spLocks noGrp="1"/>
          </p:cNvSpPr>
          <p:nvPr>
            <p:ph type="sldNum" sz="quarter" idx="12"/>
          </p:nvPr>
        </p:nvSpPr>
        <p:spPr/>
        <p:txBody>
          <a:bodyPr/>
          <a:lstStyle/>
          <a:p>
            <a:fld id="{6E16D46C-6633-4EF1-9410-BB20E71DC15F}" type="slidenum">
              <a:rPr lang="en-GB" smtClean="0"/>
              <a:t>‹#›</a:t>
            </a:fld>
            <a:endParaRPr lang="en-GB"/>
          </a:p>
        </p:txBody>
      </p:sp>
    </p:spTree>
    <p:extLst>
      <p:ext uri="{BB962C8B-B14F-4D97-AF65-F5344CB8AC3E}">
        <p14:creationId xmlns:p14="http://schemas.microsoft.com/office/powerpoint/2010/main" val="38078711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AD299E-80F7-4659-8186-20169AA395C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19F249A3-3E0B-42C2-BC1D-E159D14776B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460E1141-981F-4935-9E9C-34877F42F91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31B4D2F-8918-430D-BA6B-8E39CDE3DC4B}"/>
              </a:ext>
            </a:extLst>
          </p:cNvPr>
          <p:cNvSpPr>
            <a:spLocks noGrp="1"/>
          </p:cNvSpPr>
          <p:nvPr>
            <p:ph type="dt" sz="half" idx="10"/>
          </p:nvPr>
        </p:nvSpPr>
        <p:spPr/>
        <p:txBody>
          <a:bodyPr/>
          <a:lstStyle/>
          <a:p>
            <a:fld id="{1BA70579-AE97-49D3-81D0-4FD87F2AA94B}" type="datetimeFigureOut">
              <a:rPr lang="en-GB" smtClean="0"/>
              <a:t>29/09/2022</a:t>
            </a:fld>
            <a:endParaRPr lang="en-GB"/>
          </a:p>
        </p:txBody>
      </p:sp>
      <p:sp>
        <p:nvSpPr>
          <p:cNvPr id="6" name="Footer Placeholder 5">
            <a:extLst>
              <a:ext uri="{FF2B5EF4-FFF2-40B4-BE49-F238E27FC236}">
                <a16:creationId xmlns:a16="http://schemas.microsoft.com/office/drawing/2014/main" id="{DAD8AAC3-A355-4DA9-A3AA-1861FD45F74E}"/>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099D9C00-A682-4A20-859C-E2DA96799BBB}"/>
              </a:ext>
            </a:extLst>
          </p:cNvPr>
          <p:cNvSpPr>
            <a:spLocks noGrp="1"/>
          </p:cNvSpPr>
          <p:nvPr>
            <p:ph type="sldNum" sz="quarter" idx="12"/>
          </p:nvPr>
        </p:nvSpPr>
        <p:spPr/>
        <p:txBody>
          <a:bodyPr/>
          <a:lstStyle/>
          <a:p>
            <a:fld id="{6E16D46C-6633-4EF1-9410-BB20E71DC15F}" type="slidenum">
              <a:rPr lang="en-GB" smtClean="0"/>
              <a:t>‹#›</a:t>
            </a:fld>
            <a:endParaRPr lang="en-GB"/>
          </a:p>
        </p:txBody>
      </p:sp>
    </p:spTree>
    <p:extLst>
      <p:ext uri="{BB962C8B-B14F-4D97-AF65-F5344CB8AC3E}">
        <p14:creationId xmlns:p14="http://schemas.microsoft.com/office/powerpoint/2010/main" val="113274026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24F996-BF6D-4B98-B47A-CA1E93E40B74}"/>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21FC9F25-0FFC-41DA-8843-CFC56D1DE0A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78946A77-7F55-4D2A-A5E9-CE57E10DC118}"/>
              </a:ext>
            </a:extLst>
          </p:cNvPr>
          <p:cNvSpPr>
            <a:spLocks noGrp="1"/>
          </p:cNvSpPr>
          <p:nvPr>
            <p:ph type="dt" sz="half" idx="10"/>
          </p:nvPr>
        </p:nvSpPr>
        <p:spPr/>
        <p:txBody>
          <a:bodyPr/>
          <a:lstStyle/>
          <a:p>
            <a:fld id="{1BA70579-AE97-49D3-81D0-4FD87F2AA94B}" type="datetimeFigureOut">
              <a:rPr lang="en-GB" smtClean="0"/>
              <a:t>29/09/2022</a:t>
            </a:fld>
            <a:endParaRPr lang="en-GB"/>
          </a:p>
        </p:txBody>
      </p:sp>
      <p:sp>
        <p:nvSpPr>
          <p:cNvPr id="5" name="Footer Placeholder 4">
            <a:extLst>
              <a:ext uri="{FF2B5EF4-FFF2-40B4-BE49-F238E27FC236}">
                <a16:creationId xmlns:a16="http://schemas.microsoft.com/office/drawing/2014/main" id="{0DBEBB8D-E653-4A4B-97D6-DDA26D1683AD}"/>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B3204066-5693-4918-A71F-5C02070C0F2D}"/>
              </a:ext>
            </a:extLst>
          </p:cNvPr>
          <p:cNvSpPr>
            <a:spLocks noGrp="1"/>
          </p:cNvSpPr>
          <p:nvPr>
            <p:ph type="sldNum" sz="quarter" idx="12"/>
          </p:nvPr>
        </p:nvSpPr>
        <p:spPr/>
        <p:txBody>
          <a:bodyPr/>
          <a:lstStyle/>
          <a:p>
            <a:fld id="{6E16D46C-6633-4EF1-9410-BB20E71DC15F}" type="slidenum">
              <a:rPr lang="en-GB" smtClean="0"/>
              <a:t>‹#›</a:t>
            </a:fld>
            <a:endParaRPr lang="en-GB"/>
          </a:p>
        </p:txBody>
      </p:sp>
    </p:spTree>
    <p:extLst>
      <p:ext uri="{BB962C8B-B14F-4D97-AF65-F5344CB8AC3E}">
        <p14:creationId xmlns:p14="http://schemas.microsoft.com/office/powerpoint/2010/main" val="331835932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4670E19-93C8-4CCA-B87B-0B805B85B310}"/>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90E912D7-AB0A-4404-ABA5-8C4B059A5A5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7D5147F3-0CCF-466F-BE82-804C88860C33}"/>
              </a:ext>
            </a:extLst>
          </p:cNvPr>
          <p:cNvSpPr>
            <a:spLocks noGrp="1"/>
          </p:cNvSpPr>
          <p:nvPr>
            <p:ph type="dt" sz="half" idx="10"/>
          </p:nvPr>
        </p:nvSpPr>
        <p:spPr/>
        <p:txBody>
          <a:bodyPr/>
          <a:lstStyle/>
          <a:p>
            <a:fld id="{1BA70579-AE97-49D3-81D0-4FD87F2AA94B}" type="datetimeFigureOut">
              <a:rPr lang="en-GB" smtClean="0"/>
              <a:t>29/09/2022</a:t>
            </a:fld>
            <a:endParaRPr lang="en-GB"/>
          </a:p>
        </p:txBody>
      </p:sp>
      <p:sp>
        <p:nvSpPr>
          <p:cNvPr id="5" name="Footer Placeholder 4">
            <a:extLst>
              <a:ext uri="{FF2B5EF4-FFF2-40B4-BE49-F238E27FC236}">
                <a16:creationId xmlns:a16="http://schemas.microsoft.com/office/drawing/2014/main" id="{62873082-0271-42B4-ABB9-9A0CD30B5688}"/>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AD15FC53-3970-40C0-9FFE-8C0F6D83797C}"/>
              </a:ext>
            </a:extLst>
          </p:cNvPr>
          <p:cNvSpPr>
            <a:spLocks noGrp="1"/>
          </p:cNvSpPr>
          <p:nvPr>
            <p:ph type="sldNum" sz="quarter" idx="12"/>
          </p:nvPr>
        </p:nvSpPr>
        <p:spPr/>
        <p:txBody>
          <a:bodyPr/>
          <a:lstStyle/>
          <a:p>
            <a:fld id="{6E16D46C-6633-4EF1-9410-BB20E71DC15F}" type="slidenum">
              <a:rPr lang="en-GB" smtClean="0"/>
              <a:t>‹#›</a:t>
            </a:fld>
            <a:endParaRPr lang="en-GB"/>
          </a:p>
        </p:txBody>
      </p:sp>
    </p:spTree>
    <p:extLst>
      <p:ext uri="{BB962C8B-B14F-4D97-AF65-F5344CB8AC3E}">
        <p14:creationId xmlns:p14="http://schemas.microsoft.com/office/powerpoint/2010/main" val="4092021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7B8912E-0BB6-44D0-91E6-21B8BEB2111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5653B9C8-8C03-42D2-98C1-CEFB06B15E9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23DA8D60-DFE9-46EE-988E-32FA7DD8FB8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BA70579-AE97-49D3-81D0-4FD87F2AA94B}" type="datetimeFigureOut">
              <a:rPr lang="en-GB" smtClean="0"/>
              <a:t>29/09/2022</a:t>
            </a:fld>
            <a:endParaRPr lang="en-GB"/>
          </a:p>
        </p:txBody>
      </p:sp>
      <p:sp>
        <p:nvSpPr>
          <p:cNvPr id="5" name="Footer Placeholder 4">
            <a:extLst>
              <a:ext uri="{FF2B5EF4-FFF2-40B4-BE49-F238E27FC236}">
                <a16:creationId xmlns:a16="http://schemas.microsoft.com/office/drawing/2014/main" id="{F7449E94-3994-4F72-9947-C2E9F741975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86D64073-FBFE-457F-B120-3737235C46F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E16D46C-6633-4EF1-9410-BB20E71DC15F}" type="slidenum">
              <a:rPr lang="en-GB" smtClean="0"/>
              <a:t>‹#›</a:t>
            </a:fld>
            <a:endParaRPr lang="en-GB"/>
          </a:p>
        </p:txBody>
      </p:sp>
      <p:sp>
        <p:nvSpPr>
          <p:cNvPr id="7" name="MSIPCMContentMarking" descr="{&quot;HashCode&quot;:-1264847310,&quot;Placement&quot;:&quot;Footer&quot;,&quot;Top&quot;:519.343,&quot;Left&quot;:451.105438,&quot;SlideWidth&quot;:960,&quot;SlideHeight&quot;:540}">
            <a:extLst>
              <a:ext uri="{FF2B5EF4-FFF2-40B4-BE49-F238E27FC236}">
                <a16:creationId xmlns:a16="http://schemas.microsoft.com/office/drawing/2014/main" id="{999A4A20-AEF7-41E2-989F-13C1566D9DC4}"/>
              </a:ext>
            </a:extLst>
          </p:cNvPr>
          <p:cNvSpPr txBox="1"/>
          <p:nvPr userDrawn="1"/>
        </p:nvSpPr>
        <p:spPr>
          <a:xfrm>
            <a:off x="5729039" y="6595656"/>
            <a:ext cx="733923" cy="262344"/>
          </a:xfrm>
          <a:prstGeom prst="rect">
            <a:avLst/>
          </a:prstGeom>
          <a:noFill/>
        </p:spPr>
        <p:txBody>
          <a:bodyPr vert="horz" wrap="square" lIns="0" tIns="0" rIns="0" bIns="0" rtlCol="0" anchor="ctr" anchorCtr="1">
            <a:spAutoFit/>
          </a:bodyPr>
          <a:lstStyle/>
          <a:p>
            <a:pPr algn="ctr">
              <a:spcBef>
                <a:spcPts val="0"/>
              </a:spcBef>
              <a:spcAft>
                <a:spcPts val="0"/>
              </a:spcAft>
            </a:pPr>
            <a:r>
              <a:rPr lang="en-GB" sz="1000">
                <a:solidFill>
                  <a:srgbClr val="000000"/>
                </a:solidFill>
                <a:latin typeface="Calibri" panose="020F0502020204030204" pitchFamily="34" charset="0"/>
              </a:rPr>
              <a:t>OFFICIAL</a:t>
            </a:r>
          </a:p>
        </p:txBody>
      </p:sp>
    </p:spTree>
    <p:extLst>
      <p:ext uri="{BB962C8B-B14F-4D97-AF65-F5344CB8AC3E}">
        <p14:creationId xmlns:p14="http://schemas.microsoft.com/office/powerpoint/2010/main" val="337542204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8" Type="http://schemas.openxmlformats.org/officeDocument/2006/relationships/hyperlink" Target="https://eur03.safelinks.protection.outlook.com/?url=https%3A%2F%2Fdeveloper.service.hmrc.gov.uk%2Fguides%2Fcustoms-declarations-end-to-end-service-guide%2F%23technical-documentation&amp;data=04|01|sarah.aron%40hmrc.gov.uk|ecef0b5e19524c32fce508d9d77c66c8|ac52f73cfd1a4a9a8e7a4a248f3139e1|0|0|637777751557096537|Unknown|TWFpbGZsb3d8eyJWIjoiMC4wLjAwMDAiLCJQIjoiV2luMzIiLCJBTiI6Ik1haWwiLCJXVCI6Mn0%3D|3000&amp;sdata=OkwBp1BJlAXfdB5ZAW83oE694MpmaVWyrlFd%2F%2FnAADk%3D&amp;reserved=0" TargetMode="External"/><Relationship Id="rId3" Type="http://schemas.openxmlformats.org/officeDocument/2006/relationships/image" Target="../media/image2.jpeg"/><Relationship Id="rId7" Type="http://schemas.openxmlformats.org/officeDocument/2006/relationships/slide" Target="slide17.xml"/><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slide" Target="slide16.xml"/><Relationship Id="rId5" Type="http://schemas.openxmlformats.org/officeDocument/2006/relationships/slide" Target="slide7.xml"/><Relationship Id="rId4" Type="http://schemas.openxmlformats.org/officeDocument/2006/relationships/slide" Target="slide3.xml"/><Relationship Id="rId9" Type="http://schemas.openxmlformats.org/officeDocument/2006/relationships/hyperlink" Target="mailto:SDST@hmrc.gov.uk" TargetMode="Externa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hyperlink" Target="https://www.gov.uk/government/publications/notice-252-valuation-of-imported-goods-for-customs-purposes-vat-and-trade-statistics/notice-252-valuation-of-imported-goods-for-customs-purposes-vat-and-trade-statistics#method-4" TargetMode="External"/></Relationships>
</file>

<file path=ppt/slides/_rels/slide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9.xml"/><Relationship Id="rId1" Type="http://schemas.openxmlformats.org/officeDocument/2006/relationships/slideLayout" Target="../slideLayouts/slideLayout7.xml"/><Relationship Id="rId4" Type="http://schemas.openxmlformats.org/officeDocument/2006/relationships/slide" Target="slide8.xml"/></Relationships>
</file>

<file path=ppt/slides/_rels/slide1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0.xml"/><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slide" Target="slide8.xml"/></Relationships>
</file>

<file path=ppt/slides/_rels/slide1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3.xml"/><Relationship Id="rId1" Type="http://schemas.openxmlformats.org/officeDocument/2006/relationships/slideLayout" Target="../slideLayouts/slideLayout7.xml"/><Relationship Id="rId5" Type="http://schemas.openxmlformats.org/officeDocument/2006/relationships/slide" Target="slide9.xml"/><Relationship Id="rId4" Type="http://schemas.openxmlformats.org/officeDocument/2006/relationships/hyperlink" Target="https://www.gov.uk/government/publications/notice-252-valuation-of-imported-goods-for-customs-purposes-vat-and-trade-statistics/notice-252-valuation-of-imported-goods-for-customs-purposes-vat-and-trade-statistics#method-4" TargetMode="External"/></Relationships>
</file>

<file path=ppt/slides/_rels/slide1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7.xml"/><Relationship Id="rId1" Type="http://schemas.openxmlformats.org/officeDocument/2006/relationships/slideLayout" Target="../slideLayouts/slideLayout7.xml"/><Relationship Id="rId4" Type="http://schemas.openxmlformats.org/officeDocument/2006/relationships/hyperlink" Target="https://www.gov.uk/guidance/apply-to-import-multiple-low-value-parcels-on-one-declaration--2"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5">
            <a:extLst>
              <a:ext uri="{FF2B5EF4-FFF2-40B4-BE49-F238E27FC236}">
                <a16:creationId xmlns:a16="http://schemas.microsoft.com/office/drawing/2014/main" id="{455F38C2-150D-4307-88E7-13D0E51C60AF}"/>
              </a:ext>
            </a:extLst>
          </p:cNvPr>
          <p:cNvSpPr/>
          <p:nvPr/>
        </p:nvSpPr>
        <p:spPr>
          <a:xfrm>
            <a:off x="901250" y="2744727"/>
            <a:ext cx="7563285" cy="830997"/>
          </a:xfrm>
          <a:prstGeom prst="rect">
            <a:avLst/>
          </a:prstGeom>
          <a:solidFill>
            <a:srgbClr val="009999"/>
          </a:solidFill>
          <a:ln w="25402" cap="flat">
            <a:solidFill>
              <a:srgbClr val="009999"/>
            </a:solidFill>
            <a:prstDash val="solid"/>
            <a:miter/>
          </a:ln>
        </p:spPr>
        <p:txBody>
          <a:bodyPr vert="horz" wrap="square" lIns="91440" tIns="45720" rIns="91440" bIns="4572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4800" b="1" i="0" u="none" strike="noStrike" kern="0" cap="none" spc="0" baseline="0">
              <a:solidFill>
                <a:srgbClr val="FFFFFF"/>
              </a:solidFill>
              <a:uFillTx/>
              <a:latin typeface="Calibri"/>
            </a:endParaRPr>
          </a:p>
        </p:txBody>
      </p:sp>
      <p:sp>
        <p:nvSpPr>
          <p:cNvPr id="3" name="Rectangle 6">
            <a:extLst>
              <a:ext uri="{FF2B5EF4-FFF2-40B4-BE49-F238E27FC236}">
                <a16:creationId xmlns:a16="http://schemas.microsoft.com/office/drawing/2014/main" id="{D5304C76-4698-477E-8AAC-492742C3F032}"/>
              </a:ext>
            </a:extLst>
          </p:cNvPr>
          <p:cNvSpPr/>
          <p:nvPr/>
        </p:nvSpPr>
        <p:spPr>
          <a:xfrm>
            <a:off x="939289" y="2744727"/>
            <a:ext cx="6944530" cy="769441"/>
          </a:xfrm>
          <a:prstGeom prst="rect">
            <a:avLst/>
          </a:prstGeom>
          <a:noFill/>
          <a:ln cap="flat">
            <a:noFill/>
            <a:prstDash val="solid"/>
          </a:ln>
        </p:spPr>
        <p:txBody>
          <a:bodyPr vert="horz" wrap="none" lIns="91440" tIns="45720" rIns="91440" bIns="45720" anchor="t"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4400" b="1" i="0" u="none" strike="noStrike" kern="0" cap="none" spc="0" baseline="0">
                <a:solidFill>
                  <a:srgbClr val="FFFFFF"/>
                </a:solidFill>
                <a:uFillTx/>
                <a:latin typeface="Calibri"/>
              </a:rPr>
              <a:t>CDS Single Customs Platform</a:t>
            </a:r>
            <a:endParaRPr lang="en-GB" sz="4000" b="1" i="0" u="none" strike="noStrike" kern="0" cap="none" spc="0" baseline="0">
              <a:solidFill>
                <a:srgbClr val="FFFFFF"/>
              </a:solidFill>
              <a:uFillTx/>
              <a:latin typeface="Calibri"/>
            </a:endParaRPr>
          </a:p>
        </p:txBody>
      </p:sp>
      <p:sp>
        <p:nvSpPr>
          <p:cNvPr id="4" name="Rectangle 8">
            <a:extLst>
              <a:ext uri="{FF2B5EF4-FFF2-40B4-BE49-F238E27FC236}">
                <a16:creationId xmlns:a16="http://schemas.microsoft.com/office/drawing/2014/main" id="{FD176D0C-B858-46B2-86E4-D54F98BE51FA}"/>
              </a:ext>
            </a:extLst>
          </p:cNvPr>
          <p:cNvSpPr/>
          <p:nvPr/>
        </p:nvSpPr>
        <p:spPr>
          <a:xfrm>
            <a:off x="5755297" y="5885453"/>
            <a:ext cx="6096003" cy="954103"/>
          </a:xfrm>
          <a:prstGeom prst="rect">
            <a:avLst/>
          </a:prstGeom>
          <a:noFill/>
          <a:ln cap="flat">
            <a:noFill/>
            <a:prstDash val="solid"/>
          </a:ln>
        </p:spPr>
        <p:txBody>
          <a:bodyPr vert="horz" wrap="square" lIns="91440" tIns="45720" rIns="91440" bIns="45720" anchor="t" anchorCtr="0" compatLnSpc="1">
            <a:spAutoFit/>
          </a:bodyPr>
          <a:lstStyle/>
          <a:p>
            <a:pPr marL="0" marR="0" lvl="0" indent="0" algn="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400" b="1" i="0" u="none" strike="noStrike" kern="1200" cap="none" spc="0" baseline="0" dirty="0">
                <a:solidFill>
                  <a:srgbClr val="000000"/>
                </a:solidFill>
                <a:uFillTx/>
                <a:latin typeface="Calibri"/>
                <a:ea typeface="Calibri" pitchFamily="34"/>
                <a:cs typeface="Calibri"/>
              </a:rPr>
              <a:t> Release: </a:t>
            </a:r>
            <a:r>
              <a:rPr lang="en-GB" sz="1400" dirty="0">
                <a:solidFill>
                  <a:srgbClr val="000000"/>
                </a:solidFill>
                <a:latin typeface="Calibri"/>
                <a:ea typeface="Calibri" pitchFamily="34"/>
                <a:cs typeface="Calibri"/>
              </a:rPr>
              <a:t>CDS 3.8.0</a:t>
            </a:r>
            <a:endParaRPr lang="en-GB" sz="1400" b="0" i="0" u="none" strike="noStrike" kern="1200" cap="none" spc="0" baseline="0" dirty="0">
              <a:solidFill>
                <a:srgbClr val="000000"/>
              </a:solidFill>
              <a:uFillTx/>
              <a:latin typeface="Calibri"/>
              <a:ea typeface="Calibri" pitchFamily="34"/>
              <a:cs typeface="Calibri"/>
            </a:endParaRPr>
          </a:p>
          <a:p>
            <a:pPr marL="0" marR="0" lvl="0" indent="0" algn="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400" b="1" i="0" u="none" strike="noStrike" kern="1200" cap="none" spc="0" baseline="0" dirty="0">
                <a:solidFill>
                  <a:srgbClr val="000000"/>
                </a:solidFill>
                <a:uFillTx/>
                <a:latin typeface="Calibri"/>
                <a:ea typeface="Calibri" pitchFamily="34"/>
                <a:cs typeface="Calibri"/>
              </a:rPr>
              <a:t>Status: </a:t>
            </a:r>
            <a:r>
              <a:rPr lang="en-GB" sz="1400" dirty="0">
                <a:solidFill>
                  <a:srgbClr val="000000"/>
                </a:solidFill>
                <a:latin typeface="Calibri"/>
                <a:ea typeface="Calibri" pitchFamily="34"/>
                <a:cs typeface="Calibri"/>
              </a:rPr>
              <a:t>Issued</a:t>
            </a:r>
            <a:endParaRPr lang="en-GB" sz="1400" b="0" i="0" u="none" strike="noStrike" kern="1200" cap="none" spc="0" baseline="0" dirty="0">
              <a:solidFill>
                <a:srgbClr val="000000"/>
              </a:solidFill>
              <a:uFillTx/>
              <a:latin typeface="Calibri"/>
              <a:ea typeface="Calibri" pitchFamily="34"/>
              <a:cs typeface="Calibri"/>
            </a:endParaRPr>
          </a:p>
          <a:p>
            <a:pPr marL="0" marR="0" lvl="0" indent="0" algn="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400" b="1" i="0" u="none" strike="noStrike" kern="0" cap="none" spc="0" baseline="0" dirty="0">
                <a:solidFill>
                  <a:srgbClr val="000000"/>
                </a:solidFill>
                <a:uFillTx/>
                <a:latin typeface="Calibri"/>
                <a:ea typeface="Calibri" pitchFamily="34"/>
                <a:cs typeface="Calibri"/>
              </a:rPr>
              <a:t>Date</a:t>
            </a:r>
            <a:r>
              <a:rPr lang="en-GB" sz="1400" b="0" i="0" u="none" strike="noStrike" kern="0" cap="none" spc="0" baseline="0">
                <a:solidFill>
                  <a:srgbClr val="000000"/>
                </a:solidFill>
                <a:uFillTx/>
                <a:latin typeface="Calibri"/>
                <a:ea typeface="Calibri" pitchFamily="34"/>
                <a:cs typeface="Calibri"/>
              </a:rPr>
              <a:t>: </a:t>
            </a:r>
            <a:r>
              <a:rPr lang="en-GB" sz="1400" kern="0">
                <a:solidFill>
                  <a:srgbClr val="000000"/>
                </a:solidFill>
                <a:latin typeface="Calibri"/>
                <a:ea typeface="Calibri" pitchFamily="34"/>
                <a:cs typeface="Calibri"/>
              </a:rPr>
              <a:t>26</a:t>
            </a:r>
            <a:r>
              <a:rPr lang="en-GB" sz="1400" b="0" i="0" u="none" strike="noStrike" kern="0" cap="none" spc="0" baseline="0">
                <a:solidFill>
                  <a:srgbClr val="000000"/>
                </a:solidFill>
                <a:uFillTx/>
                <a:latin typeface="Calibri"/>
                <a:ea typeface="Calibri" pitchFamily="34"/>
                <a:cs typeface="Calibri"/>
              </a:rPr>
              <a:t>/09/2022 </a:t>
            </a:r>
            <a:r>
              <a:rPr lang="en-GB" sz="1400" b="0" i="0" u="none" strike="noStrike" kern="1200" cap="none" spc="0" baseline="0">
                <a:solidFill>
                  <a:srgbClr val="000000"/>
                </a:solidFill>
                <a:uFillTx/>
                <a:latin typeface="Calibri"/>
                <a:ea typeface="Calibri" pitchFamily="34"/>
                <a:cs typeface="Calibri"/>
              </a:rPr>
              <a:t> </a:t>
            </a:r>
            <a:endParaRPr lang="en-GB" sz="1400" b="0" i="0" u="none" strike="noStrike" kern="1200" cap="none" spc="0" baseline="0" dirty="0">
              <a:solidFill>
                <a:srgbClr val="000000"/>
              </a:solidFill>
              <a:uFillTx/>
              <a:latin typeface="Calibri"/>
              <a:ea typeface="Calibri" pitchFamily="34"/>
              <a:cs typeface="Calibri"/>
            </a:endParaRPr>
          </a:p>
          <a:p>
            <a:pPr marL="0" marR="0" lvl="0" indent="0" algn="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400" b="0" i="0" u="none" strike="noStrike" kern="1200" cap="none" spc="0" baseline="0" dirty="0">
              <a:solidFill>
                <a:srgbClr val="000000"/>
              </a:solidFill>
              <a:uFillTx/>
              <a:latin typeface="Calibri" pitchFamily="34"/>
              <a:ea typeface="Calibri" pitchFamily="34"/>
            </a:endParaRPr>
          </a:p>
        </p:txBody>
      </p:sp>
      <p:pic>
        <p:nvPicPr>
          <p:cNvPr id="5" name="Picture 8" descr="100% HMRCppt logo">
            <a:extLst>
              <a:ext uri="{FF2B5EF4-FFF2-40B4-BE49-F238E27FC236}">
                <a16:creationId xmlns:a16="http://schemas.microsoft.com/office/drawing/2014/main" id="{2013AA13-FE0D-450F-B9F3-1539A82D45CF}"/>
              </a:ext>
            </a:extLst>
          </p:cNvPr>
          <p:cNvPicPr>
            <a:picLocks noChangeAspect="1"/>
          </p:cNvPicPr>
          <p:nvPr/>
        </p:nvPicPr>
        <p:blipFill>
          <a:blip r:embed="rId3"/>
          <a:srcRect/>
          <a:stretch>
            <a:fillRect/>
          </a:stretch>
        </p:blipFill>
        <p:spPr>
          <a:xfrm>
            <a:off x="901250" y="765316"/>
            <a:ext cx="1810512" cy="1115568"/>
          </a:xfrm>
          <a:prstGeom prst="rect">
            <a:avLst/>
          </a:prstGeom>
          <a:noFill/>
          <a:ln cap="flat">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06" descr="57% HMRCppt logo">
            <a:extLst>
              <a:ext uri="{FF2B5EF4-FFF2-40B4-BE49-F238E27FC236}">
                <a16:creationId xmlns:a16="http://schemas.microsoft.com/office/drawing/2014/main" id="{5D1CCD2B-4369-4B3B-82D1-0628F0FF389F}"/>
              </a:ext>
            </a:extLst>
          </p:cNvPr>
          <p:cNvPicPr>
            <a:picLocks noChangeAspect="1"/>
          </p:cNvPicPr>
          <p:nvPr/>
        </p:nvPicPr>
        <p:blipFill>
          <a:blip r:embed="rId3"/>
          <a:srcRect/>
          <a:stretch>
            <a:fillRect/>
          </a:stretch>
        </p:blipFill>
        <p:spPr>
          <a:xfrm>
            <a:off x="363967" y="6094082"/>
            <a:ext cx="1030227" cy="633980"/>
          </a:xfrm>
          <a:prstGeom prst="rect">
            <a:avLst/>
          </a:prstGeom>
          <a:noFill/>
          <a:ln cap="flat">
            <a:noFill/>
          </a:ln>
        </p:spPr>
      </p:pic>
      <p:sp>
        <p:nvSpPr>
          <p:cNvPr id="3" name="Rectangle 10">
            <a:extLst>
              <a:ext uri="{FF2B5EF4-FFF2-40B4-BE49-F238E27FC236}">
                <a16:creationId xmlns:a16="http://schemas.microsoft.com/office/drawing/2014/main" id="{94168FC7-34EF-4114-A530-1D726C05FA50}"/>
              </a:ext>
            </a:extLst>
          </p:cNvPr>
          <p:cNvSpPr/>
          <p:nvPr/>
        </p:nvSpPr>
        <p:spPr>
          <a:xfrm>
            <a:off x="453002" y="3263091"/>
            <a:ext cx="7725802" cy="331808"/>
          </a:xfrm>
          <a:prstGeom prst="rect">
            <a:avLst/>
          </a:prstGeom>
          <a:solidFill>
            <a:srgbClr val="F2F2F2"/>
          </a:solidFill>
          <a:ln w="12701" cap="flat">
            <a:solidFill>
              <a:srgbClr val="F2F2F2"/>
            </a:solidFill>
            <a:prstDash val="solid"/>
            <a:miter/>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800" b="0" i="0" u="none" strike="noStrike" kern="1200" cap="none" spc="0" baseline="0">
              <a:solidFill>
                <a:srgbClr val="FFFFFF"/>
              </a:solidFill>
              <a:uFillTx/>
              <a:latin typeface="Calibri"/>
            </a:endParaRPr>
          </a:p>
        </p:txBody>
      </p:sp>
      <p:sp>
        <p:nvSpPr>
          <p:cNvPr id="4" name="Rectangle 4">
            <a:extLst>
              <a:ext uri="{FF2B5EF4-FFF2-40B4-BE49-F238E27FC236}">
                <a16:creationId xmlns:a16="http://schemas.microsoft.com/office/drawing/2014/main" id="{9105E830-6E06-4C30-9D12-A474D0A940A1}"/>
              </a:ext>
            </a:extLst>
          </p:cNvPr>
          <p:cNvSpPr/>
          <p:nvPr/>
        </p:nvSpPr>
        <p:spPr>
          <a:xfrm>
            <a:off x="363967" y="2822030"/>
            <a:ext cx="8396569" cy="400114"/>
          </a:xfrm>
          <a:prstGeom prst="rect">
            <a:avLst/>
          </a:prstGeom>
          <a:noFill/>
          <a:ln cap="flat">
            <a:noFill/>
            <a:prstDash val="solid"/>
          </a:ln>
        </p:spPr>
        <p:txBody>
          <a:bodyPr vert="horz" wrap="square" lIns="91440" tIns="45720" rIns="91440" bIns="45720" anchor="t"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2000" b="1" i="0" u="none" strike="noStrike" kern="1200" cap="none" spc="0" baseline="0">
                <a:solidFill>
                  <a:srgbClr val="000000"/>
                </a:solidFill>
                <a:uFillTx/>
                <a:latin typeface="Calibri" pitchFamily="34"/>
                <a:ea typeface="Calibri" pitchFamily="34"/>
              </a:rPr>
              <a:t>Release Overview</a:t>
            </a:r>
          </a:p>
        </p:txBody>
      </p:sp>
      <p:graphicFrame>
        <p:nvGraphicFramePr>
          <p:cNvPr id="5" name="Table 163">
            <a:extLst>
              <a:ext uri="{FF2B5EF4-FFF2-40B4-BE49-F238E27FC236}">
                <a16:creationId xmlns:a16="http://schemas.microsoft.com/office/drawing/2014/main" id="{E3207CF8-8DD5-42A8-AE85-D53EE0BD96FC}"/>
              </a:ext>
            </a:extLst>
          </p:cNvPr>
          <p:cNvGraphicFramePr>
            <a:graphicFrameLocks noGrp="1"/>
          </p:cNvGraphicFramePr>
          <p:nvPr>
            <p:extLst>
              <p:ext uri="{D42A27DB-BD31-4B8C-83A1-F6EECF244321}">
                <p14:modId xmlns:p14="http://schemas.microsoft.com/office/powerpoint/2010/main" val="835841978"/>
              </p:ext>
            </p:extLst>
          </p:nvPr>
        </p:nvGraphicFramePr>
        <p:xfrm>
          <a:off x="475268" y="3771899"/>
          <a:ext cx="11213808" cy="548640"/>
        </p:xfrm>
        <a:graphic>
          <a:graphicData uri="http://schemas.openxmlformats.org/drawingml/2006/table">
            <a:tbl>
              <a:tblPr firstRow="1" bandRow="1">
                <a:effectLst/>
                <a:tableStyleId>{5C22544A-7EE6-4342-B048-85BDC9FD1C3A}</a:tableStyleId>
              </a:tblPr>
              <a:tblGrid>
                <a:gridCol w="11213808">
                  <a:extLst>
                    <a:ext uri="{9D8B030D-6E8A-4147-A177-3AD203B41FA5}">
                      <a16:colId xmlns:a16="http://schemas.microsoft.com/office/drawing/2014/main" val="3681585703"/>
                    </a:ext>
                  </a:extLst>
                </a:gridCol>
              </a:tblGrid>
              <a:tr h="220434">
                <a:tc>
                  <a:txBody>
                    <a:bodyPr/>
                    <a:lstStyle/>
                    <a:p>
                      <a:pPr lvl="0" algn="ctr"/>
                      <a:r>
                        <a:rPr lang="en-GB" sz="1200" dirty="0"/>
                        <a:t>TTM20.0 (CDS 3.8.0)</a:t>
                      </a:r>
                    </a:p>
                  </a:txBody>
                  <a:tcPr>
                    <a:solidFill>
                      <a:srgbClr val="595959"/>
                    </a:solidFill>
                  </a:tcPr>
                </a:tc>
                <a:extLst>
                  <a:ext uri="{0D108BD9-81ED-4DB2-BD59-A6C34878D82A}">
                    <a16:rowId xmlns:a16="http://schemas.microsoft.com/office/drawing/2014/main" val="3198895953"/>
                  </a:ext>
                </a:extLst>
              </a:tr>
              <a:tr h="261975">
                <a:tc>
                  <a:txBody>
                    <a:bodyPr/>
                    <a:lstStyle/>
                    <a:p>
                      <a:pPr lvl="0" algn="ctr"/>
                      <a:r>
                        <a:rPr lang="en-GB" sz="1200" b="1" dirty="0">
                          <a:solidFill>
                            <a:srgbClr val="000000"/>
                          </a:solidFill>
                        </a:rPr>
                        <a:t>TT:</a:t>
                      </a:r>
                      <a:r>
                        <a:rPr lang="en-GB" sz="1200" b="0" dirty="0">
                          <a:solidFill>
                            <a:srgbClr val="000000"/>
                          </a:solidFill>
                        </a:rPr>
                        <a:t> 18/08/2022   </a:t>
                      </a:r>
                      <a:r>
                        <a:rPr lang="en-GB" sz="1200" b="1" dirty="0">
                          <a:solidFill>
                            <a:srgbClr val="000000"/>
                          </a:solidFill>
                        </a:rPr>
                        <a:t>TDR: </a:t>
                      </a:r>
                      <a:r>
                        <a:rPr lang="en-GB" sz="1200" b="0" dirty="0">
                          <a:solidFill>
                            <a:srgbClr val="000000"/>
                          </a:solidFill>
                        </a:rPr>
                        <a:t>28/09/2022    </a:t>
                      </a:r>
                      <a:r>
                        <a:rPr lang="en-GB" sz="1200" b="1" dirty="0">
                          <a:solidFill>
                            <a:srgbClr val="000000"/>
                          </a:solidFill>
                        </a:rPr>
                        <a:t>Live: </a:t>
                      </a:r>
                      <a:r>
                        <a:rPr lang="en-GB" sz="1200" b="0" dirty="0">
                          <a:solidFill>
                            <a:srgbClr val="000000"/>
                          </a:solidFill>
                        </a:rPr>
                        <a:t>24/09/2022 </a:t>
                      </a:r>
                    </a:p>
                  </a:txBody>
                  <a:tcPr>
                    <a:solidFill>
                      <a:srgbClr val="E7E6E6"/>
                    </a:solidFill>
                  </a:tcPr>
                </a:tc>
                <a:extLst>
                  <a:ext uri="{0D108BD9-81ED-4DB2-BD59-A6C34878D82A}">
                    <a16:rowId xmlns:a16="http://schemas.microsoft.com/office/drawing/2014/main" val="3786022636"/>
                  </a:ext>
                </a:extLst>
              </a:tr>
            </a:tbl>
          </a:graphicData>
        </a:graphic>
      </p:graphicFrame>
      <p:cxnSp>
        <p:nvCxnSpPr>
          <p:cNvPr id="6" name="Straight Connector 11">
            <a:extLst>
              <a:ext uri="{FF2B5EF4-FFF2-40B4-BE49-F238E27FC236}">
                <a16:creationId xmlns:a16="http://schemas.microsoft.com/office/drawing/2014/main" id="{EC27EE16-76B9-4434-913E-DF3A173B2EB3}"/>
              </a:ext>
            </a:extLst>
          </p:cNvPr>
          <p:cNvCxnSpPr/>
          <p:nvPr/>
        </p:nvCxnSpPr>
        <p:spPr>
          <a:xfrm>
            <a:off x="319116" y="186903"/>
            <a:ext cx="0" cy="422050"/>
          </a:xfrm>
          <a:prstGeom prst="straightConnector1">
            <a:avLst/>
          </a:prstGeom>
          <a:noFill/>
          <a:ln w="28575" cap="flat">
            <a:solidFill>
              <a:srgbClr val="D9D9D9"/>
            </a:solidFill>
            <a:prstDash val="solid"/>
            <a:miter/>
          </a:ln>
        </p:spPr>
      </p:cxnSp>
      <p:sp>
        <p:nvSpPr>
          <p:cNvPr id="7" name="TextBox 12">
            <a:extLst>
              <a:ext uri="{FF2B5EF4-FFF2-40B4-BE49-F238E27FC236}">
                <a16:creationId xmlns:a16="http://schemas.microsoft.com/office/drawing/2014/main" id="{C3ACC77C-7633-475A-93DE-F0819F6BA6C1}"/>
              </a:ext>
            </a:extLst>
          </p:cNvPr>
          <p:cNvSpPr txBox="1"/>
          <p:nvPr/>
        </p:nvSpPr>
        <p:spPr>
          <a:xfrm>
            <a:off x="363967" y="248844"/>
            <a:ext cx="2321725" cy="307777"/>
          </a:xfrm>
          <a:prstGeom prst="rect">
            <a:avLst/>
          </a:prstGeom>
          <a:noFill/>
          <a:ln cap="flat">
            <a:noFill/>
          </a:ln>
        </p:spPr>
        <p:txBody>
          <a:bodyPr vert="horz" wrap="none" lIns="91440" tIns="45720" rIns="91440" bIns="45720" anchor="t"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400" b="1" i="0" u="none" strike="noStrike" kern="1200" cap="none" spc="50" baseline="0">
                <a:solidFill>
                  <a:srgbClr val="A6A6A6"/>
                </a:solidFill>
                <a:uFillTx/>
                <a:latin typeface="Calibri"/>
              </a:rPr>
              <a:t>RELEASE SCOPE GUIDANCE</a:t>
            </a:r>
          </a:p>
        </p:txBody>
      </p:sp>
      <p:sp>
        <p:nvSpPr>
          <p:cNvPr id="8" name="Rectangle 103">
            <a:extLst>
              <a:ext uri="{FF2B5EF4-FFF2-40B4-BE49-F238E27FC236}">
                <a16:creationId xmlns:a16="http://schemas.microsoft.com/office/drawing/2014/main" id="{02C2699C-92EF-4B63-90BC-32BA841BEBCD}"/>
              </a:ext>
            </a:extLst>
          </p:cNvPr>
          <p:cNvSpPr/>
          <p:nvPr/>
        </p:nvSpPr>
        <p:spPr>
          <a:xfrm>
            <a:off x="394915" y="3731802"/>
            <a:ext cx="11397328" cy="2380377"/>
          </a:xfrm>
          <a:prstGeom prst="rect">
            <a:avLst/>
          </a:prstGeom>
          <a:noFill/>
          <a:ln w="12701" cap="flat">
            <a:solidFill>
              <a:srgbClr val="009999"/>
            </a:solidFill>
            <a:custDash>
              <a:ds d="300000" sp="300000"/>
            </a:custDash>
            <a:miter/>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800" b="0" i="0" u="none" strike="noStrike" kern="1200" cap="none" spc="0" baseline="0">
              <a:solidFill>
                <a:srgbClr val="FFFFFF"/>
              </a:solidFill>
              <a:uFillTx/>
              <a:latin typeface="Calibri"/>
            </a:endParaRPr>
          </a:p>
        </p:txBody>
      </p:sp>
      <p:grpSp>
        <p:nvGrpSpPr>
          <p:cNvPr id="9" name="Group 1">
            <a:extLst>
              <a:ext uri="{FF2B5EF4-FFF2-40B4-BE49-F238E27FC236}">
                <a16:creationId xmlns:a16="http://schemas.microsoft.com/office/drawing/2014/main" id="{744311FF-C3A9-45EE-B6BE-A20EADE973E8}"/>
              </a:ext>
            </a:extLst>
          </p:cNvPr>
          <p:cNvGrpSpPr/>
          <p:nvPr/>
        </p:nvGrpSpPr>
        <p:grpSpPr>
          <a:xfrm>
            <a:off x="879076" y="3279769"/>
            <a:ext cx="2801739" cy="276999"/>
            <a:chOff x="879076" y="3279769"/>
            <a:chExt cx="2801739" cy="276999"/>
          </a:xfrm>
        </p:grpSpPr>
        <p:sp>
          <p:nvSpPr>
            <p:cNvPr id="10" name="TextBox 7">
              <a:extLst>
                <a:ext uri="{FF2B5EF4-FFF2-40B4-BE49-F238E27FC236}">
                  <a16:creationId xmlns:a16="http://schemas.microsoft.com/office/drawing/2014/main" id="{5D895B43-C3FB-4AD0-B04E-E11ADD9DEC51}"/>
                </a:ext>
              </a:extLst>
            </p:cNvPr>
            <p:cNvSpPr txBox="1"/>
            <p:nvPr/>
          </p:nvSpPr>
          <p:spPr>
            <a:xfrm>
              <a:off x="879076" y="3279769"/>
              <a:ext cx="2801739" cy="276999"/>
            </a:xfrm>
            <a:prstGeom prst="rect">
              <a:avLst/>
            </a:prstGeom>
            <a:noFill/>
            <a:ln cap="flat">
              <a:noFill/>
            </a:ln>
          </p:spPr>
          <p:txBody>
            <a:bodyPr vert="horz" wrap="square" lIns="91440" tIns="45720" rIns="91440" bIns="45720" anchor="t" anchorCtr="0" compatLnSpc="1">
              <a:spAutoFit/>
            </a:bodyPr>
            <a:lstStyle/>
            <a:p>
              <a:pPr marL="171450" marR="0" lvl="0" indent="-171450" algn="l" defTabSz="914400" rtl="0" fontAlgn="auto" hangingPunct="1">
                <a:lnSpc>
                  <a:spcPct val="100000"/>
                </a:lnSpc>
                <a:spcBef>
                  <a:spcPts val="0"/>
                </a:spcBef>
                <a:spcAft>
                  <a:spcPts val="600"/>
                </a:spcAft>
                <a:buSzPct val="100000"/>
                <a:buFont typeface="Arial" pitchFamily="34"/>
                <a:buChar char="•"/>
                <a:tabLst/>
                <a:defRPr sz="1800" b="0" i="0" u="none" strike="noStrike" kern="0" cap="none" spc="0" baseline="0">
                  <a:solidFill>
                    <a:srgbClr val="000000"/>
                  </a:solidFill>
                  <a:uFillTx/>
                </a:defRPr>
              </a:pPr>
              <a:r>
                <a:rPr lang="en-GB" sz="1200" b="1" i="0" u="none" strike="noStrike" kern="1200" cap="none" spc="0" baseline="0">
                  <a:solidFill>
                    <a:srgbClr val="000000"/>
                  </a:solidFill>
                  <a:uFillTx/>
                  <a:latin typeface="Calibri"/>
                </a:rPr>
                <a:t>Production</a:t>
              </a:r>
              <a:r>
                <a:rPr lang="en-GB" sz="1200" b="0" i="0" u="none" strike="noStrike" kern="1200" cap="none" spc="0" baseline="0">
                  <a:solidFill>
                    <a:srgbClr val="000000"/>
                  </a:solidFill>
                  <a:uFillTx/>
                  <a:latin typeface="Calibri"/>
                </a:rPr>
                <a:t> only</a:t>
              </a:r>
            </a:p>
          </p:txBody>
        </p:sp>
        <p:sp>
          <p:nvSpPr>
            <p:cNvPr id="11" name="Oval 16">
              <a:extLst>
                <a:ext uri="{FF2B5EF4-FFF2-40B4-BE49-F238E27FC236}">
                  <a16:creationId xmlns:a16="http://schemas.microsoft.com/office/drawing/2014/main" id="{58BEBEBF-5B6D-48CC-A245-53B54B88308E}"/>
                </a:ext>
              </a:extLst>
            </p:cNvPr>
            <p:cNvSpPr/>
            <p:nvPr/>
          </p:nvSpPr>
          <p:spPr>
            <a:xfrm>
              <a:off x="926150" y="3344747"/>
              <a:ext cx="152759" cy="140991"/>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 2700000 f2 0"/>
                <a:gd name="f15" fmla="*/ f9 f1 1"/>
                <a:gd name="f16" fmla="*/ f10 f1 1"/>
                <a:gd name="f17" fmla="?: f11 f4 1"/>
                <a:gd name="f18" fmla="?: f12 f5 1"/>
                <a:gd name="f19" fmla="?: f13 f6 1"/>
                <a:gd name="f20" fmla="+- f14 0 f2"/>
                <a:gd name="f21" fmla="*/ f15 1 f3"/>
                <a:gd name="f22" fmla="*/ f16 1 f3"/>
                <a:gd name="f23" fmla="*/ f17 1 21600"/>
                <a:gd name="f24" fmla="*/ f18 1 21600"/>
                <a:gd name="f25" fmla="*/ 21600 f17 1"/>
                <a:gd name="f26" fmla="*/ 21600 f18 1"/>
                <a:gd name="f27" fmla="+- f20 f2 0"/>
                <a:gd name="f28" fmla="+- f21 0 f2"/>
                <a:gd name="f29" fmla="+- f22 0 f2"/>
                <a:gd name="f30" fmla="min f24 f23"/>
                <a:gd name="f31" fmla="*/ f25 1 f19"/>
                <a:gd name="f32" fmla="*/ f26 1 f19"/>
                <a:gd name="f33" fmla="*/ f27 f8 1"/>
                <a:gd name="f34" fmla="val f31"/>
                <a:gd name="f35" fmla="val f32"/>
                <a:gd name="f36" fmla="*/ f33 1 f1"/>
                <a:gd name="f37" fmla="*/ f7 f30 1"/>
                <a:gd name="f38" fmla="+- f35 0 f7"/>
                <a:gd name="f39" fmla="+- f34 0 f7"/>
                <a:gd name="f40" fmla="+- 0 0 f36"/>
                <a:gd name="f41" fmla="*/ f38 1 2"/>
                <a:gd name="f42" fmla="*/ f39 1 2"/>
                <a:gd name="f43" fmla="+- 0 0 f40"/>
                <a:gd name="f44" fmla="+- f7 f41 0"/>
                <a:gd name="f45" fmla="+- f7 f42 0"/>
                <a:gd name="f46" fmla="*/ f43 f1 1"/>
                <a:gd name="f47" fmla="*/ f42 f30 1"/>
                <a:gd name="f48" fmla="*/ f41 f30 1"/>
                <a:gd name="f49" fmla="*/ f46 1 f8"/>
                <a:gd name="f50" fmla="*/ f44 f30 1"/>
                <a:gd name="f51" fmla="+- f49 0 f2"/>
                <a:gd name="f52" fmla="cos 1 f51"/>
                <a:gd name="f53" fmla="sin 1 f51"/>
                <a:gd name="f54" fmla="+- 0 0 f52"/>
                <a:gd name="f55" fmla="+- 0 0 f53"/>
                <a:gd name="f56" fmla="+- 0 0 f54"/>
                <a:gd name="f57" fmla="+- 0 0 f55"/>
                <a:gd name="f58" fmla="val f56"/>
                <a:gd name="f59" fmla="val f57"/>
                <a:gd name="f60" fmla="*/ f58 f42 1"/>
                <a:gd name="f61" fmla="*/ f59 f41 1"/>
                <a:gd name="f62" fmla="+- f45 0 f60"/>
                <a:gd name="f63" fmla="+- f45 f60 0"/>
                <a:gd name="f64" fmla="+- f44 0 f61"/>
                <a:gd name="f65" fmla="+- f44 f61 0"/>
                <a:gd name="f66" fmla="*/ f62 f30 1"/>
                <a:gd name="f67" fmla="*/ f64 f30 1"/>
                <a:gd name="f68" fmla="*/ f63 f30 1"/>
                <a:gd name="f69" fmla="*/ f65 f30 1"/>
              </a:gdLst>
              <a:ahLst/>
              <a:cxnLst>
                <a:cxn ang="3cd4">
                  <a:pos x="hc" y="t"/>
                </a:cxn>
                <a:cxn ang="0">
                  <a:pos x="r" y="vc"/>
                </a:cxn>
                <a:cxn ang="cd4">
                  <a:pos x="hc" y="b"/>
                </a:cxn>
                <a:cxn ang="cd2">
                  <a:pos x="l" y="vc"/>
                </a:cxn>
                <a:cxn ang="f28">
                  <a:pos x="f66" y="f67"/>
                </a:cxn>
                <a:cxn ang="f29">
                  <a:pos x="f66" y="f69"/>
                </a:cxn>
                <a:cxn ang="f29">
                  <a:pos x="f68" y="f69"/>
                </a:cxn>
                <a:cxn ang="f28">
                  <a:pos x="f68" y="f67"/>
                </a:cxn>
              </a:cxnLst>
              <a:rect l="f66" t="f67" r="f68" b="f69"/>
              <a:pathLst>
                <a:path>
                  <a:moveTo>
                    <a:pt x="f37" y="f50"/>
                  </a:moveTo>
                  <a:arcTo wR="f47" hR="f48" stAng="f1" swAng="f0"/>
                  <a:close/>
                </a:path>
              </a:pathLst>
            </a:custGeom>
            <a:solidFill>
              <a:srgbClr val="ED7D31"/>
            </a:solidFill>
            <a:ln w="12701" cap="flat">
              <a:solidFill>
                <a:srgbClr val="ED7D31"/>
              </a:solidFill>
              <a:prstDash val="solid"/>
              <a:miter/>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800" b="0" i="0" u="none" strike="noStrike" kern="1200" cap="none" spc="0" baseline="0">
                <a:solidFill>
                  <a:srgbClr val="FFFFFF"/>
                </a:solidFill>
                <a:uFillTx/>
                <a:latin typeface="Calibri"/>
              </a:endParaRPr>
            </a:p>
          </p:txBody>
        </p:sp>
      </p:grpSp>
      <p:graphicFrame>
        <p:nvGraphicFramePr>
          <p:cNvPr id="12" name="Table 21">
            <a:extLst>
              <a:ext uri="{FF2B5EF4-FFF2-40B4-BE49-F238E27FC236}">
                <a16:creationId xmlns:a16="http://schemas.microsoft.com/office/drawing/2014/main" id="{4EFBAD84-EBF2-4717-A784-09281BF3F7FE}"/>
              </a:ext>
            </a:extLst>
          </p:cNvPr>
          <p:cNvGraphicFramePr>
            <a:graphicFrameLocks noGrp="1"/>
          </p:cNvGraphicFramePr>
          <p:nvPr/>
        </p:nvGraphicFramePr>
        <p:xfrm>
          <a:off x="475268" y="4321855"/>
          <a:ext cx="11213806" cy="1713414"/>
        </p:xfrm>
        <a:graphic>
          <a:graphicData uri="http://schemas.openxmlformats.org/drawingml/2006/table">
            <a:tbl>
              <a:tblPr firstRow="1" bandRow="1">
                <a:effectLst/>
                <a:tableStyleId>{5C22544A-7EE6-4342-B048-85BDC9FD1C3A}</a:tableStyleId>
              </a:tblPr>
              <a:tblGrid>
                <a:gridCol w="2582192">
                  <a:extLst>
                    <a:ext uri="{9D8B030D-6E8A-4147-A177-3AD203B41FA5}">
                      <a16:colId xmlns:a16="http://schemas.microsoft.com/office/drawing/2014/main" val="2226360519"/>
                    </a:ext>
                  </a:extLst>
                </a:gridCol>
                <a:gridCol w="2961878">
                  <a:extLst>
                    <a:ext uri="{9D8B030D-6E8A-4147-A177-3AD203B41FA5}">
                      <a16:colId xmlns:a16="http://schemas.microsoft.com/office/drawing/2014/main" val="763822440"/>
                    </a:ext>
                  </a:extLst>
                </a:gridCol>
                <a:gridCol w="2792531">
                  <a:extLst>
                    <a:ext uri="{9D8B030D-6E8A-4147-A177-3AD203B41FA5}">
                      <a16:colId xmlns:a16="http://schemas.microsoft.com/office/drawing/2014/main" val="3390581973"/>
                    </a:ext>
                  </a:extLst>
                </a:gridCol>
                <a:gridCol w="2877205">
                  <a:extLst>
                    <a:ext uri="{9D8B030D-6E8A-4147-A177-3AD203B41FA5}">
                      <a16:colId xmlns:a16="http://schemas.microsoft.com/office/drawing/2014/main" val="2084145098"/>
                    </a:ext>
                  </a:extLst>
                </a:gridCol>
              </a:tblGrid>
              <a:tr h="728553">
                <a:tc>
                  <a:txBody>
                    <a:bodyPr/>
                    <a:lstStyle/>
                    <a:p>
                      <a:pPr marL="171450" marR="0" lvl="0" indent="-171450" algn="l" defTabSz="914400" rtl="0" fontAlgn="auto" hangingPunct="1">
                        <a:lnSpc>
                          <a:spcPct val="100000"/>
                        </a:lnSpc>
                        <a:spcBef>
                          <a:spcPts val="0"/>
                        </a:spcBef>
                        <a:spcAft>
                          <a:spcPts val="0"/>
                        </a:spcAft>
                        <a:buSzPct val="100000"/>
                        <a:buFont typeface="Arial" pitchFamily="34"/>
                        <a:buChar char="•"/>
                        <a:tabLst/>
                      </a:pPr>
                      <a:r>
                        <a:rPr lang="en-GB" sz="1200" b="0" i="0" u="none" strike="noStrike" kern="1200" cap="none" spc="0" baseline="0" dirty="0">
                          <a:solidFill>
                            <a:srgbClr val="000000"/>
                          </a:solidFill>
                          <a:uFillTx/>
                          <a:latin typeface="Calibri"/>
                          <a:hlinkClick r:id="rId4" action="ppaction://hlinksldjump"/>
                        </a:rPr>
                        <a:t>Merchandise in Bagging (Exports)</a:t>
                      </a:r>
                      <a:endParaRPr lang="en-GB" sz="1200" b="0" i="0" u="none" strike="noStrike" kern="1200" cap="none" spc="0" baseline="0" dirty="0">
                        <a:solidFill>
                          <a:srgbClr val="000000"/>
                        </a:solidFill>
                        <a:uFillTx/>
                        <a:latin typeface="Calibri"/>
                      </a:endParaRPr>
                    </a:p>
                  </a:txBody>
                  <a:tcPr>
                    <a:lnL w="12701" cap="flat" cmpd="sng" algn="ctr">
                      <a:solidFill>
                        <a:srgbClr val="FFFFFF"/>
                      </a:solidFill>
                      <a:prstDash val="solid"/>
                      <a:round/>
                      <a:headEnd type="none" w="med" len="med"/>
                      <a:tailEnd type="none" w="med" len="med"/>
                    </a:lnL>
                    <a:lnR w="12701" cap="flat" cmpd="sng" algn="ctr">
                      <a:solidFill>
                        <a:srgbClr val="FFFFFF"/>
                      </a:solidFill>
                      <a:prstDash val="solid"/>
                      <a:round/>
                      <a:headEnd type="none" w="med" len="med"/>
                      <a:tailEnd type="none" w="med" len="med"/>
                    </a:lnR>
                    <a:lnT w="12701" cap="flat" cmpd="sng" algn="ctr">
                      <a:solidFill>
                        <a:srgbClr val="FFFFFF"/>
                      </a:solidFill>
                      <a:prstDash val="solid"/>
                      <a:round/>
                      <a:headEnd type="none" w="med" len="med"/>
                      <a:tailEnd type="none" w="med" len="med"/>
                    </a:lnT>
                    <a:lnB w="12701" cap="flat" cmpd="sng" algn="ctr">
                      <a:solidFill>
                        <a:srgbClr val="FFFFFF"/>
                      </a:solidFill>
                      <a:prstDash val="solid"/>
                      <a:round/>
                      <a:headEnd type="none" w="med" len="med"/>
                      <a:tailEnd type="none" w="med" len="med"/>
                    </a:lnB>
                    <a:solidFill>
                      <a:srgbClr val="FFF2CC"/>
                    </a:solidFill>
                  </a:tcPr>
                </a:tc>
                <a:tc>
                  <a:txBody>
                    <a:bodyPr/>
                    <a:lstStyle/>
                    <a:p>
                      <a:pPr marL="171450" marR="0" lvl="0" indent="-171450" algn="l" defTabSz="914400" rtl="0" fontAlgn="auto" hangingPunct="1">
                        <a:lnSpc>
                          <a:spcPct val="100000"/>
                        </a:lnSpc>
                        <a:spcBef>
                          <a:spcPts val="0"/>
                        </a:spcBef>
                        <a:spcAft>
                          <a:spcPts val="0"/>
                        </a:spcAft>
                        <a:buSzPct val="100000"/>
                        <a:buFont typeface="Arial" pitchFamily="34"/>
                        <a:buChar char="•"/>
                        <a:tabLst/>
                      </a:pPr>
                      <a:r>
                        <a:rPr lang="en-GB" sz="1200" b="0" i="0" kern="1200">
                          <a:solidFill>
                            <a:srgbClr val="000000"/>
                          </a:solidFill>
                          <a:latin typeface="Calibri"/>
                          <a:hlinkClick r:id="rId5" action="ppaction://hlinksldjump"/>
                        </a:rPr>
                        <a:t>Valuation Methods 4, 5 &amp; 6</a:t>
                      </a:r>
                      <a:endParaRPr lang="en-GB" sz="1200" b="0" i="0" kern="1200">
                        <a:solidFill>
                          <a:srgbClr val="000000"/>
                        </a:solidFill>
                        <a:latin typeface="Calibri"/>
                      </a:endParaRPr>
                    </a:p>
                  </a:txBody>
                  <a:tcPr>
                    <a:lnL w="12701" cap="flat" cmpd="sng" algn="ctr">
                      <a:solidFill>
                        <a:srgbClr val="FFFFFF"/>
                      </a:solidFill>
                      <a:prstDash val="solid"/>
                      <a:round/>
                      <a:headEnd type="none" w="med" len="med"/>
                      <a:tailEnd type="none" w="med" len="med"/>
                    </a:lnL>
                    <a:lnR w="12701" cap="flat" cmpd="sng" algn="ctr">
                      <a:solidFill>
                        <a:srgbClr val="FFFFFF"/>
                      </a:solidFill>
                      <a:prstDash val="solid"/>
                      <a:round/>
                      <a:headEnd type="none" w="med" len="med"/>
                      <a:tailEnd type="none" w="med" len="med"/>
                    </a:lnR>
                    <a:lnT w="12701" cap="flat" cmpd="sng" algn="ctr">
                      <a:solidFill>
                        <a:srgbClr val="FFFFFF"/>
                      </a:solidFill>
                      <a:prstDash val="solid"/>
                      <a:round/>
                      <a:headEnd type="none" w="med" len="med"/>
                      <a:tailEnd type="none" w="med" len="med"/>
                    </a:lnT>
                    <a:lnB w="12701" cap="flat" cmpd="sng" algn="ctr">
                      <a:solidFill>
                        <a:srgbClr val="FFFFFF"/>
                      </a:solidFill>
                      <a:prstDash val="solid"/>
                      <a:round/>
                      <a:headEnd type="none" w="med" len="med"/>
                      <a:tailEnd type="none" w="med" len="med"/>
                    </a:lnB>
                    <a:solidFill>
                      <a:srgbClr val="FFF2CC"/>
                    </a:solidFill>
                  </a:tcPr>
                </a:tc>
                <a:tc>
                  <a:txBody>
                    <a:bodyPr/>
                    <a:lstStyle/>
                    <a:p>
                      <a:pPr marL="171450" marR="0" lvl="0" indent="-171450" algn="l" defTabSz="914400" rtl="0" fontAlgn="auto" hangingPunct="1">
                        <a:lnSpc>
                          <a:spcPct val="100000"/>
                        </a:lnSpc>
                        <a:spcBef>
                          <a:spcPts val="0"/>
                        </a:spcBef>
                        <a:spcAft>
                          <a:spcPts val="0"/>
                        </a:spcAft>
                        <a:buSzPct val="100000"/>
                        <a:buFont typeface="Arial" pitchFamily="34"/>
                        <a:buChar char="•"/>
                        <a:tabLst/>
                      </a:pPr>
                      <a:r>
                        <a:rPr lang="en-GB" sz="1200" b="0" i="0" u="none" strike="noStrike">
                          <a:solidFill>
                            <a:srgbClr val="000000"/>
                          </a:solidFill>
                          <a:latin typeface="Calibri" pitchFamily="34"/>
                          <a:hlinkClick r:id="rId5" action="ppaction://hlinksldjump"/>
                        </a:rPr>
                        <a:t>Access to view Duty Deferment Accounts</a:t>
                      </a:r>
                      <a:endParaRPr lang="en-GB" sz="1200" b="0">
                        <a:solidFill>
                          <a:srgbClr val="000000"/>
                        </a:solidFill>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GB" sz="1200" b="1">
                        <a:solidFill>
                          <a:srgbClr val="000000"/>
                        </a:solidFill>
                      </a:endParaRPr>
                    </a:p>
                  </a:txBody>
                  <a:tcPr>
                    <a:lnL w="12701" cap="flat" cmpd="sng" algn="ctr">
                      <a:solidFill>
                        <a:srgbClr val="FFFFFF"/>
                      </a:solidFill>
                      <a:prstDash val="solid"/>
                      <a:round/>
                      <a:headEnd type="none" w="med" len="med"/>
                      <a:tailEnd type="none" w="med" len="med"/>
                    </a:lnL>
                    <a:lnR w="12701" cap="flat" cmpd="sng" algn="ctr">
                      <a:solidFill>
                        <a:srgbClr val="FFFFFF"/>
                      </a:solidFill>
                      <a:prstDash val="solid"/>
                      <a:round/>
                      <a:headEnd type="none" w="med" len="med"/>
                      <a:tailEnd type="none" w="med" len="med"/>
                    </a:lnR>
                    <a:lnT w="12701" cap="flat" cmpd="sng" algn="ctr">
                      <a:solidFill>
                        <a:srgbClr val="FFFFFF"/>
                      </a:solidFill>
                      <a:prstDash val="solid"/>
                      <a:round/>
                      <a:headEnd type="none" w="med" len="med"/>
                      <a:tailEnd type="none" w="med" len="med"/>
                    </a:lnT>
                    <a:lnB w="12701" cap="flat" cmpd="sng" algn="ctr">
                      <a:solidFill>
                        <a:srgbClr val="FFFFFF"/>
                      </a:solidFill>
                      <a:prstDash val="solid"/>
                      <a:round/>
                      <a:headEnd type="none" w="med" len="med"/>
                      <a:tailEnd type="none" w="med" len="med"/>
                    </a:lnB>
                    <a:solidFill>
                      <a:srgbClr val="FFF2CC"/>
                    </a:solidFill>
                  </a:tcPr>
                </a:tc>
                <a:tc>
                  <a:txBody>
                    <a:bodyPr/>
                    <a:lstStyle/>
                    <a:p>
                      <a:pPr marL="171450" marR="0" lvl="0" indent="-171450" algn="l" defTabSz="914400" rtl="0" eaLnBrk="1" fontAlgn="auto" latinLnBrk="0" hangingPunct="1">
                        <a:lnSpc>
                          <a:spcPct val="100000"/>
                        </a:lnSpc>
                        <a:spcBef>
                          <a:spcPts val="0"/>
                        </a:spcBef>
                        <a:spcAft>
                          <a:spcPts val="0"/>
                        </a:spcAft>
                        <a:buClrTx/>
                        <a:buSzPct val="100000"/>
                        <a:buFont typeface="Arial" pitchFamily="34"/>
                        <a:buChar char="•"/>
                        <a:tabLst/>
                        <a:defRPr/>
                      </a:pPr>
                      <a:r>
                        <a:rPr lang="en-GB" sz="1200" b="0" i="0" u="none" strike="noStrike" dirty="0">
                          <a:solidFill>
                            <a:srgbClr val="000000"/>
                          </a:solidFill>
                          <a:latin typeface="Calibri" pitchFamily="34"/>
                          <a:hlinkClick r:id="rId5" action="ppaction://hlinksldjump"/>
                        </a:rPr>
                        <a:t>Re-Application of Direct Debit Instructions</a:t>
                      </a:r>
                      <a:endParaRPr lang="en-GB" sz="1200" b="0" i="0" u="none" strike="noStrike" dirty="0">
                        <a:solidFill>
                          <a:srgbClr val="000000"/>
                        </a:solidFill>
                        <a:latin typeface="Calibri" pitchFamily="34"/>
                      </a:endParaRPr>
                    </a:p>
                    <a:p>
                      <a:pPr marL="0" marR="0" lvl="0" indent="0" algn="l" defTabSz="914400" rtl="0" eaLnBrk="1" fontAlgn="auto" latinLnBrk="0" hangingPunct="1">
                        <a:lnSpc>
                          <a:spcPct val="100000"/>
                        </a:lnSpc>
                        <a:spcBef>
                          <a:spcPts val="0"/>
                        </a:spcBef>
                        <a:spcAft>
                          <a:spcPts val="0"/>
                        </a:spcAft>
                        <a:buClrTx/>
                        <a:buSzPct val="100000"/>
                        <a:buFont typeface="Arial" pitchFamily="34"/>
                        <a:buNone/>
                        <a:tabLst/>
                        <a:defRPr/>
                      </a:pPr>
                      <a:r>
                        <a:rPr lang="en-GB" sz="1200" b="1" i="0" u="none" strike="noStrike" dirty="0">
                          <a:solidFill>
                            <a:srgbClr val="000000"/>
                          </a:solidFill>
                          <a:latin typeface="Calibri" pitchFamily="34"/>
                        </a:rPr>
                        <a:t>*This feature is now out of scope for CDS 3.8.0.</a:t>
                      </a:r>
                    </a:p>
                  </a:txBody>
                  <a:tcPr>
                    <a:lnL w="12701" cap="flat" cmpd="sng" algn="ctr">
                      <a:solidFill>
                        <a:srgbClr val="FFFFFF"/>
                      </a:solidFill>
                      <a:prstDash val="solid"/>
                      <a:round/>
                      <a:headEnd type="none" w="med" len="med"/>
                      <a:tailEnd type="none" w="med" len="med"/>
                    </a:lnL>
                    <a:lnR w="12701" cap="flat" cmpd="sng" algn="ctr">
                      <a:solidFill>
                        <a:srgbClr val="FFFFFF"/>
                      </a:solidFill>
                      <a:prstDash val="solid"/>
                      <a:round/>
                      <a:headEnd type="none" w="med" len="med"/>
                      <a:tailEnd type="none" w="med" len="med"/>
                    </a:lnR>
                    <a:lnT w="12701" cap="flat" cmpd="sng" algn="ctr">
                      <a:solidFill>
                        <a:srgbClr val="FFFFFF"/>
                      </a:solidFill>
                      <a:prstDash val="solid"/>
                      <a:round/>
                      <a:headEnd type="none" w="med" len="med"/>
                      <a:tailEnd type="none" w="med" len="med"/>
                    </a:lnT>
                    <a:lnB w="12701" cap="flat" cmpd="sng" algn="ctr">
                      <a:solidFill>
                        <a:srgbClr val="FFFFFF"/>
                      </a:solidFill>
                      <a:prstDash val="solid"/>
                      <a:round/>
                      <a:headEnd type="none" w="med" len="med"/>
                      <a:tailEnd type="none" w="med" len="med"/>
                    </a:lnB>
                    <a:solidFill>
                      <a:srgbClr val="FFF2CC"/>
                    </a:solidFill>
                  </a:tcPr>
                </a:tc>
                <a:extLst>
                  <a:ext uri="{0D108BD9-81ED-4DB2-BD59-A6C34878D82A}">
                    <a16:rowId xmlns:a16="http://schemas.microsoft.com/office/drawing/2014/main" val="1332682949"/>
                  </a:ext>
                </a:extLst>
              </a:tr>
              <a:tr h="890454">
                <a:tc>
                  <a:txBody>
                    <a:bodyPr/>
                    <a:lstStyle/>
                    <a:p>
                      <a:pPr marL="171450" marR="0" lvl="0" indent="-171450" algn="l" defTabSz="914400" rtl="0" fontAlgn="auto" hangingPunct="1">
                        <a:lnSpc>
                          <a:spcPct val="100000"/>
                        </a:lnSpc>
                        <a:spcBef>
                          <a:spcPts val="0"/>
                        </a:spcBef>
                        <a:spcAft>
                          <a:spcPts val="0"/>
                        </a:spcAft>
                        <a:buSzPct val="100000"/>
                        <a:buFont typeface="Arial" pitchFamily="34"/>
                        <a:buChar char="•"/>
                        <a:tabLst/>
                      </a:pPr>
                      <a:r>
                        <a:rPr lang="en-GB" sz="1200" b="0" i="0" u="none" strike="noStrike">
                          <a:solidFill>
                            <a:srgbClr val="000000"/>
                          </a:solidFill>
                          <a:latin typeface="Calibri" pitchFamily="34"/>
                          <a:hlinkClick r:id="rId6" action="ppaction://hlinksldjump"/>
                        </a:rPr>
                        <a:t>CR147 - EMR/ERS Multiple Updates Capability for Inventory Linking Exports</a:t>
                      </a:r>
                      <a:endParaRPr lang="en-GB" sz="1200" b="0" i="0" kern="1200">
                        <a:solidFill>
                          <a:srgbClr val="000000"/>
                        </a:solidFill>
                        <a:latin typeface="Calibri"/>
                      </a:endParaRPr>
                    </a:p>
                  </a:txBody>
                  <a:tcPr>
                    <a:lnL w="12701" cap="flat" cmpd="sng" algn="ctr">
                      <a:solidFill>
                        <a:srgbClr val="FFFFFF"/>
                      </a:solidFill>
                      <a:prstDash val="solid"/>
                      <a:round/>
                      <a:headEnd type="none" w="med" len="med"/>
                      <a:tailEnd type="none" w="med" len="med"/>
                    </a:lnL>
                    <a:lnR w="12701" cap="flat" cmpd="sng" algn="ctr">
                      <a:solidFill>
                        <a:srgbClr val="FFFFFF"/>
                      </a:solidFill>
                      <a:prstDash val="solid"/>
                      <a:round/>
                      <a:headEnd type="none" w="med" len="med"/>
                      <a:tailEnd type="none" w="med" len="med"/>
                    </a:lnR>
                    <a:lnT w="12701" cap="flat" cmpd="sng" algn="ctr">
                      <a:solidFill>
                        <a:srgbClr val="FFFFFF"/>
                      </a:solidFill>
                      <a:prstDash val="solid"/>
                      <a:round/>
                      <a:headEnd type="none" w="med" len="med"/>
                      <a:tailEnd type="none" w="med" len="med"/>
                    </a:lnT>
                    <a:lnB w="12701" cap="flat" cmpd="sng" algn="ctr">
                      <a:solidFill>
                        <a:srgbClr val="FFFFFF"/>
                      </a:solidFill>
                      <a:prstDash val="solid"/>
                      <a:round/>
                      <a:headEnd type="none" w="med" len="med"/>
                      <a:tailEnd type="none" w="med" len="med"/>
                    </a:lnB>
                    <a:solidFill>
                      <a:srgbClr val="FFF2CC"/>
                    </a:solidFill>
                  </a:tcPr>
                </a:tc>
                <a:tc>
                  <a:txBody>
                    <a:bodyPr/>
                    <a:lstStyle/>
                    <a:p>
                      <a:pPr marL="171450" marR="0" lvl="0" indent="-171450" algn="l" defTabSz="914400" rtl="0" fontAlgn="auto" hangingPunct="1">
                        <a:lnSpc>
                          <a:spcPct val="100000"/>
                        </a:lnSpc>
                        <a:spcBef>
                          <a:spcPts val="0"/>
                        </a:spcBef>
                        <a:spcAft>
                          <a:spcPts val="0"/>
                        </a:spcAft>
                        <a:buSzPct val="100000"/>
                        <a:buFont typeface="Arial" pitchFamily="34"/>
                        <a:buChar char="•"/>
                        <a:tabLst/>
                      </a:pPr>
                      <a:r>
                        <a:rPr lang="en-GB" sz="1200" b="0" i="0" u="none" strike="noStrike" dirty="0">
                          <a:solidFill>
                            <a:srgbClr val="000000"/>
                          </a:solidFill>
                          <a:latin typeface="Calibri" pitchFamily="34"/>
                          <a:hlinkClick r:id="rId6" action="ppaction://hlinksldjump"/>
                        </a:rPr>
                        <a:t>CR064 - Asynchronous Responses</a:t>
                      </a:r>
                      <a:r>
                        <a:rPr lang="en-GB" sz="1200" b="0" i="0" dirty="0">
                          <a:solidFill>
                            <a:srgbClr val="000000"/>
                          </a:solidFill>
                          <a:latin typeface="Calibri" pitchFamily="34"/>
                          <a:hlinkClick r:id="rId6" action="ppaction://hlinksldjump"/>
                        </a:rPr>
                        <a:t>​</a:t>
                      </a:r>
                      <a:endParaRPr lang="en-GB" sz="1200" b="0" dirty="0">
                        <a:solidFill>
                          <a:srgbClr val="000000"/>
                        </a:solidFill>
                      </a:endParaRPr>
                    </a:p>
                  </a:txBody>
                  <a:tcPr>
                    <a:lnL w="12701" cap="flat" cmpd="sng" algn="ctr">
                      <a:solidFill>
                        <a:srgbClr val="FFFFFF"/>
                      </a:solidFill>
                      <a:prstDash val="solid"/>
                      <a:round/>
                      <a:headEnd type="none" w="med" len="med"/>
                      <a:tailEnd type="none" w="med" len="med"/>
                    </a:lnL>
                    <a:lnR w="12701" cap="flat" cmpd="sng" algn="ctr">
                      <a:solidFill>
                        <a:srgbClr val="FFFFFF"/>
                      </a:solidFill>
                      <a:prstDash val="solid"/>
                      <a:round/>
                      <a:headEnd type="none" w="med" len="med"/>
                      <a:tailEnd type="none" w="med" len="med"/>
                    </a:lnR>
                    <a:lnT w="12701" cap="flat" cmpd="sng" algn="ctr">
                      <a:solidFill>
                        <a:srgbClr val="FFFFFF"/>
                      </a:solidFill>
                      <a:prstDash val="solid"/>
                      <a:round/>
                      <a:headEnd type="none" w="med" len="med"/>
                      <a:tailEnd type="none" w="med" len="med"/>
                    </a:lnT>
                    <a:lnB w="12701" cap="flat" cmpd="sng" algn="ctr">
                      <a:solidFill>
                        <a:srgbClr val="FFFFFF"/>
                      </a:solidFill>
                      <a:prstDash val="solid"/>
                      <a:round/>
                      <a:headEnd type="none" w="med" len="med"/>
                      <a:tailEnd type="none" w="med" len="med"/>
                    </a:lnB>
                    <a:solidFill>
                      <a:srgbClr val="FFF2CC"/>
                    </a:solidFill>
                  </a:tcPr>
                </a:tc>
                <a:tc>
                  <a:txBody>
                    <a:bodyPr/>
                    <a:lstStyle/>
                    <a:p>
                      <a:pPr marL="171450" marR="0" lvl="0" indent="-171450" algn="l" defTabSz="914400" rtl="0" fontAlgn="auto" hangingPunct="1">
                        <a:lnSpc>
                          <a:spcPct val="100000"/>
                        </a:lnSpc>
                        <a:spcBef>
                          <a:spcPts val="0"/>
                        </a:spcBef>
                        <a:spcAft>
                          <a:spcPts val="0"/>
                        </a:spcAft>
                        <a:buSzPct val="100000"/>
                        <a:buFont typeface="Arial" panose="020B0604020202020204" pitchFamily="34" charset="0"/>
                        <a:buChar char="•"/>
                        <a:tabLst/>
                      </a:pPr>
                      <a:r>
                        <a:rPr lang="en-GB" sz="1200" b="0" i="0" kern="1200" dirty="0">
                          <a:solidFill>
                            <a:srgbClr val="000000"/>
                          </a:solidFill>
                          <a:latin typeface="Calibri"/>
                          <a:hlinkClick r:id="rId7" action="ppaction://hlinksldjump"/>
                        </a:rPr>
                        <a:t>BIRDS – DE 4/14 Item Price Rule Amendments</a:t>
                      </a:r>
                      <a:endParaRPr lang="en-GB" sz="1200" b="0" i="0" kern="1200" dirty="0">
                        <a:solidFill>
                          <a:srgbClr val="000000"/>
                        </a:solidFill>
                        <a:latin typeface="Calibri"/>
                      </a:endParaRPr>
                    </a:p>
                    <a:p>
                      <a:pPr marL="0" marR="0" lvl="0" indent="0" algn="l" defTabSz="914400" rtl="0" eaLnBrk="1" fontAlgn="auto" latinLnBrk="0" hangingPunct="1">
                        <a:lnSpc>
                          <a:spcPct val="100000"/>
                        </a:lnSpc>
                        <a:spcBef>
                          <a:spcPts val="0"/>
                        </a:spcBef>
                        <a:spcAft>
                          <a:spcPts val="0"/>
                        </a:spcAft>
                        <a:buClrTx/>
                        <a:buSzPct val="100000"/>
                        <a:buFont typeface="Arial" panose="020B0604020202020204" pitchFamily="34" charset="0"/>
                        <a:buNone/>
                        <a:tabLst/>
                        <a:defRPr/>
                      </a:pPr>
                      <a:r>
                        <a:rPr lang="en-GB" sz="1200" b="1" i="0" u="none" strike="noStrike" dirty="0">
                          <a:solidFill>
                            <a:srgbClr val="000000"/>
                          </a:solidFill>
                          <a:latin typeface="Calibri" pitchFamily="34"/>
                        </a:rPr>
                        <a:t>*This workaround will be in place from CDS 3.7.1</a:t>
                      </a:r>
                    </a:p>
                  </a:txBody>
                  <a:tcPr>
                    <a:lnL w="12701" cap="flat" cmpd="sng" algn="ctr">
                      <a:solidFill>
                        <a:srgbClr val="FFFFFF"/>
                      </a:solidFill>
                      <a:prstDash val="solid"/>
                      <a:round/>
                      <a:headEnd type="none" w="med" len="med"/>
                      <a:tailEnd type="none" w="med" len="med"/>
                    </a:lnL>
                    <a:lnR w="12701" cap="flat" cmpd="sng" algn="ctr">
                      <a:solidFill>
                        <a:srgbClr val="FFFFFF"/>
                      </a:solidFill>
                      <a:prstDash val="solid"/>
                      <a:round/>
                      <a:headEnd type="none" w="med" len="med"/>
                      <a:tailEnd type="none" w="med" len="med"/>
                    </a:lnR>
                    <a:lnT w="12701" cap="flat" cmpd="sng" algn="ctr">
                      <a:solidFill>
                        <a:srgbClr val="FFFFFF"/>
                      </a:solidFill>
                      <a:prstDash val="solid"/>
                      <a:round/>
                      <a:headEnd type="none" w="med" len="med"/>
                      <a:tailEnd type="none" w="med" len="med"/>
                    </a:lnT>
                    <a:lnB w="12701" cap="flat" cmpd="sng" algn="ctr">
                      <a:solidFill>
                        <a:srgbClr val="FFFFFF"/>
                      </a:solidFill>
                      <a:prstDash val="solid"/>
                      <a:round/>
                      <a:headEnd type="none" w="med" len="med"/>
                      <a:tailEnd type="none" w="med" len="med"/>
                    </a:lnB>
                    <a:solidFill>
                      <a:srgbClr val="FFF2CC"/>
                    </a:solidFill>
                  </a:tcPr>
                </a:tc>
                <a:tc>
                  <a:txBody>
                    <a:bodyPr/>
                    <a:lstStyle/>
                    <a:p>
                      <a:pPr marL="171450" marR="0" lvl="0" indent="-171450" algn="l" defTabSz="914400" rtl="0" fontAlgn="auto" hangingPunct="1">
                        <a:lnSpc>
                          <a:spcPct val="100000"/>
                        </a:lnSpc>
                        <a:spcBef>
                          <a:spcPts val="0"/>
                        </a:spcBef>
                        <a:spcAft>
                          <a:spcPts val="0"/>
                        </a:spcAft>
                        <a:buSzPct val="100000"/>
                        <a:buFont typeface="Arial" pitchFamily="34"/>
                        <a:buChar char="•"/>
                        <a:tabLst/>
                      </a:pPr>
                      <a:endParaRPr lang="en-GB" sz="1200" b="0" dirty="0">
                        <a:solidFill>
                          <a:srgbClr val="000000"/>
                        </a:solidFill>
                      </a:endParaRPr>
                    </a:p>
                  </a:txBody>
                  <a:tcPr>
                    <a:lnL w="12701" cap="flat" cmpd="sng" algn="ctr">
                      <a:solidFill>
                        <a:srgbClr val="FFFFFF"/>
                      </a:solidFill>
                      <a:prstDash val="solid"/>
                      <a:round/>
                      <a:headEnd type="none" w="med" len="med"/>
                      <a:tailEnd type="none" w="med" len="med"/>
                    </a:lnL>
                    <a:lnR w="12701" cap="flat" cmpd="sng" algn="ctr">
                      <a:solidFill>
                        <a:srgbClr val="FFFFFF"/>
                      </a:solidFill>
                      <a:prstDash val="solid"/>
                      <a:round/>
                      <a:headEnd type="none" w="med" len="med"/>
                      <a:tailEnd type="none" w="med" len="med"/>
                    </a:lnR>
                    <a:lnT w="12701" cap="flat" cmpd="sng" algn="ctr">
                      <a:solidFill>
                        <a:srgbClr val="FFFFFF"/>
                      </a:solidFill>
                      <a:prstDash val="solid"/>
                      <a:round/>
                      <a:headEnd type="none" w="med" len="med"/>
                      <a:tailEnd type="none" w="med" len="med"/>
                    </a:lnT>
                    <a:lnB w="12701" cap="flat" cmpd="sng" algn="ctr">
                      <a:solidFill>
                        <a:srgbClr val="FFFFFF"/>
                      </a:solidFill>
                      <a:prstDash val="solid"/>
                      <a:round/>
                      <a:headEnd type="none" w="med" len="med"/>
                      <a:tailEnd type="none" w="med" len="med"/>
                    </a:lnB>
                    <a:solidFill>
                      <a:srgbClr val="FFF2CC"/>
                    </a:solidFill>
                  </a:tcPr>
                </a:tc>
                <a:extLst>
                  <a:ext uri="{0D108BD9-81ED-4DB2-BD59-A6C34878D82A}">
                    <a16:rowId xmlns:a16="http://schemas.microsoft.com/office/drawing/2014/main" val="1863335043"/>
                  </a:ext>
                </a:extLst>
              </a:tr>
            </a:tbl>
          </a:graphicData>
        </a:graphic>
      </p:graphicFrame>
      <p:sp>
        <p:nvSpPr>
          <p:cNvPr id="16" name="Rectangle 11">
            <a:extLst>
              <a:ext uri="{FF2B5EF4-FFF2-40B4-BE49-F238E27FC236}">
                <a16:creationId xmlns:a16="http://schemas.microsoft.com/office/drawing/2014/main" id="{82D3C71A-1404-4AF0-840B-A1B9408903D5}"/>
              </a:ext>
            </a:extLst>
          </p:cNvPr>
          <p:cNvSpPr/>
          <p:nvPr/>
        </p:nvSpPr>
        <p:spPr>
          <a:xfrm>
            <a:off x="453002" y="3259607"/>
            <a:ext cx="492312" cy="307777"/>
          </a:xfrm>
          <a:prstGeom prst="rect">
            <a:avLst/>
          </a:prstGeom>
          <a:noFill/>
          <a:ln cap="flat">
            <a:noFill/>
            <a:prstDash val="solid"/>
          </a:ln>
        </p:spPr>
        <p:txBody>
          <a:bodyPr vert="horz" wrap="none" lIns="91440" tIns="45720" rIns="91440" bIns="45720" anchor="t" anchorCtr="0" compatLnSpc="1">
            <a:spAutoFit/>
          </a:bodyPr>
          <a:lstStyle/>
          <a:p>
            <a:pPr marL="0" marR="0" lvl="0" indent="0" algn="l" defTabSz="914400" rtl="0" fontAlgn="auto" hangingPunct="1">
              <a:lnSpc>
                <a:spcPct val="100000"/>
              </a:lnSpc>
              <a:spcBef>
                <a:spcPts val="0"/>
              </a:spcBef>
              <a:spcAft>
                <a:spcPts val="600"/>
              </a:spcAft>
              <a:buNone/>
              <a:tabLst/>
              <a:defRPr sz="1800" b="0" i="0" u="none" strike="noStrike" kern="0" cap="none" spc="0" baseline="0">
                <a:solidFill>
                  <a:srgbClr val="000000"/>
                </a:solidFill>
                <a:uFillTx/>
              </a:defRPr>
            </a:pPr>
            <a:r>
              <a:rPr lang="en-GB" sz="1400" b="1" i="0" u="none" strike="noStrike" kern="1200" cap="none" spc="0" baseline="0">
                <a:solidFill>
                  <a:srgbClr val="000000"/>
                </a:solidFill>
                <a:uFillTx/>
                <a:latin typeface="Calibri"/>
              </a:rPr>
              <a:t>Key</a:t>
            </a:r>
            <a:r>
              <a:rPr lang="en-GB" sz="1400" b="0" i="0" u="none" strike="noStrike" kern="1200" cap="none" spc="0" baseline="0">
                <a:solidFill>
                  <a:srgbClr val="000000"/>
                </a:solidFill>
                <a:uFillTx/>
                <a:latin typeface="Calibri"/>
              </a:rPr>
              <a:t> </a:t>
            </a:r>
          </a:p>
        </p:txBody>
      </p:sp>
      <p:sp>
        <p:nvSpPr>
          <p:cNvPr id="20" name="Oval 16">
            <a:extLst>
              <a:ext uri="{FF2B5EF4-FFF2-40B4-BE49-F238E27FC236}">
                <a16:creationId xmlns:a16="http://schemas.microsoft.com/office/drawing/2014/main" id="{3F662CFA-CD8C-435C-A8CE-41E0D8CF08CE}"/>
              </a:ext>
            </a:extLst>
          </p:cNvPr>
          <p:cNvSpPr/>
          <p:nvPr/>
        </p:nvSpPr>
        <p:spPr>
          <a:xfrm>
            <a:off x="546399" y="4392347"/>
            <a:ext cx="152759" cy="140991"/>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 2700000 f2 0"/>
              <a:gd name="f15" fmla="*/ f9 f1 1"/>
              <a:gd name="f16" fmla="*/ f10 f1 1"/>
              <a:gd name="f17" fmla="?: f11 f4 1"/>
              <a:gd name="f18" fmla="?: f12 f5 1"/>
              <a:gd name="f19" fmla="?: f13 f6 1"/>
              <a:gd name="f20" fmla="+- f14 0 f2"/>
              <a:gd name="f21" fmla="*/ f15 1 f3"/>
              <a:gd name="f22" fmla="*/ f16 1 f3"/>
              <a:gd name="f23" fmla="*/ f17 1 21600"/>
              <a:gd name="f24" fmla="*/ f18 1 21600"/>
              <a:gd name="f25" fmla="*/ 21600 f17 1"/>
              <a:gd name="f26" fmla="*/ 21600 f18 1"/>
              <a:gd name="f27" fmla="+- f20 f2 0"/>
              <a:gd name="f28" fmla="+- f21 0 f2"/>
              <a:gd name="f29" fmla="+- f22 0 f2"/>
              <a:gd name="f30" fmla="min f24 f23"/>
              <a:gd name="f31" fmla="*/ f25 1 f19"/>
              <a:gd name="f32" fmla="*/ f26 1 f19"/>
              <a:gd name="f33" fmla="*/ f27 f8 1"/>
              <a:gd name="f34" fmla="val f31"/>
              <a:gd name="f35" fmla="val f32"/>
              <a:gd name="f36" fmla="*/ f33 1 f1"/>
              <a:gd name="f37" fmla="*/ f7 f30 1"/>
              <a:gd name="f38" fmla="+- f35 0 f7"/>
              <a:gd name="f39" fmla="+- f34 0 f7"/>
              <a:gd name="f40" fmla="+- 0 0 f36"/>
              <a:gd name="f41" fmla="*/ f38 1 2"/>
              <a:gd name="f42" fmla="*/ f39 1 2"/>
              <a:gd name="f43" fmla="+- 0 0 f40"/>
              <a:gd name="f44" fmla="+- f7 f41 0"/>
              <a:gd name="f45" fmla="+- f7 f42 0"/>
              <a:gd name="f46" fmla="*/ f43 f1 1"/>
              <a:gd name="f47" fmla="*/ f42 f30 1"/>
              <a:gd name="f48" fmla="*/ f41 f30 1"/>
              <a:gd name="f49" fmla="*/ f46 1 f8"/>
              <a:gd name="f50" fmla="*/ f44 f30 1"/>
              <a:gd name="f51" fmla="+- f49 0 f2"/>
              <a:gd name="f52" fmla="cos 1 f51"/>
              <a:gd name="f53" fmla="sin 1 f51"/>
              <a:gd name="f54" fmla="+- 0 0 f52"/>
              <a:gd name="f55" fmla="+- 0 0 f53"/>
              <a:gd name="f56" fmla="+- 0 0 f54"/>
              <a:gd name="f57" fmla="+- 0 0 f55"/>
              <a:gd name="f58" fmla="val f56"/>
              <a:gd name="f59" fmla="val f57"/>
              <a:gd name="f60" fmla="*/ f58 f42 1"/>
              <a:gd name="f61" fmla="*/ f59 f41 1"/>
              <a:gd name="f62" fmla="+- f45 0 f60"/>
              <a:gd name="f63" fmla="+- f45 f60 0"/>
              <a:gd name="f64" fmla="+- f44 0 f61"/>
              <a:gd name="f65" fmla="+- f44 f61 0"/>
              <a:gd name="f66" fmla="*/ f62 f30 1"/>
              <a:gd name="f67" fmla="*/ f64 f30 1"/>
              <a:gd name="f68" fmla="*/ f63 f30 1"/>
              <a:gd name="f69" fmla="*/ f65 f30 1"/>
            </a:gdLst>
            <a:ahLst/>
            <a:cxnLst>
              <a:cxn ang="3cd4">
                <a:pos x="hc" y="t"/>
              </a:cxn>
              <a:cxn ang="0">
                <a:pos x="r" y="vc"/>
              </a:cxn>
              <a:cxn ang="cd4">
                <a:pos x="hc" y="b"/>
              </a:cxn>
              <a:cxn ang="cd2">
                <a:pos x="l" y="vc"/>
              </a:cxn>
              <a:cxn ang="f28">
                <a:pos x="f66" y="f67"/>
              </a:cxn>
              <a:cxn ang="f29">
                <a:pos x="f66" y="f69"/>
              </a:cxn>
              <a:cxn ang="f29">
                <a:pos x="f68" y="f69"/>
              </a:cxn>
              <a:cxn ang="f28">
                <a:pos x="f68" y="f67"/>
              </a:cxn>
            </a:cxnLst>
            <a:rect l="f66" t="f67" r="f68" b="f69"/>
            <a:pathLst>
              <a:path>
                <a:moveTo>
                  <a:pt x="f37" y="f50"/>
                </a:moveTo>
                <a:arcTo wR="f47" hR="f48" stAng="f1" swAng="f0"/>
                <a:close/>
              </a:path>
            </a:pathLst>
          </a:custGeom>
          <a:solidFill>
            <a:schemeClr val="accent2"/>
          </a:solidFill>
          <a:ln w="12701" cap="flat">
            <a:noFill/>
            <a:prstDash val="solid"/>
            <a:miter/>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800" b="0" i="0" u="none" strike="noStrike" kern="1200" cap="none" spc="0" baseline="0">
              <a:solidFill>
                <a:srgbClr val="FFFFFF"/>
              </a:solidFill>
              <a:uFillTx/>
              <a:latin typeface="Calibri"/>
            </a:endParaRPr>
          </a:p>
        </p:txBody>
      </p:sp>
      <p:sp>
        <p:nvSpPr>
          <p:cNvPr id="21" name="Slide Number Placeholder 5">
            <a:extLst>
              <a:ext uri="{FF2B5EF4-FFF2-40B4-BE49-F238E27FC236}">
                <a16:creationId xmlns:a16="http://schemas.microsoft.com/office/drawing/2014/main" id="{FD90344E-648D-4A1C-B5AD-217A40970139}"/>
              </a:ext>
            </a:extLst>
          </p:cNvPr>
          <p:cNvSpPr txBox="1"/>
          <p:nvPr/>
        </p:nvSpPr>
        <p:spPr>
          <a:xfrm>
            <a:off x="11526231" y="6387897"/>
            <a:ext cx="443849" cy="365129"/>
          </a:xfrm>
          <a:prstGeom prst="rect">
            <a:avLst/>
          </a:prstGeom>
          <a:noFill/>
          <a:ln cap="flat">
            <a:noFill/>
          </a:ln>
        </p:spPr>
        <p:txBody>
          <a:bodyPr vert="horz" wrap="square" lIns="91440" tIns="45720" rIns="91440" bIns="45720" anchor="ctr" anchorCtr="0" compatLnSpc="1">
            <a:noAutofit/>
          </a:bodyPr>
          <a:lstStyle/>
          <a:p>
            <a:pPr marL="0" marR="0" lvl="0" indent="0" algn="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fld id="{F115F092-1F4D-4947-81BB-BF615C369066}" type="slidenum">
              <a:t>2</a:t>
            </a:fld>
            <a:endParaRPr lang="en-GB" sz="900" b="0" i="0" u="none" strike="noStrike" kern="1200" cap="none" spc="0" baseline="0">
              <a:solidFill>
                <a:srgbClr val="000000"/>
              </a:solidFill>
              <a:uFillTx/>
              <a:latin typeface="Calibri"/>
            </a:endParaRPr>
          </a:p>
        </p:txBody>
      </p:sp>
      <p:sp>
        <p:nvSpPr>
          <p:cNvPr id="22" name="Footer Placeholder 1">
            <a:extLst>
              <a:ext uri="{FF2B5EF4-FFF2-40B4-BE49-F238E27FC236}">
                <a16:creationId xmlns:a16="http://schemas.microsoft.com/office/drawing/2014/main" id="{AD050F91-3C87-4395-8E5B-02E584CE285B}"/>
              </a:ext>
            </a:extLst>
          </p:cNvPr>
          <p:cNvSpPr txBox="1"/>
          <p:nvPr/>
        </p:nvSpPr>
        <p:spPr>
          <a:xfrm>
            <a:off x="2951472" y="6498229"/>
            <a:ext cx="8737604" cy="144466"/>
          </a:xfrm>
          <a:prstGeom prst="rect">
            <a:avLst/>
          </a:prstGeom>
          <a:noFill/>
          <a:ln cap="flat">
            <a:noFill/>
          </a:ln>
        </p:spPr>
        <p:txBody>
          <a:bodyPr vert="horz" wrap="square" lIns="0" tIns="0" rIns="0" bIns="0" anchor="ctr" anchorCtr="0" compatLnSpc="1">
            <a:noAutofit/>
          </a:bodyPr>
          <a:lstStyle/>
          <a:p>
            <a:pPr marL="0" marR="0" lvl="0" indent="0" algn="r"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r>
              <a:rPr lang="en-GB" sz="900" b="0" i="0" u="none" strike="noStrike" kern="1200" cap="none" spc="0" baseline="0">
                <a:solidFill>
                  <a:srgbClr val="3B3A3D"/>
                </a:solidFill>
                <a:uFillTx/>
                <a:latin typeface="Calibri"/>
                <a:ea typeface="Geneva"/>
                <a:cs typeface="Arial"/>
              </a:rPr>
              <a:t>OFFICIAL |  CDS External Release Scope Guidance Document  |</a:t>
            </a:r>
            <a:endParaRPr lang="en-GB" sz="900" b="1" i="0" u="none" strike="noStrike" kern="1200" cap="none" spc="0" baseline="0">
              <a:solidFill>
                <a:srgbClr val="008D8E"/>
              </a:solidFill>
              <a:uFillTx/>
              <a:latin typeface="Calibri"/>
              <a:ea typeface="Geneva"/>
              <a:cs typeface="Arial"/>
            </a:endParaRPr>
          </a:p>
        </p:txBody>
      </p:sp>
      <p:sp>
        <p:nvSpPr>
          <p:cNvPr id="23" name="Rectangle 27">
            <a:extLst>
              <a:ext uri="{FF2B5EF4-FFF2-40B4-BE49-F238E27FC236}">
                <a16:creationId xmlns:a16="http://schemas.microsoft.com/office/drawing/2014/main" id="{BC2FFAE5-E568-4D2B-9B48-8DDB004BAD7E}"/>
              </a:ext>
            </a:extLst>
          </p:cNvPr>
          <p:cNvSpPr/>
          <p:nvPr/>
        </p:nvSpPr>
        <p:spPr>
          <a:xfrm>
            <a:off x="419362" y="745821"/>
            <a:ext cx="7453539" cy="400114"/>
          </a:xfrm>
          <a:prstGeom prst="rect">
            <a:avLst/>
          </a:prstGeom>
          <a:noFill/>
          <a:ln cap="flat">
            <a:noFill/>
            <a:prstDash val="solid"/>
          </a:ln>
        </p:spPr>
        <p:txBody>
          <a:bodyPr vert="horz" wrap="square" lIns="91440" tIns="45720" rIns="91440" bIns="45720" anchor="t"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2000" b="1" i="0" u="none" strike="noStrike" kern="1200" cap="none" spc="0" baseline="0">
                <a:solidFill>
                  <a:srgbClr val="000000"/>
                </a:solidFill>
                <a:uFillTx/>
                <a:latin typeface="Calibri" pitchFamily="34"/>
                <a:ea typeface="Calibri" pitchFamily="34"/>
              </a:rPr>
              <a:t>Document Purpose</a:t>
            </a:r>
          </a:p>
        </p:txBody>
      </p:sp>
      <p:sp>
        <p:nvSpPr>
          <p:cNvPr id="24" name="TextBox 10">
            <a:extLst>
              <a:ext uri="{FF2B5EF4-FFF2-40B4-BE49-F238E27FC236}">
                <a16:creationId xmlns:a16="http://schemas.microsoft.com/office/drawing/2014/main" id="{641DD01C-4AFC-4144-80FB-1E99A18D5E07}"/>
              </a:ext>
            </a:extLst>
          </p:cNvPr>
          <p:cNvSpPr txBox="1"/>
          <p:nvPr/>
        </p:nvSpPr>
        <p:spPr>
          <a:xfrm>
            <a:off x="419362" y="1179063"/>
            <a:ext cx="11280111" cy="1538880"/>
          </a:xfrm>
          <a:prstGeom prst="rect">
            <a:avLst/>
          </a:prstGeom>
          <a:solidFill>
            <a:srgbClr val="FFFFFF"/>
          </a:solidFill>
          <a:ln cap="flat">
            <a:noFill/>
          </a:ln>
        </p:spPr>
        <p:txBody>
          <a:bodyPr vert="horz" wrap="square" lIns="91440" tIns="45720" rIns="91440" bIns="45720" anchor="t" anchorCtr="0" compatLnSpc="1">
            <a:spAutoFit/>
          </a:bodyPr>
          <a:lstStyle/>
          <a:p>
            <a:pPr marL="0" marR="0" lvl="0" indent="0" algn="l" defTabSz="914400" rtl="0" fontAlgn="auto" hangingPunct="1">
              <a:lnSpc>
                <a:spcPct val="100000"/>
              </a:lnSpc>
              <a:spcBef>
                <a:spcPts val="0"/>
              </a:spcBef>
              <a:spcAft>
                <a:spcPts val="600"/>
              </a:spcAft>
              <a:buNone/>
              <a:tabLst/>
              <a:defRPr sz="1800" b="0" i="0" u="none" strike="noStrike" kern="0" cap="none" spc="0" baseline="0">
                <a:solidFill>
                  <a:srgbClr val="000000"/>
                </a:solidFill>
                <a:uFillTx/>
              </a:defRPr>
            </a:pPr>
            <a:r>
              <a:rPr lang="en-GB" sz="1400" b="0" i="0" u="none" strike="noStrike" kern="1200" cap="none" spc="0" baseline="0" dirty="0">
                <a:solidFill>
                  <a:srgbClr val="000000"/>
                </a:solidFill>
                <a:uFillTx/>
                <a:latin typeface="Calibri"/>
                <a:ea typeface="Calibri" pitchFamily="34"/>
                <a:cs typeface="Calibri"/>
              </a:rPr>
              <a:t>The purpose of this document is to provide external developers with an overview of new functionality being deployed into Production environments to support testing and assurance activities. The last</a:t>
            </a:r>
            <a:r>
              <a:rPr lang="en-GB" sz="1400" b="0" i="0" u="none" strike="noStrike" kern="1200" cap="none" spc="0" baseline="0" dirty="0">
                <a:solidFill>
                  <a:srgbClr val="000000"/>
                </a:solidFill>
                <a:uFillTx/>
                <a:latin typeface="Calibri"/>
              </a:rPr>
              <a:t> issued CDS </a:t>
            </a:r>
            <a:r>
              <a:rPr lang="en-GB" sz="1400" dirty="0">
                <a:solidFill>
                  <a:srgbClr val="000000"/>
                </a:solidFill>
                <a:latin typeface="Calibri"/>
              </a:rPr>
              <a:t>Production</a:t>
            </a:r>
            <a:r>
              <a:rPr lang="en-GB" sz="1400" b="0" i="0" u="none" strike="noStrike" kern="1200" cap="none" spc="0" baseline="0" dirty="0">
                <a:solidFill>
                  <a:srgbClr val="000000"/>
                </a:solidFill>
                <a:uFillTx/>
                <a:latin typeface="Calibri"/>
              </a:rPr>
              <a:t> Guidance can be found </a:t>
            </a:r>
            <a:r>
              <a:rPr lang="en-GB" sz="1400" b="0" i="0" u="none" strike="noStrike" kern="1200" cap="none" spc="0" baseline="0" dirty="0">
                <a:solidFill>
                  <a:srgbClr val="000000"/>
                </a:solidFill>
                <a:uFillTx/>
                <a:latin typeface="Calibri  "/>
              </a:rPr>
              <a:t>in the </a:t>
            </a:r>
            <a:r>
              <a:rPr lang="en-GB" sz="1400" b="0" i="0" u="none" strike="noStrike" kern="1200" cap="none" spc="0" baseline="0" dirty="0">
                <a:solidFill>
                  <a:srgbClr val="6264A7"/>
                </a:solidFill>
                <a:uFillTx/>
                <a:latin typeface="Calibri  "/>
                <a:hlinkClick r:id="rId8" tooltip="https://eur03.safelinks.protection.outlook.com/?url=https%3a%2f%2fdeveloper.service.hmrc.gov.uk%2fguides%2fcustoms-declarations-end-to-end-service-guide%2f%23technical-documentation&amp;data=04%7c01%7csarah.aron%40hmrc.gov.uk%7cecef0b5e19524c32fce508d9d77c66c8%7cac52f73cfd1a4a9a8e7a4a248f3139e1%7c0%7c0%7c637777751557096537%7cunknown%7ctwfpbgzsb3d8eyjwijoimc4wljawmdailcjqijoiv2lumziilcjbtii6ik1hawwilcjxvci6mn0%3d%7c3000&amp;sdata=okwbp1bjlaxfdb5zaw83oe694mpmavwyrlfd%2f%2fnaadk%3d&amp;reserved=0"/>
              </a:rPr>
              <a:t>Technical Documentation</a:t>
            </a:r>
            <a:r>
              <a:rPr lang="en-GB" sz="1400" b="0" i="0" u="none" strike="noStrike" kern="1200" cap="none" spc="0" baseline="0" dirty="0">
                <a:solidFill>
                  <a:srgbClr val="252423"/>
                </a:solidFill>
                <a:uFillTx/>
                <a:latin typeface="Calibri  "/>
              </a:rPr>
              <a:t> section of the Customs Declaration Service end-to-end service guide within the HMRC Developer Hub</a:t>
            </a:r>
            <a:r>
              <a:rPr lang="en-GB" sz="1400" b="0" i="0" u="none" strike="noStrike" kern="1200" cap="none" spc="0" baseline="0" dirty="0">
                <a:solidFill>
                  <a:srgbClr val="000000"/>
                </a:solidFill>
                <a:uFillTx/>
                <a:latin typeface="Calibri  "/>
              </a:rPr>
              <a:t>. </a:t>
            </a:r>
          </a:p>
          <a:p>
            <a:pPr marL="0" marR="0" lvl="0" indent="0" algn="l" defTabSz="914400" rtl="0" fontAlgn="auto" hangingPunct="1">
              <a:lnSpc>
                <a:spcPct val="100000"/>
              </a:lnSpc>
              <a:spcBef>
                <a:spcPts val="0"/>
              </a:spcBef>
              <a:spcAft>
                <a:spcPts val="600"/>
              </a:spcAft>
              <a:buNone/>
              <a:tabLst/>
              <a:defRPr sz="1800" b="0" i="0" u="none" strike="noStrike" kern="0" cap="none" spc="0" baseline="0">
                <a:solidFill>
                  <a:srgbClr val="000000"/>
                </a:solidFill>
                <a:uFillTx/>
              </a:defRPr>
            </a:pPr>
            <a:r>
              <a:rPr lang="en-GB" sz="1400" b="0" i="0" u="none" strike="noStrike" kern="1200" cap="none" spc="0" baseline="0" dirty="0">
                <a:solidFill>
                  <a:srgbClr val="000000"/>
                </a:solidFill>
                <a:uFillTx/>
                <a:latin typeface="Calibri"/>
                <a:ea typeface="Calibri" pitchFamily="34"/>
                <a:cs typeface="Calibri"/>
              </a:rPr>
              <a:t>Please note, functionality is being delivered incrementally on CDS as part of an ongoing agile delivery programme. This document captures the current behaviour of the CDS system and, as much as possible, planned changes. However, this document is therefore subject to change.</a:t>
            </a:r>
          </a:p>
          <a:p>
            <a:pPr marL="0" marR="0" lvl="0" indent="0" algn="l" defTabSz="914400" rtl="0" fontAlgn="auto" hangingPunct="1">
              <a:lnSpc>
                <a:spcPct val="100000"/>
              </a:lnSpc>
              <a:spcBef>
                <a:spcPts val="0"/>
              </a:spcBef>
              <a:spcAft>
                <a:spcPts val="600"/>
              </a:spcAft>
              <a:buNone/>
              <a:tabLst/>
              <a:defRPr sz="1800" b="0" i="0" u="none" strike="noStrike" kern="0" cap="none" spc="0" baseline="0">
                <a:solidFill>
                  <a:srgbClr val="000000"/>
                </a:solidFill>
                <a:uFillTx/>
              </a:defRPr>
            </a:pPr>
            <a:r>
              <a:rPr lang="en-GB" sz="1400" b="0" i="0" u="none" strike="noStrike" kern="1200" cap="none" spc="0" baseline="0" dirty="0">
                <a:solidFill>
                  <a:srgbClr val="000000"/>
                </a:solidFill>
                <a:uFillTx/>
                <a:latin typeface="Calibri"/>
                <a:ea typeface="Calibri" pitchFamily="34"/>
                <a:cs typeface="Calibri"/>
              </a:rPr>
              <a:t>If you have any questions regarding this release, please send your query to </a:t>
            </a:r>
            <a:r>
              <a:rPr lang="en-GB" sz="1400" b="0" i="0" u="none" strike="noStrike" kern="1200" cap="none" spc="0" baseline="0" dirty="0">
                <a:solidFill>
                  <a:srgbClr val="000000"/>
                </a:solidFill>
                <a:uFillTx/>
                <a:latin typeface="Calibri"/>
                <a:ea typeface="Calibri" pitchFamily="34"/>
                <a:cs typeface="Calibri"/>
                <a:hlinkClick r:id="rId9"/>
              </a:rPr>
              <a:t>SDSTeam@hmrc.gov.uk</a:t>
            </a:r>
            <a:r>
              <a:rPr lang="en-GB" sz="1400" b="0" i="0" u="none" strike="noStrike" kern="1200" cap="none" spc="0" baseline="0" dirty="0">
                <a:solidFill>
                  <a:srgbClr val="000000"/>
                </a:solidFill>
                <a:uFillTx/>
                <a:latin typeface="Calibri"/>
                <a:ea typeface="Calibri" pitchFamily="34"/>
                <a:cs typeface="Calibri"/>
              </a:rPr>
              <a:t>.</a:t>
            </a:r>
          </a:p>
        </p:txBody>
      </p:sp>
      <p:sp>
        <p:nvSpPr>
          <p:cNvPr id="25" name="Oval 16">
            <a:extLst>
              <a:ext uri="{FF2B5EF4-FFF2-40B4-BE49-F238E27FC236}">
                <a16:creationId xmlns:a16="http://schemas.microsoft.com/office/drawing/2014/main" id="{A8C33232-F79D-45B3-BE6F-BBA700429C50}"/>
              </a:ext>
            </a:extLst>
          </p:cNvPr>
          <p:cNvSpPr/>
          <p:nvPr/>
        </p:nvSpPr>
        <p:spPr>
          <a:xfrm>
            <a:off x="3131664" y="4384746"/>
            <a:ext cx="152759" cy="140991"/>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 2700000 f2 0"/>
              <a:gd name="f15" fmla="*/ f9 f1 1"/>
              <a:gd name="f16" fmla="*/ f10 f1 1"/>
              <a:gd name="f17" fmla="?: f11 f4 1"/>
              <a:gd name="f18" fmla="?: f12 f5 1"/>
              <a:gd name="f19" fmla="?: f13 f6 1"/>
              <a:gd name="f20" fmla="+- f14 0 f2"/>
              <a:gd name="f21" fmla="*/ f15 1 f3"/>
              <a:gd name="f22" fmla="*/ f16 1 f3"/>
              <a:gd name="f23" fmla="*/ f17 1 21600"/>
              <a:gd name="f24" fmla="*/ f18 1 21600"/>
              <a:gd name="f25" fmla="*/ 21600 f17 1"/>
              <a:gd name="f26" fmla="*/ 21600 f18 1"/>
              <a:gd name="f27" fmla="+- f20 f2 0"/>
              <a:gd name="f28" fmla="+- f21 0 f2"/>
              <a:gd name="f29" fmla="+- f22 0 f2"/>
              <a:gd name="f30" fmla="min f24 f23"/>
              <a:gd name="f31" fmla="*/ f25 1 f19"/>
              <a:gd name="f32" fmla="*/ f26 1 f19"/>
              <a:gd name="f33" fmla="*/ f27 f8 1"/>
              <a:gd name="f34" fmla="val f31"/>
              <a:gd name="f35" fmla="val f32"/>
              <a:gd name="f36" fmla="*/ f33 1 f1"/>
              <a:gd name="f37" fmla="*/ f7 f30 1"/>
              <a:gd name="f38" fmla="+- f35 0 f7"/>
              <a:gd name="f39" fmla="+- f34 0 f7"/>
              <a:gd name="f40" fmla="+- 0 0 f36"/>
              <a:gd name="f41" fmla="*/ f38 1 2"/>
              <a:gd name="f42" fmla="*/ f39 1 2"/>
              <a:gd name="f43" fmla="+- 0 0 f40"/>
              <a:gd name="f44" fmla="+- f7 f41 0"/>
              <a:gd name="f45" fmla="+- f7 f42 0"/>
              <a:gd name="f46" fmla="*/ f43 f1 1"/>
              <a:gd name="f47" fmla="*/ f42 f30 1"/>
              <a:gd name="f48" fmla="*/ f41 f30 1"/>
              <a:gd name="f49" fmla="*/ f46 1 f8"/>
              <a:gd name="f50" fmla="*/ f44 f30 1"/>
              <a:gd name="f51" fmla="+- f49 0 f2"/>
              <a:gd name="f52" fmla="cos 1 f51"/>
              <a:gd name="f53" fmla="sin 1 f51"/>
              <a:gd name="f54" fmla="+- 0 0 f52"/>
              <a:gd name="f55" fmla="+- 0 0 f53"/>
              <a:gd name="f56" fmla="+- 0 0 f54"/>
              <a:gd name="f57" fmla="+- 0 0 f55"/>
              <a:gd name="f58" fmla="val f56"/>
              <a:gd name="f59" fmla="val f57"/>
              <a:gd name="f60" fmla="*/ f58 f42 1"/>
              <a:gd name="f61" fmla="*/ f59 f41 1"/>
              <a:gd name="f62" fmla="+- f45 0 f60"/>
              <a:gd name="f63" fmla="+- f45 f60 0"/>
              <a:gd name="f64" fmla="+- f44 0 f61"/>
              <a:gd name="f65" fmla="+- f44 f61 0"/>
              <a:gd name="f66" fmla="*/ f62 f30 1"/>
              <a:gd name="f67" fmla="*/ f64 f30 1"/>
              <a:gd name="f68" fmla="*/ f63 f30 1"/>
              <a:gd name="f69" fmla="*/ f65 f30 1"/>
            </a:gdLst>
            <a:ahLst/>
            <a:cxnLst>
              <a:cxn ang="3cd4">
                <a:pos x="hc" y="t"/>
              </a:cxn>
              <a:cxn ang="0">
                <a:pos x="r" y="vc"/>
              </a:cxn>
              <a:cxn ang="cd4">
                <a:pos x="hc" y="b"/>
              </a:cxn>
              <a:cxn ang="cd2">
                <a:pos x="l" y="vc"/>
              </a:cxn>
              <a:cxn ang="f28">
                <a:pos x="f66" y="f67"/>
              </a:cxn>
              <a:cxn ang="f29">
                <a:pos x="f66" y="f69"/>
              </a:cxn>
              <a:cxn ang="f29">
                <a:pos x="f68" y="f69"/>
              </a:cxn>
              <a:cxn ang="f28">
                <a:pos x="f68" y="f67"/>
              </a:cxn>
            </a:cxnLst>
            <a:rect l="f66" t="f67" r="f68" b="f69"/>
            <a:pathLst>
              <a:path>
                <a:moveTo>
                  <a:pt x="f37" y="f50"/>
                </a:moveTo>
                <a:arcTo wR="f47" hR="f48" stAng="f1" swAng="f0"/>
                <a:close/>
              </a:path>
            </a:pathLst>
          </a:custGeom>
          <a:solidFill>
            <a:schemeClr val="accent2"/>
          </a:solidFill>
          <a:ln w="12701" cap="flat">
            <a:noFill/>
            <a:prstDash val="solid"/>
            <a:miter/>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800" b="0" i="0" u="none" strike="noStrike" kern="1200" cap="none" spc="0" baseline="0">
              <a:solidFill>
                <a:srgbClr val="FFFFFF"/>
              </a:solidFill>
              <a:uFillTx/>
              <a:latin typeface="Calibri"/>
            </a:endParaRPr>
          </a:p>
        </p:txBody>
      </p:sp>
      <p:sp>
        <p:nvSpPr>
          <p:cNvPr id="26" name="Oval 16">
            <a:extLst>
              <a:ext uri="{FF2B5EF4-FFF2-40B4-BE49-F238E27FC236}">
                <a16:creationId xmlns:a16="http://schemas.microsoft.com/office/drawing/2014/main" id="{20B78443-9344-4A32-9FAD-71D2948320A9}"/>
              </a:ext>
            </a:extLst>
          </p:cNvPr>
          <p:cNvSpPr/>
          <p:nvPr/>
        </p:nvSpPr>
        <p:spPr>
          <a:xfrm>
            <a:off x="6093579" y="4377104"/>
            <a:ext cx="152759" cy="140991"/>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 2700000 f2 0"/>
              <a:gd name="f15" fmla="*/ f9 f1 1"/>
              <a:gd name="f16" fmla="*/ f10 f1 1"/>
              <a:gd name="f17" fmla="?: f11 f4 1"/>
              <a:gd name="f18" fmla="?: f12 f5 1"/>
              <a:gd name="f19" fmla="?: f13 f6 1"/>
              <a:gd name="f20" fmla="+- f14 0 f2"/>
              <a:gd name="f21" fmla="*/ f15 1 f3"/>
              <a:gd name="f22" fmla="*/ f16 1 f3"/>
              <a:gd name="f23" fmla="*/ f17 1 21600"/>
              <a:gd name="f24" fmla="*/ f18 1 21600"/>
              <a:gd name="f25" fmla="*/ 21600 f17 1"/>
              <a:gd name="f26" fmla="*/ 21600 f18 1"/>
              <a:gd name="f27" fmla="+- f20 f2 0"/>
              <a:gd name="f28" fmla="+- f21 0 f2"/>
              <a:gd name="f29" fmla="+- f22 0 f2"/>
              <a:gd name="f30" fmla="min f24 f23"/>
              <a:gd name="f31" fmla="*/ f25 1 f19"/>
              <a:gd name="f32" fmla="*/ f26 1 f19"/>
              <a:gd name="f33" fmla="*/ f27 f8 1"/>
              <a:gd name="f34" fmla="val f31"/>
              <a:gd name="f35" fmla="val f32"/>
              <a:gd name="f36" fmla="*/ f33 1 f1"/>
              <a:gd name="f37" fmla="*/ f7 f30 1"/>
              <a:gd name="f38" fmla="+- f35 0 f7"/>
              <a:gd name="f39" fmla="+- f34 0 f7"/>
              <a:gd name="f40" fmla="+- 0 0 f36"/>
              <a:gd name="f41" fmla="*/ f38 1 2"/>
              <a:gd name="f42" fmla="*/ f39 1 2"/>
              <a:gd name="f43" fmla="+- 0 0 f40"/>
              <a:gd name="f44" fmla="+- f7 f41 0"/>
              <a:gd name="f45" fmla="+- f7 f42 0"/>
              <a:gd name="f46" fmla="*/ f43 f1 1"/>
              <a:gd name="f47" fmla="*/ f42 f30 1"/>
              <a:gd name="f48" fmla="*/ f41 f30 1"/>
              <a:gd name="f49" fmla="*/ f46 1 f8"/>
              <a:gd name="f50" fmla="*/ f44 f30 1"/>
              <a:gd name="f51" fmla="+- f49 0 f2"/>
              <a:gd name="f52" fmla="cos 1 f51"/>
              <a:gd name="f53" fmla="sin 1 f51"/>
              <a:gd name="f54" fmla="+- 0 0 f52"/>
              <a:gd name="f55" fmla="+- 0 0 f53"/>
              <a:gd name="f56" fmla="+- 0 0 f54"/>
              <a:gd name="f57" fmla="+- 0 0 f55"/>
              <a:gd name="f58" fmla="val f56"/>
              <a:gd name="f59" fmla="val f57"/>
              <a:gd name="f60" fmla="*/ f58 f42 1"/>
              <a:gd name="f61" fmla="*/ f59 f41 1"/>
              <a:gd name="f62" fmla="+- f45 0 f60"/>
              <a:gd name="f63" fmla="+- f45 f60 0"/>
              <a:gd name="f64" fmla="+- f44 0 f61"/>
              <a:gd name="f65" fmla="+- f44 f61 0"/>
              <a:gd name="f66" fmla="*/ f62 f30 1"/>
              <a:gd name="f67" fmla="*/ f64 f30 1"/>
              <a:gd name="f68" fmla="*/ f63 f30 1"/>
              <a:gd name="f69" fmla="*/ f65 f30 1"/>
            </a:gdLst>
            <a:ahLst/>
            <a:cxnLst>
              <a:cxn ang="3cd4">
                <a:pos x="hc" y="t"/>
              </a:cxn>
              <a:cxn ang="0">
                <a:pos x="r" y="vc"/>
              </a:cxn>
              <a:cxn ang="cd4">
                <a:pos x="hc" y="b"/>
              </a:cxn>
              <a:cxn ang="cd2">
                <a:pos x="l" y="vc"/>
              </a:cxn>
              <a:cxn ang="f28">
                <a:pos x="f66" y="f67"/>
              </a:cxn>
              <a:cxn ang="f29">
                <a:pos x="f66" y="f69"/>
              </a:cxn>
              <a:cxn ang="f29">
                <a:pos x="f68" y="f69"/>
              </a:cxn>
              <a:cxn ang="f28">
                <a:pos x="f68" y="f67"/>
              </a:cxn>
            </a:cxnLst>
            <a:rect l="f66" t="f67" r="f68" b="f69"/>
            <a:pathLst>
              <a:path>
                <a:moveTo>
                  <a:pt x="f37" y="f50"/>
                </a:moveTo>
                <a:arcTo wR="f47" hR="f48" stAng="f1" swAng="f0"/>
                <a:close/>
              </a:path>
            </a:pathLst>
          </a:custGeom>
          <a:solidFill>
            <a:srgbClr val="ED7D31"/>
          </a:solidFill>
          <a:ln w="12701" cap="flat">
            <a:solidFill>
              <a:srgbClr val="ED7D31"/>
            </a:solidFill>
            <a:prstDash val="solid"/>
            <a:miter/>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800" b="0" i="0" u="none" strike="noStrike" kern="1200" cap="none" spc="0" baseline="0">
              <a:solidFill>
                <a:srgbClr val="FFFFFF"/>
              </a:solidFill>
              <a:uFillTx/>
              <a:latin typeface="Calibri"/>
            </a:endParaRPr>
          </a:p>
        </p:txBody>
      </p:sp>
      <p:sp>
        <p:nvSpPr>
          <p:cNvPr id="28" name="Oval 16">
            <a:extLst>
              <a:ext uri="{FF2B5EF4-FFF2-40B4-BE49-F238E27FC236}">
                <a16:creationId xmlns:a16="http://schemas.microsoft.com/office/drawing/2014/main" id="{9FC88087-722A-415E-A201-468DD30BD617}"/>
              </a:ext>
            </a:extLst>
          </p:cNvPr>
          <p:cNvSpPr/>
          <p:nvPr/>
        </p:nvSpPr>
        <p:spPr>
          <a:xfrm>
            <a:off x="546398" y="5214355"/>
            <a:ext cx="152759" cy="140991"/>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 2700000 f2 0"/>
              <a:gd name="f15" fmla="*/ f9 f1 1"/>
              <a:gd name="f16" fmla="*/ f10 f1 1"/>
              <a:gd name="f17" fmla="?: f11 f4 1"/>
              <a:gd name="f18" fmla="?: f12 f5 1"/>
              <a:gd name="f19" fmla="?: f13 f6 1"/>
              <a:gd name="f20" fmla="+- f14 0 f2"/>
              <a:gd name="f21" fmla="*/ f15 1 f3"/>
              <a:gd name="f22" fmla="*/ f16 1 f3"/>
              <a:gd name="f23" fmla="*/ f17 1 21600"/>
              <a:gd name="f24" fmla="*/ f18 1 21600"/>
              <a:gd name="f25" fmla="*/ 21600 f17 1"/>
              <a:gd name="f26" fmla="*/ 21600 f18 1"/>
              <a:gd name="f27" fmla="+- f20 f2 0"/>
              <a:gd name="f28" fmla="+- f21 0 f2"/>
              <a:gd name="f29" fmla="+- f22 0 f2"/>
              <a:gd name="f30" fmla="min f24 f23"/>
              <a:gd name="f31" fmla="*/ f25 1 f19"/>
              <a:gd name="f32" fmla="*/ f26 1 f19"/>
              <a:gd name="f33" fmla="*/ f27 f8 1"/>
              <a:gd name="f34" fmla="val f31"/>
              <a:gd name="f35" fmla="val f32"/>
              <a:gd name="f36" fmla="*/ f33 1 f1"/>
              <a:gd name="f37" fmla="*/ f7 f30 1"/>
              <a:gd name="f38" fmla="+- f35 0 f7"/>
              <a:gd name="f39" fmla="+- f34 0 f7"/>
              <a:gd name="f40" fmla="+- 0 0 f36"/>
              <a:gd name="f41" fmla="*/ f38 1 2"/>
              <a:gd name="f42" fmla="*/ f39 1 2"/>
              <a:gd name="f43" fmla="+- 0 0 f40"/>
              <a:gd name="f44" fmla="+- f7 f41 0"/>
              <a:gd name="f45" fmla="+- f7 f42 0"/>
              <a:gd name="f46" fmla="*/ f43 f1 1"/>
              <a:gd name="f47" fmla="*/ f42 f30 1"/>
              <a:gd name="f48" fmla="*/ f41 f30 1"/>
              <a:gd name="f49" fmla="*/ f46 1 f8"/>
              <a:gd name="f50" fmla="*/ f44 f30 1"/>
              <a:gd name="f51" fmla="+- f49 0 f2"/>
              <a:gd name="f52" fmla="cos 1 f51"/>
              <a:gd name="f53" fmla="sin 1 f51"/>
              <a:gd name="f54" fmla="+- 0 0 f52"/>
              <a:gd name="f55" fmla="+- 0 0 f53"/>
              <a:gd name="f56" fmla="+- 0 0 f54"/>
              <a:gd name="f57" fmla="+- 0 0 f55"/>
              <a:gd name="f58" fmla="val f56"/>
              <a:gd name="f59" fmla="val f57"/>
              <a:gd name="f60" fmla="*/ f58 f42 1"/>
              <a:gd name="f61" fmla="*/ f59 f41 1"/>
              <a:gd name="f62" fmla="+- f45 0 f60"/>
              <a:gd name="f63" fmla="+- f45 f60 0"/>
              <a:gd name="f64" fmla="+- f44 0 f61"/>
              <a:gd name="f65" fmla="+- f44 f61 0"/>
              <a:gd name="f66" fmla="*/ f62 f30 1"/>
              <a:gd name="f67" fmla="*/ f64 f30 1"/>
              <a:gd name="f68" fmla="*/ f63 f30 1"/>
              <a:gd name="f69" fmla="*/ f65 f30 1"/>
            </a:gdLst>
            <a:ahLst/>
            <a:cxnLst>
              <a:cxn ang="3cd4">
                <a:pos x="hc" y="t"/>
              </a:cxn>
              <a:cxn ang="0">
                <a:pos x="r" y="vc"/>
              </a:cxn>
              <a:cxn ang="cd4">
                <a:pos x="hc" y="b"/>
              </a:cxn>
              <a:cxn ang="cd2">
                <a:pos x="l" y="vc"/>
              </a:cxn>
              <a:cxn ang="f28">
                <a:pos x="f66" y="f67"/>
              </a:cxn>
              <a:cxn ang="f29">
                <a:pos x="f66" y="f69"/>
              </a:cxn>
              <a:cxn ang="f29">
                <a:pos x="f68" y="f69"/>
              </a:cxn>
              <a:cxn ang="f28">
                <a:pos x="f68" y="f67"/>
              </a:cxn>
            </a:cxnLst>
            <a:rect l="f66" t="f67" r="f68" b="f69"/>
            <a:pathLst>
              <a:path>
                <a:moveTo>
                  <a:pt x="f37" y="f50"/>
                </a:moveTo>
                <a:arcTo wR="f47" hR="f48" stAng="f1" swAng="f0"/>
                <a:close/>
              </a:path>
            </a:pathLst>
          </a:custGeom>
          <a:solidFill>
            <a:schemeClr val="accent2"/>
          </a:solidFill>
          <a:ln w="12701" cap="flat">
            <a:noFill/>
            <a:prstDash val="solid"/>
            <a:miter/>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800" b="0" i="0" u="none" strike="noStrike" kern="1200" cap="none" spc="0" baseline="0">
              <a:solidFill>
                <a:srgbClr val="FFFFFF"/>
              </a:solidFill>
              <a:uFillTx/>
              <a:latin typeface="Calibri"/>
            </a:endParaRPr>
          </a:p>
        </p:txBody>
      </p:sp>
      <p:sp>
        <p:nvSpPr>
          <p:cNvPr id="29" name="Oval 16">
            <a:extLst>
              <a:ext uri="{FF2B5EF4-FFF2-40B4-BE49-F238E27FC236}">
                <a16:creationId xmlns:a16="http://schemas.microsoft.com/office/drawing/2014/main" id="{9C21136E-F627-4F7E-9DF0-D357C872D448}"/>
              </a:ext>
            </a:extLst>
          </p:cNvPr>
          <p:cNvSpPr/>
          <p:nvPr/>
        </p:nvSpPr>
        <p:spPr>
          <a:xfrm>
            <a:off x="3131664" y="5193407"/>
            <a:ext cx="152759" cy="140991"/>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 2700000 f2 0"/>
              <a:gd name="f15" fmla="*/ f9 f1 1"/>
              <a:gd name="f16" fmla="*/ f10 f1 1"/>
              <a:gd name="f17" fmla="?: f11 f4 1"/>
              <a:gd name="f18" fmla="?: f12 f5 1"/>
              <a:gd name="f19" fmla="?: f13 f6 1"/>
              <a:gd name="f20" fmla="+- f14 0 f2"/>
              <a:gd name="f21" fmla="*/ f15 1 f3"/>
              <a:gd name="f22" fmla="*/ f16 1 f3"/>
              <a:gd name="f23" fmla="*/ f17 1 21600"/>
              <a:gd name="f24" fmla="*/ f18 1 21600"/>
              <a:gd name="f25" fmla="*/ 21600 f17 1"/>
              <a:gd name="f26" fmla="*/ 21600 f18 1"/>
              <a:gd name="f27" fmla="+- f20 f2 0"/>
              <a:gd name="f28" fmla="+- f21 0 f2"/>
              <a:gd name="f29" fmla="+- f22 0 f2"/>
              <a:gd name="f30" fmla="min f24 f23"/>
              <a:gd name="f31" fmla="*/ f25 1 f19"/>
              <a:gd name="f32" fmla="*/ f26 1 f19"/>
              <a:gd name="f33" fmla="*/ f27 f8 1"/>
              <a:gd name="f34" fmla="val f31"/>
              <a:gd name="f35" fmla="val f32"/>
              <a:gd name="f36" fmla="*/ f33 1 f1"/>
              <a:gd name="f37" fmla="*/ f7 f30 1"/>
              <a:gd name="f38" fmla="+- f35 0 f7"/>
              <a:gd name="f39" fmla="+- f34 0 f7"/>
              <a:gd name="f40" fmla="+- 0 0 f36"/>
              <a:gd name="f41" fmla="*/ f38 1 2"/>
              <a:gd name="f42" fmla="*/ f39 1 2"/>
              <a:gd name="f43" fmla="+- 0 0 f40"/>
              <a:gd name="f44" fmla="+- f7 f41 0"/>
              <a:gd name="f45" fmla="+- f7 f42 0"/>
              <a:gd name="f46" fmla="*/ f43 f1 1"/>
              <a:gd name="f47" fmla="*/ f42 f30 1"/>
              <a:gd name="f48" fmla="*/ f41 f30 1"/>
              <a:gd name="f49" fmla="*/ f46 1 f8"/>
              <a:gd name="f50" fmla="*/ f44 f30 1"/>
              <a:gd name="f51" fmla="+- f49 0 f2"/>
              <a:gd name="f52" fmla="cos 1 f51"/>
              <a:gd name="f53" fmla="sin 1 f51"/>
              <a:gd name="f54" fmla="+- 0 0 f52"/>
              <a:gd name="f55" fmla="+- 0 0 f53"/>
              <a:gd name="f56" fmla="+- 0 0 f54"/>
              <a:gd name="f57" fmla="+- 0 0 f55"/>
              <a:gd name="f58" fmla="val f56"/>
              <a:gd name="f59" fmla="val f57"/>
              <a:gd name="f60" fmla="*/ f58 f42 1"/>
              <a:gd name="f61" fmla="*/ f59 f41 1"/>
              <a:gd name="f62" fmla="+- f45 0 f60"/>
              <a:gd name="f63" fmla="+- f45 f60 0"/>
              <a:gd name="f64" fmla="+- f44 0 f61"/>
              <a:gd name="f65" fmla="+- f44 f61 0"/>
              <a:gd name="f66" fmla="*/ f62 f30 1"/>
              <a:gd name="f67" fmla="*/ f64 f30 1"/>
              <a:gd name="f68" fmla="*/ f63 f30 1"/>
              <a:gd name="f69" fmla="*/ f65 f30 1"/>
            </a:gdLst>
            <a:ahLst/>
            <a:cxnLst>
              <a:cxn ang="3cd4">
                <a:pos x="hc" y="t"/>
              </a:cxn>
              <a:cxn ang="0">
                <a:pos x="r" y="vc"/>
              </a:cxn>
              <a:cxn ang="cd4">
                <a:pos x="hc" y="b"/>
              </a:cxn>
              <a:cxn ang="cd2">
                <a:pos x="l" y="vc"/>
              </a:cxn>
              <a:cxn ang="f28">
                <a:pos x="f66" y="f67"/>
              </a:cxn>
              <a:cxn ang="f29">
                <a:pos x="f66" y="f69"/>
              </a:cxn>
              <a:cxn ang="f29">
                <a:pos x="f68" y="f69"/>
              </a:cxn>
              <a:cxn ang="f28">
                <a:pos x="f68" y="f67"/>
              </a:cxn>
            </a:cxnLst>
            <a:rect l="f66" t="f67" r="f68" b="f69"/>
            <a:pathLst>
              <a:path>
                <a:moveTo>
                  <a:pt x="f37" y="f50"/>
                </a:moveTo>
                <a:arcTo wR="f47" hR="f48" stAng="f1" swAng="f0"/>
                <a:close/>
              </a:path>
            </a:pathLst>
          </a:custGeom>
          <a:solidFill>
            <a:schemeClr val="accent2"/>
          </a:solidFill>
          <a:ln w="12701" cap="flat">
            <a:noFill/>
            <a:prstDash val="solid"/>
            <a:miter/>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800" b="0" i="0" u="none" strike="noStrike" kern="1200" cap="none" spc="0" baseline="0">
              <a:solidFill>
                <a:srgbClr val="FFFFFF"/>
              </a:solidFill>
              <a:uFillTx/>
              <a:latin typeface="Calibri"/>
            </a:endParaRPr>
          </a:p>
        </p:txBody>
      </p:sp>
      <p:sp>
        <p:nvSpPr>
          <p:cNvPr id="30" name="Oval 16">
            <a:extLst>
              <a:ext uri="{FF2B5EF4-FFF2-40B4-BE49-F238E27FC236}">
                <a16:creationId xmlns:a16="http://schemas.microsoft.com/office/drawing/2014/main" id="{D1D72120-6313-4AF7-96F8-FBF72C8F614D}"/>
              </a:ext>
            </a:extLst>
          </p:cNvPr>
          <p:cNvSpPr/>
          <p:nvPr/>
        </p:nvSpPr>
        <p:spPr>
          <a:xfrm>
            <a:off x="8891326" y="4396605"/>
            <a:ext cx="152759" cy="140991"/>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 2700000 f2 0"/>
              <a:gd name="f15" fmla="*/ f9 f1 1"/>
              <a:gd name="f16" fmla="*/ f10 f1 1"/>
              <a:gd name="f17" fmla="?: f11 f4 1"/>
              <a:gd name="f18" fmla="?: f12 f5 1"/>
              <a:gd name="f19" fmla="?: f13 f6 1"/>
              <a:gd name="f20" fmla="+- f14 0 f2"/>
              <a:gd name="f21" fmla="*/ f15 1 f3"/>
              <a:gd name="f22" fmla="*/ f16 1 f3"/>
              <a:gd name="f23" fmla="*/ f17 1 21600"/>
              <a:gd name="f24" fmla="*/ f18 1 21600"/>
              <a:gd name="f25" fmla="*/ 21600 f17 1"/>
              <a:gd name="f26" fmla="*/ 21600 f18 1"/>
              <a:gd name="f27" fmla="+- f20 f2 0"/>
              <a:gd name="f28" fmla="+- f21 0 f2"/>
              <a:gd name="f29" fmla="+- f22 0 f2"/>
              <a:gd name="f30" fmla="min f24 f23"/>
              <a:gd name="f31" fmla="*/ f25 1 f19"/>
              <a:gd name="f32" fmla="*/ f26 1 f19"/>
              <a:gd name="f33" fmla="*/ f27 f8 1"/>
              <a:gd name="f34" fmla="val f31"/>
              <a:gd name="f35" fmla="val f32"/>
              <a:gd name="f36" fmla="*/ f33 1 f1"/>
              <a:gd name="f37" fmla="*/ f7 f30 1"/>
              <a:gd name="f38" fmla="+- f35 0 f7"/>
              <a:gd name="f39" fmla="+- f34 0 f7"/>
              <a:gd name="f40" fmla="+- 0 0 f36"/>
              <a:gd name="f41" fmla="*/ f38 1 2"/>
              <a:gd name="f42" fmla="*/ f39 1 2"/>
              <a:gd name="f43" fmla="+- 0 0 f40"/>
              <a:gd name="f44" fmla="+- f7 f41 0"/>
              <a:gd name="f45" fmla="+- f7 f42 0"/>
              <a:gd name="f46" fmla="*/ f43 f1 1"/>
              <a:gd name="f47" fmla="*/ f42 f30 1"/>
              <a:gd name="f48" fmla="*/ f41 f30 1"/>
              <a:gd name="f49" fmla="*/ f46 1 f8"/>
              <a:gd name="f50" fmla="*/ f44 f30 1"/>
              <a:gd name="f51" fmla="+- f49 0 f2"/>
              <a:gd name="f52" fmla="cos 1 f51"/>
              <a:gd name="f53" fmla="sin 1 f51"/>
              <a:gd name="f54" fmla="+- 0 0 f52"/>
              <a:gd name="f55" fmla="+- 0 0 f53"/>
              <a:gd name="f56" fmla="+- 0 0 f54"/>
              <a:gd name="f57" fmla="+- 0 0 f55"/>
              <a:gd name="f58" fmla="val f56"/>
              <a:gd name="f59" fmla="val f57"/>
              <a:gd name="f60" fmla="*/ f58 f42 1"/>
              <a:gd name="f61" fmla="*/ f59 f41 1"/>
              <a:gd name="f62" fmla="+- f45 0 f60"/>
              <a:gd name="f63" fmla="+- f45 f60 0"/>
              <a:gd name="f64" fmla="+- f44 0 f61"/>
              <a:gd name="f65" fmla="+- f44 f61 0"/>
              <a:gd name="f66" fmla="*/ f62 f30 1"/>
              <a:gd name="f67" fmla="*/ f64 f30 1"/>
              <a:gd name="f68" fmla="*/ f63 f30 1"/>
              <a:gd name="f69" fmla="*/ f65 f30 1"/>
            </a:gdLst>
            <a:ahLst/>
            <a:cxnLst>
              <a:cxn ang="3cd4">
                <a:pos x="hc" y="t"/>
              </a:cxn>
              <a:cxn ang="0">
                <a:pos x="r" y="vc"/>
              </a:cxn>
              <a:cxn ang="cd4">
                <a:pos x="hc" y="b"/>
              </a:cxn>
              <a:cxn ang="cd2">
                <a:pos x="l" y="vc"/>
              </a:cxn>
              <a:cxn ang="f28">
                <a:pos x="f66" y="f67"/>
              </a:cxn>
              <a:cxn ang="f29">
                <a:pos x="f66" y="f69"/>
              </a:cxn>
              <a:cxn ang="f29">
                <a:pos x="f68" y="f69"/>
              </a:cxn>
              <a:cxn ang="f28">
                <a:pos x="f68" y="f67"/>
              </a:cxn>
            </a:cxnLst>
            <a:rect l="f66" t="f67" r="f68" b="f69"/>
            <a:pathLst>
              <a:path>
                <a:moveTo>
                  <a:pt x="f37" y="f50"/>
                </a:moveTo>
                <a:arcTo wR="f47" hR="f48" stAng="f1" swAng="f0"/>
                <a:close/>
              </a:path>
            </a:pathLst>
          </a:custGeom>
          <a:solidFill>
            <a:srgbClr val="ED7D31"/>
          </a:solidFill>
          <a:ln w="12701" cap="flat">
            <a:solidFill>
              <a:srgbClr val="ED7D31"/>
            </a:solidFill>
            <a:prstDash val="solid"/>
            <a:miter/>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800" b="0" i="0" u="none" strike="noStrike" kern="1200" cap="none" spc="0" baseline="0">
              <a:solidFill>
                <a:srgbClr val="FFFFFF"/>
              </a:solidFill>
              <a:uFillTx/>
              <a:latin typeface="Calibri"/>
            </a:endParaRPr>
          </a:p>
        </p:txBody>
      </p:sp>
      <p:sp>
        <p:nvSpPr>
          <p:cNvPr id="32" name="Oval 16">
            <a:extLst>
              <a:ext uri="{FF2B5EF4-FFF2-40B4-BE49-F238E27FC236}">
                <a16:creationId xmlns:a16="http://schemas.microsoft.com/office/drawing/2014/main" id="{E4252149-0CCF-473C-8C77-9686BA73C215}"/>
              </a:ext>
            </a:extLst>
          </p:cNvPr>
          <p:cNvSpPr/>
          <p:nvPr/>
        </p:nvSpPr>
        <p:spPr>
          <a:xfrm>
            <a:off x="6093579" y="5193407"/>
            <a:ext cx="152759" cy="140991"/>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 2700000 f2 0"/>
              <a:gd name="f15" fmla="*/ f9 f1 1"/>
              <a:gd name="f16" fmla="*/ f10 f1 1"/>
              <a:gd name="f17" fmla="?: f11 f4 1"/>
              <a:gd name="f18" fmla="?: f12 f5 1"/>
              <a:gd name="f19" fmla="?: f13 f6 1"/>
              <a:gd name="f20" fmla="+- f14 0 f2"/>
              <a:gd name="f21" fmla="*/ f15 1 f3"/>
              <a:gd name="f22" fmla="*/ f16 1 f3"/>
              <a:gd name="f23" fmla="*/ f17 1 21600"/>
              <a:gd name="f24" fmla="*/ f18 1 21600"/>
              <a:gd name="f25" fmla="*/ 21600 f17 1"/>
              <a:gd name="f26" fmla="*/ 21600 f18 1"/>
              <a:gd name="f27" fmla="+- f20 f2 0"/>
              <a:gd name="f28" fmla="+- f21 0 f2"/>
              <a:gd name="f29" fmla="+- f22 0 f2"/>
              <a:gd name="f30" fmla="min f24 f23"/>
              <a:gd name="f31" fmla="*/ f25 1 f19"/>
              <a:gd name="f32" fmla="*/ f26 1 f19"/>
              <a:gd name="f33" fmla="*/ f27 f8 1"/>
              <a:gd name="f34" fmla="val f31"/>
              <a:gd name="f35" fmla="val f32"/>
              <a:gd name="f36" fmla="*/ f33 1 f1"/>
              <a:gd name="f37" fmla="*/ f7 f30 1"/>
              <a:gd name="f38" fmla="+- f35 0 f7"/>
              <a:gd name="f39" fmla="+- f34 0 f7"/>
              <a:gd name="f40" fmla="+- 0 0 f36"/>
              <a:gd name="f41" fmla="*/ f38 1 2"/>
              <a:gd name="f42" fmla="*/ f39 1 2"/>
              <a:gd name="f43" fmla="+- 0 0 f40"/>
              <a:gd name="f44" fmla="+- f7 f41 0"/>
              <a:gd name="f45" fmla="+- f7 f42 0"/>
              <a:gd name="f46" fmla="*/ f43 f1 1"/>
              <a:gd name="f47" fmla="*/ f42 f30 1"/>
              <a:gd name="f48" fmla="*/ f41 f30 1"/>
              <a:gd name="f49" fmla="*/ f46 1 f8"/>
              <a:gd name="f50" fmla="*/ f44 f30 1"/>
              <a:gd name="f51" fmla="+- f49 0 f2"/>
              <a:gd name="f52" fmla="cos 1 f51"/>
              <a:gd name="f53" fmla="sin 1 f51"/>
              <a:gd name="f54" fmla="+- 0 0 f52"/>
              <a:gd name="f55" fmla="+- 0 0 f53"/>
              <a:gd name="f56" fmla="+- 0 0 f54"/>
              <a:gd name="f57" fmla="+- 0 0 f55"/>
              <a:gd name="f58" fmla="val f56"/>
              <a:gd name="f59" fmla="val f57"/>
              <a:gd name="f60" fmla="*/ f58 f42 1"/>
              <a:gd name="f61" fmla="*/ f59 f41 1"/>
              <a:gd name="f62" fmla="+- f45 0 f60"/>
              <a:gd name="f63" fmla="+- f45 f60 0"/>
              <a:gd name="f64" fmla="+- f44 0 f61"/>
              <a:gd name="f65" fmla="+- f44 f61 0"/>
              <a:gd name="f66" fmla="*/ f62 f30 1"/>
              <a:gd name="f67" fmla="*/ f64 f30 1"/>
              <a:gd name="f68" fmla="*/ f63 f30 1"/>
              <a:gd name="f69" fmla="*/ f65 f30 1"/>
            </a:gdLst>
            <a:ahLst/>
            <a:cxnLst>
              <a:cxn ang="3cd4">
                <a:pos x="hc" y="t"/>
              </a:cxn>
              <a:cxn ang="0">
                <a:pos x="r" y="vc"/>
              </a:cxn>
              <a:cxn ang="cd4">
                <a:pos x="hc" y="b"/>
              </a:cxn>
              <a:cxn ang="cd2">
                <a:pos x="l" y="vc"/>
              </a:cxn>
              <a:cxn ang="f28">
                <a:pos x="f66" y="f67"/>
              </a:cxn>
              <a:cxn ang="f29">
                <a:pos x="f66" y="f69"/>
              </a:cxn>
              <a:cxn ang="f29">
                <a:pos x="f68" y="f69"/>
              </a:cxn>
              <a:cxn ang="f28">
                <a:pos x="f68" y="f67"/>
              </a:cxn>
            </a:cxnLst>
            <a:rect l="f66" t="f67" r="f68" b="f69"/>
            <a:pathLst>
              <a:path>
                <a:moveTo>
                  <a:pt x="f37" y="f50"/>
                </a:moveTo>
                <a:arcTo wR="f47" hR="f48" stAng="f1" swAng="f0"/>
                <a:close/>
              </a:path>
            </a:pathLst>
          </a:custGeom>
          <a:solidFill>
            <a:schemeClr val="accent2"/>
          </a:solidFill>
          <a:ln w="12701" cap="flat">
            <a:noFill/>
            <a:prstDash val="solid"/>
            <a:miter/>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800" b="0" i="0" u="none" strike="noStrike" kern="1200" cap="none" spc="0" baseline="0">
              <a:solidFill>
                <a:srgbClr val="FFFFFF"/>
              </a:solidFill>
              <a:uFillTx/>
              <a:latin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Straight Connector 17">
            <a:extLst>
              <a:ext uri="{FF2B5EF4-FFF2-40B4-BE49-F238E27FC236}">
                <a16:creationId xmlns:a16="http://schemas.microsoft.com/office/drawing/2014/main" id="{2E7F9382-7B5B-4183-83EF-A4913408DDD2}"/>
              </a:ext>
            </a:extLst>
          </p:cNvPr>
          <p:cNvCxnSpPr/>
          <p:nvPr/>
        </p:nvCxnSpPr>
        <p:spPr>
          <a:xfrm>
            <a:off x="325937" y="186903"/>
            <a:ext cx="0" cy="422050"/>
          </a:xfrm>
          <a:prstGeom prst="straightConnector1">
            <a:avLst/>
          </a:prstGeom>
          <a:noFill/>
          <a:ln w="28575" cap="flat">
            <a:solidFill>
              <a:srgbClr val="D9D9D9"/>
            </a:solidFill>
            <a:prstDash val="solid"/>
            <a:miter/>
          </a:ln>
        </p:spPr>
      </p:cxnSp>
      <p:cxnSp>
        <p:nvCxnSpPr>
          <p:cNvPr id="3" name="Straight Connector 11">
            <a:extLst>
              <a:ext uri="{FF2B5EF4-FFF2-40B4-BE49-F238E27FC236}">
                <a16:creationId xmlns:a16="http://schemas.microsoft.com/office/drawing/2014/main" id="{605DF330-3642-435F-9A34-2C696A5ED254}"/>
              </a:ext>
            </a:extLst>
          </p:cNvPr>
          <p:cNvCxnSpPr/>
          <p:nvPr/>
        </p:nvCxnSpPr>
        <p:spPr>
          <a:xfrm>
            <a:off x="319116" y="186903"/>
            <a:ext cx="0" cy="422050"/>
          </a:xfrm>
          <a:prstGeom prst="straightConnector1">
            <a:avLst/>
          </a:prstGeom>
          <a:noFill/>
          <a:ln w="28575" cap="flat">
            <a:solidFill>
              <a:srgbClr val="D9D9D9"/>
            </a:solidFill>
            <a:prstDash val="solid"/>
            <a:miter/>
          </a:ln>
        </p:spPr>
      </p:cxnSp>
      <p:sp>
        <p:nvSpPr>
          <p:cNvPr id="4" name="TextBox 12">
            <a:extLst>
              <a:ext uri="{FF2B5EF4-FFF2-40B4-BE49-F238E27FC236}">
                <a16:creationId xmlns:a16="http://schemas.microsoft.com/office/drawing/2014/main" id="{8E8B3410-7F69-4B9C-89D1-B6FBC1307D06}"/>
              </a:ext>
            </a:extLst>
          </p:cNvPr>
          <p:cNvSpPr txBox="1"/>
          <p:nvPr/>
        </p:nvSpPr>
        <p:spPr>
          <a:xfrm>
            <a:off x="363967" y="248844"/>
            <a:ext cx="2321725" cy="307777"/>
          </a:xfrm>
          <a:prstGeom prst="rect">
            <a:avLst/>
          </a:prstGeom>
          <a:noFill/>
          <a:ln cap="flat">
            <a:noFill/>
          </a:ln>
        </p:spPr>
        <p:txBody>
          <a:bodyPr vert="horz" wrap="none" lIns="91440" tIns="45720" rIns="91440" bIns="45720" anchor="t"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400" b="1" i="0" u="none" strike="noStrike" kern="1200" cap="none" spc="50" baseline="0">
                <a:solidFill>
                  <a:srgbClr val="A6A6A6"/>
                </a:solidFill>
                <a:uFillTx/>
                <a:latin typeface="Calibri"/>
              </a:rPr>
              <a:t>RELEASE SCOPE GUIDANCE</a:t>
            </a:r>
          </a:p>
        </p:txBody>
      </p:sp>
      <p:pic>
        <p:nvPicPr>
          <p:cNvPr id="5" name="Picture 106" descr="57% HMRCppt logo">
            <a:extLst>
              <a:ext uri="{FF2B5EF4-FFF2-40B4-BE49-F238E27FC236}">
                <a16:creationId xmlns:a16="http://schemas.microsoft.com/office/drawing/2014/main" id="{32FFBCE7-0651-4669-8C40-3D8E01FE283D}"/>
              </a:ext>
            </a:extLst>
          </p:cNvPr>
          <p:cNvPicPr>
            <a:picLocks noChangeAspect="1"/>
          </p:cNvPicPr>
          <p:nvPr/>
        </p:nvPicPr>
        <p:blipFill>
          <a:blip r:embed="rId3"/>
          <a:srcRect/>
          <a:stretch>
            <a:fillRect/>
          </a:stretch>
        </p:blipFill>
        <p:spPr>
          <a:xfrm>
            <a:off x="446099" y="5929033"/>
            <a:ext cx="1030227" cy="633980"/>
          </a:xfrm>
          <a:prstGeom prst="rect">
            <a:avLst/>
          </a:prstGeom>
          <a:noFill/>
          <a:ln cap="flat">
            <a:noFill/>
          </a:ln>
        </p:spPr>
      </p:pic>
      <p:sp>
        <p:nvSpPr>
          <p:cNvPr id="6" name="Slide Number Placeholder 5">
            <a:extLst>
              <a:ext uri="{FF2B5EF4-FFF2-40B4-BE49-F238E27FC236}">
                <a16:creationId xmlns:a16="http://schemas.microsoft.com/office/drawing/2014/main" id="{8A6CEED0-263B-4159-9DD5-DB6899BD5104}"/>
              </a:ext>
            </a:extLst>
          </p:cNvPr>
          <p:cNvSpPr txBox="1"/>
          <p:nvPr/>
        </p:nvSpPr>
        <p:spPr>
          <a:xfrm>
            <a:off x="11526231" y="6387897"/>
            <a:ext cx="443849" cy="365129"/>
          </a:xfrm>
          <a:prstGeom prst="rect">
            <a:avLst/>
          </a:prstGeom>
          <a:noFill/>
          <a:ln cap="flat">
            <a:noFill/>
          </a:ln>
        </p:spPr>
        <p:txBody>
          <a:bodyPr vert="horz" wrap="square" lIns="91440" tIns="45720" rIns="91440" bIns="45720" anchor="ctr" anchorCtr="0" compatLnSpc="1">
            <a:noAutofit/>
          </a:bodyPr>
          <a:lstStyle/>
          <a:p>
            <a:pPr marL="0" marR="0" lvl="0" indent="0" algn="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fld id="{B37CB744-1ACD-4249-B6D0-03803F36960B}" type="slidenum">
              <a:t>3</a:t>
            </a:fld>
            <a:endParaRPr lang="en-GB" sz="900" b="0" i="0" u="none" strike="noStrike" kern="1200" cap="none" spc="0" baseline="0">
              <a:solidFill>
                <a:srgbClr val="000000"/>
              </a:solidFill>
              <a:uFillTx/>
              <a:latin typeface="Calibri"/>
            </a:endParaRPr>
          </a:p>
        </p:txBody>
      </p:sp>
      <p:sp>
        <p:nvSpPr>
          <p:cNvPr id="7" name="Footer Placeholder 1">
            <a:extLst>
              <a:ext uri="{FF2B5EF4-FFF2-40B4-BE49-F238E27FC236}">
                <a16:creationId xmlns:a16="http://schemas.microsoft.com/office/drawing/2014/main" id="{B9E2AC7D-6481-496F-B780-7B5CD3579E74}"/>
              </a:ext>
            </a:extLst>
          </p:cNvPr>
          <p:cNvSpPr txBox="1"/>
          <p:nvPr/>
        </p:nvSpPr>
        <p:spPr>
          <a:xfrm>
            <a:off x="2943801" y="6490776"/>
            <a:ext cx="8737604" cy="144466"/>
          </a:xfrm>
          <a:prstGeom prst="rect">
            <a:avLst/>
          </a:prstGeom>
          <a:noFill/>
          <a:ln cap="flat">
            <a:noFill/>
          </a:ln>
        </p:spPr>
        <p:txBody>
          <a:bodyPr vert="horz" wrap="square" lIns="0" tIns="0" rIns="0" bIns="0" anchor="ctr" anchorCtr="0" compatLnSpc="1">
            <a:noAutofit/>
          </a:bodyPr>
          <a:lstStyle/>
          <a:p>
            <a:pPr marL="0" marR="0" lvl="0" indent="0" algn="r"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r>
              <a:rPr lang="en-GB" sz="900" b="0" i="0" u="none" strike="noStrike" kern="1200" cap="none" spc="0" baseline="0">
                <a:solidFill>
                  <a:srgbClr val="3B3A3D"/>
                </a:solidFill>
                <a:uFillTx/>
                <a:latin typeface="Calibri"/>
                <a:ea typeface="Geneva"/>
                <a:cs typeface="Arial"/>
              </a:rPr>
              <a:t>OFFICIAL | CDS External Release Scope Guidance Document |</a:t>
            </a:r>
            <a:endParaRPr lang="en-GB" sz="900" b="1" i="0" u="none" strike="noStrike" kern="1200" cap="none" spc="0" baseline="0">
              <a:solidFill>
                <a:srgbClr val="008D8E"/>
              </a:solidFill>
              <a:uFillTx/>
              <a:latin typeface="Calibri"/>
              <a:ea typeface="Geneva"/>
              <a:cs typeface="Arial"/>
            </a:endParaRPr>
          </a:p>
        </p:txBody>
      </p:sp>
      <p:sp>
        <p:nvSpPr>
          <p:cNvPr id="8" name="Rectangle 13">
            <a:extLst>
              <a:ext uri="{FF2B5EF4-FFF2-40B4-BE49-F238E27FC236}">
                <a16:creationId xmlns:a16="http://schemas.microsoft.com/office/drawing/2014/main" id="{EEC8015A-5FF6-439D-B483-F72CFA01DD6F}"/>
              </a:ext>
            </a:extLst>
          </p:cNvPr>
          <p:cNvSpPr/>
          <p:nvPr/>
        </p:nvSpPr>
        <p:spPr>
          <a:xfrm>
            <a:off x="444691" y="1199866"/>
            <a:ext cx="11282159" cy="3997308"/>
          </a:xfrm>
          <a:prstGeom prst="rect">
            <a:avLst/>
          </a:prstGeom>
          <a:noFill/>
          <a:ln cap="flat">
            <a:noFill/>
            <a:prstDash val="solid"/>
          </a:ln>
        </p:spPr>
        <p:txBody>
          <a:bodyPr vert="horz" wrap="square" lIns="91440" tIns="45720" rIns="91440" bIns="45720" anchor="t"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400" b="1" i="0" u="sng" strike="noStrike" kern="1200" cap="none" spc="0" baseline="0" dirty="0">
                <a:solidFill>
                  <a:srgbClr val="000000"/>
                </a:solidFill>
                <a:uFillTx/>
                <a:latin typeface="Calibri"/>
              </a:rPr>
              <a:t>Merchandise in Baggage (Exports)</a:t>
            </a:r>
            <a:endParaRPr lang="en-GB" sz="1400" b="1" i="0" u="sng" strike="noStrike" kern="1200" cap="none" spc="0" baseline="0" dirty="0">
              <a:solidFill>
                <a:srgbClr val="333333"/>
              </a:solidFill>
              <a:uFillTx/>
              <a:latin typeface="Calibri  "/>
            </a:endParaRPr>
          </a:p>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400" b="1" i="0" u="none" strike="noStrike" kern="1200" cap="none" spc="0" baseline="0" dirty="0">
              <a:solidFill>
                <a:srgbClr val="000000"/>
              </a:solidFill>
              <a:uFillTx/>
              <a:latin typeface="Calibri"/>
            </a:endParaRPr>
          </a:p>
          <a:p>
            <a:pPr marL="0" marR="0" lvl="0" indent="0" algn="l" defTabSz="914400" rtl="0" fontAlgn="auto" hangingPunct="1">
              <a:lnSpc>
                <a:spcPct val="107000"/>
              </a:lnSpc>
              <a:spcBef>
                <a:spcPts val="0"/>
              </a:spcBef>
              <a:spcAft>
                <a:spcPts val="800"/>
              </a:spcAft>
              <a:buNone/>
              <a:tabLst/>
              <a:defRPr sz="1800" b="0" i="0" u="none" strike="noStrike" kern="0" cap="none" spc="0" baseline="0">
                <a:solidFill>
                  <a:srgbClr val="000000"/>
                </a:solidFill>
                <a:uFillTx/>
              </a:defRPr>
            </a:pPr>
            <a:r>
              <a:rPr lang="en-GB" sz="1400" b="0" i="0" u="none" strike="noStrike" kern="1200" cap="none" spc="0" baseline="0" dirty="0">
                <a:solidFill>
                  <a:srgbClr val="333333"/>
                </a:solidFill>
                <a:uFillTx/>
                <a:latin typeface="Calibri" pitchFamily="34"/>
                <a:ea typeface="Times New Roman" pitchFamily="18"/>
                <a:cs typeface="Times New Roman" pitchFamily="18"/>
              </a:rPr>
              <a:t>Merchandise in Baggage (MiB) are commercial goods that are moved either in accompanied baggage or in a small vehicle that can carry up to 9 people </a:t>
            </a:r>
            <a:r>
              <a:rPr lang="en-GB" sz="1400" b="0" i="0" u="none" strike="noStrike" kern="0" cap="none" spc="0" baseline="0" dirty="0">
                <a:solidFill>
                  <a:srgbClr val="333333"/>
                </a:solidFill>
                <a:uFillTx/>
                <a:latin typeface="Calibri" pitchFamily="34"/>
                <a:ea typeface="Times New Roman" pitchFamily="18"/>
                <a:cs typeface="Times New Roman" pitchFamily="18"/>
              </a:rPr>
              <a:t>and less than 3.5 tonnes. </a:t>
            </a:r>
            <a:r>
              <a:rPr lang="en-GB" sz="1400" b="0" i="0" u="none" strike="noStrike" kern="1200" cap="none" spc="0" baseline="0" dirty="0">
                <a:solidFill>
                  <a:srgbClr val="333333"/>
                </a:solidFill>
                <a:uFillTx/>
                <a:latin typeface="Calibri" pitchFamily="34"/>
                <a:ea typeface="Times New Roman" pitchFamily="18"/>
                <a:cs typeface="Times New Roman" pitchFamily="18"/>
              </a:rPr>
              <a:t>The introduction of MiB exports functionality in </a:t>
            </a:r>
            <a:r>
              <a:rPr lang="en-GB" sz="1400" dirty="0">
                <a:solidFill>
                  <a:srgbClr val="333333"/>
                </a:solidFill>
                <a:latin typeface="Calibri" pitchFamily="34"/>
                <a:ea typeface="Times New Roman" pitchFamily="18"/>
                <a:cs typeface="Times New Roman" pitchFamily="18"/>
              </a:rPr>
              <a:t>CDS</a:t>
            </a:r>
            <a:r>
              <a:rPr lang="en-GB" sz="1400" b="0" i="0" u="none" strike="noStrike" kern="1200" cap="none" spc="0" baseline="0" dirty="0">
                <a:solidFill>
                  <a:srgbClr val="333333"/>
                </a:solidFill>
                <a:uFillTx/>
                <a:latin typeface="Calibri" pitchFamily="34"/>
                <a:ea typeface="Times New Roman" pitchFamily="18"/>
                <a:cs typeface="Times New Roman" pitchFamily="18"/>
              </a:rPr>
              <a:t> will enable traders to export MiB goods from GB, to submit Type A (arrived) declarations, and have the declarations auto-departed on CDS. MiB traders are therefore no longer required to submit C1601 &amp; C1602 forms, in order to arrive and depart declarations. MIB declarations using this new functionality must be declared with a non-GVMS location code.</a:t>
            </a:r>
          </a:p>
          <a:p>
            <a:pPr marL="0" marR="0" lvl="0" indent="0" algn="l" defTabSz="914400" rtl="0" fontAlgn="auto" hangingPunct="1">
              <a:lnSpc>
                <a:spcPct val="107000"/>
              </a:lnSpc>
              <a:spcBef>
                <a:spcPts val="0"/>
              </a:spcBef>
              <a:spcAft>
                <a:spcPts val="800"/>
              </a:spcAft>
              <a:buNone/>
              <a:tabLst/>
              <a:defRPr sz="1800" b="0" i="0" u="none" strike="noStrike" kern="0" cap="none" spc="0" baseline="0">
                <a:solidFill>
                  <a:srgbClr val="000000"/>
                </a:solidFill>
                <a:uFillTx/>
              </a:defRPr>
            </a:pPr>
            <a:r>
              <a:rPr lang="en-GB" sz="1400" b="1" i="0" u="none" strike="noStrike" kern="1200" cap="none" spc="0" baseline="0" dirty="0">
                <a:solidFill>
                  <a:srgbClr val="333333"/>
                </a:solidFill>
                <a:uFillTx/>
                <a:latin typeface="Calibri" pitchFamily="34"/>
                <a:ea typeface="Times New Roman" pitchFamily="18"/>
                <a:cs typeface="Times New Roman" pitchFamily="18"/>
              </a:rPr>
              <a:t>	         </a:t>
            </a:r>
            <a:r>
              <a:rPr lang="en-GB" sz="1400" b="1" i="0" u="sng" strike="noStrike" kern="0" cap="none" spc="0" baseline="0" dirty="0">
                <a:solidFill>
                  <a:srgbClr val="333333"/>
                </a:solidFill>
                <a:uFillTx/>
                <a:latin typeface="Calibri" pitchFamily="34"/>
                <a:ea typeface="Times New Roman" pitchFamily="18"/>
                <a:cs typeface="Times New Roman" pitchFamily="18"/>
              </a:rPr>
              <a:t>New codes introduced to</a:t>
            </a:r>
            <a:r>
              <a:rPr lang="en-GB" sz="1400" b="1" i="0" u="sng" strike="noStrike" kern="1200" cap="none" spc="0" baseline="0" dirty="0">
                <a:solidFill>
                  <a:srgbClr val="333333"/>
                </a:solidFill>
                <a:uFillTx/>
                <a:latin typeface="Calibri" pitchFamily="34"/>
                <a:ea typeface="Times New Roman" pitchFamily="18"/>
                <a:cs typeface="Times New Roman" pitchFamily="18"/>
              </a:rPr>
              <a:t> Submit Arrived Export Declarations for MiB Exports (GB-</a:t>
            </a:r>
            <a:r>
              <a:rPr lang="en-GB" sz="1400" b="1" i="0" u="sng" strike="noStrike" kern="1200" cap="none" spc="0" baseline="0" dirty="0" err="1">
                <a:solidFill>
                  <a:srgbClr val="333333"/>
                </a:solidFill>
                <a:uFillTx/>
                <a:latin typeface="Calibri" pitchFamily="34"/>
                <a:ea typeface="Times New Roman" pitchFamily="18"/>
                <a:cs typeface="Times New Roman" pitchFamily="18"/>
              </a:rPr>
              <a:t>RoW</a:t>
            </a:r>
            <a:r>
              <a:rPr lang="en-GB" sz="1400" b="1" i="0" u="sng" strike="noStrike" kern="1200" cap="none" spc="0" baseline="0" dirty="0">
                <a:solidFill>
                  <a:srgbClr val="333333"/>
                </a:solidFill>
                <a:uFillTx/>
                <a:latin typeface="Calibri" pitchFamily="34"/>
                <a:ea typeface="Times New Roman" pitchFamily="18"/>
                <a:cs typeface="Times New Roman" pitchFamily="18"/>
              </a:rPr>
              <a:t>)</a:t>
            </a:r>
          </a:p>
          <a:p>
            <a:pPr marL="0" marR="0" lvl="0" indent="0" algn="l" defTabSz="914400" rtl="0" fontAlgn="auto" hangingPunct="1">
              <a:lnSpc>
                <a:spcPct val="107000"/>
              </a:lnSpc>
              <a:spcBef>
                <a:spcPts val="0"/>
              </a:spcBef>
              <a:spcAft>
                <a:spcPts val="800"/>
              </a:spcAft>
              <a:buNone/>
              <a:tabLst/>
              <a:defRPr sz="1800" b="0" i="0" u="none" strike="noStrike" kern="0" cap="none" spc="0" baseline="0">
                <a:solidFill>
                  <a:srgbClr val="000000"/>
                </a:solidFill>
                <a:uFillTx/>
              </a:defRPr>
            </a:pPr>
            <a:endParaRPr lang="en-GB" sz="1400" b="1" i="0" u="sng" strike="noStrike" kern="0" cap="none" spc="0" baseline="0" dirty="0">
              <a:solidFill>
                <a:srgbClr val="333333"/>
              </a:solidFill>
              <a:uFillTx/>
              <a:latin typeface="Calibri" pitchFamily="34"/>
              <a:ea typeface="Times New Roman" pitchFamily="18"/>
              <a:cs typeface="Times New Roman" pitchFamily="18"/>
            </a:endParaRPr>
          </a:p>
          <a:p>
            <a:pPr marL="0" marR="0" lvl="0" indent="0" algn="l" defTabSz="914400" rtl="0" fontAlgn="auto" hangingPunct="1">
              <a:lnSpc>
                <a:spcPct val="107000"/>
              </a:lnSpc>
              <a:spcBef>
                <a:spcPts val="0"/>
              </a:spcBef>
              <a:spcAft>
                <a:spcPts val="800"/>
              </a:spcAft>
              <a:buNone/>
              <a:tabLst/>
              <a:defRPr sz="1800" b="0" i="0" u="none" strike="noStrike" kern="0" cap="none" spc="0" baseline="0">
                <a:solidFill>
                  <a:srgbClr val="000000"/>
                </a:solidFill>
                <a:uFillTx/>
              </a:defRPr>
            </a:pPr>
            <a:endParaRPr lang="en-GB" sz="1400" b="1" i="0" u="sng" strike="noStrike" kern="1200" cap="none" spc="0" baseline="0" dirty="0">
              <a:solidFill>
                <a:srgbClr val="333333"/>
              </a:solidFill>
              <a:uFillTx/>
              <a:latin typeface="Calibri" pitchFamily="34"/>
              <a:ea typeface="Times New Roman" pitchFamily="18"/>
              <a:cs typeface="Times New Roman" pitchFamily="18"/>
            </a:endParaRPr>
          </a:p>
          <a:p>
            <a:pPr marL="0" marR="0" lvl="0" indent="0" algn="l" defTabSz="914400" rtl="0" fontAlgn="auto" hangingPunct="1">
              <a:lnSpc>
                <a:spcPct val="107000"/>
              </a:lnSpc>
              <a:spcBef>
                <a:spcPts val="0"/>
              </a:spcBef>
              <a:spcAft>
                <a:spcPts val="800"/>
              </a:spcAft>
              <a:buNone/>
              <a:tabLst/>
              <a:defRPr sz="1800" b="0" i="0" u="none" strike="noStrike" kern="0" cap="none" spc="0" baseline="0">
                <a:solidFill>
                  <a:srgbClr val="000000"/>
                </a:solidFill>
                <a:uFillTx/>
              </a:defRPr>
            </a:pPr>
            <a:endParaRPr lang="en-GB" sz="1400" b="0" i="0" u="none" strike="noStrike" kern="1200" cap="none" spc="0" baseline="0" dirty="0">
              <a:solidFill>
                <a:srgbClr val="333333"/>
              </a:solidFill>
              <a:uFillTx/>
              <a:latin typeface="Calibri" pitchFamily="34"/>
              <a:ea typeface="Times New Roman" pitchFamily="18"/>
              <a:cs typeface="Times New Roman" pitchFamily="18"/>
            </a:endParaRPr>
          </a:p>
          <a:p>
            <a:pPr marL="0" marR="0" lvl="0" indent="0" algn="l" defTabSz="914400" rtl="0" fontAlgn="auto" hangingPunct="1">
              <a:lnSpc>
                <a:spcPct val="107000"/>
              </a:lnSpc>
              <a:spcBef>
                <a:spcPts val="0"/>
              </a:spcBef>
              <a:spcAft>
                <a:spcPts val="800"/>
              </a:spcAft>
              <a:buNone/>
              <a:tabLst/>
              <a:defRPr sz="1800" b="0" i="0" u="none" strike="noStrike" kern="0" cap="none" spc="0" baseline="0">
                <a:solidFill>
                  <a:srgbClr val="000000"/>
                </a:solidFill>
                <a:uFillTx/>
              </a:defRPr>
            </a:pPr>
            <a:endParaRPr lang="en-GB" sz="1400" b="0" i="0" u="none" strike="noStrike" kern="1200" cap="none" spc="0" baseline="0" dirty="0">
              <a:solidFill>
                <a:srgbClr val="333333"/>
              </a:solidFill>
              <a:uFillTx/>
              <a:latin typeface="Calibri" pitchFamily="34"/>
              <a:ea typeface="Times New Roman" pitchFamily="18"/>
              <a:cs typeface="Times New Roman" pitchFamily="18"/>
            </a:endParaRPr>
          </a:p>
          <a:p>
            <a:pPr marL="0" marR="0" lvl="0" indent="0" algn="l" defTabSz="914400" rtl="0" fontAlgn="auto" hangingPunct="1">
              <a:lnSpc>
                <a:spcPct val="107000"/>
              </a:lnSpc>
              <a:spcBef>
                <a:spcPts val="0"/>
              </a:spcBef>
              <a:spcAft>
                <a:spcPts val="800"/>
              </a:spcAft>
              <a:buNone/>
              <a:tabLst/>
              <a:defRPr sz="1800" b="0" i="0" u="none" strike="noStrike" kern="0" cap="none" spc="0" baseline="0">
                <a:solidFill>
                  <a:srgbClr val="000000"/>
                </a:solidFill>
                <a:uFillTx/>
              </a:defRPr>
            </a:pPr>
            <a:endParaRPr lang="en-GB" sz="1400" b="0" i="0" u="none" strike="noStrike" kern="0" cap="none" spc="0" baseline="0" dirty="0">
              <a:solidFill>
                <a:srgbClr val="333333"/>
              </a:solidFill>
              <a:uFillTx/>
              <a:latin typeface="Calibri  "/>
            </a:endParaRPr>
          </a:p>
          <a:p>
            <a:pPr marL="0" marR="0" lvl="0" indent="0" algn="l" defTabSz="914400" rtl="0" fontAlgn="auto" hangingPunct="1">
              <a:lnSpc>
                <a:spcPct val="107000"/>
              </a:lnSpc>
              <a:spcBef>
                <a:spcPts val="0"/>
              </a:spcBef>
              <a:spcAft>
                <a:spcPts val="800"/>
              </a:spcAft>
              <a:buNone/>
              <a:tabLst/>
              <a:defRPr sz="1800" b="0" i="0" u="none" strike="noStrike" kern="0" cap="none" spc="0" baseline="0">
                <a:solidFill>
                  <a:srgbClr val="000000"/>
                </a:solidFill>
                <a:uFillTx/>
              </a:defRPr>
            </a:pPr>
            <a:br>
              <a:rPr lang="en-GB" sz="1400" b="0" i="0" u="none" strike="noStrike" kern="0" cap="none" spc="0" baseline="0" dirty="0">
                <a:solidFill>
                  <a:srgbClr val="000000"/>
                </a:solidFill>
                <a:uFillTx/>
                <a:latin typeface="Calibri  "/>
              </a:rPr>
            </a:br>
            <a:endParaRPr lang="en-GB" sz="1400" b="0" i="0" u="none" strike="noStrike" kern="1200" cap="none" spc="0" baseline="0" dirty="0">
              <a:solidFill>
                <a:srgbClr val="333333"/>
              </a:solidFill>
              <a:uFillTx/>
              <a:latin typeface="Calibri  "/>
              <a:ea typeface="Times New Roman" pitchFamily="18"/>
              <a:cs typeface="Times New Roman" pitchFamily="18"/>
            </a:endParaRPr>
          </a:p>
        </p:txBody>
      </p:sp>
      <p:sp>
        <p:nvSpPr>
          <p:cNvPr id="9" name="Rectangle 7">
            <a:extLst>
              <a:ext uri="{FF2B5EF4-FFF2-40B4-BE49-F238E27FC236}">
                <a16:creationId xmlns:a16="http://schemas.microsoft.com/office/drawing/2014/main" id="{52EDADC3-E413-45A9-A5CE-D383E43B836F}"/>
              </a:ext>
            </a:extLst>
          </p:cNvPr>
          <p:cNvSpPr/>
          <p:nvPr/>
        </p:nvSpPr>
        <p:spPr>
          <a:xfrm>
            <a:off x="465155" y="799761"/>
            <a:ext cx="3563745" cy="400114"/>
          </a:xfrm>
          <a:prstGeom prst="rect">
            <a:avLst/>
          </a:prstGeom>
          <a:solidFill>
            <a:srgbClr val="009999"/>
          </a:solidFill>
          <a:ln w="25402" cap="flat">
            <a:solidFill>
              <a:srgbClr val="009999"/>
            </a:solidFill>
            <a:prstDash val="solid"/>
            <a:miter/>
          </a:ln>
        </p:spPr>
        <p:txBody>
          <a:bodyPr vert="horz" wrap="square" lIns="91440" tIns="45720" rIns="91440" bIns="4572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2400" b="1" i="0" u="none" strike="noStrike" kern="0" cap="none" spc="0" baseline="0">
                <a:solidFill>
                  <a:srgbClr val="FFFFFF"/>
                </a:solidFill>
                <a:uFillTx/>
                <a:latin typeface="Calibri"/>
              </a:rPr>
              <a:t>New Release Functionality</a:t>
            </a:r>
          </a:p>
        </p:txBody>
      </p:sp>
      <p:graphicFrame>
        <p:nvGraphicFramePr>
          <p:cNvPr id="10" name="Table 12">
            <a:extLst>
              <a:ext uri="{FF2B5EF4-FFF2-40B4-BE49-F238E27FC236}">
                <a16:creationId xmlns:a16="http://schemas.microsoft.com/office/drawing/2014/main" id="{B2C5F1DA-7991-4622-B57D-44C1D557F9F0}"/>
              </a:ext>
            </a:extLst>
          </p:cNvPr>
          <p:cNvGraphicFramePr>
            <a:graphicFrameLocks noGrp="1"/>
          </p:cNvGraphicFramePr>
          <p:nvPr/>
        </p:nvGraphicFramePr>
        <p:xfrm>
          <a:off x="1791568" y="2946004"/>
          <a:ext cx="8608864" cy="2283558"/>
        </p:xfrm>
        <a:graphic>
          <a:graphicData uri="http://schemas.openxmlformats.org/drawingml/2006/table">
            <a:tbl>
              <a:tblPr firstRow="1" bandRow="1">
                <a:effectLst/>
                <a:tableStyleId>{5C22544A-7EE6-4342-B048-85BDC9FD1C3A}</a:tableStyleId>
              </a:tblPr>
              <a:tblGrid>
                <a:gridCol w="1067022">
                  <a:extLst>
                    <a:ext uri="{9D8B030D-6E8A-4147-A177-3AD203B41FA5}">
                      <a16:colId xmlns:a16="http://schemas.microsoft.com/office/drawing/2014/main" val="2663714058"/>
                    </a:ext>
                  </a:extLst>
                </a:gridCol>
                <a:gridCol w="1101211">
                  <a:extLst>
                    <a:ext uri="{9D8B030D-6E8A-4147-A177-3AD203B41FA5}">
                      <a16:colId xmlns:a16="http://schemas.microsoft.com/office/drawing/2014/main" val="555943879"/>
                    </a:ext>
                  </a:extLst>
                </a:gridCol>
                <a:gridCol w="6440631">
                  <a:extLst>
                    <a:ext uri="{9D8B030D-6E8A-4147-A177-3AD203B41FA5}">
                      <a16:colId xmlns:a16="http://schemas.microsoft.com/office/drawing/2014/main" val="1182195313"/>
                    </a:ext>
                  </a:extLst>
                </a:gridCol>
              </a:tblGrid>
              <a:tr h="225262">
                <a:tc>
                  <a:txBody>
                    <a:bodyPr/>
                    <a:lstStyle/>
                    <a:p>
                      <a:pPr lvl="0" algn="ctr"/>
                      <a:r>
                        <a:rPr lang="en-GB" sz="1300"/>
                        <a:t>Code</a:t>
                      </a:r>
                    </a:p>
                  </a:txBody>
                  <a:tcPr marL="90004" marR="12847" marT="9637" marB="9637" anchor="ctr">
                    <a:solidFill>
                      <a:srgbClr val="009999"/>
                    </a:solidFill>
                  </a:tcPr>
                </a:tc>
                <a:tc>
                  <a:txBody>
                    <a:bodyPr/>
                    <a:lstStyle/>
                    <a:p>
                      <a:pPr lvl="0" algn="ctr"/>
                      <a:r>
                        <a:rPr lang="en-GB" sz="1300"/>
                        <a:t>Data Element</a:t>
                      </a:r>
                    </a:p>
                  </a:txBody>
                  <a:tcPr marL="90004" marR="12847" marT="9637" marB="9637" anchor="ctr">
                    <a:solidFill>
                      <a:srgbClr val="009999"/>
                    </a:solidFill>
                  </a:tcPr>
                </a:tc>
                <a:tc>
                  <a:txBody>
                    <a:bodyPr/>
                    <a:lstStyle/>
                    <a:p>
                      <a:pPr lvl="0" algn="ctr"/>
                      <a:r>
                        <a:rPr lang="en-GB" sz="1300"/>
                        <a:t>CDS Functionality</a:t>
                      </a:r>
                    </a:p>
                  </a:txBody>
                  <a:tcPr marL="90004" marR="12847" marT="9637" marB="9637" anchor="ctr">
                    <a:solidFill>
                      <a:srgbClr val="009999"/>
                    </a:solidFill>
                  </a:tcPr>
                </a:tc>
                <a:extLst>
                  <a:ext uri="{0D108BD9-81ED-4DB2-BD59-A6C34878D82A}">
                    <a16:rowId xmlns:a16="http://schemas.microsoft.com/office/drawing/2014/main" val="2518565454"/>
                  </a:ext>
                </a:extLst>
              </a:tr>
              <a:tr h="209525">
                <a:tc>
                  <a:txBody>
                    <a:bodyPr/>
                    <a:lstStyle/>
                    <a:p>
                      <a:pPr lvl="0"/>
                      <a:r>
                        <a:rPr lang="en-GB" sz="1300" b="1"/>
                        <a:t>1MB</a:t>
                      </a:r>
                    </a:p>
                  </a:txBody>
                  <a:tcPr marL="90004" marR="12847" marT="9637" marB="9637" anchor="ctr"/>
                </a:tc>
                <a:tc>
                  <a:txBody>
                    <a:bodyPr/>
                    <a:lstStyle/>
                    <a:p>
                      <a:pPr lvl="0"/>
                      <a:r>
                        <a:rPr lang="en-GB" sz="1300"/>
                        <a:t>DE 1/11</a:t>
                      </a:r>
                    </a:p>
                  </a:txBody>
                  <a:tcPr marL="90004" marR="12847" marT="9637" marB="9637" anchor="ctr"/>
                </a:tc>
                <a:tc>
                  <a:txBody>
                    <a:bodyPr/>
                    <a:lstStyle/>
                    <a:p>
                      <a:pPr lvl="0"/>
                      <a:r>
                        <a:rPr lang="en-GB" sz="1300"/>
                        <a:t>This APC will ensure that only codes ‘</a:t>
                      </a:r>
                      <a:r>
                        <a:rPr lang="en-GB" sz="1300" b="1"/>
                        <a:t>MIB02</a:t>
                      </a:r>
                      <a:r>
                        <a:rPr lang="en-GB" sz="1300"/>
                        <a:t>’, ‘</a:t>
                      </a:r>
                      <a:r>
                        <a:rPr lang="en-GB" sz="1300" b="1"/>
                        <a:t>MIB</a:t>
                      </a:r>
                      <a:r>
                        <a:rPr lang="en-GB" sz="1300"/>
                        <a:t>’ and ‘</a:t>
                      </a:r>
                      <a:r>
                        <a:rPr lang="en-GB" sz="1300" b="1"/>
                        <a:t>1MIB</a:t>
                      </a:r>
                      <a:r>
                        <a:rPr lang="en-GB" sz="1300"/>
                        <a:t>’ can be entered on Type A arrived declarations (see below). </a:t>
                      </a:r>
                    </a:p>
                  </a:txBody>
                  <a:tcPr marL="90004" marR="12847" marT="9637" marB="9637" anchor="ctr"/>
                </a:tc>
                <a:extLst>
                  <a:ext uri="{0D108BD9-81ED-4DB2-BD59-A6C34878D82A}">
                    <a16:rowId xmlns:a16="http://schemas.microsoft.com/office/drawing/2014/main" val="1034352113"/>
                  </a:ext>
                </a:extLst>
              </a:tr>
              <a:tr h="209525">
                <a:tc>
                  <a:txBody>
                    <a:bodyPr/>
                    <a:lstStyle/>
                    <a:p>
                      <a:pPr lvl="0"/>
                      <a:r>
                        <a:rPr lang="en-GB" sz="1300" b="1"/>
                        <a:t>MIB02</a:t>
                      </a:r>
                    </a:p>
                  </a:txBody>
                  <a:tcPr marL="90004" marR="12847" marT="9637" marB="9637" anchor="ctr"/>
                </a:tc>
                <a:tc>
                  <a:txBody>
                    <a:bodyPr/>
                    <a:lstStyle/>
                    <a:p>
                      <a:pPr lvl="0"/>
                      <a:r>
                        <a:rPr lang="en-GB" sz="1300"/>
                        <a:t>DE 2/2</a:t>
                      </a:r>
                    </a:p>
                  </a:txBody>
                  <a:tcPr marL="90004" marR="12847" marT="9637" marB="9637" anchor="ctr"/>
                </a:tc>
                <a:tc>
                  <a:txBody>
                    <a:bodyPr/>
                    <a:lstStyle/>
                    <a:p>
                      <a:pPr lvl="0"/>
                      <a:r>
                        <a:rPr lang="en-GB" sz="1300"/>
                        <a:t>This AI code will drive auto-departure for MiB exports (GB-</a:t>
                      </a:r>
                      <a:r>
                        <a:rPr lang="en-GB" sz="1300" err="1"/>
                        <a:t>RoW</a:t>
                      </a:r>
                      <a:r>
                        <a:rPr lang="en-GB" sz="1300"/>
                        <a:t>). It will also be used by the data platform to identify MiB export declarations for post-clearance compliance checks.</a:t>
                      </a:r>
                    </a:p>
                  </a:txBody>
                  <a:tcPr marL="90004" marR="12847" marT="9637" marB="9637" anchor="ctr"/>
                </a:tc>
                <a:extLst>
                  <a:ext uri="{0D108BD9-81ED-4DB2-BD59-A6C34878D82A}">
                    <a16:rowId xmlns:a16="http://schemas.microsoft.com/office/drawing/2014/main" val="515468215"/>
                  </a:ext>
                </a:extLst>
              </a:tr>
              <a:tr h="209525">
                <a:tc>
                  <a:txBody>
                    <a:bodyPr/>
                    <a:lstStyle/>
                    <a:p>
                      <a:pPr lvl="0"/>
                      <a:r>
                        <a:rPr lang="en-GB" sz="1300" b="1"/>
                        <a:t>MIB</a:t>
                      </a:r>
                    </a:p>
                  </a:txBody>
                  <a:tcPr marL="90004" marR="12847" marT="9637" marB="9637" anchor="ctr"/>
                </a:tc>
                <a:tc>
                  <a:txBody>
                    <a:bodyPr/>
                    <a:lstStyle/>
                    <a:p>
                      <a:pPr lvl="0"/>
                      <a:r>
                        <a:rPr lang="en-GB" sz="1300"/>
                        <a:t>DE 3/39</a:t>
                      </a:r>
                    </a:p>
                  </a:txBody>
                  <a:tcPr marL="90004" marR="12847" marT="9637" marB="9637" anchor="ctr"/>
                </a:tc>
                <a:tc>
                  <a:txBody>
                    <a:bodyPr/>
                    <a:lstStyle/>
                    <a:p>
                      <a:pPr marL="0" marR="0" lvl="0" indent="0" algn="l" defTabSz="914400" rtl="0" fontAlgn="auto" hangingPunct="1">
                        <a:lnSpc>
                          <a:spcPct val="100000"/>
                        </a:lnSpc>
                        <a:spcBef>
                          <a:spcPts val="0"/>
                        </a:spcBef>
                        <a:spcAft>
                          <a:spcPts val="0"/>
                        </a:spcAft>
                        <a:buNone/>
                        <a:tabLst/>
                      </a:pPr>
                      <a:r>
                        <a:rPr lang="en-GB" sz="1300" dirty="0"/>
                        <a:t>An arrived export declaration cannot be submitted on CDS without an authorisation type code. This 'dummy' authorisation type code will allow CDS to accept arrived export declarations for MiB. </a:t>
                      </a:r>
                      <a:r>
                        <a:rPr lang="en-GB" sz="1300" kern="1200" dirty="0">
                          <a:solidFill>
                            <a:srgbClr val="000000"/>
                          </a:solidFill>
                          <a:latin typeface="Calibri"/>
                        </a:rPr>
                        <a:t>MIB authorisation must be followed by the exporter’s EORI.</a:t>
                      </a:r>
                    </a:p>
                  </a:txBody>
                  <a:tcPr marL="90004" marR="12847" marT="9637" marB="9637" anchor="ctr"/>
                </a:tc>
                <a:extLst>
                  <a:ext uri="{0D108BD9-81ED-4DB2-BD59-A6C34878D82A}">
                    <a16:rowId xmlns:a16="http://schemas.microsoft.com/office/drawing/2014/main" val="1923217016"/>
                  </a:ext>
                </a:extLst>
              </a:tr>
              <a:tr h="209525">
                <a:tc>
                  <a:txBody>
                    <a:bodyPr/>
                    <a:lstStyle/>
                    <a:p>
                      <a:pPr lvl="0"/>
                      <a:r>
                        <a:rPr lang="en-GB" sz="1300" b="1"/>
                        <a:t>1MIB</a:t>
                      </a:r>
                    </a:p>
                  </a:txBody>
                  <a:tcPr marL="90004" marR="12847" marT="9637" marB="9637" anchor="ctr"/>
                </a:tc>
                <a:tc>
                  <a:txBody>
                    <a:bodyPr/>
                    <a:lstStyle/>
                    <a:p>
                      <a:pPr lvl="0"/>
                      <a:r>
                        <a:rPr lang="en-GB" sz="1300"/>
                        <a:t>DE 2/3</a:t>
                      </a:r>
                    </a:p>
                  </a:txBody>
                  <a:tcPr marL="90004" marR="12847" marT="9637" marB="9637" anchor="ctr"/>
                </a:tc>
                <a:tc>
                  <a:txBody>
                    <a:bodyPr/>
                    <a:lstStyle/>
                    <a:p>
                      <a:pPr lvl="0"/>
                      <a:r>
                        <a:rPr lang="en-GB" sz="1300" dirty="0"/>
                        <a:t>To indicate authorisation by virtue of the declaration being made using APC ‘</a:t>
                      </a:r>
                      <a:r>
                        <a:rPr lang="en-GB" sz="1300" b="1" dirty="0"/>
                        <a:t>1MB</a:t>
                      </a:r>
                      <a:r>
                        <a:rPr lang="en-GB" sz="1300" dirty="0"/>
                        <a:t>’ (in DE 1/11) with the following details entered against the code – ‘Enter the date of arrival at the border’ (for use at export only).</a:t>
                      </a:r>
                    </a:p>
                  </a:txBody>
                  <a:tcPr marL="90004" marR="12847" marT="9637" marB="9637" anchor="ctr"/>
                </a:tc>
                <a:extLst>
                  <a:ext uri="{0D108BD9-81ED-4DB2-BD59-A6C34878D82A}">
                    <a16:rowId xmlns:a16="http://schemas.microsoft.com/office/drawing/2014/main" val="3553223064"/>
                  </a:ext>
                </a:extLst>
              </a:tr>
            </a:tbl>
          </a:graphicData>
        </a:graphic>
      </p:graphicFrame>
      <p:sp>
        <p:nvSpPr>
          <p:cNvPr id="11" name="TextBox 13">
            <a:extLst>
              <a:ext uri="{FF2B5EF4-FFF2-40B4-BE49-F238E27FC236}">
                <a16:creationId xmlns:a16="http://schemas.microsoft.com/office/drawing/2014/main" id="{DFD49D0C-E2AB-4D1F-B489-391B43EF0F74}"/>
              </a:ext>
            </a:extLst>
          </p:cNvPr>
          <p:cNvSpPr txBox="1"/>
          <p:nvPr/>
        </p:nvSpPr>
        <p:spPr>
          <a:xfrm>
            <a:off x="465155" y="5264385"/>
            <a:ext cx="11613300" cy="1004184"/>
          </a:xfrm>
          <a:prstGeom prst="rect">
            <a:avLst/>
          </a:prstGeom>
          <a:noFill/>
          <a:ln cap="flat">
            <a:noFill/>
          </a:ln>
        </p:spPr>
        <p:txBody>
          <a:bodyPr vert="horz" wrap="square" lIns="91440" tIns="45720" rIns="91440" bIns="45720" anchor="t" anchorCtr="0" compatLnSpc="1">
            <a:spAutoFit/>
          </a:bodyPr>
          <a:lstStyle/>
          <a:p>
            <a:pPr marL="0" marR="0" lvl="0" indent="0" algn="l" defTabSz="914400" rtl="0" fontAlgn="auto" hangingPunct="1">
              <a:lnSpc>
                <a:spcPct val="107000"/>
              </a:lnSpc>
              <a:spcBef>
                <a:spcPts val="0"/>
              </a:spcBef>
              <a:spcAft>
                <a:spcPts val="0"/>
              </a:spcAft>
              <a:buNone/>
              <a:tabLst/>
              <a:defRPr sz="1800" b="0" i="0" u="none" strike="noStrike" kern="0" cap="none" spc="0" baseline="0">
                <a:solidFill>
                  <a:srgbClr val="000000"/>
                </a:solidFill>
                <a:uFillTx/>
              </a:defRPr>
            </a:pPr>
            <a:r>
              <a:rPr lang="en-GB" sz="1400" b="1" i="0" u="sng" strike="noStrike" kern="0" cap="none" spc="0" baseline="0">
                <a:solidFill>
                  <a:srgbClr val="333333"/>
                </a:solidFill>
                <a:uFillTx/>
                <a:latin typeface="Calibri  "/>
              </a:rPr>
              <a:t>Please Note:</a:t>
            </a:r>
          </a:p>
          <a:p>
            <a:pPr marL="742950" marR="0" lvl="1" indent="-285750" algn="l" defTabSz="914400" rtl="0" fontAlgn="auto" hangingPunct="1">
              <a:lnSpc>
                <a:spcPct val="107000"/>
              </a:lnSpc>
              <a:spcBef>
                <a:spcPts val="0"/>
              </a:spcBef>
              <a:spcAft>
                <a:spcPts val="0"/>
              </a:spcAft>
              <a:buSzPct val="100000"/>
              <a:buFont typeface="Arial" pitchFamily="34"/>
              <a:buChar char="•"/>
              <a:tabLst/>
              <a:defRPr sz="1800" b="0" i="0" u="none" strike="noStrike" kern="0" cap="none" spc="0" baseline="0">
                <a:solidFill>
                  <a:srgbClr val="000000"/>
                </a:solidFill>
                <a:uFillTx/>
              </a:defRPr>
            </a:pPr>
            <a:r>
              <a:rPr lang="en-GB" sz="1400" b="0" i="0" u="none" strike="noStrike" kern="0" cap="none" spc="0" baseline="0">
                <a:solidFill>
                  <a:srgbClr val="242424"/>
                </a:solidFill>
                <a:uFillTx/>
                <a:latin typeface="Calibri  "/>
              </a:rPr>
              <a:t>Traders are expected to declare APC ‘</a:t>
            </a:r>
            <a:r>
              <a:rPr lang="en-GB" sz="1400" b="1" i="0" u="none" strike="noStrike" kern="0" cap="none" spc="0" baseline="0">
                <a:solidFill>
                  <a:srgbClr val="242424"/>
                </a:solidFill>
                <a:uFillTx/>
                <a:latin typeface="Calibri  "/>
              </a:rPr>
              <a:t>1MB</a:t>
            </a:r>
            <a:r>
              <a:rPr lang="en-GB" sz="1400" b="0" i="0" u="none" strike="noStrike" kern="0" cap="none" spc="0" baseline="0">
                <a:solidFill>
                  <a:srgbClr val="242424"/>
                </a:solidFill>
                <a:uFillTx/>
                <a:latin typeface="Calibri  "/>
              </a:rPr>
              <a:t>’, AI Code </a:t>
            </a:r>
            <a:r>
              <a:rPr lang="en-GB" sz="1400" b="1" i="0" u="none" strike="noStrike" kern="0" cap="none" spc="0" baseline="0">
                <a:solidFill>
                  <a:srgbClr val="242424"/>
                </a:solidFill>
                <a:uFillTx/>
                <a:latin typeface="Calibri  "/>
              </a:rPr>
              <a:t>'MIB02</a:t>
            </a:r>
            <a:r>
              <a:rPr lang="en-GB" sz="1400" b="0" i="0" u="none" strike="noStrike" kern="0" cap="none" spc="0" baseline="0">
                <a:solidFill>
                  <a:srgbClr val="242424"/>
                </a:solidFill>
                <a:uFillTx/>
                <a:latin typeface="Calibri  "/>
              </a:rPr>
              <a:t>' and Document Code </a:t>
            </a:r>
            <a:r>
              <a:rPr lang="en-GB" sz="1400" b="1" i="0" u="none" strike="noStrike" kern="0" cap="none" spc="0" baseline="0">
                <a:solidFill>
                  <a:srgbClr val="242424"/>
                </a:solidFill>
                <a:uFillTx/>
                <a:latin typeface="Calibri  "/>
              </a:rPr>
              <a:t>'1MIB</a:t>
            </a:r>
            <a:r>
              <a:rPr lang="en-GB" sz="1400" b="0" i="0" u="none" strike="noStrike" kern="0" cap="none" spc="0" baseline="0">
                <a:solidFill>
                  <a:srgbClr val="242424"/>
                </a:solidFill>
                <a:uFillTx/>
                <a:latin typeface="Calibri  "/>
              </a:rPr>
              <a:t>’ at item level on </a:t>
            </a:r>
            <a:r>
              <a:rPr lang="en-GB" sz="1400" b="1" i="0" u="none" strike="noStrike" kern="0" cap="none" spc="0" baseline="0">
                <a:solidFill>
                  <a:srgbClr val="242424"/>
                </a:solidFill>
                <a:uFillTx/>
                <a:latin typeface="Calibri  "/>
              </a:rPr>
              <a:t>every goods item</a:t>
            </a:r>
            <a:r>
              <a:rPr lang="en-GB" sz="1400" b="0" i="0" u="none" strike="noStrike" kern="0" cap="none" spc="0" baseline="0">
                <a:solidFill>
                  <a:srgbClr val="242424"/>
                </a:solidFill>
                <a:uFillTx/>
                <a:latin typeface="Calibri  "/>
              </a:rPr>
              <a:t>. CDS </a:t>
            </a:r>
            <a:r>
              <a:rPr lang="en-GB" sz="1400" b="1" i="0" u="none" strike="noStrike" kern="0" cap="none" spc="0" baseline="0">
                <a:solidFill>
                  <a:srgbClr val="242424"/>
                </a:solidFill>
                <a:uFillTx/>
                <a:latin typeface="Calibri  "/>
              </a:rPr>
              <a:t>cannot</a:t>
            </a:r>
            <a:r>
              <a:rPr lang="en-GB" sz="1400" b="0" i="0" u="none" strike="noStrike" kern="0" cap="none" spc="0" baseline="0">
                <a:solidFill>
                  <a:srgbClr val="242424"/>
                </a:solidFill>
                <a:uFillTx/>
                <a:latin typeface="Calibri  "/>
              </a:rPr>
              <a:t> currently mandate that these codes are declared against every goods item, therefore the declaration will not auto-depart where a trader does not comply </a:t>
            </a:r>
            <a:r>
              <a:rPr lang="en-GB" sz="1400" b="1" i="0" u="none" strike="noStrike" kern="0" cap="none" spc="0" baseline="0">
                <a:solidFill>
                  <a:srgbClr val="242424"/>
                </a:solidFill>
                <a:uFillTx/>
                <a:latin typeface="Calibri  "/>
              </a:rPr>
              <a:t>(MIB02). </a:t>
            </a:r>
            <a:r>
              <a:rPr lang="en-GB" sz="1400" b="0" i="0" u="none" strike="noStrike" kern="0" cap="none" spc="0" baseline="0">
                <a:solidFill>
                  <a:srgbClr val="242424"/>
                </a:solidFill>
                <a:uFillTx/>
                <a:latin typeface="Calibri  "/>
              </a:rPr>
              <a:t>The requirement for CDS to mandate '1MB', 'MIB02' and '1MIB' on every goods item will be delivered in a future release (TBC).</a:t>
            </a:r>
            <a:endParaRPr lang="en-GB" sz="1400" b="0" i="0" u="none" strike="noStrike" kern="0" cap="none" spc="0" baseline="0">
              <a:solidFill>
                <a:srgbClr val="000000"/>
              </a:solidFill>
              <a:uFillTx/>
              <a:latin typeface="Calibri  "/>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Straight Connector 17">
            <a:extLst>
              <a:ext uri="{FF2B5EF4-FFF2-40B4-BE49-F238E27FC236}">
                <a16:creationId xmlns:a16="http://schemas.microsoft.com/office/drawing/2014/main" id="{83828FE9-7A06-41B8-847F-F4DAC1444658}"/>
              </a:ext>
            </a:extLst>
          </p:cNvPr>
          <p:cNvCxnSpPr/>
          <p:nvPr/>
        </p:nvCxnSpPr>
        <p:spPr>
          <a:xfrm>
            <a:off x="325937" y="186903"/>
            <a:ext cx="0" cy="422050"/>
          </a:xfrm>
          <a:prstGeom prst="straightConnector1">
            <a:avLst/>
          </a:prstGeom>
          <a:noFill/>
          <a:ln w="28575" cap="flat">
            <a:solidFill>
              <a:srgbClr val="D9D9D9"/>
            </a:solidFill>
            <a:prstDash val="solid"/>
            <a:miter/>
          </a:ln>
        </p:spPr>
      </p:cxnSp>
      <p:cxnSp>
        <p:nvCxnSpPr>
          <p:cNvPr id="3" name="Straight Connector 11">
            <a:extLst>
              <a:ext uri="{FF2B5EF4-FFF2-40B4-BE49-F238E27FC236}">
                <a16:creationId xmlns:a16="http://schemas.microsoft.com/office/drawing/2014/main" id="{B3DAEE88-2BB6-4615-8BE9-3DDCCC766EC8}"/>
              </a:ext>
            </a:extLst>
          </p:cNvPr>
          <p:cNvCxnSpPr/>
          <p:nvPr/>
        </p:nvCxnSpPr>
        <p:spPr>
          <a:xfrm>
            <a:off x="319116" y="186903"/>
            <a:ext cx="0" cy="422050"/>
          </a:xfrm>
          <a:prstGeom prst="straightConnector1">
            <a:avLst/>
          </a:prstGeom>
          <a:noFill/>
          <a:ln w="28575" cap="flat">
            <a:solidFill>
              <a:srgbClr val="D9D9D9"/>
            </a:solidFill>
            <a:prstDash val="solid"/>
            <a:miter/>
          </a:ln>
        </p:spPr>
      </p:cxnSp>
      <p:sp>
        <p:nvSpPr>
          <p:cNvPr id="4" name="TextBox 12">
            <a:extLst>
              <a:ext uri="{FF2B5EF4-FFF2-40B4-BE49-F238E27FC236}">
                <a16:creationId xmlns:a16="http://schemas.microsoft.com/office/drawing/2014/main" id="{A28C377F-C0F8-412E-9069-CCAAA585800F}"/>
              </a:ext>
            </a:extLst>
          </p:cNvPr>
          <p:cNvSpPr txBox="1"/>
          <p:nvPr/>
        </p:nvSpPr>
        <p:spPr>
          <a:xfrm>
            <a:off x="363967" y="248844"/>
            <a:ext cx="2321725" cy="307777"/>
          </a:xfrm>
          <a:prstGeom prst="rect">
            <a:avLst/>
          </a:prstGeom>
          <a:noFill/>
          <a:ln cap="flat">
            <a:noFill/>
          </a:ln>
        </p:spPr>
        <p:txBody>
          <a:bodyPr vert="horz" wrap="none" lIns="91440" tIns="45720" rIns="91440" bIns="45720" anchor="t"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400" b="1" i="0" u="none" strike="noStrike" kern="1200" cap="none" spc="50" baseline="0">
                <a:solidFill>
                  <a:srgbClr val="A6A6A6"/>
                </a:solidFill>
                <a:uFillTx/>
                <a:latin typeface="Calibri"/>
              </a:rPr>
              <a:t>RELEASE SCOPE GUIDANCE</a:t>
            </a:r>
          </a:p>
        </p:txBody>
      </p:sp>
      <p:pic>
        <p:nvPicPr>
          <p:cNvPr id="5" name="Picture 106" descr="57% HMRCppt logo">
            <a:extLst>
              <a:ext uri="{FF2B5EF4-FFF2-40B4-BE49-F238E27FC236}">
                <a16:creationId xmlns:a16="http://schemas.microsoft.com/office/drawing/2014/main" id="{5A168A11-3D6A-4588-A7E8-C3DE3F79BA01}"/>
              </a:ext>
            </a:extLst>
          </p:cNvPr>
          <p:cNvPicPr>
            <a:picLocks noChangeAspect="1"/>
          </p:cNvPicPr>
          <p:nvPr/>
        </p:nvPicPr>
        <p:blipFill>
          <a:blip r:embed="rId3"/>
          <a:srcRect/>
          <a:stretch>
            <a:fillRect/>
          </a:stretch>
        </p:blipFill>
        <p:spPr>
          <a:xfrm>
            <a:off x="446099" y="5929033"/>
            <a:ext cx="1030227" cy="633980"/>
          </a:xfrm>
          <a:prstGeom prst="rect">
            <a:avLst/>
          </a:prstGeom>
          <a:noFill/>
          <a:ln cap="flat">
            <a:noFill/>
          </a:ln>
        </p:spPr>
      </p:pic>
      <p:sp>
        <p:nvSpPr>
          <p:cNvPr id="6" name="Slide Number Placeholder 5">
            <a:extLst>
              <a:ext uri="{FF2B5EF4-FFF2-40B4-BE49-F238E27FC236}">
                <a16:creationId xmlns:a16="http://schemas.microsoft.com/office/drawing/2014/main" id="{1218C2AD-18EB-4AC1-84F3-99136FEF1CBA}"/>
              </a:ext>
            </a:extLst>
          </p:cNvPr>
          <p:cNvSpPr txBox="1"/>
          <p:nvPr/>
        </p:nvSpPr>
        <p:spPr>
          <a:xfrm>
            <a:off x="11526231" y="6387897"/>
            <a:ext cx="443849" cy="365129"/>
          </a:xfrm>
          <a:prstGeom prst="rect">
            <a:avLst/>
          </a:prstGeom>
          <a:noFill/>
          <a:ln cap="flat">
            <a:noFill/>
          </a:ln>
        </p:spPr>
        <p:txBody>
          <a:bodyPr vert="horz" wrap="square" lIns="91440" tIns="45720" rIns="91440" bIns="45720" anchor="ctr" anchorCtr="0" compatLnSpc="1">
            <a:noAutofit/>
          </a:bodyPr>
          <a:lstStyle/>
          <a:p>
            <a:pPr marL="0" marR="0" lvl="0" indent="0" algn="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fld id="{A457BD76-C157-4B09-B164-B5DBE3508013}" type="slidenum">
              <a:t>4</a:t>
            </a:fld>
            <a:endParaRPr lang="en-GB" sz="900" b="0" i="0" u="none" strike="noStrike" kern="1200" cap="none" spc="0" baseline="0">
              <a:solidFill>
                <a:srgbClr val="000000"/>
              </a:solidFill>
              <a:uFillTx/>
              <a:latin typeface="Calibri"/>
            </a:endParaRPr>
          </a:p>
        </p:txBody>
      </p:sp>
      <p:sp>
        <p:nvSpPr>
          <p:cNvPr id="7" name="Footer Placeholder 1">
            <a:extLst>
              <a:ext uri="{FF2B5EF4-FFF2-40B4-BE49-F238E27FC236}">
                <a16:creationId xmlns:a16="http://schemas.microsoft.com/office/drawing/2014/main" id="{9F2A8473-F039-46CD-BE73-D2D023F563E0}"/>
              </a:ext>
            </a:extLst>
          </p:cNvPr>
          <p:cNvSpPr txBox="1"/>
          <p:nvPr/>
        </p:nvSpPr>
        <p:spPr>
          <a:xfrm>
            <a:off x="2943801" y="6490795"/>
            <a:ext cx="8737604" cy="144466"/>
          </a:xfrm>
          <a:prstGeom prst="rect">
            <a:avLst/>
          </a:prstGeom>
          <a:noFill/>
          <a:ln cap="flat">
            <a:noFill/>
          </a:ln>
        </p:spPr>
        <p:txBody>
          <a:bodyPr vert="horz" wrap="square" lIns="0" tIns="0" rIns="0" bIns="0" anchor="ctr" anchorCtr="0" compatLnSpc="1">
            <a:noAutofit/>
          </a:bodyPr>
          <a:lstStyle/>
          <a:p>
            <a:pPr marL="0" marR="0" lvl="0" indent="0" algn="r"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r>
              <a:rPr lang="en-GB" sz="900" b="0" i="0" u="none" strike="noStrike" kern="1200" cap="none" spc="0" baseline="0">
                <a:solidFill>
                  <a:srgbClr val="3B3A3D"/>
                </a:solidFill>
                <a:uFillTx/>
                <a:latin typeface="Calibri"/>
                <a:ea typeface="Geneva"/>
                <a:cs typeface="Arial"/>
              </a:rPr>
              <a:t>OFFICIAL | CDS External Release Scope Guidance Document |</a:t>
            </a:r>
            <a:endParaRPr lang="en-GB" sz="900" b="1" i="0" u="none" strike="noStrike" kern="1200" cap="none" spc="0" baseline="0">
              <a:solidFill>
                <a:srgbClr val="008D8E"/>
              </a:solidFill>
              <a:uFillTx/>
              <a:latin typeface="Calibri"/>
              <a:ea typeface="Geneva"/>
              <a:cs typeface="Arial"/>
            </a:endParaRPr>
          </a:p>
        </p:txBody>
      </p:sp>
      <p:sp>
        <p:nvSpPr>
          <p:cNvPr id="8" name="Rectangle 13">
            <a:extLst>
              <a:ext uri="{FF2B5EF4-FFF2-40B4-BE49-F238E27FC236}">
                <a16:creationId xmlns:a16="http://schemas.microsoft.com/office/drawing/2014/main" id="{4AF71188-6E83-4E9A-801E-396727DF621C}"/>
              </a:ext>
            </a:extLst>
          </p:cNvPr>
          <p:cNvSpPr/>
          <p:nvPr/>
        </p:nvSpPr>
        <p:spPr>
          <a:xfrm>
            <a:off x="363967" y="1224088"/>
            <a:ext cx="11523232" cy="4307336"/>
          </a:xfrm>
          <a:prstGeom prst="rect">
            <a:avLst/>
          </a:prstGeom>
          <a:noFill/>
          <a:ln cap="flat">
            <a:noFill/>
            <a:prstDash val="solid"/>
          </a:ln>
        </p:spPr>
        <p:txBody>
          <a:bodyPr vert="horz" wrap="square" lIns="91440" tIns="45720" rIns="91440" bIns="45720" anchor="t" anchorCtr="0" compatLnSpc="1">
            <a:spAutoFit/>
          </a:bodyPr>
          <a:lstStyle/>
          <a:p>
            <a:pPr marL="0" marR="0" lvl="0" indent="0" algn="l" defTabSz="914400" rtl="0" fontAlgn="auto" hangingPunct="1">
              <a:lnSpc>
                <a:spcPct val="107000"/>
              </a:lnSpc>
              <a:spcBef>
                <a:spcPts val="0"/>
              </a:spcBef>
              <a:spcAft>
                <a:spcPts val="0"/>
              </a:spcAft>
              <a:buNone/>
              <a:tabLst/>
              <a:defRPr sz="1800" b="0" i="0" u="none" strike="noStrike" kern="0" cap="none" spc="0" baseline="0">
                <a:solidFill>
                  <a:srgbClr val="000000"/>
                </a:solidFill>
                <a:uFillTx/>
              </a:defRPr>
            </a:pPr>
            <a:r>
              <a:rPr lang="en-GB" sz="1400" b="1" i="0" u="none" strike="noStrike" kern="1200" cap="none" spc="0" baseline="0" dirty="0">
                <a:solidFill>
                  <a:srgbClr val="000000"/>
                </a:solidFill>
                <a:uFillTx/>
                <a:latin typeface="Calibri  "/>
              </a:rPr>
              <a:t>To </a:t>
            </a:r>
            <a:r>
              <a:rPr lang="en-GB" sz="1400" b="1" i="0" u="none" strike="noStrike" kern="0" cap="none" spc="0" baseline="0" dirty="0">
                <a:solidFill>
                  <a:srgbClr val="333333"/>
                </a:solidFill>
                <a:uFillTx/>
                <a:latin typeface="Calibri  "/>
              </a:rPr>
              <a:t>submit arrived export declarations for MiB Exports (GB-</a:t>
            </a:r>
            <a:r>
              <a:rPr lang="en-GB" sz="1400" b="1" i="0" u="none" strike="noStrike" kern="0" cap="none" spc="0" baseline="0" dirty="0" err="1">
                <a:solidFill>
                  <a:srgbClr val="333333"/>
                </a:solidFill>
                <a:uFillTx/>
                <a:latin typeface="Calibri  "/>
              </a:rPr>
              <a:t>RoW</a:t>
            </a:r>
            <a:r>
              <a:rPr lang="en-GB" sz="1400" b="1" i="0" u="none" strike="noStrike" kern="0" cap="none" spc="0" baseline="0" dirty="0">
                <a:solidFill>
                  <a:srgbClr val="333333"/>
                </a:solidFill>
                <a:uFillTx/>
                <a:latin typeface="Calibri  "/>
              </a:rPr>
              <a:t>),</a:t>
            </a:r>
            <a:r>
              <a:rPr lang="en-GB" sz="1400" b="1" i="0" u="none" strike="noStrike" kern="1200" cap="none" spc="0" baseline="0" dirty="0">
                <a:solidFill>
                  <a:srgbClr val="000000"/>
                </a:solidFill>
                <a:uFillTx/>
                <a:latin typeface="Calibri  "/>
              </a:rPr>
              <a:t> </a:t>
            </a:r>
            <a:endParaRPr lang="en-GB" sz="1400" b="1" i="0" u="none" strike="noStrike" kern="0" cap="none" spc="0" baseline="0" dirty="0">
              <a:solidFill>
                <a:srgbClr val="333333"/>
              </a:solidFill>
              <a:uFillTx/>
              <a:latin typeface="Calibri  "/>
            </a:endParaRPr>
          </a:p>
          <a:p>
            <a:pPr marL="742950" marR="0" lvl="1" indent="-285750" algn="l" defTabSz="914400" rtl="0" fontAlgn="auto" hangingPunct="1">
              <a:lnSpc>
                <a:spcPct val="107000"/>
              </a:lnSpc>
              <a:spcBef>
                <a:spcPts val="0"/>
              </a:spcBef>
              <a:spcAft>
                <a:spcPts val="0"/>
              </a:spcAft>
              <a:buSzPct val="100000"/>
              <a:buFont typeface="Arial" pitchFamily="34"/>
              <a:buChar char="•"/>
              <a:tabLst/>
              <a:defRPr sz="1800" b="0" i="0" u="none" strike="noStrike" kern="0" cap="none" spc="0" baseline="0">
                <a:solidFill>
                  <a:srgbClr val="000000"/>
                </a:solidFill>
                <a:uFillTx/>
              </a:defRPr>
            </a:pPr>
            <a:r>
              <a:rPr lang="en-GB" sz="1400" b="0" i="0" u="none" strike="noStrike" kern="0" cap="none" spc="0" baseline="0" dirty="0">
                <a:solidFill>
                  <a:srgbClr val="333333"/>
                </a:solidFill>
                <a:uFillTx/>
                <a:latin typeface="Calibri  "/>
              </a:rPr>
              <a:t>Traders must enter the following codes on export declarations only,</a:t>
            </a:r>
            <a:endParaRPr lang="en-GB" sz="1400" b="1" i="0" u="none" strike="noStrike" kern="0" cap="none" spc="0" baseline="0" dirty="0">
              <a:solidFill>
                <a:srgbClr val="333333"/>
              </a:solidFill>
              <a:uFillTx/>
              <a:latin typeface="Calibri  "/>
            </a:endParaRPr>
          </a:p>
          <a:p>
            <a:pPr marL="1657350" marR="0" lvl="3" indent="-285750" algn="l" defTabSz="914400" rtl="0" fontAlgn="auto" hangingPunct="1">
              <a:lnSpc>
                <a:spcPct val="100000"/>
              </a:lnSpc>
              <a:spcBef>
                <a:spcPts val="0"/>
              </a:spcBef>
              <a:spcAft>
                <a:spcPts val="0"/>
              </a:spcAft>
              <a:buSzPct val="100000"/>
              <a:buFont typeface="Courier New" pitchFamily="49"/>
              <a:buChar char="o"/>
              <a:tabLst/>
              <a:defRPr sz="1800" b="0" i="0" u="none" strike="noStrike" kern="0" cap="none" spc="0" baseline="0">
                <a:solidFill>
                  <a:srgbClr val="000000"/>
                </a:solidFill>
                <a:uFillTx/>
              </a:defRPr>
            </a:pPr>
            <a:r>
              <a:rPr lang="en-GB" sz="1400" b="0" i="0" u="none" strike="noStrike" kern="0" cap="none" spc="0" baseline="0" dirty="0">
                <a:solidFill>
                  <a:srgbClr val="000000"/>
                </a:solidFill>
                <a:uFillTx/>
                <a:latin typeface="Calibri  "/>
                <a:ea typeface="Calibri" pitchFamily="34"/>
                <a:cs typeface="Times New Roman" pitchFamily="18"/>
              </a:rPr>
              <a:t>AI code </a:t>
            </a:r>
            <a:r>
              <a:rPr lang="en-GB" sz="1400" b="1" i="0" u="none" strike="noStrike" kern="0" cap="none" spc="0" baseline="0" dirty="0">
                <a:solidFill>
                  <a:srgbClr val="000000"/>
                </a:solidFill>
                <a:uFillTx/>
                <a:latin typeface="Calibri  "/>
                <a:ea typeface="Calibri" pitchFamily="34"/>
                <a:cs typeface="Times New Roman" pitchFamily="18"/>
              </a:rPr>
              <a:t>'MIB02</a:t>
            </a:r>
            <a:r>
              <a:rPr lang="en-GB" sz="1400" b="0" i="0" u="none" strike="noStrike" kern="0" cap="none" spc="0" baseline="0" dirty="0">
                <a:solidFill>
                  <a:srgbClr val="000000"/>
                </a:solidFill>
                <a:uFillTx/>
                <a:latin typeface="Calibri  "/>
                <a:ea typeface="Calibri" pitchFamily="34"/>
                <a:cs typeface="Times New Roman" pitchFamily="18"/>
              </a:rPr>
              <a:t>' in DE 2/2 at item level</a:t>
            </a:r>
          </a:p>
          <a:p>
            <a:pPr marL="1657350" marR="0" lvl="3" indent="-285750" algn="l" defTabSz="914400" rtl="0" fontAlgn="auto" hangingPunct="1">
              <a:lnSpc>
                <a:spcPct val="100000"/>
              </a:lnSpc>
              <a:spcBef>
                <a:spcPts val="0"/>
              </a:spcBef>
              <a:spcAft>
                <a:spcPts val="0"/>
              </a:spcAft>
              <a:buSzPct val="100000"/>
              <a:buFont typeface="Courier New" pitchFamily="49"/>
              <a:buChar char="o"/>
              <a:tabLst/>
              <a:defRPr sz="1800" b="0" i="0" u="none" strike="noStrike" kern="0" cap="none" spc="0" baseline="0">
                <a:solidFill>
                  <a:srgbClr val="000000"/>
                </a:solidFill>
                <a:uFillTx/>
              </a:defRPr>
            </a:pPr>
            <a:r>
              <a:rPr lang="en-GB" sz="1400" b="0" i="0" u="none" strike="noStrike" kern="0" cap="none" spc="0" baseline="0" dirty="0">
                <a:solidFill>
                  <a:srgbClr val="000000"/>
                </a:solidFill>
                <a:uFillTx/>
                <a:latin typeface="Calibri  "/>
                <a:ea typeface="Calibri" pitchFamily="34"/>
                <a:cs typeface="Times New Roman" pitchFamily="18"/>
              </a:rPr>
              <a:t>Authorisation type code </a:t>
            </a:r>
            <a:r>
              <a:rPr lang="en-GB" sz="1400" b="1" i="0" u="none" strike="noStrike" kern="0" cap="none" spc="0" baseline="0" dirty="0">
                <a:solidFill>
                  <a:srgbClr val="000000"/>
                </a:solidFill>
                <a:uFillTx/>
                <a:latin typeface="Calibri  "/>
                <a:ea typeface="Calibri" pitchFamily="34"/>
                <a:cs typeface="Times New Roman" pitchFamily="18"/>
              </a:rPr>
              <a:t>'MIB</a:t>
            </a:r>
            <a:r>
              <a:rPr lang="en-GB" sz="1400" b="0" i="0" u="none" strike="noStrike" kern="0" cap="none" spc="0" baseline="0" dirty="0">
                <a:solidFill>
                  <a:srgbClr val="000000"/>
                </a:solidFill>
                <a:uFillTx/>
                <a:latin typeface="Calibri  "/>
                <a:ea typeface="Calibri" pitchFamily="34"/>
                <a:cs typeface="Times New Roman" pitchFamily="18"/>
              </a:rPr>
              <a:t>' in DE 3/39 at header level</a:t>
            </a:r>
          </a:p>
          <a:p>
            <a:pPr marL="1657350" marR="0" lvl="3" indent="-285750" algn="l" defTabSz="914400" rtl="0" fontAlgn="auto" hangingPunct="1">
              <a:lnSpc>
                <a:spcPct val="100000"/>
              </a:lnSpc>
              <a:spcBef>
                <a:spcPts val="0"/>
              </a:spcBef>
              <a:spcAft>
                <a:spcPts val="0"/>
              </a:spcAft>
              <a:buSzPct val="100000"/>
              <a:buFont typeface="Courier New" pitchFamily="49"/>
              <a:buChar char="o"/>
              <a:tabLst/>
              <a:defRPr sz="1800" b="0" i="0" u="none" strike="noStrike" kern="0" cap="none" spc="0" baseline="0">
                <a:solidFill>
                  <a:srgbClr val="000000"/>
                </a:solidFill>
                <a:uFillTx/>
              </a:defRPr>
            </a:pPr>
            <a:r>
              <a:rPr lang="en-GB" sz="1400" b="0" i="0" u="none" strike="noStrike" kern="0" cap="none" spc="0" baseline="0" dirty="0">
                <a:solidFill>
                  <a:srgbClr val="000000"/>
                </a:solidFill>
                <a:uFillTx/>
                <a:latin typeface="Calibri  "/>
                <a:ea typeface="Calibri" pitchFamily="34"/>
                <a:cs typeface="Times New Roman" pitchFamily="18"/>
              </a:rPr>
              <a:t>APC </a:t>
            </a:r>
            <a:r>
              <a:rPr lang="en-GB" sz="1400" b="1" i="0" u="none" strike="noStrike" kern="0" cap="none" spc="0" baseline="0" dirty="0">
                <a:solidFill>
                  <a:srgbClr val="000000"/>
                </a:solidFill>
                <a:uFillTx/>
                <a:latin typeface="Calibri  "/>
                <a:ea typeface="Calibri" pitchFamily="34"/>
                <a:cs typeface="Times New Roman" pitchFamily="18"/>
              </a:rPr>
              <a:t>'1MB</a:t>
            </a:r>
            <a:r>
              <a:rPr lang="en-GB" sz="1400" b="0" i="0" u="none" strike="noStrike" kern="0" cap="none" spc="0" baseline="0" dirty="0">
                <a:solidFill>
                  <a:srgbClr val="000000"/>
                </a:solidFill>
                <a:uFillTx/>
                <a:latin typeface="Calibri  "/>
                <a:ea typeface="Calibri" pitchFamily="34"/>
                <a:cs typeface="Times New Roman" pitchFamily="18"/>
              </a:rPr>
              <a:t>' in DE 1/11 at item level</a:t>
            </a:r>
          </a:p>
          <a:p>
            <a:pPr marL="1657350" marR="0" lvl="3" indent="-285750" algn="l" defTabSz="914400" rtl="0" fontAlgn="auto" hangingPunct="1">
              <a:lnSpc>
                <a:spcPct val="100000"/>
              </a:lnSpc>
              <a:spcBef>
                <a:spcPts val="0"/>
              </a:spcBef>
              <a:spcAft>
                <a:spcPts val="0"/>
              </a:spcAft>
              <a:buSzPct val="100000"/>
              <a:buFont typeface="Courier New" pitchFamily="49"/>
              <a:buChar char="o"/>
              <a:tabLst/>
              <a:defRPr sz="1800" b="0" i="0" u="none" strike="noStrike" kern="0" cap="none" spc="0" baseline="0">
                <a:solidFill>
                  <a:srgbClr val="000000"/>
                </a:solidFill>
                <a:uFillTx/>
              </a:defRPr>
            </a:pPr>
            <a:r>
              <a:rPr lang="en-GB" sz="1400" b="0" i="0" u="none" strike="noStrike" kern="0" cap="none" spc="0" baseline="0" dirty="0">
                <a:solidFill>
                  <a:srgbClr val="000000"/>
                </a:solidFill>
                <a:uFillTx/>
                <a:latin typeface="Calibri  "/>
                <a:ea typeface="Calibri" pitchFamily="34"/>
                <a:cs typeface="Times New Roman" pitchFamily="18"/>
              </a:rPr>
              <a:t>Document code </a:t>
            </a:r>
            <a:r>
              <a:rPr lang="en-GB" sz="1400" b="1" i="0" u="none" strike="noStrike" kern="0" cap="none" spc="0" baseline="0" dirty="0">
                <a:solidFill>
                  <a:srgbClr val="000000"/>
                </a:solidFill>
                <a:uFillTx/>
                <a:latin typeface="Calibri  "/>
                <a:ea typeface="Calibri" pitchFamily="34"/>
                <a:cs typeface="Times New Roman" pitchFamily="18"/>
              </a:rPr>
              <a:t>'1MIB</a:t>
            </a:r>
            <a:r>
              <a:rPr lang="en-GB" sz="1400" b="0" i="0" u="none" strike="noStrike" kern="0" cap="none" spc="0" baseline="0" dirty="0">
                <a:solidFill>
                  <a:srgbClr val="000000"/>
                </a:solidFill>
                <a:uFillTx/>
                <a:latin typeface="Calibri  "/>
                <a:ea typeface="Calibri" pitchFamily="34"/>
                <a:cs typeface="Times New Roman" pitchFamily="18"/>
              </a:rPr>
              <a:t>' in DE 2/3 at item level</a:t>
            </a:r>
          </a:p>
          <a:p>
            <a:pPr marL="914400" marR="0" lvl="2"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400" b="0" i="0" u="none" strike="noStrike" kern="0" cap="none" spc="0" baseline="0" dirty="0">
                <a:solidFill>
                  <a:srgbClr val="000000"/>
                </a:solidFill>
                <a:uFillTx/>
                <a:latin typeface="Calibri  "/>
                <a:ea typeface="Calibri" pitchFamily="34"/>
                <a:cs typeface="Times New Roman" pitchFamily="18"/>
              </a:rPr>
              <a:t>Codes </a:t>
            </a:r>
            <a:r>
              <a:rPr lang="en-GB" sz="1400" b="1" i="0" u="none" strike="noStrike" kern="0" cap="none" spc="0" baseline="0" dirty="0">
                <a:solidFill>
                  <a:srgbClr val="000000"/>
                </a:solidFill>
                <a:uFillTx/>
                <a:latin typeface="Calibri  "/>
                <a:ea typeface="Calibri" pitchFamily="34"/>
                <a:cs typeface="Times New Roman" pitchFamily="18"/>
              </a:rPr>
              <a:t>1MB</a:t>
            </a:r>
            <a:r>
              <a:rPr lang="en-GB" sz="1400" b="0" i="0" u="none" strike="noStrike" kern="0" cap="none" spc="0" baseline="0" dirty="0">
                <a:solidFill>
                  <a:srgbClr val="000000"/>
                </a:solidFill>
                <a:uFillTx/>
                <a:latin typeface="Calibri  "/>
                <a:ea typeface="Calibri" pitchFamily="34"/>
                <a:cs typeface="Times New Roman" pitchFamily="18"/>
              </a:rPr>
              <a:t>, </a:t>
            </a:r>
            <a:r>
              <a:rPr lang="en-GB" sz="1400" b="1" i="0" u="none" strike="noStrike" kern="0" cap="none" spc="0" baseline="0" dirty="0">
                <a:solidFill>
                  <a:srgbClr val="000000"/>
                </a:solidFill>
                <a:uFillTx/>
                <a:latin typeface="Calibri  "/>
                <a:ea typeface="Calibri" pitchFamily="34"/>
                <a:cs typeface="Times New Roman" pitchFamily="18"/>
              </a:rPr>
              <a:t>MIB02</a:t>
            </a:r>
            <a:r>
              <a:rPr lang="en-GB" sz="1400" b="0" i="0" u="none" strike="noStrike" kern="0" cap="none" spc="0" baseline="0" dirty="0">
                <a:solidFill>
                  <a:srgbClr val="000000"/>
                </a:solidFill>
                <a:uFillTx/>
                <a:latin typeface="Calibri  "/>
                <a:ea typeface="Calibri" pitchFamily="34"/>
                <a:cs typeface="Times New Roman" pitchFamily="18"/>
              </a:rPr>
              <a:t> and </a:t>
            </a:r>
            <a:r>
              <a:rPr lang="en-GB" sz="1400" b="1" i="0" u="none" strike="noStrike" kern="0" cap="none" spc="0" baseline="0" dirty="0">
                <a:solidFill>
                  <a:srgbClr val="000000"/>
                </a:solidFill>
                <a:uFillTx/>
                <a:latin typeface="Calibri  "/>
                <a:ea typeface="Calibri" pitchFamily="34"/>
                <a:cs typeface="Times New Roman" pitchFamily="18"/>
              </a:rPr>
              <a:t>1MIB</a:t>
            </a:r>
            <a:r>
              <a:rPr lang="en-GB" sz="1400" b="0" i="0" u="none" strike="noStrike" kern="0" cap="none" spc="0" baseline="0" dirty="0">
                <a:solidFill>
                  <a:srgbClr val="000000"/>
                </a:solidFill>
                <a:uFillTx/>
                <a:latin typeface="Calibri  "/>
                <a:ea typeface="Calibri" pitchFamily="34"/>
                <a:cs typeface="Times New Roman" pitchFamily="18"/>
              </a:rPr>
              <a:t> must be entered on every goods item on the declaration </a:t>
            </a:r>
          </a:p>
          <a:p>
            <a:pPr marL="914400" marR="0" lvl="2"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400" b="0" i="0" u="none" strike="noStrike" kern="1200" cap="none" spc="0" baseline="0" dirty="0">
              <a:solidFill>
                <a:srgbClr val="000000"/>
              </a:solidFill>
              <a:uFillTx/>
              <a:latin typeface="Calibri  "/>
              <a:ea typeface="Calibri" pitchFamily="34"/>
              <a:cs typeface="Times New Roman" pitchFamily="18"/>
            </a:endParaRPr>
          </a:p>
          <a:p>
            <a:pPr marL="742950" marR="0" lvl="1" indent="-285750" algn="l" defTabSz="914400" rtl="0" fontAlgn="auto" hangingPunct="1">
              <a:lnSpc>
                <a:spcPct val="100000"/>
              </a:lnSpc>
              <a:spcBef>
                <a:spcPts val="0"/>
              </a:spcBef>
              <a:spcAft>
                <a:spcPts val="0"/>
              </a:spcAft>
              <a:buSzPct val="100000"/>
              <a:buFont typeface="Arial" pitchFamily="34"/>
              <a:buChar char="•"/>
              <a:tabLst/>
              <a:defRPr sz="1800" b="0" i="0" u="none" strike="noStrike" kern="0" cap="none" spc="0" baseline="0">
                <a:solidFill>
                  <a:srgbClr val="000000"/>
                </a:solidFill>
                <a:uFillTx/>
              </a:defRPr>
            </a:pPr>
            <a:r>
              <a:rPr lang="en-GB" sz="1400" b="1" i="0" u="none" strike="noStrike" kern="1200" cap="none" spc="0" baseline="0" dirty="0">
                <a:solidFill>
                  <a:srgbClr val="333333"/>
                </a:solidFill>
                <a:uFillTx/>
                <a:latin typeface="Calibri  "/>
              </a:rPr>
              <a:t>Mandatory requirements for APC '1MB’ </a:t>
            </a:r>
            <a:endParaRPr lang="en-GB" sz="1400" b="0" i="0" u="none" strike="noStrike" kern="1200" cap="none" spc="0" baseline="0" dirty="0">
              <a:solidFill>
                <a:srgbClr val="333333"/>
              </a:solidFill>
              <a:uFillTx/>
              <a:latin typeface="Calibri  "/>
            </a:endParaRPr>
          </a:p>
          <a:p>
            <a:pPr marL="1657350" marR="0" lvl="3" indent="-285750" algn="l" defTabSz="914400" rtl="0" fontAlgn="auto" hangingPunct="1">
              <a:lnSpc>
                <a:spcPct val="100000"/>
              </a:lnSpc>
              <a:spcBef>
                <a:spcPts val="0"/>
              </a:spcBef>
              <a:spcAft>
                <a:spcPts val="0"/>
              </a:spcAft>
              <a:buSzPct val="100000"/>
              <a:buFont typeface="Courier New" pitchFamily="49"/>
              <a:buChar char="o"/>
              <a:tabLst/>
              <a:defRPr sz="1800" b="0" i="0" u="none" strike="noStrike" kern="0" cap="none" spc="0" baseline="0">
                <a:solidFill>
                  <a:srgbClr val="000000"/>
                </a:solidFill>
                <a:uFillTx/>
              </a:defRPr>
            </a:pPr>
            <a:r>
              <a:rPr lang="en-GB" sz="1400" b="0" i="0" u="none" strike="noStrike" kern="1200" cap="none" spc="0" baseline="0" dirty="0">
                <a:solidFill>
                  <a:srgbClr val="333333"/>
                </a:solidFill>
                <a:uFillTx/>
                <a:latin typeface="Calibri  "/>
              </a:rPr>
              <a:t>Traders must enter '</a:t>
            </a:r>
            <a:r>
              <a:rPr lang="en-GB" sz="1400" b="1" i="0" u="none" strike="noStrike" kern="1200" cap="none" spc="0" baseline="0" dirty="0">
                <a:solidFill>
                  <a:srgbClr val="333333"/>
                </a:solidFill>
                <a:uFillTx/>
                <a:latin typeface="Calibri  "/>
              </a:rPr>
              <a:t>EX</a:t>
            </a:r>
            <a:r>
              <a:rPr lang="en-GB" sz="1400" b="0" i="0" u="none" strike="noStrike" kern="1200" cap="none" spc="0" baseline="0" dirty="0">
                <a:solidFill>
                  <a:srgbClr val="333333"/>
                </a:solidFill>
                <a:uFillTx/>
                <a:latin typeface="Calibri  "/>
              </a:rPr>
              <a:t>' or '</a:t>
            </a:r>
            <a:r>
              <a:rPr lang="en-GB" sz="1400" b="1" i="0" u="none" strike="noStrike" kern="1200" cap="none" spc="0" baseline="0" dirty="0">
                <a:solidFill>
                  <a:srgbClr val="333333"/>
                </a:solidFill>
                <a:uFillTx/>
                <a:latin typeface="Calibri  "/>
              </a:rPr>
              <a:t>CO</a:t>
            </a:r>
            <a:r>
              <a:rPr lang="en-GB" sz="1400" b="0" i="0" u="none" strike="noStrike" kern="1200" cap="none" spc="0" baseline="0" dirty="0">
                <a:solidFill>
                  <a:srgbClr val="333333"/>
                </a:solidFill>
                <a:uFillTx/>
                <a:latin typeface="Calibri  "/>
              </a:rPr>
              <a:t>’ in DE 1/1 at header level;</a:t>
            </a:r>
          </a:p>
          <a:p>
            <a:pPr marL="1657350" marR="0" lvl="3" indent="-285750" algn="l" defTabSz="914400" rtl="0" fontAlgn="auto" hangingPunct="1">
              <a:lnSpc>
                <a:spcPct val="100000"/>
              </a:lnSpc>
              <a:spcBef>
                <a:spcPts val="0"/>
              </a:spcBef>
              <a:spcAft>
                <a:spcPts val="0"/>
              </a:spcAft>
              <a:buSzPct val="100000"/>
              <a:buFont typeface="Courier New" pitchFamily="49"/>
              <a:buChar char="o"/>
              <a:tabLst/>
              <a:defRPr sz="1800" b="0" i="0" u="none" strike="noStrike" kern="0" cap="none" spc="0" baseline="0">
                <a:solidFill>
                  <a:srgbClr val="000000"/>
                </a:solidFill>
                <a:uFillTx/>
              </a:defRPr>
            </a:pPr>
            <a:r>
              <a:rPr lang="en-GB" sz="1400" b="0" i="0" u="none" strike="noStrike" kern="1200" cap="none" spc="0" baseline="0" dirty="0">
                <a:solidFill>
                  <a:srgbClr val="333333"/>
                </a:solidFill>
                <a:uFillTx/>
                <a:latin typeface="Calibri  "/>
              </a:rPr>
              <a:t>Additional declaration type</a:t>
            </a:r>
            <a:r>
              <a:rPr lang="en-GB" sz="1400" b="1" i="0" u="none" strike="noStrike" kern="1200" cap="none" spc="0" baseline="0" dirty="0">
                <a:solidFill>
                  <a:srgbClr val="333333"/>
                </a:solidFill>
                <a:uFillTx/>
                <a:latin typeface="Calibri  "/>
              </a:rPr>
              <a:t> 'A' </a:t>
            </a:r>
            <a:r>
              <a:rPr lang="en-GB" sz="1400" b="0" i="0" u="none" strike="noStrike" kern="1200" cap="none" spc="0" baseline="0" dirty="0">
                <a:solidFill>
                  <a:srgbClr val="333333"/>
                </a:solidFill>
                <a:uFillTx/>
                <a:latin typeface="Calibri  "/>
              </a:rPr>
              <a:t>must be entered in DE 1/2 at header level</a:t>
            </a:r>
            <a:endParaRPr lang="en-GB" sz="1400" b="0" i="0" u="none" strike="noStrike" kern="0" cap="none" spc="0" baseline="0" dirty="0">
              <a:solidFill>
                <a:srgbClr val="333333"/>
              </a:solidFill>
              <a:uFillTx/>
              <a:latin typeface="Calibri  "/>
            </a:endParaRPr>
          </a:p>
          <a:p>
            <a:pPr marL="1657350" marR="0" lvl="3" indent="-285750" algn="l" defTabSz="914400" rtl="0" fontAlgn="auto" hangingPunct="1">
              <a:lnSpc>
                <a:spcPct val="100000"/>
              </a:lnSpc>
              <a:spcBef>
                <a:spcPts val="0"/>
              </a:spcBef>
              <a:spcAft>
                <a:spcPts val="0"/>
              </a:spcAft>
              <a:buSzPct val="100000"/>
              <a:buFont typeface="Courier New" pitchFamily="49"/>
              <a:buChar char="o"/>
              <a:tabLst/>
              <a:defRPr sz="1800" b="0" i="0" u="none" strike="noStrike" kern="0" cap="none" spc="0" baseline="0">
                <a:solidFill>
                  <a:srgbClr val="000000"/>
                </a:solidFill>
                <a:uFillTx/>
              </a:defRPr>
            </a:pPr>
            <a:r>
              <a:rPr lang="en-GB" sz="1400" b="0" i="0" u="none" strike="noStrike" kern="0" cap="none" spc="0" baseline="0" dirty="0">
                <a:solidFill>
                  <a:srgbClr val="333333"/>
                </a:solidFill>
                <a:uFillTx/>
                <a:latin typeface="Calibri  "/>
              </a:rPr>
              <a:t>Authorisation type code </a:t>
            </a:r>
            <a:r>
              <a:rPr lang="en-GB" sz="1400" b="1" i="0" u="none" strike="noStrike" kern="0" cap="none" spc="0" baseline="0" dirty="0">
                <a:solidFill>
                  <a:srgbClr val="333333"/>
                </a:solidFill>
                <a:uFillTx/>
                <a:latin typeface="Calibri  "/>
              </a:rPr>
              <a:t>'MIB</a:t>
            </a:r>
            <a:r>
              <a:rPr lang="en-GB" sz="1400" b="0" i="0" u="none" strike="noStrike" kern="0" cap="none" spc="0" baseline="0" dirty="0">
                <a:solidFill>
                  <a:srgbClr val="333333"/>
                </a:solidFill>
                <a:uFillTx/>
                <a:latin typeface="Calibri  "/>
              </a:rPr>
              <a:t>' must be entered in DE 3/39 at header level</a:t>
            </a:r>
          </a:p>
          <a:p>
            <a:pPr marL="1657350" marR="0" lvl="3" indent="-285750" algn="l" defTabSz="914400" rtl="0" fontAlgn="auto" hangingPunct="1">
              <a:lnSpc>
                <a:spcPct val="100000"/>
              </a:lnSpc>
              <a:spcBef>
                <a:spcPts val="0"/>
              </a:spcBef>
              <a:spcAft>
                <a:spcPts val="0"/>
              </a:spcAft>
              <a:buSzPct val="100000"/>
              <a:buFont typeface="Courier New" pitchFamily="49"/>
              <a:buChar char="o"/>
              <a:tabLst/>
              <a:defRPr sz="1800" b="0" i="0" u="none" strike="noStrike" kern="0" cap="none" spc="0" baseline="0">
                <a:solidFill>
                  <a:srgbClr val="000000"/>
                </a:solidFill>
                <a:uFillTx/>
              </a:defRPr>
            </a:pPr>
            <a:r>
              <a:rPr lang="en-GB" sz="1400" b="0" i="0" u="none" strike="noStrike" kern="0" cap="none" spc="0" baseline="0" dirty="0">
                <a:solidFill>
                  <a:srgbClr val="333333"/>
                </a:solidFill>
                <a:uFillTx/>
                <a:latin typeface="Calibri  "/>
              </a:rPr>
              <a:t>Additional Information code </a:t>
            </a:r>
            <a:r>
              <a:rPr lang="en-GB" sz="1400" b="1" i="0" u="none" strike="noStrike" kern="0" cap="none" spc="0" baseline="0" dirty="0">
                <a:solidFill>
                  <a:srgbClr val="333333"/>
                </a:solidFill>
                <a:uFillTx/>
                <a:latin typeface="Calibri  "/>
              </a:rPr>
              <a:t>'MIB02</a:t>
            </a:r>
            <a:r>
              <a:rPr lang="en-GB" sz="1400" b="0" i="0" u="none" strike="noStrike" kern="0" cap="none" spc="0" baseline="0" dirty="0">
                <a:solidFill>
                  <a:srgbClr val="333333"/>
                </a:solidFill>
                <a:uFillTx/>
                <a:latin typeface="Calibri  "/>
              </a:rPr>
              <a:t>' must be entered in DE 2/2 at item level on the same goods item.</a:t>
            </a:r>
          </a:p>
          <a:p>
            <a:pPr marL="1657350" marR="0" lvl="3" indent="-285750" algn="l" defTabSz="914400" rtl="0" fontAlgn="auto" hangingPunct="1">
              <a:lnSpc>
                <a:spcPct val="100000"/>
              </a:lnSpc>
              <a:spcBef>
                <a:spcPts val="0"/>
              </a:spcBef>
              <a:spcAft>
                <a:spcPts val="0"/>
              </a:spcAft>
              <a:buSzPct val="100000"/>
              <a:buFont typeface="Courier New" pitchFamily="49"/>
              <a:buChar char="o"/>
              <a:tabLst/>
              <a:defRPr sz="1800" b="0" i="0" u="none" strike="noStrike" kern="0" cap="none" spc="0" baseline="0">
                <a:solidFill>
                  <a:srgbClr val="000000"/>
                </a:solidFill>
                <a:uFillTx/>
              </a:defRPr>
            </a:pPr>
            <a:r>
              <a:rPr lang="en-GB" sz="1400" b="0" i="0" u="none" strike="noStrike" kern="1200" cap="none" spc="0" baseline="0" dirty="0">
                <a:solidFill>
                  <a:srgbClr val="333333"/>
                </a:solidFill>
                <a:uFillTx/>
                <a:latin typeface="Calibri  "/>
              </a:rPr>
              <a:t>Each goods item on the declaration must contain at least </a:t>
            </a:r>
            <a:r>
              <a:rPr lang="en-GB" sz="1400" b="1" i="0" u="none" strike="noStrike" kern="1200" cap="none" spc="0" baseline="0" dirty="0">
                <a:solidFill>
                  <a:srgbClr val="333333"/>
                </a:solidFill>
                <a:uFillTx/>
                <a:latin typeface="Calibri  "/>
              </a:rPr>
              <a:t>one</a:t>
            </a:r>
            <a:r>
              <a:rPr lang="en-GB" sz="1400" b="0" i="0" u="none" strike="noStrike" kern="1200" cap="none" spc="0" baseline="0" dirty="0">
                <a:solidFill>
                  <a:srgbClr val="333333"/>
                </a:solidFill>
                <a:uFillTx/>
                <a:latin typeface="Calibri  "/>
              </a:rPr>
              <a:t> of the below valid customs procedure codes in DE 1/10:</a:t>
            </a:r>
            <a:endParaRPr lang="en-GB" sz="1400" b="0" i="0" u="none" strike="sngStrike" kern="1200" cap="none" spc="0" baseline="0" dirty="0">
              <a:solidFill>
                <a:srgbClr val="333333"/>
              </a:solidFill>
              <a:highlight>
                <a:srgbClr val="00FFFF"/>
              </a:highlight>
              <a:uFillTx/>
              <a:latin typeface="Calibri  "/>
            </a:endParaRPr>
          </a:p>
          <a:p>
            <a:pPr marL="1371600" marR="0" lvl="3"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400" b="0" i="0" u="none" strike="noStrike" kern="0" cap="none" spc="0" baseline="0" dirty="0">
              <a:solidFill>
                <a:srgbClr val="333333"/>
              </a:solidFill>
              <a:uFillTx/>
              <a:latin typeface="Calibri  "/>
            </a:endParaRPr>
          </a:p>
          <a:p>
            <a:pPr marL="1200150" marR="0" lvl="2" indent="-285750" algn="l" defTabSz="914400" rtl="0" fontAlgn="auto" hangingPunct="1">
              <a:lnSpc>
                <a:spcPct val="100000"/>
              </a:lnSpc>
              <a:spcBef>
                <a:spcPts val="0"/>
              </a:spcBef>
              <a:spcAft>
                <a:spcPts val="0"/>
              </a:spcAft>
              <a:buSzPct val="100000"/>
              <a:buFont typeface="Courier New" pitchFamily="49"/>
              <a:buChar char="o"/>
              <a:tabLst/>
              <a:defRPr sz="1800" b="0" i="0" u="none" strike="noStrike" kern="0" cap="none" spc="0" baseline="0">
                <a:solidFill>
                  <a:srgbClr val="000000"/>
                </a:solidFill>
                <a:uFillTx/>
              </a:defRPr>
            </a:pPr>
            <a:endParaRPr lang="en-GB" sz="1100" b="0" i="0" u="none" strike="noStrike" kern="0" cap="none" spc="0" baseline="0" dirty="0">
              <a:solidFill>
                <a:srgbClr val="000000"/>
              </a:solidFill>
              <a:uFillTx/>
              <a:latin typeface="Calibri" pitchFamily="34"/>
              <a:ea typeface="Calibri" pitchFamily="34"/>
              <a:cs typeface="Times New Roman" pitchFamily="18"/>
            </a:endParaRPr>
          </a:p>
          <a:p>
            <a:pPr marL="0" marR="0" lvl="0" indent="0" algn="l" defTabSz="914400" rtl="0" fontAlgn="auto" hangingPunct="1">
              <a:lnSpc>
                <a:spcPct val="107000"/>
              </a:lnSpc>
              <a:spcBef>
                <a:spcPts val="0"/>
              </a:spcBef>
              <a:spcAft>
                <a:spcPts val="800"/>
              </a:spcAft>
              <a:buNone/>
              <a:tabLst/>
              <a:defRPr sz="1800" b="0" i="0" u="none" strike="noStrike" kern="0" cap="none" spc="0" baseline="0">
                <a:solidFill>
                  <a:srgbClr val="000000"/>
                </a:solidFill>
                <a:uFillTx/>
              </a:defRPr>
            </a:pPr>
            <a:endParaRPr lang="en-GB" sz="1400" b="0" i="0" u="none" strike="noStrike" kern="0" cap="none" spc="0" baseline="0" dirty="0">
              <a:solidFill>
                <a:srgbClr val="333333"/>
              </a:solidFill>
              <a:uFillTx/>
              <a:latin typeface="Calibri  "/>
            </a:endParaRPr>
          </a:p>
          <a:p>
            <a:pPr marL="0" marR="0" lvl="0" indent="0" algn="l" defTabSz="914400" rtl="0" fontAlgn="auto" hangingPunct="1">
              <a:lnSpc>
                <a:spcPct val="107000"/>
              </a:lnSpc>
              <a:spcBef>
                <a:spcPts val="0"/>
              </a:spcBef>
              <a:spcAft>
                <a:spcPts val="800"/>
              </a:spcAft>
              <a:buNone/>
              <a:tabLst/>
              <a:defRPr sz="1800" b="0" i="0" u="none" strike="noStrike" kern="0" cap="none" spc="0" baseline="0">
                <a:solidFill>
                  <a:srgbClr val="000000"/>
                </a:solidFill>
                <a:uFillTx/>
              </a:defRPr>
            </a:pPr>
            <a:br>
              <a:rPr lang="en-GB" sz="1400" b="0" i="0" u="none" strike="noStrike" kern="0" cap="none" spc="0" baseline="0" dirty="0">
                <a:solidFill>
                  <a:srgbClr val="000000"/>
                </a:solidFill>
                <a:uFillTx/>
                <a:latin typeface="Calibri  "/>
              </a:rPr>
            </a:br>
            <a:endParaRPr lang="en-GB" sz="1400" b="0" i="0" u="none" strike="noStrike" kern="1200" cap="none" spc="0" baseline="0" dirty="0">
              <a:solidFill>
                <a:srgbClr val="333333"/>
              </a:solidFill>
              <a:uFillTx/>
              <a:latin typeface="Calibri  "/>
              <a:ea typeface="Times New Roman" pitchFamily="18"/>
              <a:cs typeface="Times New Roman" pitchFamily="18"/>
            </a:endParaRPr>
          </a:p>
        </p:txBody>
      </p:sp>
      <p:sp>
        <p:nvSpPr>
          <p:cNvPr id="9" name="Rectangle 7">
            <a:extLst>
              <a:ext uri="{FF2B5EF4-FFF2-40B4-BE49-F238E27FC236}">
                <a16:creationId xmlns:a16="http://schemas.microsoft.com/office/drawing/2014/main" id="{87B746DE-A6BF-4917-BE04-20B403F65105}"/>
              </a:ext>
            </a:extLst>
          </p:cNvPr>
          <p:cNvSpPr/>
          <p:nvPr/>
        </p:nvSpPr>
        <p:spPr>
          <a:xfrm>
            <a:off x="465155" y="799761"/>
            <a:ext cx="3563745" cy="400114"/>
          </a:xfrm>
          <a:prstGeom prst="rect">
            <a:avLst/>
          </a:prstGeom>
          <a:solidFill>
            <a:srgbClr val="009999"/>
          </a:solidFill>
          <a:ln w="25402" cap="flat">
            <a:solidFill>
              <a:srgbClr val="009999"/>
            </a:solidFill>
            <a:prstDash val="solid"/>
            <a:miter/>
          </a:ln>
        </p:spPr>
        <p:txBody>
          <a:bodyPr vert="horz" wrap="square" lIns="91440" tIns="45720" rIns="91440" bIns="4572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2400" b="1" i="0" u="none" strike="noStrike" kern="0" cap="none" spc="0" baseline="0">
                <a:solidFill>
                  <a:srgbClr val="FFFFFF"/>
                </a:solidFill>
                <a:uFillTx/>
                <a:latin typeface="Calibri"/>
              </a:rPr>
              <a:t>New Release Functionality</a:t>
            </a:r>
          </a:p>
        </p:txBody>
      </p:sp>
      <p:graphicFrame>
        <p:nvGraphicFramePr>
          <p:cNvPr id="10" name="Table 12">
            <a:extLst>
              <a:ext uri="{FF2B5EF4-FFF2-40B4-BE49-F238E27FC236}">
                <a16:creationId xmlns:a16="http://schemas.microsoft.com/office/drawing/2014/main" id="{F7E721CD-97BC-4124-B711-A2E0D1DB1677}"/>
              </a:ext>
            </a:extLst>
          </p:cNvPr>
          <p:cNvGraphicFramePr>
            <a:graphicFrameLocks noGrp="1"/>
          </p:cNvGraphicFramePr>
          <p:nvPr/>
        </p:nvGraphicFramePr>
        <p:xfrm>
          <a:off x="1797189" y="4616266"/>
          <a:ext cx="4384481" cy="1312778"/>
        </p:xfrm>
        <a:graphic>
          <a:graphicData uri="http://schemas.openxmlformats.org/drawingml/2006/table">
            <a:tbl>
              <a:tblPr firstRow="1" bandRow="1">
                <a:effectLst/>
                <a:tableStyleId>{5C22544A-7EE6-4342-B048-85BDC9FD1C3A}</a:tableStyleId>
              </a:tblPr>
              <a:tblGrid>
                <a:gridCol w="1030537">
                  <a:extLst>
                    <a:ext uri="{9D8B030D-6E8A-4147-A177-3AD203B41FA5}">
                      <a16:colId xmlns:a16="http://schemas.microsoft.com/office/drawing/2014/main" val="3316326912"/>
                    </a:ext>
                  </a:extLst>
                </a:gridCol>
                <a:gridCol w="1068970">
                  <a:extLst>
                    <a:ext uri="{9D8B030D-6E8A-4147-A177-3AD203B41FA5}">
                      <a16:colId xmlns:a16="http://schemas.microsoft.com/office/drawing/2014/main" val="196652236"/>
                    </a:ext>
                  </a:extLst>
                </a:gridCol>
                <a:gridCol w="1165667">
                  <a:extLst>
                    <a:ext uri="{9D8B030D-6E8A-4147-A177-3AD203B41FA5}">
                      <a16:colId xmlns:a16="http://schemas.microsoft.com/office/drawing/2014/main" val="3458804128"/>
                    </a:ext>
                  </a:extLst>
                </a:gridCol>
                <a:gridCol w="1119307">
                  <a:extLst>
                    <a:ext uri="{9D8B030D-6E8A-4147-A177-3AD203B41FA5}">
                      <a16:colId xmlns:a16="http://schemas.microsoft.com/office/drawing/2014/main" val="4268205818"/>
                    </a:ext>
                  </a:extLst>
                </a:gridCol>
              </a:tblGrid>
              <a:tr h="144374">
                <a:tc gridSpan="4">
                  <a:txBody>
                    <a:bodyPr/>
                    <a:lstStyle/>
                    <a:p>
                      <a:pPr lvl="0" algn="ctr"/>
                      <a:r>
                        <a:rPr lang="en-GB" sz="1300"/>
                        <a:t>Customs Procedure Code (EX)</a:t>
                      </a:r>
                    </a:p>
                  </a:txBody>
                  <a:tcPr marL="90004" marR="12847" marT="9637" marB="9637" anchor="ctr">
                    <a:solidFill>
                      <a:srgbClr val="009999"/>
                    </a:solidFill>
                  </a:tcPr>
                </a:tc>
                <a:tc hMerge="1">
                  <a:txBody>
                    <a:bodyPr/>
                    <a:lstStyle/>
                    <a:p>
                      <a:endParaRPr lang="en-GB"/>
                    </a:p>
                  </a:txBody>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3245053026"/>
                  </a:ext>
                </a:extLst>
              </a:tr>
              <a:tr h="192298">
                <a:tc>
                  <a:txBody>
                    <a:bodyPr/>
                    <a:lstStyle/>
                    <a:p>
                      <a:pPr lvl="0" algn="ctr"/>
                      <a:r>
                        <a:rPr lang="en-GB" sz="1300"/>
                        <a:t>1007</a:t>
                      </a:r>
                    </a:p>
                  </a:txBody>
                  <a:tcPr marL="19046" marR="19046" marT="14292" marB="14292" anchor="ctr"/>
                </a:tc>
                <a:tc>
                  <a:txBody>
                    <a:bodyPr/>
                    <a:lstStyle/>
                    <a:p>
                      <a:pPr lvl="0" algn="ctr"/>
                      <a:r>
                        <a:rPr lang="en-GB" sz="1300"/>
                        <a:t>1040</a:t>
                      </a:r>
                    </a:p>
                  </a:txBody>
                  <a:tcPr marL="19046" marR="19046" marT="14292" marB="14292" anchor="ctr"/>
                </a:tc>
                <a:tc>
                  <a:txBody>
                    <a:bodyPr/>
                    <a:lstStyle/>
                    <a:p>
                      <a:pPr lvl="0" algn="ctr"/>
                      <a:r>
                        <a:rPr lang="en-GB" sz="1300"/>
                        <a:t>1044</a:t>
                      </a:r>
                    </a:p>
                  </a:txBody>
                  <a:tcPr marL="19046" marR="19046" marT="14292" marB="14292" anchor="ctr"/>
                </a:tc>
                <a:tc>
                  <a:txBody>
                    <a:bodyPr/>
                    <a:lstStyle/>
                    <a:p>
                      <a:pPr lvl="0" algn="ctr"/>
                      <a:r>
                        <a:rPr lang="en-GB" sz="1300"/>
                        <a:t>1100</a:t>
                      </a:r>
                    </a:p>
                  </a:txBody>
                  <a:tcPr/>
                </a:tc>
                <a:extLst>
                  <a:ext uri="{0D108BD9-81ED-4DB2-BD59-A6C34878D82A}">
                    <a16:rowId xmlns:a16="http://schemas.microsoft.com/office/drawing/2014/main" val="3738291195"/>
                  </a:ext>
                </a:extLst>
              </a:tr>
              <a:tr h="192298">
                <a:tc>
                  <a:txBody>
                    <a:bodyPr/>
                    <a:lstStyle/>
                    <a:p>
                      <a:pPr lvl="0" algn="ctr"/>
                      <a:r>
                        <a:rPr lang="en-GB" sz="1300"/>
                        <a:t>2100</a:t>
                      </a:r>
                    </a:p>
                  </a:txBody>
                  <a:tcPr marL="19046" marR="19046" marT="14292" marB="14292" anchor="ctr"/>
                </a:tc>
                <a:tc>
                  <a:txBody>
                    <a:bodyPr/>
                    <a:lstStyle/>
                    <a:p>
                      <a:pPr lvl="0" algn="ctr"/>
                      <a:r>
                        <a:rPr lang="en-GB" sz="1300"/>
                        <a:t>2144</a:t>
                      </a:r>
                    </a:p>
                  </a:txBody>
                  <a:tcPr marL="19046" marR="19046" marT="14292" marB="14292" anchor="ctr"/>
                </a:tc>
                <a:tc>
                  <a:txBody>
                    <a:bodyPr/>
                    <a:lstStyle/>
                    <a:p>
                      <a:pPr lvl="0" algn="ctr"/>
                      <a:r>
                        <a:rPr lang="en-GB" sz="1300"/>
                        <a:t>2151</a:t>
                      </a:r>
                    </a:p>
                  </a:txBody>
                  <a:tcPr marL="19046" marR="19046" marT="14292" marB="14292" anchor="ctr"/>
                </a:tc>
                <a:tc>
                  <a:txBody>
                    <a:bodyPr/>
                    <a:lstStyle/>
                    <a:p>
                      <a:pPr lvl="0" algn="ctr"/>
                      <a:r>
                        <a:rPr lang="en-GB" sz="1300"/>
                        <a:t>2200</a:t>
                      </a:r>
                    </a:p>
                  </a:txBody>
                  <a:tcPr/>
                </a:tc>
                <a:extLst>
                  <a:ext uri="{0D108BD9-81ED-4DB2-BD59-A6C34878D82A}">
                    <a16:rowId xmlns:a16="http://schemas.microsoft.com/office/drawing/2014/main" val="2572834770"/>
                  </a:ext>
                </a:extLst>
              </a:tr>
              <a:tr h="192298">
                <a:tc>
                  <a:txBody>
                    <a:bodyPr/>
                    <a:lstStyle/>
                    <a:p>
                      <a:pPr lvl="0" algn="ctr"/>
                      <a:r>
                        <a:rPr lang="en-GB" sz="1300"/>
                        <a:t>2244</a:t>
                      </a:r>
                    </a:p>
                  </a:txBody>
                  <a:tcPr marL="19046" marR="19046" marT="14292" marB="14292" anchor="ctr"/>
                </a:tc>
                <a:tc>
                  <a:txBody>
                    <a:bodyPr/>
                    <a:lstStyle/>
                    <a:p>
                      <a:pPr lvl="0" algn="ctr"/>
                      <a:r>
                        <a:rPr lang="en-GB" sz="1300"/>
                        <a:t>2300</a:t>
                      </a:r>
                    </a:p>
                  </a:txBody>
                  <a:tcPr marL="19046" marR="19046" marT="14292" marB="14292" anchor="ctr"/>
                </a:tc>
                <a:tc>
                  <a:txBody>
                    <a:bodyPr/>
                    <a:lstStyle/>
                    <a:p>
                      <a:pPr lvl="0" algn="ctr"/>
                      <a:r>
                        <a:rPr lang="en-GB" sz="1300"/>
                        <a:t>3151</a:t>
                      </a:r>
                    </a:p>
                  </a:txBody>
                  <a:tcPr marL="19046" marR="19046" marT="14292" marB="14292" anchor="ctr"/>
                </a:tc>
                <a:tc>
                  <a:txBody>
                    <a:bodyPr/>
                    <a:lstStyle/>
                    <a:p>
                      <a:pPr lvl="0" algn="ctr"/>
                      <a:r>
                        <a:rPr lang="en-GB" sz="1300"/>
                        <a:t>3153</a:t>
                      </a:r>
                    </a:p>
                  </a:txBody>
                  <a:tcPr/>
                </a:tc>
                <a:extLst>
                  <a:ext uri="{0D108BD9-81ED-4DB2-BD59-A6C34878D82A}">
                    <a16:rowId xmlns:a16="http://schemas.microsoft.com/office/drawing/2014/main" val="2042151255"/>
                  </a:ext>
                </a:extLst>
              </a:tr>
              <a:tr h="150555">
                <a:tc>
                  <a:txBody>
                    <a:bodyPr/>
                    <a:lstStyle/>
                    <a:p>
                      <a:pPr lvl="0" algn="ctr"/>
                      <a:r>
                        <a:rPr lang="en-GB" sz="1300"/>
                        <a:t>3171</a:t>
                      </a:r>
                    </a:p>
                  </a:txBody>
                  <a:tcPr marL="19046" marR="19046" marT="14292" marB="14292" anchor="ctr"/>
                </a:tc>
                <a:tc>
                  <a:txBody>
                    <a:bodyPr/>
                    <a:lstStyle/>
                    <a:p>
                      <a:pPr lvl="0" algn="ctr"/>
                      <a:endParaRPr lang="en-GB" sz="1300"/>
                    </a:p>
                  </a:txBody>
                  <a:tcPr marL="19046" marR="19046" marT="14292" marB="14292" anchor="ctr"/>
                </a:tc>
                <a:tc>
                  <a:txBody>
                    <a:bodyPr/>
                    <a:lstStyle/>
                    <a:p>
                      <a:pPr lvl="0" algn="ctr"/>
                      <a:endParaRPr lang="en-GB" sz="1300"/>
                    </a:p>
                  </a:txBody>
                  <a:tcPr marL="19046" marR="19046" marT="14292" marB="14292" anchor="ctr"/>
                </a:tc>
                <a:tc>
                  <a:txBody>
                    <a:bodyPr/>
                    <a:lstStyle/>
                    <a:p>
                      <a:pPr lvl="0" algn="ctr"/>
                      <a:endParaRPr lang="en-GB" sz="1300"/>
                    </a:p>
                  </a:txBody>
                  <a:tcPr marL="19046" marR="19046" marT="14292" marB="14292" anchor="ctr"/>
                </a:tc>
                <a:extLst>
                  <a:ext uri="{0D108BD9-81ED-4DB2-BD59-A6C34878D82A}">
                    <a16:rowId xmlns:a16="http://schemas.microsoft.com/office/drawing/2014/main" val="7416693"/>
                  </a:ext>
                </a:extLst>
              </a:tr>
            </a:tbl>
          </a:graphicData>
        </a:graphic>
      </p:graphicFrame>
      <p:graphicFrame>
        <p:nvGraphicFramePr>
          <p:cNvPr id="11" name="Table 12">
            <a:extLst>
              <a:ext uri="{FF2B5EF4-FFF2-40B4-BE49-F238E27FC236}">
                <a16:creationId xmlns:a16="http://schemas.microsoft.com/office/drawing/2014/main" id="{D962ACDF-6CB8-4229-8BD8-552B0942627E}"/>
              </a:ext>
            </a:extLst>
          </p:cNvPr>
          <p:cNvGraphicFramePr>
            <a:graphicFrameLocks noGrp="1"/>
          </p:cNvGraphicFramePr>
          <p:nvPr/>
        </p:nvGraphicFramePr>
        <p:xfrm>
          <a:off x="6275856" y="4616266"/>
          <a:ext cx="4290281" cy="804428"/>
        </p:xfrm>
        <a:graphic>
          <a:graphicData uri="http://schemas.openxmlformats.org/drawingml/2006/table">
            <a:tbl>
              <a:tblPr firstRow="1" bandRow="1">
                <a:effectLst/>
                <a:tableStyleId>{5C22544A-7EE6-4342-B048-85BDC9FD1C3A}</a:tableStyleId>
              </a:tblPr>
              <a:tblGrid>
                <a:gridCol w="1008400">
                  <a:extLst>
                    <a:ext uri="{9D8B030D-6E8A-4147-A177-3AD203B41FA5}">
                      <a16:colId xmlns:a16="http://schemas.microsoft.com/office/drawing/2014/main" val="362133114"/>
                    </a:ext>
                  </a:extLst>
                </a:gridCol>
                <a:gridCol w="1013411">
                  <a:extLst>
                    <a:ext uri="{9D8B030D-6E8A-4147-A177-3AD203B41FA5}">
                      <a16:colId xmlns:a16="http://schemas.microsoft.com/office/drawing/2014/main" val="3725785915"/>
                    </a:ext>
                  </a:extLst>
                </a:gridCol>
                <a:gridCol w="1173211">
                  <a:extLst>
                    <a:ext uri="{9D8B030D-6E8A-4147-A177-3AD203B41FA5}">
                      <a16:colId xmlns:a16="http://schemas.microsoft.com/office/drawing/2014/main" val="3924615190"/>
                    </a:ext>
                  </a:extLst>
                </a:gridCol>
                <a:gridCol w="1095259">
                  <a:extLst>
                    <a:ext uri="{9D8B030D-6E8A-4147-A177-3AD203B41FA5}">
                      <a16:colId xmlns:a16="http://schemas.microsoft.com/office/drawing/2014/main" val="872758401"/>
                    </a:ext>
                  </a:extLst>
                </a:gridCol>
              </a:tblGrid>
              <a:tr h="212698">
                <a:tc gridSpan="4">
                  <a:txBody>
                    <a:bodyPr/>
                    <a:lstStyle/>
                    <a:p>
                      <a:pPr lvl="0" algn="ctr"/>
                      <a:r>
                        <a:rPr lang="en-GB" sz="1300"/>
                        <a:t>Customs Procedure Code (CO)</a:t>
                      </a:r>
                    </a:p>
                  </a:txBody>
                  <a:tcPr marL="90004" marR="12847" marT="9637" marB="9637" anchor="ctr">
                    <a:solidFill>
                      <a:srgbClr val="009999"/>
                    </a:solidFill>
                  </a:tcPr>
                </a:tc>
                <a:tc hMerge="1">
                  <a:txBody>
                    <a:bodyPr/>
                    <a:lstStyle/>
                    <a:p>
                      <a:endParaRPr lang="en-GB"/>
                    </a:p>
                  </a:txBody>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2443721597"/>
                  </a:ext>
                </a:extLst>
              </a:tr>
              <a:tr h="280839">
                <a:tc>
                  <a:txBody>
                    <a:bodyPr/>
                    <a:lstStyle/>
                    <a:p>
                      <a:pPr lvl="0" algn="ctr"/>
                      <a:r>
                        <a:rPr lang="en-GB" sz="1300"/>
                        <a:t>1007</a:t>
                      </a:r>
                    </a:p>
                  </a:txBody>
                  <a:tcPr marL="19046" marR="19046" marT="14292" marB="14292" anchor="ctr"/>
                </a:tc>
                <a:tc>
                  <a:txBody>
                    <a:bodyPr/>
                    <a:lstStyle/>
                    <a:p>
                      <a:pPr lvl="0" algn="ctr"/>
                      <a:r>
                        <a:rPr lang="en-GB" sz="1300"/>
                        <a:t>1040</a:t>
                      </a:r>
                    </a:p>
                  </a:txBody>
                  <a:tcPr marL="19046" marR="19046" marT="14292" marB="14292" anchor="ctr"/>
                </a:tc>
                <a:tc>
                  <a:txBody>
                    <a:bodyPr/>
                    <a:lstStyle/>
                    <a:p>
                      <a:pPr lvl="0" algn="ctr"/>
                      <a:r>
                        <a:rPr lang="en-GB" sz="1300"/>
                        <a:t>2200</a:t>
                      </a:r>
                    </a:p>
                  </a:txBody>
                  <a:tcPr marL="19046" marR="19046" marT="14292" marB="14292" anchor="ctr"/>
                </a:tc>
                <a:tc>
                  <a:txBody>
                    <a:bodyPr/>
                    <a:lstStyle/>
                    <a:p>
                      <a:pPr lvl="0" algn="ctr"/>
                      <a:r>
                        <a:rPr lang="en-GB" sz="1300"/>
                        <a:t>2244</a:t>
                      </a:r>
                    </a:p>
                  </a:txBody>
                  <a:tcPr marL="19046" marR="19046" marT="14292" marB="14292" anchor="ctr"/>
                </a:tc>
                <a:extLst>
                  <a:ext uri="{0D108BD9-81ED-4DB2-BD59-A6C34878D82A}">
                    <a16:rowId xmlns:a16="http://schemas.microsoft.com/office/drawing/2014/main" val="2936993264"/>
                  </a:ext>
                </a:extLst>
              </a:tr>
              <a:tr h="306195">
                <a:tc>
                  <a:txBody>
                    <a:bodyPr/>
                    <a:lstStyle/>
                    <a:p>
                      <a:pPr lvl="0" algn="ctr"/>
                      <a:r>
                        <a:rPr lang="en-GB" sz="1300"/>
                        <a:t>2300</a:t>
                      </a:r>
                    </a:p>
                  </a:txBody>
                  <a:tcPr marL="19046" marR="19046" marT="14292" marB="14292" anchor="ctr"/>
                </a:tc>
                <a:tc>
                  <a:txBody>
                    <a:bodyPr/>
                    <a:lstStyle/>
                    <a:p>
                      <a:pPr lvl="0" algn="ctr"/>
                      <a:r>
                        <a:rPr lang="en-GB" sz="1300"/>
                        <a:t>3151</a:t>
                      </a:r>
                    </a:p>
                  </a:txBody>
                  <a:tcPr marL="19046" marR="19046" marT="14292" marB="14292" anchor="ctr"/>
                </a:tc>
                <a:tc>
                  <a:txBody>
                    <a:bodyPr/>
                    <a:lstStyle/>
                    <a:p>
                      <a:pPr lvl="0" algn="ctr"/>
                      <a:r>
                        <a:rPr lang="en-GB" sz="1300"/>
                        <a:t>3153</a:t>
                      </a:r>
                    </a:p>
                  </a:txBody>
                  <a:tcPr marL="19046" marR="19046" marT="14292" marB="14292" anchor="ctr"/>
                </a:tc>
                <a:tc>
                  <a:txBody>
                    <a:bodyPr/>
                    <a:lstStyle/>
                    <a:p>
                      <a:pPr lvl="0" algn="ctr"/>
                      <a:r>
                        <a:rPr lang="en-GB" sz="1300"/>
                        <a:t>3171</a:t>
                      </a:r>
                    </a:p>
                  </a:txBody>
                  <a:tcPr marL="19046" marR="19046" marT="14292" marB="14292" anchor="ctr"/>
                </a:tc>
                <a:extLst>
                  <a:ext uri="{0D108BD9-81ED-4DB2-BD59-A6C34878D82A}">
                    <a16:rowId xmlns:a16="http://schemas.microsoft.com/office/drawing/2014/main" val="2435378872"/>
                  </a:ext>
                </a:extLst>
              </a:tr>
            </a:tbl>
          </a:graphicData>
        </a:graphic>
      </p:graphicFrame>
      <p:sp>
        <p:nvSpPr>
          <p:cNvPr id="12" name="TextBox 16">
            <a:extLst>
              <a:ext uri="{FF2B5EF4-FFF2-40B4-BE49-F238E27FC236}">
                <a16:creationId xmlns:a16="http://schemas.microsoft.com/office/drawing/2014/main" id="{857D1B57-3CDB-48B5-A2EF-04E697D9E3A9}"/>
              </a:ext>
            </a:extLst>
          </p:cNvPr>
          <p:cNvSpPr txBox="1"/>
          <p:nvPr/>
        </p:nvSpPr>
        <p:spPr>
          <a:xfrm>
            <a:off x="1723881" y="4303614"/>
            <a:ext cx="7521205" cy="312651"/>
          </a:xfrm>
          <a:prstGeom prst="rect">
            <a:avLst/>
          </a:prstGeom>
          <a:noFill/>
          <a:ln cap="flat">
            <a:noFill/>
          </a:ln>
        </p:spPr>
        <p:txBody>
          <a:bodyPr vert="horz" wrap="square" lIns="91440" tIns="45720" rIns="91440" bIns="45720" anchor="t" anchorCtr="0" compatLnSpc="1">
            <a:spAutoFit/>
          </a:bodyPr>
          <a:lstStyle/>
          <a:p>
            <a:pPr marL="0" marR="0" lvl="0" indent="0" algn="l" defTabSz="914400" rtl="0" fontAlgn="auto" hangingPunct="1">
              <a:lnSpc>
                <a:spcPct val="107000"/>
              </a:lnSpc>
              <a:spcBef>
                <a:spcPts val="0"/>
              </a:spcBef>
              <a:spcAft>
                <a:spcPts val="800"/>
              </a:spcAft>
              <a:buNone/>
              <a:tabLst/>
              <a:defRPr sz="1800" b="0" i="0" u="none" strike="noStrike" kern="0" cap="none" spc="0" baseline="0">
                <a:solidFill>
                  <a:srgbClr val="000000"/>
                </a:solidFill>
                <a:uFillTx/>
              </a:defRPr>
            </a:pPr>
            <a:r>
              <a:rPr lang="en-GB" sz="1400" b="1" i="0" u="sng" strike="noStrike" kern="1200" cap="none" spc="0" baseline="0">
                <a:solidFill>
                  <a:srgbClr val="333333"/>
                </a:solidFill>
                <a:uFillTx/>
                <a:latin typeface="Calibri" pitchFamily="34"/>
                <a:ea typeface="Times New Roman" pitchFamily="18"/>
                <a:cs typeface="Times New Roman" pitchFamily="18"/>
              </a:rPr>
              <a:t>Valid Customs Procedure Codes for APC ‘1MB’</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Straight Connector 17">
            <a:extLst>
              <a:ext uri="{FF2B5EF4-FFF2-40B4-BE49-F238E27FC236}">
                <a16:creationId xmlns:a16="http://schemas.microsoft.com/office/drawing/2014/main" id="{11B734FC-701A-4658-AFD3-2E8D1FA8B35D}"/>
              </a:ext>
            </a:extLst>
          </p:cNvPr>
          <p:cNvCxnSpPr/>
          <p:nvPr/>
        </p:nvCxnSpPr>
        <p:spPr>
          <a:xfrm>
            <a:off x="325937" y="186903"/>
            <a:ext cx="0" cy="422050"/>
          </a:xfrm>
          <a:prstGeom prst="straightConnector1">
            <a:avLst/>
          </a:prstGeom>
          <a:noFill/>
          <a:ln w="28575" cap="flat">
            <a:solidFill>
              <a:srgbClr val="D9D9D9"/>
            </a:solidFill>
            <a:prstDash val="solid"/>
            <a:miter/>
          </a:ln>
        </p:spPr>
      </p:cxnSp>
      <p:cxnSp>
        <p:nvCxnSpPr>
          <p:cNvPr id="3" name="Straight Connector 11">
            <a:extLst>
              <a:ext uri="{FF2B5EF4-FFF2-40B4-BE49-F238E27FC236}">
                <a16:creationId xmlns:a16="http://schemas.microsoft.com/office/drawing/2014/main" id="{278FD040-7EA0-44BD-B3A1-ECE1AB28E99D}"/>
              </a:ext>
            </a:extLst>
          </p:cNvPr>
          <p:cNvCxnSpPr/>
          <p:nvPr/>
        </p:nvCxnSpPr>
        <p:spPr>
          <a:xfrm>
            <a:off x="319116" y="186903"/>
            <a:ext cx="0" cy="422050"/>
          </a:xfrm>
          <a:prstGeom prst="straightConnector1">
            <a:avLst/>
          </a:prstGeom>
          <a:noFill/>
          <a:ln w="28575" cap="flat">
            <a:solidFill>
              <a:srgbClr val="D9D9D9"/>
            </a:solidFill>
            <a:prstDash val="solid"/>
            <a:miter/>
          </a:ln>
        </p:spPr>
      </p:cxnSp>
      <p:sp>
        <p:nvSpPr>
          <p:cNvPr id="4" name="TextBox 12">
            <a:extLst>
              <a:ext uri="{FF2B5EF4-FFF2-40B4-BE49-F238E27FC236}">
                <a16:creationId xmlns:a16="http://schemas.microsoft.com/office/drawing/2014/main" id="{A149FAF8-8C62-4BE1-9CB1-598DA04CE661}"/>
              </a:ext>
            </a:extLst>
          </p:cNvPr>
          <p:cNvSpPr txBox="1"/>
          <p:nvPr/>
        </p:nvSpPr>
        <p:spPr>
          <a:xfrm>
            <a:off x="363967" y="248844"/>
            <a:ext cx="2321725" cy="307777"/>
          </a:xfrm>
          <a:prstGeom prst="rect">
            <a:avLst/>
          </a:prstGeom>
          <a:noFill/>
          <a:ln cap="flat">
            <a:noFill/>
          </a:ln>
        </p:spPr>
        <p:txBody>
          <a:bodyPr vert="horz" wrap="none" lIns="91440" tIns="45720" rIns="91440" bIns="45720" anchor="t"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400" b="1" i="0" u="none" strike="noStrike" kern="1200" cap="none" spc="50" baseline="0">
                <a:solidFill>
                  <a:srgbClr val="A6A6A6"/>
                </a:solidFill>
                <a:uFillTx/>
                <a:latin typeface="Calibri"/>
              </a:rPr>
              <a:t>RELEASE SCOPE GUIDANCE</a:t>
            </a:r>
          </a:p>
        </p:txBody>
      </p:sp>
      <p:pic>
        <p:nvPicPr>
          <p:cNvPr id="5" name="Picture 106" descr="57% HMRCppt logo">
            <a:extLst>
              <a:ext uri="{FF2B5EF4-FFF2-40B4-BE49-F238E27FC236}">
                <a16:creationId xmlns:a16="http://schemas.microsoft.com/office/drawing/2014/main" id="{CE86051B-B3C4-4568-BCC7-BD2537B0C57F}"/>
              </a:ext>
            </a:extLst>
          </p:cNvPr>
          <p:cNvPicPr>
            <a:picLocks noChangeAspect="1"/>
          </p:cNvPicPr>
          <p:nvPr/>
        </p:nvPicPr>
        <p:blipFill>
          <a:blip r:embed="rId3"/>
          <a:srcRect/>
          <a:stretch>
            <a:fillRect/>
          </a:stretch>
        </p:blipFill>
        <p:spPr>
          <a:xfrm>
            <a:off x="446099" y="5929033"/>
            <a:ext cx="1030227" cy="633980"/>
          </a:xfrm>
          <a:prstGeom prst="rect">
            <a:avLst/>
          </a:prstGeom>
          <a:noFill/>
          <a:ln cap="flat">
            <a:noFill/>
          </a:ln>
        </p:spPr>
      </p:pic>
      <p:sp>
        <p:nvSpPr>
          <p:cNvPr id="6" name="Slide Number Placeholder 5">
            <a:extLst>
              <a:ext uri="{FF2B5EF4-FFF2-40B4-BE49-F238E27FC236}">
                <a16:creationId xmlns:a16="http://schemas.microsoft.com/office/drawing/2014/main" id="{EB811007-F1C4-4FA2-ACB8-07954293A160}"/>
              </a:ext>
            </a:extLst>
          </p:cNvPr>
          <p:cNvSpPr txBox="1"/>
          <p:nvPr/>
        </p:nvSpPr>
        <p:spPr>
          <a:xfrm>
            <a:off x="11526231" y="6387897"/>
            <a:ext cx="443849" cy="365129"/>
          </a:xfrm>
          <a:prstGeom prst="rect">
            <a:avLst/>
          </a:prstGeom>
          <a:noFill/>
          <a:ln cap="flat">
            <a:noFill/>
          </a:ln>
        </p:spPr>
        <p:txBody>
          <a:bodyPr vert="horz" wrap="square" lIns="91440" tIns="45720" rIns="91440" bIns="45720" anchor="ctr" anchorCtr="0" compatLnSpc="1">
            <a:noAutofit/>
          </a:bodyPr>
          <a:lstStyle/>
          <a:p>
            <a:pPr marL="0" marR="0" lvl="0" indent="0" algn="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fld id="{F229718E-1EEF-4B93-B61A-CC29425AE741}" type="slidenum">
              <a:rPr lang="en-GB" sz="900" b="0" i="0" u="none" strike="noStrike" kern="1200" cap="none" spc="0" baseline="0">
                <a:solidFill>
                  <a:srgbClr val="000000"/>
                </a:solidFill>
                <a:uFillTx/>
                <a:latin typeface="Calibri"/>
              </a:rPr>
              <a:t>5</a:t>
            </a:fld>
            <a:endParaRPr lang="en-GB" sz="900" b="0" i="0" u="none" strike="noStrike" kern="1200" cap="none" spc="0" baseline="0">
              <a:solidFill>
                <a:srgbClr val="000000"/>
              </a:solidFill>
              <a:uFillTx/>
              <a:latin typeface="Calibri"/>
            </a:endParaRPr>
          </a:p>
        </p:txBody>
      </p:sp>
      <p:sp>
        <p:nvSpPr>
          <p:cNvPr id="7" name="Footer Placeholder 1">
            <a:extLst>
              <a:ext uri="{FF2B5EF4-FFF2-40B4-BE49-F238E27FC236}">
                <a16:creationId xmlns:a16="http://schemas.microsoft.com/office/drawing/2014/main" id="{50800857-3CC4-40C4-A85C-F53D5F61A882}"/>
              </a:ext>
            </a:extLst>
          </p:cNvPr>
          <p:cNvSpPr txBox="1"/>
          <p:nvPr/>
        </p:nvSpPr>
        <p:spPr>
          <a:xfrm>
            <a:off x="2943801" y="6490795"/>
            <a:ext cx="8737604" cy="144466"/>
          </a:xfrm>
          <a:prstGeom prst="rect">
            <a:avLst/>
          </a:prstGeom>
          <a:noFill/>
          <a:ln cap="flat">
            <a:noFill/>
          </a:ln>
        </p:spPr>
        <p:txBody>
          <a:bodyPr vert="horz" wrap="square" lIns="0" tIns="0" rIns="0" bIns="0" anchor="ctr" anchorCtr="0" compatLnSpc="1">
            <a:noAutofit/>
          </a:bodyPr>
          <a:lstStyle/>
          <a:p>
            <a:pPr marL="0" marR="0" lvl="0" indent="0" algn="r"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r>
              <a:rPr lang="en-GB" sz="900" b="0" i="0" u="none" strike="noStrike" kern="1200" cap="none" spc="0" baseline="0">
                <a:solidFill>
                  <a:srgbClr val="3B3A3D"/>
                </a:solidFill>
                <a:uFillTx/>
                <a:latin typeface="Calibri"/>
                <a:ea typeface="Geneva"/>
                <a:cs typeface="Arial"/>
              </a:rPr>
              <a:t>OFFICIAL | CDS External Release Scope Guidance Document |</a:t>
            </a:r>
            <a:endParaRPr lang="en-GB" sz="900" b="1" i="0" u="none" strike="noStrike" kern="1200" cap="none" spc="0" baseline="0">
              <a:solidFill>
                <a:srgbClr val="008D8E"/>
              </a:solidFill>
              <a:uFillTx/>
              <a:latin typeface="Calibri"/>
              <a:ea typeface="Geneva"/>
              <a:cs typeface="Arial"/>
            </a:endParaRPr>
          </a:p>
        </p:txBody>
      </p:sp>
      <p:sp>
        <p:nvSpPr>
          <p:cNvPr id="8" name="Rectangle 13">
            <a:extLst>
              <a:ext uri="{FF2B5EF4-FFF2-40B4-BE49-F238E27FC236}">
                <a16:creationId xmlns:a16="http://schemas.microsoft.com/office/drawing/2014/main" id="{74389D3B-AC91-4E07-8117-94BEE27DEA5D}"/>
              </a:ext>
            </a:extLst>
          </p:cNvPr>
          <p:cNvSpPr/>
          <p:nvPr/>
        </p:nvSpPr>
        <p:spPr>
          <a:xfrm>
            <a:off x="363967" y="1224088"/>
            <a:ext cx="11282159" cy="4511556"/>
          </a:xfrm>
          <a:prstGeom prst="rect">
            <a:avLst/>
          </a:prstGeom>
          <a:noFill/>
          <a:ln cap="flat">
            <a:noFill/>
            <a:prstDash val="solid"/>
          </a:ln>
        </p:spPr>
        <p:txBody>
          <a:bodyPr vert="horz" wrap="square" lIns="91440" tIns="45720" rIns="91440" bIns="45720" anchor="t" anchorCtr="0" compatLnSpc="1">
            <a:spAutoFit/>
          </a:bodyPr>
          <a:lstStyle/>
          <a:p>
            <a:pPr marL="742950" marR="0" lvl="1" indent="-285750" algn="l" defTabSz="914400" rtl="0" fontAlgn="auto" hangingPunct="1">
              <a:lnSpc>
                <a:spcPct val="100000"/>
              </a:lnSpc>
              <a:spcBef>
                <a:spcPts val="0"/>
              </a:spcBef>
              <a:spcAft>
                <a:spcPts val="0"/>
              </a:spcAft>
              <a:buSzPct val="100000"/>
              <a:buFont typeface="Arial" pitchFamily="34"/>
              <a:buChar char="•"/>
              <a:tabLst/>
              <a:defRPr sz="1800" b="0" i="0" u="none" strike="noStrike" kern="0" cap="none" spc="0" baseline="0">
                <a:solidFill>
                  <a:srgbClr val="000000"/>
                </a:solidFill>
                <a:uFillTx/>
              </a:defRPr>
            </a:pPr>
            <a:r>
              <a:rPr lang="en-GB" sz="1400" b="1" i="0" u="none" strike="noStrike" kern="1200" cap="none" spc="0" baseline="0">
                <a:solidFill>
                  <a:srgbClr val="333333"/>
                </a:solidFill>
                <a:uFillTx/>
                <a:latin typeface="Calibri  "/>
              </a:rPr>
              <a:t>Mandatory requirements for Authorisation Type Code ‘MIB’, </a:t>
            </a:r>
          </a:p>
          <a:p>
            <a:pPr marL="1657350" marR="0" lvl="3" indent="-285750" algn="l" defTabSz="914400" rtl="0" fontAlgn="auto" hangingPunct="1">
              <a:lnSpc>
                <a:spcPct val="100000"/>
              </a:lnSpc>
              <a:spcBef>
                <a:spcPts val="0"/>
              </a:spcBef>
              <a:spcAft>
                <a:spcPts val="0"/>
              </a:spcAft>
              <a:buSzPct val="100000"/>
              <a:buFont typeface="Courier New" pitchFamily="49"/>
              <a:buChar char="o"/>
              <a:tabLst/>
              <a:defRPr sz="1800" b="0" i="0" u="none" strike="noStrike" kern="0" cap="none" spc="0" baseline="0">
                <a:solidFill>
                  <a:srgbClr val="000000"/>
                </a:solidFill>
                <a:uFillTx/>
              </a:defRPr>
            </a:pPr>
            <a:r>
              <a:rPr lang="en-US" sz="1400" b="0" i="0" u="none" strike="noStrike" kern="0" cap="none" spc="0" baseline="0">
                <a:solidFill>
                  <a:srgbClr val="333333"/>
                </a:solidFill>
                <a:uFillTx/>
                <a:latin typeface="Calibri  "/>
                <a:cs typeface="Arial" pitchFamily="34"/>
              </a:rPr>
              <a:t>'</a:t>
            </a:r>
            <a:r>
              <a:rPr lang="en-US" sz="1400" b="1" i="0" u="none" strike="noStrike" kern="0" cap="none" spc="0" baseline="0">
                <a:solidFill>
                  <a:srgbClr val="333333"/>
                </a:solidFill>
                <a:uFillTx/>
                <a:latin typeface="Calibri  "/>
                <a:cs typeface="Arial" pitchFamily="34"/>
              </a:rPr>
              <a:t>EX</a:t>
            </a:r>
            <a:r>
              <a:rPr lang="en-US" sz="1400" b="0" i="0" u="none" strike="noStrike" kern="0" cap="none" spc="0" baseline="0">
                <a:solidFill>
                  <a:srgbClr val="333333"/>
                </a:solidFill>
                <a:uFillTx/>
                <a:latin typeface="Calibri  "/>
                <a:cs typeface="Arial" pitchFamily="34"/>
              </a:rPr>
              <a:t>' or '</a:t>
            </a:r>
            <a:r>
              <a:rPr lang="en-US" sz="1400" b="1" i="0" u="none" strike="noStrike" kern="0" cap="none" spc="0" baseline="0">
                <a:solidFill>
                  <a:srgbClr val="333333"/>
                </a:solidFill>
                <a:uFillTx/>
                <a:latin typeface="Calibri  "/>
                <a:cs typeface="Arial" pitchFamily="34"/>
              </a:rPr>
              <a:t>CO</a:t>
            </a:r>
            <a:r>
              <a:rPr lang="en-US" sz="1400" b="0" i="0" u="none" strike="noStrike" kern="0" cap="none" spc="0" baseline="0">
                <a:solidFill>
                  <a:srgbClr val="333333"/>
                </a:solidFill>
                <a:uFillTx/>
                <a:latin typeface="Calibri  "/>
                <a:cs typeface="Arial" pitchFamily="34"/>
              </a:rPr>
              <a:t>' must be entered in DE 1/1;</a:t>
            </a:r>
          </a:p>
          <a:p>
            <a:pPr marL="1657350" marR="0" lvl="3" indent="-285750" algn="l" defTabSz="914400" rtl="0" fontAlgn="auto" hangingPunct="1">
              <a:lnSpc>
                <a:spcPct val="107000"/>
              </a:lnSpc>
              <a:spcBef>
                <a:spcPts val="0"/>
              </a:spcBef>
              <a:spcAft>
                <a:spcPts val="0"/>
              </a:spcAft>
              <a:buSzPct val="100000"/>
              <a:buFont typeface="Courier New" pitchFamily="49"/>
              <a:buChar char="o"/>
              <a:tabLst/>
              <a:defRPr sz="1800" b="0" i="0" u="none" strike="noStrike" kern="0" cap="none" spc="0" baseline="0">
                <a:solidFill>
                  <a:srgbClr val="000000"/>
                </a:solidFill>
                <a:uFillTx/>
              </a:defRPr>
            </a:pPr>
            <a:r>
              <a:rPr lang="en-US" sz="1400" b="0" i="0" u="none" strike="noStrike" kern="0" cap="none" spc="0" baseline="0">
                <a:solidFill>
                  <a:srgbClr val="333333"/>
                </a:solidFill>
                <a:uFillTx/>
                <a:latin typeface="Calibri  "/>
                <a:cs typeface="Arial" pitchFamily="34"/>
              </a:rPr>
              <a:t>The exporter </a:t>
            </a:r>
            <a:r>
              <a:rPr lang="en-US" sz="1400" b="1" i="0" u="none" strike="noStrike" kern="0" cap="none" spc="0" baseline="0">
                <a:solidFill>
                  <a:srgbClr val="333333"/>
                </a:solidFill>
                <a:uFillTx/>
                <a:latin typeface="Calibri  "/>
                <a:cs typeface="Arial" pitchFamily="34"/>
              </a:rPr>
              <a:t>EORI </a:t>
            </a:r>
            <a:r>
              <a:rPr lang="en-US" sz="1400" b="0" i="0" u="none" strike="noStrike" kern="0" cap="none" spc="0" baseline="0">
                <a:solidFill>
                  <a:srgbClr val="333333"/>
                </a:solidFill>
                <a:uFillTx/>
                <a:latin typeface="Calibri  "/>
                <a:cs typeface="Arial" pitchFamily="34"/>
              </a:rPr>
              <a:t>must be entered in the DE 3/39 sub-field 'Identifier’;</a:t>
            </a:r>
          </a:p>
          <a:p>
            <a:pPr marL="1657350" marR="0" lvl="3" indent="-285750" algn="l" defTabSz="914400" rtl="0" fontAlgn="auto" hangingPunct="1">
              <a:lnSpc>
                <a:spcPct val="107000"/>
              </a:lnSpc>
              <a:spcBef>
                <a:spcPts val="0"/>
              </a:spcBef>
              <a:spcAft>
                <a:spcPts val="0"/>
              </a:spcAft>
              <a:buSzPct val="100000"/>
              <a:buFont typeface="Courier New" pitchFamily="49"/>
              <a:buChar char="o"/>
              <a:tabLst/>
              <a:defRPr sz="1800" b="0" i="0" u="none" strike="noStrike" kern="0" cap="none" spc="0" baseline="0">
                <a:solidFill>
                  <a:srgbClr val="000000"/>
                </a:solidFill>
                <a:uFillTx/>
              </a:defRPr>
            </a:pPr>
            <a:r>
              <a:rPr lang="en-US" sz="1400" b="0" i="0" u="none" strike="noStrike" kern="0" cap="none" spc="0" baseline="0">
                <a:solidFill>
                  <a:srgbClr val="333333"/>
                </a:solidFill>
                <a:uFillTx/>
                <a:latin typeface="Calibri  "/>
                <a:cs typeface="Arial" pitchFamily="34"/>
              </a:rPr>
              <a:t>APC </a:t>
            </a:r>
            <a:r>
              <a:rPr lang="en-US" sz="1400" b="1" i="0" u="none" strike="noStrike" kern="0" cap="none" spc="0" baseline="0">
                <a:solidFill>
                  <a:srgbClr val="333333"/>
                </a:solidFill>
                <a:uFillTx/>
                <a:latin typeface="Calibri  "/>
                <a:cs typeface="Arial" pitchFamily="34"/>
              </a:rPr>
              <a:t>'1MB</a:t>
            </a:r>
            <a:r>
              <a:rPr lang="en-US" sz="1400" b="0" i="0" u="none" strike="noStrike" kern="0" cap="none" spc="0" baseline="0">
                <a:solidFill>
                  <a:srgbClr val="333333"/>
                </a:solidFill>
                <a:uFillTx/>
                <a:latin typeface="Calibri  "/>
                <a:cs typeface="Arial" pitchFamily="34"/>
              </a:rPr>
              <a:t>' must be entered in DE 1/11 at item level on </a:t>
            </a:r>
            <a:r>
              <a:rPr lang="en-US" sz="1400" b="1" i="0" u="none" strike="noStrike" kern="0" cap="none" spc="0" baseline="0">
                <a:solidFill>
                  <a:srgbClr val="333333"/>
                </a:solidFill>
                <a:uFillTx/>
                <a:latin typeface="Calibri  "/>
                <a:cs typeface="Arial" pitchFamily="34"/>
              </a:rPr>
              <a:t>every goods item*</a:t>
            </a:r>
          </a:p>
          <a:p>
            <a:pPr marL="1657350" marR="0" lvl="3" indent="-285750" algn="l" defTabSz="914400" rtl="0" fontAlgn="auto" hangingPunct="1">
              <a:lnSpc>
                <a:spcPct val="107000"/>
              </a:lnSpc>
              <a:spcBef>
                <a:spcPts val="0"/>
              </a:spcBef>
              <a:spcAft>
                <a:spcPts val="0"/>
              </a:spcAft>
              <a:buSzPct val="100000"/>
              <a:buFont typeface="Courier New" pitchFamily="49"/>
              <a:buChar char="o"/>
              <a:tabLst/>
              <a:defRPr sz="1800" b="0" i="0" u="none" strike="noStrike" kern="0" cap="none" spc="0" baseline="0">
                <a:solidFill>
                  <a:srgbClr val="000000"/>
                </a:solidFill>
                <a:uFillTx/>
              </a:defRPr>
            </a:pPr>
            <a:r>
              <a:rPr lang="en-US" sz="1400" b="0" i="0" u="none" strike="noStrike" kern="0" cap="none" spc="0" baseline="0">
                <a:solidFill>
                  <a:srgbClr val="333333"/>
                </a:solidFill>
                <a:uFillTx/>
                <a:latin typeface="Calibri  "/>
                <a:cs typeface="Arial" pitchFamily="34"/>
              </a:rPr>
              <a:t>Document code </a:t>
            </a:r>
            <a:r>
              <a:rPr lang="en-US" sz="1400" b="1" i="0" u="none" strike="noStrike" kern="0" cap="none" spc="0" baseline="0">
                <a:solidFill>
                  <a:srgbClr val="333333"/>
                </a:solidFill>
                <a:uFillTx/>
                <a:latin typeface="Calibri  "/>
                <a:cs typeface="Arial" pitchFamily="34"/>
              </a:rPr>
              <a:t>'1MIB</a:t>
            </a:r>
            <a:r>
              <a:rPr lang="en-US" sz="1400" b="0" i="0" u="none" strike="noStrike" kern="0" cap="none" spc="0" baseline="0">
                <a:solidFill>
                  <a:srgbClr val="333333"/>
                </a:solidFill>
                <a:uFillTx/>
                <a:latin typeface="Calibri  "/>
                <a:cs typeface="Arial" pitchFamily="34"/>
              </a:rPr>
              <a:t>' must be entered in DE 2/3 at item level </a:t>
            </a:r>
            <a:r>
              <a:rPr lang="en-US" sz="1400" b="1" i="0" u="none" strike="noStrike" kern="0" cap="none" spc="0" baseline="0">
                <a:solidFill>
                  <a:srgbClr val="333333"/>
                </a:solidFill>
                <a:uFillTx/>
                <a:latin typeface="Calibri  "/>
                <a:cs typeface="Arial" pitchFamily="34"/>
              </a:rPr>
              <a:t>every goods item*</a:t>
            </a:r>
            <a:br>
              <a:rPr lang="en-US" sz="1400" b="0" i="0" u="none" strike="noStrike" kern="0" cap="none" spc="0" baseline="0">
                <a:solidFill>
                  <a:srgbClr val="008000"/>
                </a:solidFill>
                <a:uFillTx/>
                <a:latin typeface="Arial" pitchFamily="34"/>
                <a:cs typeface="Arial" pitchFamily="34"/>
              </a:rPr>
            </a:br>
            <a:endParaRPr lang="en-US" sz="1400" b="0" i="0" u="none" strike="noStrike" kern="0" cap="none" spc="0" baseline="0">
              <a:solidFill>
                <a:srgbClr val="333333"/>
              </a:solidFill>
              <a:uFillTx/>
              <a:latin typeface="Arial" pitchFamily="34"/>
              <a:cs typeface="Arial" pitchFamily="34"/>
            </a:endParaRPr>
          </a:p>
          <a:p>
            <a:pPr marL="742950" marR="0" lvl="1" indent="-285750" algn="l" defTabSz="914400" rtl="0" fontAlgn="auto" hangingPunct="1">
              <a:lnSpc>
                <a:spcPct val="100000"/>
              </a:lnSpc>
              <a:spcBef>
                <a:spcPts val="0"/>
              </a:spcBef>
              <a:spcAft>
                <a:spcPts val="0"/>
              </a:spcAft>
              <a:buSzPct val="100000"/>
              <a:buFont typeface="Arial" pitchFamily="34"/>
              <a:buChar char="•"/>
              <a:tabLst/>
              <a:defRPr sz="1800" b="0" i="0" u="none" strike="noStrike" kern="0" cap="none" spc="0" baseline="0">
                <a:solidFill>
                  <a:srgbClr val="000000"/>
                </a:solidFill>
                <a:uFillTx/>
              </a:defRPr>
            </a:pPr>
            <a:r>
              <a:rPr lang="en-GB" sz="1400" b="1" i="0" u="none" strike="noStrike" kern="1200" cap="none" spc="0" baseline="0">
                <a:solidFill>
                  <a:srgbClr val="333333"/>
                </a:solidFill>
                <a:uFillTx/>
                <a:latin typeface="Calibri"/>
              </a:rPr>
              <a:t>Mandatory requirements for document code '1MIB</a:t>
            </a:r>
            <a:r>
              <a:rPr lang="en-GB" sz="1400" b="0" i="0" u="none" strike="noStrike" kern="1200" cap="none" spc="0" baseline="0">
                <a:solidFill>
                  <a:srgbClr val="333333"/>
                </a:solidFill>
                <a:uFillTx/>
                <a:latin typeface="Calibri"/>
              </a:rPr>
              <a:t>’, </a:t>
            </a:r>
          </a:p>
          <a:p>
            <a:pPr marL="1657350" marR="0" lvl="3" indent="-285750" algn="l" defTabSz="914400" rtl="0" fontAlgn="auto" hangingPunct="1">
              <a:lnSpc>
                <a:spcPct val="100000"/>
              </a:lnSpc>
              <a:spcBef>
                <a:spcPts val="0"/>
              </a:spcBef>
              <a:spcAft>
                <a:spcPts val="0"/>
              </a:spcAft>
              <a:buSzPct val="100000"/>
              <a:buFont typeface="Courier New" pitchFamily="49"/>
              <a:buChar char="o"/>
              <a:tabLst/>
              <a:defRPr sz="1800" b="0" i="0" u="none" strike="noStrike" kern="0" cap="none" spc="0" baseline="0">
                <a:solidFill>
                  <a:srgbClr val="000000"/>
                </a:solidFill>
                <a:uFillTx/>
              </a:defRPr>
            </a:pPr>
            <a:r>
              <a:rPr lang="en-GB" sz="1400" b="0" i="0" u="none" strike="noStrike" kern="1200" cap="none" spc="0" baseline="0">
                <a:solidFill>
                  <a:srgbClr val="333333"/>
                </a:solidFill>
                <a:uFillTx/>
                <a:latin typeface="Calibri"/>
              </a:rPr>
              <a:t>'</a:t>
            </a:r>
            <a:r>
              <a:rPr lang="en-GB" sz="1400" b="1" i="0" u="none" strike="noStrike" kern="1200" cap="none" spc="0" baseline="0">
                <a:solidFill>
                  <a:srgbClr val="333333"/>
                </a:solidFill>
                <a:uFillTx/>
                <a:latin typeface="Calibri"/>
              </a:rPr>
              <a:t>EX</a:t>
            </a:r>
            <a:r>
              <a:rPr lang="en-GB" sz="1400" b="0" i="0" u="none" strike="noStrike" kern="1200" cap="none" spc="0" baseline="0">
                <a:solidFill>
                  <a:srgbClr val="333333"/>
                </a:solidFill>
                <a:uFillTx/>
                <a:latin typeface="Calibri"/>
              </a:rPr>
              <a:t>' or '</a:t>
            </a:r>
            <a:r>
              <a:rPr lang="en-GB" sz="1400" b="1" i="0" u="none" strike="noStrike" kern="1200" cap="none" spc="0" baseline="0">
                <a:solidFill>
                  <a:srgbClr val="333333"/>
                </a:solidFill>
                <a:uFillTx/>
                <a:latin typeface="Calibri"/>
              </a:rPr>
              <a:t>CO</a:t>
            </a:r>
            <a:r>
              <a:rPr lang="en-GB" sz="1400" b="0" i="0" u="none" strike="noStrike" kern="1200" cap="none" spc="0" baseline="0">
                <a:solidFill>
                  <a:srgbClr val="333333"/>
                </a:solidFill>
                <a:uFillTx/>
                <a:latin typeface="Calibri"/>
              </a:rPr>
              <a:t>' must be entered in DE 1/1;</a:t>
            </a:r>
          </a:p>
          <a:p>
            <a:pPr marL="1657350" marR="0" lvl="3" indent="-285750" algn="l" defTabSz="914400" rtl="0" fontAlgn="auto" hangingPunct="1">
              <a:lnSpc>
                <a:spcPct val="100000"/>
              </a:lnSpc>
              <a:spcBef>
                <a:spcPts val="0"/>
              </a:spcBef>
              <a:spcAft>
                <a:spcPts val="0"/>
              </a:spcAft>
              <a:buSzPct val="100000"/>
              <a:buFont typeface="Courier New" pitchFamily="49"/>
              <a:buChar char="o"/>
              <a:tabLst/>
              <a:defRPr sz="1800" b="0" i="0" u="none" strike="noStrike" kern="0" cap="none" spc="0" baseline="0">
                <a:solidFill>
                  <a:srgbClr val="000000"/>
                </a:solidFill>
                <a:uFillTx/>
              </a:defRPr>
            </a:pPr>
            <a:r>
              <a:rPr lang="en-GB" sz="1400" b="0" i="0" u="none" strike="noStrike" kern="1200" cap="none" spc="0" baseline="0">
                <a:solidFill>
                  <a:srgbClr val="333333"/>
                </a:solidFill>
                <a:uFillTx/>
                <a:latin typeface="Calibri"/>
              </a:rPr>
              <a:t>Authorisation type code </a:t>
            </a:r>
            <a:r>
              <a:rPr lang="en-GB" sz="1400" b="1" i="0" u="none" strike="noStrike" kern="1200" cap="none" spc="0" baseline="0">
                <a:solidFill>
                  <a:srgbClr val="333333"/>
                </a:solidFill>
                <a:uFillTx/>
                <a:latin typeface="Calibri"/>
              </a:rPr>
              <a:t>'MIB</a:t>
            </a:r>
            <a:r>
              <a:rPr lang="en-GB" sz="1400" b="0" i="0" u="none" strike="noStrike" kern="1200" cap="none" spc="0" baseline="0">
                <a:solidFill>
                  <a:srgbClr val="333333"/>
                </a:solidFill>
                <a:uFillTx/>
                <a:latin typeface="Calibri"/>
              </a:rPr>
              <a:t>' must be entered in DE 3/39;</a:t>
            </a:r>
          </a:p>
          <a:p>
            <a:pPr marL="1657350" marR="0" lvl="3" indent="-285750" algn="l" defTabSz="914400" rtl="0" fontAlgn="auto" hangingPunct="1">
              <a:lnSpc>
                <a:spcPct val="100000"/>
              </a:lnSpc>
              <a:spcBef>
                <a:spcPts val="0"/>
              </a:spcBef>
              <a:spcAft>
                <a:spcPts val="0"/>
              </a:spcAft>
              <a:buSzPct val="100000"/>
              <a:buFont typeface="Courier New" pitchFamily="49"/>
              <a:buChar char="o"/>
              <a:tabLst/>
              <a:defRPr sz="1800" b="0" i="0" u="none" strike="noStrike" kern="0" cap="none" spc="0" baseline="0">
                <a:solidFill>
                  <a:srgbClr val="000000"/>
                </a:solidFill>
                <a:uFillTx/>
              </a:defRPr>
            </a:pPr>
            <a:r>
              <a:rPr lang="en-GB" sz="1400" b="0" i="0" u="none" strike="noStrike" kern="1200" cap="none" spc="0" baseline="0">
                <a:solidFill>
                  <a:srgbClr val="333333"/>
                </a:solidFill>
                <a:uFillTx/>
                <a:latin typeface="Calibri  "/>
              </a:rPr>
              <a:t>The DE 2/3 </a:t>
            </a:r>
            <a:r>
              <a:rPr lang="en-GB" sz="1400" b="1" i="0" u="none" strike="noStrike" kern="1200" cap="none" spc="0" baseline="0">
                <a:solidFill>
                  <a:srgbClr val="333333"/>
                </a:solidFill>
                <a:uFillTx/>
                <a:latin typeface="Calibri  "/>
              </a:rPr>
              <a:t>sub-field 'Identifier’ </a:t>
            </a:r>
            <a:r>
              <a:rPr lang="en-GB" sz="1400" b="0" i="0" u="none" strike="noStrike" kern="1200" cap="none" spc="0" baseline="0">
                <a:solidFill>
                  <a:srgbClr val="333333"/>
                </a:solidFill>
                <a:uFillTx/>
                <a:latin typeface="Calibri  "/>
              </a:rPr>
              <a:t>must be completed with the date of arrival at the border. The date must be entered in the standard format 'DDMMYYYY’.</a:t>
            </a:r>
          </a:p>
          <a:p>
            <a:pPr marL="457200" marR="0" lvl="1" indent="0" algn="l" defTabSz="914400" rtl="0" fontAlgn="auto" hangingPunct="1">
              <a:lnSpc>
                <a:spcPct val="107000"/>
              </a:lnSpc>
              <a:spcBef>
                <a:spcPts val="0"/>
              </a:spcBef>
              <a:spcAft>
                <a:spcPts val="0"/>
              </a:spcAft>
              <a:buNone/>
              <a:tabLst/>
              <a:defRPr sz="1800" b="0" i="0" u="none" strike="noStrike" kern="0" cap="none" spc="0" baseline="0">
                <a:solidFill>
                  <a:srgbClr val="000000"/>
                </a:solidFill>
                <a:uFillTx/>
              </a:defRPr>
            </a:pPr>
            <a:endParaRPr lang="en-GB" sz="1400" b="0" i="0" u="none" strike="noStrike" kern="0" cap="none" spc="0" baseline="0">
              <a:solidFill>
                <a:srgbClr val="333333"/>
              </a:solidFill>
              <a:uFillTx/>
              <a:latin typeface="Calibri  "/>
            </a:endParaRPr>
          </a:p>
          <a:p>
            <a:pPr marL="742950" marR="0" lvl="1" indent="-285750" algn="l" defTabSz="914400" rtl="0" fontAlgn="auto" hangingPunct="1">
              <a:lnSpc>
                <a:spcPct val="107000"/>
              </a:lnSpc>
              <a:spcBef>
                <a:spcPts val="0"/>
              </a:spcBef>
              <a:spcAft>
                <a:spcPts val="0"/>
              </a:spcAft>
              <a:buSzPct val="100000"/>
              <a:buFont typeface="Arial" pitchFamily="34"/>
              <a:buChar char="•"/>
              <a:tabLst/>
              <a:defRPr sz="1800" b="0" i="0" u="none" strike="noStrike" kern="0" cap="none" spc="0" baseline="0">
                <a:solidFill>
                  <a:srgbClr val="000000"/>
                </a:solidFill>
                <a:uFillTx/>
              </a:defRPr>
            </a:pPr>
            <a:r>
              <a:rPr lang="en-GB" sz="1400" b="1" i="0" u="none" strike="noStrike" kern="0" cap="none" spc="0" baseline="0">
                <a:solidFill>
                  <a:srgbClr val="333333"/>
                </a:solidFill>
                <a:uFillTx/>
                <a:latin typeface="Calibri"/>
              </a:rPr>
              <a:t>Mandatory requirements for Additional Information Code ‘MIB02’</a:t>
            </a:r>
          </a:p>
          <a:p>
            <a:pPr marL="1657350" marR="0" lvl="3" indent="-285750" algn="l" defTabSz="914400" rtl="0" fontAlgn="auto" hangingPunct="1">
              <a:lnSpc>
                <a:spcPct val="100000"/>
              </a:lnSpc>
              <a:spcBef>
                <a:spcPts val="0"/>
              </a:spcBef>
              <a:spcAft>
                <a:spcPts val="0"/>
              </a:spcAft>
              <a:buSzPct val="100000"/>
              <a:buFont typeface="Courier New" pitchFamily="49"/>
              <a:buChar char="o"/>
              <a:tabLst/>
              <a:defRPr sz="1800" b="0" i="0" u="none" strike="noStrike" kern="0" cap="none" spc="0" baseline="0">
                <a:solidFill>
                  <a:srgbClr val="000000"/>
                </a:solidFill>
                <a:uFillTx/>
              </a:defRPr>
            </a:pPr>
            <a:r>
              <a:rPr lang="en-GB" sz="1400" b="0" i="0" u="none" strike="noStrike" kern="1200" cap="none" spc="0" baseline="0">
                <a:solidFill>
                  <a:srgbClr val="333333"/>
                </a:solidFill>
                <a:uFillTx/>
                <a:latin typeface="Calibri  "/>
              </a:rPr>
              <a:t>'</a:t>
            </a:r>
            <a:r>
              <a:rPr lang="en-GB" sz="1400" b="1" i="0" u="none" strike="noStrike" kern="1200" cap="none" spc="0" baseline="0">
                <a:solidFill>
                  <a:srgbClr val="333333"/>
                </a:solidFill>
                <a:uFillTx/>
                <a:latin typeface="Calibri  "/>
              </a:rPr>
              <a:t>EX</a:t>
            </a:r>
            <a:r>
              <a:rPr lang="en-GB" sz="1400" b="0" i="0" u="none" strike="noStrike" kern="1200" cap="none" spc="0" baseline="0">
                <a:solidFill>
                  <a:srgbClr val="333333"/>
                </a:solidFill>
                <a:uFillTx/>
                <a:latin typeface="Calibri  "/>
              </a:rPr>
              <a:t>' or '</a:t>
            </a:r>
            <a:r>
              <a:rPr lang="en-GB" sz="1400" b="1" i="0" u="none" strike="noStrike" kern="1200" cap="none" spc="0" baseline="0">
                <a:solidFill>
                  <a:srgbClr val="333333"/>
                </a:solidFill>
                <a:uFillTx/>
                <a:latin typeface="Calibri  "/>
              </a:rPr>
              <a:t>CO</a:t>
            </a:r>
            <a:r>
              <a:rPr lang="en-GB" sz="1400" b="0" i="0" u="none" strike="noStrike" kern="1200" cap="none" spc="0" baseline="0">
                <a:solidFill>
                  <a:srgbClr val="333333"/>
                </a:solidFill>
                <a:uFillTx/>
                <a:latin typeface="Calibri  "/>
              </a:rPr>
              <a:t>' must be entered in DE 1/1;</a:t>
            </a:r>
          </a:p>
          <a:p>
            <a:pPr marL="1657350" marR="0" lvl="3" indent="-285750" algn="l" defTabSz="914400" rtl="0" fontAlgn="auto" hangingPunct="1">
              <a:lnSpc>
                <a:spcPct val="100000"/>
              </a:lnSpc>
              <a:spcBef>
                <a:spcPts val="0"/>
              </a:spcBef>
              <a:spcAft>
                <a:spcPts val="0"/>
              </a:spcAft>
              <a:buSzPct val="100000"/>
              <a:buFont typeface="Courier New" pitchFamily="49"/>
              <a:buChar char="o"/>
              <a:tabLst/>
              <a:defRPr sz="1800" b="0" i="0" u="none" strike="noStrike" kern="0" cap="none" spc="0" baseline="0">
                <a:solidFill>
                  <a:srgbClr val="000000"/>
                </a:solidFill>
                <a:uFillTx/>
              </a:defRPr>
            </a:pPr>
            <a:r>
              <a:rPr lang="en-GB" sz="1400" b="0" i="0" u="none" strike="noStrike" kern="1200" cap="none" spc="0" baseline="0">
                <a:solidFill>
                  <a:srgbClr val="333333"/>
                </a:solidFill>
                <a:uFillTx/>
                <a:latin typeface="Calibri  "/>
              </a:rPr>
              <a:t>APC </a:t>
            </a:r>
            <a:r>
              <a:rPr lang="en-GB" sz="1400" b="1" i="0" u="none" strike="noStrike" kern="1200" cap="none" spc="0" baseline="0">
                <a:solidFill>
                  <a:srgbClr val="333333"/>
                </a:solidFill>
                <a:uFillTx/>
                <a:latin typeface="Calibri  "/>
              </a:rPr>
              <a:t>'1MB</a:t>
            </a:r>
            <a:r>
              <a:rPr lang="en-GB" sz="1400" b="0" i="0" u="none" strike="noStrike" kern="1200" cap="none" spc="0" baseline="0">
                <a:solidFill>
                  <a:srgbClr val="333333"/>
                </a:solidFill>
                <a:uFillTx/>
                <a:latin typeface="Calibri  "/>
              </a:rPr>
              <a:t>' must be entered in DE 1/11 at item level on the same goods item;</a:t>
            </a:r>
          </a:p>
          <a:p>
            <a:pPr marL="1657350" marR="0" lvl="3" indent="-285750" algn="l" defTabSz="914400" rtl="0" fontAlgn="auto" hangingPunct="1">
              <a:lnSpc>
                <a:spcPct val="100000"/>
              </a:lnSpc>
              <a:spcBef>
                <a:spcPts val="0"/>
              </a:spcBef>
              <a:spcAft>
                <a:spcPts val="0"/>
              </a:spcAft>
              <a:buSzPct val="100000"/>
              <a:buFont typeface="Courier New" pitchFamily="49"/>
              <a:buChar char="o"/>
              <a:tabLst/>
              <a:defRPr sz="1800" b="0" i="0" u="none" strike="noStrike" kern="0" cap="none" spc="0" baseline="0">
                <a:solidFill>
                  <a:srgbClr val="000000"/>
                </a:solidFill>
                <a:uFillTx/>
              </a:defRPr>
            </a:pPr>
            <a:r>
              <a:rPr lang="en-GB" sz="1400" b="0" i="0" u="none" strike="noStrike" kern="1200" cap="none" spc="0" baseline="0">
                <a:solidFill>
                  <a:srgbClr val="333333"/>
                </a:solidFill>
                <a:uFillTx/>
                <a:latin typeface="Calibri  "/>
              </a:rPr>
              <a:t>Document code </a:t>
            </a:r>
            <a:r>
              <a:rPr lang="en-GB" sz="1400" b="1" i="0" u="none" strike="noStrike" kern="1200" cap="none" spc="0" baseline="0">
                <a:solidFill>
                  <a:srgbClr val="333333"/>
                </a:solidFill>
                <a:uFillTx/>
                <a:latin typeface="Calibri  "/>
              </a:rPr>
              <a:t>'1MIB</a:t>
            </a:r>
            <a:r>
              <a:rPr lang="en-GB" sz="1400" b="0" i="0" u="none" strike="noStrike" kern="1200" cap="none" spc="0" baseline="0">
                <a:solidFill>
                  <a:srgbClr val="333333"/>
                </a:solidFill>
                <a:uFillTx/>
                <a:latin typeface="Calibri  "/>
              </a:rPr>
              <a:t>' must be entered in DE 2/3 at item level on the same goods item</a:t>
            </a:r>
          </a:p>
          <a:p>
            <a:pPr marL="1657350" marR="0" lvl="3" indent="-285750" algn="l" defTabSz="914400" rtl="0" fontAlgn="auto" hangingPunct="1">
              <a:lnSpc>
                <a:spcPct val="100000"/>
              </a:lnSpc>
              <a:spcBef>
                <a:spcPts val="0"/>
              </a:spcBef>
              <a:spcAft>
                <a:spcPts val="0"/>
              </a:spcAft>
              <a:buSzPct val="100000"/>
              <a:buFont typeface="Courier New" pitchFamily="49"/>
              <a:buChar char="o"/>
              <a:tabLst/>
              <a:defRPr sz="1800" b="0" i="0" u="none" strike="noStrike" kern="0" cap="none" spc="0" baseline="0">
                <a:solidFill>
                  <a:srgbClr val="000000"/>
                </a:solidFill>
                <a:uFillTx/>
              </a:defRPr>
            </a:pPr>
            <a:r>
              <a:rPr lang="it-IT" sz="1400" b="0" i="0" u="none" strike="noStrike" kern="1200" cap="none" spc="0" baseline="0">
                <a:solidFill>
                  <a:srgbClr val="333333"/>
                </a:solidFill>
                <a:uFillTx/>
                <a:latin typeface="Calibri  "/>
              </a:rPr>
              <a:t>CDS will </a:t>
            </a:r>
            <a:r>
              <a:rPr lang="it-IT" sz="1400" b="1" i="0" u="none" strike="noStrike" kern="1200" cap="none" spc="0" baseline="0">
                <a:solidFill>
                  <a:srgbClr val="333333"/>
                </a:solidFill>
                <a:uFillTx/>
                <a:latin typeface="Calibri  "/>
              </a:rPr>
              <a:t>not</a:t>
            </a:r>
            <a:r>
              <a:rPr lang="it-IT" sz="1400" b="0" i="0" u="none" strike="noStrike" kern="1200" cap="none" spc="0" baseline="0">
                <a:solidFill>
                  <a:srgbClr val="333333"/>
                </a:solidFill>
                <a:uFillTx/>
                <a:latin typeface="Calibri  "/>
              </a:rPr>
              <a:t> allow MiB declarations to be linked to GVMS, therefore AI code </a:t>
            </a:r>
            <a:r>
              <a:rPr lang="it-IT" sz="1400" b="1" i="0" u="none" strike="noStrike" kern="1200" cap="none" spc="0" baseline="0">
                <a:solidFill>
                  <a:srgbClr val="333333"/>
                </a:solidFill>
                <a:uFillTx/>
                <a:latin typeface="Calibri  "/>
              </a:rPr>
              <a:t>'RRS01</a:t>
            </a:r>
            <a:r>
              <a:rPr lang="it-IT" sz="1400" b="0" i="0" u="none" strike="noStrike" kern="1200" cap="none" spc="0" baseline="0">
                <a:solidFill>
                  <a:srgbClr val="333333"/>
                </a:solidFill>
                <a:uFillTx/>
                <a:latin typeface="Calibri  "/>
              </a:rPr>
              <a:t>’ must </a:t>
            </a:r>
            <a:r>
              <a:rPr lang="it-IT" sz="1400" b="1" i="0" u="none" strike="noStrike" kern="1200" cap="none" spc="0" baseline="0">
                <a:solidFill>
                  <a:srgbClr val="333333"/>
                </a:solidFill>
                <a:uFillTx/>
                <a:latin typeface="Calibri  "/>
              </a:rPr>
              <a:t>not</a:t>
            </a:r>
            <a:r>
              <a:rPr lang="it-IT" sz="1400" b="0" i="0" u="none" strike="noStrike" kern="1200" cap="none" spc="0" baseline="0">
                <a:solidFill>
                  <a:srgbClr val="333333"/>
                </a:solidFill>
                <a:uFillTx/>
                <a:latin typeface="Calibri  "/>
              </a:rPr>
              <a:t> be entered in DE 2/2 - </a:t>
            </a:r>
            <a:r>
              <a:rPr lang="en-GB" sz="1400" b="0" i="0" u="none" strike="noStrike" kern="1200" cap="none" spc="0" baseline="0">
                <a:solidFill>
                  <a:srgbClr val="333333"/>
                </a:solidFill>
                <a:uFillTx/>
                <a:latin typeface="Calibri" pitchFamily="34"/>
                <a:ea typeface="Times New Roman" pitchFamily="18"/>
                <a:cs typeface="Times New Roman" pitchFamily="18"/>
              </a:rPr>
              <a:t>MIB declarations using this new functionality must be declared with a non-GVMS location code</a:t>
            </a:r>
            <a:endParaRPr lang="en-GB" sz="1400" b="0" i="0" u="none" strike="noStrike" kern="1200" cap="none" spc="0" baseline="0">
              <a:solidFill>
                <a:srgbClr val="333333"/>
              </a:solidFill>
              <a:uFillTx/>
              <a:latin typeface="Calibri  "/>
            </a:endParaRPr>
          </a:p>
          <a:p>
            <a:pPr marL="457200" marR="0" lvl="1" indent="0" algn="l" defTabSz="914400" rtl="0" fontAlgn="auto" hangingPunct="1">
              <a:lnSpc>
                <a:spcPct val="107000"/>
              </a:lnSpc>
              <a:spcBef>
                <a:spcPts val="0"/>
              </a:spcBef>
              <a:spcAft>
                <a:spcPts val="0"/>
              </a:spcAft>
              <a:buNone/>
              <a:tabLst/>
              <a:defRPr sz="1800" b="0" i="0" u="none" strike="noStrike" kern="0" cap="none" spc="0" baseline="0">
                <a:solidFill>
                  <a:srgbClr val="000000"/>
                </a:solidFill>
                <a:uFillTx/>
              </a:defRPr>
            </a:pPr>
            <a:endParaRPr lang="en-GB" sz="1400" b="0" i="0" u="none" strike="noStrike" kern="0" cap="none" spc="0" baseline="0">
              <a:solidFill>
                <a:srgbClr val="333333"/>
              </a:solidFill>
              <a:uFillTx/>
              <a:latin typeface="Calibri  "/>
            </a:endParaRPr>
          </a:p>
          <a:p>
            <a:pPr marL="742950" marR="0" lvl="1" indent="-285750" algn="l" defTabSz="914400" rtl="0" fontAlgn="auto" hangingPunct="1">
              <a:lnSpc>
                <a:spcPct val="107000"/>
              </a:lnSpc>
              <a:spcBef>
                <a:spcPts val="0"/>
              </a:spcBef>
              <a:spcAft>
                <a:spcPts val="0"/>
              </a:spcAft>
              <a:buSzPct val="100000"/>
              <a:buFont typeface="Arial" pitchFamily="34"/>
              <a:buChar char="•"/>
              <a:tabLst/>
              <a:defRPr sz="1800" b="0" i="0" u="none" strike="noStrike" kern="0" cap="none" spc="0" baseline="0">
                <a:solidFill>
                  <a:srgbClr val="000000"/>
                </a:solidFill>
                <a:uFillTx/>
              </a:defRPr>
            </a:pPr>
            <a:r>
              <a:rPr lang="en-GB" sz="1400" b="0" i="0" u="none" strike="noStrike" kern="1200" cap="none" spc="0" baseline="0">
                <a:solidFill>
                  <a:srgbClr val="333333"/>
                </a:solidFill>
                <a:uFillTx/>
                <a:latin typeface="Calibri  "/>
              </a:rPr>
              <a:t>Where</a:t>
            </a:r>
            <a:r>
              <a:rPr lang="en-GB" sz="1400" b="1" i="0" u="none" strike="noStrike" kern="1200" cap="none" spc="0" baseline="0">
                <a:solidFill>
                  <a:srgbClr val="333333"/>
                </a:solidFill>
                <a:uFillTx/>
                <a:latin typeface="Calibri  "/>
              </a:rPr>
              <a:t> </a:t>
            </a:r>
            <a:r>
              <a:rPr lang="en-GB" sz="1400" b="0" i="0" u="none" strike="noStrike" kern="1200" cap="none" spc="0" baseline="0">
                <a:solidFill>
                  <a:srgbClr val="333333"/>
                </a:solidFill>
                <a:uFillTx/>
                <a:latin typeface="Calibri  "/>
              </a:rPr>
              <a:t>any</a:t>
            </a:r>
            <a:r>
              <a:rPr lang="en-GB" sz="1400" b="1" i="0" u="none" strike="noStrike" kern="1200" cap="none" spc="0" baseline="0">
                <a:solidFill>
                  <a:srgbClr val="333333"/>
                </a:solidFill>
                <a:uFillTx/>
                <a:latin typeface="Calibri  "/>
              </a:rPr>
              <a:t> </a:t>
            </a:r>
            <a:r>
              <a:rPr lang="en-GB" sz="1400" b="0" i="0" u="none" strike="noStrike" kern="1200" cap="none" spc="0" baseline="0">
                <a:solidFill>
                  <a:srgbClr val="333333"/>
                </a:solidFill>
                <a:uFillTx/>
                <a:latin typeface="Calibri  "/>
              </a:rPr>
              <a:t>of the </a:t>
            </a:r>
            <a:r>
              <a:rPr lang="en-GB" sz="1400" b="0" i="0" u="none" strike="noStrike" kern="0" cap="none" spc="0" baseline="0">
                <a:solidFill>
                  <a:srgbClr val="333333"/>
                </a:solidFill>
                <a:uFillTx/>
                <a:latin typeface="Calibri  "/>
              </a:rPr>
              <a:t>listed</a:t>
            </a:r>
            <a:r>
              <a:rPr lang="en-GB" sz="1400" b="0" i="0" u="none" strike="noStrike" kern="1200" cap="none" spc="0" baseline="0">
                <a:solidFill>
                  <a:srgbClr val="333333"/>
                </a:solidFill>
                <a:uFillTx/>
                <a:latin typeface="Calibri  "/>
              </a:rPr>
              <a:t> </a:t>
            </a:r>
            <a:r>
              <a:rPr lang="en-GB" sz="1400" b="1" i="0" u="none" strike="noStrike" kern="1200" cap="none" spc="0" baseline="0">
                <a:solidFill>
                  <a:srgbClr val="333333"/>
                </a:solidFill>
                <a:uFillTx/>
                <a:latin typeface="Calibri  "/>
              </a:rPr>
              <a:t>mandatory</a:t>
            </a:r>
            <a:r>
              <a:rPr lang="en-GB" sz="1400" b="0" i="0" u="none" strike="noStrike" kern="1200" cap="none" spc="0" baseline="0">
                <a:solidFill>
                  <a:srgbClr val="333333"/>
                </a:solidFill>
                <a:uFillTx/>
                <a:latin typeface="Calibri  "/>
              </a:rPr>
              <a:t> requirements are </a:t>
            </a:r>
            <a:r>
              <a:rPr lang="en-GB" sz="1400" b="1" i="0" u="none" strike="noStrike" kern="1200" cap="none" spc="0" baseline="0">
                <a:solidFill>
                  <a:srgbClr val="333333"/>
                </a:solidFill>
                <a:uFillTx/>
                <a:latin typeface="Calibri  "/>
              </a:rPr>
              <a:t>not</a:t>
            </a:r>
            <a:r>
              <a:rPr lang="en-GB" sz="1400" b="0" i="0" u="none" strike="noStrike" kern="1200" cap="none" spc="0" baseline="0">
                <a:solidFill>
                  <a:srgbClr val="333333"/>
                </a:solidFill>
                <a:uFillTx/>
                <a:latin typeface="Calibri  "/>
              </a:rPr>
              <a:t> met, CDS will </a:t>
            </a:r>
            <a:r>
              <a:rPr lang="en-GB" sz="1400" b="1" i="0" u="none" strike="noStrike" kern="1200" cap="none" spc="0" baseline="0">
                <a:solidFill>
                  <a:srgbClr val="333333"/>
                </a:solidFill>
                <a:uFillTx/>
                <a:latin typeface="Calibri  "/>
              </a:rPr>
              <a:t>reject</a:t>
            </a:r>
            <a:r>
              <a:rPr lang="en-GB" sz="1400" b="0" i="0" u="none" strike="noStrike" kern="1200" cap="none" spc="0" baseline="0">
                <a:solidFill>
                  <a:srgbClr val="333333"/>
                </a:solidFill>
                <a:uFillTx/>
                <a:latin typeface="Calibri  "/>
              </a:rPr>
              <a:t> the declaration and send a DMSREJ notification to </a:t>
            </a:r>
            <a:r>
              <a:rPr lang="en-GB" sz="1400" b="0" i="0" u="none" strike="noStrike" kern="1200" cap="none" spc="0" baseline="0">
                <a:solidFill>
                  <a:srgbClr val="333333"/>
                </a:solidFill>
                <a:uFillTx/>
                <a:latin typeface="Calibri"/>
              </a:rPr>
              <a:t>the trader.</a:t>
            </a:r>
          </a:p>
        </p:txBody>
      </p:sp>
      <p:sp>
        <p:nvSpPr>
          <p:cNvPr id="9" name="Rectangle 7">
            <a:extLst>
              <a:ext uri="{FF2B5EF4-FFF2-40B4-BE49-F238E27FC236}">
                <a16:creationId xmlns:a16="http://schemas.microsoft.com/office/drawing/2014/main" id="{D35B1189-5CD2-4562-8172-87FF27C256E0}"/>
              </a:ext>
            </a:extLst>
          </p:cNvPr>
          <p:cNvSpPr/>
          <p:nvPr/>
        </p:nvSpPr>
        <p:spPr>
          <a:xfrm>
            <a:off x="465155" y="799761"/>
            <a:ext cx="3563745" cy="400114"/>
          </a:xfrm>
          <a:prstGeom prst="rect">
            <a:avLst/>
          </a:prstGeom>
          <a:solidFill>
            <a:srgbClr val="009999"/>
          </a:solidFill>
          <a:ln w="25402" cap="flat">
            <a:solidFill>
              <a:srgbClr val="009999"/>
            </a:solidFill>
            <a:prstDash val="solid"/>
            <a:miter/>
          </a:ln>
        </p:spPr>
        <p:txBody>
          <a:bodyPr vert="horz" wrap="square" lIns="91440" tIns="45720" rIns="91440" bIns="4572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2400" b="1" i="0" u="none" strike="noStrike" kern="0" cap="none" spc="0" baseline="0">
                <a:solidFill>
                  <a:srgbClr val="FFFFFF"/>
                </a:solidFill>
                <a:uFillTx/>
                <a:latin typeface="Calibri"/>
              </a:rPr>
              <a:t>New Release Functionality</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Straight Connector 17">
            <a:extLst>
              <a:ext uri="{FF2B5EF4-FFF2-40B4-BE49-F238E27FC236}">
                <a16:creationId xmlns:a16="http://schemas.microsoft.com/office/drawing/2014/main" id="{CE426670-4E7D-4A5F-9B20-EE23CD5CC1AE}"/>
              </a:ext>
            </a:extLst>
          </p:cNvPr>
          <p:cNvCxnSpPr/>
          <p:nvPr/>
        </p:nvCxnSpPr>
        <p:spPr>
          <a:xfrm>
            <a:off x="325937" y="186903"/>
            <a:ext cx="0" cy="422050"/>
          </a:xfrm>
          <a:prstGeom prst="straightConnector1">
            <a:avLst/>
          </a:prstGeom>
          <a:noFill/>
          <a:ln w="28575" cap="flat">
            <a:solidFill>
              <a:srgbClr val="D9D9D9"/>
            </a:solidFill>
            <a:prstDash val="solid"/>
            <a:miter/>
          </a:ln>
        </p:spPr>
      </p:cxnSp>
      <p:cxnSp>
        <p:nvCxnSpPr>
          <p:cNvPr id="3" name="Straight Connector 11">
            <a:extLst>
              <a:ext uri="{FF2B5EF4-FFF2-40B4-BE49-F238E27FC236}">
                <a16:creationId xmlns:a16="http://schemas.microsoft.com/office/drawing/2014/main" id="{49B988E5-8F10-411D-92CE-7B71D23C9851}"/>
              </a:ext>
            </a:extLst>
          </p:cNvPr>
          <p:cNvCxnSpPr/>
          <p:nvPr/>
        </p:nvCxnSpPr>
        <p:spPr>
          <a:xfrm>
            <a:off x="319116" y="186903"/>
            <a:ext cx="0" cy="422050"/>
          </a:xfrm>
          <a:prstGeom prst="straightConnector1">
            <a:avLst/>
          </a:prstGeom>
          <a:noFill/>
          <a:ln w="28575" cap="flat">
            <a:solidFill>
              <a:srgbClr val="D9D9D9"/>
            </a:solidFill>
            <a:prstDash val="solid"/>
            <a:miter/>
          </a:ln>
        </p:spPr>
      </p:cxnSp>
      <p:sp>
        <p:nvSpPr>
          <p:cNvPr id="4" name="TextBox 12">
            <a:extLst>
              <a:ext uri="{FF2B5EF4-FFF2-40B4-BE49-F238E27FC236}">
                <a16:creationId xmlns:a16="http://schemas.microsoft.com/office/drawing/2014/main" id="{13E4B1B0-E63D-445B-BC95-358BE78F3ED3}"/>
              </a:ext>
            </a:extLst>
          </p:cNvPr>
          <p:cNvSpPr txBox="1"/>
          <p:nvPr/>
        </p:nvSpPr>
        <p:spPr>
          <a:xfrm>
            <a:off x="363967" y="248844"/>
            <a:ext cx="2321725" cy="307777"/>
          </a:xfrm>
          <a:prstGeom prst="rect">
            <a:avLst/>
          </a:prstGeom>
          <a:noFill/>
          <a:ln cap="flat">
            <a:noFill/>
          </a:ln>
        </p:spPr>
        <p:txBody>
          <a:bodyPr vert="horz" wrap="none" lIns="91440" tIns="45720" rIns="91440" bIns="45720" anchor="t"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400" b="1" i="0" u="none" strike="noStrike" kern="1200" cap="none" spc="50" baseline="0">
                <a:solidFill>
                  <a:srgbClr val="A6A6A6"/>
                </a:solidFill>
                <a:uFillTx/>
                <a:latin typeface="Calibri"/>
              </a:rPr>
              <a:t>RELEASE SCOPE GUIDANCE</a:t>
            </a:r>
          </a:p>
        </p:txBody>
      </p:sp>
      <p:pic>
        <p:nvPicPr>
          <p:cNvPr id="5" name="Picture 106" descr="57% HMRCppt logo">
            <a:extLst>
              <a:ext uri="{FF2B5EF4-FFF2-40B4-BE49-F238E27FC236}">
                <a16:creationId xmlns:a16="http://schemas.microsoft.com/office/drawing/2014/main" id="{ED66001D-7A19-40E6-A847-299DD263FD61}"/>
              </a:ext>
            </a:extLst>
          </p:cNvPr>
          <p:cNvPicPr>
            <a:picLocks noChangeAspect="1"/>
          </p:cNvPicPr>
          <p:nvPr/>
        </p:nvPicPr>
        <p:blipFill>
          <a:blip r:embed="rId3"/>
          <a:srcRect/>
          <a:stretch>
            <a:fillRect/>
          </a:stretch>
        </p:blipFill>
        <p:spPr>
          <a:xfrm>
            <a:off x="446099" y="5929033"/>
            <a:ext cx="1030227" cy="633980"/>
          </a:xfrm>
          <a:prstGeom prst="rect">
            <a:avLst/>
          </a:prstGeom>
          <a:noFill/>
          <a:ln cap="flat">
            <a:noFill/>
          </a:ln>
        </p:spPr>
      </p:pic>
      <p:sp>
        <p:nvSpPr>
          <p:cNvPr id="6" name="Slide Number Placeholder 5">
            <a:extLst>
              <a:ext uri="{FF2B5EF4-FFF2-40B4-BE49-F238E27FC236}">
                <a16:creationId xmlns:a16="http://schemas.microsoft.com/office/drawing/2014/main" id="{5E756540-08A4-45B1-B47F-BC2533ED1D24}"/>
              </a:ext>
            </a:extLst>
          </p:cNvPr>
          <p:cNvSpPr txBox="1"/>
          <p:nvPr/>
        </p:nvSpPr>
        <p:spPr>
          <a:xfrm>
            <a:off x="11526231" y="6387897"/>
            <a:ext cx="443849" cy="365129"/>
          </a:xfrm>
          <a:prstGeom prst="rect">
            <a:avLst/>
          </a:prstGeom>
          <a:noFill/>
          <a:ln cap="flat">
            <a:noFill/>
          </a:ln>
        </p:spPr>
        <p:txBody>
          <a:bodyPr vert="horz" wrap="square" lIns="91440" tIns="45720" rIns="91440" bIns="45720" anchor="ctr" anchorCtr="0" compatLnSpc="1">
            <a:noAutofit/>
          </a:bodyPr>
          <a:lstStyle/>
          <a:p>
            <a:pPr marL="0" marR="0" lvl="0" indent="0" algn="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fld id="{EFF98903-35F5-4E0F-9016-D3C36F094883}" type="slidenum">
              <a:t>6</a:t>
            </a:fld>
            <a:endParaRPr lang="en-GB" sz="900" b="0" i="0" u="none" strike="noStrike" kern="1200" cap="none" spc="0" baseline="0">
              <a:solidFill>
                <a:srgbClr val="000000"/>
              </a:solidFill>
              <a:uFillTx/>
              <a:latin typeface="Calibri"/>
            </a:endParaRPr>
          </a:p>
        </p:txBody>
      </p:sp>
      <p:sp>
        <p:nvSpPr>
          <p:cNvPr id="7" name="Footer Placeholder 1">
            <a:extLst>
              <a:ext uri="{FF2B5EF4-FFF2-40B4-BE49-F238E27FC236}">
                <a16:creationId xmlns:a16="http://schemas.microsoft.com/office/drawing/2014/main" id="{ACAAC0B2-928C-4EA1-A453-BA930F822ED8}"/>
              </a:ext>
            </a:extLst>
          </p:cNvPr>
          <p:cNvSpPr txBox="1"/>
          <p:nvPr/>
        </p:nvSpPr>
        <p:spPr>
          <a:xfrm>
            <a:off x="2976051" y="6490795"/>
            <a:ext cx="8737604" cy="144466"/>
          </a:xfrm>
          <a:prstGeom prst="rect">
            <a:avLst/>
          </a:prstGeom>
          <a:noFill/>
          <a:ln cap="flat">
            <a:noFill/>
          </a:ln>
        </p:spPr>
        <p:txBody>
          <a:bodyPr vert="horz" wrap="square" lIns="0" tIns="0" rIns="0" bIns="0" anchor="ctr" anchorCtr="0" compatLnSpc="1">
            <a:noAutofit/>
          </a:bodyPr>
          <a:lstStyle/>
          <a:p>
            <a:pPr marL="0" marR="0" lvl="0" indent="0" algn="r"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r>
              <a:rPr lang="en-GB" sz="900" b="0" i="0" u="none" strike="noStrike" kern="1200" cap="none" spc="0" baseline="0">
                <a:solidFill>
                  <a:srgbClr val="3B3A3D"/>
                </a:solidFill>
                <a:uFillTx/>
                <a:latin typeface="Calibri"/>
                <a:ea typeface="Geneva"/>
                <a:cs typeface="Arial"/>
              </a:rPr>
              <a:t>OFFICIAL | CDS External Release Scope Guidance Document |</a:t>
            </a:r>
            <a:endParaRPr lang="en-GB" sz="900" b="1" i="0" u="none" strike="noStrike" kern="1200" cap="none" spc="0" baseline="0">
              <a:solidFill>
                <a:srgbClr val="008D8E"/>
              </a:solidFill>
              <a:uFillTx/>
              <a:latin typeface="Calibri"/>
              <a:ea typeface="Geneva"/>
              <a:cs typeface="Arial"/>
            </a:endParaRPr>
          </a:p>
        </p:txBody>
      </p:sp>
      <p:sp>
        <p:nvSpPr>
          <p:cNvPr id="8" name="Rectangle 7">
            <a:extLst>
              <a:ext uri="{FF2B5EF4-FFF2-40B4-BE49-F238E27FC236}">
                <a16:creationId xmlns:a16="http://schemas.microsoft.com/office/drawing/2014/main" id="{5FE9A4B5-6A17-44E7-8AF5-4CF77585A802}"/>
              </a:ext>
            </a:extLst>
          </p:cNvPr>
          <p:cNvSpPr/>
          <p:nvPr/>
        </p:nvSpPr>
        <p:spPr>
          <a:xfrm>
            <a:off x="465155" y="799761"/>
            <a:ext cx="3563745" cy="400114"/>
          </a:xfrm>
          <a:prstGeom prst="rect">
            <a:avLst/>
          </a:prstGeom>
          <a:solidFill>
            <a:srgbClr val="009999"/>
          </a:solidFill>
          <a:ln w="25402" cap="flat">
            <a:solidFill>
              <a:srgbClr val="009999"/>
            </a:solidFill>
            <a:prstDash val="solid"/>
            <a:miter/>
          </a:ln>
        </p:spPr>
        <p:txBody>
          <a:bodyPr vert="horz" wrap="square" lIns="91440" tIns="45720" rIns="91440" bIns="4572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2400" b="1" i="0" u="none" strike="noStrike" kern="0" cap="none" spc="0" baseline="0">
                <a:solidFill>
                  <a:srgbClr val="FFFFFF"/>
                </a:solidFill>
                <a:uFillTx/>
                <a:latin typeface="Calibri"/>
              </a:rPr>
              <a:t>New Release Functionality</a:t>
            </a:r>
          </a:p>
        </p:txBody>
      </p:sp>
      <p:sp>
        <p:nvSpPr>
          <p:cNvPr id="9" name="Rectangle 13">
            <a:extLst>
              <a:ext uri="{FF2B5EF4-FFF2-40B4-BE49-F238E27FC236}">
                <a16:creationId xmlns:a16="http://schemas.microsoft.com/office/drawing/2014/main" id="{642E468B-8A98-4A33-850D-09A2B5F0B370}"/>
              </a:ext>
            </a:extLst>
          </p:cNvPr>
          <p:cNvSpPr/>
          <p:nvPr/>
        </p:nvSpPr>
        <p:spPr>
          <a:xfrm>
            <a:off x="244071" y="1245970"/>
            <a:ext cx="11282159" cy="1219626"/>
          </a:xfrm>
          <a:prstGeom prst="rect">
            <a:avLst/>
          </a:prstGeom>
          <a:noFill/>
          <a:ln cap="flat">
            <a:noFill/>
            <a:prstDash val="solid"/>
          </a:ln>
        </p:spPr>
        <p:txBody>
          <a:bodyPr vert="horz" wrap="square" lIns="91440" tIns="45720" rIns="91440" bIns="45720" anchor="t"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400" b="1" i="0" u="sng" strike="noStrike" kern="1200" cap="none" spc="0" baseline="0">
              <a:solidFill>
                <a:srgbClr val="333333"/>
              </a:solidFill>
              <a:uFillTx/>
              <a:latin typeface="Calibri  "/>
            </a:endParaRPr>
          </a:p>
          <a:p>
            <a:pPr marL="140396" marR="0" lvl="0" indent="0" algn="l" defTabSz="914400" rtl="0" fontAlgn="auto" hangingPunct="1">
              <a:lnSpc>
                <a:spcPct val="107000"/>
              </a:lnSpc>
              <a:spcBef>
                <a:spcPts val="0"/>
              </a:spcBef>
              <a:spcAft>
                <a:spcPts val="0"/>
              </a:spcAft>
              <a:buNone/>
              <a:tabLst/>
              <a:defRPr sz="1800" b="0" i="0" u="none" strike="noStrike" kern="0" cap="none" spc="0" baseline="0">
                <a:solidFill>
                  <a:srgbClr val="000000"/>
                </a:solidFill>
                <a:uFillTx/>
              </a:defRPr>
            </a:pPr>
            <a:endParaRPr lang="en-GB" sz="1400" b="0" i="0" u="none" strike="noStrike" kern="1200" cap="none" spc="0" baseline="0">
              <a:solidFill>
                <a:srgbClr val="333333"/>
              </a:solidFill>
              <a:uFillTx/>
              <a:latin typeface="Calibri  "/>
            </a:endParaRPr>
          </a:p>
          <a:p>
            <a:pPr marL="883346" marR="0" lvl="1" indent="-285750" algn="l" defTabSz="914400" rtl="0" fontAlgn="auto" hangingPunct="1">
              <a:lnSpc>
                <a:spcPct val="107000"/>
              </a:lnSpc>
              <a:spcBef>
                <a:spcPts val="0"/>
              </a:spcBef>
              <a:spcAft>
                <a:spcPts val="0"/>
              </a:spcAft>
              <a:buSzPct val="100000"/>
              <a:buFont typeface="Courier New" pitchFamily="49"/>
              <a:buChar char="o"/>
              <a:tabLst/>
              <a:defRPr sz="1800" b="0" i="0" u="none" strike="noStrike" kern="0" cap="none" spc="0" baseline="0">
                <a:solidFill>
                  <a:srgbClr val="000000"/>
                </a:solidFill>
                <a:uFillTx/>
              </a:defRPr>
            </a:pPr>
            <a:endParaRPr lang="en-GB" sz="1400" b="0" i="0" u="none" strike="noStrike" kern="1200" cap="none" spc="0" baseline="0">
              <a:solidFill>
                <a:srgbClr val="333333"/>
              </a:solidFill>
              <a:uFillTx/>
              <a:latin typeface="Calibri  "/>
            </a:endParaRPr>
          </a:p>
          <a:p>
            <a:pPr marL="140396" marR="0" lvl="0" indent="0" algn="l" defTabSz="914400" rtl="0" fontAlgn="auto" hangingPunct="1">
              <a:lnSpc>
                <a:spcPct val="107000"/>
              </a:lnSpc>
              <a:spcBef>
                <a:spcPts val="0"/>
              </a:spcBef>
              <a:spcAft>
                <a:spcPts val="0"/>
              </a:spcAft>
              <a:buNone/>
              <a:tabLst/>
              <a:defRPr sz="1800" b="0" i="0" u="none" strike="noStrike" kern="0" cap="none" spc="0" baseline="0">
                <a:solidFill>
                  <a:srgbClr val="000000"/>
                </a:solidFill>
                <a:uFillTx/>
              </a:defRPr>
            </a:pPr>
            <a:endParaRPr lang="en-GB" sz="1400" b="0" i="0" u="none" strike="noStrike" kern="1200" cap="none" spc="0" baseline="0">
              <a:solidFill>
                <a:srgbClr val="000000"/>
              </a:solidFill>
              <a:uFillTx/>
              <a:latin typeface="Calibri  "/>
            </a:endParaRPr>
          </a:p>
          <a:p>
            <a:pPr marL="426146" marR="0" lvl="0" indent="-285750" algn="l" defTabSz="914400" rtl="0" fontAlgn="auto" hangingPunct="1">
              <a:lnSpc>
                <a:spcPct val="107000"/>
              </a:lnSpc>
              <a:spcBef>
                <a:spcPts val="0"/>
              </a:spcBef>
              <a:spcAft>
                <a:spcPts val="0"/>
              </a:spcAft>
              <a:buSzPct val="100000"/>
              <a:buFont typeface="Arial" pitchFamily="34"/>
              <a:buChar char="•"/>
              <a:tabLst/>
              <a:defRPr sz="1800" b="0" i="0" u="none" strike="noStrike" kern="0" cap="none" spc="0" baseline="0">
                <a:solidFill>
                  <a:srgbClr val="000000"/>
                </a:solidFill>
                <a:uFillTx/>
              </a:defRPr>
            </a:pPr>
            <a:endParaRPr lang="en-GB" sz="1400" b="0" i="0" u="none" strike="noStrike" kern="1200" cap="none" spc="0" baseline="0">
              <a:solidFill>
                <a:srgbClr val="000000"/>
              </a:solidFill>
              <a:uFillTx/>
              <a:latin typeface="Calibri  "/>
            </a:endParaRPr>
          </a:p>
        </p:txBody>
      </p:sp>
      <p:graphicFrame>
        <p:nvGraphicFramePr>
          <p:cNvPr id="10" name="Table 3">
            <a:extLst>
              <a:ext uri="{FF2B5EF4-FFF2-40B4-BE49-F238E27FC236}">
                <a16:creationId xmlns:a16="http://schemas.microsoft.com/office/drawing/2014/main" id="{D195F42F-5661-484D-91EA-FD291D636E57}"/>
              </a:ext>
            </a:extLst>
          </p:cNvPr>
          <p:cNvGraphicFramePr>
            <a:graphicFrameLocks noGrp="1"/>
          </p:cNvGraphicFramePr>
          <p:nvPr/>
        </p:nvGraphicFramePr>
        <p:xfrm>
          <a:off x="465155" y="1572969"/>
          <a:ext cx="11248500" cy="3720910"/>
        </p:xfrm>
        <a:graphic>
          <a:graphicData uri="http://schemas.openxmlformats.org/drawingml/2006/table">
            <a:tbl>
              <a:tblPr firstRow="1" bandRow="1">
                <a:effectLst/>
                <a:tableStyleId>{5C22544A-7EE6-4342-B048-85BDC9FD1C3A}</a:tableStyleId>
              </a:tblPr>
              <a:tblGrid>
                <a:gridCol w="11248500">
                  <a:extLst>
                    <a:ext uri="{9D8B030D-6E8A-4147-A177-3AD203B41FA5}">
                      <a16:colId xmlns:a16="http://schemas.microsoft.com/office/drawing/2014/main" val="2111677431"/>
                    </a:ext>
                  </a:extLst>
                </a:gridCol>
              </a:tblGrid>
              <a:tr h="268339">
                <a:tc>
                  <a:txBody>
                    <a:bodyPr/>
                    <a:lstStyle/>
                    <a:p>
                      <a:pPr marL="0" marR="0" lvl="0" indent="0" algn="l" defTabSz="914400" rtl="0" fontAlgn="auto" hangingPunct="1">
                        <a:lnSpc>
                          <a:spcPct val="107000"/>
                        </a:lnSpc>
                        <a:spcBef>
                          <a:spcPts val="0"/>
                        </a:spcBef>
                        <a:spcAft>
                          <a:spcPts val="800"/>
                        </a:spcAft>
                        <a:buNone/>
                        <a:tabLst/>
                        <a:defRPr sz="1800" b="0" i="0" u="none" strike="noStrike" kern="0" cap="none" spc="0" baseline="0">
                          <a:solidFill>
                            <a:srgbClr val="000000"/>
                          </a:solidFill>
                          <a:uFillTx/>
                        </a:defRPr>
                      </a:pPr>
                      <a:r>
                        <a:rPr lang="en-GB" sz="1800" b="1" i="0" u="none" strike="noStrike" kern="1200" cap="none" spc="0" baseline="0" dirty="0">
                          <a:solidFill>
                            <a:srgbClr val="FFFFFF"/>
                          </a:solidFill>
                          <a:uFillTx/>
                          <a:latin typeface="Calibri" pitchFamily="34"/>
                          <a:ea typeface="Times New Roman" pitchFamily="18"/>
                          <a:cs typeface="Times New Roman" pitchFamily="18"/>
                        </a:rPr>
                        <a:t>Submitting Arrived Export Declarations for MiB Exports </a:t>
                      </a:r>
                    </a:p>
                  </a:txBody>
                  <a:tcPr>
                    <a:solidFill>
                      <a:srgbClr val="009999"/>
                    </a:solidFill>
                  </a:tcPr>
                </a:tc>
                <a:extLst>
                  <a:ext uri="{0D108BD9-81ED-4DB2-BD59-A6C34878D82A}">
                    <a16:rowId xmlns:a16="http://schemas.microsoft.com/office/drawing/2014/main" val="837655311"/>
                  </a:ext>
                </a:extLst>
              </a:tr>
              <a:tr h="219913">
                <a:tc>
                  <a:txBody>
                    <a:bodyPr/>
                    <a:lstStyle/>
                    <a:p>
                      <a:pPr lvl="0" algn="ctr"/>
                      <a:r>
                        <a:rPr lang="en-GB" sz="1400" b="1">
                          <a:solidFill>
                            <a:srgbClr val="000000"/>
                          </a:solidFill>
                        </a:rPr>
                        <a:t>(NI-RoW)</a:t>
                      </a:r>
                      <a:endParaRPr lang="en-GB" sz="1400">
                        <a:solidFill>
                          <a:srgbClr val="000000"/>
                        </a:solidFill>
                      </a:endParaRPr>
                    </a:p>
                  </a:txBody>
                  <a:tcPr>
                    <a:solidFill>
                      <a:srgbClr val="CFD5EA"/>
                    </a:solidFill>
                  </a:tcPr>
                </a:tc>
                <a:extLst>
                  <a:ext uri="{0D108BD9-81ED-4DB2-BD59-A6C34878D82A}">
                    <a16:rowId xmlns:a16="http://schemas.microsoft.com/office/drawing/2014/main" val="2494125363"/>
                  </a:ext>
                </a:extLst>
              </a:tr>
              <a:tr h="1612983">
                <a:tc>
                  <a:txBody>
                    <a:bodyPr/>
                    <a:lstStyle/>
                    <a:p>
                      <a:pPr marL="0" marR="0" lvl="0" indent="0" algn="l" defTabSz="914400" rtl="0" fontAlgn="auto" hangingPunct="1">
                        <a:lnSpc>
                          <a:spcPct val="107000"/>
                        </a:lnSpc>
                        <a:spcBef>
                          <a:spcPts val="0"/>
                        </a:spcBef>
                        <a:buNone/>
                        <a:tabLst/>
                        <a:defRPr sz="1800" b="0" i="0" u="none" strike="noStrike" kern="0" cap="none" spc="0" baseline="0">
                          <a:solidFill>
                            <a:srgbClr val="000000"/>
                          </a:solidFill>
                          <a:uFillTx/>
                        </a:defRPr>
                      </a:pPr>
                      <a:r>
                        <a:rPr lang="en-GB" sz="1400" b="1" i="0" u="none" strike="noStrike" kern="1200" cap="none" spc="0" baseline="0" dirty="0">
                          <a:solidFill>
                            <a:srgbClr val="000000"/>
                          </a:solidFill>
                          <a:uFillTx/>
                          <a:latin typeface="Calibri  "/>
                        </a:rPr>
                        <a:t>To </a:t>
                      </a:r>
                      <a:r>
                        <a:rPr lang="en-GB" sz="1400" b="1" i="0" u="none" strike="noStrike" kern="0" cap="none" spc="0" baseline="0" dirty="0">
                          <a:solidFill>
                            <a:srgbClr val="333333"/>
                          </a:solidFill>
                          <a:uFillTx/>
                          <a:latin typeface="Calibri  "/>
                        </a:rPr>
                        <a:t>submit arrived export declarations for MiB Exports (NI-</a:t>
                      </a:r>
                      <a:r>
                        <a:rPr lang="en-GB" sz="1400" b="1" i="0" u="none" strike="noStrike" kern="0" cap="none" spc="0" baseline="0" dirty="0" err="1">
                          <a:solidFill>
                            <a:srgbClr val="333333"/>
                          </a:solidFill>
                          <a:uFillTx/>
                          <a:latin typeface="Calibri  "/>
                        </a:rPr>
                        <a:t>RoW</a:t>
                      </a:r>
                      <a:r>
                        <a:rPr lang="en-GB" sz="1400" b="1" i="0" u="none" strike="noStrike" kern="0" cap="none" spc="0" baseline="0" dirty="0">
                          <a:solidFill>
                            <a:srgbClr val="333333"/>
                          </a:solidFill>
                          <a:uFillTx/>
                          <a:latin typeface="Calibri  "/>
                        </a:rPr>
                        <a:t>),</a:t>
                      </a:r>
                      <a:r>
                        <a:rPr lang="en-GB" sz="1400" b="1" i="0" u="none" strike="noStrike" kern="1200" cap="none" spc="0" baseline="0" dirty="0">
                          <a:solidFill>
                            <a:srgbClr val="000000"/>
                          </a:solidFill>
                          <a:uFillTx/>
                          <a:latin typeface="Calibri  "/>
                        </a:rPr>
                        <a:t> </a:t>
                      </a:r>
                    </a:p>
                    <a:p>
                      <a:pPr marL="1657350" marR="0" lvl="3" indent="-285750" algn="l" defTabSz="914400" rtl="0" fontAlgn="auto" hangingPunct="1">
                        <a:lnSpc>
                          <a:spcPct val="107000"/>
                        </a:lnSpc>
                        <a:spcBef>
                          <a:spcPts val="0"/>
                        </a:spcBef>
                        <a:buSzPct val="100000"/>
                        <a:buFont typeface="Courier New" pitchFamily="49"/>
                        <a:buChar char="o"/>
                        <a:tabLst/>
                        <a:defRPr sz="1800" b="0" i="0" u="none" strike="noStrike" kern="0" cap="none" spc="0" baseline="0">
                          <a:solidFill>
                            <a:srgbClr val="000000"/>
                          </a:solidFill>
                          <a:uFillTx/>
                        </a:defRPr>
                      </a:pPr>
                      <a:r>
                        <a:rPr lang="en-GB" sz="1400" b="0" i="0" u="none" strike="noStrike" kern="1200" cap="none" spc="0" baseline="0" dirty="0">
                          <a:solidFill>
                            <a:srgbClr val="000000"/>
                          </a:solidFill>
                          <a:uFillTx/>
                          <a:latin typeface="Calibri  "/>
                        </a:rPr>
                        <a:t>‘</a:t>
                      </a:r>
                      <a:r>
                        <a:rPr lang="en-GB" sz="1400" b="1" i="0" u="none" strike="noStrike" kern="1200" cap="none" spc="0" baseline="0" dirty="0">
                          <a:solidFill>
                            <a:srgbClr val="000000"/>
                          </a:solidFill>
                          <a:uFillTx/>
                          <a:latin typeface="Calibri  "/>
                        </a:rPr>
                        <a:t>EX</a:t>
                      </a:r>
                      <a:r>
                        <a:rPr lang="en-GB" sz="1400" b="0" i="0" u="none" strike="noStrike" kern="1200" cap="none" spc="0" baseline="0" dirty="0">
                          <a:solidFill>
                            <a:srgbClr val="000000"/>
                          </a:solidFill>
                          <a:uFillTx/>
                          <a:latin typeface="Calibri  "/>
                        </a:rPr>
                        <a:t>' or '</a:t>
                      </a:r>
                      <a:r>
                        <a:rPr lang="en-GB" sz="1400" b="1" i="0" u="none" strike="noStrike" kern="1200" cap="none" spc="0" baseline="0" dirty="0">
                          <a:solidFill>
                            <a:srgbClr val="000000"/>
                          </a:solidFill>
                          <a:uFillTx/>
                          <a:latin typeface="Calibri  "/>
                        </a:rPr>
                        <a:t>CO</a:t>
                      </a:r>
                      <a:r>
                        <a:rPr lang="en-GB" sz="1400" b="0" i="0" u="none" strike="noStrike" kern="1200" cap="none" spc="0" baseline="0" dirty="0">
                          <a:solidFill>
                            <a:srgbClr val="000000"/>
                          </a:solidFill>
                          <a:uFillTx/>
                          <a:latin typeface="Calibri  "/>
                        </a:rPr>
                        <a:t>' must be entered on the declaration in DE 1/1 </a:t>
                      </a:r>
                    </a:p>
                    <a:p>
                      <a:pPr marL="1657350" marR="0" lvl="3" indent="-285750" algn="l" defTabSz="914400" rtl="0" fontAlgn="auto" hangingPunct="1">
                        <a:lnSpc>
                          <a:spcPct val="107000"/>
                        </a:lnSpc>
                        <a:spcBef>
                          <a:spcPts val="0"/>
                        </a:spcBef>
                        <a:buSzPct val="100000"/>
                        <a:buFont typeface="Courier New" pitchFamily="49"/>
                        <a:buChar char="o"/>
                        <a:tabLst/>
                        <a:defRPr sz="1800" b="0" i="0" u="none" strike="noStrike" kern="0" cap="none" spc="0" baseline="0">
                          <a:solidFill>
                            <a:srgbClr val="000000"/>
                          </a:solidFill>
                          <a:uFillTx/>
                        </a:defRPr>
                      </a:pPr>
                      <a:r>
                        <a:rPr lang="en-GB" sz="1400" b="0" i="0" u="none" strike="noStrike" kern="1200" cap="none" spc="0" baseline="0" dirty="0">
                          <a:solidFill>
                            <a:srgbClr val="000000"/>
                          </a:solidFill>
                          <a:uFillTx/>
                          <a:latin typeface="Calibri"/>
                        </a:rPr>
                        <a:t>Where the AI code </a:t>
                      </a:r>
                      <a:r>
                        <a:rPr lang="en-GB" sz="1400" b="1" i="0" u="none" strike="noStrike" kern="1200" cap="none" spc="0" baseline="0" dirty="0">
                          <a:solidFill>
                            <a:srgbClr val="000000"/>
                          </a:solidFill>
                          <a:uFillTx/>
                          <a:latin typeface="Calibri"/>
                        </a:rPr>
                        <a:t>'MIB01</a:t>
                      </a:r>
                      <a:r>
                        <a:rPr lang="en-GB" sz="1400" b="0" i="0" u="none" strike="noStrike" kern="1200" cap="none" spc="0" baseline="0" dirty="0">
                          <a:solidFill>
                            <a:srgbClr val="000000"/>
                          </a:solidFill>
                          <a:uFillTx/>
                          <a:latin typeface="Calibri"/>
                        </a:rPr>
                        <a:t>' is entered in D.E. 2/2 at item level on an export declaration, traders must enter Additional Information code </a:t>
                      </a:r>
                      <a:r>
                        <a:rPr lang="en-GB" sz="1400" b="1" i="0" u="none" strike="noStrike" kern="1200" cap="none" spc="0" baseline="0" dirty="0">
                          <a:solidFill>
                            <a:srgbClr val="000000"/>
                          </a:solidFill>
                          <a:uFillTx/>
                          <a:latin typeface="Calibri"/>
                        </a:rPr>
                        <a:t>'NIEXP</a:t>
                      </a:r>
                      <a:r>
                        <a:rPr lang="en-GB" sz="1400" b="0" i="0" u="none" strike="noStrike" kern="1200" cap="none" spc="0" baseline="0" dirty="0">
                          <a:solidFill>
                            <a:srgbClr val="000000"/>
                          </a:solidFill>
                          <a:uFillTx/>
                          <a:latin typeface="Calibri"/>
                        </a:rPr>
                        <a:t>' in DE 2/2 at item level on the same goods item.</a:t>
                      </a:r>
                    </a:p>
                    <a:p>
                      <a:pPr marL="914400" marR="0" lvl="2" indent="0" algn="l" defTabSz="914400" rtl="0" fontAlgn="auto" hangingPunct="1">
                        <a:lnSpc>
                          <a:spcPct val="107000"/>
                        </a:lnSpc>
                        <a:spcBef>
                          <a:spcPts val="0"/>
                        </a:spcBef>
                        <a:spcAft>
                          <a:spcPts val="0"/>
                        </a:spcAft>
                        <a:buNone/>
                        <a:tabLst/>
                        <a:defRPr sz="1800" b="0" i="0" u="none" strike="noStrike" kern="0" cap="none" spc="0" baseline="0">
                          <a:solidFill>
                            <a:srgbClr val="000000"/>
                          </a:solidFill>
                          <a:uFillTx/>
                        </a:defRPr>
                      </a:pPr>
                      <a:endParaRPr lang="en-GB" sz="1400" b="0" i="0" u="none" strike="noStrike" kern="1200" cap="none" spc="0" baseline="0" dirty="0">
                        <a:solidFill>
                          <a:srgbClr val="000000"/>
                        </a:solidFill>
                        <a:uFillTx/>
                        <a:latin typeface="Calibri"/>
                      </a:endParaRPr>
                    </a:p>
                    <a:p>
                      <a:pPr marL="1200150" marR="0" lvl="2" indent="-285750" algn="l" defTabSz="914400" rtl="0" fontAlgn="auto" hangingPunct="1">
                        <a:lnSpc>
                          <a:spcPct val="107000"/>
                        </a:lnSpc>
                        <a:spcBef>
                          <a:spcPts val="0"/>
                        </a:spcBef>
                        <a:spcAft>
                          <a:spcPts val="0"/>
                        </a:spcAft>
                        <a:buSzPct val="100000"/>
                        <a:buFont typeface="Courier New" pitchFamily="49"/>
                        <a:buChar char="o"/>
                        <a:tabLst/>
                        <a:defRPr sz="1800" b="0" i="0" u="none" strike="noStrike" kern="0" cap="none" spc="0" baseline="0">
                          <a:solidFill>
                            <a:srgbClr val="000000"/>
                          </a:solidFill>
                          <a:uFillTx/>
                        </a:defRPr>
                      </a:pPr>
                      <a:endParaRPr lang="en-GB" sz="1400" b="0" i="0" u="none" strike="noStrike" kern="1200" cap="none" spc="0" baseline="0" dirty="0">
                        <a:solidFill>
                          <a:srgbClr val="000000"/>
                        </a:solidFill>
                        <a:uFillTx/>
                        <a:latin typeface="Calibri"/>
                      </a:endParaRPr>
                    </a:p>
                    <a:p>
                      <a:pPr marL="742950" marR="0" lvl="1" indent="-285750" algn="l" defTabSz="914400" rtl="0" fontAlgn="auto" hangingPunct="1">
                        <a:lnSpc>
                          <a:spcPct val="107000"/>
                        </a:lnSpc>
                        <a:spcBef>
                          <a:spcPts val="0"/>
                        </a:spcBef>
                        <a:spcAft>
                          <a:spcPts val="0"/>
                        </a:spcAft>
                        <a:buSzPct val="100000"/>
                        <a:buFont typeface="Arial" pitchFamily="34"/>
                        <a:buChar char="•"/>
                        <a:tabLst/>
                        <a:defRPr sz="1800" b="0" i="0" u="none" strike="noStrike" kern="0" cap="none" spc="0" baseline="0">
                          <a:solidFill>
                            <a:srgbClr val="000000"/>
                          </a:solidFill>
                          <a:uFillTx/>
                        </a:defRPr>
                      </a:pPr>
                      <a:r>
                        <a:rPr lang="en-GB" sz="1400" b="0" i="0" u="none" strike="noStrike" kern="1200" cap="none" spc="0" baseline="0" dirty="0">
                          <a:solidFill>
                            <a:srgbClr val="000000"/>
                          </a:solidFill>
                          <a:uFillTx/>
                          <a:latin typeface="Calibri"/>
                        </a:rPr>
                        <a:t>CDS will </a:t>
                      </a:r>
                      <a:r>
                        <a:rPr lang="en-GB" sz="1400" b="1" i="0" u="none" strike="noStrike" kern="1200" cap="none" spc="0" baseline="0" dirty="0">
                          <a:solidFill>
                            <a:srgbClr val="000000"/>
                          </a:solidFill>
                          <a:uFillTx/>
                          <a:latin typeface="Calibri"/>
                        </a:rPr>
                        <a:t>reject</a:t>
                      </a:r>
                      <a:r>
                        <a:rPr lang="en-GB" sz="1400" b="0" i="0" u="none" strike="noStrike" kern="1200" cap="none" spc="0" baseline="0" dirty="0">
                          <a:solidFill>
                            <a:srgbClr val="000000"/>
                          </a:solidFill>
                          <a:uFillTx/>
                          <a:latin typeface="Calibri"/>
                        </a:rPr>
                        <a:t> the declaration and send a DMSREJ notification in the following scenarios:</a:t>
                      </a:r>
                    </a:p>
                    <a:p>
                      <a:pPr marL="1657350" marR="0" lvl="3" indent="-285750" algn="l" defTabSz="914400" rtl="0" fontAlgn="auto" hangingPunct="1">
                        <a:lnSpc>
                          <a:spcPct val="107000"/>
                        </a:lnSpc>
                        <a:spcBef>
                          <a:spcPts val="0"/>
                        </a:spcBef>
                        <a:spcAft>
                          <a:spcPts val="0"/>
                        </a:spcAft>
                        <a:buSzPct val="100000"/>
                        <a:buFont typeface="Courier New" pitchFamily="49"/>
                        <a:buChar char="o"/>
                        <a:tabLst/>
                        <a:defRPr sz="1800" b="0" i="0" u="none" strike="noStrike" kern="0" cap="none" spc="0" baseline="0">
                          <a:solidFill>
                            <a:srgbClr val="000000"/>
                          </a:solidFill>
                          <a:uFillTx/>
                        </a:defRPr>
                      </a:pPr>
                      <a:r>
                        <a:rPr lang="en-GB" sz="1400" b="0" i="0" u="none" strike="noStrike" kern="1200" cap="none" spc="0" baseline="0" dirty="0">
                          <a:solidFill>
                            <a:srgbClr val="000000"/>
                          </a:solidFill>
                          <a:uFillTx/>
                          <a:latin typeface="Calibri"/>
                        </a:rPr>
                        <a:t>Where </a:t>
                      </a:r>
                      <a:r>
                        <a:rPr lang="en-GB" sz="1400" b="1" i="0" u="none" strike="noStrike" kern="1200" cap="none" spc="0" baseline="0" dirty="0">
                          <a:solidFill>
                            <a:srgbClr val="000000"/>
                          </a:solidFill>
                          <a:uFillTx/>
                          <a:latin typeface="Calibri"/>
                        </a:rPr>
                        <a:t>'NIEXP</a:t>
                      </a:r>
                      <a:r>
                        <a:rPr lang="en-GB" sz="1400" b="0" i="0" u="none" strike="noStrike" kern="1200" cap="none" spc="0" baseline="0" dirty="0">
                          <a:solidFill>
                            <a:srgbClr val="000000"/>
                          </a:solidFill>
                          <a:uFillTx/>
                          <a:latin typeface="Calibri"/>
                        </a:rPr>
                        <a:t>' is entered in DE 2/2 at item level on a declaration, and </a:t>
                      </a:r>
                      <a:r>
                        <a:rPr lang="en-GB" sz="1400" b="1" i="0" u="none" strike="noStrike" kern="1200" cap="none" spc="0" baseline="0" dirty="0">
                          <a:solidFill>
                            <a:srgbClr val="000000"/>
                          </a:solidFill>
                          <a:uFillTx/>
                          <a:latin typeface="Calibri"/>
                        </a:rPr>
                        <a:t>'MIB</a:t>
                      </a:r>
                      <a:r>
                        <a:rPr lang="en-GB" sz="1400" b="0" i="0" u="none" strike="noStrike" kern="1200" cap="none" spc="0" baseline="0" dirty="0">
                          <a:solidFill>
                            <a:srgbClr val="000000"/>
                          </a:solidFill>
                          <a:uFillTx/>
                          <a:latin typeface="Calibri"/>
                        </a:rPr>
                        <a:t>’, ‘</a:t>
                      </a:r>
                      <a:r>
                        <a:rPr lang="en-GB" sz="1400" b="1" i="0" u="none" strike="noStrike" kern="1200" cap="none" spc="0" baseline="0" dirty="0">
                          <a:solidFill>
                            <a:srgbClr val="000000"/>
                          </a:solidFill>
                          <a:uFillTx/>
                          <a:latin typeface="Calibri"/>
                        </a:rPr>
                        <a:t>MIB02</a:t>
                      </a:r>
                      <a:r>
                        <a:rPr lang="en-GB" sz="1400" b="0" i="0" u="none" strike="noStrike" kern="1200" cap="none" spc="0" baseline="0" dirty="0">
                          <a:solidFill>
                            <a:srgbClr val="000000"/>
                          </a:solidFill>
                          <a:uFillTx/>
                          <a:latin typeface="Calibri"/>
                        </a:rPr>
                        <a:t>’, ‘</a:t>
                      </a:r>
                      <a:r>
                        <a:rPr lang="en-GB" sz="1400" b="1" i="0" u="none" strike="noStrike" kern="1200" cap="none" spc="0" baseline="0" dirty="0">
                          <a:solidFill>
                            <a:srgbClr val="000000"/>
                          </a:solidFill>
                          <a:uFillTx/>
                          <a:latin typeface="Calibri"/>
                        </a:rPr>
                        <a:t>1MB</a:t>
                      </a:r>
                      <a:r>
                        <a:rPr lang="en-GB" sz="1400" b="0" i="0" u="none" strike="noStrike" kern="1200" cap="none" spc="0" baseline="0" dirty="0">
                          <a:solidFill>
                            <a:srgbClr val="000000"/>
                          </a:solidFill>
                          <a:uFillTx/>
                          <a:latin typeface="Calibri"/>
                        </a:rPr>
                        <a:t>’ or ‘</a:t>
                      </a:r>
                      <a:r>
                        <a:rPr lang="en-GB" sz="1400" b="1" i="0" u="none" strike="noStrike" kern="1200" cap="none" spc="0" baseline="0" dirty="0">
                          <a:solidFill>
                            <a:srgbClr val="000000"/>
                          </a:solidFill>
                          <a:uFillTx/>
                          <a:latin typeface="Calibri"/>
                        </a:rPr>
                        <a:t>1MIB</a:t>
                      </a:r>
                      <a:r>
                        <a:rPr lang="en-GB" sz="1400" b="0" i="0" u="none" strike="noStrike" kern="1200" cap="none" spc="0" baseline="0" dirty="0">
                          <a:solidFill>
                            <a:srgbClr val="000000"/>
                          </a:solidFill>
                          <a:uFillTx/>
                          <a:latin typeface="Calibri"/>
                        </a:rPr>
                        <a:t>’ is entered in their respective data elements on any goods item on the same declaration (These codes are not for use on arrived NI-</a:t>
                      </a:r>
                      <a:r>
                        <a:rPr lang="en-GB" sz="1400" b="0" i="0" u="none" strike="noStrike" kern="1200" cap="none" spc="0" baseline="0" dirty="0" err="1">
                          <a:solidFill>
                            <a:srgbClr val="000000"/>
                          </a:solidFill>
                          <a:uFillTx/>
                          <a:latin typeface="Calibri"/>
                        </a:rPr>
                        <a:t>RoW</a:t>
                      </a:r>
                      <a:r>
                        <a:rPr lang="en-GB" sz="1400" b="0" i="0" u="none" strike="noStrike" kern="1200" cap="none" spc="0" baseline="0" dirty="0">
                          <a:solidFill>
                            <a:srgbClr val="000000"/>
                          </a:solidFill>
                          <a:uFillTx/>
                          <a:latin typeface="Calibri"/>
                        </a:rPr>
                        <a:t> export declarations). </a:t>
                      </a:r>
                    </a:p>
                    <a:p>
                      <a:pPr marL="1657350" marR="0" lvl="3" indent="-285750" algn="l" defTabSz="914400" rtl="0" fontAlgn="auto" hangingPunct="1">
                        <a:lnSpc>
                          <a:spcPct val="107000"/>
                        </a:lnSpc>
                        <a:spcBef>
                          <a:spcPts val="0"/>
                        </a:spcBef>
                        <a:spcAft>
                          <a:spcPts val="0"/>
                        </a:spcAft>
                        <a:buSzPct val="100000"/>
                        <a:buFont typeface="Courier New" pitchFamily="49"/>
                        <a:buChar char="o"/>
                        <a:tabLst/>
                        <a:defRPr sz="1800" b="0" i="0" u="none" strike="noStrike" kern="0" cap="none" spc="0" baseline="0">
                          <a:solidFill>
                            <a:srgbClr val="000000"/>
                          </a:solidFill>
                          <a:uFillTx/>
                        </a:defRPr>
                      </a:pPr>
                      <a:r>
                        <a:rPr lang="it-IT" sz="1400" b="0" i="0" u="none" strike="noStrike" kern="0" cap="none" spc="0" baseline="0" dirty="0">
                          <a:solidFill>
                            <a:srgbClr val="333333"/>
                          </a:solidFill>
                          <a:uFillTx/>
                          <a:latin typeface="Calibri  "/>
                        </a:rPr>
                        <a:t>CDS will </a:t>
                      </a:r>
                      <a:r>
                        <a:rPr lang="it-IT" sz="1400" b="1" i="0" u="none" strike="noStrike" kern="0" cap="none" spc="0" baseline="0" dirty="0">
                          <a:solidFill>
                            <a:srgbClr val="333333"/>
                          </a:solidFill>
                          <a:uFillTx/>
                          <a:latin typeface="Calibri  "/>
                        </a:rPr>
                        <a:t>not</a:t>
                      </a:r>
                      <a:r>
                        <a:rPr lang="it-IT" sz="1400" b="0" i="0" u="none" strike="noStrike" kern="0" cap="none" spc="0" baseline="0" dirty="0">
                          <a:solidFill>
                            <a:srgbClr val="333333"/>
                          </a:solidFill>
                          <a:uFillTx/>
                          <a:latin typeface="Calibri  "/>
                        </a:rPr>
                        <a:t> allow MiB declarations to be linked to GVMS, therefore AI code </a:t>
                      </a:r>
                      <a:r>
                        <a:rPr lang="it-IT" sz="1400" b="1" i="0" u="none" strike="noStrike" kern="0" cap="none" spc="0" baseline="0" dirty="0">
                          <a:solidFill>
                            <a:srgbClr val="333333"/>
                          </a:solidFill>
                          <a:uFillTx/>
                          <a:latin typeface="Calibri  "/>
                        </a:rPr>
                        <a:t>'RRS01</a:t>
                      </a:r>
                      <a:r>
                        <a:rPr lang="it-IT" sz="1400" b="0" i="0" u="none" strike="noStrike" kern="0" cap="none" spc="0" baseline="0" dirty="0">
                          <a:solidFill>
                            <a:srgbClr val="333333"/>
                          </a:solidFill>
                          <a:uFillTx/>
                          <a:latin typeface="Calibri  "/>
                        </a:rPr>
                        <a:t>’ must </a:t>
                      </a:r>
                      <a:r>
                        <a:rPr lang="it-IT" sz="1400" b="1" i="0" u="none" strike="noStrike" kern="0" cap="none" spc="0" baseline="0" dirty="0">
                          <a:solidFill>
                            <a:srgbClr val="333333"/>
                          </a:solidFill>
                          <a:uFillTx/>
                          <a:latin typeface="Calibri  "/>
                        </a:rPr>
                        <a:t>not</a:t>
                      </a:r>
                      <a:r>
                        <a:rPr lang="it-IT" sz="1400" b="0" i="0" u="none" strike="noStrike" kern="0" cap="none" spc="0" baseline="0" dirty="0">
                          <a:solidFill>
                            <a:srgbClr val="333333"/>
                          </a:solidFill>
                          <a:uFillTx/>
                          <a:latin typeface="Calibri  "/>
                        </a:rPr>
                        <a:t> be entered in DE 2/2 - </a:t>
                      </a:r>
                      <a:r>
                        <a:rPr lang="en-GB" sz="1400" b="0" i="0" u="none" strike="noStrike" kern="1200" cap="none" spc="0" baseline="0" dirty="0">
                          <a:solidFill>
                            <a:srgbClr val="333333"/>
                          </a:solidFill>
                          <a:uFillTx/>
                          <a:latin typeface="Calibri" pitchFamily="34"/>
                          <a:ea typeface="Times New Roman" pitchFamily="18"/>
                          <a:cs typeface="Times New Roman" pitchFamily="18"/>
                        </a:rPr>
                        <a:t>MIB declarations using this new functionality must be declared with a non-GVMS location code</a:t>
                      </a:r>
                      <a:endParaRPr lang="en-GB" sz="1400" b="1" i="0" u="none" strike="noStrike" kern="0" cap="none" spc="0" baseline="0" dirty="0">
                        <a:solidFill>
                          <a:srgbClr val="333333"/>
                        </a:solidFill>
                        <a:uFillTx/>
                        <a:latin typeface="Calibri  "/>
                      </a:endParaRPr>
                    </a:p>
                    <a:p>
                      <a:pPr marL="914400" marR="0" lvl="2" indent="0" algn="l" defTabSz="914400" rtl="0" fontAlgn="auto" hangingPunct="1">
                        <a:lnSpc>
                          <a:spcPct val="100000"/>
                        </a:lnSpc>
                        <a:spcBef>
                          <a:spcPts val="0"/>
                        </a:spcBef>
                        <a:spcAft>
                          <a:spcPts val="0"/>
                        </a:spcAft>
                        <a:buNone/>
                        <a:tabLst/>
                      </a:pPr>
                      <a:endParaRPr lang="en-GB" sz="1400" b="0" i="0" kern="1200" dirty="0">
                        <a:solidFill>
                          <a:srgbClr val="000000"/>
                        </a:solidFill>
                        <a:latin typeface="Calibri"/>
                      </a:endParaRPr>
                    </a:p>
                  </a:txBody>
                  <a:tcPr>
                    <a:solidFill>
                      <a:srgbClr val="E9EBF5"/>
                    </a:solidFill>
                  </a:tcPr>
                </a:tc>
                <a:extLst>
                  <a:ext uri="{0D108BD9-81ED-4DB2-BD59-A6C34878D82A}">
                    <a16:rowId xmlns:a16="http://schemas.microsoft.com/office/drawing/2014/main" val="325884958"/>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Straight Connector 17">
            <a:extLst>
              <a:ext uri="{FF2B5EF4-FFF2-40B4-BE49-F238E27FC236}">
                <a16:creationId xmlns:a16="http://schemas.microsoft.com/office/drawing/2014/main" id="{9B1C5015-9F3B-4B9F-9031-945A7E68949E}"/>
              </a:ext>
            </a:extLst>
          </p:cNvPr>
          <p:cNvCxnSpPr/>
          <p:nvPr/>
        </p:nvCxnSpPr>
        <p:spPr>
          <a:xfrm>
            <a:off x="325937" y="186903"/>
            <a:ext cx="0" cy="422050"/>
          </a:xfrm>
          <a:prstGeom prst="straightConnector1">
            <a:avLst/>
          </a:prstGeom>
          <a:noFill/>
          <a:ln w="28575" cap="flat">
            <a:solidFill>
              <a:srgbClr val="D9D9D9"/>
            </a:solidFill>
            <a:prstDash val="solid"/>
            <a:miter/>
          </a:ln>
        </p:spPr>
      </p:cxnSp>
      <p:cxnSp>
        <p:nvCxnSpPr>
          <p:cNvPr id="3" name="Straight Connector 11">
            <a:extLst>
              <a:ext uri="{FF2B5EF4-FFF2-40B4-BE49-F238E27FC236}">
                <a16:creationId xmlns:a16="http://schemas.microsoft.com/office/drawing/2014/main" id="{D6C11640-FA3E-46E5-B9A7-E7F359123CA6}"/>
              </a:ext>
            </a:extLst>
          </p:cNvPr>
          <p:cNvCxnSpPr/>
          <p:nvPr/>
        </p:nvCxnSpPr>
        <p:spPr>
          <a:xfrm>
            <a:off x="319116" y="186903"/>
            <a:ext cx="0" cy="422050"/>
          </a:xfrm>
          <a:prstGeom prst="straightConnector1">
            <a:avLst/>
          </a:prstGeom>
          <a:noFill/>
          <a:ln w="28575" cap="flat">
            <a:solidFill>
              <a:srgbClr val="D9D9D9"/>
            </a:solidFill>
            <a:prstDash val="solid"/>
            <a:miter/>
          </a:ln>
        </p:spPr>
      </p:cxnSp>
      <p:sp>
        <p:nvSpPr>
          <p:cNvPr id="4" name="TextBox 12">
            <a:extLst>
              <a:ext uri="{FF2B5EF4-FFF2-40B4-BE49-F238E27FC236}">
                <a16:creationId xmlns:a16="http://schemas.microsoft.com/office/drawing/2014/main" id="{82E393B6-AA11-4414-8B14-89201222C078}"/>
              </a:ext>
            </a:extLst>
          </p:cNvPr>
          <p:cNvSpPr txBox="1"/>
          <p:nvPr/>
        </p:nvSpPr>
        <p:spPr>
          <a:xfrm>
            <a:off x="363967" y="248844"/>
            <a:ext cx="2321725" cy="307777"/>
          </a:xfrm>
          <a:prstGeom prst="rect">
            <a:avLst/>
          </a:prstGeom>
          <a:noFill/>
          <a:ln cap="flat">
            <a:noFill/>
          </a:ln>
        </p:spPr>
        <p:txBody>
          <a:bodyPr vert="horz" wrap="none" lIns="91440" tIns="45720" rIns="91440" bIns="45720" anchor="t"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400" b="1" i="0" u="none" strike="noStrike" kern="1200" cap="none" spc="50" baseline="0">
                <a:solidFill>
                  <a:srgbClr val="A6A6A6"/>
                </a:solidFill>
                <a:uFillTx/>
                <a:latin typeface="Calibri"/>
              </a:rPr>
              <a:t>RELEASE SCOPE GUIDANCE</a:t>
            </a:r>
          </a:p>
        </p:txBody>
      </p:sp>
      <p:pic>
        <p:nvPicPr>
          <p:cNvPr id="5" name="Picture 106" descr="57% HMRCppt logo">
            <a:extLst>
              <a:ext uri="{FF2B5EF4-FFF2-40B4-BE49-F238E27FC236}">
                <a16:creationId xmlns:a16="http://schemas.microsoft.com/office/drawing/2014/main" id="{0BC784A9-9201-4F3E-BE97-6490FAA7E8BD}"/>
              </a:ext>
            </a:extLst>
          </p:cNvPr>
          <p:cNvPicPr>
            <a:picLocks noChangeAspect="1"/>
          </p:cNvPicPr>
          <p:nvPr/>
        </p:nvPicPr>
        <p:blipFill>
          <a:blip r:embed="rId3"/>
          <a:srcRect/>
          <a:stretch>
            <a:fillRect/>
          </a:stretch>
        </p:blipFill>
        <p:spPr>
          <a:xfrm>
            <a:off x="446099" y="5929033"/>
            <a:ext cx="1030227" cy="633980"/>
          </a:xfrm>
          <a:prstGeom prst="rect">
            <a:avLst/>
          </a:prstGeom>
          <a:noFill/>
          <a:ln cap="flat">
            <a:noFill/>
          </a:ln>
        </p:spPr>
      </p:pic>
      <p:sp>
        <p:nvSpPr>
          <p:cNvPr id="6" name="Slide Number Placeholder 5">
            <a:extLst>
              <a:ext uri="{FF2B5EF4-FFF2-40B4-BE49-F238E27FC236}">
                <a16:creationId xmlns:a16="http://schemas.microsoft.com/office/drawing/2014/main" id="{088903D6-C05B-4410-B6CD-4649B65A9E13}"/>
              </a:ext>
            </a:extLst>
          </p:cNvPr>
          <p:cNvSpPr txBox="1"/>
          <p:nvPr/>
        </p:nvSpPr>
        <p:spPr>
          <a:xfrm>
            <a:off x="11526231" y="6387897"/>
            <a:ext cx="443849" cy="365129"/>
          </a:xfrm>
          <a:prstGeom prst="rect">
            <a:avLst/>
          </a:prstGeom>
          <a:noFill/>
          <a:ln cap="flat">
            <a:noFill/>
          </a:ln>
        </p:spPr>
        <p:txBody>
          <a:bodyPr vert="horz" wrap="square" lIns="91440" tIns="45720" rIns="91440" bIns="45720" anchor="ctr" anchorCtr="0" compatLnSpc="1">
            <a:noAutofit/>
          </a:bodyPr>
          <a:lstStyle/>
          <a:p>
            <a:pPr marL="0" marR="0" lvl="0" indent="0" algn="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fld id="{F8C6FEBB-F102-4DFE-971D-92B3DA2FF58F}" type="slidenum">
              <a:t>7</a:t>
            </a:fld>
            <a:endParaRPr lang="en-GB" sz="900" b="0" i="0" u="none" strike="noStrike" kern="1200" cap="none" spc="0" baseline="0">
              <a:solidFill>
                <a:srgbClr val="000000"/>
              </a:solidFill>
              <a:uFillTx/>
              <a:latin typeface="Calibri"/>
            </a:endParaRPr>
          </a:p>
        </p:txBody>
      </p:sp>
      <p:sp>
        <p:nvSpPr>
          <p:cNvPr id="7" name="Footer Placeholder 1">
            <a:extLst>
              <a:ext uri="{FF2B5EF4-FFF2-40B4-BE49-F238E27FC236}">
                <a16:creationId xmlns:a16="http://schemas.microsoft.com/office/drawing/2014/main" id="{DFFE456A-FB86-47CB-977A-B3ED841E1946}"/>
              </a:ext>
            </a:extLst>
          </p:cNvPr>
          <p:cNvSpPr txBox="1"/>
          <p:nvPr/>
        </p:nvSpPr>
        <p:spPr>
          <a:xfrm>
            <a:off x="2943801" y="6490776"/>
            <a:ext cx="8737604" cy="144466"/>
          </a:xfrm>
          <a:prstGeom prst="rect">
            <a:avLst/>
          </a:prstGeom>
          <a:noFill/>
          <a:ln cap="flat">
            <a:noFill/>
          </a:ln>
        </p:spPr>
        <p:txBody>
          <a:bodyPr vert="horz" wrap="square" lIns="0" tIns="0" rIns="0" bIns="0" anchor="ctr" anchorCtr="0" compatLnSpc="1">
            <a:noAutofit/>
          </a:bodyPr>
          <a:lstStyle/>
          <a:p>
            <a:pPr marL="0" marR="0" lvl="0" indent="0" algn="r"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r>
              <a:rPr lang="en-GB" sz="900" b="0" i="0" u="none" strike="noStrike" kern="1200" cap="none" spc="0" baseline="0">
                <a:solidFill>
                  <a:srgbClr val="3B3A3D"/>
                </a:solidFill>
                <a:uFillTx/>
                <a:latin typeface="Calibri"/>
                <a:ea typeface="Geneva"/>
                <a:cs typeface="Arial"/>
              </a:rPr>
              <a:t>OFFICIAL | CDS External Release Scope Guidance Document |</a:t>
            </a:r>
            <a:endParaRPr lang="en-GB" sz="900" b="1" i="0" u="none" strike="noStrike" kern="1200" cap="none" spc="0" baseline="0">
              <a:solidFill>
                <a:srgbClr val="008D8E"/>
              </a:solidFill>
              <a:uFillTx/>
              <a:latin typeface="Calibri"/>
              <a:ea typeface="Geneva"/>
              <a:cs typeface="Arial"/>
            </a:endParaRPr>
          </a:p>
        </p:txBody>
      </p:sp>
      <p:sp>
        <p:nvSpPr>
          <p:cNvPr id="8" name="Rectangle 13">
            <a:extLst>
              <a:ext uri="{FF2B5EF4-FFF2-40B4-BE49-F238E27FC236}">
                <a16:creationId xmlns:a16="http://schemas.microsoft.com/office/drawing/2014/main" id="{48964C8A-D9D1-4D9A-BC67-67F10BDD0F54}"/>
              </a:ext>
            </a:extLst>
          </p:cNvPr>
          <p:cNvSpPr/>
          <p:nvPr/>
        </p:nvSpPr>
        <p:spPr>
          <a:xfrm>
            <a:off x="399246" y="999818"/>
            <a:ext cx="11282159" cy="4036746"/>
          </a:xfrm>
          <a:prstGeom prst="rect">
            <a:avLst/>
          </a:prstGeom>
          <a:noFill/>
          <a:ln cap="flat">
            <a:noFill/>
            <a:prstDash val="solid"/>
          </a:ln>
        </p:spPr>
        <p:txBody>
          <a:bodyPr vert="horz" wrap="square" lIns="91440" tIns="45720" rIns="91440" bIns="45720" anchor="t"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400" b="1" i="0" u="sng" strike="noStrike" kern="1200" cap="none" spc="0" baseline="0" dirty="0">
              <a:solidFill>
                <a:srgbClr val="000000"/>
              </a:solidFill>
              <a:uFillTx/>
              <a:latin typeface="Calibri"/>
            </a:endParaRPr>
          </a:p>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400" b="1" i="0" u="sng" strike="noStrike" kern="1200" cap="none" spc="0" baseline="0" dirty="0">
                <a:solidFill>
                  <a:srgbClr val="000000"/>
                </a:solidFill>
                <a:uFillTx/>
                <a:latin typeface="Calibri"/>
              </a:rPr>
              <a:t>Valuation Methods – Summary</a:t>
            </a:r>
          </a:p>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b="1" u="sng" dirty="0">
              <a:solidFill>
                <a:srgbClr val="333333"/>
              </a:solidFill>
              <a:latin typeface="Calibri  "/>
            </a:endParaRPr>
          </a:p>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400" b="0" i="0" dirty="0">
                <a:solidFill>
                  <a:srgbClr val="0B0C0C"/>
                </a:solidFill>
                <a:effectLst/>
                <a:latin typeface="GDS Transport"/>
              </a:rPr>
              <a:t>From </a:t>
            </a:r>
            <a:r>
              <a:rPr lang="en-GB" sz="1400" dirty="0">
                <a:solidFill>
                  <a:srgbClr val="0B0C0C"/>
                </a:solidFill>
                <a:latin typeface="GDS Transport"/>
              </a:rPr>
              <a:t>CDS3.8.0</a:t>
            </a:r>
            <a:r>
              <a:rPr lang="en-GB" sz="1400" b="0" i="0" dirty="0">
                <a:solidFill>
                  <a:srgbClr val="0B0C0C"/>
                </a:solidFill>
                <a:effectLst/>
                <a:latin typeface="GDS Transport"/>
              </a:rPr>
              <a:t>, traders may use </a:t>
            </a:r>
            <a:r>
              <a:rPr lang="en-GB" sz="1400" b="1" i="0" dirty="0">
                <a:solidFill>
                  <a:srgbClr val="0B0C0C"/>
                </a:solidFill>
                <a:effectLst/>
                <a:latin typeface="GDS Transport"/>
              </a:rPr>
              <a:t>Valu</a:t>
            </a:r>
            <a:r>
              <a:rPr lang="en-GB" sz="1400" b="1" dirty="0">
                <a:solidFill>
                  <a:srgbClr val="0B0C0C"/>
                </a:solidFill>
                <a:latin typeface="GDS Transport"/>
              </a:rPr>
              <a:t>ation Methods 4, 5 &amp; 6 </a:t>
            </a:r>
            <a:r>
              <a:rPr lang="en-GB" sz="1400" dirty="0">
                <a:solidFill>
                  <a:srgbClr val="0B0C0C"/>
                </a:solidFill>
                <a:latin typeface="GDS Transport"/>
              </a:rPr>
              <a:t>to</a:t>
            </a:r>
            <a:r>
              <a:rPr lang="en-GB" sz="1400" b="0" i="0" dirty="0">
                <a:solidFill>
                  <a:srgbClr val="0B0C0C"/>
                </a:solidFill>
                <a:effectLst/>
                <a:latin typeface="GDS Transport"/>
              </a:rPr>
              <a:t> establish the value on which Customs Duty and import VAT is calculated.</a:t>
            </a:r>
            <a:r>
              <a:rPr lang="en-GB" sz="1400" b="1" dirty="0">
                <a:solidFill>
                  <a:srgbClr val="000000"/>
                </a:solidFill>
                <a:latin typeface="Calibri"/>
              </a:rPr>
              <a:t> </a:t>
            </a:r>
            <a:r>
              <a:rPr lang="en-GB" sz="1400" dirty="0">
                <a:solidFill>
                  <a:srgbClr val="000000"/>
                </a:solidFill>
                <a:latin typeface="Calibri"/>
              </a:rPr>
              <a:t>This means the current workaround of declaring Valuation Method 1 with a manual tax calculation (OVR01) need not be used from R3.8.0.</a:t>
            </a:r>
          </a:p>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400" b="1" i="0" dirty="0">
              <a:solidFill>
                <a:srgbClr val="000000"/>
              </a:solidFill>
              <a:effectLst/>
              <a:latin typeface="Calibri"/>
            </a:endParaRPr>
          </a:p>
          <a:p>
            <a:pPr marR="0" lvl="0" algn="l" defTabSz="914400" rtl="0" fontAlgn="auto" hangingPunct="1">
              <a:lnSpc>
                <a:spcPct val="100000"/>
              </a:lnSpc>
              <a:spcBef>
                <a:spcPts val="0"/>
              </a:spcBef>
              <a:spcAft>
                <a:spcPts val="0"/>
              </a:spcAft>
              <a:tabLst/>
              <a:defRPr sz="1800" b="0" i="0" u="none" strike="noStrike" kern="0" cap="none" spc="0" baseline="0">
                <a:solidFill>
                  <a:srgbClr val="000000"/>
                </a:solidFill>
                <a:uFillTx/>
              </a:defRPr>
            </a:pPr>
            <a:r>
              <a:rPr lang="en-GB" sz="1400" b="1" i="0" dirty="0">
                <a:solidFill>
                  <a:srgbClr val="0B0C0C"/>
                </a:solidFill>
                <a:effectLst/>
                <a:latin typeface="GDS Transport"/>
              </a:rPr>
              <a:t>Valuation Method 4</a:t>
            </a:r>
            <a:r>
              <a:rPr lang="en-GB" sz="1400" b="0" i="0" dirty="0">
                <a:solidFill>
                  <a:srgbClr val="0B0C0C"/>
                </a:solidFill>
                <a:effectLst/>
                <a:latin typeface="GDS Transport"/>
              </a:rPr>
              <a:t> is based on the selling price of identical and similar imported goods in the UK, for actual sales up to 90 days after importation.</a:t>
            </a:r>
          </a:p>
          <a:p>
            <a:pPr marL="1200150" lvl="2" indent="-285750">
              <a:buFont typeface="Courier New" panose="02070309020205020404" pitchFamily="49" charset="0"/>
              <a:buChar char="o"/>
              <a:defRPr sz="1800" b="0" i="0" u="none" strike="noStrike" kern="0" cap="none" spc="0" baseline="0">
                <a:solidFill>
                  <a:srgbClr val="000000"/>
                </a:solidFill>
                <a:uFillTx/>
              </a:defRPr>
            </a:pPr>
            <a:r>
              <a:rPr lang="en-GB" sz="1400" b="0" i="0" dirty="0">
                <a:solidFill>
                  <a:srgbClr val="0B0C0C"/>
                </a:solidFill>
                <a:effectLst/>
                <a:latin typeface="GDS Transport"/>
              </a:rPr>
              <a:t>Where customs values cannot be established until the goods have been sold, traders must </a:t>
            </a:r>
            <a:r>
              <a:rPr lang="en-GB" sz="1400" dirty="0">
                <a:solidFill>
                  <a:srgbClr val="0B0C0C"/>
                </a:solidFill>
                <a:latin typeface="GDS Transport"/>
              </a:rPr>
              <a:t>also </a:t>
            </a:r>
            <a:r>
              <a:rPr lang="en-GB" sz="1400" b="0" i="0" dirty="0">
                <a:solidFill>
                  <a:srgbClr val="0B0C0C"/>
                </a:solidFill>
                <a:effectLst/>
                <a:latin typeface="GDS Transport"/>
              </a:rPr>
              <a:t>request a release against a deposit.</a:t>
            </a:r>
          </a:p>
          <a:p>
            <a:pPr marL="1200150" lvl="2" indent="-285750">
              <a:buFont typeface="Courier New" panose="02070309020205020404" pitchFamily="49" charset="0"/>
              <a:buChar char="o"/>
              <a:defRPr sz="1800" b="0" i="0" u="none" strike="noStrike" kern="0" cap="none" spc="0" baseline="0">
                <a:solidFill>
                  <a:srgbClr val="000000"/>
                </a:solidFill>
                <a:uFillTx/>
              </a:defRPr>
            </a:pPr>
            <a:endParaRPr lang="en-GB" sz="1400" dirty="0">
              <a:solidFill>
                <a:srgbClr val="0B0C0C"/>
              </a:solidFill>
              <a:latin typeface="GDS Transport"/>
            </a:endParaRPr>
          </a:p>
          <a:p>
            <a:pPr marR="0" lvl="0" algn="l" defTabSz="914400" rtl="0" fontAlgn="auto" hangingPunct="1">
              <a:lnSpc>
                <a:spcPct val="100000"/>
              </a:lnSpc>
              <a:spcBef>
                <a:spcPts val="0"/>
              </a:spcBef>
              <a:spcAft>
                <a:spcPts val="0"/>
              </a:spcAft>
              <a:tabLst/>
              <a:defRPr sz="1800" b="0" i="0" u="none" strike="noStrike" kern="0" cap="none" spc="0" baseline="0">
                <a:solidFill>
                  <a:srgbClr val="000000"/>
                </a:solidFill>
                <a:uFillTx/>
              </a:defRPr>
            </a:pPr>
            <a:r>
              <a:rPr lang="en-GB" sz="1400" b="1" i="0" dirty="0">
                <a:solidFill>
                  <a:srgbClr val="0B0C0C"/>
                </a:solidFill>
                <a:effectLst/>
                <a:latin typeface="GDS Transport"/>
              </a:rPr>
              <a:t>Valuation Method 5 </a:t>
            </a:r>
            <a:r>
              <a:rPr lang="en-GB" sz="1400" b="0" i="0" dirty="0">
                <a:solidFill>
                  <a:srgbClr val="0B0C0C"/>
                </a:solidFill>
                <a:effectLst/>
                <a:latin typeface="GDS Transport"/>
              </a:rPr>
              <a:t>is based on the cost of the production of the goods. </a:t>
            </a:r>
          </a:p>
          <a:p>
            <a:pPr marL="1200150" lvl="2" indent="-285750">
              <a:buFont typeface="Arial" panose="020B0604020202020204" pitchFamily="34" charset="0"/>
              <a:buChar char="•"/>
              <a:defRPr sz="1800" b="0" i="0" u="none" strike="noStrike" kern="0" cap="none" spc="0" baseline="0">
                <a:solidFill>
                  <a:srgbClr val="000000"/>
                </a:solidFill>
                <a:uFillTx/>
              </a:defRPr>
            </a:pPr>
            <a:r>
              <a:rPr lang="en-GB" sz="1400" b="0" i="0" dirty="0">
                <a:solidFill>
                  <a:srgbClr val="0B0C0C"/>
                </a:solidFill>
                <a:effectLst/>
                <a:latin typeface="GDS Transport"/>
              </a:rPr>
              <a:t>Usually it can only be used where the importer and supplier are related.</a:t>
            </a:r>
          </a:p>
          <a:p>
            <a:pPr marR="0" lvl="0" algn="l" defTabSz="914400" rtl="0" fontAlgn="auto" hangingPunct="1">
              <a:lnSpc>
                <a:spcPct val="100000"/>
              </a:lnSpc>
              <a:spcBef>
                <a:spcPts val="0"/>
              </a:spcBef>
              <a:spcAft>
                <a:spcPts val="0"/>
              </a:spcAft>
              <a:tabLst/>
              <a:defRPr sz="1800" b="0" i="0" u="none" strike="noStrike" kern="0" cap="none" spc="0" baseline="0">
                <a:solidFill>
                  <a:srgbClr val="000000"/>
                </a:solidFill>
                <a:uFillTx/>
              </a:defRPr>
            </a:pPr>
            <a:endParaRPr lang="en-GB" sz="1400" b="0" i="0" dirty="0">
              <a:solidFill>
                <a:srgbClr val="0B0C0C"/>
              </a:solidFill>
              <a:effectLst/>
              <a:latin typeface="GDS Transport"/>
            </a:endParaRPr>
          </a:p>
          <a:p>
            <a:pPr algn="l"/>
            <a:r>
              <a:rPr lang="en-GB" sz="1400" b="1" dirty="0">
                <a:solidFill>
                  <a:srgbClr val="0B0C0C"/>
                </a:solidFill>
                <a:latin typeface="GDS Transport"/>
              </a:rPr>
              <a:t>Valuation </a:t>
            </a:r>
            <a:r>
              <a:rPr lang="en-GB" sz="1400" b="1" dirty="0">
                <a:solidFill>
                  <a:srgbClr val="0B0C0C"/>
                </a:solidFill>
                <a:latin typeface="Calibri  "/>
              </a:rPr>
              <a:t>Method 6 </a:t>
            </a:r>
            <a:r>
              <a:rPr lang="en-GB" sz="1400" dirty="0">
                <a:solidFill>
                  <a:srgbClr val="0B0C0C"/>
                </a:solidFill>
                <a:latin typeface="Calibri  "/>
              </a:rPr>
              <a:t>is called the ‘fall-back’ method. </a:t>
            </a:r>
          </a:p>
          <a:p>
            <a:pPr marL="1200150" lvl="2" indent="-285750">
              <a:buFont typeface="Arial" panose="020B0604020202020204" pitchFamily="34" charset="0"/>
              <a:buChar char="•"/>
            </a:pPr>
            <a:r>
              <a:rPr lang="en-GB" sz="1400" dirty="0">
                <a:solidFill>
                  <a:srgbClr val="0B0C0C"/>
                </a:solidFill>
                <a:latin typeface="Calibri  "/>
              </a:rPr>
              <a:t>Traders must arrive at the customs value by using reasonable means that are consistent with the WTO Valuation Principles.</a:t>
            </a:r>
            <a:r>
              <a:rPr lang="en-GB" sz="1400" b="0" i="0" dirty="0">
                <a:solidFill>
                  <a:srgbClr val="0B0C0C"/>
                </a:solidFill>
                <a:effectLst/>
                <a:latin typeface="Calibri  "/>
              </a:rPr>
              <a:t> </a:t>
            </a:r>
            <a:r>
              <a:rPr lang="en-GB" sz="1400" dirty="0">
                <a:solidFill>
                  <a:srgbClr val="333333"/>
                </a:solidFill>
                <a:latin typeface="Calibri  "/>
              </a:rPr>
              <a:t>Traders may do this</a:t>
            </a:r>
            <a:r>
              <a:rPr lang="en-GB" sz="1400" b="0" i="0" dirty="0">
                <a:solidFill>
                  <a:srgbClr val="333333"/>
                </a:solidFill>
                <a:effectLst/>
                <a:latin typeface="Calibri  "/>
              </a:rPr>
              <a:t> by adapting Methods 1 to 5 flexibly to fit unusual circumstances</a:t>
            </a:r>
            <a:r>
              <a:rPr lang="en-GB" sz="1400" b="0" i="0" dirty="0">
                <a:solidFill>
                  <a:srgbClr val="333333"/>
                </a:solidFill>
                <a:effectLst/>
                <a:latin typeface="Arial" panose="020B0604020202020204" pitchFamily="34" charset="0"/>
              </a:rPr>
              <a:t>.</a:t>
            </a:r>
            <a:endParaRPr lang="en-GB" sz="1400" b="0" i="0" dirty="0">
              <a:solidFill>
                <a:srgbClr val="0B0C0C"/>
              </a:solidFill>
              <a:effectLst/>
              <a:latin typeface="GDS Transport"/>
            </a:endParaRPr>
          </a:p>
          <a:p>
            <a:pPr marR="0" lvl="0" algn="l" defTabSz="914400" rtl="0" fontAlgn="auto" hangingPunct="1">
              <a:lnSpc>
                <a:spcPct val="100000"/>
              </a:lnSpc>
              <a:spcBef>
                <a:spcPts val="0"/>
              </a:spcBef>
              <a:spcAft>
                <a:spcPts val="0"/>
              </a:spcAft>
              <a:tabLst/>
              <a:defRPr sz="1800" b="0" i="0" u="none" strike="noStrike" kern="0" cap="none" spc="0" baseline="0">
                <a:solidFill>
                  <a:srgbClr val="000000"/>
                </a:solidFill>
                <a:uFillTx/>
              </a:defRPr>
            </a:pPr>
            <a:endParaRPr lang="en-GB" sz="1400" b="0" i="0" dirty="0">
              <a:solidFill>
                <a:srgbClr val="0B0C0C"/>
              </a:solidFill>
              <a:effectLst/>
              <a:latin typeface="GDS Transport"/>
            </a:endParaRPr>
          </a:p>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400" b="1" i="0" u="none" strike="noStrike" kern="1200" cap="none" spc="0" baseline="0" dirty="0">
              <a:solidFill>
                <a:srgbClr val="000000"/>
              </a:solidFill>
              <a:uFillTx/>
              <a:latin typeface="Calibri"/>
            </a:endParaRPr>
          </a:p>
          <a:p>
            <a:pPr marL="0" marR="0" lvl="0" indent="0" algn="l" defTabSz="914400" rtl="0" fontAlgn="auto" hangingPunct="1">
              <a:lnSpc>
                <a:spcPct val="107000"/>
              </a:lnSpc>
              <a:spcBef>
                <a:spcPts val="0"/>
              </a:spcBef>
              <a:spcAft>
                <a:spcPts val="800"/>
              </a:spcAft>
              <a:buNone/>
              <a:tabLst/>
              <a:defRPr sz="1800" b="0" i="0" u="none" strike="noStrike" kern="0" cap="none" spc="0" baseline="0">
                <a:solidFill>
                  <a:srgbClr val="000000"/>
                </a:solidFill>
                <a:uFillTx/>
              </a:defRPr>
            </a:pPr>
            <a:endParaRPr lang="en-GB" sz="1400" b="0" i="0" u="none" strike="noStrike" kern="1200" cap="none" spc="0" baseline="0" dirty="0">
              <a:solidFill>
                <a:srgbClr val="333333"/>
              </a:solidFill>
              <a:uFillTx/>
              <a:latin typeface="Calibri" pitchFamily="34"/>
              <a:ea typeface="Times New Roman" pitchFamily="18"/>
              <a:cs typeface="Times New Roman" pitchFamily="18"/>
            </a:endParaRPr>
          </a:p>
        </p:txBody>
      </p:sp>
      <p:sp>
        <p:nvSpPr>
          <p:cNvPr id="9" name="Rectangle 7">
            <a:extLst>
              <a:ext uri="{FF2B5EF4-FFF2-40B4-BE49-F238E27FC236}">
                <a16:creationId xmlns:a16="http://schemas.microsoft.com/office/drawing/2014/main" id="{1D8D1562-0018-41BA-A48C-A37EADF9508A}"/>
              </a:ext>
            </a:extLst>
          </p:cNvPr>
          <p:cNvSpPr/>
          <p:nvPr/>
        </p:nvSpPr>
        <p:spPr>
          <a:xfrm>
            <a:off x="465155" y="799761"/>
            <a:ext cx="3563745" cy="400114"/>
          </a:xfrm>
          <a:prstGeom prst="rect">
            <a:avLst/>
          </a:prstGeom>
          <a:solidFill>
            <a:srgbClr val="009999"/>
          </a:solidFill>
          <a:ln w="25402" cap="flat">
            <a:solidFill>
              <a:srgbClr val="009999"/>
            </a:solidFill>
            <a:prstDash val="solid"/>
            <a:miter/>
          </a:ln>
        </p:spPr>
        <p:txBody>
          <a:bodyPr vert="horz" wrap="square" lIns="91440" tIns="45720" rIns="91440" bIns="4572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2400" b="1" i="0" u="none" strike="noStrike" kern="0" cap="none" spc="0" baseline="0">
                <a:solidFill>
                  <a:srgbClr val="FFFFFF"/>
                </a:solidFill>
                <a:uFillTx/>
                <a:latin typeface="Calibri"/>
              </a:rPr>
              <a:t>New Release Functionality</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Straight Connector 17">
            <a:extLst>
              <a:ext uri="{FF2B5EF4-FFF2-40B4-BE49-F238E27FC236}">
                <a16:creationId xmlns:a16="http://schemas.microsoft.com/office/drawing/2014/main" id="{9B1C5015-9F3B-4B9F-9031-945A7E68949E}"/>
              </a:ext>
            </a:extLst>
          </p:cNvPr>
          <p:cNvCxnSpPr/>
          <p:nvPr/>
        </p:nvCxnSpPr>
        <p:spPr>
          <a:xfrm>
            <a:off x="325937" y="186903"/>
            <a:ext cx="0" cy="422050"/>
          </a:xfrm>
          <a:prstGeom prst="straightConnector1">
            <a:avLst/>
          </a:prstGeom>
          <a:noFill/>
          <a:ln w="28575" cap="flat">
            <a:solidFill>
              <a:srgbClr val="D9D9D9"/>
            </a:solidFill>
            <a:prstDash val="solid"/>
            <a:miter/>
          </a:ln>
        </p:spPr>
      </p:cxnSp>
      <p:cxnSp>
        <p:nvCxnSpPr>
          <p:cNvPr id="3" name="Straight Connector 11">
            <a:extLst>
              <a:ext uri="{FF2B5EF4-FFF2-40B4-BE49-F238E27FC236}">
                <a16:creationId xmlns:a16="http://schemas.microsoft.com/office/drawing/2014/main" id="{D6C11640-FA3E-46E5-B9A7-E7F359123CA6}"/>
              </a:ext>
            </a:extLst>
          </p:cNvPr>
          <p:cNvCxnSpPr/>
          <p:nvPr/>
        </p:nvCxnSpPr>
        <p:spPr>
          <a:xfrm>
            <a:off x="319116" y="186903"/>
            <a:ext cx="0" cy="422050"/>
          </a:xfrm>
          <a:prstGeom prst="straightConnector1">
            <a:avLst/>
          </a:prstGeom>
          <a:noFill/>
          <a:ln w="28575" cap="flat">
            <a:solidFill>
              <a:srgbClr val="D9D9D9"/>
            </a:solidFill>
            <a:prstDash val="solid"/>
            <a:miter/>
          </a:ln>
        </p:spPr>
      </p:cxnSp>
      <p:sp>
        <p:nvSpPr>
          <p:cNvPr id="4" name="TextBox 12">
            <a:extLst>
              <a:ext uri="{FF2B5EF4-FFF2-40B4-BE49-F238E27FC236}">
                <a16:creationId xmlns:a16="http://schemas.microsoft.com/office/drawing/2014/main" id="{82E393B6-AA11-4414-8B14-89201222C078}"/>
              </a:ext>
            </a:extLst>
          </p:cNvPr>
          <p:cNvSpPr txBox="1"/>
          <p:nvPr/>
        </p:nvSpPr>
        <p:spPr>
          <a:xfrm>
            <a:off x="363967" y="248844"/>
            <a:ext cx="2321725" cy="307777"/>
          </a:xfrm>
          <a:prstGeom prst="rect">
            <a:avLst/>
          </a:prstGeom>
          <a:noFill/>
          <a:ln cap="flat">
            <a:noFill/>
          </a:ln>
        </p:spPr>
        <p:txBody>
          <a:bodyPr vert="horz" wrap="none" lIns="91440" tIns="45720" rIns="91440" bIns="45720" anchor="t"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400" b="1" i="0" u="none" strike="noStrike" kern="1200" cap="none" spc="50" baseline="0">
                <a:solidFill>
                  <a:srgbClr val="A6A6A6"/>
                </a:solidFill>
                <a:uFillTx/>
                <a:latin typeface="Calibri"/>
              </a:rPr>
              <a:t>RELEASE SCOPE GUIDANCE</a:t>
            </a:r>
          </a:p>
        </p:txBody>
      </p:sp>
      <p:pic>
        <p:nvPicPr>
          <p:cNvPr id="5" name="Picture 106" descr="57% HMRCppt logo">
            <a:extLst>
              <a:ext uri="{FF2B5EF4-FFF2-40B4-BE49-F238E27FC236}">
                <a16:creationId xmlns:a16="http://schemas.microsoft.com/office/drawing/2014/main" id="{0BC784A9-9201-4F3E-BE97-6490FAA7E8BD}"/>
              </a:ext>
            </a:extLst>
          </p:cNvPr>
          <p:cNvPicPr>
            <a:picLocks noChangeAspect="1"/>
          </p:cNvPicPr>
          <p:nvPr/>
        </p:nvPicPr>
        <p:blipFill>
          <a:blip r:embed="rId3"/>
          <a:srcRect/>
          <a:stretch>
            <a:fillRect/>
          </a:stretch>
        </p:blipFill>
        <p:spPr>
          <a:xfrm>
            <a:off x="446099" y="5929033"/>
            <a:ext cx="1030227" cy="633980"/>
          </a:xfrm>
          <a:prstGeom prst="rect">
            <a:avLst/>
          </a:prstGeom>
          <a:noFill/>
          <a:ln cap="flat">
            <a:noFill/>
          </a:ln>
        </p:spPr>
      </p:pic>
      <p:sp>
        <p:nvSpPr>
          <p:cNvPr id="6" name="Slide Number Placeholder 5">
            <a:extLst>
              <a:ext uri="{FF2B5EF4-FFF2-40B4-BE49-F238E27FC236}">
                <a16:creationId xmlns:a16="http://schemas.microsoft.com/office/drawing/2014/main" id="{088903D6-C05B-4410-B6CD-4649B65A9E13}"/>
              </a:ext>
            </a:extLst>
          </p:cNvPr>
          <p:cNvSpPr txBox="1"/>
          <p:nvPr/>
        </p:nvSpPr>
        <p:spPr>
          <a:xfrm>
            <a:off x="11526231" y="6387897"/>
            <a:ext cx="443849" cy="365129"/>
          </a:xfrm>
          <a:prstGeom prst="rect">
            <a:avLst/>
          </a:prstGeom>
          <a:noFill/>
          <a:ln cap="flat">
            <a:noFill/>
          </a:ln>
        </p:spPr>
        <p:txBody>
          <a:bodyPr vert="horz" wrap="square" lIns="91440" tIns="45720" rIns="91440" bIns="45720" anchor="ctr" anchorCtr="0" compatLnSpc="1">
            <a:noAutofit/>
          </a:bodyPr>
          <a:lstStyle/>
          <a:p>
            <a:pPr marL="0" marR="0" lvl="0" indent="0" algn="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fld id="{F8C6FEBB-F102-4DFE-971D-92B3DA2FF58F}" type="slidenum">
              <a:t>8</a:t>
            </a:fld>
            <a:endParaRPr lang="en-GB" sz="900" b="0" i="0" u="none" strike="noStrike" kern="1200" cap="none" spc="0" baseline="0">
              <a:solidFill>
                <a:srgbClr val="000000"/>
              </a:solidFill>
              <a:uFillTx/>
              <a:latin typeface="Calibri"/>
            </a:endParaRPr>
          </a:p>
        </p:txBody>
      </p:sp>
      <p:sp>
        <p:nvSpPr>
          <p:cNvPr id="7" name="Footer Placeholder 1">
            <a:extLst>
              <a:ext uri="{FF2B5EF4-FFF2-40B4-BE49-F238E27FC236}">
                <a16:creationId xmlns:a16="http://schemas.microsoft.com/office/drawing/2014/main" id="{DFFE456A-FB86-47CB-977A-B3ED841E1946}"/>
              </a:ext>
            </a:extLst>
          </p:cNvPr>
          <p:cNvSpPr txBox="1"/>
          <p:nvPr/>
        </p:nvSpPr>
        <p:spPr>
          <a:xfrm>
            <a:off x="2943801" y="6490776"/>
            <a:ext cx="8737604" cy="144466"/>
          </a:xfrm>
          <a:prstGeom prst="rect">
            <a:avLst/>
          </a:prstGeom>
          <a:noFill/>
          <a:ln cap="flat">
            <a:noFill/>
          </a:ln>
        </p:spPr>
        <p:txBody>
          <a:bodyPr vert="horz" wrap="square" lIns="0" tIns="0" rIns="0" bIns="0" anchor="ctr" anchorCtr="0" compatLnSpc="1">
            <a:noAutofit/>
          </a:bodyPr>
          <a:lstStyle/>
          <a:p>
            <a:pPr marL="0" marR="0" lvl="0" indent="0" algn="r"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r>
              <a:rPr lang="en-GB" sz="900" b="0" i="0" u="none" strike="noStrike" kern="1200" cap="none" spc="0" baseline="0">
                <a:solidFill>
                  <a:srgbClr val="3B3A3D"/>
                </a:solidFill>
                <a:uFillTx/>
                <a:latin typeface="Calibri"/>
                <a:ea typeface="Geneva"/>
                <a:cs typeface="Arial"/>
              </a:rPr>
              <a:t>OFFICIAL | CDS External Release Scope Guidance Document |</a:t>
            </a:r>
            <a:endParaRPr lang="en-GB" sz="900" b="1" i="0" u="none" strike="noStrike" kern="1200" cap="none" spc="0" baseline="0">
              <a:solidFill>
                <a:srgbClr val="008D8E"/>
              </a:solidFill>
              <a:uFillTx/>
              <a:latin typeface="Calibri"/>
              <a:ea typeface="Geneva"/>
              <a:cs typeface="Arial"/>
            </a:endParaRPr>
          </a:p>
        </p:txBody>
      </p:sp>
      <p:sp>
        <p:nvSpPr>
          <p:cNvPr id="8" name="Rectangle 13">
            <a:extLst>
              <a:ext uri="{FF2B5EF4-FFF2-40B4-BE49-F238E27FC236}">
                <a16:creationId xmlns:a16="http://schemas.microsoft.com/office/drawing/2014/main" id="{48964C8A-D9D1-4D9A-BC67-67F10BDD0F54}"/>
              </a:ext>
            </a:extLst>
          </p:cNvPr>
          <p:cNvSpPr/>
          <p:nvPr/>
        </p:nvSpPr>
        <p:spPr>
          <a:xfrm>
            <a:off x="399246" y="1181224"/>
            <a:ext cx="11282159" cy="5246693"/>
          </a:xfrm>
          <a:prstGeom prst="rect">
            <a:avLst/>
          </a:prstGeom>
          <a:noFill/>
          <a:ln cap="flat">
            <a:noFill/>
            <a:prstDash val="solid"/>
          </a:ln>
        </p:spPr>
        <p:txBody>
          <a:bodyPr vert="horz" wrap="square" lIns="91440" tIns="45720" rIns="91440" bIns="45720" anchor="t"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400" b="1" u="sng">
                <a:solidFill>
                  <a:srgbClr val="0B0C0C"/>
                </a:solidFill>
                <a:latin typeface="Calibri  "/>
              </a:rPr>
              <a:t>Valuation Method 4</a:t>
            </a:r>
          </a:p>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400" b="1">
              <a:solidFill>
                <a:srgbClr val="0B0C0C"/>
              </a:solidFill>
              <a:latin typeface="GDS Transport"/>
            </a:endParaRPr>
          </a:p>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400" b="0" i="0">
                <a:solidFill>
                  <a:srgbClr val="0B0C0C"/>
                </a:solidFill>
                <a:effectLst/>
                <a:latin typeface="GDS Transport"/>
              </a:rPr>
              <a:t>For more information regarding Valuation Method 4, please visit </a:t>
            </a:r>
            <a:r>
              <a:rPr lang="en-GB" sz="1400">
                <a:hlinkClick r:id="rId4"/>
              </a:rPr>
              <a:t>Valuation of imported goods for customs purposes, VAT and trade statistics - GOV.UK </a:t>
            </a:r>
            <a:endParaRPr lang="en-GB" sz="1400"/>
          </a:p>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400" b="1" i="0" u="sng" strike="noStrike" kern="0" cap="none" spc="0" baseline="0">
              <a:solidFill>
                <a:srgbClr val="333333"/>
              </a:solidFill>
              <a:uFillTx/>
              <a:latin typeface="Calibri" pitchFamily="34"/>
              <a:ea typeface="Times New Roman" pitchFamily="18"/>
              <a:cs typeface="Times New Roman" pitchFamily="18"/>
            </a:endParaRPr>
          </a:p>
          <a:p>
            <a:pPr marR="0" lvl="0" algn="l" defTabSz="914400" rtl="0" fontAlgn="auto" hangingPunct="1">
              <a:lnSpc>
                <a:spcPct val="100000"/>
              </a:lnSpc>
              <a:spcBef>
                <a:spcPts val="0"/>
              </a:spcBef>
              <a:spcAft>
                <a:spcPts val="0"/>
              </a:spcAft>
              <a:tabLst/>
              <a:defRPr sz="1800" b="0" i="0" u="none" strike="noStrike" kern="0" cap="none" spc="0" baseline="0">
                <a:solidFill>
                  <a:srgbClr val="000000"/>
                </a:solidFill>
                <a:uFillTx/>
              </a:defRPr>
            </a:pPr>
            <a:r>
              <a:rPr lang="en-GB" sz="1400" kern="0">
                <a:solidFill>
                  <a:srgbClr val="333333"/>
                </a:solidFill>
                <a:latin typeface="Calibri" pitchFamily="34"/>
                <a:ea typeface="Times New Roman" pitchFamily="18"/>
                <a:cs typeface="Times New Roman" pitchFamily="18"/>
              </a:rPr>
              <a:t>Government Guidance will be further updated to provide the </a:t>
            </a:r>
            <a:r>
              <a:rPr lang="en-GB" sz="1400" b="1" kern="0">
                <a:solidFill>
                  <a:srgbClr val="333333"/>
                </a:solidFill>
                <a:latin typeface="Calibri" pitchFamily="34"/>
                <a:ea typeface="Times New Roman" pitchFamily="18"/>
                <a:cs typeface="Times New Roman" pitchFamily="18"/>
              </a:rPr>
              <a:t>Additional Procedure Code</a:t>
            </a:r>
            <a:r>
              <a:rPr lang="en-GB" sz="1400" kern="0">
                <a:solidFill>
                  <a:srgbClr val="333333"/>
                </a:solidFill>
                <a:latin typeface="Calibri" pitchFamily="34"/>
                <a:ea typeface="Times New Roman" pitchFamily="18"/>
                <a:cs typeface="Times New Roman" pitchFamily="18"/>
              </a:rPr>
              <a:t> descriptions, conditions of use, and restrictions for use with Valuation Method 4:</a:t>
            </a:r>
          </a:p>
          <a:p>
            <a:pPr marL="742950" lvl="1" indent="-285750">
              <a:buFont typeface="Arial" panose="020B0604020202020204" pitchFamily="34" charset="0"/>
              <a:buChar char="•"/>
              <a:defRPr sz="1800" b="0" i="0" u="none" strike="noStrike" kern="0" cap="none" spc="0" baseline="0">
                <a:solidFill>
                  <a:srgbClr val="000000"/>
                </a:solidFill>
                <a:uFillTx/>
              </a:defRPr>
            </a:pPr>
            <a:r>
              <a:rPr lang="en-GB" sz="1400" b="1">
                <a:effectLst/>
                <a:latin typeface="Calibri" panose="020F0502020204030204" pitchFamily="34" charset="0"/>
                <a:ea typeface="Calibri" panose="020F0502020204030204" pitchFamily="34" charset="0"/>
                <a:cs typeface="Times New Roman" panose="02020603050405020304" pitchFamily="18" charset="0"/>
              </a:rPr>
              <a:t>1FV: </a:t>
            </a:r>
            <a:r>
              <a:rPr lang="en-GB" sz="1400">
                <a:effectLst/>
                <a:latin typeface="Calibri" panose="020F0502020204030204" pitchFamily="34" charset="0"/>
                <a:ea typeface="Calibri" panose="020F0502020204030204" pitchFamily="34" charset="0"/>
                <a:cs typeface="Times New Roman" panose="02020603050405020304" pitchFamily="18" charset="0"/>
              </a:rPr>
              <a:t>Use of a provisional customs value pending sale of the goods, after import, or where no evidence is held to prove a declared value for equivalent good (“</a:t>
            </a:r>
            <a:r>
              <a:rPr lang="en-GB" sz="1400" b="1">
                <a:effectLst/>
                <a:latin typeface="Calibri" panose="020F0502020204030204" pitchFamily="34" charset="0"/>
                <a:ea typeface="Calibri" panose="020F0502020204030204" pitchFamily="34" charset="0"/>
                <a:cs typeface="Times New Roman" panose="02020603050405020304" pitchFamily="18" charset="0"/>
              </a:rPr>
              <a:t>Item Price</a:t>
            </a:r>
            <a:r>
              <a:rPr lang="en-GB" sz="1400">
                <a:effectLst/>
                <a:latin typeface="Calibri" panose="020F0502020204030204" pitchFamily="34" charset="0"/>
                <a:ea typeface="Calibri" panose="020F0502020204030204" pitchFamily="34" charset="0"/>
                <a:cs typeface="Times New Roman" panose="02020603050405020304" pitchFamily="18" charset="0"/>
              </a:rPr>
              <a:t>”).</a:t>
            </a:r>
            <a:endParaRPr lang="en-GB" sz="1400" kern="0">
              <a:solidFill>
                <a:srgbClr val="333333"/>
              </a:solidFill>
              <a:latin typeface="Calibri" pitchFamily="34"/>
              <a:ea typeface="Times New Roman" pitchFamily="18"/>
              <a:cs typeface="Times New Roman" pitchFamily="18"/>
            </a:endParaRPr>
          </a:p>
          <a:p>
            <a:pPr marL="742950" lvl="1" indent="-285750">
              <a:buFont typeface="Arial" panose="020B0604020202020204" pitchFamily="34" charset="0"/>
              <a:buChar char="•"/>
              <a:defRPr sz="1800" b="0" i="0" u="none" strike="noStrike" kern="0" cap="none" spc="0" baseline="0">
                <a:solidFill>
                  <a:srgbClr val="000000"/>
                </a:solidFill>
                <a:uFillTx/>
              </a:defRPr>
            </a:pPr>
            <a:r>
              <a:rPr lang="en-GB" sz="1400" b="1">
                <a:effectLst/>
                <a:latin typeface="Calibri" panose="020F0502020204030204" pitchFamily="34" charset="0"/>
                <a:ea typeface="Calibri" panose="020F0502020204030204" pitchFamily="34" charset="0"/>
                <a:cs typeface="Times New Roman" panose="02020603050405020304" pitchFamily="18" charset="0"/>
              </a:rPr>
              <a:t>1SV: </a:t>
            </a:r>
            <a:r>
              <a:rPr lang="en-GB" sz="1400">
                <a:effectLst/>
                <a:latin typeface="Calibri" panose="020F0502020204030204" pitchFamily="34" charset="0"/>
                <a:ea typeface="Calibri" panose="020F0502020204030204" pitchFamily="34" charset="0"/>
                <a:cs typeface="Times New Roman" panose="02020603050405020304" pitchFamily="18" charset="0"/>
              </a:rPr>
              <a:t>Use of the Unit Price for the Determination of the Customs Value for Certain Perishable Goods  (“</a:t>
            </a:r>
            <a:r>
              <a:rPr lang="en-GB" sz="1400" b="1">
                <a:effectLst/>
                <a:latin typeface="Calibri" panose="020F0502020204030204" pitchFamily="34" charset="0"/>
                <a:ea typeface="Calibri" panose="020F0502020204030204" pitchFamily="34" charset="0"/>
                <a:cs typeface="Times New Roman" panose="02020603050405020304" pitchFamily="18" charset="0"/>
              </a:rPr>
              <a:t>UK SPV</a:t>
            </a:r>
            <a:r>
              <a:rPr lang="en-GB" sz="1400">
                <a:effectLst/>
                <a:latin typeface="Calibri" panose="020F0502020204030204" pitchFamily="34" charset="0"/>
                <a:ea typeface="Calibri" panose="020F0502020204030204" pitchFamily="34" charset="0"/>
                <a:cs typeface="Times New Roman" panose="02020603050405020304" pitchFamily="18" charset="0"/>
              </a:rPr>
              <a:t>”).</a:t>
            </a:r>
            <a:endParaRPr lang="en-GB" sz="1400" kern="0">
              <a:solidFill>
                <a:srgbClr val="0B0C0C"/>
              </a:solidFill>
              <a:latin typeface="GDS Transport"/>
              <a:ea typeface="Times New Roman" pitchFamily="18"/>
              <a:cs typeface="Times New Roman" pitchFamily="18"/>
            </a:endParaRPr>
          </a:p>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400" b="1">
              <a:solidFill>
                <a:srgbClr val="0B0C0C"/>
              </a:solidFill>
              <a:latin typeface="GDS Transport"/>
            </a:endParaRPr>
          </a:p>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400" b="1">
                <a:solidFill>
                  <a:srgbClr val="0B0C0C"/>
                </a:solidFill>
                <a:latin typeface="GDS Transport"/>
              </a:rPr>
              <a:t>To use Valuation Method 4,</a:t>
            </a:r>
          </a:p>
          <a:p>
            <a:pPr marL="742950" lvl="1" indent="-285750">
              <a:buFont typeface="Arial" panose="020B0604020202020204" pitchFamily="34" charset="0"/>
              <a:buChar char="•"/>
              <a:defRPr sz="1800" b="0" i="0" u="none" strike="noStrike" kern="0" cap="none" spc="0" baseline="0">
                <a:solidFill>
                  <a:srgbClr val="000000"/>
                </a:solidFill>
                <a:uFillTx/>
              </a:defRPr>
            </a:pPr>
            <a:r>
              <a:rPr lang="en-GB" sz="1400">
                <a:solidFill>
                  <a:srgbClr val="0B0C0C"/>
                </a:solidFill>
                <a:effectLst/>
                <a:latin typeface="GDS Transport"/>
                <a:cs typeface="Times New Roman" pitchFamily="18"/>
              </a:rPr>
              <a:t>Tr</a:t>
            </a:r>
            <a:r>
              <a:rPr lang="en-GB" sz="1400">
                <a:solidFill>
                  <a:srgbClr val="0B0C0C"/>
                </a:solidFill>
                <a:latin typeface="GDS Transport"/>
                <a:cs typeface="Times New Roman" pitchFamily="18"/>
              </a:rPr>
              <a:t>aders must declare the </a:t>
            </a:r>
            <a:r>
              <a:rPr lang="en-GB" sz="1400" i="0">
                <a:solidFill>
                  <a:srgbClr val="333333"/>
                </a:solidFill>
                <a:effectLst/>
                <a:latin typeface="Calibri  "/>
              </a:rPr>
              <a:t>following data elements:</a:t>
            </a:r>
          </a:p>
          <a:p>
            <a:pPr marL="1600200" lvl="3" indent="-228600">
              <a:buFont typeface="+mj-lt"/>
              <a:buAutoNum type="arabicPeriod"/>
            </a:pPr>
            <a:r>
              <a:rPr lang="en-GB" sz="1400" b="0" i="0">
                <a:solidFill>
                  <a:srgbClr val="333333"/>
                </a:solidFill>
                <a:effectLst/>
                <a:latin typeface="Calibri  "/>
              </a:rPr>
              <a:t>Valuation Method = 4 in DE 4/16</a:t>
            </a:r>
          </a:p>
          <a:p>
            <a:pPr marL="1600200" lvl="3" indent="-228600">
              <a:buFont typeface="+mj-lt"/>
              <a:buAutoNum type="arabicPeriod"/>
            </a:pPr>
            <a:r>
              <a:rPr lang="en-GB" sz="1400" b="0" i="0">
                <a:solidFill>
                  <a:srgbClr val="333333"/>
                </a:solidFill>
                <a:effectLst/>
                <a:latin typeface="Calibri  "/>
              </a:rPr>
              <a:t>Combined Nomenclature in DE 6/14</a:t>
            </a:r>
          </a:p>
          <a:p>
            <a:pPr marL="1600200" lvl="3" indent="-228600">
              <a:buFont typeface="+mj-lt"/>
              <a:buAutoNum type="arabicPeriod"/>
            </a:pPr>
            <a:r>
              <a:rPr lang="en-GB" sz="1400" b="0" i="0">
                <a:solidFill>
                  <a:srgbClr val="333333"/>
                </a:solidFill>
                <a:effectLst/>
                <a:latin typeface="Calibri  "/>
              </a:rPr>
              <a:t>TARIC code in DE 6/15</a:t>
            </a:r>
          </a:p>
          <a:p>
            <a:pPr marL="1600200" lvl="3" indent="-228600">
              <a:buFont typeface="+mj-lt"/>
              <a:buAutoNum type="arabicPeriod"/>
            </a:pPr>
            <a:r>
              <a:rPr lang="en-GB" sz="1400" b="0" i="0">
                <a:solidFill>
                  <a:srgbClr val="333333"/>
                </a:solidFill>
                <a:effectLst/>
                <a:latin typeface="Calibri  "/>
              </a:rPr>
              <a:t>Net Mass in DE 6/1</a:t>
            </a:r>
          </a:p>
          <a:p>
            <a:pPr marL="1600200" lvl="3" indent="-228600">
              <a:buFont typeface="+mj-lt"/>
              <a:buAutoNum type="arabicPeriod"/>
            </a:pPr>
            <a:r>
              <a:rPr lang="en-GB" sz="1400" b="0" i="0">
                <a:solidFill>
                  <a:srgbClr val="333333"/>
                </a:solidFill>
                <a:effectLst/>
                <a:latin typeface="Calibri  "/>
              </a:rPr>
              <a:t>Country of Origin in 5/15 </a:t>
            </a:r>
            <a:r>
              <a:rPr lang="en-GB" sz="1400" b="1" i="0">
                <a:solidFill>
                  <a:srgbClr val="333333"/>
                </a:solidFill>
                <a:effectLst/>
                <a:latin typeface="Calibri  "/>
              </a:rPr>
              <a:t>or</a:t>
            </a:r>
            <a:r>
              <a:rPr lang="en-GB" sz="1400" b="0" i="0">
                <a:solidFill>
                  <a:srgbClr val="333333"/>
                </a:solidFill>
                <a:effectLst/>
                <a:latin typeface="Calibri  "/>
              </a:rPr>
              <a:t> 5/16 Country of Preferential Origin </a:t>
            </a:r>
          </a:p>
          <a:p>
            <a:pPr lvl="1"/>
            <a:endParaRPr lang="en-GB" sz="1400">
              <a:solidFill>
                <a:srgbClr val="333333"/>
              </a:solidFill>
              <a:latin typeface="Calibri  "/>
            </a:endParaRPr>
          </a:p>
          <a:p>
            <a:r>
              <a:rPr lang="en-GB" sz="1400" b="0" i="0">
                <a:solidFill>
                  <a:srgbClr val="333333"/>
                </a:solidFill>
                <a:effectLst/>
                <a:latin typeface="Calibri  "/>
              </a:rPr>
              <a:t>If any of the above mandatory data elements are </a:t>
            </a:r>
            <a:r>
              <a:rPr lang="en-GB" sz="1400" b="1" i="0">
                <a:solidFill>
                  <a:srgbClr val="333333"/>
                </a:solidFill>
                <a:effectLst/>
                <a:latin typeface="Calibri  "/>
              </a:rPr>
              <a:t>not</a:t>
            </a:r>
            <a:r>
              <a:rPr lang="en-GB" sz="1400" b="0" i="0">
                <a:solidFill>
                  <a:srgbClr val="333333"/>
                </a:solidFill>
                <a:effectLst/>
                <a:latin typeface="Calibri  "/>
              </a:rPr>
              <a:t> satisfied, CDS will reject the declaration and send a DMSREJ notification to the trader</a:t>
            </a:r>
          </a:p>
          <a:p>
            <a:pPr lvl="1"/>
            <a:endParaRPr lang="en-GB" sz="1400" b="1" i="0" u="none" strike="noStrike" kern="1200" cap="none" spc="0" baseline="0">
              <a:solidFill>
                <a:srgbClr val="333333"/>
              </a:solidFill>
              <a:uFillTx/>
              <a:latin typeface="Calibri" pitchFamily="34"/>
              <a:ea typeface="Times New Roman" pitchFamily="18"/>
              <a:cs typeface="Times New Roman" pitchFamily="18"/>
            </a:endParaRPr>
          </a:p>
          <a:p>
            <a:pPr marL="0" marR="0" lvl="0" indent="0" algn="l" defTabSz="914400" rtl="0" fontAlgn="auto" hangingPunct="1">
              <a:lnSpc>
                <a:spcPct val="107000"/>
              </a:lnSpc>
              <a:spcBef>
                <a:spcPts val="0"/>
              </a:spcBef>
              <a:spcAft>
                <a:spcPts val="800"/>
              </a:spcAft>
              <a:buNone/>
              <a:tabLst/>
              <a:defRPr sz="1800" b="0" i="0" u="none" strike="noStrike" kern="0" cap="none" spc="0" baseline="0">
                <a:solidFill>
                  <a:srgbClr val="000000"/>
                </a:solidFill>
                <a:uFillTx/>
              </a:defRPr>
            </a:pPr>
            <a:endParaRPr lang="en-GB" sz="1400" b="0" i="0" u="none" strike="noStrike" kern="0" cap="none" spc="0" baseline="0">
              <a:solidFill>
                <a:srgbClr val="333333"/>
              </a:solidFill>
              <a:uFillTx/>
              <a:latin typeface="Calibri  "/>
            </a:endParaRPr>
          </a:p>
          <a:p>
            <a:pPr marL="0" marR="0" lvl="0" indent="0" algn="l" defTabSz="914400" rtl="0" fontAlgn="auto" hangingPunct="1">
              <a:lnSpc>
                <a:spcPct val="107000"/>
              </a:lnSpc>
              <a:spcBef>
                <a:spcPts val="0"/>
              </a:spcBef>
              <a:spcAft>
                <a:spcPts val="800"/>
              </a:spcAft>
              <a:buNone/>
              <a:tabLst/>
              <a:defRPr sz="1800" b="0" i="0" u="none" strike="noStrike" kern="0" cap="none" spc="0" baseline="0">
                <a:solidFill>
                  <a:srgbClr val="000000"/>
                </a:solidFill>
                <a:uFillTx/>
              </a:defRPr>
            </a:pPr>
            <a:br>
              <a:rPr lang="en-GB" sz="1400" b="0" i="0" u="none" strike="noStrike" kern="0" cap="none" spc="0" baseline="0">
                <a:solidFill>
                  <a:srgbClr val="000000"/>
                </a:solidFill>
                <a:uFillTx/>
                <a:latin typeface="Calibri  "/>
              </a:rPr>
            </a:br>
            <a:endParaRPr lang="en-GB" sz="1400" b="0" i="0" u="none" strike="noStrike" kern="1200" cap="none" spc="0" baseline="0">
              <a:solidFill>
                <a:srgbClr val="333333"/>
              </a:solidFill>
              <a:uFillTx/>
              <a:latin typeface="Calibri  "/>
              <a:ea typeface="Times New Roman" pitchFamily="18"/>
              <a:cs typeface="Times New Roman" pitchFamily="18"/>
            </a:endParaRPr>
          </a:p>
        </p:txBody>
      </p:sp>
      <p:sp>
        <p:nvSpPr>
          <p:cNvPr id="9" name="Rectangle 7">
            <a:extLst>
              <a:ext uri="{FF2B5EF4-FFF2-40B4-BE49-F238E27FC236}">
                <a16:creationId xmlns:a16="http://schemas.microsoft.com/office/drawing/2014/main" id="{1D8D1562-0018-41BA-A48C-A37EADF9508A}"/>
              </a:ext>
            </a:extLst>
          </p:cNvPr>
          <p:cNvSpPr/>
          <p:nvPr/>
        </p:nvSpPr>
        <p:spPr>
          <a:xfrm>
            <a:off x="465155" y="799761"/>
            <a:ext cx="3563745" cy="400114"/>
          </a:xfrm>
          <a:prstGeom prst="rect">
            <a:avLst/>
          </a:prstGeom>
          <a:solidFill>
            <a:srgbClr val="009999"/>
          </a:solidFill>
          <a:ln w="25402" cap="flat">
            <a:solidFill>
              <a:srgbClr val="009999"/>
            </a:solidFill>
            <a:prstDash val="solid"/>
            <a:miter/>
          </a:ln>
        </p:spPr>
        <p:txBody>
          <a:bodyPr vert="horz" wrap="square" lIns="91440" tIns="45720" rIns="91440" bIns="4572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2400" b="1" i="0" u="none" strike="noStrike" kern="0" cap="none" spc="0" baseline="0">
                <a:solidFill>
                  <a:srgbClr val="FFFFFF"/>
                </a:solidFill>
                <a:uFillTx/>
                <a:latin typeface="Calibri"/>
              </a:rPr>
              <a:t>New Release Functionality</a:t>
            </a:r>
          </a:p>
        </p:txBody>
      </p:sp>
    </p:spTree>
    <p:extLst>
      <p:ext uri="{BB962C8B-B14F-4D97-AF65-F5344CB8AC3E}">
        <p14:creationId xmlns:p14="http://schemas.microsoft.com/office/powerpoint/2010/main" val="40258935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Straight Connector 17">
            <a:extLst>
              <a:ext uri="{FF2B5EF4-FFF2-40B4-BE49-F238E27FC236}">
                <a16:creationId xmlns:a16="http://schemas.microsoft.com/office/drawing/2014/main" id="{9B1C5015-9F3B-4B9F-9031-945A7E68949E}"/>
              </a:ext>
            </a:extLst>
          </p:cNvPr>
          <p:cNvCxnSpPr/>
          <p:nvPr/>
        </p:nvCxnSpPr>
        <p:spPr>
          <a:xfrm>
            <a:off x="325937" y="186903"/>
            <a:ext cx="0" cy="422050"/>
          </a:xfrm>
          <a:prstGeom prst="straightConnector1">
            <a:avLst/>
          </a:prstGeom>
          <a:noFill/>
          <a:ln w="28575" cap="flat">
            <a:solidFill>
              <a:srgbClr val="D9D9D9"/>
            </a:solidFill>
            <a:prstDash val="solid"/>
            <a:miter/>
          </a:ln>
        </p:spPr>
      </p:cxnSp>
      <p:cxnSp>
        <p:nvCxnSpPr>
          <p:cNvPr id="3" name="Straight Connector 11">
            <a:extLst>
              <a:ext uri="{FF2B5EF4-FFF2-40B4-BE49-F238E27FC236}">
                <a16:creationId xmlns:a16="http://schemas.microsoft.com/office/drawing/2014/main" id="{D6C11640-FA3E-46E5-B9A7-E7F359123CA6}"/>
              </a:ext>
            </a:extLst>
          </p:cNvPr>
          <p:cNvCxnSpPr/>
          <p:nvPr/>
        </p:nvCxnSpPr>
        <p:spPr>
          <a:xfrm>
            <a:off x="319116" y="186903"/>
            <a:ext cx="0" cy="422050"/>
          </a:xfrm>
          <a:prstGeom prst="straightConnector1">
            <a:avLst/>
          </a:prstGeom>
          <a:noFill/>
          <a:ln w="28575" cap="flat">
            <a:solidFill>
              <a:srgbClr val="D9D9D9"/>
            </a:solidFill>
            <a:prstDash val="solid"/>
            <a:miter/>
          </a:ln>
        </p:spPr>
      </p:cxnSp>
      <p:sp>
        <p:nvSpPr>
          <p:cNvPr id="4" name="TextBox 12">
            <a:extLst>
              <a:ext uri="{FF2B5EF4-FFF2-40B4-BE49-F238E27FC236}">
                <a16:creationId xmlns:a16="http://schemas.microsoft.com/office/drawing/2014/main" id="{82E393B6-AA11-4414-8B14-89201222C078}"/>
              </a:ext>
            </a:extLst>
          </p:cNvPr>
          <p:cNvSpPr txBox="1"/>
          <p:nvPr/>
        </p:nvSpPr>
        <p:spPr>
          <a:xfrm>
            <a:off x="363967" y="248844"/>
            <a:ext cx="2321725" cy="307777"/>
          </a:xfrm>
          <a:prstGeom prst="rect">
            <a:avLst/>
          </a:prstGeom>
          <a:noFill/>
          <a:ln cap="flat">
            <a:noFill/>
          </a:ln>
        </p:spPr>
        <p:txBody>
          <a:bodyPr vert="horz" wrap="none" lIns="91440" tIns="45720" rIns="91440" bIns="45720" anchor="t"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400" b="1" i="0" u="none" strike="noStrike" kern="1200" cap="none" spc="50" baseline="0">
                <a:solidFill>
                  <a:srgbClr val="A6A6A6"/>
                </a:solidFill>
                <a:uFillTx/>
                <a:latin typeface="Calibri"/>
              </a:rPr>
              <a:t>RELEASE SCOPE GUIDANCE</a:t>
            </a:r>
          </a:p>
        </p:txBody>
      </p:sp>
      <p:pic>
        <p:nvPicPr>
          <p:cNvPr id="5" name="Picture 106" descr="57% HMRCppt logo">
            <a:extLst>
              <a:ext uri="{FF2B5EF4-FFF2-40B4-BE49-F238E27FC236}">
                <a16:creationId xmlns:a16="http://schemas.microsoft.com/office/drawing/2014/main" id="{0BC784A9-9201-4F3E-BE97-6490FAA7E8BD}"/>
              </a:ext>
            </a:extLst>
          </p:cNvPr>
          <p:cNvPicPr>
            <a:picLocks noChangeAspect="1"/>
          </p:cNvPicPr>
          <p:nvPr/>
        </p:nvPicPr>
        <p:blipFill>
          <a:blip r:embed="rId3"/>
          <a:srcRect/>
          <a:stretch>
            <a:fillRect/>
          </a:stretch>
        </p:blipFill>
        <p:spPr>
          <a:xfrm>
            <a:off x="446099" y="5929033"/>
            <a:ext cx="1030227" cy="633980"/>
          </a:xfrm>
          <a:prstGeom prst="rect">
            <a:avLst/>
          </a:prstGeom>
          <a:noFill/>
          <a:ln cap="flat">
            <a:noFill/>
          </a:ln>
        </p:spPr>
      </p:pic>
      <p:sp>
        <p:nvSpPr>
          <p:cNvPr id="6" name="Slide Number Placeholder 5">
            <a:extLst>
              <a:ext uri="{FF2B5EF4-FFF2-40B4-BE49-F238E27FC236}">
                <a16:creationId xmlns:a16="http://schemas.microsoft.com/office/drawing/2014/main" id="{088903D6-C05B-4410-B6CD-4649B65A9E13}"/>
              </a:ext>
            </a:extLst>
          </p:cNvPr>
          <p:cNvSpPr txBox="1"/>
          <p:nvPr/>
        </p:nvSpPr>
        <p:spPr>
          <a:xfrm>
            <a:off x="11526231" y="6387897"/>
            <a:ext cx="443849" cy="365129"/>
          </a:xfrm>
          <a:prstGeom prst="rect">
            <a:avLst/>
          </a:prstGeom>
          <a:noFill/>
          <a:ln cap="flat">
            <a:noFill/>
          </a:ln>
        </p:spPr>
        <p:txBody>
          <a:bodyPr vert="horz" wrap="square" lIns="91440" tIns="45720" rIns="91440" bIns="45720" anchor="ctr" anchorCtr="0" compatLnSpc="1">
            <a:noAutofit/>
          </a:bodyPr>
          <a:lstStyle/>
          <a:p>
            <a:pPr marL="0" marR="0" lvl="0" indent="0" algn="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fld id="{F8C6FEBB-F102-4DFE-971D-92B3DA2FF58F}" type="slidenum">
              <a:t>9</a:t>
            </a:fld>
            <a:endParaRPr lang="en-GB" sz="900" b="0" i="0" u="none" strike="noStrike" kern="1200" cap="none" spc="0" baseline="0">
              <a:solidFill>
                <a:srgbClr val="000000"/>
              </a:solidFill>
              <a:uFillTx/>
              <a:latin typeface="Calibri"/>
            </a:endParaRPr>
          </a:p>
        </p:txBody>
      </p:sp>
      <p:sp>
        <p:nvSpPr>
          <p:cNvPr id="7" name="Footer Placeholder 1">
            <a:extLst>
              <a:ext uri="{FF2B5EF4-FFF2-40B4-BE49-F238E27FC236}">
                <a16:creationId xmlns:a16="http://schemas.microsoft.com/office/drawing/2014/main" id="{DFFE456A-FB86-47CB-977A-B3ED841E1946}"/>
              </a:ext>
            </a:extLst>
          </p:cNvPr>
          <p:cNvSpPr txBox="1"/>
          <p:nvPr/>
        </p:nvSpPr>
        <p:spPr>
          <a:xfrm>
            <a:off x="2943801" y="6490776"/>
            <a:ext cx="8737604" cy="144466"/>
          </a:xfrm>
          <a:prstGeom prst="rect">
            <a:avLst/>
          </a:prstGeom>
          <a:noFill/>
          <a:ln cap="flat">
            <a:noFill/>
          </a:ln>
        </p:spPr>
        <p:txBody>
          <a:bodyPr vert="horz" wrap="square" lIns="0" tIns="0" rIns="0" bIns="0" anchor="ctr" anchorCtr="0" compatLnSpc="1">
            <a:noAutofit/>
          </a:bodyPr>
          <a:lstStyle/>
          <a:p>
            <a:pPr marL="0" marR="0" lvl="0" indent="0" algn="r"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r>
              <a:rPr lang="en-GB" sz="900" b="0" i="0" u="none" strike="noStrike" kern="1200" cap="none" spc="0" baseline="0">
                <a:solidFill>
                  <a:srgbClr val="3B3A3D"/>
                </a:solidFill>
                <a:uFillTx/>
                <a:latin typeface="Calibri"/>
                <a:ea typeface="Geneva"/>
                <a:cs typeface="Arial"/>
              </a:rPr>
              <a:t>OFFICIAL | CDS External Release Scope Guidance Document |</a:t>
            </a:r>
            <a:endParaRPr lang="en-GB" sz="900" b="1" i="0" u="none" strike="noStrike" kern="1200" cap="none" spc="0" baseline="0">
              <a:solidFill>
                <a:srgbClr val="008D8E"/>
              </a:solidFill>
              <a:uFillTx/>
              <a:latin typeface="Calibri"/>
              <a:ea typeface="Geneva"/>
              <a:cs typeface="Arial"/>
            </a:endParaRPr>
          </a:p>
        </p:txBody>
      </p:sp>
      <p:sp>
        <p:nvSpPr>
          <p:cNvPr id="8" name="Rectangle 13">
            <a:extLst>
              <a:ext uri="{FF2B5EF4-FFF2-40B4-BE49-F238E27FC236}">
                <a16:creationId xmlns:a16="http://schemas.microsoft.com/office/drawing/2014/main" id="{48964C8A-D9D1-4D9A-BC67-67F10BDD0F54}"/>
              </a:ext>
            </a:extLst>
          </p:cNvPr>
          <p:cNvSpPr/>
          <p:nvPr/>
        </p:nvSpPr>
        <p:spPr>
          <a:xfrm>
            <a:off x="363967" y="1193640"/>
            <a:ext cx="11282159" cy="4893647"/>
          </a:xfrm>
          <a:prstGeom prst="rect">
            <a:avLst/>
          </a:prstGeom>
          <a:noFill/>
          <a:ln cap="flat">
            <a:noFill/>
            <a:prstDash val="solid"/>
          </a:ln>
        </p:spPr>
        <p:txBody>
          <a:bodyPr vert="horz" wrap="square" lIns="91440" tIns="45720" rIns="91440" bIns="45720" anchor="t"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400" b="1" u="sng">
                <a:solidFill>
                  <a:srgbClr val="0B0C0C"/>
                </a:solidFill>
                <a:latin typeface="Calibri  "/>
              </a:rPr>
              <a:t>Valuation Method 4: APC 1FV</a:t>
            </a:r>
          </a:p>
          <a:p>
            <a:pPr lvl="1"/>
            <a:endParaRPr lang="en-GB" sz="1400">
              <a:solidFill>
                <a:srgbClr val="333333"/>
              </a:solidFill>
              <a:latin typeface="Calibri  "/>
            </a:endParaRPr>
          </a:p>
          <a:p>
            <a:r>
              <a:rPr lang="en-GB" sz="1400" b="1" i="0">
                <a:solidFill>
                  <a:srgbClr val="333333"/>
                </a:solidFill>
                <a:effectLst/>
                <a:latin typeface="Calibri  "/>
              </a:rPr>
              <a:t>T</a:t>
            </a:r>
            <a:r>
              <a:rPr lang="en-GB" sz="1400" b="1">
                <a:solidFill>
                  <a:srgbClr val="333333"/>
                </a:solidFill>
                <a:latin typeface="Calibri  "/>
              </a:rPr>
              <a:t>o use Item Price for Valuation Method 4 (DE 1/11 = </a:t>
            </a:r>
            <a:r>
              <a:rPr lang="en-GB" sz="1400" b="1" i="0">
                <a:solidFill>
                  <a:srgbClr val="333333"/>
                </a:solidFill>
                <a:effectLst/>
                <a:latin typeface="Calibri  "/>
              </a:rPr>
              <a:t>1FV), in addition to the information in the </a:t>
            </a:r>
            <a:r>
              <a:rPr lang="en-GB" sz="1400" b="1" i="0">
                <a:solidFill>
                  <a:srgbClr val="333333"/>
                </a:solidFill>
                <a:effectLst/>
                <a:latin typeface="Calibri  "/>
                <a:hlinkClick r:id="rId4" action="ppaction://hlinksldjump"/>
              </a:rPr>
              <a:t>previous slide</a:t>
            </a:r>
            <a:r>
              <a:rPr lang="en-GB" sz="1400" b="1" i="0">
                <a:solidFill>
                  <a:srgbClr val="333333"/>
                </a:solidFill>
                <a:effectLst/>
                <a:latin typeface="Calibri  "/>
              </a:rPr>
              <a:t>,  traders must also declare:</a:t>
            </a:r>
          </a:p>
          <a:p>
            <a:pPr marL="1657350" lvl="3" indent="-285750">
              <a:buFont typeface="Courier New" panose="02070309020205020404" pitchFamily="49" charset="0"/>
              <a:buChar char="o"/>
            </a:pPr>
            <a:r>
              <a:rPr lang="en-GB" sz="1400" b="0" i="0">
                <a:solidFill>
                  <a:srgbClr val="333333"/>
                </a:solidFill>
                <a:effectLst/>
                <a:latin typeface="Calibri  "/>
              </a:rPr>
              <a:t>1FV in DE 1/11</a:t>
            </a:r>
          </a:p>
          <a:p>
            <a:pPr marL="1657350" lvl="3" indent="-285750">
              <a:buFont typeface="Courier New" panose="02070309020205020404" pitchFamily="49" charset="0"/>
              <a:buChar char="o"/>
            </a:pPr>
            <a:r>
              <a:rPr lang="en-GB" sz="1400" b="0" i="0">
                <a:solidFill>
                  <a:srgbClr val="333333"/>
                </a:solidFill>
                <a:effectLst/>
                <a:latin typeface="Calibri  "/>
              </a:rPr>
              <a:t>Item Price in DE 4/14</a:t>
            </a:r>
          </a:p>
          <a:p>
            <a:pPr marL="1657350" lvl="3" indent="-285750">
              <a:buFont typeface="Courier New" panose="02070309020205020404" pitchFamily="49" charset="0"/>
              <a:buChar char="o"/>
            </a:pPr>
            <a:r>
              <a:rPr lang="en-GB" sz="1400" b="0" i="0">
                <a:solidFill>
                  <a:srgbClr val="333333"/>
                </a:solidFill>
                <a:effectLst/>
                <a:latin typeface="Calibri  "/>
              </a:rPr>
              <a:t>Document Code ‘9WKS’ in DE 2/3</a:t>
            </a:r>
          </a:p>
          <a:p>
            <a:pPr marL="1657350" lvl="3" indent="-285750">
              <a:buFont typeface="Courier New" panose="02070309020205020404" pitchFamily="49" charset="0"/>
              <a:buChar char="o"/>
            </a:pPr>
            <a:r>
              <a:rPr lang="en-GB" sz="1400" b="0" i="0">
                <a:solidFill>
                  <a:srgbClr val="333333"/>
                </a:solidFill>
                <a:effectLst/>
                <a:latin typeface="Calibri  "/>
              </a:rPr>
              <a:t>Document Status ‘AC’ in DE 2/3</a:t>
            </a:r>
          </a:p>
          <a:p>
            <a:pPr marL="1657350" lvl="3" indent="-285750">
              <a:buFont typeface="Courier New" panose="02070309020205020404" pitchFamily="49" charset="0"/>
              <a:buChar char="o"/>
            </a:pPr>
            <a:r>
              <a:rPr lang="en-GB" sz="1400" b="0" i="0">
                <a:solidFill>
                  <a:srgbClr val="333333"/>
                </a:solidFill>
                <a:effectLst/>
                <a:latin typeface="Calibri  "/>
              </a:rPr>
              <a:t>Valuation Method = 4 in DE 4/15</a:t>
            </a:r>
          </a:p>
          <a:p>
            <a:pPr marL="1657350" lvl="3" indent="-285750">
              <a:buFont typeface="Courier New" panose="02070309020205020404" pitchFamily="49" charset="0"/>
              <a:buChar char="o"/>
            </a:pPr>
            <a:endParaRPr lang="en-GB" sz="1400" b="0" i="0">
              <a:solidFill>
                <a:srgbClr val="333333"/>
              </a:solidFill>
              <a:effectLst/>
              <a:latin typeface="Calibri  "/>
            </a:endParaRPr>
          </a:p>
          <a:p>
            <a:r>
              <a:rPr lang="en-GB" sz="1400" b="0" i="0">
                <a:solidFill>
                  <a:srgbClr val="333333"/>
                </a:solidFill>
                <a:effectLst/>
                <a:latin typeface="Calibri  "/>
              </a:rPr>
              <a:t>If any of the above mandatory data elements are </a:t>
            </a:r>
            <a:r>
              <a:rPr lang="en-GB" sz="1400" b="1" i="0">
                <a:solidFill>
                  <a:srgbClr val="333333"/>
                </a:solidFill>
                <a:effectLst/>
                <a:latin typeface="Calibri  "/>
              </a:rPr>
              <a:t>not</a:t>
            </a:r>
            <a:r>
              <a:rPr lang="en-GB" sz="1400" b="0" i="0">
                <a:solidFill>
                  <a:srgbClr val="333333"/>
                </a:solidFill>
                <a:effectLst/>
                <a:latin typeface="Calibri  "/>
              </a:rPr>
              <a:t> satisfied, CDS will reject the declaration and send a DMSREJ notification to the trader</a:t>
            </a:r>
          </a:p>
          <a:p>
            <a:pPr lvl="1"/>
            <a:endParaRPr lang="en-GB" sz="1400" b="1" i="0" u="none" strike="noStrike" kern="1200" cap="none" spc="0" baseline="0">
              <a:solidFill>
                <a:srgbClr val="333333"/>
              </a:solidFill>
              <a:uFillTx/>
              <a:latin typeface="Calibri" pitchFamily="34"/>
              <a:ea typeface="Times New Roman" pitchFamily="18"/>
              <a:cs typeface="Times New Roman" pitchFamily="18"/>
            </a:endParaRPr>
          </a:p>
          <a:p>
            <a:r>
              <a:rPr lang="en-GB" sz="1400" kern="0">
                <a:solidFill>
                  <a:srgbClr val="333333"/>
                </a:solidFill>
                <a:latin typeface="Calibri" pitchFamily="34"/>
                <a:ea typeface="Times New Roman" pitchFamily="18"/>
                <a:cs typeface="Times New Roman" pitchFamily="18"/>
              </a:rPr>
              <a:t>T</a:t>
            </a:r>
            <a:r>
              <a:rPr lang="en-GB" sz="1400">
                <a:solidFill>
                  <a:srgbClr val="333333"/>
                </a:solidFill>
                <a:latin typeface="Calibri" pitchFamily="34"/>
                <a:ea typeface="Times New Roman" pitchFamily="18"/>
                <a:cs typeface="Times New Roman" pitchFamily="18"/>
              </a:rPr>
              <a:t>he following Data Elements may also be declared with APC 1FV:</a:t>
            </a:r>
            <a:endParaRPr lang="en-GB" sz="2000">
              <a:solidFill>
                <a:srgbClr val="FF0000"/>
              </a:solidFill>
              <a:latin typeface="Calibri" pitchFamily="34"/>
              <a:ea typeface="Times New Roman" pitchFamily="18"/>
              <a:cs typeface="Times New Roman" pitchFamily="18"/>
            </a:endParaRPr>
          </a:p>
          <a:p>
            <a:pPr lvl="1"/>
            <a:endParaRPr lang="en-GB" sz="1400" b="1">
              <a:solidFill>
                <a:srgbClr val="333333"/>
              </a:solidFill>
              <a:latin typeface="Calibri  "/>
            </a:endParaRPr>
          </a:p>
          <a:p>
            <a:pPr lvl="1"/>
            <a:r>
              <a:rPr lang="en-GB" sz="1400" i="0">
                <a:solidFill>
                  <a:srgbClr val="333333"/>
                </a:solidFill>
                <a:effectLst/>
                <a:latin typeface="Calibri  "/>
              </a:rPr>
              <a:t>Delivery Terms  		 DE 4/1 : Optional</a:t>
            </a:r>
          </a:p>
          <a:p>
            <a:pPr lvl="1"/>
            <a:r>
              <a:rPr lang="en-GB" sz="1400">
                <a:solidFill>
                  <a:srgbClr val="333333"/>
                </a:solidFill>
                <a:latin typeface="Calibri  "/>
              </a:rPr>
              <a:t>Tax Base 		 DE 4/4 :  only mandatory if required by a Tariff Measure, otherwise optional</a:t>
            </a:r>
          </a:p>
          <a:p>
            <a:pPr lvl="1"/>
            <a:r>
              <a:rPr lang="en-GB" sz="1400" i="0">
                <a:solidFill>
                  <a:srgbClr val="333333"/>
                </a:solidFill>
                <a:effectLst/>
                <a:latin typeface="Calibri  "/>
              </a:rPr>
              <a:t>Additions and Deductions 	 DE 4/9  : If applicable</a:t>
            </a:r>
          </a:p>
          <a:p>
            <a:pPr lvl="1"/>
            <a:r>
              <a:rPr lang="en-GB" sz="1400">
                <a:solidFill>
                  <a:srgbClr val="333333"/>
                </a:solidFill>
                <a:latin typeface="Calibri  "/>
              </a:rPr>
              <a:t>Total amount invoiced 	 DE 4/11 : Optional</a:t>
            </a:r>
          </a:p>
          <a:p>
            <a:pPr lvl="1"/>
            <a:r>
              <a:rPr lang="en-GB" sz="1400" i="0">
                <a:solidFill>
                  <a:srgbClr val="333333"/>
                </a:solidFill>
                <a:effectLst/>
                <a:latin typeface="Calibri  "/>
              </a:rPr>
              <a:t>Valuation Indicator 	 DE 4/13 : Optional</a:t>
            </a:r>
          </a:p>
          <a:p>
            <a:pPr lvl="1"/>
            <a:r>
              <a:rPr lang="en-GB" sz="1400">
                <a:solidFill>
                  <a:srgbClr val="333333"/>
                </a:solidFill>
                <a:latin typeface="Calibri  "/>
              </a:rPr>
              <a:t>Place of Loading 		 DE 5/21 : can only be used with airfreight</a:t>
            </a:r>
            <a:endParaRPr lang="en-GB" sz="1400" i="0">
              <a:solidFill>
                <a:srgbClr val="333333"/>
              </a:solidFill>
              <a:effectLst/>
              <a:latin typeface="Calibri  "/>
            </a:endParaRPr>
          </a:p>
          <a:p>
            <a:pPr lvl="1"/>
            <a:endParaRPr lang="en-GB" sz="1400" b="1" i="0">
              <a:solidFill>
                <a:srgbClr val="333333"/>
              </a:solidFill>
              <a:effectLst/>
              <a:latin typeface="Calibri  "/>
            </a:endParaRPr>
          </a:p>
          <a:p>
            <a:pPr marL="1200150" lvl="2" indent="-285750">
              <a:buFont typeface="Courier New" panose="02070309020205020404" pitchFamily="49" charset="0"/>
              <a:buChar char="o"/>
            </a:pPr>
            <a:endParaRPr lang="en-GB" sz="1400">
              <a:solidFill>
                <a:srgbClr val="333333"/>
              </a:solidFill>
              <a:latin typeface="Calibri  "/>
            </a:endParaRPr>
          </a:p>
          <a:p>
            <a:pPr marL="285750" indent="-285750">
              <a:buFont typeface="Arial" panose="020B0604020202020204" pitchFamily="34" charset="0"/>
              <a:buChar char="•"/>
            </a:pPr>
            <a:endParaRPr lang="en-GB" sz="1400" b="0" i="0">
              <a:solidFill>
                <a:srgbClr val="333333"/>
              </a:solidFill>
              <a:effectLst/>
              <a:latin typeface="Calibri  "/>
            </a:endParaRPr>
          </a:p>
        </p:txBody>
      </p:sp>
      <p:sp>
        <p:nvSpPr>
          <p:cNvPr id="9" name="Rectangle 7">
            <a:extLst>
              <a:ext uri="{FF2B5EF4-FFF2-40B4-BE49-F238E27FC236}">
                <a16:creationId xmlns:a16="http://schemas.microsoft.com/office/drawing/2014/main" id="{1D8D1562-0018-41BA-A48C-A37EADF9508A}"/>
              </a:ext>
            </a:extLst>
          </p:cNvPr>
          <p:cNvSpPr/>
          <p:nvPr/>
        </p:nvSpPr>
        <p:spPr>
          <a:xfrm>
            <a:off x="465155" y="799761"/>
            <a:ext cx="3563745" cy="400114"/>
          </a:xfrm>
          <a:prstGeom prst="rect">
            <a:avLst/>
          </a:prstGeom>
          <a:solidFill>
            <a:srgbClr val="009999"/>
          </a:solidFill>
          <a:ln w="25402" cap="flat">
            <a:solidFill>
              <a:srgbClr val="009999"/>
            </a:solidFill>
            <a:prstDash val="solid"/>
            <a:miter/>
          </a:ln>
        </p:spPr>
        <p:txBody>
          <a:bodyPr vert="horz" wrap="square" lIns="91440" tIns="45720" rIns="91440" bIns="4572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2400" b="1" i="0" u="none" strike="noStrike" kern="0" cap="none" spc="0" baseline="0">
                <a:solidFill>
                  <a:srgbClr val="FFFFFF"/>
                </a:solidFill>
                <a:uFillTx/>
                <a:latin typeface="Calibri"/>
              </a:rPr>
              <a:t>New Release Functionality</a:t>
            </a:r>
          </a:p>
        </p:txBody>
      </p:sp>
    </p:spTree>
    <p:extLst>
      <p:ext uri="{BB962C8B-B14F-4D97-AF65-F5344CB8AC3E}">
        <p14:creationId xmlns:p14="http://schemas.microsoft.com/office/powerpoint/2010/main" val="185923492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Straight Connector 17">
            <a:extLst>
              <a:ext uri="{FF2B5EF4-FFF2-40B4-BE49-F238E27FC236}">
                <a16:creationId xmlns:a16="http://schemas.microsoft.com/office/drawing/2014/main" id="{9B1C5015-9F3B-4B9F-9031-945A7E68949E}"/>
              </a:ext>
            </a:extLst>
          </p:cNvPr>
          <p:cNvCxnSpPr/>
          <p:nvPr/>
        </p:nvCxnSpPr>
        <p:spPr>
          <a:xfrm>
            <a:off x="325937" y="186903"/>
            <a:ext cx="0" cy="422050"/>
          </a:xfrm>
          <a:prstGeom prst="straightConnector1">
            <a:avLst/>
          </a:prstGeom>
          <a:noFill/>
          <a:ln w="28575" cap="flat">
            <a:solidFill>
              <a:srgbClr val="D9D9D9"/>
            </a:solidFill>
            <a:prstDash val="solid"/>
            <a:miter/>
          </a:ln>
        </p:spPr>
      </p:cxnSp>
      <p:cxnSp>
        <p:nvCxnSpPr>
          <p:cNvPr id="3" name="Straight Connector 11">
            <a:extLst>
              <a:ext uri="{FF2B5EF4-FFF2-40B4-BE49-F238E27FC236}">
                <a16:creationId xmlns:a16="http://schemas.microsoft.com/office/drawing/2014/main" id="{D6C11640-FA3E-46E5-B9A7-E7F359123CA6}"/>
              </a:ext>
            </a:extLst>
          </p:cNvPr>
          <p:cNvCxnSpPr/>
          <p:nvPr/>
        </p:nvCxnSpPr>
        <p:spPr>
          <a:xfrm>
            <a:off x="319116" y="186903"/>
            <a:ext cx="0" cy="422050"/>
          </a:xfrm>
          <a:prstGeom prst="straightConnector1">
            <a:avLst/>
          </a:prstGeom>
          <a:noFill/>
          <a:ln w="28575" cap="flat">
            <a:solidFill>
              <a:srgbClr val="D9D9D9"/>
            </a:solidFill>
            <a:prstDash val="solid"/>
            <a:miter/>
          </a:ln>
        </p:spPr>
      </p:cxnSp>
      <p:sp>
        <p:nvSpPr>
          <p:cNvPr id="4" name="TextBox 12">
            <a:extLst>
              <a:ext uri="{FF2B5EF4-FFF2-40B4-BE49-F238E27FC236}">
                <a16:creationId xmlns:a16="http://schemas.microsoft.com/office/drawing/2014/main" id="{82E393B6-AA11-4414-8B14-89201222C078}"/>
              </a:ext>
            </a:extLst>
          </p:cNvPr>
          <p:cNvSpPr txBox="1"/>
          <p:nvPr/>
        </p:nvSpPr>
        <p:spPr>
          <a:xfrm>
            <a:off x="363967" y="248844"/>
            <a:ext cx="2321725" cy="307777"/>
          </a:xfrm>
          <a:prstGeom prst="rect">
            <a:avLst/>
          </a:prstGeom>
          <a:noFill/>
          <a:ln cap="flat">
            <a:noFill/>
          </a:ln>
        </p:spPr>
        <p:txBody>
          <a:bodyPr vert="horz" wrap="none" lIns="91440" tIns="45720" rIns="91440" bIns="45720" anchor="t"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400" b="1" i="0" u="none" strike="noStrike" kern="1200" cap="none" spc="50" baseline="0">
                <a:solidFill>
                  <a:srgbClr val="A6A6A6"/>
                </a:solidFill>
                <a:uFillTx/>
                <a:latin typeface="Calibri"/>
              </a:rPr>
              <a:t>RELEASE SCOPE GUIDANCE</a:t>
            </a:r>
          </a:p>
        </p:txBody>
      </p:sp>
      <p:pic>
        <p:nvPicPr>
          <p:cNvPr id="5" name="Picture 106" descr="57% HMRCppt logo">
            <a:extLst>
              <a:ext uri="{FF2B5EF4-FFF2-40B4-BE49-F238E27FC236}">
                <a16:creationId xmlns:a16="http://schemas.microsoft.com/office/drawing/2014/main" id="{0BC784A9-9201-4F3E-BE97-6490FAA7E8BD}"/>
              </a:ext>
            </a:extLst>
          </p:cNvPr>
          <p:cNvPicPr>
            <a:picLocks noChangeAspect="1"/>
          </p:cNvPicPr>
          <p:nvPr/>
        </p:nvPicPr>
        <p:blipFill>
          <a:blip r:embed="rId3"/>
          <a:srcRect/>
          <a:stretch>
            <a:fillRect/>
          </a:stretch>
        </p:blipFill>
        <p:spPr>
          <a:xfrm>
            <a:off x="446099" y="5929033"/>
            <a:ext cx="1030227" cy="633980"/>
          </a:xfrm>
          <a:prstGeom prst="rect">
            <a:avLst/>
          </a:prstGeom>
          <a:noFill/>
          <a:ln cap="flat">
            <a:noFill/>
          </a:ln>
        </p:spPr>
      </p:pic>
      <p:sp>
        <p:nvSpPr>
          <p:cNvPr id="6" name="Slide Number Placeholder 5">
            <a:extLst>
              <a:ext uri="{FF2B5EF4-FFF2-40B4-BE49-F238E27FC236}">
                <a16:creationId xmlns:a16="http://schemas.microsoft.com/office/drawing/2014/main" id="{088903D6-C05B-4410-B6CD-4649B65A9E13}"/>
              </a:ext>
            </a:extLst>
          </p:cNvPr>
          <p:cNvSpPr txBox="1"/>
          <p:nvPr/>
        </p:nvSpPr>
        <p:spPr>
          <a:xfrm>
            <a:off x="11526231" y="6387897"/>
            <a:ext cx="443849" cy="365129"/>
          </a:xfrm>
          <a:prstGeom prst="rect">
            <a:avLst/>
          </a:prstGeom>
          <a:noFill/>
          <a:ln cap="flat">
            <a:noFill/>
          </a:ln>
        </p:spPr>
        <p:txBody>
          <a:bodyPr vert="horz" wrap="square" lIns="91440" tIns="45720" rIns="91440" bIns="45720" anchor="ctr" anchorCtr="0" compatLnSpc="1">
            <a:noAutofit/>
          </a:bodyPr>
          <a:lstStyle/>
          <a:p>
            <a:pPr marL="0" marR="0" lvl="0" indent="0" algn="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fld id="{F8C6FEBB-F102-4DFE-971D-92B3DA2FF58F}" type="slidenum">
              <a:t>10</a:t>
            </a:fld>
            <a:endParaRPr lang="en-GB" sz="900" b="0" i="0" u="none" strike="noStrike" kern="1200" cap="none" spc="0" baseline="0">
              <a:solidFill>
                <a:srgbClr val="000000"/>
              </a:solidFill>
              <a:uFillTx/>
              <a:latin typeface="Calibri"/>
            </a:endParaRPr>
          </a:p>
        </p:txBody>
      </p:sp>
      <p:sp>
        <p:nvSpPr>
          <p:cNvPr id="7" name="Footer Placeholder 1">
            <a:extLst>
              <a:ext uri="{FF2B5EF4-FFF2-40B4-BE49-F238E27FC236}">
                <a16:creationId xmlns:a16="http://schemas.microsoft.com/office/drawing/2014/main" id="{DFFE456A-FB86-47CB-977A-B3ED841E1946}"/>
              </a:ext>
            </a:extLst>
          </p:cNvPr>
          <p:cNvSpPr txBox="1"/>
          <p:nvPr/>
        </p:nvSpPr>
        <p:spPr>
          <a:xfrm>
            <a:off x="2943801" y="6490776"/>
            <a:ext cx="8737604" cy="144466"/>
          </a:xfrm>
          <a:prstGeom prst="rect">
            <a:avLst/>
          </a:prstGeom>
          <a:noFill/>
          <a:ln cap="flat">
            <a:noFill/>
          </a:ln>
        </p:spPr>
        <p:txBody>
          <a:bodyPr vert="horz" wrap="square" lIns="0" tIns="0" rIns="0" bIns="0" anchor="ctr" anchorCtr="0" compatLnSpc="1">
            <a:noAutofit/>
          </a:bodyPr>
          <a:lstStyle/>
          <a:p>
            <a:pPr marL="0" marR="0" lvl="0" indent="0" algn="r"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r>
              <a:rPr lang="en-GB" sz="900" b="0" i="0" u="none" strike="noStrike" kern="1200" cap="none" spc="0" baseline="0">
                <a:solidFill>
                  <a:srgbClr val="3B3A3D"/>
                </a:solidFill>
                <a:uFillTx/>
                <a:latin typeface="Calibri"/>
                <a:ea typeface="Geneva"/>
                <a:cs typeface="Arial"/>
              </a:rPr>
              <a:t>OFFICIAL | CDS External Release Scope Guidance Document |</a:t>
            </a:r>
            <a:endParaRPr lang="en-GB" sz="900" b="1" i="0" u="none" strike="noStrike" kern="1200" cap="none" spc="0" baseline="0">
              <a:solidFill>
                <a:srgbClr val="008D8E"/>
              </a:solidFill>
              <a:uFillTx/>
              <a:latin typeface="Calibri"/>
              <a:ea typeface="Geneva"/>
              <a:cs typeface="Arial"/>
            </a:endParaRPr>
          </a:p>
        </p:txBody>
      </p:sp>
      <p:sp>
        <p:nvSpPr>
          <p:cNvPr id="8" name="Rectangle 13">
            <a:extLst>
              <a:ext uri="{FF2B5EF4-FFF2-40B4-BE49-F238E27FC236}">
                <a16:creationId xmlns:a16="http://schemas.microsoft.com/office/drawing/2014/main" id="{48964C8A-D9D1-4D9A-BC67-67F10BDD0F54}"/>
              </a:ext>
            </a:extLst>
          </p:cNvPr>
          <p:cNvSpPr/>
          <p:nvPr/>
        </p:nvSpPr>
        <p:spPr>
          <a:xfrm>
            <a:off x="444691" y="1199866"/>
            <a:ext cx="11282159" cy="5498365"/>
          </a:xfrm>
          <a:prstGeom prst="rect">
            <a:avLst/>
          </a:prstGeom>
          <a:noFill/>
          <a:ln cap="flat">
            <a:noFill/>
            <a:prstDash val="solid"/>
          </a:ln>
        </p:spPr>
        <p:txBody>
          <a:bodyPr vert="horz" wrap="square" lIns="91440" tIns="45720" rIns="91440" bIns="45720" anchor="t"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400" b="1" u="sng" dirty="0">
                <a:solidFill>
                  <a:srgbClr val="0B0C0C"/>
                </a:solidFill>
                <a:latin typeface="Calibri  "/>
              </a:rPr>
              <a:t>Valuation Method 4 : APC 1SV</a:t>
            </a:r>
          </a:p>
          <a:p>
            <a:pPr lvl="1"/>
            <a:endParaRPr lang="en-GB" sz="1400" dirty="0">
              <a:solidFill>
                <a:srgbClr val="333333"/>
              </a:solidFill>
              <a:latin typeface="Calibri  "/>
            </a:endParaRPr>
          </a:p>
          <a:p>
            <a:r>
              <a:rPr lang="en-GB" sz="1400" b="1" dirty="0">
                <a:solidFill>
                  <a:srgbClr val="333333"/>
                </a:solidFill>
                <a:latin typeface="Calibri  "/>
                <a:ea typeface="Times New Roman" pitchFamily="18"/>
                <a:cs typeface="Times New Roman" pitchFamily="18"/>
              </a:rPr>
              <a:t>To use UK SPV with Valuation Method 4 (DE 1/11 = </a:t>
            </a:r>
            <a:r>
              <a:rPr lang="en-GB" sz="1400" b="1" i="0" dirty="0">
                <a:solidFill>
                  <a:srgbClr val="333333"/>
                </a:solidFill>
                <a:effectLst/>
                <a:latin typeface="Calibri  "/>
                <a:cs typeface="Times New Roman" pitchFamily="18"/>
              </a:rPr>
              <a:t>1SV), in addition to the information </a:t>
            </a:r>
            <a:r>
              <a:rPr lang="en-GB" sz="1400" b="1" dirty="0">
                <a:solidFill>
                  <a:srgbClr val="333333"/>
                </a:solidFill>
                <a:latin typeface="Calibri  "/>
                <a:cs typeface="Times New Roman" pitchFamily="18"/>
              </a:rPr>
              <a:t>outlined </a:t>
            </a:r>
            <a:r>
              <a:rPr lang="en-GB" sz="1400" b="1" dirty="0">
                <a:solidFill>
                  <a:srgbClr val="333333"/>
                </a:solidFill>
                <a:latin typeface="Calibri  "/>
                <a:cs typeface="Times New Roman" pitchFamily="18"/>
                <a:hlinkClick r:id="rId4" action="ppaction://hlinksldjump"/>
              </a:rPr>
              <a:t>previously</a:t>
            </a:r>
            <a:r>
              <a:rPr lang="en-GB" sz="1400" b="1" i="0" dirty="0">
                <a:solidFill>
                  <a:srgbClr val="333333"/>
                </a:solidFill>
                <a:effectLst/>
                <a:latin typeface="Calibri  "/>
                <a:cs typeface="Times New Roman" pitchFamily="18"/>
              </a:rPr>
              <a:t>, traders must also declare:</a:t>
            </a:r>
          </a:p>
          <a:p>
            <a:r>
              <a:rPr lang="en-GB" sz="1400" b="1" i="0" dirty="0">
                <a:solidFill>
                  <a:srgbClr val="333333"/>
                </a:solidFill>
                <a:effectLst/>
                <a:latin typeface="Calibri  "/>
                <a:cs typeface="Times New Roman" pitchFamily="18"/>
              </a:rPr>
              <a:t> </a:t>
            </a:r>
            <a:endParaRPr lang="en-GB" sz="1400" b="1" dirty="0">
              <a:solidFill>
                <a:srgbClr val="333333"/>
              </a:solidFill>
              <a:latin typeface="Calibri  "/>
              <a:ea typeface="Times New Roman" pitchFamily="18"/>
              <a:cs typeface="Times New Roman" pitchFamily="18"/>
            </a:endParaRPr>
          </a:p>
          <a:p>
            <a:pPr marL="1200150" lvl="2" indent="-285750">
              <a:buFont typeface="Courier New" panose="02070309020205020404" pitchFamily="49" charset="0"/>
              <a:buChar char="o"/>
            </a:pPr>
            <a:r>
              <a:rPr lang="en-GB" sz="1400" b="0" i="0" dirty="0">
                <a:solidFill>
                  <a:srgbClr val="333333"/>
                </a:solidFill>
                <a:effectLst/>
                <a:latin typeface="Calibri  "/>
              </a:rPr>
              <a:t>1SV in DE 1/11</a:t>
            </a:r>
          </a:p>
          <a:p>
            <a:pPr marL="1200150" lvl="2" indent="-285750">
              <a:buFont typeface="Courier New" panose="02070309020205020404" pitchFamily="49" charset="0"/>
              <a:buChar char="o"/>
            </a:pPr>
            <a:r>
              <a:rPr lang="en-GB" sz="1400" b="0" i="0" dirty="0">
                <a:solidFill>
                  <a:srgbClr val="333333"/>
                </a:solidFill>
                <a:effectLst/>
                <a:latin typeface="Calibri  "/>
              </a:rPr>
              <a:t>Document Code in DE 2/3 = A non-valuation specific document code (If applicable)</a:t>
            </a:r>
          </a:p>
          <a:p>
            <a:pPr marL="1200150" lvl="2" indent="-285750">
              <a:buFont typeface="Courier New" panose="02070309020205020404" pitchFamily="49" charset="0"/>
              <a:buChar char="o"/>
            </a:pPr>
            <a:r>
              <a:rPr lang="en-GB" sz="1400" b="0" i="0" dirty="0">
                <a:solidFill>
                  <a:srgbClr val="333333"/>
                </a:solidFill>
                <a:effectLst/>
                <a:latin typeface="Calibri  "/>
              </a:rPr>
              <a:t>Document Status in DE 2/3 = Driven by the document code entered as above (If applicable)</a:t>
            </a:r>
          </a:p>
          <a:p>
            <a:pPr marL="1200150" lvl="2" indent="-285750">
              <a:buFont typeface="Courier New" panose="02070309020205020404" pitchFamily="49" charset="0"/>
              <a:buChar char="o"/>
            </a:pPr>
            <a:endParaRPr lang="en-GB" sz="1400" dirty="0">
              <a:solidFill>
                <a:srgbClr val="333333"/>
              </a:solidFill>
              <a:latin typeface="Calibri  "/>
            </a:endParaRPr>
          </a:p>
          <a:p>
            <a:pPr lvl="1"/>
            <a:r>
              <a:rPr lang="en-GB" sz="1400" i="0" dirty="0">
                <a:solidFill>
                  <a:srgbClr val="333333"/>
                </a:solidFill>
                <a:effectLst/>
                <a:latin typeface="Calibri  "/>
              </a:rPr>
              <a:t>With APC 1SV Traders must </a:t>
            </a:r>
            <a:r>
              <a:rPr lang="en-GB" sz="1400" b="1" dirty="0">
                <a:solidFill>
                  <a:srgbClr val="333333"/>
                </a:solidFill>
                <a:latin typeface="Calibri  "/>
              </a:rPr>
              <a:t>not</a:t>
            </a:r>
            <a:r>
              <a:rPr lang="en-GB" sz="1400" i="0" dirty="0">
                <a:solidFill>
                  <a:srgbClr val="333333"/>
                </a:solidFill>
                <a:effectLst/>
                <a:latin typeface="Calibri  "/>
              </a:rPr>
              <a:t> declare:</a:t>
            </a:r>
          </a:p>
          <a:p>
            <a:pPr lvl="1"/>
            <a:endParaRPr lang="en-GB" sz="1400" b="1" dirty="0">
              <a:solidFill>
                <a:srgbClr val="333333"/>
              </a:solidFill>
              <a:latin typeface="Calibri  "/>
            </a:endParaRPr>
          </a:p>
          <a:p>
            <a:pPr lvl="1"/>
            <a:endParaRPr lang="en-GB" sz="1400" b="1" i="0" dirty="0">
              <a:solidFill>
                <a:srgbClr val="333333"/>
              </a:solidFill>
              <a:effectLst/>
              <a:latin typeface="Calibri  "/>
            </a:endParaRPr>
          </a:p>
          <a:p>
            <a:pPr lvl="1"/>
            <a:endParaRPr lang="en-GB" sz="1400" b="1" dirty="0">
              <a:solidFill>
                <a:srgbClr val="333333"/>
              </a:solidFill>
              <a:latin typeface="Calibri  "/>
            </a:endParaRPr>
          </a:p>
          <a:p>
            <a:pPr lvl="1"/>
            <a:endParaRPr lang="en-GB" sz="1400" b="1" i="0" dirty="0">
              <a:solidFill>
                <a:srgbClr val="333333"/>
              </a:solidFill>
              <a:effectLst/>
              <a:latin typeface="Calibri  "/>
            </a:endParaRPr>
          </a:p>
          <a:p>
            <a:pPr lvl="1"/>
            <a:endParaRPr lang="en-GB" sz="1400" b="1" dirty="0">
              <a:solidFill>
                <a:srgbClr val="333333"/>
              </a:solidFill>
              <a:latin typeface="Calibri  "/>
            </a:endParaRPr>
          </a:p>
          <a:p>
            <a:pPr lvl="1"/>
            <a:endParaRPr lang="en-GB" sz="1400" b="1" i="0" dirty="0">
              <a:solidFill>
                <a:srgbClr val="333333"/>
              </a:solidFill>
              <a:effectLst/>
              <a:latin typeface="Calibri  "/>
            </a:endParaRPr>
          </a:p>
          <a:p>
            <a:pPr lvl="1"/>
            <a:endParaRPr lang="en-GB" sz="1400" b="1" dirty="0">
              <a:solidFill>
                <a:srgbClr val="333333"/>
              </a:solidFill>
              <a:latin typeface="Calibri  "/>
            </a:endParaRPr>
          </a:p>
          <a:p>
            <a:pPr lvl="1"/>
            <a:endParaRPr lang="en-GB" sz="1400" b="1" i="0" dirty="0">
              <a:solidFill>
                <a:srgbClr val="333333"/>
              </a:solidFill>
              <a:effectLst/>
              <a:latin typeface="Calibri  "/>
            </a:endParaRPr>
          </a:p>
          <a:p>
            <a:pPr lvl="1"/>
            <a:endParaRPr lang="en-GB" sz="1400" b="1" i="0" dirty="0">
              <a:solidFill>
                <a:srgbClr val="333333"/>
              </a:solidFill>
              <a:effectLst/>
              <a:latin typeface="Calibri  "/>
            </a:endParaRPr>
          </a:p>
          <a:p>
            <a:pPr lvl="1"/>
            <a:endParaRPr lang="en-GB" sz="1400" b="1" i="0" dirty="0">
              <a:solidFill>
                <a:srgbClr val="333333"/>
              </a:solidFill>
              <a:effectLst/>
              <a:latin typeface="Calibri  "/>
            </a:endParaRPr>
          </a:p>
          <a:p>
            <a:pPr marL="1200150" lvl="2" indent="-285750">
              <a:buFont typeface="Courier New" panose="02070309020205020404" pitchFamily="49" charset="0"/>
              <a:buChar char="o"/>
            </a:pPr>
            <a:endParaRPr lang="en-GB" sz="1400" dirty="0">
              <a:solidFill>
                <a:srgbClr val="333333"/>
              </a:solidFill>
              <a:latin typeface="Calibri  "/>
            </a:endParaRPr>
          </a:p>
          <a:p>
            <a:pPr marL="742950" lvl="1" indent="-285750">
              <a:buFont typeface="Arial" panose="020B0604020202020204" pitchFamily="34" charset="0"/>
              <a:buChar char="•"/>
            </a:pPr>
            <a:r>
              <a:rPr lang="en-GB" sz="1400" b="0" i="0" dirty="0">
                <a:solidFill>
                  <a:srgbClr val="333333"/>
                </a:solidFill>
                <a:effectLst/>
                <a:latin typeface="Calibri  "/>
              </a:rPr>
              <a:t>If the above conditions are not met, CDS will reject the declaration and a DMSREJ notification to the trader.</a:t>
            </a:r>
          </a:p>
          <a:p>
            <a:pPr marL="742950" lvl="1" indent="-285750">
              <a:buFont typeface="Arial" panose="020B0604020202020204" pitchFamily="34" charset="0"/>
              <a:buChar char="•"/>
            </a:pPr>
            <a:r>
              <a:rPr lang="en-GB" sz="1400" b="1" dirty="0">
                <a:solidFill>
                  <a:srgbClr val="333333"/>
                </a:solidFill>
                <a:latin typeface="Calibri  "/>
                <a:ea typeface="Times New Roman" pitchFamily="18"/>
                <a:cs typeface="Times New Roman" pitchFamily="18"/>
              </a:rPr>
              <a:t>Please note APC 1SV is not permitted to be used with EIDR</a:t>
            </a:r>
            <a:r>
              <a:rPr lang="en-GB" sz="1400" dirty="0">
                <a:solidFill>
                  <a:srgbClr val="333333"/>
                </a:solidFill>
                <a:latin typeface="Calibri  "/>
                <a:ea typeface="Times New Roman" pitchFamily="18"/>
                <a:cs typeface="Times New Roman" pitchFamily="18"/>
              </a:rPr>
              <a:t>.</a:t>
            </a:r>
          </a:p>
          <a:p>
            <a:pPr marL="742950" lvl="1" indent="-285750">
              <a:buFont typeface="Arial" panose="020B0604020202020204" pitchFamily="34" charset="0"/>
              <a:buChar char="•"/>
            </a:pPr>
            <a:endParaRPr lang="en-GB" sz="1400" b="0" i="0" dirty="0">
              <a:solidFill>
                <a:srgbClr val="333333"/>
              </a:solidFill>
              <a:effectLst/>
              <a:latin typeface="Calibri  "/>
            </a:endParaRPr>
          </a:p>
          <a:p>
            <a:pPr marL="0" marR="0" lvl="0" indent="0" algn="l" defTabSz="914400" rtl="0" fontAlgn="auto" hangingPunct="1">
              <a:lnSpc>
                <a:spcPct val="107000"/>
              </a:lnSpc>
              <a:spcBef>
                <a:spcPts val="0"/>
              </a:spcBef>
              <a:spcAft>
                <a:spcPts val="800"/>
              </a:spcAft>
              <a:buNone/>
              <a:tabLst/>
              <a:defRPr sz="1800" b="0" i="0" u="none" strike="noStrike" kern="0" cap="none" spc="0" baseline="0">
                <a:solidFill>
                  <a:srgbClr val="000000"/>
                </a:solidFill>
                <a:uFillTx/>
              </a:defRPr>
            </a:pPr>
            <a:br>
              <a:rPr lang="en-GB" sz="1400" b="0" i="0" u="none" strike="noStrike" kern="0" cap="none" spc="0" baseline="0" dirty="0">
                <a:solidFill>
                  <a:srgbClr val="000000"/>
                </a:solidFill>
                <a:uFillTx/>
                <a:latin typeface="Calibri  "/>
              </a:rPr>
            </a:br>
            <a:endParaRPr lang="en-GB" sz="1400" b="0" i="0" u="none" strike="noStrike" kern="1200" cap="none" spc="0" baseline="0" dirty="0">
              <a:solidFill>
                <a:srgbClr val="333333"/>
              </a:solidFill>
              <a:uFillTx/>
              <a:latin typeface="Calibri  "/>
              <a:ea typeface="Times New Roman" pitchFamily="18"/>
              <a:cs typeface="Times New Roman" pitchFamily="18"/>
            </a:endParaRPr>
          </a:p>
        </p:txBody>
      </p:sp>
      <p:sp>
        <p:nvSpPr>
          <p:cNvPr id="9" name="Rectangle 7">
            <a:extLst>
              <a:ext uri="{FF2B5EF4-FFF2-40B4-BE49-F238E27FC236}">
                <a16:creationId xmlns:a16="http://schemas.microsoft.com/office/drawing/2014/main" id="{1D8D1562-0018-41BA-A48C-A37EADF9508A}"/>
              </a:ext>
            </a:extLst>
          </p:cNvPr>
          <p:cNvSpPr/>
          <p:nvPr/>
        </p:nvSpPr>
        <p:spPr>
          <a:xfrm>
            <a:off x="465155" y="799761"/>
            <a:ext cx="3563745" cy="400114"/>
          </a:xfrm>
          <a:prstGeom prst="rect">
            <a:avLst/>
          </a:prstGeom>
          <a:solidFill>
            <a:srgbClr val="009999"/>
          </a:solidFill>
          <a:ln w="25402" cap="flat">
            <a:solidFill>
              <a:srgbClr val="009999"/>
            </a:solidFill>
            <a:prstDash val="solid"/>
            <a:miter/>
          </a:ln>
        </p:spPr>
        <p:txBody>
          <a:bodyPr vert="horz" wrap="square" lIns="91440" tIns="45720" rIns="91440" bIns="4572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2400" b="1" i="0" u="none" strike="noStrike" kern="0" cap="none" spc="0" baseline="0">
                <a:solidFill>
                  <a:srgbClr val="FFFFFF"/>
                </a:solidFill>
                <a:uFillTx/>
                <a:latin typeface="Calibri"/>
              </a:rPr>
              <a:t>New Release Functionality</a:t>
            </a:r>
          </a:p>
        </p:txBody>
      </p:sp>
      <p:pic>
        <p:nvPicPr>
          <p:cNvPr id="11" name="Picture 10">
            <a:extLst>
              <a:ext uri="{FF2B5EF4-FFF2-40B4-BE49-F238E27FC236}">
                <a16:creationId xmlns:a16="http://schemas.microsoft.com/office/drawing/2014/main" id="{756B7539-901B-481B-8DB3-ABA73C2B1D6B}"/>
              </a:ext>
            </a:extLst>
          </p:cNvPr>
          <p:cNvPicPr>
            <a:picLocks noChangeAspect="1"/>
          </p:cNvPicPr>
          <p:nvPr/>
        </p:nvPicPr>
        <p:blipFill>
          <a:blip r:embed="rId5"/>
          <a:stretch>
            <a:fillRect/>
          </a:stretch>
        </p:blipFill>
        <p:spPr>
          <a:xfrm>
            <a:off x="3805668" y="3231254"/>
            <a:ext cx="4560203" cy="2168625"/>
          </a:xfrm>
          <a:prstGeom prst="rect">
            <a:avLst/>
          </a:prstGeom>
        </p:spPr>
      </p:pic>
    </p:spTree>
    <p:extLst>
      <p:ext uri="{BB962C8B-B14F-4D97-AF65-F5344CB8AC3E}">
        <p14:creationId xmlns:p14="http://schemas.microsoft.com/office/powerpoint/2010/main" val="251091415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Straight Connector 17">
            <a:extLst>
              <a:ext uri="{FF2B5EF4-FFF2-40B4-BE49-F238E27FC236}">
                <a16:creationId xmlns:a16="http://schemas.microsoft.com/office/drawing/2014/main" id="{9B1C5015-9F3B-4B9F-9031-945A7E68949E}"/>
              </a:ext>
            </a:extLst>
          </p:cNvPr>
          <p:cNvCxnSpPr/>
          <p:nvPr/>
        </p:nvCxnSpPr>
        <p:spPr>
          <a:xfrm>
            <a:off x="325937" y="186903"/>
            <a:ext cx="0" cy="422050"/>
          </a:xfrm>
          <a:prstGeom prst="straightConnector1">
            <a:avLst/>
          </a:prstGeom>
          <a:noFill/>
          <a:ln w="28575" cap="flat">
            <a:solidFill>
              <a:srgbClr val="D9D9D9"/>
            </a:solidFill>
            <a:prstDash val="solid"/>
            <a:miter/>
          </a:ln>
        </p:spPr>
      </p:cxnSp>
      <p:cxnSp>
        <p:nvCxnSpPr>
          <p:cNvPr id="3" name="Straight Connector 11">
            <a:extLst>
              <a:ext uri="{FF2B5EF4-FFF2-40B4-BE49-F238E27FC236}">
                <a16:creationId xmlns:a16="http://schemas.microsoft.com/office/drawing/2014/main" id="{D6C11640-FA3E-46E5-B9A7-E7F359123CA6}"/>
              </a:ext>
            </a:extLst>
          </p:cNvPr>
          <p:cNvCxnSpPr/>
          <p:nvPr/>
        </p:nvCxnSpPr>
        <p:spPr>
          <a:xfrm>
            <a:off x="319116" y="186903"/>
            <a:ext cx="0" cy="422050"/>
          </a:xfrm>
          <a:prstGeom prst="straightConnector1">
            <a:avLst/>
          </a:prstGeom>
          <a:noFill/>
          <a:ln w="28575" cap="flat">
            <a:solidFill>
              <a:srgbClr val="D9D9D9"/>
            </a:solidFill>
            <a:prstDash val="solid"/>
            <a:miter/>
          </a:ln>
        </p:spPr>
      </p:cxnSp>
      <p:sp>
        <p:nvSpPr>
          <p:cNvPr id="4" name="TextBox 12">
            <a:extLst>
              <a:ext uri="{FF2B5EF4-FFF2-40B4-BE49-F238E27FC236}">
                <a16:creationId xmlns:a16="http://schemas.microsoft.com/office/drawing/2014/main" id="{82E393B6-AA11-4414-8B14-89201222C078}"/>
              </a:ext>
            </a:extLst>
          </p:cNvPr>
          <p:cNvSpPr txBox="1"/>
          <p:nvPr/>
        </p:nvSpPr>
        <p:spPr>
          <a:xfrm>
            <a:off x="363967" y="248844"/>
            <a:ext cx="2321725" cy="307777"/>
          </a:xfrm>
          <a:prstGeom prst="rect">
            <a:avLst/>
          </a:prstGeom>
          <a:noFill/>
          <a:ln cap="flat">
            <a:noFill/>
          </a:ln>
        </p:spPr>
        <p:txBody>
          <a:bodyPr vert="horz" wrap="none" lIns="91440" tIns="45720" rIns="91440" bIns="45720" anchor="t"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400" b="1" i="0" u="none" strike="noStrike" kern="1200" cap="none" spc="50" baseline="0">
                <a:solidFill>
                  <a:srgbClr val="A6A6A6"/>
                </a:solidFill>
                <a:uFillTx/>
                <a:latin typeface="Calibri"/>
              </a:rPr>
              <a:t>RELEASE SCOPE GUIDANCE</a:t>
            </a:r>
          </a:p>
        </p:txBody>
      </p:sp>
      <p:pic>
        <p:nvPicPr>
          <p:cNvPr id="5" name="Picture 106" descr="57% HMRCppt logo">
            <a:extLst>
              <a:ext uri="{FF2B5EF4-FFF2-40B4-BE49-F238E27FC236}">
                <a16:creationId xmlns:a16="http://schemas.microsoft.com/office/drawing/2014/main" id="{0BC784A9-9201-4F3E-BE97-6490FAA7E8BD}"/>
              </a:ext>
            </a:extLst>
          </p:cNvPr>
          <p:cNvPicPr>
            <a:picLocks noChangeAspect="1"/>
          </p:cNvPicPr>
          <p:nvPr/>
        </p:nvPicPr>
        <p:blipFill>
          <a:blip r:embed="rId3"/>
          <a:srcRect/>
          <a:stretch>
            <a:fillRect/>
          </a:stretch>
        </p:blipFill>
        <p:spPr>
          <a:xfrm>
            <a:off x="446099" y="5929033"/>
            <a:ext cx="1030227" cy="633980"/>
          </a:xfrm>
          <a:prstGeom prst="rect">
            <a:avLst/>
          </a:prstGeom>
          <a:noFill/>
          <a:ln cap="flat">
            <a:noFill/>
          </a:ln>
        </p:spPr>
      </p:pic>
      <p:sp>
        <p:nvSpPr>
          <p:cNvPr id="6" name="Slide Number Placeholder 5">
            <a:extLst>
              <a:ext uri="{FF2B5EF4-FFF2-40B4-BE49-F238E27FC236}">
                <a16:creationId xmlns:a16="http://schemas.microsoft.com/office/drawing/2014/main" id="{088903D6-C05B-4410-B6CD-4649B65A9E13}"/>
              </a:ext>
            </a:extLst>
          </p:cNvPr>
          <p:cNvSpPr txBox="1"/>
          <p:nvPr/>
        </p:nvSpPr>
        <p:spPr>
          <a:xfrm>
            <a:off x="11526231" y="6387897"/>
            <a:ext cx="443849" cy="365129"/>
          </a:xfrm>
          <a:prstGeom prst="rect">
            <a:avLst/>
          </a:prstGeom>
          <a:noFill/>
          <a:ln cap="flat">
            <a:noFill/>
          </a:ln>
        </p:spPr>
        <p:txBody>
          <a:bodyPr vert="horz" wrap="square" lIns="91440" tIns="45720" rIns="91440" bIns="45720" anchor="ctr" anchorCtr="0" compatLnSpc="1">
            <a:noAutofit/>
          </a:bodyPr>
          <a:lstStyle/>
          <a:p>
            <a:pPr marL="0" marR="0" lvl="0" indent="0" algn="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fld id="{F8C6FEBB-F102-4DFE-971D-92B3DA2FF58F}" type="slidenum">
              <a:rPr/>
              <a:t>11</a:t>
            </a:fld>
            <a:endParaRPr lang="en-GB" sz="900" b="0" i="0" u="none" strike="noStrike" kern="1200" cap="none" spc="0" baseline="0">
              <a:solidFill>
                <a:srgbClr val="000000"/>
              </a:solidFill>
              <a:uFillTx/>
              <a:latin typeface="Calibri"/>
            </a:endParaRPr>
          </a:p>
        </p:txBody>
      </p:sp>
      <p:sp>
        <p:nvSpPr>
          <p:cNvPr id="7" name="Footer Placeholder 1">
            <a:extLst>
              <a:ext uri="{FF2B5EF4-FFF2-40B4-BE49-F238E27FC236}">
                <a16:creationId xmlns:a16="http://schemas.microsoft.com/office/drawing/2014/main" id="{DFFE456A-FB86-47CB-977A-B3ED841E1946}"/>
              </a:ext>
            </a:extLst>
          </p:cNvPr>
          <p:cNvSpPr txBox="1"/>
          <p:nvPr/>
        </p:nvSpPr>
        <p:spPr>
          <a:xfrm>
            <a:off x="2943801" y="6490776"/>
            <a:ext cx="8737604" cy="144466"/>
          </a:xfrm>
          <a:prstGeom prst="rect">
            <a:avLst/>
          </a:prstGeom>
          <a:noFill/>
          <a:ln cap="flat">
            <a:noFill/>
          </a:ln>
        </p:spPr>
        <p:txBody>
          <a:bodyPr vert="horz" wrap="square" lIns="0" tIns="0" rIns="0" bIns="0" anchor="ctr" anchorCtr="0" compatLnSpc="1">
            <a:noAutofit/>
          </a:bodyPr>
          <a:lstStyle/>
          <a:p>
            <a:pPr marL="0" marR="0" lvl="0" indent="0" algn="r"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r>
              <a:rPr lang="en-GB" sz="900" b="0" i="0" u="none" strike="noStrike" kern="1200" cap="none" spc="0" baseline="0">
                <a:solidFill>
                  <a:srgbClr val="3B3A3D"/>
                </a:solidFill>
                <a:uFillTx/>
                <a:latin typeface="Calibri"/>
                <a:ea typeface="Geneva"/>
                <a:cs typeface="Arial"/>
              </a:rPr>
              <a:t>OFFICIAL | CDS External Release Scope Guidance Document |</a:t>
            </a:r>
            <a:endParaRPr lang="en-GB" sz="900" b="1" i="0" u="none" strike="noStrike" kern="1200" cap="none" spc="0" baseline="0">
              <a:solidFill>
                <a:srgbClr val="008D8E"/>
              </a:solidFill>
              <a:uFillTx/>
              <a:latin typeface="Calibri"/>
              <a:ea typeface="Geneva"/>
              <a:cs typeface="Arial"/>
            </a:endParaRPr>
          </a:p>
        </p:txBody>
      </p:sp>
      <p:sp>
        <p:nvSpPr>
          <p:cNvPr id="8" name="Rectangle 13">
            <a:extLst>
              <a:ext uri="{FF2B5EF4-FFF2-40B4-BE49-F238E27FC236}">
                <a16:creationId xmlns:a16="http://schemas.microsoft.com/office/drawing/2014/main" id="{48964C8A-D9D1-4D9A-BC67-67F10BDD0F54}"/>
              </a:ext>
            </a:extLst>
          </p:cNvPr>
          <p:cNvSpPr/>
          <p:nvPr/>
        </p:nvSpPr>
        <p:spPr>
          <a:xfrm>
            <a:off x="444691" y="1199866"/>
            <a:ext cx="11282159" cy="3600986"/>
          </a:xfrm>
          <a:prstGeom prst="rect">
            <a:avLst/>
          </a:prstGeom>
          <a:noFill/>
          <a:ln cap="flat">
            <a:noFill/>
            <a:prstDash val="solid"/>
          </a:ln>
        </p:spPr>
        <p:txBody>
          <a:bodyPr vert="horz" wrap="square" lIns="91440" tIns="45720" rIns="91440" bIns="45720" anchor="t" anchorCtr="0" compatLnSpc="1">
            <a:spAutoFit/>
          </a:bodyPr>
          <a:lstStyle/>
          <a:p>
            <a:r>
              <a:rPr lang="en-GB" sz="1400" b="1" u="sng">
                <a:solidFill>
                  <a:srgbClr val="0B0C0C"/>
                </a:solidFill>
                <a:latin typeface="Calibri  "/>
              </a:rPr>
              <a:t>Valuation Method 4 : APC 1SV</a:t>
            </a:r>
          </a:p>
          <a:p>
            <a:endParaRPr lang="en-GB" sz="1400" b="1">
              <a:solidFill>
                <a:srgbClr val="333333"/>
              </a:solidFill>
              <a:latin typeface="Calibri  "/>
              <a:ea typeface="Times New Roman" pitchFamily="18"/>
              <a:cs typeface="Times New Roman" pitchFamily="18"/>
            </a:endParaRPr>
          </a:p>
          <a:p>
            <a:r>
              <a:rPr lang="en-GB" sz="1400" b="1">
                <a:solidFill>
                  <a:srgbClr val="333333"/>
                </a:solidFill>
                <a:latin typeface="Calibri  "/>
                <a:ea typeface="Times New Roman" pitchFamily="18"/>
                <a:cs typeface="Times New Roman" pitchFamily="18"/>
              </a:rPr>
              <a:t>Requirements to declare SPV for </a:t>
            </a:r>
            <a:r>
              <a:rPr lang="en-GB" sz="1400" b="1" err="1">
                <a:solidFill>
                  <a:srgbClr val="333333"/>
                </a:solidFill>
                <a:latin typeface="Calibri  "/>
                <a:ea typeface="Times New Roman" pitchFamily="18"/>
                <a:cs typeface="Times New Roman" pitchFamily="18"/>
              </a:rPr>
              <a:t>RoW</a:t>
            </a:r>
            <a:r>
              <a:rPr lang="en-GB" sz="1400" b="1">
                <a:solidFill>
                  <a:srgbClr val="333333"/>
                </a:solidFill>
                <a:latin typeface="Calibri  "/>
                <a:ea typeface="Times New Roman" pitchFamily="18"/>
                <a:cs typeface="Times New Roman" pitchFamily="18"/>
              </a:rPr>
              <a:t>-GB,</a:t>
            </a:r>
          </a:p>
          <a:p>
            <a:pPr lvl="1"/>
            <a:endParaRPr lang="en-GB">
              <a:solidFill>
                <a:srgbClr val="333333"/>
              </a:solidFill>
              <a:latin typeface="Arial" panose="020B0604020202020204" pitchFamily="34" charset="0"/>
            </a:endParaRPr>
          </a:p>
          <a:p>
            <a:pPr marL="742950" lvl="1" indent="-285750">
              <a:buFont typeface="Arial" panose="020B0604020202020204" pitchFamily="34" charset="0"/>
              <a:buChar char="•"/>
            </a:pPr>
            <a:endParaRPr lang="en-GB" b="0" i="0">
              <a:solidFill>
                <a:srgbClr val="333333"/>
              </a:solidFill>
              <a:effectLst/>
              <a:latin typeface="Arial" panose="020B0604020202020204" pitchFamily="34" charset="0"/>
            </a:endParaRPr>
          </a:p>
          <a:p>
            <a:pPr marL="742950" lvl="1" indent="-285750">
              <a:buFont typeface="Arial" panose="020B0604020202020204" pitchFamily="34" charset="0"/>
              <a:buChar char="•"/>
            </a:pPr>
            <a:endParaRPr lang="en-GB">
              <a:solidFill>
                <a:srgbClr val="333333"/>
              </a:solidFill>
              <a:latin typeface="Arial" panose="020B0604020202020204" pitchFamily="34" charset="0"/>
            </a:endParaRPr>
          </a:p>
          <a:p>
            <a:pPr marL="742950" lvl="1" indent="-285750">
              <a:buFont typeface="Arial" panose="020B0604020202020204" pitchFamily="34" charset="0"/>
              <a:buChar char="•"/>
            </a:pPr>
            <a:endParaRPr lang="en-GB" b="0" i="0">
              <a:solidFill>
                <a:srgbClr val="333333"/>
              </a:solidFill>
              <a:effectLst/>
              <a:latin typeface="Arial" panose="020B0604020202020204" pitchFamily="34" charset="0"/>
            </a:endParaRPr>
          </a:p>
          <a:p>
            <a:pPr lvl="1"/>
            <a:endParaRPr lang="en-GB" b="0" i="0">
              <a:solidFill>
                <a:srgbClr val="333333"/>
              </a:solidFill>
              <a:effectLst/>
              <a:latin typeface="Arial" panose="020B0604020202020204" pitchFamily="34" charset="0"/>
            </a:endParaRPr>
          </a:p>
          <a:p>
            <a:pPr marL="742950" lvl="1" indent="-285750">
              <a:buFont typeface="Arial" panose="020B0604020202020204" pitchFamily="34" charset="0"/>
              <a:buChar char="•"/>
            </a:pPr>
            <a:endParaRPr lang="en-GB">
              <a:solidFill>
                <a:srgbClr val="333333"/>
              </a:solidFill>
              <a:latin typeface="Arial" panose="020B0604020202020204" pitchFamily="34" charset="0"/>
            </a:endParaRPr>
          </a:p>
          <a:p>
            <a:pPr marL="742950" lvl="1" indent="-285750">
              <a:buFont typeface="Arial" panose="020B0604020202020204" pitchFamily="34" charset="0"/>
              <a:buChar char="•"/>
            </a:pPr>
            <a:endParaRPr lang="en-GB" b="0" i="0">
              <a:solidFill>
                <a:srgbClr val="333333"/>
              </a:solidFill>
              <a:effectLst/>
              <a:latin typeface="Arial" panose="020B0604020202020204" pitchFamily="34" charset="0"/>
            </a:endParaRPr>
          </a:p>
          <a:p>
            <a:pPr marL="742950" lvl="1" indent="-285750">
              <a:buFont typeface="Arial" panose="020B0604020202020204" pitchFamily="34" charset="0"/>
              <a:buChar char="•"/>
            </a:pPr>
            <a:endParaRPr lang="en-GB">
              <a:solidFill>
                <a:srgbClr val="333333"/>
              </a:solidFill>
              <a:latin typeface="Arial" panose="020B0604020202020204" pitchFamily="34" charset="0"/>
            </a:endParaRPr>
          </a:p>
          <a:p>
            <a:pPr lvl="1"/>
            <a:endParaRPr lang="en-GB" sz="1400" b="0" i="0">
              <a:solidFill>
                <a:srgbClr val="333333"/>
              </a:solidFill>
              <a:effectLst/>
              <a:latin typeface="Calibri  "/>
            </a:endParaRPr>
          </a:p>
          <a:p>
            <a:pPr marL="285750" indent="-285750">
              <a:buFont typeface="Arial" panose="020B0604020202020204" pitchFamily="34" charset="0"/>
              <a:buChar char="•"/>
            </a:pPr>
            <a:endParaRPr lang="en-GB" sz="1400" b="0" i="0">
              <a:solidFill>
                <a:srgbClr val="333333"/>
              </a:solidFill>
              <a:effectLst/>
              <a:latin typeface="Calibri  "/>
            </a:endParaRPr>
          </a:p>
          <a:p>
            <a:endParaRPr lang="en-GB" sz="1400" b="0" i="0">
              <a:solidFill>
                <a:srgbClr val="333333"/>
              </a:solidFill>
              <a:effectLst/>
              <a:latin typeface="Arial" panose="020B0604020202020204" pitchFamily="34" charset="0"/>
            </a:endParaRPr>
          </a:p>
        </p:txBody>
      </p:sp>
      <p:sp>
        <p:nvSpPr>
          <p:cNvPr id="9" name="Rectangle 7">
            <a:extLst>
              <a:ext uri="{FF2B5EF4-FFF2-40B4-BE49-F238E27FC236}">
                <a16:creationId xmlns:a16="http://schemas.microsoft.com/office/drawing/2014/main" id="{1D8D1562-0018-41BA-A48C-A37EADF9508A}"/>
              </a:ext>
            </a:extLst>
          </p:cNvPr>
          <p:cNvSpPr/>
          <p:nvPr/>
        </p:nvSpPr>
        <p:spPr>
          <a:xfrm>
            <a:off x="465155" y="799761"/>
            <a:ext cx="3563745" cy="400114"/>
          </a:xfrm>
          <a:prstGeom prst="rect">
            <a:avLst/>
          </a:prstGeom>
          <a:solidFill>
            <a:srgbClr val="009999"/>
          </a:solidFill>
          <a:ln w="25402" cap="flat">
            <a:solidFill>
              <a:srgbClr val="009999"/>
            </a:solidFill>
            <a:prstDash val="solid"/>
            <a:miter/>
          </a:ln>
        </p:spPr>
        <p:txBody>
          <a:bodyPr vert="horz" wrap="square" lIns="91440" tIns="45720" rIns="91440" bIns="4572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2400" b="1" i="0" u="none" strike="noStrike" kern="0" cap="none" spc="0" baseline="0">
                <a:solidFill>
                  <a:srgbClr val="FFFFFF"/>
                </a:solidFill>
                <a:uFillTx/>
                <a:latin typeface="Calibri"/>
              </a:rPr>
              <a:t>New Release Functionality</a:t>
            </a:r>
          </a:p>
        </p:txBody>
      </p:sp>
      <p:graphicFrame>
        <p:nvGraphicFramePr>
          <p:cNvPr id="13" name="Table 12">
            <a:extLst>
              <a:ext uri="{FF2B5EF4-FFF2-40B4-BE49-F238E27FC236}">
                <a16:creationId xmlns:a16="http://schemas.microsoft.com/office/drawing/2014/main" id="{A4D05141-D3D0-43EE-9162-75B8BAAD4522}"/>
              </a:ext>
            </a:extLst>
          </p:cNvPr>
          <p:cNvGraphicFramePr>
            <a:graphicFrameLocks noGrp="1"/>
          </p:cNvGraphicFramePr>
          <p:nvPr/>
        </p:nvGraphicFramePr>
        <p:xfrm>
          <a:off x="2582259" y="1954572"/>
          <a:ext cx="7007022" cy="2091573"/>
        </p:xfrm>
        <a:graphic>
          <a:graphicData uri="http://schemas.openxmlformats.org/drawingml/2006/table">
            <a:tbl>
              <a:tblPr firstRow="1" bandRow="1">
                <a:effectLst/>
                <a:tableStyleId>{5C22544A-7EE6-4342-B048-85BDC9FD1C3A}</a:tableStyleId>
              </a:tblPr>
              <a:tblGrid>
                <a:gridCol w="1209846">
                  <a:extLst>
                    <a:ext uri="{9D8B030D-6E8A-4147-A177-3AD203B41FA5}">
                      <a16:colId xmlns:a16="http://schemas.microsoft.com/office/drawing/2014/main" val="2247490691"/>
                    </a:ext>
                  </a:extLst>
                </a:gridCol>
                <a:gridCol w="1138484">
                  <a:extLst>
                    <a:ext uri="{9D8B030D-6E8A-4147-A177-3AD203B41FA5}">
                      <a16:colId xmlns:a16="http://schemas.microsoft.com/office/drawing/2014/main" val="641578491"/>
                    </a:ext>
                  </a:extLst>
                </a:gridCol>
                <a:gridCol w="1386541">
                  <a:extLst>
                    <a:ext uri="{9D8B030D-6E8A-4147-A177-3AD203B41FA5}">
                      <a16:colId xmlns:a16="http://schemas.microsoft.com/office/drawing/2014/main" val="1588135019"/>
                    </a:ext>
                  </a:extLst>
                </a:gridCol>
                <a:gridCol w="3272151">
                  <a:extLst>
                    <a:ext uri="{9D8B030D-6E8A-4147-A177-3AD203B41FA5}">
                      <a16:colId xmlns:a16="http://schemas.microsoft.com/office/drawing/2014/main" val="2275653647"/>
                    </a:ext>
                  </a:extLst>
                </a:gridCol>
              </a:tblGrid>
              <a:tr h="414541">
                <a:tc>
                  <a:txBody>
                    <a:bodyPr/>
                    <a:lstStyle/>
                    <a:p>
                      <a:pPr algn="ctr"/>
                      <a:r>
                        <a:rPr lang="en-GB" sz="1400">
                          <a:effectLst/>
                        </a:rPr>
                        <a:t>Data Element 1/11</a:t>
                      </a:r>
                    </a:p>
                  </a:txBody>
                  <a:tcPr marL="90000" marR="19050" marT="14288" marB="14288" anchor="ctr">
                    <a:solidFill>
                      <a:srgbClr val="009999"/>
                    </a:solidFill>
                  </a:tcPr>
                </a:tc>
                <a:tc>
                  <a:txBody>
                    <a:bodyPr/>
                    <a:lstStyle/>
                    <a:p>
                      <a:pPr algn="ctr"/>
                      <a:r>
                        <a:rPr lang="en-GB" sz="1400">
                          <a:effectLst/>
                        </a:rPr>
                        <a:t>Description</a:t>
                      </a:r>
                    </a:p>
                  </a:txBody>
                  <a:tcPr marL="90000" marR="19050" marT="14288" marB="14288" anchor="ctr">
                    <a:solidFill>
                      <a:srgbClr val="009999"/>
                    </a:solidFill>
                  </a:tcPr>
                </a:tc>
                <a:tc>
                  <a:txBody>
                    <a:bodyPr/>
                    <a:lstStyle/>
                    <a:p>
                      <a:pPr algn="ctr"/>
                      <a:r>
                        <a:rPr lang="en-GB" sz="1400">
                          <a:effectLst/>
                        </a:rPr>
                        <a:t>Data Element 4/14</a:t>
                      </a:r>
                    </a:p>
                  </a:txBody>
                  <a:tcPr marL="90000" marR="19050" marT="14288" marB="14288" anchor="ctr">
                    <a:solidFill>
                      <a:srgbClr val="009999"/>
                    </a:solidFill>
                  </a:tcPr>
                </a:tc>
                <a:tc>
                  <a:txBody>
                    <a:bodyPr/>
                    <a:lstStyle/>
                    <a:p>
                      <a:pPr algn="ctr"/>
                      <a:r>
                        <a:rPr lang="en-GB" sz="1400">
                          <a:effectLst/>
                        </a:rPr>
                        <a:t>Document</a:t>
                      </a:r>
                    </a:p>
                  </a:txBody>
                  <a:tcPr marL="90000" marR="19050" marT="14288" marB="14288" anchor="ctr">
                    <a:solidFill>
                      <a:srgbClr val="009999"/>
                    </a:solidFill>
                  </a:tcPr>
                </a:tc>
                <a:extLst>
                  <a:ext uri="{0D108BD9-81ED-4DB2-BD59-A6C34878D82A}">
                    <a16:rowId xmlns:a16="http://schemas.microsoft.com/office/drawing/2014/main" val="3384468624"/>
                  </a:ext>
                </a:extLst>
              </a:tr>
              <a:tr h="493755">
                <a:tc>
                  <a:txBody>
                    <a:bodyPr/>
                    <a:lstStyle/>
                    <a:p>
                      <a:r>
                        <a:rPr lang="en-GB" sz="1400">
                          <a:effectLst/>
                        </a:rPr>
                        <a:t>1SV</a:t>
                      </a:r>
                    </a:p>
                  </a:txBody>
                  <a:tcPr marL="90000" marR="19050" marT="14288" marB="14288" anchor="ctr"/>
                </a:tc>
                <a:tc>
                  <a:txBody>
                    <a:bodyPr/>
                    <a:lstStyle/>
                    <a:p>
                      <a:r>
                        <a:rPr lang="en-GB" sz="1400">
                          <a:effectLst/>
                        </a:rPr>
                        <a:t>UK SPV</a:t>
                      </a:r>
                    </a:p>
                  </a:txBody>
                  <a:tcPr marL="90000" marR="19050" marT="14288" marB="14288" anchor="ctr"/>
                </a:tc>
                <a:tc>
                  <a:txBody>
                    <a:bodyPr/>
                    <a:lstStyle/>
                    <a:p>
                      <a:r>
                        <a:rPr lang="en-GB" sz="1400">
                          <a:effectLst/>
                        </a:rPr>
                        <a:t>Blank</a:t>
                      </a:r>
                    </a:p>
                  </a:txBody>
                  <a:tcPr marL="90000" marR="19050" marT="14288" marB="14288" anchor="ctr"/>
                </a:tc>
                <a:tc>
                  <a:txBody>
                    <a:bodyPr/>
                    <a:lstStyle/>
                    <a:p>
                      <a:r>
                        <a:rPr lang="en-GB" sz="1400" b="0" i="0" kern="1200">
                          <a:solidFill>
                            <a:schemeClr val="dk1"/>
                          </a:solidFill>
                          <a:effectLst/>
                          <a:latin typeface="+mn-lt"/>
                          <a:ea typeface="+mn-ea"/>
                          <a:cs typeface="+mn-cs"/>
                        </a:rPr>
                        <a:t>Any non specific valuation document as mandated by measure</a:t>
                      </a:r>
                      <a:endParaRPr lang="en-GB" sz="1400">
                        <a:effectLst/>
                      </a:endParaRPr>
                    </a:p>
                  </a:txBody>
                  <a:tcPr marL="90000" marR="19050" marT="14288" marB="14288" anchor="ctr"/>
                </a:tc>
                <a:extLst>
                  <a:ext uri="{0D108BD9-81ED-4DB2-BD59-A6C34878D82A}">
                    <a16:rowId xmlns:a16="http://schemas.microsoft.com/office/drawing/2014/main" val="2674908348"/>
                  </a:ext>
                </a:extLst>
              </a:tr>
              <a:tr h="208441">
                <a:tc>
                  <a:txBody>
                    <a:bodyPr/>
                    <a:lstStyle/>
                    <a:p>
                      <a:r>
                        <a:rPr lang="en-GB" sz="1400">
                          <a:effectLst/>
                        </a:rPr>
                        <a:t>1FV Only</a:t>
                      </a:r>
                    </a:p>
                  </a:txBody>
                  <a:tcPr marL="90000" marR="19050" marT="14288" marB="14288" anchor="ctr"/>
                </a:tc>
                <a:tc>
                  <a:txBody>
                    <a:bodyPr/>
                    <a:lstStyle/>
                    <a:p>
                      <a:r>
                        <a:rPr lang="en-GB" sz="1400">
                          <a:effectLst/>
                        </a:rPr>
                        <a:t>N/A</a:t>
                      </a:r>
                    </a:p>
                    <a:p>
                      <a:endParaRPr lang="en-GB" sz="1400">
                        <a:effectLst/>
                      </a:endParaRPr>
                    </a:p>
                  </a:txBody>
                  <a:tcPr marL="90000" marR="19050" marT="14288" marB="14288" anchor="ctr"/>
                </a:tc>
                <a:tc>
                  <a:txBody>
                    <a:bodyPr/>
                    <a:lstStyle/>
                    <a:p>
                      <a:r>
                        <a:rPr lang="en-GB" sz="1400">
                          <a:effectLst/>
                        </a:rPr>
                        <a:t>Completed</a:t>
                      </a:r>
                    </a:p>
                  </a:txBody>
                  <a:tcPr marL="90000" marR="19050" marT="14288" marB="14288" anchor="ctr"/>
                </a:tc>
                <a:tc>
                  <a:txBody>
                    <a:bodyPr/>
                    <a:lstStyle/>
                    <a:p>
                      <a:r>
                        <a:rPr lang="en-GB" sz="1400" b="0" i="0" kern="1200">
                          <a:solidFill>
                            <a:schemeClr val="dk1"/>
                          </a:solidFill>
                          <a:effectLst/>
                          <a:latin typeface="+mn-lt"/>
                          <a:ea typeface="+mn-ea"/>
                          <a:cs typeface="+mn-cs"/>
                        </a:rPr>
                        <a:t>9WKS (minimum) </a:t>
                      </a:r>
                      <a:endParaRPr lang="en-GB" sz="1400">
                        <a:effectLst/>
                      </a:endParaRPr>
                    </a:p>
                  </a:txBody>
                  <a:tcPr marL="90000" marR="19050" marT="14288" marB="14288" anchor="ctr"/>
                </a:tc>
                <a:extLst>
                  <a:ext uri="{0D108BD9-81ED-4DB2-BD59-A6C34878D82A}">
                    <a16:rowId xmlns:a16="http://schemas.microsoft.com/office/drawing/2014/main" val="2060544414"/>
                  </a:ext>
                </a:extLst>
              </a:tr>
              <a:tr h="687226">
                <a:tc>
                  <a:txBody>
                    <a:bodyPr/>
                    <a:lstStyle/>
                    <a:p>
                      <a:r>
                        <a:rPr lang="en-GB" sz="1400">
                          <a:effectLst/>
                        </a:rPr>
                        <a:t>1FV + Non Valuation specific APC</a:t>
                      </a:r>
                    </a:p>
                  </a:txBody>
                  <a:tcPr marL="90000" marR="19050" marT="14288" marB="14288" anchor="ctr"/>
                </a:tc>
                <a:tc>
                  <a:txBody>
                    <a:bodyPr/>
                    <a:lstStyle/>
                    <a:p>
                      <a:r>
                        <a:rPr lang="en-GB" sz="1400">
                          <a:effectLst/>
                        </a:rPr>
                        <a:t>N/A</a:t>
                      </a:r>
                    </a:p>
                  </a:txBody>
                  <a:tcPr marL="90000" marR="19050" marT="14288" marB="14288" anchor="ctr"/>
                </a:tc>
                <a:tc>
                  <a:txBody>
                    <a:bodyPr/>
                    <a:lstStyle/>
                    <a:p>
                      <a:r>
                        <a:rPr lang="en-GB" sz="1400">
                          <a:effectLst/>
                        </a:rPr>
                        <a:t>Completed</a:t>
                      </a:r>
                    </a:p>
                  </a:txBody>
                  <a:tcPr marL="90000" marR="19050" marT="14288" marB="14288" anchor="ctr"/>
                </a:tc>
                <a:tc>
                  <a:txBody>
                    <a:bodyPr/>
                    <a:lstStyle/>
                    <a:p>
                      <a:r>
                        <a:rPr lang="en-GB" sz="1400" b="0" i="0" kern="1200">
                          <a:solidFill>
                            <a:schemeClr val="dk1"/>
                          </a:solidFill>
                          <a:effectLst/>
                          <a:latin typeface="+mn-lt"/>
                          <a:ea typeface="+mn-ea"/>
                          <a:cs typeface="+mn-cs"/>
                        </a:rPr>
                        <a:t>9WKS (minimum) and Any non specific valuation document as mandated by measure</a:t>
                      </a:r>
                      <a:endParaRPr lang="en-GB" sz="1400">
                        <a:effectLst/>
                      </a:endParaRPr>
                    </a:p>
                  </a:txBody>
                  <a:tcPr marL="90000" marR="19050" marT="14288" marB="14288" anchor="ctr"/>
                </a:tc>
                <a:extLst>
                  <a:ext uri="{0D108BD9-81ED-4DB2-BD59-A6C34878D82A}">
                    <a16:rowId xmlns:a16="http://schemas.microsoft.com/office/drawing/2014/main" val="2647355925"/>
                  </a:ext>
                </a:extLst>
              </a:tr>
            </a:tbl>
          </a:graphicData>
        </a:graphic>
      </p:graphicFrame>
      <p:sp>
        <p:nvSpPr>
          <p:cNvPr id="16" name="TextBox 15">
            <a:extLst>
              <a:ext uri="{FF2B5EF4-FFF2-40B4-BE49-F238E27FC236}">
                <a16:creationId xmlns:a16="http://schemas.microsoft.com/office/drawing/2014/main" id="{E78B8B84-2620-4641-87B0-7FACB0925AC7}"/>
              </a:ext>
            </a:extLst>
          </p:cNvPr>
          <p:cNvSpPr txBox="1"/>
          <p:nvPr/>
        </p:nvSpPr>
        <p:spPr>
          <a:xfrm>
            <a:off x="93828" y="4274969"/>
            <a:ext cx="11499935" cy="954107"/>
          </a:xfrm>
          <a:prstGeom prst="rect">
            <a:avLst/>
          </a:prstGeom>
          <a:noFill/>
        </p:spPr>
        <p:txBody>
          <a:bodyPr wrap="square">
            <a:spAutoFit/>
          </a:bodyPr>
          <a:lstStyle/>
          <a:p>
            <a:pPr lvl="1"/>
            <a:r>
              <a:rPr lang="en-GB" sz="1400" b="0" i="0">
                <a:solidFill>
                  <a:srgbClr val="333333"/>
                </a:solidFill>
                <a:effectLst/>
                <a:latin typeface="Calibri  "/>
              </a:rPr>
              <a:t>CDS will proceed to validate the declaration</a:t>
            </a:r>
            <a:r>
              <a:rPr lang="en-GB" sz="1400" b="0" i="0">
                <a:effectLst/>
                <a:latin typeface="Calibri  "/>
              </a:rPr>
              <a:t>, using the UK Tariff. Where </a:t>
            </a:r>
            <a:r>
              <a:rPr lang="en-GB" sz="1400" b="0" i="0">
                <a:solidFill>
                  <a:srgbClr val="333333"/>
                </a:solidFill>
                <a:effectLst/>
                <a:latin typeface="Calibri  "/>
              </a:rPr>
              <a:t>any duties or taxes are payable, and where an amount has been taken as a security on deposit, CDS will send a </a:t>
            </a:r>
            <a:r>
              <a:rPr lang="en-GB" sz="1400" b="1" i="0">
                <a:solidFill>
                  <a:srgbClr val="333333"/>
                </a:solidFill>
                <a:effectLst/>
                <a:latin typeface="Calibri  "/>
              </a:rPr>
              <a:t>DMSTAX</a:t>
            </a:r>
            <a:r>
              <a:rPr lang="en-GB" sz="1400" b="0" i="0">
                <a:solidFill>
                  <a:srgbClr val="333333"/>
                </a:solidFill>
                <a:effectLst/>
                <a:latin typeface="Calibri  "/>
              </a:rPr>
              <a:t> notification to the trader.</a:t>
            </a:r>
          </a:p>
          <a:p>
            <a:pPr lvl="1"/>
            <a:endParaRPr lang="en-GB" sz="1400">
              <a:solidFill>
                <a:srgbClr val="333333"/>
              </a:solidFill>
              <a:latin typeface="Calibri  "/>
            </a:endParaRPr>
          </a:p>
          <a:p>
            <a:pPr lvl="1"/>
            <a:endParaRPr lang="en-GB" sz="1400" b="0" i="0">
              <a:solidFill>
                <a:srgbClr val="333333"/>
              </a:solidFill>
              <a:effectLst/>
              <a:latin typeface="Calibri  "/>
            </a:endParaRPr>
          </a:p>
        </p:txBody>
      </p:sp>
    </p:spTree>
    <p:extLst>
      <p:ext uri="{BB962C8B-B14F-4D97-AF65-F5344CB8AC3E}">
        <p14:creationId xmlns:p14="http://schemas.microsoft.com/office/powerpoint/2010/main" val="16396610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Straight Connector 17">
            <a:extLst>
              <a:ext uri="{FF2B5EF4-FFF2-40B4-BE49-F238E27FC236}">
                <a16:creationId xmlns:a16="http://schemas.microsoft.com/office/drawing/2014/main" id="{9B1C5015-9F3B-4B9F-9031-945A7E68949E}"/>
              </a:ext>
            </a:extLst>
          </p:cNvPr>
          <p:cNvCxnSpPr/>
          <p:nvPr/>
        </p:nvCxnSpPr>
        <p:spPr>
          <a:xfrm>
            <a:off x="325937" y="186903"/>
            <a:ext cx="0" cy="422050"/>
          </a:xfrm>
          <a:prstGeom prst="straightConnector1">
            <a:avLst/>
          </a:prstGeom>
          <a:noFill/>
          <a:ln w="28575" cap="flat">
            <a:solidFill>
              <a:srgbClr val="D9D9D9"/>
            </a:solidFill>
            <a:prstDash val="solid"/>
            <a:miter/>
          </a:ln>
        </p:spPr>
      </p:cxnSp>
      <p:cxnSp>
        <p:nvCxnSpPr>
          <p:cNvPr id="3" name="Straight Connector 11">
            <a:extLst>
              <a:ext uri="{FF2B5EF4-FFF2-40B4-BE49-F238E27FC236}">
                <a16:creationId xmlns:a16="http://schemas.microsoft.com/office/drawing/2014/main" id="{D6C11640-FA3E-46E5-B9A7-E7F359123CA6}"/>
              </a:ext>
            </a:extLst>
          </p:cNvPr>
          <p:cNvCxnSpPr/>
          <p:nvPr/>
        </p:nvCxnSpPr>
        <p:spPr>
          <a:xfrm>
            <a:off x="319116" y="186903"/>
            <a:ext cx="0" cy="422050"/>
          </a:xfrm>
          <a:prstGeom prst="straightConnector1">
            <a:avLst/>
          </a:prstGeom>
          <a:noFill/>
          <a:ln w="28575" cap="flat">
            <a:solidFill>
              <a:srgbClr val="D9D9D9"/>
            </a:solidFill>
            <a:prstDash val="solid"/>
            <a:miter/>
          </a:ln>
        </p:spPr>
      </p:cxnSp>
      <p:sp>
        <p:nvSpPr>
          <p:cNvPr id="4" name="TextBox 12">
            <a:extLst>
              <a:ext uri="{FF2B5EF4-FFF2-40B4-BE49-F238E27FC236}">
                <a16:creationId xmlns:a16="http://schemas.microsoft.com/office/drawing/2014/main" id="{82E393B6-AA11-4414-8B14-89201222C078}"/>
              </a:ext>
            </a:extLst>
          </p:cNvPr>
          <p:cNvSpPr txBox="1"/>
          <p:nvPr/>
        </p:nvSpPr>
        <p:spPr>
          <a:xfrm>
            <a:off x="363967" y="248844"/>
            <a:ext cx="2321725" cy="307777"/>
          </a:xfrm>
          <a:prstGeom prst="rect">
            <a:avLst/>
          </a:prstGeom>
          <a:noFill/>
          <a:ln cap="flat">
            <a:noFill/>
          </a:ln>
        </p:spPr>
        <p:txBody>
          <a:bodyPr vert="horz" wrap="none" lIns="91440" tIns="45720" rIns="91440" bIns="45720" anchor="t"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400" b="1" i="0" u="none" strike="noStrike" kern="1200" cap="none" spc="50" baseline="0">
                <a:solidFill>
                  <a:srgbClr val="A6A6A6"/>
                </a:solidFill>
                <a:uFillTx/>
                <a:latin typeface="Calibri"/>
              </a:rPr>
              <a:t>RELEASE SCOPE GUIDANCE</a:t>
            </a:r>
          </a:p>
        </p:txBody>
      </p:sp>
      <p:pic>
        <p:nvPicPr>
          <p:cNvPr id="5" name="Picture 106" descr="57% HMRCppt logo">
            <a:extLst>
              <a:ext uri="{FF2B5EF4-FFF2-40B4-BE49-F238E27FC236}">
                <a16:creationId xmlns:a16="http://schemas.microsoft.com/office/drawing/2014/main" id="{0BC784A9-9201-4F3E-BE97-6490FAA7E8BD}"/>
              </a:ext>
            </a:extLst>
          </p:cNvPr>
          <p:cNvPicPr>
            <a:picLocks noChangeAspect="1"/>
          </p:cNvPicPr>
          <p:nvPr/>
        </p:nvPicPr>
        <p:blipFill>
          <a:blip r:embed="rId3"/>
          <a:srcRect/>
          <a:stretch>
            <a:fillRect/>
          </a:stretch>
        </p:blipFill>
        <p:spPr>
          <a:xfrm>
            <a:off x="446099" y="5929033"/>
            <a:ext cx="1030227" cy="633980"/>
          </a:xfrm>
          <a:prstGeom prst="rect">
            <a:avLst/>
          </a:prstGeom>
          <a:noFill/>
          <a:ln cap="flat">
            <a:noFill/>
          </a:ln>
        </p:spPr>
      </p:pic>
      <p:sp>
        <p:nvSpPr>
          <p:cNvPr id="6" name="Slide Number Placeholder 5">
            <a:extLst>
              <a:ext uri="{FF2B5EF4-FFF2-40B4-BE49-F238E27FC236}">
                <a16:creationId xmlns:a16="http://schemas.microsoft.com/office/drawing/2014/main" id="{088903D6-C05B-4410-B6CD-4649B65A9E13}"/>
              </a:ext>
            </a:extLst>
          </p:cNvPr>
          <p:cNvSpPr txBox="1"/>
          <p:nvPr/>
        </p:nvSpPr>
        <p:spPr>
          <a:xfrm>
            <a:off x="11526231" y="6387897"/>
            <a:ext cx="443849" cy="365129"/>
          </a:xfrm>
          <a:prstGeom prst="rect">
            <a:avLst/>
          </a:prstGeom>
          <a:noFill/>
          <a:ln cap="flat">
            <a:noFill/>
          </a:ln>
        </p:spPr>
        <p:txBody>
          <a:bodyPr vert="horz" wrap="square" lIns="91440" tIns="45720" rIns="91440" bIns="45720" anchor="ctr" anchorCtr="0" compatLnSpc="1">
            <a:noAutofit/>
          </a:bodyPr>
          <a:lstStyle/>
          <a:p>
            <a:pPr marL="0" marR="0" lvl="0" indent="0" algn="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fld id="{F8C6FEBB-F102-4DFE-971D-92B3DA2FF58F}" type="slidenum">
              <a:rPr/>
              <a:t>12</a:t>
            </a:fld>
            <a:endParaRPr lang="en-GB" sz="900" b="0" i="0" u="none" strike="noStrike" kern="1200" cap="none" spc="0" baseline="0">
              <a:solidFill>
                <a:srgbClr val="000000"/>
              </a:solidFill>
              <a:uFillTx/>
              <a:latin typeface="Calibri"/>
            </a:endParaRPr>
          </a:p>
        </p:txBody>
      </p:sp>
      <p:sp>
        <p:nvSpPr>
          <p:cNvPr id="7" name="Footer Placeholder 1">
            <a:extLst>
              <a:ext uri="{FF2B5EF4-FFF2-40B4-BE49-F238E27FC236}">
                <a16:creationId xmlns:a16="http://schemas.microsoft.com/office/drawing/2014/main" id="{DFFE456A-FB86-47CB-977A-B3ED841E1946}"/>
              </a:ext>
            </a:extLst>
          </p:cNvPr>
          <p:cNvSpPr txBox="1"/>
          <p:nvPr/>
        </p:nvSpPr>
        <p:spPr>
          <a:xfrm>
            <a:off x="2909414" y="6526907"/>
            <a:ext cx="8737604" cy="144466"/>
          </a:xfrm>
          <a:prstGeom prst="rect">
            <a:avLst/>
          </a:prstGeom>
          <a:noFill/>
          <a:ln cap="flat">
            <a:noFill/>
          </a:ln>
        </p:spPr>
        <p:txBody>
          <a:bodyPr vert="horz" wrap="square" lIns="0" tIns="0" rIns="0" bIns="0" anchor="ctr" anchorCtr="0" compatLnSpc="1">
            <a:noAutofit/>
          </a:bodyPr>
          <a:lstStyle/>
          <a:p>
            <a:pPr marL="0" marR="0" lvl="0" indent="0" algn="r"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r>
              <a:rPr lang="en-GB" sz="900" b="0" i="0" u="none" strike="noStrike" kern="1200" cap="none" spc="0" baseline="0">
                <a:solidFill>
                  <a:srgbClr val="3B3A3D"/>
                </a:solidFill>
                <a:uFillTx/>
                <a:latin typeface="Calibri"/>
                <a:ea typeface="Geneva"/>
                <a:cs typeface="Arial"/>
              </a:rPr>
              <a:t>OFFICIAL | CDS External Release Scope Guidance Document |</a:t>
            </a:r>
            <a:endParaRPr lang="en-GB" sz="900" b="1" i="0" u="none" strike="noStrike" kern="1200" cap="none" spc="0" baseline="0">
              <a:solidFill>
                <a:srgbClr val="008D8E"/>
              </a:solidFill>
              <a:uFillTx/>
              <a:latin typeface="Calibri"/>
              <a:ea typeface="Geneva"/>
              <a:cs typeface="Arial"/>
            </a:endParaRPr>
          </a:p>
        </p:txBody>
      </p:sp>
      <p:sp>
        <p:nvSpPr>
          <p:cNvPr id="8" name="Rectangle 13">
            <a:extLst>
              <a:ext uri="{FF2B5EF4-FFF2-40B4-BE49-F238E27FC236}">
                <a16:creationId xmlns:a16="http://schemas.microsoft.com/office/drawing/2014/main" id="{48964C8A-D9D1-4D9A-BC67-67F10BDD0F54}"/>
              </a:ext>
            </a:extLst>
          </p:cNvPr>
          <p:cNvSpPr/>
          <p:nvPr/>
        </p:nvSpPr>
        <p:spPr>
          <a:xfrm>
            <a:off x="444691" y="1199866"/>
            <a:ext cx="11282159" cy="4801314"/>
          </a:xfrm>
          <a:prstGeom prst="rect">
            <a:avLst/>
          </a:prstGeom>
          <a:noFill/>
          <a:ln cap="flat">
            <a:noFill/>
            <a:prstDash val="solid"/>
          </a:ln>
        </p:spPr>
        <p:txBody>
          <a:bodyPr vert="horz" wrap="square" lIns="91440" tIns="45720" rIns="91440" bIns="45720" anchor="t"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400" b="1" u="sng" dirty="0">
                <a:solidFill>
                  <a:srgbClr val="0B0C0C"/>
                </a:solidFill>
                <a:latin typeface="Calibri  "/>
              </a:rPr>
              <a:t>Valuation Method 4 : Northern Ireland : </a:t>
            </a:r>
            <a:r>
              <a:rPr lang="en-GB" sz="1400" b="1" u="sng" dirty="0" err="1">
                <a:solidFill>
                  <a:srgbClr val="0B0C0C"/>
                </a:solidFill>
                <a:latin typeface="Calibri  "/>
              </a:rPr>
              <a:t>RoW</a:t>
            </a:r>
            <a:r>
              <a:rPr lang="en-GB" sz="1400" b="1" u="sng" dirty="0">
                <a:solidFill>
                  <a:srgbClr val="0B0C0C"/>
                </a:solidFill>
                <a:latin typeface="Calibri  "/>
              </a:rPr>
              <a:t>-NI or GB-NI (Goods at Risk)</a:t>
            </a:r>
          </a:p>
          <a:p>
            <a:pPr lvl="1"/>
            <a:endParaRPr lang="en-GB" sz="1400" b="1" dirty="0">
              <a:solidFill>
                <a:srgbClr val="333333"/>
              </a:solidFill>
              <a:latin typeface="Calibri  "/>
              <a:ea typeface="Times New Roman" pitchFamily="18"/>
              <a:cs typeface="Times New Roman" pitchFamily="18"/>
            </a:endParaRPr>
          </a:p>
          <a:p>
            <a:pPr lvl="1"/>
            <a:endParaRPr lang="en-GB" dirty="0">
              <a:solidFill>
                <a:srgbClr val="333333"/>
              </a:solidFill>
              <a:latin typeface="Arial" panose="020B0604020202020204" pitchFamily="34" charset="0"/>
            </a:endParaRPr>
          </a:p>
          <a:p>
            <a:pPr marL="742950" lvl="1" indent="-285750">
              <a:buFont typeface="Arial" panose="020B0604020202020204" pitchFamily="34" charset="0"/>
              <a:buChar char="•"/>
            </a:pPr>
            <a:endParaRPr lang="en-GB" b="0" i="0" dirty="0">
              <a:solidFill>
                <a:srgbClr val="333333"/>
              </a:solidFill>
              <a:effectLst/>
              <a:latin typeface="Arial" panose="020B0604020202020204" pitchFamily="34" charset="0"/>
            </a:endParaRPr>
          </a:p>
          <a:p>
            <a:pPr lvl="1"/>
            <a:endParaRPr lang="en-GB" dirty="0">
              <a:solidFill>
                <a:srgbClr val="333333"/>
              </a:solidFill>
              <a:latin typeface="Arial" panose="020B0604020202020204" pitchFamily="34" charset="0"/>
            </a:endParaRPr>
          </a:p>
          <a:p>
            <a:pPr lvl="1"/>
            <a:endParaRPr lang="en-GB" dirty="0">
              <a:solidFill>
                <a:srgbClr val="333333"/>
              </a:solidFill>
              <a:latin typeface="Arial" panose="020B0604020202020204" pitchFamily="34" charset="0"/>
            </a:endParaRPr>
          </a:p>
          <a:p>
            <a:pPr marL="742950" lvl="1" indent="-285750">
              <a:buFont typeface="Arial" panose="020B0604020202020204" pitchFamily="34" charset="0"/>
              <a:buChar char="•"/>
            </a:pPr>
            <a:endParaRPr lang="en-GB" b="0" i="0" dirty="0">
              <a:solidFill>
                <a:srgbClr val="333333"/>
              </a:solidFill>
              <a:effectLst/>
              <a:latin typeface="Arial" panose="020B0604020202020204" pitchFamily="34" charset="0"/>
            </a:endParaRPr>
          </a:p>
          <a:p>
            <a:pPr lvl="1"/>
            <a:endParaRPr lang="en-GB" b="0" i="0" dirty="0">
              <a:solidFill>
                <a:srgbClr val="333333"/>
              </a:solidFill>
              <a:effectLst/>
              <a:latin typeface="Arial" panose="020B0604020202020204" pitchFamily="34" charset="0"/>
            </a:endParaRPr>
          </a:p>
          <a:p>
            <a:pPr marL="742950" lvl="1" indent="-285750">
              <a:buFont typeface="Arial" panose="020B0604020202020204" pitchFamily="34" charset="0"/>
              <a:buChar char="•"/>
            </a:pPr>
            <a:endParaRPr lang="en-GB" dirty="0">
              <a:solidFill>
                <a:srgbClr val="333333"/>
              </a:solidFill>
              <a:latin typeface="Arial" panose="020B0604020202020204" pitchFamily="34" charset="0"/>
            </a:endParaRPr>
          </a:p>
          <a:p>
            <a:pPr marL="742950" lvl="1" indent="-285750">
              <a:buFont typeface="Arial" panose="020B0604020202020204" pitchFamily="34" charset="0"/>
              <a:buChar char="•"/>
            </a:pPr>
            <a:endParaRPr lang="en-GB" b="0" i="0" dirty="0">
              <a:solidFill>
                <a:srgbClr val="333333"/>
              </a:solidFill>
              <a:effectLst/>
              <a:latin typeface="Arial" panose="020B0604020202020204" pitchFamily="34" charset="0"/>
            </a:endParaRPr>
          </a:p>
          <a:p>
            <a:pPr lvl="1"/>
            <a:endParaRPr lang="en-GB" b="0" i="0" dirty="0">
              <a:solidFill>
                <a:srgbClr val="333333"/>
              </a:solidFill>
              <a:effectLst/>
              <a:latin typeface="Arial" panose="020B0604020202020204" pitchFamily="34" charset="0"/>
            </a:endParaRPr>
          </a:p>
          <a:p>
            <a:pPr marL="285750" indent="-285750">
              <a:buFont typeface="Arial" panose="020B0604020202020204" pitchFamily="34" charset="0"/>
              <a:buChar char="•"/>
            </a:pPr>
            <a:r>
              <a:rPr lang="en-GB" sz="1400" b="0" i="0" dirty="0">
                <a:solidFill>
                  <a:srgbClr val="333333"/>
                </a:solidFill>
                <a:effectLst/>
                <a:latin typeface="Calibri  "/>
              </a:rPr>
              <a:t>If DE 1/11 contains </a:t>
            </a:r>
            <a:r>
              <a:rPr lang="en-GB" sz="1400" b="1" i="0" dirty="0">
                <a:solidFill>
                  <a:srgbClr val="333333"/>
                </a:solidFill>
                <a:effectLst/>
                <a:latin typeface="Calibri  "/>
              </a:rPr>
              <a:t>E01</a:t>
            </a:r>
            <a:r>
              <a:rPr lang="en-GB" sz="1400" b="0" i="0" dirty="0">
                <a:solidFill>
                  <a:srgbClr val="333333"/>
                </a:solidFill>
                <a:effectLst/>
                <a:latin typeface="Calibri  "/>
              </a:rPr>
              <a:t> or </a:t>
            </a:r>
            <a:r>
              <a:rPr lang="en-GB" sz="1400" b="1" i="0" dirty="0">
                <a:solidFill>
                  <a:srgbClr val="333333"/>
                </a:solidFill>
                <a:effectLst/>
                <a:latin typeface="Calibri  "/>
              </a:rPr>
              <a:t>E02 :</a:t>
            </a:r>
            <a:endParaRPr lang="en-GB" sz="1400" b="0" i="0" dirty="0">
              <a:solidFill>
                <a:srgbClr val="333333"/>
              </a:solidFill>
              <a:effectLst/>
              <a:latin typeface="Calibri  "/>
            </a:endParaRPr>
          </a:p>
          <a:p>
            <a:pPr marL="1200150" lvl="2" indent="-285750">
              <a:buFont typeface="Courier New" panose="02070309020205020404" pitchFamily="49" charset="0"/>
              <a:buChar char="o"/>
            </a:pPr>
            <a:r>
              <a:rPr lang="en-GB" sz="1400" b="0" i="0" dirty="0">
                <a:solidFill>
                  <a:srgbClr val="333333"/>
                </a:solidFill>
                <a:effectLst/>
                <a:latin typeface="Calibri  "/>
              </a:rPr>
              <a:t>Valuation Method = 4 must be declared in DE 4/16</a:t>
            </a:r>
          </a:p>
          <a:p>
            <a:pPr marL="1200150" lvl="2" indent="-285750">
              <a:buFont typeface="Courier New" panose="02070309020205020404" pitchFamily="49" charset="0"/>
              <a:buChar char="o"/>
            </a:pPr>
            <a:r>
              <a:rPr lang="en-GB" sz="1400" b="0" i="0" dirty="0">
                <a:solidFill>
                  <a:srgbClr val="333333"/>
                </a:solidFill>
                <a:effectLst/>
                <a:latin typeface="Calibri  "/>
              </a:rPr>
              <a:t>Document Code in DE 2/3 :  Only non-valuation-specific document codes are allowed </a:t>
            </a:r>
          </a:p>
          <a:p>
            <a:pPr lvl="1" algn="l"/>
            <a:endParaRPr lang="en-GB" sz="1400" dirty="0">
              <a:solidFill>
                <a:srgbClr val="333333"/>
              </a:solidFill>
              <a:latin typeface="Calibri  "/>
            </a:endParaRPr>
          </a:p>
          <a:p>
            <a:pPr lvl="1"/>
            <a:r>
              <a:rPr lang="en-GB" sz="1400" b="0" i="0" dirty="0">
                <a:solidFill>
                  <a:srgbClr val="333333"/>
                </a:solidFill>
                <a:effectLst/>
                <a:latin typeface="Calibri  "/>
              </a:rPr>
              <a:t>If the above conditions are </a:t>
            </a:r>
            <a:r>
              <a:rPr lang="en-GB" sz="1400" i="0" dirty="0">
                <a:solidFill>
                  <a:srgbClr val="333333"/>
                </a:solidFill>
                <a:effectLst/>
                <a:latin typeface="Calibri  "/>
              </a:rPr>
              <a:t>not met</a:t>
            </a:r>
            <a:r>
              <a:rPr lang="en-GB" sz="1400" dirty="0">
                <a:solidFill>
                  <a:srgbClr val="333333"/>
                </a:solidFill>
                <a:latin typeface="Calibri  "/>
              </a:rPr>
              <a:t>, </a:t>
            </a:r>
            <a:r>
              <a:rPr lang="en-GB" sz="1400" b="0" i="0" dirty="0">
                <a:solidFill>
                  <a:srgbClr val="333333"/>
                </a:solidFill>
                <a:effectLst/>
                <a:latin typeface="Calibri  "/>
              </a:rPr>
              <a:t>CDS will </a:t>
            </a:r>
            <a:r>
              <a:rPr lang="en-GB" sz="1400" b="1" i="0" dirty="0">
                <a:solidFill>
                  <a:srgbClr val="333333"/>
                </a:solidFill>
                <a:effectLst/>
                <a:latin typeface="Calibri  "/>
              </a:rPr>
              <a:t>reject</a:t>
            </a:r>
            <a:r>
              <a:rPr lang="en-GB" sz="1400" b="0" i="0" dirty="0">
                <a:solidFill>
                  <a:srgbClr val="333333"/>
                </a:solidFill>
                <a:effectLst/>
                <a:latin typeface="Calibri  "/>
              </a:rPr>
              <a:t> the declaration and a DMSREJ notification to the trader.</a:t>
            </a:r>
          </a:p>
          <a:p>
            <a:pPr lvl="1"/>
            <a:endParaRPr lang="en-GB" sz="1400" b="0" i="0" dirty="0">
              <a:solidFill>
                <a:srgbClr val="333333"/>
              </a:solidFill>
              <a:effectLst/>
              <a:latin typeface="Calibri  "/>
            </a:endParaRPr>
          </a:p>
          <a:p>
            <a:pPr lvl="1"/>
            <a:r>
              <a:rPr lang="en-GB" sz="1400" b="1" dirty="0">
                <a:solidFill>
                  <a:srgbClr val="333333"/>
                </a:solidFill>
                <a:latin typeface="Calibri  "/>
                <a:ea typeface="Times New Roman" pitchFamily="18"/>
                <a:cs typeface="Times New Roman" pitchFamily="18"/>
              </a:rPr>
              <a:t>Please note that E01, E02 and 1SV are not permitted to be used with EIDR</a:t>
            </a:r>
            <a:r>
              <a:rPr lang="en-GB" sz="1400" dirty="0">
                <a:solidFill>
                  <a:srgbClr val="333333"/>
                </a:solidFill>
                <a:latin typeface="Calibri  "/>
                <a:ea typeface="Times New Roman" pitchFamily="18"/>
                <a:cs typeface="Times New Roman" pitchFamily="18"/>
              </a:rPr>
              <a:t>.</a:t>
            </a:r>
          </a:p>
          <a:p>
            <a:pPr lvl="1"/>
            <a:endParaRPr lang="en-GB" b="0" i="0" dirty="0">
              <a:solidFill>
                <a:srgbClr val="333333"/>
              </a:solidFill>
              <a:effectLst/>
              <a:latin typeface="Arial" panose="020B0604020202020204" pitchFamily="34" charset="0"/>
            </a:endParaRPr>
          </a:p>
        </p:txBody>
      </p:sp>
      <p:sp>
        <p:nvSpPr>
          <p:cNvPr id="9" name="Rectangle 7">
            <a:extLst>
              <a:ext uri="{FF2B5EF4-FFF2-40B4-BE49-F238E27FC236}">
                <a16:creationId xmlns:a16="http://schemas.microsoft.com/office/drawing/2014/main" id="{1D8D1562-0018-41BA-A48C-A37EADF9508A}"/>
              </a:ext>
            </a:extLst>
          </p:cNvPr>
          <p:cNvSpPr/>
          <p:nvPr/>
        </p:nvSpPr>
        <p:spPr>
          <a:xfrm>
            <a:off x="465155" y="799761"/>
            <a:ext cx="3563745" cy="400114"/>
          </a:xfrm>
          <a:prstGeom prst="rect">
            <a:avLst/>
          </a:prstGeom>
          <a:solidFill>
            <a:srgbClr val="009999"/>
          </a:solidFill>
          <a:ln w="25402" cap="flat">
            <a:solidFill>
              <a:srgbClr val="009999"/>
            </a:solidFill>
            <a:prstDash val="solid"/>
            <a:miter/>
          </a:ln>
        </p:spPr>
        <p:txBody>
          <a:bodyPr vert="horz" wrap="square" lIns="91440" tIns="45720" rIns="91440" bIns="4572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2400" b="1" i="0" u="none" strike="noStrike" kern="0" cap="none" spc="0" baseline="0">
                <a:solidFill>
                  <a:srgbClr val="FFFFFF"/>
                </a:solidFill>
                <a:uFillTx/>
                <a:latin typeface="Calibri"/>
              </a:rPr>
              <a:t>New Release Functionality</a:t>
            </a:r>
          </a:p>
        </p:txBody>
      </p:sp>
      <p:graphicFrame>
        <p:nvGraphicFramePr>
          <p:cNvPr id="13" name="Table 12">
            <a:extLst>
              <a:ext uri="{FF2B5EF4-FFF2-40B4-BE49-F238E27FC236}">
                <a16:creationId xmlns:a16="http://schemas.microsoft.com/office/drawing/2014/main" id="{816FD590-303E-4F19-B882-FEFAAE6F23D5}"/>
              </a:ext>
            </a:extLst>
          </p:cNvPr>
          <p:cNvGraphicFramePr>
            <a:graphicFrameLocks noGrp="1"/>
          </p:cNvGraphicFramePr>
          <p:nvPr/>
        </p:nvGraphicFramePr>
        <p:xfrm>
          <a:off x="2943801" y="1599980"/>
          <a:ext cx="6277260" cy="2344491"/>
        </p:xfrm>
        <a:graphic>
          <a:graphicData uri="http://schemas.openxmlformats.org/drawingml/2006/table">
            <a:tbl>
              <a:tblPr firstRow="1" bandRow="1">
                <a:effectLst/>
                <a:tableStyleId>{5C22544A-7EE6-4342-B048-85BDC9FD1C3A}</a:tableStyleId>
              </a:tblPr>
              <a:tblGrid>
                <a:gridCol w="1642157">
                  <a:extLst>
                    <a:ext uri="{9D8B030D-6E8A-4147-A177-3AD203B41FA5}">
                      <a16:colId xmlns:a16="http://schemas.microsoft.com/office/drawing/2014/main" val="3915946671"/>
                    </a:ext>
                  </a:extLst>
                </a:gridCol>
                <a:gridCol w="2316866">
                  <a:extLst>
                    <a:ext uri="{9D8B030D-6E8A-4147-A177-3AD203B41FA5}">
                      <a16:colId xmlns:a16="http://schemas.microsoft.com/office/drawing/2014/main" val="2247490691"/>
                    </a:ext>
                  </a:extLst>
                </a:gridCol>
                <a:gridCol w="2318237">
                  <a:extLst>
                    <a:ext uri="{9D8B030D-6E8A-4147-A177-3AD203B41FA5}">
                      <a16:colId xmlns:a16="http://schemas.microsoft.com/office/drawing/2014/main" val="641578491"/>
                    </a:ext>
                  </a:extLst>
                </a:gridCol>
              </a:tblGrid>
              <a:tr h="378862">
                <a:tc>
                  <a:txBody>
                    <a:bodyPr/>
                    <a:lstStyle/>
                    <a:p>
                      <a:pPr algn="l"/>
                      <a:r>
                        <a:rPr lang="en-GB" sz="1400">
                          <a:effectLst/>
                        </a:rPr>
                        <a:t>Data Element 1/11</a:t>
                      </a:r>
                    </a:p>
                  </a:txBody>
                  <a:tcPr marL="90000" marR="19050" marT="14288" marB="14288" anchor="ctr">
                    <a:solidFill>
                      <a:srgbClr val="009999"/>
                    </a:solidFill>
                  </a:tcPr>
                </a:tc>
                <a:tc>
                  <a:txBody>
                    <a:bodyPr/>
                    <a:lstStyle/>
                    <a:p>
                      <a:pPr algn="l"/>
                      <a:r>
                        <a:rPr lang="en-GB" sz="1400">
                          <a:effectLst/>
                        </a:rPr>
                        <a:t>Description</a:t>
                      </a:r>
                    </a:p>
                  </a:txBody>
                  <a:tcPr marL="90000" marR="19050" marT="14288" marB="14288" anchor="ctr">
                    <a:solidFill>
                      <a:srgbClr val="009999"/>
                    </a:solidFill>
                  </a:tcPr>
                </a:tc>
                <a:tc>
                  <a:txBody>
                    <a:bodyPr/>
                    <a:lstStyle/>
                    <a:p>
                      <a:pPr algn="l"/>
                      <a:r>
                        <a:rPr lang="en-GB" sz="1400">
                          <a:effectLst/>
                        </a:rPr>
                        <a:t>Data Element 4/14</a:t>
                      </a:r>
                    </a:p>
                  </a:txBody>
                  <a:tcPr marL="90000" marR="19050" marT="14288" marB="14288" anchor="ctr">
                    <a:solidFill>
                      <a:srgbClr val="009999"/>
                    </a:solidFill>
                  </a:tcPr>
                </a:tc>
                <a:extLst>
                  <a:ext uri="{0D108BD9-81ED-4DB2-BD59-A6C34878D82A}">
                    <a16:rowId xmlns:a16="http://schemas.microsoft.com/office/drawing/2014/main" val="3384468624"/>
                  </a:ext>
                </a:extLst>
              </a:tr>
              <a:tr h="351679">
                <a:tc>
                  <a:txBody>
                    <a:bodyPr/>
                    <a:lstStyle/>
                    <a:p>
                      <a:pPr algn="l"/>
                      <a:r>
                        <a:rPr lang="en-GB" sz="1400" b="0">
                          <a:effectLst/>
                        </a:rPr>
                        <a:t>E01</a:t>
                      </a:r>
                    </a:p>
                  </a:txBody>
                  <a:tcPr marL="90000" marR="19050" marT="14288" marB="14288" anchor="ctr"/>
                </a:tc>
                <a:tc>
                  <a:txBody>
                    <a:bodyPr/>
                    <a:lstStyle/>
                    <a:p>
                      <a:pPr algn="l"/>
                      <a:r>
                        <a:rPr lang="en-GB" sz="1400">
                          <a:effectLst/>
                        </a:rPr>
                        <a:t>EU SPV</a:t>
                      </a:r>
                    </a:p>
                  </a:txBody>
                  <a:tcPr marL="90000" marR="19050" marT="14288" marB="14288" anchor="ctr"/>
                </a:tc>
                <a:tc>
                  <a:txBody>
                    <a:bodyPr/>
                    <a:lstStyle/>
                    <a:p>
                      <a:pPr algn="l"/>
                      <a:r>
                        <a:rPr lang="en-GB" sz="1400">
                          <a:effectLst/>
                        </a:rPr>
                        <a:t>Blank</a:t>
                      </a:r>
                    </a:p>
                  </a:txBody>
                  <a:tcPr marL="90000" marR="19050" marT="14288" marB="14288" anchor="ctr"/>
                </a:tc>
                <a:extLst>
                  <a:ext uri="{0D108BD9-81ED-4DB2-BD59-A6C34878D82A}">
                    <a16:rowId xmlns:a16="http://schemas.microsoft.com/office/drawing/2014/main" val="2674908348"/>
                  </a:ext>
                </a:extLst>
              </a:tr>
              <a:tr h="351679">
                <a:tc>
                  <a:txBody>
                    <a:bodyPr/>
                    <a:lstStyle/>
                    <a:p>
                      <a:pPr algn="l"/>
                      <a:r>
                        <a:rPr lang="en-GB" sz="1400" b="0">
                          <a:effectLst/>
                        </a:rPr>
                        <a:t>E02</a:t>
                      </a:r>
                    </a:p>
                  </a:txBody>
                  <a:tcPr marL="90000" marR="19050" marT="14288" marB="14288" anchor="ctr"/>
                </a:tc>
                <a:tc>
                  <a:txBody>
                    <a:bodyPr/>
                    <a:lstStyle/>
                    <a:p>
                      <a:pPr algn="l"/>
                      <a:r>
                        <a:rPr lang="en-GB" sz="1400">
                          <a:effectLst/>
                        </a:rPr>
                        <a:t>EU SIV</a:t>
                      </a:r>
                    </a:p>
                  </a:txBody>
                  <a:tcPr marL="90000" marR="19050" marT="14288" marB="14288" anchor="ctr"/>
                </a:tc>
                <a:tc>
                  <a:txBody>
                    <a:bodyPr/>
                    <a:lstStyle/>
                    <a:p>
                      <a:pPr algn="l"/>
                      <a:r>
                        <a:rPr lang="en-GB" sz="1400">
                          <a:effectLst/>
                        </a:rPr>
                        <a:t>Blank</a:t>
                      </a:r>
                    </a:p>
                  </a:txBody>
                  <a:tcPr marL="90000" marR="19050" marT="14288" marB="14288" anchor="ctr"/>
                </a:tc>
                <a:extLst>
                  <a:ext uri="{0D108BD9-81ED-4DB2-BD59-A6C34878D82A}">
                    <a16:rowId xmlns:a16="http://schemas.microsoft.com/office/drawing/2014/main" val="2060544414"/>
                  </a:ext>
                </a:extLst>
              </a:tr>
              <a:tr h="188582">
                <a:tc>
                  <a:txBody>
                    <a:bodyPr/>
                    <a:lstStyle/>
                    <a:p>
                      <a:pPr algn="l"/>
                      <a:r>
                        <a:rPr lang="en-GB" sz="1400" b="0">
                          <a:effectLst/>
                        </a:rPr>
                        <a:t>1SV</a:t>
                      </a:r>
                    </a:p>
                  </a:txBody>
                  <a:tcPr marL="90000" marR="19050" marT="14288" marB="14288" anchor="ctr"/>
                </a:tc>
                <a:tc>
                  <a:txBody>
                    <a:bodyPr/>
                    <a:lstStyle/>
                    <a:p>
                      <a:pPr algn="l"/>
                      <a:r>
                        <a:rPr lang="en-GB" sz="1400">
                          <a:effectLst/>
                        </a:rPr>
                        <a:t>UK SPV</a:t>
                      </a:r>
                    </a:p>
                  </a:txBody>
                  <a:tcPr marL="90000" marR="19050" marT="14288" marB="14288" anchor="ctr"/>
                </a:tc>
                <a:tc>
                  <a:txBody>
                    <a:bodyPr/>
                    <a:lstStyle/>
                    <a:p>
                      <a:pPr algn="l"/>
                      <a:r>
                        <a:rPr lang="en-GB" sz="1400">
                          <a:effectLst/>
                        </a:rPr>
                        <a:t>Blank</a:t>
                      </a:r>
                    </a:p>
                  </a:txBody>
                  <a:tcPr marL="90000" marR="19050" marT="14288" marB="14288" anchor="ctr"/>
                </a:tc>
                <a:extLst>
                  <a:ext uri="{0D108BD9-81ED-4DB2-BD59-A6C34878D82A}">
                    <a16:rowId xmlns:a16="http://schemas.microsoft.com/office/drawing/2014/main" val="2647355925"/>
                  </a:ext>
                </a:extLst>
              </a:tr>
              <a:tr h="351679">
                <a:tc>
                  <a:txBody>
                    <a:bodyPr/>
                    <a:lstStyle/>
                    <a:p>
                      <a:pPr algn="l"/>
                      <a:r>
                        <a:rPr lang="en-GB" sz="1400" b="0">
                          <a:effectLst/>
                        </a:rPr>
                        <a:t>1FV</a:t>
                      </a:r>
                    </a:p>
                  </a:txBody>
                  <a:tcPr marL="90000" marR="19050" marT="14288" marB="14288" anchor="ctr"/>
                </a:tc>
                <a:tc>
                  <a:txBody>
                    <a:bodyPr/>
                    <a:lstStyle/>
                    <a:p>
                      <a:pPr algn="l"/>
                      <a:r>
                        <a:rPr lang="en-GB" sz="1400">
                          <a:effectLst/>
                        </a:rPr>
                        <a:t>Item Price + Duty Application</a:t>
                      </a:r>
                    </a:p>
                  </a:txBody>
                  <a:tcPr marL="90000" marR="19050" marT="14288" marB="14288" anchor="ctr"/>
                </a:tc>
                <a:tc>
                  <a:txBody>
                    <a:bodyPr/>
                    <a:lstStyle/>
                    <a:p>
                      <a:pPr algn="l"/>
                      <a:r>
                        <a:rPr lang="en-GB" sz="1400">
                          <a:effectLst/>
                        </a:rPr>
                        <a:t>Completed</a:t>
                      </a:r>
                    </a:p>
                  </a:txBody>
                  <a:tcPr marL="90000" marR="19050" marT="14288" marB="14288" anchor="ctr"/>
                </a:tc>
                <a:extLst>
                  <a:ext uri="{0D108BD9-81ED-4DB2-BD59-A6C34878D82A}">
                    <a16:rowId xmlns:a16="http://schemas.microsoft.com/office/drawing/2014/main" val="1005563309"/>
                  </a:ext>
                </a:extLst>
              </a:tr>
              <a:tr h="514776">
                <a:tc>
                  <a:txBody>
                    <a:bodyPr/>
                    <a:lstStyle/>
                    <a:p>
                      <a:pPr algn="l"/>
                      <a:r>
                        <a:rPr lang="en-GB" sz="1400" b="0">
                          <a:effectLst/>
                        </a:rPr>
                        <a:t>Blank (</a:t>
                      </a:r>
                      <a:r>
                        <a:rPr lang="en-GB" sz="1400" b="0" err="1">
                          <a:effectLst/>
                        </a:rPr>
                        <a:t>ie</a:t>
                      </a:r>
                      <a:r>
                        <a:rPr lang="en-GB" sz="1400" b="0">
                          <a:effectLst/>
                        </a:rPr>
                        <a:t> Non Valuation Specific or 000)</a:t>
                      </a:r>
                    </a:p>
                  </a:txBody>
                  <a:tcPr marL="90000" marR="19050" marT="14288" marB="14288" anchor="ctr"/>
                </a:tc>
                <a:tc>
                  <a:txBody>
                    <a:bodyPr/>
                    <a:lstStyle/>
                    <a:p>
                      <a:pPr algn="l"/>
                      <a:r>
                        <a:rPr lang="en-GB" sz="1400">
                          <a:effectLst/>
                        </a:rPr>
                        <a:t>Item Price + Duty Application</a:t>
                      </a:r>
                    </a:p>
                  </a:txBody>
                  <a:tcPr marL="90000" marR="19050" marT="14288" marB="14288" anchor="ctr"/>
                </a:tc>
                <a:tc>
                  <a:txBody>
                    <a:bodyPr/>
                    <a:lstStyle/>
                    <a:p>
                      <a:pPr algn="l"/>
                      <a:r>
                        <a:rPr lang="en-GB" sz="1400">
                          <a:effectLst/>
                        </a:rPr>
                        <a:t>Completed</a:t>
                      </a:r>
                    </a:p>
                  </a:txBody>
                  <a:tcPr marL="90000" marR="19050" marT="14288" marB="14288" anchor="ctr"/>
                </a:tc>
                <a:extLst>
                  <a:ext uri="{0D108BD9-81ED-4DB2-BD59-A6C34878D82A}">
                    <a16:rowId xmlns:a16="http://schemas.microsoft.com/office/drawing/2014/main" val="1973793263"/>
                  </a:ext>
                </a:extLst>
              </a:tr>
            </a:tbl>
          </a:graphicData>
        </a:graphic>
      </p:graphicFrame>
    </p:spTree>
    <p:extLst>
      <p:ext uri="{BB962C8B-B14F-4D97-AF65-F5344CB8AC3E}">
        <p14:creationId xmlns:p14="http://schemas.microsoft.com/office/powerpoint/2010/main" val="159304760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Straight Connector 17">
            <a:extLst>
              <a:ext uri="{FF2B5EF4-FFF2-40B4-BE49-F238E27FC236}">
                <a16:creationId xmlns:a16="http://schemas.microsoft.com/office/drawing/2014/main" id="{9B1C5015-9F3B-4B9F-9031-945A7E68949E}"/>
              </a:ext>
            </a:extLst>
          </p:cNvPr>
          <p:cNvCxnSpPr/>
          <p:nvPr/>
        </p:nvCxnSpPr>
        <p:spPr>
          <a:xfrm>
            <a:off x="325937" y="186903"/>
            <a:ext cx="0" cy="422050"/>
          </a:xfrm>
          <a:prstGeom prst="straightConnector1">
            <a:avLst/>
          </a:prstGeom>
          <a:noFill/>
          <a:ln w="28575" cap="flat">
            <a:solidFill>
              <a:srgbClr val="D9D9D9"/>
            </a:solidFill>
            <a:prstDash val="solid"/>
            <a:miter/>
          </a:ln>
        </p:spPr>
      </p:cxnSp>
      <p:cxnSp>
        <p:nvCxnSpPr>
          <p:cNvPr id="3" name="Straight Connector 11">
            <a:extLst>
              <a:ext uri="{FF2B5EF4-FFF2-40B4-BE49-F238E27FC236}">
                <a16:creationId xmlns:a16="http://schemas.microsoft.com/office/drawing/2014/main" id="{D6C11640-FA3E-46E5-B9A7-E7F359123CA6}"/>
              </a:ext>
            </a:extLst>
          </p:cNvPr>
          <p:cNvCxnSpPr/>
          <p:nvPr/>
        </p:nvCxnSpPr>
        <p:spPr>
          <a:xfrm>
            <a:off x="319116" y="186903"/>
            <a:ext cx="0" cy="422050"/>
          </a:xfrm>
          <a:prstGeom prst="straightConnector1">
            <a:avLst/>
          </a:prstGeom>
          <a:noFill/>
          <a:ln w="28575" cap="flat">
            <a:solidFill>
              <a:srgbClr val="D9D9D9"/>
            </a:solidFill>
            <a:prstDash val="solid"/>
            <a:miter/>
          </a:ln>
        </p:spPr>
      </p:cxnSp>
      <p:sp>
        <p:nvSpPr>
          <p:cNvPr id="4" name="TextBox 12">
            <a:extLst>
              <a:ext uri="{FF2B5EF4-FFF2-40B4-BE49-F238E27FC236}">
                <a16:creationId xmlns:a16="http://schemas.microsoft.com/office/drawing/2014/main" id="{82E393B6-AA11-4414-8B14-89201222C078}"/>
              </a:ext>
            </a:extLst>
          </p:cNvPr>
          <p:cNvSpPr txBox="1"/>
          <p:nvPr/>
        </p:nvSpPr>
        <p:spPr>
          <a:xfrm>
            <a:off x="363967" y="248844"/>
            <a:ext cx="2321725" cy="307777"/>
          </a:xfrm>
          <a:prstGeom prst="rect">
            <a:avLst/>
          </a:prstGeom>
          <a:noFill/>
          <a:ln cap="flat">
            <a:noFill/>
          </a:ln>
        </p:spPr>
        <p:txBody>
          <a:bodyPr vert="horz" wrap="none" lIns="91440" tIns="45720" rIns="91440" bIns="45720" anchor="t"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400" b="1" i="0" u="none" strike="noStrike" kern="1200" cap="none" spc="50" baseline="0">
                <a:solidFill>
                  <a:srgbClr val="A6A6A6"/>
                </a:solidFill>
                <a:uFillTx/>
                <a:latin typeface="Calibri"/>
              </a:rPr>
              <a:t>RELEASE SCOPE GUIDANCE</a:t>
            </a:r>
          </a:p>
        </p:txBody>
      </p:sp>
      <p:pic>
        <p:nvPicPr>
          <p:cNvPr id="5" name="Picture 106" descr="57% HMRCppt logo">
            <a:extLst>
              <a:ext uri="{FF2B5EF4-FFF2-40B4-BE49-F238E27FC236}">
                <a16:creationId xmlns:a16="http://schemas.microsoft.com/office/drawing/2014/main" id="{0BC784A9-9201-4F3E-BE97-6490FAA7E8BD}"/>
              </a:ext>
            </a:extLst>
          </p:cNvPr>
          <p:cNvPicPr>
            <a:picLocks noChangeAspect="1"/>
          </p:cNvPicPr>
          <p:nvPr/>
        </p:nvPicPr>
        <p:blipFill>
          <a:blip r:embed="rId3"/>
          <a:srcRect/>
          <a:stretch>
            <a:fillRect/>
          </a:stretch>
        </p:blipFill>
        <p:spPr>
          <a:xfrm>
            <a:off x="446099" y="5929033"/>
            <a:ext cx="1030227" cy="633980"/>
          </a:xfrm>
          <a:prstGeom prst="rect">
            <a:avLst/>
          </a:prstGeom>
          <a:noFill/>
          <a:ln cap="flat">
            <a:noFill/>
          </a:ln>
        </p:spPr>
      </p:pic>
      <p:sp>
        <p:nvSpPr>
          <p:cNvPr id="6" name="Slide Number Placeholder 5">
            <a:extLst>
              <a:ext uri="{FF2B5EF4-FFF2-40B4-BE49-F238E27FC236}">
                <a16:creationId xmlns:a16="http://schemas.microsoft.com/office/drawing/2014/main" id="{088903D6-C05B-4410-B6CD-4649B65A9E13}"/>
              </a:ext>
            </a:extLst>
          </p:cNvPr>
          <p:cNvSpPr txBox="1"/>
          <p:nvPr/>
        </p:nvSpPr>
        <p:spPr>
          <a:xfrm>
            <a:off x="11526231" y="6387897"/>
            <a:ext cx="443849" cy="365129"/>
          </a:xfrm>
          <a:prstGeom prst="rect">
            <a:avLst/>
          </a:prstGeom>
          <a:noFill/>
          <a:ln cap="flat">
            <a:noFill/>
          </a:ln>
        </p:spPr>
        <p:txBody>
          <a:bodyPr vert="horz" wrap="square" lIns="91440" tIns="45720" rIns="91440" bIns="45720" anchor="ctr" anchorCtr="0" compatLnSpc="1">
            <a:noAutofit/>
          </a:bodyPr>
          <a:lstStyle/>
          <a:p>
            <a:pPr marL="0" marR="0" lvl="0" indent="0" algn="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fld id="{F8C6FEBB-F102-4DFE-971D-92B3DA2FF58F}" type="slidenum">
              <a:rPr/>
              <a:t>13</a:t>
            </a:fld>
            <a:endParaRPr lang="en-GB" sz="900" b="0" i="0" u="none" strike="noStrike" kern="1200" cap="none" spc="0" baseline="0">
              <a:solidFill>
                <a:srgbClr val="000000"/>
              </a:solidFill>
              <a:uFillTx/>
              <a:latin typeface="Calibri"/>
            </a:endParaRPr>
          </a:p>
        </p:txBody>
      </p:sp>
      <p:sp>
        <p:nvSpPr>
          <p:cNvPr id="7" name="Footer Placeholder 1">
            <a:extLst>
              <a:ext uri="{FF2B5EF4-FFF2-40B4-BE49-F238E27FC236}">
                <a16:creationId xmlns:a16="http://schemas.microsoft.com/office/drawing/2014/main" id="{DFFE456A-FB86-47CB-977A-B3ED841E1946}"/>
              </a:ext>
            </a:extLst>
          </p:cNvPr>
          <p:cNvSpPr txBox="1"/>
          <p:nvPr/>
        </p:nvSpPr>
        <p:spPr>
          <a:xfrm>
            <a:off x="2943801" y="6490776"/>
            <a:ext cx="8737604" cy="144466"/>
          </a:xfrm>
          <a:prstGeom prst="rect">
            <a:avLst/>
          </a:prstGeom>
          <a:noFill/>
          <a:ln cap="flat">
            <a:noFill/>
          </a:ln>
        </p:spPr>
        <p:txBody>
          <a:bodyPr vert="horz" wrap="square" lIns="0" tIns="0" rIns="0" bIns="0" anchor="ctr" anchorCtr="0" compatLnSpc="1">
            <a:noAutofit/>
          </a:bodyPr>
          <a:lstStyle/>
          <a:p>
            <a:pPr marL="0" marR="0" lvl="0" indent="0" algn="r"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r>
              <a:rPr lang="en-GB" sz="900" b="0" i="0" u="none" strike="noStrike" kern="1200" cap="none" spc="0" baseline="0">
                <a:solidFill>
                  <a:srgbClr val="3B3A3D"/>
                </a:solidFill>
                <a:uFillTx/>
                <a:latin typeface="Calibri"/>
                <a:ea typeface="Geneva"/>
                <a:cs typeface="Arial"/>
              </a:rPr>
              <a:t>OFFICIAL | CDS External Release Scope Guidance Document |</a:t>
            </a:r>
            <a:endParaRPr lang="en-GB" sz="900" b="1" i="0" u="none" strike="noStrike" kern="1200" cap="none" spc="0" baseline="0">
              <a:solidFill>
                <a:srgbClr val="008D8E"/>
              </a:solidFill>
              <a:uFillTx/>
              <a:latin typeface="Calibri"/>
              <a:ea typeface="Geneva"/>
              <a:cs typeface="Arial"/>
            </a:endParaRPr>
          </a:p>
        </p:txBody>
      </p:sp>
      <p:sp>
        <p:nvSpPr>
          <p:cNvPr id="8" name="Rectangle 13">
            <a:extLst>
              <a:ext uri="{FF2B5EF4-FFF2-40B4-BE49-F238E27FC236}">
                <a16:creationId xmlns:a16="http://schemas.microsoft.com/office/drawing/2014/main" id="{48964C8A-D9D1-4D9A-BC67-67F10BDD0F54}"/>
              </a:ext>
            </a:extLst>
          </p:cNvPr>
          <p:cNvSpPr/>
          <p:nvPr/>
        </p:nvSpPr>
        <p:spPr>
          <a:xfrm>
            <a:off x="444686" y="1199875"/>
            <a:ext cx="11282159" cy="5539978"/>
          </a:xfrm>
          <a:prstGeom prst="rect">
            <a:avLst/>
          </a:prstGeom>
          <a:noFill/>
          <a:ln cap="flat">
            <a:noFill/>
            <a:prstDash val="solid"/>
          </a:ln>
        </p:spPr>
        <p:txBody>
          <a:bodyPr vert="horz" wrap="square" lIns="91440" tIns="45720" rIns="91440" bIns="45720" anchor="t"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400" b="1" i="0" u="sng" strike="noStrike" kern="1200" cap="none" spc="0" baseline="0">
                <a:solidFill>
                  <a:srgbClr val="000000"/>
                </a:solidFill>
                <a:uFillTx/>
                <a:latin typeface="Calibri  "/>
              </a:rPr>
              <a:t>Valuation Methods 5 &amp; 6</a:t>
            </a:r>
            <a:endParaRPr lang="en-GB" sz="1400" b="1" i="0" u="sng" strike="noStrike" kern="1200" cap="none" spc="0" baseline="0">
              <a:solidFill>
                <a:srgbClr val="333333"/>
              </a:solidFill>
              <a:uFillTx/>
              <a:latin typeface="Calibri  "/>
            </a:endParaRPr>
          </a:p>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400" b="1" i="0" u="none" strike="noStrike" kern="1200" cap="none" spc="0" baseline="0">
              <a:solidFill>
                <a:srgbClr val="000000"/>
              </a:solidFill>
              <a:uFillTx/>
              <a:latin typeface="Calibri"/>
            </a:endParaRPr>
          </a:p>
          <a:p>
            <a:pPr marR="0" lvl="0" algn="l" defTabSz="914400" rtl="0" fontAlgn="auto" hangingPunct="1">
              <a:lnSpc>
                <a:spcPct val="100000"/>
              </a:lnSpc>
              <a:spcBef>
                <a:spcPts val="0"/>
              </a:spcBef>
              <a:spcAft>
                <a:spcPts val="0"/>
              </a:spcAft>
              <a:tabLst/>
              <a:defRPr sz="1800" b="0" i="0" u="none" strike="noStrike" kern="0" cap="none" spc="0" baseline="0">
                <a:solidFill>
                  <a:srgbClr val="000000"/>
                </a:solidFill>
                <a:uFillTx/>
              </a:defRPr>
            </a:pPr>
            <a:r>
              <a:rPr lang="en-GB" sz="1400" b="1" i="0">
                <a:solidFill>
                  <a:srgbClr val="0B0C0C"/>
                </a:solidFill>
                <a:effectLst/>
                <a:latin typeface="GDS Transport"/>
              </a:rPr>
              <a:t>Valuation Method 5 </a:t>
            </a:r>
            <a:r>
              <a:rPr lang="en-GB" sz="1400" b="0" i="0">
                <a:solidFill>
                  <a:srgbClr val="0B0C0C"/>
                </a:solidFill>
                <a:effectLst/>
                <a:latin typeface="GDS Transport"/>
              </a:rPr>
              <a:t>is based on the cost of the production of the goods. Usually it can only be used where the importer and supplier are related.</a:t>
            </a:r>
          </a:p>
          <a:p>
            <a:pPr algn="l"/>
            <a:r>
              <a:rPr lang="en-GB" sz="1400" b="1">
                <a:solidFill>
                  <a:srgbClr val="0B0C0C"/>
                </a:solidFill>
                <a:latin typeface="GDS Transport"/>
              </a:rPr>
              <a:t>Valuation </a:t>
            </a:r>
            <a:r>
              <a:rPr lang="en-GB" sz="1400" b="1">
                <a:solidFill>
                  <a:srgbClr val="0B0C0C"/>
                </a:solidFill>
                <a:latin typeface="Calibri  "/>
              </a:rPr>
              <a:t>Method 6 </a:t>
            </a:r>
            <a:r>
              <a:rPr lang="en-GB" sz="1400">
                <a:solidFill>
                  <a:srgbClr val="0B0C0C"/>
                </a:solidFill>
                <a:latin typeface="Calibri  "/>
              </a:rPr>
              <a:t>is called the ‘fall-back’ method. Traders must arrive at the customs value by using reasonable means that are consistent with the WTO Valuation Principles.</a:t>
            </a:r>
            <a:r>
              <a:rPr lang="en-GB" sz="1400" b="0" i="0">
                <a:solidFill>
                  <a:srgbClr val="0B0C0C"/>
                </a:solidFill>
                <a:effectLst/>
                <a:latin typeface="Calibri  "/>
              </a:rPr>
              <a:t> </a:t>
            </a:r>
            <a:r>
              <a:rPr lang="en-GB" sz="1400">
                <a:solidFill>
                  <a:srgbClr val="333333"/>
                </a:solidFill>
                <a:latin typeface="Calibri  "/>
              </a:rPr>
              <a:t>Traders may do this</a:t>
            </a:r>
            <a:r>
              <a:rPr lang="en-GB" sz="1400" b="0" i="0">
                <a:solidFill>
                  <a:srgbClr val="333333"/>
                </a:solidFill>
                <a:effectLst/>
                <a:latin typeface="Calibri  "/>
              </a:rPr>
              <a:t> by adapting Methods 1 to 5 flexibly to fit unusual circumstances</a:t>
            </a:r>
            <a:r>
              <a:rPr lang="en-GB" sz="1400" b="0" i="0">
                <a:solidFill>
                  <a:srgbClr val="333333"/>
                </a:solidFill>
                <a:effectLst/>
                <a:latin typeface="Arial" panose="020B0604020202020204" pitchFamily="34" charset="0"/>
              </a:rPr>
              <a:t>.</a:t>
            </a:r>
            <a:endParaRPr lang="en-GB" sz="1400" b="0" i="0">
              <a:solidFill>
                <a:srgbClr val="0B0C0C"/>
              </a:solidFill>
              <a:effectLst/>
              <a:latin typeface="GDS Transport"/>
            </a:endParaRPr>
          </a:p>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400">
              <a:solidFill>
                <a:srgbClr val="0B0C0C"/>
              </a:solidFill>
              <a:latin typeface="GDS Transport"/>
            </a:endParaRPr>
          </a:p>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400" b="0" i="0">
                <a:solidFill>
                  <a:srgbClr val="0B0C0C"/>
                </a:solidFill>
                <a:effectLst/>
                <a:latin typeface="GDS Transport"/>
              </a:rPr>
              <a:t>For more information regarding Valuation Methods, please visit </a:t>
            </a:r>
            <a:r>
              <a:rPr lang="en-GB" sz="1400">
                <a:hlinkClick r:id="rId4"/>
              </a:rPr>
              <a:t>Valuation of imported goods for customs purposes, VAT and trade statistics - GOV.UK</a:t>
            </a:r>
            <a:endParaRPr lang="en-GB" sz="1400" b="1" i="0" u="sng" strike="noStrike" kern="0" cap="none" spc="0" baseline="0">
              <a:solidFill>
                <a:srgbClr val="333333"/>
              </a:solidFill>
              <a:uFillTx/>
              <a:latin typeface="Calibri" pitchFamily="34"/>
              <a:ea typeface="Times New Roman" pitchFamily="18"/>
              <a:cs typeface="Times New Roman" pitchFamily="18"/>
            </a:endParaRPr>
          </a:p>
          <a:p>
            <a:pPr>
              <a:defRPr sz="1800" b="0" i="0" u="none" strike="noStrike" kern="0" cap="none" spc="0" baseline="0">
                <a:solidFill>
                  <a:srgbClr val="000000"/>
                </a:solidFill>
                <a:uFillTx/>
              </a:defRPr>
            </a:pPr>
            <a:endParaRPr lang="en-GB" sz="1400" b="1" u="sng">
              <a:solidFill>
                <a:srgbClr val="333333"/>
              </a:solidFill>
              <a:latin typeface="Calibri" pitchFamily="34"/>
              <a:ea typeface="Times New Roman" pitchFamily="18"/>
              <a:cs typeface="Times New Roman" pitchFamily="18"/>
            </a:endParaRPr>
          </a:p>
          <a:p>
            <a:pPr>
              <a:defRPr sz="1800" b="0" i="0" u="none" strike="noStrike" kern="0" cap="none" spc="0" baseline="0">
                <a:solidFill>
                  <a:srgbClr val="000000"/>
                </a:solidFill>
                <a:uFillTx/>
              </a:defRPr>
            </a:pPr>
            <a:r>
              <a:rPr lang="en-GB" sz="1400" b="1" u="none" strike="noStrike" kern="1200" cap="none" spc="0" baseline="0">
                <a:solidFill>
                  <a:srgbClr val="333333"/>
                </a:solidFill>
                <a:uFillTx/>
                <a:latin typeface="Calibri" pitchFamily="34"/>
                <a:ea typeface="Times New Roman" pitchFamily="18"/>
                <a:cs typeface="Times New Roman" pitchFamily="18"/>
              </a:rPr>
              <a:t>To </a:t>
            </a:r>
            <a:r>
              <a:rPr lang="en-GB" sz="1400" b="1" u="none" strike="noStrike" kern="1200" cap="none" spc="0" baseline="0">
                <a:solidFill>
                  <a:srgbClr val="0B0C0C"/>
                </a:solidFill>
                <a:uFillTx/>
                <a:latin typeface="Calibri  "/>
                <a:ea typeface="Times New Roman" pitchFamily="18"/>
                <a:cs typeface="Times New Roman" pitchFamily="18"/>
              </a:rPr>
              <a:t>calculate</a:t>
            </a:r>
            <a:r>
              <a:rPr lang="en-GB" sz="1400" b="1">
                <a:solidFill>
                  <a:srgbClr val="0B0C0C"/>
                </a:solidFill>
                <a:effectLst/>
                <a:latin typeface="Calibri  "/>
              </a:rPr>
              <a:t> Customs Duty and import VAT </a:t>
            </a:r>
            <a:r>
              <a:rPr lang="en-GB" sz="1400" b="1">
                <a:solidFill>
                  <a:srgbClr val="0B0C0C"/>
                </a:solidFill>
                <a:latin typeface="Calibri  "/>
              </a:rPr>
              <a:t>using </a:t>
            </a:r>
            <a:r>
              <a:rPr lang="en-GB" sz="1400" b="1" u="none" strike="noStrike" kern="1200" cap="none" spc="0" baseline="0">
                <a:solidFill>
                  <a:srgbClr val="333333"/>
                </a:solidFill>
                <a:uFillTx/>
                <a:latin typeface="Calibri  "/>
                <a:ea typeface="Times New Roman" pitchFamily="18"/>
                <a:cs typeface="Times New Roman" pitchFamily="18"/>
              </a:rPr>
              <a:t>Valuation Methods 5 or 6,</a:t>
            </a:r>
            <a:endParaRPr lang="en-GB" sz="1400" u="none" strike="noStrike" kern="1200" cap="none" spc="0" baseline="0">
              <a:solidFill>
                <a:srgbClr val="0B0C0C"/>
              </a:solidFill>
              <a:uFillTx/>
              <a:latin typeface="GDS Transport"/>
              <a:ea typeface="Times New Roman" pitchFamily="18"/>
              <a:cs typeface="Times New Roman" pitchFamily="18"/>
            </a:endParaRPr>
          </a:p>
          <a:p>
            <a:pPr marL="742950" lvl="1" indent="-285750">
              <a:buFont typeface="Arial" panose="020B0604020202020204" pitchFamily="34" charset="0"/>
              <a:buChar char="•"/>
              <a:defRPr sz="1800" b="0" i="0" u="none" strike="noStrike" kern="0" cap="none" spc="0" baseline="0">
                <a:solidFill>
                  <a:srgbClr val="000000"/>
                </a:solidFill>
                <a:uFillTx/>
              </a:defRPr>
            </a:pPr>
            <a:r>
              <a:rPr lang="en-GB" sz="1400" b="0" i="0">
                <a:solidFill>
                  <a:srgbClr val="0B0C0C"/>
                </a:solidFill>
                <a:effectLst/>
                <a:latin typeface="GDS Transport"/>
                <a:cs typeface="Times New Roman" pitchFamily="18"/>
              </a:rPr>
              <a:t>Traders </a:t>
            </a:r>
            <a:r>
              <a:rPr lang="en-GB" sz="1400" b="0" i="0">
                <a:solidFill>
                  <a:srgbClr val="333333"/>
                </a:solidFill>
                <a:effectLst/>
                <a:latin typeface="Calibri  "/>
              </a:rPr>
              <a:t>must declare ‘Valuation Method = either 5 or 6’ in DE 4/16, in addition to the below </a:t>
            </a:r>
            <a:r>
              <a:rPr lang="en-GB" sz="1400" b="1" i="0">
                <a:solidFill>
                  <a:srgbClr val="333333"/>
                </a:solidFill>
                <a:effectLst/>
                <a:latin typeface="Calibri  "/>
              </a:rPr>
              <a:t>mandatory</a:t>
            </a:r>
            <a:r>
              <a:rPr lang="en-GB" sz="1400" b="0" i="0">
                <a:solidFill>
                  <a:srgbClr val="333333"/>
                </a:solidFill>
                <a:effectLst/>
                <a:latin typeface="Calibri  "/>
              </a:rPr>
              <a:t> requirements:</a:t>
            </a:r>
          </a:p>
          <a:p>
            <a:pPr marL="1714500" lvl="3" indent="-342900">
              <a:buFont typeface="+mj-lt"/>
              <a:buAutoNum type="arabicPeriod"/>
              <a:defRPr sz="1800" b="0" i="0" u="none" strike="noStrike" kern="0" cap="none" spc="0" baseline="0">
                <a:solidFill>
                  <a:srgbClr val="000000"/>
                </a:solidFill>
                <a:uFillTx/>
              </a:defRPr>
            </a:pPr>
            <a:r>
              <a:rPr lang="en-GB" sz="1400" b="0" i="0">
                <a:solidFill>
                  <a:srgbClr val="333333"/>
                </a:solidFill>
                <a:effectLst/>
                <a:latin typeface="Calibri  "/>
              </a:rPr>
              <a:t>Item Price in DE 4/14</a:t>
            </a:r>
          </a:p>
          <a:p>
            <a:pPr marL="1714500" lvl="3" indent="-342900">
              <a:buFont typeface="+mj-lt"/>
              <a:buAutoNum type="arabicPeriod"/>
              <a:defRPr sz="1800" b="0" i="0" u="none" strike="noStrike" kern="0" cap="none" spc="0" baseline="0">
                <a:solidFill>
                  <a:srgbClr val="000000"/>
                </a:solidFill>
                <a:uFillTx/>
              </a:defRPr>
            </a:pPr>
            <a:r>
              <a:rPr lang="en-GB" sz="1400" b="0" i="0">
                <a:solidFill>
                  <a:srgbClr val="333333"/>
                </a:solidFill>
                <a:effectLst/>
                <a:latin typeface="Calibri  "/>
              </a:rPr>
              <a:t>APC = 000 or a Non Valuation Specific APC in DE 1/11 </a:t>
            </a:r>
          </a:p>
          <a:p>
            <a:pPr marL="1714500" lvl="3" indent="-342900">
              <a:buFont typeface="+mj-lt"/>
              <a:buAutoNum type="arabicPeriod"/>
              <a:defRPr sz="1800" b="0" i="0" u="none" strike="noStrike" kern="0" cap="none" spc="0" baseline="0">
                <a:solidFill>
                  <a:srgbClr val="000000"/>
                </a:solidFill>
                <a:uFillTx/>
              </a:defRPr>
            </a:pPr>
            <a:r>
              <a:rPr lang="en-GB" sz="1400" b="0" i="0">
                <a:solidFill>
                  <a:srgbClr val="333333"/>
                </a:solidFill>
                <a:effectLst/>
                <a:latin typeface="Calibri  "/>
              </a:rPr>
              <a:t>Document Code = 9WKS in DE 2/3 - and Document Status = AC in DE 2/3 </a:t>
            </a:r>
          </a:p>
          <a:p>
            <a:pPr lvl="1">
              <a:defRPr sz="1800" b="0" i="0" u="none" strike="noStrike" kern="0" cap="none" spc="0" baseline="0">
                <a:solidFill>
                  <a:srgbClr val="000000"/>
                </a:solidFill>
                <a:uFillTx/>
              </a:defRPr>
            </a:pPr>
            <a:endParaRPr lang="en-GB" sz="1400">
              <a:solidFill>
                <a:srgbClr val="333333"/>
              </a:solidFill>
              <a:latin typeface="Calibri  "/>
            </a:endParaRPr>
          </a:p>
          <a:p>
            <a:pPr marL="742950" lvl="1" indent="-285750">
              <a:buFont typeface="Arial" panose="020B0604020202020204" pitchFamily="34" charset="0"/>
              <a:buChar char="•"/>
              <a:defRPr sz="1800" b="0" i="0" u="none" strike="noStrike" kern="0" cap="none" spc="0" baseline="0">
                <a:solidFill>
                  <a:srgbClr val="000000"/>
                </a:solidFill>
                <a:uFillTx/>
              </a:defRPr>
            </a:pPr>
            <a:r>
              <a:rPr lang="en-GB" sz="1400">
                <a:solidFill>
                  <a:srgbClr val="0B0C0C"/>
                </a:solidFill>
                <a:effectLst/>
                <a:latin typeface="GDS Transport"/>
                <a:cs typeface="Times New Roman" pitchFamily="18"/>
              </a:rPr>
              <a:t>Tr</a:t>
            </a:r>
            <a:r>
              <a:rPr lang="en-GB" sz="1400">
                <a:solidFill>
                  <a:srgbClr val="0B0C0C"/>
                </a:solidFill>
                <a:latin typeface="GDS Transport"/>
                <a:cs typeface="Times New Roman" pitchFamily="18"/>
              </a:rPr>
              <a:t>aders must declare the </a:t>
            </a:r>
            <a:r>
              <a:rPr lang="en-GB" sz="1400" i="0">
                <a:solidFill>
                  <a:srgbClr val="333333"/>
                </a:solidFill>
                <a:effectLst/>
                <a:latin typeface="Calibri  "/>
              </a:rPr>
              <a:t>following data elements:</a:t>
            </a:r>
          </a:p>
          <a:p>
            <a:pPr marL="1600200" lvl="3" indent="-228600">
              <a:buFont typeface="+mj-lt"/>
              <a:buAutoNum type="arabicPeriod"/>
            </a:pPr>
            <a:r>
              <a:rPr lang="en-GB" sz="1400" b="0" i="0">
                <a:solidFill>
                  <a:srgbClr val="333333"/>
                </a:solidFill>
                <a:effectLst/>
                <a:latin typeface="Calibri  "/>
              </a:rPr>
              <a:t>Combined Nomenclature in DE 6/14</a:t>
            </a:r>
          </a:p>
          <a:p>
            <a:pPr marL="1600200" lvl="3" indent="-228600">
              <a:buFont typeface="+mj-lt"/>
              <a:buAutoNum type="arabicPeriod"/>
            </a:pPr>
            <a:r>
              <a:rPr lang="en-GB" sz="1400" b="0" i="0">
                <a:solidFill>
                  <a:srgbClr val="333333"/>
                </a:solidFill>
                <a:effectLst/>
                <a:latin typeface="Calibri  "/>
              </a:rPr>
              <a:t>TARIC code in DE 6/15</a:t>
            </a:r>
          </a:p>
          <a:p>
            <a:pPr marL="1600200" lvl="3" indent="-228600">
              <a:buFont typeface="+mj-lt"/>
              <a:buAutoNum type="arabicPeriod"/>
            </a:pPr>
            <a:r>
              <a:rPr lang="en-GB" sz="1400" b="0" i="0">
                <a:solidFill>
                  <a:srgbClr val="333333"/>
                </a:solidFill>
                <a:effectLst/>
                <a:latin typeface="Calibri  "/>
              </a:rPr>
              <a:t>Net Mass in DE 6/1</a:t>
            </a:r>
          </a:p>
          <a:p>
            <a:pPr marL="1600200" lvl="3" indent="-228600">
              <a:buFont typeface="+mj-lt"/>
              <a:buAutoNum type="arabicPeriod"/>
            </a:pPr>
            <a:r>
              <a:rPr lang="en-GB" sz="1400" b="0" i="0">
                <a:solidFill>
                  <a:srgbClr val="333333"/>
                </a:solidFill>
                <a:effectLst/>
                <a:latin typeface="Calibri  "/>
              </a:rPr>
              <a:t>Country of Origin in 5/15 </a:t>
            </a:r>
            <a:r>
              <a:rPr lang="en-GB" sz="1400" b="1" i="0">
                <a:solidFill>
                  <a:srgbClr val="333333"/>
                </a:solidFill>
                <a:effectLst/>
                <a:latin typeface="Calibri  "/>
              </a:rPr>
              <a:t>or</a:t>
            </a:r>
            <a:r>
              <a:rPr lang="en-GB" sz="1400" b="0" i="0">
                <a:solidFill>
                  <a:srgbClr val="333333"/>
                </a:solidFill>
                <a:effectLst/>
                <a:latin typeface="Calibri  "/>
              </a:rPr>
              <a:t> 5/16 Country of Preferential Origin </a:t>
            </a:r>
          </a:p>
          <a:p>
            <a:pPr marL="1600200" lvl="3" indent="-228600">
              <a:buFont typeface="+mj-lt"/>
              <a:buAutoNum type="arabicPeriod"/>
            </a:pPr>
            <a:endParaRPr lang="en-GB" sz="1400" b="0" i="0">
              <a:solidFill>
                <a:srgbClr val="333333"/>
              </a:solidFill>
              <a:effectLst/>
              <a:latin typeface="Calibri  "/>
            </a:endParaRPr>
          </a:p>
          <a:p>
            <a:pPr lvl="1">
              <a:defRPr sz="1800" b="0" i="0" u="none" strike="noStrike" kern="0" cap="none" spc="0" baseline="0">
                <a:solidFill>
                  <a:srgbClr val="000000"/>
                </a:solidFill>
                <a:uFillTx/>
              </a:defRPr>
            </a:pPr>
            <a:r>
              <a:rPr lang="en-GB" sz="1400" b="0" i="0">
                <a:solidFill>
                  <a:srgbClr val="333333"/>
                </a:solidFill>
                <a:effectLst/>
                <a:latin typeface="Calibri  "/>
              </a:rPr>
              <a:t>If any of the above data elements are not provided, CDS </a:t>
            </a:r>
            <a:r>
              <a:rPr lang="en-GB" sz="1400">
                <a:solidFill>
                  <a:srgbClr val="333333"/>
                </a:solidFill>
                <a:latin typeface="Calibri  "/>
              </a:rPr>
              <a:t>will </a:t>
            </a:r>
            <a:r>
              <a:rPr lang="en-GB" sz="1400" b="1">
                <a:solidFill>
                  <a:srgbClr val="333333"/>
                </a:solidFill>
                <a:latin typeface="Calibri  "/>
              </a:rPr>
              <a:t>reject</a:t>
            </a:r>
            <a:r>
              <a:rPr lang="en-GB" sz="1400">
                <a:solidFill>
                  <a:srgbClr val="333333"/>
                </a:solidFill>
                <a:latin typeface="Calibri  "/>
              </a:rPr>
              <a:t> the declaration and send a </a:t>
            </a:r>
            <a:r>
              <a:rPr lang="en-GB" sz="1400" b="0" i="0">
                <a:solidFill>
                  <a:srgbClr val="333333"/>
                </a:solidFill>
                <a:effectLst/>
                <a:latin typeface="Calibri  "/>
              </a:rPr>
              <a:t>DMSREJ notification to the trader.</a:t>
            </a:r>
          </a:p>
          <a:p>
            <a:pPr lvl="1">
              <a:defRPr sz="1800" b="0" i="0" u="none" strike="noStrike" kern="0" cap="none" spc="0" baseline="0">
                <a:solidFill>
                  <a:srgbClr val="000000"/>
                </a:solidFill>
                <a:uFillTx/>
              </a:defRPr>
            </a:pPr>
            <a:endParaRPr lang="en-GB" sz="1400">
              <a:solidFill>
                <a:srgbClr val="333333"/>
              </a:solidFill>
              <a:latin typeface="Calibri  "/>
            </a:endParaRPr>
          </a:p>
          <a:p>
            <a:pPr marL="742950" lvl="1" indent="-285750">
              <a:buFont typeface="Arial" panose="020B0604020202020204" pitchFamily="34" charset="0"/>
              <a:buChar char="•"/>
              <a:defRPr sz="1800" b="0" i="0" u="none" strike="noStrike" kern="0" cap="none" spc="0" baseline="0">
                <a:solidFill>
                  <a:srgbClr val="000000"/>
                </a:solidFill>
                <a:uFillTx/>
              </a:defRPr>
            </a:pPr>
            <a:r>
              <a:rPr lang="en-GB" sz="1400" i="0" strike="noStrike" kern="1200" cap="none" spc="0" baseline="0">
                <a:solidFill>
                  <a:srgbClr val="333333"/>
                </a:solidFill>
                <a:uFillTx/>
                <a:latin typeface="Calibri" pitchFamily="34"/>
                <a:ea typeface="Times New Roman" pitchFamily="18"/>
                <a:cs typeface="Times New Roman" pitchFamily="18"/>
              </a:rPr>
              <a:t>Traders may declare any </a:t>
            </a:r>
            <a:r>
              <a:rPr lang="en-GB" sz="1400" i="0" strike="noStrike" kern="1200" cap="none" spc="0" baseline="0">
                <a:solidFill>
                  <a:srgbClr val="333333"/>
                </a:solidFill>
                <a:uFillTx/>
                <a:latin typeface="Calibri" pitchFamily="34"/>
                <a:ea typeface="Times New Roman" pitchFamily="18"/>
                <a:cs typeface="Times New Roman" pitchFamily="18"/>
                <a:hlinkClick r:id="rId5" action="ppaction://hlinksldjump"/>
              </a:rPr>
              <a:t>additional </a:t>
            </a:r>
            <a:r>
              <a:rPr lang="en-GB" sz="1400">
                <a:solidFill>
                  <a:srgbClr val="333333"/>
                </a:solidFill>
                <a:latin typeface="Calibri" pitchFamily="34"/>
                <a:ea typeface="Times New Roman" pitchFamily="18"/>
                <a:cs typeface="Times New Roman" pitchFamily="18"/>
                <a:hlinkClick r:id="rId5" action="ppaction://hlinksldjump"/>
              </a:rPr>
              <a:t>d</a:t>
            </a:r>
            <a:r>
              <a:rPr lang="en-GB" sz="1400" i="0" strike="noStrike" kern="1200" cap="none" spc="0" baseline="0">
                <a:solidFill>
                  <a:srgbClr val="333333"/>
                </a:solidFill>
                <a:uFillTx/>
                <a:latin typeface="Calibri" pitchFamily="34"/>
                <a:ea typeface="Times New Roman" pitchFamily="18"/>
                <a:cs typeface="Times New Roman" pitchFamily="18"/>
                <a:hlinkClick r:id="rId5" action="ppaction://hlinksldjump"/>
              </a:rPr>
              <a:t>ata elements</a:t>
            </a:r>
            <a:endParaRPr lang="en-GB" sz="1400">
              <a:solidFill>
                <a:srgbClr val="333333"/>
              </a:solidFill>
              <a:latin typeface="Calibri  "/>
            </a:endParaRPr>
          </a:p>
          <a:p>
            <a:pPr marL="742950" lvl="1" indent="-285750">
              <a:buFont typeface="Arial" panose="020B0604020202020204" pitchFamily="34" charset="0"/>
              <a:buChar char="•"/>
              <a:defRPr sz="1800" b="0" i="0" u="none" strike="noStrike" kern="0" cap="none" spc="0" baseline="0">
                <a:solidFill>
                  <a:srgbClr val="000000"/>
                </a:solidFill>
                <a:uFillTx/>
              </a:defRPr>
            </a:pPr>
            <a:endParaRPr lang="en-GB" sz="1400" b="0" i="0">
              <a:solidFill>
                <a:srgbClr val="333333"/>
              </a:solidFill>
              <a:effectLst/>
              <a:latin typeface="Calibri  "/>
            </a:endParaRPr>
          </a:p>
          <a:p>
            <a:pPr lvl="1">
              <a:defRPr sz="1800" b="0" i="0" u="none" strike="noStrike" kern="0" cap="none" spc="0" baseline="0">
                <a:solidFill>
                  <a:srgbClr val="000000"/>
                </a:solidFill>
                <a:uFillTx/>
              </a:defRPr>
            </a:pPr>
            <a:endParaRPr lang="en-GB" sz="1400" b="0" i="0">
              <a:solidFill>
                <a:srgbClr val="333333"/>
              </a:solidFill>
              <a:effectLst/>
              <a:latin typeface="Calibri  "/>
            </a:endParaRPr>
          </a:p>
        </p:txBody>
      </p:sp>
      <p:sp>
        <p:nvSpPr>
          <p:cNvPr id="9" name="Rectangle 7">
            <a:extLst>
              <a:ext uri="{FF2B5EF4-FFF2-40B4-BE49-F238E27FC236}">
                <a16:creationId xmlns:a16="http://schemas.microsoft.com/office/drawing/2014/main" id="{1D8D1562-0018-41BA-A48C-A37EADF9508A}"/>
              </a:ext>
            </a:extLst>
          </p:cNvPr>
          <p:cNvSpPr/>
          <p:nvPr/>
        </p:nvSpPr>
        <p:spPr>
          <a:xfrm>
            <a:off x="465155" y="799761"/>
            <a:ext cx="3563745" cy="400114"/>
          </a:xfrm>
          <a:prstGeom prst="rect">
            <a:avLst/>
          </a:prstGeom>
          <a:solidFill>
            <a:srgbClr val="009999"/>
          </a:solidFill>
          <a:ln w="25402" cap="flat">
            <a:solidFill>
              <a:srgbClr val="009999"/>
            </a:solidFill>
            <a:prstDash val="solid"/>
            <a:miter/>
          </a:ln>
        </p:spPr>
        <p:txBody>
          <a:bodyPr vert="horz" wrap="square" lIns="91440" tIns="45720" rIns="91440" bIns="4572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2400" b="1" i="0" u="none" strike="noStrike" kern="0" cap="none" spc="0" baseline="0">
                <a:solidFill>
                  <a:srgbClr val="FFFFFF"/>
                </a:solidFill>
                <a:uFillTx/>
                <a:latin typeface="Calibri"/>
              </a:rPr>
              <a:t>New Release Functionality</a:t>
            </a:r>
          </a:p>
        </p:txBody>
      </p:sp>
    </p:spTree>
    <p:extLst>
      <p:ext uri="{BB962C8B-B14F-4D97-AF65-F5344CB8AC3E}">
        <p14:creationId xmlns:p14="http://schemas.microsoft.com/office/powerpoint/2010/main" val="93292048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Straight Connector 17">
            <a:extLst>
              <a:ext uri="{FF2B5EF4-FFF2-40B4-BE49-F238E27FC236}">
                <a16:creationId xmlns:a16="http://schemas.microsoft.com/office/drawing/2014/main" id="{9B1C5015-9F3B-4B9F-9031-945A7E68949E}"/>
              </a:ext>
            </a:extLst>
          </p:cNvPr>
          <p:cNvCxnSpPr/>
          <p:nvPr/>
        </p:nvCxnSpPr>
        <p:spPr>
          <a:xfrm>
            <a:off x="325937" y="186903"/>
            <a:ext cx="0" cy="422050"/>
          </a:xfrm>
          <a:prstGeom prst="straightConnector1">
            <a:avLst/>
          </a:prstGeom>
          <a:noFill/>
          <a:ln w="28575" cap="flat">
            <a:solidFill>
              <a:srgbClr val="D9D9D9"/>
            </a:solidFill>
            <a:prstDash val="solid"/>
            <a:miter/>
          </a:ln>
        </p:spPr>
      </p:cxnSp>
      <p:cxnSp>
        <p:nvCxnSpPr>
          <p:cNvPr id="3" name="Straight Connector 11">
            <a:extLst>
              <a:ext uri="{FF2B5EF4-FFF2-40B4-BE49-F238E27FC236}">
                <a16:creationId xmlns:a16="http://schemas.microsoft.com/office/drawing/2014/main" id="{D6C11640-FA3E-46E5-B9A7-E7F359123CA6}"/>
              </a:ext>
            </a:extLst>
          </p:cNvPr>
          <p:cNvCxnSpPr/>
          <p:nvPr/>
        </p:nvCxnSpPr>
        <p:spPr>
          <a:xfrm>
            <a:off x="319116" y="186903"/>
            <a:ext cx="0" cy="422050"/>
          </a:xfrm>
          <a:prstGeom prst="straightConnector1">
            <a:avLst/>
          </a:prstGeom>
          <a:noFill/>
          <a:ln w="28575" cap="flat">
            <a:solidFill>
              <a:srgbClr val="D9D9D9"/>
            </a:solidFill>
            <a:prstDash val="solid"/>
            <a:miter/>
          </a:ln>
        </p:spPr>
      </p:cxnSp>
      <p:sp>
        <p:nvSpPr>
          <p:cNvPr id="4" name="TextBox 12">
            <a:extLst>
              <a:ext uri="{FF2B5EF4-FFF2-40B4-BE49-F238E27FC236}">
                <a16:creationId xmlns:a16="http://schemas.microsoft.com/office/drawing/2014/main" id="{82E393B6-AA11-4414-8B14-89201222C078}"/>
              </a:ext>
            </a:extLst>
          </p:cNvPr>
          <p:cNvSpPr txBox="1"/>
          <p:nvPr/>
        </p:nvSpPr>
        <p:spPr>
          <a:xfrm>
            <a:off x="363967" y="248844"/>
            <a:ext cx="2321725" cy="307777"/>
          </a:xfrm>
          <a:prstGeom prst="rect">
            <a:avLst/>
          </a:prstGeom>
          <a:noFill/>
          <a:ln cap="flat">
            <a:noFill/>
          </a:ln>
        </p:spPr>
        <p:txBody>
          <a:bodyPr vert="horz" wrap="none" lIns="91440" tIns="45720" rIns="91440" bIns="45720" anchor="t"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400" b="1" i="0" u="none" strike="noStrike" kern="1200" cap="none" spc="50" baseline="0">
                <a:solidFill>
                  <a:srgbClr val="A6A6A6"/>
                </a:solidFill>
                <a:uFillTx/>
                <a:latin typeface="Calibri"/>
              </a:rPr>
              <a:t>RELEASE SCOPE GUIDANCE</a:t>
            </a:r>
          </a:p>
        </p:txBody>
      </p:sp>
      <p:pic>
        <p:nvPicPr>
          <p:cNvPr id="5" name="Picture 106" descr="57% HMRCppt logo">
            <a:extLst>
              <a:ext uri="{FF2B5EF4-FFF2-40B4-BE49-F238E27FC236}">
                <a16:creationId xmlns:a16="http://schemas.microsoft.com/office/drawing/2014/main" id="{0BC784A9-9201-4F3E-BE97-6490FAA7E8BD}"/>
              </a:ext>
            </a:extLst>
          </p:cNvPr>
          <p:cNvPicPr>
            <a:picLocks noChangeAspect="1"/>
          </p:cNvPicPr>
          <p:nvPr/>
        </p:nvPicPr>
        <p:blipFill>
          <a:blip r:embed="rId3"/>
          <a:srcRect/>
          <a:stretch>
            <a:fillRect/>
          </a:stretch>
        </p:blipFill>
        <p:spPr>
          <a:xfrm>
            <a:off x="446099" y="5929033"/>
            <a:ext cx="1030227" cy="633980"/>
          </a:xfrm>
          <a:prstGeom prst="rect">
            <a:avLst/>
          </a:prstGeom>
          <a:noFill/>
          <a:ln cap="flat">
            <a:noFill/>
          </a:ln>
        </p:spPr>
      </p:pic>
      <p:sp>
        <p:nvSpPr>
          <p:cNvPr id="6" name="Slide Number Placeholder 5">
            <a:extLst>
              <a:ext uri="{FF2B5EF4-FFF2-40B4-BE49-F238E27FC236}">
                <a16:creationId xmlns:a16="http://schemas.microsoft.com/office/drawing/2014/main" id="{088903D6-C05B-4410-B6CD-4649B65A9E13}"/>
              </a:ext>
            </a:extLst>
          </p:cNvPr>
          <p:cNvSpPr txBox="1"/>
          <p:nvPr/>
        </p:nvSpPr>
        <p:spPr>
          <a:xfrm>
            <a:off x="11526231" y="6387897"/>
            <a:ext cx="443849" cy="365129"/>
          </a:xfrm>
          <a:prstGeom prst="rect">
            <a:avLst/>
          </a:prstGeom>
          <a:noFill/>
          <a:ln cap="flat">
            <a:noFill/>
          </a:ln>
        </p:spPr>
        <p:txBody>
          <a:bodyPr vert="horz" wrap="square" lIns="91440" tIns="45720" rIns="91440" bIns="45720" anchor="ctr" anchorCtr="0" compatLnSpc="1">
            <a:noAutofit/>
          </a:bodyPr>
          <a:lstStyle/>
          <a:p>
            <a:pPr marL="0" marR="0" lvl="0" indent="0" algn="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fld id="{F8C6FEBB-F102-4DFE-971D-92B3DA2FF58F}" type="slidenum">
              <a:rPr/>
              <a:t>14</a:t>
            </a:fld>
            <a:endParaRPr lang="en-GB" sz="900" b="0" i="0" u="none" strike="noStrike" kern="1200" cap="none" spc="0" baseline="0">
              <a:solidFill>
                <a:srgbClr val="000000"/>
              </a:solidFill>
              <a:uFillTx/>
              <a:latin typeface="Calibri"/>
            </a:endParaRPr>
          </a:p>
        </p:txBody>
      </p:sp>
      <p:sp>
        <p:nvSpPr>
          <p:cNvPr id="7" name="Footer Placeholder 1">
            <a:extLst>
              <a:ext uri="{FF2B5EF4-FFF2-40B4-BE49-F238E27FC236}">
                <a16:creationId xmlns:a16="http://schemas.microsoft.com/office/drawing/2014/main" id="{DFFE456A-FB86-47CB-977A-B3ED841E1946}"/>
              </a:ext>
            </a:extLst>
          </p:cNvPr>
          <p:cNvSpPr txBox="1"/>
          <p:nvPr/>
        </p:nvSpPr>
        <p:spPr>
          <a:xfrm>
            <a:off x="2943801" y="6490776"/>
            <a:ext cx="8737604" cy="144466"/>
          </a:xfrm>
          <a:prstGeom prst="rect">
            <a:avLst/>
          </a:prstGeom>
          <a:noFill/>
          <a:ln cap="flat">
            <a:noFill/>
          </a:ln>
        </p:spPr>
        <p:txBody>
          <a:bodyPr vert="horz" wrap="square" lIns="0" tIns="0" rIns="0" bIns="0" anchor="ctr" anchorCtr="0" compatLnSpc="1">
            <a:noAutofit/>
          </a:bodyPr>
          <a:lstStyle/>
          <a:p>
            <a:pPr marL="0" marR="0" lvl="0" indent="0" algn="r"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r>
              <a:rPr lang="en-GB" sz="900" b="0" i="0" u="none" strike="noStrike" kern="1200" cap="none" spc="0" baseline="0">
                <a:solidFill>
                  <a:srgbClr val="3B3A3D"/>
                </a:solidFill>
                <a:uFillTx/>
                <a:latin typeface="Calibri"/>
                <a:ea typeface="Geneva"/>
                <a:cs typeface="Arial"/>
              </a:rPr>
              <a:t>OFFICIAL | CDS External Release Scope Guidance Document |</a:t>
            </a:r>
            <a:endParaRPr lang="en-GB" sz="900" b="1" i="0" u="none" strike="noStrike" kern="1200" cap="none" spc="0" baseline="0">
              <a:solidFill>
                <a:srgbClr val="008D8E"/>
              </a:solidFill>
              <a:uFillTx/>
              <a:latin typeface="Calibri"/>
              <a:ea typeface="Geneva"/>
              <a:cs typeface="Arial"/>
            </a:endParaRPr>
          </a:p>
        </p:txBody>
      </p:sp>
      <p:sp>
        <p:nvSpPr>
          <p:cNvPr id="8" name="Rectangle 13">
            <a:extLst>
              <a:ext uri="{FF2B5EF4-FFF2-40B4-BE49-F238E27FC236}">
                <a16:creationId xmlns:a16="http://schemas.microsoft.com/office/drawing/2014/main" id="{48964C8A-D9D1-4D9A-BC67-67F10BDD0F54}"/>
              </a:ext>
            </a:extLst>
          </p:cNvPr>
          <p:cNvSpPr/>
          <p:nvPr/>
        </p:nvSpPr>
        <p:spPr>
          <a:xfrm>
            <a:off x="444686" y="1199875"/>
            <a:ext cx="11282159" cy="1169551"/>
          </a:xfrm>
          <a:prstGeom prst="rect">
            <a:avLst/>
          </a:prstGeom>
          <a:noFill/>
          <a:ln cap="flat">
            <a:noFill/>
            <a:prstDash val="solid"/>
          </a:ln>
        </p:spPr>
        <p:txBody>
          <a:bodyPr vert="horz" wrap="square" lIns="91440" tIns="45720" rIns="91440" bIns="45720" anchor="t"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400" b="1" i="0" u="sng" strike="noStrike" kern="1200" cap="none" spc="0" baseline="0">
                <a:solidFill>
                  <a:srgbClr val="000000"/>
                </a:solidFill>
                <a:uFillTx/>
                <a:latin typeface="Calibri"/>
              </a:rPr>
              <a:t>Valuation Methods 5 &amp; 6</a:t>
            </a:r>
            <a:endParaRPr lang="en-GB" sz="1400" b="1" i="0" u="sng" strike="noStrike" kern="1200" cap="none" spc="0" baseline="0">
              <a:solidFill>
                <a:srgbClr val="333333"/>
              </a:solidFill>
              <a:uFillTx/>
              <a:latin typeface="Calibri  "/>
            </a:endParaRPr>
          </a:p>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400" b="1" i="0" u="none" strike="noStrike" kern="1200" cap="none" spc="0" baseline="0">
              <a:solidFill>
                <a:srgbClr val="000000"/>
              </a:solidFill>
              <a:uFillTx/>
              <a:latin typeface="Calibri"/>
            </a:endParaRPr>
          </a:p>
          <a:p>
            <a:pPr marR="0" lvl="0" algn="l" defTabSz="914400" rtl="0" fontAlgn="auto" hangingPunct="1">
              <a:lnSpc>
                <a:spcPct val="100000"/>
              </a:lnSpc>
              <a:spcBef>
                <a:spcPts val="0"/>
              </a:spcBef>
              <a:spcAft>
                <a:spcPts val="0"/>
              </a:spcAft>
              <a:tabLst/>
              <a:defRPr sz="1800" b="0" i="0" u="none" strike="noStrike" kern="0" cap="none" spc="0" baseline="0">
                <a:solidFill>
                  <a:srgbClr val="000000"/>
                </a:solidFill>
                <a:uFillTx/>
              </a:defRPr>
            </a:pPr>
            <a:r>
              <a:rPr lang="en-GB" sz="1400" b="1" i="0">
                <a:solidFill>
                  <a:srgbClr val="0B0C0C"/>
                </a:solidFill>
                <a:effectLst/>
                <a:latin typeface="GDS Transport"/>
              </a:rPr>
              <a:t>                                                      Valid Combinations for Valuation Methods 5 &amp; 6 </a:t>
            </a:r>
            <a:endParaRPr lang="en-GB" sz="1400">
              <a:solidFill>
                <a:srgbClr val="333333"/>
              </a:solidFill>
              <a:latin typeface="Calibri  "/>
            </a:endParaRPr>
          </a:p>
          <a:p>
            <a:pPr marL="742950" lvl="1" indent="-285750">
              <a:buFont typeface="Arial" panose="020B0604020202020204" pitchFamily="34" charset="0"/>
              <a:buChar char="•"/>
              <a:defRPr sz="1800" b="0" i="0" u="none" strike="noStrike" kern="0" cap="none" spc="0" baseline="0">
                <a:solidFill>
                  <a:srgbClr val="000000"/>
                </a:solidFill>
                <a:uFillTx/>
              </a:defRPr>
            </a:pPr>
            <a:endParaRPr lang="en-GB" sz="1400" b="0" i="0">
              <a:solidFill>
                <a:srgbClr val="333333"/>
              </a:solidFill>
              <a:effectLst/>
              <a:latin typeface="Calibri  "/>
            </a:endParaRPr>
          </a:p>
          <a:p>
            <a:pPr lvl="1">
              <a:defRPr sz="1800" b="0" i="0" u="none" strike="noStrike" kern="0" cap="none" spc="0" baseline="0">
                <a:solidFill>
                  <a:srgbClr val="000000"/>
                </a:solidFill>
                <a:uFillTx/>
              </a:defRPr>
            </a:pPr>
            <a:endParaRPr lang="en-GB" sz="1400" b="0" i="0">
              <a:solidFill>
                <a:srgbClr val="333333"/>
              </a:solidFill>
              <a:effectLst/>
              <a:latin typeface="Calibri  "/>
            </a:endParaRPr>
          </a:p>
        </p:txBody>
      </p:sp>
      <p:sp>
        <p:nvSpPr>
          <p:cNvPr id="9" name="Rectangle 7">
            <a:extLst>
              <a:ext uri="{FF2B5EF4-FFF2-40B4-BE49-F238E27FC236}">
                <a16:creationId xmlns:a16="http://schemas.microsoft.com/office/drawing/2014/main" id="{1D8D1562-0018-41BA-A48C-A37EADF9508A}"/>
              </a:ext>
            </a:extLst>
          </p:cNvPr>
          <p:cNvSpPr/>
          <p:nvPr/>
        </p:nvSpPr>
        <p:spPr>
          <a:xfrm>
            <a:off x="465155" y="799761"/>
            <a:ext cx="3563745" cy="400114"/>
          </a:xfrm>
          <a:prstGeom prst="rect">
            <a:avLst/>
          </a:prstGeom>
          <a:solidFill>
            <a:srgbClr val="009999"/>
          </a:solidFill>
          <a:ln w="25402" cap="flat">
            <a:solidFill>
              <a:srgbClr val="009999"/>
            </a:solidFill>
            <a:prstDash val="solid"/>
            <a:miter/>
          </a:ln>
        </p:spPr>
        <p:txBody>
          <a:bodyPr vert="horz" wrap="square" lIns="91440" tIns="45720" rIns="91440" bIns="4572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2400" b="1" i="0" u="none" strike="noStrike" kern="0" cap="none" spc="0" baseline="0">
                <a:solidFill>
                  <a:srgbClr val="FFFFFF"/>
                </a:solidFill>
                <a:uFillTx/>
                <a:latin typeface="Calibri"/>
              </a:rPr>
              <a:t>New Release Functionality</a:t>
            </a:r>
          </a:p>
        </p:txBody>
      </p:sp>
      <p:graphicFrame>
        <p:nvGraphicFramePr>
          <p:cNvPr id="10" name="Table 9">
            <a:extLst>
              <a:ext uri="{FF2B5EF4-FFF2-40B4-BE49-F238E27FC236}">
                <a16:creationId xmlns:a16="http://schemas.microsoft.com/office/drawing/2014/main" id="{24D92014-8C00-4E3C-BF17-45DF724F36A8}"/>
              </a:ext>
            </a:extLst>
          </p:cNvPr>
          <p:cNvGraphicFramePr>
            <a:graphicFrameLocks noGrp="1"/>
          </p:cNvGraphicFramePr>
          <p:nvPr/>
        </p:nvGraphicFramePr>
        <p:xfrm>
          <a:off x="2685692" y="1920046"/>
          <a:ext cx="6913817" cy="1016545"/>
        </p:xfrm>
        <a:graphic>
          <a:graphicData uri="http://schemas.openxmlformats.org/drawingml/2006/table">
            <a:tbl>
              <a:tblPr firstRow="1" bandRow="1">
                <a:effectLst/>
                <a:tableStyleId>{5C22544A-7EE6-4342-B048-85BDC9FD1C3A}</a:tableStyleId>
              </a:tblPr>
              <a:tblGrid>
                <a:gridCol w="1193753">
                  <a:extLst>
                    <a:ext uri="{9D8B030D-6E8A-4147-A177-3AD203B41FA5}">
                      <a16:colId xmlns:a16="http://schemas.microsoft.com/office/drawing/2014/main" val="2247490691"/>
                    </a:ext>
                  </a:extLst>
                </a:gridCol>
                <a:gridCol w="1123340">
                  <a:extLst>
                    <a:ext uri="{9D8B030D-6E8A-4147-A177-3AD203B41FA5}">
                      <a16:colId xmlns:a16="http://schemas.microsoft.com/office/drawing/2014/main" val="641578491"/>
                    </a:ext>
                  </a:extLst>
                </a:gridCol>
                <a:gridCol w="1368098">
                  <a:extLst>
                    <a:ext uri="{9D8B030D-6E8A-4147-A177-3AD203B41FA5}">
                      <a16:colId xmlns:a16="http://schemas.microsoft.com/office/drawing/2014/main" val="1588135019"/>
                    </a:ext>
                  </a:extLst>
                </a:gridCol>
                <a:gridCol w="3228626">
                  <a:extLst>
                    <a:ext uri="{9D8B030D-6E8A-4147-A177-3AD203B41FA5}">
                      <a16:colId xmlns:a16="http://schemas.microsoft.com/office/drawing/2014/main" val="2275653647"/>
                    </a:ext>
                  </a:extLst>
                </a:gridCol>
              </a:tblGrid>
              <a:tr h="347889">
                <a:tc>
                  <a:txBody>
                    <a:bodyPr/>
                    <a:lstStyle/>
                    <a:p>
                      <a:pPr algn="ctr"/>
                      <a:r>
                        <a:rPr lang="en-GB" sz="1400">
                          <a:effectLst/>
                        </a:rPr>
                        <a:t>DE 1/11</a:t>
                      </a:r>
                    </a:p>
                  </a:txBody>
                  <a:tcPr marL="90000" marR="19050" marT="14288" marB="14288" anchor="ctr">
                    <a:solidFill>
                      <a:srgbClr val="009999"/>
                    </a:solidFill>
                  </a:tcPr>
                </a:tc>
                <a:tc>
                  <a:txBody>
                    <a:bodyPr/>
                    <a:lstStyle/>
                    <a:p>
                      <a:pPr algn="ctr"/>
                      <a:r>
                        <a:rPr lang="en-GB" sz="1400">
                          <a:effectLst/>
                        </a:rPr>
                        <a:t>Description</a:t>
                      </a:r>
                    </a:p>
                  </a:txBody>
                  <a:tcPr marL="90000" marR="19050" marT="14288" marB="14288" anchor="ctr">
                    <a:solidFill>
                      <a:srgbClr val="009999"/>
                    </a:solidFill>
                  </a:tcPr>
                </a:tc>
                <a:tc>
                  <a:txBody>
                    <a:bodyPr/>
                    <a:lstStyle/>
                    <a:p>
                      <a:pPr algn="ctr"/>
                      <a:r>
                        <a:rPr lang="en-GB" sz="1400">
                          <a:effectLst/>
                        </a:rPr>
                        <a:t>DE 4/14</a:t>
                      </a:r>
                    </a:p>
                  </a:txBody>
                  <a:tcPr marL="90000" marR="19050" marT="14288" marB="14288" anchor="ctr">
                    <a:solidFill>
                      <a:srgbClr val="009999"/>
                    </a:solidFill>
                  </a:tcPr>
                </a:tc>
                <a:tc>
                  <a:txBody>
                    <a:bodyPr/>
                    <a:lstStyle/>
                    <a:p>
                      <a:pPr algn="ctr"/>
                      <a:r>
                        <a:rPr lang="en-GB" sz="1400">
                          <a:effectLst/>
                        </a:rPr>
                        <a:t>Document</a:t>
                      </a:r>
                    </a:p>
                  </a:txBody>
                  <a:tcPr marL="90000" marR="19050" marT="14288" marB="14288" anchor="ctr">
                    <a:solidFill>
                      <a:srgbClr val="009999"/>
                    </a:solidFill>
                  </a:tcPr>
                </a:tc>
                <a:extLst>
                  <a:ext uri="{0D108BD9-81ED-4DB2-BD59-A6C34878D82A}">
                    <a16:rowId xmlns:a16="http://schemas.microsoft.com/office/drawing/2014/main" val="3384468624"/>
                  </a:ext>
                </a:extLst>
              </a:tr>
              <a:tr h="519389">
                <a:tc>
                  <a:txBody>
                    <a:bodyPr/>
                    <a:lstStyle/>
                    <a:p>
                      <a:r>
                        <a:rPr lang="en-GB" sz="1400">
                          <a:effectLst/>
                        </a:rPr>
                        <a:t>Non Valuation Specific APC or 000</a:t>
                      </a:r>
                    </a:p>
                  </a:txBody>
                  <a:tcPr marL="90000" marR="19050" marT="14288" marB="14288" anchor="ctr"/>
                </a:tc>
                <a:tc>
                  <a:txBody>
                    <a:bodyPr/>
                    <a:lstStyle/>
                    <a:p>
                      <a:endParaRPr lang="en-GB" sz="1400">
                        <a:effectLst/>
                      </a:endParaRPr>
                    </a:p>
                    <a:p>
                      <a:r>
                        <a:rPr lang="en-GB" sz="1400">
                          <a:effectLst/>
                        </a:rPr>
                        <a:t>N/A</a:t>
                      </a:r>
                    </a:p>
                    <a:p>
                      <a:endParaRPr lang="en-GB" sz="1400">
                        <a:effectLst/>
                      </a:endParaRPr>
                    </a:p>
                  </a:txBody>
                  <a:tcPr marL="90000" marR="19050" marT="14288" marB="14288" anchor="ctr"/>
                </a:tc>
                <a:tc>
                  <a:txBody>
                    <a:bodyPr/>
                    <a:lstStyle/>
                    <a:p>
                      <a:r>
                        <a:rPr lang="en-GB" sz="1400">
                          <a:effectLst/>
                        </a:rPr>
                        <a:t>Completed</a:t>
                      </a:r>
                    </a:p>
                  </a:txBody>
                  <a:tcPr marL="90000" marR="19050" marT="14288" marB="14288" anchor="ctr"/>
                </a:tc>
                <a:tc>
                  <a:txBody>
                    <a:bodyPr/>
                    <a:lstStyle/>
                    <a:p>
                      <a:r>
                        <a:rPr lang="en-GB" sz="1400" b="0" i="0" kern="1200">
                          <a:solidFill>
                            <a:schemeClr val="dk1"/>
                          </a:solidFill>
                          <a:effectLst/>
                          <a:latin typeface="+mn-lt"/>
                          <a:ea typeface="+mn-ea"/>
                          <a:cs typeface="+mn-cs"/>
                        </a:rPr>
                        <a:t>9WKS (minimum) </a:t>
                      </a:r>
                      <a:endParaRPr lang="en-GB" sz="1400">
                        <a:effectLst/>
                      </a:endParaRPr>
                    </a:p>
                  </a:txBody>
                  <a:tcPr marL="90000" marR="19050" marT="14288" marB="14288" anchor="ctr"/>
                </a:tc>
                <a:extLst>
                  <a:ext uri="{0D108BD9-81ED-4DB2-BD59-A6C34878D82A}">
                    <a16:rowId xmlns:a16="http://schemas.microsoft.com/office/drawing/2014/main" val="2060544414"/>
                  </a:ext>
                </a:extLst>
              </a:tr>
            </a:tbl>
          </a:graphicData>
        </a:graphic>
      </p:graphicFrame>
      <p:sp>
        <p:nvSpPr>
          <p:cNvPr id="12" name="TextBox 11">
            <a:extLst>
              <a:ext uri="{FF2B5EF4-FFF2-40B4-BE49-F238E27FC236}">
                <a16:creationId xmlns:a16="http://schemas.microsoft.com/office/drawing/2014/main" id="{6ED04E69-1FF4-4F0D-BD15-7C3FB3460AE1}"/>
              </a:ext>
            </a:extLst>
          </p:cNvPr>
          <p:cNvSpPr txBox="1"/>
          <p:nvPr/>
        </p:nvSpPr>
        <p:spPr>
          <a:xfrm>
            <a:off x="92066" y="3229771"/>
            <a:ext cx="11589335" cy="738664"/>
          </a:xfrm>
          <a:prstGeom prst="rect">
            <a:avLst/>
          </a:prstGeom>
          <a:noFill/>
        </p:spPr>
        <p:txBody>
          <a:bodyPr wrap="square">
            <a:spAutoFit/>
          </a:bodyPr>
          <a:lstStyle/>
          <a:p>
            <a:pPr lvl="1"/>
            <a:r>
              <a:rPr lang="en-GB" sz="1400" b="0" i="0">
                <a:solidFill>
                  <a:srgbClr val="333333"/>
                </a:solidFill>
                <a:effectLst/>
                <a:latin typeface="Calibri  "/>
              </a:rPr>
              <a:t>CDS will proceed to validate the declaration, using either the UK and EU Tariffs where applicable. Where any duties or taxes are payable, CDS will send a </a:t>
            </a:r>
            <a:r>
              <a:rPr lang="en-GB" sz="1400" b="1" i="0">
                <a:solidFill>
                  <a:srgbClr val="333333"/>
                </a:solidFill>
                <a:effectLst/>
                <a:latin typeface="Calibri  "/>
              </a:rPr>
              <a:t>DMSTAX</a:t>
            </a:r>
            <a:r>
              <a:rPr lang="en-GB" sz="1400" b="0" i="0">
                <a:solidFill>
                  <a:srgbClr val="333333"/>
                </a:solidFill>
                <a:effectLst/>
                <a:latin typeface="Calibri  "/>
              </a:rPr>
              <a:t> notification to the trader.</a:t>
            </a:r>
          </a:p>
          <a:p>
            <a:pPr lvl="1"/>
            <a:endParaRPr lang="en-GB" sz="1400">
              <a:solidFill>
                <a:srgbClr val="333333"/>
              </a:solidFill>
              <a:latin typeface="Calibri  "/>
            </a:endParaRPr>
          </a:p>
        </p:txBody>
      </p:sp>
    </p:spTree>
    <p:extLst>
      <p:ext uri="{BB962C8B-B14F-4D97-AF65-F5344CB8AC3E}">
        <p14:creationId xmlns:p14="http://schemas.microsoft.com/office/powerpoint/2010/main" val="316023801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Straight Connector 17">
            <a:extLst>
              <a:ext uri="{FF2B5EF4-FFF2-40B4-BE49-F238E27FC236}">
                <a16:creationId xmlns:a16="http://schemas.microsoft.com/office/drawing/2014/main" id="{37BDA06A-D44A-48A6-983D-E61CC09B608A}"/>
              </a:ext>
            </a:extLst>
          </p:cNvPr>
          <p:cNvCxnSpPr/>
          <p:nvPr/>
        </p:nvCxnSpPr>
        <p:spPr>
          <a:xfrm>
            <a:off x="325937" y="186903"/>
            <a:ext cx="0" cy="422050"/>
          </a:xfrm>
          <a:prstGeom prst="straightConnector1">
            <a:avLst/>
          </a:prstGeom>
          <a:noFill/>
          <a:ln w="28575" cap="flat">
            <a:solidFill>
              <a:srgbClr val="D9D9D9"/>
            </a:solidFill>
            <a:prstDash val="solid"/>
            <a:miter/>
          </a:ln>
        </p:spPr>
      </p:cxnSp>
      <p:cxnSp>
        <p:nvCxnSpPr>
          <p:cNvPr id="3" name="Straight Connector 11">
            <a:extLst>
              <a:ext uri="{FF2B5EF4-FFF2-40B4-BE49-F238E27FC236}">
                <a16:creationId xmlns:a16="http://schemas.microsoft.com/office/drawing/2014/main" id="{5E36F174-EEE8-4C19-8ACA-D2DDDE34E531}"/>
              </a:ext>
            </a:extLst>
          </p:cNvPr>
          <p:cNvCxnSpPr/>
          <p:nvPr/>
        </p:nvCxnSpPr>
        <p:spPr>
          <a:xfrm>
            <a:off x="319116" y="186903"/>
            <a:ext cx="0" cy="422050"/>
          </a:xfrm>
          <a:prstGeom prst="straightConnector1">
            <a:avLst/>
          </a:prstGeom>
          <a:noFill/>
          <a:ln w="28575" cap="flat">
            <a:solidFill>
              <a:srgbClr val="D9D9D9"/>
            </a:solidFill>
            <a:prstDash val="solid"/>
            <a:miter/>
          </a:ln>
        </p:spPr>
      </p:cxnSp>
      <p:sp>
        <p:nvSpPr>
          <p:cNvPr id="4" name="TextBox 12">
            <a:extLst>
              <a:ext uri="{FF2B5EF4-FFF2-40B4-BE49-F238E27FC236}">
                <a16:creationId xmlns:a16="http://schemas.microsoft.com/office/drawing/2014/main" id="{3CB935A6-BD5F-4D27-BA7A-705122AB31B1}"/>
              </a:ext>
            </a:extLst>
          </p:cNvPr>
          <p:cNvSpPr txBox="1"/>
          <p:nvPr/>
        </p:nvSpPr>
        <p:spPr>
          <a:xfrm>
            <a:off x="363967" y="248844"/>
            <a:ext cx="2321725" cy="307777"/>
          </a:xfrm>
          <a:prstGeom prst="rect">
            <a:avLst/>
          </a:prstGeom>
          <a:noFill/>
          <a:ln cap="flat">
            <a:noFill/>
          </a:ln>
        </p:spPr>
        <p:txBody>
          <a:bodyPr vert="horz" wrap="none" lIns="91440" tIns="45720" rIns="91440" bIns="45720" anchor="t"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400" b="1" i="0" u="none" strike="noStrike" kern="1200" cap="none" spc="50" baseline="0">
                <a:solidFill>
                  <a:srgbClr val="A6A6A6"/>
                </a:solidFill>
                <a:uFillTx/>
                <a:latin typeface="Calibri"/>
              </a:rPr>
              <a:t>RELEASE SCOPE GUIDANCE</a:t>
            </a:r>
          </a:p>
        </p:txBody>
      </p:sp>
      <p:pic>
        <p:nvPicPr>
          <p:cNvPr id="5" name="Picture 106" descr="57% HMRCppt logo">
            <a:extLst>
              <a:ext uri="{FF2B5EF4-FFF2-40B4-BE49-F238E27FC236}">
                <a16:creationId xmlns:a16="http://schemas.microsoft.com/office/drawing/2014/main" id="{FF3800DF-0A51-4222-B6CC-B8A7999705DA}"/>
              </a:ext>
            </a:extLst>
          </p:cNvPr>
          <p:cNvPicPr>
            <a:picLocks noChangeAspect="1"/>
          </p:cNvPicPr>
          <p:nvPr/>
        </p:nvPicPr>
        <p:blipFill>
          <a:blip r:embed="rId3"/>
          <a:srcRect/>
          <a:stretch>
            <a:fillRect/>
          </a:stretch>
        </p:blipFill>
        <p:spPr>
          <a:xfrm>
            <a:off x="446099" y="5929033"/>
            <a:ext cx="1030227" cy="633980"/>
          </a:xfrm>
          <a:prstGeom prst="rect">
            <a:avLst/>
          </a:prstGeom>
          <a:noFill/>
          <a:ln cap="flat">
            <a:noFill/>
          </a:ln>
        </p:spPr>
      </p:pic>
      <p:sp>
        <p:nvSpPr>
          <p:cNvPr id="6" name="Slide Number Placeholder 5">
            <a:extLst>
              <a:ext uri="{FF2B5EF4-FFF2-40B4-BE49-F238E27FC236}">
                <a16:creationId xmlns:a16="http://schemas.microsoft.com/office/drawing/2014/main" id="{142B1A6B-B63E-4802-A06E-688E36C8C0BC}"/>
              </a:ext>
            </a:extLst>
          </p:cNvPr>
          <p:cNvSpPr txBox="1"/>
          <p:nvPr/>
        </p:nvSpPr>
        <p:spPr>
          <a:xfrm>
            <a:off x="11526231" y="6387897"/>
            <a:ext cx="443849" cy="365129"/>
          </a:xfrm>
          <a:prstGeom prst="rect">
            <a:avLst/>
          </a:prstGeom>
          <a:noFill/>
          <a:ln cap="flat">
            <a:noFill/>
          </a:ln>
        </p:spPr>
        <p:txBody>
          <a:bodyPr vert="horz" wrap="square" lIns="91440" tIns="45720" rIns="91440" bIns="45720" anchor="ctr" anchorCtr="0" compatLnSpc="1">
            <a:noAutofit/>
          </a:bodyPr>
          <a:lstStyle/>
          <a:p>
            <a:pPr marL="0" marR="0" lvl="0" indent="0" algn="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fld id="{1CABF0A3-08BC-4452-B5E2-AB4B5AF40B6A}" type="slidenum">
              <a:rPr/>
              <a:t>15</a:t>
            </a:fld>
            <a:endParaRPr lang="en-GB" sz="900" b="0" i="0" u="none" strike="noStrike" kern="1200" cap="none" spc="0" baseline="0">
              <a:solidFill>
                <a:srgbClr val="000000"/>
              </a:solidFill>
              <a:uFillTx/>
              <a:latin typeface="Calibri"/>
            </a:endParaRPr>
          </a:p>
        </p:txBody>
      </p:sp>
      <p:sp>
        <p:nvSpPr>
          <p:cNvPr id="7" name="Footer Placeholder 1">
            <a:extLst>
              <a:ext uri="{FF2B5EF4-FFF2-40B4-BE49-F238E27FC236}">
                <a16:creationId xmlns:a16="http://schemas.microsoft.com/office/drawing/2014/main" id="{767B78AE-69D6-4083-BE18-597BB849E6BC}"/>
              </a:ext>
            </a:extLst>
          </p:cNvPr>
          <p:cNvSpPr txBox="1"/>
          <p:nvPr/>
        </p:nvSpPr>
        <p:spPr>
          <a:xfrm>
            <a:off x="2943801" y="6490795"/>
            <a:ext cx="8737604" cy="144466"/>
          </a:xfrm>
          <a:prstGeom prst="rect">
            <a:avLst/>
          </a:prstGeom>
          <a:noFill/>
          <a:ln cap="flat">
            <a:noFill/>
          </a:ln>
        </p:spPr>
        <p:txBody>
          <a:bodyPr vert="horz" wrap="square" lIns="0" tIns="0" rIns="0" bIns="0" anchor="ctr" anchorCtr="0" compatLnSpc="1">
            <a:noAutofit/>
          </a:bodyPr>
          <a:lstStyle/>
          <a:p>
            <a:pPr marL="0" marR="0" lvl="0" indent="0" algn="r"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r>
              <a:rPr lang="en-GB" sz="900" b="0" i="0" u="none" strike="noStrike" kern="1200" cap="none" spc="0" baseline="0">
                <a:solidFill>
                  <a:srgbClr val="3B3A3D"/>
                </a:solidFill>
                <a:uFillTx/>
                <a:latin typeface="Calibri"/>
                <a:ea typeface="Geneva"/>
                <a:cs typeface="Arial"/>
              </a:rPr>
              <a:t>OFFICIAL | CDS External Release Scope Guidance Document |</a:t>
            </a:r>
            <a:endParaRPr lang="en-GB" sz="900" b="1" i="0" u="none" strike="noStrike" kern="1200" cap="none" spc="0" baseline="0">
              <a:solidFill>
                <a:srgbClr val="008D8E"/>
              </a:solidFill>
              <a:uFillTx/>
              <a:latin typeface="Calibri"/>
              <a:ea typeface="Geneva"/>
              <a:cs typeface="Arial"/>
            </a:endParaRPr>
          </a:p>
        </p:txBody>
      </p:sp>
      <p:sp>
        <p:nvSpPr>
          <p:cNvPr id="8" name="Rectangle 13">
            <a:extLst>
              <a:ext uri="{FF2B5EF4-FFF2-40B4-BE49-F238E27FC236}">
                <a16:creationId xmlns:a16="http://schemas.microsoft.com/office/drawing/2014/main" id="{EE9F2F9C-0D5A-47BD-BD06-FDB1ED67894C}"/>
              </a:ext>
            </a:extLst>
          </p:cNvPr>
          <p:cNvSpPr/>
          <p:nvPr/>
        </p:nvSpPr>
        <p:spPr>
          <a:xfrm>
            <a:off x="363967" y="1362593"/>
            <a:ext cx="11282159" cy="3713837"/>
          </a:xfrm>
          <a:prstGeom prst="rect">
            <a:avLst/>
          </a:prstGeom>
          <a:noFill/>
          <a:ln cap="flat">
            <a:noFill/>
            <a:prstDash val="solid"/>
          </a:ln>
        </p:spPr>
        <p:txBody>
          <a:bodyPr vert="horz" wrap="square" lIns="91440" tIns="45720" rIns="91440" bIns="45720" anchor="t" anchorCtr="0" compatLnSpc="1">
            <a:spAutoFit/>
          </a:bodyPr>
          <a:lstStyle/>
          <a:p>
            <a:pPr marL="0" marR="0" lvl="0" indent="0" algn="l" defTabSz="914400" rtl="0" fontAlgn="auto" hangingPunct="1">
              <a:lnSpc>
                <a:spcPct val="100000"/>
              </a:lnSpc>
              <a:spcBef>
                <a:spcPts val="0"/>
              </a:spcBef>
              <a:spcAft>
                <a:spcPts val="800"/>
              </a:spcAft>
              <a:buNone/>
              <a:tabLst/>
              <a:defRPr sz="1800" b="0" i="0" u="none" strike="noStrike" kern="0" cap="none" spc="0" baseline="0">
                <a:solidFill>
                  <a:srgbClr val="000000"/>
                </a:solidFill>
                <a:uFillTx/>
              </a:defRPr>
            </a:pPr>
            <a:r>
              <a:rPr lang="en-GB" sz="1400" b="1" i="0" u="sng" strike="noStrike" kern="0" cap="none" spc="0" baseline="0">
                <a:solidFill>
                  <a:srgbClr val="000000"/>
                </a:solidFill>
                <a:uFillTx/>
                <a:latin typeface="Calibri" pitchFamily="34"/>
              </a:rPr>
              <a:t>Access to view Duty Deferment Accounts</a:t>
            </a:r>
            <a:endParaRPr lang="en-GB" sz="1400" b="1" i="0" u="sng" strike="noStrike" kern="0" cap="none" spc="0" baseline="0">
              <a:solidFill>
                <a:srgbClr val="000000"/>
              </a:solidFill>
              <a:uFillTx/>
              <a:latin typeface="Calibri"/>
            </a:endParaRPr>
          </a:p>
          <a:p>
            <a:pPr marL="0" marR="0" lvl="0" indent="0" algn="l" defTabSz="914400" rtl="0" fontAlgn="auto" hangingPunct="1">
              <a:lnSpc>
                <a:spcPct val="100000"/>
              </a:lnSpc>
              <a:spcBef>
                <a:spcPts val="0"/>
              </a:spcBef>
              <a:spcAft>
                <a:spcPts val="800"/>
              </a:spcAft>
              <a:buNone/>
              <a:tabLst/>
              <a:defRPr sz="1800" b="0" i="0" u="none" strike="noStrike" kern="0" cap="none" spc="0" baseline="0">
                <a:solidFill>
                  <a:srgbClr val="000000"/>
                </a:solidFill>
                <a:uFillTx/>
              </a:defRPr>
            </a:pPr>
            <a:r>
              <a:rPr lang="en-GB" sz="1400" b="0" i="0" u="none" strike="noStrike" kern="0" cap="none" spc="0" baseline="0">
                <a:solidFill>
                  <a:srgbClr val="333333"/>
                </a:solidFill>
                <a:uFillTx/>
                <a:latin typeface="Calibri  "/>
              </a:rPr>
              <a:t>From CDS 3.8.0, traders may search and view all Duty Deferment Accounts by entering either the GB EORI or Duty Deferment Account number in the search function. The search will only display active Duty Deferment Accounts that the user has authorisation over. If the Duty Deferment Account is inactive, then no results will be returned. Traders will additionally be able to</a:t>
            </a:r>
            <a:r>
              <a:rPr lang="en-GB" sz="1400" b="1" i="0" u="none" strike="noStrike" kern="0" cap="none" spc="0" baseline="0">
                <a:solidFill>
                  <a:srgbClr val="333333"/>
                </a:solidFill>
                <a:uFillTx/>
                <a:latin typeface="Calibri  "/>
              </a:rPr>
              <a:t> </a:t>
            </a:r>
            <a:r>
              <a:rPr lang="en-GB" sz="1400" b="0" i="0" u="none" strike="noStrike" kern="0" cap="none" spc="0" baseline="0">
                <a:solidFill>
                  <a:srgbClr val="333333"/>
                </a:solidFill>
                <a:uFillTx/>
                <a:latin typeface="Calibri  "/>
              </a:rPr>
              <a:t>download a CSV file that contains a list of all the displayed active duty deferment accounts.</a:t>
            </a:r>
          </a:p>
          <a:p>
            <a:pPr marL="0" marR="0" lvl="0" indent="0" algn="l" defTabSz="914400" rtl="0" fontAlgn="auto" hangingPunct="1">
              <a:lnSpc>
                <a:spcPct val="100000"/>
              </a:lnSpc>
              <a:spcBef>
                <a:spcPts val="0"/>
              </a:spcBef>
              <a:spcAft>
                <a:spcPts val="800"/>
              </a:spcAft>
              <a:buNone/>
              <a:tabLst/>
              <a:defRPr sz="1800" b="0" i="0" u="none" strike="noStrike" kern="0" cap="none" spc="0" baseline="0">
                <a:solidFill>
                  <a:srgbClr val="000000"/>
                </a:solidFill>
                <a:uFillTx/>
              </a:defRPr>
            </a:pPr>
            <a:endParaRPr lang="en-GB" sz="1400" b="0" i="0" u="none" strike="noStrike" kern="0" cap="none" spc="0" baseline="0">
              <a:solidFill>
                <a:srgbClr val="333333"/>
              </a:solidFill>
              <a:uFillTx/>
              <a:latin typeface="Calibri  "/>
            </a:endParaRPr>
          </a:p>
          <a:p>
            <a:pPr marL="0" marR="0" lvl="0" indent="0" algn="l" defTabSz="914400" rtl="0" fontAlgn="auto" hangingPunct="1">
              <a:lnSpc>
                <a:spcPct val="100000"/>
              </a:lnSpc>
              <a:spcBef>
                <a:spcPts val="0"/>
              </a:spcBef>
              <a:spcAft>
                <a:spcPts val="800"/>
              </a:spcAft>
              <a:buNone/>
              <a:tabLst/>
              <a:defRPr sz="1800" b="0" i="0" u="none" strike="noStrike" kern="0" cap="none" spc="0" baseline="0">
                <a:solidFill>
                  <a:srgbClr val="000000"/>
                </a:solidFill>
                <a:uFillTx/>
              </a:defRPr>
            </a:pPr>
            <a:r>
              <a:rPr lang="en-GB" sz="1400" b="1" i="0" u="sng" strike="noStrike" kern="0" cap="none" spc="0" baseline="0">
                <a:solidFill>
                  <a:srgbClr val="000000"/>
                </a:solidFill>
                <a:uFillTx/>
                <a:latin typeface="Calibri" pitchFamily="34"/>
              </a:rPr>
              <a:t>Re-Application of Direct Debit Instructions (DDI)</a:t>
            </a:r>
          </a:p>
          <a:p>
            <a:pPr marL="0" marR="0" lvl="0" indent="0" algn="l" defTabSz="914400" rtl="0" fontAlgn="auto" hangingPunct="1">
              <a:lnSpc>
                <a:spcPct val="100000"/>
              </a:lnSpc>
              <a:spcBef>
                <a:spcPts val="0"/>
              </a:spcBef>
              <a:spcAft>
                <a:spcPts val="800"/>
              </a:spcAft>
              <a:buNone/>
              <a:tabLst/>
              <a:defRPr sz="1800" b="0" i="0" u="none" strike="noStrike" kern="0" cap="none" spc="0" baseline="0">
                <a:solidFill>
                  <a:srgbClr val="000000"/>
                </a:solidFill>
                <a:uFillTx/>
              </a:defRPr>
            </a:pPr>
            <a:r>
              <a:rPr lang="en-US" sz="1400" b="0" i="0" u="none" strike="noStrike" kern="0" cap="none" spc="0" baseline="0">
                <a:solidFill>
                  <a:srgbClr val="000000"/>
                </a:solidFill>
                <a:uFillTx/>
                <a:latin typeface="Calibri  "/>
                <a:cs typeface="Arial" pitchFamily="34"/>
              </a:rPr>
              <a:t>From CDS 3.8.0, traders that currently own a DDI, or have a </a:t>
            </a:r>
            <a:r>
              <a:rPr lang="en-GB" sz="1400" b="0" i="0" u="none" strike="noStrike" kern="0" cap="none" spc="0" baseline="0">
                <a:solidFill>
                  <a:srgbClr val="000000"/>
                </a:solidFill>
                <a:uFillTx/>
                <a:latin typeface="Calibri  "/>
              </a:rPr>
              <a:t>previously owned a DDI which has now become dormant</a:t>
            </a:r>
            <a:r>
              <a:rPr lang="en-US" sz="1400" b="0" i="0" u="none" strike="noStrike" kern="0" cap="none" spc="0" baseline="0">
                <a:solidFill>
                  <a:srgbClr val="000000"/>
                </a:solidFill>
                <a:uFillTx/>
                <a:latin typeface="Calibri  "/>
                <a:cs typeface="Arial" pitchFamily="34"/>
              </a:rPr>
              <a:t>, may sign-up with new Direct Debit Instructions with the same respective bank details. Traders may sign-up for the DDI, in advance, or following </a:t>
            </a:r>
            <a:r>
              <a:rPr lang="en-GB" sz="1400" b="0" i="0" u="none" strike="noStrike" kern="0" cap="none" spc="0" baseline="0">
                <a:solidFill>
                  <a:srgbClr val="000000"/>
                </a:solidFill>
                <a:uFillTx/>
                <a:latin typeface="Calibri  "/>
                <a:cs typeface="Arial" pitchFamily="34"/>
              </a:rPr>
              <a:t>the expiration of the previous DDI.</a:t>
            </a:r>
          </a:p>
          <a:p>
            <a:pPr>
              <a:spcAft>
                <a:spcPts val="800"/>
              </a:spcAft>
              <a:defRPr sz="1800" b="0" i="0" u="none" strike="noStrike" kern="0" cap="none" spc="0" baseline="0">
                <a:solidFill>
                  <a:srgbClr val="000000"/>
                </a:solidFill>
                <a:uFillTx/>
              </a:defRPr>
            </a:pPr>
            <a:r>
              <a:rPr lang="en-GB" sz="1400" b="1" kern="0">
                <a:latin typeface="Calibri  "/>
              </a:rPr>
              <a:t>Please note: </a:t>
            </a:r>
            <a:r>
              <a:rPr lang="en-GB" sz="1400" kern="0">
                <a:latin typeface="Calibri  "/>
              </a:rPr>
              <a:t>This feature is now out of scope for CDS 3.8.0 and will be delivered in a later release (TBC). </a:t>
            </a:r>
            <a:endParaRPr lang="en-GB" sz="1400" b="1" i="0" u="none" strike="noStrike" kern="0" cap="none" spc="0" baseline="0">
              <a:uFillTx/>
              <a:latin typeface="Calibri  "/>
            </a:endParaRPr>
          </a:p>
          <a:p>
            <a:pPr marL="0" marR="0" lvl="0" indent="0" algn="l" defTabSz="914400" rtl="0" fontAlgn="auto" hangingPunct="1">
              <a:lnSpc>
                <a:spcPct val="100000"/>
              </a:lnSpc>
              <a:spcBef>
                <a:spcPts val="0"/>
              </a:spcBef>
              <a:spcAft>
                <a:spcPts val="800"/>
              </a:spcAft>
              <a:buNone/>
              <a:tabLst/>
              <a:defRPr sz="1800" b="0" i="0" u="none" strike="noStrike" kern="0" cap="none" spc="0" baseline="0">
                <a:solidFill>
                  <a:srgbClr val="000000"/>
                </a:solidFill>
                <a:uFillTx/>
              </a:defRPr>
            </a:pPr>
            <a:endParaRPr lang="en-GB" sz="1400" b="0" i="0" u="none" strike="noStrike" kern="1200" cap="none" spc="0" baseline="0">
              <a:solidFill>
                <a:srgbClr val="000000"/>
              </a:solidFill>
              <a:uFillTx/>
              <a:latin typeface="Calibri  "/>
            </a:endParaRPr>
          </a:p>
          <a:p>
            <a:pPr marL="0" marR="0" lvl="0" indent="0" algn="l" defTabSz="914400" rtl="0" fontAlgn="auto" hangingPunct="1">
              <a:lnSpc>
                <a:spcPct val="100000"/>
              </a:lnSpc>
              <a:spcBef>
                <a:spcPts val="0"/>
              </a:spcBef>
              <a:spcAft>
                <a:spcPts val="800"/>
              </a:spcAft>
              <a:buNone/>
              <a:tabLst/>
              <a:defRPr sz="1800" b="0" i="0" u="none" strike="noStrike" kern="0" cap="none" spc="0" baseline="0">
                <a:solidFill>
                  <a:srgbClr val="000000"/>
                </a:solidFill>
                <a:uFillTx/>
              </a:defRPr>
            </a:pPr>
            <a:endParaRPr lang="en-GB" sz="1400" b="0" i="0" u="none" strike="noStrike" kern="1200" cap="none" spc="0" baseline="0">
              <a:solidFill>
                <a:srgbClr val="333333"/>
              </a:solidFill>
              <a:uFillTx/>
              <a:latin typeface="Calibri  "/>
            </a:endParaRPr>
          </a:p>
          <a:p>
            <a:pPr marL="1371600" marR="0" lvl="3" indent="0" algn="l" defTabSz="914400" rtl="0" fontAlgn="auto" hangingPunct="1">
              <a:lnSpc>
                <a:spcPct val="100000"/>
              </a:lnSpc>
              <a:spcBef>
                <a:spcPts val="0"/>
              </a:spcBef>
              <a:spcAft>
                <a:spcPts val="0"/>
              </a:spcAft>
              <a:buNone/>
              <a:tabLst>
                <a:tab pos="457200" algn="l"/>
              </a:tabLst>
              <a:defRPr sz="1800" b="0" i="0" u="none" strike="noStrike" kern="0" cap="none" spc="0" baseline="0">
                <a:solidFill>
                  <a:srgbClr val="000000"/>
                </a:solidFill>
                <a:uFillTx/>
              </a:defRPr>
            </a:pPr>
            <a:endParaRPr lang="en-GB" sz="1400" b="1" i="0" u="none" strike="noStrike" kern="1200" cap="none" spc="0" baseline="0">
              <a:solidFill>
                <a:srgbClr val="333333"/>
              </a:solidFill>
              <a:uFillTx/>
              <a:latin typeface="Calibri  "/>
            </a:endParaRPr>
          </a:p>
        </p:txBody>
      </p:sp>
      <p:sp>
        <p:nvSpPr>
          <p:cNvPr id="9" name="Rectangle 7">
            <a:extLst>
              <a:ext uri="{FF2B5EF4-FFF2-40B4-BE49-F238E27FC236}">
                <a16:creationId xmlns:a16="http://schemas.microsoft.com/office/drawing/2014/main" id="{9E8D399A-BF85-4C4C-A8F9-C82C47F1FB72}"/>
              </a:ext>
            </a:extLst>
          </p:cNvPr>
          <p:cNvSpPr/>
          <p:nvPr/>
        </p:nvSpPr>
        <p:spPr>
          <a:xfrm>
            <a:off x="465155" y="799761"/>
            <a:ext cx="3563745" cy="400114"/>
          </a:xfrm>
          <a:prstGeom prst="rect">
            <a:avLst/>
          </a:prstGeom>
          <a:solidFill>
            <a:srgbClr val="009999"/>
          </a:solidFill>
          <a:ln w="25402" cap="flat">
            <a:solidFill>
              <a:srgbClr val="009999"/>
            </a:solidFill>
            <a:prstDash val="solid"/>
            <a:miter/>
          </a:ln>
        </p:spPr>
        <p:txBody>
          <a:bodyPr vert="horz" wrap="square" lIns="91440" tIns="45720" rIns="91440" bIns="4572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2400" b="1" i="0" u="none" strike="noStrike" kern="0" cap="none" spc="0" baseline="0">
                <a:solidFill>
                  <a:srgbClr val="FFFFFF"/>
                </a:solidFill>
                <a:uFillTx/>
                <a:latin typeface="Calibri"/>
              </a:rPr>
              <a:t>New Release Functionality</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Straight Connector 17">
            <a:extLst>
              <a:ext uri="{FF2B5EF4-FFF2-40B4-BE49-F238E27FC236}">
                <a16:creationId xmlns:a16="http://schemas.microsoft.com/office/drawing/2014/main" id="{2AD6F575-2A36-4CCA-874B-6F554EC181ED}"/>
              </a:ext>
            </a:extLst>
          </p:cNvPr>
          <p:cNvCxnSpPr/>
          <p:nvPr/>
        </p:nvCxnSpPr>
        <p:spPr>
          <a:xfrm>
            <a:off x="325937" y="186903"/>
            <a:ext cx="0" cy="422050"/>
          </a:xfrm>
          <a:prstGeom prst="straightConnector1">
            <a:avLst/>
          </a:prstGeom>
          <a:noFill/>
          <a:ln w="28575" cap="flat">
            <a:solidFill>
              <a:srgbClr val="D9D9D9"/>
            </a:solidFill>
            <a:prstDash val="solid"/>
            <a:miter/>
          </a:ln>
        </p:spPr>
      </p:cxnSp>
      <p:cxnSp>
        <p:nvCxnSpPr>
          <p:cNvPr id="3" name="Straight Connector 11">
            <a:extLst>
              <a:ext uri="{FF2B5EF4-FFF2-40B4-BE49-F238E27FC236}">
                <a16:creationId xmlns:a16="http://schemas.microsoft.com/office/drawing/2014/main" id="{1A3D2F3C-4830-4EF0-83F5-BA5CB7B9D0C9}"/>
              </a:ext>
            </a:extLst>
          </p:cNvPr>
          <p:cNvCxnSpPr/>
          <p:nvPr/>
        </p:nvCxnSpPr>
        <p:spPr>
          <a:xfrm>
            <a:off x="319116" y="186903"/>
            <a:ext cx="0" cy="422050"/>
          </a:xfrm>
          <a:prstGeom prst="straightConnector1">
            <a:avLst/>
          </a:prstGeom>
          <a:noFill/>
          <a:ln w="28575" cap="flat">
            <a:solidFill>
              <a:srgbClr val="D9D9D9"/>
            </a:solidFill>
            <a:prstDash val="solid"/>
            <a:miter/>
          </a:ln>
        </p:spPr>
      </p:cxnSp>
      <p:sp>
        <p:nvSpPr>
          <p:cNvPr id="4" name="TextBox 12">
            <a:extLst>
              <a:ext uri="{FF2B5EF4-FFF2-40B4-BE49-F238E27FC236}">
                <a16:creationId xmlns:a16="http://schemas.microsoft.com/office/drawing/2014/main" id="{80A63BA6-DBE6-4C37-8797-C1558A476A00}"/>
              </a:ext>
            </a:extLst>
          </p:cNvPr>
          <p:cNvSpPr txBox="1"/>
          <p:nvPr/>
        </p:nvSpPr>
        <p:spPr>
          <a:xfrm>
            <a:off x="363967" y="248844"/>
            <a:ext cx="2321725" cy="307777"/>
          </a:xfrm>
          <a:prstGeom prst="rect">
            <a:avLst/>
          </a:prstGeom>
          <a:noFill/>
          <a:ln cap="flat">
            <a:noFill/>
          </a:ln>
        </p:spPr>
        <p:txBody>
          <a:bodyPr vert="horz" wrap="none" lIns="91440" tIns="45720" rIns="91440" bIns="45720" anchor="t"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400" b="1" i="0" u="none" strike="noStrike" kern="1200" cap="none" spc="50" baseline="0">
                <a:solidFill>
                  <a:srgbClr val="A6A6A6"/>
                </a:solidFill>
                <a:uFillTx/>
                <a:latin typeface="Calibri"/>
              </a:rPr>
              <a:t>RELEASE SCOPE GUIDANCE</a:t>
            </a:r>
          </a:p>
        </p:txBody>
      </p:sp>
      <p:pic>
        <p:nvPicPr>
          <p:cNvPr id="5" name="Picture 106" descr="57% HMRCppt logo">
            <a:extLst>
              <a:ext uri="{FF2B5EF4-FFF2-40B4-BE49-F238E27FC236}">
                <a16:creationId xmlns:a16="http://schemas.microsoft.com/office/drawing/2014/main" id="{1A1D80E2-C640-474F-85BF-56755C189C31}"/>
              </a:ext>
            </a:extLst>
          </p:cNvPr>
          <p:cNvPicPr>
            <a:picLocks noChangeAspect="1"/>
          </p:cNvPicPr>
          <p:nvPr/>
        </p:nvPicPr>
        <p:blipFill>
          <a:blip r:embed="rId3"/>
          <a:srcRect/>
          <a:stretch>
            <a:fillRect/>
          </a:stretch>
        </p:blipFill>
        <p:spPr>
          <a:xfrm>
            <a:off x="446099" y="5929033"/>
            <a:ext cx="1030227" cy="633980"/>
          </a:xfrm>
          <a:prstGeom prst="rect">
            <a:avLst/>
          </a:prstGeom>
          <a:noFill/>
          <a:ln cap="flat">
            <a:noFill/>
          </a:ln>
        </p:spPr>
      </p:pic>
      <p:sp>
        <p:nvSpPr>
          <p:cNvPr id="6" name="Slide Number Placeholder 5">
            <a:extLst>
              <a:ext uri="{FF2B5EF4-FFF2-40B4-BE49-F238E27FC236}">
                <a16:creationId xmlns:a16="http://schemas.microsoft.com/office/drawing/2014/main" id="{4B61B73F-34C7-4DF0-A9EB-F66C83D50991}"/>
              </a:ext>
            </a:extLst>
          </p:cNvPr>
          <p:cNvSpPr txBox="1"/>
          <p:nvPr/>
        </p:nvSpPr>
        <p:spPr>
          <a:xfrm>
            <a:off x="11526231" y="6387897"/>
            <a:ext cx="443849" cy="365129"/>
          </a:xfrm>
          <a:prstGeom prst="rect">
            <a:avLst/>
          </a:prstGeom>
          <a:noFill/>
          <a:ln cap="flat">
            <a:noFill/>
          </a:ln>
        </p:spPr>
        <p:txBody>
          <a:bodyPr vert="horz" wrap="square" lIns="91440" tIns="45720" rIns="91440" bIns="45720" anchor="ctr" anchorCtr="0" compatLnSpc="1">
            <a:noAutofit/>
          </a:bodyPr>
          <a:lstStyle/>
          <a:p>
            <a:pPr marL="0" marR="0" lvl="0" indent="0" algn="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fld id="{AAA04A39-756E-40FD-932F-E7691A62AA67}" type="slidenum">
              <a:t>16</a:t>
            </a:fld>
            <a:endParaRPr lang="en-GB" sz="900" b="0" i="0" u="none" strike="noStrike" kern="1200" cap="none" spc="0" baseline="0">
              <a:solidFill>
                <a:srgbClr val="000000"/>
              </a:solidFill>
              <a:uFillTx/>
              <a:latin typeface="Calibri"/>
            </a:endParaRPr>
          </a:p>
        </p:txBody>
      </p:sp>
      <p:sp>
        <p:nvSpPr>
          <p:cNvPr id="7" name="Footer Placeholder 1">
            <a:extLst>
              <a:ext uri="{FF2B5EF4-FFF2-40B4-BE49-F238E27FC236}">
                <a16:creationId xmlns:a16="http://schemas.microsoft.com/office/drawing/2014/main" id="{B340F1F8-1A8A-4484-A157-9F04CB75CCB9}"/>
              </a:ext>
            </a:extLst>
          </p:cNvPr>
          <p:cNvSpPr txBox="1"/>
          <p:nvPr/>
        </p:nvSpPr>
        <p:spPr>
          <a:xfrm>
            <a:off x="2982644" y="6490776"/>
            <a:ext cx="8737604" cy="144466"/>
          </a:xfrm>
          <a:prstGeom prst="rect">
            <a:avLst/>
          </a:prstGeom>
          <a:noFill/>
          <a:ln cap="flat">
            <a:noFill/>
          </a:ln>
        </p:spPr>
        <p:txBody>
          <a:bodyPr vert="horz" wrap="square" lIns="0" tIns="0" rIns="0" bIns="0" anchor="ctr" anchorCtr="0" compatLnSpc="1">
            <a:noAutofit/>
          </a:bodyPr>
          <a:lstStyle/>
          <a:p>
            <a:pPr marL="0" marR="0" lvl="0" indent="0" algn="r"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r>
              <a:rPr lang="en-GB" sz="900" b="0" i="0" u="none" strike="noStrike" kern="1200" cap="none" spc="0" baseline="0">
                <a:solidFill>
                  <a:srgbClr val="3B3A3D"/>
                </a:solidFill>
                <a:uFillTx/>
                <a:latin typeface="Calibri"/>
                <a:ea typeface="Geneva"/>
                <a:cs typeface="Arial"/>
              </a:rPr>
              <a:t>OFFICIAL | CDS External Release Scope Guidance Document |</a:t>
            </a:r>
            <a:endParaRPr lang="en-GB" sz="900" b="1" i="0" u="none" strike="noStrike" kern="1200" cap="none" spc="0" baseline="0">
              <a:solidFill>
                <a:srgbClr val="008D8E"/>
              </a:solidFill>
              <a:uFillTx/>
              <a:latin typeface="Calibri"/>
              <a:ea typeface="Geneva"/>
              <a:cs typeface="Arial"/>
            </a:endParaRPr>
          </a:p>
        </p:txBody>
      </p:sp>
      <p:sp>
        <p:nvSpPr>
          <p:cNvPr id="8" name="Rectangle 7">
            <a:extLst>
              <a:ext uri="{FF2B5EF4-FFF2-40B4-BE49-F238E27FC236}">
                <a16:creationId xmlns:a16="http://schemas.microsoft.com/office/drawing/2014/main" id="{D47877AB-D951-4EF7-B8A0-4995199AC1F8}"/>
              </a:ext>
            </a:extLst>
          </p:cNvPr>
          <p:cNvSpPr/>
          <p:nvPr/>
        </p:nvSpPr>
        <p:spPr>
          <a:xfrm>
            <a:off x="465155" y="799761"/>
            <a:ext cx="3563745" cy="400114"/>
          </a:xfrm>
          <a:prstGeom prst="rect">
            <a:avLst/>
          </a:prstGeom>
          <a:solidFill>
            <a:srgbClr val="009999"/>
          </a:solidFill>
          <a:ln w="25402" cap="flat">
            <a:solidFill>
              <a:srgbClr val="009999"/>
            </a:solidFill>
            <a:prstDash val="solid"/>
            <a:miter/>
          </a:ln>
        </p:spPr>
        <p:txBody>
          <a:bodyPr vert="horz" wrap="square" lIns="91440" tIns="45720" rIns="91440" bIns="4572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2400" b="1" i="0" u="none" strike="noStrike" kern="0" cap="none" spc="0" baseline="0">
                <a:solidFill>
                  <a:srgbClr val="FFFFFF"/>
                </a:solidFill>
                <a:uFillTx/>
                <a:latin typeface="Calibri"/>
              </a:rPr>
              <a:t>New Release Functionality</a:t>
            </a:r>
          </a:p>
        </p:txBody>
      </p:sp>
      <p:sp>
        <p:nvSpPr>
          <p:cNvPr id="9" name="TextBox 14">
            <a:extLst>
              <a:ext uri="{FF2B5EF4-FFF2-40B4-BE49-F238E27FC236}">
                <a16:creationId xmlns:a16="http://schemas.microsoft.com/office/drawing/2014/main" id="{42DF937D-34C1-42B1-82AE-13DB10AFA87B}"/>
              </a:ext>
            </a:extLst>
          </p:cNvPr>
          <p:cNvSpPr txBox="1"/>
          <p:nvPr/>
        </p:nvSpPr>
        <p:spPr>
          <a:xfrm>
            <a:off x="363967" y="1276273"/>
            <a:ext cx="6096944" cy="307777"/>
          </a:xfrm>
          <a:prstGeom prst="rect">
            <a:avLst/>
          </a:prstGeom>
          <a:noFill/>
          <a:ln cap="flat">
            <a:noFill/>
          </a:ln>
        </p:spPr>
        <p:txBody>
          <a:bodyPr vert="horz" wrap="square" lIns="91440" tIns="45720" rIns="91440" bIns="45720" anchor="t" anchorCtr="0" compatLnSpc="1">
            <a:spAutoFit/>
          </a:bodyPr>
          <a:lstStyle/>
          <a:p>
            <a:pPr marL="0" marR="0" lvl="0" indent="0" algn="l" defTabSz="914400" rtl="0" fontAlgn="auto" hangingPunct="1">
              <a:lnSpc>
                <a:spcPct val="100000"/>
              </a:lnSpc>
              <a:spcBef>
                <a:spcPts val="0"/>
              </a:spcBef>
              <a:spcAft>
                <a:spcPts val="800"/>
              </a:spcAft>
              <a:buNone/>
              <a:tabLst/>
              <a:defRPr sz="1800" b="0" i="0" u="none" strike="noStrike" kern="0" cap="none" spc="0" baseline="0">
                <a:solidFill>
                  <a:srgbClr val="000000"/>
                </a:solidFill>
                <a:uFillTx/>
              </a:defRPr>
            </a:pPr>
            <a:r>
              <a:rPr lang="en-GB" sz="1400" b="1" i="0" u="sng" strike="noStrike" kern="0" cap="none" spc="0" baseline="0">
                <a:solidFill>
                  <a:srgbClr val="000000"/>
                </a:solidFill>
                <a:uFillTx/>
                <a:latin typeface="Calibri" pitchFamily="34"/>
              </a:rPr>
              <a:t>Change Requests</a:t>
            </a:r>
            <a:endParaRPr lang="en-GB" sz="1400" b="1" i="0" u="sng" strike="noStrike" kern="0" cap="none" spc="0" baseline="0">
              <a:solidFill>
                <a:srgbClr val="000000"/>
              </a:solidFill>
              <a:uFillTx/>
              <a:latin typeface="Calibri"/>
            </a:endParaRPr>
          </a:p>
        </p:txBody>
      </p:sp>
      <p:graphicFrame>
        <p:nvGraphicFramePr>
          <p:cNvPr id="10" name="Table 3">
            <a:extLst>
              <a:ext uri="{FF2B5EF4-FFF2-40B4-BE49-F238E27FC236}">
                <a16:creationId xmlns:a16="http://schemas.microsoft.com/office/drawing/2014/main" id="{C89A9FE2-C1C1-4E1C-9B69-2A25FEC1858B}"/>
              </a:ext>
            </a:extLst>
          </p:cNvPr>
          <p:cNvGraphicFramePr>
            <a:graphicFrameLocks noGrp="1"/>
          </p:cNvGraphicFramePr>
          <p:nvPr/>
        </p:nvGraphicFramePr>
        <p:xfrm>
          <a:off x="471748" y="1638403"/>
          <a:ext cx="11248500" cy="1551684"/>
        </p:xfrm>
        <a:graphic>
          <a:graphicData uri="http://schemas.openxmlformats.org/drawingml/2006/table">
            <a:tbl>
              <a:tblPr firstRow="1" bandRow="1">
                <a:effectLst/>
                <a:tableStyleId>{5C22544A-7EE6-4342-B048-85BDC9FD1C3A}</a:tableStyleId>
              </a:tblPr>
              <a:tblGrid>
                <a:gridCol w="11248500">
                  <a:extLst>
                    <a:ext uri="{9D8B030D-6E8A-4147-A177-3AD203B41FA5}">
                      <a16:colId xmlns:a16="http://schemas.microsoft.com/office/drawing/2014/main" val="2965245634"/>
                    </a:ext>
                  </a:extLst>
                </a:gridCol>
              </a:tblGrid>
              <a:tr h="415631">
                <a:tc>
                  <a:txBody>
                    <a:bodyPr/>
                    <a:lstStyle/>
                    <a:p>
                      <a:pPr marL="0" marR="0" lvl="0" indent="0" algn="l" defTabSz="914400" rtl="0" fontAlgn="auto" hangingPunct="1">
                        <a:lnSpc>
                          <a:spcPct val="100000"/>
                        </a:lnSpc>
                        <a:spcBef>
                          <a:spcPts val="0"/>
                        </a:spcBef>
                        <a:spcAft>
                          <a:spcPts val="0"/>
                        </a:spcAft>
                        <a:buNone/>
                        <a:tabLst/>
                      </a:pPr>
                      <a:r>
                        <a:rPr lang="en-GB" sz="1800" b="1" i="0" u="none" strike="noStrike">
                          <a:solidFill>
                            <a:srgbClr val="FFFFFF"/>
                          </a:solidFill>
                          <a:latin typeface="Calibri" pitchFamily="34"/>
                        </a:rPr>
                        <a:t>Asynchronous Responses</a:t>
                      </a:r>
                      <a:r>
                        <a:rPr lang="en-GB" sz="1800" b="1" i="0">
                          <a:solidFill>
                            <a:srgbClr val="FFFFFF"/>
                          </a:solidFill>
                          <a:latin typeface="Calibri" pitchFamily="34"/>
                        </a:rPr>
                        <a:t>​ </a:t>
                      </a:r>
                      <a:endParaRPr lang="en-GB" sz="1800" b="1">
                        <a:solidFill>
                          <a:srgbClr val="FFFFFF"/>
                        </a:solidFill>
                      </a:endParaRPr>
                    </a:p>
                  </a:txBody>
                  <a:tcPr>
                    <a:solidFill>
                      <a:srgbClr val="009999"/>
                    </a:solidFill>
                  </a:tcPr>
                </a:tc>
                <a:extLst>
                  <a:ext uri="{0D108BD9-81ED-4DB2-BD59-A6C34878D82A}">
                    <a16:rowId xmlns:a16="http://schemas.microsoft.com/office/drawing/2014/main" val="2239669189"/>
                  </a:ext>
                </a:extLst>
              </a:tr>
              <a:tr h="0">
                <a:tc>
                  <a:txBody>
                    <a:bodyPr/>
                    <a:lstStyle/>
                    <a:p>
                      <a:pPr lvl="0" algn="ctr"/>
                      <a:r>
                        <a:rPr lang="en-GB" sz="1400" b="1">
                          <a:solidFill>
                            <a:srgbClr val="000000"/>
                          </a:solidFill>
                        </a:rPr>
                        <a:t>(CR064)</a:t>
                      </a:r>
                      <a:endParaRPr lang="en-GB" sz="1400">
                        <a:solidFill>
                          <a:srgbClr val="000000"/>
                        </a:solidFill>
                      </a:endParaRPr>
                    </a:p>
                  </a:txBody>
                  <a:tcPr>
                    <a:solidFill>
                      <a:srgbClr val="CFD5EA"/>
                    </a:solidFill>
                  </a:tcPr>
                </a:tc>
                <a:extLst>
                  <a:ext uri="{0D108BD9-81ED-4DB2-BD59-A6C34878D82A}">
                    <a16:rowId xmlns:a16="http://schemas.microsoft.com/office/drawing/2014/main" val="2265965057"/>
                  </a:ext>
                </a:extLst>
              </a:tr>
              <a:tr h="831253">
                <a:tc>
                  <a:txBody>
                    <a:bodyPr/>
                    <a:lstStyle/>
                    <a:p>
                      <a:pPr marL="457200" marR="0" lvl="1" indent="0" algn="l" defTabSz="914400" rtl="0" fontAlgn="auto" hangingPunct="1">
                        <a:lnSpc>
                          <a:spcPct val="100000"/>
                        </a:lnSpc>
                        <a:spcBef>
                          <a:spcPts val="0"/>
                        </a:spcBef>
                        <a:spcAft>
                          <a:spcPts val="0"/>
                        </a:spcAft>
                        <a:buNone/>
                        <a:tabLst/>
                      </a:pPr>
                      <a:r>
                        <a:rPr lang="en-GB" sz="1400" b="0" i="0" kern="1200" dirty="0">
                          <a:solidFill>
                            <a:srgbClr val="000000"/>
                          </a:solidFill>
                          <a:latin typeface="Calibri"/>
                        </a:rPr>
                        <a:t>The introduction of Asynchronous Responses delivers functionality for CDA processing, through re-configuration to the system requirements. This re-configuration enables prioritisation of the latter messages received from both CHIEF and CDS systems, to return the appropriate aggregated message, in addition to eliminating duplicate responses. This change ensures CSPs receive complete and accurate responses from CDS.</a:t>
                      </a:r>
                    </a:p>
                  </a:txBody>
                  <a:tcPr>
                    <a:solidFill>
                      <a:srgbClr val="E9EBF5"/>
                    </a:solidFill>
                  </a:tcPr>
                </a:tc>
                <a:extLst>
                  <a:ext uri="{0D108BD9-81ED-4DB2-BD59-A6C34878D82A}">
                    <a16:rowId xmlns:a16="http://schemas.microsoft.com/office/drawing/2014/main" val="704572295"/>
                  </a:ext>
                </a:extLst>
              </a:tr>
            </a:tbl>
          </a:graphicData>
        </a:graphic>
      </p:graphicFrame>
      <p:graphicFrame>
        <p:nvGraphicFramePr>
          <p:cNvPr id="11" name="Table 3">
            <a:extLst>
              <a:ext uri="{FF2B5EF4-FFF2-40B4-BE49-F238E27FC236}">
                <a16:creationId xmlns:a16="http://schemas.microsoft.com/office/drawing/2014/main" id="{F7B36580-DA76-4F0D-B635-E7EB6C6BCC18}"/>
              </a:ext>
            </a:extLst>
          </p:cNvPr>
          <p:cNvGraphicFramePr>
            <a:graphicFrameLocks noGrp="1"/>
          </p:cNvGraphicFramePr>
          <p:nvPr/>
        </p:nvGraphicFramePr>
        <p:xfrm>
          <a:off x="465155" y="3691633"/>
          <a:ext cx="11248500" cy="1593244"/>
        </p:xfrm>
        <a:graphic>
          <a:graphicData uri="http://schemas.openxmlformats.org/drawingml/2006/table">
            <a:tbl>
              <a:tblPr firstRow="1" bandRow="1">
                <a:effectLst/>
                <a:tableStyleId>{5C22544A-7EE6-4342-B048-85BDC9FD1C3A}</a:tableStyleId>
              </a:tblPr>
              <a:tblGrid>
                <a:gridCol w="11248500">
                  <a:extLst>
                    <a:ext uri="{9D8B030D-6E8A-4147-A177-3AD203B41FA5}">
                      <a16:colId xmlns:a16="http://schemas.microsoft.com/office/drawing/2014/main" val="4126864751"/>
                    </a:ext>
                  </a:extLst>
                </a:gridCol>
              </a:tblGrid>
              <a:tr h="299100">
                <a:tc>
                  <a:txBody>
                    <a:bodyPr/>
                    <a:lstStyle/>
                    <a:p>
                      <a:pPr marL="0" marR="0" lvl="0" indent="0" algn="l" defTabSz="914400" rtl="0" fontAlgn="auto" hangingPunct="1">
                        <a:lnSpc>
                          <a:spcPct val="100000"/>
                        </a:lnSpc>
                        <a:spcBef>
                          <a:spcPts val="0"/>
                        </a:spcBef>
                        <a:spcAft>
                          <a:spcPts val="0"/>
                        </a:spcAft>
                        <a:buNone/>
                        <a:tabLst/>
                      </a:pPr>
                      <a:r>
                        <a:rPr lang="en-GB" sz="1800" b="1" i="0" u="none" strike="noStrike">
                          <a:solidFill>
                            <a:srgbClr val="FFFFFF"/>
                          </a:solidFill>
                          <a:latin typeface="Calibri" pitchFamily="34"/>
                        </a:rPr>
                        <a:t>EMR/ERS Multiple Updates Capability for Inventory Linking Exports </a:t>
                      </a:r>
                      <a:endParaRPr lang="en-GB" sz="1800" b="1">
                        <a:solidFill>
                          <a:srgbClr val="FFFFFF"/>
                        </a:solidFill>
                      </a:endParaRPr>
                    </a:p>
                  </a:txBody>
                  <a:tcPr>
                    <a:solidFill>
                      <a:srgbClr val="009999"/>
                    </a:solidFill>
                  </a:tcPr>
                </a:tc>
                <a:extLst>
                  <a:ext uri="{0D108BD9-81ED-4DB2-BD59-A6C34878D82A}">
                    <a16:rowId xmlns:a16="http://schemas.microsoft.com/office/drawing/2014/main" val="685823203"/>
                  </a:ext>
                </a:extLst>
              </a:tr>
              <a:tr h="249247">
                <a:tc>
                  <a:txBody>
                    <a:bodyPr/>
                    <a:lstStyle/>
                    <a:p>
                      <a:pPr lvl="0" algn="ctr"/>
                      <a:r>
                        <a:rPr lang="en-GB" sz="1400" b="1">
                          <a:solidFill>
                            <a:srgbClr val="000000"/>
                          </a:solidFill>
                        </a:rPr>
                        <a:t>(CR147)</a:t>
                      </a:r>
                      <a:endParaRPr lang="en-GB" sz="1400">
                        <a:solidFill>
                          <a:srgbClr val="000000"/>
                        </a:solidFill>
                      </a:endParaRPr>
                    </a:p>
                  </a:txBody>
                  <a:tcPr>
                    <a:solidFill>
                      <a:srgbClr val="CFD5EA"/>
                    </a:solidFill>
                  </a:tcPr>
                </a:tc>
                <a:extLst>
                  <a:ext uri="{0D108BD9-81ED-4DB2-BD59-A6C34878D82A}">
                    <a16:rowId xmlns:a16="http://schemas.microsoft.com/office/drawing/2014/main" val="3657569618"/>
                  </a:ext>
                </a:extLst>
              </a:tr>
              <a:tr h="922684">
                <a:tc>
                  <a:txBody>
                    <a:bodyPr/>
                    <a:lstStyle/>
                    <a:p>
                      <a:pPr marL="457200" marR="0" lvl="1" indent="0" algn="l" defTabSz="914400" rtl="0" fontAlgn="auto" hangingPunct="1">
                        <a:lnSpc>
                          <a:spcPct val="100000"/>
                        </a:lnSpc>
                        <a:spcBef>
                          <a:spcPts val="0"/>
                        </a:spcBef>
                        <a:spcAft>
                          <a:spcPts val="0"/>
                        </a:spcAft>
                        <a:buNone/>
                        <a:tabLst/>
                      </a:pPr>
                      <a:r>
                        <a:rPr lang="en-GB" sz="1400" b="0" i="0" kern="1200" dirty="0">
                          <a:solidFill>
                            <a:srgbClr val="000000"/>
                          </a:solidFill>
                          <a:latin typeface="Calibri"/>
                        </a:rPr>
                        <a:t>At present, CDS does not send EMR/ERS messages to all movement submitters for a MUCR/DUCR; whereby only the last movement requestor receives this update. This change ensures that on occasions where a single shipment is arrived in more than one location, CDS will send the appropriate responses regarding the most recent route, or Unique Consignment Reference status, to the relevant actors</a:t>
                      </a:r>
                    </a:p>
                  </a:txBody>
                  <a:tcPr>
                    <a:solidFill>
                      <a:srgbClr val="E9EBF5"/>
                    </a:solidFill>
                  </a:tcPr>
                </a:tc>
                <a:extLst>
                  <a:ext uri="{0D108BD9-81ED-4DB2-BD59-A6C34878D82A}">
                    <a16:rowId xmlns:a16="http://schemas.microsoft.com/office/drawing/2014/main" val="3878575507"/>
                  </a:ext>
                </a:extLst>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Straight Connector 17">
            <a:extLst>
              <a:ext uri="{FF2B5EF4-FFF2-40B4-BE49-F238E27FC236}">
                <a16:creationId xmlns:a16="http://schemas.microsoft.com/office/drawing/2014/main" id="{2AD6F575-2A36-4CCA-874B-6F554EC181ED}"/>
              </a:ext>
            </a:extLst>
          </p:cNvPr>
          <p:cNvCxnSpPr/>
          <p:nvPr/>
        </p:nvCxnSpPr>
        <p:spPr>
          <a:xfrm>
            <a:off x="325937" y="186903"/>
            <a:ext cx="0" cy="422050"/>
          </a:xfrm>
          <a:prstGeom prst="straightConnector1">
            <a:avLst/>
          </a:prstGeom>
          <a:noFill/>
          <a:ln w="28575" cap="flat">
            <a:solidFill>
              <a:srgbClr val="D9D9D9"/>
            </a:solidFill>
            <a:prstDash val="solid"/>
            <a:miter/>
          </a:ln>
        </p:spPr>
      </p:cxnSp>
      <p:cxnSp>
        <p:nvCxnSpPr>
          <p:cNvPr id="3" name="Straight Connector 11">
            <a:extLst>
              <a:ext uri="{FF2B5EF4-FFF2-40B4-BE49-F238E27FC236}">
                <a16:creationId xmlns:a16="http://schemas.microsoft.com/office/drawing/2014/main" id="{1A3D2F3C-4830-4EF0-83F5-BA5CB7B9D0C9}"/>
              </a:ext>
            </a:extLst>
          </p:cNvPr>
          <p:cNvCxnSpPr/>
          <p:nvPr/>
        </p:nvCxnSpPr>
        <p:spPr>
          <a:xfrm>
            <a:off x="319116" y="186903"/>
            <a:ext cx="0" cy="422050"/>
          </a:xfrm>
          <a:prstGeom prst="straightConnector1">
            <a:avLst/>
          </a:prstGeom>
          <a:noFill/>
          <a:ln w="28575" cap="flat">
            <a:solidFill>
              <a:srgbClr val="D9D9D9"/>
            </a:solidFill>
            <a:prstDash val="solid"/>
            <a:miter/>
          </a:ln>
        </p:spPr>
      </p:cxnSp>
      <p:sp>
        <p:nvSpPr>
          <p:cNvPr id="4" name="TextBox 12">
            <a:extLst>
              <a:ext uri="{FF2B5EF4-FFF2-40B4-BE49-F238E27FC236}">
                <a16:creationId xmlns:a16="http://schemas.microsoft.com/office/drawing/2014/main" id="{80A63BA6-DBE6-4C37-8797-C1558A476A00}"/>
              </a:ext>
            </a:extLst>
          </p:cNvPr>
          <p:cNvSpPr txBox="1"/>
          <p:nvPr/>
        </p:nvSpPr>
        <p:spPr>
          <a:xfrm>
            <a:off x="363967" y="248844"/>
            <a:ext cx="2321725" cy="307777"/>
          </a:xfrm>
          <a:prstGeom prst="rect">
            <a:avLst/>
          </a:prstGeom>
          <a:noFill/>
          <a:ln cap="flat">
            <a:noFill/>
          </a:ln>
        </p:spPr>
        <p:txBody>
          <a:bodyPr vert="horz" wrap="none" lIns="91440" tIns="45720" rIns="91440" bIns="45720" anchor="t"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400" b="1" i="0" u="none" strike="noStrike" kern="1200" cap="none" spc="50" baseline="0">
                <a:solidFill>
                  <a:srgbClr val="A6A6A6"/>
                </a:solidFill>
                <a:uFillTx/>
                <a:latin typeface="Calibri"/>
              </a:rPr>
              <a:t>RELEASE SCOPE GUIDANCE</a:t>
            </a:r>
          </a:p>
        </p:txBody>
      </p:sp>
      <p:pic>
        <p:nvPicPr>
          <p:cNvPr id="5" name="Picture 106" descr="57% HMRCppt logo">
            <a:extLst>
              <a:ext uri="{FF2B5EF4-FFF2-40B4-BE49-F238E27FC236}">
                <a16:creationId xmlns:a16="http://schemas.microsoft.com/office/drawing/2014/main" id="{1A1D80E2-C640-474F-85BF-56755C189C31}"/>
              </a:ext>
            </a:extLst>
          </p:cNvPr>
          <p:cNvPicPr>
            <a:picLocks noChangeAspect="1"/>
          </p:cNvPicPr>
          <p:nvPr/>
        </p:nvPicPr>
        <p:blipFill>
          <a:blip r:embed="rId3"/>
          <a:srcRect/>
          <a:stretch>
            <a:fillRect/>
          </a:stretch>
        </p:blipFill>
        <p:spPr>
          <a:xfrm>
            <a:off x="446099" y="5929033"/>
            <a:ext cx="1030227" cy="633980"/>
          </a:xfrm>
          <a:prstGeom prst="rect">
            <a:avLst/>
          </a:prstGeom>
          <a:noFill/>
          <a:ln cap="flat">
            <a:noFill/>
          </a:ln>
        </p:spPr>
      </p:pic>
      <p:sp>
        <p:nvSpPr>
          <p:cNvPr id="6" name="Slide Number Placeholder 5">
            <a:extLst>
              <a:ext uri="{FF2B5EF4-FFF2-40B4-BE49-F238E27FC236}">
                <a16:creationId xmlns:a16="http://schemas.microsoft.com/office/drawing/2014/main" id="{4B61B73F-34C7-4DF0-A9EB-F66C83D50991}"/>
              </a:ext>
            </a:extLst>
          </p:cNvPr>
          <p:cNvSpPr txBox="1"/>
          <p:nvPr/>
        </p:nvSpPr>
        <p:spPr>
          <a:xfrm>
            <a:off x="11526231" y="6387897"/>
            <a:ext cx="443849" cy="365129"/>
          </a:xfrm>
          <a:prstGeom prst="rect">
            <a:avLst/>
          </a:prstGeom>
          <a:noFill/>
          <a:ln cap="flat">
            <a:noFill/>
          </a:ln>
        </p:spPr>
        <p:txBody>
          <a:bodyPr vert="horz" wrap="square" lIns="91440" tIns="45720" rIns="91440" bIns="45720" anchor="ctr" anchorCtr="0" compatLnSpc="1">
            <a:noAutofit/>
          </a:bodyPr>
          <a:lstStyle/>
          <a:p>
            <a:pPr marL="0" marR="0" lvl="0" indent="0" algn="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fld id="{AAA04A39-756E-40FD-932F-E7691A62AA67}" type="slidenum">
              <a:rPr/>
              <a:t>17</a:t>
            </a:fld>
            <a:endParaRPr lang="en-GB" sz="900" b="0" i="0" u="none" strike="noStrike" kern="1200" cap="none" spc="0" baseline="0">
              <a:solidFill>
                <a:srgbClr val="000000"/>
              </a:solidFill>
              <a:uFillTx/>
              <a:latin typeface="Calibri"/>
            </a:endParaRPr>
          </a:p>
        </p:txBody>
      </p:sp>
      <p:sp>
        <p:nvSpPr>
          <p:cNvPr id="7" name="Footer Placeholder 1">
            <a:extLst>
              <a:ext uri="{FF2B5EF4-FFF2-40B4-BE49-F238E27FC236}">
                <a16:creationId xmlns:a16="http://schemas.microsoft.com/office/drawing/2014/main" id="{B340F1F8-1A8A-4484-A157-9F04CB75CCB9}"/>
              </a:ext>
            </a:extLst>
          </p:cNvPr>
          <p:cNvSpPr txBox="1"/>
          <p:nvPr/>
        </p:nvSpPr>
        <p:spPr>
          <a:xfrm>
            <a:off x="2982644" y="6490776"/>
            <a:ext cx="8737604" cy="144466"/>
          </a:xfrm>
          <a:prstGeom prst="rect">
            <a:avLst/>
          </a:prstGeom>
          <a:noFill/>
          <a:ln cap="flat">
            <a:noFill/>
          </a:ln>
        </p:spPr>
        <p:txBody>
          <a:bodyPr vert="horz" wrap="square" lIns="0" tIns="0" rIns="0" bIns="0" anchor="ctr" anchorCtr="0" compatLnSpc="1">
            <a:noAutofit/>
          </a:bodyPr>
          <a:lstStyle/>
          <a:p>
            <a:pPr marL="0" marR="0" lvl="0" indent="0" algn="r"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r>
              <a:rPr lang="en-GB" sz="900" b="0" i="0" u="none" strike="noStrike" kern="1200" cap="none" spc="0" baseline="0">
                <a:solidFill>
                  <a:srgbClr val="3B3A3D"/>
                </a:solidFill>
                <a:uFillTx/>
                <a:latin typeface="Calibri"/>
                <a:ea typeface="Geneva"/>
                <a:cs typeface="Arial"/>
              </a:rPr>
              <a:t>OFFICIAL | CDS External Release Scope Guidance Document |</a:t>
            </a:r>
            <a:endParaRPr lang="en-GB" sz="900" b="1" i="0" u="none" strike="noStrike" kern="1200" cap="none" spc="0" baseline="0">
              <a:solidFill>
                <a:srgbClr val="008D8E"/>
              </a:solidFill>
              <a:uFillTx/>
              <a:latin typeface="Calibri"/>
              <a:ea typeface="Geneva"/>
              <a:cs typeface="Arial"/>
            </a:endParaRPr>
          </a:p>
        </p:txBody>
      </p:sp>
      <p:sp>
        <p:nvSpPr>
          <p:cNvPr id="8" name="Rectangle 7">
            <a:extLst>
              <a:ext uri="{FF2B5EF4-FFF2-40B4-BE49-F238E27FC236}">
                <a16:creationId xmlns:a16="http://schemas.microsoft.com/office/drawing/2014/main" id="{D47877AB-D951-4EF7-B8A0-4995199AC1F8}"/>
              </a:ext>
            </a:extLst>
          </p:cNvPr>
          <p:cNvSpPr/>
          <p:nvPr/>
        </p:nvSpPr>
        <p:spPr>
          <a:xfrm>
            <a:off x="465155" y="799761"/>
            <a:ext cx="3563745" cy="400114"/>
          </a:xfrm>
          <a:prstGeom prst="rect">
            <a:avLst/>
          </a:prstGeom>
          <a:solidFill>
            <a:srgbClr val="009999"/>
          </a:solidFill>
          <a:ln w="25402" cap="flat">
            <a:solidFill>
              <a:srgbClr val="009999"/>
            </a:solidFill>
            <a:prstDash val="solid"/>
            <a:miter/>
          </a:ln>
        </p:spPr>
        <p:txBody>
          <a:bodyPr vert="horz" wrap="square" lIns="91440" tIns="45720" rIns="91440" bIns="4572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2400" b="1" i="0" u="none" strike="noStrike" kern="0" cap="none" spc="0" baseline="0">
                <a:solidFill>
                  <a:srgbClr val="FFFFFF"/>
                </a:solidFill>
                <a:uFillTx/>
                <a:latin typeface="Calibri"/>
              </a:rPr>
              <a:t>New Release Functionality</a:t>
            </a:r>
          </a:p>
        </p:txBody>
      </p:sp>
      <p:sp>
        <p:nvSpPr>
          <p:cNvPr id="9" name="TextBox 14">
            <a:extLst>
              <a:ext uri="{FF2B5EF4-FFF2-40B4-BE49-F238E27FC236}">
                <a16:creationId xmlns:a16="http://schemas.microsoft.com/office/drawing/2014/main" id="{42DF937D-34C1-42B1-82AE-13DB10AFA87B}"/>
              </a:ext>
            </a:extLst>
          </p:cNvPr>
          <p:cNvSpPr txBox="1"/>
          <p:nvPr/>
        </p:nvSpPr>
        <p:spPr>
          <a:xfrm>
            <a:off x="363966" y="1276273"/>
            <a:ext cx="11665595" cy="2585323"/>
          </a:xfrm>
          <a:prstGeom prst="rect">
            <a:avLst/>
          </a:prstGeom>
          <a:noFill/>
          <a:ln cap="flat">
            <a:noFill/>
          </a:ln>
        </p:spPr>
        <p:txBody>
          <a:bodyPr vert="horz" wrap="square" lIns="91440" tIns="45720" rIns="91440" bIns="45720" anchor="t"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400" b="1" i="0" u="none" strike="noStrike" kern="1200" cap="none" spc="0" baseline="0" dirty="0">
                <a:solidFill>
                  <a:srgbClr val="000000"/>
                </a:solidFill>
                <a:uFillTx/>
                <a:latin typeface="Calibri"/>
              </a:rPr>
              <a:t>BIRDS (Bulk Imports Reduced Data Set) – DE 4/14 Item Price</a:t>
            </a:r>
          </a:p>
          <a:p>
            <a:pPr>
              <a:defRPr sz="1800" b="0" i="0" u="none" strike="noStrike" kern="0" cap="none" spc="0" baseline="0">
                <a:solidFill>
                  <a:srgbClr val="000000"/>
                </a:solidFill>
                <a:uFillTx/>
              </a:defRPr>
            </a:pPr>
            <a:r>
              <a:rPr lang="en-GB" sz="1400" b="0" i="0" u="none" strike="noStrike" kern="1200" cap="none" spc="0" baseline="0" dirty="0">
                <a:solidFill>
                  <a:srgbClr val="333333"/>
                </a:solidFill>
                <a:uFillTx/>
                <a:latin typeface="Calibri  "/>
              </a:rPr>
              <a:t>The introduction of </a:t>
            </a:r>
            <a:r>
              <a:rPr lang="en-GB" sz="1400" b="0" i="0" u="none" strike="noStrike" kern="1200" cap="none" spc="0" baseline="0" dirty="0">
                <a:solidFill>
                  <a:srgbClr val="000000"/>
                </a:solidFill>
                <a:uFillTx/>
                <a:latin typeface="Calibri  "/>
              </a:rPr>
              <a:t>BIRDS</a:t>
            </a:r>
            <a:r>
              <a:rPr lang="en-GB" sz="1400" b="0" i="0" u="none" strike="noStrike" kern="1200" cap="none" spc="0" baseline="0" dirty="0">
                <a:solidFill>
                  <a:srgbClr val="333333"/>
                </a:solidFill>
                <a:uFillTx/>
                <a:latin typeface="Calibri  "/>
              </a:rPr>
              <a:t> in CDS is a method of customs simplification and trade facilitation. </a:t>
            </a:r>
            <a:r>
              <a:rPr lang="en-GB" sz="1400" b="0" i="0" u="none" strike="noStrike" kern="1200" cap="none" spc="0" baseline="0" dirty="0">
                <a:solidFill>
                  <a:srgbClr val="000000"/>
                </a:solidFill>
                <a:uFillTx/>
                <a:latin typeface="Calibri  "/>
              </a:rPr>
              <a:t>The new data set </a:t>
            </a:r>
            <a:r>
              <a:rPr lang="en-GB" sz="1400" b="0" i="0" u="none" strike="noStrike" kern="1200" cap="none" spc="0" baseline="0" dirty="0">
                <a:solidFill>
                  <a:srgbClr val="333333"/>
                </a:solidFill>
                <a:uFillTx/>
                <a:latin typeface="Calibri  "/>
              </a:rPr>
              <a:t>enables authorised traders to declare multiple consignments of low value goods, on a single customs import declaration. Further details on BIRDS can be found here: </a:t>
            </a:r>
            <a:r>
              <a:rPr lang="en-GB" sz="1400" b="0" i="0" u="none" strike="noStrike" kern="1200" cap="none" spc="0" baseline="0" dirty="0">
                <a:solidFill>
                  <a:srgbClr val="333333"/>
                </a:solidFill>
                <a:uFillTx/>
                <a:latin typeface="Calibri  "/>
                <a:hlinkClick r:id="rId4"/>
              </a:rPr>
              <a:t>https://www.gov.uk/guidance/apply-to-import-multiple-low-value-parcels-on-one-declaration--2</a:t>
            </a:r>
            <a:r>
              <a:rPr lang="en-GB" sz="1400" b="0" i="0" u="none" strike="noStrike" kern="1200" cap="none" spc="0" baseline="0" dirty="0">
                <a:solidFill>
                  <a:srgbClr val="333333"/>
                </a:solidFill>
                <a:uFillTx/>
                <a:latin typeface="Calibri  "/>
              </a:rPr>
              <a:t> </a:t>
            </a:r>
            <a:endParaRPr lang="en-GB" sz="1400" b="0" i="0" u="none" strike="noStrike" kern="1200" cap="none" spc="0" baseline="0" dirty="0">
              <a:solidFill>
                <a:srgbClr val="000000"/>
              </a:solidFill>
              <a:uFillTx/>
              <a:latin typeface="Calibri"/>
            </a:endParaRPr>
          </a:p>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dirty="0">
              <a:solidFill>
                <a:srgbClr val="000000"/>
              </a:solidFill>
              <a:uFillTx/>
              <a:latin typeface="Calibri"/>
            </a:endParaRPr>
          </a:p>
          <a:p>
            <a:pPr>
              <a:defRPr sz="1800" b="0" i="0" u="none" strike="noStrike" kern="0" cap="none" spc="0" baseline="0">
                <a:solidFill>
                  <a:srgbClr val="000000"/>
                </a:solidFill>
                <a:uFillTx/>
              </a:defRPr>
            </a:pPr>
            <a:r>
              <a:rPr lang="en-US" sz="1400" dirty="0">
                <a:solidFill>
                  <a:srgbClr val="000000"/>
                </a:solidFill>
                <a:latin typeface="Calibri"/>
              </a:rPr>
              <a:t>The </a:t>
            </a:r>
            <a:r>
              <a:rPr lang="en-US" sz="1400" b="1" dirty="0">
                <a:solidFill>
                  <a:srgbClr val="000000"/>
                </a:solidFill>
                <a:latin typeface="Calibri"/>
              </a:rPr>
              <a:t>current</a:t>
            </a:r>
            <a:r>
              <a:rPr lang="en-US" sz="1400" dirty="0">
                <a:solidFill>
                  <a:srgbClr val="000000"/>
                </a:solidFill>
                <a:latin typeface="Calibri"/>
              </a:rPr>
              <a:t> rule for </a:t>
            </a:r>
            <a:r>
              <a:rPr lang="en-US" sz="1400" b="1" dirty="0">
                <a:solidFill>
                  <a:srgbClr val="000000"/>
                </a:solidFill>
                <a:latin typeface="Calibri"/>
              </a:rPr>
              <a:t>DE 4/14 </a:t>
            </a:r>
            <a:r>
              <a:rPr lang="en-US" sz="1400" dirty="0">
                <a:solidFill>
                  <a:srgbClr val="000000"/>
                </a:solidFill>
                <a:latin typeface="Calibri"/>
              </a:rPr>
              <a:t>requires </a:t>
            </a:r>
            <a:r>
              <a:rPr lang="en-GB" sz="1400" dirty="0">
                <a:solidFill>
                  <a:srgbClr val="000000"/>
                </a:solidFill>
                <a:latin typeface="Calibri" pitchFamily="34"/>
                <a:ea typeface="Calibri" pitchFamily="34"/>
              </a:rPr>
              <a:t>the value to be entered for the most expensive individual consignment being sent to a single importer, using the BIRDS declaration. The maximum value of a consignment sent to a single individual importer, and cleared using BIRDS, cannot exceed £135. The value entered must be declared in GBP only.</a:t>
            </a:r>
          </a:p>
          <a:p>
            <a:pPr>
              <a:defRPr sz="1800" b="0" i="0" u="none" strike="noStrike" kern="0" cap="none" spc="0" baseline="0">
                <a:solidFill>
                  <a:srgbClr val="000000"/>
                </a:solidFill>
                <a:uFillTx/>
              </a:defRPr>
            </a:pPr>
            <a:endParaRPr lang="en-GB" sz="1400" dirty="0">
              <a:solidFill>
                <a:srgbClr val="000000"/>
              </a:solidFill>
              <a:latin typeface="Calibri" pitchFamily="34"/>
            </a:endParaRPr>
          </a:p>
          <a:p>
            <a:pPr>
              <a:defRPr sz="1800" b="0" i="0" u="none" strike="noStrike" kern="0" cap="none" spc="0" baseline="0">
                <a:solidFill>
                  <a:srgbClr val="000000"/>
                </a:solidFill>
                <a:uFillTx/>
              </a:defRPr>
            </a:pPr>
            <a:endParaRPr lang="en-GB" sz="1400" dirty="0"/>
          </a:p>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dirty="0">
              <a:solidFill>
                <a:srgbClr val="000000"/>
              </a:solidFill>
              <a:uFillTx/>
              <a:latin typeface="Calibri"/>
            </a:endParaRPr>
          </a:p>
        </p:txBody>
      </p:sp>
      <p:graphicFrame>
        <p:nvGraphicFramePr>
          <p:cNvPr id="13" name="Table 12">
            <a:extLst>
              <a:ext uri="{FF2B5EF4-FFF2-40B4-BE49-F238E27FC236}">
                <a16:creationId xmlns:a16="http://schemas.microsoft.com/office/drawing/2014/main" id="{17311827-85D1-4862-8815-823CDA871A0C}"/>
              </a:ext>
            </a:extLst>
          </p:cNvPr>
          <p:cNvGraphicFramePr>
            <a:graphicFrameLocks noGrp="1"/>
          </p:cNvGraphicFramePr>
          <p:nvPr/>
        </p:nvGraphicFramePr>
        <p:xfrm>
          <a:off x="430588" y="3548242"/>
          <a:ext cx="11397446" cy="2164080"/>
        </p:xfrm>
        <a:graphic>
          <a:graphicData uri="http://schemas.openxmlformats.org/drawingml/2006/table">
            <a:tbl>
              <a:tblPr firstRow="1" bandRow="1">
                <a:effectLst/>
                <a:tableStyleId>{5C22544A-7EE6-4342-B048-85BDC9FD1C3A}</a:tableStyleId>
              </a:tblPr>
              <a:tblGrid>
                <a:gridCol w="1106977">
                  <a:extLst>
                    <a:ext uri="{9D8B030D-6E8A-4147-A177-3AD203B41FA5}">
                      <a16:colId xmlns:a16="http://schemas.microsoft.com/office/drawing/2014/main" val="3915946671"/>
                    </a:ext>
                  </a:extLst>
                </a:gridCol>
                <a:gridCol w="1197734">
                  <a:extLst>
                    <a:ext uri="{9D8B030D-6E8A-4147-A177-3AD203B41FA5}">
                      <a16:colId xmlns:a16="http://schemas.microsoft.com/office/drawing/2014/main" val="2247490691"/>
                    </a:ext>
                  </a:extLst>
                </a:gridCol>
                <a:gridCol w="1536358">
                  <a:extLst>
                    <a:ext uri="{9D8B030D-6E8A-4147-A177-3AD203B41FA5}">
                      <a16:colId xmlns:a16="http://schemas.microsoft.com/office/drawing/2014/main" val="641578491"/>
                    </a:ext>
                  </a:extLst>
                </a:gridCol>
                <a:gridCol w="7556377">
                  <a:extLst>
                    <a:ext uri="{9D8B030D-6E8A-4147-A177-3AD203B41FA5}">
                      <a16:colId xmlns:a16="http://schemas.microsoft.com/office/drawing/2014/main" val="290790711"/>
                    </a:ext>
                  </a:extLst>
                </a:gridCol>
              </a:tblGrid>
              <a:tr h="432710">
                <a:tc>
                  <a:txBody>
                    <a:bodyPr/>
                    <a:lstStyle/>
                    <a:p>
                      <a:r>
                        <a:rPr lang="en-GB" sz="1300">
                          <a:effectLst/>
                        </a:rPr>
                        <a:t>Data Element​</a:t>
                      </a:r>
                      <a:endParaRPr lang="en-GB" sz="1300">
                        <a:effectLst/>
                        <a:latin typeface="Calibri" panose="020F0502020204030204" pitchFamily="34" charset="0"/>
                        <a:ea typeface="Calibri" panose="020F0502020204030204" pitchFamily="34" charset="0"/>
                      </a:endParaRPr>
                    </a:p>
                  </a:txBody>
                  <a:tcPr>
                    <a:solidFill>
                      <a:srgbClr val="009999"/>
                    </a:solidFill>
                  </a:tcPr>
                </a:tc>
                <a:tc>
                  <a:txBody>
                    <a:bodyPr/>
                    <a:lstStyle/>
                    <a:p>
                      <a:r>
                        <a:rPr lang="en-GB" sz="1300">
                          <a:effectLst/>
                        </a:rPr>
                        <a:t>Description​</a:t>
                      </a:r>
                      <a:endParaRPr lang="en-GB" sz="1300">
                        <a:effectLst/>
                        <a:latin typeface="Calibri" panose="020F0502020204030204" pitchFamily="34" charset="0"/>
                        <a:ea typeface="Calibri" panose="020F0502020204030204" pitchFamily="34" charset="0"/>
                      </a:endParaRPr>
                    </a:p>
                  </a:txBody>
                  <a:tcPr>
                    <a:solidFill>
                      <a:srgbClr val="009999"/>
                    </a:solidFill>
                  </a:tcPr>
                </a:tc>
                <a:tc>
                  <a:txBody>
                    <a:bodyPr/>
                    <a:lstStyle/>
                    <a:p>
                      <a:r>
                        <a:rPr lang="en-GB" sz="1300">
                          <a:effectLst/>
                        </a:rPr>
                        <a:t>Header (H), Item (I)​</a:t>
                      </a:r>
                      <a:endParaRPr lang="en-GB" sz="1300">
                        <a:effectLst/>
                        <a:latin typeface="Calibri" panose="020F0502020204030204" pitchFamily="34" charset="0"/>
                        <a:ea typeface="Calibri" panose="020F0502020204030204" pitchFamily="34" charset="0"/>
                      </a:endParaRPr>
                    </a:p>
                  </a:txBody>
                  <a:tcPr>
                    <a:solidFill>
                      <a:srgbClr val="009999"/>
                    </a:solidFill>
                  </a:tcPr>
                </a:tc>
                <a:tc>
                  <a:txBody>
                    <a:bodyPr/>
                    <a:lstStyle/>
                    <a:p>
                      <a:r>
                        <a:rPr lang="en-GB" sz="1300">
                          <a:effectLst/>
                        </a:rPr>
                        <a:t>Notes​</a:t>
                      </a:r>
                      <a:endParaRPr lang="en-GB" sz="1300">
                        <a:effectLst/>
                        <a:latin typeface="Calibri" panose="020F0502020204030204" pitchFamily="34" charset="0"/>
                        <a:ea typeface="Calibri" panose="020F0502020204030204" pitchFamily="34" charset="0"/>
                      </a:endParaRPr>
                    </a:p>
                  </a:txBody>
                  <a:tcPr>
                    <a:solidFill>
                      <a:srgbClr val="009999"/>
                    </a:solidFill>
                  </a:tcPr>
                </a:tc>
                <a:extLst>
                  <a:ext uri="{0D108BD9-81ED-4DB2-BD59-A6C34878D82A}">
                    <a16:rowId xmlns:a16="http://schemas.microsoft.com/office/drawing/2014/main" val="3384468624"/>
                  </a:ext>
                </a:extLst>
              </a:tr>
              <a:tr h="967233">
                <a:tc>
                  <a:txBody>
                    <a:bodyPr/>
                    <a:lstStyle/>
                    <a:p>
                      <a:r>
                        <a:rPr lang="en-GB" sz="1300">
                          <a:effectLst/>
                        </a:rPr>
                        <a:t>4/14​</a:t>
                      </a:r>
                      <a:endParaRPr lang="en-GB" sz="1300">
                        <a:effectLst/>
                        <a:latin typeface="Calibri" panose="020F0502020204030204" pitchFamily="34" charset="0"/>
                        <a:ea typeface="Calibri" panose="020F0502020204030204" pitchFamily="34" charset="0"/>
                      </a:endParaRPr>
                    </a:p>
                  </a:txBody>
                  <a:tcPr/>
                </a:tc>
                <a:tc>
                  <a:txBody>
                    <a:bodyPr/>
                    <a:lstStyle/>
                    <a:p>
                      <a:r>
                        <a:rPr lang="en-GB" sz="1300">
                          <a:effectLst/>
                        </a:rPr>
                        <a:t>Item Price​</a:t>
                      </a:r>
                      <a:endParaRPr lang="en-GB" sz="1300">
                        <a:effectLst/>
                        <a:latin typeface="Calibri" panose="020F0502020204030204" pitchFamily="34" charset="0"/>
                        <a:ea typeface="Calibri" panose="020F0502020204030204" pitchFamily="34" charset="0"/>
                      </a:endParaRPr>
                    </a:p>
                  </a:txBody>
                  <a:tcPr/>
                </a:tc>
                <a:tc>
                  <a:txBody>
                    <a:bodyPr/>
                    <a:lstStyle/>
                    <a:p>
                      <a:r>
                        <a:rPr lang="en-GB" sz="1300">
                          <a:effectLst/>
                        </a:rPr>
                        <a:t>I​</a:t>
                      </a:r>
                      <a:endParaRPr lang="en-GB" sz="1300">
                        <a:effectLst/>
                        <a:latin typeface="Calibri" panose="020F0502020204030204" pitchFamily="34" charset="0"/>
                        <a:ea typeface="Calibri" panose="020F0502020204030204" pitchFamily="34" charset="0"/>
                      </a:endParaRPr>
                    </a:p>
                  </a:txBody>
                  <a:tcPr/>
                </a:tc>
                <a:tc>
                  <a:txBody>
                    <a:bodyPr/>
                    <a:lstStyle/>
                    <a:p>
                      <a:r>
                        <a:rPr lang="en-GB" sz="1300" dirty="0">
                          <a:effectLst/>
                        </a:rPr>
                        <a:t>Enter the value of any individual consignment being sent to a single importer, using the BIRDS declaration. Each individual consignment must have a value which does not exceed £135, but the combined value of multiple consignments declared as a single item will be able to exceed this limit. </a:t>
                      </a:r>
                    </a:p>
                    <a:p>
                      <a:pPr marL="0" marR="0" lvl="0" indent="0" algn="l" defTabSz="914400" rtl="0" eaLnBrk="1" fontAlgn="auto" latinLnBrk="0" hangingPunct="1">
                        <a:lnSpc>
                          <a:spcPct val="100000"/>
                        </a:lnSpc>
                        <a:spcBef>
                          <a:spcPts val="0"/>
                        </a:spcBef>
                        <a:spcAft>
                          <a:spcPts val="0"/>
                        </a:spcAft>
                        <a:buClrTx/>
                        <a:buSzTx/>
                        <a:buFontTx/>
                        <a:buNone/>
                        <a:tabLst/>
                        <a:defRPr/>
                      </a:pPr>
                      <a:r>
                        <a:rPr lang="en-GB" sz="1300" dirty="0">
                          <a:effectLst/>
                        </a:rPr>
                        <a:t> </a:t>
                      </a:r>
                    </a:p>
                    <a:p>
                      <a:pPr>
                        <a:defRPr sz="1800" b="0" i="0" u="none" strike="noStrike" kern="0" cap="none" spc="0" baseline="0">
                          <a:solidFill>
                            <a:srgbClr val="000000"/>
                          </a:solidFill>
                          <a:uFillTx/>
                        </a:defRPr>
                      </a:pPr>
                      <a:r>
                        <a:rPr lang="en-US" sz="1300" b="1" u="sng" dirty="0">
                          <a:solidFill>
                            <a:srgbClr val="000000"/>
                          </a:solidFill>
                          <a:latin typeface="+mn-lt"/>
                        </a:rPr>
                        <a:t>Please note:</a:t>
                      </a:r>
                    </a:p>
                    <a:p>
                      <a:pPr marL="0" marR="0" lvl="0" indent="0" algn="l" defTabSz="914400" rtl="0" eaLnBrk="1" fontAlgn="auto" latinLnBrk="0" hangingPunct="1">
                        <a:lnSpc>
                          <a:spcPct val="100000"/>
                        </a:lnSpc>
                        <a:spcBef>
                          <a:spcPts val="0"/>
                        </a:spcBef>
                        <a:spcAft>
                          <a:spcPts val="0"/>
                        </a:spcAft>
                        <a:buClrTx/>
                        <a:buSzTx/>
                        <a:buFontTx/>
                        <a:buNone/>
                        <a:tabLst/>
                        <a:defRPr/>
                      </a:pPr>
                      <a:r>
                        <a:rPr lang="en-GB" sz="1300" dirty="0"/>
                        <a:t>T</a:t>
                      </a:r>
                      <a:r>
                        <a:rPr lang="en-GB" sz="1300" dirty="0">
                          <a:effectLst/>
                        </a:rPr>
                        <a:t>he above workaround will be in place from </a:t>
                      </a:r>
                      <a:r>
                        <a:rPr lang="en-GB" sz="1300" b="1" dirty="0">
                          <a:effectLst/>
                        </a:rPr>
                        <a:t>CDS 3.7.1, </a:t>
                      </a:r>
                      <a:r>
                        <a:rPr lang="en-GB" sz="1300" dirty="0">
                          <a:effectLst/>
                        </a:rPr>
                        <a:t>on the </a:t>
                      </a:r>
                      <a:r>
                        <a:rPr lang="en-GB" sz="1300" b="1" dirty="0">
                          <a:effectLst/>
                        </a:rPr>
                        <a:t>30</a:t>
                      </a:r>
                      <a:r>
                        <a:rPr lang="en-GB" sz="1300" b="1" baseline="30000" dirty="0">
                          <a:effectLst/>
                        </a:rPr>
                        <a:t>th</a:t>
                      </a:r>
                      <a:r>
                        <a:rPr lang="en-GB" sz="1300" b="1" dirty="0">
                          <a:effectLst/>
                        </a:rPr>
                        <a:t> of July 2022</a:t>
                      </a:r>
                      <a:r>
                        <a:rPr lang="en-GB" sz="1300" dirty="0">
                          <a:effectLst/>
                        </a:rPr>
                        <a:t>. </a:t>
                      </a:r>
                    </a:p>
                    <a:p>
                      <a:pPr marL="0" marR="0" lvl="0" indent="0" algn="l" defTabSz="914400" rtl="0" eaLnBrk="1" fontAlgn="auto" latinLnBrk="0" hangingPunct="1">
                        <a:lnSpc>
                          <a:spcPct val="100000"/>
                        </a:lnSpc>
                        <a:spcBef>
                          <a:spcPts val="0"/>
                        </a:spcBef>
                        <a:spcAft>
                          <a:spcPts val="0"/>
                        </a:spcAft>
                        <a:buClrTx/>
                        <a:buSzTx/>
                        <a:buFontTx/>
                        <a:buNone/>
                        <a:tabLst/>
                        <a:defRPr/>
                      </a:pPr>
                      <a:r>
                        <a:rPr lang="en-GB" sz="1300" dirty="0">
                          <a:effectLst/>
                        </a:rPr>
                        <a:t>From </a:t>
                      </a:r>
                      <a:r>
                        <a:rPr lang="en-GB" sz="1300" b="1" dirty="0">
                          <a:effectLst/>
                        </a:rPr>
                        <a:t>CDS 3.8.0, </a:t>
                      </a:r>
                      <a:r>
                        <a:rPr lang="en-GB" sz="1300" b="0" dirty="0">
                          <a:effectLst/>
                        </a:rPr>
                        <a:t>a</a:t>
                      </a:r>
                      <a:r>
                        <a:rPr lang="en-GB" sz="1300" kern="1200" dirty="0">
                          <a:solidFill>
                            <a:srgbClr val="000000"/>
                          </a:solidFill>
                          <a:effectLst/>
                          <a:latin typeface="+mn-lt"/>
                          <a:ea typeface="+mn-ea"/>
                          <a:cs typeface="+mn-cs"/>
                        </a:rPr>
                        <a:t> £135 limit will apply on individual consignments using BIRDS. However,</a:t>
                      </a:r>
                      <a:r>
                        <a:rPr lang="en-GB" sz="1300" dirty="0">
                          <a:effectLst/>
                        </a:rPr>
                        <a:t> a monetary limit will </a:t>
                      </a:r>
                      <a:r>
                        <a:rPr lang="en-GB" sz="1300" b="1" dirty="0">
                          <a:effectLst/>
                        </a:rPr>
                        <a:t>no longer </a:t>
                      </a:r>
                      <a:r>
                        <a:rPr lang="en-GB" sz="1300" dirty="0">
                          <a:effectLst/>
                        </a:rPr>
                        <a:t>be applied on the total value of the consignments included on the declaration.</a:t>
                      </a:r>
                    </a:p>
                  </a:txBody>
                  <a:tcPr/>
                </a:tc>
                <a:extLst>
                  <a:ext uri="{0D108BD9-81ED-4DB2-BD59-A6C34878D82A}">
                    <a16:rowId xmlns:a16="http://schemas.microsoft.com/office/drawing/2014/main" val="2674908348"/>
                  </a:ext>
                </a:extLst>
              </a:tr>
            </a:tbl>
          </a:graphicData>
        </a:graphic>
      </p:graphicFrame>
      <p:sp>
        <p:nvSpPr>
          <p:cNvPr id="15" name="TextBox 14">
            <a:extLst>
              <a:ext uri="{FF2B5EF4-FFF2-40B4-BE49-F238E27FC236}">
                <a16:creationId xmlns:a16="http://schemas.microsoft.com/office/drawing/2014/main" id="{69AAD820-029A-4F68-8EC5-C8A30FEDE5C6}"/>
              </a:ext>
            </a:extLst>
          </p:cNvPr>
          <p:cNvSpPr txBox="1"/>
          <p:nvPr/>
        </p:nvSpPr>
        <p:spPr>
          <a:xfrm>
            <a:off x="348455" y="3243275"/>
            <a:ext cx="11665595" cy="523220"/>
          </a:xfrm>
          <a:prstGeom prst="rect">
            <a:avLst/>
          </a:prstGeom>
          <a:noFill/>
          <a:ln cap="flat">
            <a:noFill/>
          </a:ln>
        </p:spPr>
        <p:txBody>
          <a:bodyPr vert="horz" wrap="square" lIns="91440" tIns="45720" rIns="91440" bIns="45720" anchor="t"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400" b="1" i="0" u="none" strike="noStrike" kern="1200" cap="none" spc="0" baseline="0">
                <a:solidFill>
                  <a:srgbClr val="000000"/>
                </a:solidFill>
                <a:uFillTx/>
                <a:latin typeface="Calibri"/>
              </a:rPr>
              <a:t>BIRDS - DE 4/14 Item Price Amendment (CDS 3.7.1)</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sz="1400">
              <a:effectLst/>
              <a:latin typeface="Calibri" panose="020F0502020204030204" pitchFamily="34" charset="0"/>
              <a:ea typeface="Calibri" panose="020F0502020204030204" pitchFamily="34" charset="0"/>
            </a:endParaRPr>
          </a:p>
        </p:txBody>
      </p:sp>
    </p:spTree>
    <p:extLst>
      <p:ext uri="{BB962C8B-B14F-4D97-AF65-F5344CB8AC3E}">
        <p14:creationId xmlns:p14="http://schemas.microsoft.com/office/powerpoint/2010/main" val="233195826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TotalTime>
  <Words>3354</Words>
  <Application>Microsoft Office PowerPoint</Application>
  <PresentationFormat>Widescreen</PresentationFormat>
  <Paragraphs>411</Paragraphs>
  <Slides>17</Slides>
  <Notes>17</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17</vt:i4>
      </vt:variant>
    </vt:vector>
  </HeadingPairs>
  <TitlesOfParts>
    <vt:vector size="24" baseType="lpstr">
      <vt:lpstr>Arial</vt:lpstr>
      <vt:lpstr>Calibri</vt:lpstr>
      <vt:lpstr>Calibri  </vt:lpstr>
      <vt:lpstr>Calibri Light</vt:lpstr>
      <vt:lpstr>Courier New</vt:lpstr>
      <vt:lpstr>GDS Transport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Kurian, Thomas (CDIO)</dc:creator>
  <cp:lastModifiedBy>Kurian, Thomas (CDIO)</cp:lastModifiedBy>
  <cp:revision>2</cp:revision>
  <dcterms:created xsi:type="dcterms:W3CDTF">2022-09-22T08:04:04Z</dcterms:created>
  <dcterms:modified xsi:type="dcterms:W3CDTF">2022-09-29T13:57:23Z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f9af038e-07b4-4369-a678-c835687cb272_Enabled">
    <vt:lpwstr>true</vt:lpwstr>
  </property>
  <property fmtid="{D5CDD505-2E9C-101B-9397-08002B2CF9AE}" pid="3" name="MSIP_Label_f9af038e-07b4-4369-a678-c835687cb272_SetDate">
    <vt:lpwstr>2022-09-22T08:07:32Z</vt:lpwstr>
  </property>
  <property fmtid="{D5CDD505-2E9C-101B-9397-08002B2CF9AE}" pid="4" name="MSIP_Label_f9af038e-07b4-4369-a678-c835687cb272_Method">
    <vt:lpwstr>Standard</vt:lpwstr>
  </property>
  <property fmtid="{D5CDD505-2E9C-101B-9397-08002B2CF9AE}" pid="5" name="MSIP_Label_f9af038e-07b4-4369-a678-c835687cb272_Name">
    <vt:lpwstr>OFFICIAL</vt:lpwstr>
  </property>
  <property fmtid="{D5CDD505-2E9C-101B-9397-08002B2CF9AE}" pid="6" name="MSIP_Label_f9af038e-07b4-4369-a678-c835687cb272_SiteId">
    <vt:lpwstr>ac52f73c-fd1a-4a9a-8e7a-4a248f3139e1</vt:lpwstr>
  </property>
  <property fmtid="{D5CDD505-2E9C-101B-9397-08002B2CF9AE}" pid="7" name="MSIP_Label_f9af038e-07b4-4369-a678-c835687cb272_ActionId">
    <vt:lpwstr>9e03066c-dfd6-4e42-9a03-9df650f143a4</vt:lpwstr>
  </property>
  <property fmtid="{D5CDD505-2E9C-101B-9397-08002B2CF9AE}" pid="8" name="MSIP_Label_f9af038e-07b4-4369-a678-c835687cb272_ContentBits">
    <vt:lpwstr>2</vt:lpwstr>
  </property>
</Properties>
</file>